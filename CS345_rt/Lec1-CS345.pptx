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1"/>
  </p:notesMasterIdLst>
  <p:sldIdLst>
    <p:sldId id="428" r:id="rId2"/>
    <p:sldId id="408" r:id="rId3"/>
    <p:sldId id="563" r:id="rId4"/>
    <p:sldId id="527" r:id="rId5"/>
    <p:sldId id="529" r:id="rId6"/>
    <p:sldId id="531" r:id="rId7"/>
    <p:sldId id="532" r:id="rId8"/>
    <p:sldId id="533" r:id="rId9"/>
    <p:sldId id="524" r:id="rId10"/>
    <p:sldId id="526" r:id="rId11"/>
    <p:sldId id="515" r:id="rId12"/>
    <p:sldId id="548" r:id="rId13"/>
    <p:sldId id="535" r:id="rId14"/>
    <p:sldId id="451" r:id="rId15"/>
    <p:sldId id="442" r:id="rId16"/>
    <p:sldId id="452" r:id="rId17"/>
    <p:sldId id="549" r:id="rId18"/>
    <p:sldId id="546" r:id="rId19"/>
    <p:sldId id="540" r:id="rId20"/>
    <p:sldId id="543" r:id="rId21"/>
    <p:sldId id="518" r:id="rId22"/>
    <p:sldId id="517" r:id="rId23"/>
    <p:sldId id="519" r:id="rId24"/>
    <p:sldId id="522" r:id="rId25"/>
    <p:sldId id="521" r:id="rId26"/>
    <p:sldId id="523" r:id="rId27"/>
    <p:sldId id="538" r:id="rId28"/>
    <p:sldId id="484" r:id="rId29"/>
    <p:sldId id="510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5BF382-88D2-E349-9837-E4333970F791}" v="1" dt="2026-07-29T06:17:07.4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8" autoAdjust="0"/>
    <p:restoredTop sz="94692" autoAdjust="0"/>
  </p:normalViewPr>
  <p:slideViewPr>
    <p:cSldViewPr>
      <p:cViewPr varScale="1">
        <p:scale>
          <a:sx n="114" d="100"/>
          <a:sy n="114" d="100"/>
        </p:scale>
        <p:origin x="176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modSld">
      <pc:chgData name="Raghunath Tewari" userId="2638bdda-d406-4938-a2a6-e4e967acb772" providerId="ADAL" clId="{5BB0A526-9D3F-5694-B192-877B52D1FAF9}" dt="2026-08-02T16:58:06.858" v="1" actId="20577"/>
      <pc:docMkLst>
        <pc:docMk/>
      </pc:docMkLst>
      <pc:sldChg chg="modSp modAnim">
        <pc:chgData name="Raghunath Tewari" userId="2638bdda-d406-4938-a2a6-e4e967acb772" providerId="ADAL" clId="{5BB0A526-9D3F-5694-B192-877B52D1FAF9}" dt="2026-07-29T06:17:07.480" v="0" actId="20577"/>
        <pc:sldMkLst>
          <pc:docMk/>
          <pc:sldMk cId="2869769066" sldId="408"/>
        </pc:sldMkLst>
        <pc:spChg chg="mod">
          <ac:chgData name="Raghunath Tewari" userId="2638bdda-d406-4938-a2a6-e4e967acb772" providerId="ADAL" clId="{5BB0A526-9D3F-5694-B192-877B52D1FAF9}" dt="2026-07-29T06:17:07.480" v="0" actId="20577"/>
          <ac:spMkLst>
            <pc:docMk/>
            <pc:sldMk cId="2869769066" sldId="408"/>
            <ac:spMk id="3" creationId="{00000000-0000-0000-0000-000000000000}"/>
          </ac:spMkLst>
        </pc:spChg>
      </pc:sldChg>
      <pc:sldChg chg="modSp mod">
        <pc:chgData name="Raghunath Tewari" userId="2638bdda-d406-4938-a2a6-e4e967acb772" providerId="ADAL" clId="{5BB0A526-9D3F-5694-B192-877B52D1FAF9}" dt="2026-08-02T16:58:06.858" v="1" actId="20577"/>
        <pc:sldMkLst>
          <pc:docMk/>
          <pc:sldMk cId="1538688618" sldId="428"/>
        </pc:sldMkLst>
        <pc:spChg chg="mod">
          <ac:chgData name="Raghunath Tewari" userId="2638bdda-d406-4938-a2a6-e4e967acb772" providerId="ADAL" clId="{5BB0A526-9D3F-5694-B192-877B52D1FAF9}" dt="2026-08-02T16:58:06.858" v="1" actId="20577"/>
          <ac:spMkLst>
            <pc:docMk/>
            <pc:sldMk cId="1538688618" sldId="428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rtewari@cse.iitk.ac.i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7" Type="http://schemas.openxmlformats.org/officeDocument/2006/relationships/image" Target="../media/image21.png"/><Relationship Id="rId12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0.png"/><Relationship Id="rId10" Type="http://schemas.openxmlformats.org/officeDocument/2006/relationships/image" Target="../media/image3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7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20.png"/><Relationship Id="rId5" Type="http://schemas.openxmlformats.org/officeDocument/2006/relationships/image" Target="../media/image12.png"/><Relationship Id="rId10" Type="http://schemas.openxmlformats.org/officeDocument/2006/relationships/image" Target="../media/image19.png"/><Relationship Id="rId4" Type="http://schemas.openxmlformats.org/officeDocument/2006/relationships/image" Target="../media/image110.png"/><Relationship Id="rId9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95800"/>
            <a:ext cx="64008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1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US" sz="2400" b="1" dirty="0">
              <a:solidFill>
                <a:srgbClr val="C00000"/>
              </a:solidFill>
            </a:endParaRP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7030A0"/>
                </a:solidFill>
              </a:rPr>
              <a:t>Overview </a:t>
            </a:r>
            <a:r>
              <a:rPr lang="en-US" sz="2400" b="1" dirty="0">
                <a:solidFill>
                  <a:schemeClr val="tx1"/>
                </a:solidFill>
              </a:rPr>
              <a:t>of the course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7030A0"/>
                </a:solidFill>
              </a:rPr>
              <a:t>Closest Pair </a:t>
            </a:r>
            <a:r>
              <a:rPr lang="en-US" sz="2400" b="1" dirty="0">
                <a:solidFill>
                  <a:schemeClr val="tx1"/>
                </a:solidFill>
              </a:rPr>
              <a:t>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671835" y="3062734"/>
            <a:ext cx="1093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CS345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53868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Some Information</a:t>
            </a:r>
            <a:br>
              <a:rPr lang="en-US" sz="4000" b="1" dirty="0">
                <a:solidFill>
                  <a:srgbClr val="7030A0"/>
                </a:solidFill>
              </a:rPr>
            </a:br>
            <a:r>
              <a:rPr lang="en-US" sz="4000" dirty="0">
                <a:sym typeface="Wingdings" pitchFamily="2" charset="2"/>
              </a:rPr>
              <a:t>CS345: Algorithms II</a:t>
            </a:r>
            <a:br>
              <a:rPr lang="en-US" sz="4000" dirty="0">
                <a:sym typeface="Wingdings" pitchFamily="2" charset="2"/>
              </a:rPr>
            </a:br>
            <a:endParaRPr lang="en-US" sz="40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19400"/>
            <a:ext cx="8229600" cy="3306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C00000"/>
                </a:solidFill>
                <a:sym typeface="Wingdings" pitchFamily="2" charset="2"/>
              </a:rPr>
              <a:t>Instructor email:</a:t>
            </a:r>
            <a:r>
              <a:rPr lang="en-US" sz="3000" dirty="0">
                <a:sym typeface="Wingdings" pitchFamily="2" charset="2"/>
              </a:rPr>
              <a:t> </a:t>
            </a:r>
            <a:r>
              <a:rPr lang="en-US" sz="3000" dirty="0">
                <a:sym typeface="Wingdings" pitchFamily="2" charset="2"/>
                <a:hlinkClick r:id="rId2"/>
              </a:rPr>
              <a:t>rtewari@cse.iitk.ac.in</a:t>
            </a:r>
            <a:endParaRPr lang="en-US" sz="3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>
                <a:solidFill>
                  <a:srgbClr val="C00000"/>
                </a:solidFill>
              </a:rPr>
              <a:t>Course </a:t>
            </a:r>
            <a:r>
              <a:rPr lang="en-US" dirty="0">
                <a:solidFill>
                  <a:srgbClr val="C00000"/>
                </a:solidFill>
              </a:rPr>
              <a:t>Website:</a:t>
            </a:r>
            <a:r>
              <a:rPr lang="en-US" dirty="0"/>
              <a:t> </a:t>
            </a:r>
            <a:r>
              <a:rPr lang="en-US" dirty="0" err="1"/>
              <a:t>moodle.cse.iitk.ac.in</a:t>
            </a:r>
            <a:endParaRPr lang="en-US" dirty="0"/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                   </a:t>
            </a:r>
            <a:endParaRPr lang="en-US" sz="2800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6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1E523-1C9E-1C43-B35A-C1D5FF44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Acknowledgment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97AD2-6784-0F46-BCFC-087107F2A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Thanks to Prof Surender </a:t>
            </a:r>
            <a:r>
              <a:rPr lang="en-US" dirty="0" err="1"/>
              <a:t>Baswana</a:t>
            </a:r>
            <a:r>
              <a:rPr lang="en-US" dirty="0"/>
              <a:t> for allowing me to use and modify his lecture slides.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1A049-0ADC-294A-AF43-4445CCF43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80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Aim of the course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To empower each student with the skills to design algorithms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With </a:t>
            </a:r>
            <a:r>
              <a:rPr lang="en-US" sz="2000" u="sng" dirty="0"/>
              <a:t>provable</a:t>
            </a:r>
            <a:r>
              <a:rPr lang="en-US" sz="2000" dirty="0"/>
              <a:t> guarantee on </a:t>
            </a:r>
            <a:r>
              <a:rPr lang="en-US" sz="2000" b="1" dirty="0">
                <a:solidFill>
                  <a:schemeClr val="accent1"/>
                </a:solidFill>
              </a:rPr>
              <a:t>correctness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With </a:t>
            </a:r>
            <a:r>
              <a:rPr lang="en-US" sz="2000" u="sng" dirty="0"/>
              <a:t>provable</a:t>
            </a:r>
            <a:r>
              <a:rPr lang="en-US" sz="2000" dirty="0"/>
              <a:t> guarantee on their </a:t>
            </a:r>
            <a:r>
              <a:rPr lang="en-US" sz="2000" b="1" dirty="0">
                <a:solidFill>
                  <a:srgbClr val="7030A0"/>
                </a:solidFill>
              </a:rPr>
              <a:t>efficiency.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276600" y="2286000"/>
            <a:ext cx="36576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4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uiExpand="1" build="p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Algorithm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Motivation:</a:t>
            </a:r>
          </a:p>
          <a:p>
            <a:r>
              <a:rPr lang="en-US" sz="2000" dirty="0"/>
              <a:t>Many problems whose algorithms are based on a </a:t>
            </a:r>
            <a:r>
              <a:rPr lang="en-US" sz="2000" u="sng" dirty="0"/>
              <a:t>common approach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  </a:t>
            </a:r>
            <a:r>
              <a:rPr lang="en-US" sz="2000" dirty="0"/>
              <a:t>A need of a </a:t>
            </a:r>
            <a:r>
              <a:rPr lang="en-US" sz="2000" u="sng" dirty="0"/>
              <a:t>systematic study</a:t>
            </a:r>
            <a:r>
              <a:rPr lang="en-US" sz="2000" dirty="0"/>
              <a:t> of the characteristics of such approaches.</a:t>
            </a: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Algorithm Paradigms: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Divide and Conquer 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Greedy Strategy</a:t>
            </a:r>
            <a:endParaRPr lang="en-US" sz="2000" dirty="0"/>
          </a:p>
          <a:p>
            <a:r>
              <a:rPr lang="en-US" sz="2000" b="1" dirty="0">
                <a:solidFill>
                  <a:srgbClr val="0070C0"/>
                </a:solidFill>
              </a:rPr>
              <a:t>Dynamic Programming</a:t>
            </a: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102813" y="3440668"/>
            <a:ext cx="122642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(advanced)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16974" y="3886200"/>
            <a:ext cx="122642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(advanced)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2057400"/>
            <a:ext cx="3276600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1200" y="2019300"/>
            <a:ext cx="3276600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14400" y="2438400"/>
            <a:ext cx="2971800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886200" y="2438400"/>
            <a:ext cx="4343400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6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Maximum Flow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Given a network for transporting certain commodity (water/bits)</a:t>
                </a:r>
              </a:p>
              <a:p>
                <a:pPr marL="0" indent="0">
                  <a:buNone/>
                </a:pPr>
                <a:r>
                  <a:rPr lang="en-US" sz="2000" dirty="0"/>
                  <a:t>from a designated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source</a:t>
                </a:r>
                <a:r>
                  <a:rPr lang="en-US" sz="2000" dirty="0"/>
                  <a:t> vertex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sink</a:t>
                </a:r>
                <a:r>
                  <a:rPr lang="en-US" sz="2000" dirty="0"/>
                  <a:t> vertex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Each edge has a certain </a:t>
                </a:r>
                <a:r>
                  <a:rPr lang="en-US" sz="2000" i="1" dirty="0"/>
                  <a:t>capacity (max rate per unit time at which commodity can be pumped along that edge)</a:t>
                </a:r>
                <a:r>
                  <a:rPr lang="en-US" sz="2000" dirty="0"/>
                  <a:t>,</a:t>
                </a:r>
              </a:p>
              <a:p>
                <a:pPr marL="0" indent="0">
                  <a:buNone/>
                </a:pPr>
                <a:r>
                  <a:rPr lang="en-US" sz="2000" dirty="0"/>
                  <a:t>Compute the </a:t>
                </a:r>
                <a:r>
                  <a:rPr lang="en-US" sz="2000" b="1" u="sng" dirty="0"/>
                  <a:t>maximum rate</a:t>
                </a:r>
                <a:r>
                  <a:rPr lang="en-US" sz="2000" dirty="0"/>
                  <a:t> at which we can pump flow from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Constraints</a:t>
                </a:r>
                <a:r>
                  <a:rPr lang="en-US" sz="2000" dirty="0"/>
                  <a:t>: capacity constraint and conservation constraint.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b="-14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1981200" y="1676400"/>
            <a:ext cx="4343400" cy="2743200"/>
            <a:chOff x="1981200" y="1676400"/>
            <a:chExt cx="4343400" cy="2743200"/>
          </a:xfrm>
        </p:grpSpPr>
        <p:grpSp>
          <p:nvGrpSpPr>
            <p:cNvPr id="5" name="Group 4"/>
            <p:cNvGrpSpPr/>
            <p:nvPr/>
          </p:nvGrpSpPr>
          <p:grpSpPr>
            <a:xfrm>
              <a:off x="2388063" y="1981199"/>
              <a:ext cx="2793537" cy="936719"/>
              <a:chOff x="2873282" y="1981200"/>
              <a:chExt cx="2793537" cy="936719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3761819" y="1981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5514419" y="19812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Arrow Connector 7"/>
              <p:cNvCxnSpPr>
                <a:stCxn id="23" idx="7"/>
                <a:endCxn id="6" idx="3"/>
              </p:cNvCxnSpPr>
              <p:nvPr/>
            </p:nvCxnSpPr>
            <p:spPr>
              <a:xfrm flipV="1">
                <a:off x="2873282" y="2111282"/>
                <a:ext cx="910855" cy="80663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6" idx="6"/>
                <a:endCxn id="7" idx="2"/>
              </p:cNvCxnSpPr>
              <p:nvPr/>
            </p:nvCxnSpPr>
            <p:spPr>
              <a:xfrm>
                <a:off x="3914219" y="2057400"/>
                <a:ext cx="16002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>
              <a:off x="1981200" y="1676400"/>
              <a:ext cx="3581400" cy="2743200"/>
              <a:chOff x="2466419" y="1676400"/>
              <a:chExt cx="3581400" cy="2743200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2466419" y="2895600"/>
                <a:ext cx="429181" cy="369332"/>
                <a:chOff x="4676219" y="3048000"/>
                <a:chExt cx="429181" cy="369332"/>
              </a:xfrm>
            </p:grpSpPr>
            <p:sp>
              <p:nvSpPr>
                <p:cNvPr id="23" name="Oval 22"/>
                <p:cNvSpPr/>
                <p:nvPr/>
              </p:nvSpPr>
              <p:spPr>
                <a:xfrm>
                  <a:off x="4953000" y="3048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/>
                    <p:cNvSpPr txBox="1"/>
                    <p:nvPr/>
                  </p:nvSpPr>
                  <p:spPr>
                    <a:xfrm>
                      <a:off x="4676219" y="3048000"/>
                      <a:ext cx="35298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6" name="TextBox 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76219" y="3048000"/>
                      <a:ext cx="352981" cy="369332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 t="-8197" r="-24138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3457019" y="1688068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57019" y="1688068"/>
                    <a:ext cx="37542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1935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" name="Group 12"/>
              <p:cNvGrpSpPr/>
              <p:nvPr/>
            </p:nvGrpSpPr>
            <p:grpSpPr>
              <a:xfrm>
                <a:off x="3575756" y="3886200"/>
                <a:ext cx="386644" cy="533400"/>
                <a:chOff x="4566356" y="3810000"/>
                <a:chExt cx="386644" cy="5334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/>
                    <p:cNvSpPr txBox="1"/>
                    <p:nvPr/>
                  </p:nvSpPr>
                  <p:spPr>
                    <a:xfrm>
                      <a:off x="4566356" y="3974068"/>
                      <a:ext cx="38664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𝒖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3" name="TextBox 1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66356" y="3974068"/>
                      <a:ext cx="386644" cy="369332"/>
                    </a:xfrm>
                    <a:prstGeom prst="rect">
                      <a:avLst/>
                    </a:prstGeom>
                    <a:blipFill rotWithShape="1">
                      <a:blip r:embed="rId9"/>
                      <a:stretch>
                        <a:fillRect t="-8197" r="-20313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" name="Oval 21"/>
                <p:cNvSpPr/>
                <p:nvPr/>
              </p:nvSpPr>
              <p:spPr>
                <a:xfrm>
                  <a:off x="4676219" y="3810000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5492044" y="1676400"/>
                <a:ext cx="555775" cy="2362200"/>
                <a:chOff x="4648200" y="1600200"/>
                <a:chExt cx="555775" cy="23622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/>
                    <p:cNvSpPr txBox="1"/>
                    <p:nvPr/>
                  </p:nvSpPr>
                  <p:spPr>
                    <a:xfrm>
                      <a:off x="4833361" y="1600200"/>
                      <a:ext cx="37061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𝒙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6" name="TextBox 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33361" y="1600200"/>
                      <a:ext cx="370614" cy="369332"/>
                    </a:xfrm>
                    <a:prstGeom prst="rect">
                      <a:avLst/>
                    </a:prstGeom>
                    <a:blipFill rotWithShape="1">
                      <a:blip r:embed="rId10"/>
                      <a:stretch>
                        <a:fillRect t="-8197" r="-22951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Oval 19"/>
                <p:cNvSpPr/>
                <p:nvPr/>
              </p:nvSpPr>
              <p:spPr>
                <a:xfrm>
                  <a:off x="4648200" y="3810000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5590619" y="3974068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0619" y="3974068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935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/>
              <p:cNvCxnSpPr>
                <a:stCxn id="23" idx="5"/>
                <a:endCxn id="22" idx="1"/>
              </p:cNvCxnSpPr>
              <p:nvPr/>
            </p:nvCxnSpPr>
            <p:spPr>
              <a:xfrm>
                <a:off x="2873282" y="3025682"/>
                <a:ext cx="834655" cy="88283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>
                <a:endCxn id="20" idx="2"/>
              </p:cNvCxnSpPr>
              <p:nvPr/>
            </p:nvCxnSpPr>
            <p:spPr>
              <a:xfrm>
                <a:off x="3838019" y="3962400"/>
                <a:ext cx="165402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 flipH="1">
                <a:off x="5568244" y="2133599"/>
                <a:ext cx="22375" cy="175260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Arc 27"/>
            <p:cNvSpPr/>
            <p:nvPr/>
          </p:nvSpPr>
          <p:spPr>
            <a:xfrm>
              <a:off x="3090537" y="1806482"/>
              <a:ext cx="2252311" cy="1165318"/>
            </a:xfrm>
            <a:prstGeom prst="arc">
              <a:avLst>
                <a:gd name="adj1" fmla="val 12452853"/>
                <a:gd name="adj2" fmla="val 20215559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 flipH="1">
              <a:off x="3406682" y="1938125"/>
              <a:ext cx="131529" cy="653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H="1">
              <a:off x="3330425" y="2133600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3406682" y="2111281"/>
              <a:ext cx="1622461" cy="17972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V="1">
              <a:off x="3330482" y="2111281"/>
              <a:ext cx="1721036" cy="17972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36"/>
            <p:cNvGrpSpPr/>
            <p:nvPr/>
          </p:nvGrpSpPr>
          <p:grpSpPr>
            <a:xfrm>
              <a:off x="5914655" y="2667000"/>
              <a:ext cx="409945" cy="369332"/>
              <a:chOff x="4191000" y="3593068"/>
              <a:chExt cx="409945" cy="369332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4191000" y="37338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4267200" y="3593068"/>
                    <a:ext cx="33374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𝒕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2" name="TextBox 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7200" y="3593068"/>
                    <a:ext cx="33374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333" r="-2545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0" name="Straight Arrow Connector 39"/>
            <p:cNvCxnSpPr/>
            <p:nvPr/>
          </p:nvCxnSpPr>
          <p:spPr>
            <a:xfrm>
              <a:off x="5159282" y="2111281"/>
              <a:ext cx="777691" cy="7187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5136907" y="2937814"/>
              <a:ext cx="800066" cy="9707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2619562" y="1521023"/>
            <a:ext cx="3234246" cy="2746177"/>
            <a:chOff x="2619562" y="1521023"/>
            <a:chExt cx="3234246" cy="2746177"/>
          </a:xfrm>
        </p:grpSpPr>
        <p:sp>
          <p:nvSpPr>
            <p:cNvPr id="58" name="TextBox 57"/>
            <p:cNvSpPr txBox="1"/>
            <p:nvPr/>
          </p:nvSpPr>
          <p:spPr>
            <a:xfrm>
              <a:off x="4067362" y="1521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486400" y="33528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17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052192" y="2054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057962" y="2816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305362" y="27402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8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619562" y="34260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17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012860" y="39594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334000" y="24354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15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771962" y="24354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16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343400" y="33498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733800" y="3349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341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Miscellaneous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0070C0"/>
                </a:solidFill>
              </a:rPr>
              <a:t>More applications of DFS</a:t>
            </a:r>
            <a:br>
              <a:rPr lang="en-US" sz="2400" b="1" dirty="0">
                <a:solidFill>
                  <a:srgbClr val="0070C0"/>
                </a:solidFill>
              </a:rPr>
            </a:br>
            <a:endParaRPr lang="en-US" sz="2400" b="1" dirty="0">
              <a:solidFill>
                <a:srgbClr val="0070C0"/>
              </a:solidFill>
            </a:endParaRPr>
          </a:p>
          <a:p>
            <a:r>
              <a:rPr lang="en-US" sz="2400" b="1" dirty="0">
                <a:solidFill>
                  <a:srgbClr val="0070C0"/>
                </a:solidFill>
              </a:rPr>
              <a:t>Matching in Graphs</a:t>
            </a:r>
          </a:p>
          <a:p>
            <a:pPr marL="0" indent="0">
              <a:buNone/>
            </a:pPr>
            <a:r>
              <a:rPr lang="en-US" sz="2400" dirty="0"/>
              <a:t>            </a:t>
            </a:r>
            <a:r>
              <a:rPr lang="en-US" sz="2000" dirty="0"/>
              <a:t>Maximum matching, Stable matching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400" b="1" dirty="0">
                <a:solidFill>
                  <a:srgbClr val="0070C0"/>
                </a:solidFill>
              </a:rPr>
              <a:t>Amortized Analysis</a:t>
            </a:r>
          </a:p>
          <a:p>
            <a:pPr marL="0" indent="0">
              <a:buNone/>
            </a:pPr>
            <a:r>
              <a:rPr lang="en-US" sz="2400" dirty="0"/>
              <a:t>            </a:t>
            </a:r>
            <a:r>
              <a:rPr lang="en-US" sz="2000" dirty="0"/>
              <a:t>A powerful technique to analyze time complexity of algorithms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2400" b="1" dirty="0">
                <a:solidFill>
                  <a:srgbClr val="0070C0"/>
                </a:solidFill>
              </a:rPr>
              <a:t>String Matching</a:t>
            </a:r>
            <a:br>
              <a:rPr lang="en-US" sz="2400" b="1" dirty="0">
                <a:solidFill>
                  <a:srgbClr val="0070C0"/>
                </a:solidFill>
              </a:rPr>
            </a:br>
            <a:endParaRPr lang="en-US" sz="2400" b="1" dirty="0">
              <a:solidFill>
                <a:srgbClr val="0070C0"/>
              </a:solidFill>
            </a:endParaRPr>
          </a:p>
          <a:p>
            <a:r>
              <a:rPr lang="en-US" sz="2400" b="1" dirty="0">
                <a:solidFill>
                  <a:srgbClr val="0070C0"/>
                </a:solidFill>
              </a:rPr>
              <a:t>Finding Median using Small Space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505200" y="2057400"/>
            <a:ext cx="1981199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0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Last topic on Algorithms</a:t>
            </a:r>
            <a:br>
              <a:rPr lang="en-US" sz="4000" b="1" dirty="0">
                <a:solidFill>
                  <a:srgbClr val="7030A0"/>
                </a:solidFill>
              </a:rPr>
            </a:br>
            <a:endParaRPr lang="en-US" sz="40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b="1" dirty="0">
              <a:solidFill>
                <a:srgbClr val="7030A0"/>
              </a:solidFill>
            </a:endParaRPr>
          </a:p>
          <a:p>
            <a:endParaRPr lang="en-US" sz="2400" b="1" dirty="0">
              <a:solidFill>
                <a:srgbClr val="7030A0"/>
              </a:solidFill>
            </a:endParaRPr>
          </a:p>
          <a:p>
            <a:endParaRPr lang="en-US" sz="2400" b="1" dirty="0">
              <a:solidFill>
                <a:srgbClr val="7030A0"/>
              </a:solidFill>
            </a:endParaRPr>
          </a:p>
          <a:p>
            <a:r>
              <a:rPr lang="en-US" sz="2400" b="1" dirty="0">
                <a:solidFill>
                  <a:srgbClr val="7030A0"/>
                </a:solidFill>
              </a:rPr>
              <a:t>NP Complete </a:t>
            </a:r>
            <a:r>
              <a:rPr lang="en-US" sz="2400" dirty="0"/>
              <a:t>problems</a:t>
            </a:r>
          </a:p>
          <a:p>
            <a:endParaRPr lang="en-US" sz="2400" dirty="0"/>
          </a:p>
          <a:p>
            <a:r>
              <a:rPr lang="en-US" sz="2400" dirty="0"/>
              <a:t>Approximation/randomized Algorithms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Augmented Binary Search Trees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Range Minima Data structure (optimal size)</a:t>
            </a:r>
          </a:p>
          <a:p>
            <a:r>
              <a:rPr lang="en-US" sz="2000" dirty="0"/>
              <a:t>Fibonacci Heap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127078" y="1905000"/>
            <a:ext cx="4569122" cy="3291840"/>
            <a:chOff x="2590472" y="2727960"/>
            <a:chExt cx="4569122" cy="3291840"/>
          </a:xfrm>
        </p:grpSpPr>
        <p:cxnSp>
          <p:nvCxnSpPr>
            <p:cNvPr id="6" name="Straight Arrow Connector 5"/>
            <p:cNvCxnSpPr>
              <a:stCxn id="19" idx="3"/>
            </p:cNvCxnSpPr>
            <p:nvPr/>
          </p:nvCxnSpPr>
          <p:spPr>
            <a:xfrm flipH="1">
              <a:off x="2819927" y="3747891"/>
              <a:ext cx="531595" cy="5932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/>
            <p:cNvGrpSpPr/>
            <p:nvPr/>
          </p:nvGrpSpPr>
          <p:grpSpPr>
            <a:xfrm>
              <a:off x="2590472" y="2727960"/>
              <a:ext cx="4569122" cy="3291840"/>
              <a:chOff x="2590472" y="2727960"/>
              <a:chExt cx="4569122" cy="3291840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3442824" y="5035891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5943600" y="56997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4246996" y="5017677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6868618" y="5000765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6266580" y="5002066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5635640" y="5017677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2590472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3876801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5250666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6543998" y="43281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5915596" y="347472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3308908" y="347472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4634690" y="2727960"/>
                <a:ext cx="290976" cy="32004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Arrow Connector 20"/>
              <p:cNvCxnSpPr>
                <a:stCxn id="20" idx="3"/>
                <a:endCxn id="19" idx="7"/>
              </p:cNvCxnSpPr>
              <p:nvPr/>
            </p:nvCxnSpPr>
            <p:spPr>
              <a:xfrm flipH="1">
                <a:off x="3557271" y="3001131"/>
                <a:ext cx="1120031" cy="52045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>
                <a:off x="4871286" y="2985484"/>
                <a:ext cx="1120031" cy="52045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>
                <a:endCxn id="17" idx="1"/>
              </p:cNvCxnSpPr>
              <p:nvPr/>
            </p:nvCxnSpPr>
            <p:spPr>
              <a:xfrm>
                <a:off x="6129470" y="3766103"/>
                <a:ext cx="457141" cy="6089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>
                <a:stCxn id="18" idx="3"/>
                <a:endCxn id="16" idx="7"/>
              </p:cNvCxnSpPr>
              <p:nvPr/>
            </p:nvCxnSpPr>
            <p:spPr>
              <a:xfrm flipH="1">
                <a:off x="5499029" y="3747891"/>
                <a:ext cx="459180" cy="62713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3518720" y="3762167"/>
                <a:ext cx="457141" cy="6089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/>
              <p:nvPr/>
            </p:nvCxnSpPr>
            <p:spPr>
              <a:xfrm flipH="1">
                <a:off x="3657600" y="4601331"/>
                <a:ext cx="244474" cy="4345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 flipH="1">
                <a:off x="6105065" y="5289918"/>
                <a:ext cx="244474" cy="4345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flipH="1">
                <a:off x="6390401" y="4618209"/>
                <a:ext cx="244474" cy="4345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>
                <a:off x="4069941" y="4618209"/>
                <a:ext cx="244474" cy="4345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>
                <a:off x="5468978" y="4614289"/>
                <a:ext cx="244474" cy="4345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6746380" y="4601331"/>
                <a:ext cx="244474" cy="4345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2" name="Group 31"/>
          <p:cNvGrpSpPr/>
          <p:nvPr/>
        </p:nvGrpSpPr>
        <p:grpSpPr>
          <a:xfrm>
            <a:off x="3352800" y="1981200"/>
            <a:ext cx="4573533" cy="3136373"/>
            <a:chOff x="2784177" y="2797108"/>
            <a:chExt cx="4573533" cy="3136373"/>
          </a:xfrm>
        </p:grpSpPr>
        <p:grpSp>
          <p:nvGrpSpPr>
            <p:cNvPr id="33" name="Group 32"/>
            <p:cNvGrpSpPr/>
            <p:nvPr/>
          </p:nvGrpSpPr>
          <p:grpSpPr>
            <a:xfrm>
              <a:off x="4869156" y="2797108"/>
              <a:ext cx="310866" cy="140484"/>
              <a:chOff x="5977861" y="2220764"/>
              <a:chExt cx="310866" cy="140484"/>
            </a:xfrm>
          </p:grpSpPr>
          <p:sp>
            <p:nvSpPr>
              <p:cNvPr id="70" name="Rectangle 69"/>
              <p:cNvSpPr/>
              <p:nvPr/>
            </p:nvSpPr>
            <p:spPr>
              <a:xfrm>
                <a:off x="6146601" y="2240090"/>
                <a:ext cx="142126" cy="1211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ight Arrow 70"/>
              <p:cNvSpPr/>
              <p:nvPr/>
            </p:nvSpPr>
            <p:spPr>
              <a:xfrm rot="10800000">
                <a:off x="5977861" y="2220764"/>
                <a:ext cx="168740" cy="140483"/>
              </a:xfrm>
              <a:prstGeom prst="rightArrow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4091563" y="4417938"/>
              <a:ext cx="310866" cy="140484"/>
              <a:chOff x="5977861" y="2220764"/>
              <a:chExt cx="310866" cy="140484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6146601" y="2240090"/>
                <a:ext cx="142126" cy="1211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ight Arrow 68"/>
              <p:cNvSpPr/>
              <p:nvPr/>
            </p:nvSpPr>
            <p:spPr>
              <a:xfrm rot="10800000">
                <a:off x="5977861" y="2220764"/>
                <a:ext cx="168740" cy="140483"/>
              </a:xfrm>
              <a:prstGeom prst="rightArrow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2784177" y="4417938"/>
              <a:ext cx="310866" cy="140484"/>
              <a:chOff x="5977861" y="2220764"/>
              <a:chExt cx="310866" cy="140484"/>
            </a:xfrm>
          </p:grpSpPr>
          <p:sp>
            <p:nvSpPr>
              <p:cNvPr id="66" name="Rectangle 65"/>
              <p:cNvSpPr/>
              <p:nvPr/>
            </p:nvSpPr>
            <p:spPr>
              <a:xfrm>
                <a:off x="6146601" y="2240090"/>
                <a:ext cx="142126" cy="1211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ight Arrow 66"/>
              <p:cNvSpPr/>
              <p:nvPr/>
            </p:nvSpPr>
            <p:spPr>
              <a:xfrm rot="10800000">
                <a:off x="5977861" y="2220764"/>
                <a:ext cx="168740" cy="140483"/>
              </a:xfrm>
              <a:prstGeom prst="rightArrow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3702773" y="5125669"/>
              <a:ext cx="310866" cy="140484"/>
              <a:chOff x="7292023" y="2220764"/>
              <a:chExt cx="310866" cy="140484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7460763" y="2240090"/>
                <a:ext cx="142126" cy="1211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ight Arrow 64"/>
              <p:cNvSpPr/>
              <p:nvPr/>
            </p:nvSpPr>
            <p:spPr>
              <a:xfrm rot="10800000">
                <a:off x="7292023" y="2220764"/>
                <a:ext cx="168740" cy="140483"/>
              </a:xfrm>
              <a:prstGeom prst="rightArrow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3518720" y="3564498"/>
              <a:ext cx="310866" cy="140484"/>
              <a:chOff x="5977861" y="2220764"/>
              <a:chExt cx="310866" cy="140484"/>
            </a:xfrm>
          </p:grpSpPr>
          <p:sp>
            <p:nvSpPr>
              <p:cNvPr id="62" name="Rectangle 61"/>
              <p:cNvSpPr/>
              <p:nvPr/>
            </p:nvSpPr>
            <p:spPr>
              <a:xfrm>
                <a:off x="6146601" y="2240090"/>
                <a:ext cx="142126" cy="1211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ight Arrow 62"/>
              <p:cNvSpPr/>
              <p:nvPr/>
            </p:nvSpPr>
            <p:spPr>
              <a:xfrm rot="10800000">
                <a:off x="5977861" y="2220764"/>
                <a:ext cx="168740" cy="140483"/>
              </a:xfrm>
              <a:prstGeom prst="rightArrow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4402429" y="5118233"/>
              <a:ext cx="310866" cy="140484"/>
              <a:chOff x="5977861" y="2220764"/>
              <a:chExt cx="310866" cy="140484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6146601" y="2240090"/>
                <a:ext cx="142126" cy="1211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ight Arrow 60"/>
              <p:cNvSpPr/>
              <p:nvPr/>
            </p:nvSpPr>
            <p:spPr>
              <a:xfrm rot="10800000">
                <a:off x="5977861" y="2220764"/>
                <a:ext cx="168740" cy="140483"/>
              </a:xfrm>
              <a:prstGeom prst="rightArrow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6147240" y="5792997"/>
              <a:ext cx="310866" cy="140484"/>
              <a:chOff x="8377811" y="2878429"/>
              <a:chExt cx="310866" cy="140484"/>
            </a:xfrm>
          </p:grpSpPr>
          <p:sp>
            <p:nvSpPr>
              <p:cNvPr id="58" name="Rectangle 57"/>
              <p:cNvSpPr/>
              <p:nvPr/>
            </p:nvSpPr>
            <p:spPr>
              <a:xfrm>
                <a:off x="8546551" y="2897755"/>
                <a:ext cx="142126" cy="1211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ight Arrow 58"/>
              <p:cNvSpPr/>
              <p:nvPr/>
            </p:nvSpPr>
            <p:spPr>
              <a:xfrm rot="10800000">
                <a:off x="8377811" y="2878429"/>
                <a:ext cx="168740" cy="140483"/>
              </a:xfrm>
              <a:prstGeom prst="rightArrow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6431178" y="5107455"/>
              <a:ext cx="310866" cy="140484"/>
              <a:chOff x="5977861" y="2220764"/>
              <a:chExt cx="310866" cy="140484"/>
            </a:xfrm>
          </p:grpSpPr>
          <p:sp>
            <p:nvSpPr>
              <p:cNvPr id="56" name="Rectangle 55"/>
              <p:cNvSpPr/>
              <p:nvPr/>
            </p:nvSpPr>
            <p:spPr>
              <a:xfrm>
                <a:off x="6146601" y="2240090"/>
                <a:ext cx="142126" cy="1211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ight Arrow 56"/>
              <p:cNvSpPr/>
              <p:nvPr/>
            </p:nvSpPr>
            <p:spPr>
              <a:xfrm rot="10800000">
                <a:off x="5977861" y="2220764"/>
                <a:ext cx="168740" cy="140483"/>
              </a:xfrm>
              <a:prstGeom prst="rightArrow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5781128" y="5118233"/>
              <a:ext cx="310866" cy="140484"/>
              <a:chOff x="5977861" y="2220764"/>
              <a:chExt cx="310866" cy="140484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6146601" y="2240090"/>
                <a:ext cx="142126" cy="1211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ight Arrow 54"/>
              <p:cNvSpPr/>
              <p:nvPr/>
            </p:nvSpPr>
            <p:spPr>
              <a:xfrm rot="10800000">
                <a:off x="5977861" y="2220764"/>
                <a:ext cx="168740" cy="140483"/>
              </a:xfrm>
              <a:prstGeom prst="rightArrow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5417753" y="4427601"/>
              <a:ext cx="310866" cy="140484"/>
              <a:chOff x="5977861" y="2220764"/>
              <a:chExt cx="310866" cy="140484"/>
            </a:xfrm>
          </p:grpSpPr>
          <p:sp>
            <p:nvSpPr>
              <p:cNvPr id="52" name="Rectangle 51"/>
              <p:cNvSpPr/>
              <p:nvPr/>
            </p:nvSpPr>
            <p:spPr>
              <a:xfrm>
                <a:off x="6146601" y="2240090"/>
                <a:ext cx="142126" cy="1211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ight Arrow 52"/>
              <p:cNvSpPr/>
              <p:nvPr/>
            </p:nvSpPr>
            <p:spPr>
              <a:xfrm rot="10800000">
                <a:off x="5977861" y="2220764"/>
                <a:ext cx="168740" cy="140483"/>
              </a:xfrm>
              <a:prstGeom prst="rightArrow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6721774" y="4410132"/>
              <a:ext cx="310866" cy="140484"/>
              <a:chOff x="5977861" y="2220764"/>
              <a:chExt cx="310866" cy="140484"/>
            </a:xfrm>
          </p:grpSpPr>
          <p:sp>
            <p:nvSpPr>
              <p:cNvPr id="50" name="Rectangle 49"/>
              <p:cNvSpPr/>
              <p:nvPr/>
            </p:nvSpPr>
            <p:spPr>
              <a:xfrm>
                <a:off x="6146601" y="2240090"/>
                <a:ext cx="142126" cy="1211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ight Arrow 50"/>
              <p:cNvSpPr/>
              <p:nvPr/>
            </p:nvSpPr>
            <p:spPr>
              <a:xfrm rot="10800000">
                <a:off x="5977861" y="2220764"/>
                <a:ext cx="168740" cy="140483"/>
              </a:xfrm>
              <a:prstGeom prst="rightArrow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7046844" y="5112842"/>
              <a:ext cx="310866" cy="140484"/>
              <a:chOff x="5977861" y="2220764"/>
              <a:chExt cx="310866" cy="140484"/>
            </a:xfrm>
          </p:grpSpPr>
          <p:sp>
            <p:nvSpPr>
              <p:cNvPr id="48" name="Rectangle 47"/>
              <p:cNvSpPr/>
              <p:nvPr/>
            </p:nvSpPr>
            <p:spPr>
              <a:xfrm>
                <a:off x="6146601" y="2240090"/>
                <a:ext cx="142126" cy="1211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ight Arrow 48"/>
              <p:cNvSpPr/>
              <p:nvPr/>
            </p:nvSpPr>
            <p:spPr>
              <a:xfrm rot="10800000">
                <a:off x="5977861" y="2220764"/>
                <a:ext cx="168740" cy="140483"/>
              </a:xfrm>
              <a:prstGeom prst="rightArrow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6114990" y="3574161"/>
              <a:ext cx="310866" cy="140484"/>
              <a:chOff x="5977861" y="2220764"/>
              <a:chExt cx="310866" cy="140484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6146601" y="2240090"/>
                <a:ext cx="142126" cy="121158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ight Arrow 46"/>
              <p:cNvSpPr/>
              <p:nvPr/>
            </p:nvSpPr>
            <p:spPr>
              <a:xfrm rot="10800000">
                <a:off x="5977861" y="2220764"/>
                <a:ext cx="168740" cy="140483"/>
              </a:xfrm>
              <a:prstGeom prst="rightArrow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2" name="Group 71"/>
          <p:cNvGrpSpPr/>
          <p:nvPr/>
        </p:nvGrpSpPr>
        <p:grpSpPr>
          <a:xfrm>
            <a:off x="6477000" y="1752600"/>
            <a:ext cx="2551943" cy="369332"/>
            <a:chOff x="5982457" y="2145268"/>
            <a:chExt cx="2551943" cy="369332"/>
          </a:xfrm>
        </p:grpSpPr>
        <p:sp>
          <p:nvSpPr>
            <p:cNvPr id="73" name="TextBox 72"/>
            <p:cNvSpPr txBox="1"/>
            <p:nvPr/>
          </p:nvSpPr>
          <p:spPr>
            <a:xfrm>
              <a:off x="6048207" y="2145268"/>
              <a:ext cx="2486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: Additional information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982457" y="2269355"/>
              <a:ext cx="142126" cy="12115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82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Orthogonal Range searching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066800"/>
                <a:ext cx="8534400" cy="5562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Exercise Problem</a:t>
                </a:r>
                <a:r>
                  <a:rPr lang="en-US" sz="2000" dirty="0"/>
                  <a:t>: Preprocess a set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1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so that given any query </a:t>
                </a:r>
                <a:r>
                  <a:rPr lang="en-US" sz="2000" b="1" dirty="0"/>
                  <a:t>rectangle</a:t>
                </a:r>
                <a:r>
                  <a:rPr lang="en-US" sz="2000" dirty="0"/>
                  <a:t>, the number of points lying inside it can be reported efficiently.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Data structure</a:t>
                </a:r>
                <a:r>
                  <a:rPr lang="en-US" sz="2000" dirty="0"/>
                  <a:t>: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size = O(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/>
                      </a:rPr>
                      <m:t>log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),  Query = O(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log</m:t>
                        </m:r>
                      </m:e>
                      <m:sup>
                        <m:r>
                          <a:rPr lang="en-US" sz="2000" b="0" i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),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size = O(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),  Query = O(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sz="2000" dirty="0"/>
                  <a:t>),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066800"/>
                <a:ext cx="8534400" cy="5562600"/>
              </a:xfrm>
              <a:blipFill>
                <a:blip r:embed="rId2"/>
                <a:stretch>
                  <a:fillRect l="-744" t="-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1524000" y="1752600"/>
            <a:ext cx="5029200" cy="4114800"/>
            <a:chOff x="1524000" y="1752600"/>
            <a:chExt cx="5029200" cy="41148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1828800" y="1752600"/>
              <a:ext cx="0" cy="4114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524000" y="5562600"/>
              <a:ext cx="5029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Oval 19"/>
          <p:cNvSpPr/>
          <p:nvPr/>
        </p:nvSpPr>
        <p:spPr>
          <a:xfrm>
            <a:off x="2209800" y="2971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889095" y="3938239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438400" y="2514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619500" y="22479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965295" y="2895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381500" y="28575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486400" y="4572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738446" y="3352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343400" y="5257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209800" y="4800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5638800" y="35052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419600" y="3733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505200" y="42672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200400" y="51054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4953000" y="4495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5105400" y="2514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257800" y="3048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6172200" y="2667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324600" y="4038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5334000" y="4191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4724400" y="1905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191000" y="46482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2362200" y="3352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6477000" y="33528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5257800" y="51816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6172200" y="50292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2286000" y="4191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/>
          <p:cNvGrpSpPr/>
          <p:nvPr/>
        </p:nvGrpSpPr>
        <p:grpSpPr>
          <a:xfrm>
            <a:off x="3352800" y="2819400"/>
            <a:ext cx="2476500" cy="1371600"/>
            <a:chOff x="3352800" y="2819400"/>
            <a:chExt cx="2476500" cy="1371600"/>
          </a:xfrm>
        </p:grpSpPr>
        <p:sp>
          <p:nvSpPr>
            <p:cNvPr id="47" name="Rectangle 46"/>
            <p:cNvSpPr/>
            <p:nvPr/>
          </p:nvSpPr>
          <p:spPr>
            <a:xfrm>
              <a:off x="3352800" y="2819400"/>
              <a:ext cx="2476500" cy="1118839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002662" y="3821668"/>
              <a:ext cx="11027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Rectangle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82387" y="224135"/>
            <a:ext cx="5026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 novel application of </a:t>
            </a:r>
            <a:r>
              <a:rPr lang="en-US" sz="2400" b="1" dirty="0">
                <a:solidFill>
                  <a:srgbClr val="7030A0"/>
                </a:solidFill>
              </a:rPr>
              <a:t>augmented BST</a:t>
            </a:r>
          </a:p>
        </p:txBody>
      </p:sp>
      <p:sp>
        <p:nvSpPr>
          <p:cNvPr id="3" name="Down Ribbon 2"/>
          <p:cNvSpPr/>
          <p:nvPr/>
        </p:nvSpPr>
        <p:spPr>
          <a:xfrm>
            <a:off x="5838741" y="5638799"/>
            <a:ext cx="2819400" cy="914399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Try to solve it…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You can surely do it…</a:t>
            </a: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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We will do it soon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2167054" y="1943100"/>
            <a:ext cx="1835608" cy="1943100"/>
            <a:chOff x="3352800" y="2324100"/>
            <a:chExt cx="1835608" cy="1943100"/>
          </a:xfrm>
        </p:grpSpPr>
        <p:sp>
          <p:nvSpPr>
            <p:cNvPr id="49" name="Rectangle 48"/>
            <p:cNvSpPr/>
            <p:nvPr/>
          </p:nvSpPr>
          <p:spPr>
            <a:xfrm>
              <a:off x="3352800" y="2324100"/>
              <a:ext cx="1835608" cy="1614139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657600" y="3897868"/>
              <a:ext cx="11027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Rectangle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3574592" y="5791200"/>
            <a:ext cx="2102308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003092" y="6248400"/>
            <a:ext cx="2102308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76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2" grpId="0"/>
      <p:bldP spid="3" grpId="0" animBg="1"/>
      <p:bldP spid="7" grpId="0" animBg="1"/>
      <p:bldP spid="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Divide and Conquer 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 paradigm for Algorithm Design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29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An Overview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/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000" b="1" dirty="0"/>
              <a:t>A problem in this paradigm is solved in the following way.</a:t>
            </a:r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Divide</a:t>
            </a:r>
            <a:r>
              <a:rPr lang="en-US" sz="2000" dirty="0"/>
              <a:t> the problem instance into two or more instances  of the same problem.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Solve each smaller instance  </a:t>
            </a:r>
            <a:r>
              <a:rPr lang="en-US" sz="2000" b="1" u="sng" dirty="0">
                <a:solidFill>
                  <a:srgbClr val="7030A0"/>
                </a:solidFill>
              </a:rPr>
              <a:t>recursively</a:t>
            </a:r>
            <a:r>
              <a:rPr lang="en-US" sz="2000" dirty="0">
                <a:solidFill>
                  <a:srgbClr val="7030A0"/>
                </a:solidFill>
              </a:rPr>
              <a:t> </a:t>
            </a:r>
            <a:r>
              <a:rPr lang="en-US" sz="2000" dirty="0"/>
              <a:t>(base case suitably defined).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Combine</a:t>
            </a:r>
            <a:r>
              <a:rPr lang="en-US" sz="2000" dirty="0"/>
              <a:t> the solutions of the smaller instances </a:t>
            </a:r>
          </a:p>
          <a:p>
            <a:pPr marL="0" indent="0">
              <a:buNone/>
            </a:pPr>
            <a:r>
              <a:rPr lang="en-US" sz="2000" dirty="0"/>
              <a:t>         to get the solution of the original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Line Callout 2 4"/>
          <p:cNvSpPr/>
          <p:nvPr/>
        </p:nvSpPr>
        <p:spPr>
          <a:xfrm>
            <a:off x="3429000" y="5562600"/>
            <a:ext cx="3962400" cy="762000"/>
          </a:xfrm>
          <a:prstGeom prst="borderCallout2">
            <a:avLst>
              <a:gd name="adj1" fmla="val 20570"/>
              <a:gd name="adj2" fmla="val -40"/>
              <a:gd name="adj3" fmla="val 18750"/>
              <a:gd name="adj4" fmla="val -16667"/>
              <a:gd name="adj5" fmla="val -133791"/>
              <a:gd name="adj6" fmla="val -49575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is usually the main </a:t>
            </a:r>
            <a:r>
              <a:rPr lang="en-US" b="1" dirty="0"/>
              <a:t>nontrivial</a:t>
            </a:r>
            <a:r>
              <a:rPr lang="en-US" dirty="0"/>
              <a:t> step in the design of an algorithm using divide and conquer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1" y="2819400"/>
            <a:ext cx="2819399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553200" y="2819400"/>
            <a:ext cx="2819399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81400" y="3505200"/>
            <a:ext cx="1221221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800600" y="3505200"/>
            <a:ext cx="2897621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76400" y="4191000"/>
            <a:ext cx="3886200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0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Example Problems</a:t>
            </a:r>
            <a:endParaRPr lang="en-US" sz="32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600200"/>
                <a:ext cx="8991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 </a:t>
                </a:r>
                <a:r>
                  <a:rPr lang="en-US" sz="2000" dirty="0"/>
                  <a:t>Merge Sort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 Multiplication of two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-bit integers.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 </a:t>
                </a:r>
                <a:r>
                  <a:rPr lang="en-US" sz="2000" dirty="0"/>
                  <a:t>Counting the number of </a:t>
                </a:r>
                <a:r>
                  <a:rPr lang="en-US" sz="2000" dirty="0">
                    <a:solidFill>
                      <a:srgbClr val="7030A0"/>
                    </a:solidFill>
                  </a:rPr>
                  <a:t>inversions</a:t>
                </a:r>
                <a:r>
                  <a:rPr lang="en-US" sz="2000" dirty="0"/>
                  <a:t> in an array.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Median finding in linear time.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600200"/>
                <a:ext cx="8991600" cy="4525963"/>
              </a:xfrm>
              <a:blipFill>
                <a:blip r:embed="rId2"/>
                <a:stretch>
                  <a:fillRect l="-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5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2133600"/>
            <a:ext cx="7772400" cy="1362075"/>
          </a:xfrm>
        </p:spPr>
        <p:txBody>
          <a:bodyPr/>
          <a:lstStyle/>
          <a:p>
            <a:pPr algn="ctr"/>
            <a:r>
              <a:rPr lang="en-US" sz="4400" dirty="0"/>
              <a:t>problem 1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38200" y="2362200"/>
            <a:ext cx="7772400" cy="1500187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7030A0"/>
                </a:solidFill>
              </a:rPr>
              <a:t>Closest Pair of Points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58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Closest Pair </a:t>
            </a:r>
            <a:r>
              <a:rPr lang="en-US" sz="4000" b="1" dirty="0"/>
              <a:t>Problem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334000" y="5105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𝜹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372218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r="-2295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47244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31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Closest Pair of Points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 Definition:</a:t>
                </a:r>
              </a:p>
              <a:p>
                <a:pPr marL="0" indent="0">
                  <a:buNone/>
                </a:pPr>
                <a:r>
                  <a:rPr lang="en-US" sz="2000" dirty="0"/>
                  <a:t>Given a set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points in plane, </a:t>
                </a:r>
              </a:p>
              <a:p>
                <a:pPr marL="0" indent="0">
                  <a:buNone/>
                </a:pPr>
                <a:r>
                  <a:rPr lang="en-US" sz="2000" dirty="0"/>
                  <a:t>compute the pair of points with minimum Euclidean distance.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Deterministic algorithms:</a:t>
                </a:r>
              </a:p>
              <a:p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) :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Trivial algorithm</a:t>
                </a:r>
              </a:p>
              <a:p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0" smtClean="0">
                        <a:solidFill>
                          <a:schemeClr val="tx1"/>
                        </a:solidFill>
                        <a:latin typeface="Cambria Math"/>
                      </a:rPr>
                      <m:t>𝐥𝐨𝐠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: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Divide and Conquer </a:t>
                </a:r>
                <a:r>
                  <a:rPr lang="en-US" sz="2000" dirty="0">
                    <a:solidFill>
                      <a:srgbClr val="002060"/>
                    </a:solidFill>
                  </a:rPr>
                  <a:t>based algorithm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352800" y="2362200"/>
            <a:ext cx="3733800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09800" y="4191000"/>
            <a:ext cx="3810000" cy="381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5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25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7030A0"/>
                </a:solidFill>
              </a:rPr>
              <a:t>Hint/Tool</a:t>
            </a:r>
            <a:r>
              <a:rPr lang="en-US" sz="2800" b="1" dirty="0"/>
              <a:t>  No. 1</a:t>
            </a:r>
            <a:br>
              <a:rPr lang="en-US" sz="2800" b="1" dirty="0"/>
            </a:b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Exercise: </a:t>
            </a:r>
          </a:p>
          <a:p>
            <a:pPr marL="0" indent="0">
              <a:buNone/>
            </a:pPr>
            <a:r>
              <a:rPr lang="en-US" sz="2000" dirty="0"/>
              <a:t>What is the maximum number of points that can be placed in a </a:t>
            </a:r>
            <a:r>
              <a:rPr lang="en-US" sz="2000" u="sng" dirty="0"/>
              <a:t>unit square </a:t>
            </a:r>
          </a:p>
          <a:p>
            <a:pPr marL="0" indent="0">
              <a:buNone/>
            </a:pPr>
            <a:r>
              <a:rPr lang="en-US" sz="2000" dirty="0"/>
              <a:t>such that the minimum distance is at least </a:t>
            </a:r>
            <a:r>
              <a:rPr lang="en-US" sz="2000" dirty="0">
                <a:solidFill>
                  <a:srgbClr val="0070C0"/>
                </a:solidFill>
              </a:rPr>
              <a:t>1 </a:t>
            </a:r>
            <a:r>
              <a:rPr lang="en-US" sz="2000" dirty="0"/>
              <a:t>?</a:t>
            </a:r>
          </a:p>
          <a:p>
            <a:pPr marL="0" indent="0">
              <a:buNone/>
            </a:pPr>
            <a:r>
              <a:rPr lang="en-US" sz="2000" b="1" dirty="0"/>
              <a:t>Answer: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4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505200" y="3429000"/>
            <a:ext cx="205740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5943600" y="3429000"/>
            <a:ext cx="457200" cy="1828800"/>
            <a:chOff x="5943600" y="3429000"/>
            <a:chExt cx="457200" cy="1828800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5943600" y="3429000"/>
              <a:ext cx="0" cy="182880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099114" y="4050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</p:grpSp>
      <p:cxnSp>
        <p:nvCxnSpPr>
          <p:cNvPr id="13" name="Straight Connector 12"/>
          <p:cNvCxnSpPr>
            <a:stCxn id="5" idx="0"/>
            <a:endCxn id="5" idx="2"/>
          </p:cNvCxnSpPr>
          <p:nvPr/>
        </p:nvCxnSpPr>
        <p:spPr>
          <a:xfrm>
            <a:off x="4533900" y="3429000"/>
            <a:ext cx="0" cy="1828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5" idx="1"/>
            <a:endCxn id="5" idx="3"/>
          </p:cNvCxnSpPr>
          <p:nvPr/>
        </p:nvCxnSpPr>
        <p:spPr>
          <a:xfrm>
            <a:off x="3505200" y="4343400"/>
            <a:ext cx="2057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00600" y="35814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257800" y="419100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4533900" y="3429000"/>
            <a:ext cx="1028700" cy="91440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565073" y="3733800"/>
                <a:ext cx="387927" cy="4419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50" b="0" i="0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05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073" y="3733800"/>
                <a:ext cx="387927" cy="4419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890629" y="833735"/>
            <a:ext cx="3286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 discrete math exercise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4723296" y="1905000"/>
            <a:ext cx="3582504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loud Callout 16"/>
          <p:cNvSpPr/>
          <p:nvPr/>
        </p:nvSpPr>
        <p:spPr>
          <a:xfrm>
            <a:off x="6249957" y="2590800"/>
            <a:ext cx="2817843" cy="1603248"/>
          </a:xfrm>
          <a:prstGeom prst="cloudCallout">
            <a:avLst>
              <a:gd name="adj1" fmla="val -26889"/>
              <a:gd name="adj2" fmla="val 83366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If there are more than 4 points, at least one of the four small squares will have more than 1 points.</a:t>
            </a:r>
          </a:p>
        </p:txBody>
      </p:sp>
    </p:spTree>
    <p:extLst>
      <p:ext uri="{BB962C8B-B14F-4D97-AF65-F5344CB8AC3E}">
        <p14:creationId xmlns:p14="http://schemas.microsoft.com/office/powerpoint/2010/main" val="361133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uiExpand="1" animBg="1"/>
      <p:bldP spid="19" grpId="0" animBg="1"/>
      <p:bldP spid="20" grpId="0" animBg="1"/>
      <p:bldP spid="24" grpId="0"/>
      <p:bldP spid="8" grpId="0"/>
      <p:bldP spid="9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7030A0"/>
                </a:solidFill>
              </a:rPr>
              <a:t>Hint/Tool</a:t>
            </a:r>
            <a:r>
              <a:rPr lang="en-US" sz="2800" b="1" dirty="0"/>
              <a:t>  No. 2</a:t>
            </a:r>
            <a:br>
              <a:rPr lang="en-US" sz="2800" b="1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</a:t>
            </a:r>
            <a:r>
              <a:rPr lang="en-US" sz="2000" b="1" dirty="0"/>
              <a:t>: </a:t>
            </a:r>
          </a:p>
          <a:p>
            <a:pPr marL="0" indent="0">
              <a:buNone/>
            </a:pPr>
            <a:r>
              <a:rPr lang="en-US" sz="2000" dirty="0"/>
              <a:t>For which algorithmic problems do we need a suitable data structure 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6C31"/>
                </a:solidFill>
              </a:rPr>
              <a:t>Answer</a:t>
            </a:r>
            <a:r>
              <a:rPr lang="en-US" sz="2000" b="1" dirty="0"/>
              <a:t>: </a:t>
            </a:r>
          </a:p>
          <a:p>
            <a:pPr marL="0" indent="0">
              <a:buNone/>
            </a:pPr>
            <a:r>
              <a:rPr lang="en-US" sz="2000" dirty="0"/>
              <a:t>If the problem involves “</a:t>
            </a:r>
            <a:r>
              <a:rPr lang="en-US" sz="2000" b="1" dirty="0"/>
              <a:t>many</a:t>
            </a:r>
            <a:r>
              <a:rPr lang="en-US" sz="2000" dirty="0"/>
              <a:t>” operations of </a:t>
            </a:r>
            <a:r>
              <a:rPr lang="en-US" sz="2000" b="1" dirty="0"/>
              <a:t>same</a:t>
            </a:r>
            <a:r>
              <a:rPr lang="en-US" sz="2000" dirty="0"/>
              <a:t> type on a given data.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For example, it is worth sorting an array only if there are going to be </a:t>
            </a:r>
            <a:r>
              <a:rPr lang="en-US" sz="2000" b="1" dirty="0"/>
              <a:t>many</a:t>
            </a:r>
            <a:r>
              <a:rPr lang="en-US" sz="2000" dirty="0"/>
              <a:t> search queries on it.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Let us see if you can use this principle in today’s class itself </a:t>
            </a:r>
            <a:r>
              <a:rPr lang="en-US" sz="2000" dirty="0">
                <a:sym typeface="Wingdings" pitchFamily="2" charset="2"/>
              </a:rPr>
              <a:t>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40261" y="850802"/>
            <a:ext cx="4617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When do we use a data structure ?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4953000" y="3048000"/>
            <a:ext cx="3200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7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divide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9" name="Straight Connector 68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685800" y="5978652"/>
            <a:ext cx="3810000" cy="726948"/>
            <a:chOff x="685800" y="5978652"/>
            <a:chExt cx="3810000" cy="726948"/>
          </a:xfrm>
        </p:grpSpPr>
        <p:sp>
          <p:nvSpPr>
            <p:cNvPr id="5" name="Right Brace 4"/>
            <p:cNvSpPr/>
            <p:nvPr/>
          </p:nvSpPr>
          <p:spPr>
            <a:xfrm rot="5400000">
              <a:off x="2417826" y="4246626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2209800" y="6245218"/>
                  <a:ext cx="876650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45218"/>
                  <a:ext cx="876650" cy="46038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r="-13287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Group 69"/>
          <p:cNvGrpSpPr/>
          <p:nvPr/>
        </p:nvGrpSpPr>
        <p:grpSpPr>
          <a:xfrm>
            <a:off x="4648200" y="5978652"/>
            <a:ext cx="3810000" cy="726948"/>
            <a:chOff x="685800" y="5978652"/>
            <a:chExt cx="3810000" cy="726948"/>
          </a:xfrm>
        </p:grpSpPr>
        <p:sp>
          <p:nvSpPr>
            <p:cNvPr id="71" name="Right Brace 70"/>
            <p:cNvSpPr/>
            <p:nvPr/>
          </p:nvSpPr>
          <p:spPr>
            <a:xfrm rot="5400000">
              <a:off x="2417826" y="4246626"/>
              <a:ext cx="345948" cy="3810000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2209800" y="6245218"/>
                  <a:ext cx="876650" cy="4603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en-US" dirty="0"/>
                    <a:t>points</a:t>
                  </a:r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6245218"/>
                  <a:ext cx="876650" cy="46038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r="-13287"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4" name="Oval 73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8" name="Oval 87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9" name="Oval 88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73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conquer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own Ribbon 4"/>
          <p:cNvSpPr/>
          <p:nvPr/>
        </p:nvSpPr>
        <p:spPr>
          <a:xfrm>
            <a:off x="762000" y="1219200"/>
            <a:ext cx="3429000" cy="533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Compute closest pair of the left half set</a:t>
            </a:r>
          </a:p>
        </p:txBody>
      </p:sp>
      <p:sp>
        <p:nvSpPr>
          <p:cNvPr id="69" name="Down Ribbon 68"/>
          <p:cNvSpPr/>
          <p:nvPr/>
        </p:nvSpPr>
        <p:spPr>
          <a:xfrm>
            <a:off x="4991100" y="1216152"/>
            <a:ext cx="3390900" cy="5364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Compute closest pair of the right half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19400" y="6248400"/>
                <a:ext cx="3727495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Notice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/>
                          </a:rPr>
                          <m:t>&lt;</m:t>
                        </m:r>
                        <m:r>
                          <a:rPr lang="en-US" b="1" i="1"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dirty="0"/>
                  <a:t> for this given instance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6248400"/>
                <a:ext cx="3727495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473" t="-8197" r="-311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Oval 72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8" name="Oval 87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Oval 6"/>
          <p:cNvSpPr/>
          <p:nvPr/>
        </p:nvSpPr>
        <p:spPr>
          <a:xfrm>
            <a:off x="4305300" y="1668982"/>
            <a:ext cx="571500" cy="31221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1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5" grpId="0"/>
      <p:bldP spid="71" grpId="0"/>
      <p:bldP spid="5" grpId="0" animBg="1"/>
      <p:bldP spid="5" grpId="1" animBg="1"/>
      <p:bldP spid="69" grpId="0" animBg="1"/>
      <p:bldP spid="69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</a:t>
            </a:r>
            <a:r>
              <a:rPr lang="en-US" sz="4000" b="1" dirty="0">
                <a:solidFill>
                  <a:srgbClr val="7030A0"/>
                </a:solidFill>
              </a:rPr>
              <a:t> 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1905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9" name="Straight Connector 68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912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91200"/>
                <a:ext cx="47634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47634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Cloud Callout 91"/>
          <p:cNvSpPr/>
          <p:nvPr/>
        </p:nvSpPr>
        <p:spPr>
          <a:xfrm>
            <a:off x="228600" y="1216152"/>
            <a:ext cx="2438400" cy="1298448"/>
          </a:xfrm>
          <a:prstGeom prst="cloudCallout">
            <a:avLst>
              <a:gd name="adj1" fmla="val -32479"/>
              <a:gd name="adj2" fmla="val 75176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Which points do we need to focus on for the closest pairs ?</a:t>
            </a:r>
          </a:p>
        </p:txBody>
      </p:sp>
      <p:sp>
        <p:nvSpPr>
          <p:cNvPr id="91" name="Oval 90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4" name="Oval 93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8944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3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8" grpId="0"/>
      <p:bldP spid="89" grpId="0"/>
      <p:bldP spid="9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26668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26668"/>
                <a:ext cx="47634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47634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Line Callout 2 5"/>
              <p:cNvSpPr/>
              <p:nvPr/>
            </p:nvSpPr>
            <p:spPr>
              <a:xfrm>
                <a:off x="6553200" y="838200"/>
                <a:ext cx="2514600" cy="612648"/>
              </a:xfrm>
              <a:prstGeom prst="borderCallout2">
                <a:avLst>
                  <a:gd name="adj1" fmla="val 52228"/>
                  <a:gd name="adj2" fmla="val -856"/>
                  <a:gd name="adj3" fmla="val 52227"/>
                  <a:gd name="adj4" fmla="val -64767"/>
                  <a:gd name="adj5" fmla="val 91577"/>
                  <a:gd name="adj6" fmla="val -77595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But there may still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tx1"/>
                        </a:solidFill>
                        <a:latin typeface="Cambria Math"/>
                      </a:rPr>
                      <m:t>Θ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pairs of points here</a:t>
                </a:r>
                <a:r>
                  <a:rPr lang="en-US" sz="1400" dirty="0">
                    <a:solidFill>
                      <a:schemeClr val="tx1"/>
                    </a:solidFill>
                    <a:sym typeface="Wingdings" pitchFamily="2" charset="2"/>
                  </a:rPr>
                  <a:t></a:t>
                </a:r>
                <a:r>
                  <a:rPr lang="en-US" sz="1400" dirty="0">
                    <a:solidFill>
                      <a:schemeClr val="tx1"/>
                    </a:solidFill>
                  </a:rPr>
                  <a:t> So what to do ?</a:t>
                </a:r>
              </a:p>
            </p:txBody>
          </p:sp>
        </mc:Choice>
        <mc:Fallback xmlns="">
          <p:sp>
            <p:nvSpPr>
              <p:cNvPr id="6" name="Line Callout 2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838200"/>
                <a:ext cx="2514600" cy="612648"/>
              </a:xfrm>
              <a:prstGeom prst="borderCallout2">
                <a:avLst>
                  <a:gd name="adj1" fmla="val 52228"/>
                  <a:gd name="adj2" fmla="val -856"/>
                  <a:gd name="adj3" fmla="val 52227"/>
                  <a:gd name="adj4" fmla="val -64767"/>
                  <a:gd name="adj5" fmla="val 91577"/>
                  <a:gd name="adj6" fmla="val -77595"/>
                </a:avLst>
              </a:prstGeom>
              <a:blipFill rotWithShape="1">
                <a:blip r:embed="rId6"/>
                <a:stretch>
                  <a:fillRect t="-7692" b="-1730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Brace 7"/>
          <p:cNvSpPr/>
          <p:nvPr/>
        </p:nvSpPr>
        <p:spPr>
          <a:xfrm rot="16200000">
            <a:off x="4496562" y="1104138"/>
            <a:ext cx="190500" cy="80162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Oval 91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3" name="Oval 92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042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26668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26668"/>
                <a:ext cx="47634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47634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267200" y="4991100"/>
            <a:ext cx="69695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loud Callout 5"/>
              <p:cNvSpPr/>
              <p:nvPr/>
            </p:nvSpPr>
            <p:spPr>
              <a:xfrm>
                <a:off x="76200" y="914400"/>
                <a:ext cx="2705100" cy="838200"/>
              </a:xfrm>
              <a:prstGeom prst="cloudCallout">
                <a:avLst>
                  <a:gd name="adj1" fmla="val -36534"/>
                  <a:gd name="adj2" fmla="val 88581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Focus on a point </a:t>
                </a:r>
                <a14:m>
                  <m:oMath xmlns:m="http://schemas.openxmlformats.org/officeDocument/2006/math">
                    <m:r>
                      <a:rPr lang="en-US" sz="1400" b="1" i="1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  <m:r>
                      <a:rPr lang="en-US" sz="1400" b="1" i="1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in left strip. </a:t>
                </a:r>
              </a:p>
            </p:txBody>
          </p:sp>
        </mc:Choice>
        <mc:Fallback xmlns="">
          <p:sp>
            <p:nvSpPr>
              <p:cNvPr id="6" name="Cloud Callou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914400"/>
                <a:ext cx="2705100" cy="838200"/>
              </a:xfrm>
              <a:prstGeom prst="cloudCallout">
                <a:avLst>
                  <a:gd name="adj1" fmla="val -36534"/>
                  <a:gd name="adj2" fmla="val 88581"/>
                </a:avLst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loud Callout 90"/>
              <p:cNvSpPr/>
              <p:nvPr/>
            </p:nvSpPr>
            <p:spPr>
              <a:xfrm>
                <a:off x="114299" y="1143000"/>
                <a:ext cx="4610101" cy="1066800"/>
              </a:xfrm>
              <a:prstGeom prst="cloudCallout">
                <a:avLst>
                  <a:gd name="adj1" fmla="val -36534"/>
                  <a:gd name="adj2" fmla="val 88581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Where do we have to search for the points in the right strip that can form a pair with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at distance &lt;</a:t>
                </a:r>
                <a:r>
                  <a:rPr lang="en-US" sz="1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?  </a:t>
                </a:r>
              </a:p>
            </p:txBody>
          </p:sp>
        </mc:Choice>
        <mc:Fallback xmlns="">
          <p:sp>
            <p:nvSpPr>
              <p:cNvPr id="91" name="Cloud Callout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9" y="1143000"/>
                <a:ext cx="4610101" cy="1066800"/>
              </a:xfrm>
              <a:prstGeom prst="cloudCallout">
                <a:avLst>
                  <a:gd name="adj1" fmla="val -36534"/>
                  <a:gd name="adj2" fmla="val 88581"/>
                </a:avLst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4076700" y="48768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Oval 91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4" name="Oval 93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0201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1" grpId="0" animBg="1"/>
      <p:bldP spid="91" grpId="1" animBg="1"/>
      <p:bldP spid="9" grpId="0" animBg="1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26668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26668"/>
                <a:ext cx="47634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47634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267200" y="4991100"/>
            <a:ext cx="69695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H="1">
            <a:off x="5018050" y="4572000"/>
            <a:ext cx="11150" cy="3810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H="1">
            <a:off x="5018050" y="5029200"/>
            <a:ext cx="11150" cy="3810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5029200" y="45720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5720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5029200" y="50292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50292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Oval 95"/>
          <p:cNvSpPr/>
          <p:nvPr/>
        </p:nvSpPr>
        <p:spPr>
          <a:xfrm>
            <a:off x="4076700" y="48768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9" name="Oval 98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3122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4724400" y="5257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572000" y="4572000"/>
            <a:ext cx="392152" cy="876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26668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26668"/>
                <a:ext cx="47634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47634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267200" y="4991100"/>
            <a:ext cx="69695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H="1">
            <a:off x="5018050" y="4572000"/>
            <a:ext cx="11150" cy="3810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H="1">
            <a:off x="5018050" y="5029200"/>
            <a:ext cx="11150" cy="3810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5029200" y="45720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5720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5029200" y="50292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5029200"/>
                <a:ext cx="47634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Down Ribbon 9"/>
              <p:cNvSpPr/>
              <p:nvPr/>
            </p:nvSpPr>
            <p:spPr>
              <a:xfrm>
                <a:off x="5219700" y="2286000"/>
                <a:ext cx="3086100" cy="9555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Only the points lying in these 2 red squares  are relevant as far as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 is concerned.</a:t>
                </a:r>
              </a:p>
            </p:txBody>
          </p:sp>
        </mc:Choice>
        <mc:Fallback xmlns="">
          <p:sp>
            <p:nvSpPr>
              <p:cNvPr id="10" name="Down Ribbon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700" y="2286000"/>
                <a:ext cx="3086100" cy="9555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7"/>
                <a:stretch>
                  <a:fillRect b="-1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68" y="5029200"/>
                <a:ext cx="380232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Oval 93"/>
          <p:cNvSpPr/>
          <p:nvPr/>
        </p:nvSpPr>
        <p:spPr>
          <a:xfrm>
            <a:off x="4076700" y="4876800"/>
            <a:ext cx="266700" cy="228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loud Callout 94"/>
              <p:cNvSpPr/>
              <p:nvPr/>
            </p:nvSpPr>
            <p:spPr>
              <a:xfrm>
                <a:off x="5181600" y="2286000"/>
                <a:ext cx="3276600" cy="870584"/>
              </a:xfrm>
              <a:prstGeom prst="cloudCallout">
                <a:avLst>
                  <a:gd name="adj1" fmla="val -36534"/>
                  <a:gd name="adj2" fmla="val 88581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How many points can there be in these 2 red squares  each of length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? </a:t>
                </a:r>
              </a:p>
            </p:txBody>
          </p:sp>
        </mc:Choice>
        <mc:Fallback xmlns="">
          <p:sp>
            <p:nvSpPr>
              <p:cNvPr id="95" name="Cloud Callout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286000"/>
                <a:ext cx="3276600" cy="870584"/>
              </a:xfrm>
              <a:prstGeom prst="cloudCallout">
                <a:avLst>
                  <a:gd name="adj1" fmla="val -36534"/>
                  <a:gd name="adj2" fmla="val 88581"/>
                </a:avLst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6248400" y="3896380"/>
            <a:ext cx="1859868" cy="980420"/>
            <a:chOff x="6172200" y="3733800"/>
            <a:chExt cx="1859868" cy="980420"/>
          </a:xfrm>
        </p:grpSpPr>
        <p:sp>
          <p:nvSpPr>
            <p:cNvPr id="6" name="Smiley Face 5"/>
            <p:cNvSpPr/>
            <p:nvPr/>
          </p:nvSpPr>
          <p:spPr>
            <a:xfrm>
              <a:off x="6858000" y="3733800"/>
              <a:ext cx="457200" cy="457200"/>
            </a:xfrm>
            <a:prstGeom prst="smileyFac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72200" y="4191000"/>
              <a:ext cx="1859868" cy="52322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Surely not more than 8</a:t>
              </a:r>
            </a:p>
            <a:p>
              <a:pPr algn="ctr"/>
              <a:r>
                <a:rPr lang="en-US" sz="1400" dirty="0"/>
                <a:t>(using Hint 1)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loud Callout 98"/>
              <p:cNvSpPr/>
              <p:nvPr/>
            </p:nvSpPr>
            <p:spPr>
              <a:xfrm>
                <a:off x="5018050" y="2438400"/>
                <a:ext cx="3668750" cy="870584"/>
              </a:xfrm>
              <a:prstGeom prst="cloudCallout">
                <a:avLst>
                  <a:gd name="adj1" fmla="val -36534"/>
                  <a:gd name="adj2" fmla="val 88581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How to find the points in these red square for point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/>
                      </a:rPr>
                      <m:t>𝒑</m:t>
                    </m:r>
                    <m:r>
                      <a:rPr lang="en-US" sz="1400" b="0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99" name="Cloud Callout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8050" y="2438400"/>
                <a:ext cx="3668750" cy="870584"/>
              </a:xfrm>
              <a:prstGeom prst="cloudCallout">
                <a:avLst>
                  <a:gd name="adj1" fmla="val -36534"/>
                  <a:gd name="adj2" fmla="val 88581"/>
                </a:avLst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1" name="Group 100"/>
          <p:cNvGrpSpPr/>
          <p:nvPr/>
        </p:nvGrpSpPr>
        <p:grpSpPr>
          <a:xfrm>
            <a:off x="5791200" y="3883223"/>
            <a:ext cx="2732799" cy="764977"/>
            <a:chOff x="5715000" y="3733800"/>
            <a:chExt cx="2732799" cy="764977"/>
          </a:xfrm>
        </p:grpSpPr>
        <p:sp>
          <p:nvSpPr>
            <p:cNvPr id="102" name="Smiley Face 101"/>
            <p:cNvSpPr/>
            <p:nvPr/>
          </p:nvSpPr>
          <p:spPr>
            <a:xfrm>
              <a:off x="6858000" y="3733800"/>
              <a:ext cx="457200" cy="457200"/>
            </a:xfrm>
            <a:prstGeom prst="smileyFace">
              <a:avLst>
                <a:gd name="adj" fmla="val -4653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/>
                <p:cNvSpPr txBox="1"/>
                <p:nvPr/>
              </p:nvSpPr>
              <p:spPr>
                <a:xfrm>
                  <a:off x="5715000" y="4191000"/>
                  <a:ext cx="2732799" cy="30777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It will take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/>
                        </a:rPr>
                        <m:t>O</m:t>
                      </m:r>
                      <m:r>
                        <a:rPr lang="en-US" sz="1400" b="0" i="0" smtClean="0">
                          <a:latin typeface="Cambria Math"/>
                        </a:rPr>
                        <m:t>(</m:t>
                      </m:r>
                      <m:r>
                        <a:rPr lang="en-US" sz="1400" b="1" i="1" smtClean="0">
                          <a:latin typeface="Cambria Math"/>
                        </a:rPr>
                        <m:t>𝒏</m:t>
                      </m:r>
                      <m:r>
                        <a:rPr lang="en-US" sz="1400" b="1" i="1" smtClean="0">
                          <a:latin typeface="Cambria Math"/>
                        </a:rPr>
                        <m:t>) </m:t>
                      </m:r>
                    </m:oMath>
                  </a14:m>
                  <a:r>
                    <a:rPr lang="en-US" sz="1400" dirty="0"/>
                    <a:t>time for a given </a:t>
                  </a:r>
                  <a14:m>
                    <m:oMath xmlns:m="http://schemas.openxmlformats.org/officeDocument/2006/math">
                      <m:r>
                        <a:rPr lang="en-US" sz="1400" b="1" i="1">
                          <a:latin typeface="Cambria Math"/>
                        </a:rPr>
                        <m:t>𝒑</m:t>
                      </m:r>
                    </m:oMath>
                  </a14:m>
                  <a:r>
                    <a:rPr lang="en-US" sz="1400" dirty="0"/>
                    <a:t>.</a:t>
                  </a:r>
                </a:p>
              </p:txBody>
            </p:sp>
          </mc:Choice>
          <mc:Fallback xmlns="">
            <p:sp>
              <p:nvSpPr>
                <p:cNvPr id="103" name="TextBox 1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4191000"/>
                  <a:ext cx="2732799" cy="307777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222" r="-889" b="-1509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Down Ribbon 12"/>
          <p:cNvSpPr/>
          <p:nvPr/>
        </p:nvSpPr>
        <p:spPr>
          <a:xfrm>
            <a:off x="5267374" y="5791200"/>
            <a:ext cx="3571826" cy="765048"/>
          </a:xfrm>
          <a:prstGeom prst="ribbon">
            <a:avLst>
              <a:gd name="adj1" fmla="val 16667"/>
              <a:gd name="adj2" fmla="val 75000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It is time to use Hint/Tool no. 2.</a:t>
            </a:r>
          </a:p>
        </p:txBody>
      </p:sp>
      <p:sp>
        <p:nvSpPr>
          <p:cNvPr id="104" name="Oval 103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Oval 104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6" name="Oval 105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5049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95" grpId="0" animBg="1"/>
      <p:bldP spid="95" grpId="1" animBg="1"/>
      <p:bldP spid="99" grpId="0" animBg="1"/>
      <p:bldP spid="99" grpId="1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610100" y="1623218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1000" y="1600199"/>
            <a:ext cx="381000" cy="4525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The </a:t>
            </a:r>
            <a:r>
              <a:rPr lang="en-US" sz="4000" b="1" dirty="0">
                <a:solidFill>
                  <a:srgbClr val="7030A0"/>
                </a:solidFill>
              </a:rPr>
              <a:t>combine</a:t>
            </a:r>
            <a:r>
              <a:rPr lang="en-US" sz="4000" b="1" dirty="0"/>
              <a:t> step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276600" y="2895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6576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29400" y="3505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191000" y="4953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0198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6096000" y="5181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1816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" name="Straight Arrow Connector 43"/>
          <p:cNvCxnSpPr>
            <a:stCxn id="49" idx="1"/>
            <a:endCxn id="56" idx="7"/>
          </p:cNvCxnSpPr>
          <p:nvPr/>
        </p:nvCxnSpPr>
        <p:spPr>
          <a:xfrm flipH="1" flipV="1">
            <a:off x="1741441" y="3211559"/>
            <a:ext cx="250918" cy="7620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24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2743200" y="3657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/>
          <p:cNvSpPr/>
          <p:nvPr/>
        </p:nvSpPr>
        <p:spPr>
          <a:xfrm>
            <a:off x="69342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/>
          <p:cNvSpPr/>
          <p:nvPr/>
        </p:nvSpPr>
        <p:spPr>
          <a:xfrm>
            <a:off x="6477000" y="2590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105400" y="5410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051" y="3276600"/>
                <a:ext cx="476349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2438400" y="2667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981200" y="3276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2133600" y="3962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7" name="Oval 56"/>
          <p:cNvSpPr/>
          <p:nvPr/>
        </p:nvSpPr>
        <p:spPr>
          <a:xfrm>
            <a:off x="19050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8" name="Oval 57"/>
          <p:cNvSpPr/>
          <p:nvPr/>
        </p:nvSpPr>
        <p:spPr>
          <a:xfrm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9" name="Oval 58"/>
          <p:cNvSpPr/>
          <p:nvPr/>
        </p:nvSpPr>
        <p:spPr>
          <a:xfrm>
            <a:off x="4267200" y="220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5486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1" name="Oval 60"/>
          <p:cNvSpPr/>
          <p:nvPr/>
        </p:nvSpPr>
        <p:spPr>
          <a:xfrm>
            <a:off x="5486400" y="4495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2" name="Oval 61"/>
          <p:cNvSpPr/>
          <p:nvPr/>
        </p:nvSpPr>
        <p:spPr>
          <a:xfrm>
            <a:off x="5638800" y="556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Oval 62"/>
          <p:cNvSpPr/>
          <p:nvPr/>
        </p:nvSpPr>
        <p:spPr>
          <a:xfrm>
            <a:off x="57912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4" name="Oval 63"/>
          <p:cNvSpPr/>
          <p:nvPr/>
        </p:nvSpPr>
        <p:spPr>
          <a:xfrm>
            <a:off x="6629400" y="182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7772400" y="3124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Oval 65"/>
          <p:cNvSpPr/>
          <p:nvPr/>
        </p:nvSpPr>
        <p:spPr>
          <a:xfrm>
            <a:off x="7924800" y="4038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Oval 66"/>
          <p:cNvSpPr/>
          <p:nvPr/>
        </p:nvSpPr>
        <p:spPr>
          <a:xfrm>
            <a:off x="7924800" y="2057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Oval 67"/>
          <p:cNvSpPr/>
          <p:nvPr/>
        </p:nvSpPr>
        <p:spPr>
          <a:xfrm>
            <a:off x="77724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0" name="Straight Arrow Connector 69"/>
          <p:cNvCxnSpPr>
            <a:stCxn id="41" idx="3"/>
            <a:endCxn id="62" idx="6"/>
          </p:cNvCxnSpPr>
          <p:nvPr/>
        </p:nvCxnSpPr>
        <p:spPr>
          <a:xfrm flipH="1">
            <a:off x="5715000" y="5246641"/>
            <a:ext cx="392159" cy="354059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51" y="5345668"/>
                <a:ext cx="498791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585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Oval 74"/>
          <p:cNvSpPr/>
          <p:nvPr/>
        </p:nvSpPr>
        <p:spPr>
          <a:xfrm>
            <a:off x="1371600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6" name="Oval 75"/>
          <p:cNvSpPr/>
          <p:nvPr/>
        </p:nvSpPr>
        <p:spPr>
          <a:xfrm>
            <a:off x="838200" y="5791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7" name="Oval 76"/>
          <p:cNvSpPr/>
          <p:nvPr/>
        </p:nvSpPr>
        <p:spPr>
          <a:xfrm>
            <a:off x="4343400" y="3886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343400" y="5638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4800600" y="60198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4343400" y="4419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267200" y="27432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/>
          <p:cNvSpPr/>
          <p:nvPr/>
        </p:nvSpPr>
        <p:spPr>
          <a:xfrm>
            <a:off x="4038600" y="3429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Oval 86"/>
          <p:cNvSpPr/>
          <p:nvPr/>
        </p:nvSpPr>
        <p:spPr>
          <a:xfrm>
            <a:off x="5181600" y="3581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191000" y="1600199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64151" y="1600200"/>
            <a:ext cx="0" cy="44958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4572000" y="57912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552851" y="5726668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851" y="5726668"/>
                <a:ext cx="47634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4191000" y="5943600"/>
                <a:ext cx="476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943600"/>
                <a:ext cx="47634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/>
          <p:nvPr/>
        </p:nvCxnSpPr>
        <p:spPr>
          <a:xfrm flipH="1">
            <a:off x="4179849" y="5943600"/>
            <a:ext cx="392151" cy="0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" idx="0"/>
            <a:endCxn id="3" idx="2"/>
          </p:cNvCxnSpPr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4267200" y="2362200"/>
            <a:ext cx="1238349" cy="876300"/>
            <a:chOff x="4267200" y="2362200"/>
            <a:chExt cx="1238349" cy="876300"/>
          </a:xfrm>
        </p:grpSpPr>
        <p:sp>
          <p:nvSpPr>
            <p:cNvPr id="9" name="Rectangle 8"/>
            <p:cNvSpPr/>
            <p:nvPr/>
          </p:nvSpPr>
          <p:spPr>
            <a:xfrm>
              <a:off x="4572000" y="2362200"/>
              <a:ext cx="392152" cy="8763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4267200" y="2781300"/>
              <a:ext cx="696951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H="1">
              <a:off x="5018050" y="23622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 flipH="1">
              <a:off x="5018050" y="2819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/>
                <p:cNvSpPr txBox="1"/>
                <p:nvPr/>
              </p:nvSpPr>
              <p:spPr>
                <a:xfrm>
                  <a:off x="5010051" y="2438400"/>
                  <a:ext cx="4763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0051" y="2438400"/>
                  <a:ext cx="476349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6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/>
                <p:cNvSpPr txBox="1"/>
                <p:nvPr/>
              </p:nvSpPr>
              <p:spPr>
                <a:xfrm>
                  <a:off x="5029200" y="2819400"/>
                  <a:ext cx="4763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819400"/>
                  <a:ext cx="476349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1666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3" name="Oval 92"/>
          <p:cNvSpPr/>
          <p:nvPr/>
        </p:nvSpPr>
        <p:spPr>
          <a:xfrm>
            <a:off x="4724400" y="2438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Oval 93"/>
          <p:cNvSpPr/>
          <p:nvPr/>
        </p:nvSpPr>
        <p:spPr>
          <a:xfrm>
            <a:off x="4724400" y="3048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5" name="Down Ribbon 94"/>
          <p:cNvSpPr/>
          <p:nvPr/>
        </p:nvSpPr>
        <p:spPr>
          <a:xfrm>
            <a:off x="5252357" y="2397252"/>
            <a:ext cx="3086100" cy="9555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We need to find points in the 2 red square for </a:t>
            </a:r>
            <a:r>
              <a:rPr lang="en-US" sz="1400" u="sng" dirty="0">
                <a:solidFill>
                  <a:schemeClr val="tx1"/>
                </a:solidFill>
              </a:rPr>
              <a:t>every</a:t>
            </a:r>
            <a:r>
              <a:rPr lang="en-US" sz="1400" dirty="0">
                <a:solidFill>
                  <a:schemeClr val="tx1"/>
                </a:solidFill>
              </a:rPr>
              <a:t> point in the  </a:t>
            </a:r>
            <a:r>
              <a:rPr lang="en-US" sz="1400" b="1" dirty="0">
                <a:solidFill>
                  <a:schemeClr val="tx1"/>
                </a:solidFill>
              </a:rPr>
              <a:t>left</a:t>
            </a:r>
            <a:r>
              <a:rPr lang="en-US" sz="1400" dirty="0">
                <a:solidFill>
                  <a:schemeClr val="tx1"/>
                </a:solidFill>
              </a:rPr>
              <a:t> strip.</a:t>
            </a:r>
          </a:p>
        </p:txBody>
      </p:sp>
      <p:grpSp>
        <p:nvGrpSpPr>
          <p:cNvPr id="99" name="Group 98"/>
          <p:cNvGrpSpPr/>
          <p:nvPr/>
        </p:nvGrpSpPr>
        <p:grpSpPr>
          <a:xfrm>
            <a:off x="5715000" y="3733800"/>
            <a:ext cx="2866426" cy="1411307"/>
            <a:chOff x="5715000" y="3733800"/>
            <a:chExt cx="2866426" cy="1411307"/>
          </a:xfrm>
        </p:grpSpPr>
        <p:sp>
          <p:nvSpPr>
            <p:cNvPr id="101" name="Smiley Face 100"/>
            <p:cNvSpPr/>
            <p:nvPr/>
          </p:nvSpPr>
          <p:spPr>
            <a:xfrm>
              <a:off x="6858000" y="3733800"/>
              <a:ext cx="457200" cy="457200"/>
            </a:xfrm>
            <a:prstGeom prst="smileyFac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5715000" y="4191000"/>
              <a:ext cx="2866426" cy="95410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So build a suitable data structure</a:t>
              </a:r>
            </a:p>
            <a:p>
              <a:r>
                <a:rPr lang="en-US" sz="1400" dirty="0"/>
                <a:t> for points in the </a:t>
              </a:r>
              <a:r>
                <a:rPr lang="en-US" sz="1400" b="1" dirty="0"/>
                <a:t>right</a:t>
              </a:r>
              <a:r>
                <a:rPr lang="en-US" sz="1400" dirty="0"/>
                <a:t> strip so that </a:t>
              </a:r>
            </a:p>
            <a:p>
              <a:r>
                <a:rPr lang="en-US" sz="1400" dirty="0"/>
                <a:t>we can answer such query efficiently</a:t>
              </a:r>
            </a:p>
            <a:p>
              <a:r>
                <a:rPr lang="en-US" sz="1400" dirty="0"/>
                <a:t>for each point in the </a:t>
              </a:r>
              <a:r>
                <a:rPr lang="en-US" sz="1400" b="1" dirty="0"/>
                <a:t>left</a:t>
              </a:r>
              <a:r>
                <a:rPr lang="en-US" sz="1400" dirty="0"/>
                <a:t> strip.</a:t>
              </a:r>
            </a:p>
          </p:txBody>
        </p:sp>
      </p:grpSp>
      <p:sp>
        <p:nvSpPr>
          <p:cNvPr id="103" name="Cloud Callout 102"/>
          <p:cNvSpPr/>
          <p:nvPr/>
        </p:nvSpPr>
        <p:spPr>
          <a:xfrm>
            <a:off x="5322850" y="2438400"/>
            <a:ext cx="3668750" cy="870584"/>
          </a:xfrm>
          <a:prstGeom prst="cloudCallout">
            <a:avLst>
              <a:gd name="adj1" fmla="val -36534"/>
              <a:gd name="adj2" fmla="val 8858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What will be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the data structure ?</a:t>
            </a:r>
          </a:p>
        </p:txBody>
      </p:sp>
      <p:sp>
        <p:nvSpPr>
          <p:cNvPr id="104" name="Down Ribbon 103"/>
          <p:cNvSpPr/>
          <p:nvPr/>
        </p:nvSpPr>
        <p:spPr>
          <a:xfrm>
            <a:off x="5143500" y="2362200"/>
            <a:ext cx="3086100" cy="9555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An array storing the points of the right strip in increasing order of y-coordinates.</a:t>
            </a:r>
          </a:p>
        </p:txBody>
      </p:sp>
      <p:grpSp>
        <p:nvGrpSpPr>
          <p:cNvPr id="110" name="Group 109"/>
          <p:cNvGrpSpPr/>
          <p:nvPr/>
        </p:nvGrpSpPr>
        <p:grpSpPr>
          <a:xfrm>
            <a:off x="4267200" y="4038600"/>
            <a:ext cx="1238349" cy="876300"/>
            <a:chOff x="4267200" y="2362200"/>
            <a:chExt cx="1238349" cy="876300"/>
          </a:xfrm>
        </p:grpSpPr>
        <p:sp>
          <p:nvSpPr>
            <p:cNvPr id="111" name="Rectangle 110"/>
            <p:cNvSpPr/>
            <p:nvPr/>
          </p:nvSpPr>
          <p:spPr>
            <a:xfrm>
              <a:off x="4572000" y="2362200"/>
              <a:ext cx="392152" cy="8763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Connector 111"/>
            <p:cNvCxnSpPr/>
            <p:nvPr/>
          </p:nvCxnSpPr>
          <p:spPr>
            <a:xfrm>
              <a:off x="4267200" y="2781300"/>
              <a:ext cx="696951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/>
            <p:nvPr/>
          </p:nvCxnSpPr>
          <p:spPr>
            <a:xfrm flipH="1">
              <a:off x="5018050" y="23622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/>
            <p:nvPr/>
          </p:nvCxnSpPr>
          <p:spPr>
            <a:xfrm flipH="1">
              <a:off x="5018050" y="2819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/>
                <p:cNvSpPr txBox="1"/>
                <p:nvPr/>
              </p:nvSpPr>
              <p:spPr>
                <a:xfrm>
                  <a:off x="5010051" y="2438400"/>
                  <a:ext cx="4763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0051" y="2438400"/>
                  <a:ext cx="476349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6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/>
                <p:cNvSpPr txBox="1"/>
                <p:nvPr/>
              </p:nvSpPr>
              <p:spPr>
                <a:xfrm>
                  <a:off x="5029200" y="2819400"/>
                  <a:ext cx="4763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819400"/>
                  <a:ext cx="476349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1666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7" name="Oval 116"/>
          <p:cNvSpPr/>
          <p:nvPr/>
        </p:nvSpPr>
        <p:spPr>
          <a:xfrm>
            <a:off x="4876800" y="4191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/>
          <p:cNvSpPr/>
          <p:nvPr/>
        </p:nvSpPr>
        <p:spPr>
          <a:xfrm>
            <a:off x="4648200" y="47244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4648200" y="53340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Oval 104"/>
          <p:cNvSpPr/>
          <p:nvPr/>
        </p:nvSpPr>
        <p:spPr>
          <a:xfrm>
            <a:off x="44196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6" name="Oval 105"/>
          <p:cNvSpPr/>
          <p:nvPr/>
        </p:nvSpPr>
        <p:spPr>
          <a:xfrm>
            <a:off x="4648200" y="1752600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grpSp>
        <p:nvGrpSpPr>
          <p:cNvPr id="97" name="Group 96"/>
          <p:cNvGrpSpPr/>
          <p:nvPr/>
        </p:nvGrpSpPr>
        <p:grpSpPr>
          <a:xfrm>
            <a:off x="4267200" y="1828800"/>
            <a:ext cx="1238349" cy="876300"/>
            <a:chOff x="4267200" y="2362200"/>
            <a:chExt cx="1238349" cy="876300"/>
          </a:xfrm>
        </p:grpSpPr>
        <p:sp>
          <p:nvSpPr>
            <p:cNvPr id="107" name="Rectangle 106"/>
            <p:cNvSpPr/>
            <p:nvPr/>
          </p:nvSpPr>
          <p:spPr>
            <a:xfrm>
              <a:off x="4572000" y="2362200"/>
              <a:ext cx="392152" cy="8763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Connector 107"/>
            <p:cNvCxnSpPr/>
            <p:nvPr/>
          </p:nvCxnSpPr>
          <p:spPr>
            <a:xfrm>
              <a:off x="4267200" y="2781300"/>
              <a:ext cx="696951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/>
            <p:nvPr/>
          </p:nvCxnSpPr>
          <p:spPr>
            <a:xfrm flipH="1">
              <a:off x="5018050" y="23622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/>
            <p:nvPr/>
          </p:nvCxnSpPr>
          <p:spPr>
            <a:xfrm flipH="1">
              <a:off x="5018050" y="2819400"/>
              <a:ext cx="11150" cy="381000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/>
                <p:cNvSpPr txBox="1"/>
                <p:nvPr/>
              </p:nvSpPr>
              <p:spPr>
                <a:xfrm>
                  <a:off x="5010051" y="2438400"/>
                  <a:ext cx="4763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0051" y="2438400"/>
                  <a:ext cx="476349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6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/>
                <p:cNvSpPr txBox="1"/>
                <p:nvPr/>
              </p:nvSpPr>
              <p:spPr>
                <a:xfrm>
                  <a:off x="5029200" y="2819400"/>
                  <a:ext cx="4763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/>
                              </a:rPr>
                              <m:t>𝜹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𝑳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819400"/>
                  <a:ext cx="476349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1666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3277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5" grpId="1" animBg="1"/>
      <p:bldP spid="103" grpId="0" animBg="1"/>
      <p:bldP spid="103" grpId="1" animBg="1"/>
      <p:bldP spid="104" grpId="0" animBg="1"/>
      <p:bldP spid="104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Divide and Conquer based algorithm</a:t>
            </a:r>
            <a:br>
              <a:rPr lang="en-US" sz="3200" b="1" dirty="0"/>
            </a:b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/>
                  <a:t>) </a:t>
                </a:r>
              </a:p>
              <a:p>
                <a:pPr marL="0" indent="0">
                  <a:buNone/>
                </a:pPr>
                <a:r>
                  <a:rPr lang="en-US" sz="1600" dirty="0"/>
                  <a:t>{   </a:t>
                </a:r>
                <a:r>
                  <a:rPr lang="en-US" sz="1600" b="1" dirty="0"/>
                  <a:t>If</a:t>
                </a:r>
                <a:r>
                  <a:rPr lang="en-US" sz="1600" dirty="0"/>
                  <a:t> (|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|=1 ) return infinity;</a:t>
                </a:r>
              </a:p>
              <a:p>
                <a:pPr marL="0" indent="0">
                  <a:buNone/>
                </a:pPr>
                <a:r>
                  <a:rPr lang="en-US" sz="1600" dirty="0"/>
                  <a:t>    {            Compute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1600" dirty="0"/>
                  <a:t>-median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/>
                  <a:t>;</a:t>
                </a:r>
              </a:p>
              <a:p>
                <a:pPr marL="0" indent="0">
                  <a:buNone/>
                </a:pPr>
                <a:r>
                  <a:rPr lang="en-US" sz="1600" b="0" dirty="0"/>
                  <a:t>                 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𝐿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Split-by-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-median(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𝑃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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/>
                  <a:t>) </a:t>
                </a:r>
                <a:r>
                  <a:rPr lang="en-US" sz="16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70C0"/>
                    </a:solidFill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 </a:t>
                </a:r>
                <a:r>
                  <a:rPr lang="en-US" sz="1600" b="1" dirty="0">
                    <a:solidFill>
                      <a:srgbClr val="7030A0"/>
                    </a:solidFill>
                  </a:rPr>
                  <a:t>CP-Distance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dirty="0"/>
                  <a:t>) </a:t>
                </a:r>
                <a:r>
                  <a:rPr lang="en-US" sz="16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dirty="0">
                    <a:sym typeface="Wingdings" pitchFamily="2" charset="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 min(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𝜹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</a:t>
                </a:r>
                <a:r>
                  <a:rPr lang="en-US" sz="1600" b="1" dirty="0">
                    <a:sym typeface="Wingdings" pitchFamily="2" charset="2"/>
                  </a:rPr>
                  <a:t> strip </a:t>
                </a:r>
                <a:r>
                  <a:rPr lang="en-US" sz="1600" dirty="0">
                    <a:sym typeface="Wingdings" pitchFamily="2" charset="2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</a:t>
                </a:r>
                <a:r>
                  <a:rPr lang="en-US" sz="1600" b="1" dirty="0">
                    <a:sym typeface="Wingdings" pitchFamily="2" charset="2"/>
                  </a:rPr>
                  <a:t> strip </a:t>
                </a:r>
                <a:r>
                  <a:rPr lang="en-US" sz="1600" dirty="0">
                    <a:sym typeface="Wingdings" pitchFamily="2" charset="2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	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𝐴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 Sorted array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</a:t>
                </a:r>
                <a:r>
                  <a:rPr lang="en-US" sz="1600" dirty="0">
                    <a:sym typeface="Wingdings" pitchFamily="2" charset="2"/>
                  </a:rPr>
                  <a:t>For each </a:t>
                </a:r>
                <a:r>
                  <a:rPr lang="en-US" sz="1600" b="1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𝑝</m:t>
                    </m:r>
                    <m:r>
                      <a:rPr lang="en-US" sz="1600" b="0" i="1" smtClean="0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600" dirty="0">
                    <a:sym typeface="Wingdings" pitchFamily="2" charset="2"/>
                  </a:rPr>
                  <a:t>,</a:t>
                </a:r>
                <a:endParaRPr lang="en-US" sz="16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/>
                      </a:rPr>
                      <m:t>𝒚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  </a:t>
                </a:r>
                <a:r>
                  <a:rPr lang="en-US" sz="1600" dirty="0">
                    <a:sym typeface="Wingdings" pitchFamily="2" charset="2"/>
                  </a:rPr>
                  <a:t>y-coordinate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𝑝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</a:t>
                </a:r>
                <a:r>
                  <a:rPr lang="en-US" sz="1600" dirty="0">
                    <a:sym typeface="Wingdings" pitchFamily="2" charset="2"/>
                  </a:rPr>
                  <a:t>Search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𝐴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for points with y-coordinate within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</a:rPr>
                      <m:t>𝒚</m:t>
                    </m:r>
                    <m:r>
                      <a:rPr lang="en-US" sz="1600" b="0" i="1" smtClean="0">
                        <a:latin typeface="Cambria Math"/>
                      </a:rPr>
                      <m:t>±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		</a:t>
                </a:r>
                <a:r>
                  <a:rPr lang="en-US" sz="1600" dirty="0">
                    <a:sym typeface="Wingdings" pitchFamily="2" charset="2"/>
                  </a:rPr>
                  <a:t>using</a:t>
                </a:r>
                <a:r>
                  <a:rPr lang="en-US" sz="1600" b="1" dirty="0">
                    <a:sym typeface="Wingdings" pitchFamily="2" charset="2"/>
                  </a:rPr>
                  <a:t> binary search;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</a:t>
                </a:r>
                <a:r>
                  <a:rPr lang="en-US" sz="1600" dirty="0">
                    <a:sym typeface="Wingdings" pitchFamily="2" charset="2"/>
                  </a:rPr>
                  <a:t>Compute distance from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𝑝</m:t>
                    </m:r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to each of these points;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       Update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b="1" dirty="0">
                    <a:sym typeface="Wingdings" pitchFamily="2" charset="2"/>
                  </a:rPr>
                  <a:t> </a:t>
                </a:r>
                <a:r>
                  <a:rPr lang="en-US" sz="1600" dirty="0">
                    <a:sym typeface="Wingdings" pitchFamily="2" charset="2"/>
                  </a:rPr>
                  <a:t>accordingly;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                 return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;</a:t>
                </a:r>
                <a:endParaRPr lang="en-US" sz="16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ym typeface="Wingdings" pitchFamily="2" charset="2"/>
                  </a:rPr>
                  <a:t>}</a:t>
                </a:r>
                <a:r>
                  <a:rPr lang="en-US" sz="1600" dirty="0">
                    <a:sym typeface="Wingdings" pitchFamily="2" charset="2"/>
                  </a:rPr>
                  <a:t>             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2"/>
                <a:stretch>
                  <a:fillRect l="-463" t="-509" b="-8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029200" y="1828800"/>
            <a:ext cx="2902760" cy="1239798"/>
            <a:chOff x="1371601" y="2025134"/>
            <a:chExt cx="2902760" cy="1239798"/>
          </a:xfrm>
        </p:grpSpPr>
        <p:sp>
          <p:nvSpPr>
            <p:cNvPr id="5" name="Right Brace 4"/>
            <p:cNvSpPr/>
            <p:nvPr/>
          </p:nvSpPr>
          <p:spPr>
            <a:xfrm>
              <a:off x="1371601" y="2025134"/>
              <a:ext cx="1752600" cy="1239798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048000" y="2494002"/>
              <a:ext cx="1226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Divide step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029200" y="3200400"/>
            <a:ext cx="3962400" cy="2819400"/>
            <a:chOff x="1808973" y="1295400"/>
            <a:chExt cx="3962400" cy="2819400"/>
          </a:xfrm>
        </p:grpSpPr>
        <p:sp>
          <p:nvSpPr>
            <p:cNvPr id="9" name="Right Brace 8"/>
            <p:cNvSpPr/>
            <p:nvPr/>
          </p:nvSpPr>
          <p:spPr>
            <a:xfrm>
              <a:off x="1808973" y="1295400"/>
              <a:ext cx="1676400" cy="2819400"/>
            </a:xfrm>
            <a:prstGeom prst="rightBrace">
              <a:avLst>
                <a:gd name="adj1" fmla="val 646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29000" y="2678668"/>
              <a:ext cx="23423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Combine/conquer step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160754" y="4126468"/>
                <a:ext cx="1888850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/>
                      </a:rPr>
                      <m:t>𝑶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754" y="4126468"/>
                <a:ext cx="1888850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517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172200" y="1981200"/>
                <a:ext cx="2526846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/>
                      </a:rPr>
                      <m:t>𝑶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/>
                          </a:rPr>
                          <m:t>𝐏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+ 2 </a:t>
                </a:r>
                <a:r>
                  <a:rPr lang="en-US" b="1" dirty="0"/>
                  <a:t>T</a:t>
                </a:r>
                <a:r>
                  <a:rPr lang="en-US" dirty="0"/>
                  <a:t>(|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/>
                      </a:rPr>
                      <m:t>𝐏</m:t>
                    </m:r>
                  </m:oMath>
                </a14:m>
                <a:r>
                  <a:rPr lang="en-US" dirty="0"/>
                  <a:t>|/2) time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981200"/>
                <a:ext cx="2526846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362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288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Running time </a:t>
            </a:r>
            <a:r>
              <a:rPr lang="en-US" sz="3600" b="1" dirty="0"/>
              <a:t>of the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2000" dirty="0"/>
                  <a:t>What is the recurrence for running time?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 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c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log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 +  2 </a:t>
                </a:r>
                <a:r>
                  <a:rPr lang="en-US" sz="2000" b="1" dirty="0"/>
                  <a:t>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/2)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</a:t>
                </a:r>
                <a:r>
                  <a:rPr lang="en-US" sz="2000" b="1" dirty="0"/>
                  <a:t>    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  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log</m:t>
                        </m:r>
                      </m:e>
                      <m:sup>
                        <m:r>
                          <a:rPr lang="en-US" sz="2000" b="0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Theorem: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exists an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log</m:t>
                        </m:r>
                      </m:e>
                      <m:sup>
                        <m:r>
                          <a:rPr lang="en-US" sz="200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 time </a:t>
                </a:r>
                <a:r>
                  <a:rPr lang="en-US" sz="2000" dirty="0"/>
                  <a:t>algorithm  to compute closest pair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points in plane.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  <a:blipFill>
                <a:blip r:embed="rId2"/>
                <a:stretch>
                  <a:fillRect l="-744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rgbClr val="7030A0"/>
                </a:solidFill>
              </a:rPr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b="1" dirty="0"/>
                  <a:t>: 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Try to improve the running time to </a:t>
                </a:r>
                <a:r>
                  <a:rPr lang="en-US" sz="2000" b="1" i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000" dirty="0">
                    <a:sym typeface="Wingdings" pitchFamily="2" charset="2"/>
                  </a:rPr>
                  <a:t>).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</a:t>
                </a:r>
                <a:r>
                  <a:rPr lang="en-US" sz="2000" dirty="0">
                    <a:solidFill>
                      <a:srgbClr val="7030A0"/>
                    </a:solidFill>
                    <a:sym typeface="Wingdings" pitchFamily="2" charset="2"/>
                  </a:rPr>
                  <a:t>Hint</a:t>
                </a:r>
                <a:r>
                  <a:rPr lang="en-US" sz="2000" dirty="0">
                    <a:sym typeface="Wingdings" pitchFamily="2" charset="2"/>
                  </a:rPr>
                  <a:t>: “the code will look similar to that of </a:t>
                </a:r>
                <a:r>
                  <a:rPr lang="en-US" sz="2000" b="1" dirty="0" err="1">
                    <a:sym typeface="Wingdings" pitchFamily="2" charset="2"/>
                  </a:rPr>
                  <a:t>MergeSort</a:t>
                </a:r>
                <a:r>
                  <a:rPr lang="en-US" sz="2000" dirty="0">
                    <a:sym typeface="Wingdings" pitchFamily="2" charset="2"/>
                  </a:rPr>
                  <a:t>”.</a:t>
                </a: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2.      Ponder over the data structure for orthogonal range searching. 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2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5776</TotalTime>
  <Words>1324</Words>
  <Application>Microsoft Macintosh PowerPoint</Application>
  <PresentationFormat>On-screen Show (4:3)</PresentationFormat>
  <Paragraphs>325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Some Information CS345: Algorithms II </vt:lpstr>
      <vt:lpstr>Acknowledgment</vt:lpstr>
      <vt:lpstr>Aim of the course</vt:lpstr>
      <vt:lpstr>Algorithm Paradigm</vt:lpstr>
      <vt:lpstr>Maximum Flow</vt:lpstr>
      <vt:lpstr>Miscellaneous</vt:lpstr>
      <vt:lpstr>Last topic on Algorithms </vt:lpstr>
      <vt:lpstr>Data structures</vt:lpstr>
      <vt:lpstr>Orthogonal Range searching</vt:lpstr>
      <vt:lpstr>Divide and Conquer  </vt:lpstr>
      <vt:lpstr>An Overview</vt:lpstr>
      <vt:lpstr>Example Problems</vt:lpstr>
      <vt:lpstr>problem 1 </vt:lpstr>
      <vt:lpstr>The Closest Pair Problem</vt:lpstr>
      <vt:lpstr>Closest Pair of Points</vt:lpstr>
      <vt:lpstr>Hint/Tool  No. 1 </vt:lpstr>
      <vt:lpstr>Hint/Tool  No. 2 </vt:lpstr>
      <vt:lpstr>The divide step</vt:lpstr>
      <vt:lpstr>The conquer step</vt:lpstr>
      <vt:lpstr>The combine step</vt:lpstr>
      <vt:lpstr>The combine step</vt:lpstr>
      <vt:lpstr>The combine step</vt:lpstr>
      <vt:lpstr>The combine step</vt:lpstr>
      <vt:lpstr>The combine step</vt:lpstr>
      <vt:lpstr>The combine step</vt:lpstr>
      <vt:lpstr>Divide and Conquer based algorithm </vt:lpstr>
      <vt:lpstr>Running time of the algorithm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575</cp:revision>
  <dcterms:created xsi:type="dcterms:W3CDTF">2011-12-03T04:13:03Z</dcterms:created>
  <dcterms:modified xsi:type="dcterms:W3CDTF">2026-08-02T16:58:11Z</dcterms:modified>
</cp:coreProperties>
</file>