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0"/>
  </p:notesMasterIdLst>
  <p:sldIdLst>
    <p:sldId id="380" r:id="rId2"/>
    <p:sldId id="424" r:id="rId3"/>
    <p:sldId id="409" r:id="rId4"/>
    <p:sldId id="385" r:id="rId5"/>
    <p:sldId id="412" r:id="rId6"/>
    <p:sldId id="358" r:id="rId7"/>
    <p:sldId id="426" r:id="rId8"/>
    <p:sldId id="484" r:id="rId9"/>
    <p:sldId id="483" r:id="rId10"/>
    <p:sldId id="485" r:id="rId11"/>
    <p:sldId id="487" r:id="rId12"/>
    <p:sldId id="432" r:id="rId13"/>
    <p:sldId id="427" r:id="rId14"/>
    <p:sldId id="450" r:id="rId15"/>
    <p:sldId id="453" r:id="rId16"/>
    <p:sldId id="459" r:id="rId17"/>
    <p:sldId id="461" r:id="rId18"/>
    <p:sldId id="462" r:id="rId19"/>
    <p:sldId id="463" r:id="rId20"/>
    <p:sldId id="464" r:id="rId21"/>
    <p:sldId id="465" r:id="rId22"/>
    <p:sldId id="438" r:id="rId23"/>
    <p:sldId id="455" r:id="rId24"/>
    <p:sldId id="492" r:id="rId25"/>
    <p:sldId id="468" r:id="rId26"/>
    <p:sldId id="469" r:id="rId27"/>
    <p:sldId id="472" r:id="rId28"/>
    <p:sldId id="47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090DE-CE99-6246-B51B-F23881180704}" v="1" dt="2026-08-19T02:31:50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1" autoAdjust="0"/>
    <p:restoredTop sz="94625" autoAdjust="0"/>
  </p:normalViewPr>
  <p:slideViewPr>
    <p:cSldViewPr>
      <p:cViewPr varScale="1">
        <p:scale>
          <a:sx n="116" d="100"/>
          <a:sy n="116" d="100"/>
        </p:scale>
        <p:origin x="18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6-08-19T02:31:50.090" v="0" actId="20577"/>
      <pc:docMkLst>
        <pc:docMk/>
      </pc:docMkLst>
      <pc:sldChg chg="modSp">
        <pc:chgData name="Raghunath Tewari" userId="2638bdda-d406-4938-a2a6-e4e967acb772" providerId="ADAL" clId="{5BB0A526-9D3F-5694-B192-877B52D1FAF9}" dt="2026-08-19T02:31:50.090" v="0" actId="20577"/>
        <pc:sldMkLst>
          <pc:docMk/>
          <pc:sldMk cId="1548772286" sldId="485"/>
        </pc:sldMkLst>
        <pc:spChg chg="mod">
          <ac:chgData name="Raghunath Tewari" userId="2638bdda-d406-4938-a2a6-e4e967acb772" providerId="ADAL" clId="{5BB0A526-9D3F-5694-B192-877B52D1FAF9}" dt="2026-08-19T02:31:50.090" v="0" actId="20577"/>
          <ac:spMkLst>
            <pc:docMk/>
            <pc:sldMk cId="1548772286" sldId="485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05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Interestingly,</a:t>
            </a:r>
            <a:r>
              <a:rPr lang="en-US" baseline="0" dirty="0"/>
              <a:t> adding only a few statements in the code DFS(v) leads to efficient algorithms for a variety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Interestingly,</a:t>
            </a:r>
            <a:r>
              <a:rPr lang="en-US" baseline="0" dirty="0"/>
              <a:t> adding only a few statements in the code DFS(v) leads to efficient algorithms for a variety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31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1.png"/><Relationship Id="rId7" Type="http://schemas.openxmlformats.org/officeDocument/2006/relationships/image" Target="../media/image1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9.png"/><Relationship Id="rId5" Type="http://schemas.openxmlformats.org/officeDocument/2006/relationships/image" Target="../media/image130.png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1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8.png"/><Relationship Id="rId7" Type="http://schemas.openxmlformats.org/officeDocument/2006/relationships/image" Target="../media/image24.png"/><Relationship Id="rId17" Type="http://schemas.openxmlformats.org/officeDocument/2006/relationships/image" Target="../media/image90.png"/><Relationship Id="rId2" Type="http://schemas.openxmlformats.org/officeDocument/2006/relationships/image" Target="../media/image22.png"/><Relationship Id="rId16" Type="http://schemas.openxmlformats.org/officeDocument/2006/relationships/image" Target="../media/image80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1.png"/><Relationship Id="rId4" Type="http://schemas.openxmlformats.org/officeDocument/2006/relationships/image" Target="../media/image212.png"/><Relationship Id="rId22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52.png"/><Relationship Id="rId18" Type="http://schemas.openxmlformats.org/officeDocument/2006/relationships/image" Target="../media/image100.png"/><Relationship Id="rId12" Type="http://schemas.openxmlformats.org/officeDocument/2006/relationships/image" Target="../media/image410.png"/><Relationship Id="rId17" Type="http://schemas.openxmlformats.org/officeDocument/2006/relationships/image" Target="../media/image90.png"/><Relationship Id="rId7" Type="http://schemas.openxmlformats.org/officeDocument/2006/relationships/image" Target="../media/image35.png"/><Relationship Id="rId2" Type="http://schemas.openxmlformats.org/officeDocument/2006/relationships/image" Target="../media/image510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9.png"/><Relationship Id="rId6" Type="http://schemas.openxmlformats.org/officeDocument/2006/relationships/image" Target="../media/image34.png"/><Relationship Id="rId15" Type="http://schemas.openxmlformats.org/officeDocument/2006/relationships/image" Target="../media/image70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19" Type="http://schemas.openxmlformats.org/officeDocument/2006/relationships/image" Target="../media/image160.png"/><Relationship Id="rId9" Type="http://schemas.openxmlformats.org/officeDocument/2006/relationships/image" Target="../media/image37.png"/><Relationship Id="rId14" Type="http://schemas.openxmlformats.org/officeDocument/2006/relationships/image" Target="../media/image65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6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45.png"/><Relationship Id="rId5" Type="http://schemas.openxmlformats.org/officeDocument/2006/relationships/image" Target="../media/image47.pn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905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>
                <a:solidFill>
                  <a:srgbClr val="C00000"/>
                </a:solidFill>
              </a:rPr>
              <a:t>Lecture 12 </a:t>
            </a:r>
            <a:endParaRPr lang="en-US" sz="2400" b="1" dirty="0">
              <a:solidFill>
                <a:srgbClr val="C00000"/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400" b="1" dirty="0">
              <a:solidFill>
                <a:srgbClr val="C00000"/>
              </a:solidFill>
            </a:endParaRP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7030A0"/>
                </a:solidFill>
              </a:rPr>
              <a:t>Depth First Search in Directed Graph -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9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A </a:t>
            </a:r>
            <a:r>
              <a:rPr lang="en-US" sz="3200" b="1" dirty="0">
                <a:solidFill>
                  <a:srgbClr val="7030A0"/>
                </a:solidFill>
              </a:rPr>
              <a:t>Recapitulation</a:t>
            </a:r>
            <a:r>
              <a:rPr lang="en-US" sz="3200" b="1" dirty="0">
                <a:solidFill>
                  <a:srgbClr val="002060"/>
                </a:solidFill>
              </a:rPr>
              <a:t> of the last lecture</a:t>
            </a:r>
            <a:endParaRPr lang="en-US" sz="32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8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DFS </a:t>
                </a:r>
                <a:r>
                  <a:rPr lang="en-US" sz="3200" b="1" dirty="0"/>
                  <a:t>from a vertex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1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visits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2</a:t>
                </a:r>
                <a:r>
                  <a:rPr lang="en-US" sz="2000" dirty="0"/>
                  <a:t>: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 computes a tree on </a:t>
                </a:r>
                <a:r>
                  <a:rPr lang="en-US" sz="2000" u="sng" dirty="0"/>
                  <a:t>all</a:t>
                </a:r>
                <a:r>
                  <a:rPr lang="en-US" sz="2000" dirty="0"/>
                  <a:t> vertices </a:t>
                </a:r>
                <a:r>
                  <a:rPr lang="en-US" sz="2000" u="sng" dirty="0"/>
                  <a:t>reachable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</a:t>
                </a:r>
                <a:r>
                  <a:rPr lang="en-US" sz="2000" dirty="0"/>
                  <a:t>: DFS tree is not unique,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4"/>
                <a:stretch>
                  <a:fillRect l="-741" t="-1224" b="-3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Arrow Connector 131"/>
          <p:cNvCxnSpPr>
            <a:stCxn id="122" idx="2"/>
            <a:endCxn id="124" idx="0"/>
          </p:cNvCxnSpPr>
          <p:nvPr/>
        </p:nvCxnSpPr>
        <p:spPr>
          <a:xfrm flipH="1">
            <a:off x="4124095" y="3036332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3819295" y="3722132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4124095" y="3722132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125" idx="2"/>
            <a:endCxn id="128" idx="0"/>
          </p:cNvCxnSpPr>
          <p:nvPr/>
        </p:nvCxnSpPr>
        <p:spPr>
          <a:xfrm>
            <a:off x="5328514" y="3735142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4427036" y="3036332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3590695" y="4560332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endCxn id="125" idx="0"/>
          </p:cNvCxnSpPr>
          <p:nvPr/>
        </p:nvCxnSpPr>
        <p:spPr>
          <a:xfrm>
            <a:off x="5251215" y="3112532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4590081" y="4560332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977" y="2883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036" y="3569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455" y="358274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36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022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083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636" y="5169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78" y="44079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19" y="5093732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6" name="Straight Arrow Connector 145"/>
          <p:cNvCxnSpPr>
            <a:stCxn id="128" idx="1"/>
            <a:endCxn id="131" idx="3"/>
          </p:cNvCxnSpPr>
          <p:nvPr/>
        </p:nvCxnSpPr>
        <p:spPr>
          <a:xfrm flipH="1">
            <a:off x="5191995" y="4484132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4953000" y="448413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3106" y="29601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427036" y="2133600"/>
            <a:ext cx="1119626" cy="1055132"/>
            <a:chOff x="4427036" y="2133600"/>
            <a:chExt cx="1119626" cy="10551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4427036" y="2350532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4760686" y="2198132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4838745" y="2350532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4505094" y="2960132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/>
            <p:cNvSpPr txBox="1"/>
            <p:nvPr/>
          </p:nvSpPr>
          <p:spPr>
            <a:xfrm>
              <a:off x="4821348" y="213360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257800" y="28194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4359338" y="50292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427306" y="4267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51106" y="51816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825938" y="3429000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08506" y="3493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637106" y="4419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267200" y="4267200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512635" y="2960132"/>
            <a:ext cx="1737820" cy="2286000"/>
            <a:chOff x="3512635" y="2960132"/>
            <a:chExt cx="1737820" cy="2286000"/>
          </a:xfrm>
        </p:grpSpPr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5113937" y="3658942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3512635" y="2960132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3360236" y="3417332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3668753" y="4484132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3819976" y="3643392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3581400" y="3048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ight Arrow 54"/>
          <p:cNvSpPr/>
          <p:nvPr/>
        </p:nvSpPr>
        <p:spPr>
          <a:xfrm rot="2955669">
            <a:off x="4155317" y="2639466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48977" y="5467290"/>
            <a:ext cx="3408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but every tree is not a DFS 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143000"/>
            <a:ext cx="4495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600199" y="1447800"/>
            <a:ext cx="607517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981201" y="5498068"/>
            <a:ext cx="2366592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1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  <p:bldP spid="55" grpId="0" animBg="1"/>
      <p:bldP spid="9" grpId="0"/>
      <p:bldP spid="8" grpId="0" animBg="1"/>
      <p:bldP spid="58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DFS on the graph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true;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</a:t>
                </a:r>
                <a:r>
                  <a:rPr lang="en-US" sz="2000" dirty="0">
                    <a:sym typeface="Wingdings" pitchFamily="2" charset="2"/>
                  </a:rPr>
                  <a:t>…;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     For</a:t>
                </a:r>
                <a:r>
                  <a:rPr lang="en-US" sz="20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 err="1">
                    <a:sym typeface="Wingdings" pitchFamily="2" charset="2"/>
                  </a:rPr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{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(Visited[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 false)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	   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….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…;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600200"/>
                <a:ext cx="4040188" cy="4648200"/>
              </a:xfrm>
              <a:blipFill rotWithShape="1">
                <a:blip r:embed="rId3"/>
                <a:stretch>
                  <a:fillRect l="-1353" t="-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DFS-graph(G=(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0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002060"/>
                    </a:solidFill>
                  </a:rPr>
                  <a:t>)){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2060"/>
                    </a:solidFill>
                  </a:rPr>
                  <a:t>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 false;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  1;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</a:t>
                </a:r>
                <a:r>
                  <a:rPr lang="en-US" sz="2000" b="1" dirty="0">
                    <a:sym typeface="Wingdings" pitchFamily="2" charset="2"/>
                  </a:rPr>
                  <a:t>If</a:t>
                </a:r>
                <a:r>
                  <a:rPr lang="en-US" sz="2000" dirty="0">
                    <a:sym typeface="Wingdings" pitchFamily="2" charset="2"/>
                  </a:rPr>
                  <a:t>(Visited[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== false)  </a:t>
                </a:r>
                <a:r>
                  <a:rPr lang="en-US" sz="2000" dirty="0"/>
                  <a:t>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}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8200" y="2667000"/>
                <a:ext cx="4041775" cy="2971800"/>
              </a:xfrm>
              <a:blipFill rotWithShape="1">
                <a:blip r:embed="rId4"/>
                <a:stretch>
                  <a:fillRect l="-1504" t="-818" b="-28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838200" y="2006025"/>
            <a:ext cx="7543801" cy="584775"/>
            <a:chOff x="838200" y="2006025"/>
            <a:chExt cx="7543801" cy="584775"/>
          </a:xfrm>
        </p:grpSpPr>
        <p:sp>
          <p:nvSpPr>
            <p:cNvPr id="2" name="Bent-Up Arrow 1"/>
            <p:cNvSpPr/>
            <p:nvPr/>
          </p:nvSpPr>
          <p:spPr>
            <a:xfrm flipH="1" flipV="1">
              <a:off x="838200" y="2286000"/>
              <a:ext cx="4038600" cy="152400"/>
            </a:xfrm>
            <a:prstGeom prst="bentUpArrow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801" y="2006025"/>
              <a:ext cx="3505200" cy="58477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rgbClr val="C00000"/>
                  </a:solidFill>
                </a:rPr>
                <a:t>DFN number </a:t>
              </a:r>
              <a:r>
                <a:rPr lang="en-US" sz="1600" b="1" dirty="0"/>
                <a:t> of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:</a:t>
              </a:r>
            </a:p>
            <a:p>
              <a:pPr algn="ctr"/>
              <a:r>
                <a:rPr lang="en-US" sz="1600" b="1" dirty="0"/>
                <a:t> the time when DFS starts at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41141" y="4857690"/>
                <a:ext cx="19020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41" y="4857690"/>
                <a:ext cx="1902059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3526" t="-9091" r="-544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81000" y="6381690"/>
            <a:ext cx="654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Lemma 3</a:t>
            </a:r>
            <a:r>
              <a:rPr lang="en-US" sz="2000" dirty="0"/>
              <a:t>: DFS partitions the graph into a forest of DFS trees.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14400" y="5257800"/>
            <a:ext cx="6705601" cy="965775"/>
            <a:chOff x="1140919" y="5478274"/>
            <a:chExt cx="6522515" cy="745304"/>
          </a:xfrm>
        </p:grpSpPr>
        <p:sp>
          <p:nvSpPr>
            <p:cNvPr id="6" name="Bent-Up Arrow 5"/>
            <p:cNvSpPr/>
            <p:nvPr/>
          </p:nvSpPr>
          <p:spPr>
            <a:xfrm flipH="1">
              <a:off x="1140919" y="5478274"/>
              <a:ext cx="3735881" cy="427227"/>
            </a:xfrm>
            <a:prstGeom prst="bentUpArrow">
              <a:avLst>
                <a:gd name="adj1" fmla="val 9056"/>
                <a:gd name="adj2" fmla="val 14371"/>
                <a:gd name="adj3" fmla="val 26329"/>
              </a:avLst>
            </a:prstGeom>
            <a:solidFill>
              <a:srgbClr val="FFC000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76800" y="5772298"/>
              <a:ext cx="2786634" cy="451280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rgbClr val="C00000"/>
                  </a:solidFill>
                </a:rPr>
                <a:t>Finish number </a:t>
              </a:r>
              <a:r>
                <a:rPr lang="en-US" sz="1600" b="1" dirty="0"/>
                <a:t>of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:</a:t>
              </a:r>
            </a:p>
            <a:p>
              <a:pPr algn="ctr"/>
              <a:r>
                <a:rPr lang="en-US" sz="1600" b="1" dirty="0"/>
                <a:t>the time when DFS at </a:t>
              </a:r>
              <a:r>
                <a:rPr lang="en-US" sz="1600" b="1" dirty="0">
                  <a:solidFill>
                    <a:srgbClr val="0070C0"/>
                  </a:solidFill>
                </a:rPr>
                <a:t>v</a:t>
              </a:r>
              <a:r>
                <a:rPr lang="en-US" sz="1600" b="1" dirty="0"/>
                <a:t> ends.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5459009" y="1219200"/>
            <a:ext cx="3048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288214" y="2286000"/>
            <a:ext cx="2682374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886325" y="5914593"/>
            <a:ext cx="2682374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447800" y="6489412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114800" y="6477000"/>
            <a:ext cx="28194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 animBg="1"/>
      <p:bldP spid="5" grpId="0" uiExpand="1" build="p" animBg="1"/>
      <p:bldP spid="12" grpId="0" animBg="1"/>
      <p:bldP spid="11" grpId="0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Relation between</a:t>
            </a: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𝟔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𝟕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𝟖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𝟗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𝟏𝟏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662" t="-674" b="-24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217506" y="1916668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/>
          <p:cNvSpPr/>
          <p:nvPr/>
        </p:nvSpPr>
        <p:spPr>
          <a:xfrm rot="1556459">
            <a:off x="2001887" y="2542037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/>
          <p:cNvCxnSpPr/>
          <p:nvPr/>
        </p:nvCxnSpPr>
        <p:spPr>
          <a:xfrm>
            <a:off x="5791200" y="4343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943600" y="4050268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5943600" y="2438400"/>
            <a:ext cx="0" cy="11313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791200" y="2819400"/>
            <a:ext cx="0" cy="4953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324600" y="2133600"/>
            <a:ext cx="0" cy="334113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781800" y="1752600"/>
            <a:ext cx="0" cy="449580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447800" y="2819400"/>
            <a:ext cx="2137228" cy="2145268"/>
            <a:chOff x="1447800" y="2819400"/>
            <a:chExt cx="2137228" cy="2145268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1981200" y="2831068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1676400" y="3516868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1447800" y="4355068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1981200" y="3516868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2450903" y="4355068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3200400" y="351821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H="1">
              <a:off x="3048000" y="42672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2300781" y="28194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Arrow Connector 73"/>
          <p:cNvCxnSpPr/>
          <p:nvPr/>
        </p:nvCxnSpPr>
        <p:spPr>
          <a:xfrm>
            <a:off x="2711730" y="21336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/>
          <p:cNvSpPr/>
          <p:nvPr/>
        </p:nvSpPr>
        <p:spPr>
          <a:xfrm rot="1556459">
            <a:off x="2492684" y="1778551"/>
            <a:ext cx="191225" cy="31512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C00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129480" y="6959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73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allAtOnce"/>
      <p:bldP spid="75" grpId="0" animBg="1"/>
      <p:bldP spid="65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Relation between</a:t>
            </a: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Disjoint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One enclosing another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What about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3850213" y="1905000"/>
            <a:ext cx="4905516" cy="478161"/>
            <a:chOff x="3850213" y="1905000"/>
            <a:chExt cx="4905516" cy="478161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911" t="-8333" r="-178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8421" t="-8197" r="-189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383613" y="3505200"/>
            <a:ext cx="4137104" cy="685800"/>
            <a:chOff x="4383613" y="3505200"/>
            <a:chExt cx="4137104" cy="6858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7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511" t="-8197" r="-180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4343400" y="5181600"/>
            <a:ext cx="3650329" cy="762000"/>
            <a:chOff x="4343400" y="5181600"/>
            <a:chExt cx="3650329" cy="762000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4648200" y="5254083"/>
              <a:ext cx="2154044" cy="371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790688" y="5638800"/>
              <a:ext cx="1959571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8911" t="-8197" r="-178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8421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&quot;No&quot; Symbol 29"/>
          <p:cNvSpPr/>
          <p:nvPr/>
        </p:nvSpPr>
        <p:spPr>
          <a:xfrm>
            <a:off x="7848600" y="5029200"/>
            <a:ext cx="914400" cy="914400"/>
          </a:xfrm>
          <a:prstGeom prst="noSmoking">
            <a:avLst>
              <a:gd name="adj" fmla="val 1031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blipFill rotWithShape="1">
                <a:blip r:embed="rId16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129480" y="6959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blipFill rotWithShape="1">
                <a:blip r:embed="rId17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90602" y="5421868"/>
                <a:ext cx="27029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/>
                  <a:t> &lt;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</a:t>
                </a:r>
                <a:r>
                  <a:rPr lang="en-US" dirty="0">
                    <a:solidFill>
                      <a:srgbClr val="7030A0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602" y="5421868"/>
                <a:ext cx="2702984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032" t="-8197" r="-27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4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0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Classification of </a:t>
            </a:r>
            <a:r>
              <a:rPr lang="en-US" b="1" dirty="0">
                <a:solidFill>
                  <a:srgbClr val="7030A0"/>
                </a:solidFill>
              </a:rPr>
              <a:t>non-tree edges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29480" y="46583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1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seems to be </a:t>
            </a:r>
            <a:r>
              <a:rPr lang="en-US" sz="2000" u="sng" dirty="0"/>
              <a:t>many</a:t>
            </a:r>
            <a:r>
              <a:rPr lang="en-US" sz="2000" dirty="0"/>
              <a:t> different types of </a:t>
            </a:r>
            <a:r>
              <a:rPr lang="en-US" sz="2000" i="1" dirty="0"/>
              <a:t>non-tree</a:t>
            </a:r>
            <a:r>
              <a:rPr lang="en-US" sz="2000" dirty="0"/>
              <a:t> edges.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51106" y="12954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3581400" y="22098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4845330" y="15240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Arrow 54"/>
          <p:cNvSpPr/>
          <p:nvPr/>
        </p:nvSpPr>
        <p:spPr>
          <a:xfrm rot="2898886">
            <a:off x="4171622" y="1797633"/>
            <a:ext cx="254997" cy="299642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4267199" y="51277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/>
          <p:nvPr/>
        </p:nvCxnSpPr>
        <p:spPr>
          <a:xfrm flipH="1">
            <a:off x="4345258" y="52578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335857" y="53321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423317" y="52039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4423317" y="52039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/>
          <p:nvPr/>
        </p:nvCxnSpPr>
        <p:spPr>
          <a:xfrm flipH="1" flipV="1">
            <a:off x="4415882" y="51676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36906" y="5029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6906" y="6031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32306" y="5105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6106" y="62600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3" name="Right Arrow 72"/>
          <p:cNvSpPr/>
          <p:nvPr/>
        </p:nvSpPr>
        <p:spPr>
          <a:xfrm rot="1556459">
            <a:off x="4103453" y="49199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 rot="1556459">
            <a:off x="4546921" y="11861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343400" y="52039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loud Callout 4"/>
          <p:cNvSpPr/>
          <p:nvPr/>
        </p:nvSpPr>
        <p:spPr>
          <a:xfrm>
            <a:off x="5943600" y="2971800"/>
            <a:ext cx="3200400" cy="12954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classify the non-tree edges ?</a:t>
            </a:r>
          </a:p>
        </p:txBody>
      </p:sp>
    </p:spTree>
    <p:extLst>
      <p:ext uri="{BB962C8B-B14F-4D97-AF65-F5344CB8AC3E}">
        <p14:creationId xmlns:p14="http://schemas.microsoft.com/office/powerpoint/2010/main" val="42346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55" grpId="0" animBg="1"/>
      <p:bldP spid="73" grpId="0" animBg="1"/>
      <p:bldP spid="7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dirty="0"/>
                  <a:t> 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20" name="Curved Connector 19"/>
          <p:cNvCxnSpPr>
            <a:stCxn id="23" idx="1"/>
          </p:cNvCxnSpPr>
          <p:nvPr/>
        </p:nvCxnSpPr>
        <p:spPr>
          <a:xfrm rot="10800000" flipV="1">
            <a:off x="3512637" y="2121931"/>
            <a:ext cx="836341" cy="2255283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3351106" y="2045732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1739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8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37104" cy="457200"/>
            <a:chOff x="4383613" y="3505200"/>
            <a:chExt cx="4137104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3312587" y="5562600"/>
            <a:ext cx="2058306" cy="381000"/>
            <a:chOff x="3312587" y="5562600"/>
            <a:chExt cx="2058306" cy="381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986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Till now, we considered the situations in which either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ancestor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 or vice versa.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  <a:blipFill rotWithShape="1">
                <a:blip r:embed="rId3"/>
                <a:stretch>
                  <a:fillRect l="-759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39" idx="0"/>
            <a:endCxn id="23" idx="1"/>
          </p:cNvCxnSpPr>
          <p:nvPr/>
        </p:nvCxnSpPr>
        <p:spPr>
          <a:xfrm rot="5400000" flipH="1" flipV="1">
            <a:off x="2835968" y="2830392"/>
            <a:ext cx="2221468" cy="804549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3351106" y="2045732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11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25883" cy="457200"/>
            <a:chOff x="4383613" y="3505200"/>
            <a:chExt cx="4125883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loud Callout 26"/>
              <p:cNvSpPr/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Is it possible to have a DFS traversal where no such relationship </a:t>
                </a:r>
                <a:r>
                  <a:rPr lang="en-US">
                    <a:solidFill>
                      <a:schemeClr val="tx1"/>
                    </a:solidFill>
                  </a:rPr>
                  <a:t>exists between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though we have edge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27" name="Cloud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Ribbon 3"/>
          <p:cNvSpPr/>
          <p:nvPr/>
        </p:nvSpPr>
        <p:spPr>
          <a:xfrm>
            <a:off x="6203389" y="4484132"/>
            <a:ext cx="2940611" cy="86153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Yes, indeed.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Think over it before moving to the next slide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312587" y="5562600"/>
            <a:ext cx="2069527" cy="381000"/>
            <a:chOff x="3312587" y="5562600"/>
            <a:chExt cx="2069527" cy="3810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877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7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b="1" dirty="0"/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351106" y="2514600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9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8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678668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3364468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4202668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505094" y="2221468"/>
            <a:ext cx="1209906" cy="3693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715000" y="1981200"/>
            <a:ext cx="457200" cy="369332"/>
            <a:chOff x="5715000" y="1981200"/>
            <a:chExt cx="457200" cy="369332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4219575" y="1457325"/>
            <a:ext cx="257175" cy="1066800"/>
            <a:chOff x="4219575" y="1457325"/>
            <a:chExt cx="257175" cy="1066800"/>
          </a:xfrm>
        </p:grpSpPr>
        <p:sp>
          <p:nvSpPr>
            <p:cNvPr id="6" name="Freeform 5"/>
            <p:cNvSpPr/>
            <p:nvPr/>
          </p:nvSpPr>
          <p:spPr>
            <a:xfrm>
              <a:off x="4219575" y="1457325"/>
              <a:ext cx="257175" cy="1066800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6" idx="21"/>
              <a:endCxn id="6" idx="25"/>
            </p:cNvCxnSpPr>
            <p:nvPr/>
          </p:nvCxnSpPr>
          <p:spPr>
            <a:xfrm flipH="1">
              <a:off x="4410075" y="2371725"/>
              <a:ext cx="38100" cy="152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752600" y="5541639"/>
            <a:ext cx="2175128" cy="478161"/>
            <a:chOff x="3850213" y="1905000"/>
            <a:chExt cx="2175128" cy="4781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4114800" y="1230868"/>
            <a:ext cx="445980" cy="369332"/>
            <a:chOff x="5715000" y="1981200"/>
            <a:chExt cx="445980" cy="369332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Cloud Callout 53"/>
          <p:cNvSpPr/>
          <p:nvPr/>
        </p:nvSpPr>
        <p:spPr>
          <a:xfrm>
            <a:off x="5091810" y="2667000"/>
            <a:ext cx="4052190" cy="16002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there any other type of non-tree edge ?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Think over it …</a:t>
            </a:r>
          </a:p>
        </p:txBody>
      </p:sp>
      <p:sp>
        <p:nvSpPr>
          <p:cNvPr id="55" name="Down Ribbon 54"/>
          <p:cNvSpPr/>
          <p:nvPr/>
        </p:nvSpPr>
        <p:spPr>
          <a:xfrm>
            <a:off x="5091811" y="4484132"/>
            <a:ext cx="4052190" cy="86153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 the following slide, we shall show that these are </a:t>
            </a:r>
            <a:r>
              <a:rPr lang="en-US" sz="1600" u="sng" dirty="0">
                <a:solidFill>
                  <a:schemeClr val="tx1"/>
                </a:solidFill>
              </a:rPr>
              <a:t>the only possibilities</a:t>
            </a:r>
            <a:r>
              <a:rPr lang="en-US" sz="1600" dirty="0">
                <a:solidFill>
                  <a:schemeClr val="tx1"/>
                </a:solidFill>
              </a:rPr>
              <a:t> of a non-tree edge.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906" y="5552790"/>
            <a:ext cx="2096431" cy="467010"/>
            <a:chOff x="4572906" y="5552790"/>
            <a:chExt cx="2096431" cy="46701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4814958" y="555279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334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4" grpId="0" animBg="1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1"/>
                <a:ext cx="8229600" cy="4724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  edge 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1</a:t>
                </a:r>
                <a:r>
                  <a:rPr lang="en-US" sz="2000" dirty="0"/>
                  <a:t>: ancestor  to descendant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2</a:t>
                </a:r>
                <a:r>
                  <a:rPr lang="en-US" sz="2000" dirty="0"/>
                  <a:t>: descendant to ancestor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3</a:t>
                </a:r>
                <a:r>
                  <a:rPr lang="en-US" sz="2000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1"/>
                <a:ext cx="8229600" cy="4724400"/>
              </a:xfrm>
              <a:blipFill rotWithShape="1">
                <a:blip r:embed="rId2"/>
                <a:stretch>
                  <a:fillRect l="-741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702096" y="1600200"/>
            <a:ext cx="4137104" cy="685800"/>
            <a:chOff x="4383613" y="3505200"/>
            <a:chExt cx="4137104" cy="6858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7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511" t="-8197" r="-180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625896" y="2971800"/>
            <a:ext cx="4125883" cy="685800"/>
            <a:chOff x="4383613" y="3505200"/>
            <a:chExt cx="4125883" cy="6858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9000" t="-8197" r="-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8511"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5334000" y="38216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2068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8824" t="-8197" r="-784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822919" y="38216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8060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474" t="-8197" r="-842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4086084" y="4779639"/>
            <a:ext cx="4916737" cy="478161"/>
            <a:chOff x="3850213" y="1905000"/>
            <a:chExt cx="4916737" cy="478161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670519" y="19928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2068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8824" t="-8197" r="-784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8186342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80608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9474" t="-8197" r="-842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086084" y="5846439"/>
            <a:ext cx="4905516" cy="478161"/>
            <a:chOff x="3850213" y="1905000"/>
            <a:chExt cx="4905516" cy="478161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911" t="-8333" r="-178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8421" t="-8197" r="-189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&quot;No&quot; Symbol 38"/>
          <p:cNvSpPr/>
          <p:nvPr/>
        </p:nvSpPr>
        <p:spPr>
          <a:xfrm>
            <a:off x="6096000" y="5486400"/>
            <a:ext cx="914400" cy="914400"/>
          </a:xfrm>
          <a:prstGeom prst="noSmoking">
            <a:avLst>
              <a:gd name="adj" fmla="val 1031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19200" y="1764268"/>
            <a:ext cx="2771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Tree</a:t>
            </a:r>
            <a:r>
              <a:rPr lang="en-US" dirty="0"/>
              <a:t> edge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dirty="0"/>
              <a:t>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" y="3200400"/>
            <a:ext cx="163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Backward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8960" y="4659868"/>
            <a:ext cx="1204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Cross</a:t>
            </a:r>
            <a:r>
              <a:rPr lang="en-US" b="1" dirty="0"/>
              <a:t> </a:t>
            </a:r>
            <a:r>
              <a:rPr lang="en-US" dirty="0"/>
              <a:t>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4049" y="1454006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295400" y="1841212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295400" y="2908012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447800" y="3200400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447800" y="4736812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Arrow 54"/>
          <p:cNvSpPr/>
          <p:nvPr/>
        </p:nvSpPr>
        <p:spPr>
          <a:xfrm rot="1556459">
            <a:off x="6562168" y="1564678"/>
            <a:ext cx="254997" cy="299642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3" name="Right Arrow 72"/>
          <p:cNvSpPr/>
          <p:nvPr/>
        </p:nvSpPr>
        <p:spPr>
          <a:xfrm rot="1556459">
            <a:off x="6541853" y="46151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 rot="1556459">
            <a:off x="6985321" y="8813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Curved Connector 77"/>
          <p:cNvCxnSpPr/>
          <p:nvPr/>
        </p:nvCxnSpPr>
        <p:spPr>
          <a:xfrm rot="5400000">
            <a:off x="5791200" y="2286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869858" y="4899102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81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5" grpId="0" animBg="1"/>
      <p:bldP spid="73" grpId="0" animBg="1"/>
      <p:bldP spid="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Backward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t,u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r,q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c,b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Curved Connector 78"/>
          <p:cNvCxnSpPr/>
          <p:nvPr/>
        </p:nvCxnSpPr>
        <p:spPr>
          <a:xfrm rot="10800000" flipH="1">
            <a:off x="5945459" y="1828800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/>
          <p:nvPr/>
        </p:nvCxnSpPr>
        <p:spPr>
          <a:xfrm rot="16200000" flipV="1">
            <a:off x="6250940" y="2512061"/>
            <a:ext cx="1359932" cy="145812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7543800" y="2514600"/>
            <a:ext cx="136518" cy="74899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urved Connector 81"/>
          <p:cNvCxnSpPr/>
          <p:nvPr/>
        </p:nvCxnSpPr>
        <p:spPr>
          <a:xfrm flipH="1" flipV="1">
            <a:off x="6858000" y="4876800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46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Backward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t,u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r,q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c,b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Cross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x,u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y,u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y,q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79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Application </a:t>
            </a:r>
            <a:r>
              <a:rPr lang="en-US" b="1"/>
              <a:t>- </a:t>
            </a:r>
            <a:r>
              <a:rPr lang="en-US" b="1">
                <a:solidFill>
                  <a:srgbClr val="0070C0"/>
                </a:solidFill>
              </a:rPr>
              <a:t>I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629400" cy="17526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Checking if a directed graph is a </a:t>
            </a:r>
            <a:r>
              <a:rPr lang="en-US" sz="2400" b="1" dirty="0">
                <a:solidFill>
                  <a:srgbClr val="7030A0"/>
                </a:solidFill>
              </a:rPr>
              <a:t>unique-path </a:t>
            </a:r>
            <a:r>
              <a:rPr lang="en-US" sz="2400" b="1" dirty="0">
                <a:solidFill>
                  <a:schemeClr val="tx1"/>
                </a:solidFill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172901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16" idx="0"/>
          </p:cNvCxnSpPr>
          <p:nvPr/>
        </p:nvCxnSpPr>
        <p:spPr>
          <a:xfrm>
            <a:off x="7689615" y="4267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865436" y="3288268"/>
            <a:ext cx="1137258" cy="1055132"/>
            <a:chOff x="4427036" y="2133600"/>
            <a:chExt cx="1137258" cy="1055132"/>
          </a:xfrm>
        </p:grpSpPr>
        <p:cxnSp>
          <p:nvCxnSpPr>
            <p:cNvPr id="27" name="Straight Arrow Connector 26"/>
            <p:cNvCxnSpPr>
              <a:endCxn id="14" idx="0"/>
            </p:cNvCxnSpPr>
            <p:nvPr/>
          </p:nvCxnSpPr>
          <p:spPr>
            <a:xfrm flipH="1">
              <a:off x="4427036" y="23622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>
              <a:off x="4760686" y="2198132"/>
              <a:ext cx="568587" cy="914400"/>
              <a:chOff x="2398486" y="685800"/>
              <a:chExt cx="568587" cy="914400"/>
            </a:xfrm>
          </p:grpSpPr>
          <p:pic>
            <p:nvPicPr>
              <p:cNvPr id="3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29" name="Straight Arrow Connector 28"/>
            <p:cNvCxnSpPr/>
            <p:nvPr/>
          </p:nvCxnSpPr>
          <p:spPr>
            <a:xfrm>
              <a:off x="4838745" y="2350532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14" idx="3"/>
            </p:cNvCxnSpPr>
            <p:nvPr/>
          </p:nvCxnSpPr>
          <p:spPr>
            <a:xfrm flipH="1" flipV="1">
              <a:off x="4505094" y="29718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821348" y="2133600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57800" y="2819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8" idx="1"/>
              <a:endCxn id="20" idx="3"/>
            </p:cNvCxnSpPr>
            <p:nvPr/>
          </p:nvCxnSpPr>
          <p:spPr>
            <a:xfrm flipH="1">
              <a:off x="3668753" y="44958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urved Connector 58"/>
          <p:cNvCxnSpPr/>
          <p:nvPr/>
        </p:nvCxnSpPr>
        <p:spPr>
          <a:xfrm rot="5400000">
            <a:off x="5791200" y="4572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Curved Connector 57"/>
          <p:cNvCxnSpPr/>
          <p:nvPr/>
        </p:nvCxnSpPr>
        <p:spPr>
          <a:xfrm rot="5400000">
            <a:off x="5791200" y="4572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057400" y="1981200"/>
            <a:ext cx="25908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648199" y="1981200"/>
            <a:ext cx="3351953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3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7" grpId="0" animBg="1"/>
      <p:bldP spid="60" grpId="0" animBg="1"/>
      <p:bldP spid="61" grpId="0" animBg="1"/>
      <p:bldP spid="6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8" idx="1"/>
              <a:endCxn id="20" idx="3"/>
            </p:cNvCxnSpPr>
            <p:nvPr/>
          </p:nvCxnSpPr>
          <p:spPr>
            <a:xfrm flipH="1">
              <a:off x="3668753" y="44958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6096000" y="5650468"/>
            <a:ext cx="843269" cy="76200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1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5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Question</a:t>
                </a:r>
                <a:r>
                  <a:rPr lang="en-US" sz="2000" dirty="0">
                    <a:sym typeface="Wingdings" panose="05000000000000000000" pitchFamily="2" charset="2"/>
                  </a:rPr>
                  <a:t>: If no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Forward</a:t>
                </a:r>
                <a:r>
                  <a:rPr lang="en-US" sz="2000" dirty="0">
                    <a:sym typeface="Wingdings" panose="05000000000000000000" pitchFamily="2" charset="2"/>
                  </a:rPr>
                  <a:t>/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Cross</a:t>
                </a:r>
                <a:r>
                  <a:rPr lang="en-US" sz="2000" dirty="0">
                    <a:sym typeface="Wingdings" panose="05000000000000000000" pitchFamily="2" charset="2"/>
                  </a:rPr>
                  <a:t> edge exist,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can a back edge appear in any </a:t>
                </a:r>
                <a:r>
                  <a:rPr lang="en-US" sz="2000" u="sng" dirty="0">
                    <a:sym typeface="Wingdings" panose="05000000000000000000" pitchFamily="2" charset="2"/>
                  </a:rPr>
                  <a:t>path</a:t>
                </a:r>
                <a:r>
                  <a:rPr lang="en-US" sz="2000" dirty="0">
                    <a:sym typeface="Wingdings" panose="05000000000000000000" pitchFamily="2" charset="2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Never.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5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No problem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 rotWithShape="1">
                <a:blip r:embed="rId3"/>
                <a:stretch>
                  <a:fillRect l="-741" t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3733800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33600" y="4508212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90800" y="5194012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How to achieve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32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32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 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Can we do just a single </a:t>
            </a:r>
            <a:r>
              <a:rPr lang="en-US" sz="2000" b="1" dirty="0"/>
              <a:t>DFS</a:t>
            </a:r>
            <a:r>
              <a:rPr lang="en-US" sz="2000" dirty="0"/>
              <a:t> of the graph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Any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edge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Any </a:t>
            </a:r>
            <a:r>
              <a:rPr lang="en-US" sz="2000" b="1" dirty="0">
                <a:solidFill>
                  <a:srgbClr val="7030A0"/>
                </a:solidFill>
              </a:rPr>
              <a:t>Cross</a:t>
            </a:r>
            <a:r>
              <a:rPr lang="en-US" sz="2000" dirty="0"/>
              <a:t> edge </a:t>
            </a:r>
            <a:r>
              <a:rPr lang="en-US" sz="2000" dirty="0">
                <a:sym typeface="Wingdings" panose="05000000000000000000" pitchFamily="2" charset="2"/>
              </a:rPr>
              <a:t>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1404610" y="3733800"/>
            <a:ext cx="6470914" cy="2438400"/>
            <a:chOff x="1404610" y="3200400"/>
            <a:chExt cx="6470914" cy="2438400"/>
          </a:xfrm>
        </p:grpSpPr>
        <p:grpSp>
          <p:nvGrpSpPr>
            <p:cNvPr id="70" name="Group 69"/>
            <p:cNvGrpSpPr/>
            <p:nvPr/>
          </p:nvGrpSpPr>
          <p:grpSpPr>
            <a:xfrm>
              <a:off x="1404610" y="3200400"/>
              <a:ext cx="2278564" cy="2438400"/>
              <a:chOff x="1143000" y="4191000"/>
              <a:chExt cx="2278564" cy="2438400"/>
            </a:xfrm>
          </p:grpSpPr>
          <p:pic>
            <p:nvPicPr>
              <p:cNvPr id="71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9341" y="4191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2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6400" y="4876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0819" y="48898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4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1600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2386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5447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3000" y="6477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66242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79" name="Straight Arrow Connector 78"/>
              <p:cNvCxnSpPr>
                <a:stCxn id="71" idx="2"/>
                <a:endCxn id="72" idx="0"/>
              </p:cNvCxnSpPr>
              <p:nvPr/>
            </p:nvCxnSpPr>
            <p:spPr>
              <a:xfrm flipH="1">
                <a:off x="1754459" y="4343400"/>
                <a:ext cx="302941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/>
              <p:cNvCxnSpPr>
                <a:stCxn id="72" idx="2"/>
                <a:endCxn id="74" idx="0"/>
              </p:cNvCxnSpPr>
              <p:nvPr/>
            </p:nvCxnSpPr>
            <p:spPr>
              <a:xfrm flipH="1">
                <a:off x="1449659" y="5029200"/>
                <a:ext cx="304800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>
                <a:stCxn id="72" idx="2"/>
                <a:endCxn id="75" idx="0"/>
              </p:cNvCxnSpPr>
              <p:nvPr/>
            </p:nvCxnSpPr>
            <p:spPr>
              <a:xfrm>
                <a:off x="1754459" y="5029200"/>
                <a:ext cx="465986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>
                <a:stCxn id="73" idx="2"/>
                <a:endCxn id="76" idx="0"/>
              </p:cNvCxnSpPr>
              <p:nvPr/>
            </p:nvCxnSpPr>
            <p:spPr>
              <a:xfrm>
                <a:off x="2958878" y="5042210"/>
                <a:ext cx="384628" cy="67279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>
                <a:stCxn id="71" idx="2"/>
                <a:endCxn id="73" idx="1"/>
              </p:cNvCxnSpPr>
              <p:nvPr/>
            </p:nvCxnSpPr>
            <p:spPr>
              <a:xfrm>
                <a:off x="2057400" y="4343400"/>
                <a:ext cx="823419" cy="62261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/>
              <p:cNvCxnSpPr>
                <a:stCxn id="74" idx="2"/>
                <a:endCxn id="77" idx="0"/>
              </p:cNvCxnSpPr>
              <p:nvPr/>
            </p:nvCxnSpPr>
            <p:spPr>
              <a:xfrm flipH="1">
                <a:off x="1221059" y="5867400"/>
                <a:ext cx="228600" cy="6096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>
                <a:stCxn id="75" idx="2"/>
                <a:endCxn id="86" idx="0"/>
              </p:cNvCxnSpPr>
              <p:nvPr/>
            </p:nvCxnSpPr>
            <p:spPr>
              <a:xfrm>
                <a:off x="2220445" y="5867400"/>
                <a:ext cx="63697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6083" y="6400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87" name="Straight Arrow Connector 86"/>
              <p:cNvCxnSpPr>
                <a:stCxn id="76" idx="1"/>
                <a:endCxn id="78" idx="3"/>
              </p:cNvCxnSpPr>
              <p:nvPr/>
            </p:nvCxnSpPr>
            <p:spPr>
              <a:xfrm flipH="1">
                <a:off x="2822359" y="5791200"/>
                <a:ext cx="443088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/>
            <p:cNvGrpSpPr/>
            <p:nvPr/>
          </p:nvGrpSpPr>
          <p:grpSpPr>
            <a:xfrm>
              <a:off x="4587938" y="3723320"/>
              <a:ext cx="620586" cy="1534480"/>
              <a:chOff x="4359338" y="3951920"/>
              <a:chExt cx="620586" cy="1534480"/>
            </a:xfrm>
          </p:grpSpPr>
          <p:grpSp>
            <p:nvGrpSpPr>
              <p:cNvPr id="95" name="Group 94"/>
              <p:cNvGrpSpPr/>
              <p:nvPr/>
            </p:nvGrpSpPr>
            <p:grpSpPr>
              <a:xfrm>
                <a:off x="4359338" y="3951920"/>
                <a:ext cx="620586" cy="849351"/>
                <a:chOff x="4800600" y="4713249"/>
                <a:chExt cx="620586" cy="849351"/>
              </a:xfrm>
            </p:grpSpPr>
            <p:pic>
              <p:nvPicPr>
                <p:cNvPr id="96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65069" y="5410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97" name="Straight Arrow Connector 96"/>
                <p:cNvCxnSpPr/>
                <p:nvPr/>
              </p:nvCxnSpPr>
              <p:spPr>
                <a:xfrm>
                  <a:off x="4889305" y="4827549"/>
                  <a:ext cx="430674" cy="6096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8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00600" y="4713249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0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196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09" name="Straight Arrow Connector 108"/>
              <p:cNvCxnSpPr>
                <a:stCxn id="96" idx="2"/>
                <a:endCxn id="108" idx="3"/>
              </p:cNvCxnSpPr>
              <p:nvPr/>
            </p:nvCxnSpPr>
            <p:spPr>
              <a:xfrm flipH="1">
                <a:off x="4575717" y="4801271"/>
                <a:ext cx="326149" cy="608929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/>
            <p:cNvGrpSpPr/>
            <p:nvPr/>
          </p:nvGrpSpPr>
          <p:grpSpPr>
            <a:xfrm>
              <a:off x="6854283" y="3723320"/>
              <a:ext cx="1021241" cy="924880"/>
              <a:chOff x="3958683" y="3951920"/>
              <a:chExt cx="1021241" cy="924880"/>
            </a:xfrm>
          </p:grpSpPr>
          <p:grpSp>
            <p:nvGrpSpPr>
              <p:cNvPr id="111" name="Group 110"/>
              <p:cNvGrpSpPr/>
              <p:nvPr/>
            </p:nvGrpSpPr>
            <p:grpSpPr>
              <a:xfrm>
                <a:off x="4359338" y="3951920"/>
                <a:ext cx="620586" cy="849351"/>
                <a:chOff x="4800600" y="4713249"/>
                <a:chExt cx="620586" cy="849351"/>
              </a:xfrm>
            </p:grpSpPr>
            <p:pic>
              <p:nvPicPr>
                <p:cNvPr id="118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65069" y="54102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4889305" y="4827549"/>
                  <a:ext cx="430674" cy="6096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20" name="Picture 2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00600" y="4713249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15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8683" y="4724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16" name="Straight Arrow Connector 115"/>
              <p:cNvCxnSpPr/>
              <p:nvPr/>
            </p:nvCxnSpPr>
            <p:spPr>
              <a:xfrm flipH="1">
                <a:off x="4093451" y="4115471"/>
                <a:ext cx="326149" cy="608929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3" name="Straight Arrow Connector 122"/>
          <p:cNvCxnSpPr>
            <a:stCxn id="98" idx="1"/>
            <a:endCxn id="73" idx="3"/>
          </p:cNvCxnSpPr>
          <p:nvPr/>
        </p:nvCxnSpPr>
        <p:spPr>
          <a:xfrm flipH="1">
            <a:off x="3298546" y="4332920"/>
            <a:ext cx="1289392" cy="17589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108" idx="1"/>
            <a:endCxn id="74" idx="3"/>
          </p:cNvCxnSpPr>
          <p:nvPr/>
        </p:nvCxnSpPr>
        <p:spPr>
          <a:xfrm flipH="1" flipV="1">
            <a:off x="1789327" y="5334000"/>
            <a:ext cx="2858873" cy="38100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98" idx="2"/>
            <a:endCxn id="76" idx="0"/>
          </p:cNvCxnSpPr>
          <p:nvPr/>
        </p:nvCxnSpPr>
        <p:spPr>
          <a:xfrm flipH="1">
            <a:off x="3605116" y="4409120"/>
            <a:ext cx="1060881" cy="84868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514600" y="2920425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2253734"/>
            <a:ext cx="3170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Multiple paths from the root</a:t>
            </a:r>
          </a:p>
        </p:txBody>
      </p:sp>
      <p:cxnSp>
        <p:nvCxnSpPr>
          <p:cNvPr id="43" name="Curved Connector 42"/>
          <p:cNvCxnSpPr>
            <a:stCxn id="72" idx="1"/>
          </p:cNvCxnSpPr>
          <p:nvPr/>
        </p:nvCxnSpPr>
        <p:spPr>
          <a:xfrm rot="10800000" flipV="1">
            <a:off x="1371600" y="4495800"/>
            <a:ext cx="566410" cy="1600200"/>
          </a:xfrm>
          <a:prstGeom prst="curved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own Ribbon 43"/>
          <p:cNvSpPr/>
          <p:nvPr/>
        </p:nvSpPr>
        <p:spPr>
          <a:xfrm>
            <a:off x="6172200" y="1905000"/>
            <a:ext cx="2971800" cy="1981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This explains, at least intuitively, why it is not easy to pursue a single DFS of the graph to solve this problem.</a:t>
            </a:r>
          </a:p>
        </p:txBody>
      </p:sp>
    </p:spTree>
    <p:extLst>
      <p:ext uri="{BB962C8B-B14F-4D97-AF65-F5344CB8AC3E}">
        <p14:creationId xmlns:p14="http://schemas.microsoft.com/office/powerpoint/2010/main" val="164459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9" grpId="0"/>
      <p:bldP spid="5" grpId="0"/>
      <p:bldP spid="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Let us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revisit</a:t>
                </a:r>
                <a:r>
                  <a:rPr lang="en-US" sz="3200" b="1" dirty="0"/>
                  <a:t> the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</a:t>
                </a:r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</a:t>
                </a:r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No </a:t>
                </a:r>
                <a:r>
                  <a:rPr lang="en-US" sz="2000" dirty="0"/>
                  <a:t>multiple paths to any vertex </a:t>
                </a:r>
                <a:r>
                  <a:rPr lang="en-US" sz="2000" u="sng" dirty="0"/>
                  <a:t>from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 rotWithShape="1">
                <a:blip r:embed="rId3"/>
                <a:stretch>
                  <a:fillRect l="-720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Down Arrow 59"/>
          <p:cNvSpPr/>
          <p:nvPr/>
        </p:nvSpPr>
        <p:spPr>
          <a:xfrm>
            <a:off x="3962400" y="18288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Callout 3"/>
              <p:cNvSpPr/>
              <p:nvPr/>
            </p:nvSpPr>
            <p:spPr>
              <a:xfrm>
                <a:off x="3810000" y="3657600"/>
                <a:ext cx="4724400" cy="1752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we make inference for other vertices based on </a:t>
                </a:r>
                <a:r>
                  <a:rPr lang="en-US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b="1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edges encountered  during </a:t>
                </a:r>
                <a:r>
                  <a:rPr lang="en-US" b="1" dirty="0">
                    <a:solidFill>
                      <a:schemeClr val="tx1"/>
                    </a:solidFill>
                  </a:rPr>
                  <a:t>DFS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?</a:t>
                </a:r>
                <a:endParaRPr lang="en-US" dirty="0"/>
              </a:p>
            </p:txBody>
          </p:sp>
        </mc:Choice>
        <mc:Fallback xmlns="">
          <p:sp>
            <p:nvSpPr>
              <p:cNvPr id="4" name="Cloud Callou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657600"/>
                <a:ext cx="4724400" cy="1752600"/>
              </a:xfrm>
              <a:prstGeom prst="cloudCallou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14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0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Towards 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32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32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 …</a:t>
                </a:r>
                <a:br>
                  <a:rPr lang="en-US" sz="3200" b="1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660" b="-1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many </a:t>
                </a:r>
                <a:r>
                  <a:rPr lang="en-US" sz="2000" b="1" dirty="0"/>
                  <a:t>Backward</a:t>
                </a:r>
                <a:r>
                  <a:rPr lang="en-US" sz="2000" dirty="0"/>
                  <a:t> edges can emerge from a single vertex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if graph is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unique-path</a:t>
                </a:r>
                <a:r>
                  <a:rPr lang="en-US" sz="2000" dirty="0"/>
                  <a:t> graph?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  at most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3"/>
                <a:stretch>
                  <a:fillRect l="-741" t="-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2395210" y="2362200"/>
            <a:ext cx="2481590" cy="3810000"/>
            <a:chOff x="2395210" y="2362200"/>
            <a:chExt cx="2481590" cy="3810000"/>
          </a:xfrm>
        </p:grpSpPr>
        <p:grpSp>
          <p:nvGrpSpPr>
            <p:cNvPr id="44" name="Group 43"/>
            <p:cNvGrpSpPr/>
            <p:nvPr/>
          </p:nvGrpSpPr>
          <p:grpSpPr>
            <a:xfrm>
              <a:off x="2395210" y="2362200"/>
              <a:ext cx="2481590" cy="3810000"/>
              <a:chOff x="1861810" y="2362200"/>
              <a:chExt cx="2481590" cy="3810000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1861810" y="2362200"/>
                <a:ext cx="2481590" cy="3810000"/>
                <a:chOff x="1404610" y="1828800"/>
                <a:chExt cx="2481590" cy="3810000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1404610" y="3200400"/>
                  <a:ext cx="2278564" cy="2438400"/>
                  <a:chOff x="1143000" y="4191000"/>
                  <a:chExt cx="2278564" cy="2438400"/>
                </a:xfrm>
              </p:grpSpPr>
              <p:pic>
                <p:nvPicPr>
                  <p:cNvPr id="20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979341" y="4191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1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676400" y="48768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2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80819" y="488981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3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71600" y="5715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4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42386" y="5715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5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265447" y="5715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6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43000" y="6477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7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782673" y="62484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cxnSp>
                <p:nvCxnSpPr>
                  <p:cNvPr id="28" name="Straight Arrow Connector 27"/>
                  <p:cNvCxnSpPr>
                    <a:stCxn id="20" idx="2"/>
                    <a:endCxn id="21" idx="0"/>
                  </p:cNvCxnSpPr>
                  <p:nvPr/>
                </p:nvCxnSpPr>
                <p:spPr>
                  <a:xfrm flipH="1">
                    <a:off x="1754459" y="4343400"/>
                    <a:ext cx="302941" cy="5334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Arrow Connector 28"/>
                  <p:cNvCxnSpPr>
                    <a:stCxn id="21" idx="2"/>
                    <a:endCxn id="23" idx="0"/>
                  </p:cNvCxnSpPr>
                  <p:nvPr/>
                </p:nvCxnSpPr>
                <p:spPr>
                  <a:xfrm flipH="1">
                    <a:off x="1449659" y="5029200"/>
                    <a:ext cx="304800" cy="6858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Arrow Connector 29"/>
                  <p:cNvCxnSpPr>
                    <a:stCxn id="21" idx="2"/>
                    <a:endCxn id="24" idx="0"/>
                  </p:cNvCxnSpPr>
                  <p:nvPr/>
                </p:nvCxnSpPr>
                <p:spPr>
                  <a:xfrm>
                    <a:off x="1754459" y="5029200"/>
                    <a:ext cx="465986" cy="6858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22" idx="2"/>
                    <a:endCxn id="25" idx="0"/>
                  </p:cNvCxnSpPr>
                  <p:nvPr/>
                </p:nvCxnSpPr>
                <p:spPr>
                  <a:xfrm>
                    <a:off x="2958878" y="5042210"/>
                    <a:ext cx="384628" cy="67279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/>
                  <p:cNvCxnSpPr>
                    <a:stCxn id="20" idx="2"/>
                    <a:endCxn id="22" idx="1"/>
                  </p:cNvCxnSpPr>
                  <p:nvPr/>
                </p:nvCxnSpPr>
                <p:spPr>
                  <a:xfrm>
                    <a:off x="2057400" y="4343400"/>
                    <a:ext cx="823419" cy="62261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/>
                  <p:cNvCxnSpPr>
                    <a:stCxn id="23" idx="2"/>
                    <a:endCxn id="26" idx="0"/>
                  </p:cNvCxnSpPr>
                  <p:nvPr/>
                </p:nvCxnSpPr>
                <p:spPr>
                  <a:xfrm flipH="1">
                    <a:off x="1221059" y="5867400"/>
                    <a:ext cx="228600" cy="6096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24" idx="2"/>
                    <a:endCxn id="35" idx="0"/>
                  </p:cNvCxnSpPr>
                  <p:nvPr/>
                </p:nvCxnSpPr>
                <p:spPr>
                  <a:xfrm>
                    <a:off x="2220445" y="5867400"/>
                    <a:ext cx="63697" cy="5334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35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206083" y="64008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cxnSp>
                <p:nvCxnSpPr>
                  <p:cNvPr id="36" name="Straight Arrow Connector 35"/>
                  <p:cNvCxnSpPr>
                    <a:stCxn id="25" idx="1"/>
                    <a:endCxn id="27" idx="3"/>
                  </p:cNvCxnSpPr>
                  <p:nvPr/>
                </p:nvCxnSpPr>
                <p:spPr>
                  <a:xfrm flipH="1">
                    <a:off x="2938790" y="5791200"/>
                    <a:ext cx="326657" cy="533400"/>
                  </a:xfrm>
                  <a:prstGeom prst="straightConnector1">
                    <a:avLst/>
                  </a:prstGeom>
                  <a:ln w="28575">
                    <a:solidFill>
                      <a:srgbClr val="00B05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72883" y="24384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7" name="Group 6"/>
                <p:cNvGrpSpPr/>
                <p:nvPr/>
              </p:nvGrpSpPr>
              <p:grpSpPr>
                <a:xfrm>
                  <a:off x="2514600" y="1828800"/>
                  <a:ext cx="1371600" cy="1524000"/>
                  <a:chOff x="-381000" y="2057400"/>
                  <a:chExt cx="1371600" cy="1524000"/>
                </a:xfrm>
              </p:grpSpPr>
              <p:grpSp>
                <p:nvGrpSpPr>
                  <p:cNvPr id="8" name="Group 7"/>
                  <p:cNvGrpSpPr/>
                  <p:nvPr/>
                </p:nvGrpSpPr>
                <p:grpSpPr>
                  <a:xfrm>
                    <a:off x="-381000" y="2057400"/>
                    <a:ext cx="373731" cy="762000"/>
                    <a:chOff x="60262" y="2818729"/>
                    <a:chExt cx="373731" cy="762000"/>
                  </a:xfrm>
                </p:grpSpPr>
                <p:pic>
                  <p:nvPicPr>
                    <p:cNvPr id="11" name="Picture 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60262" y="3428329"/>
                      <a:ext cx="156117" cy="152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  <p:cxnSp>
                  <p:nvCxnSpPr>
                    <p:cNvPr id="12" name="Straight Arrow Connector 11"/>
                    <p:cNvCxnSpPr>
                      <a:endCxn id="11" idx="0"/>
                    </p:cNvCxnSpPr>
                    <p:nvPr/>
                  </p:nvCxnSpPr>
                  <p:spPr>
                    <a:xfrm flipH="1">
                      <a:off x="138321" y="2933029"/>
                      <a:ext cx="228260" cy="495300"/>
                    </a:xfrm>
                    <a:prstGeom prst="straightConnector1">
                      <a:avLst/>
                    </a:prstGeom>
                    <a:ln w="28575">
                      <a:solidFill>
                        <a:srgbClr val="00B05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3" name="Picture 2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277876" y="2818729"/>
                      <a:ext cx="156117" cy="152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pic>
              </p:grpSp>
              <p:pic>
                <p:nvPicPr>
                  <p:cNvPr id="9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34483" y="3429000"/>
                    <a:ext cx="156117" cy="152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</p:grpSp>
          </p:grpSp>
          <p:cxnSp>
            <p:nvCxnSpPr>
              <p:cNvPr id="38" name="Straight Arrow Connector 37"/>
              <p:cNvCxnSpPr/>
              <p:nvPr/>
            </p:nvCxnSpPr>
            <p:spPr>
              <a:xfrm flipH="1">
                <a:off x="2819740" y="3124200"/>
                <a:ext cx="197573" cy="6477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Arrow Connector 38"/>
            <p:cNvCxnSpPr>
              <a:endCxn id="15" idx="1"/>
            </p:cNvCxnSpPr>
            <p:nvPr/>
          </p:nvCxnSpPr>
          <p:spPr>
            <a:xfrm>
              <a:off x="3882572" y="2438400"/>
              <a:ext cx="380911" cy="6096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5" idx="2"/>
              <a:endCxn id="9" idx="1"/>
            </p:cNvCxnSpPr>
            <p:nvPr/>
          </p:nvCxnSpPr>
          <p:spPr>
            <a:xfrm>
              <a:off x="4341542" y="3124200"/>
              <a:ext cx="379141" cy="6858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urved Connector 44"/>
          <p:cNvCxnSpPr/>
          <p:nvPr/>
        </p:nvCxnSpPr>
        <p:spPr>
          <a:xfrm rot="10800000" flipH="1">
            <a:off x="2668859" y="3048000"/>
            <a:ext cx="836341" cy="2286000"/>
          </a:xfrm>
          <a:prstGeom prst="curvedConnector3">
            <a:avLst>
              <a:gd name="adj1" fmla="val -27333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/>
          <p:cNvCxnSpPr/>
          <p:nvPr/>
        </p:nvCxnSpPr>
        <p:spPr>
          <a:xfrm rot="5400000" flipH="1" flipV="1">
            <a:off x="1748037" y="3281164"/>
            <a:ext cx="2971801" cy="1133874"/>
          </a:xfrm>
          <a:prstGeom prst="curvedConnector3">
            <a:avLst>
              <a:gd name="adj1" fmla="val 123171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652807" y="926812"/>
            <a:ext cx="286384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495800" y="990600"/>
            <a:ext cx="34290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loud Callout 42"/>
              <p:cNvSpPr/>
              <p:nvPr/>
            </p:nvSpPr>
            <p:spPr>
              <a:xfrm>
                <a:off x="4034883" y="1600200"/>
                <a:ext cx="5334000" cy="1371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Based on this observation, we can speed up the</a:t>
                </a:r>
                <a:r>
                  <a:rPr lang="en-US" b="1" dirty="0">
                    <a:solidFill>
                      <a:schemeClr val="tx1"/>
                    </a:solidFill>
                  </a:rPr>
                  <a:t> 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algorithm to </a:t>
                </a:r>
                <a:r>
                  <a:rPr lang="en-US" b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 algorithm. It is given on the following slide.</a:t>
                </a:r>
              </a:p>
            </p:txBody>
          </p:sp>
        </mc:Choice>
        <mc:Fallback xmlns="">
          <p:sp>
            <p:nvSpPr>
              <p:cNvPr id="43" name="Cloud Callout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883" y="1600200"/>
                <a:ext cx="5334000" cy="1371600"/>
              </a:xfrm>
              <a:prstGeom prst="cloudCallou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2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0" grpId="0" animBg="1"/>
      <p:bldP spid="42" grpId="0" animBg="1"/>
      <p:bldP spid="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Suitably augmenting 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DFS(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3200" b="1" dirty="0">
                    <a:solidFill>
                      <a:srgbClr val="7030A0"/>
                    </a:solidFill>
                  </a:rPr>
                  <a:t>) 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638800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{  </a:t>
                </a:r>
                <a:r>
                  <a:rPr lang="en-US" sz="1800" b="1" dirty="0"/>
                  <a:t>Visited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] </a:t>
                </a:r>
                <a:r>
                  <a:rPr lang="en-US" sz="1800" dirty="0">
                    <a:sym typeface="Wingdings" pitchFamily="2" charset="2"/>
                  </a:rPr>
                  <a:t> true;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</a:t>
                </a:r>
                <a:r>
                  <a:rPr lang="en-US" sz="1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1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]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1800" dirty="0">
                    <a:sym typeface="Wingdings" pitchFamily="2" charset="2"/>
                  </a:rPr>
                  <a:t>++ ;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 </a:t>
                </a:r>
                <a:r>
                  <a:rPr lang="en-US" sz="1800" dirty="0">
                    <a:sym typeface="Wingdings" pitchFamily="2" charset="2"/>
                  </a:rPr>
                  <a:t>…;  </a:t>
                </a:r>
                <a:r>
                  <a:rPr lang="en-US" sz="1800" b="1" dirty="0">
                    <a:sym typeface="Wingdings" pitchFamily="2" charset="2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    For</a:t>
                </a:r>
                <a:r>
                  <a:rPr lang="en-US" sz="1800" dirty="0">
                    <a:sym typeface="Wingdings" pitchFamily="2" charset="2"/>
                  </a:rPr>
                  <a:t> each edge 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 err="1">
                    <a:sym typeface="Wingdings" pitchFamily="2" charset="2"/>
                  </a:rPr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{    If (</a:t>
                </a:r>
                <a:r>
                  <a:rPr lang="en-US" sz="1800" b="1" dirty="0"/>
                  <a:t>Visited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1800" dirty="0"/>
                  <a:t>] = false</a:t>
                </a:r>
                <a:r>
                  <a:rPr lang="en-US" sz="18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  <a:sym typeface="Wingdings" pitchFamily="2" charset="2"/>
                  </a:rPr>
                  <a:t>                  DFS</a:t>
                </a:r>
                <a:r>
                  <a:rPr lang="en-US" sz="18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else {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           If(                        )   …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	          else     …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    }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}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…;</a:t>
                </a:r>
                <a:endParaRPr lang="en-US" sz="18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}</a:t>
                </a:r>
                <a:r>
                  <a:rPr lang="en-US" sz="1800" b="1" dirty="0">
                    <a:solidFill>
                      <a:srgbClr val="7030A0"/>
                    </a:solidFill>
                    <a:sym typeface="Wingdings" pitchFamily="2" charset="2"/>
                  </a:rPr>
                  <a:t> </a:t>
                </a:r>
                <a:r>
                  <a:rPr lang="en-US" sz="1800" dirty="0">
                    <a:sym typeface="Wingdings" pitchFamily="2" charset="2"/>
                  </a:rPr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638800"/>
              </a:xfrm>
              <a:blipFill rotWithShape="1">
                <a:blip r:embed="rId4"/>
                <a:stretch>
                  <a:fillRect l="-593" t="-541" b="-15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5800" y="5924490"/>
                <a:ext cx="1902059" cy="4001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count</a:t>
                </a:r>
                <a:r>
                  <a:rPr lang="en-US" sz="2000" dirty="0">
                    <a:sym typeface="Wingdings" pitchFamily="2" charset="2"/>
                  </a:rPr>
                  <a:t>++ ;</a:t>
                </a:r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924490"/>
                <a:ext cx="1902059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3526" t="-9091" r="-544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5800" y="5555158"/>
                <a:ext cx="2047355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Finished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true;</a:t>
                </a:r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555158"/>
                <a:ext cx="204735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687" t="-9836" r="-44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133600" y="3600450"/>
                <a:ext cx="1301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Finished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𝒘</m:t>
                    </m:r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600450"/>
                <a:ext cx="1301959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738" t="-8333" r="-700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48200" y="4267200"/>
            <a:ext cx="3748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7030A0"/>
                </a:solidFill>
              </a:rPr>
              <a:t>UniquePathGraph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ym typeface="Wingdings" pitchFamily="2" charset="2"/>
              </a:rPr>
              <a:t> </a:t>
            </a:r>
            <a:r>
              <a:rPr lang="en-US" dirty="0">
                <a:sym typeface="Wingdings" pitchFamily="2" charset="2"/>
              </a:rPr>
              <a:t>false; 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break</a:t>
            </a:r>
            <a:r>
              <a:rPr lang="en-US" dirty="0">
                <a:sym typeface="Wingdings" pitchFamily="2" charset="2"/>
              </a:rPr>
              <a:t> }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5800" y="1948934"/>
                <a:ext cx="205344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Back-edges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;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48934"/>
                <a:ext cx="2053447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679" t="-10000" r="-476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62200" y="3962400"/>
                <a:ext cx="206255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:r>
                  <a:rPr lang="en-US" b="1" dirty="0"/>
                  <a:t> Back-edges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++</a:t>
                </a:r>
                <a:r>
                  <a:rPr lang="en-US" dirty="0">
                    <a:sym typeface="Wingdings" pitchFamily="2" charset="2"/>
                  </a:rPr>
                  <a:t>; 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962400"/>
                <a:ext cx="206255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663" t="-8197" r="-41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06421" y="4267200"/>
                <a:ext cx="221797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(</a:t>
                </a:r>
                <a:r>
                  <a:rPr lang="en-US" b="1" dirty="0"/>
                  <a:t>Back-edges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 </a:t>
                </a:r>
                <a:r>
                  <a:rPr lang="en-US" dirty="0">
                    <a:sym typeface="Wingdings" pitchFamily="2" charset="2"/>
                  </a:rPr>
                  <a:t>&gt;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421" y="4267200"/>
                <a:ext cx="2217979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2198" t="-8197" r="-384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600166" y="3593068"/>
            <a:ext cx="374865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7030A0"/>
                </a:solidFill>
              </a:rPr>
              <a:t>UniquePathGraph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ym typeface="Wingdings" pitchFamily="2" charset="2"/>
              </a:rPr>
              <a:t> </a:t>
            </a:r>
            <a:r>
              <a:rPr lang="en-US" dirty="0">
                <a:sym typeface="Wingdings" pitchFamily="2" charset="2"/>
              </a:rPr>
              <a:t>false;  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break</a:t>
            </a:r>
            <a:r>
              <a:rPr lang="en-US" dirty="0">
                <a:sym typeface="Wingdings" pitchFamily="2" charset="2"/>
              </a:rPr>
              <a:t> }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362200" y="4572000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}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Ribbon 9"/>
              <p:cNvSpPr/>
              <p:nvPr/>
            </p:nvSpPr>
            <p:spPr>
              <a:xfrm>
                <a:off x="5562600" y="1828800"/>
                <a:ext cx="2602707" cy="797314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b="1" dirty="0">
                    <a:solidFill>
                      <a:schemeClr val="tx1"/>
                    </a:solidFill>
                  </a:rPr>
                  <a:t> time</a:t>
                </a:r>
                <a:r>
                  <a:rPr lang="en-US" dirty="0">
                    <a:solidFill>
                      <a:schemeClr val="tx1"/>
                    </a:solidFill>
                  </a:rPr>
                  <a:t> per fresh DFS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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Down Ribbon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828800"/>
                <a:ext cx="2602707" cy="797314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1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76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uiExpand="1" build="p"/>
      <p:bldP spid="12" grpId="0" animBg="1"/>
      <p:bldP spid="14" grpId="0" animBg="1"/>
      <p:bldP spid="2" grpId="0"/>
      <p:bldP spid="6" grpId="0"/>
      <p:bldP spid="8" grpId="0" animBg="1"/>
      <p:bldP spid="15" grpId="0" animBg="1"/>
      <p:bldP spid="17" grpId="0" animBg="1"/>
      <p:bldP spid="18" grpId="0" animBg="1"/>
      <p:bldP spid="9" grpId="0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Application </a:t>
            </a:r>
            <a:r>
              <a:rPr lang="en-US" b="1" dirty="0"/>
              <a:t>- II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6858000" cy="1752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Alternate algorithm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for</a:t>
            </a:r>
            <a:r>
              <a:rPr lang="en-US" sz="2800" b="1" dirty="0">
                <a:solidFill>
                  <a:srgbClr val="7030A0"/>
                </a:solidFill>
              </a:rPr>
              <a:t> topological numbering </a:t>
            </a:r>
            <a:r>
              <a:rPr lang="en-US" sz="2800" b="1" dirty="0">
                <a:solidFill>
                  <a:schemeClr val="tx1"/>
                </a:solidFill>
              </a:rPr>
              <a:t>of a DAG.</a:t>
            </a:r>
          </a:p>
        </p:txBody>
      </p:sp>
    </p:spTree>
    <p:extLst>
      <p:ext uri="{BB962C8B-B14F-4D97-AF65-F5344CB8AC3E}">
        <p14:creationId xmlns:p14="http://schemas.microsoft.com/office/powerpoint/2010/main" val="250356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DFS on a DAG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3" name="Content Placeholder 3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3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Suppose DFS visits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before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: </a:t>
                </a: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            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Suppose DFS visits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before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: </a:t>
                </a: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endParaRPr lang="en-US" sz="2000" b="1" dirty="0">
                  <a:solidFill>
                    <a:srgbClr val="00B05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            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4" name="Content Placeholder 3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662" t="-674" b="-32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879" y="3048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>
            <a:stCxn id="4" idx="2"/>
            <a:endCxn id="6" idx="0"/>
          </p:cNvCxnSpPr>
          <p:nvPr/>
        </p:nvCxnSpPr>
        <p:spPr>
          <a:xfrm flipH="1">
            <a:off x="2375229" y="32004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70" y="3733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349" y="3810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229" y="4419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648" y="44326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429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215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276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829" y="6019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3"/>
          <p:cNvCxnSpPr>
            <a:stCxn id="4" idx="2"/>
            <a:endCxn id="7" idx="0"/>
          </p:cNvCxnSpPr>
          <p:nvPr/>
        </p:nvCxnSpPr>
        <p:spPr>
          <a:xfrm>
            <a:off x="2786938" y="32004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071" y="5257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/>
          <p:cNvCxnSpPr>
            <a:stCxn id="6" idx="2"/>
            <a:endCxn id="8" idx="0"/>
          </p:cNvCxnSpPr>
          <p:nvPr/>
        </p:nvCxnSpPr>
        <p:spPr>
          <a:xfrm flipH="1">
            <a:off x="2072288" y="38862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0" idx="0"/>
          </p:cNvCxnSpPr>
          <p:nvPr/>
        </p:nvCxnSpPr>
        <p:spPr>
          <a:xfrm flipH="1">
            <a:off x="1767488" y="45720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11" idx="0"/>
          </p:cNvCxnSpPr>
          <p:nvPr/>
        </p:nvCxnSpPr>
        <p:spPr>
          <a:xfrm>
            <a:off x="2072288" y="45720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62130" y="4585010"/>
            <a:ext cx="214577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2" idx="0"/>
          </p:cNvCxnSpPr>
          <p:nvPr/>
        </p:nvCxnSpPr>
        <p:spPr>
          <a:xfrm>
            <a:off x="3276707" y="45850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2"/>
            <a:endCxn id="9" idx="1"/>
          </p:cNvCxnSpPr>
          <p:nvPr/>
        </p:nvCxnSpPr>
        <p:spPr>
          <a:xfrm>
            <a:off x="2375229" y="38862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4" idx="0"/>
          </p:cNvCxnSpPr>
          <p:nvPr/>
        </p:nvCxnSpPr>
        <p:spPr>
          <a:xfrm rot="16200000" flipH="1">
            <a:off x="2120164" y="3714774"/>
            <a:ext cx="2286002" cy="952455"/>
          </a:xfrm>
          <a:prstGeom prst="curvedConnector3">
            <a:avLst>
              <a:gd name="adj1" fmla="val -1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2"/>
            <a:endCxn id="13" idx="0"/>
          </p:cNvCxnSpPr>
          <p:nvPr/>
        </p:nvCxnSpPr>
        <p:spPr>
          <a:xfrm flipH="1">
            <a:off x="1538888" y="54102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1"/>
            <a:endCxn id="6" idx="3"/>
          </p:cNvCxnSpPr>
          <p:nvPr/>
        </p:nvCxnSpPr>
        <p:spPr>
          <a:xfrm flipH="1" flipV="1">
            <a:off x="2453287" y="38100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7" idx="2"/>
            <a:endCxn id="9" idx="0"/>
          </p:cNvCxnSpPr>
          <p:nvPr/>
        </p:nvCxnSpPr>
        <p:spPr>
          <a:xfrm>
            <a:off x="3199408" y="39624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6" idx="2"/>
            <a:endCxn id="10" idx="1"/>
          </p:cNvCxnSpPr>
          <p:nvPr/>
        </p:nvCxnSpPr>
        <p:spPr>
          <a:xfrm rot="5400000">
            <a:off x="1308429" y="42672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1"/>
            <a:endCxn id="13" idx="3"/>
          </p:cNvCxnSpPr>
          <p:nvPr/>
        </p:nvCxnSpPr>
        <p:spPr>
          <a:xfrm flipH="1">
            <a:off x="1616946" y="53340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2"/>
            <a:endCxn id="29" idx="0"/>
          </p:cNvCxnSpPr>
          <p:nvPr/>
        </p:nvCxnSpPr>
        <p:spPr>
          <a:xfrm>
            <a:off x="2538274" y="54102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912" y="5943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Straight Arrow Connector 29"/>
          <p:cNvCxnSpPr>
            <a:stCxn id="12" idx="1"/>
            <a:endCxn id="15" idx="3"/>
          </p:cNvCxnSpPr>
          <p:nvPr/>
        </p:nvCxnSpPr>
        <p:spPr>
          <a:xfrm flipH="1">
            <a:off x="3140188" y="53340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9" idx="1"/>
            <a:endCxn id="10" idx="3"/>
          </p:cNvCxnSpPr>
          <p:nvPr/>
        </p:nvCxnSpPr>
        <p:spPr>
          <a:xfrm flipH="1">
            <a:off x="1845546" y="4508810"/>
            <a:ext cx="1353102" cy="82519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447800" y="4324144"/>
            <a:ext cx="2178022" cy="1302988"/>
            <a:chOff x="3194807" y="3714544"/>
            <a:chExt cx="2178022" cy="1302988"/>
          </a:xfrm>
        </p:grpSpPr>
        <p:sp>
          <p:nvSpPr>
            <p:cNvPr id="45" name="TextBox 44"/>
            <p:cNvSpPr txBox="1"/>
            <p:nvPr/>
          </p:nvSpPr>
          <p:spPr>
            <a:xfrm>
              <a:off x="5066335" y="371454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194807" y="46482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</a:p>
          </p:txBody>
        </p:sp>
      </p:grpSp>
      <p:sp>
        <p:nvSpPr>
          <p:cNvPr id="32" name="Cloud Callout 31"/>
          <p:cNvSpPr/>
          <p:nvPr/>
        </p:nvSpPr>
        <p:spPr>
          <a:xfrm>
            <a:off x="671373" y="1021536"/>
            <a:ext cx="3733800" cy="1527048"/>
          </a:xfrm>
          <a:prstGeom prst="cloudCallout">
            <a:avLst>
              <a:gd name="adj1" fmla="val -38211"/>
              <a:gd name="adj2" fmla="val 80638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Do you see any relation?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rved Down Ribbon 37"/>
              <p:cNvSpPr/>
              <p:nvPr/>
            </p:nvSpPr>
            <p:spPr>
              <a:xfrm>
                <a:off x="5029200" y="5486400"/>
                <a:ext cx="3276600" cy="914400"/>
              </a:xfrm>
              <a:prstGeom prst="ellipseRibbon">
                <a:avLst>
                  <a:gd name="adj1" fmla="val 25000"/>
                  <a:gd name="adj2" fmla="val 75000"/>
                  <a:gd name="adj3" fmla="val 125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&gt;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always !!</a:t>
                </a:r>
                <a:endParaRPr lang="en-US" dirty="0"/>
              </a:p>
            </p:txBody>
          </p:sp>
        </mc:Choice>
        <mc:Fallback xmlns="">
          <p:sp>
            <p:nvSpPr>
              <p:cNvPr id="38" name="Curved Down Ribbon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486400"/>
                <a:ext cx="3276600" cy="914400"/>
              </a:xfrm>
              <a:prstGeom prst="ellipseRibbon">
                <a:avLst>
                  <a:gd name="adj1" fmla="val 25000"/>
                  <a:gd name="adj2" fmla="val 75000"/>
                  <a:gd name="adj3" fmla="val 12500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553200" y="2718911"/>
                <a:ext cx="1406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718911"/>
                <a:ext cx="140615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3463" t="-8197" r="-64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924467" y="4545568"/>
                <a:ext cx="1383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467" y="4545568"/>
                <a:ext cx="138371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965" t="-8333" r="-66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210431" y="4545568"/>
                <a:ext cx="7489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431" y="4545568"/>
                <a:ext cx="748923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7317" t="-8333" r="-130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943600" y="2709386"/>
                <a:ext cx="737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&lt;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709386"/>
                <a:ext cx="73770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6612" t="-8197" r="-132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loud Callout 41"/>
          <p:cNvSpPr/>
          <p:nvPr/>
        </p:nvSpPr>
        <p:spPr>
          <a:xfrm>
            <a:off x="0" y="990600"/>
            <a:ext cx="4648200" cy="990600"/>
          </a:xfrm>
          <a:prstGeom prst="cloudCallout">
            <a:avLst>
              <a:gd name="adj1" fmla="val -38211"/>
              <a:gd name="adj2" fmla="val 80638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should you focus on ?</a:t>
            </a:r>
          </a:p>
        </p:txBody>
      </p:sp>
      <p:sp>
        <p:nvSpPr>
          <p:cNvPr id="37" name="Down Ribbon 36"/>
          <p:cNvSpPr/>
          <p:nvPr/>
        </p:nvSpPr>
        <p:spPr>
          <a:xfrm>
            <a:off x="381000" y="2209800"/>
            <a:ext cx="1769346" cy="67756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 edge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10200" y="2743200"/>
            <a:ext cx="762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781800" y="2743200"/>
            <a:ext cx="6477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486400" y="4502976"/>
            <a:ext cx="1328252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7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uiExpand="1" build="p"/>
      <p:bldP spid="32" grpId="0" animBg="1"/>
      <p:bldP spid="38" grpId="0" animBg="1"/>
      <p:bldP spid="3" grpId="0"/>
      <p:bldP spid="31" grpId="0"/>
      <p:bldP spid="35" grpId="0"/>
      <p:bldP spid="36" grpId="0"/>
      <p:bldP spid="42" grpId="0" animBg="1"/>
      <p:bldP spid="42" grpId="1" animBg="1"/>
      <p:bldP spid="37" grpId="0" animBg="1"/>
      <p:bldP spid="37" grpId="1" animBg="1"/>
      <p:bldP spid="39" grpId="0" animBg="1"/>
      <p:bldP spid="48" grpId="0" animBg="1"/>
      <p:bldP spid="4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DFS on a DAG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Lemma 4</a:t>
                </a:r>
                <a:r>
                  <a:rPr lang="en-US" sz="2000" b="1" dirty="0"/>
                  <a:t>: </a:t>
                </a:r>
                <a:r>
                  <a:rPr lang="en-US" sz="2000" dirty="0"/>
                  <a:t>For any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,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 &gt;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 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</a:t>
                </a:r>
                <a:r>
                  <a:rPr lang="en-US" sz="2000" dirty="0"/>
                  <a:t> always.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Vertices arranged in decreasing order of their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finish time </a:t>
                </a:r>
                <a:r>
                  <a:rPr lang="en-US" sz="2000" dirty="0"/>
                  <a:t>during DFS </a:t>
                </a:r>
              </a:p>
              <a:p>
                <a:pPr marL="0" indent="0">
                  <a:buNone/>
                </a:pPr>
                <a:r>
                  <a:rPr lang="en-US" sz="2000" dirty="0"/>
                  <a:t>is a valid topological ordering.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371600" y="3581400"/>
            <a:ext cx="5871117" cy="159834"/>
            <a:chOff x="1447800" y="4038600"/>
            <a:chExt cx="5871117" cy="159834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7956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6083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3361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4038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2800" y="40460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2" name="TextBox 81"/>
          <p:cNvSpPr txBox="1"/>
          <p:nvPr/>
        </p:nvSpPr>
        <p:spPr>
          <a:xfrm>
            <a:off x="1371600" y="3212068"/>
            <a:ext cx="614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1        2          3        4       5          6          7         8        9        10      11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47800" y="3714749"/>
            <a:ext cx="5716859" cy="19051"/>
            <a:chOff x="1524000" y="3333749"/>
            <a:chExt cx="5716859" cy="19051"/>
          </a:xfrm>
        </p:grpSpPr>
        <p:cxnSp>
          <p:nvCxnSpPr>
            <p:cNvPr id="43" name="Curved Connector 42"/>
            <p:cNvCxnSpPr/>
            <p:nvPr/>
          </p:nvCxnSpPr>
          <p:spPr>
            <a:xfrm>
              <a:off x="6637609" y="3333749"/>
              <a:ext cx="603250" cy="13784"/>
            </a:xfrm>
            <a:prstGeom prst="curvedConnector4">
              <a:avLst>
                <a:gd name="adj1" fmla="val 1015"/>
                <a:gd name="adj2" fmla="val 248654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/>
            <p:cNvCxnSpPr/>
            <p:nvPr/>
          </p:nvCxnSpPr>
          <p:spPr>
            <a:xfrm rot="16200000" flipH="1">
              <a:off x="4096639" y="3055318"/>
              <a:ext cx="12700" cy="569561"/>
            </a:xfrm>
            <a:prstGeom prst="curvedConnector3">
              <a:avLst>
                <a:gd name="adj1" fmla="val 2678047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/>
            <p:cNvCxnSpPr/>
            <p:nvPr/>
          </p:nvCxnSpPr>
          <p:spPr>
            <a:xfrm rot="16200000" flipH="1">
              <a:off x="4683937" y="2468021"/>
              <a:ext cx="12700" cy="1744156"/>
            </a:xfrm>
            <a:prstGeom prst="curvedConnector3">
              <a:avLst>
                <a:gd name="adj1" fmla="val 6102441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urved Connector 57"/>
            <p:cNvCxnSpPr/>
            <p:nvPr/>
          </p:nvCxnSpPr>
          <p:spPr>
            <a:xfrm rot="16200000" flipH="1">
              <a:off x="2945431" y="3061669"/>
              <a:ext cx="12700" cy="569561"/>
            </a:xfrm>
            <a:prstGeom prst="curvedConnector3">
              <a:avLst>
                <a:gd name="adj1" fmla="val 2678047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urved Connector 58"/>
            <p:cNvCxnSpPr/>
            <p:nvPr/>
          </p:nvCxnSpPr>
          <p:spPr>
            <a:xfrm rot="5400000" flipH="1" flipV="1">
              <a:off x="3541442" y="1934116"/>
              <a:ext cx="7434" cy="2819400"/>
            </a:xfrm>
            <a:prstGeom prst="curvedConnector3">
              <a:avLst>
                <a:gd name="adj1" fmla="val -1102522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urved Connector 62"/>
            <p:cNvCxnSpPr/>
            <p:nvPr/>
          </p:nvCxnSpPr>
          <p:spPr>
            <a:xfrm rot="5400000" flipH="1" flipV="1">
              <a:off x="2665142" y="2200816"/>
              <a:ext cx="7434" cy="2286000"/>
            </a:xfrm>
            <a:prstGeom prst="curvedConnector3">
              <a:avLst>
                <a:gd name="adj1" fmla="val -1117522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/>
            <p:cNvCxnSpPr/>
            <p:nvPr/>
          </p:nvCxnSpPr>
          <p:spPr>
            <a:xfrm rot="16200000" flipH="1">
              <a:off x="6663783" y="2770457"/>
              <a:ext cx="7434" cy="1146717"/>
            </a:xfrm>
            <a:prstGeom prst="curvedConnector3">
              <a:avLst>
                <a:gd name="adj1" fmla="val 8425182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urved Connector 25"/>
            <p:cNvCxnSpPr/>
            <p:nvPr/>
          </p:nvCxnSpPr>
          <p:spPr>
            <a:xfrm rot="16200000" flipH="1">
              <a:off x="2093642" y="2770458"/>
              <a:ext cx="7434" cy="1146717"/>
            </a:xfrm>
            <a:prstGeom prst="curvedConnector3">
              <a:avLst>
                <a:gd name="adj1" fmla="val 5789414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ight Arrow 64"/>
          <p:cNvSpPr/>
          <p:nvPr/>
        </p:nvSpPr>
        <p:spPr>
          <a:xfrm>
            <a:off x="2790513" y="2362200"/>
            <a:ext cx="3229287" cy="8288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Decreasing order of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F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600200" y="1600200"/>
            <a:ext cx="2141809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733800" y="1612612"/>
            <a:ext cx="2141809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3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2" grpId="0"/>
      <p:bldP spid="65" grpId="0" uiExpand="1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7610</TotalTime>
  <Words>1895</Words>
  <Application>Microsoft Macintosh PowerPoint</Application>
  <PresentationFormat>On-screen Show (4:3)</PresentationFormat>
  <Paragraphs>476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Wingdings</vt:lpstr>
      <vt:lpstr>Office Theme</vt:lpstr>
      <vt:lpstr>Design and Analysis of Algorithms CS345  </vt:lpstr>
      <vt:lpstr>A Recapitulation of the last lecture</vt:lpstr>
      <vt:lpstr>DFS from a vertex u </vt:lpstr>
      <vt:lpstr>DFS on the graph </vt:lpstr>
      <vt:lpstr>Relation between  </vt:lpstr>
      <vt:lpstr>Relation between  </vt:lpstr>
      <vt:lpstr>Classification of non-tree edges </vt:lpstr>
      <vt:lpstr>Classification of non-tree edges </vt:lpstr>
      <vt:lpstr>(u,v) is Forward edge</vt:lpstr>
      <vt:lpstr>(u,v) is Backward edge</vt:lpstr>
      <vt:lpstr>(u,v) is Cross edge</vt:lpstr>
      <vt:lpstr>Classification of non-tree edges </vt:lpstr>
      <vt:lpstr>Classification of non-tree edges </vt:lpstr>
      <vt:lpstr>Classification of non-tree edges </vt:lpstr>
      <vt:lpstr>Classification of non-tree edges </vt:lpstr>
      <vt:lpstr>Application - I</vt:lpstr>
      <vt:lpstr>An O(mn) time algorithm</vt:lpstr>
      <vt:lpstr>An O(mn) time algorithm</vt:lpstr>
      <vt:lpstr>An O(mn) time algorithm</vt:lpstr>
      <vt:lpstr>An O(mn) time algorithm</vt:lpstr>
      <vt:lpstr>An O(mn) time algorithm</vt:lpstr>
      <vt:lpstr>How to achieve O(n^2) time algorithm ?</vt:lpstr>
      <vt:lpstr>Let us revisit the O(mn) time algorithm</vt:lpstr>
      <vt:lpstr>Towards an O(n^2) time algorithm … </vt:lpstr>
      <vt:lpstr>Suitably augmenting DFS(v)  </vt:lpstr>
      <vt:lpstr>Application - II</vt:lpstr>
      <vt:lpstr>DFS on a DAG </vt:lpstr>
      <vt:lpstr>DFS on a DAG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426</cp:revision>
  <dcterms:created xsi:type="dcterms:W3CDTF">2011-12-03T04:13:03Z</dcterms:created>
  <dcterms:modified xsi:type="dcterms:W3CDTF">2026-08-19T02:31:52Z</dcterms:modified>
</cp:coreProperties>
</file>