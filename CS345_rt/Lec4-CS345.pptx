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32"/>
  </p:notesMasterIdLst>
  <p:sldIdLst>
    <p:sldId id="274" r:id="rId2"/>
    <p:sldId id="438" r:id="rId3"/>
    <p:sldId id="444" r:id="rId4"/>
    <p:sldId id="445" r:id="rId5"/>
    <p:sldId id="461" r:id="rId6"/>
    <p:sldId id="462" r:id="rId7"/>
    <p:sldId id="463" r:id="rId8"/>
    <p:sldId id="464" r:id="rId9"/>
    <p:sldId id="486" r:id="rId10"/>
    <p:sldId id="465" r:id="rId11"/>
    <p:sldId id="466" r:id="rId12"/>
    <p:sldId id="467" r:id="rId13"/>
    <p:sldId id="468" r:id="rId14"/>
    <p:sldId id="469" r:id="rId15"/>
    <p:sldId id="470" r:id="rId16"/>
    <p:sldId id="471" r:id="rId17"/>
    <p:sldId id="472" r:id="rId18"/>
    <p:sldId id="473" r:id="rId19"/>
    <p:sldId id="474" r:id="rId20"/>
    <p:sldId id="475" r:id="rId21"/>
    <p:sldId id="476" r:id="rId22"/>
    <p:sldId id="477" r:id="rId23"/>
    <p:sldId id="429" r:id="rId24"/>
    <p:sldId id="430" r:id="rId25"/>
    <p:sldId id="431" r:id="rId26"/>
    <p:sldId id="432" r:id="rId27"/>
    <p:sldId id="495" r:id="rId28"/>
    <p:sldId id="496" r:id="rId29"/>
    <p:sldId id="435" r:id="rId30"/>
    <p:sldId id="436" r:id="rId3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C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CE54D1-BC57-AD4C-9E26-6BAA15E1D8D4}" v="2" dt="2026-08-05T02:27:37.7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850" autoAdjust="0"/>
    <p:restoredTop sz="94673" autoAdjust="0"/>
  </p:normalViewPr>
  <p:slideViewPr>
    <p:cSldViewPr>
      <p:cViewPr varScale="1">
        <p:scale>
          <a:sx n="115" d="100"/>
          <a:sy n="115" d="100"/>
        </p:scale>
        <p:origin x="1992" y="2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ghunath Tewari" userId="2638bdda-d406-4938-a2a6-e4e967acb772" providerId="ADAL" clId="{5BB0A526-9D3F-5694-B192-877B52D1FAF9}"/>
    <pc:docChg chg="custSel addSld delSld modSld">
      <pc:chgData name="Raghunath Tewari" userId="2638bdda-d406-4938-a2a6-e4e967acb772" providerId="ADAL" clId="{5BB0A526-9D3F-5694-B192-877B52D1FAF9}" dt="2026-08-05T02:27:37.755" v="11"/>
      <pc:docMkLst>
        <pc:docMk/>
      </pc:docMkLst>
      <pc:sldChg chg="modSp mod">
        <pc:chgData name="Raghunath Tewari" userId="2638bdda-d406-4938-a2a6-e4e967acb772" providerId="ADAL" clId="{5BB0A526-9D3F-5694-B192-877B52D1FAF9}" dt="2026-08-05T02:26:42.044" v="10" actId="27636"/>
        <pc:sldMkLst>
          <pc:docMk/>
          <pc:sldMk cId="0" sldId="274"/>
        </pc:sldMkLst>
        <pc:spChg chg="mod">
          <ac:chgData name="Raghunath Tewari" userId="2638bdda-d406-4938-a2a6-e4e967acb772" providerId="ADAL" clId="{5BB0A526-9D3F-5694-B192-877B52D1FAF9}" dt="2026-08-05T02:26:42.044" v="10" actId="27636"/>
          <ac:spMkLst>
            <pc:docMk/>
            <pc:sldMk cId="0" sldId="274"/>
            <ac:spMk id="3" creationId="{00000000-0000-0000-0000-000000000000}"/>
          </ac:spMkLst>
        </pc:spChg>
      </pc:sldChg>
      <pc:sldChg chg="add">
        <pc:chgData name="Raghunath Tewari" userId="2638bdda-d406-4938-a2a6-e4e967acb772" providerId="ADAL" clId="{5BB0A526-9D3F-5694-B192-877B52D1FAF9}" dt="2026-08-05T02:27:37.755" v="11"/>
        <pc:sldMkLst>
          <pc:docMk/>
          <pc:sldMk cId="287875149" sldId="432"/>
        </pc:sldMkLst>
      </pc:sldChg>
      <pc:sldChg chg="add">
        <pc:chgData name="Raghunath Tewari" userId="2638bdda-d406-4938-a2a6-e4e967acb772" providerId="ADAL" clId="{5BB0A526-9D3F-5694-B192-877B52D1FAF9}" dt="2026-08-05T02:27:37.755" v="11"/>
        <pc:sldMkLst>
          <pc:docMk/>
          <pc:sldMk cId="2704305296" sldId="435"/>
        </pc:sldMkLst>
      </pc:sldChg>
      <pc:sldChg chg="add">
        <pc:chgData name="Raghunath Tewari" userId="2638bdda-d406-4938-a2a6-e4e967acb772" providerId="ADAL" clId="{5BB0A526-9D3F-5694-B192-877B52D1FAF9}" dt="2026-08-05T02:27:37.755" v="11"/>
        <pc:sldMkLst>
          <pc:docMk/>
          <pc:sldMk cId="957242243" sldId="436"/>
        </pc:sldMkLst>
      </pc:sldChg>
      <pc:sldChg chg="add">
        <pc:chgData name="Raghunath Tewari" userId="2638bdda-d406-4938-a2a6-e4e967acb772" providerId="ADAL" clId="{5BB0A526-9D3F-5694-B192-877B52D1FAF9}" dt="2026-08-05T02:27:37.755" v="11"/>
        <pc:sldMkLst>
          <pc:docMk/>
          <pc:sldMk cId="588420432" sldId="495"/>
        </pc:sldMkLst>
      </pc:sldChg>
      <pc:sldChg chg="add">
        <pc:chgData name="Raghunath Tewari" userId="2638bdda-d406-4938-a2a6-e4e967acb772" providerId="ADAL" clId="{5BB0A526-9D3F-5694-B192-877B52D1FAF9}" dt="2026-08-05T02:27:37.755" v="11"/>
        <pc:sldMkLst>
          <pc:docMk/>
          <pc:sldMk cId="670146717" sldId="496"/>
        </pc:sldMkLst>
      </pc:sldChg>
      <pc:sldChg chg="del">
        <pc:chgData name="Raghunath Tewari" userId="2638bdda-d406-4938-a2a6-e4e967acb772" providerId="ADAL" clId="{5BB0A526-9D3F-5694-B192-877B52D1FAF9}" dt="2026-08-04T15:18:52.492" v="6" actId="2696"/>
        <pc:sldMkLst>
          <pc:docMk/>
          <pc:sldMk cId="2468828300" sldId="591"/>
        </pc:sldMkLst>
      </pc:sldChg>
      <pc:sldChg chg="del">
        <pc:chgData name="Raghunath Tewari" userId="2638bdda-d406-4938-a2a6-e4e967acb772" providerId="ADAL" clId="{5BB0A526-9D3F-5694-B192-877B52D1FAF9}" dt="2026-08-04T15:18:52.427" v="5" actId="2696"/>
        <pc:sldMkLst>
          <pc:docMk/>
          <pc:sldMk cId="307850980" sldId="599"/>
        </pc:sldMkLst>
      </pc:sldChg>
      <pc:sldChg chg="del">
        <pc:chgData name="Raghunath Tewari" userId="2638bdda-d406-4938-a2a6-e4e967acb772" providerId="ADAL" clId="{5BB0A526-9D3F-5694-B192-877B52D1FAF9}" dt="2026-08-04T15:18:52.384" v="4" actId="2696"/>
        <pc:sldMkLst>
          <pc:docMk/>
          <pc:sldMk cId="2800110366" sldId="600"/>
        </pc:sldMkLst>
      </pc:sldChg>
      <pc:sldChg chg="del">
        <pc:chgData name="Raghunath Tewari" userId="2638bdda-d406-4938-a2a6-e4e967acb772" providerId="ADAL" clId="{5BB0A526-9D3F-5694-B192-877B52D1FAF9}" dt="2026-08-04T15:18:52.348" v="3" actId="2696"/>
        <pc:sldMkLst>
          <pc:docMk/>
          <pc:sldMk cId="3893733590" sldId="601"/>
        </pc:sldMkLst>
      </pc:sldChg>
      <pc:sldChg chg="del">
        <pc:chgData name="Raghunath Tewari" userId="2638bdda-d406-4938-a2a6-e4e967acb772" providerId="ADAL" clId="{5BB0A526-9D3F-5694-B192-877B52D1FAF9}" dt="2026-08-04T15:18:52.297" v="2" actId="2696"/>
        <pc:sldMkLst>
          <pc:docMk/>
          <pc:sldMk cId="2285108472" sldId="602"/>
        </pc:sldMkLst>
      </pc:sldChg>
      <pc:sldChg chg="del">
        <pc:chgData name="Raghunath Tewari" userId="2638bdda-d406-4938-a2a6-e4e967acb772" providerId="ADAL" clId="{5BB0A526-9D3F-5694-B192-877B52D1FAF9}" dt="2026-08-04T15:18:52.244" v="1" actId="2696"/>
        <pc:sldMkLst>
          <pc:docMk/>
          <pc:sldMk cId="2653121265" sldId="604"/>
        </pc:sldMkLst>
      </pc:sldChg>
      <pc:sldChg chg="del">
        <pc:chgData name="Raghunath Tewari" userId="2638bdda-d406-4938-a2a6-e4e967acb772" providerId="ADAL" clId="{5BB0A526-9D3F-5694-B192-877B52D1FAF9}" dt="2026-08-04T15:18:52.579" v="7" actId="2696"/>
        <pc:sldMkLst>
          <pc:docMk/>
          <pc:sldMk cId="872774550" sldId="617"/>
        </pc:sldMkLst>
      </pc:sldChg>
      <pc:sldChg chg="del">
        <pc:chgData name="Raghunath Tewari" userId="2638bdda-d406-4938-a2a6-e4e967acb772" providerId="ADAL" clId="{5BB0A526-9D3F-5694-B192-877B52D1FAF9}" dt="2026-08-04T15:18:52.170" v="0" actId="2696"/>
        <pc:sldMkLst>
          <pc:docMk/>
          <pc:sldMk cId="2674792499" sldId="631"/>
        </pc:sldMkLst>
      </pc:sldChg>
      <pc:sldChg chg="del">
        <pc:chgData name="Raghunath Tewari" userId="2638bdda-d406-4938-a2a6-e4e967acb772" providerId="ADAL" clId="{5BB0A526-9D3F-5694-B192-877B52D1FAF9}" dt="2026-08-04T15:18:52.580" v="8" actId="2696"/>
        <pc:sldMkLst>
          <pc:docMk/>
          <pc:sldMk cId="2035743683" sldId="63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2AA3A7DB-FD4B-4A56-961D-EE92B832D86A}" type="datetimeFigureOut">
              <a:rPr lang="en-US"/>
              <a:pPr>
                <a:defRPr/>
              </a:pPr>
              <a:t>8/5/26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428B6ACE-7DA9-451D-B4FE-F8D8CCE413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42846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1E3B87-0EAF-4D3F-A8FE-4D644E3BA938}" type="datetime1">
              <a:rPr lang="en-US"/>
              <a:pPr>
                <a:defRPr/>
              </a:pPr>
              <a:t>8/5/26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177C87-4399-4169-8EAA-A2FF838D2D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21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E9C23F-070E-4955-A2E9-D262826D12BE}" type="datetime1">
              <a:rPr lang="en-US"/>
              <a:pPr>
                <a:defRPr/>
              </a:pPr>
              <a:t>8/5/26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7D3F34-CCFE-4664-990B-25D48250FF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037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11857-66C0-437E-ACBA-BF7BCE55233B}" type="datetime1">
              <a:rPr lang="en-US"/>
              <a:pPr>
                <a:defRPr/>
              </a:pPr>
              <a:t>8/5/26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2E9ED8-BBDD-47A1-9C62-8C7F2ACFBD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137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57FB79-49E0-495C-87BE-B2A1C6E0B2F0}" type="datetime1">
              <a:rPr lang="en-US"/>
              <a:pPr>
                <a:defRPr/>
              </a:pPr>
              <a:t>8/5/26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327573-F1C1-4830-B7EC-9EBDAFC3F1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853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E181FA-412A-4421-9246-D21324FE2C44}" type="datetime1">
              <a:rPr lang="en-US"/>
              <a:pPr>
                <a:defRPr/>
              </a:pPr>
              <a:t>8/5/26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8461BB-7A72-48FB-85BD-B2543F1982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119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86A6B7-3376-42F2-8702-2D1FCF5FB182}" type="datetime1">
              <a:rPr lang="en-US"/>
              <a:pPr>
                <a:defRPr/>
              </a:pPr>
              <a:t>8/5/26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696056-B04C-48AB-8C53-BBF1FF11CC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422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036330-39E0-4348-93D8-084D75D931AB}" type="datetime1">
              <a:rPr lang="en-US"/>
              <a:pPr>
                <a:defRPr/>
              </a:pPr>
              <a:t>8/5/26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A7131A-5F98-4DE9-B58E-5AC46F8F2B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88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EE380A-2B94-4740-AAA2-00B55E91136B}" type="datetime1">
              <a:rPr lang="en-US"/>
              <a:pPr>
                <a:defRPr/>
              </a:pPr>
              <a:t>8/5/26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2E9EF9-6F51-43C7-88C5-01DDD3A549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50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21CF8B-C8E2-441C-9E33-F2F799897A47}" type="datetime1">
              <a:rPr lang="en-US"/>
              <a:pPr>
                <a:defRPr/>
              </a:pPr>
              <a:t>8/5/26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04CFE0-7502-4E07-8F32-3833EEC262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51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11F363-266E-4B39-9664-0E5F96917999}" type="datetime1">
              <a:rPr lang="en-US"/>
              <a:pPr>
                <a:defRPr/>
              </a:pPr>
              <a:t>8/5/26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F8759C-6D63-4A5B-8A92-29BD5C9DCC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374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A32EBB-5C32-49A2-ADCD-F3C86202F8FA}" type="datetime1">
              <a:rPr lang="en-US"/>
              <a:pPr>
                <a:defRPr/>
              </a:pPr>
              <a:t>8/5/26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4E1702-FB5B-4ADB-8DA9-1EFEE2FCFD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828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224DF6E-159B-4851-B8CD-5F6A63451708}" type="datetime1">
              <a:rPr lang="en-US"/>
              <a:pPr>
                <a:defRPr/>
              </a:pPr>
              <a:t>8/5/26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3B7F3E5-79B2-43C4-81B5-7811AF1609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1981200"/>
            <a:ext cx="8382000" cy="146685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 and Analysis of Algorithms</a:t>
            </a:r>
            <a:br>
              <a:rPr 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700">
                <a:solidFill>
                  <a:srgbClr val="002060"/>
                </a:solidFill>
              </a:rPr>
              <a:t>CS345</a:t>
            </a:r>
            <a:r>
              <a:rPr lang="en-US" sz="3200" b="1">
                <a:solidFill>
                  <a:srgbClr val="C00000"/>
                </a:solidFill>
              </a:rPr>
              <a:t> 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572000"/>
            <a:ext cx="7391400" cy="1371600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400" b="1" dirty="0">
                <a:solidFill>
                  <a:srgbClr val="C00000"/>
                </a:solidFill>
              </a:rPr>
              <a:t>Lecture 4</a:t>
            </a:r>
          </a:p>
          <a:p>
            <a:pPr algn="l" fontAlgn="auto">
              <a:spcAft>
                <a:spcPts val="0"/>
              </a:spcAft>
              <a:defRPr/>
            </a:pPr>
            <a:r>
              <a:rPr lang="en-US" sz="2000" b="1" dirty="0">
                <a:solidFill>
                  <a:srgbClr val="7030A0"/>
                </a:solidFill>
              </a:rPr>
              <a:t>Data Structures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  <a:r>
              <a:rPr lang="en-US" sz="1800" b="1" dirty="0">
                <a:solidFill>
                  <a:schemeClr val="tx1"/>
                </a:solidFill>
              </a:rPr>
              <a:t>:</a:t>
            </a:r>
          </a:p>
          <a:p>
            <a:pPr algn="l" fontAlgn="auto">
              <a:spcAft>
                <a:spcPts val="0"/>
              </a:spcAft>
              <a:defRPr/>
            </a:pPr>
            <a:r>
              <a:rPr lang="en-US" sz="1800" b="1" dirty="0">
                <a:solidFill>
                  <a:schemeClr val="tx1"/>
                </a:solidFill>
              </a:rPr>
              <a:t>	 The power of </a:t>
            </a:r>
            <a:r>
              <a:rPr lang="en-US" sz="1800" b="1" dirty="0">
                <a:solidFill>
                  <a:srgbClr val="006C31"/>
                </a:solidFill>
              </a:rPr>
              <a:t>Binary Search Tree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6F4FD3-5535-4BD2-8147-A67FFD5F22D1}" type="slidenum">
              <a:rPr lang="en-US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22313" y="2371725"/>
            <a:ext cx="7772400" cy="1362075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Revisiting 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dirty="0">
                <a:solidFill>
                  <a:srgbClr val="7030A0"/>
                </a:solidFill>
              </a:rPr>
              <a:t>Binary Search Tree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722313" y="4062413"/>
            <a:ext cx="7772400" cy="1500187"/>
          </a:xfrm>
        </p:spPr>
        <p:txBody>
          <a:bodyPr/>
          <a:lstStyle/>
          <a:p>
            <a:pPr algn="ctr"/>
            <a:br>
              <a:rPr lang="en-US" dirty="0">
                <a:solidFill>
                  <a:srgbClr val="7030A0"/>
                </a:solidFill>
              </a:rPr>
            </a:b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094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sz="3200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990600"/>
                <a:ext cx="8229600" cy="5135563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sz="18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18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18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18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18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18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18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18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18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18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18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18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18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18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18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C00000"/>
                    </a:solidFill>
                  </a:rPr>
                  <a:t>Problem </a:t>
                </a:r>
                <a:r>
                  <a:rPr lang="en-US" sz="1800" dirty="0"/>
                  <a:t>: Given a set of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800" dirty="0"/>
                  <a:t>chords in a circle, </a:t>
                </a:r>
              </a:p>
              <a:p>
                <a:pPr marL="0" indent="0">
                  <a:buNone/>
                </a:pPr>
                <a:r>
                  <a:rPr lang="en-US" sz="1800" dirty="0"/>
                  <a:t>                   Count the number of their intersections.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990600"/>
                <a:ext cx="8229600" cy="5135563"/>
              </a:xfrm>
              <a:blipFill rotWithShape="1">
                <a:blip r:embed="rId2"/>
                <a:stretch>
                  <a:fillRect l="-593" t="-594" b="-115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2895600" y="1981200"/>
            <a:ext cx="3048000" cy="304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/>
          <p:cNvCxnSpPr>
            <a:stCxn id="15" idx="2"/>
          </p:cNvCxnSpPr>
          <p:nvPr/>
        </p:nvCxnSpPr>
        <p:spPr>
          <a:xfrm>
            <a:off x="2895600" y="3505200"/>
            <a:ext cx="1981200" cy="14478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3048000" y="3276600"/>
            <a:ext cx="2895600" cy="8382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V="1">
            <a:off x="4267200" y="4419600"/>
            <a:ext cx="1371600" cy="6096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endCxn id="15" idx="0"/>
          </p:cNvCxnSpPr>
          <p:nvPr/>
        </p:nvCxnSpPr>
        <p:spPr>
          <a:xfrm flipH="1" flipV="1">
            <a:off x="4419600" y="1981200"/>
            <a:ext cx="685800" cy="28956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V="1">
            <a:off x="3429000" y="2057400"/>
            <a:ext cx="1447800" cy="25908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endCxn id="15" idx="6"/>
          </p:cNvCxnSpPr>
          <p:nvPr/>
        </p:nvCxnSpPr>
        <p:spPr>
          <a:xfrm flipV="1">
            <a:off x="5791200" y="3505200"/>
            <a:ext cx="152400" cy="6477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2971800" y="2362200"/>
            <a:ext cx="457200" cy="1524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H="1" flipV="1">
            <a:off x="4648200" y="1981200"/>
            <a:ext cx="1143000" cy="914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flipH="1" flipV="1">
            <a:off x="3124200" y="2667000"/>
            <a:ext cx="2819400" cy="11620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6407694" y="6062246"/>
                <a:ext cx="1059906" cy="338554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/>
                  <a:t>O</a:t>
                </a:r>
                <a:r>
                  <a:rPr lang="en-US" sz="1600" dirty="0"/>
                  <a:t>(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1600" dirty="0"/>
                  <a:t> log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1600" dirty="0"/>
                  <a:t>)</a:t>
                </a:r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7694" y="6062246"/>
                <a:ext cx="1059906" cy="338554"/>
              </a:xfrm>
              <a:prstGeom prst="rect">
                <a:avLst/>
              </a:prstGeom>
              <a:blipFill rotWithShape="1">
                <a:blip r:embed="rId3"/>
                <a:stretch>
                  <a:fillRect l="-2273" t="-3448" r="-6250" b="-1896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9707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25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25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5" grpId="0" animBg="1"/>
      <p:bldP spid="5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Surprising </a:t>
            </a:r>
            <a:r>
              <a:rPr lang="en-US" sz="3200" b="1" dirty="0"/>
              <a:t>applications of data structures</a:t>
            </a:r>
            <a:br>
              <a:rPr lang="en-US" sz="3600" b="1" dirty="0"/>
            </a:br>
            <a:endParaRPr lang="en-US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95400"/>
                <a:ext cx="8229600" cy="4830763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Problem</a:t>
                </a:r>
                <a:r>
                  <a:rPr lang="en-US" sz="2000" dirty="0"/>
                  <a:t>: Given a set of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axis-parallel rectangles,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 determine if any two of them intersect.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95400"/>
                <a:ext cx="8229600" cy="4830763"/>
              </a:xfrm>
              <a:blipFill rotWithShape="1">
                <a:blip r:embed="rId2"/>
                <a:stretch>
                  <a:fillRect l="-741" t="-631" b="-228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657600" y="3200400"/>
            <a:ext cx="914400" cy="9144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876800" y="4648200"/>
            <a:ext cx="1295400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048000" y="3429000"/>
            <a:ext cx="762000" cy="1524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553200" y="1905000"/>
            <a:ext cx="762000" cy="1524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838200" y="2438400"/>
            <a:ext cx="2438400" cy="1524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800600" y="2209800"/>
            <a:ext cx="1219200" cy="1371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219200" y="3810000"/>
            <a:ext cx="762000" cy="1524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828800" y="4648200"/>
            <a:ext cx="1371600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5867400" y="3276600"/>
            <a:ext cx="914400" cy="457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5486400" y="3200400"/>
            <a:ext cx="838200" cy="1143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407694" y="6062246"/>
                <a:ext cx="1059906" cy="338554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sz="1600" b="1" dirty="0"/>
                  <a:t>O</a:t>
                </a:r>
                <a:r>
                  <a:rPr lang="en-US" sz="1600" dirty="0"/>
                  <a:t>(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1600" dirty="0"/>
                  <a:t> log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1600" dirty="0"/>
                  <a:t>)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7694" y="6062246"/>
                <a:ext cx="1059906" cy="338554"/>
              </a:xfrm>
              <a:prstGeom prst="rect">
                <a:avLst/>
              </a:prstGeom>
              <a:blipFill rotWithShape="1">
                <a:blip r:embed="rId3"/>
                <a:stretch>
                  <a:fillRect l="-2273" t="-3448" r="-6250" b="-1896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2973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25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25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C00000"/>
                </a:solidFill>
              </a:rPr>
              <a:t>Red</a:t>
            </a:r>
            <a:r>
              <a:rPr lang="en-US" sz="3200" b="1" dirty="0">
                <a:solidFill>
                  <a:srgbClr val="7030A0"/>
                </a:solidFill>
              </a:rPr>
              <a:t> </a:t>
            </a:r>
            <a:r>
              <a:rPr lang="en-US" sz="3200" b="1" dirty="0"/>
              <a:t>Black</a:t>
            </a:r>
            <a:r>
              <a:rPr lang="en-US" sz="3200" b="1" dirty="0">
                <a:solidFill>
                  <a:srgbClr val="7030A0"/>
                </a:solidFill>
              </a:rPr>
              <a:t> </a:t>
            </a:r>
            <a:r>
              <a:rPr lang="en-US" sz="3200" b="1" dirty="0">
                <a:solidFill>
                  <a:srgbClr val="006C31"/>
                </a:solidFill>
              </a:rPr>
              <a:t>tree </a:t>
            </a:r>
            <a:br>
              <a:rPr lang="en-US" sz="3200" b="1" dirty="0">
                <a:solidFill>
                  <a:srgbClr val="006C31"/>
                </a:solidFill>
              </a:rPr>
            </a:br>
            <a:r>
              <a:rPr lang="en-US" sz="2400" dirty="0"/>
              <a:t>(</a:t>
            </a:r>
            <a:r>
              <a:rPr lang="en-US" sz="2400" b="1" dirty="0">
                <a:solidFill>
                  <a:srgbClr val="7030A0"/>
                </a:solidFill>
              </a:rPr>
              <a:t>Height Balanced BST</a:t>
            </a:r>
            <a:r>
              <a:rPr lang="en-US" sz="2400" dirty="0"/>
              <a:t>)</a:t>
            </a:r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Operations you already know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sz="1800" b="1" dirty="0">
                <a:solidFill>
                  <a:srgbClr val="002060"/>
                </a:solidFill>
              </a:rPr>
              <a:t>Search</a:t>
            </a:r>
            <a:r>
              <a:rPr lang="en-US" sz="1800" dirty="0"/>
              <a:t>(</a:t>
            </a:r>
            <a:r>
              <a:rPr lang="en-US" sz="1800" b="1" dirty="0" err="1">
                <a:solidFill>
                  <a:srgbClr val="0070C0"/>
                </a:solidFill>
              </a:rPr>
              <a:t>T</a:t>
            </a:r>
            <a:r>
              <a:rPr lang="en-US" sz="1800" dirty="0" err="1"/>
              <a:t>,</a:t>
            </a:r>
            <a:r>
              <a:rPr lang="en-US" sz="1800" b="1" dirty="0" err="1"/>
              <a:t>x</a:t>
            </a:r>
            <a:r>
              <a:rPr lang="en-US" sz="1800" dirty="0"/>
              <a:t>)</a:t>
            </a:r>
          </a:p>
          <a:p>
            <a:pPr>
              <a:buFont typeface="+mj-lt"/>
              <a:buAutoNum type="arabicPeriod"/>
            </a:pPr>
            <a:r>
              <a:rPr lang="en-US" sz="1800" b="1" dirty="0">
                <a:solidFill>
                  <a:srgbClr val="002060"/>
                </a:solidFill>
              </a:rPr>
              <a:t>Insert</a:t>
            </a:r>
            <a:r>
              <a:rPr lang="en-US" sz="1800" dirty="0"/>
              <a:t>(</a:t>
            </a:r>
            <a:r>
              <a:rPr lang="en-US" sz="1800" b="1" dirty="0" err="1">
                <a:solidFill>
                  <a:srgbClr val="0070C0"/>
                </a:solidFill>
              </a:rPr>
              <a:t>T</a:t>
            </a:r>
            <a:r>
              <a:rPr lang="en-US" sz="1800" dirty="0" err="1"/>
              <a:t>,</a:t>
            </a:r>
            <a:r>
              <a:rPr lang="en-US" sz="1800" b="1" dirty="0" err="1"/>
              <a:t>x</a:t>
            </a:r>
            <a:r>
              <a:rPr lang="en-US" sz="1800" dirty="0"/>
              <a:t>)</a:t>
            </a:r>
          </a:p>
          <a:p>
            <a:pPr>
              <a:buFont typeface="+mj-lt"/>
              <a:buAutoNum type="arabicPeriod"/>
            </a:pPr>
            <a:r>
              <a:rPr lang="en-US" sz="1800" b="1" dirty="0">
                <a:solidFill>
                  <a:srgbClr val="002060"/>
                </a:solidFill>
              </a:rPr>
              <a:t>Delete</a:t>
            </a:r>
            <a:r>
              <a:rPr lang="en-US" sz="1800" dirty="0"/>
              <a:t>(</a:t>
            </a:r>
            <a:r>
              <a:rPr lang="en-US" sz="1800" b="1" dirty="0" err="1">
                <a:solidFill>
                  <a:srgbClr val="0070C0"/>
                </a:solidFill>
              </a:rPr>
              <a:t>T</a:t>
            </a:r>
            <a:r>
              <a:rPr lang="en-US" sz="1800" dirty="0" err="1"/>
              <a:t>,</a:t>
            </a:r>
            <a:r>
              <a:rPr lang="en-US" sz="1800" b="1" dirty="0" err="1"/>
              <a:t>x</a:t>
            </a:r>
            <a:r>
              <a:rPr lang="en-US" sz="1800" dirty="0"/>
              <a:t>)</a:t>
            </a:r>
          </a:p>
          <a:p>
            <a:pPr>
              <a:buFont typeface="+mj-lt"/>
              <a:buAutoNum type="arabicPeriod"/>
            </a:pPr>
            <a:r>
              <a:rPr lang="en-US" sz="1800" b="1" dirty="0">
                <a:solidFill>
                  <a:srgbClr val="002060"/>
                </a:solidFill>
              </a:rPr>
              <a:t>Min</a:t>
            </a:r>
            <a:r>
              <a:rPr lang="en-US" sz="1800" dirty="0"/>
              <a:t>(</a:t>
            </a:r>
            <a:r>
              <a:rPr lang="en-US" sz="1800" b="1" dirty="0">
                <a:solidFill>
                  <a:srgbClr val="0070C0"/>
                </a:solidFill>
              </a:rPr>
              <a:t>T</a:t>
            </a:r>
            <a:r>
              <a:rPr lang="en-US" sz="1800" dirty="0"/>
              <a:t>)</a:t>
            </a:r>
          </a:p>
          <a:p>
            <a:pPr>
              <a:buFont typeface="+mj-lt"/>
              <a:buAutoNum type="arabicPeriod"/>
            </a:pPr>
            <a:r>
              <a:rPr lang="en-US" sz="1800" b="1" dirty="0">
                <a:solidFill>
                  <a:srgbClr val="002060"/>
                </a:solidFill>
              </a:rPr>
              <a:t>Max</a:t>
            </a:r>
            <a:r>
              <a:rPr lang="en-US" sz="1800" dirty="0"/>
              <a:t>(</a:t>
            </a:r>
            <a:r>
              <a:rPr lang="en-US" sz="1800" b="1" dirty="0">
                <a:solidFill>
                  <a:srgbClr val="0070C0"/>
                </a:solidFill>
              </a:rPr>
              <a:t>T</a:t>
            </a:r>
            <a:r>
              <a:rPr lang="en-US" sz="1800" dirty="0"/>
              <a:t>)</a:t>
            </a:r>
          </a:p>
          <a:p>
            <a:pPr>
              <a:buFont typeface="+mj-lt"/>
              <a:buAutoNum type="arabicPeriod"/>
            </a:pPr>
            <a:r>
              <a:rPr lang="en-US" sz="1800" b="1" dirty="0">
                <a:solidFill>
                  <a:srgbClr val="002060"/>
                </a:solidFill>
              </a:rPr>
              <a:t>Predecessor</a:t>
            </a:r>
            <a:r>
              <a:rPr lang="en-US" sz="1800" dirty="0"/>
              <a:t>(</a:t>
            </a:r>
            <a:r>
              <a:rPr lang="en-US" sz="1800" b="1" dirty="0" err="1">
                <a:solidFill>
                  <a:srgbClr val="0070C0"/>
                </a:solidFill>
              </a:rPr>
              <a:t>T</a:t>
            </a:r>
            <a:r>
              <a:rPr lang="en-US" sz="1800" dirty="0" err="1"/>
              <a:t>,</a:t>
            </a:r>
            <a:r>
              <a:rPr lang="en-US" sz="1800" b="1" dirty="0" err="1"/>
              <a:t>x</a:t>
            </a:r>
            <a:r>
              <a:rPr lang="en-US" sz="1800" dirty="0"/>
              <a:t>)</a:t>
            </a:r>
          </a:p>
          <a:p>
            <a:pPr>
              <a:buFont typeface="+mj-lt"/>
              <a:buAutoNum type="arabicPeriod"/>
            </a:pPr>
            <a:r>
              <a:rPr lang="en-US" sz="1800" b="1" dirty="0">
                <a:solidFill>
                  <a:srgbClr val="002060"/>
                </a:solidFill>
              </a:rPr>
              <a:t>Successor</a:t>
            </a:r>
            <a:r>
              <a:rPr lang="en-US" sz="1800" dirty="0"/>
              <a:t>(</a:t>
            </a:r>
            <a:r>
              <a:rPr lang="en-US" sz="1800" b="1" dirty="0" err="1">
                <a:solidFill>
                  <a:srgbClr val="0070C0"/>
                </a:solidFill>
              </a:rPr>
              <a:t>T</a:t>
            </a:r>
            <a:r>
              <a:rPr lang="en-US" sz="1800" dirty="0" err="1"/>
              <a:t>,</a:t>
            </a:r>
            <a:r>
              <a:rPr lang="en-US" sz="1800" b="1" dirty="0" err="1"/>
              <a:t>x</a:t>
            </a:r>
            <a:r>
              <a:rPr lang="en-US" sz="1800" dirty="0"/>
              <a:t>)</a:t>
            </a:r>
          </a:p>
          <a:p>
            <a:pPr>
              <a:buFont typeface="+mj-lt"/>
              <a:buAutoNum type="arabicPeriod"/>
            </a:pP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C00000"/>
                </a:solidFill>
              </a:rPr>
              <a:t>A  NOTATION</a:t>
            </a:r>
            <a:endParaRPr lang="en-US" sz="2000" b="1" dirty="0"/>
          </a:p>
          <a:p>
            <a:pPr marL="0" indent="0">
              <a:buNone/>
            </a:pPr>
            <a:r>
              <a:rPr lang="en-US" sz="1800" b="1" dirty="0">
                <a:solidFill>
                  <a:srgbClr val="0070C0"/>
                </a:solidFill>
              </a:rPr>
              <a:t>T </a:t>
            </a:r>
            <a:r>
              <a:rPr lang="en-US" sz="1800" b="1" dirty="0"/>
              <a:t>&lt;</a:t>
            </a:r>
            <a:r>
              <a:rPr lang="en-US" sz="1800" b="1" dirty="0">
                <a:solidFill>
                  <a:srgbClr val="0070C0"/>
                </a:solidFill>
              </a:rPr>
              <a:t> T’ </a:t>
            </a:r>
            <a:r>
              <a:rPr lang="en-US" sz="1800" b="1" dirty="0"/>
              <a:t>:</a:t>
            </a:r>
          </a:p>
          <a:p>
            <a:pPr marL="0" indent="0">
              <a:buNone/>
            </a:pPr>
            <a:r>
              <a:rPr lang="en-US" sz="1600" dirty="0"/>
              <a:t>every element of </a:t>
            </a:r>
            <a:r>
              <a:rPr lang="en-US" sz="1600" b="1" dirty="0">
                <a:solidFill>
                  <a:srgbClr val="0070C0"/>
                </a:solidFill>
              </a:rPr>
              <a:t>T</a:t>
            </a:r>
            <a:r>
              <a:rPr lang="en-US" sz="1600" dirty="0"/>
              <a:t> is </a:t>
            </a:r>
            <a:r>
              <a:rPr lang="en-US" sz="1600" u="sng" dirty="0"/>
              <a:t>smaller</a:t>
            </a:r>
            <a:r>
              <a:rPr lang="en-US" sz="1600" dirty="0"/>
              <a:t> than every </a:t>
            </a:r>
          </a:p>
          <a:p>
            <a:pPr marL="0" indent="0">
              <a:buNone/>
            </a:pPr>
            <a:r>
              <a:rPr lang="en-US" sz="1600" dirty="0"/>
              <a:t>element of </a:t>
            </a:r>
            <a:r>
              <a:rPr lang="en-US" sz="1600" b="1" dirty="0">
                <a:solidFill>
                  <a:srgbClr val="0070C0"/>
                </a:solidFill>
              </a:rPr>
              <a:t>T’</a:t>
            </a:r>
            <a:r>
              <a:rPr lang="en-US" sz="1600" dirty="0"/>
              <a:t>.</a:t>
            </a:r>
          </a:p>
          <a:p>
            <a:pPr>
              <a:buFont typeface="+mj-lt"/>
              <a:buAutoNum type="arabicPeriod"/>
            </a:pPr>
            <a:endParaRPr lang="en-US" sz="1800" dirty="0"/>
          </a:p>
          <a:p>
            <a:pPr>
              <a:buFont typeface="+mj-lt"/>
              <a:buAutoNum type="arabicPeriod"/>
            </a:pPr>
            <a:endParaRPr lang="en-US" sz="1800" dirty="0"/>
          </a:p>
          <a:p>
            <a:pPr>
              <a:buFont typeface="+mj-lt"/>
              <a:buAutoNum type="arabicPeriod"/>
            </a:pPr>
            <a:endParaRPr lang="en-US" sz="1800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498975" cy="3951288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>
                <a:solidFill>
                  <a:srgbClr val="002060"/>
                </a:solidFill>
              </a:rPr>
              <a:t>8.    </a:t>
            </a:r>
            <a:r>
              <a:rPr lang="en-US" sz="1800" b="1" dirty="0" err="1">
                <a:solidFill>
                  <a:srgbClr val="002060"/>
                </a:solidFill>
              </a:rPr>
              <a:t>SpecialUnion</a:t>
            </a:r>
            <a:r>
              <a:rPr lang="en-US" sz="1800" dirty="0"/>
              <a:t>(</a:t>
            </a:r>
            <a:r>
              <a:rPr lang="en-US" sz="1800" b="1" dirty="0">
                <a:solidFill>
                  <a:srgbClr val="0070C0"/>
                </a:solidFill>
              </a:rPr>
              <a:t>T</a:t>
            </a:r>
            <a:r>
              <a:rPr lang="en-US" sz="1800" b="1" dirty="0"/>
              <a:t>,</a:t>
            </a:r>
            <a:r>
              <a:rPr lang="en-US" sz="1800" b="1" dirty="0">
                <a:solidFill>
                  <a:srgbClr val="0070C0"/>
                </a:solidFill>
              </a:rPr>
              <a:t> T’</a:t>
            </a:r>
            <a:r>
              <a:rPr lang="en-US" sz="1800" dirty="0"/>
              <a:t>): </a:t>
            </a:r>
          </a:p>
          <a:p>
            <a:pPr marL="0" indent="0">
              <a:buNone/>
            </a:pPr>
            <a:r>
              <a:rPr lang="en-US" sz="1800" dirty="0"/>
              <a:t>Given </a:t>
            </a:r>
            <a:r>
              <a:rPr lang="en-US" sz="1800" b="1" dirty="0">
                <a:solidFill>
                  <a:srgbClr val="0070C0"/>
                </a:solidFill>
              </a:rPr>
              <a:t>T</a:t>
            </a:r>
            <a:r>
              <a:rPr lang="en-US" sz="1800" dirty="0"/>
              <a:t> and </a:t>
            </a:r>
            <a:r>
              <a:rPr lang="en-US" sz="1800" b="1" dirty="0">
                <a:solidFill>
                  <a:srgbClr val="0070C0"/>
                </a:solidFill>
              </a:rPr>
              <a:t>T’</a:t>
            </a:r>
            <a:r>
              <a:rPr lang="en-US" sz="1800" dirty="0"/>
              <a:t> such that </a:t>
            </a:r>
            <a:r>
              <a:rPr lang="en-US" sz="1800" b="1" dirty="0">
                <a:solidFill>
                  <a:srgbClr val="0070C0"/>
                </a:solidFill>
              </a:rPr>
              <a:t>T </a:t>
            </a:r>
            <a:r>
              <a:rPr lang="en-US" sz="1800" b="1" dirty="0"/>
              <a:t>&lt;</a:t>
            </a:r>
            <a:r>
              <a:rPr lang="en-US" sz="1800" b="1" dirty="0">
                <a:solidFill>
                  <a:srgbClr val="0070C0"/>
                </a:solidFill>
              </a:rPr>
              <a:t> T’</a:t>
            </a:r>
            <a:r>
              <a:rPr lang="en-US" sz="1800" dirty="0"/>
              <a:t>, </a:t>
            </a:r>
          </a:p>
          <a:p>
            <a:pPr marL="0" indent="0">
              <a:buNone/>
            </a:pPr>
            <a:r>
              <a:rPr lang="en-US" sz="1800" dirty="0"/>
              <a:t>compute </a:t>
            </a:r>
            <a:r>
              <a:rPr lang="en-US" sz="1800" b="1" dirty="0">
                <a:solidFill>
                  <a:srgbClr val="0070C0"/>
                </a:solidFill>
              </a:rPr>
              <a:t>T*</a:t>
            </a:r>
            <a:r>
              <a:rPr lang="en-US" sz="1800" dirty="0"/>
              <a:t>=</a:t>
            </a:r>
            <a:r>
              <a:rPr lang="en-US" sz="1800" b="1" dirty="0">
                <a:solidFill>
                  <a:srgbClr val="0070C0"/>
                </a:solidFill>
              </a:rPr>
              <a:t>T</a:t>
            </a:r>
            <a:r>
              <a:rPr lang="en-US" sz="2000" b="1" dirty="0"/>
              <a:t>U</a:t>
            </a:r>
            <a:r>
              <a:rPr lang="en-US" sz="1800" b="1" dirty="0">
                <a:solidFill>
                  <a:srgbClr val="0070C0"/>
                </a:solidFill>
              </a:rPr>
              <a:t>T’</a:t>
            </a:r>
            <a:r>
              <a:rPr lang="en-US" sz="1800" dirty="0"/>
              <a:t>.</a:t>
            </a:r>
            <a:r>
              <a:rPr lang="en-US" sz="1800" b="1" dirty="0">
                <a:solidFill>
                  <a:srgbClr val="0070C0"/>
                </a:solidFill>
              </a:rPr>
              <a:t> </a:t>
            </a:r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r>
              <a:rPr lang="en-US" sz="1800" b="1" dirty="0"/>
              <a:t>NOTE: </a:t>
            </a:r>
            <a:r>
              <a:rPr lang="en-US" sz="1800" dirty="0"/>
              <a:t> </a:t>
            </a:r>
            <a:r>
              <a:rPr lang="en-US" sz="1800" b="1" dirty="0">
                <a:solidFill>
                  <a:srgbClr val="0070C0"/>
                </a:solidFill>
              </a:rPr>
              <a:t>T </a:t>
            </a:r>
            <a:r>
              <a:rPr lang="en-US" sz="1800" dirty="0"/>
              <a:t>and </a:t>
            </a:r>
            <a:r>
              <a:rPr lang="en-US" sz="1800" b="1" dirty="0">
                <a:solidFill>
                  <a:srgbClr val="0070C0"/>
                </a:solidFill>
              </a:rPr>
              <a:t>T’ </a:t>
            </a:r>
            <a:r>
              <a:rPr lang="en-US" sz="1800" dirty="0"/>
              <a:t>don’t exist after the union.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</a:rPr>
              <a:t>9.   Split</a:t>
            </a:r>
            <a:r>
              <a:rPr lang="en-US" sz="2000" dirty="0"/>
              <a:t>(</a:t>
            </a:r>
            <a:r>
              <a:rPr lang="en-US" sz="2000" b="1" dirty="0">
                <a:solidFill>
                  <a:srgbClr val="0070C0"/>
                </a:solidFill>
              </a:rPr>
              <a:t>T</a:t>
            </a:r>
            <a:r>
              <a:rPr lang="en-US" sz="2000" b="1" dirty="0"/>
              <a:t>,</a:t>
            </a:r>
            <a:r>
              <a:rPr lang="en-US" sz="2000" b="1" dirty="0">
                <a:solidFill>
                  <a:srgbClr val="0070C0"/>
                </a:solidFill>
              </a:rPr>
              <a:t> </a:t>
            </a:r>
            <a:r>
              <a:rPr lang="en-US" sz="2000" b="1" dirty="0"/>
              <a:t>x</a:t>
            </a:r>
            <a:r>
              <a:rPr lang="en-US" sz="2000" dirty="0"/>
              <a:t>): </a:t>
            </a:r>
          </a:p>
          <a:p>
            <a:pPr marL="0" indent="0">
              <a:buNone/>
            </a:pPr>
            <a:r>
              <a:rPr lang="en-US" sz="1800" dirty="0"/>
              <a:t>Split </a:t>
            </a:r>
            <a:r>
              <a:rPr lang="en-US" sz="1800" b="1" dirty="0">
                <a:solidFill>
                  <a:srgbClr val="0070C0"/>
                </a:solidFill>
              </a:rPr>
              <a:t>T</a:t>
            </a:r>
            <a:r>
              <a:rPr lang="en-US" sz="1800" dirty="0"/>
              <a:t> into  </a:t>
            </a:r>
            <a:r>
              <a:rPr lang="en-US" sz="1800" b="1" dirty="0">
                <a:solidFill>
                  <a:srgbClr val="0070C0"/>
                </a:solidFill>
              </a:rPr>
              <a:t>T’</a:t>
            </a:r>
            <a:r>
              <a:rPr lang="en-US" sz="1800" dirty="0"/>
              <a:t> and </a:t>
            </a:r>
            <a:r>
              <a:rPr lang="en-US" sz="1800" b="1" dirty="0">
                <a:solidFill>
                  <a:srgbClr val="0070C0"/>
                </a:solidFill>
              </a:rPr>
              <a:t>T’’</a:t>
            </a:r>
            <a:r>
              <a:rPr lang="en-US" sz="1800" dirty="0"/>
              <a:t> such that </a:t>
            </a:r>
            <a:r>
              <a:rPr lang="en-US" sz="1800" b="1" dirty="0">
                <a:solidFill>
                  <a:srgbClr val="0070C0"/>
                </a:solidFill>
              </a:rPr>
              <a:t>T’ </a:t>
            </a:r>
            <a:r>
              <a:rPr lang="en-US" sz="1800" dirty="0"/>
              <a:t>&lt; </a:t>
            </a:r>
            <a:r>
              <a:rPr lang="en-US" sz="1800" b="1" dirty="0"/>
              <a:t>x</a:t>
            </a:r>
            <a:r>
              <a:rPr lang="en-US" sz="1800" dirty="0"/>
              <a:t> &lt; </a:t>
            </a:r>
            <a:r>
              <a:rPr lang="en-US" sz="1800" b="1" dirty="0">
                <a:solidFill>
                  <a:srgbClr val="0070C0"/>
                </a:solidFill>
              </a:rPr>
              <a:t>T’’</a:t>
            </a:r>
            <a:r>
              <a:rPr lang="en-US" sz="1800" dirty="0"/>
              <a:t>.</a:t>
            </a:r>
            <a:r>
              <a:rPr lang="en-US" sz="1800" b="1" dirty="0">
                <a:solidFill>
                  <a:srgbClr val="0070C0"/>
                </a:solidFill>
              </a:rPr>
              <a:t> </a:t>
            </a:r>
          </a:p>
          <a:p>
            <a:pPr marL="0" indent="0">
              <a:buNone/>
            </a:pPr>
            <a:endParaRPr lang="en-US" sz="18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16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16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10" name="Down Ribbon 9"/>
          <p:cNvSpPr/>
          <p:nvPr/>
        </p:nvSpPr>
        <p:spPr>
          <a:xfrm>
            <a:off x="2590800" y="6096000"/>
            <a:ext cx="4114800" cy="612648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Every operation in </a:t>
            </a:r>
            <a:r>
              <a:rPr lang="en-US" sz="1600" b="1" dirty="0">
                <a:solidFill>
                  <a:srgbClr val="C00000"/>
                </a:solidFill>
              </a:rPr>
              <a:t>O</a:t>
            </a:r>
            <a:r>
              <a:rPr lang="en-US" sz="1600" dirty="0">
                <a:solidFill>
                  <a:schemeClr val="tx1"/>
                </a:solidFill>
              </a:rPr>
              <a:t>(log </a:t>
            </a:r>
            <a:r>
              <a:rPr lang="en-US" sz="1600" b="1" dirty="0">
                <a:solidFill>
                  <a:srgbClr val="0070C0"/>
                </a:solidFill>
              </a:rPr>
              <a:t>n</a:t>
            </a:r>
            <a:r>
              <a:rPr lang="en-US" sz="1600" dirty="0">
                <a:solidFill>
                  <a:schemeClr val="tx1"/>
                </a:solidFill>
              </a:rPr>
              <a:t>) time.</a:t>
            </a:r>
          </a:p>
        </p:txBody>
      </p:sp>
      <p:sp>
        <p:nvSpPr>
          <p:cNvPr id="2" name="Rectangle 1"/>
          <p:cNvSpPr/>
          <p:nvPr/>
        </p:nvSpPr>
        <p:spPr>
          <a:xfrm>
            <a:off x="2133600" y="5486400"/>
            <a:ext cx="17526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495800" y="3505200"/>
            <a:ext cx="44196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096000" y="2514600"/>
            <a:ext cx="17526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6705600" y="4800600"/>
            <a:ext cx="22098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A2D580-19D1-DD74-69DC-2E4360418A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790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25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125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75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10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0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 uiExpand="1" build="p"/>
      <p:bldP spid="9" grpId="0" uiExpand="1" build="p"/>
      <p:bldP spid="10" grpId="0" animBg="1"/>
      <p:bldP spid="2" grpId="0" animBg="1"/>
      <p:bldP spid="11" grpId="0" animBg="1"/>
      <p:bldP spid="12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C00000"/>
                </a:solidFill>
              </a:rPr>
              <a:t>Red</a:t>
            </a:r>
            <a:r>
              <a:rPr lang="en-US" sz="3600" b="1" dirty="0">
                <a:solidFill>
                  <a:srgbClr val="7030A0"/>
                </a:solidFill>
              </a:rPr>
              <a:t>-</a:t>
            </a:r>
            <a:r>
              <a:rPr lang="en-US" sz="3600" b="1" dirty="0"/>
              <a:t>Black</a:t>
            </a:r>
            <a:r>
              <a:rPr lang="en-US" sz="3600" b="1" dirty="0">
                <a:solidFill>
                  <a:srgbClr val="7030A0"/>
                </a:solidFill>
              </a:rPr>
              <a:t> Tree</a:t>
            </a:r>
            <a:endParaRPr lang="en-US" sz="32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400" dirty="0">
                <a:solidFill>
                  <a:schemeClr val="tx1"/>
                </a:solidFill>
              </a:rPr>
              <a:t>How well have you understood it ?</a:t>
            </a:r>
            <a:endParaRPr lang="en-US" sz="2400" b="1" u="sng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1715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Insertion in a red-black tree</a:t>
            </a:r>
            <a:br>
              <a:rPr lang="en-US" sz="3200" b="1" dirty="0">
                <a:solidFill>
                  <a:srgbClr val="7030A0"/>
                </a:solidFill>
              </a:rPr>
            </a:br>
            <a:endParaRPr lang="en-US" sz="3200" b="1" dirty="0">
              <a:solidFill>
                <a:srgbClr val="7030A0"/>
              </a:solidFill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</p:spPr>
        <p:txBody>
          <a:bodyPr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990601" y="1600200"/>
            <a:ext cx="6723747" cy="3810000"/>
            <a:chOff x="990601" y="1600200"/>
            <a:chExt cx="6723747" cy="3810000"/>
          </a:xfrm>
        </p:grpSpPr>
        <p:grpSp>
          <p:nvGrpSpPr>
            <p:cNvPr id="21" name="Group 20"/>
            <p:cNvGrpSpPr/>
            <p:nvPr/>
          </p:nvGrpSpPr>
          <p:grpSpPr>
            <a:xfrm>
              <a:off x="990601" y="4845369"/>
              <a:ext cx="225309" cy="564831"/>
              <a:chOff x="853448" y="1644969"/>
              <a:chExt cx="255680" cy="559397"/>
            </a:xfrm>
          </p:grpSpPr>
          <p:grpSp>
            <p:nvGrpSpPr>
              <p:cNvPr id="22" name="Group 21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24" name="Rectangle 23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25" name="Group 24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26" name="Straight Connector 25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" name="Straight Connector 26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23" name="Straight Arrow Connector 22"/>
              <p:cNvCxnSpPr>
                <a:endCxn id="24" idx="0"/>
              </p:cNvCxnSpPr>
              <p:nvPr/>
            </p:nvCxnSpPr>
            <p:spPr>
              <a:xfrm flipH="1">
                <a:off x="954033" y="1644969"/>
                <a:ext cx="155095" cy="34651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9" name="Group 78"/>
            <p:cNvGrpSpPr/>
            <p:nvPr/>
          </p:nvGrpSpPr>
          <p:grpSpPr>
            <a:xfrm>
              <a:off x="1349682" y="4845369"/>
              <a:ext cx="232681" cy="564831"/>
              <a:chOff x="780160" y="1648024"/>
              <a:chExt cx="274457" cy="556342"/>
            </a:xfrm>
          </p:grpSpPr>
          <p:grpSp>
            <p:nvGrpSpPr>
              <p:cNvPr id="80" name="Group 79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82" name="Rectangle 81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83" name="Group 82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84" name="Straight Connector 83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5" name="Straight Connector 84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81" name="Straight Arrow Connector 80"/>
              <p:cNvCxnSpPr/>
              <p:nvPr/>
            </p:nvCxnSpPr>
            <p:spPr>
              <a:xfrm>
                <a:off x="780160" y="1648024"/>
                <a:ext cx="205617" cy="33317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3" name="Group 122"/>
            <p:cNvGrpSpPr/>
            <p:nvPr/>
          </p:nvGrpSpPr>
          <p:grpSpPr>
            <a:xfrm>
              <a:off x="2057400" y="4845369"/>
              <a:ext cx="225309" cy="564831"/>
              <a:chOff x="853448" y="1644969"/>
              <a:chExt cx="255680" cy="559397"/>
            </a:xfrm>
          </p:grpSpPr>
          <p:grpSp>
            <p:nvGrpSpPr>
              <p:cNvPr id="131" name="Group 130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133" name="Rectangle 132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34" name="Group 133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135" name="Straight Connector 134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6" name="Straight Connector 135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32" name="Straight Arrow Connector 131"/>
              <p:cNvCxnSpPr>
                <a:endCxn id="133" idx="0"/>
              </p:cNvCxnSpPr>
              <p:nvPr/>
            </p:nvCxnSpPr>
            <p:spPr>
              <a:xfrm flipH="1">
                <a:off x="954033" y="1644969"/>
                <a:ext cx="155095" cy="34651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4" name="Group 123"/>
            <p:cNvGrpSpPr/>
            <p:nvPr/>
          </p:nvGrpSpPr>
          <p:grpSpPr>
            <a:xfrm>
              <a:off x="2416481" y="4845369"/>
              <a:ext cx="232681" cy="564831"/>
              <a:chOff x="780160" y="1648024"/>
              <a:chExt cx="274457" cy="556342"/>
            </a:xfrm>
          </p:grpSpPr>
          <p:grpSp>
            <p:nvGrpSpPr>
              <p:cNvPr id="125" name="Group 124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127" name="Rectangle 126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28" name="Group 127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129" name="Straight Connector 128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0" name="Straight Connector 129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26" name="Straight Arrow Connector 125"/>
              <p:cNvCxnSpPr/>
              <p:nvPr/>
            </p:nvCxnSpPr>
            <p:spPr>
              <a:xfrm>
                <a:off x="780160" y="1648024"/>
                <a:ext cx="205617" cy="33317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9" name="Group 138"/>
            <p:cNvGrpSpPr/>
            <p:nvPr/>
          </p:nvGrpSpPr>
          <p:grpSpPr>
            <a:xfrm>
              <a:off x="3124200" y="4845369"/>
              <a:ext cx="225309" cy="564831"/>
              <a:chOff x="853448" y="1644969"/>
              <a:chExt cx="255680" cy="559397"/>
            </a:xfrm>
          </p:grpSpPr>
          <p:grpSp>
            <p:nvGrpSpPr>
              <p:cNvPr id="147" name="Group 146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149" name="Rectangle 148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50" name="Group 149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151" name="Straight Connector 150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2" name="Straight Connector 151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48" name="Straight Arrow Connector 147"/>
              <p:cNvCxnSpPr>
                <a:endCxn id="149" idx="0"/>
              </p:cNvCxnSpPr>
              <p:nvPr/>
            </p:nvCxnSpPr>
            <p:spPr>
              <a:xfrm flipH="1">
                <a:off x="954033" y="1644969"/>
                <a:ext cx="155095" cy="34651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0" name="Group 139"/>
            <p:cNvGrpSpPr/>
            <p:nvPr/>
          </p:nvGrpSpPr>
          <p:grpSpPr>
            <a:xfrm>
              <a:off x="3483281" y="4845369"/>
              <a:ext cx="232681" cy="564831"/>
              <a:chOff x="780160" y="1648024"/>
              <a:chExt cx="274457" cy="556342"/>
            </a:xfrm>
          </p:grpSpPr>
          <p:grpSp>
            <p:nvGrpSpPr>
              <p:cNvPr id="141" name="Group 140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143" name="Rectangle 142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44" name="Group 143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145" name="Straight Connector 144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6" name="Straight Connector 145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42" name="Straight Arrow Connector 141"/>
              <p:cNvCxnSpPr/>
              <p:nvPr/>
            </p:nvCxnSpPr>
            <p:spPr>
              <a:xfrm>
                <a:off x="780160" y="1648024"/>
                <a:ext cx="205617" cy="33317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5" name="Group 154"/>
            <p:cNvGrpSpPr/>
            <p:nvPr/>
          </p:nvGrpSpPr>
          <p:grpSpPr>
            <a:xfrm>
              <a:off x="4038600" y="4845369"/>
              <a:ext cx="225309" cy="564831"/>
              <a:chOff x="853448" y="1644969"/>
              <a:chExt cx="255680" cy="559397"/>
            </a:xfrm>
          </p:grpSpPr>
          <p:grpSp>
            <p:nvGrpSpPr>
              <p:cNvPr id="163" name="Group 162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165" name="Rectangle 164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66" name="Group 165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167" name="Straight Connector 166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8" name="Straight Connector 167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64" name="Straight Arrow Connector 163"/>
              <p:cNvCxnSpPr>
                <a:endCxn id="165" idx="0"/>
              </p:cNvCxnSpPr>
              <p:nvPr/>
            </p:nvCxnSpPr>
            <p:spPr>
              <a:xfrm flipH="1">
                <a:off x="954033" y="1644969"/>
                <a:ext cx="155095" cy="34651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6" name="Group 155"/>
            <p:cNvGrpSpPr/>
            <p:nvPr/>
          </p:nvGrpSpPr>
          <p:grpSpPr>
            <a:xfrm>
              <a:off x="4397681" y="4845369"/>
              <a:ext cx="232681" cy="564831"/>
              <a:chOff x="780160" y="1648024"/>
              <a:chExt cx="274457" cy="556342"/>
            </a:xfrm>
          </p:grpSpPr>
          <p:grpSp>
            <p:nvGrpSpPr>
              <p:cNvPr id="157" name="Group 156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159" name="Rectangle 158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60" name="Group 159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161" name="Straight Connector 160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2" name="Straight Connector 161"/>
                  <p:cNvCxnSpPr/>
                  <p:nvPr/>
                </p:nvCxnSpPr>
                <p:spPr>
                  <a:xfrm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58" name="Straight Arrow Connector 157"/>
              <p:cNvCxnSpPr/>
              <p:nvPr/>
            </p:nvCxnSpPr>
            <p:spPr>
              <a:xfrm>
                <a:off x="780160" y="1648024"/>
                <a:ext cx="205617" cy="33317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/>
            <p:cNvGrpSpPr/>
            <p:nvPr/>
          </p:nvGrpSpPr>
          <p:grpSpPr>
            <a:xfrm>
              <a:off x="5080527" y="4683435"/>
              <a:ext cx="177273" cy="225334"/>
              <a:chOff x="2447520" y="2514600"/>
              <a:chExt cx="201169" cy="223166"/>
            </a:xfrm>
          </p:grpSpPr>
          <p:sp>
            <p:nvSpPr>
              <p:cNvPr id="181" name="Rectangle 180"/>
              <p:cNvSpPr/>
              <p:nvPr/>
            </p:nvSpPr>
            <p:spPr>
              <a:xfrm>
                <a:off x="2447520" y="2524882"/>
                <a:ext cx="201169" cy="21288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82" name="Group 181"/>
              <p:cNvGrpSpPr/>
              <p:nvPr/>
            </p:nvGrpSpPr>
            <p:grpSpPr>
              <a:xfrm>
                <a:off x="2447520" y="2514600"/>
                <a:ext cx="201169" cy="212884"/>
                <a:chOff x="2447520" y="2524882"/>
                <a:chExt cx="201169" cy="212884"/>
              </a:xfrm>
            </p:grpSpPr>
            <p:cxnSp>
              <p:nvCxnSpPr>
                <p:cNvPr id="183" name="Straight Connector 182"/>
                <p:cNvCxnSpPr/>
                <p:nvPr/>
              </p:nvCxnSpPr>
              <p:spPr>
                <a:xfrm flipH="1"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4" name="Straight Connector 183"/>
                <p:cNvCxnSpPr/>
                <p:nvPr/>
              </p:nvCxnSpPr>
              <p:spPr>
                <a:xfrm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89" name="Group 188"/>
            <p:cNvGrpSpPr/>
            <p:nvPr/>
          </p:nvGrpSpPr>
          <p:grpSpPr>
            <a:xfrm>
              <a:off x="6113452" y="4682198"/>
              <a:ext cx="170548" cy="226571"/>
              <a:chOff x="2447520" y="2514600"/>
              <a:chExt cx="201169" cy="223166"/>
            </a:xfrm>
          </p:grpSpPr>
          <p:sp>
            <p:nvSpPr>
              <p:cNvPr id="191" name="Rectangle 190"/>
              <p:cNvSpPr/>
              <p:nvPr/>
            </p:nvSpPr>
            <p:spPr>
              <a:xfrm>
                <a:off x="2447520" y="2524882"/>
                <a:ext cx="201169" cy="21288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92" name="Group 191"/>
              <p:cNvGrpSpPr/>
              <p:nvPr/>
            </p:nvGrpSpPr>
            <p:grpSpPr>
              <a:xfrm>
                <a:off x="2447520" y="2514600"/>
                <a:ext cx="201169" cy="212884"/>
                <a:chOff x="2447520" y="2524882"/>
                <a:chExt cx="201169" cy="212884"/>
              </a:xfrm>
            </p:grpSpPr>
            <p:cxnSp>
              <p:nvCxnSpPr>
                <p:cNvPr id="193" name="Straight Connector 192"/>
                <p:cNvCxnSpPr/>
                <p:nvPr/>
              </p:nvCxnSpPr>
              <p:spPr>
                <a:xfrm flipH="1"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>
                <a:xfrm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21" name="Group 220"/>
            <p:cNvGrpSpPr/>
            <p:nvPr/>
          </p:nvGrpSpPr>
          <p:grpSpPr>
            <a:xfrm>
              <a:off x="7543800" y="3810000"/>
              <a:ext cx="170548" cy="226571"/>
              <a:chOff x="2447520" y="2514600"/>
              <a:chExt cx="201169" cy="223166"/>
            </a:xfrm>
          </p:grpSpPr>
          <p:sp>
            <p:nvSpPr>
              <p:cNvPr id="223" name="Rectangle 222"/>
              <p:cNvSpPr/>
              <p:nvPr/>
            </p:nvSpPr>
            <p:spPr>
              <a:xfrm>
                <a:off x="2447520" y="2524882"/>
                <a:ext cx="201169" cy="21288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24" name="Group 223"/>
              <p:cNvGrpSpPr/>
              <p:nvPr/>
            </p:nvGrpSpPr>
            <p:grpSpPr>
              <a:xfrm>
                <a:off x="2447520" y="2514600"/>
                <a:ext cx="201169" cy="212884"/>
                <a:chOff x="2447520" y="2524882"/>
                <a:chExt cx="201169" cy="212884"/>
              </a:xfrm>
            </p:grpSpPr>
            <p:cxnSp>
              <p:nvCxnSpPr>
                <p:cNvPr id="225" name="Straight Connector 224"/>
                <p:cNvCxnSpPr/>
                <p:nvPr/>
              </p:nvCxnSpPr>
              <p:spPr>
                <a:xfrm flipH="1"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Straight Connector 225"/>
                <p:cNvCxnSpPr/>
                <p:nvPr/>
              </p:nvCxnSpPr>
              <p:spPr>
                <a:xfrm>
                  <a:off x="2447520" y="2524882"/>
                  <a:ext cx="201169" cy="21288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35" name="Oval 234"/>
            <p:cNvSpPr/>
            <p:nvPr/>
          </p:nvSpPr>
          <p:spPr>
            <a:xfrm>
              <a:off x="4514094" y="2252990"/>
              <a:ext cx="286506" cy="19716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237" name="Oval 236"/>
            <p:cNvSpPr/>
            <p:nvPr/>
          </p:nvSpPr>
          <p:spPr>
            <a:xfrm>
              <a:off x="6419094" y="3046421"/>
              <a:ext cx="286506" cy="19716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239" name="Oval 238"/>
            <p:cNvSpPr/>
            <p:nvPr/>
          </p:nvSpPr>
          <p:spPr>
            <a:xfrm>
              <a:off x="1770894" y="3841431"/>
              <a:ext cx="286506" cy="19716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240" name="Oval 239"/>
            <p:cNvSpPr/>
            <p:nvPr/>
          </p:nvSpPr>
          <p:spPr>
            <a:xfrm>
              <a:off x="5504694" y="3816182"/>
              <a:ext cx="286506" cy="19716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FF0000"/>
                </a:solidFill>
              </a:endParaRPr>
            </a:p>
          </p:txBody>
        </p:sp>
        <p:sp>
          <p:nvSpPr>
            <p:cNvPr id="243" name="Oval 242"/>
            <p:cNvSpPr/>
            <p:nvPr/>
          </p:nvSpPr>
          <p:spPr>
            <a:xfrm>
              <a:off x="3752094" y="3853190"/>
              <a:ext cx="286506" cy="19716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245" name="Oval 244"/>
            <p:cNvSpPr/>
            <p:nvPr/>
          </p:nvSpPr>
          <p:spPr>
            <a:xfrm>
              <a:off x="2819400" y="3046421"/>
              <a:ext cx="286506" cy="19716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246" name="Oval 245"/>
            <p:cNvSpPr/>
            <p:nvPr/>
          </p:nvSpPr>
          <p:spPr>
            <a:xfrm>
              <a:off x="1161294" y="4691390"/>
              <a:ext cx="286506" cy="19716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FF0000"/>
                </a:solidFill>
              </a:endParaRPr>
            </a:p>
          </p:txBody>
        </p:sp>
        <p:sp>
          <p:nvSpPr>
            <p:cNvPr id="247" name="Oval 246"/>
            <p:cNvSpPr/>
            <p:nvPr/>
          </p:nvSpPr>
          <p:spPr>
            <a:xfrm>
              <a:off x="2228093" y="4691390"/>
              <a:ext cx="286506" cy="19716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248" name="Oval 247"/>
            <p:cNvSpPr/>
            <p:nvPr/>
          </p:nvSpPr>
          <p:spPr>
            <a:xfrm>
              <a:off x="3294893" y="4691390"/>
              <a:ext cx="286506" cy="19716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249" name="Oval 248"/>
            <p:cNvSpPr/>
            <p:nvPr/>
          </p:nvSpPr>
          <p:spPr>
            <a:xfrm>
              <a:off x="4209293" y="4691390"/>
              <a:ext cx="286506" cy="197169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cxnSp>
          <p:nvCxnSpPr>
            <p:cNvPr id="255" name="Straight Arrow Connector 254"/>
            <p:cNvCxnSpPr/>
            <p:nvPr/>
          </p:nvCxnSpPr>
          <p:spPr>
            <a:xfrm flipH="1">
              <a:off x="2962653" y="2351575"/>
              <a:ext cx="1551441" cy="69484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Arrow Connector 256"/>
            <p:cNvCxnSpPr/>
            <p:nvPr/>
          </p:nvCxnSpPr>
          <p:spPr>
            <a:xfrm flipH="1">
              <a:off x="1953760" y="3221205"/>
              <a:ext cx="941840" cy="63198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Arrow Connector 257"/>
            <p:cNvCxnSpPr>
              <a:stCxn id="243" idx="3"/>
            </p:cNvCxnSpPr>
            <p:nvPr/>
          </p:nvCxnSpPr>
          <p:spPr>
            <a:xfrm flipH="1">
              <a:off x="3438147" y="4021484"/>
              <a:ext cx="355905" cy="66990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Arrow Connector 259"/>
            <p:cNvCxnSpPr>
              <a:endCxn id="246" idx="7"/>
            </p:cNvCxnSpPr>
            <p:nvPr/>
          </p:nvCxnSpPr>
          <p:spPr>
            <a:xfrm flipH="1">
              <a:off x="1405842" y="4005590"/>
              <a:ext cx="422958" cy="71467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Arrow Connector 260"/>
            <p:cNvCxnSpPr/>
            <p:nvPr/>
          </p:nvCxnSpPr>
          <p:spPr>
            <a:xfrm flipH="1">
              <a:off x="5181600" y="4021484"/>
              <a:ext cx="405136" cy="66990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Arrow Connector 262"/>
            <p:cNvCxnSpPr/>
            <p:nvPr/>
          </p:nvCxnSpPr>
          <p:spPr>
            <a:xfrm flipH="1">
              <a:off x="5647948" y="3243590"/>
              <a:ext cx="811214" cy="57259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Arrow Connector 263"/>
            <p:cNvCxnSpPr/>
            <p:nvPr/>
          </p:nvCxnSpPr>
          <p:spPr>
            <a:xfrm>
              <a:off x="3048000" y="3221205"/>
              <a:ext cx="838200" cy="63198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Arrow Connector 266"/>
            <p:cNvCxnSpPr/>
            <p:nvPr/>
          </p:nvCxnSpPr>
          <p:spPr>
            <a:xfrm>
              <a:off x="6705600" y="3221205"/>
              <a:ext cx="838200" cy="63198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Arrow Connector 268"/>
            <p:cNvCxnSpPr/>
            <p:nvPr/>
          </p:nvCxnSpPr>
          <p:spPr>
            <a:xfrm>
              <a:off x="2029959" y="4005590"/>
              <a:ext cx="341387" cy="6858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Arrow Connector 269"/>
            <p:cNvCxnSpPr/>
            <p:nvPr/>
          </p:nvCxnSpPr>
          <p:spPr>
            <a:xfrm>
              <a:off x="3942770" y="4013351"/>
              <a:ext cx="368932" cy="67008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Arrow Connector 270"/>
            <p:cNvCxnSpPr/>
            <p:nvPr/>
          </p:nvCxnSpPr>
          <p:spPr>
            <a:xfrm>
              <a:off x="5763759" y="4005590"/>
              <a:ext cx="417587" cy="6858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Arrow Connector 273"/>
            <p:cNvCxnSpPr/>
            <p:nvPr/>
          </p:nvCxnSpPr>
          <p:spPr>
            <a:xfrm>
              <a:off x="4800600" y="2396344"/>
              <a:ext cx="1658562" cy="69484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76" name="Group 275"/>
            <p:cNvGrpSpPr/>
            <p:nvPr/>
          </p:nvGrpSpPr>
          <p:grpSpPr>
            <a:xfrm>
              <a:off x="4419600" y="1600200"/>
              <a:ext cx="502924" cy="621357"/>
              <a:chOff x="1203952" y="3870811"/>
              <a:chExt cx="502924" cy="621357"/>
            </a:xfrm>
          </p:grpSpPr>
          <p:cxnSp>
            <p:nvCxnSpPr>
              <p:cNvPr id="313" name="Elbow Connector 312"/>
              <p:cNvCxnSpPr/>
              <p:nvPr/>
            </p:nvCxnSpPr>
            <p:spPr>
              <a:xfrm rot="16200000" flipH="1">
                <a:off x="1306996" y="4339420"/>
                <a:ext cx="301167" cy="4330"/>
              </a:xfrm>
              <a:prstGeom prst="bentConnector3">
                <a:avLst>
                  <a:gd name="adj1" fmla="val 50000"/>
                </a:avLst>
              </a:prstGeom>
              <a:ln w="28575">
                <a:solidFill>
                  <a:srgbClr val="00B05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4" name="TextBox 313"/>
              <p:cNvSpPr txBox="1"/>
              <p:nvPr/>
            </p:nvSpPr>
            <p:spPr>
              <a:xfrm>
                <a:off x="1203952" y="3870811"/>
                <a:ext cx="50292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  T</a:t>
                </a:r>
              </a:p>
            </p:txBody>
          </p:sp>
        </p:grpSp>
        <p:sp>
          <p:nvSpPr>
            <p:cNvPr id="277" name="TextBox 276"/>
            <p:cNvSpPr txBox="1"/>
            <p:nvPr/>
          </p:nvSpPr>
          <p:spPr>
            <a:xfrm>
              <a:off x="1143000" y="4648200"/>
              <a:ext cx="25680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2</a:t>
              </a:r>
            </a:p>
          </p:txBody>
        </p:sp>
        <p:sp>
          <p:nvSpPr>
            <p:cNvPr id="278" name="TextBox 277"/>
            <p:cNvSpPr txBox="1"/>
            <p:nvPr/>
          </p:nvSpPr>
          <p:spPr>
            <a:xfrm>
              <a:off x="2819400" y="301499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28</a:t>
              </a:r>
            </a:p>
          </p:txBody>
        </p:sp>
        <p:sp>
          <p:nvSpPr>
            <p:cNvPr id="280" name="TextBox 279"/>
            <p:cNvSpPr txBox="1"/>
            <p:nvPr/>
          </p:nvSpPr>
          <p:spPr>
            <a:xfrm>
              <a:off x="4471664" y="22098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46</a:t>
              </a:r>
            </a:p>
          </p:txBody>
        </p:sp>
        <p:sp>
          <p:nvSpPr>
            <p:cNvPr id="281" name="TextBox 280"/>
            <p:cNvSpPr txBox="1"/>
            <p:nvPr/>
          </p:nvSpPr>
          <p:spPr>
            <a:xfrm>
              <a:off x="6400800" y="301499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67</a:t>
              </a:r>
            </a:p>
          </p:txBody>
        </p:sp>
        <p:sp>
          <p:nvSpPr>
            <p:cNvPr id="298" name="TextBox 297"/>
            <p:cNvSpPr txBox="1"/>
            <p:nvPr/>
          </p:nvSpPr>
          <p:spPr>
            <a:xfrm>
              <a:off x="2209800" y="46482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25</a:t>
              </a:r>
            </a:p>
          </p:txBody>
        </p:sp>
        <p:sp>
          <p:nvSpPr>
            <p:cNvPr id="304" name="TextBox 303"/>
            <p:cNvSpPr txBox="1"/>
            <p:nvPr/>
          </p:nvSpPr>
          <p:spPr>
            <a:xfrm>
              <a:off x="1770894" y="3776990"/>
              <a:ext cx="25680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5</a:t>
              </a:r>
            </a:p>
          </p:txBody>
        </p:sp>
        <p:sp>
          <p:nvSpPr>
            <p:cNvPr id="305" name="TextBox 304"/>
            <p:cNvSpPr txBox="1"/>
            <p:nvPr/>
          </p:nvSpPr>
          <p:spPr>
            <a:xfrm>
              <a:off x="3276600" y="46482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31</a:t>
              </a:r>
            </a:p>
          </p:txBody>
        </p:sp>
        <p:sp>
          <p:nvSpPr>
            <p:cNvPr id="306" name="TextBox 305"/>
            <p:cNvSpPr txBox="1"/>
            <p:nvPr/>
          </p:nvSpPr>
          <p:spPr>
            <a:xfrm>
              <a:off x="4166864" y="46482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41</a:t>
              </a:r>
            </a:p>
          </p:txBody>
        </p:sp>
        <p:sp>
          <p:nvSpPr>
            <p:cNvPr id="307" name="TextBox 306"/>
            <p:cNvSpPr txBox="1"/>
            <p:nvPr/>
          </p:nvSpPr>
          <p:spPr>
            <a:xfrm>
              <a:off x="3733800" y="38100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35</a:t>
              </a:r>
            </a:p>
          </p:txBody>
        </p:sp>
        <p:sp>
          <p:nvSpPr>
            <p:cNvPr id="308" name="TextBox 307"/>
            <p:cNvSpPr txBox="1"/>
            <p:nvPr/>
          </p:nvSpPr>
          <p:spPr>
            <a:xfrm>
              <a:off x="5486400" y="377699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chemeClr val="bg2"/>
                  </a:solidFill>
                </a:rPr>
                <a:t>49</a:t>
              </a:r>
            </a:p>
          </p:txBody>
        </p:sp>
      </p:grpSp>
      <p:grpSp>
        <p:nvGrpSpPr>
          <p:cNvPr id="113" name="Group 112"/>
          <p:cNvGrpSpPr/>
          <p:nvPr/>
        </p:nvGrpSpPr>
        <p:grpSpPr>
          <a:xfrm>
            <a:off x="7239000" y="3810000"/>
            <a:ext cx="762000" cy="717234"/>
            <a:chOff x="5562600" y="5410200"/>
            <a:chExt cx="762000" cy="717234"/>
          </a:xfrm>
        </p:grpSpPr>
        <p:grpSp>
          <p:nvGrpSpPr>
            <p:cNvPr id="114" name="Group 113"/>
            <p:cNvGrpSpPr/>
            <p:nvPr/>
          </p:nvGrpSpPr>
          <p:grpSpPr>
            <a:xfrm>
              <a:off x="5562600" y="5562600"/>
              <a:ext cx="762000" cy="564834"/>
              <a:chOff x="1524000" y="3048000"/>
              <a:chExt cx="762000" cy="564834"/>
            </a:xfrm>
          </p:grpSpPr>
          <p:grpSp>
            <p:nvGrpSpPr>
              <p:cNvPr id="118" name="Group 117"/>
              <p:cNvGrpSpPr/>
              <p:nvPr/>
            </p:nvGrpSpPr>
            <p:grpSpPr>
              <a:xfrm>
                <a:off x="1524000" y="3092251"/>
                <a:ext cx="279058" cy="520583"/>
                <a:chOff x="853448" y="1688792"/>
                <a:chExt cx="316674" cy="515574"/>
              </a:xfrm>
            </p:grpSpPr>
            <p:grpSp>
              <p:nvGrpSpPr>
                <p:cNvPr id="154" name="Group 153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170" name="Rectangle 169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71" name="Group 170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172" name="Straight Connector 171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3" name="Straight Connector 172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169" name="Straight Arrow Connector 168"/>
                <p:cNvCxnSpPr>
                  <a:stCxn id="116" idx="3"/>
                  <a:endCxn id="170" idx="0"/>
                </p:cNvCxnSpPr>
                <p:nvPr/>
              </p:nvCxnSpPr>
              <p:spPr>
                <a:xfrm flipH="1">
                  <a:off x="954033" y="1688792"/>
                  <a:ext cx="216089" cy="30269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9" name="Group 118"/>
              <p:cNvGrpSpPr/>
              <p:nvPr/>
            </p:nvGrpSpPr>
            <p:grpSpPr>
              <a:xfrm>
                <a:off x="2053319" y="3048000"/>
                <a:ext cx="232681" cy="564831"/>
                <a:chOff x="780160" y="1648024"/>
                <a:chExt cx="274457" cy="556342"/>
              </a:xfrm>
            </p:grpSpPr>
            <p:grpSp>
              <p:nvGrpSpPr>
                <p:cNvPr id="120" name="Group 119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122" name="Rectangle 121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37" name="Group 136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138" name="Straight Connector 137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3" name="Straight Connector 152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121" name="Straight Arrow Connector 120"/>
                <p:cNvCxnSpPr/>
                <p:nvPr/>
              </p:nvCxnSpPr>
              <p:spPr>
                <a:xfrm>
                  <a:off x="780160" y="1648024"/>
                  <a:ext cx="205617" cy="333176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15" name="Group 114"/>
            <p:cNvGrpSpPr/>
            <p:nvPr/>
          </p:nvGrpSpPr>
          <p:grpSpPr>
            <a:xfrm>
              <a:off x="5791200" y="5410200"/>
              <a:ext cx="396062" cy="261610"/>
              <a:chOff x="7443464" y="3624590"/>
              <a:chExt cx="396062" cy="261610"/>
            </a:xfrm>
          </p:grpSpPr>
          <p:sp>
            <p:nvSpPr>
              <p:cNvPr id="116" name="Oval 115"/>
              <p:cNvSpPr/>
              <p:nvPr/>
            </p:nvSpPr>
            <p:spPr>
              <a:xfrm>
                <a:off x="7443464" y="3635029"/>
                <a:ext cx="344558" cy="218161"/>
              </a:xfrm>
              <a:prstGeom prst="ellipse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117" name="TextBox 116"/>
              <p:cNvSpPr txBox="1"/>
              <p:nvPr/>
            </p:nvSpPr>
            <p:spPr>
              <a:xfrm>
                <a:off x="7443464" y="3624590"/>
                <a:ext cx="39606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b="1" dirty="0">
                    <a:solidFill>
                      <a:schemeClr val="bg2"/>
                    </a:solidFill>
                  </a:rPr>
                  <a:t>83</a:t>
                </a:r>
              </a:p>
            </p:txBody>
          </p:sp>
        </p:grpSp>
      </p:grpSp>
      <p:grpSp>
        <p:nvGrpSpPr>
          <p:cNvPr id="178" name="Group 177"/>
          <p:cNvGrpSpPr/>
          <p:nvPr/>
        </p:nvGrpSpPr>
        <p:grpSpPr>
          <a:xfrm>
            <a:off x="5791200" y="4692966"/>
            <a:ext cx="762000" cy="717234"/>
            <a:chOff x="5562600" y="5410200"/>
            <a:chExt cx="762000" cy="717234"/>
          </a:xfrm>
        </p:grpSpPr>
        <p:grpSp>
          <p:nvGrpSpPr>
            <p:cNvPr id="180" name="Group 179"/>
            <p:cNvGrpSpPr/>
            <p:nvPr/>
          </p:nvGrpSpPr>
          <p:grpSpPr>
            <a:xfrm>
              <a:off x="5562600" y="5562600"/>
              <a:ext cx="762000" cy="564834"/>
              <a:chOff x="1524000" y="3048000"/>
              <a:chExt cx="762000" cy="564834"/>
            </a:xfrm>
          </p:grpSpPr>
          <p:grpSp>
            <p:nvGrpSpPr>
              <p:cNvPr id="188" name="Group 187"/>
              <p:cNvGrpSpPr/>
              <p:nvPr/>
            </p:nvGrpSpPr>
            <p:grpSpPr>
              <a:xfrm>
                <a:off x="1524000" y="3092251"/>
                <a:ext cx="279058" cy="520583"/>
                <a:chOff x="853448" y="1688792"/>
                <a:chExt cx="316674" cy="515574"/>
              </a:xfrm>
            </p:grpSpPr>
            <p:grpSp>
              <p:nvGrpSpPr>
                <p:cNvPr id="201" name="Group 200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203" name="Rectangle 202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204" name="Group 203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205" name="Straight Connector 204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6" name="Straight Connector 205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202" name="Straight Arrow Connector 201"/>
                <p:cNvCxnSpPr>
                  <a:stCxn id="186" idx="3"/>
                  <a:endCxn id="203" idx="0"/>
                </p:cNvCxnSpPr>
                <p:nvPr/>
              </p:nvCxnSpPr>
              <p:spPr>
                <a:xfrm flipH="1">
                  <a:off x="954033" y="1688792"/>
                  <a:ext cx="216089" cy="30269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0" name="Group 189"/>
              <p:cNvGrpSpPr/>
              <p:nvPr/>
            </p:nvGrpSpPr>
            <p:grpSpPr>
              <a:xfrm>
                <a:off x="2053319" y="3048000"/>
                <a:ext cx="232681" cy="564831"/>
                <a:chOff x="780160" y="1648024"/>
                <a:chExt cx="274457" cy="556342"/>
              </a:xfrm>
            </p:grpSpPr>
            <p:grpSp>
              <p:nvGrpSpPr>
                <p:cNvPr id="195" name="Group 194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197" name="Rectangle 196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98" name="Group 197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199" name="Straight Connector 198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0" name="Straight Connector 199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196" name="Straight Arrow Connector 195"/>
                <p:cNvCxnSpPr/>
                <p:nvPr/>
              </p:nvCxnSpPr>
              <p:spPr>
                <a:xfrm>
                  <a:off x="780160" y="1648024"/>
                  <a:ext cx="205617" cy="333176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85" name="Group 184"/>
            <p:cNvGrpSpPr/>
            <p:nvPr/>
          </p:nvGrpSpPr>
          <p:grpSpPr>
            <a:xfrm>
              <a:off x="5791200" y="5410200"/>
              <a:ext cx="396062" cy="261610"/>
              <a:chOff x="7443464" y="3624590"/>
              <a:chExt cx="396062" cy="261610"/>
            </a:xfrm>
          </p:grpSpPr>
          <p:sp>
            <p:nvSpPr>
              <p:cNvPr id="186" name="Oval 185"/>
              <p:cNvSpPr/>
              <p:nvPr/>
            </p:nvSpPr>
            <p:spPr>
              <a:xfrm>
                <a:off x="7443464" y="3635029"/>
                <a:ext cx="344558" cy="218161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187" name="TextBox 186"/>
              <p:cNvSpPr txBox="1"/>
              <p:nvPr/>
            </p:nvSpPr>
            <p:spPr>
              <a:xfrm>
                <a:off x="7443464" y="3624590"/>
                <a:ext cx="39606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b="1" dirty="0">
                    <a:solidFill>
                      <a:schemeClr val="bg2"/>
                    </a:solidFill>
                  </a:rPr>
                  <a:t>54</a:t>
                </a:r>
              </a:p>
            </p:txBody>
          </p:sp>
        </p:grpSp>
      </p:grpSp>
      <p:grpSp>
        <p:nvGrpSpPr>
          <p:cNvPr id="208" name="Group 207"/>
          <p:cNvGrpSpPr/>
          <p:nvPr/>
        </p:nvGrpSpPr>
        <p:grpSpPr>
          <a:xfrm>
            <a:off x="4191000" y="5181600"/>
            <a:ext cx="762000" cy="717234"/>
            <a:chOff x="5562600" y="5410200"/>
            <a:chExt cx="762000" cy="717234"/>
          </a:xfrm>
        </p:grpSpPr>
        <p:grpSp>
          <p:nvGrpSpPr>
            <p:cNvPr id="209" name="Group 208"/>
            <p:cNvGrpSpPr/>
            <p:nvPr/>
          </p:nvGrpSpPr>
          <p:grpSpPr>
            <a:xfrm>
              <a:off x="5562600" y="5562600"/>
              <a:ext cx="762000" cy="564834"/>
              <a:chOff x="1524000" y="3048000"/>
              <a:chExt cx="762000" cy="564834"/>
            </a:xfrm>
          </p:grpSpPr>
          <p:grpSp>
            <p:nvGrpSpPr>
              <p:cNvPr id="213" name="Group 212"/>
              <p:cNvGrpSpPr/>
              <p:nvPr/>
            </p:nvGrpSpPr>
            <p:grpSpPr>
              <a:xfrm>
                <a:off x="1524000" y="3092251"/>
                <a:ext cx="279058" cy="520583"/>
                <a:chOff x="853448" y="1688792"/>
                <a:chExt cx="316674" cy="515574"/>
              </a:xfrm>
            </p:grpSpPr>
            <p:grpSp>
              <p:nvGrpSpPr>
                <p:cNvPr id="222" name="Group 221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228" name="Rectangle 227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229" name="Group 228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230" name="Straight Connector 229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31" name="Straight Connector 230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227" name="Straight Arrow Connector 226"/>
                <p:cNvCxnSpPr>
                  <a:stCxn id="211" idx="3"/>
                  <a:endCxn id="228" idx="0"/>
                </p:cNvCxnSpPr>
                <p:nvPr/>
              </p:nvCxnSpPr>
              <p:spPr>
                <a:xfrm flipH="1">
                  <a:off x="954033" y="1688792"/>
                  <a:ext cx="216089" cy="302690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4" name="Group 213"/>
              <p:cNvGrpSpPr/>
              <p:nvPr/>
            </p:nvGrpSpPr>
            <p:grpSpPr>
              <a:xfrm>
                <a:off x="2053319" y="3048000"/>
                <a:ext cx="232681" cy="564831"/>
                <a:chOff x="780160" y="1648024"/>
                <a:chExt cx="274457" cy="556342"/>
              </a:xfrm>
            </p:grpSpPr>
            <p:grpSp>
              <p:nvGrpSpPr>
                <p:cNvPr id="215" name="Group 214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217" name="Rectangle 216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218" name="Group 217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219" name="Straight Connector 218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20" name="Straight Connector 219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216" name="Straight Arrow Connector 215"/>
                <p:cNvCxnSpPr/>
                <p:nvPr/>
              </p:nvCxnSpPr>
              <p:spPr>
                <a:xfrm>
                  <a:off x="780160" y="1648024"/>
                  <a:ext cx="205617" cy="333176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10" name="Group 209"/>
            <p:cNvGrpSpPr/>
            <p:nvPr/>
          </p:nvGrpSpPr>
          <p:grpSpPr>
            <a:xfrm>
              <a:off x="5791200" y="5410200"/>
              <a:ext cx="396062" cy="261610"/>
              <a:chOff x="7443464" y="3624590"/>
              <a:chExt cx="396062" cy="261610"/>
            </a:xfrm>
          </p:grpSpPr>
          <p:sp>
            <p:nvSpPr>
              <p:cNvPr id="211" name="Oval 210"/>
              <p:cNvSpPr/>
              <p:nvPr/>
            </p:nvSpPr>
            <p:spPr>
              <a:xfrm>
                <a:off x="7443464" y="3635029"/>
                <a:ext cx="344558" cy="218161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50" dirty="0">
                  <a:solidFill>
                    <a:srgbClr val="C00000"/>
                  </a:solidFill>
                </a:endParaRPr>
              </a:p>
            </p:txBody>
          </p:sp>
          <p:sp>
            <p:nvSpPr>
              <p:cNvPr id="212" name="TextBox 211"/>
              <p:cNvSpPr txBox="1"/>
              <p:nvPr/>
            </p:nvSpPr>
            <p:spPr>
              <a:xfrm>
                <a:off x="7443464" y="3624590"/>
                <a:ext cx="39606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b="1" dirty="0">
                    <a:solidFill>
                      <a:schemeClr val="bg2"/>
                    </a:solidFill>
                  </a:rPr>
                  <a:t>44</a:t>
                </a:r>
              </a:p>
            </p:txBody>
          </p:sp>
        </p:grpSp>
      </p:grpSp>
      <p:grpSp>
        <p:nvGrpSpPr>
          <p:cNvPr id="174" name="Group 173"/>
          <p:cNvGrpSpPr/>
          <p:nvPr/>
        </p:nvGrpSpPr>
        <p:grpSpPr>
          <a:xfrm>
            <a:off x="2362200" y="2819398"/>
            <a:ext cx="1901709" cy="3429002"/>
            <a:chOff x="2362200" y="2819398"/>
            <a:chExt cx="1901709" cy="3429002"/>
          </a:xfrm>
        </p:grpSpPr>
        <p:sp>
          <p:nvSpPr>
            <p:cNvPr id="175" name="Line Callout 1 174"/>
            <p:cNvSpPr/>
            <p:nvPr/>
          </p:nvSpPr>
          <p:spPr>
            <a:xfrm>
              <a:off x="2362200" y="5942076"/>
              <a:ext cx="1345568" cy="306324"/>
            </a:xfrm>
            <a:prstGeom prst="borderCallout1">
              <a:avLst>
                <a:gd name="adj1" fmla="val -3091"/>
                <a:gd name="adj2" fmla="val 18420"/>
                <a:gd name="adj3" fmla="val -692015"/>
                <a:gd name="adj4" fmla="val 70213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/>
                <a:t>Color imbalance</a:t>
              </a:r>
            </a:p>
          </p:txBody>
        </p:sp>
        <p:sp>
          <p:nvSpPr>
            <p:cNvPr id="176" name="Arc 175"/>
            <p:cNvSpPr/>
            <p:nvPr/>
          </p:nvSpPr>
          <p:spPr>
            <a:xfrm rot="10563781">
              <a:off x="3048001" y="2819398"/>
              <a:ext cx="1215908" cy="1088396"/>
            </a:xfrm>
            <a:prstGeom prst="arc">
              <a:avLst>
                <a:gd name="adj1" fmla="val 17188773"/>
                <a:gd name="adj2" fmla="val 0"/>
              </a:avLst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loud Callout 2"/>
          <p:cNvSpPr/>
          <p:nvPr/>
        </p:nvSpPr>
        <p:spPr>
          <a:xfrm>
            <a:off x="3822068" y="758952"/>
            <a:ext cx="5245732" cy="1069848"/>
          </a:xfrm>
          <a:prstGeom prst="cloudCallou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Can you handle color-imbalance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i="1" u="sng" dirty="0">
                <a:solidFill>
                  <a:schemeClr val="tx1"/>
                </a:solidFill>
              </a:rPr>
              <a:t>in general </a:t>
            </a:r>
            <a:r>
              <a:rPr lang="en-US" dirty="0">
                <a:solidFill>
                  <a:schemeClr val="tx1"/>
                </a:solidFill>
              </a:rPr>
              <a:t>as well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86247" y="2396344"/>
            <a:ext cx="485518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</p:spTree>
    <p:extLst>
      <p:ext uri="{BB962C8B-B14F-4D97-AF65-F5344CB8AC3E}">
        <p14:creationId xmlns:p14="http://schemas.microsoft.com/office/powerpoint/2010/main" val="1613699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dirty="0" err="1">
                <a:solidFill>
                  <a:srgbClr val="002060"/>
                </a:solidFill>
              </a:rPr>
              <a:t>SpecialUnion</a:t>
            </a:r>
            <a:r>
              <a:rPr lang="en-US" sz="3600" b="1" dirty="0"/>
              <a:t>(</a:t>
            </a:r>
            <a:r>
              <a:rPr lang="en-US" sz="3600" b="1" dirty="0">
                <a:solidFill>
                  <a:srgbClr val="0070C0"/>
                </a:solidFill>
              </a:rPr>
              <a:t>T,T’</a:t>
            </a:r>
            <a:r>
              <a:rPr lang="en-US" sz="3600" b="1" dirty="0"/>
              <a:t>)</a:t>
            </a:r>
            <a:endParaRPr lang="en-US" sz="32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sz="2800" b="1" dirty="0">
                <a:solidFill>
                  <a:srgbClr val="C00000"/>
                </a:solidFill>
              </a:rPr>
              <a:t>Remember:</a:t>
            </a:r>
            <a:r>
              <a:rPr lang="en-US" sz="2800" b="1" dirty="0">
                <a:solidFill>
                  <a:srgbClr val="7030A0"/>
                </a:solidFill>
              </a:rPr>
              <a:t> </a:t>
            </a:r>
          </a:p>
          <a:p>
            <a:pPr algn="l"/>
            <a:r>
              <a:rPr lang="en-US" sz="2000" b="1" dirty="0">
                <a:solidFill>
                  <a:schemeClr val="tx1"/>
                </a:solidFill>
              </a:rPr>
              <a:t>every element of </a:t>
            </a:r>
            <a:r>
              <a:rPr lang="en-US" sz="2000" b="1" dirty="0">
                <a:solidFill>
                  <a:srgbClr val="0070C0"/>
                </a:solidFill>
              </a:rPr>
              <a:t>T</a:t>
            </a:r>
            <a:r>
              <a:rPr lang="en-US" sz="2000" b="1" dirty="0">
                <a:solidFill>
                  <a:srgbClr val="7030A0"/>
                </a:solidFill>
              </a:rPr>
              <a:t> </a:t>
            </a:r>
            <a:r>
              <a:rPr lang="en-US" sz="2000" b="1" dirty="0">
                <a:solidFill>
                  <a:schemeClr val="tx1"/>
                </a:solidFill>
              </a:rPr>
              <a:t>is </a:t>
            </a:r>
            <a:r>
              <a:rPr lang="en-US" sz="2000" b="1" u="sng" dirty="0">
                <a:solidFill>
                  <a:srgbClr val="7030A0"/>
                </a:solidFill>
              </a:rPr>
              <a:t>smaller</a:t>
            </a:r>
            <a:r>
              <a:rPr lang="en-US" sz="2000" b="1" dirty="0">
                <a:solidFill>
                  <a:schemeClr val="tx1"/>
                </a:solidFill>
              </a:rPr>
              <a:t> than every element of </a:t>
            </a:r>
            <a:r>
              <a:rPr lang="en-US" sz="2000" b="1" dirty="0">
                <a:solidFill>
                  <a:srgbClr val="0070C0"/>
                </a:solidFill>
              </a:rPr>
              <a:t>T’</a:t>
            </a:r>
          </a:p>
        </p:txBody>
      </p:sp>
    </p:spTree>
    <p:extLst>
      <p:ext uri="{BB962C8B-B14F-4D97-AF65-F5344CB8AC3E}">
        <p14:creationId xmlns:p14="http://schemas.microsoft.com/office/powerpoint/2010/main" val="3211964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dirty="0" err="1">
                <a:solidFill>
                  <a:srgbClr val="002060"/>
                </a:solidFill>
              </a:rPr>
              <a:t>SpecialUnion</a:t>
            </a:r>
            <a:r>
              <a:rPr lang="en-US" sz="3600" b="1" dirty="0"/>
              <a:t>(</a:t>
            </a:r>
            <a:r>
              <a:rPr lang="en-US" sz="3600" b="1" dirty="0">
                <a:solidFill>
                  <a:srgbClr val="0070C0"/>
                </a:solidFill>
              </a:rPr>
              <a:t>T,T’</a:t>
            </a:r>
            <a:r>
              <a:rPr lang="en-US" sz="3600" b="1" dirty="0"/>
              <a:t>)</a:t>
            </a:r>
            <a:endParaRPr lang="en-US" sz="32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US" sz="2800" b="1" dirty="0">
                <a:solidFill>
                  <a:srgbClr val="C00000"/>
                </a:solidFill>
              </a:rPr>
              <a:t> </a:t>
            </a:r>
            <a:endParaRPr lang="en-US" sz="20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7893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4953000" y="1371600"/>
            <a:ext cx="3200400" cy="3752910"/>
            <a:chOff x="4953000" y="1371600"/>
            <a:chExt cx="3200400" cy="3752910"/>
          </a:xfrm>
        </p:grpSpPr>
        <p:sp>
          <p:nvSpPr>
            <p:cNvPr id="8" name="Isosceles Triangle 7"/>
            <p:cNvSpPr/>
            <p:nvPr/>
          </p:nvSpPr>
          <p:spPr>
            <a:xfrm>
              <a:off x="4953000" y="1371600"/>
              <a:ext cx="3200400" cy="3352800"/>
            </a:xfrm>
            <a:prstGeom prst="triangl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089496" y="4724400"/>
              <a:ext cx="38164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00B0F0"/>
                  </a:solidFill>
                </a:rPr>
                <a:t>T’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A </a:t>
            </a:r>
            <a:r>
              <a:rPr lang="en-US" sz="3200" b="1" dirty="0">
                <a:solidFill>
                  <a:srgbClr val="7030A0"/>
                </a:solidFill>
              </a:rPr>
              <a:t>trivial</a:t>
            </a:r>
            <a:r>
              <a:rPr lang="en-US" sz="3200" b="1" dirty="0"/>
              <a:t> algorithm that does not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 algn="ctr">
              <a:buNone/>
            </a:pPr>
            <a:r>
              <a:rPr lang="en-US" sz="2000" b="1" dirty="0"/>
              <a:t>Time complexity:</a:t>
            </a:r>
            <a:r>
              <a:rPr lang="en-US" sz="2000" b="1" dirty="0">
                <a:solidFill>
                  <a:srgbClr val="C00000"/>
                </a:solidFill>
              </a:rPr>
              <a:t> </a:t>
            </a:r>
            <a:r>
              <a:rPr lang="en-US" sz="2000" dirty="0">
                <a:solidFill>
                  <a:srgbClr val="C00000"/>
                </a:solidFill>
              </a:rPr>
              <a:t>O</a:t>
            </a:r>
            <a:r>
              <a:rPr lang="en-US" sz="2000" dirty="0"/>
              <a:t>(log </a:t>
            </a:r>
            <a:r>
              <a:rPr lang="en-US" sz="2000" dirty="0">
                <a:solidFill>
                  <a:srgbClr val="0070C0"/>
                </a:solidFill>
              </a:rPr>
              <a:t>n</a:t>
            </a:r>
            <a:r>
              <a:rPr lang="en-US" sz="2000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876800" y="4572000"/>
            <a:ext cx="152400" cy="1524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/>
          <p:cNvGrpSpPr/>
          <p:nvPr/>
        </p:nvGrpSpPr>
        <p:grpSpPr>
          <a:xfrm>
            <a:off x="3009900" y="2854199"/>
            <a:ext cx="1930089" cy="2103477"/>
            <a:chOff x="3009900" y="2854199"/>
            <a:chExt cx="1930089" cy="2103477"/>
          </a:xfrm>
        </p:grpSpPr>
        <p:sp>
          <p:nvSpPr>
            <p:cNvPr id="12" name="Freeform 11"/>
            <p:cNvSpPr/>
            <p:nvPr/>
          </p:nvSpPr>
          <p:spPr>
            <a:xfrm>
              <a:off x="3021804" y="2854199"/>
              <a:ext cx="1918185" cy="2103477"/>
            </a:xfrm>
            <a:custGeom>
              <a:avLst/>
              <a:gdLst>
                <a:gd name="connsiteX0" fmla="*/ 1919762 w 1919762"/>
                <a:gd name="connsiteY0" fmla="*/ 1809062 h 1999875"/>
                <a:gd name="connsiteX1" fmla="*/ 1719040 w 1919762"/>
                <a:gd name="connsiteY1" fmla="*/ 1954027 h 1999875"/>
                <a:gd name="connsiteX2" fmla="*/ 1429109 w 1919762"/>
                <a:gd name="connsiteY2" fmla="*/ 1987481 h 1999875"/>
                <a:gd name="connsiteX3" fmla="*/ 1150328 w 1919762"/>
                <a:gd name="connsiteY3" fmla="*/ 1764457 h 1999875"/>
                <a:gd name="connsiteX4" fmla="*/ 380894 w 1919762"/>
                <a:gd name="connsiteY4" fmla="*/ 125227 h 1999875"/>
                <a:gd name="connsiteX5" fmla="*/ 57509 w 1919762"/>
                <a:gd name="connsiteY5" fmla="*/ 125227 h 1999875"/>
                <a:gd name="connsiteX6" fmla="*/ 1752 w 1919762"/>
                <a:gd name="connsiteY6" fmla="*/ 225588 h 1999875"/>
                <a:gd name="connsiteX0" fmla="*/ 1918088 w 1918088"/>
                <a:gd name="connsiteY0" fmla="*/ 1874128 h 2064941"/>
                <a:gd name="connsiteX1" fmla="*/ 1717366 w 1918088"/>
                <a:gd name="connsiteY1" fmla="*/ 2019093 h 2064941"/>
                <a:gd name="connsiteX2" fmla="*/ 1427435 w 1918088"/>
                <a:gd name="connsiteY2" fmla="*/ 2052547 h 2064941"/>
                <a:gd name="connsiteX3" fmla="*/ 1148654 w 1918088"/>
                <a:gd name="connsiteY3" fmla="*/ 1829523 h 2064941"/>
                <a:gd name="connsiteX4" fmla="*/ 379220 w 1918088"/>
                <a:gd name="connsiteY4" fmla="*/ 190293 h 2064941"/>
                <a:gd name="connsiteX5" fmla="*/ 189650 w 1918088"/>
                <a:gd name="connsiteY5" fmla="*/ 45327 h 2064941"/>
                <a:gd name="connsiteX6" fmla="*/ 78 w 1918088"/>
                <a:gd name="connsiteY6" fmla="*/ 290654 h 2064941"/>
                <a:gd name="connsiteX0" fmla="*/ 1918143 w 1918143"/>
                <a:gd name="connsiteY0" fmla="*/ 1887425 h 2078238"/>
                <a:gd name="connsiteX1" fmla="*/ 1717421 w 1918143"/>
                <a:gd name="connsiteY1" fmla="*/ 2032390 h 2078238"/>
                <a:gd name="connsiteX2" fmla="*/ 1427490 w 1918143"/>
                <a:gd name="connsiteY2" fmla="*/ 2065844 h 2078238"/>
                <a:gd name="connsiteX3" fmla="*/ 1148709 w 1918143"/>
                <a:gd name="connsiteY3" fmla="*/ 1842820 h 2078238"/>
                <a:gd name="connsiteX4" fmla="*/ 379275 w 1918143"/>
                <a:gd name="connsiteY4" fmla="*/ 203590 h 2078238"/>
                <a:gd name="connsiteX5" fmla="*/ 133949 w 1918143"/>
                <a:gd name="connsiteY5" fmla="*/ 36322 h 2078238"/>
                <a:gd name="connsiteX6" fmla="*/ 133 w 1918143"/>
                <a:gd name="connsiteY6" fmla="*/ 303951 h 2078238"/>
                <a:gd name="connsiteX0" fmla="*/ 1918185 w 1918185"/>
                <a:gd name="connsiteY0" fmla="*/ 1851616 h 2042429"/>
                <a:gd name="connsiteX1" fmla="*/ 1717463 w 1918185"/>
                <a:gd name="connsiteY1" fmla="*/ 1996581 h 2042429"/>
                <a:gd name="connsiteX2" fmla="*/ 1427532 w 1918185"/>
                <a:gd name="connsiteY2" fmla="*/ 2030035 h 2042429"/>
                <a:gd name="connsiteX3" fmla="*/ 1148751 w 1918185"/>
                <a:gd name="connsiteY3" fmla="*/ 1807011 h 2042429"/>
                <a:gd name="connsiteX4" fmla="*/ 490829 w 1918185"/>
                <a:gd name="connsiteY4" fmla="*/ 346201 h 2042429"/>
                <a:gd name="connsiteX5" fmla="*/ 133991 w 1918185"/>
                <a:gd name="connsiteY5" fmla="*/ 513 h 2042429"/>
                <a:gd name="connsiteX6" fmla="*/ 175 w 1918185"/>
                <a:gd name="connsiteY6" fmla="*/ 268142 h 2042429"/>
                <a:gd name="connsiteX0" fmla="*/ 1918185 w 1918185"/>
                <a:gd name="connsiteY0" fmla="*/ 1851616 h 2033346"/>
                <a:gd name="connsiteX1" fmla="*/ 1717463 w 1918185"/>
                <a:gd name="connsiteY1" fmla="*/ 1996581 h 2033346"/>
                <a:gd name="connsiteX2" fmla="*/ 1349474 w 1918185"/>
                <a:gd name="connsiteY2" fmla="*/ 2018884 h 2033346"/>
                <a:gd name="connsiteX3" fmla="*/ 1148751 w 1918185"/>
                <a:gd name="connsiteY3" fmla="*/ 1807011 h 2033346"/>
                <a:gd name="connsiteX4" fmla="*/ 490829 w 1918185"/>
                <a:gd name="connsiteY4" fmla="*/ 346201 h 2033346"/>
                <a:gd name="connsiteX5" fmla="*/ 133991 w 1918185"/>
                <a:gd name="connsiteY5" fmla="*/ 513 h 2033346"/>
                <a:gd name="connsiteX6" fmla="*/ 175 w 1918185"/>
                <a:gd name="connsiteY6" fmla="*/ 268142 h 2033346"/>
                <a:gd name="connsiteX0" fmla="*/ 1918185 w 1918185"/>
                <a:gd name="connsiteY0" fmla="*/ 1851616 h 2103477"/>
                <a:gd name="connsiteX1" fmla="*/ 1717463 w 1918185"/>
                <a:gd name="connsiteY1" fmla="*/ 1996581 h 2103477"/>
                <a:gd name="connsiteX2" fmla="*/ 1427532 w 1918185"/>
                <a:gd name="connsiteY2" fmla="*/ 2096943 h 2103477"/>
                <a:gd name="connsiteX3" fmla="*/ 1148751 w 1918185"/>
                <a:gd name="connsiteY3" fmla="*/ 1807011 h 2103477"/>
                <a:gd name="connsiteX4" fmla="*/ 490829 w 1918185"/>
                <a:gd name="connsiteY4" fmla="*/ 346201 h 2103477"/>
                <a:gd name="connsiteX5" fmla="*/ 133991 w 1918185"/>
                <a:gd name="connsiteY5" fmla="*/ 513 h 2103477"/>
                <a:gd name="connsiteX6" fmla="*/ 175 w 1918185"/>
                <a:gd name="connsiteY6" fmla="*/ 268142 h 2103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8185" h="2103477">
                  <a:moveTo>
                    <a:pt x="1918185" y="1851616"/>
                  </a:moveTo>
                  <a:cubicBezTo>
                    <a:pt x="1858712" y="1909230"/>
                    <a:pt x="1799239" y="1955693"/>
                    <a:pt x="1717463" y="1996581"/>
                  </a:cubicBezTo>
                  <a:cubicBezTo>
                    <a:pt x="1635688" y="2037469"/>
                    <a:pt x="1522317" y="2128538"/>
                    <a:pt x="1427532" y="2096943"/>
                  </a:cubicBezTo>
                  <a:cubicBezTo>
                    <a:pt x="1332747" y="2065348"/>
                    <a:pt x="1304868" y="2098801"/>
                    <a:pt x="1148751" y="1807011"/>
                  </a:cubicBezTo>
                  <a:cubicBezTo>
                    <a:pt x="992634" y="1515221"/>
                    <a:pt x="659956" y="647284"/>
                    <a:pt x="490829" y="346201"/>
                  </a:cubicBezTo>
                  <a:cubicBezTo>
                    <a:pt x="321702" y="45118"/>
                    <a:pt x="215767" y="13523"/>
                    <a:pt x="133991" y="513"/>
                  </a:cubicBezTo>
                  <a:cubicBezTo>
                    <a:pt x="52215" y="-12497"/>
                    <a:pt x="-3542" y="226325"/>
                    <a:pt x="175" y="268142"/>
                  </a:cubicBezTo>
                </a:path>
              </a:pathLst>
            </a:cu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Arrow Connector 13"/>
            <p:cNvCxnSpPr>
              <a:stCxn id="12" idx="6"/>
              <a:endCxn id="5" idx="0"/>
            </p:cNvCxnSpPr>
            <p:nvPr/>
          </p:nvCxnSpPr>
          <p:spPr>
            <a:xfrm flipH="1">
              <a:off x="3009900" y="3122341"/>
              <a:ext cx="12079" cy="78059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/>
          <p:cNvGrpSpPr/>
          <p:nvPr/>
        </p:nvGrpSpPr>
        <p:grpSpPr>
          <a:xfrm>
            <a:off x="2286000" y="3200400"/>
            <a:ext cx="1447800" cy="1935778"/>
            <a:chOff x="2286000" y="3200400"/>
            <a:chExt cx="1447800" cy="1935778"/>
          </a:xfrm>
        </p:grpSpPr>
        <p:sp>
          <p:nvSpPr>
            <p:cNvPr id="5" name="Isosceles Triangle 4"/>
            <p:cNvSpPr/>
            <p:nvPr/>
          </p:nvSpPr>
          <p:spPr>
            <a:xfrm>
              <a:off x="2286000" y="3200400"/>
              <a:ext cx="1447800" cy="1524000"/>
            </a:xfrm>
            <a:prstGeom prst="triangl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889096" y="4736068"/>
              <a:ext cx="31130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00B0F0"/>
                  </a:solidFill>
                </a:rPr>
                <a:t>T</a:t>
              </a: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4267200" y="3200400"/>
            <a:ext cx="43954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&lt;</a:t>
            </a:r>
          </a:p>
        </p:txBody>
      </p:sp>
      <p:cxnSp>
        <p:nvCxnSpPr>
          <p:cNvPr id="25" name="Straight Arrow Connector 24"/>
          <p:cNvCxnSpPr/>
          <p:nvPr/>
        </p:nvCxnSpPr>
        <p:spPr>
          <a:xfrm flipH="1">
            <a:off x="5257800" y="2362200"/>
            <a:ext cx="533400" cy="1064941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/>
          <p:cNvGrpSpPr/>
          <p:nvPr/>
        </p:nvGrpSpPr>
        <p:grpSpPr>
          <a:xfrm>
            <a:off x="381000" y="2590800"/>
            <a:ext cx="1978555" cy="762000"/>
            <a:chOff x="1143000" y="2971800"/>
            <a:chExt cx="1978555" cy="762000"/>
          </a:xfrm>
        </p:grpSpPr>
        <p:sp>
          <p:nvSpPr>
            <p:cNvPr id="30" name="Smiley Face 29"/>
            <p:cNvSpPr/>
            <p:nvPr/>
          </p:nvSpPr>
          <p:spPr>
            <a:xfrm>
              <a:off x="1981200" y="2971800"/>
              <a:ext cx="304800" cy="381000"/>
            </a:xfrm>
            <a:prstGeom prst="smileyFace">
              <a:avLst>
                <a:gd name="adj" fmla="val -4653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143000" y="3364468"/>
              <a:ext cx="1978555" cy="36933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Height balance lost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06813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9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dirty="0"/>
              <a:t>Towards an </a:t>
            </a:r>
            <a:r>
              <a:rPr lang="en-US" sz="2400" b="1" dirty="0">
                <a:solidFill>
                  <a:srgbClr val="C00000"/>
                </a:solidFill>
              </a:rPr>
              <a:t>O</a:t>
            </a:r>
            <a:r>
              <a:rPr lang="en-US" sz="2400" b="1" dirty="0"/>
              <a:t>(log </a:t>
            </a:r>
            <a:r>
              <a:rPr lang="en-US" sz="2400" b="1" dirty="0">
                <a:solidFill>
                  <a:srgbClr val="0070C0"/>
                </a:solidFill>
              </a:rPr>
              <a:t>n</a:t>
            </a:r>
            <a:r>
              <a:rPr lang="en-US" sz="2400" b="1" dirty="0"/>
              <a:t>) time for </a:t>
            </a:r>
            <a:r>
              <a:rPr lang="en-US" sz="2400" b="1" dirty="0" err="1">
                <a:solidFill>
                  <a:srgbClr val="002060"/>
                </a:solidFill>
              </a:rPr>
              <a:t>SpecialUnion</a:t>
            </a:r>
            <a:r>
              <a:rPr lang="en-US" sz="2400" b="1" dirty="0"/>
              <a:t>(</a:t>
            </a:r>
            <a:r>
              <a:rPr lang="en-US" sz="2400" b="1" dirty="0">
                <a:solidFill>
                  <a:srgbClr val="0070C0"/>
                </a:solidFill>
              </a:rPr>
              <a:t>T</a:t>
            </a:r>
            <a:r>
              <a:rPr lang="en-US" sz="2400" b="1" dirty="0"/>
              <a:t>,</a:t>
            </a:r>
            <a:r>
              <a:rPr lang="en-US" sz="2400" b="1" dirty="0">
                <a:solidFill>
                  <a:srgbClr val="0070C0"/>
                </a:solidFill>
              </a:rPr>
              <a:t>T’</a:t>
            </a:r>
            <a:r>
              <a:rPr lang="en-US" sz="2400" b="1" dirty="0"/>
              <a:t>) 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4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2400" b="1" dirty="0">
              <a:solidFill>
                <a:srgbClr val="7030A0"/>
              </a:solidFill>
            </a:endParaRPr>
          </a:p>
          <a:p>
            <a:r>
              <a:rPr lang="en-US" sz="2400" b="1" dirty="0">
                <a:solidFill>
                  <a:srgbClr val="7030A0"/>
                </a:solidFill>
              </a:rPr>
              <a:t>Simplifying </a:t>
            </a:r>
            <a:r>
              <a:rPr lang="en-US" sz="2400" b="1" dirty="0">
                <a:solidFill>
                  <a:srgbClr val="002060"/>
                </a:solidFill>
              </a:rPr>
              <a:t>the problem</a:t>
            </a:r>
          </a:p>
          <a:p>
            <a:pPr marL="0" indent="0">
              <a:buNone/>
            </a:pPr>
            <a:r>
              <a:rPr lang="en-US" sz="2000" dirty="0"/>
              <a:t>	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400" b="1" dirty="0">
                <a:solidFill>
                  <a:srgbClr val="7030A0"/>
                </a:solidFill>
              </a:rPr>
              <a:t>Solving the simpler version </a:t>
            </a:r>
            <a:r>
              <a:rPr lang="en-US" sz="2400" b="1" dirty="0">
                <a:solidFill>
                  <a:srgbClr val="002060"/>
                </a:solidFill>
              </a:rPr>
              <a:t>efficiently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400" b="1" dirty="0">
                <a:solidFill>
                  <a:srgbClr val="7030A0"/>
                </a:solidFill>
              </a:rPr>
              <a:t>Extending </a:t>
            </a:r>
            <a:r>
              <a:rPr lang="en-US" sz="2400" b="1" dirty="0">
                <a:solidFill>
                  <a:srgbClr val="002060"/>
                </a:solidFill>
              </a:rPr>
              <a:t>the solution to generic version</a:t>
            </a:r>
            <a:endParaRPr lang="en-US" sz="2800" b="1" dirty="0">
              <a:solidFill>
                <a:srgbClr val="00206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5" name="Cloud Callout 4"/>
          <p:cNvSpPr/>
          <p:nvPr/>
        </p:nvSpPr>
        <p:spPr>
          <a:xfrm>
            <a:off x="5715000" y="1219200"/>
            <a:ext cx="3429000" cy="1371600"/>
          </a:xfrm>
          <a:prstGeom prst="cloudCallout">
            <a:avLst>
              <a:gd name="adj1" fmla="val -28580"/>
              <a:gd name="adj2" fmla="val 7801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Can we solve some simple cases easily ?</a:t>
            </a:r>
          </a:p>
        </p:txBody>
      </p:sp>
    </p:spTree>
    <p:extLst>
      <p:ext uri="{BB962C8B-B14F-4D97-AF65-F5344CB8AC3E}">
        <p14:creationId xmlns:p14="http://schemas.microsoft.com/office/powerpoint/2010/main" val="697997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25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25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Simplifying</a:t>
            </a:r>
            <a:r>
              <a:rPr lang="en-US" sz="3200" b="1" dirty="0"/>
              <a:t> the problem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7030A0"/>
                </a:solidFill>
              </a:rPr>
              <a:t>Simplified problem: </a:t>
            </a:r>
          </a:p>
          <a:p>
            <a:pPr marL="0" indent="0">
              <a:buNone/>
            </a:pPr>
            <a:r>
              <a:rPr lang="en-US" sz="2000" dirty="0"/>
              <a:t>Given two trees </a:t>
            </a:r>
            <a:r>
              <a:rPr lang="en-US" sz="2000" b="1" dirty="0">
                <a:solidFill>
                  <a:srgbClr val="00B0F0"/>
                </a:solidFill>
              </a:rPr>
              <a:t>T</a:t>
            </a:r>
            <a:r>
              <a:rPr lang="en-US" sz="2000" dirty="0"/>
              <a:t>, </a:t>
            </a:r>
            <a:r>
              <a:rPr lang="en-US" sz="2000" b="1" dirty="0">
                <a:solidFill>
                  <a:srgbClr val="00B0F0"/>
                </a:solidFill>
              </a:rPr>
              <a:t>T’</a:t>
            </a:r>
            <a:r>
              <a:rPr lang="en-US" sz="2000" dirty="0"/>
              <a:t> of </a:t>
            </a:r>
            <a:r>
              <a:rPr lang="en-US" sz="2000" u="sng" dirty="0"/>
              <a:t>same</a:t>
            </a:r>
            <a:r>
              <a:rPr lang="en-US" sz="2000" dirty="0"/>
              <a:t> </a:t>
            </a:r>
            <a:r>
              <a:rPr lang="en-US" sz="2000" b="1" dirty="0"/>
              <a:t>black height</a:t>
            </a:r>
          </a:p>
          <a:p>
            <a:pPr marL="0" indent="0">
              <a:buNone/>
            </a:pPr>
            <a:r>
              <a:rPr lang="en-US" sz="2000" b="1" dirty="0"/>
              <a:t> </a:t>
            </a:r>
            <a:r>
              <a:rPr lang="en-US" sz="2000" dirty="0"/>
              <a:t>and a key </a:t>
            </a:r>
            <a:r>
              <a:rPr lang="en-US" sz="2000" b="1" dirty="0"/>
              <a:t>x</a:t>
            </a:r>
            <a:r>
              <a:rPr lang="en-US" sz="2000" dirty="0"/>
              <a:t>, such that </a:t>
            </a:r>
            <a:r>
              <a:rPr lang="en-US" sz="2000" b="1" dirty="0">
                <a:solidFill>
                  <a:srgbClr val="00B0F0"/>
                </a:solidFill>
              </a:rPr>
              <a:t>T</a:t>
            </a:r>
            <a:r>
              <a:rPr lang="en-US" sz="2000" dirty="0"/>
              <a:t>&lt;</a:t>
            </a:r>
            <a:r>
              <a:rPr lang="en-US" sz="2000" b="1" dirty="0"/>
              <a:t>x</a:t>
            </a:r>
            <a:r>
              <a:rPr lang="en-US" sz="2000" dirty="0"/>
              <a:t>&lt;</a:t>
            </a:r>
            <a:r>
              <a:rPr lang="en-US" sz="2000" b="1" dirty="0">
                <a:solidFill>
                  <a:srgbClr val="00B0F0"/>
                </a:solidFill>
              </a:rPr>
              <a:t>T’</a:t>
            </a:r>
            <a:r>
              <a:rPr lang="en-US" sz="2000" dirty="0"/>
              <a:t>, </a:t>
            </a:r>
          </a:p>
          <a:p>
            <a:pPr marL="0" indent="0">
              <a:buNone/>
            </a:pPr>
            <a:r>
              <a:rPr lang="en-US" sz="2000" dirty="0"/>
              <a:t>transform them into a tree </a:t>
            </a:r>
            <a:r>
              <a:rPr lang="en-US" sz="2000" b="1" dirty="0">
                <a:solidFill>
                  <a:srgbClr val="00B0F0"/>
                </a:solidFill>
              </a:rPr>
              <a:t>T*</a:t>
            </a:r>
            <a:r>
              <a:rPr lang="en-US" sz="2000" dirty="0"/>
              <a:t>=</a:t>
            </a:r>
            <a:r>
              <a:rPr lang="en-US" sz="2000" b="1" dirty="0">
                <a:solidFill>
                  <a:srgbClr val="00B0F0"/>
                </a:solidFill>
              </a:rPr>
              <a:t>T</a:t>
            </a:r>
            <a:r>
              <a:rPr lang="en-US" sz="2000" dirty="0"/>
              <a:t>U{</a:t>
            </a:r>
            <a:r>
              <a:rPr lang="en-US" sz="2000" b="1" dirty="0"/>
              <a:t>x</a:t>
            </a:r>
            <a:r>
              <a:rPr lang="en-US" sz="2000" dirty="0"/>
              <a:t>}U</a:t>
            </a:r>
            <a:r>
              <a:rPr lang="en-US" sz="2000" b="1" dirty="0">
                <a:solidFill>
                  <a:srgbClr val="00B0F0"/>
                </a:solidFill>
              </a:rPr>
              <a:t>T’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grpSp>
        <p:nvGrpSpPr>
          <p:cNvPr id="22" name="Group 21"/>
          <p:cNvGrpSpPr/>
          <p:nvPr/>
        </p:nvGrpSpPr>
        <p:grpSpPr>
          <a:xfrm>
            <a:off x="2286000" y="3200400"/>
            <a:ext cx="1447800" cy="1935778"/>
            <a:chOff x="2286000" y="3200400"/>
            <a:chExt cx="1447800" cy="1935778"/>
          </a:xfrm>
        </p:grpSpPr>
        <p:sp>
          <p:nvSpPr>
            <p:cNvPr id="5" name="Isosceles Triangle 4"/>
            <p:cNvSpPr/>
            <p:nvPr/>
          </p:nvSpPr>
          <p:spPr>
            <a:xfrm>
              <a:off x="2286000" y="3200400"/>
              <a:ext cx="1447800" cy="1524000"/>
            </a:xfrm>
            <a:prstGeom prst="triangl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889096" y="4736068"/>
              <a:ext cx="31130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00B0F0"/>
                  </a:solidFill>
                </a:rPr>
                <a:t>T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6172200" y="3168134"/>
            <a:ext cx="1447800" cy="1935778"/>
            <a:chOff x="2286000" y="3200400"/>
            <a:chExt cx="1447800" cy="1935778"/>
          </a:xfrm>
        </p:grpSpPr>
        <p:sp>
          <p:nvSpPr>
            <p:cNvPr id="26" name="Isosceles Triangle 25"/>
            <p:cNvSpPr/>
            <p:nvPr/>
          </p:nvSpPr>
          <p:spPr>
            <a:xfrm>
              <a:off x="2286000" y="3200400"/>
              <a:ext cx="1447800" cy="1524000"/>
            </a:xfrm>
            <a:prstGeom prst="triangl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889096" y="4736068"/>
              <a:ext cx="38164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00B0F0"/>
                  </a:solidFill>
                </a:rPr>
                <a:t>T’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3962400" y="2362200"/>
            <a:ext cx="1963544" cy="1546086"/>
            <a:chOff x="3962400" y="2362200"/>
            <a:chExt cx="1963544" cy="1546086"/>
          </a:xfrm>
        </p:grpSpPr>
        <p:sp>
          <p:nvSpPr>
            <p:cNvPr id="9" name="Oval 8"/>
            <p:cNvSpPr/>
            <p:nvPr/>
          </p:nvSpPr>
          <p:spPr>
            <a:xfrm>
              <a:off x="4800600" y="2362200"/>
              <a:ext cx="152400" cy="1524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962400" y="3200400"/>
              <a:ext cx="439544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/>
                <a:t>&lt;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486400" y="3124200"/>
              <a:ext cx="439544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/>
                <a:t>&lt;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738736" y="2514600"/>
              <a:ext cx="2904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49007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2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2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Solving the simplified</a:t>
            </a:r>
            <a:r>
              <a:rPr lang="en-US" sz="3200" b="1" dirty="0"/>
              <a:t> problem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7030A0"/>
                </a:solidFill>
              </a:rPr>
              <a:t>Simplified problem: </a:t>
            </a:r>
          </a:p>
          <a:p>
            <a:pPr marL="0" indent="0">
              <a:buNone/>
            </a:pPr>
            <a:r>
              <a:rPr lang="en-US" sz="2000" dirty="0"/>
              <a:t>Given two trees </a:t>
            </a:r>
            <a:r>
              <a:rPr lang="en-US" sz="2000" b="1" dirty="0">
                <a:solidFill>
                  <a:srgbClr val="00B0F0"/>
                </a:solidFill>
              </a:rPr>
              <a:t>T</a:t>
            </a:r>
            <a:r>
              <a:rPr lang="en-US" sz="2000" dirty="0"/>
              <a:t>, </a:t>
            </a:r>
            <a:r>
              <a:rPr lang="en-US" sz="2000" b="1" dirty="0">
                <a:solidFill>
                  <a:srgbClr val="00B0F0"/>
                </a:solidFill>
              </a:rPr>
              <a:t>T’</a:t>
            </a:r>
            <a:r>
              <a:rPr lang="en-US" sz="2000" dirty="0"/>
              <a:t> of </a:t>
            </a:r>
            <a:r>
              <a:rPr lang="en-US" sz="2000" u="sng" dirty="0"/>
              <a:t>same</a:t>
            </a:r>
            <a:r>
              <a:rPr lang="en-US" sz="2000" dirty="0"/>
              <a:t> </a:t>
            </a:r>
            <a:r>
              <a:rPr lang="en-US" sz="2000" b="1" dirty="0"/>
              <a:t>black height</a:t>
            </a:r>
          </a:p>
          <a:p>
            <a:pPr marL="0" indent="0">
              <a:buNone/>
            </a:pPr>
            <a:r>
              <a:rPr lang="en-US" sz="2000" b="1" dirty="0"/>
              <a:t> </a:t>
            </a:r>
            <a:r>
              <a:rPr lang="en-US" sz="2000" dirty="0"/>
              <a:t>and a key </a:t>
            </a:r>
            <a:r>
              <a:rPr lang="en-US" sz="2000" b="1" dirty="0"/>
              <a:t>x</a:t>
            </a:r>
            <a:r>
              <a:rPr lang="en-US" sz="2000" dirty="0"/>
              <a:t>, such that </a:t>
            </a:r>
            <a:r>
              <a:rPr lang="en-US" sz="2000" b="1" dirty="0">
                <a:solidFill>
                  <a:srgbClr val="00B0F0"/>
                </a:solidFill>
              </a:rPr>
              <a:t>T</a:t>
            </a:r>
            <a:r>
              <a:rPr lang="en-US" sz="2000" dirty="0"/>
              <a:t>&lt;</a:t>
            </a:r>
            <a:r>
              <a:rPr lang="en-US" sz="2000" b="1" dirty="0"/>
              <a:t>x</a:t>
            </a:r>
            <a:r>
              <a:rPr lang="en-US" sz="2000" dirty="0"/>
              <a:t>&lt;</a:t>
            </a:r>
            <a:r>
              <a:rPr lang="en-US" sz="2000" b="1" dirty="0">
                <a:solidFill>
                  <a:srgbClr val="00B0F0"/>
                </a:solidFill>
              </a:rPr>
              <a:t>T’</a:t>
            </a:r>
            <a:r>
              <a:rPr lang="en-US" sz="2000" dirty="0"/>
              <a:t>, </a:t>
            </a:r>
          </a:p>
          <a:p>
            <a:pPr marL="0" indent="0">
              <a:buNone/>
            </a:pPr>
            <a:r>
              <a:rPr lang="en-US" sz="2000" dirty="0"/>
              <a:t>transform them into a tree </a:t>
            </a:r>
            <a:r>
              <a:rPr lang="en-US" sz="2000" b="1" dirty="0">
                <a:solidFill>
                  <a:srgbClr val="00B0F0"/>
                </a:solidFill>
              </a:rPr>
              <a:t>T*</a:t>
            </a:r>
            <a:r>
              <a:rPr lang="en-US" sz="2000" dirty="0"/>
              <a:t>=</a:t>
            </a:r>
            <a:r>
              <a:rPr lang="en-US" sz="2000" b="1" dirty="0">
                <a:solidFill>
                  <a:srgbClr val="00B0F0"/>
                </a:solidFill>
              </a:rPr>
              <a:t>T</a:t>
            </a:r>
            <a:r>
              <a:rPr lang="en-US" sz="2000" dirty="0"/>
              <a:t>U{</a:t>
            </a:r>
            <a:r>
              <a:rPr lang="en-US" sz="2000" b="1" dirty="0"/>
              <a:t>x</a:t>
            </a:r>
            <a:r>
              <a:rPr lang="en-US" sz="2000" dirty="0"/>
              <a:t>}U</a:t>
            </a:r>
            <a:r>
              <a:rPr lang="en-US" sz="2000" b="1" dirty="0">
                <a:solidFill>
                  <a:srgbClr val="00B0F0"/>
                </a:solidFill>
              </a:rPr>
              <a:t>T’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grpSp>
        <p:nvGrpSpPr>
          <p:cNvPr id="22" name="Group 21"/>
          <p:cNvGrpSpPr/>
          <p:nvPr/>
        </p:nvGrpSpPr>
        <p:grpSpPr>
          <a:xfrm>
            <a:off x="2286000" y="3200400"/>
            <a:ext cx="1447800" cy="1935778"/>
            <a:chOff x="2286000" y="3200400"/>
            <a:chExt cx="1447800" cy="1935778"/>
          </a:xfrm>
        </p:grpSpPr>
        <p:sp>
          <p:nvSpPr>
            <p:cNvPr id="5" name="Isosceles Triangle 4"/>
            <p:cNvSpPr/>
            <p:nvPr/>
          </p:nvSpPr>
          <p:spPr>
            <a:xfrm>
              <a:off x="2286000" y="3200400"/>
              <a:ext cx="1447800" cy="1524000"/>
            </a:xfrm>
            <a:prstGeom prst="triangl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889096" y="4736068"/>
              <a:ext cx="31130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00B0F0"/>
                  </a:solidFill>
                </a:rPr>
                <a:t>T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771356" y="2329934"/>
            <a:ext cx="1133644" cy="1022866"/>
            <a:chOff x="1533356" y="2710934"/>
            <a:chExt cx="1133644" cy="1022866"/>
          </a:xfrm>
        </p:grpSpPr>
        <p:sp>
          <p:nvSpPr>
            <p:cNvPr id="30" name="Smiley Face 29"/>
            <p:cNvSpPr/>
            <p:nvPr/>
          </p:nvSpPr>
          <p:spPr>
            <a:xfrm>
              <a:off x="1828800" y="2710934"/>
              <a:ext cx="533400" cy="489466"/>
            </a:xfrm>
            <a:prstGeom prst="smileyFace">
              <a:avLst>
                <a:gd name="adj" fmla="val 4653"/>
              </a:avLst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533356" y="3364468"/>
              <a:ext cx="113364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</a:rPr>
                <a:t>O </a:t>
              </a:r>
              <a:r>
                <a:rPr lang="en-US" dirty="0">
                  <a:solidFill>
                    <a:srgbClr val="002060"/>
                  </a:solidFill>
                </a:rPr>
                <a:t>(1) time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6172200" y="3168134"/>
            <a:ext cx="1447800" cy="1935778"/>
            <a:chOff x="2286000" y="3200400"/>
            <a:chExt cx="1447800" cy="1935778"/>
          </a:xfrm>
        </p:grpSpPr>
        <p:sp>
          <p:nvSpPr>
            <p:cNvPr id="26" name="Isosceles Triangle 25"/>
            <p:cNvSpPr/>
            <p:nvPr/>
          </p:nvSpPr>
          <p:spPr>
            <a:xfrm>
              <a:off x="2286000" y="3200400"/>
              <a:ext cx="1447800" cy="1524000"/>
            </a:xfrm>
            <a:prstGeom prst="triangl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889096" y="4736068"/>
              <a:ext cx="38164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00B0F0"/>
                  </a:solidFill>
                </a:rPr>
                <a:t>T’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3962400" y="2362200"/>
            <a:ext cx="1963544" cy="1546086"/>
            <a:chOff x="3962400" y="2362200"/>
            <a:chExt cx="1963544" cy="1546086"/>
          </a:xfrm>
        </p:grpSpPr>
        <p:sp>
          <p:nvSpPr>
            <p:cNvPr id="9" name="Oval 8"/>
            <p:cNvSpPr/>
            <p:nvPr/>
          </p:nvSpPr>
          <p:spPr>
            <a:xfrm>
              <a:off x="4800600" y="2362200"/>
              <a:ext cx="152400" cy="1524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962400" y="3200400"/>
              <a:ext cx="439544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/>
                <a:t>&lt;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486400" y="3124200"/>
              <a:ext cx="439544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/>
                <a:t>&lt;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738736" y="2514600"/>
              <a:ext cx="2904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x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3009900" y="2470666"/>
            <a:ext cx="3886200" cy="729734"/>
            <a:chOff x="3009900" y="2470666"/>
            <a:chExt cx="3886200" cy="729734"/>
          </a:xfrm>
        </p:grpSpPr>
        <p:cxnSp>
          <p:nvCxnSpPr>
            <p:cNvPr id="11" name="Straight Arrow Connector 10"/>
            <p:cNvCxnSpPr>
              <a:stCxn id="9" idx="3"/>
              <a:endCxn id="5" idx="0"/>
            </p:cNvCxnSpPr>
            <p:nvPr/>
          </p:nvCxnSpPr>
          <p:spPr>
            <a:xfrm flipH="1">
              <a:off x="3009900" y="2492282"/>
              <a:ext cx="1813018" cy="708118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/>
            <p:nvPr/>
          </p:nvCxnSpPr>
          <p:spPr>
            <a:xfrm>
              <a:off x="4953000" y="2470666"/>
              <a:ext cx="1943100" cy="729734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93712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4953000" y="1371600"/>
            <a:ext cx="3124200" cy="3752910"/>
            <a:chOff x="4953000" y="1371600"/>
            <a:chExt cx="3124200" cy="3752910"/>
          </a:xfrm>
        </p:grpSpPr>
        <p:sp>
          <p:nvSpPr>
            <p:cNvPr id="8" name="Isosceles Triangle 7"/>
            <p:cNvSpPr/>
            <p:nvPr/>
          </p:nvSpPr>
          <p:spPr>
            <a:xfrm>
              <a:off x="4953000" y="1371600"/>
              <a:ext cx="3124200" cy="3352800"/>
            </a:xfrm>
            <a:prstGeom prst="triangl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089496" y="4724400"/>
              <a:ext cx="38164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00B0F0"/>
                  </a:solidFill>
                </a:rPr>
                <a:t>T’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Extending the </a:t>
            </a:r>
            <a:r>
              <a:rPr lang="en-US" sz="3200" b="1" dirty="0"/>
              <a:t>algorithm to the generic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 algn="ctr">
              <a:buNone/>
            </a:pPr>
            <a:endParaRPr lang="en-US" sz="20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876800" y="4572000"/>
            <a:ext cx="152400" cy="1524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/>
          <p:cNvGrpSpPr/>
          <p:nvPr/>
        </p:nvGrpSpPr>
        <p:grpSpPr>
          <a:xfrm>
            <a:off x="2286000" y="3200400"/>
            <a:ext cx="1447800" cy="1935778"/>
            <a:chOff x="2286000" y="3200400"/>
            <a:chExt cx="1447800" cy="1935778"/>
          </a:xfrm>
        </p:grpSpPr>
        <p:sp>
          <p:nvSpPr>
            <p:cNvPr id="5" name="Isosceles Triangle 4"/>
            <p:cNvSpPr/>
            <p:nvPr/>
          </p:nvSpPr>
          <p:spPr>
            <a:xfrm>
              <a:off x="2286000" y="3200400"/>
              <a:ext cx="1447800" cy="1524000"/>
            </a:xfrm>
            <a:prstGeom prst="triangl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889096" y="4736068"/>
              <a:ext cx="31130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00B0F0"/>
                  </a:solidFill>
                </a:rPr>
                <a:t>T</a:t>
              </a:r>
            </a:p>
          </p:txBody>
        </p:sp>
      </p:grpSp>
      <p:cxnSp>
        <p:nvCxnSpPr>
          <p:cNvPr id="25" name="Straight Arrow Connector 24"/>
          <p:cNvCxnSpPr/>
          <p:nvPr/>
        </p:nvCxnSpPr>
        <p:spPr>
          <a:xfrm flipH="1">
            <a:off x="5486400" y="1905000"/>
            <a:ext cx="533400" cy="1064941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H="1" flipV="1">
            <a:off x="4267200" y="2969941"/>
            <a:ext cx="609600" cy="1525860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4114800" y="2743200"/>
            <a:ext cx="152400" cy="1524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802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animBg="1"/>
      <p:bldP spid="9" grpId="1" animBg="1"/>
      <p:bldP spid="2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4953000" y="1371600"/>
            <a:ext cx="3124200" cy="3752910"/>
            <a:chOff x="4953000" y="1371600"/>
            <a:chExt cx="3124200" cy="3752910"/>
          </a:xfrm>
        </p:grpSpPr>
        <p:sp>
          <p:nvSpPr>
            <p:cNvPr id="8" name="Isosceles Triangle 7"/>
            <p:cNvSpPr/>
            <p:nvPr/>
          </p:nvSpPr>
          <p:spPr>
            <a:xfrm>
              <a:off x="4953000" y="1371600"/>
              <a:ext cx="3124200" cy="3352800"/>
            </a:xfrm>
            <a:prstGeom prst="triangl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089496" y="4724400"/>
              <a:ext cx="38164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00B0F0"/>
                  </a:solidFill>
                </a:rPr>
                <a:t>T’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Extending the </a:t>
            </a:r>
            <a:r>
              <a:rPr lang="en-US" sz="3200" b="1" dirty="0"/>
              <a:t>algorithm to the generic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 algn="ctr">
              <a:buNone/>
            </a:pPr>
            <a:endParaRPr lang="en-US" sz="2000" b="1" dirty="0"/>
          </a:p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grpSp>
        <p:nvGrpSpPr>
          <p:cNvPr id="22" name="Group 21"/>
          <p:cNvGrpSpPr/>
          <p:nvPr/>
        </p:nvGrpSpPr>
        <p:grpSpPr>
          <a:xfrm>
            <a:off x="2286000" y="3200400"/>
            <a:ext cx="1447800" cy="1935778"/>
            <a:chOff x="2286000" y="3200400"/>
            <a:chExt cx="1447800" cy="1935778"/>
          </a:xfrm>
        </p:grpSpPr>
        <p:sp>
          <p:nvSpPr>
            <p:cNvPr id="5" name="Isosceles Triangle 4"/>
            <p:cNvSpPr/>
            <p:nvPr/>
          </p:nvSpPr>
          <p:spPr>
            <a:xfrm>
              <a:off x="2286000" y="3200400"/>
              <a:ext cx="1447800" cy="1524000"/>
            </a:xfrm>
            <a:prstGeom prst="triangl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889096" y="4736068"/>
              <a:ext cx="31130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00B0F0"/>
                  </a:solidFill>
                </a:rPr>
                <a:t>T</a:t>
              </a:r>
            </a:p>
          </p:txBody>
        </p:sp>
      </p:grpSp>
      <p:sp>
        <p:nvSpPr>
          <p:cNvPr id="26" name="Oval 25"/>
          <p:cNvSpPr/>
          <p:nvPr/>
        </p:nvSpPr>
        <p:spPr>
          <a:xfrm>
            <a:off x="4114800" y="2743200"/>
            <a:ext cx="152400" cy="1524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3581400" y="2895600"/>
            <a:ext cx="1201544" cy="924818"/>
            <a:chOff x="3657600" y="2776954"/>
            <a:chExt cx="1201544" cy="924818"/>
          </a:xfrm>
        </p:grpSpPr>
        <p:sp>
          <p:nvSpPr>
            <p:cNvPr id="16" name="TextBox 15"/>
            <p:cNvSpPr txBox="1"/>
            <p:nvPr/>
          </p:nvSpPr>
          <p:spPr>
            <a:xfrm>
              <a:off x="3657600" y="2993886"/>
              <a:ext cx="439544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/>
                <a:t>&lt;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419600" y="2983468"/>
              <a:ext cx="439544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/>
                <a:t>&lt;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129136" y="2776954"/>
              <a:ext cx="2904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55189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4953000" y="1371600"/>
            <a:ext cx="3124200" cy="3752910"/>
            <a:chOff x="4953000" y="1371600"/>
            <a:chExt cx="3124200" cy="3752910"/>
          </a:xfrm>
        </p:grpSpPr>
        <p:sp>
          <p:nvSpPr>
            <p:cNvPr id="8" name="Isosceles Triangle 7"/>
            <p:cNvSpPr/>
            <p:nvPr/>
          </p:nvSpPr>
          <p:spPr>
            <a:xfrm>
              <a:off x="4953000" y="1371600"/>
              <a:ext cx="3124200" cy="3352800"/>
            </a:xfrm>
            <a:prstGeom prst="triangl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089496" y="4724400"/>
              <a:ext cx="38164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00B0F0"/>
                  </a:solidFill>
                </a:rPr>
                <a:t>T’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Extending the </a:t>
            </a:r>
            <a:r>
              <a:rPr lang="en-US" sz="3200" b="1" dirty="0"/>
              <a:t>algorithm to the generic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 algn="ctr">
              <a:buNone/>
            </a:pPr>
            <a:endParaRPr lang="en-US" sz="2000" b="1" dirty="0"/>
          </a:p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grpSp>
        <p:nvGrpSpPr>
          <p:cNvPr id="22" name="Group 21"/>
          <p:cNvGrpSpPr/>
          <p:nvPr/>
        </p:nvGrpSpPr>
        <p:grpSpPr>
          <a:xfrm>
            <a:off x="2286000" y="3200400"/>
            <a:ext cx="1447800" cy="1935778"/>
            <a:chOff x="2286000" y="3200400"/>
            <a:chExt cx="1447800" cy="1935778"/>
          </a:xfrm>
        </p:grpSpPr>
        <p:sp>
          <p:nvSpPr>
            <p:cNvPr id="5" name="Isosceles Triangle 4"/>
            <p:cNvSpPr/>
            <p:nvPr/>
          </p:nvSpPr>
          <p:spPr>
            <a:xfrm>
              <a:off x="2286000" y="3200400"/>
              <a:ext cx="1447800" cy="1524000"/>
            </a:xfrm>
            <a:prstGeom prst="triangl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889096" y="4736068"/>
              <a:ext cx="31130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00B0F0"/>
                  </a:solidFill>
                </a:rPr>
                <a:t>T</a:t>
              </a:r>
            </a:p>
          </p:txBody>
        </p:sp>
      </p:grpSp>
      <p:cxnSp>
        <p:nvCxnSpPr>
          <p:cNvPr id="25" name="Straight Arrow Connector 24"/>
          <p:cNvCxnSpPr/>
          <p:nvPr/>
        </p:nvCxnSpPr>
        <p:spPr>
          <a:xfrm flipH="1">
            <a:off x="6096000" y="1371600"/>
            <a:ext cx="228600" cy="4572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4114800" y="2743200"/>
            <a:ext cx="152400" cy="1524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4052936" y="2895600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417759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4953000" y="1371600"/>
            <a:ext cx="3124200" cy="3752910"/>
            <a:chOff x="4953000" y="1371600"/>
            <a:chExt cx="3124200" cy="3752910"/>
          </a:xfrm>
        </p:grpSpPr>
        <p:sp>
          <p:nvSpPr>
            <p:cNvPr id="8" name="Isosceles Triangle 7"/>
            <p:cNvSpPr/>
            <p:nvPr/>
          </p:nvSpPr>
          <p:spPr>
            <a:xfrm>
              <a:off x="4953000" y="1371600"/>
              <a:ext cx="3124200" cy="3352800"/>
            </a:xfrm>
            <a:prstGeom prst="triangl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089496" y="4724400"/>
              <a:ext cx="38164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00B0F0"/>
                  </a:solidFill>
                </a:rPr>
                <a:t>T’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Extending the </a:t>
            </a:r>
            <a:r>
              <a:rPr lang="en-US" sz="3200" b="1" dirty="0"/>
              <a:t>algorithm to the generic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 algn="ctr">
              <a:buNone/>
            </a:pPr>
            <a:endParaRPr lang="en-US" sz="2000" b="1" dirty="0"/>
          </a:p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grpSp>
        <p:nvGrpSpPr>
          <p:cNvPr id="22" name="Group 21"/>
          <p:cNvGrpSpPr/>
          <p:nvPr/>
        </p:nvGrpSpPr>
        <p:grpSpPr>
          <a:xfrm>
            <a:off x="2286000" y="3200400"/>
            <a:ext cx="1447800" cy="1935778"/>
            <a:chOff x="2286000" y="3200400"/>
            <a:chExt cx="1447800" cy="1935778"/>
          </a:xfrm>
        </p:grpSpPr>
        <p:sp>
          <p:nvSpPr>
            <p:cNvPr id="5" name="Isosceles Triangle 4"/>
            <p:cNvSpPr/>
            <p:nvPr/>
          </p:nvSpPr>
          <p:spPr>
            <a:xfrm>
              <a:off x="2286000" y="3200400"/>
              <a:ext cx="1447800" cy="1524000"/>
            </a:xfrm>
            <a:prstGeom prst="triangl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889096" y="4736068"/>
              <a:ext cx="31130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00B0F0"/>
                  </a:solidFill>
                </a:rPr>
                <a:t>T</a:t>
              </a:r>
            </a:p>
          </p:txBody>
        </p:sp>
      </p:grpSp>
      <p:cxnSp>
        <p:nvCxnSpPr>
          <p:cNvPr id="25" name="Straight Arrow Connector 24"/>
          <p:cNvCxnSpPr/>
          <p:nvPr/>
        </p:nvCxnSpPr>
        <p:spPr>
          <a:xfrm flipH="1">
            <a:off x="5791200" y="1371600"/>
            <a:ext cx="533400" cy="10668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4114800" y="2743200"/>
            <a:ext cx="152400" cy="1524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4052936" y="2895600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495870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/>
        </p:nvSpPr>
        <p:spPr>
          <a:xfrm>
            <a:off x="5638800" y="4724400"/>
            <a:ext cx="4473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</a:rPr>
              <a:t>T’’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Extending the </a:t>
            </a:r>
            <a:r>
              <a:rPr lang="en-US" sz="3200" b="1" dirty="0"/>
              <a:t>algorithm to the generic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 algn="ctr">
              <a:buNone/>
            </a:pPr>
            <a:endParaRPr lang="en-US" sz="2000" b="1" dirty="0"/>
          </a:p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grpSp>
        <p:nvGrpSpPr>
          <p:cNvPr id="22" name="Group 21"/>
          <p:cNvGrpSpPr/>
          <p:nvPr/>
        </p:nvGrpSpPr>
        <p:grpSpPr>
          <a:xfrm>
            <a:off x="2286000" y="3200400"/>
            <a:ext cx="1447800" cy="1935778"/>
            <a:chOff x="2286000" y="3200400"/>
            <a:chExt cx="1447800" cy="1935778"/>
          </a:xfrm>
        </p:grpSpPr>
        <p:sp>
          <p:nvSpPr>
            <p:cNvPr id="5" name="Isosceles Triangle 4"/>
            <p:cNvSpPr/>
            <p:nvPr/>
          </p:nvSpPr>
          <p:spPr>
            <a:xfrm>
              <a:off x="2286000" y="3200400"/>
              <a:ext cx="1447800" cy="1524000"/>
            </a:xfrm>
            <a:prstGeom prst="triangl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889096" y="4736068"/>
              <a:ext cx="31130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00B0F0"/>
                  </a:solidFill>
                </a:rPr>
                <a:t>T</a:t>
              </a:r>
            </a:p>
          </p:txBody>
        </p:sp>
      </p:grpSp>
      <p:sp>
        <p:nvSpPr>
          <p:cNvPr id="26" name="Oval 25"/>
          <p:cNvSpPr/>
          <p:nvPr/>
        </p:nvSpPr>
        <p:spPr>
          <a:xfrm>
            <a:off x="4114800" y="2743200"/>
            <a:ext cx="152400" cy="1524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4052936" y="2895600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x</a:t>
            </a:r>
          </a:p>
        </p:txBody>
      </p:sp>
      <p:sp>
        <p:nvSpPr>
          <p:cNvPr id="9" name="Freeform 8"/>
          <p:cNvSpPr/>
          <p:nvPr/>
        </p:nvSpPr>
        <p:spPr>
          <a:xfrm>
            <a:off x="5809785" y="1349298"/>
            <a:ext cx="2263698" cy="3378819"/>
          </a:xfrm>
          <a:custGeom>
            <a:avLst/>
            <a:gdLst>
              <a:gd name="connsiteX0" fmla="*/ 713678 w 2263698"/>
              <a:gd name="connsiteY0" fmla="*/ 0 h 3378819"/>
              <a:gd name="connsiteX1" fmla="*/ 0 w 2263698"/>
              <a:gd name="connsiteY1" fmla="*/ 1538868 h 3378819"/>
              <a:gd name="connsiteX2" fmla="*/ 914400 w 2263698"/>
              <a:gd name="connsiteY2" fmla="*/ 3378819 h 3378819"/>
              <a:gd name="connsiteX3" fmla="*/ 2263698 w 2263698"/>
              <a:gd name="connsiteY3" fmla="*/ 3378819 h 3378819"/>
              <a:gd name="connsiteX4" fmla="*/ 713678 w 2263698"/>
              <a:gd name="connsiteY4" fmla="*/ 55756 h 3378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3698" h="3378819">
                <a:moveTo>
                  <a:pt x="713678" y="0"/>
                </a:moveTo>
                <a:lnTo>
                  <a:pt x="0" y="1538868"/>
                </a:lnTo>
                <a:lnTo>
                  <a:pt x="914400" y="3378819"/>
                </a:lnTo>
                <a:lnTo>
                  <a:pt x="2263698" y="3378819"/>
                </a:lnTo>
                <a:lnTo>
                  <a:pt x="713678" y="55756"/>
                </a:lnTo>
              </a:path>
            </a:pathLst>
          </a:custGeom>
          <a:solidFill>
            <a:srgbClr val="92D050"/>
          </a:solid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Isosceles Triangle 23"/>
          <p:cNvSpPr/>
          <p:nvPr/>
        </p:nvSpPr>
        <p:spPr>
          <a:xfrm>
            <a:off x="4953000" y="3245822"/>
            <a:ext cx="1447800" cy="1524000"/>
          </a:xfrm>
          <a:prstGeom prst="triangl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5715000" y="2819400"/>
            <a:ext cx="152400" cy="1524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/>
          <p:cNvCxnSpPr>
            <a:stCxn id="28" idx="4"/>
            <a:endCxn id="24" idx="0"/>
          </p:cNvCxnSpPr>
          <p:nvPr/>
        </p:nvCxnSpPr>
        <p:spPr>
          <a:xfrm flipH="1">
            <a:off x="5676900" y="2971800"/>
            <a:ext cx="114300" cy="274022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H="1">
            <a:off x="5791200" y="1371600"/>
            <a:ext cx="533400" cy="10668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endCxn id="24" idx="0"/>
          </p:cNvCxnSpPr>
          <p:nvPr/>
        </p:nvCxnSpPr>
        <p:spPr>
          <a:xfrm>
            <a:off x="4267200" y="2873282"/>
            <a:ext cx="1409700" cy="37254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26" idx="3"/>
            <a:endCxn id="5" idx="0"/>
          </p:cNvCxnSpPr>
          <p:nvPr/>
        </p:nvCxnSpPr>
        <p:spPr>
          <a:xfrm flipH="1">
            <a:off x="3009900" y="2873282"/>
            <a:ext cx="1127218" cy="32711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497530" y="2678668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v</a:t>
            </a:r>
          </a:p>
        </p:txBody>
      </p:sp>
    </p:spTree>
    <p:extLst>
      <p:ext uri="{BB962C8B-B14F-4D97-AF65-F5344CB8AC3E}">
        <p14:creationId xmlns:p14="http://schemas.microsoft.com/office/powerpoint/2010/main" val="1443391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Extending the </a:t>
            </a:r>
            <a:r>
              <a:rPr lang="en-US" sz="3200" b="1" dirty="0"/>
              <a:t>algorithm to the generic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 algn="ctr">
              <a:buNone/>
            </a:pPr>
            <a:endParaRPr lang="en-US" sz="2000" b="1" dirty="0"/>
          </a:p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grpSp>
        <p:nvGrpSpPr>
          <p:cNvPr id="22" name="Group 21"/>
          <p:cNvGrpSpPr/>
          <p:nvPr/>
        </p:nvGrpSpPr>
        <p:grpSpPr>
          <a:xfrm>
            <a:off x="2286000" y="3200400"/>
            <a:ext cx="1447800" cy="1935778"/>
            <a:chOff x="2286000" y="3200400"/>
            <a:chExt cx="1447800" cy="1935778"/>
          </a:xfrm>
        </p:grpSpPr>
        <p:sp>
          <p:nvSpPr>
            <p:cNvPr id="5" name="Isosceles Triangle 4"/>
            <p:cNvSpPr/>
            <p:nvPr/>
          </p:nvSpPr>
          <p:spPr>
            <a:xfrm>
              <a:off x="2286000" y="3200400"/>
              <a:ext cx="1447800" cy="1524000"/>
            </a:xfrm>
            <a:prstGeom prst="triangl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889096" y="4736068"/>
              <a:ext cx="31130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00B0F0"/>
                  </a:solidFill>
                </a:rPr>
                <a:t>T</a:t>
              </a:r>
            </a:p>
          </p:txBody>
        </p:sp>
      </p:grpSp>
      <p:sp>
        <p:nvSpPr>
          <p:cNvPr id="26" name="Oval 25"/>
          <p:cNvSpPr/>
          <p:nvPr/>
        </p:nvSpPr>
        <p:spPr>
          <a:xfrm>
            <a:off x="4114800" y="2743200"/>
            <a:ext cx="152400" cy="1524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4052936" y="2895600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x</a:t>
            </a:r>
          </a:p>
        </p:txBody>
      </p:sp>
      <p:sp>
        <p:nvSpPr>
          <p:cNvPr id="9" name="Freeform 8"/>
          <p:cNvSpPr/>
          <p:nvPr/>
        </p:nvSpPr>
        <p:spPr>
          <a:xfrm>
            <a:off x="5809785" y="1349298"/>
            <a:ext cx="2263698" cy="3378819"/>
          </a:xfrm>
          <a:custGeom>
            <a:avLst/>
            <a:gdLst>
              <a:gd name="connsiteX0" fmla="*/ 713678 w 2263698"/>
              <a:gd name="connsiteY0" fmla="*/ 0 h 3378819"/>
              <a:gd name="connsiteX1" fmla="*/ 0 w 2263698"/>
              <a:gd name="connsiteY1" fmla="*/ 1538868 h 3378819"/>
              <a:gd name="connsiteX2" fmla="*/ 914400 w 2263698"/>
              <a:gd name="connsiteY2" fmla="*/ 3378819 h 3378819"/>
              <a:gd name="connsiteX3" fmla="*/ 2263698 w 2263698"/>
              <a:gd name="connsiteY3" fmla="*/ 3378819 h 3378819"/>
              <a:gd name="connsiteX4" fmla="*/ 713678 w 2263698"/>
              <a:gd name="connsiteY4" fmla="*/ 55756 h 3378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63698" h="3378819">
                <a:moveTo>
                  <a:pt x="713678" y="0"/>
                </a:moveTo>
                <a:lnTo>
                  <a:pt x="0" y="1538868"/>
                </a:lnTo>
                <a:lnTo>
                  <a:pt x="914400" y="3378819"/>
                </a:lnTo>
                <a:lnTo>
                  <a:pt x="2263698" y="3378819"/>
                </a:lnTo>
                <a:lnTo>
                  <a:pt x="713678" y="55756"/>
                </a:lnTo>
              </a:path>
            </a:pathLst>
          </a:custGeom>
          <a:solidFill>
            <a:srgbClr val="92D050"/>
          </a:solidFill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Isosceles Triangle 23"/>
          <p:cNvSpPr/>
          <p:nvPr/>
        </p:nvSpPr>
        <p:spPr>
          <a:xfrm>
            <a:off x="4953000" y="3245822"/>
            <a:ext cx="1447800" cy="1524000"/>
          </a:xfrm>
          <a:prstGeom prst="triangl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5715000" y="2819400"/>
            <a:ext cx="152400" cy="1524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Arrow Connector 29"/>
          <p:cNvCxnSpPr/>
          <p:nvPr/>
        </p:nvCxnSpPr>
        <p:spPr>
          <a:xfrm flipH="1">
            <a:off x="5791200" y="1371600"/>
            <a:ext cx="533400" cy="106680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endCxn id="24" idx="0"/>
          </p:cNvCxnSpPr>
          <p:nvPr/>
        </p:nvCxnSpPr>
        <p:spPr>
          <a:xfrm>
            <a:off x="4267200" y="2873282"/>
            <a:ext cx="1409700" cy="37254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26" idx="3"/>
            <a:endCxn id="5" idx="0"/>
          </p:cNvCxnSpPr>
          <p:nvPr/>
        </p:nvCxnSpPr>
        <p:spPr>
          <a:xfrm flipH="1">
            <a:off x="3009900" y="2873282"/>
            <a:ext cx="1127218" cy="32711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/>
          <p:cNvGrpSpPr/>
          <p:nvPr/>
        </p:nvGrpSpPr>
        <p:grpSpPr>
          <a:xfrm>
            <a:off x="4191000" y="2702310"/>
            <a:ext cx="1574181" cy="348933"/>
            <a:chOff x="4191000" y="2702310"/>
            <a:chExt cx="1574181" cy="348933"/>
          </a:xfrm>
        </p:grpSpPr>
        <p:sp>
          <p:nvSpPr>
            <p:cNvPr id="7" name="Freeform 6"/>
            <p:cNvSpPr/>
            <p:nvPr/>
          </p:nvSpPr>
          <p:spPr>
            <a:xfrm>
              <a:off x="4226313" y="2707224"/>
              <a:ext cx="1538868" cy="344019"/>
            </a:xfrm>
            <a:custGeom>
              <a:avLst/>
              <a:gdLst>
                <a:gd name="connsiteX0" fmla="*/ 1542840 w 1542840"/>
                <a:gd name="connsiteY0" fmla="*/ 251871 h 364622"/>
                <a:gd name="connsiteX1" fmla="*/ 1498236 w 1542840"/>
                <a:gd name="connsiteY1" fmla="*/ 329930 h 364622"/>
                <a:gd name="connsiteX2" fmla="*/ 1353270 w 1542840"/>
                <a:gd name="connsiteY2" fmla="*/ 341081 h 364622"/>
                <a:gd name="connsiteX3" fmla="*/ 182392 w 1542840"/>
                <a:gd name="connsiteY3" fmla="*/ 17696 h 364622"/>
                <a:gd name="connsiteX4" fmla="*/ 3972 w 1542840"/>
                <a:gd name="connsiteY4" fmla="*/ 39998 h 364622"/>
                <a:gd name="connsiteX5" fmla="*/ 3972 w 1542840"/>
                <a:gd name="connsiteY5" fmla="*/ 39998 h 364622"/>
                <a:gd name="connsiteX0" fmla="*/ 1539765 w 1539765"/>
                <a:gd name="connsiteY0" fmla="*/ 248726 h 333210"/>
                <a:gd name="connsiteX1" fmla="*/ 1495161 w 1539765"/>
                <a:gd name="connsiteY1" fmla="*/ 326785 h 333210"/>
                <a:gd name="connsiteX2" fmla="*/ 1216380 w 1539765"/>
                <a:gd name="connsiteY2" fmla="*/ 293331 h 333210"/>
                <a:gd name="connsiteX3" fmla="*/ 179317 w 1539765"/>
                <a:gd name="connsiteY3" fmla="*/ 14551 h 333210"/>
                <a:gd name="connsiteX4" fmla="*/ 897 w 1539765"/>
                <a:gd name="connsiteY4" fmla="*/ 36853 h 333210"/>
                <a:gd name="connsiteX5" fmla="*/ 897 w 1539765"/>
                <a:gd name="connsiteY5" fmla="*/ 36853 h 333210"/>
                <a:gd name="connsiteX0" fmla="*/ 1538868 w 1538868"/>
                <a:gd name="connsiteY0" fmla="*/ 289470 h 376219"/>
                <a:gd name="connsiteX1" fmla="*/ 1494264 w 1538868"/>
                <a:gd name="connsiteY1" fmla="*/ 367529 h 376219"/>
                <a:gd name="connsiteX2" fmla="*/ 1215483 w 1538868"/>
                <a:gd name="connsiteY2" fmla="*/ 334075 h 376219"/>
                <a:gd name="connsiteX3" fmla="*/ 200723 w 1538868"/>
                <a:gd name="connsiteY3" fmla="*/ 10690 h 376219"/>
                <a:gd name="connsiteX4" fmla="*/ 0 w 1538868"/>
                <a:gd name="connsiteY4" fmla="*/ 77597 h 376219"/>
                <a:gd name="connsiteX5" fmla="*/ 0 w 1538868"/>
                <a:gd name="connsiteY5" fmla="*/ 77597 h 376219"/>
                <a:gd name="connsiteX0" fmla="*/ 1538868 w 1538868"/>
                <a:gd name="connsiteY0" fmla="*/ 259000 h 344019"/>
                <a:gd name="connsiteX1" fmla="*/ 1494264 w 1538868"/>
                <a:gd name="connsiteY1" fmla="*/ 337059 h 344019"/>
                <a:gd name="connsiteX2" fmla="*/ 1215483 w 1538868"/>
                <a:gd name="connsiteY2" fmla="*/ 303605 h 344019"/>
                <a:gd name="connsiteX3" fmla="*/ 223025 w 1538868"/>
                <a:gd name="connsiteY3" fmla="*/ 13674 h 344019"/>
                <a:gd name="connsiteX4" fmla="*/ 0 w 1538868"/>
                <a:gd name="connsiteY4" fmla="*/ 47127 h 344019"/>
                <a:gd name="connsiteX5" fmla="*/ 0 w 1538868"/>
                <a:gd name="connsiteY5" fmla="*/ 47127 h 3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38868" h="344019">
                  <a:moveTo>
                    <a:pt x="1538868" y="259000"/>
                  </a:moveTo>
                  <a:cubicBezTo>
                    <a:pt x="1532363" y="290595"/>
                    <a:pt x="1548161" y="329625"/>
                    <a:pt x="1494264" y="337059"/>
                  </a:cubicBezTo>
                  <a:cubicBezTo>
                    <a:pt x="1440367" y="344493"/>
                    <a:pt x="1427356" y="357502"/>
                    <a:pt x="1215483" y="303605"/>
                  </a:cubicBezTo>
                  <a:cubicBezTo>
                    <a:pt x="1003610" y="249708"/>
                    <a:pt x="425605" y="56420"/>
                    <a:pt x="223025" y="13674"/>
                  </a:cubicBezTo>
                  <a:cubicBezTo>
                    <a:pt x="20445" y="-29072"/>
                    <a:pt x="37171" y="41552"/>
                    <a:pt x="0" y="47127"/>
                  </a:cubicBezTo>
                  <a:lnTo>
                    <a:pt x="0" y="47127"/>
                  </a:lnTo>
                </a:path>
              </a:pathLst>
            </a:cu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Arrow Connector 22"/>
            <p:cNvCxnSpPr/>
            <p:nvPr/>
          </p:nvCxnSpPr>
          <p:spPr>
            <a:xfrm flipH="1">
              <a:off x="4191000" y="2702310"/>
              <a:ext cx="152400" cy="40890"/>
            </a:xfrm>
            <a:prstGeom prst="straightConnector1">
              <a:avLst/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/>
          <p:cNvSpPr txBox="1"/>
          <p:nvPr/>
        </p:nvSpPr>
        <p:spPr>
          <a:xfrm>
            <a:off x="5638800" y="4724400"/>
            <a:ext cx="4473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</a:rPr>
              <a:t>T’’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97530" y="2678668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v</a:t>
            </a:r>
          </a:p>
        </p:txBody>
      </p:sp>
      <p:sp>
        <p:nvSpPr>
          <p:cNvPr id="21" name="Oval 20"/>
          <p:cNvSpPr/>
          <p:nvPr/>
        </p:nvSpPr>
        <p:spPr>
          <a:xfrm>
            <a:off x="4114800" y="2743200"/>
            <a:ext cx="152400" cy="152400"/>
          </a:xfrm>
          <a:prstGeom prst="ellipse">
            <a:avLst/>
          </a:prstGeom>
          <a:solidFill>
            <a:srgbClr val="FF0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403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Extending the </a:t>
            </a:r>
            <a:r>
              <a:rPr lang="en-US" sz="3200" b="1" dirty="0"/>
              <a:t>algorithm to the generic problem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/>
              <a:t>Algorithm</a:t>
            </a:r>
            <a:r>
              <a:rPr lang="en-US" sz="2000" dirty="0"/>
              <a:t> for </a:t>
            </a:r>
            <a:r>
              <a:rPr lang="en-US" sz="2000" b="1" dirty="0" err="1">
                <a:solidFill>
                  <a:srgbClr val="002060"/>
                </a:solidFill>
              </a:rPr>
              <a:t>SpecialUnion</a:t>
            </a:r>
            <a:r>
              <a:rPr lang="en-US" sz="2000" dirty="0"/>
              <a:t>(</a:t>
            </a:r>
            <a:r>
              <a:rPr lang="en-US" sz="2000" b="1" dirty="0">
                <a:solidFill>
                  <a:srgbClr val="0070C0"/>
                </a:solidFill>
              </a:rPr>
              <a:t>T</a:t>
            </a:r>
            <a:r>
              <a:rPr lang="en-US" sz="2000" dirty="0"/>
              <a:t>,</a:t>
            </a:r>
            <a:r>
              <a:rPr lang="en-US" sz="2000" b="1" dirty="0">
                <a:solidFill>
                  <a:srgbClr val="0070C0"/>
                </a:solidFill>
              </a:rPr>
              <a:t>T’</a:t>
            </a:r>
            <a:r>
              <a:rPr lang="en-US" sz="2000" dirty="0"/>
              <a:t>):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Let </a:t>
            </a:r>
            <a:r>
              <a:rPr lang="en-US" sz="2000" b="1" dirty="0">
                <a:solidFill>
                  <a:srgbClr val="0070C0"/>
                </a:solidFill>
              </a:rPr>
              <a:t>x</a:t>
            </a:r>
            <a:r>
              <a:rPr lang="en-US" sz="2000" dirty="0"/>
              <a:t> be the node storing smallest element of </a:t>
            </a:r>
            <a:r>
              <a:rPr lang="en-US" sz="2000" b="1" dirty="0">
                <a:solidFill>
                  <a:srgbClr val="0070C0"/>
                </a:solidFill>
              </a:rPr>
              <a:t>T’</a:t>
            </a:r>
            <a:r>
              <a:rPr lang="en-US" sz="2000" dirty="0"/>
              <a:t>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solidFill>
                  <a:srgbClr val="C00000"/>
                </a:solidFill>
              </a:rPr>
              <a:t>Delete</a:t>
            </a:r>
            <a:r>
              <a:rPr lang="en-US" sz="2000" dirty="0"/>
              <a:t> the node </a:t>
            </a:r>
            <a:r>
              <a:rPr lang="en-US" sz="2000" b="1" dirty="0">
                <a:solidFill>
                  <a:srgbClr val="0070C0"/>
                </a:solidFill>
              </a:rPr>
              <a:t>x</a:t>
            </a:r>
            <a:r>
              <a:rPr lang="en-US" sz="2000" dirty="0"/>
              <a:t> from </a:t>
            </a:r>
            <a:r>
              <a:rPr lang="en-US" sz="2000" b="1" dirty="0">
                <a:solidFill>
                  <a:srgbClr val="0070C0"/>
                </a:solidFill>
              </a:rPr>
              <a:t>T’.</a:t>
            </a:r>
          </a:p>
          <a:p>
            <a:pPr marL="0" indent="0">
              <a:buNone/>
            </a:pPr>
            <a:r>
              <a:rPr lang="en-US" sz="2000" dirty="0"/>
              <a:t>Let </a:t>
            </a:r>
            <a:r>
              <a:rPr lang="en-US" sz="2000" b="1" dirty="0"/>
              <a:t>black height </a:t>
            </a:r>
            <a:r>
              <a:rPr lang="en-US" sz="2000" dirty="0"/>
              <a:t>of </a:t>
            </a:r>
            <a:r>
              <a:rPr lang="en-US" sz="2000" b="1" dirty="0">
                <a:solidFill>
                  <a:srgbClr val="0070C0"/>
                </a:solidFill>
              </a:rPr>
              <a:t>T</a:t>
            </a:r>
            <a:r>
              <a:rPr lang="en-US" sz="2000" dirty="0"/>
              <a:t> ≤ </a:t>
            </a:r>
            <a:r>
              <a:rPr lang="en-US" sz="2000" b="1" dirty="0"/>
              <a:t>black height </a:t>
            </a:r>
            <a:r>
              <a:rPr lang="en-US" sz="2000" dirty="0"/>
              <a:t>of </a:t>
            </a:r>
            <a:r>
              <a:rPr lang="en-US" sz="2000" b="1">
                <a:solidFill>
                  <a:srgbClr val="0070C0"/>
                </a:solidFill>
              </a:rPr>
              <a:t>T’</a:t>
            </a:r>
            <a:endParaRPr lang="en-US" sz="2000" b="1" dirty="0">
              <a:solidFill>
                <a:srgbClr val="0070C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Keep following left pointer of</a:t>
            </a:r>
            <a:r>
              <a:rPr lang="en-US" sz="2000" b="1" dirty="0">
                <a:solidFill>
                  <a:srgbClr val="0070C0"/>
                </a:solidFill>
              </a:rPr>
              <a:t> T’ </a:t>
            </a:r>
            <a:r>
              <a:rPr lang="en-US" sz="2000" dirty="0"/>
              <a:t>until we reach a node </a:t>
            </a:r>
            <a:r>
              <a:rPr lang="en-US" sz="2000" b="1" dirty="0">
                <a:solidFill>
                  <a:srgbClr val="0070C0"/>
                </a:solidFill>
              </a:rPr>
              <a:t>v </a:t>
            </a:r>
            <a:r>
              <a:rPr lang="en-US" sz="2000" dirty="0"/>
              <a:t>such that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1800" b="1" dirty="0"/>
              <a:t>left</a:t>
            </a:r>
            <a:r>
              <a:rPr lang="en-US" sz="1800" dirty="0"/>
              <a:t>(</a:t>
            </a:r>
            <a:r>
              <a:rPr lang="en-US" sz="1800" b="1" dirty="0">
                <a:solidFill>
                  <a:srgbClr val="0070C0"/>
                </a:solidFill>
              </a:rPr>
              <a:t>v</a:t>
            </a:r>
            <a:r>
              <a:rPr lang="en-US" sz="1800" dirty="0"/>
              <a:t>) is black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1800" dirty="0"/>
              <a:t>The </a:t>
            </a:r>
            <a:r>
              <a:rPr lang="en-US" sz="1800" dirty="0" err="1"/>
              <a:t>subtree</a:t>
            </a:r>
            <a:r>
              <a:rPr lang="en-US" sz="1800" dirty="0"/>
              <a:t> </a:t>
            </a:r>
            <a:r>
              <a:rPr lang="en-US" sz="1800" b="1" dirty="0">
                <a:solidFill>
                  <a:srgbClr val="0070C0"/>
                </a:solidFill>
              </a:rPr>
              <a:t>T”</a:t>
            </a:r>
            <a:r>
              <a:rPr lang="en-US" sz="1800" b="1" dirty="0"/>
              <a:t> </a:t>
            </a:r>
            <a:r>
              <a:rPr lang="en-US" sz="1800" dirty="0"/>
              <a:t>rooted at </a:t>
            </a:r>
            <a:r>
              <a:rPr lang="en-US" sz="1800" b="1" dirty="0"/>
              <a:t>Left</a:t>
            </a:r>
            <a:r>
              <a:rPr lang="en-US" sz="1800" dirty="0"/>
              <a:t>(</a:t>
            </a:r>
            <a:r>
              <a:rPr lang="en-US" sz="1800" b="1" dirty="0"/>
              <a:t>v</a:t>
            </a:r>
            <a:r>
              <a:rPr lang="en-US" sz="1800" dirty="0"/>
              <a:t>) has black height same as that of </a:t>
            </a:r>
            <a:r>
              <a:rPr lang="en-US" sz="1800" b="1" dirty="0">
                <a:solidFill>
                  <a:srgbClr val="0070C0"/>
                </a:solidFill>
              </a:rPr>
              <a:t>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b="1" dirty="0"/>
              <a:t>left(</a:t>
            </a:r>
            <a:r>
              <a:rPr lang="en-US" sz="1800" b="1" dirty="0">
                <a:solidFill>
                  <a:srgbClr val="0070C0"/>
                </a:solidFill>
              </a:rPr>
              <a:t>x</a:t>
            </a:r>
            <a:r>
              <a:rPr lang="en-US" sz="1800" b="1" dirty="0"/>
              <a:t>)</a:t>
            </a:r>
            <a:r>
              <a:rPr lang="en-US" sz="1800" b="1" dirty="0">
                <a:sym typeface="Wingdings" pitchFamily="2" charset="2"/>
              </a:rPr>
              <a:t></a:t>
            </a:r>
            <a:r>
              <a:rPr lang="en-US" sz="1800" b="1" dirty="0">
                <a:solidFill>
                  <a:srgbClr val="0070C0"/>
                </a:solidFill>
                <a:sym typeface="Wingdings" pitchFamily="2" charset="2"/>
              </a:rPr>
              <a:t> T</a:t>
            </a:r>
            <a:r>
              <a:rPr lang="en-US" sz="1800" b="1" dirty="0">
                <a:sym typeface="Wingdings" pitchFamily="2" charset="2"/>
              </a:rPr>
              <a:t>;</a:t>
            </a:r>
            <a:r>
              <a:rPr lang="en-US" sz="1800" b="1" dirty="0">
                <a:solidFill>
                  <a:srgbClr val="0070C0"/>
                </a:solidFill>
                <a:sym typeface="Wingdings" pitchFamily="2" charset="2"/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b="1" dirty="0">
                <a:sym typeface="Wingdings" pitchFamily="2" charset="2"/>
              </a:rPr>
              <a:t>right(</a:t>
            </a:r>
            <a:r>
              <a:rPr lang="en-US" sz="1800" b="1" dirty="0">
                <a:solidFill>
                  <a:srgbClr val="0070C0"/>
                </a:solidFill>
                <a:sym typeface="Wingdings" pitchFamily="2" charset="2"/>
              </a:rPr>
              <a:t>x</a:t>
            </a:r>
            <a:r>
              <a:rPr lang="en-US" sz="1800" b="1" dirty="0">
                <a:sym typeface="Wingdings" pitchFamily="2" charset="2"/>
              </a:rPr>
              <a:t>) </a:t>
            </a:r>
            <a:r>
              <a:rPr lang="en-US" sz="1800" b="1" dirty="0">
                <a:solidFill>
                  <a:srgbClr val="0070C0"/>
                </a:solidFill>
                <a:sym typeface="Wingdings" pitchFamily="2" charset="2"/>
              </a:rPr>
              <a:t> T”</a:t>
            </a:r>
            <a:r>
              <a:rPr lang="en-US" sz="1800" b="1" dirty="0">
                <a:sym typeface="Wingdings" pitchFamily="2" charset="2"/>
              </a:rPr>
              <a:t>;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b="1" dirty="0">
                <a:sym typeface="Wingdings" pitchFamily="2" charset="2"/>
              </a:rPr>
              <a:t>Color(</a:t>
            </a:r>
            <a:r>
              <a:rPr lang="en-US" sz="1800" b="1" dirty="0">
                <a:solidFill>
                  <a:srgbClr val="0070C0"/>
                </a:solidFill>
                <a:sym typeface="Wingdings" pitchFamily="2" charset="2"/>
              </a:rPr>
              <a:t>x</a:t>
            </a:r>
            <a:r>
              <a:rPr lang="en-US" sz="1800" b="1" dirty="0">
                <a:sym typeface="Wingdings" pitchFamily="2" charset="2"/>
              </a:rPr>
              <a:t>) </a:t>
            </a:r>
            <a:r>
              <a:rPr lang="en-US" sz="1800" b="1" dirty="0">
                <a:solidFill>
                  <a:srgbClr val="C00000"/>
                </a:solidFill>
                <a:sym typeface="Wingdings" pitchFamily="2" charset="2"/>
              </a:rPr>
              <a:t>red</a:t>
            </a:r>
            <a:r>
              <a:rPr lang="en-US" sz="1800" b="1" dirty="0">
                <a:sym typeface="Wingdings" pitchFamily="2" charset="2"/>
              </a:rPr>
              <a:t>;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b="1" dirty="0">
                <a:sym typeface="Wingdings" pitchFamily="2" charset="2"/>
              </a:rPr>
              <a:t>left(</a:t>
            </a:r>
            <a:r>
              <a:rPr lang="en-US" sz="1800" b="1" dirty="0">
                <a:solidFill>
                  <a:srgbClr val="0070C0"/>
                </a:solidFill>
                <a:sym typeface="Wingdings" pitchFamily="2" charset="2"/>
              </a:rPr>
              <a:t>v</a:t>
            </a:r>
            <a:r>
              <a:rPr lang="en-US" sz="1800" b="1" dirty="0">
                <a:sym typeface="Wingdings" pitchFamily="2" charset="2"/>
              </a:rPr>
              <a:t>) </a:t>
            </a:r>
            <a:r>
              <a:rPr lang="en-US" sz="1800" b="1" dirty="0">
                <a:solidFill>
                  <a:srgbClr val="0070C0"/>
                </a:solidFill>
                <a:sym typeface="Wingdings" pitchFamily="2" charset="2"/>
              </a:rPr>
              <a:t>x</a:t>
            </a:r>
            <a:r>
              <a:rPr lang="en-US" sz="1800" b="1" dirty="0">
                <a:sym typeface="Wingdings" pitchFamily="2" charset="2"/>
              </a:rPr>
              <a:t>;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b="1" dirty="0">
                <a:sym typeface="Wingdings" pitchFamily="2" charset="2"/>
              </a:rPr>
              <a:t>parent(</a:t>
            </a:r>
            <a:r>
              <a:rPr lang="en-US" sz="1800" b="1" dirty="0">
                <a:solidFill>
                  <a:srgbClr val="0070C0"/>
                </a:solidFill>
                <a:sym typeface="Wingdings" pitchFamily="2" charset="2"/>
              </a:rPr>
              <a:t>x</a:t>
            </a:r>
            <a:r>
              <a:rPr lang="en-US" sz="1800" b="1" dirty="0">
                <a:sym typeface="Wingdings" pitchFamily="2" charset="2"/>
              </a:rPr>
              <a:t>) </a:t>
            </a:r>
            <a:r>
              <a:rPr lang="en-US" sz="1800" b="1" dirty="0">
                <a:solidFill>
                  <a:srgbClr val="0070C0"/>
                </a:solidFill>
                <a:sym typeface="Wingdings" pitchFamily="2" charset="2"/>
              </a:rPr>
              <a:t>v</a:t>
            </a:r>
            <a:r>
              <a:rPr lang="en-US" sz="1800" b="1" dirty="0">
                <a:sym typeface="Wingdings" pitchFamily="2" charset="2"/>
              </a:rPr>
              <a:t>;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sym typeface="Wingdings" pitchFamily="2" charset="2"/>
              </a:rPr>
              <a:t>If </a:t>
            </a:r>
            <a:r>
              <a:rPr lang="en-US" sz="1800" b="1" dirty="0">
                <a:sym typeface="Wingdings" pitchFamily="2" charset="2"/>
              </a:rPr>
              <a:t>color(</a:t>
            </a:r>
            <a:r>
              <a:rPr lang="en-US" sz="1800" b="1" dirty="0">
                <a:solidFill>
                  <a:srgbClr val="0070C0"/>
                </a:solidFill>
                <a:sym typeface="Wingdings" pitchFamily="2" charset="2"/>
              </a:rPr>
              <a:t>v</a:t>
            </a:r>
            <a:r>
              <a:rPr lang="en-US" sz="1800" b="1" dirty="0">
                <a:sym typeface="Wingdings" pitchFamily="2" charset="2"/>
              </a:rPr>
              <a:t>) </a:t>
            </a:r>
            <a:r>
              <a:rPr lang="en-US" sz="1800" dirty="0">
                <a:sym typeface="Wingdings" pitchFamily="2" charset="2"/>
              </a:rPr>
              <a:t>is</a:t>
            </a:r>
            <a:r>
              <a:rPr lang="en-US" sz="1800" b="1" dirty="0">
                <a:sym typeface="Wingdings" pitchFamily="2" charset="2"/>
              </a:rPr>
              <a:t> </a:t>
            </a:r>
            <a:r>
              <a:rPr lang="en-US" sz="1800" b="1" dirty="0">
                <a:solidFill>
                  <a:srgbClr val="C00000"/>
                </a:solidFill>
                <a:sym typeface="Wingdings" pitchFamily="2" charset="2"/>
              </a:rPr>
              <a:t>red</a:t>
            </a:r>
            <a:r>
              <a:rPr lang="en-US" sz="1800" b="1" dirty="0">
                <a:sym typeface="Wingdings" pitchFamily="2" charset="2"/>
              </a:rPr>
              <a:t>, </a:t>
            </a:r>
            <a:r>
              <a:rPr lang="en-US" sz="1800" dirty="0">
                <a:sym typeface="Wingdings" pitchFamily="2" charset="2"/>
              </a:rPr>
              <a:t>remove the color imbalance </a:t>
            </a:r>
          </a:p>
          <a:p>
            <a:pPr marL="0" indent="0">
              <a:buNone/>
            </a:pPr>
            <a:r>
              <a:rPr lang="en-US" sz="1800" dirty="0">
                <a:sym typeface="Wingdings" pitchFamily="2" charset="2"/>
              </a:rPr>
              <a:t>                                    (like in the usual procedure of insertion in a </a:t>
            </a:r>
            <a:r>
              <a:rPr lang="en-US" sz="1800" b="1" dirty="0">
                <a:sym typeface="Wingdings" pitchFamily="2" charset="2"/>
              </a:rPr>
              <a:t>red-black</a:t>
            </a:r>
            <a:r>
              <a:rPr lang="en-US" sz="1800" dirty="0">
                <a:sym typeface="Wingdings" pitchFamily="2" charset="2"/>
              </a:rPr>
              <a:t> tree) </a:t>
            </a:r>
          </a:p>
          <a:p>
            <a:pPr marL="457200" indent="-457200">
              <a:buFont typeface="+mj-lt"/>
              <a:buAutoNum type="arabicPeriod"/>
            </a:pPr>
            <a:endParaRPr lang="en-US" sz="20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Down Ribbon 4"/>
              <p:cNvSpPr/>
              <p:nvPr/>
            </p:nvSpPr>
            <p:spPr>
              <a:xfrm>
                <a:off x="5715000" y="4495800"/>
                <a:ext cx="3200400" cy="612648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Total time :</a:t>
                </a:r>
                <a:r>
                  <a:rPr lang="en-US" b="1" dirty="0">
                    <a:solidFill>
                      <a:srgbClr val="C00000"/>
                    </a:solidFill>
                  </a:rPr>
                  <a:t> O</a:t>
                </a:r>
                <a:r>
                  <a:rPr lang="en-US" b="1" dirty="0">
                    <a:solidFill>
                      <a:schemeClr val="tx1"/>
                    </a:solidFill>
                  </a:rPr>
                  <a:t>(log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b="1" dirty="0">
                    <a:solidFill>
                      <a:schemeClr val="tx1"/>
                    </a:solidFill>
                  </a:rPr>
                  <a:t>) </a:t>
                </a:r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Down Ribbon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0" y="4495800"/>
                <a:ext cx="3200400" cy="612648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 rotWithShape="1">
                <a:blip r:embed="rId2"/>
                <a:stretch>
                  <a:fillRect b="-1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6272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2060"/>
                </a:solidFill>
              </a:rPr>
              <a:t>Split(</a:t>
            </a:r>
            <a:r>
              <a:rPr lang="en-US" sz="3600" b="1" dirty="0" err="1">
                <a:solidFill>
                  <a:srgbClr val="0070C0"/>
                </a:solidFill>
              </a:rPr>
              <a:t>T,x</a:t>
            </a:r>
            <a:r>
              <a:rPr lang="en-US" sz="3600" b="1" dirty="0"/>
              <a:t>)</a:t>
            </a:r>
            <a:endParaRPr lang="en-US" sz="32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endParaRPr lang="en-US" sz="28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3871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4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3200" b="1" dirty="0"/>
                  <a:t>Achieving </a:t>
                </a:r>
                <a:r>
                  <a:rPr lang="en-US" sz="32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3200" b="1" dirty="0"/>
                  <a:t>(log </a:t>
                </a:r>
                <a14:m>
                  <m:oMath xmlns:m="http://schemas.openxmlformats.org/officeDocument/2006/math">
                    <m:r>
                      <a:rPr lang="en-US" sz="32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3200" b="1" dirty="0"/>
                  <a:t>) time for </a:t>
                </a:r>
                <a:r>
                  <a:rPr lang="en-US" sz="3200" b="1" dirty="0">
                    <a:solidFill>
                      <a:srgbClr val="002060"/>
                    </a:solidFill>
                  </a:rPr>
                  <a:t>Split</a:t>
                </a:r>
                <a:r>
                  <a:rPr lang="en-US" sz="3200" b="1" dirty="0"/>
                  <a:t>(</a:t>
                </a:r>
                <a:r>
                  <a:rPr lang="en-US" sz="3200" b="1" dirty="0" err="1">
                    <a:solidFill>
                      <a:srgbClr val="0070C0"/>
                    </a:solidFill>
                  </a:rPr>
                  <a:t>T</a:t>
                </a:r>
                <a:r>
                  <a:rPr lang="en-US" sz="3200" b="1" dirty="0" err="1"/>
                  <a:t>,x</a:t>
                </a:r>
                <a:r>
                  <a:rPr lang="en-US" sz="3200" b="1" dirty="0"/>
                  <a:t>)</a:t>
                </a:r>
              </a:p>
            </p:txBody>
          </p:sp>
        </mc:Choice>
        <mc:Fallback xmlns="">
          <p:sp>
            <p:nvSpPr>
              <p:cNvPr id="5" name="Title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029200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r>
                  <a:rPr lang="en-US" sz="2000" dirty="0"/>
                  <a:t>Take a scissor</a:t>
                </a:r>
              </a:p>
              <a:p>
                <a:r>
                  <a:rPr lang="en-US" sz="2000" dirty="0"/>
                  <a:t>cut 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T</a:t>
                </a:r>
                <a:r>
                  <a:rPr lang="en-US" sz="2000" dirty="0"/>
                  <a:t> into trees starting from </a:t>
                </a:r>
                <a:r>
                  <a:rPr lang="en-US" sz="2000" b="1" dirty="0"/>
                  <a:t>x</a:t>
                </a:r>
              </a:p>
              <a:p>
                <a:r>
                  <a:rPr lang="en-US" sz="2000" dirty="0"/>
                  <a:t>Make use of </a:t>
                </a:r>
                <a:r>
                  <a:rPr lang="en-US" sz="2000" b="1" dirty="0" err="1"/>
                  <a:t>SpecialUnion</a:t>
                </a:r>
                <a:r>
                  <a:rPr lang="en-US" sz="2000" b="1" dirty="0"/>
                  <a:t> </a:t>
                </a:r>
                <a:r>
                  <a:rPr lang="en-US" sz="2000" dirty="0"/>
                  <a:t>algorithm.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6C31"/>
                    </a:solidFill>
                  </a:rPr>
                  <a:t>Homework</a:t>
                </a:r>
                <a:r>
                  <a:rPr lang="en-US" sz="2000" dirty="0"/>
                  <a:t>: Provide details for the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000" b="1" dirty="0"/>
                  <a:t>(log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b="1" dirty="0"/>
                  <a:t>) </a:t>
                </a:r>
                <a:r>
                  <a:rPr lang="en-US" sz="2000" dirty="0"/>
                  <a:t>algorithm for </a:t>
                </a:r>
                <a:r>
                  <a:rPr lang="en-US" sz="2000" b="1" dirty="0">
                    <a:solidFill>
                      <a:srgbClr val="002060"/>
                    </a:solidFill>
                  </a:rPr>
                  <a:t>Split</a:t>
                </a:r>
                <a:r>
                  <a:rPr lang="en-US" sz="2000" b="1" dirty="0"/>
                  <a:t>(</a:t>
                </a:r>
                <a:r>
                  <a:rPr lang="en-US" sz="2000" b="1" dirty="0" err="1">
                    <a:solidFill>
                      <a:srgbClr val="0070C0"/>
                    </a:solidFill>
                  </a:rPr>
                  <a:t>T</a:t>
                </a:r>
                <a:r>
                  <a:rPr lang="en-US" sz="2000" b="1" dirty="0" err="1"/>
                  <a:t>,x</a:t>
                </a:r>
                <a:r>
                  <a:rPr lang="en-US" sz="2000" b="1" dirty="0"/>
                  <a:t>)</a:t>
                </a:r>
                <a:endParaRPr lang="en-US" sz="2000" dirty="0"/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029200"/>
              </a:xfrm>
              <a:blipFill rotWithShape="1">
                <a:blip r:embed="rId3"/>
                <a:stretch>
                  <a:fillRect l="-1111" t="-970" b="-1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3276600" y="2057400"/>
            <a:ext cx="3124200" cy="3752910"/>
            <a:chOff x="4953000" y="1371600"/>
            <a:chExt cx="3124200" cy="3752910"/>
          </a:xfrm>
        </p:grpSpPr>
        <p:sp>
          <p:nvSpPr>
            <p:cNvPr id="8" name="Isosceles Triangle 7"/>
            <p:cNvSpPr/>
            <p:nvPr/>
          </p:nvSpPr>
          <p:spPr>
            <a:xfrm>
              <a:off x="4953000" y="1371600"/>
              <a:ext cx="3124200" cy="3352800"/>
            </a:xfrm>
            <a:prstGeom prst="triangl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715000" y="4724400"/>
              <a:ext cx="31130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rgbClr val="00B0F0"/>
                  </a:solidFill>
                </a:rPr>
                <a:t>T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4590586" y="2090182"/>
            <a:ext cx="780585" cy="3211552"/>
            <a:chOff x="4606382" y="2036955"/>
            <a:chExt cx="780585" cy="3211552"/>
          </a:xfrm>
        </p:grpSpPr>
        <p:sp>
          <p:nvSpPr>
            <p:cNvPr id="12" name="Freeform 11"/>
            <p:cNvSpPr/>
            <p:nvPr/>
          </p:nvSpPr>
          <p:spPr>
            <a:xfrm>
              <a:off x="4606382" y="2036955"/>
              <a:ext cx="780585" cy="3211552"/>
            </a:xfrm>
            <a:custGeom>
              <a:avLst/>
              <a:gdLst>
                <a:gd name="connsiteX0" fmla="*/ 234175 w 780585"/>
                <a:gd name="connsiteY0" fmla="*/ 0 h 3211552"/>
                <a:gd name="connsiteX1" fmla="*/ 111512 w 780585"/>
                <a:gd name="connsiteY1" fmla="*/ 267630 h 3211552"/>
                <a:gd name="connsiteX2" fmla="*/ 245326 w 780585"/>
                <a:gd name="connsiteY2" fmla="*/ 490654 h 3211552"/>
                <a:gd name="connsiteX3" fmla="*/ 133814 w 780585"/>
                <a:gd name="connsiteY3" fmla="*/ 702527 h 3211552"/>
                <a:gd name="connsiteX4" fmla="*/ 0 w 780585"/>
                <a:gd name="connsiteY4" fmla="*/ 959005 h 3211552"/>
                <a:gd name="connsiteX5" fmla="*/ 356839 w 780585"/>
                <a:gd name="connsiteY5" fmla="*/ 1494264 h 3211552"/>
                <a:gd name="connsiteX6" fmla="*/ 234175 w 780585"/>
                <a:gd name="connsiteY6" fmla="*/ 1683835 h 3211552"/>
                <a:gd name="connsiteX7" fmla="*/ 379141 w 780585"/>
                <a:gd name="connsiteY7" fmla="*/ 1873405 h 3211552"/>
                <a:gd name="connsiteX8" fmla="*/ 223024 w 780585"/>
                <a:gd name="connsiteY8" fmla="*/ 2085278 h 3211552"/>
                <a:gd name="connsiteX9" fmla="*/ 367990 w 780585"/>
                <a:gd name="connsiteY9" fmla="*/ 2252547 h 3211552"/>
                <a:gd name="connsiteX10" fmla="*/ 234175 w 780585"/>
                <a:gd name="connsiteY10" fmla="*/ 2430966 h 3211552"/>
                <a:gd name="connsiteX11" fmla="*/ 780585 w 780585"/>
                <a:gd name="connsiteY11" fmla="*/ 3100039 h 3211552"/>
                <a:gd name="connsiteX12" fmla="*/ 680224 w 780585"/>
                <a:gd name="connsiteY12" fmla="*/ 3211552 h 3211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80585" h="3211552">
                  <a:moveTo>
                    <a:pt x="234175" y="0"/>
                  </a:moveTo>
                  <a:lnTo>
                    <a:pt x="111512" y="267630"/>
                  </a:lnTo>
                  <a:lnTo>
                    <a:pt x="245326" y="490654"/>
                  </a:lnTo>
                  <a:lnTo>
                    <a:pt x="133814" y="702527"/>
                  </a:lnTo>
                  <a:lnTo>
                    <a:pt x="0" y="959005"/>
                  </a:lnTo>
                  <a:lnTo>
                    <a:pt x="356839" y="1494264"/>
                  </a:lnTo>
                  <a:lnTo>
                    <a:pt x="234175" y="1683835"/>
                  </a:lnTo>
                  <a:lnTo>
                    <a:pt x="379141" y="1873405"/>
                  </a:lnTo>
                  <a:lnTo>
                    <a:pt x="223024" y="2085278"/>
                  </a:lnTo>
                  <a:lnTo>
                    <a:pt x="367990" y="2252547"/>
                  </a:lnTo>
                  <a:lnTo>
                    <a:pt x="234175" y="2430966"/>
                  </a:lnTo>
                  <a:lnTo>
                    <a:pt x="780585" y="3100039"/>
                  </a:lnTo>
                  <a:lnTo>
                    <a:pt x="680224" y="3211552"/>
                  </a:lnTo>
                </a:path>
              </a:pathLst>
            </a:cu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 flipH="1" flipV="1">
              <a:off x="5018975" y="4677937"/>
              <a:ext cx="128238" cy="15240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/>
          <p:cNvGrpSpPr/>
          <p:nvPr/>
        </p:nvGrpSpPr>
        <p:grpSpPr>
          <a:xfrm>
            <a:off x="5181600" y="5117068"/>
            <a:ext cx="366664" cy="369332"/>
            <a:chOff x="5181600" y="5117068"/>
            <a:chExt cx="366664" cy="369332"/>
          </a:xfrm>
        </p:grpSpPr>
        <p:sp>
          <p:nvSpPr>
            <p:cNvPr id="10" name="Oval 9"/>
            <p:cNvSpPr/>
            <p:nvPr/>
          </p:nvSpPr>
          <p:spPr>
            <a:xfrm>
              <a:off x="5181600" y="5257800"/>
              <a:ext cx="152400" cy="1524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257800" y="5117068"/>
              <a:ext cx="2904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x</a:t>
              </a:r>
            </a:p>
          </p:txBody>
        </p:sp>
      </p:grpSp>
      <p:pic>
        <p:nvPicPr>
          <p:cNvPr id="2" name="Picture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799454" y="5567271"/>
            <a:ext cx="916691" cy="457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Cloud Callout 2"/>
              <p:cNvSpPr/>
              <p:nvPr/>
            </p:nvSpPr>
            <p:spPr>
              <a:xfrm>
                <a:off x="-1" y="1295400"/>
                <a:ext cx="5131417" cy="1295400"/>
              </a:xfrm>
              <a:prstGeom prst="cloudCallou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C00000"/>
                    </a:solidFill>
                  </a:rPr>
                  <a:t>O</a:t>
                </a:r>
                <a:r>
                  <a:rPr lang="en-US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0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𝐥𝐨𝐠</m:t>
                            </m:r>
                          </m:e>
                          <m:sup>
                            <m:r>
                              <a:rPr lang="en-US" b="1" i="1" smtClean="0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</m:fName>
                      <m:e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e>
                    </m:func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 is easy.</a:t>
                </a: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If you </a:t>
                </a:r>
                <a:r>
                  <a:rPr lang="en-US" dirty="0" err="1">
                    <a:solidFill>
                      <a:schemeClr val="tx1"/>
                    </a:solidFill>
                  </a:rPr>
                  <a:t>analyse</a:t>
                </a:r>
                <a:r>
                  <a:rPr lang="en-US" dirty="0">
                    <a:solidFill>
                      <a:schemeClr val="tx1"/>
                    </a:solidFill>
                  </a:rPr>
                  <a:t> it </a:t>
                </a:r>
                <a:r>
                  <a:rPr lang="en-US" u="sng" dirty="0">
                    <a:solidFill>
                      <a:schemeClr val="tx1"/>
                    </a:solidFill>
                  </a:rPr>
                  <a:t>carefully</a:t>
                </a:r>
                <a:r>
                  <a:rPr lang="en-US" dirty="0">
                    <a:solidFill>
                      <a:schemeClr val="tx1"/>
                    </a:solidFill>
                  </a:rPr>
                  <a:t>, the time complexity will be </a:t>
                </a:r>
                <a:r>
                  <a:rPr lang="en-US" b="1" dirty="0">
                    <a:solidFill>
                      <a:srgbClr val="C00000"/>
                    </a:solidFill>
                  </a:rPr>
                  <a:t>O</a:t>
                </a:r>
                <a:r>
                  <a:rPr lang="en-US" b="1" dirty="0">
                    <a:solidFill>
                      <a:schemeClr val="tx1"/>
                    </a:solidFill>
                  </a:rPr>
                  <a:t>(log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b="1" dirty="0">
                    <a:solidFill>
                      <a:schemeClr val="tx1"/>
                    </a:solidFill>
                  </a:rPr>
                  <a:t>).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" name="Cloud Callout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1295400"/>
                <a:ext cx="5131417" cy="1295400"/>
              </a:xfrm>
              <a:prstGeom prst="cloudCallou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3927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3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2.22222E-6 C -0.00364 -0.0125 -0.00138 -0.02616 -0.00381 -0.03912 C -0.0026 -0.06967 -0.00781 -0.06898 0.0073 -0.07662 C 0.00764 -0.07824 0.00869 -0.07986 0.00851 -0.08148 C 0.00834 -0.08333 0.00678 -0.08449 0.00608 -0.08634 C 0.004 -0.0919 0.00261 -0.09722 -4.44444E-6 -0.10255 C -0.00312 -0.11667 0.00105 -0.10185 -0.00503 -0.11389 C -0.00954 -0.12292 -0.00538 -0.13356 -0.01597 -0.13819 C -0.02031 -0.14722 -0.01736 -0.1419 -0.02569 -0.15301 C -0.03055 -0.15949 -0.02586 -0.15671 -0.03055 -0.16435 C -0.03333 -0.16898 -0.03888 -0.17315 -0.0427 -0.17569 C -0.04409 -0.18333 -0.04739 -0.1919 -0.04392 -0.2 C -0.04253 -0.20347 -0.03663 -0.20648 -0.03663 -0.20648 C -0.03975 -0.23171 -0.03559 -0.20417 -0.04027 -0.22292 C -0.04097 -0.22546 -0.04027 -0.22893 -0.04149 -0.23102 C -0.04322 -0.23403 -0.04878 -0.2375 -0.04878 -0.2375 C -0.04409 -0.24699 -0.04184 -0.24028 -0.03541 -0.24884 C -0.03125 -0.26551 -0.03437 -0.275 -0.04635 -0.27824 C -0.05347 -0.29259 -0.04809 -0.30324 -0.03906 -0.31227 C -0.03663 -0.32176 -0.03715 -0.34421 -0.04513 -0.35139 C -0.04774 -0.3537 -0.04947 -0.35486 -0.05138 -0.35787 C -0.05677 -0.36643 -0.06024 -0.37616 -0.06475 -0.38542 C -0.06597 -0.3919 -0.0677 -0.3956 -0.06961 -0.40162 C -0.07066 -0.40486 -0.07204 -0.41157 -0.07204 -0.41157 C -0.0717 -0.41528 -0.07204 -0.41944 -0.07083 -0.42292 C -0.07031 -0.42477 -0.06822 -0.42477 -0.06718 -0.42616 C -0.05833 -0.43958 -0.06649 -0.43194 -0.05746 -0.44398 C -0.05399 -0.44861 -0.05052 -0.45116 -0.04756 -0.45694 C -0.04791 -0.46018 -0.04756 -0.46389 -0.04878 -0.46667 C -0.05017 -0.47014 -0.05503 -0.47477 -0.05503 -0.47477 C -0.05607 -0.48333 -0.05816 -0.49143 -0.06111 -0.4993 L -0.06354 -0.50903 " pathEditMode="relative" ptsTypes="ffffffffffffffffffffffffffffffAA">
                                      <p:cBhvr>
                                        <p:cTn id="25" dur="4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20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Height Balanced BST</a:t>
            </a:r>
            <a:br>
              <a:rPr lang="en-US" sz="3200" b="1" dirty="0">
                <a:solidFill>
                  <a:srgbClr val="7030A0"/>
                </a:solidFill>
              </a:rPr>
            </a:br>
            <a:r>
              <a:rPr lang="en-US" sz="2400" b="1" dirty="0">
                <a:solidFill>
                  <a:srgbClr val="0070C0"/>
                </a:solidFill>
              </a:rPr>
              <a:t>(Red-black tree, AVL tree)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Operations you already know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sz="1800" b="1" dirty="0">
                <a:solidFill>
                  <a:srgbClr val="002060"/>
                </a:solidFill>
              </a:rPr>
              <a:t>Search</a:t>
            </a:r>
            <a:r>
              <a:rPr lang="en-US" sz="1800" dirty="0"/>
              <a:t>(</a:t>
            </a:r>
            <a:r>
              <a:rPr lang="en-US" sz="1800" b="1" dirty="0" err="1">
                <a:solidFill>
                  <a:srgbClr val="0070C0"/>
                </a:solidFill>
              </a:rPr>
              <a:t>T</a:t>
            </a:r>
            <a:r>
              <a:rPr lang="en-US" sz="1800" dirty="0" err="1"/>
              <a:t>,</a:t>
            </a:r>
            <a:r>
              <a:rPr lang="en-US" sz="1800" b="1" dirty="0" err="1"/>
              <a:t>x</a:t>
            </a:r>
            <a:r>
              <a:rPr lang="en-US" sz="1800" dirty="0"/>
              <a:t>)</a:t>
            </a:r>
          </a:p>
          <a:p>
            <a:pPr>
              <a:buFont typeface="+mj-lt"/>
              <a:buAutoNum type="arabicPeriod"/>
            </a:pPr>
            <a:r>
              <a:rPr lang="en-US" sz="1800" b="1" dirty="0">
                <a:solidFill>
                  <a:srgbClr val="002060"/>
                </a:solidFill>
              </a:rPr>
              <a:t>Insert</a:t>
            </a:r>
            <a:r>
              <a:rPr lang="en-US" sz="1800" dirty="0"/>
              <a:t>(</a:t>
            </a:r>
            <a:r>
              <a:rPr lang="en-US" sz="1800" b="1" dirty="0" err="1">
                <a:solidFill>
                  <a:srgbClr val="0070C0"/>
                </a:solidFill>
              </a:rPr>
              <a:t>T</a:t>
            </a:r>
            <a:r>
              <a:rPr lang="en-US" sz="1800" dirty="0" err="1"/>
              <a:t>,</a:t>
            </a:r>
            <a:r>
              <a:rPr lang="en-US" sz="1800" b="1" dirty="0" err="1"/>
              <a:t>x</a:t>
            </a:r>
            <a:r>
              <a:rPr lang="en-US" sz="1800" dirty="0"/>
              <a:t>)</a:t>
            </a:r>
          </a:p>
          <a:p>
            <a:pPr>
              <a:buFont typeface="+mj-lt"/>
              <a:buAutoNum type="arabicPeriod"/>
            </a:pPr>
            <a:r>
              <a:rPr lang="en-US" sz="1800" b="1" dirty="0">
                <a:solidFill>
                  <a:srgbClr val="002060"/>
                </a:solidFill>
              </a:rPr>
              <a:t>Delete</a:t>
            </a:r>
            <a:r>
              <a:rPr lang="en-US" sz="1800" dirty="0"/>
              <a:t>(</a:t>
            </a:r>
            <a:r>
              <a:rPr lang="en-US" sz="1800" b="1" dirty="0" err="1">
                <a:solidFill>
                  <a:srgbClr val="0070C0"/>
                </a:solidFill>
              </a:rPr>
              <a:t>T</a:t>
            </a:r>
            <a:r>
              <a:rPr lang="en-US" sz="1800" dirty="0" err="1"/>
              <a:t>,</a:t>
            </a:r>
            <a:r>
              <a:rPr lang="en-US" sz="1800" b="1" dirty="0" err="1"/>
              <a:t>x</a:t>
            </a:r>
            <a:r>
              <a:rPr lang="en-US" sz="1800" dirty="0"/>
              <a:t>)</a:t>
            </a:r>
          </a:p>
          <a:p>
            <a:pPr>
              <a:buFont typeface="+mj-lt"/>
              <a:buAutoNum type="arabicPeriod"/>
            </a:pPr>
            <a:r>
              <a:rPr lang="en-US" sz="1800" b="1" dirty="0">
                <a:solidFill>
                  <a:srgbClr val="002060"/>
                </a:solidFill>
              </a:rPr>
              <a:t>Min</a:t>
            </a:r>
            <a:r>
              <a:rPr lang="en-US" sz="1800" dirty="0"/>
              <a:t>(</a:t>
            </a:r>
            <a:r>
              <a:rPr lang="en-US" sz="1800" b="1" dirty="0">
                <a:solidFill>
                  <a:srgbClr val="0070C0"/>
                </a:solidFill>
              </a:rPr>
              <a:t>T</a:t>
            </a:r>
            <a:r>
              <a:rPr lang="en-US" sz="1800" dirty="0"/>
              <a:t>)</a:t>
            </a:r>
          </a:p>
          <a:p>
            <a:pPr>
              <a:buFont typeface="+mj-lt"/>
              <a:buAutoNum type="arabicPeriod"/>
            </a:pPr>
            <a:r>
              <a:rPr lang="en-US" sz="1800" b="1" dirty="0">
                <a:solidFill>
                  <a:srgbClr val="002060"/>
                </a:solidFill>
              </a:rPr>
              <a:t>Max</a:t>
            </a:r>
            <a:r>
              <a:rPr lang="en-US" sz="1800" dirty="0"/>
              <a:t>(</a:t>
            </a:r>
            <a:r>
              <a:rPr lang="en-US" sz="1800" b="1" dirty="0">
                <a:solidFill>
                  <a:srgbClr val="0070C0"/>
                </a:solidFill>
              </a:rPr>
              <a:t>T</a:t>
            </a:r>
            <a:r>
              <a:rPr lang="en-US" sz="1800" dirty="0"/>
              <a:t>)</a:t>
            </a:r>
          </a:p>
          <a:p>
            <a:pPr>
              <a:buFont typeface="+mj-lt"/>
              <a:buAutoNum type="arabicPeriod"/>
            </a:pPr>
            <a:r>
              <a:rPr lang="en-US" sz="1800" b="1" dirty="0">
                <a:solidFill>
                  <a:srgbClr val="002060"/>
                </a:solidFill>
              </a:rPr>
              <a:t>Predecessor</a:t>
            </a:r>
            <a:r>
              <a:rPr lang="en-US" sz="1800" dirty="0"/>
              <a:t>(</a:t>
            </a:r>
            <a:r>
              <a:rPr lang="en-US" sz="1800" b="1" dirty="0" err="1">
                <a:solidFill>
                  <a:srgbClr val="0070C0"/>
                </a:solidFill>
              </a:rPr>
              <a:t>T</a:t>
            </a:r>
            <a:r>
              <a:rPr lang="en-US" sz="1800" dirty="0" err="1"/>
              <a:t>,</a:t>
            </a:r>
            <a:r>
              <a:rPr lang="en-US" sz="1800" b="1" dirty="0" err="1"/>
              <a:t>x</a:t>
            </a:r>
            <a:r>
              <a:rPr lang="en-US" sz="1800" dirty="0"/>
              <a:t>)</a:t>
            </a:r>
          </a:p>
          <a:p>
            <a:pPr>
              <a:buFont typeface="+mj-lt"/>
              <a:buAutoNum type="arabicPeriod"/>
            </a:pPr>
            <a:r>
              <a:rPr lang="en-US" sz="1800" b="1" dirty="0">
                <a:solidFill>
                  <a:srgbClr val="002060"/>
                </a:solidFill>
              </a:rPr>
              <a:t>Successor</a:t>
            </a:r>
            <a:r>
              <a:rPr lang="en-US" sz="1800" dirty="0"/>
              <a:t>(</a:t>
            </a:r>
            <a:r>
              <a:rPr lang="en-US" sz="1800" b="1" dirty="0" err="1">
                <a:solidFill>
                  <a:srgbClr val="0070C0"/>
                </a:solidFill>
              </a:rPr>
              <a:t>T</a:t>
            </a:r>
            <a:r>
              <a:rPr lang="en-US" sz="1800" dirty="0" err="1"/>
              <a:t>,</a:t>
            </a:r>
            <a:r>
              <a:rPr lang="en-US" sz="1800" b="1" dirty="0" err="1"/>
              <a:t>x</a:t>
            </a:r>
            <a:r>
              <a:rPr lang="en-US" sz="1800" dirty="0"/>
              <a:t>)</a:t>
            </a:r>
          </a:p>
          <a:p>
            <a:pPr>
              <a:buFont typeface="+mj-lt"/>
              <a:buAutoNum type="arabicPeriod"/>
            </a:pPr>
            <a:r>
              <a:rPr lang="en-US" sz="1800" b="1" dirty="0" err="1">
                <a:solidFill>
                  <a:srgbClr val="002060"/>
                </a:solidFill>
              </a:rPr>
              <a:t>SpecialMerge</a:t>
            </a:r>
            <a:r>
              <a:rPr lang="en-US" sz="1800" dirty="0"/>
              <a:t>(</a:t>
            </a:r>
            <a:r>
              <a:rPr lang="en-US" sz="1800" b="1" dirty="0">
                <a:solidFill>
                  <a:srgbClr val="0070C0"/>
                </a:solidFill>
              </a:rPr>
              <a:t>T</a:t>
            </a:r>
            <a:r>
              <a:rPr lang="en-US" sz="1800" dirty="0"/>
              <a:t>,</a:t>
            </a:r>
            <a:r>
              <a:rPr lang="en-US" sz="1800" b="1" dirty="0">
                <a:solidFill>
                  <a:srgbClr val="0070C0"/>
                </a:solidFill>
              </a:rPr>
              <a:t> T’</a:t>
            </a:r>
            <a:r>
              <a:rPr lang="en-US" sz="1800" dirty="0"/>
              <a:t>)  </a:t>
            </a:r>
          </a:p>
          <a:p>
            <a:pPr>
              <a:buFont typeface="+mj-lt"/>
              <a:buAutoNum type="arabicPeriod"/>
            </a:pPr>
            <a:r>
              <a:rPr lang="en-US" sz="1800" b="1" dirty="0">
                <a:solidFill>
                  <a:srgbClr val="002060"/>
                </a:solidFill>
              </a:rPr>
              <a:t>Split</a:t>
            </a:r>
            <a:r>
              <a:rPr lang="en-US" sz="1800" dirty="0"/>
              <a:t>(</a:t>
            </a:r>
            <a:r>
              <a:rPr lang="en-US" sz="1800" b="1" dirty="0" err="1">
                <a:solidFill>
                  <a:srgbClr val="0070C0"/>
                </a:solidFill>
              </a:rPr>
              <a:t>T</a:t>
            </a:r>
            <a:r>
              <a:rPr lang="en-US" sz="1800" dirty="0" err="1"/>
              <a:t>,</a:t>
            </a:r>
            <a:r>
              <a:rPr lang="en-US" sz="1800" b="1" dirty="0" err="1"/>
              <a:t>x</a:t>
            </a:r>
            <a:r>
              <a:rPr lang="en-US" sz="1800" dirty="0"/>
              <a:t>)</a:t>
            </a:r>
          </a:p>
          <a:p>
            <a:pPr marL="0" indent="0" algn="ctr">
              <a:buNone/>
            </a:pPr>
            <a:endParaRPr lang="en-US" sz="1800" dirty="0"/>
          </a:p>
          <a:p>
            <a:pPr>
              <a:buFont typeface="+mj-lt"/>
              <a:buAutoNum type="arabicPeriod"/>
            </a:pPr>
            <a:endParaRPr lang="en-US" sz="1800" dirty="0"/>
          </a:p>
          <a:p>
            <a:pPr>
              <a:buFont typeface="+mj-lt"/>
              <a:buAutoNum type="arabicPeriod"/>
            </a:pPr>
            <a:endParaRPr lang="en-US" sz="1800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New operation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4"/>
          </p:nvPr>
        </p:nvSpPr>
        <p:spPr>
          <a:xfrm>
            <a:off x="4571999" y="2174875"/>
            <a:ext cx="4419601" cy="3951288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>
                <a:solidFill>
                  <a:srgbClr val="002060"/>
                </a:solidFill>
              </a:rPr>
              <a:t>10.  </a:t>
            </a:r>
            <a:r>
              <a:rPr lang="en-US" sz="1800" b="1" dirty="0" err="1">
                <a:solidFill>
                  <a:srgbClr val="002060"/>
                </a:solidFill>
              </a:rPr>
              <a:t>FindRank</a:t>
            </a:r>
            <a:r>
              <a:rPr lang="en-US" sz="1800" dirty="0"/>
              <a:t>(</a:t>
            </a:r>
            <a:r>
              <a:rPr lang="en-US" sz="1800" b="1" dirty="0">
                <a:solidFill>
                  <a:srgbClr val="0070C0"/>
                </a:solidFill>
              </a:rPr>
              <a:t>T</a:t>
            </a:r>
            <a:r>
              <a:rPr lang="en-US" sz="1800" b="1" dirty="0"/>
              <a:t>,</a:t>
            </a:r>
            <a:r>
              <a:rPr lang="en-US" sz="1800" b="1" dirty="0">
                <a:solidFill>
                  <a:srgbClr val="0070C0"/>
                </a:solidFill>
              </a:rPr>
              <a:t> </a:t>
            </a:r>
            <a:r>
              <a:rPr lang="en-US" sz="1800" b="1" dirty="0"/>
              <a:t>x</a:t>
            </a:r>
            <a:r>
              <a:rPr lang="en-US" sz="1800" dirty="0"/>
              <a:t>): </a:t>
            </a:r>
          </a:p>
          <a:p>
            <a:pPr marL="0" indent="0">
              <a:buNone/>
            </a:pPr>
            <a:r>
              <a:rPr lang="en-US" sz="1600" dirty="0"/>
              <a:t>return the  no. of elements  in </a:t>
            </a:r>
            <a:r>
              <a:rPr lang="en-US" sz="1600" b="1" dirty="0">
                <a:solidFill>
                  <a:srgbClr val="0070C0"/>
                </a:solidFill>
              </a:rPr>
              <a:t>T</a:t>
            </a:r>
            <a:r>
              <a:rPr lang="en-US" sz="1600" dirty="0"/>
              <a:t> that are smaller </a:t>
            </a:r>
          </a:p>
          <a:p>
            <a:pPr marL="0" indent="0">
              <a:buNone/>
            </a:pPr>
            <a:r>
              <a:rPr lang="en-US" sz="1600" dirty="0"/>
              <a:t>than </a:t>
            </a:r>
            <a:r>
              <a:rPr lang="en-US" sz="1600" b="1" dirty="0"/>
              <a:t>x</a:t>
            </a:r>
            <a:r>
              <a:rPr lang="en-US" sz="1600" dirty="0"/>
              <a:t>.</a:t>
            </a:r>
            <a:endParaRPr lang="en-US" sz="16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sz="16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sp>
        <p:nvSpPr>
          <p:cNvPr id="10" name="Down Ribbon 9"/>
          <p:cNvSpPr/>
          <p:nvPr/>
        </p:nvSpPr>
        <p:spPr>
          <a:xfrm>
            <a:off x="2590800" y="6096000"/>
            <a:ext cx="4114800" cy="612648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Every operation in </a:t>
            </a:r>
            <a:r>
              <a:rPr lang="en-US" sz="1600" b="1" dirty="0">
                <a:solidFill>
                  <a:srgbClr val="C00000"/>
                </a:solidFill>
              </a:rPr>
              <a:t>O</a:t>
            </a:r>
            <a:r>
              <a:rPr lang="en-US" sz="1600" dirty="0">
                <a:solidFill>
                  <a:schemeClr val="tx1"/>
                </a:solidFill>
              </a:rPr>
              <a:t>(log </a:t>
            </a:r>
            <a:r>
              <a:rPr lang="en-US" sz="1600" b="1" dirty="0">
                <a:solidFill>
                  <a:srgbClr val="0070C0"/>
                </a:solidFill>
              </a:rPr>
              <a:t>n</a:t>
            </a:r>
            <a:r>
              <a:rPr lang="en-US" sz="1600" dirty="0">
                <a:solidFill>
                  <a:schemeClr val="tx1"/>
                </a:solidFill>
              </a:rPr>
              <a:t>) time.</a:t>
            </a:r>
          </a:p>
        </p:txBody>
      </p:sp>
      <p:sp>
        <p:nvSpPr>
          <p:cNvPr id="2" name="Rounded Rectangle 1"/>
          <p:cNvSpPr/>
          <p:nvPr/>
        </p:nvSpPr>
        <p:spPr>
          <a:xfrm flipV="1">
            <a:off x="5562600" y="2514600"/>
            <a:ext cx="1371600" cy="381000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7315200" y="2324100"/>
            <a:ext cx="1676400" cy="495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081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p"/>
      <p:bldP spid="7" grpId="0" uiExpand="1" build="p"/>
      <p:bldP spid="8" grpId="0" build="p"/>
      <p:bldP spid="9" grpId="0" uiExpand="1" build="p"/>
      <p:bldP spid="10" grpId="0" animBg="1"/>
      <p:bldP spid="2" grpId="0" animBg="1"/>
      <p:bldP spid="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002060"/>
                </a:solidFill>
              </a:rPr>
              <a:t>Find-rank(</a:t>
            </a:r>
            <a:r>
              <a:rPr lang="en-US" sz="3600" b="1" dirty="0" err="1">
                <a:solidFill>
                  <a:srgbClr val="0070C0"/>
                </a:solidFill>
              </a:rPr>
              <a:t>T,x</a:t>
            </a:r>
            <a:r>
              <a:rPr lang="en-US" sz="3600" b="1" dirty="0"/>
              <a:t>)</a:t>
            </a:r>
            <a:endParaRPr lang="en-US" sz="32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endParaRPr lang="en-US" sz="28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2600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A</a:t>
            </a:r>
            <a:r>
              <a:rPr lang="en-US" sz="3600" b="1" dirty="0">
                <a:solidFill>
                  <a:srgbClr val="7030A0"/>
                </a:solidFill>
              </a:rPr>
              <a:t> trivial </a:t>
            </a:r>
            <a:r>
              <a:rPr lang="en-US" sz="3600" b="1" dirty="0"/>
              <a:t>algorithm for </a:t>
            </a:r>
            <a:r>
              <a:rPr lang="en-US" sz="3200" b="1" dirty="0">
                <a:solidFill>
                  <a:srgbClr val="002060"/>
                </a:solidFill>
              </a:rPr>
              <a:t>Find-rank(</a:t>
            </a:r>
            <a:r>
              <a:rPr lang="en-US" sz="3200" b="1" dirty="0" err="1">
                <a:solidFill>
                  <a:srgbClr val="0070C0"/>
                </a:solidFill>
              </a:rPr>
              <a:t>T,x</a:t>
            </a:r>
            <a:r>
              <a:rPr lang="en-US" sz="3200" b="1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953000"/>
              </a:xfrm>
            </p:spPr>
            <p:txBody>
              <a:bodyPr/>
              <a:lstStyle/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sz="2000" dirty="0"/>
                  <a:t>      </a:t>
                </a: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C00000"/>
                    </a:solidFill>
                  </a:rPr>
                  <a:t>Repeatedly</a:t>
                </a:r>
                <a:r>
                  <a:rPr lang="en-US" sz="2000" dirty="0"/>
                  <a:t> find predecessors of </a:t>
                </a:r>
                <a:r>
                  <a:rPr lang="en-US" sz="2000" b="1" dirty="0"/>
                  <a:t>x </a:t>
                </a:r>
                <a:r>
                  <a:rPr lang="en-US" sz="2000" dirty="0"/>
                  <a:t>and stop when you reach the min element.</a:t>
                </a:r>
                <a:endParaRPr lang="en-US" sz="2000" b="1" dirty="0"/>
              </a:p>
              <a:p>
                <a:pPr marL="0" indent="0">
                  <a:buNone/>
                </a:pPr>
                <a:r>
                  <a:rPr lang="en-US" sz="2000" dirty="0"/>
                  <a:t>Time complexity: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 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𝑘</m:t>
                    </m:r>
                  </m:oMath>
                </a14:m>
                <a:r>
                  <a:rPr lang="en-US" sz="2000" dirty="0"/>
                  <a:t> log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        (where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𝑘</m:t>
                    </m:r>
                  </m:oMath>
                </a14:m>
                <a:r>
                  <a:rPr lang="en-US" sz="2000" dirty="0"/>
                  <a:t> is rank of  </a:t>
                </a:r>
                <a:r>
                  <a:rPr lang="en-US" sz="2000" b="1" dirty="0"/>
                  <a:t>x</a:t>
                </a:r>
                <a:r>
                  <a:rPr lang="en-US" sz="2000" dirty="0"/>
                  <a:t> in 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T</a:t>
                </a:r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6C31"/>
                    </a:solidFill>
                  </a:rPr>
                  <a:t>Homework</a:t>
                </a:r>
                <a:r>
                  <a:rPr lang="en-US" sz="2000" dirty="0">
                    <a:solidFill>
                      <a:srgbClr val="006C31"/>
                    </a:solidFill>
                  </a:rPr>
                  <a:t>:</a:t>
                </a:r>
                <a:r>
                  <a:rPr lang="en-US" sz="2000" dirty="0"/>
                  <a:t> Show that all predecessors can be computed in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𝑘</m:t>
                    </m:r>
                  </m:oMath>
                </a14:m>
                <a:r>
                  <a:rPr lang="en-US" sz="2000" dirty="0"/>
                  <a:t>+ log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 time.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953000"/>
              </a:xfrm>
              <a:blipFill rotWithShape="1">
                <a:blip r:embed="rId2"/>
                <a:stretch>
                  <a:fillRect l="-741" t="-1601" r="-741" b="-24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grpSp>
        <p:nvGrpSpPr>
          <p:cNvPr id="14" name="Group 13"/>
          <p:cNvGrpSpPr/>
          <p:nvPr/>
        </p:nvGrpSpPr>
        <p:grpSpPr>
          <a:xfrm>
            <a:off x="1143000" y="1307068"/>
            <a:ext cx="5586736" cy="3374142"/>
            <a:chOff x="1143000" y="1535668"/>
            <a:chExt cx="5586736" cy="3374142"/>
          </a:xfrm>
        </p:grpSpPr>
        <p:sp>
          <p:nvSpPr>
            <p:cNvPr id="5" name="Oval 4"/>
            <p:cNvSpPr/>
            <p:nvPr/>
          </p:nvSpPr>
          <p:spPr>
            <a:xfrm>
              <a:off x="4514094" y="22098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6" name="Oval 5"/>
            <p:cNvSpPr/>
            <p:nvPr/>
          </p:nvSpPr>
          <p:spPr>
            <a:xfrm>
              <a:off x="6419094" y="3003231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1770894" y="3809999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5504694" y="3772992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3752094" y="38100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2819400" y="3003231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61294" y="46482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122" name="Oval 121"/>
            <p:cNvSpPr/>
            <p:nvPr/>
          </p:nvSpPr>
          <p:spPr>
            <a:xfrm>
              <a:off x="2228093" y="46482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138" name="Oval 137"/>
            <p:cNvSpPr/>
            <p:nvPr/>
          </p:nvSpPr>
          <p:spPr>
            <a:xfrm>
              <a:off x="3294893" y="46482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154" name="Oval 153"/>
            <p:cNvSpPr/>
            <p:nvPr/>
          </p:nvSpPr>
          <p:spPr>
            <a:xfrm>
              <a:off x="4209293" y="46482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170" name="Oval 169"/>
            <p:cNvSpPr/>
            <p:nvPr/>
          </p:nvSpPr>
          <p:spPr>
            <a:xfrm>
              <a:off x="5123693" y="46482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sp>
          <p:nvSpPr>
            <p:cNvPr id="186" name="Oval 185"/>
            <p:cNvSpPr/>
            <p:nvPr/>
          </p:nvSpPr>
          <p:spPr>
            <a:xfrm>
              <a:off x="6038093" y="4648200"/>
              <a:ext cx="286506" cy="19716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 dirty="0">
                <a:solidFill>
                  <a:srgbClr val="C00000"/>
                </a:solidFill>
              </a:endParaRPr>
            </a:p>
          </p:txBody>
        </p:sp>
        <p:cxnSp>
          <p:nvCxnSpPr>
            <p:cNvPr id="234" name="Straight Arrow Connector 233"/>
            <p:cNvCxnSpPr/>
            <p:nvPr/>
          </p:nvCxnSpPr>
          <p:spPr>
            <a:xfrm flipH="1">
              <a:off x="2962653" y="2308385"/>
              <a:ext cx="1551441" cy="69484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Arrow Connector 235"/>
            <p:cNvCxnSpPr/>
            <p:nvPr/>
          </p:nvCxnSpPr>
          <p:spPr>
            <a:xfrm flipH="1">
              <a:off x="1953760" y="3178015"/>
              <a:ext cx="941840" cy="63198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Arrow Connector 240"/>
            <p:cNvCxnSpPr>
              <a:stCxn id="8" idx="3"/>
            </p:cNvCxnSpPr>
            <p:nvPr/>
          </p:nvCxnSpPr>
          <p:spPr>
            <a:xfrm flipH="1">
              <a:off x="3438147" y="3978294"/>
              <a:ext cx="355905" cy="66990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Arrow Connector 237"/>
            <p:cNvCxnSpPr>
              <a:endCxn id="11" idx="7"/>
            </p:cNvCxnSpPr>
            <p:nvPr/>
          </p:nvCxnSpPr>
          <p:spPr>
            <a:xfrm flipH="1">
              <a:off x="1405842" y="3962400"/>
              <a:ext cx="422958" cy="71467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Arrow Connector 243"/>
            <p:cNvCxnSpPr/>
            <p:nvPr/>
          </p:nvCxnSpPr>
          <p:spPr>
            <a:xfrm flipH="1">
              <a:off x="5181600" y="3978294"/>
              <a:ext cx="405136" cy="66990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Arrow Connector 255"/>
            <p:cNvCxnSpPr/>
            <p:nvPr/>
          </p:nvCxnSpPr>
          <p:spPr>
            <a:xfrm flipH="1">
              <a:off x="5647948" y="3200400"/>
              <a:ext cx="811214" cy="57259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Arrow Connector 258"/>
            <p:cNvCxnSpPr/>
            <p:nvPr/>
          </p:nvCxnSpPr>
          <p:spPr>
            <a:xfrm>
              <a:off x="3048000" y="3178015"/>
              <a:ext cx="838200" cy="631985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Arrow Connector 265"/>
            <p:cNvCxnSpPr/>
            <p:nvPr/>
          </p:nvCxnSpPr>
          <p:spPr>
            <a:xfrm>
              <a:off x="2029959" y="3962400"/>
              <a:ext cx="341387" cy="6858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Arrow Connector 267"/>
            <p:cNvCxnSpPr>
              <a:endCxn id="294" idx="0"/>
            </p:cNvCxnSpPr>
            <p:nvPr/>
          </p:nvCxnSpPr>
          <p:spPr>
            <a:xfrm>
              <a:off x="3962400" y="3978116"/>
              <a:ext cx="368932" cy="67008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Arrow Connector 272"/>
            <p:cNvCxnSpPr/>
            <p:nvPr/>
          </p:nvCxnSpPr>
          <p:spPr>
            <a:xfrm>
              <a:off x="5763759" y="3962400"/>
              <a:ext cx="417587" cy="6858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Arrow Connector 278"/>
            <p:cNvCxnSpPr/>
            <p:nvPr/>
          </p:nvCxnSpPr>
          <p:spPr>
            <a:xfrm>
              <a:off x="4800600" y="2353154"/>
              <a:ext cx="1658562" cy="694846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82" name="Group 281"/>
            <p:cNvGrpSpPr/>
            <p:nvPr/>
          </p:nvGrpSpPr>
          <p:grpSpPr>
            <a:xfrm>
              <a:off x="4526276" y="1535668"/>
              <a:ext cx="502924" cy="642699"/>
              <a:chOff x="1310628" y="3849469"/>
              <a:chExt cx="502924" cy="642699"/>
            </a:xfrm>
          </p:grpSpPr>
          <p:cxnSp>
            <p:nvCxnSpPr>
              <p:cNvPr id="283" name="Elbow Connector 282"/>
              <p:cNvCxnSpPr/>
              <p:nvPr/>
            </p:nvCxnSpPr>
            <p:spPr>
              <a:xfrm rot="16200000" flipH="1">
                <a:off x="1306996" y="4339420"/>
                <a:ext cx="301167" cy="4330"/>
              </a:xfrm>
              <a:prstGeom prst="bentConnector3">
                <a:avLst>
                  <a:gd name="adj1" fmla="val 50000"/>
                </a:avLst>
              </a:prstGeom>
              <a:ln w="28575">
                <a:solidFill>
                  <a:srgbClr val="00B05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4" name="TextBox 283"/>
              <p:cNvSpPr txBox="1"/>
              <p:nvPr/>
            </p:nvSpPr>
            <p:spPr>
              <a:xfrm>
                <a:off x="1310628" y="3849469"/>
                <a:ext cx="50292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0070C0"/>
                    </a:solidFill>
                  </a:rPr>
                  <a:t>T</a:t>
                </a:r>
              </a:p>
            </p:txBody>
          </p:sp>
        </p:grpSp>
        <p:sp>
          <p:nvSpPr>
            <p:cNvPr id="286" name="TextBox 285"/>
            <p:cNvSpPr txBox="1"/>
            <p:nvPr/>
          </p:nvSpPr>
          <p:spPr>
            <a:xfrm>
              <a:off x="1143000" y="4615190"/>
              <a:ext cx="25680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rgbClr val="C00000"/>
                  </a:solidFill>
                </a:rPr>
                <a:t>2</a:t>
              </a:r>
            </a:p>
          </p:txBody>
        </p:sp>
        <p:sp>
          <p:nvSpPr>
            <p:cNvPr id="287" name="TextBox 286"/>
            <p:cNvSpPr txBox="1"/>
            <p:nvPr/>
          </p:nvSpPr>
          <p:spPr>
            <a:xfrm>
              <a:off x="2819400" y="29718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rgbClr val="C00000"/>
                  </a:solidFill>
                </a:rPr>
                <a:t>28</a:t>
              </a:r>
            </a:p>
          </p:txBody>
        </p:sp>
        <p:sp>
          <p:nvSpPr>
            <p:cNvPr id="288" name="TextBox 287"/>
            <p:cNvSpPr txBox="1"/>
            <p:nvPr/>
          </p:nvSpPr>
          <p:spPr>
            <a:xfrm>
              <a:off x="4471664" y="22098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rgbClr val="C00000"/>
                  </a:solidFill>
                </a:rPr>
                <a:t>46</a:t>
              </a:r>
            </a:p>
          </p:txBody>
        </p:sp>
        <p:sp>
          <p:nvSpPr>
            <p:cNvPr id="289" name="TextBox 288"/>
            <p:cNvSpPr txBox="1"/>
            <p:nvPr/>
          </p:nvSpPr>
          <p:spPr>
            <a:xfrm>
              <a:off x="6400800" y="29718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rgbClr val="C00000"/>
                  </a:solidFill>
                </a:rPr>
                <a:t>67</a:t>
              </a:r>
            </a:p>
          </p:txBody>
        </p:sp>
        <p:sp>
          <p:nvSpPr>
            <p:cNvPr id="291" name="TextBox 290"/>
            <p:cNvSpPr txBox="1"/>
            <p:nvPr/>
          </p:nvSpPr>
          <p:spPr>
            <a:xfrm>
              <a:off x="2209800" y="461519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rgbClr val="C00000"/>
                  </a:solidFill>
                </a:rPr>
                <a:t>25</a:t>
              </a:r>
            </a:p>
          </p:txBody>
        </p:sp>
        <p:sp>
          <p:nvSpPr>
            <p:cNvPr id="292" name="TextBox 291"/>
            <p:cNvSpPr txBox="1"/>
            <p:nvPr/>
          </p:nvSpPr>
          <p:spPr>
            <a:xfrm>
              <a:off x="1752600" y="3776990"/>
              <a:ext cx="25680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rgbClr val="C00000"/>
                  </a:solidFill>
                </a:rPr>
                <a:t>5</a:t>
              </a:r>
            </a:p>
          </p:txBody>
        </p:sp>
        <p:sp>
          <p:nvSpPr>
            <p:cNvPr id="293" name="TextBox 292"/>
            <p:cNvSpPr txBox="1"/>
            <p:nvPr/>
          </p:nvSpPr>
          <p:spPr>
            <a:xfrm>
              <a:off x="3276600" y="46482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rgbClr val="C00000"/>
                  </a:solidFill>
                </a:rPr>
                <a:t>31</a:t>
              </a:r>
            </a:p>
          </p:txBody>
        </p:sp>
        <p:sp>
          <p:nvSpPr>
            <p:cNvPr id="294" name="TextBox 293"/>
            <p:cNvSpPr txBox="1"/>
            <p:nvPr/>
          </p:nvSpPr>
          <p:spPr>
            <a:xfrm>
              <a:off x="4166864" y="46482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rgbClr val="C00000"/>
                  </a:solidFill>
                </a:rPr>
                <a:t>41</a:t>
              </a:r>
            </a:p>
          </p:txBody>
        </p:sp>
        <p:sp>
          <p:nvSpPr>
            <p:cNvPr id="295" name="TextBox 294"/>
            <p:cNvSpPr txBox="1"/>
            <p:nvPr/>
          </p:nvSpPr>
          <p:spPr>
            <a:xfrm>
              <a:off x="3733800" y="377699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rgbClr val="C00000"/>
                  </a:solidFill>
                </a:rPr>
                <a:t>35</a:t>
              </a:r>
            </a:p>
          </p:txBody>
        </p:sp>
        <p:sp>
          <p:nvSpPr>
            <p:cNvPr id="296" name="TextBox 295"/>
            <p:cNvSpPr txBox="1"/>
            <p:nvPr/>
          </p:nvSpPr>
          <p:spPr>
            <a:xfrm>
              <a:off x="5486400" y="37338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rgbClr val="C00000"/>
                  </a:solidFill>
                </a:rPr>
                <a:t>49</a:t>
              </a:r>
            </a:p>
          </p:txBody>
        </p:sp>
        <p:sp>
          <p:nvSpPr>
            <p:cNvPr id="297" name="TextBox 296"/>
            <p:cNvSpPr txBox="1"/>
            <p:nvPr/>
          </p:nvSpPr>
          <p:spPr>
            <a:xfrm>
              <a:off x="5995664" y="461519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rgbClr val="C00000"/>
                  </a:solidFill>
                </a:rPr>
                <a:t>53</a:t>
              </a:r>
            </a:p>
          </p:txBody>
        </p:sp>
        <p:sp>
          <p:nvSpPr>
            <p:cNvPr id="299" name="TextBox 298"/>
            <p:cNvSpPr txBox="1"/>
            <p:nvPr/>
          </p:nvSpPr>
          <p:spPr>
            <a:xfrm>
              <a:off x="5105400" y="4648200"/>
              <a:ext cx="32893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rgbClr val="C00000"/>
                  </a:solidFill>
                </a:rPr>
                <a:t>48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990600" y="2949416"/>
            <a:ext cx="6324600" cy="2232184"/>
            <a:chOff x="990600" y="2949416"/>
            <a:chExt cx="6324600" cy="2232184"/>
          </a:xfrm>
        </p:grpSpPr>
        <p:grpSp>
          <p:nvGrpSpPr>
            <p:cNvPr id="54" name="Group 53"/>
            <p:cNvGrpSpPr/>
            <p:nvPr/>
          </p:nvGrpSpPr>
          <p:grpSpPr>
            <a:xfrm>
              <a:off x="2057400" y="4616769"/>
              <a:ext cx="591762" cy="564831"/>
              <a:chOff x="990601" y="4159569"/>
              <a:chExt cx="591762" cy="564831"/>
            </a:xfrm>
          </p:grpSpPr>
          <p:grpSp>
            <p:nvGrpSpPr>
              <p:cNvPr id="56" name="Group 55"/>
              <p:cNvGrpSpPr/>
              <p:nvPr/>
            </p:nvGrpSpPr>
            <p:grpSpPr>
              <a:xfrm>
                <a:off x="990601" y="4159569"/>
                <a:ext cx="225309" cy="564831"/>
                <a:chOff x="853448" y="1644969"/>
                <a:chExt cx="255680" cy="559397"/>
              </a:xfrm>
            </p:grpSpPr>
            <p:grpSp>
              <p:nvGrpSpPr>
                <p:cNvPr id="64" name="Group 63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66" name="Rectangle 65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67" name="Group 66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68" name="Straight Connector 67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9" name="Straight Connector 68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65" name="Straight Arrow Connector 64"/>
                <p:cNvCxnSpPr>
                  <a:endCxn id="66" idx="0"/>
                </p:cNvCxnSpPr>
                <p:nvPr/>
              </p:nvCxnSpPr>
              <p:spPr>
                <a:xfrm flipH="1">
                  <a:off x="954033" y="1644969"/>
                  <a:ext cx="155095" cy="346513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7" name="Group 56"/>
              <p:cNvGrpSpPr/>
              <p:nvPr/>
            </p:nvGrpSpPr>
            <p:grpSpPr>
              <a:xfrm>
                <a:off x="1349682" y="4159569"/>
                <a:ext cx="232681" cy="564831"/>
                <a:chOff x="780160" y="1648024"/>
                <a:chExt cx="274457" cy="556342"/>
              </a:xfrm>
            </p:grpSpPr>
            <p:grpSp>
              <p:nvGrpSpPr>
                <p:cNvPr id="58" name="Group 57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60" name="Rectangle 59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61" name="Group 60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62" name="Straight Connector 61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63" name="Straight Connector 62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59" name="Straight Arrow Connector 58"/>
                <p:cNvCxnSpPr/>
                <p:nvPr/>
              </p:nvCxnSpPr>
              <p:spPr>
                <a:xfrm>
                  <a:off x="780160" y="1648024"/>
                  <a:ext cx="205617" cy="333176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70" name="Group 69"/>
            <p:cNvGrpSpPr/>
            <p:nvPr/>
          </p:nvGrpSpPr>
          <p:grpSpPr>
            <a:xfrm>
              <a:off x="990600" y="4616769"/>
              <a:ext cx="591762" cy="564831"/>
              <a:chOff x="990601" y="4159569"/>
              <a:chExt cx="591762" cy="564831"/>
            </a:xfrm>
          </p:grpSpPr>
          <p:grpSp>
            <p:nvGrpSpPr>
              <p:cNvPr id="71" name="Group 70"/>
              <p:cNvGrpSpPr/>
              <p:nvPr/>
            </p:nvGrpSpPr>
            <p:grpSpPr>
              <a:xfrm>
                <a:off x="990601" y="4159569"/>
                <a:ext cx="225309" cy="564831"/>
                <a:chOff x="853448" y="1644969"/>
                <a:chExt cx="255680" cy="559397"/>
              </a:xfrm>
            </p:grpSpPr>
            <p:grpSp>
              <p:nvGrpSpPr>
                <p:cNvPr id="79" name="Group 78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81" name="Rectangle 80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82" name="Group 81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83" name="Straight Connector 82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4" name="Straight Connector 83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80" name="Straight Arrow Connector 79"/>
                <p:cNvCxnSpPr>
                  <a:endCxn id="81" idx="0"/>
                </p:cNvCxnSpPr>
                <p:nvPr/>
              </p:nvCxnSpPr>
              <p:spPr>
                <a:xfrm flipH="1">
                  <a:off x="954033" y="1644969"/>
                  <a:ext cx="155095" cy="346513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2" name="Group 71"/>
              <p:cNvGrpSpPr/>
              <p:nvPr/>
            </p:nvGrpSpPr>
            <p:grpSpPr>
              <a:xfrm>
                <a:off x="1349682" y="4159569"/>
                <a:ext cx="232681" cy="564831"/>
                <a:chOff x="780160" y="1648024"/>
                <a:chExt cx="274457" cy="556342"/>
              </a:xfrm>
            </p:grpSpPr>
            <p:grpSp>
              <p:nvGrpSpPr>
                <p:cNvPr id="73" name="Group 72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75" name="Rectangle 74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76" name="Group 75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77" name="Straight Connector 76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78" name="Straight Connector 77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74" name="Straight Arrow Connector 73"/>
                <p:cNvCxnSpPr/>
                <p:nvPr/>
              </p:nvCxnSpPr>
              <p:spPr>
                <a:xfrm>
                  <a:off x="780160" y="1648024"/>
                  <a:ext cx="205617" cy="333176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85" name="Group 84"/>
            <p:cNvGrpSpPr/>
            <p:nvPr/>
          </p:nvGrpSpPr>
          <p:grpSpPr>
            <a:xfrm>
              <a:off x="3142038" y="4616769"/>
              <a:ext cx="591762" cy="564831"/>
              <a:chOff x="990601" y="4159569"/>
              <a:chExt cx="591762" cy="564831"/>
            </a:xfrm>
          </p:grpSpPr>
          <p:grpSp>
            <p:nvGrpSpPr>
              <p:cNvPr id="86" name="Group 85"/>
              <p:cNvGrpSpPr/>
              <p:nvPr/>
            </p:nvGrpSpPr>
            <p:grpSpPr>
              <a:xfrm>
                <a:off x="990601" y="4159569"/>
                <a:ext cx="225309" cy="564831"/>
                <a:chOff x="853448" y="1644969"/>
                <a:chExt cx="255680" cy="559397"/>
              </a:xfrm>
            </p:grpSpPr>
            <p:grpSp>
              <p:nvGrpSpPr>
                <p:cNvPr id="94" name="Group 93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96" name="Rectangle 95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97" name="Group 96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98" name="Straight Connector 97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9" name="Straight Connector 98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95" name="Straight Arrow Connector 94"/>
                <p:cNvCxnSpPr>
                  <a:endCxn id="96" idx="0"/>
                </p:cNvCxnSpPr>
                <p:nvPr/>
              </p:nvCxnSpPr>
              <p:spPr>
                <a:xfrm flipH="1">
                  <a:off x="954033" y="1644969"/>
                  <a:ext cx="155095" cy="346513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7" name="Group 86"/>
              <p:cNvGrpSpPr/>
              <p:nvPr/>
            </p:nvGrpSpPr>
            <p:grpSpPr>
              <a:xfrm>
                <a:off x="1349682" y="4159569"/>
                <a:ext cx="232681" cy="564831"/>
                <a:chOff x="780160" y="1648024"/>
                <a:chExt cx="274457" cy="556342"/>
              </a:xfrm>
            </p:grpSpPr>
            <p:grpSp>
              <p:nvGrpSpPr>
                <p:cNvPr id="88" name="Group 87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90" name="Rectangle 89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91" name="Group 90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92" name="Straight Connector 91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3" name="Straight Connector 92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89" name="Straight Arrow Connector 88"/>
                <p:cNvCxnSpPr/>
                <p:nvPr/>
              </p:nvCxnSpPr>
              <p:spPr>
                <a:xfrm>
                  <a:off x="780160" y="1648024"/>
                  <a:ext cx="205617" cy="333176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00" name="Group 99"/>
            <p:cNvGrpSpPr/>
            <p:nvPr/>
          </p:nvGrpSpPr>
          <p:grpSpPr>
            <a:xfrm>
              <a:off x="4038600" y="4616769"/>
              <a:ext cx="591762" cy="564831"/>
              <a:chOff x="990601" y="4159569"/>
              <a:chExt cx="591762" cy="564831"/>
            </a:xfrm>
          </p:grpSpPr>
          <p:grpSp>
            <p:nvGrpSpPr>
              <p:cNvPr id="101" name="Group 100"/>
              <p:cNvGrpSpPr/>
              <p:nvPr/>
            </p:nvGrpSpPr>
            <p:grpSpPr>
              <a:xfrm>
                <a:off x="990601" y="4159569"/>
                <a:ext cx="225309" cy="564831"/>
                <a:chOff x="853448" y="1644969"/>
                <a:chExt cx="255680" cy="559397"/>
              </a:xfrm>
            </p:grpSpPr>
            <p:grpSp>
              <p:nvGrpSpPr>
                <p:cNvPr id="109" name="Group 108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111" name="Rectangle 110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12" name="Group 111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113" name="Straight Connector 112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14" name="Straight Connector 113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110" name="Straight Arrow Connector 109"/>
                <p:cNvCxnSpPr>
                  <a:endCxn id="111" idx="0"/>
                </p:cNvCxnSpPr>
                <p:nvPr/>
              </p:nvCxnSpPr>
              <p:spPr>
                <a:xfrm flipH="1">
                  <a:off x="954033" y="1644969"/>
                  <a:ext cx="155095" cy="346513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2" name="Group 101"/>
              <p:cNvGrpSpPr/>
              <p:nvPr/>
            </p:nvGrpSpPr>
            <p:grpSpPr>
              <a:xfrm>
                <a:off x="1349682" y="4159569"/>
                <a:ext cx="232681" cy="564831"/>
                <a:chOff x="780160" y="1648024"/>
                <a:chExt cx="274457" cy="556342"/>
              </a:xfrm>
            </p:grpSpPr>
            <p:grpSp>
              <p:nvGrpSpPr>
                <p:cNvPr id="103" name="Group 102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105" name="Rectangle 104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06" name="Group 105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107" name="Straight Connector 106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08" name="Straight Connector 107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104" name="Straight Arrow Connector 103"/>
                <p:cNvCxnSpPr/>
                <p:nvPr/>
              </p:nvCxnSpPr>
              <p:spPr>
                <a:xfrm>
                  <a:off x="780160" y="1648024"/>
                  <a:ext cx="205617" cy="333176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15" name="Group 114"/>
            <p:cNvGrpSpPr/>
            <p:nvPr/>
          </p:nvGrpSpPr>
          <p:grpSpPr>
            <a:xfrm>
              <a:off x="4970838" y="4616769"/>
              <a:ext cx="591762" cy="564831"/>
              <a:chOff x="990601" y="4159569"/>
              <a:chExt cx="591762" cy="564831"/>
            </a:xfrm>
          </p:grpSpPr>
          <p:grpSp>
            <p:nvGrpSpPr>
              <p:cNvPr id="116" name="Group 115"/>
              <p:cNvGrpSpPr/>
              <p:nvPr/>
            </p:nvGrpSpPr>
            <p:grpSpPr>
              <a:xfrm>
                <a:off x="990601" y="4159569"/>
                <a:ext cx="225309" cy="564831"/>
                <a:chOff x="853448" y="1644969"/>
                <a:chExt cx="255680" cy="559397"/>
              </a:xfrm>
            </p:grpSpPr>
            <p:grpSp>
              <p:nvGrpSpPr>
                <p:cNvPr id="125" name="Group 124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127" name="Rectangle 126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28" name="Group 127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129" name="Straight Connector 128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30" name="Straight Connector 129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126" name="Straight Arrow Connector 125"/>
                <p:cNvCxnSpPr>
                  <a:endCxn id="127" idx="0"/>
                </p:cNvCxnSpPr>
                <p:nvPr/>
              </p:nvCxnSpPr>
              <p:spPr>
                <a:xfrm flipH="1">
                  <a:off x="954033" y="1644969"/>
                  <a:ext cx="155095" cy="346513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7" name="Group 116"/>
              <p:cNvGrpSpPr/>
              <p:nvPr/>
            </p:nvGrpSpPr>
            <p:grpSpPr>
              <a:xfrm>
                <a:off x="1349682" y="4159569"/>
                <a:ext cx="232681" cy="564831"/>
                <a:chOff x="780160" y="1648024"/>
                <a:chExt cx="274457" cy="556342"/>
              </a:xfrm>
            </p:grpSpPr>
            <p:grpSp>
              <p:nvGrpSpPr>
                <p:cNvPr id="118" name="Group 117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120" name="Rectangle 119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21" name="Group 120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123" name="Straight Connector 122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4" name="Straight Connector 123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119" name="Straight Arrow Connector 118"/>
                <p:cNvCxnSpPr/>
                <p:nvPr/>
              </p:nvCxnSpPr>
              <p:spPr>
                <a:xfrm>
                  <a:off x="780160" y="1648024"/>
                  <a:ext cx="205617" cy="333176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31" name="Group 130"/>
            <p:cNvGrpSpPr/>
            <p:nvPr/>
          </p:nvGrpSpPr>
          <p:grpSpPr>
            <a:xfrm>
              <a:off x="5885238" y="4616769"/>
              <a:ext cx="591762" cy="564831"/>
              <a:chOff x="990601" y="4159569"/>
              <a:chExt cx="591762" cy="564831"/>
            </a:xfrm>
          </p:grpSpPr>
          <p:grpSp>
            <p:nvGrpSpPr>
              <p:cNvPr id="132" name="Group 131"/>
              <p:cNvGrpSpPr/>
              <p:nvPr/>
            </p:nvGrpSpPr>
            <p:grpSpPr>
              <a:xfrm>
                <a:off x="990601" y="4159569"/>
                <a:ext cx="225309" cy="564831"/>
                <a:chOff x="853448" y="1644969"/>
                <a:chExt cx="255680" cy="559397"/>
              </a:xfrm>
            </p:grpSpPr>
            <p:grpSp>
              <p:nvGrpSpPr>
                <p:cNvPr id="141" name="Group 140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143" name="Rectangle 142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44" name="Group 143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145" name="Straight Connector 144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6" name="Straight Connector 145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142" name="Straight Arrow Connector 141"/>
                <p:cNvCxnSpPr>
                  <a:endCxn id="143" idx="0"/>
                </p:cNvCxnSpPr>
                <p:nvPr/>
              </p:nvCxnSpPr>
              <p:spPr>
                <a:xfrm flipH="1">
                  <a:off x="954033" y="1644969"/>
                  <a:ext cx="155095" cy="346513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3" name="Group 132"/>
              <p:cNvGrpSpPr/>
              <p:nvPr/>
            </p:nvGrpSpPr>
            <p:grpSpPr>
              <a:xfrm>
                <a:off x="1349682" y="4159569"/>
                <a:ext cx="232681" cy="564831"/>
                <a:chOff x="780160" y="1648024"/>
                <a:chExt cx="274457" cy="556342"/>
              </a:xfrm>
            </p:grpSpPr>
            <p:grpSp>
              <p:nvGrpSpPr>
                <p:cNvPr id="134" name="Group 133"/>
                <p:cNvGrpSpPr/>
                <p:nvPr/>
              </p:nvGrpSpPr>
              <p:grpSpPr>
                <a:xfrm>
                  <a:off x="853448" y="1981200"/>
                  <a:ext cx="201169" cy="223166"/>
                  <a:chOff x="2447520" y="2514600"/>
                  <a:chExt cx="201169" cy="223166"/>
                </a:xfrm>
              </p:grpSpPr>
              <p:sp>
                <p:nvSpPr>
                  <p:cNvPr id="136" name="Rectangle 135"/>
                  <p:cNvSpPr/>
                  <p:nvPr/>
                </p:nvSpPr>
                <p:spPr>
                  <a:xfrm>
                    <a:off x="2447520" y="2524882"/>
                    <a:ext cx="201169" cy="212884"/>
                  </a:xfrm>
                  <a:prstGeom prst="rect">
                    <a:avLst/>
                  </a:prstGeom>
                  <a:solidFill>
                    <a:schemeClr val="accent6">
                      <a:lumMod val="75000"/>
                    </a:schemeClr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37" name="Group 136"/>
                  <p:cNvGrpSpPr/>
                  <p:nvPr/>
                </p:nvGrpSpPr>
                <p:grpSpPr>
                  <a:xfrm>
                    <a:off x="2447520" y="2514600"/>
                    <a:ext cx="201169" cy="212884"/>
                    <a:chOff x="2447520" y="2524882"/>
                    <a:chExt cx="201169" cy="212884"/>
                  </a:xfrm>
                </p:grpSpPr>
                <p:cxnSp>
                  <p:nvCxnSpPr>
                    <p:cNvPr id="139" name="Straight Connector 138"/>
                    <p:cNvCxnSpPr/>
                    <p:nvPr/>
                  </p:nvCxnSpPr>
                  <p:spPr>
                    <a:xfrm flipH="1"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40" name="Straight Connector 139"/>
                    <p:cNvCxnSpPr/>
                    <p:nvPr/>
                  </p:nvCxnSpPr>
                  <p:spPr>
                    <a:xfrm>
                      <a:off x="2447520" y="2524882"/>
                      <a:ext cx="201169" cy="212884"/>
                    </a:xfrm>
                    <a:prstGeom prst="line">
                      <a:avLst/>
                    </a:prstGeom>
                    <a:ln w="285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cxnSp>
              <p:nvCxnSpPr>
                <p:cNvPr id="135" name="Straight Arrow Connector 134"/>
                <p:cNvCxnSpPr/>
                <p:nvPr/>
              </p:nvCxnSpPr>
              <p:spPr>
                <a:xfrm>
                  <a:off x="780160" y="1648024"/>
                  <a:ext cx="205617" cy="333176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49" name="Group 148"/>
            <p:cNvGrpSpPr/>
            <p:nvPr/>
          </p:nvGrpSpPr>
          <p:grpSpPr>
            <a:xfrm>
              <a:off x="6629400" y="2949416"/>
              <a:ext cx="685800" cy="675176"/>
              <a:chOff x="245687" y="1539338"/>
              <a:chExt cx="808930" cy="665028"/>
            </a:xfrm>
          </p:grpSpPr>
          <p:grpSp>
            <p:nvGrpSpPr>
              <p:cNvPr id="150" name="Group 149"/>
              <p:cNvGrpSpPr/>
              <p:nvPr/>
            </p:nvGrpSpPr>
            <p:grpSpPr>
              <a:xfrm>
                <a:off x="853448" y="1981200"/>
                <a:ext cx="201169" cy="223166"/>
                <a:chOff x="2447520" y="2514600"/>
                <a:chExt cx="201169" cy="223166"/>
              </a:xfrm>
            </p:grpSpPr>
            <p:sp>
              <p:nvSpPr>
                <p:cNvPr id="152" name="Rectangle 151"/>
                <p:cNvSpPr/>
                <p:nvPr/>
              </p:nvSpPr>
              <p:spPr>
                <a:xfrm>
                  <a:off x="2447520" y="2524882"/>
                  <a:ext cx="201169" cy="212884"/>
                </a:xfrm>
                <a:prstGeom prst="rect">
                  <a:avLst/>
                </a:prstGeom>
                <a:solidFill>
                  <a:schemeClr val="accent6">
                    <a:lumMod val="75000"/>
                  </a:schemeClr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53" name="Group 152"/>
                <p:cNvGrpSpPr/>
                <p:nvPr/>
              </p:nvGrpSpPr>
              <p:grpSpPr>
                <a:xfrm>
                  <a:off x="2447520" y="2514600"/>
                  <a:ext cx="201169" cy="212884"/>
                  <a:chOff x="2447520" y="2524882"/>
                  <a:chExt cx="201169" cy="212884"/>
                </a:xfrm>
              </p:grpSpPr>
              <p:cxnSp>
                <p:nvCxnSpPr>
                  <p:cNvPr id="155" name="Straight Connector 154"/>
                  <p:cNvCxnSpPr/>
                  <p:nvPr/>
                </p:nvCxnSpPr>
                <p:spPr>
                  <a:xfrm flipH="1">
                    <a:off x="2447520" y="2524882"/>
                    <a:ext cx="201169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6" name="Straight Connector 155"/>
                  <p:cNvCxnSpPr/>
                  <p:nvPr/>
                </p:nvCxnSpPr>
                <p:spPr>
                  <a:xfrm>
                    <a:off x="2447521" y="2524882"/>
                    <a:ext cx="201168" cy="212884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151" name="Straight Arrow Connector 150"/>
              <p:cNvCxnSpPr/>
              <p:nvPr/>
            </p:nvCxnSpPr>
            <p:spPr>
              <a:xfrm>
                <a:off x="245687" y="1539338"/>
                <a:ext cx="719049" cy="44186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" name="Rectangle 9"/>
          <p:cNvSpPr/>
          <p:nvPr/>
        </p:nvSpPr>
        <p:spPr>
          <a:xfrm>
            <a:off x="4038600" y="5410200"/>
            <a:ext cx="932238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8" name="Rectangle 147"/>
          <p:cNvSpPr/>
          <p:nvPr/>
        </p:nvSpPr>
        <p:spPr>
          <a:xfrm>
            <a:off x="5029200" y="5410200"/>
            <a:ext cx="37338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524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25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3" dur="125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10" grpId="0" animBg="1"/>
      <p:bldP spid="14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Achieving </a:t>
            </a:r>
            <a:r>
              <a:rPr lang="en-US" sz="3600" b="1" dirty="0">
                <a:solidFill>
                  <a:srgbClr val="C00000"/>
                </a:solidFill>
              </a:rPr>
              <a:t>O</a:t>
            </a:r>
            <a:r>
              <a:rPr lang="en-US" sz="3600" b="1" dirty="0"/>
              <a:t>(log </a:t>
            </a:r>
            <a:r>
              <a:rPr lang="en-US" sz="3600" b="1" dirty="0">
                <a:solidFill>
                  <a:srgbClr val="0070C0"/>
                </a:solidFill>
              </a:rPr>
              <a:t>n</a:t>
            </a:r>
            <a:r>
              <a:rPr lang="en-US" sz="3600" b="1" dirty="0"/>
              <a:t>) time for </a:t>
            </a:r>
            <a:r>
              <a:rPr lang="en-US" sz="3600" b="1" dirty="0" err="1">
                <a:solidFill>
                  <a:srgbClr val="002060"/>
                </a:solidFill>
              </a:rPr>
              <a:t>FindRank</a:t>
            </a:r>
            <a:r>
              <a:rPr lang="en-US" sz="3600" b="1" dirty="0"/>
              <a:t>(</a:t>
            </a:r>
            <a:r>
              <a:rPr lang="en-US" sz="3600" b="1" dirty="0" err="1">
                <a:solidFill>
                  <a:srgbClr val="0070C0"/>
                </a:solidFill>
              </a:rPr>
              <a:t>T</a:t>
            </a:r>
            <a:r>
              <a:rPr lang="en-US" sz="3600" b="1" dirty="0" err="1"/>
              <a:t>,x</a:t>
            </a:r>
            <a:r>
              <a:rPr lang="en-US" sz="3600" b="1" dirty="0"/>
              <a:t>)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Assume without loss of generality that </a:t>
            </a:r>
            <a:r>
              <a:rPr lang="en-US" sz="2400" b="1" dirty="0"/>
              <a:t>x </a:t>
            </a:r>
            <a:r>
              <a:rPr lang="en-US" sz="2400" u="sng" dirty="0"/>
              <a:t>belongs to</a:t>
            </a:r>
            <a:r>
              <a:rPr lang="en-US" sz="2400" b="1" dirty="0"/>
              <a:t> </a:t>
            </a:r>
            <a:r>
              <a:rPr lang="en-US" sz="2400" b="1" dirty="0">
                <a:solidFill>
                  <a:srgbClr val="0070C0"/>
                </a:solidFill>
              </a:rPr>
              <a:t>T</a:t>
            </a:r>
            <a:r>
              <a:rPr lang="en-US" sz="240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sp>
        <p:nvSpPr>
          <p:cNvPr id="6" name="Isosceles Triangle 5"/>
          <p:cNvSpPr/>
          <p:nvPr/>
        </p:nvSpPr>
        <p:spPr>
          <a:xfrm>
            <a:off x="3276600" y="2057400"/>
            <a:ext cx="3124200" cy="3352800"/>
          </a:xfrm>
          <a:prstGeom prst="triangl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2" name="Group 41"/>
          <p:cNvGrpSpPr/>
          <p:nvPr/>
        </p:nvGrpSpPr>
        <p:grpSpPr>
          <a:xfrm>
            <a:off x="4343400" y="2057400"/>
            <a:ext cx="990600" cy="2917918"/>
            <a:chOff x="4343400" y="2057400"/>
            <a:chExt cx="990600" cy="2917918"/>
          </a:xfrm>
        </p:grpSpPr>
        <p:grpSp>
          <p:nvGrpSpPr>
            <p:cNvPr id="36" name="Group 35"/>
            <p:cNvGrpSpPr/>
            <p:nvPr/>
          </p:nvGrpSpPr>
          <p:grpSpPr>
            <a:xfrm>
              <a:off x="4343400" y="2176338"/>
              <a:ext cx="990600" cy="2798980"/>
              <a:chOff x="4343400" y="2176338"/>
              <a:chExt cx="990600" cy="2798980"/>
            </a:xfrm>
          </p:grpSpPr>
          <p:cxnSp>
            <p:nvCxnSpPr>
              <p:cNvPr id="11" name="Straight Arrow Connector 10"/>
              <p:cNvCxnSpPr/>
              <p:nvPr/>
            </p:nvCxnSpPr>
            <p:spPr>
              <a:xfrm flipH="1">
                <a:off x="4628678" y="2176338"/>
                <a:ext cx="174718" cy="327118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Oval 14"/>
              <p:cNvSpPr/>
              <p:nvPr/>
            </p:nvSpPr>
            <p:spPr>
              <a:xfrm>
                <a:off x="4495800" y="25146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6" name="Straight Arrow Connector 15"/>
              <p:cNvCxnSpPr>
                <a:stCxn id="15" idx="5"/>
              </p:cNvCxnSpPr>
              <p:nvPr/>
            </p:nvCxnSpPr>
            <p:spPr>
              <a:xfrm>
                <a:off x="4625882" y="2644682"/>
                <a:ext cx="212818" cy="315959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/>
              <p:cNvCxnSpPr/>
              <p:nvPr/>
            </p:nvCxnSpPr>
            <p:spPr>
              <a:xfrm flipH="1">
                <a:off x="4648200" y="3124200"/>
                <a:ext cx="228600" cy="4572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Oval 19"/>
              <p:cNvSpPr/>
              <p:nvPr/>
            </p:nvSpPr>
            <p:spPr>
              <a:xfrm>
                <a:off x="4799671" y="2960641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/>
              <p:cNvSpPr/>
              <p:nvPr/>
            </p:nvSpPr>
            <p:spPr>
              <a:xfrm>
                <a:off x="4572000" y="35814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Oval 22"/>
              <p:cNvSpPr/>
              <p:nvPr/>
            </p:nvSpPr>
            <p:spPr>
              <a:xfrm>
                <a:off x="4343400" y="41148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4" name="Straight Arrow Connector 23"/>
              <p:cNvCxnSpPr/>
              <p:nvPr/>
            </p:nvCxnSpPr>
            <p:spPr>
              <a:xfrm flipH="1">
                <a:off x="4408433" y="3733800"/>
                <a:ext cx="217449" cy="3810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Oval 25"/>
              <p:cNvSpPr/>
              <p:nvPr/>
            </p:nvSpPr>
            <p:spPr>
              <a:xfrm>
                <a:off x="4724400" y="43434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/>
              <p:cNvSpPr/>
              <p:nvPr/>
            </p:nvSpPr>
            <p:spPr>
              <a:xfrm>
                <a:off x="5181600" y="45720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8" name="Straight Arrow Connector 27"/>
              <p:cNvCxnSpPr>
                <a:endCxn id="26" idx="2"/>
              </p:cNvCxnSpPr>
              <p:nvPr/>
            </p:nvCxnSpPr>
            <p:spPr>
              <a:xfrm>
                <a:off x="4495800" y="4256041"/>
                <a:ext cx="228600" cy="163559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/>
              <p:cNvCxnSpPr>
                <a:endCxn id="27" idx="2"/>
              </p:cNvCxnSpPr>
              <p:nvPr/>
            </p:nvCxnSpPr>
            <p:spPr>
              <a:xfrm>
                <a:off x="4876800" y="4484641"/>
                <a:ext cx="304800" cy="163559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Arrow Connector 31"/>
              <p:cNvCxnSpPr>
                <a:stCxn id="27" idx="4"/>
                <a:endCxn id="8" idx="7"/>
              </p:cNvCxnSpPr>
              <p:nvPr/>
            </p:nvCxnSpPr>
            <p:spPr>
              <a:xfrm flipH="1">
                <a:off x="5083082" y="4724400"/>
                <a:ext cx="174718" cy="250918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7" name="Oval 36"/>
            <p:cNvSpPr/>
            <p:nvPr/>
          </p:nvSpPr>
          <p:spPr>
            <a:xfrm>
              <a:off x="4800600" y="2057400"/>
              <a:ext cx="152400" cy="1524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4876800" y="4659868"/>
            <a:ext cx="290464" cy="445532"/>
            <a:chOff x="4876800" y="4659868"/>
            <a:chExt cx="290464" cy="445532"/>
          </a:xfrm>
        </p:grpSpPr>
        <p:sp>
          <p:nvSpPr>
            <p:cNvPr id="8" name="Oval 7"/>
            <p:cNvSpPr/>
            <p:nvPr/>
          </p:nvSpPr>
          <p:spPr>
            <a:xfrm>
              <a:off x="4953000" y="4953000"/>
              <a:ext cx="152400" cy="1524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876800" y="4659868"/>
              <a:ext cx="2904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x</a:t>
              </a: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4724400" y="5638800"/>
            <a:ext cx="3113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</a:rPr>
              <a:t>T</a:t>
            </a:r>
          </a:p>
        </p:txBody>
      </p:sp>
      <p:sp>
        <p:nvSpPr>
          <p:cNvPr id="5" name="Down Ribbon 4"/>
          <p:cNvSpPr/>
          <p:nvPr/>
        </p:nvSpPr>
        <p:spPr>
          <a:xfrm>
            <a:off x="381000" y="2667001"/>
            <a:ext cx="3581400" cy="1298448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2060"/>
                </a:solidFill>
              </a:rPr>
              <a:t>View the entire tree </a:t>
            </a:r>
            <a:r>
              <a:rPr lang="en-US" sz="1600" b="1" dirty="0">
                <a:solidFill>
                  <a:srgbClr val="0070C0"/>
                </a:solidFill>
              </a:rPr>
              <a:t>T</a:t>
            </a:r>
            <a:r>
              <a:rPr lang="en-US" sz="1600" dirty="0">
                <a:solidFill>
                  <a:srgbClr val="002060"/>
                </a:solidFill>
              </a:rPr>
              <a:t> from perspective of the path from </a:t>
            </a:r>
            <a:r>
              <a:rPr lang="en-US" sz="1600" b="1" dirty="0">
                <a:solidFill>
                  <a:schemeClr val="tx1"/>
                </a:solidFill>
              </a:rPr>
              <a:t>x</a:t>
            </a:r>
            <a:r>
              <a:rPr lang="en-US" sz="1600" dirty="0">
                <a:solidFill>
                  <a:srgbClr val="002060"/>
                </a:solidFill>
              </a:rPr>
              <a:t> to the </a:t>
            </a:r>
            <a:r>
              <a:rPr lang="en-US" sz="1600" b="1" dirty="0">
                <a:solidFill>
                  <a:srgbClr val="002060"/>
                </a:solidFill>
              </a:rPr>
              <a:t>root</a:t>
            </a:r>
            <a:r>
              <a:rPr lang="en-US" sz="1600" dirty="0">
                <a:solidFill>
                  <a:srgbClr val="002060"/>
                </a:solidFill>
              </a:rPr>
              <a:t>. </a:t>
            </a:r>
          </a:p>
          <a:p>
            <a:pPr algn="ctr"/>
            <a:r>
              <a:rPr lang="en-US" sz="1600" dirty="0">
                <a:solidFill>
                  <a:srgbClr val="C00000"/>
                </a:solidFill>
              </a:rPr>
              <a:t>How will </a:t>
            </a:r>
            <a:r>
              <a:rPr lang="en-US" sz="1600" b="1" dirty="0">
                <a:solidFill>
                  <a:srgbClr val="0070C0"/>
                </a:solidFill>
              </a:rPr>
              <a:t>T</a:t>
            </a:r>
            <a:r>
              <a:rPr lang="en-US" sz="1600" dirty="0">
                <a:solidFill>
                  <a:srgbClr val="C00000"/>
                </a:solidFill>
              </a:rPr>
              <a:t> look like ?</a:t>
            </a:r>
          </a:p>
        </p:txBody>
      </p:sp>
    </p:spTree>
    <p:extLst>
      <p:ext uri="{BB962C8B-B14F-4D97-AF65-F5344CB8AC3E}">
        <p14:creationId xmlns:p14="http://schemas.microsoft.com/office/powerpoint/2010/main" val="287875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3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6" grpId="0" animBg="1"/>
      <p:bldP spid="39" grpId="0"/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Achieving </a:t>
            </a:r>
            <a:r>
              <a:rPr lang="en-US" sz="3600" b="1" dirty="0">
                <a:solidFill>
                  <a:srgbClr val="C00000"/>
                </a:solidFill>
              </a:rPr>
              <a:t>O</a:t>
            </a:r>
            <a:r>
              <a:rPr lang="en-US" sz="3600" b="1" dirty="0"/>
              <a:t>(log </a:t>
            </a:r>
            <a:r>
              <a:rPr lang="en-US" sz="3600" b="1" dirty="0">
                <a:solidFill>
                  <a:srgbClr val="0070C0"/>
                </a:solidFill>
              </a:rPr>
              <a:t>n</a:t>
            </a:r>
            <a:r>
              <a:rPr lang="en-US" sz="3600" b="1" dirty="0"/>
              <a:t>) time for </a:t>
            </a:r>
            <a:r>
              <a:rPr lang="en-US" sz="3600" b="1" dirty="0" err="1">
                <a:solidFill>
                  <a:srgbClr val="002060"/>
                </a:solidFill>
              </a:rPr>
              <a:t>FindRank</a:t>
            </a:r>
            <a:r>
              <a:rPr lang="en-US" sz="3600" b="1" dirty="0"/>
              <a:t>(</a:t>
            </a:r>
            <a:r>
              <a:rPr lang="en-US" sz="3600" b="1" dirty="0" err="1">
                <a:solidFill>
                  <a:srgbClr val="0070C0"/>
                </a:solidFill>
              </a:rPr>
              <a:t>T</a:t>
            </a:r>
            <a:r>
              <a:rPr lang="en-US" sz="3600" b="1" dirty="0" err="1"/>
              <a:t>,x</a:t>
            </a:r>
            <a:r>
              <a:rPr lang="en-US" sz="3600" b="1" dirty="0"/>
              <a:t>)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Elements that are present in the </a:t>
            </a:r>
            <a:r>
              <a:rPr lang="en-US" sz="2000" dirty="0" err="1"/>
              <a:t>subtrees</a:t>
            </a:r>
            <a:r>
              <a:rPr lang="en-US" sz="2000" dirty="0"/>
              <a:t> lying to the left of this path.</a:t>
            </a:r>
          </a:p>
          <a:p>
            <a:r>
              <a:rPr lang="en-US" sz="2000" dirty="0"/>
              <a:t>And </a:t>
            </a:r>
            <a:r>
              <a:rPr lang="en-US" sz="2000" i="1" dirty="0"/>
              <a:t>some</a:t>
            </a:r>
            <a:r>
              <a:rPr lang="en-US" sz="2000" dirty="0"/>
              <a:t> elements on this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724400" y="5638800"/>
            <a:ext cx="3113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B0F0"/>
                </a:solidFill>
              </a:rPr>
              <a:t>T</a:t>
            </a:r>
          </a:p>
        </p:txBody>
      </p:sp>
      <p:sp>
        <p:nvSpPr>
          <p:cNvPr id="8" name="Oval 7"/>
          <p:cNvSpPr/>
          <p:nvPr/>
        </p:nvSpPr>
        <p:spPr>
          <a:xfrm>
            <a:off x="4953000" y="4953000"/>
            <a:ext cx="152400" cy="1524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/>
          <p:cNvGrpSpPr/>
          <p:nvPr/>
        </p:nvGrpSpPr>
        <p:grpSpPr>
          <a:xfrm>
            <a:off x="4343400" y="2187482"/>
            <a:ext cx="990600" cy="2787836"/>
            <a:chOff x="4343400" y="2187482"/>
            <a:chExt cx="990600" cy="2787836"/>
          </a:xfrm>
        </p:grpSpPr>
        <p:cxnSp>
          <p:nvCxnSpPr>
            <p:cNvPr id="11" name="Straight Arrow Connector 10"/>
            <p:cNvCxnSpPr>
              <a:stCxn id="45" idx="3"/>
            </p:cNvCxnSpPr>
            <p:nvPr/>
          </p:nvCxnSpPr>
          <p:spPr>
            <a:xfrm flipH="1">
              <a:off x="4648200" y="2187482"/>
              <a:ext cx="174718" cy="32711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Oval 14"/>
            <p:cNvSpPr/>
            <p:nvPr/>
          </p:nvSpPr>
          <p:spPr>
            <a:xfrm>
              <a:off x="4495800" y="2514600"/>
              <a:ext cx="152400" cy="1524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Arrow Connector 15"/>
            <p:cNvCxnSpPr>
              <a:stCxn id="15" idx="5"/>
            </p:cNvCxnSpPr>
            <p:nvPr/>
          </p:nvCxnSpPr>
          <p:spPr>
            <a:xfrm>
              <a:off x="4625882" y="2644682"/>
              <a:ext cx="212818" cy="315959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 flipH="1">
              <a:off x="4648200" y="3124200"/>
              <a:ext cx="228600" cy="4572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Oval 19"/>
            <p:cNvSpPr/>
            <p:nvPr/>
          </p:nvSpPr>
          <p:spPr>
            <a:xfrm>
              <a:off x="4799671" y="2960641"/>
              <a:ext cx="152400" cy="1524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4572000" y="3581400"/>
              <a:ext cx="152400" cy="1524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4343400" y="4114800"/>
              <a:ext cx="152400" cy="1524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" name="Straight Arrow Connector 23"/>
            <p:cNvCxnSpPr/>
            <p:nvPr/>
          </p:nvCxnSpPr>
          <p:spPr>
            <a:xfrm flipH="1">
              <a:off x="4408433" y="3733800"/>
              <a:ext cx="217449" cy="381000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Oval 25"/>
            <p:cNvSpPr/>
            <p:nvPr/>
          </p:nvSpPr>
          <p:spPr>
            <a:xfrm>
              <a:off x="4724400" y="4343400"/>
              <a:ext cx="152400" cy="1524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/>
            <p:cNvSpPr/>
            <p:nvPr/>
          </p:nvSpPr>
          <p:spPr>
            <a:xfrm>
              <a:off x="5181600" y="4572000"/>
              <a:ext cx="152400" cy="1524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Arrow Connector 27"/>
            <p:cNvCxnSpPr>
              <a:endCxn id="26" idx="2"/>
            </p:cNvCxnSpPr>
            <p:nvPr/>
          </p:nvCxnSpPr>
          <p:spPr>
            <a:xfrm>
              <a:off x="4495800" y="4256041"/>
              <a:ext cx="228600" cy="163559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>
              <a:endCxn id="27" idx="2"/>
            </p:cNvCxnSpPr>
            <p:nvPr/>
          </p:nvCxnSpPr>
          <p:spPr>
            <a:xfrm>
              <a:off x="4876800" y="4484641"/>
              <a:ext cx="304800" cy="163559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>
              <a:stCxn id="27" idx="4"/>
              <a:endCxn id="8" idx="7"/>
            </p:cNvCxnSpPr>
            <p:nvPr/>
          </p:nvCxnSpPr>
          <p:spPr>
            <a:xfrm flipH="1">
              <a:off x="5083082" y="4724400"/>
              <a:ext cx="174718" cy="25091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/>
          <p:cNvGrpSpPr/>
          <p:nvPr/>
        </p:nvGrpSpPr>
        <p:grpSpPr>
          <a:xfrm>
            <a:off x="4114800" y="2644682"/>
            <a:ext cx="381000" cy="708118"/>
            <a:chOff x="4114800" y="2644682"/>
            <a:chExt cx="381000" cy="708118"/>
          </a:xfrm>
        </p:grpSpPr>
        <p:sp>
          <p:nvSpPr>
            <p:cNvPr id="25" name="Isosceles Triangle 24"/>
            <p:cNvSpPr/>
            <p:nvPr/>
          </p:nvSpPr>
          <p:spPr>
            <a:xfrm>
              <a:off x="4114800" y="2895600"/>
              <a:ext cx="381000" cy="457200"/>
            </a:xfrm>
            <a:prstGeom prst="triangl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/>
            <p:cNvCxnSpPr/>
            <p:nvPr/>
          </p:nvCxnSpPr>
          <p:spPr>
            <a:xfrm flipH="1">
              <a:off x="4313656" y="2644682"/>
              <a:ext cx="174718" cy="25091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/>
          <p:cNvGrpSpPr/>
          <p:nvPr/>
        </p:nvGrpSpPr>
        <p:grpSpPr>
          <a:xfrm>
            <a:off x="4038600" y="4244882"/>
            <a:ext cx="381000" cy="708118"/>
            <a:chOff x="4114800" y="2644682"/>
            <a:chExt cx="381000" cy="708118"/>
          </a:xfrm>
        </p:grpSpPr>
        <p:sp>
          <p:nvSpPr>
            <p:cNvPr id="34" name="Isosceles Triangle 33"/>
            <p:cNvSpPr/>
            <p:nvPr/>
          </p:nvSpPr>
          <p:spPr>
            <a:xfrm>
              <a:off x="4114800" y="2895600"/>
              <a:ext cx="381000" cy="457200"/>
            </a:xfrm>
            <a:prstGeom prst="triangl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5" name="Straight Arrow Connector 34"/>
            <p:cNvCxnSpPr/>
            <p:nvPr/>
          </p:nvCxnSpPr>
          <p:spPr>
            <a:xfrm flipH="1">
              <a:off x="4313656" y="2644682"/>
              <a:ext cx="174718" cy="25091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/>
          <p:cNvGrpSpPr/>
          <p:nvPr/>
        </p:nvGrpSpPr>
        <p:grpSpPr>
          <a:xfrm>
            <a:off x="4419600" y="4495800"/>
            <a:ext cx="381000" cy="708118"/>
            <a:chOff x="4114800" y="2644682"/>
            <a:chExt cx="381000" cy="708118"/>
          </a:xfrm>
        </p:grpSpPr>
        <p:sp>
          <p:nvSpPr>
            <p:cNvPr id="38" name="Isosceles Triangle 37"/>
            <p:cNvSpPr/>
            <p:nvPr/>
          </p:nvSpPr>
          <p:spPr>
            <a:xfrm>
              <a:off x="4114800" y="2895600"/>
              <a:ext cx="381000" cy="457200"/>
            </a:xfrm>
            <a:prstGeom prst="triangl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9" name="Straight Arrow Connector 38"/>
            <p:cNvCxnSpPr/>
            <p:nvPr/>
          </p:nvCxnSpPr>
          <p:spPr>
            <a:xfrm flipH="1">
              <a:off x="4313656" y="2644682"/>
              <a:ext cx="174718" cy="25091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/>
          <p:cNvGrpSpPr/>
          <p:nvPr/>
        </p:nvGrpSpPr>
        <p:grpSpPr>
          <a:xfrm>
            <a:off x="4914900" y="2209800"/>
            <a:ext cx="419100" cy="620759"/>
            <a:chOff x="5562600" y="2808241"/>
            <a:chExt cx="419100" cy="620759"/>
          </a:xfrm>
        </p:grpSpPr>
        <p:sp>
          <p:nvSpPr>
            <p:cNvPr id="29" name="Isosceles Triangle 28"/>
            <p:cNvSpPr/>
            <p:nvPr/>
          </p:nvSpPr>
          <p:spPr>
            <a:xfrm>
              <a:off x="5600700" y="2971800"/>
              <a:ext cx="381000" cy="457200"/>
            </a:xfrm>
            <a:prstGeom prst="triangl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0" name="Straight Arrow Connector 39"/>
            <p:cNvCxnSpPr/>
            <p:nvPr/>
          </p:nvCxnSpPr>
          <p:spPr>
            <a:xfrm>
              <a:off x="5562600" y="2808241"/>
              <a:ext cx="228600" cy="163559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/>
          <p:cNvGrpSpPr/>
          <p:nvPr/>
        </p:nvGrpSpPr>
        <p:grpSpPr>
          <a:xfrm>
            <a:off x="5334000" y="4648200"/>
            <a:ext cx="419100" cy="620759"/>
            <a:chOff x="5562600" y="2808241"/>
            <a:chExt cx="419100" cy="620759"/>
          </a:xfrm>
        </p:grpSpPr>
        <p:sp>
          <p:nvSpPr>
            <p:cNvPr id="42" name="Isosceles Triangle 41"/>
            <p:cNvSpPr/>
            <p:nvPr/>
          </p:nvSpPr>
          <p:spPr>
            <a:xfrm>
              <a:off x="5600700" y="2971800"/>
              <a:ext cx="381000" cy="457200"/>
            </a:xfrm>
            <a:prstGeom prst="triangl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3" name="Straight Arrow Connector 42"/>
            <p:cNvCxnSpPr/>
            <p:nvPr/>
          </p:nvCxnSpPr>
          <p:spPr>
            <a:xfrm>
              <a:off x="5562600" y="2808241"/>
              <a:ext cx="228600" cy="163559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Oval 44"/>
          <p:cNvSpPr/>
          <p:nvPr/>
        </p:nvSpPr>
        <p:spPr>
          <a:xfrm>
            <a:off x="4800600" y="2057400"/>
            <a:ext cx="152400" cy="1524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6" name="Group 45"/>
          <p:cNvGrpSpPr/>
          <p:nvPr/>
        </p:nvGrpSpPr>
        <p:grpSpPr>
          <a:xfrm>
            <a:off x="4953000" y="3048000"/>
            <a:ext cx="419100" cy="620759"/>
            <a:chOff x="5562600" y="2808241"/>
            <a:chExt cx="419100" cy="620759"/>
          </a:xfrm>
        </p:grpSpPr>
        <p:sp>
          <p:nvSpPr>
            <p:cNvPr id="47" name="Isosceles Triangle 46"/>
            <p:cNvSpPr/>
            <p:nvPr/>
          </p:nvSpPr>
          <p:spPr>
            <a:xfrm>
              <a:off x="5600700" y="2971800"/>
              <a:ext cx="381000" cy="457200"/>
            </a:xfrm>
            <a:prstGeom prst="triangl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8" name="Straight Arrow Connector 47"/>
            <p:cNvCxnSpPr/>
            <p:nvPr/>
          </p:nvCxnSpPr>
          <p:spPr>
            <a:xfrm>
              <a:off x="5562600" y="2808241"/>
              <a:ext cx="228600" cy="163559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/>
          <p:cNvGrpSpPr/>
          <p:nvPr/>
        </p:nvGrpSpPr>
        <p:grpSpPr>
          <a:xfrm>
            <a:off x="4724400" y="3657600"/>
            <a:ext cx="419100" cy="620759"/>
            <a:chOff x="5562600" y="2808241"/>
            <a:chExt cx="419100" cy="620759"/>
          </a:xfrm>
        </p:grpSpPr>
        <p:sp>
          <p:nvSpPr>
            <p:cNvPr id="50" name="Isosceles Triangle 49"/>
            <p:cNvSpPr/>
            <p:nvPr/>
          </p:nvSpPr>
          <p:spPr>
            <a:xfrm>
              <a:off x="5600700" y="2971800"/>
              <a:ext cx="381000" cy="457200"/>
            </a:xfrm>
            <a:prstGeom prst="triangl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1" name="Straight Arrow Connector 50"/>
            <p:cNvCxnSpPr/>
            <p:nvPr/>
          </p:nvCxnSpPr>
          <p:spPr>
            <a:xfrm>
              <a:off x="5562600" y="2808241"/>
              <a:ext cx="228600" cy="163559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51"/>
          <p:cNvGrpSpPr/>
          <p:nvPr/>
        </p:nvGrpSpPr>
        <p:grpSpPr>
          <a:xfrm>
            <a:off x="5067300" y="5105400"/>
            <a:ext cx="381000" cy="561945"/>
            <a:chOff x="5562600" y="2808241"/>
            <a:chExt cx="381000" cy="561945"/>
          </a:xfrm>
        </p:grpSpPr>
        <p:sp>
          <p:nvSpPr>
            <p:cNvPr id="53" name="Isosceles Triangle 52"/>
            <p:cNvSpPr/>
            <p:nvPr/>
          </p:nvSpPr>
          <p:spPr>
            <a:xfrm>
              <a:off x="5600700" y="2971800"/>
              <a:ext cx="342900" cy="398386"/>
            </a:xfrm>
            <a:prstGeom prst="triangl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4" name="Straight Arrow Connector 53"/>
            <p:cNvCxnSpPr/>
            <p:nvPr/>
          </p:nvCxnSpPr>
          <p:spPr>
            <a:xfrm>
              <a:off x="5562600" y="2808241"/>
              <a:ext cx="228600" cy="163559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Group 54"/>
          <p:cNvGrpSpPr/>
          <p:nvPr/>
        </p:nvGrpSpPr>
        <p:grpSpPr>
          <a:xfrm>
            <a:off x="4648200" y="5083082"/>
            <a:ext cx="381000" cy="584263"/>
            <a:chOff x="4114800" y="2644682"/>
            <a:chExt cx="381000" cy="584263"/>
          </a:xfrm>
        </p:grpSpPr>
        <p:sp>
          <p:nvSpPr>
            <p:cNvPr id="56" name="Isosceles Triangle 55"/>
            <p:cNvSpPr/>
            <p:nvPr/>
          </p:nvSpPr>
          <p:spPr>
            <a:xfrm>
              <a:off x="4114800" y="2895600"/>
              <a:ext cx="381000" cy="333345"/>
            </a:xfrm>
            <a:prstGeom prst="triangle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7" name="Straight Arrow Connector 56"/>
            <p:cNvCxnSpPr/>
            <p:nvPr/>
          </p:nvCxnSpPr>
          <p:spPr>
            <a:xfrm flipH="1">
              <a:off x="4313656" y="2644682"/>
              <a:ext cx="174718" cy="250918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TextBox 57"/>
          <p:cNvSpPr txBox="1"/>
          <p:nvPr/>
        </p:nvSpPr>
        <p:spPr>
          <a:xfrm>
            <a:off x="4876800" y="4659868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x</a:t>
            </a:r>
          </a:p>
        </p:txBody>
      </p:sp>
      <p:sp>
        <p:nvSpPr>
          <p:cNvPr id="14" name="Freeform 13"/>
          <p:cNvSpPr/>
          <p:nvPr/>
        </p:nvSpPr>
        <p:spPr>
          <a:xfrm>
            <a:off x="4415883" y="2163337"/>
            <a:ext cx="836341" cy="2888165"/>
          </a:xfrm>
          <a:custGeom>
            <a:avLst/>
            <a:gdLst>
              <a:gd name="connsiteX0" fmla="*/ 412595 w 836341"/>
              <a:gd name="connsiteY0" fmla="*/ 0 h 2888165"/>
              <a:gd name="connsiteX1" fmla="*/ 178419 w 836341"/>
              <a:gd name="connsiteY1" fmla="*/ 412595 h 2888165"/>
              <a:gd name="connsiteX2" fmla="*/ 457200 w 836341"/>
              <a:gd name="connsiteY2" fmla="*/ 892097 h 2888165"/>
              <a:gd name="connsiteX3" fmla="*/ 211873 w 836341"/>
              <a:gd name="connsiteY3" fmla="*/ 1505414 h 2888165"/>
              <a:gd name="connsiteX4" fmla="*/ 0 w 836341"/>
              <a:gd name="connsiteY4" fmla="*/ 2040673 h 2888165"/>
              <a:gd name="connsiteX5" fmla="*/ 836341 w 836341"/>
              <a:gd name="connsiteY5" fmla="*/ 2497873 h 2888165"/>
              <a:gd name="connsiteX6" fmla="*/ 624468 w 836341"/>
              <a:gd name="connsiteY6" fmla="*/ 2888165 h 2888165"/>
              <a:gd name="connsiteX7" fmla="*/ 635619 w 836341"/>
              <a:gd name="connsiteY7" fmla="*/ 2877014 h 2888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36341" h="2888165">
                <a:moveTo>
                  <a:pt x="412595" y="0"/>
                </a:moveTo>
                <a:lnTo>
                  <a:pt x="178419" y="412595"/>
                </a:lnTo>
                <a:lnTo>
                  <a:pt x="457200" y="892097"/>
                </a:lnTo>
                <a:lnTo>
                  <a:pt x="211873" y="1505414"/>
                </a:lnTo>
                <a:lnTo>
                  <a:pt x="0" y="2040673"/>
                </a:lnTo>
                <a:lnTo>
                  <a:pt x="836341" y="2497873"/>
                </a:lnTo>
                <a:lnTo>
                  <a:pt x="624468" y="2888165"/>
                </a:lnTo>
                <a:lnTo>
                  <a:pt x="635619" y="2877014"/>
                </a:lnTo>
              </a:path>
            </a:pathLst>
          </a:cu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loud Callout 4"/>
          <p:cNvSpPr/>
          <p:nvPr/>
        </p:nvSpPr>
        <p:spPr>
          <a:xfrm>
            <a:off x="381000" y="1524000"/>
            <a:ext cx="3429000" cy="1600200"/>
          </a:xfrm>
          <a:prstGeom prst="cloudCallout">
            <a:avLst>
              <a:gd name="adj1" fmla="val -29939"/>
              <a:gd name="adj2" fmla="val 7643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Can you identify the elements that contribute to Rank of </a:t>
            </a:r>
            <a:r>
              <a:rPr lang="en-US" b="1" dirty="0">
                <a:solidFill>
                  <a:schemeClr val="tx1"/>
                </a:solidFill>
              </a:rPr>
              <a:t>x</a:t>
            </a:r>
            <a:r>
              <a:rPr lang="en-US" dirty="0">
                <a:solidFill>
                  <a:schemeClr val="tx1"/>
                </a:solidFill>
              </a:rPr>
              <a:t> in this picture ?</a:t>
            </a:r>
          </a:p>
        </p:txBody>
      </p:sp>
    </p:spTree>
    <p:extLst>
      <p:ext uri="{BB962C8B-B14F-4D97-AF65-F5344CB8AC3E}">
        <p14:creationId xmlns:p14="http://schemas.microsoft.com/office/powerpoint/2010/main" val="588420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4" grpId="0" animBg="1"/>
      <p:bldP spid="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An elegant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b="1" dirty="0"/>
              <a:t>Fields associated with a node </a:t>
            </a:r>
            <a:r>
              <a:rPr lang="en-US" sz="1800" b="1" i="1" dirty="0">
                <a:solidFill>
                  <a:srgbClr val="0070C0"/>
                </a:solidFill>
              </a:rPr>
              <a:t>v </a:t>
            </a:r>
            <a:r>
              <a:rPr lang="en-US" sz="1800" b="1" dirty="0"/>
              <a:t>in </a:t>
            </a:r>
            <a:r>
              <a:rPr lang="en-US" sz="1800" b="1" i="1" dirty="0">
                <a:solidFill>
                  <a:srgbClr val="0070C0"/>
                </a:solidFill>
              </a:rPr>
              <a:t>T</a:t>
            </a:r>
            <a:r>
              <a:rPr lang="en-US" sz="1800" b="1" dirty="0"/>
              <a:t>: </a:t>
            </a:r>
          </a:p>
          <a:p>
            <a:pPr>
              <a:buFont typeface="+mj-lt"/>
              <a:buAutoNum type="arabicPeriod"/>
            </a:pPr>
            <a:r>
              <a:rPr lang="en-US" sz="1800" b="1" dirty="0"/>
              <a:t>Value(</a:t>
            </a:r>
            <a:r>
              <a:rPr lang="en-US" sz="1800" b="1" i="1" dirty="0">
                <a:solidFill>
                  <a:srgbClr val="0070C0"/>
                </a:solidFill>
              </a:rPr>
              <a:t>v</a:t>
            </a:r>
            <a:r>
              <a:rPr lang="en-US" sz="1800" b="1" dirty="0"/>
              <a:t>)</a:t>
            </a:r>
            <a:r>
              <a:rPr lang="en-US" sz="1800" dirty="0"/>
              <a:t> </a:t>
            </a:r>
          </a:p>
          <a:p>
            <a:pPr>
              <a:buFont typeface="+mj-lt"/>
              <a:buAutoNum type="arabicPeriod"/>
            </a:pPr>
            <a:r>
              <a:rPr lang="en-US" sz="1800" b="1" dirty="0"/>
              <a:t>Left(</a:t>
            </a:r>
            <a:r>
              <a:rPr lang="en-US" sz="1800" b="1" i="1" dirty="0">
                <a:solidFill>
                  <a:srgbClr val="0070C0"/>
                </a:solidFill>
              </a:rPr>
              <a:t>v</a:t>
            </a:r>
            <a:r>
              <a:rPr lang="en-US" sz="1800" dirty="0"/>
              <a:t>) </a:t>
            </a:r>
          </a:p>
          <a:p>
            <a:pPr>
              <a:buFont typeface="+mj-lt"/>
              <a:buAutoNum type="arabicPeriod"/>
            </a:pPr>
            <a:r>
              <a:rPr lang="en-US" sz="1800" b="1" dirty="0"/>
              <a:t>right</a:t>
            </a:r>
            <a:r>
              <a:rPr lang="en-US" sz="1800" dirty="0"/>
              <a:t> (</a:t>
            </a:r>
            <a:r>
              <a:rPr lang="en-US" sz="1800" b="1" i="1" dirty="0">
                <a:solidFill>
                  <a:srgbClr val="0070C0"/>
                </a:solidFill>
              </a:rPr>
              <a:t>v</a:t>
            </a:r>
            <a:r>
              <a:rPr lang="en-US" sz="1800" dirty="0"/>
              <a:t>) </a:t>
            </a:r>
          </a:p>
          <a:p>
            <a:pPr>
              <a:buFont typeface="+mj-lt"/>
              <a:buAutoNum type="arabicPeriod"/>
            </a:pPr>
            <a:r>
              <a:rPr lang="en-US" sz="1800" b="1" dirty="0"/>
              <a:t>parent</a:t>
            </a:r>
            <a:r>
              <a:rPr lang="en-US" sz="1800" dirty="0"/>
              <a:t>(</a:t>
            </a:r>
            <a:r>
              <a:rPr lang="en-US" sz="1800" b="1" i="1" dirty="0">
                <a:solidFill>
                  <a:srgbClr val="0070C0"/>
                </a:solidFill>
              </a:rPr>
              <a:t>v</a:t>
            </a:r>
            <a:r>
              <a:rPr lang="en-US" sz="1800" dirty="0"/>
              <a:t>)</a:t>
            </a:r>
            <a:endParaRPr lang="en-US" sz="1800" b="1" dirty="0"/>
          </a:p>
          <a:p>
            <a:pPr marL="0" indent="0">
              <a:buNone/>
            </a:pPr>
            <a:endParaRPr lang="en-US" sz="1800" b="1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7030A0"/>
                </a:solidFill>
              </a:rPr>
              <a:t>Keep one more field</a:t>
            </a:r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r>
              <a:rPr lang="en-US" sz="1800" b="1" dirty="0"/>
              <a:t>Size</a:t>
            </a:r>
            <a:r>
              <a:rPr lang="en-US" sz="1800" dirty="0"/>
              <a:t>(</a:t>
            </a:r>
            <a:r>
              <a:rPr lang="en-US" sz="1800" b="1" i="1" dirty="0">
                <a:solidFill>
                  <a:srgbClr val="0070C0"/>
                </a:solidFill>
              </a:rPr>
              <a:t>v</a:t>
            </a:r>
            <a:r>
              <a:rPr lang="en-US" sz="1800" dirty="0"/>
              <a:t>): The number of nodes stored in the </a:t>
            </a:r>
            <a:r>
              <a:rPr lang="en-US" sz="1800" b="1" dirty="0" err="1"/>
              <a:t>subtree</a:t>
            </a:r>
            <a:r>
              <a:rPr lang="en-US" sz="1800" dirty="0"/>
              <a:t> rooted at </a:t>
            </a:r>
            <a:r>
              <a:rPr lang="en-US" sz="1800" b="1" i="1" dirty="0">
                <a:solidFill>
                  <a:srgbClr val="0070C0"/>
                </a:solidFill>
              </a:rPr>
              <a:t>v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endParaRPr lang="en-US" sz="1800" i="1" dirty="0"/>
          </a:p>
          <a:p>
            <a:pPr marL="0" indent="0">
              <a:buNone/>
            </a:pPr>
            <a:endParaRPr lang="en-US" sz="1800" i="1" dirty="0"/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239644" y="4191000"/>
            <a:ext cx="7599556" cy="60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146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Algorithm for </a:t>
            </a:r>
            <a:r>
              <a:rPr lang="en-US" sz="3600" b="1" dirty="0" err="1">
                <a:solidFill>
                  <a:srgbClr val="002060"/>
                </a:solidFill>
              </a:rPr>
              <a:t>FindRank</a:t>
            </a:r>
            <a:r>
              <a:rPr lang="en-US" sz="3600" b="1" dirty="0"/>
              <a:t>(</a:t>
            </a:r>
            <a:r>
              <a:rPr lang="en-US" sz="3600" b="1" dirty="0" err="1">
                <a:solidFill>
                  <a:srgbClr val="0070C0"/>
                </a:solidFill>
              </a:rPr>
              <a:t>T</a:t>
            </a:r>
            <a:r>
              <a:rPr lang="en-US" sz="3600" b="1" dirty="0" err="1"/>
              <a:t>,x</a:t>
            </a:r>
            <a:r>
              <a:rPr lang="en-US" sz="3600" b="1" dirty="0"/>
              <a:t>)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029200"/>
              </a:xfrm>
            </p:spPr>
            <p:txBody>
              <a:bodyPr/>
              <a:lstStyle/>
              <a:p>
                <a:pPr marL="0" indent="0" algn="ctr">
                  <a:buNone/>
                </a:pPr>
                <a:r>
                  <a:rPr lang="en-US" sz="2800" b="1" dirty="0">
                    <a:solidFill>
                      <a:srgbClr val="7030A0"/>
                    </a:solidFill>
                  </a:rPr>
                  <a:t>High level description </a:t>
                </a:r>
              </a:p>
              <a:p>
                <a:pPr marL="0" indent="0" algn="ctr">
                  <a:buNone/>
                </a:pPr>
                <a:endParaRPr lang="en-US" sz="28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dirty="0"/>
                  <a:t>Modify the algorithm for </a:t>
                </a:r>
                <a:r>
                  <a:rPr lang="en-US" sz="2000" b="1" dirty="0">
                    <a:solidFill>
                      <a:srgbClr val="002060"/>
                    </a:solidFill>
                  </a:rPr>
                  <a:t>Search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(</a:t>
                </a:r>
                <a:r>
                  <a:rPr lang="en-US" sz="2000" b="1" dirty="0" err="1">
                    <a:solidFill>
                      <a:srgbClr val="7030A0"/>
                    </a:solidFill>
                  </a:rPr>
                  <a:t>T,x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):</a:t>
                </a:r>
              </a:p>
              <a:p>
                <a:r>
                  <a:rPr lang="en-US" sz="2000" b="1" dirty="0">
                    <a:solidFill>
                      <a:srgbClr val="0070C0"/>
                    </a:solidFill>
                  </a:rPr>
                  <a:t>rank</a:t>
                </a:r>
                <a:r>
                  <a:rPr lang="en-US" sz="2000" b="1" dirty="0">
                    <a:sym typeface="Wingdings" pitchFamily="2" charset="2"/>
                  </a:rPr>
                  <a:t></a:t>
                </a:r>
                <a:r>
                  <a:rPr lang="en-US" sz="2000" b="1" dirty="0">
                    <a:solidFill>
                      <a:srgbClr val="7030A0"/>
                    </a:solidFill>
                    <a:sym typeface="Wingdings" pitchFamily="2" charset="2"/>
                  </a:rPr>
                  <a:t> 0;</a:t>
                </a:r>
                <a:endParaRPr lang="en-US" sz="2000" b="1" dirty="0">
                  <a:solidFill>
                    <a:srgbClr val="7030A0"/>
                  </a:solidFill>
                </a:endParaRPr>
              </a:p>
              <a:p>
                <a:endParaRPr lang="en-US" sz="2000" dirty="0"/>
              </a:p>
              <a:p>
                <a:r>
                  <a:rPr lang="en-US" sz="2000" dirty="0"/>
                  <a:t> whenever we follow </a:t>
                </a:r>
                <a:r>
                  <a:rPr lang="en-US" sz="2000" b="1" dirty="0"/>
                  <a:t>a right link </a:t>
                </a:r>
                <a:r>
                  <a:rPr lang="en-US" sz="2000" dirty="0"/>
                  <a:t>of some node 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v</a:t>
                </a:r>
                <a:r>
                  <a:rPr lang="en-US" sz="2000" dirty="0"/>
                  <a:t>,</a:t>
                </a:r>
              </a:p>
              <a:p>
                <a:pPr marL="0" indent="0">
                  <a:buNone/>
                </a:pPr>
                <a:r>
                  <a:rPr lang="en-US" sz="2000" dirty="0"/>
                  <a:t> </a:t>
                </a:r>
              </a:p>
              <a:p>
                <a:r>
                  <a:rPr lang="en-US" sz="2000" dirty="0"/>
                  <a:t>whenever we follow </a:t>
                </a:r>
                <a:r>
                  <a:rPr lang="en-US" sz="2000" b="1" dirty="0"/>
                  <a:t>a left link </a:t>
                </a:r>
                <a:r>
                  <a:rPr lang="en-US" sz="2000" dirty="0"/>
                  <a:t>of some node 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v</a:t>
                </a:r>
                <a:r>
                  <a:rPr lang="en-US" sz="2000" dirty="0"/>
                  <a:t>, 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              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Time complexity of the algorithm :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000" b="1" dirty="0"/>
                  <a:t>(log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b="1" dirty="0"/>
                  <a:t>)</a:t>
                </a:r>
              </a:p>
              <a:p>
                <a:pPr marL="0" indent="0" algn="ctr">
                  <a:buNone/>
                </a:pPr>
                <a:r>
                  <a:rPr lang="en-US" sz="2400" dirty="0"/>
                  <a:t>Are we done ? </a:t>
                </a:r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C00000"/>
                    </a:solidFill>
                  </a:rPr>
                  <a:t>No</a:t>
                </a:r>
                <a:r>
                  <a:rPr lang="en-US" sz="2400" b="1" dirty="0"/>
                  <a:t> </a:t>
                </a:r>
                <a:r>
                  <a:rPr lang="en-US" sz="2000" dirty="0"/>
                  <a:t>…(We need to efficiently maintain this field under deletion/insertion)</a:t>
                </a:r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029200"/>
              </a:xfrm>
              <a:blipFill rotWithShape="1">
                <a:blip r:embed="rId2"/>
                <a:stretch>
                  <a:fillRect l="-1111" t="-1091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995331" y="3733800"/>
            <a:ext cx="2996269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rank</a:t>
            </a:r>
            <a:r>
              <a:rPr lang="en-US" b="1" dirty="0">
                <a:sym typeface="Wingdings" pitchFamily="2" charset="2"/>
              </a:rPr>
              <a:t> </a:t>
            </a:r>
            <a:r>
              <a:rPr lang="en-US" b="1" dirty="0">
                <a:solidFill>
                  <a:srgbClr val="0070C0"/>
                </a:solidFill>
              </a:rPr>
              <a:t>rank  </a:t>
            </a:r>
            <a:r>
              <a:rPr lang="en-US" b="1" dirty="0">
                <a:sym typeface="Wingdings" pitchFamily="2" charset="2"/>
              </a:rPr>
              <a:t>+ </a:t>
            </a:r>
            <a:r>
              <a:rPr lang="en-US" b="1" dirty="0"/>
              <a:t>size(left(</a:t>
            </a:r>
            <a:r>
              <a:rPr lang="en-US" b="1" dirty="0">
                <a:solidFill>
                  <a:srgbClr val="0070C0"/>
                </a:solidFill>
              </a:rPr>
              <a:t>v</a:t>
            </a:r>
            <a:r>
              <a:rPr lang="en-US" b="1" dirty="0"/>
              <a:t>)) + 1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010779" y="4457804"/>
            <a:ext cx="1228221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Do nothing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990600" y="6019800"/>
            <a:ext cx="7599556" cy="60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305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 animBg="1"/>
      <p:bldP spid="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Maintaining </a:t>
            </a:r>
            <a:r>
              <a:rPr lang="en-US" sz="2800" b="1" dirty="0">
                <a:solidFill>
                  <a:srgbClr val="7030A0"/>
                </a:solidFill>
              </a:rPr>
              <a:t>size</a:t>
            </a:r>
            <a:r>
              <a:rPr lang="en-US" sz="2800" b="1" dirty="0"/>
              <a:t> field </a:t>
            </a:r>
            <a:r>
              <a:rPr lang="en-US" sz="2800" b="1" dirty="0">
                <a:solidFill>
                  <a:srgbClr val="0070C0"/>
                </a:solidFill>
              </a:rPr>
              <a:t>T </a:t>
            </a:r>
            <a:r>
              <a:rPr lang="en-US" sz="2800" b="1" dirty="0"/>
              <a:t>under </a:t>
            </a:r>
            <a:r>
              <a:rPr lang="en-US" sz="2800" b="1" dirty="0">
                <a:solidFill>
                  <a:srgbClr val="C00000"/>
                </a:solidFill>
              </a:rPr>
              <a:t>insertion/deletion</a:t>
            </a:r>
            <a:endParaRPr lang="en-US" sz="2800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:endParaRPr lang="en-US" sz="2800" b="1" dirty="0">
                  <a:solidFill>
                    <a:srgbClr val="7030A0"/>
                  </a:solidFill>
                </a:endParaRPr>
              </a:p>
              <a:p>
                <a:pPr marL="0" indent="0" algn="ctr">
                  <a:buNone/>
                </a:pPr>
                <a:r>
                  <a:rPr lang="en-US" sz="2800" b="1" dirty="0">
                    <a:solidFill>
                      <a:srgbClr val="7030A0"/>
                    </a:solidFill>
                  </a:rPr>
                  <a:t>High level description </a:t>
                </a:r>
              </a:p>
              <a:p>
                <a:pPr marL="0" indent="0" algn="ctr">
                  <a:buNone/>
                </a:pPr>
                <a:endParaRPr lang="en-US" sz="2800" b="1" dirty="0">
                  <a:solidFill>
                    <a:srgbClr val="7030A0"/>
                  </a:solidFill>
                </a:endParaRPr>
              </a:p>
              <a:p>
                <a:r>
                  <a:rPr lang="en-US" sz="2000" dirty="0"/>
                  <a:t>Modify the algorithm for </a:t>
                </a:r>
                <a:r>
                  <a:rPr lang="en-US" sz="2000" b="1" dirty="0"/>
                  <a:t>Insert(</a:t>
                </a:r>
                <a:r>
                  <a:rPr lang="en-US" sz="2000" b="1" dirty="0" err="1">
                    <a:solidFill>
                      <a:srgbClr val="0070C0"/>
                    </a:solidFill>
                  </a:rPr>
                  <a:t>T</a:t>
                </a:r>
                <a:r>
                  <a:rPr lang="en-US" sz="2000" b="1" dirty="0" err="1"/>
                  <a:t>,</a:t>
                </a:r>
                <a:r>
                  <a:rPr lang="en-US" sz="2000" b="1" dirty="0" err="1">
                    <a:solidFill>
                      <a:srgbClr val="0070C0"/>
                    </a:solidFill>
                  </a:rPr>
                  <a:t>x</a:t>
                </a:r>
                <a:r>
                  <a:rPr lang="en-US" sz="2000" b="1" dirty="0"/>
                  <a:t>) </a:t>
                </a:r>
                <a:r>
                  <a:rPr lang="en-US" sz="2000" dirty="0"/>
                  <a:t>and </a:t>
                </a:r>
                <a:r>
                  <a:rPr lang="en-US" sz="2000" b="1" dirty="0"/>
                  <a:t>Delete(</a:t>
                </a:r>
                <a:r>
                  <a:rPr lang="en-US" sz="2000" b="1" dirty="0" err="1">
                    <a:solidFill>
                      <a:srgbClr val="0070C0"/>
                    </a:solidFill>
                  </a:rPr>
                  <a:t>T</a:t>
                </a:r>
                <a:r>
                  <a:rPr lang="en-US" sz="2000" b="1" dirty="0" err="1"/>
                  <a:t>,</a:t>
                </a:r>
                <a:r>
                  <a:rPr lang="en-US" sz="2000" b="1" dirty="0" err="1">
                    <a:solidFill>
                      <a:srgbClr val="0070C0"/>
                    </a:solidFill>
                  </a:rPr>
                  <a:t>x</a:t>
                </a:r>
                <a:r>
                  <a:rPr lang="en-US" sz="2000" b="1" dirty="0"/>
                  <a:t>)</a:t>
                </a:r>
              </a:p>
              <a:p>
                <a:endParaRPr lang="en-US" sz="2000" b="1" dirty="0"/>
              </a:p>
              <a:p>
                <a:r>
                  <a:rPr lang="en-US" sz="2000" dirty="0"/>
                  <a:t>While performing </a:t>
                </a:r>
                <a:r>
                  <a:rPr lang="en-US" sz="2000" b="1" u="sng" dirty="0">
                    <a:solidFill>
                      <a:srgbClr val="002060"/>
                    </a:solidFill>
                  </a:rPr>
                  <a:t>rotations</a:t>
                </a:r>
                <a:r>
                  <a:rPr lang="en-US" sz="2000" dirty="0"/>
                  <a:t>, show that it takes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2000" dirty="0"/>
                  <a:t>(</a:t>
                </a:r>
                <a:r>
                  <a:rPr lang="en-US" sz="2000" dirty="0">
                    <a:solidFill>
                      <a:srgbClr val="0070C0"/>
                    </a:solidFill>
                  </a:rPr>
                  <a:t>1</a:t>
                </a:r>
                <a:r>
                  <a:rPr lang="en-US" sz="2000" dirty="0"/>
                  <a:t>) time to update the 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size</a:t>
                </a:r>
                <a:r>
                  <a:rPr lang="en-US" sz="2000" dirty="0"/>
                  <a:t> field of the corresponding nodes.</a:t>
                </a:r>
              </a:p>
              <a:p>
                <a:endParaRPr lang="en-US" sz="2000" b="1" dirty="0"/>
              </a:p>
              <a:p>
                <a:pPr marL="0" indent="0">
                  <a:buNone/>
                </a:pPr>
                <a:r>
                  <a:rPr lang="en-US" sz="2000" b="1" dirty="0"/>
                  <a:t>Time complexity of the modified Insert/Delete operation : …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                                                                                                            … O</a:t>
                </a:r>
                <a:r>
                  <a:rPr lang="en-US" sz="2000" b="1" dirty="0"/>
                  <a:t>(log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b="1" dirty="0"/>
                  <a:t>) still.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6C31"/>
                    </a:solidFill>
                  </a:rPr>
                  <a:t>Homework</a:t>
                </a:r>
                <a:r>
                  <a:rPr lang="en-US" sz="2000" dirty="0"/>
                  <a:t>: Write pseudo-code for updating 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size</a:t>
                </a:r>
                <a:r>
                  <a:rPr lang="en-US" sz="2000" dirty="0"/>
                  <a:t> field during rotation.</a:t>
                </a:r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endParaRPr lang="en-US" sz="2000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1213" b="-239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242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75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12864</TotalTime>
  <Words>1298</Words>
  <Application>Microsoft Macintosh PowerPoint</Application>
  <PresentationFormat>On-screen Show (4:3)</PresentationFormat>
  <Paragraphs>417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Cambria Math</vt:lpstr>
      <vt:lpstr>Wingdings</vt:lpstr>
      <vt:lpstr>Office Theme</vt:lpstr>
      <vt:lpstr>Design and Analysis of Algorithms CS345 </vt:lpstr>
      <vt:lpstr>Revisiting  Binary Search Tree</vt:lpstr>
      <vt:lpstr>PowerPoint Presentation</vt:lpstr>
      <vt:lpstr>Surprising applications of data structures </vt:lpstr>
      <vt:lpstr>Red Black tree  (Height Balanced BST)</vt:lpstr>
      <vt:lpstr>Red-Black Tree</vt:lpstr>
      <vt:lpstr>Insertion in a red-black tree </vt:lpstr>
      <vt:lpstr>SpecialUnion(T,T’)</vt:lpstr>
      <vt:lpstr>SpecialUnion(T,T’)</vt:lpstr>
      <vt:lpstr>A trivial algorithm that does not work</vt:lpstr>
      <vt:lpstr>Towards an O(log n) time for SpecialUnion(T,T’) …</vt:lpstr>
      <vt:lpstr>Simplifying the problem </vt:lpstr>
      <vt:lpstr>Solving the simplified problem </vt:lpstr>
      <vt:lpstr>Extending the algorithm to the generic problem</vt:lpstr>
      <vt:lpstr>Extending the algorithm to the generic problem</vt:lpstr>
      <vt:lpstr>Extending the algorithm to the generic problem</vt:lpstr>
      <vt:lpstr>Extending the algorithm to the generic problem</vt:lpstr>
      <vt:lpstr>Extending the algorithm to the generic problem</vt:lpstr>
      <vt:lpstr>Extending the algorithm to the generic problem</vt:lpstr>
      <vt:lpstr>Extending the algorithm to the generic problem</vt:lpstr>
      <vt:lpstr>Split(T,x)</vt:lpstr>
      <vt:lpstr>Achieving O(log n) time for Split(T,x)</vt:lpstr>
      <vt:lpstr>Height Balanced BST (Red-black tree, AVL tree)</vt:lpstr>
      <vt:lpstr>Find-rank(T,x)</vt:lpstr>
      <vt:lpstr>A trivial algorithm for Find-rank(T,x)</vt:lpstr>
      <vt:lpstr>Achieving O(log n) time for FindRank(T,x)</vt:lpstr>
      <vt:lpstr>Achieving O(log n) time for FindRank(T,x)</vt:lpstr>
      <vt:lpstr>An elegant solution</vt:lpstr>
      <vt:lpstr>Algorithm for FindRank(T,x)</vt:lpstr>
      <vt:lpstr>Maintaining size field T under insertion/deletion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Surender Baswana</dc:creator>
  <cp:lastModifiedBy>Raghunath Tewari</cp:lastModifiedBy>
  <cp:revision>1158</cp:revision>
  <dcterms:created xsi:type="dcterms:W3CDTF">2011-12-03T04:13:03Z</dcterms:created>
  <dcterms:modified xsi:type="dcterms:W3CDTF">2026-08-05T02:27:47Z</dcterms:modified>
</cp:coreProperties>
</file>