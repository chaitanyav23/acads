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0"/>
  </p:notesMasterIdLst>
  <p:sldIdLst>
    <p:sldId id="274" r:id="rId2"/>
    <p:sldId id="448" r:id="rId3"/>
    <p:sldId id="447" r:id="rId4"/>
    <p:sldId id="497" r:id="rId5"/>
    <p:sldId id="498" r:id="rId6"/>
    <p:sldId id="499" r:id="rId7"/>
    <p:sldId id="500" r:id="rId8"/>
    <p:sldId id="479" r:id="rId9"/>
    <p:sldId id="501" r:id="rId10"/>
    <p:sldId id="481" r:id="rId11"/>
    <p:sldId id="482" r:id="rId12"/>
    <p:sldId id="483" r:id="rId13"/>
    <p:sldId id="456" r:id="rId14"/>
    <p:sldId id="485" r:id="rId15"/>
    <p:sldId id="486" r:id="rId16"/>
    <p:sldId id="487" r:id="rId17"/>
    <p:sldId id="392" r:id="rId18"/>
    <p:sldId id="452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97EB3-0E21-F44A-A7A8-DB84095F9D82}" v="1" dt="2026-08-05T02:27:59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2" autoAdjust="0"/>
    <p:restoredTop sz="94673" autoAdjust="0"/>
  </p:normalViewPr>
  <p:slideViewPr>
    <p:cSldViewPr>
      <p:cViewPr varScale="1">
        <p:scale>
          <a:sx n="115" d="100"/>
          <a:sy n="115" d="100"/>
        </p:scale>
        <p:origin x="165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custSel delSld modSld">
      <pc:chgData name="Raghunath Tewari" userId="2638bdda-d406-4938-a2a6-e4e967acb772" providerId="ADAL" clId="{5BB0A526-9D3F-5694-B192-877B52D1FAF9}" dt="2026-08-05T02:28:07.335" v="7" actId="2696"/>
      <pc:docMkLst>
        <pc:docMk/>
      </pc:docMkLst>
      <pc:sldChg chg="modSp mod modAnim">
        <pc:chgData name="Raghunath Tewari" userId="2638bdda-d406-4938-a2a6-e4e967acb772" providerId="ADAL" clId="{5BB0A526-9D3F-5694-B192-877B52D1FAF9}" dt="2026-08-05T02:27:59.197" v="6" actId="27636"/>
        <pc:sldMkLst>
          <pc:docMk/>
          <pc:sldMk cId="0" sldId="274"/>
        </pc:sldMkLst>
        <pc:spChg chg="mod">
          <ac:chgData name="Raghunath Tewari" userId="2638bdda-d406-4938-a2a6-e4e967acb772" providerId="ADAL" clId="{5BB0A526-9D3F-5694-B192-877B52D1FAF9}" dt="2026-08-05T02:27:59.197" v="6" actId="27636"/>
          <ac:spMkLst>
            <pc:docMk/>
            <pc:sldMk cId="0" sldId="274"/>
            <ac:spMk id="3" creationId="{00000000-0000-0000-0000-000000000000}"/>
          </ac:spMkLst>
        </pc:spChg>
      </pc:sldChg>
      <pc:sldChg chg="del">
        <pc:chgData name="Raghunath Tewari" userId="2638bdda-d406-4938-a2a6-e4e967acb772" providerId="ADAL" clId="{5BB0A526-9D3F-5694-B192-877B52D1FAF9}" dt="2026-08-05T02:27:46.877" v="0" actId="2696"/>
        <pc:sldMkLst>
          <pc:docMk/>
          <pc:sldMk cId="287875149" sldId="432"/>
        </pc:sldMkLst>
      </pc:sldChg>
      <pc:sldChg chg="del">
        <pc:chgData name="Raghunath Tewari" userId="2638bdda-d406-4938-a2a6-e4e967acb772" providerId="ADAL" clId="{5BB0A526-9D3F-5694-B192-877B52D1FAF9}" dt="2026-08-05T02:27:46.906" v="3" actId="2696"/>
        <pc:sldMkLst>
          <pc:docMk/>
          <pc:sldMk cId="2704305296" sldId="435"/>
        </pc:sldMkLst>
      </pc:sldChg>
      <pc:sldChg chg="del">
        <pc:chgData name="Raghunath Tewari" userId="2638bdda-d406-4938-a2a6-e4e967acb772" providerId="ADAL" clId="{5BB0A526-9D3F-5694-B192-877B52D1FAF9}" dt="2026-08-05T02:27:46.916" v="4" actId="2696"/>
        <pc:sldMkLst>
          <pc:docMk/>
          <pc:sldMk cId="957242243" sldId="436"/>
        </pc:sldMkLst>
      </pc:sldChg>
      <pc:sldChg chg="del">
        <pc:chgData name="Raghunath Tewari" userId="2638bdda-d406-4938-a2a6-e4e967acb772" providerId="ADAL" clId="{5BB0A526-9D3F-5694-B192-877B52D1FAF9}" dt="2026-08-05T02:28:07.335" v="7" actId="2696"/>
        <pc:sldMkLst>
          <pc:docMk/>
          <pc:sldMk cId="295160110" sldId="437"/>
        </pc:sldMkLst>
      </pc:sldChg>
      <pc:sldChg chg="del">
        <pc:chgData name="Raghunath Tewari" userId="2638bdda-d406-4938-a2a6-e4e967acb772" providerId="ADAL" clId="{5BB0A526-9D3F-5694-B192-877B52D1FAF9}" dt="2026-08-05T02:27:46.882" v="1" actId="2696"/>
        <pc:sldMkLst>
          <pc:docMk/>
          <pc:sldMk cId="588420432" sldId="495"/>
        </pc:sldMkLst>
      </pc:sldChg>
      <pc:sldChg chg="del">
        <pc:chgData name="Raghunath Tewari" userId="2638bdda-d406-4938-a2a6-e4e967acb772" providerId="ADAL" clId="{5BB0A526-9D3F-5694-B192-877B52D1FAF9}" dt="2026-08-05T02:27:46.887" v="2" actId="2696"/>
        <pc:sldMkLst>
          <pc:docMk/>
          <pc:sldMk cId="670146717" sldId="4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431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7" Type="http://schemas.openxmlformats.org/officeDocument/2006/relationships/image" Target="../media/image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3.png"/><Relationship Id="rId4" Type="http://schemas.openxmlformats.org/officeDocument/2006/relationships/image" Target="../media/image3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0.png"/><Relationship Id="rId7" Type="http://schemas.openxmlformats.org/officeDocument/2006/relationships/image" Target="../media/image65.png"/><Relationship Id="rId12" Type="http://schemas.openxmlformats.org/officeDocument/2006/relationships/image" Target="../media/image61.png"/><Relationship Id="rId2" Type="http://schemas.openxmlformats.org/officeDocument/2006/relationships/image" Target="../media/image46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72.png"/><Relationship Id="rId5" Type="http://schemas.openxmlformats.org/officeDocument/2006/relationships/image" Target="../media/image54.png"/><Relationship Id="rId15" Type="http://schemas.openxmlformats.org/officeDocument/2006/relationships/image" Target="../media/image82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30.png"/><Relationship Id="rId3" Type="http://schemas.openxmlformats.org/officeDocument/2006/relationships/image" Target="../media/image31.png"/><Relationship Id="rId7" Type="http://schemas.openxmlformats.org/officeDocument/2006/relationships/image" Target="../media/image70.png"/><Relationship Id="rId12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110.png"/><Relationship Id="rId5" Type="http://schemas.openxmlformats.org/officeDocument/2006/relationships/image" Target="../media/image50.png"/><Relationship Id="rId15" Type="http://schemas.openxmlformats.org/officeDocument/2006/relationships/image" Target="../media/image390.png"/><Relationship Id="rId10" Type="http://schemas.openxmlformats.org/officeDocument/2006/relationships/image" Target="../media/image100.png"/><Relationship Id="rId4" Type="http://schemas.openxmlformats.org/officeDocument/2006/relationships/image" Target="../media/image44.png"/><Relationship Id="rId9" Type="http://schemas.openxmlformats.org/officeDocument/2006/relationships/image" Target="../media/image90.png"/><Relationship Id="rId14" Type="http://schemas.openxmlformats.org/officeDocument/2006/relationships/image" Target="../media/image3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10.png"/><Relationship Id="rId18" Type="http://schemas.openxmlformats.org/officeDocument/2006/relationships/image" Target="../media/image390.png"/><Relationship Id="rId3" Type="http://schemas.openxmlformats.org/officeDocument/2006/relationships/image" Target="../media/image31.png"/><Relationship Id="rId7" Type="http://schemas.openxmlformats.org/officeDocument/2006/relationships/image" Target="../media/image160.png"/><Relationship Id="rId12" Type="http://schemas.openxmlformats.org/officeDocument/2006/relationships/image" Target="../media/image130.png"/><Relationship Id="rId17" Type="http://schemas.openxmlformats.org/officeDocument/2006/relationships/image" Target="../media/image25.png"/><Relationship Id="rId2" Type="http://schemas.openxmlformats.org/officeDocument/2006/relationships/image" Target="../media/image17.png"/><Relationship Id="rId16" Type="http://schemas.openxmlformats.org/officeDocument/2006/relationships/image" Target="../media/image181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200.png"/><Relationship Id="rId5" Type="http://schemas.openxmlformats.org/officeDocument/2006/relationships/image" Target="../media/image50.png"/><Relationship Id="rId15" Type="http://schemas.openxmlformats.org/officeDocument/2006/relationships/image" Target="../media/image23.png"/><Relationship Id="rId10" Type="http://schemas.openxmlformats.org/officeDocument/2006/relationships/image" Target="../media/image190.png"/><Relationship Id="rId19" Type="http://schemas.openxmlformats.org/officeDocument/2006/relationships/image" Target="../media/image24.png"/><Relationship Id="rId4" Type="http://schemas.openxmlformats.org/officeDocument/2006/relationships/image" Target="../media/image150.png"/><Relationship Id="rId9" Type="http://schemas.openxmlformats.org/officeDocument/2006/relationships/image" Target="../media/image182.png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10" Type="http://schemas.openxmlformats.org/officeDocument/2006/relationships/image" Target="../media/image150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>
                <a:solidFill>
                  <a:srgbClr val="002060"/>
                </a:solidFill>
              </a:rPr>
              <a:t>CS345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3914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5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Data structures </a:t>
            </a:r>
            <a:r>
              <a:rPr lang="en-US" sz="2400" b="1" dirty="0">
                <a:solidFill>
                  <a:schemeClr val="tx1"/>
                </a:solidFill>
              </a:rPr>
              <a:t>for </a:t>
            </a: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Orthogonal Range Searching </a:t>
            </a: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Dynamic 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Orthogonal Range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 err="1"/>
                  <a:t>RangeSearch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):</a:t>
                </a:r>
              </a:p>
              <a:p>
                <a:pPr marL="0" indent="0">
                  <a:buNone/>
                </a:pPr>
                <a:r>
                  <a:rPr lang="en-US" sz="2000" dirty="0"/>
                  <a:t>Report all points in the rectangle defined by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  <a:blipFill rotWithShape="1">
                <a:blip r:embed="rId2"/>
                <a:stretch>
                  <a:fillRect l="-714" t="-1576" b="-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524000" y="1752600"/>
            <a:ext cx="5029200" cy="4114800"/>
            <a:chOff x="1524000" y="1752600"/>
            <a:chExt cx="5029200" cy="41148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828800" y="1752600"/>
              <a:ext cx="0" cy="411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524000" y="5562600"/>
              <a:ext cx="5029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Oval 19"/>
          <p:cNvSpPr/>
          <p:nvPr/>
        </p:nvSpPr>
        <p:spPr>
          <a:xfrm>
            <a:off x="2209800" y="2971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89095" y="3938239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438400" y="2514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619500" y="22479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965295" y="2895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81500" y="28575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0" y="4572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738446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343400" y="5257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209800" y="4800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638800" y="3505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419600" y="3733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505200" y="4267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200400" y="51054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953000" y="4495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105400" y="2514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257800" y="3048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172200" y="2667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324600" y="4038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334000" y="4191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4724400" y="1905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191000" y="4648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362200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477000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257800" y="5181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6172200" y="5029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2286000" y="4191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>
            <a:off x="3352800" y="2819400"/>
            <a:ext cx="2476500" cy="1371600"/>
            <a:chOff x="3352800" y="2819400"/>
            <a:chExt cx="2476500" cy="1371600"/>
          </a:xfrm>
        </p:grpSpPr>
        <p:sp>
          <p:nvSpPr>
            <p:cNvPr id="47" name="Rectangle 46"/>
            <p:cNvSpPr/>
            <p:nvPr/>
          </p:nvSpPr>
          <p:spPr>
            <a:xfrm>
              <a:off x="3352800" y="2819400"/>
              <a:ext cx="2476500" cy="111883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02662" y="3821668"/>
              <a:ext cx="1102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Rectangle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124200" y="3938239"/>
            <a:ext cx="481157" cy="1929161"/>
            <a:chOff x="3124200" y="3938239"/>
            <a:chExt cx="481157" cy="1929161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352800" y="3938239"/>
              <a:ext cx="0" cy="17005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124200" y="54980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5498068"/>
                  <a:ext cx="48115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794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5614843" y="3950319"/>
            <a:ext cx="481157" cy="1905413"/>
            <a:chOff x="5614843" y="3950319"/>
            <a:chExt cx="481157" cy="1905413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5820007" y="3950319"/>
              <a:ext cx="0" cy="17005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5614843" y="5486400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4843" y="5486400"/>
                  <a:ext cx="4811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772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1447800" y="3733800"/>
            <a:ext cx="1905000" cy="369332"/>
            <a:chOff x="1447800" y="3733800"/>
            <a:chExt cx="1905000" cy="369332"/>
          </a:xfrm>
        </p:grpSpPr>
        <p:cxnSp>
          <p:nvCxnSpPr>
            <p:cNvPr id="50" name="Straight Connector 49"/>
            <p:cNvCxnSpPr/>
            <p:nvPr/>
          </p:nvCxnSpPr>
          <p:spPr>
            <a:xfrm>
              <a:off x="1828800" y="3938239"/>
              <a:ext cx="15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1447800" y="37338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3733800"/>
                  <a:ext cx="48596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645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/>
          <p:cNvGrpSpPr/>
          <p:nvPr/>
        </p:nvGrpSpPr>
        <p:grpSpPr>
          <a:xfrm>
            <a:off x="1447800" y="2602468"/>
            <a:ext cx="1905000" cy="369332"/>
            <a:chOff x="1447800" y="2602468"/>
            <a:chExt cx="1905000" cy="369332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1828800" y="2819400"/>
              <a:ext cx="15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1447800" y="2602468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2602468"/>
                  <a:ext cx="48596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4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20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Orthogonal</a:t>
            </a:r>
            <a:r>
              <a:rPr lang="en-US" sz="4000" b="1" dirty="0"/>
              <a:t> Range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Data structure</a:t>
                </a:r>
                <a:r>
                  <a:rPr lang="en-US" sz="2000" dirty="0"/>
                  <a:t>:   Size = O(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</a:rPr>
                      <m:t>log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),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Query = O(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 b="0" i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Preprocessing time  = O(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log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  <a:blipFill rotWithShape="1">
                <a:blip r:embed="rId2"/>
                <a:stretch>
                  <a:fillRect l="-714" t="-1576" b="-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524000" y="1752600"/>
            <a:ext cx="5029200" cy="4114800"/>
            <a:chOff x="1524000" y="1752600"/>
            <a:chExt cx="5029200" cy="41148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828800" y="1752600"/>
              <a:ext cx="0" cy="411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524000" y="5562600"/>
              <a:ext cx="5029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Oval 19"/>
          <p:cNvSpPr/>
          <p:nvPr/>
        </p:nvSpPr>
        <p:spPr>
          <a:xfrm>
            <a:off x="2209800" y="2971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89095" y="3938239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438400" y="2514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619500" y="22479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965295" y="2895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81500" y="28575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0" y="4572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738446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343400" y="5257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209800" y="4800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638800" y="3505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419600" y="3733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505200" y="4267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200400" y="51054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953000" y="4495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105400" y="2514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257800" y="3048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172200" y="2667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324600" y="4038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334000" y="4191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4724400" y="1905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191000" y="4648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362200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477000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257800" y="5181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6172200" y="5029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2286000" y="4191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>
            <a:off x="3352800" y="2819400"/>
            <a:ext cx="2476500" cy="1371600"/>
            <a:chOff x="3352800" y="2819400"/>
            <a:chExt cx="2476500" cy="1371600"/>
          </a:xfrm>
        </p:grpSpPr>
        <p:sp>
          <p:nvSpPr>
            <p:cNvPr id="47" name="Rectangle 46"/>
            <p:cNvSpPr/>
            <p:nvPr/>
          </p:nvSpPr>
          <p:spPr>
            <a:xfrm>
              <a:off x="3352800" y="2819400"/>
              <a:ext cx="2476500" cy="111883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02662" y="3821668"/>
              <a:ext cx="1102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Rectangle</a:t>
              </a:r>
            </a:p>
          </p:txBody>
        </p:sp>
      </p:grpSp>
      <p:sp>
        <p:nvSpPr>
          <p:cNvPr id="2" name="Line Callout 2 1"/>
          <p:cNvSpPr/>
          <p:nvPr/>
        </p:nvSpPr>
        <p:spPr>
          <a:xfrm>
            <a:off x="6705600" y="4800600"/>
            <a:ext cx="2133600" cy="650748"/>
          </a:xfrm>
          <a:prstGeom prst="borderCallout2">
            <a:avLst>
              <a:gd name="adj1" fmla="val 53022"/>
              <a:gd name="adj2" fmla="val 1075"/>
              <a:gd name="adj3" fmla="val 54735"/>
              <a:gd name="adj4" fmla="val -15622"/>
              <a:gd name="adj5" fmla="val 174190"/>
              <a:gd name="adj6" fmla="val -16269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No. of points in query rectangle</a:t>
            </a:r>
          </a:p>
        </p:txBody>
      </p:sp>
    </p:spTree>
    <p:extLst>
      <p:ext uri="{BB962C8B-B14F-4D97-AF65-F5344CB8AC3E}">
        <p14:creationId xmlns:p14="http://schemas.microsoft.com/office/powerpoint/2010/main" val="108588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Orthogonal Range searching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Idea:</a:t>
                </a:r>
                <a:r>
                  <a:rPr lang="en-US" sz="2000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Let us simplify the queries to one dimension only.</a:t>
                </a:r>
              </a:p>
              <a:p>
                <a:pPr marL="0" indent="0" algn="ctr">
                  <a:buNone/>
                </a:pPr>
                <a:r>
                  <a:rPr lang="en-US" sz="2000" b="1" dirty="0"/>
                  <a:t>RangeSearch(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b="1" dirty="0"/>
              </a:p>
              <a:p>
                <a:pPr marL="0" indent="0" algn="ctr">
                  <a:buNone/>
                </a:pPr>
                <a:r>
                  <a:rPr lang="en-US" sz="2000" b="1" dirty="0" err="1"/>
                  <a:t>RangeSearch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):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Report all points whose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 lie in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]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: </a:t>
                </a:r>
                <a:r>
                  <a:rPr lang="en-US" sz="2000" dirty="0"/>
                  <a:t>What data structure to use for this simplified query?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Solution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A simple BST storing points according 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 will do the job.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4267200" y="2438400"/>
            <a:ext cx="609600" cy="762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57600" y="3429000"/>
            <a:ext cx="38862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8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RangeSearch(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3600" b="1" dirty="0"/>
                  <a:t>):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Binary search tree on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400" dirty="0"/>
                  <a:t>-coordinates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3810000" y="5410200"/>
            <a:ext cx="481157" cy="457200"/>
            <a:chOff x="4876800" y="4659868"/>
            <a:chExt cx="481157" cy="457200"/>
          </a:xfrm>
        </p:grpSpPr>
        <p:sp>
          <p:nvSpPr>
            <p:cNvPr id="8" name="Oval 7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0127" t="-8333" r="-2151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0" y="2111282"/>
                <a:ext cx="3810000" cy="139696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002060"/>
                    </a:solidFill>
                  </a:rPr>
                  <a:t>View the entire tree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1600" dirty="0">
                    <a:solidFill>
                      <a:srgbClr val="002060"/>
                    </a:solidFill>
                  </a:rPr>
                  <a:t> from perspective of the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2060"/>
                    </a:solidFill>
                  </a:rPr>
                  <a:t> to the </a:t>
                </a:r>
                <a:r>
                  <a:rPr lang="en-US" sz="1600" b="1" dirty="0">
                    <a:solidFill>
                      <a:srgbClr val="002060"/>
                    </a:solidFill>
                  </a:rPr>
                  <a:t>root</a:t>
                </a:r>
                <a:r>
                  <a:rPr lang="en-US" sz="1600" dirty="0">
                    <a:solidFill>
                      <a:srgbClr val="002060"/>
                    </a:solidFill>
                  </a:rPr>
                  <a:t>. </a:t>
                </a:r>
              </a:p>
              <a:p>
                <a:pPr algn="ctr"/>
                <a:r>
                  <a:rPr lang="en-US" sz="1600" dirty="0">
                    <a:solidFill>
                      <a:srgbClr val="C00000"/>
                    </a:solidFill>
                  </a:rPr>
                  <a:t>How will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1600" dirty="0">
                    <a:solidFill>
                      <a:srgbClr val="C00000"/>
                    </a:solidFill>
                  </a:rPr>
                  <a:t> look like ?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11282"/>
                <a:ext cx="3810000" cy="139696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5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5646724" y="4953000"/>
            <a:ext cx="481157" cy="521732"/>
            <a:chOff x="4876800" y="4583668"/>
            <a:chExt cx="481157" cy="521732"/>
          </a:xfrm>
        </p:grpSpPr>
        <p:sp>
          <p:nvSpPr>
            <p:cNvPr id="61" name="Oval 60"/>
            <p:cNvSpPr/>
            <p:nvPr/>
          </p:nvSpPr>
          <p:spPr>
            <a:xfrm>
              <a:off x="4953000" y="4953000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876800" y="45836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583668"/>
                  <a:ext cx="48115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0127" t="-8333" r="-2278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/>
          <p:cNvGrpSpPr/>
          <p:nvPr/>
        </p:nvGrpSpPr>
        <p:grpSpPr>
          <a:xfrm>
            <a:off x="3581400" y="2035082"/>
            <a:ext cx="1227579" cy="3744450"/>
            <a:chOff x="3581400" y="2035082"/>
            <a:chExt cx="1227579" cy="3744450"/>
          </a:xfrm>
        </p:grpSpPr>
        <p:cxnSp>
          <p:nvCxnSpPr>
            <p:cNvPr id="40" name="Straight Arrow Connector 39"/>
            <p:cNvCxnSpPr>
              <a:stCxn id="23" idx="3"/>
            </p:cNvCxnSpPr>
            <p:nvPr/>
          </p:nvCxnSpPr>
          <p:spPr>
            <a:xfrm flipH="1">
              <a:off x="3756118" y="4092482"/>
              <a:ext cx="250918" cy="28388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/>
            <p:cNvGrpSpPr/>
            <p:nvPr/>
          </p:nvGrpSpPr>
          <p:grpSpPr>
            <a:xfrm>
              <a:off x="3581400" y="2035082"/>
              <a:ext cx="1227579" cy="3744450"/>
              <a:chOff x="3581400" y="2035082"/>
              <a:chExt cx="1227579" cy="3744450"/>
            </a:xfrm>
          </p:grpSpPr>
          <p:grpSp>
            <p:nvGrpSpPr>
              <p:cNvPr id="54" name="Group 53"/>
              <p:cNvGrpSpPr/>
              <p:nvPr/>
            </p:nvGrpSpPr>
            <p:grpSpPr>
              <a:xfrm>
                <a:off x="3657600" y="2035082"/>
                <a:ext cx="1151379" cy="2841718"/>
                <a:chOff x="3657600" y="2035082"/>
                <a:chExt cx="1151379" cy="2841718"/>
              </a:xfrm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3787682" y="2035082"/>
                  <a:ext cx="1021297" cy="2841718"/>
                  <a:chOff x="3993964" y="2057400"/>
                  <a:chExt cx="1021297" cy="2841718"/>
                </a:xfrm>
              </p:grpSpPr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3993964" y="2176338"/>
                    <a:ext cx="1021297" cy="2722780"/>
                    <a:chOff x="3993964" y="2176338"/>
                    <a:chExt cx="1021297" cy="2722780"/>
                  </a:xfrm>
                </p:grpSpPr>
                <p:cxnSp>
                  <p:nvCxnSpPr>
                    <p:cNvPr id="11" name="Straight Arrow Connector 10"/>
                    <p:cNvCxnSpPr/>
                    <p:nvPr/>
                  </p:nvCxnSpPr>
                  <p:spPr>
                    <a:xfrm flipH="1">
                      <a:off x="4628678" y="2176338"/>
                      <a:ext cx="174718" cy="327118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" name="Oval 14"/>
                    <p:cNvSpPr/>
                    <p:nvPr/>
                  </p:nvSpPr>
                  <p:spPr>
                    <a:xfrm>
                      <a:off x="4495800" y="2514600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/>
                    <p:cNvCxnSpPr>
                      <a:stCxn id="15" idx="5"/>
                      <a:endCxn id="20" idx="1"/>
                    </p:cNvCxnSpPr>
                    <p:nvPr/>
                  </p:nvCxnSpPr>
                  <p:spPr>
                    <a:xfrm>
                      <a:off x="4625882" y="2644682"/>
                      <a:ext cx="259297" cy="353130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Arrow Connector 16"/>
                    <p:cNvCxnSpPr>
                      <a:endCxn id="22" idx="0"/>
                    </p:cNvCxnSpPr>
                    <p:nvPr/>
                  </p:nvCxnSpPr>
                  <p:spPr>
                    <a:xfrm flipH="1">
                      <a:off x="4572000" y="3124200"/>
                      <a:ext cx="304800" cy="457200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" name="Oval 19"/>
                    <p:cNvSpPr/>
                    <p:nvPr/>
                  </p:nvSpPr>
                  <p:spPr>
                    <a:xfrm>
                      <a:off x="4862861" y="2975494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" name="Oval 21"/>
                    <p:cNvSpPr/>
                    <p:nvPr/>
                  </p:nvSpPr>
                  <p:spPr>
                    <a:xfrm>
                      <a:off x="4495800" y="3581400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Oval 22"/>
                    <p:cNvSpPr/>
                    <p:nvPr/>
                  </p:nvSpPr>
                  <p:spPr>
                    <a:xfrm>
                      <a:off x="4191000" y="3984718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4" name="Straight Arrow Connector 23"/>
                    <p:cNvCxnSpPr>
                      <a:stCxn id="22" idx="3"/>
                    </p:cNvCxnSpPr>
                    <p:nvPr/>
                  </p:nvCxnSpPr>
                  <p:spPr>
                    <a:xfrm flipH="1">
                      <a:off x="4267200" y="3711482"/>
                      <a:ext cx="250918" cy="276285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Arrow Connector 27"/>
                    <p:cNvCxnSpPr>
                      <a:stCxn id="34" idx="5"/>
                    </p:cNvCxnSpPr>
                    <p:nvPr/>
                  </p:nvCxnSpPr>
                  <p:spPr>
                    <a:xfrm>
                      <a:off x="3993964" y="4495800"/>
                      <a:ext cx="273236" cy="403318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7" name="Oval 36"/>
                  <p:cNvSpPr/>
                  <p:nvPr/>
                </p:nvSpPr>
                <p:spPr>
                  <a:xfrm>
                    <a:off x="4800600" y="2057400"/>
                    <a:ext cx="152400" cy="1524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" name="Oval 33"/>
                <p:cNvSpPr/>
                <p:nvPr/>
              </p:nvSpPr>
              <p:spPr>
                <a:xfrm>
                  <a:off x="3657600" y="4343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3" name="Oval 62"/>
              <p:cNvSpPr/>
              <p:nvPr/>
            </p:nvSpPr>
            <p:spPr>
              <a:xfrm>
                <a:off x="3962400" y="4876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/>
              <p:cNvCxnSpPr>
                <a:stCxn id="63" idx="3"/>
              </p:cNvCxnSpPr>
              <p:nvPr/>
            </p:nvCxnSpPr>
            <p:spPr>
              <a:xfrm flipH="1">
                <a:off x="3689164" y="5006882"/>
                <a:ext cx="295554" cy="352485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3581400" y="5334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Arrow Connector 65"/>
              <p:cNvCxnSpPr>
                <a:endCxn id="38" idx="2"/>
              </p:cNvCxnSpPr>
              <p:nvPr/>
            </p:nvCxnSpPr>
            <p:spPr>
              <a:xfrm>
                <a:off x="3733800" y="5486400"/>
                <a:ext cx="316779" cy="2931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/>
          <p:cNvGrpSpPr/>
          <p:nvPr/>
        </p:nvGrpSpPr>
        <p:grpSpPr>
          <a:xfrm>
            <a:off x="4808980" y="2831068"/>
            <a:ext cx="2204449" cy="369332"/>
            <a:chOff x="4808980" y="2831068"/>
            <a:chExt cx="2204449" cy="369332"/>
          </a:xfrm>
        </p:grpSpPr>
        <p:cxnSp>
          <p:nvCxnSpPr>
            <p:cNvPr id="78" name="Straight Arrow Connector 77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6477000" y="2831068"/>
              <a:ext cx="536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931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  <p:bldP spid="39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RangeSearch(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3600" b="1" dirty="0"/>
                  <a:t>):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Binary search tree on x-coordinates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cxnSp>
        <p:nvCxnSpPr>
          <p:cNvPr id="40" name="Straight Arrow Connector 39"/>
          <p:cNvCxnSpPr>
            <a:stCxn id="23" idx="3"/>
          </p:cNvCxnSpPr>
          <p:nvPr/>
        </p:nvCxnSpPr>
        <p:spPr>
          <a:xfrm flipH="1">
            <a:off x="3756118" y="4092482"/>
            <a:ext cx="250918" cy="2838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3657600" y="2035082"/>
            <a:ext cx="1151379" cy="2460718"/>
            <a:chOff x="3657600" y="2035082"/>
            <a:chExt cx="1151379" cy="2460718"/>
          </a:xfrm>
        </p:grpSpPr>
        <p:grpSp>
          <p:nvGrpSpPr>
            <p:cNvPr id="42" name="Group 41"/>
            <p:cNvGrpSpPr/>
            <p:nvPr/>
          </p:nvGrpSpPr>
          <p:grpSpPr>
            <a:xfrm>
              <a:off x="3984718" y="2035082"/>
              <a:ext cx="824261" cy="2079718"/>
              <a:chOff x="4191000" y="2057400"/>
              <a:chExt cx="824261" cy="2079718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191000" y="2176338"/>
                <a:ext cx="824261" cy="1960780"/>
                <a:chOff x="4191000" y="2176338"/>
                <a:chExt cx="824261" cy="1960780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>
                <a:xfrm flipH="1">
                  <a:off x="4628678" y="2176338"/>
                  <a:ext cx="174718" cy="32711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4495800" y="2514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Arrow Connector 15"/>
                <p:cNvCxnSpPr>
                  <a:stCxn id="15" idx="5"/>
                  <a:endCxn id="20" idx="1"/>
                </p:cNvCxnSpPr>
                <p:nvPr/>
              </p:nvCxnSpPr>
              <p:spPr>
                <a:xfrm>
                  <a:off x="4625882" y="2644682"/>
                  <a:ext cx="259297" cy="35313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>
                  <a:endCxn id="22" idx="0"/>
                </p:cNvCxnSpPr>
                <p:nvPr/>
              </p:nvCxnSpPr>
              <p:spPr>
                <a:xfrm flipH="1">
                  <a:off x="4572000" y="3124200"/>
                  <a:ext cx="304800" cy="4572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4862861" y="2975494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495800" y="3581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4191000" y="3984718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/>
                <p:cNvCxnSpPr>
                  <a:stCxn id="22" idx="3"/>
                </p:cNvCxnSpPr>
                <p:nvPr/>
              </p:nvCxnSpPr>
              <p:spPr>
                <a:xfrm flipH="1">
                  <a:off x="4267200" y="3711482"/>
                  <a:ext cx="250918" cy="276285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48006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36576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35430" y="2622364"/>
            <a:ext cx="381000" cy="599965"/>
            <a:chOff x="6705600" y="2209800"/>
            <a:chExt cx="381000" cy="599965"/>
          </a:xfrm>
        </p:grpSpPr>
        <p:sp>
          <p:nvSpPr>
            <p:cNvPr id="7" name="Isosceles Triangle 6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858000" y="2209800"/>
              <a:ext cx="2286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4800600" y="3591035"/>
            <a:ext cx="304800" cy="599965"/>
            <a:chOff x="6705600" y="2209800"/>
            <a:chExt cx="304800" cy="599965"/>
          </a:xfrm>
        </p:grpSpPr>
        <p:sp>
          <p:nvSpPr>
            <p:cNvPr id="55" name="Isosceles Triangle 5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105400" y="4048235"/>
            <a:ext cx="304800" cy="599965"/>
            <a:chOff x="6705600" y="2209800"/>
            <a:chExt cx="304800" cy="599965"/>
          </a:xfrm>
        </p:grpSpPr>
        <p:sp>
          <p:nvSpPr>
            <p:cNvPr id="58" name="Isosceles Triangle 5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5486400" y="4495800"/>
            <a:ext cx="304800" cy="599965"/>
            <a:chOff x="6705600" y="2209800"/>
            <a:chExt cx="304800" cy="599965"/>
          </a:xfrm>
        </p:grpSpPr>
        <p:sp>
          <p:nvSpPr>
            <p:cNvPr id="68" name="Isosceles Triangle 6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352800" y="4473482"/>
            <a:ext cx="327118" cy="546083"/>
            <a:chOff x="6705600" y="2263682"/>
            <a:chExt cx="327118" cy="546083"/>
          </a:xfrm>
        </p:grpSpPr>
        <p:sp>
          <p:nvSpPr>
            <p:cNvPr id="71" name="Isosceles Triangle 70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>
              <a:stCxn id="34" idx="3"/>
            </p:cNvCxnSpPr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419600" y="3626036"/>
            <a:ext cx="304800" cy="564964"/>
            <a:chOff x="6705600" y="2244801"/>
            <a:chExt cx="304800" cy="564964"/>
          </a:xfrm>
        </p:grpSpPr>
        <p:sp>
          <p:nvSpPr>
            <p:cNvPr id="76" name="Isosceles Triangle 75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114800" y="4083236"/>
            <a:ext cx="304800" cy="564964"/>
            <a:chOff x="6705600" y="2244801"/>
            <a:chExt cx="304800" cy="564964"/>
          </a:xfrm>
        </p:grpSpPr>
        <p:sp>
          <p:nvSpPr>
            <p:cNvPr id="79" name="Isosceles Triangle 78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Arrow Connector 80"/>
          <p:cNvCxnSpPr/>
          <p:nvPr/>
        </p:nvCxnSpPr>
        <p:spPr>
          <a:xfrm>
            <a:off x="3787682" y="4473482"/>
            <a:ext cx="273236" cy="4033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2400" y="48768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82" idx="3"/>
          </p:cNvCxnSpPr>
          <p:nvPr/>
        </p:nvCxnSpPr>
        <p:spPr>
          <a:xfrm flipH="1">
            <a:off x="3689164" y="5006882"/>
            <a:ext cx="295554" cy="3524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81400" y="5334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4114800" y="4997636"/>
            <a:ext cx="304800" cy="512591"/>
            <a:chOff x="6705600" y="2244801"/>
            <a:chExt cx="304800" cy="512591"/>
          </a:xfrm>
        </p:grpSpPr>
        <p:sp>
          <p:nvSpPr>
            <p:cNvPr id="90" name="Isosceles Triangle 89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4085079" y="5844955"/>
            <a:ext cx="304800" cy="564964"/>
            <a:chOff x="6705600" y="2244801"/>
            <a:chExt cx="304800" cy="564964"/>
          </a:xfrm>
        </p:grpSpPr>
        <p:sp>
          <p:nvSpPr>
            <p:cNvPr id="93" name="Isosceles Triangle 9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/>
          <p:cNvCxnSpPr/>
          <p:nvPr/>
        </p:nvCxnSpPr>
        <p:spPr>
          <a:xfrm>
            <a:off x="3733800" y="5486400"/>
            <a:ext cx="223035" cy="2931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3657600" y="5854717"/>
            <a:ext cx="327118" cy="546083"/>
            <a:chOff x="6705600" y="2263682"/>
            <a:chExt cx="327118" cy="546083"/>
          </a:xfrm>
        </p:grpSpPr>
        <p:sp>
          <p:nvSpPr>
            <p:cNvPr id="103" name="Isosceles Triangle 10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6248400" y="4973809"/>
            <a:ext cx="304800" cy="512591"/>
            <a:chOff x="6705600" y="2244801"/>
            <a:chExt cx="304800" cy="512591"/>
          </a:xfrm>
        </p:grpSpPr>
        <p:sp>
          <p:nvSpPr>
            <p:cNvPr id="106" name="Isosceles Triangle 105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5867400" y="5431009"/>
            <a:ext cx="304800" cy="512591"/>
            <a:chOff x="6705600" y="2244801"/>
            <a:chExt cx="304800" cy="512591"/>
          </a:xfrm>
        </p:grpSpPr>
        <p:sp>
          <p:nvSpPr>
            <p:cNvPr id="109" name="Isosceles Triangle 108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3276600" y="5473717"/>
            <a:ext cx="327118" cy="546083"/>
            <a:chOff x="6705600" y="2263682"/>
            <a:chExt cx="327118" cy="546083"/>
          </a:xfrm>
        </p:grpSpPr>
        <p:sp>
          <p:nvSpPr>
            <p:cNvPr id="112" name="Isosceles Triangle 111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5410200" y="5410200"/>
            <a:ext cx="327118" cy="546083"/>
            <a:chOff x="6705600" y="2263682"/>
            <a:chExt cx="327118" cy="546083"/>
          </a:xfrm>
        </p:grpSpPr>
        <p:sp>
          <p:nvSpPr>
            <p:cNvPr id="115" name="Isosceles Triangle 11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Isosceles Triangle 116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noFill/>
          <a:ln w="6350">
            <a:solidFill>
              <a:srgbClr val="006C3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8" name="Group 117"/>
          <p:cNvGrpSpPr/>
          <p:nvPr/>
        </p:nvGrpSpPr>
        <p:grpSpPr>
          <a:xfrm>
            <a:off x="4808980" y="2831068"/>
            <a:ext cx="2204449" cy="369332"/>
            <a:chOff x="4808980" y="2831068"/>
            <a:chExt cx="2204449" cy="369332"/>
          </a:xfrm>
        </p:grpSpPr>
        <p:cxnSp>
          <p:nvCxnSpPr>
            <p:cNvPr id="119" name="Straight Arrow Connector 118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/>
            <p:cNvSpPr txBox="1"/>
            <p:nvPr/>
          </p:nvSpPr>
          <p:spPr>
            <a:xfrm>
              <a:off x="6477000" y="2831068"/>
              <a:ext cx="536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810000" y="5410200"/>
            <a:ext cx="481157" cy="457200"/>
            <a:chOff x="4876800" y="4659868"/>
            <a:chExt cx="481157" cy="457200"/>
          </a:xfrm>
        </p:grpSpPr>
        <p:sp>
          <p:nvSpPr>
            <p:cNvPr id="121" name="Oval 120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2" name="TextBox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0127" t="-8333" r="-2151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/>
          <p:cNvGrpSpPr/>
          <p:nvPr/>
        </p:nvGrpSpPr>
        <p:grpSpPr>
          <a:xfrm>
            <a:off x="5562600" y="4953000"/>
            <a:ext cx="481157" cy="457200"/>
            <a:chOff x="4876800" y="4659868"/>
            <a:chExt cx="481157" cy="457200"/>
          </a:xfrm>
        </p:grpSpPr>
        <p:sp>
          <p:nvSpPr>
            <p:cNvPr id="124" name="Oval 123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5" name="TextBox 1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1538" t="-8333" r="-2307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loud Callout 87"/>
              <p:cNvSpPr/>
              <p:nvPr/>
            </p:nvSpPr>
            <p:spPr>
              <a:xfrm>
                <a:off x="0" y="2413306"/>
                <a:ext cx="3276600" cy="1464784"/>
              </a:xfrm>
              <a:prstGeom prst="cloudCallout">
                <a:avLst>
                  <a:gd name="adj1" fmla="val -24537"/>
                  <a:gd name="adj2" fmla="val 7691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What are the nodes whose points have x-coordinate in </a:t>
                </a:r>
              </a:p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]?</a:t>
                </a:r>
                <a:endParaRPr lang="en-US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8" name="Cloud Callout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13306"/>
                <a:ext cx="3276600" cy="1464784"/>
              </a:xfrm>
              <a:prstGeom prst="cloudCallout">
                <a:avLst>
                  <a:gd name="adj1" fmla="val -24537"/>
                  <a:gd name="adj2" fmla="val 76915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63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RangeSearch(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3600" b="1" dirty="0"/>
                  <a:t>):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Binary search tree on x-coordinates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cxnSp>
        <p:nvCxnSpPr>
          <p:cNvPr id="40" name="Straight Arrow Connector 39"/>
          <p:cNvCxnSpPr>
            <a:stCxn id="23" idx="3"/>
          </p:cNvCxnSpPr>
          <p:nvPr/>
        </p:nvCxnSpPr>
        <p:spPr>
          <a:xfrm flipH="1">
            <a:off x="3756118" y="4092482"/>
            <a:ext cx="250918" cy="2838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3657600" y="2035082"/>
            <a:ext cx="1151379" cy="2460718"/>
            <a:chOff x="3657600" y="2035082"/>
            <a:chExt cx="1151379" cy="2460718"/>
          </a:xfrm>
        </p:grpSpPr>
        <p:grpSp>
          <p:nvGrpSpPr>
            <p:cNvPr id="42" name="Group 41"/>
            <p:cNvGrpSpPr/>
            <p:nvPr/>
          </p:nvGrpSpPr>
          <p:grpSpPr>
            <a:xfrm>
              <a:off x="3984718" y="2035082"/>
              <a:ext cx="824261" cy="2079718"/>
              <a:chOff x="4191000" y="2057400"/>
              <a:chExt cx="824261" cy="2079718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191000" y="2176338"/>
                <a:ext cx="824261" cy="1960780"/>
                <a:chOff x="4191000" y="2176338"/>
                <a:chExt cx="824261" cy="1960780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>
                <a:xfrm flipH="1">
                  <a:off x="4628678" y="2176338"/>
                  <a:ext cx="174718" cy="32711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4495800" y="2514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Arrow Connector 15"/>
                <p:cNvCxnSpPr>
                  <a:stCxn id="15" idx="5"/>
                  <a:endCxn id="20" idx="1"/>
                </p:cNvCxnSpPr>
                <p:nvPr/>
              </p:nvCxnSpPr>
              <p:spPr>
                <a:xfrm>
                  <a:off x="4625882" y="2644682"/>
                  <a:ext cx="259297" cy="35313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>
                  <a:endCxn id="22" idx="0"/>
                </p:cNvCxnSpPr>
                <p:nvPr/>
              </p:nvCxnSpPr>
              <p:spPr>
                <a:xfrm flipH="1">
                  <a:off x="4572000" y="3124200"/>
                  <a:ext cx="304800" cy="4572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4862861" y="2975494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495800" y="3581400"/>
                  <a:ext cx="152400" cy="152400"/>
                </a:xfrm>
                <a:prstGeom prst="ellipse">
                  <a:avLst/>
                </a:prstGeom>
                <a:solidFill>
                  <a:srgbClr val="00206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4191000" y="3984718"/>
                  <a:ext cx="152400" cy="152400"/>
                </a:xfrm>
                <a:prstGeom prst="ellipse">
                  <a:avLst/>
                </a:prstGeom>
                <a:solidFill>
                  <a:srgbClr val="00206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/>
                <p:cNvCxnSpPr>
                  <a:stCxn id="22" idx="3"/>
                </p:cNvCxnSpPr>
                <p:nvPr/>
              </p:nvCxnSpPr>
              <p:spPr>
                <a:xfrm flipH="1">
                  <a:off x="4267200" y="3711482"/>
                  <a:ext cx="250918" cy="276285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48006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36576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35430" y="2622364"/>
            <a:ext cx="381000" cy="599965"/>
            <a:chOff x="6705600" y="2209800"/>
            <a:chExt cx="381000" cy="599965"/>
          </a:xfrm>
        </p:grpSpPr>
        <p:sp>
          <p:nvSpPr>
            <p:cNvPr id="7" name="Isosceles Triangle 6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858000" y="2209800"/>
              <a:ext cx="2286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4800600" y="3591035"/>
            <a:ext cx="304800" cy="599965"/>
            <a:chOff x="6705600" y="2209800"/>
            <a:chExt cx="304800" cy="599965"/>
          </a:xfrm>
        </p:grpSpPr>
        <p:sp>
          <p:nvSpPr>
            <p:cNvPr id="55" name="Isosceles Triangle 5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105400" y="4048235"/>
            <a:ext cx="304800" cy="599965"/>
            <a:chOff x="6705600" y="2209800"/>
            <a:chExt cx="304800" cy="599965"/>
          </a:xfrm>
          <a:solidFill>
            <a:srgbClr val="00B050"/>
          </a:solidFill>
        </p:grpSpPr>
        <p:sp>
          <p:nvSpPr>
            <p:cNvPr id="58" name="Isosceles Triangle 5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5486400" y="4495800"/>
            <a:ext cx="304800" cy="599965"/>
            <a:chOff x="6705600" y="2209800"/>
            <a:chExt cx="304800" cy="599965"/>
          </a:xfrm>
        </p:grpSpPr>
        <p:sp>
          <p:nvSpPr>
            <p:cNvPr id="68" name="Isosceles Triangle 6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352800" y="4473482"/>
            <a:ext cx="327118" cy="546083"/>
            <a:chOff x="6705600" y="2263682"/>
            <a:chExt cx="327118" cy="546083"/>
          </a:xfrm>
        </p:grpSpPr>
        <p:sp>
          <p:nvSpPr>
            <p:cNvPr id="71" name="Isosceles Triangle 70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>
              <a:stCxn id="34" idx="3"/>
            </p:cNvCxnSpPr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419600" y="3626036"/>
            <a:ext cx="304800" cy="564964"/>
            <a:chOff x="6705600" y="2244801"/>
            <a:chExt cx="304800" cy="564964"/>
          </a:xfrm>
        </p:grpSpPr>
        <p:sp>
          <p:nvSpPr>
            <p:cNvPr id="76" name="Isosceles Triangle 75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114800" y="4083236"/>
            <a:ext cx="304800" cy="564964"/>
            <a:chOff x="6705600" y="2244801"/>
            <a:chExt cx="304800" cy="564964"/>
          </a:xfrm>
        </p:grpSpPr>
        <p:sp>
          <p:nvSpPr>
            <p:cNvPr id="79" name="Isosceles Triangle 78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Arrow Connector 80"/>
          <p:cNvCxnSpPr/>
          <p:nvPr/>
        </p:nvCxnSpPr>
        <p:spPr>
          <a:xfrm>
            <a:off x="3787682" y="4473482"/>
            <a:ext cx="273236" cy="4033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2400" y="4876800"/>
            <a:ext cx="152400" cy="1524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82" idx="3"/>
          </p:cNvCxnSpPr>
          <p:nvPr/>
        </p:nvCxnSpPr>
        <p:spPr>
          <a:xfrm flipH="1">
            <a:off x="3689164" y="5006882"/>
            <a:ext cx="295554" cy="3524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81400" y="5334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4114800" y="4997636"/>
            <a:ext cx="304800" cy="512591"/>
            <a:chOff x="6705600" y="2244801"/>
            <a:chExt cx="304800" cy="512591"/>
          </a:xfrm>
        </p:grpSpPr>
        <p:sp>
          <p:nvSpPr>
            <p:cNvPr id="90" name="Isosceles Triangle 89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4085079" y="5844955"/>
            <a:ext cx="304800" cy="564964"/>
            <a:chOff x="6705600" y="2244801"/>
            <a:chExt cx="304800" cy="564964"/>
          </a:xfrm>
        </p:grpSpPr>
        <p:sp>
          <p:nvSpPr>
            <p:cNvPr id="93" name="Isosceles Triangle 9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/>
          <p:cNvCxnSpPr/>
          <p:nvPr/>
        </p:nvCxnSpPr>
        <p:spPr>
          <a:xfrm>
            <a:off x="3733800" y="5486400"/>
            <a:ext cx="223035" cy="2931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3657600" y="5854717"/>
            <a:ext cx="327118" cy="546083"/>
            <a:chOff x="6705600" y="2263682"/>
            <a:chExt cx="327118" cy="546083"/>
          </a:xfrm>
        </p:grpSpPr>
        <p:sp>
          <p:nvSpPr>
            <p:cNvPr id="103" name="Isosceles Triangle 10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6248400" y="4973809"/>
            <a:ext cx="304800" cy="512591"/>
            <a:chOff x="6705600" y="2244801"/>
            <a:chExt cx="304800" cy="512591"/>
          </a:xfrm>
        </p:grpSpPr>
        <p:sp>
          <p:nvSpPr>
            <p:cNvPr id="106" name="Isosceles Triangle 105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5867400" y="5431009"/>
            <a:ext cx="304800" cy="512591"/>
            <a:chOff x="6705600" y="2244801"/>
            <a:chExt cx="304800" cy="512591"/>
          </a:xfrm>
        </p:grpSpPr>
        <p:sp>
          <p:nvSpPr>
            <p:cNvPr id="109" name="Isosceles Triangle 108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3276600" y="5473717"/>
            <a:ext cx="327118" cy="546083"/>
            <a:chOff x="6705600" y="2263682"/>
            <a:chExt cx="327118" cy="546083"/>
          </a:xfrm>
        </p:grpSpPr>
        <p:sp>
          <p:nvSpPr>
            <p:cNvPr id="112" name="Isosceles Triangle 111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5410200" y="5410200"/>
            <a:ext cx="327118" cy="546083"/>
            <a:chOff x="6705600" y="2263682"/>
            <a:chExt cx="327118" cy="546083"/>
          </a:xfrm>
        </p:grpSpPr>
        <p:sp>
          <p:nvSpPr>
            <p:cNvPr id="115" name="Isosceles Triangle 11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Isosceles Triangle 116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noFill/>
          <a:ln w="6350">
            <a:solidFill>
              <a:srgbClr val="006C3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5" name="Group 84"/>
          <p:cNvGrpSpPr/>
          <p:nvPr/>
        </p:nvGrpSpPr>
        <p:grpSpPr>
          <a:xfrm>
            <a:off x="4808980" y="2831068"/>
            <a:ext cx="2204449" cy="369332"/>
            <a:chOff x="4808980" y="2831068"/>
            <a:chExt cx="2204449" cy="369332"/>
          </a:xfrm>
        </p:grpSpPr>
        <p:cxnSp>
          <p:nvCxnSpPr>
            <p:cNvPr id="86" name="Straight Arrow Connector 85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6477000" y="2831068"/>
              <a:ext cx="536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810000" y="5410200"/>
            <a:ext cx="481157" cy="457200"/>
            <a:chOff x="4876800" y="4659868"/>
            <a:chExt cx="481157" cy="457200"/>
          </a:xfrm>
        </p:grpSpPr>
        <p:sp>
          <p:nvSpPr>
            <p:cNvPr id="96" name="Oval 95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0127" t="-8333" r="-2151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Group 117"/>
          <p:cNvGrpSpPr/>
          <p:nvPr/>
        </p:nvGrpSpPr>
        <p:grpSpPr>
          <a:xfrm>
            <a:off x="5562600" y="4953000"/>
            <a:ext cx="481157" cy="457200"/>
            <a:chOff x="4876800" y="4659868"/>
            <a:chExt cx="481157" cy="457200"/>
          </a:xfrm>
        </p:grpSpPr>
        <p:sp>
          <p:nvSpPr>
            <p:cNvPr id="119" name="Oval 118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1538" t="-8333" r="-2307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047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/>
                  <a:t>RangeSearch(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3600" b="1" dirty="0"/>
                  <a:t>):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Binary search tree on x-coordinates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cxnSp>
        <p:nvCxnSpPr>
          <p:cNvPr id="40" name="Straight Arrow Connector 39"/>
          <p:cNvCxnSpPr>
            <a:stCxn id="23" idx="3"/>
          </p:cNvCxnSpPr>
          <p:nvPr/>
        </p:nvCxnSpPr>
        <p:spPr>
          <a:xfrm flipH="1">
            <a:off x="3756118" y="4092482"/>
            <a:ext cx="250918" cy="2838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3657600" y="2035082"/>
            <a:ext cx="1151379" cy="2460718"/>
            <a:chOff x="3657600" y="2035082"/>
            <a:chExt cx="1151379" cy="2460718"/>
          </a:xfrm>
        </p:grpSpPr>
        <p:grpSp>
          <p:nvGrpSpPr>
            <p:cNvPr id="42" name="Group 41"/>
            <p:cNvGrpSpPr/>
            <p:nvPr/>
          </p:nvGrpSpPr>
          <p:grpSpPr>
            <a:xfrm>
              <a:off x="3984718" y="2035082"/>
              <a:ext cx="824261" cy="2079718"/>
              <a:chOff x="4191000" y="2057400"/>
              <a:chExt cx="824261" cy="2079718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191000" y="2176338"/>
                <a:ext cx="824261" cy="1960780"/>
                <a:chOff x="4191000" y="2176338"/>
                <a:chExt cx="824261" cy="1960780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>
                <a:xfrm flipH="1">
                  <a:off x="4628678" y="2176338"/>
                  <a:ext cx="174718" cy="32711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4495800" y="2514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Arrow Connector 15"/>
                <p:cNvCxnSpPr>
                  <a:stCxn id="15" idx="5"/>
                  <a:endCxn id="20" idx="1"/>
                </p:cNvCxnSpPr>
                <p:nvPr/>
              </p:nvCxnSpPr>
              <p:spPr>
                <a:xfrm>
                  <a:off x="4625882" y="2644682"/>
                  <a:ext cx="259297" cy="35313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>
                  <a:endCxn id="22" idx="0"/>
                </p:cNvCxnSpPr>
                <p:nvPr/>
              </p:nvCxnSpPr>
              <p:spPr>
                <a:xfrm flipH="1">
                  <a:off x="4572000" y="3124200"/>
                  <a:ext cx="304800" cy="4572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4862861" y="2975494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495800" y="3581400"/>
                  <a:ext cx="152400" cy="152400"/>
                </a:xfrm>
                <a:prstGeom prst="ellipse">
                  <a:avLst/>
                </a:prstGeom>
                <a:solidFill>
                  <a:srgbClr val="00206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4191000" y="3984718"/>
                  <a:ext cx="152400" cy="152400"/>
                </a:xfrm>
                <a:prstGeom prst="ellipse">
                  <a:avLst/>
                </a:prstGeom>
                <a:solidFill>
                  <a:srgbClr val="00206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/>
                <p:cNvCxnSpPr>
                  <a:stCxn id="22" idx="3"/>
                </p:cNvCxnSpPr>
                <p:nvPr/>
              </p:nvCxnSpPr>
              <p:spPr>
                <a:xfrm flipH="1">
                  <a:off x="4267200" y="3711482"/>
                  <a:ext cx="250918" cy="276285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48006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36576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35430" y="2622364"/>
            <a:ext cx="381000" cy="599965"/>
            <a:chOff x="6705600" y="2209800"/>
            <a:chExt cx="381000" cy="599965"/>
          </a:xfrm>
        </p:grpSpPr>
        <p:sp>
          <p:nvSpPr>
            <p:cNvPr id="7" name="Isosceles Triangle 6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858000" y="2209800"/>
              <a:ext cx="2286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4800600" y="3591035"/>
            <a:ext cx="304800" cy="599965"/>
            <a:chOff x="6705600" y="2209800"/>
            <a:chExt cx="304800" cy="599965"/>
          </a:xfrm>
        </p:grpSpPr>
        <p:sp>
          <p:nvSpPr>
            <p:cNvPr id="55" name="Isosceles Triangle 5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105400" y="4048235"/>
            <a:ext cx="304800" cy="599965"/>
            <a:chOff x="6705600" y="2209800"/>
            <a:chExt cx="304800" cy="599965"/>
          </a:xfrm>
        </p:grpSpPr>
        <p:sp>
          <p:nvSpPr>
            <p:cNvPr id="58" name="Isosceles Triangle 5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5486400" y="4495800"/>
            <a:ext cx="304800" cy="599965"/>
            <a:chOff x="6705600" y="2209800"/>
            <a:chExt cx="304800" cy="599965"/>
          </a:xfrm>
        </p:grpSpPr>
        <p:sp>
          <p:nvSpPr>
            <p:cNvPr id="68" name="Isosceles Triangle 6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352800" y="4473482"/>
            <a:ext cx="327118" cy="546083"/>
            <a:chOff x="6705600" y="2263682"/>
            <a:chExt cx="327118" cy="546083"/>
          </a:xfrm>
        </p:grpSpPr>
        <p:sp>
          <p:nvSpPr>
            <p:cNvPr id="71" name="Isosceles Triangle 70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>
              <a:stCxn id="34" idx="3"/>
            </p:cNvCxnSpPr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419600" y="3626036"/>
            <a:ext cx="304800" cy="564964"/>
            <a:chOff x="6705600" y="2244801"/>
            <a:chExt cx="304800" cy="564964"/>
          </a:xfrm>
        </p:grpSpPr>
        <p:sp>
          <p:nvSpPr>
            <p:cNvPr id="76" name="Isosceles Triangle 75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114800" y="4083236"/>
            <a:ext cx="304800" cy="564964"/>
            <a:chOff x="6705600" y="2244801"/>
            <a:chExt cx="304800" cy="564964"/>
          </a:xfrm>
        </p:grpSpPr>
        <p:sp>
          <p:nvSpPr>
            <p:cNvPr id="79" name="Isosceles Triangle 78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Arrow Connector 80"/>
          <p:cNvCxnSpPr/>
          <p:nvPr/>
        </p:nvCxnSpPr>
        <p:spPr>
          <a:xfrm>
            <a:off x="3787682" y="4473482"/>
            <a:ext cx="273236" cy="4033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2400" y="4876800"/>
            <a:ext cx="152400" cy="1524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82" idx="3"/>
          </p:cNvCxnSpPr>
          <p:nvPr/>
        </p:nvCxnSpPr>
        <p:spPr>
          <a:xfrm flipH="1">
            <a:off x="3689164" y="5006882"/>
            <a:ext cx="295554" cy="3524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81400" y="5334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4114800" y="4997636"/>
            <a:ext cx="304800" cy="512591"/>
            <a:chOff x="6705600" y="2244801"/>
            <a:chExt cx="304800" cy="512591"/>
          </a:xfrm>
        </p:grpSpPr>
        <p:sp>
          <p:nvSpPr>
            <p:cNvPr id="90" name="Isosceles Triangle 89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4085079" y="5844955"/>
            <a:ext cx="304800" cy="564964"/>
            <a:chOff x="6705600" y="2244801"/>
            <a:chExt cx="304800" cy="564964"/>
          </a:xfrm>
        </p:grpSpPr>
        <p:sp>
          <p:nvSpPr>
            <p:cNvPr id="93" name="Isosceles Triangle 9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/>
          <p:cNvCxnSpPr/>
          <p:nvPr/>
        </p:nvCxnSpPr>
        <p:spPr>
          <a:xfrm>
            <a:off x="3733800" y="5486400"/>
            <a:ext cx="223035" cy="2931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3657600" y="5854717"/>
            <a:ext cx="327118" cy="546083"/>
            <a:chOff x="6705600" y="2263682"/>
            <a:chExt cx="327118" cy="546083"/>
          </a:xfrm>
        </p:grpSpPr>
        <p:sp>
          <p:nvSpPr>
            <p:cNvPr id="103" name="Isosceles Triangle 10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6248400" y="4973809"/>
            <a:ext cx="304800" cy="512591"/>
            <a:chOff x="6705600" y="2244801"/>
            <a:chExt cx="304800" cy="512591"/>
          </a:xfrm>
        </p:grpSpPr>
        <p:sp>
          <p:nvSpPr>
            <p:cNvPr id="106" name="Isosceles Triangle 105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5867400" y="5431009"/>
            <a:ext cx="304800" cy="512591"/>
            <a:chOff x="6705600" y="2244801"/>
            <a:chExt cx="304800" cy="512591"/>
          </a:xfrm>
        </p:grpSpPr>
        <p:sp>
          <p:nvSpPr>
            <p:cNvPr id="109" name="Isosceles Triangle 108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3276600" y="5473717"/>
            <a:ext cx="327118" cy="546083"/>
            <a:chOff x="6705600" y="2263682"/>
            <a:chExt cx="327118" cy="546083"/>
          </a:xfrm>
        </p:grpSpPr>
        <p:sp>
          <p:nvSpPr>
            <p:cNvPr id="112" name="Isosceles Triangle 111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5410200" y="5410200"/>
            <a:ext cx="327118" cy="546083"/>
            <a:chOff x="6705600" y="2263682"/>
            <a:chExt cx="327118" cy="546083"/>
          </a:xfrm>
        </p:grpSpPr>
        <p:sp>
          <p:nvSpPr>
            <p:cNvPr id="115" name="Isosceles Triangle 11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Isosceles Triangle 116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noFill/>
          <a:ln w="6350">
            <a:solidFill>
              <a:srgbClr val="006C3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5" name="Group 84"/>
          <p:cNvGrpSpPr/>
          <p:nvPr/>
        </p:nvGrpSpPr>
        <p:grpSpPr>
          <a:xfrm>
            <a:off x="4808980" y="2831068"/>
            <a:ext cx="2204449" cy="369332"/>
            <a:chOff x="4808980" y="2831068"/>
            <a:chExt cx="2204449" cy="369332"/>
          </a:xfrm>
        </p:grpSpPr>
        <p:cxnSp>
          <p:nvCxnSpPr>
            <p:cNvPr id="86" name="Straight Arrow Connector 85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6477000" y="2831068"/>
              <a:ext cx="536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810000" y="5410200"/>
            <a:ext cx="481157" cy="457200"/>
            <a:chOff x="4876800" y="4659868"/>
            <a:chExt cx="481157" cy="457200"/>
          </a:xfrm>
        </p:grpSpPr>
        <p:sp>
          <p:nvSpPr>
            <p:cNvPr id="96" name="Oval 95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0127" t="-8333" r="-2151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Group 117"/>
          <p:cNvGrpSpPr/>
          <p:nvPr/>
        </p:nvGrpSpPr>
        <p:grpSpPr>
          <a:xfrm>
            <a:off x="5562600" y="4953000"/>
            <a:ext cx="481157" cy="457200"/>
            <a:chOff x="4876800" y="4659868"/>
            <a:chExt cx="481157" cy="457200"/>
          </a:xfrm>
        </p:grpSpPr>
        <p:sp>
          <p:nvSpPr>
            <p:cNvPr id="119" name="Oval 118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1538" t="-8333" r="-2307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2" name="Oval 121"/>
          <p:cNvSpPr/>
          <p:nvPr/>
        </p:nvSpPr>
        <p:spPr>
          <a:xfrm>
            <a:off x="4648200" y="2965554"/>
            <a:ext cx="152400" cy="1524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7941" y="2154020"/>
                <a:ext cx="3239798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How to efficiently do </a:t>
                </a:r>
              </a:p>
              <a:p>
                <a:r>
                  <a:rPr lang="en-US" b="1" dirty="0" err="1"/>
                  <a:t>RangeSearch</a:t>
                </a:r>
                <a:r>
                  <a:rPr lang="en-US" b="1" dirty="0"/>
                  <a:t>(</a:t>
                </a:r>
                <a:r>
                  <a:rPr lang="en-US" b="1" dirty="0">
                    <a:solidFill>
                      <a:srgbClr val="0070C0"/>
                    </a:solidFill>
                  </a:rPr>
                  <a:t>T</a:t>
                </a:r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) ?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41" y="2154020"/>
                <a:ext cx="3239798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1311" t="-3704" r="-2247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Group 98"/>
          <p:cNvGrpSpPr/>
          <p:nvPr/>
        </p:nvGrpSpPr>
        <p:grpSpPr>
          <a:xfrm>
            <a:off x="3657600" y="2081305"/>
            <a:ext cx="1021297" cy="3709895"/>
            <a:chOff x="3657600" y="2081305"/>
            <a:chExt cx="1021297" cy="3709895"/>
          </a:xfrm>
        </p:grpSpPr>
        <p:cxnSp>
          <p:nvCxnSpPr>
            <p:cNvPr id="100" name="Straight Connector 99"/>
            <p:cNvCxnSpPr/>
            <p:nvPr/>
          </p:nvCxnSpPr>
          <p:spPr>
            <a:xfrm>
              <a:off x="3657600" y="5334000"/>
              <a:ext cx="304800" cy="4572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H="1">
              <a:off x="3657600" y="5006882"/>
              <a:ext cx="327118" cy="327118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3787682" y="4473482"/>
              <a:ext cx="304800" cy="425636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H="1">
              <a:off x="3762375" y="4092482"/>
              <a:ext cx="244661" cy="28287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H="1">
              <a:off x="4092482" y="3679529"/>
              <a:ext cx="244661" cy="28287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H="1">
              <a:off x="4378512" y="3083258"/>
              <a:ext cx="300385" cy="487177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4419600" y="2622364"/>
              <a:ext cx="259297" cy="35313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 flipH="1">
              <a:off x="4419600" y="2081305"/>
              <a:ext cx="248711" cy="433295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4754593" y="3052623"/>
            <a:ext cx="1417607" cy="2242311"/>
            <a:chOff x="4754593" y="3052623"/>
            <a:chExt cx="1417607" cy="2242311"/>
          </a:xfrm>
        </p:grpSpPr>
        <p:cxnSp>
          <p:nvCxnSpPr>
            <p:cNvPr id="129" name="Straight Connector 128"/>
            <p:cNvCxnSpPr/>
            <p:nvPr/>
          </p:nvCxnSpPr>
          <p:spPr>
            <a:xfrm>
              <a:off x="4754593" y="3052623"/>
              <a:ext cx="296925" cy="398695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>
              <a:off x="5147437" y="3559082"/>
              <a:ext cx="296925" cy="398695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5540282" y="4016282"/>
              <a:ext cx="197036" cy="349436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>
              <a:off x="5830639" y="4456121"/>
              <a:ext cx="341561" cy="420679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H="1">
              <a:off x="5895975" y="5012063"/>
              <a:ext cx="244661" cy="28287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/>
              <p:cNvSpPr txBox="1"/>
              <p:nvPr/>
            </p:nvSpPr>
            <p:spPr>
              <a:xfrm>
                <a:off x="5581650" y="2205407"/>
                <a:ext cx="288123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Query time = O(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log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), </a:t>
                </a:r>
              </a:p>
            </p:txBody>
          </p:sp>
        </mc:Choice>
        <mc:Fallback xmlns="">
          <p:sp>
            <p:nvSpPr>
              <p:cNvPr id="134" name="TextBox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650" y="2205407"/>
                <a:ext cx="2881238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88" t="-6452" r="-105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ine Callout 1 4"/>
              <p:cNvSpPr/>
              <p:nvPr/>
            </p:nvSpPr>
            <p:spPr>
              <a:xfrm>
                <a:off x="2743200" y="1219200"/>
                <a:ext cx="3733800" cy="533400"/>
              </a:xfrm>
              <a:prstGeom prst="borderCallout1">
                <a:avLst>
                  <a:gd name="adj1" fmla="val 49845"/>
                  <a:gd name="adj2" fmla="val 98959"/>
                  <a:gd name="adj3" fmla="val 198835"/>
                  <a:gd name="adj4" fmla="val 121538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Number of points with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-coordinate in range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5" name="Line Callout 1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1219200"/>
                <a:ext cx="3733800" cy="533400"/>
              </a:xfrm>
              <a:prstGeom prst="borderCallout1">
                <a:avLst>
                  <a:gd name="adj1" fmla="val 49845"/>
                  <a:gd name="adj2" fmla="val 98959"/>
                  <a:gd name="adj3" fmla="val 198835"/>
                  <a:gd name="adj4" fmla="val 121538"/>
                </a:avLst>
              </a:prstGeom>
              <a:blipFill rotWithShape="1">
                <a:blip r:embed="rId7"/>
                <a:stretch>
                  <a:fillRect t="-6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76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8" grpId="0" animBg="1"/>
      <p:bldP spid="134" grpId="0" animBg="1"/>
      <p:bldP spid="134" grpId="1" animBg="1"/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4430730" y="38862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4343400" y="3429000"/>
            <a:ext cx="419100" cy="4572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should we </a:t>
            </a:r>
            <a:r>
              <a:rPr lang="en-US" sz="3200" b="1" dirty="0">
                <a:solidFill>
                  <a:srgbClr val="7030A0"/>
                </a:solidFill>
              </a:rPr>
              <a:t>augment</a:t>
            </a:r>
            <a:r>
              <a:rPr lang="en-US" sz="3200" b="1" dirty="0"/>
              <a:t> each node?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429000" y="2590800"/>
            <a:ext cx="2209800" cy="21336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352800" y="1676400"/>
            <a:ext cx="914400" cy="91440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3886200"/>
            <a:ext cx="6858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4400" y="3886200"/>
            <a:ext cx="68580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2667000"/>
            <a:ext cx="7620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1000" y="2971800"/>
            <a:ext cx="838200" cy="228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Color-bit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410200" y="4343400"/>
            <a:ext cx="914400" cy="91440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590800" y="4343400"/>
            <a:ext cx="1066800" cy="91440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>
            <a:off x="2057400" y="5181600"/>
            <a:ext cx="1143000" cy="1547827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5715000" y="5233973"/>
            <a:ext cx="1143000" cy="1547827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191000" y="3276600"/>
            <a:ext cx="838200" cy="4572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Y-tree</a:t>
            </a:r>
          </a:p>
        </p:txBody>
      </p:sp>
      <p:sp>
        <p:nvSpPr>
          <p:cNvPr id="20" name="Isosceles Triangle 19"/>
          <p:cNvSpPr/>
          <p:nvPr/>
        </p:nvSpPr>
        <p:spPr>
          <a:xfrm rot="16200000">
            <a:off x="7086600" y="1981200"/>
            <a:ext cx="1676400" cy="2233627"/>
          </a:xfrm>
          <a:prstGeom prst="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urved Connector 21"/>
          <p:cNvCxnSpPr>
            <a:endCxn id="20" idx="0"/>
          </p:cNvCxnSpPr>
          <p:nvPr/>
        </p:nvCxnSpPr>
        <p:spPr>
          <a:xfrm flipV="1">
            <a:off x="5014164" y="3098014"/>
            <a:ext cx="1793823" cy="388601"/>
          </a:xfrm>
          <a:prstGeom prst="curvedConnector3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ine Callout 1 26"/>
          <p:cNvSpPr/>
          <p:nvPr/>
        </p:nvSpPr>
        <p:spPr>
          <a:xfrm>
            <a:off x="7467600" y="4343400"/>
            <a:ext cx="1447800" cy="1066800"/>
          </a:xfrm>
          <a:prstGeom prst="borderCallout1">
            <a:avLst>
              <a:gd name="adj1" fmla="val 2368"/>
              <a:gd name="adj2" fmla="val 50204"/>
              <a:gd name="adj3" fmla="val -820"/>
              <a:gd name="adj4" fmla="val 5007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BST storing </a:t>
            </a:r>
            <a:r>
              <a:rPr lang="en-US" b="1" dirty="0">
                <a:solidFill>
                  <a:schemeClr val="tx1"/>
                </a:solidFill>
              </a:rPr>
              <a:t>T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dirty="0">
                <a:solidFill>
                  <a:schemeClr val="tx1"/>
                </a:solidFill>
              </a:rPr>
              <a:t>) according to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chemeClr val="tx1"/>
                </a:solidFill>
              </a:rPr>
              <a:t>-coordinate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6482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</a:t>
            </a:r>
            <a:endParaRPr lang="en-US" dirty="0"/>
          </a:p>
        </p:txBody>
      </p:sp>
      <p:sp>
        <p:nvSpPr>
          <p:cNvPr id="5" name="Left Brace 4"/>
          <p:cNvSpPr/>
          <p:nvPr/>
        </p:nvSpPr>
        <p:spPr>
          <a:xfrm>
            <a:off x="838200" y="2666999"/>
            <a:ext cx="384048" cy="40624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4495800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</a:t>
            </a:r>
            <a:r>
              <a:rPr lang="en-US" dirty="0"/>
              <a:t>(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dirty="0"/>
              <a:t>)</a:t>
            </a:r>
          </a:p>
        </p:txBody>
      </p:sp>
      <p:sp>
        <p:nvSpPr>
          <p:cNvPr id="24" name="Down Ribbon 23"/>
          <p:cNvSpPr/>
          <p:nvPr/>
        </p:nvSpPr>
        <p:spPr>
          <a:xfrm>
            <a:off x="69695" y="1612866"/>
            <a:ext cx="3359305" cy="1282734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Augment each  node 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with a pointer to another </a:t>
            </a:r>
            <a:r>
              <a:rPr lang="en-US" sz="1600" b="1" dirty="0">
                <a:solidFill>
                  <a:schemeClr val="tx1"/>
                </a:solidFill>
              </a:rPr>
              <a:t>BST</a:t>
            </a:r>
            <a:r>
              <a:rPr lang="en-US" sz="1600" dirty="0">
                <a:solidFill>
                  <a:schemeClr val="tx1"/>
                </a:solidFill>
              </a:rPr>
              <a:t> storing all points of </a:t>
            </a:r>
            <a:r>
              <a:rPr lang="en-US" sz="1600" b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b="1" dirty="0">
                <a:solidFill>
                  <a:srgbClr val="0070C0"/>
                </a:solidFill>
              </a:rPr>
              <a:t>v</a:t>
            </a:r>
            <a:r>
              <a:rPr lang="en-US" sz="1600" dirty="0">
                <a:solidFill>
                  <a:schemeClr val="tx1"/>
                </a:solidFill>
              </a:rPr>
              <a:t>) according  to  </a:t>
            </a:r>
            <a:r>
              <a:rPr lang="en-US" sz="1600" dirty="0">
                <a:solidFill>
                  <a:srgbClr val="C00000"/>
                </a:solidFill>
              </a:rPr>
              <a:t>y</a:t>
            </a:r>
            <a:r>
              <a:rPr lang="en-US" sz="1600" dirty="0">
                <a:solidFill>
                  <a:schemeClr val="tx1"/>
                </a:solidFill>
              </a:rPr>
              <a:t>-coordinates.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12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50"/>
                            </p:stCondLst>
                            <p:childTnLst>
                              <p:par>
                                <p:cTn id="7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1" grpId="0" animBg="1"/>
      <p:bldP spid="2" grpId="0"/>
      <p:bldP spid="6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8" grpId="0" animBg="1"/>
      <p:bldP spid="19" grpId="0" animBg="1"/>
      <p:bldP spid="20" grpId="0" animBg="1"/>
      <p:bldP spid="27" grpId="0" animBg="1"/>
      <p:bldP spid="23" grpId="0"/>
      <p:bldP spid="5" grpId="0" animBg="1"/>
      <p:bldP spid="7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indent="0"/>
                <a:r>
                  <a:rPr lang="en-US" sz="3600" b="1" dirty="0"/>
                  <a:t>RangeSearch(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600" b="1" dirty="0"/>
                  <a:t>,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3600" b="1" dirty="0"/>
                  <a:t>)</a:t>
                </a:r>
                <a:br>
                  <a:rPr lang="en-US" sz="3600" b="1" dirty="0"/>
                </a:br>
                <a:endParaRPr lang="en-US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0106" b="-2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/>
              <a:lstStyle/>
              <a:p>
                <a:r>
                  <a:rPr lang="en-US" sz="2000" dirty="0"/>
                  <a:t>For each </a:t>
                </a:r>
                <a:r>
                  <a:rPr lang="en-US" sz="2000" dirty="0" err="1"/>
                  <a:t>subtree</a:t>
                </a:r>
                <a:r>
                  <a:rPr lang="en-US" sz="2000" dirty="0"/>
                  <a:t>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) whose all points belong to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),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perform </a:t>
                </a:r>
                <a:r>
                  <a:rPr lang="en-US" sz="2000" b="1" dirty="0" err="1"/>
                  <a:t>RangeSearch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C00000"/>
                    </a:solidFill>
                  </a:rPr>
                  <a:t>Y-tree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3"/>
                <a:stretch>
                  <a:fillRect l="-741" t="-602" b="-18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cxnSp>
        <p:nvCxnSpPr>
          <p:cNvPr id="40" name="Straight Arrow Connector 39"/>
          <p:cNvCxnSpPr>
            <a:stCxn id="23" idx="3"/>
          </p:cNvCxnSpPr>
          <p:nvPr/>
        </p:nvCxnSpPr>
        <p:spPr>
          <a:xfrm flipH="1">
            <a:off x="3756118" y="4092482"/>
            <a:ext cx="250918" cy="2838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3657600" y="2035082"/>
            <a:ext cx="1151379" cy="2460718"/>
            <a:chOff x="3657600" y="2035082"/>
            <a:chExt cx="1151379" cy="2460718"/>
          </a:xfrm>
        </p:grpSpPr>
        <p:grpSp>
          <p:nvGrpSpPr>
            <p:cNvPr id="42" name="Group 41"/>
            <p:cNvGrpSpPr/>
            <p:nvPr/>
          </p:nvGrpSpPr>
          <p:grpSpPr>
            <a:xfrm>
              <a:off x="3984718" y="2035082"/>
              <a:ext cx="824261" cy="2079718"/>
              <a:chOff x="4191000" y="2057400"/>
              <a:chExt cx="824261" cy="2079718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191000" y="2176338"/>
                <a:ext cx="824261" cy="1960780"/>
                <a:chOff x="4191000" y="2176338"/>
                <a:chExt cx="824261" cy="1960780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>
                <a:xfrm flipH="1">
                  <a:off x="4628678" y="2176338"/>
                  <a:ext cx="174718" cy="32711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4495800" y="2514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Arrow Connector 15"/>
                <p:cNvCxnSpPr>
                  <a:stCxn id="15" idx="5"/>
                  <a:endCxn id="20" idx="1"/>
                </p:cNvCxnSpPr>
                <p:nvPr/>
              </p:nvCxnSpPr>
              <p:spPr>
                <a:xfrm>
                  <a:off x="4625882" y="2644682"/>
                  <a:ext cx="259297" cy="35313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>
                  <a:endCxn id="22" idx="0"/>
                </p:cNvCxnSpPr>
                <p:nvPr/>
              </p:nvCxnSpPr>
              <p:spPr>
                <a:xfrm flipH="1">
                  <a:off x="4572000" y="3124200"/>
                  <a:ext cx="304800" cy="4572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4862861" y="2975494"/>
                  <a:ext cx="152400" cy="152400"/>
                </a:xfrm>
                <a:prstGeom prst="ellipse">
                  <a:avLst/>
                </a:prstGeom>
                <a:solidFill>
                  <a:srgbClr val="00206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495800" y="3581400"/>
                  <a:ext cx="152400" cy="152400"/>
                </a:xfrm>
                <a:prstGeom prst="ellipse">
                  <a:avLst/>
                </a:prstGeom>
                <a:solidFill>
                  <a:srgbClr val="00206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4191000" y="3984718"/>
                  <a:ext cx="152400" cy="152400"/>
                </a:xfrm>
                <a:prstGeom prst="ellipse">
                  <a:avLst/>
                </a:prstGeom>
                <a:solidFill>
                  <a:srgbClr val="00206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/>
                <p:cNvCxnSpPr>
                  <a:stCxn id="22" idx="3"/>
                </p:cNvCxnSpPr>
                <p:nvPr/>
              </p:nvCxnSpPr>
              <p:spPr>
                <a:xfrm flipH="1">
                  <a:off x="4267200" y="3711482"/>
                  <a:ext cx="250918" cy="276285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48006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36576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35430" y="2622364"/>
            <a:ext cx="381000" cy="599965"/>
            <a:chOff x="6705600" y="2209800"/>
            <a:chExt cx="381000" cy="599965"/>
          </a:xfrm>
        </p:grpSpPr>
        <p:sp>
          <p:nvSpPr>
            <p:cNvPr id="7" name="Isosceles Triangle 6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858000" y="2209800"/>
              <a:ext cx="2286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4800600" y="3591035"/>
            <a:ext cx="304800" cy="599965"/>
            <a:chOff x="6705600" y="2209800"/>
            <a:chExt cx="304800" cy="599965"/>
          </a:xfrm>
        </p:grpSpPr>
        <p:sp>
          <p:nvSpPr>
            <p:cNvPr id="55" name="Isosceles Triangle 5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105400" y="4048235"/>
            <a:ext cx="304800" cy="599965"/>
            <a:chOff x="6705600" y="2209800"/>
            <a:chExt cx="304800" cy="599965"/>
          </a:xfrm>
        </p:grpSpPr>
        <p:sp>
          <p:nvSpPr>
            <p:cNvPr id="58" name="Isosceles Triangle 5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5486400" y="4495800"/>
            <a:ext cx="304800" cy="599965"/>
            <a:chOff x="6705600" y="2209800"/>
            <a:chExt cx="304800" cy="599965"/>
          </a:xfrm>
        </p:grpSpPr>
        <p:sp>
          <p:nvSpPr>
            <p:cNvPr id="68" name="Isosceles Triangle 6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352800" y="4473482"/>
            <a:ext cx="327118" cy="546083"/>
            <a:chOff x="6705600" y="2263682"/>
            <a:chExt cx="327118" cy="546083"/>
          </a:xfrm>
        </p:grpSpPr>
        <p:sp>
          <p:nvSpPr>
            <p:cNvPr id="71" name="Isosceles Triangle 70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>
              <a:stCxn id="34" idx="3"/>
            </p:cNvCxnSpPr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419600" y="3626036"/>
            <a:ext cx="304800" cy="564964"/>
            <a:chOff x="6705600" y="2244801"/>
            <a:chExt cx="304800" cy="564964"/>
          </a:xfrm>
        </p:grpSpPr>
        <p:sp>
          <p:nvSpPr>
            <p:cNvPr id="76" name="Isosceles Triangle 75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114800" y="4083236"/>
            <a:ext cx="304800" cy="564964"/>
            <a:chOff x="6705600" y="2244801"/>
            <a:chExt cx="304800" cy="564964"/>
          </a:xfrm>
        </p:grpSpPr>
        <p:sp>
          <p:nvSpPr>
            <p:cNvPr id="79" name="Isosceles Triangle 78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Arrow Connector 80"/>
          <p:cNvCxnSpPr/>
          <p:nvPr/>
        </p:nvCxnSpPr>
        <p:spPr>
          <a:xfrm>
            <a:off x="3787682" y="4473482"/>
            <a:ext cx="273236" cy="4033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2400" y="4876800"/>
            <a:ext cx="152400" cy="152400"/>
          </a:xfrm>
          <a:prstGeom prst="ellipse">
            <a:avLst/>
          </a:prstGeom>
          <a:solidFill>
            <a:srgbClr val="00206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82" idx="3"/>
          </p:cNvCxnSpPr>
          <p:nvPr/>
        </p:nvCxnSpPr>
        <p:spPr>
          <a:xfrm flipH="1">
            <a:off x="3689164" y="5006882"/>
            <a:ext cx="295554" cy="3524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81400" y="5334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4114800" y="4997636"/>
            <a:ext cx="304800" cy="512591"/>
            <a:chOff x="6705600" y="2244801"/>
            <a:chExt cx="304800" cy="512591"/>
          </a:xfrm>
        </p:grpSpPr>
        <p:sp>
          <p:nvSpPr>
            <p:cNvPr id="90" name="Isosceles Triangle 89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4085079" y="5844955"/>
            <a:ext cx="304800" cy="564964"/>
            <a:chOff x="6705600" y="2244801"/>
            <a:chExt cx="304800" cy="564964"/>
          </a:xfrm>
        </p:grpSpPr>
        <p:sp>
          <p:nvSpPr>
            <p:cNvPr id="93" name="Isosceles Triangle 9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/>
          <p:cNvCxnSpPr/>
          <p:nvPr/>
        </p:nvCxnSpPr>
        <p:spPr>
          <a:xfrm>
            <a:off x="3733800" y="5486400"/>
            <a:ext cx="223035" cy="2931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3657600" y="5854717"/>
            <a:ext cx="327118" cy="546083"/>
            <a:chOff x="6705600" y="2263682"/>
            <a:chExt cx="327118" cy="546083"/>
          </a:xfrm>
        </p:grpSpPr>
        <p:sp>
          <p:nvSpPr>
            <p:cNvPr id="103" name="Isosceles Triangle 10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6248400" y="4973809"/>
            <a:ext cx="304800" cy="512591"/>
            <a:chOff x="6705600" y="2244801"/>
            <a:chExt cx="304800" cy="512591"/>
          </a:xfrm>
        </p:grpSpPr>
        <p:sp>
          <p:nvSpPr>
            <p:cNvPr id="106" name="Isosceles Triangle 105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5867400" y="5431009"/>
            <a:ext cx="304800" cy="512591"/>
            <a:chOff x="6705600" y="2244801"/>
            <a:chExt cx="304800" cy="512591"/>
          </a:xfrm>
        </p:grpSpPr>
        <p:sp>
          <p:nvSpPr>
            <p:cNvPr id="109" name="Isosceles Triangle 108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3276600" y="5473717"/>
            <a:ext cx="327118" cy="546083"/>
            <a:chOff x="6705600" y="2263682"/>
            <a:chExt cx="327118" cy="546083"/>
          </a:xfrm>
        </p:grpSpPr>
        <p:sp>
          <p:nvSpPr>
            <p:cNvPr id="112" name="Isosceles Triangle 111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5410200" y="5410200"/>
            <a:ext cx="327118" cy="546083"/>
            <a:chOff x="6705600" y="2263682"/>
            <a:chExt cx="327118" cy="546083"/>
          </a:xfrm>
        </p:grpSpPr>
        <p:sp>
          <p:nvSpPr>
            <p:cNvPr id="115" name="Isosceles Triangle 11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Isosceles Triangle 116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noFill/>
          <a:ln w="6350">
            <a:solidFill>
              <a:srgbClr val="006C3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5" name="Group 84"/>
          <p:cNvGrpSpPr/>
          <p:nvPr/>
        </p:nvGrpSpPr>
        <p:grpSpPr>
          <a:xfrm>
            <a:off x="4808980" y="2831068"/>
            <a:ext cx="2204449" cy="369332"/>
            <a:chOff x="4808980" y="2831068"/>
            <a:chExt cx="2204449" cy="369332"/>
          </a:xfrm>
        </p:grpSpPr>
        <p:cxnSp>
          <p:nvCxnSpPr>
            <p:cNvPr id="86" name="Straight Arrow Connector 85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6477000" y="2831068"/>
              <a:ext cx="536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</a:t>
              </a: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3810000" y="5410200"/>
            <a:ext cx="481157" cy="457200"/>
            <a:chOff x="4876800" y="4659868"/>
            <a:chExt cx="481157" cy="457200"/>
          </a:xfrm>
        </p:grpSpPr>
        <p:sp>
          <p:nvSpPr>
            <p:cNvPr id="119" name="Oval 118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0127" t="-8333" r="-2151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Group 120"/>
          <p:cNvGrpSpPr/>
          <p:nvPr/>
        </p:nvGrpSpPr>
        <p:grpSpPr>
          <a:xfrm>
            <a:off x="5562600" y="4953000"/>
            <a:ext cx="481157" cy="457200"/>
            <a:chOff x="4876800" y="4659868"/>
            <a:chExt cx="481157" cy="457200"/>
          </a:xfrm>
        </p:grpSpPr>
        <p:sp>
          <p:nvSpPr>
            <p:cNvPr id="122" name="Oval 121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/>
                <p:cNvSpPr txBox="1"/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3" name="TextBox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659868"/>
                  <a:ext cx="48115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1538" t="-8333" r="-2307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4" name="Isosceles Triangle 123"/>
          <p:cNvSpPr/>
          <p:nvPr/>
        </p:nvSpPr>
        <p:spPr>
          <a:xfrm rot="16200000">
            <a:off x="4572000" y="3721886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Isosceles Triangle 124"/>
          <p:cNvSpPr/>
          <p:nvPr/>
        </p:nvSpPr>
        <p:spPr>
          <a:xfrm rot="16200000">
            <a:off x="4279114" y="4179086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Isosceles Triangle 125"/>
          <p:cNvSpPr/>
          <p:nvPr/>
        </p:nvSpPr>
        <p:spPr>
          <a:xfrm rot="16200000">
            <a:off x="4255286" y="5017287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Isosceles Triangle 126"/>
          <p:cNvSpPr/>
          <p:nvPr/>
        </p:nvSpPr>
        <p:spPr>
          <a:xfrm rot="16200000">
            <a:off x="4202914" y="5931686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Isosceles Triangle 127"/>
          <p:cNvSpPr/>
          <p:nvPr/>
        </p:nvSpPr>
        <p:spPr>
          <a:xfrm rot="16200000">
            <a:off x="5626886" y="5474487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Isosceles Triangle 128"/>
          <p:cNvSpPr/>
          <p:nvPr/>
        </p:nvSpPr>
        <p:spPr>
          <a:xfrm rot="16200000">
            <a:off x="5650714" y="4636286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Isosceles Triangle 129"/>
          <p:cNvSpPr/>
          <p:nvPr/>
        </p:nvSpPr>
        <p:spPr>
          <a:xfrm rot="16200000">
            <a:off x="5269714" y="4179087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Isosceles Triangle 130"/>
          <p:cNvSpPr/>
          <p:nvPr/>
        </p:nvSpPr>
        <p:spPr>
          <a:xfrm rot="16200000">
            <a:off x="4964914" y="3721887"/>
            <a:ext cx="304800" cy="328627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200" y="990600"/>
            <a:ext cx="4495800" cy="4333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3400" y="4491335"/>
                <a:ext cx="2114233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Hence Query time =</a:t>
                </a:r>
              </a:p>
              <a:p>
                <a:r>
                  <a:rPr lang="en-US" dirty="0"/>
                  <a:t> O(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),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1335"/>
                <a:ext cx="2114233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2299" t="-3704" r="-4023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Down Ribbon 7"/>
              <p:cNvSpPr/>
              <p:nvPr/>
            </p:nvSpPr>
            <p:spPr>
              <a:xfrm>
                <a:off x="0" y="1828801"/>
                <a:ext cx="3935430" cy="1676399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For each such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subtree</a:t>
                </a:r>
                <a:r>
                  <a:rPr lang="en-US" sz="1600" dirty="0">
                    <a:solidFill>
                      <a:schemeClr val="tx1"/>
                    </a:solidFill>
                  </a:rPr>
                  <a:t>, time complexity will be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O</a:t>
                </a:r>
                <a:r>
                  <a:rPr lang="en-US" sz="16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/>
                      </a:rPr>
                      <m:t>lo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</a:rPr>
                      <m:t>𝑔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), where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are the points present in that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subtree</a:t>
                </a:r>
                <a:r>
                  <a:rPr lang="en-US" sz="1600" dirty="0">
                    <a:solidFill>
                      <a:schemeClr val="tx1"/>
                    </a:solidFill>
                  </a:rPr>
                  <a:t> that belong to rectangle(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). </a:t>
                </a:r>
              </a:p>
            </p:txBody>
          </p:sp>
        </mc:Choice>
        <mc:Fallback xmlns="">
          <p:sp>
            <p:nvSpPr>
              <p:cNvPr id="8" name="Down Ribbon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28801"/>
                <a:ext cx="3935430" cy="1676399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7"/>
                <a:stretch>
                  <a:fillRect b="-1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Down Ribbon 8"/>
              <p:cNvSpPr/>
              <p:nvPr/>
            </p:nvSpPr>
            <p:spPr>
              <a:xfrm>
                <a:off x="0" y="3581400"/>
                <a:ext cx="34290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There are 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chemeClr val="tx1"/>
                        </a:solidFill>
                        <a:latin typeface="Cambria Math"/>
                      </a:rPr>
                      <m:t>lo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/>
                      </a:rPr>
                      <m:t>𝑔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 such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subtrees</a:t>
                </a:r>
                <a:r>
                  <a:rPr lang="en-US" sz="1600" dirty="0">
                    <a:solidFill>
                      <a:schemeClr val="tx1"/>
                    </a:solidFill>
                  </a:rPr>
                  <a:t>.  </a:t>
                </a:r>
                <a:endParaRPr lang="en-US" sz="1600" dirty="0"/>
              </a:p>
            </p:txBody>
          </p:sp>
        </mc:Choice>
        <mc:Fallback xmlns="">
          <p:sp>
            <p:nvSpPr>
              <p:cNvPr id="9" name="Down Ribbon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81400"/>
                <a:ext cx="34290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64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 animBg="1"/>
      <p:bldP spid="130" grpId="1" animBg="1"/>
      <p:bldP spid="131" grpId="0" animBg="1"/>
      <p:bldP spid="131" grpId="1" animBg="1"/>
      <p:bldP spid="5" grpId="0" animBg="1"/>
      <p:bldP spid="6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Space</a:t>
            </a:r>
            <a:r>
              <a:rPr lang="en-US" sz="3600" b="1" dirty="0">
                <a:solidFill>
                  <a:srgbClr val="002060"/>
                </a:solidFill>
              </a:rPr>
              <a:t> of the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Consider all the nodes at level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219450" y="2209800"/>
            <a:ext cx="5490169" cy="4343400"/>
            <a:chOff x="3219450" y="2209800"/>
            <a:chExt cx="5490169" cy="43434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4419600" y="2438400"/>
              <a:ext cx="46045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267200" y="2743200"/>
              <a:ext cx="838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114800" y="3048000"/>
              <a:ext cx="1219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810000" y="3352800"/>
              <a:ext cx="1676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1"/>
              <a:endCxn id="5" idx="5"/>
            </p:cNvCxnSpPr>
            <p:nvPr/>
          </p:nvCxnSpPr>
          <p:spPr>
            <a:xfrm>
              <a:off x="3219450" y="4267200"/>
              <a:ext cx="29337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105400" y="2209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37114" y="2514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562600" y="2819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94314" y="3135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6383076" y="40386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3076" y="4038600"/>
                  <a:ext cx="32252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333" r="-2452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7696200" y="6183868"/>
                  <a:ext cx="10134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tx1"/>
                      </a:solidFill>
                    </a:rPr>
                    <a:t>O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(Log</a:t>
                  </a:r>
                  <a:r>
                    <a:rPr lang="en-US" b="1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𝒏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200" y="6183868"/>
                  <a:ext cx="101341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5422" t="-8197" r="-963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/>
            <p:cNvSpPr txBox="1"/>
            <p:nvPr/>
          </p:nvSpPr>
          <p:spPr>
            <a:xfrm rot="5400000">
              <a:off x="4601072" y="362852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3599677">
              <a:off x="6060540" y="3552328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3599677">
              <a:off x="6883773" y="4703857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 rot="5400000">
              <a:off x="4601072" y="468894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</p:grpSp>
      <p:sp>
        <p:nvSpPr>
          <p:cNvPr id="37" name="Oval 36"/>
          <p:cNvSpPr/>
          <p:nvPr/>
        </p:nvSpPr>
        <p:spPr>
          <a:xfrm>
            <a:off x="4038600" y="4184612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124200" y="4184612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029200" y="4191000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9800" y="4191000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3379437" y="6412468"/>
            <a:ext cx="256416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BST before augmentation</a:t>
            </a:r>
          </a:p>
        </p:txBody>
      </p:sp>
    </p:spTree>
    <p:extLst>
      <p:ext uri="{BB962C8B-B14F-4D97-AF65-F5344CB8AC3E}">
        <p14:creationId xmlns:p14="http://schemas.microsoft.com/office/powerpoint/2010/main" val="171973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Space</a:t>
            </a:r>
            <a:r>
              <a:rPr lang="en-US" sz="3600" b="1" dirty="0">
                <a:solidFill>
                  <a:srgbClr val="002060"/>
                </a:solidFill>
              </a:rPr>
              <a:t> of the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>
                  <a:buFont typeface="Wingdings"/>
                  <a:buChar char="è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+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latin typeface="Cambria Math"/>
                      </a:rPr>
                      <m:t>+</m:t>
                    </m:r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2000" dirty="0"/>
                  <a:t> + 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&lt;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𝒏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Total space due to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y-trees</a:t>
                </a:r>
                <a:r>
                  <a:rPr lang="en-US" sz="2000" dirty="0"/>
                  <a:t> at level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: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+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+</m:t>
                    </m:r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2000" dirty="0"/>
                  <a:t> + 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=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sp>
        <p:nvSpPr>
          <p:cNvPr id="37" name="Oval 36"/>
          <p:cNvSpPr/>
          <p:nvPr/>
        </p:nvSpPr>
        <p:spPr>
          <a:xfrm>
            <a:off x="4038600" y="4184612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124200" y="4184612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029200" y="4191000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9800" y="4191000"/>
            <a:ext cx="152400" cy="15878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3219450" y="4267200"/>
            <a:ext cx="2933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383076" y="403860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076" y="4038600"/>
                <a:ext cx="32252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452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2743200" y="4343400"/>
            <a:ext cx="3810000" cy="2209800"/>
            <a:chOff x="2743200" y="4343400"/>
            <a:chExt cx="3810000" cy="2209800"/>
          </a:xfrm>
        </p:grpSpPr>
        <p:sp>
          <p:nvSpPr>
            <p:cNvPr id="7" name="Isosceles Triangle 6"/>
            <p:cNvSpPr/>
            <p:nvPr/>
          </p:nvSpPr>
          <p:spPr>
            <a:xfrm>
              <a:off x="2743200" y="4343400"/>
              <a:ext cx="838200" cy="2209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Isosceles Triangle 41"/>
            <p:cNvSpPr/>
            <p:nvPr/>
          </p:nvSpPr>
          <p:spPr>
            <a:xfrm>
              <a:off x="3657600" y="4343400"/>
              <a:ext cx="838200" cy="2209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Isosceles Triangle 42"/>
            <p:cNvSpPr/>
            <p:nvPr/>
          </p:nvSpPr>
          <p:spPr>
            <a:xfrm>
              <a:off x="4724400" y="4343400"/>
              <a:ext cx="838200" cy="2209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5715000" y="4343400"/>
              <a:ext cx="838200" cy="2209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410200" y="468894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48000" y="3657600"/>
            <a:ext cx="3228510" cy="457200"/>
            <a:chOff x="3048000" y="3657600"/>
            <a:chExt cx="3228510" cy="457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3048000" y="37338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3733800"/>
                  <a:ext cx="375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193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3891776" y="37338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6" y="3733800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96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4958577" y="37454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8577" y="3745468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xtBox 48"/>
            <p:cNvSpPr txBox="1"/>
            <p:nvPr/>
          </p:nvSpPr>
          <p:spPr>
            <a:xfrm>
              <a:off x="5410200" y="3657600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5949177" y="3733800"/>
                  <a:ext cx="327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177" y="3733800"/>
                  <a:ext cx="32733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222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2895600" y="5562600"/>
            <a:ext cx="3469934" cy="395621"/>
            <a:chOff x="2895600" y="5562600"/>
            <a:chExt cx="3469934" cy="3956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2895600" y="5574268"/>
                  <a:ext cx="497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600" y="5574268"/>
                  <a:ext cx="49718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463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3922413" y="5574268"/>
                  <a:ext cx="497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413" y="5574268"/>
                  <a:ext cx="497187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585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913013" y="5562600"/>
                  <a:ext cx="497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3013" y="5562600"/>
                  <a:ext cx="497187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14634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903613" y="5562600"/>
                  <a:ext cx="461921" cy="3956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3613" y="5562600"/>
                  <a:ext cx="461921" cy="395621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6250" r="-1710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TextBox 58"/>
          <p:cNvSpPr txBox="1"/>
          <p:nvPr/>
        </p:nvSpPr>
        <p:spPr>
          <a:xfrm>
            <a:off x="3379437" y="6412468"/>
            <a:ext cx="256416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BST before augmentation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124200" y="3886201"/>
            <a:ext cx="2209800" cy="838200"/>
            <a:chOff x="3124200" y="3886201"/>
            <a:chExt cx="2209800" cy="838200"/>
          </a:xfrm>
        </p:grpSpPr>
        <p:sp>
          <p:nvSpPr>
            <p:cNvPr id="55" name="Isosceles Triangle 54"/>
            <p:cNvSpPr/>
            <p:nvPr/>
          </p:nvSpPr>
          <p:spPr>
            <a:xfrm rot="16200000">
              <a:off x="3810000" y="3200401"/>
              <a:ext cx="838200" cy="2209800"/>
            </a:xfrm>
            <a:prstGeom prst="triangl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4227213" y="4126468"/>
                  <a:ext cx="497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7213" y="4126468"/>
                  <a:ext cx="497187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1585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4038600" y="3886201"/>
            <a:ext cx="2209800" cy="838200"/>
            <a:chOff x="4038600" y="3886201"/>
            <a:chExt cx="2209800" cy="838200"/>
          </a:xfrm>
        </p:grpSpPr>
        <p:sp>
          <p:nvSpPr>
            <p:cNvPr id="56" name="Isosceles Triangle 55"/>
            <p:cNvSpPr/>
            <p:nvPr/>
          </p:nvSpPr>
          <p:spPr>
            <a:xfrm rot="16200000">
              <a:off x="4724400" y="3200401"/>
              <a:ext cx="838200" cy="2209800"/>
            </a:xfrm>
            <a:prstGeom prst="triangl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5217813" y="4126468"/>
                  <a:ext cx="497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813" y="4126468"/>
                  <a:ext cx="497187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463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5105400" y="3886201"/>
            <a:ext cx="2209800" cy="838200"/>
            <a:chOff x="5105400" y="3886201"/>
            <a:chExt cx="2209800" cy="838200"/>
          </a:xfrm>
        </p:grpSpPr>
        <p:sp>
          <p:nvSpPr>
            <p:cNvPr id="57" name="Isosceles Triangle 56"/>
            <p:cNvSpPr/>
            <p:nvPr/>
          </p:nvSpPr>
          <p:spPr>
            <a:xfrm rot="16200000">
              <a:off x="5791200" y="3200401"/>
              <a:ext cx="838200" cy="2209800"/>
            </a:xfrm>
            <a:prstGeom prst="triangl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6096000" y="4114800"/>
                  <a:ext cx="497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114800"/>
                  <a:ext cx="497187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1463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6096000" y="3886201"/>
            <a:ext cx="2209800" cy="838200"/>
            <a:chOff x="6096000" y="3886201"/>
            <a:chExt cx="2209800" cy="838200"/>
          </a:xfrm>
        </p:grpSpPr>
        <p:sp>
          <p:nvSpPr>
            <p:cNvPr id="58" name="Isosceles Triangle 57"/>
            <p:cNvSpPr/>
            <p:nvPr/>
          </p:nvSpPr>
          <p:spPr>
            <a:xfrm rot="16200000">
              <a:off x="6781800" y="3200401"/>
              <a:ext cx="838200" cy="2209800"/>
            </a:xfrm>
            <a:prstGeom prst="triangl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7426009" y="4114800"/>
                  <a:ext cx="461921" cy="3956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𝒏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09" y="4114800"/>
                  <a:ext cx="461921" cy="395621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6154" r="-17105"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82B44A-3533-26B8-2AC9-FDFB5BBD14C1}"/>
                  </a:ext>
                </a:extLst>
              </p:cNvPr>
              <p:cNvSpPr txBox="1"/>
              <p:nvPr/>
            </p:nvSpPr>
            <p:spPr>
              <a:xfrm>
                <a:off x="152401" y="4758723"/>
                <a:ext cx="259080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Total Space = O(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log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),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82B44A-3533-26B8-2AC9-FDFB5BBD1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1" y="4758723"/>
                <a:ext cx="2590800" cy="369332"/>
              </a:xfrm>
              <a:prstGeom prst="rect">
                <a:avLst/>
              </a:prstGeom>
              <a:blipFill>
                <a:blip r:embed="rId16"/>
                <a:stretch>
                  <a:fillRect t="-6452" r="-1942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56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Write a neat &amp; compact pseudo-code of  </a:t>
                </a:r>
                <a:r>
                  <a:rPr lang="en-US" sz="2000" b="1" dirty="0"/>
                  <a:t>RangeSearch(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Show that the query time for orthogonal range searching is O(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(Difficult!) Show that orthogonal range searching can be implemented  using an O(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size data structure with query time O(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000" dirty="0"/>
                  <a:t>) and preprocessing time O(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9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For </a:t>
            </a:r>
            <a:r>
              <a:rPr lang="en-US" b="1" dirty="0">
                <a:solidFill>
                  <a:srgbClr val="7030A0"/>
                </a:solidFill>
              </a:rPr>
              <a:t>Dynamic Sequences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1" y="2133600"/>
            <a:ext cx="77724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</a:rPr>
              <a:t>Data Structure</a:t>
            </a:r>
          </a:p>
        </p:txBody>
      </p:sp>
    </p:spTree>
    <p:extLst>
      <p:ext uri="{BB962C8B-B14F-4D97-AF65-F5344CB8AC3E}">
        <p14:creationId xmlns:p14="http://schemas.microsoft.com/office/powerpoint/2010/main" val="62160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7239000" y="5334000"/>
            <a:ext cx="685800" cy="5334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172200" y="5334000"/>
            <a:ext cx="685800" cy="5334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105400" y="5334000"/>
            <a:ext cx="685800" cy="5334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114800" y="5334000"/>
            <a:ext cx="685800" cy="5334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006461" y="5334000"/>
            <a:ext cx="727339" cy="5334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33600" y="5334000"/>
            <a:ext cx="533400" cy="5334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Dynamic Sequences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22469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 : &lt;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 …,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&gt;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b="1" dirty="0"/>
                  <a:t>Report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Add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Δ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2246971"/>
              </a:xfrm>
              <a:blipFill rotWithShape="1">
                <a:blip r:embed="rId2"/>
                <a:stretch>
                  <a:fillRect l="-741" t="-1359" b="-52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86577" y="5410200"/>
            <a:ext cx="8294646" cy="381000"/>
            <a:chOff x="386577" y="5410200"/>
            <a:chExt cx="8294646" cy="38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1300976" y="5421868"/>
                  <a:ext cx="375424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0976" y="5421868"/>
                  <a:ext cx="37542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6349" r="-18750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2215377" y="5421868"/>
                  <a:ext cx="375423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5377" y="5421868"/>
                  <a:ext cx="37542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6349" r="-18750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386577" y="5410200"/>
                  <a:ext cx="375423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577" y="5410200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6452" r="-18750" b="-2258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211118" y="5421868"/>
                  <a:ext cx="513282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𝟐𝟑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1118" y="5421868"/>
                  <a:ext cx="513282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6349" r="-13953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201719" y="5421868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𝟏𝟗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1719" y="5421868"/>
                  <a:ext cx="51328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6349" r="-13793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268518" y="5421868"/>
                  <a:ext cx="513282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8518" y="5421868"/>
                  <a:ext cx="51328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6349" r="-13793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305800" y="5421868"/>
                  <a:ext cx="375423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𝟖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5421868"/>
                  <a:ext cx="375423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6349" r="-19048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7315200" y="5410200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𝟖𝟑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5410200"/>
                  <a:ext cx="513281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452" r="-13953" b="-2258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048000" y="5421868"/>
                  <a:ext cx="651139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𝟕𝟎𝟏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5421868"/>
                  <a:ext cx="651139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6349" r="-10092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775766" y="4202668"/>
                <a:ext cx="1405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Add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3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8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/>
                      </a:rPr>
                      <m:t>6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766" y="4202668"/>
                <a:ext cx="1405834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3463" t="-8197" r="-735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Up Arrow 24"/>
          <p:cNvSpPr/>
          <p:nvPr/>
        </p:nvSpPr>
        <p:spPr>
          <a:xfrm>
            <a:off x="4329684" y="6019800"/>
            <a:ext cx="242316" cy="489204"/>
          </a:xfrm>
          <a:prstGeom prst="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282394" y="64886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394" y="6488668"/>
                <a:ext cx="365806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86200" y="4202668"/>
                <a:ext cx="1317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Report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5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202668"/>
                <a:ext cx="1317477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4167" t="-8197" r="-740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988" y="5410200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8" y="5410200"/>
                <a:ext cx="369012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1967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6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22" grpId="0" animBg="1"/>
      <p:bldP spid="21" grpId="0" animBg="1"/>
      <p:bldP spid="20" grpId="0" animBg="1"/>
      <p:bldP spid="19" grpId="0" animBg="1"/>
      <p:bldP spid="2" grpId="0"/>
      <p:bldP spid="3" grpId="0" uiExpand="1" build="p"/>
      <p:bldP spid="18" grpId="0"/>
      <p:bldP spid="25" grpId="0" uiExpand="1" animBg="1"/>
      <p:bldP spid="26" grpId="0" uiExpand="1"/>
      <p:bldP spid="12" grpId="0" uiExpand="1"/>
      <p:bldP spid="12" grpId="1" uiExpand="1"/>
      <p:bldP spid="14" grpId="0" uiExpan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Dynamic Sequences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22469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 : &lt;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 …,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&gt;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b="1" dirty="0"/>
                  <a:t>Report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Add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Δ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Rotate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2246971"/>
              </a:xfrm>
              <a:blipFill rotWithShape="1">
                <a:blip r:embed="rId2"/>
                <a:stretch>
                  <a:fillRect l="-741" t="-1359" b="-85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300976" y="5421868"/>
                <a:ext cx="375424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976" y="5421868"/>
                <a:ext cx="37542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6349" r="-1875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15377" y="5421868"/>
                <a:ext cx="37542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377" y="5421868"/>
                <a:ext cx="375423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6349" r="-1875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6577" y="5410200"/>
                <a:ext cx="37542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𝟓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77" y="5410200"/>
                <a:ext cx="375423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452" r="-18750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305800" y="5421868"/>
                <a:ext cx="37542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𝟖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5421868"/>
                <a:ext cx="375423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19048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048000" y="5410200"/>
            <a:ext cx="4780481" cy="381000"/>
            <a:chOff x="3048000" y="5410200"/>
            <a:chExt cx="4780481" cy="38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211118" y="5421868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𝟐𝟗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1118" y="5421868"/>
                  <a:ext cx="51328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6349" r="-13953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201719" y="5421868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𝟐𝟓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1719" y="5421868"/>
                  <a:ext cx="513281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6349" r="-13793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268518" y="5421868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8518" y="5421868"/>
                  <a:ext cx="513281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6349" r="-15116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7315200" y="5410200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𝟖𝟗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5410200"/>
                  <a:ext cx="513281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6452" r="-13953" b="-2258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048000" y="5421868"/>
                  <a:ext cx="651139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𝟕𝟎𝟕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5421868"/>
                  <a:ext cx="651139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6349" r="-10092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Up Arrow 15"/>
          <p:cNvSpPr/>
          <p:nvPr/>
        </p:nvSpPr>
        <p:spPr>
          <a:xfrm>
            <a:off x="4329684" y="6019800"/>
            <a:ext cx="242316" cy="489204"/>
          </a:xfrm>
          <a:prstGeom prst="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282394" y="64886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394" y="6488668"/>
                <a:ext cx="365806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29000" y="4202668"/>
                <a:ext cx="14747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Rotate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4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8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202668"/>
                <a:ext cx="1474763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3734" t="-8197" r="-74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/>
          <p:cNvGrpSpPr/>
          <p:nvPr/>
        </p:nvGrpSpPr>
        <p:grpSpPr>
          <a:xfrm>
            <a:off x="3144319" y="5410200"/>
            <a:ext cx="4745820" cy="381000"/>
            <a:chOff x="3144319" y="5410200"/>
            <a:chExt cx="4745820" cy="38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211118" y="5421868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𝟒𝟕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1118" y="5421868"/>
                  <a:ext cx="513281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6349" r="-13953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5201719" y="5421868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𝟐𝟓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1719" y="5421868"/>
                  <a:ext cx="513281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6349" r="-13793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268518" y="5421868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𝟐𝟗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8518" y="5421868"/>
                  <a:ext cx="513281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6349" r="-15116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7239000" y="5410200"/>
                  <a:ext cx="651139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𝟕𝟎𝟕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5410200"/>
                  <a:ext cx="651139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6452" r="-11111" b="-2258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3144319" y="5410200"/>
                  <a:ext cx="513281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𝟖𝟗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4319" y="5410200"/>
                  <a:ext cx="513281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6452" r="-13953" b="-2258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988" y="5410200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/>
                        </a:rPr>
                        <m:t>𝑺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8" y="5410200"/>
                <a:ext cx="369012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333" r="-1967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423120" y="2753009"/>
                <a:ext cx="934038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≈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120" y="2753009"/>
                <a:ext cx="934038" cy="369332"/>
              </a:xfrm>
              <a:prstGeom prst="rect">
                <a:avLst/>
              </a:prstGeom>
              <a:blipFill rotWithShape="1">
                <a:blip r:embed="rId19"/>
                <a:stretch>
                  <a:fillRect l="-5161" t="-6452" r="-9677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752600" y="5421868"/>
                <a:ext cx="51328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𝟔𝟖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5421868"/>
                <a:ext cx="513282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6349" r="-1395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09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18" grpId="0"/>
      <p:bldP spid="24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Dynamic Sequence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A sequence: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 :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maintain a data structure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 for the sequence under the following operations.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Basic Operations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Insert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): Insert element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place in the sequence.</a:t>
                </a:r>
              </a:p>
              <a:p>
                <a:r>
                  <a:rPr lang="en-US" sz="2000" b="1" dirty="0"/>
                  <a:t>Delete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Delete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sequence.</a:t>
                </a:r>
              </a:p>
              <a:p>
                <a:r>
                  <a:rPr lang="en-US" sz="2000" b="1" dirty="0"/>
                  <a:t>Report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Report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Application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specific operation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Min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): report minimum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.  </a:t>
                </a:r>
              </a:p>
              <a:p>
                <a:r>
                  <a:rPr lang="en-US" sz="2000" b="1" dirty="0"/>
                  <a:t>Add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i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): Add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all elements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Flip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): Flip all bits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  <a:blipFill rotWithShape="1">
                <a:blip r:embed="rId2"/>
                <a:stretch>
                  <a:fillRect l="-741" t="-641" r="-296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705600" y="5029200"/>
            <a:ext cx="4619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5498068"/>
            <a:ext cx="4619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0" y="1447800"/>
            <a:ext cx="19812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0" y="3276600"/>
            <a:ext cx="48006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3581400"/>
            <a:ext cx="48006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09800" y="4038600"/>
            <a:ext cx="48006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57400" y="5105400"/>
            <a:ext cx="4572000" cy="392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86000" y="5474732"/>
            <a:ext cx="4419600" cy="392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981200" y="5855732"/>
            <a:ext cx="4495800" cy="392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429000" y="2057400"/>
            <a:ext cx="5105400" cy="3810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6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Representing </a:t>
            </a:r>
            <a:r>
              <a:rPr lang="en-US" sz="3200" b="1" dirty="0">
                <a:solidFill>
                  <a:srgbClr val="7030A0"/>
                </a:solidFill>
              </a:rPr>
              <a:t>sequence</a:t>
            </a:r>
            <a:r>
              <a:rPr lang="en-US" sz="3200" b="1" dirty="0"/>
              <a:t> using a </a:t>
            </a:r>
            <a:r>
              <a:rPr lang="en-US" sz="3200" b="1" dirty="0">
                <a:solidFill>
                  <a:srgbClr val="006C31"/>
                </a:solidFill>
              </a:rPr>
              <a:t>BST </a:t>
            </a:r>
            <a:endParaRPr lang="en-US" sz="2400" u="sng" dirty="0">
              <a:solidFill>
                <a:srgbClr val="006C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A sequence: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dirty="0"/>
                  <a:t>,…,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𝟏𝟑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𝟏𝟒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𝟑𝟐</m:t>
                    </m:r>
                  </m:oMath>
                </a14:m>
                <a:r>
                  <a:rPr lang="en-US" sz="2400" dirty="0"/>
                  <a:t>.</a:t>
                </a: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“</a:t>
                </a:r>
                <a:r>
                  <a:rPr lang="en-US" sz="2000" dirty="0" err="1"/>
                  <a:t>Inorder</a:t>
                </a:r>
                <a:r>
                  <a:rPr lang="en-US" sz="2000" dirty="0"/>
                  <a:t> traversal produces the sequence.”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105400"/>
              </a:xfrm>
              <a:blipFill rotWithShape="1">
                <a:blip r:embed="rId2"/>
                <a:stretch>
                  <a:fillRect l="-1111" t="-956" b="-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590472" y="2727960"/>
            <a:ext cx="4244502" cy="2609757"/>
            <a:chOff x="2590472" y="2727960"/>
            <a:chExt cx="4244502" cy="2609757"/>
          </a:xfrm>
        </p:grpSpPr>
        <p:cxnSp>
          <p:nvCxnSpPr>
            <p:cNvPr id="40" name="Straight Arrow Connector 39"/>
            <p:cNvCxnSpPr>
              <a:stCxn id="34" idx="3"/>
            </p:cNvCxnSpPr>
            <p:nvPr/>
          </p:nvCxnSpPr>
          <p:spPr>
            <a:xfrm flipH="1">
              <a:off x="2819927" y="3747891"/>
              <a:ext cx="531595" cy="593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2590472" y="2727960"/>
              <a:ext cx="4244502" cy="2609757"/>
              <a:chOff x="2590472" y="2727960"/>
              <a:chExt cx="4244502" cy="2609757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246996" y="5017677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2590472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876801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250666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543998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591559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308908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4634690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>
                <a:stCxn id="35" idx="3"/>
                <a:endCxn id="34" idx="7"/>
              </p:cNvCxnSpPr>
              <p:nvPr/>
            </p:nvCxnSpPr>
            <p:spPr>
              <a:xfrm flipH="1">
                <a:off x="3557271" y="3001131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4871286" y="2985484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endCxn id="32" idx="1"/>
              </p:cNvCxnSpPr>
              <p:nvPr/>
            </p:nvCxnSpPr>
            <p:spPr>
              <a:xfrm>
                <a:off x="6129470" y="3766103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>
                <a:stCxn id="33" idx="3"/>
                <a:endCxn id="31" idx="7"/>
              </p:cNvCxnSpPr>
              <p:nvPr/>
            </p:nvCxnSpPr>
            <p:spPr>
              <a:xfrm flipH="1">
                <a:off x="5499029" y="3747891"/>
                <a:ext cx="459180" cy="6271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3518720" y="3762167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>
                <a:off x="4069941" y="4618209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/>
          <p:cNvGrpSpPr/>
          <p:nvPr/>
        </p:nvGrpSpPr>
        <p:grpSpPr>
          <a:xfrm>
            <a:off x="2520177" y="2678668"/>
            <a:ext cx="4425948" cy="2683695"/>
            <a:chOff x="2520177" y="2678668"/>
            <a:chExt cx="4425948" cy="26836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520177" y="4278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177" y="4278868"/>
                  <a:ext cx="37542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3282177" y="3440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177" y="3440668"/>
                  <a:ext cx="37542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3815577" y="43434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5577" y="4343400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93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4117286" y="4993031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286" y="4993031"/>
                  <a:ext cx="513281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529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4577577" y="2678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7577" y="2678668"/>
                  <a:ext cx="37542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5872977" y="3440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977" y="3440668"/>
                  <a:ext cx="37542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181600" y="4328160"/>
                  <a:ext cx="2838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4328160"/>
                  <a:ext cx="28384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9574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6432844" y="4328160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844" y="4328160"/>
                  <a:ext cx="513281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Cloud Callout 4"/>
          <p:cNvSpPr/>
          <p:nvPr/>
        </p:nvSpPr>
        <p:spPr>
          <a:xfrm>
            <a:off x="5541643" y="1600200"/>
            <a:ext cx="3373757" cy="128778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can we represent a sequence using BST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43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13053</TotalTime>
  <Words>1016</Words>
  <Application>Microsoft Macintosh PowerPoint</Application>
  <PresentationFormat>On-screen Show (4:3)</PresentationFormat>
  <Paragraphs>280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Wingdings</vt:lpstr>
      <vt:lpstr>Office Theme</vt:lpstr>
      <vt:lpstr>Design and Analysis of Algorithms CS345</vt:lpstr>
      <vt:lpstr>Orthogonal Range searching</vt:lpstr>
      <vt:lpstr>Orthogonal Range searching</vt:lpstr>
      <vt:lpstr>Orthogonal Range searching</vt:lpstr>
      <vt:lpstr>RangeSearch(T, x_1, x_2):</vt:lpstr>
      <vt:lpstr>RangeSearch(T, x_1, x_2):</vt:lpstr>
      <vt:lpstr>RangeSearch(T, x_1, x_2):</vt:lpstr>
      <vt:lpstr>RangeSearch(T, x_1, x_2):</vt:lpstr>
      <vt:lpstr>How should we augment each node?</vt:lpstr>
      <vt:lpstr>RangeSearch(T, x_1, x_2, y_1, y_2) </vt:lpstr>
      <vt:lpstr>Space of the data structure</vt:lpstr>
      <vt:lpstr>Space of the data structure</vt:lpstr>
      <vt:lpstr>Homework</vt:lpstr>
      <vt:lpstr>PowerPoint Presentation</vt:lpstr>
      <vt:lpstr>Dynamic Sequences</vt:lpstr>
      <vt:lpstr>Dynamic Sequences</vt:lpstr>
      <vt:lpstr>Dynamic Sequence </vt:lpstr>
      <vt:lpstr>Representing sequence using a BST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1204</cp:revision>
  <dcterms:created xsi:type="dcterms:W3CDTF">2011-12-03T04:13:03Z</dcterms:created>
  <dcterms:modified xsi:type="dcterms:W3CDTF">2026-08-05T02:28:07Z</dcterms:modified>
</cp:coreProperties>
</file>