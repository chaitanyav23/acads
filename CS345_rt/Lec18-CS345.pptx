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2" r:id="rId1"/>
  </p:sldMasterIdLst>
  <p:notesMasterIdLst>
    <p:notesMasterId r:id="rId24"/>
  </p:notesMasterIdLst>
  <p:sldIdLst>
    <p:sldId id="274" r:id="rId2"/>
    <p:sldId id="551" r:id="rId3"/>
    <p:sldId id="558" r:id="rId4"/>
    <p:sldId id="559" r:id="rId5"/>
    <p:sldId id="552" r:id="rId6"/>
    <p:sldId id="514" r:id="rId7"/>
    <p:sldId id="521" r:id="rId8"/>
    <p:sldId id="515" r:id="rId9"/>
    <p:sldId id="520" r:id="rId10"/>
    <p:sldId id="531" r:id="rId11"/>
    <p:sldId id="522" r:id="rId12"/>
    <p:sldId id="493" r:id="rId13"/>
    <p:sldId id="513" r:id="rId14"/>
    <p:sldId id="495" r:id="rId15"/>
    <p:sldId id="569" r:id="rId16"/>
    <p:sldId id="483" r:id="rId17"/>
    <p:sldId id="487" r:id="rId18"/>
    <p:sldId id="543" r:id="rId19"/>
    <p:sldId id="540" r:id="rId20"/>
    <p:sldId id="541" r:id="rId21"/>
    <p:sldId id="542" r:id="rId22"/>
    <p:sldId id="516" r:id="rId2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C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513" autoAdjust="0"/>
    <p:restoredTop sz="94658" autoAdjust="0"/>
  </p:normalViewPr>
  <p:slideViewPr>
    <p:cSldViewPr>
      <p:cViewPr varScale="1">
        <p:scale>
          <a:sx n="115" d="100"/>
          <a:sy n="115" d="100"/>
        </p:scale>
        <p:origin x="2048" y="20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ghunath Tewari" userId="2638bdda-d406-4938-a2a6-e4e967acb772" providerId="ADAL" clId="{5BB0A526-9D3F-5694-B192-877B52D1FAF9}"/>
    <pc:docChg chg="delSld">
      <pc:chgData name="Raghunath Tewari" userId="2638bdda-d406-4938-a2a6-e4e967acb772" providerId="ADAL" clId="{5BB0A526-9D3F-5694-B192-877B52D1FAF9}" dt="2026-09-10T13:44:18.266" v="6" actId="2696"/>
      <pc:docMkLst>
        <pc:docMk/>
      </pc:docMkLst>
      <pc:sldChg chg="del">
        <pc:chgData name="Raghunath Tewari" userId="2638bdda-d406-4938-a2a6-e4e967acb772" providerId="ADAL" clId="{5BB0A526-9D3F-5694-B192-877B52D1FAF9}" dt="2026-09-10T13:43:56.675" v="1" actId="2696"/>
        <pc:sldMkLst>
          <pc:docMk/>
          <pc:sldMk cId="2561072087" sldId="539"/>
        </pc:sldMkLst>
      </pc:sldChg>
      <pc:sldChg chg="del">
        <pc:chgData name="Raghunath Tewari" userId="2638bdda-d406-4938-a2a6-e4e967acb772" providerId="ADAL" clId="{5BB0A526-9D3F-5694-B192-877B52D1FAF9}" dt="2026-09-10T13:43:56.621" v="0" actId="2696"/>
        <pc:sldMkLst>
          <pc:docMk/>
          <pc:sldMk cId="3406999816" sldId="545"/>
        </pc:sldMkLst>
      </pc:sldChg>
      <pc:sldChg chg="del">
        <pc:chgData name="Raghunath Tewari" userId="2638bdda-d406-4938-a2a6-e4e967acb772" providerId="ADAL" clId="{5BB0A526-9D3F-5694-B192-877B52D1FAF9}" dt="2026-09-10T13:43:56.721" v="2" actId="2696"/>
        <pc:sldMkLst>
          <pc:docMk/>
          <pc:sldMk cId="166527329" sldId="546"/>
        </pc:sldMkLst>
      </pc:sldChg>
      <pc:sldChg chg="del">
        <pc:chgData name="Raghunath Tewari" userId="2638bdda-d406-4938-a2a6-e4e967acb772" providerId="ADAL" clId="{5BB0A526-9D3F-5694-B192-877B52D1FAF9}" dt="2026-09-10T13:43:56.767" v="3" actId="2696"/>
        <pc:sldMkLst>
          <pc:docMk/>
          <pc:sldMk cId="1923477989" sldId="547"/>
        </pc:sldMkLst>
      </pc:sldChg>
      <pc:sldChg chg="del">
        <pc:chgData name="Raghunath Tewari" userId="2638bdda-d406-4938-a2a6-e4e967acb772" providerId="ADAL" clId="{5BB0A526-9D3F-5694-B192-877B52D1FAF9}" dt="2026-09-10T13:43:56.782" v="4" actId="2696"/>
        <pc:sldMkLst>
          <pc:docMk/>
          <pc:sldMk cId="4234258426" sldId="548"/>
        </pc:sldMkLst>
      </pc:sldChg>
      <pc:sldChg chg="del">
        <pc:chgData name="Raghunath Tewari" userId="2638bdda-d406-4938-a2a6-e4e967acb772" providerId="ADAL" clId="{5BB0A526-9D3F-5694-B192-877B52D1FAF9}" dt="2026-09-10T13:43:56.791" v="5" actId="2696"/>
        <pc:sldMkLst>
          <pc:docMk/>
          <pc:sldMk cId="2218085522" sldId="549"/>
        </pc:sldMkLst>
      </pc:sldChg>
      <pc:sldChg chg="del">
        <pc:chgData name="Raghunath Tewari" userId="2638bdda-d406-4938-a2a6-e4e967acb772" providerId="ADAL" clId="{5BB0A526-9D3F-5694-B192-877B52D1FAF9}" dt="2026-09-10T13:44:18.266" v="6" actId="2696"/>
        <pc:sldMkLst>
          <pc:docMk/>
          <pc:sldMk cId="2277868220" sldId="55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2AA3A7DB-FD4B-4A56-961D-EE92B832D86A}" type="datetimeFigureOut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428B6ACE-7DA9-451D-B4FE-F8D8CCE413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4284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1E3B87-0EAF-4D3F-A8FE-4D644E3BA938}" type="datetime1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77C87-4399-4169-8EAA-A2FF838D2DB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89211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8E9C23F-070E-4955-A2E9-D262826D12BE}" type="datetime1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7D3F34-CCFE-4664-990B-25D48250FF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0370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D811857-66C0-437E-ACBA-BF7BCE55233B}" type="datetime1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2E9ED8-BBDD-47A1-9C62-8C7F2ACFBD7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137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7FB79-49E0-495C-87BE-B2A1C6E0B2F0}" type="datetime1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2327573-F1C1-4830-B7EC-9EBDAFC3F1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685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E181FA-412A-4421-9246-D21324FE2C44}" type="datetime1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8461BB-7A72-48FB-85BD-B2543F1982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19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86A6B7-3376-42F2-8702-2D1FCF5FB182}" type="datetime1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696056-B04C-48AB-8C53-BBF1FF11CC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74221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036330-39E0-4348-93D8-084D75D931AB}" type="datetime1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7131A-5F98-4DE9-B58E-5AC46F8F2B7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885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EEE380A-2B94-4740-AAA2-00B55E91136B}" type="datetime1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2E9EF9-6F51-43C7-88C5-01DDD3A549F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5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21CF8B-C8E2-441C-9E33-F2F799897A47}" type="datetime1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104CFE0-7502-4E07-8F32-3833EEC262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4518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11F363-266E-4B39-9664-0E5F96917999}" type="datetime1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9F8759C-6D63-4A5B-8A92-29BD5C9DCC8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33743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4A32EBB-5C32-49A2-ADCD-F3C86202F8FA}" type="datetime1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4E1702-FB5B-4ADB-8DA9-1EFEE2FCFD1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482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E224DF6E-159B-4851-B8CD-5F6A63451708}" type="datetime1">
              <a:rPr lang="en-US"/>
              <a:pPr>
                <a:defRPr/>
              </a:pPr>
              <a:t>9/10/26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73B7F3E5-79B2-43C4-81B5-7811AF1609B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</p:sldLayoutIdLst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0.png"/><Relationship Id="rId13" Type="http://schemas.openxmlformats.org/officeDocument/2006/relationships/image" Target="../media/image29.png"/><Relationship Id="rId12" Type="http://schemas.openxmlformats.org/officeDocument/2006/relationships/image" Target="../media/image28.png"/><Relationship Id="rId2" Type="http://schemas.openxmlformats.org/officeDocument/2006/relationships/image" Target="../media/image25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27.png"/><Relationship Id="rId15" Type="http://schemas.openxmlformats.org/officeDocument/2006/relationships/image" Target="../media/image31.png"/><Relationship Id="rId10" Type="http://schemas.openxmlformats.org/officeDocument/2006/relationships/image" Target="../media/image26.png"/><Relationship Id="rId9" Type="http://schemas.openxmlformats.org/officeDocument/2006/relationships/image" Target="../media/image240.png"/><Relationship Id="rId14" Type="http://schemas.openxmlformats.org/officeDocument/2006/relationships/image" Target="../media/image3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jpe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1.png"/><Relationship Id="rId3" Type="http://schemas.openxmlformats.org/officeDocument/2006/relationships/image" Target="../media/image361.png"/><Relationship Id="rId7" Type="http://schemas.openxmlformats.org/officeDocument/2006/relationships/image" Target="../media/image411.png"/><Relationship Id="rId2" Type="http://schemas.openxmlformats.org/officeDocument/2006/relationships/image" Target="../media/image4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91.png"/><Relationship Id="rId5" Type="http://schemas.openxmlformats.org/officeDocument/2006/relationships/image" Target="../media/image381.png"/><Relationship Id="rId10" Type="http://schemas.openxmlformats.org/officeDocument/2006/relationships/image" Target="../media/image232.png"/><Relationship Id="rId4" Type="http://schemas.openxmlformats.org/officeDocument/2006/relationships/image" Target="../media/image371.png"/><Relationship Id="rId9" Type="http://schemas.openxmlformats.org/officeDocument/2006/relationships/image" Target="../media/image431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1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7" Type="http://schemas.openxmlformats.org/officeDocument/2006/relationships/image" Target="../media/image101.pn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1.png"/><Relationship Id="rId5" Type="http://schemas.openxmlformats.org/officeDocument/2006/relationships/image" Target="../media/image81.png"/><Relationship Id="rId4" Type="http://schemas.openxmlformats.org/officeDocument/2006/relationships/image" Target="../media/image6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0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14" Type="http://schemas.openxmlformats.org/officeDocument/2006/relationships/image" Target="../media/image61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0.png"/><Relationship Id="rId18" Type="http://schemas.openxmlformats.org/officeDocument/2006/relationships/image" Target="../media/image120.png"/><Relationship Id="rId12" Type="http://schemas.openxmlformats.org/officeDocument/2006/relationships/image" Target="../media/image70.png"/><Relationship Id="rId17" Type="http://schemas.openxmlformats.org/officeDocument/2006/relationships/image" Target="../media/image610.png"/><Relationship Id="rId2" Type="http://schemas.openxmlformats.org/officeDocument/2006/relationships/image" Target="../media/image121.png"/><Relationship Id="rId16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60.png"/><Relationship Id="rId15" Type="http://schemas.openxmlformats.org/officeDocument/2006/relationships/image" Target="../media/image100.png"/><Relationship Id="rId10" Type="http://schemas.openxmlformats.org/officeDocument/2006/relationships/image" Target="../media/image59.png"/><Relationship Id="rId19" Type="http://schemas.openxmlformats.org/officeDocument/2006/relationships/image" Target="../media/image131.png"/><Relationship Id="rId14" Type="http://schemas.openxmlformats.org/officeDocument/2006/relationships/image" Target="../media/image9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1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13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3" Type="http://schemas.openxmlformats.org/officeDocument/2006/relationships/image" Target="../media/image32.png"/><Relationship Id="rId7" Type="http://schemas.openxmlformats.org/officeDocument/2006/relationships/image" Target="../media/image201.png"/><Relationship Id="rId12" Type="http://schemas.openxmlformats.org/officeDocument/2006/relationships/image" Target="../media/image36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5.png"/><Relationship Id="rId5" Type="http://schemas.openxmlformats.org/officeDocument/2006/relationships/image" Target="../media/image181.png"/><Relationship Id="rId10" Type="http://schemas.openxmlformats.org/officeDocument/2006/relationships/image" Target="../media/image220.png"/><Relationship Id="rId4" Type="http://schemas.openxmlformats.org/officeDocument/2006/relationships/image" Target="../media/image161.png"/><Relationship Id="rId9" Type="http://schemas.openxmlformats.org/officeDocument/2006/relationships/image" Target="../media/image211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2.png"/><Relationship Id="rId13" Type="http://schemas.openxmlformats.org/officeDocument/2006/relationships/image" Target="../media/image42.png"/><Relationship Id="rId3" Type="http://schemas.openxmlformats.org/officeDocument/2006/relationships/image" Target="../media/image37.png"/><Relationship Id="rId7" Type="http://schemas.openxmlformats.org/officeDocument/2006/relationships/image" Target="../media/image201.png"/><Relationship Id="rId12" Type="http://schemas.openxmlformats.org/officeDocument/2006/relationships/image" Target="../media/image41.png"/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38.png"/><Relationship Id="rId5" Type="http://schemas.openxmlformats.org/officeDocument/2006/relationships/image" Target="../media/image181.png"/><Relationship Id="rId10" Type="http://schemas.openxmlformats.org/officeDocument/2006/relationships/image" Target="../media/image220.png"/><Relationship Id="rId4" Type="http://schemas.openxmlformats.org/officeDocument/2006/relationships/image" Target="../media/image161.png"/><Relationship Id="rId9" Type="http://schemas.openxmlformats.org/officeDocument/2006/relationships/image" Target="../media/image211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1.png"/><Relationship Id="rId3" Type="http://schemas.openxmlformats.org/officeDocument/2006/relationships/image" Target="../media/image140.png"/><Relationship Id="rId7" Type="http://schemas.openxmlformats.org/officeDocument/2006/relationships/image" Target="../media/image180.png"/><Relationship Id="rId2" Type="http://schemas.openxmlformats.org/officeDocument/2006/relationships/image" Target="../media/image2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0.png"/><Relationship Id="rId5" Type="http://schemas.openxmlformats.org/officeDocument/2006/relationships/image" Target="../media/image160.png"/><Relationship Id="rId4" Type="http://schemas.openxmlformats.org/officeDocument/2006/relationships/image" Target="../media/image250.png"/><Relationship Id="rId9" Type="http://schemas.openxmlformats.org/officeDocument/2006/relationships/image" Target="../media/image20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27.png"/><Relationship Id="rId7" Type="http://schemas.openxmlformats.org/officeDocument/2006/relationships/image" Target="../media/image31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31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0.png"/><Relationship Id="rId3" Type="http://schemas.openxmlformats.org/officeDocument/2006/relationships/image" Target="../media/image27.png"/><Relationship Id="rId7" Type="http://schemas.openxmlformats.org/officeDocument/2006/relationships/image" Target="../media/image351.png"/><Relationship Id="rId12" Type="http://schemas.openxmlformats.org/officeDocument/2006/relationships/image" Target="../media/image172.png"/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1.png"/><Relationship Id="rId11" Type="http://schemas.openxmlformats.org/officeDocument/2006/relationships/image" Target="../media/image163.png"/><Relationship Id="rId5" Type="http://schemas.openxmlformats.org/officeDocument/2006/relationships/image" Target="../media/image29.png"/><Relationship Id="rId10" Type="http://schemas.openxmlformats.org/officeDocument/2006/relationships/image" Target="../media/image150.png"/><Relationship Id="rId4" Type="http://schemas.openxmlformats.org/officeDocument/2006/relationships/image" Target="../media/image28.png"/><Relationship Id="rId9" Type="http://schemas.openxmlformats.org/officeDocument/2006/relationships/image" Target="../media/image33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0.png"/><Relationship Id="rId2" Type="http://schemas.openxmlformats.org/officeDocument/2006/relationships/image" Target="../media/image36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1981200"/>
            <a:ext cx="8382000" cy="1905000"/>
          </a:xfr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 and Analysis of Algorithms</a:t>
            </a:r>
            <a:br>
              <a:rPr 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700" dirty="0">
                <a:solidFill>
                  <a:srgbClr val="002060"/>
                </a:solidFill>
              </a:rPr>
              <a:t>CS345</a:t>
            </a:r>
            <a:r>
              <a:rPr lang="en-US" sz="3200" b="1" dirty="0">
                <a:solidFill>
                  <a:srgbClr val="C00000"/>
                </a:solidFill>
              </a:rPr>
              <a:t> </a:t>
            </a:r>
            <a:br>
              <a:rPr lang="en-US" sz="3200" b="1" dirty="0">
                <a:solidFill>
                  <a:srgbClr val="C00000"/>
                </a:solidFill>
              </a:rPr>
            </a:br>
            <a:endParaRPr lang="en-US" sz="3600" i="1" dirty="0">
              <a:solidFill>
                <a:schemeClr val="tx1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419600"/>
            <a:ext cx="7620000" cy="1600200"/>
          </a:xfr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C00000"/>
                </a:solidFill>
              </a:rPr>
              <a:t>Lecture 18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en-US" sz="2400" b="1" dirty="0">
                <a:solidFill>
                  <a:srgbClr val="7030A0"/>
                </a:solidFill>
              </a:rPr>
              <a:t>Dynamic Programming </a:t>
            </a:r>
            <a:r>
              <a:rPr lang="en-US" sz="2400" dirty="0">
                <a:solidFill>
                  <a:schemeClr val="tx1"/>
                </a:solidFill>
              </a:rPr>
              <a:t>– </a:t>
            </a:r>
            <a:r>
              <a:rPr lang="en-US" sz="2000" dirty="0">
                <a:solidFill>
                  <a:schemeClr val="tx1"/>
                </a:solidFill>
              </a:rPr>
              <a:t>(Final lecture)</a:t>
            </a:r>
          </a:p>
          <a:p>
            <a:pPr marL="342900" indent="-342900" algn="l" fontAlgn="auto">
              <a:spcAft>
                <a:spcPts val="0"/>
              </a:spcAft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7030A0"/>
                </a:solidFill>
              </a:rPr>
              <a:t>All-Pairs </a:t>
            </a:r>
            <a:r>
              <a:rPr lang="en-US" sz="2000" b="1" dirty="0">
                <a:solidFill>
                  <a:schemeClr val="tx1"/>
                </a:solidFill>
              </a:rPr>
              <a:t>Shortest Paths (</a:t>
            </a:r>
            <a:r>
              <a:rPr lang="en-US" sz="2000" b="1" dirty="0">
                <a:solidFill>
                  <a:srgbClr val="7030A0"/>
                </a:solidFill>
              </a:rPr>
              <a:t>Floyd-</a:t>
            </a:r>
            <a:r>
              <a:rPr lang="en-US" sz="2000" b="1" dirty="0" err="1">
                <a:solidFill>
                  <a:srgbClr val="7030A0"/>
                </a:solidFill>
              </a:rPr>
              <a:t>Warshall</a:t>
            </a:r>
            <a:r>
              <a:rPr lang="en-US" sz="2000" b="1" dirty="0">
                <a:solidFill>
                  <a:schemeClr val="tx1"/>
                </a:solidFill>
              </a:rPr>
              <a:t> Algorithm)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16F4FD3-5535-4BD2-8147-A67FFD5F22D1}" type="slidenum">
              <a:rPr lang="en-US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22313" y="2219325"/>
            <a:ext cx="7772400" cy="1362075"/>
          </a:xfrm>
        </p:spPr>
        <p:txBody>
          <a:bodyPr/>
          <a:lstStyle/>
          <a:p>
            <a:pPr algn="ctr"/>
            <a:r>
              <a:rPr lang="en-US" sz="3600" dirty="0" err="1">
                <a:solidFill>
                  <a:srgbClr val="0070C0"/>
                </a:solidFill>
              </a:rPr>
              <a:t>BellMAN</a:t>
            </a:r>
            <a:r>
              <a:rPr lang="en-US" sz="3600" dirty="0">
                <a:solidFill>
                  <a:srgbClr val="0070C0"/>
                </a:solidFill>
              </a:rPr>
              <a:t>-Ford Algorithm</a:t>
            </a:r>
            <a:br>
              <a:rPr lang="en-US" sz="3600" dirty="0">
                <a:solidFill>
                  <a:srgbClr val="0070C0"/>
                </a:solidFill>
              </a:rPr>
            </a:br>
            <a:endParaRPr lang="en-US" sz="2800" dirty="0">
              <a:solidFill>
                <a:srgbClr val="7030A0"/>
              </a:solidFill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400" b="1" dirty="0">
                <a:solidFill>
                  <a:schemeClr val="tx1"/>
                </a:solidFill>
              </a:rPr>
              <a:t>For shortest paths in a graph with</a:t>
            </a:r>
          </a:p>
          <a:p>
            <a:pPr algn="ctr"/>
            <a:r>
              <a:rPr lang="en-US" sz="2400" b="1" dirty="0">
                <a:solidFill>
                  <a:srgbClr val="7030A0"/>
                </a:solidFill>
              </a:rPr>
              <a:t>Negative </a:t>
            </a:r>
            <a:r>
              <a:rPr lang="en-US" sz="2400" b="1" dirty="0">
                <a:solidFill>
                  <a:schemeClr val="tx1"/>
                </a:solidFill>
              </a:rPr>
              <a:t>weights</a:t>
            </a:r>
            <a:r>
              <a:rPr lang="en-US" sz="2400" b="1" dirty="0">
                <a:solidFill>
                  <a:srgbClr val="7030A0"/>
                </a:solidFill>
              </a:rPr>
              <a:t> </a:t>
            </a:r>
          </a:p>
          <a:p>
            <a:pPr algn="ctr"/>
            <a:r>
              <a:rPr lang="en-US" sz="2400" b="1" dirty="0">
                <a:solidFill>
                  <a:schemeClr val="tx1"/>
                </a:solidFill>
              </a:rPr>
              <a:t>BUT</a:t>
            </a:r>
            <a:r>
              <a:rPr lang="en-US" sz="2400" b="1" dirty="0">
                <a:solidFill>
                  <a:srgbClr val="0070C0"/>
                </a:solidFill>
              </a:rPr>
              <a:t> </a:t>
            </a:r>
            <a:r>
              <a:rPr lang="en-US" sz="2400" b="1" dirty="0">
                <a:solidFill>
                  <a:srgbClr val="C00000"/>
                </a:solidFill>
              </a:rPr>
              <a:t>No</a:t>
            </a:r>
            <a:r>
              <a:rPr lang="en-US" sz="2400" b="1" dirty="0">
                <a:solidFill>
                  <a:srgbClr val="7030A0"/>
                </a:solidFill>
              </a:rPr>
              <a:t> negative cycle</a:t>
            </a:r>
            <a:endParaRPr lang="en-US" sz="2400" b="1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2327573-F1C1-4830-B7EC-9EBDAFC3F16D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429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rgbClr val="7030A0"/>
                </a:solidFill>
              </a:rPr>
              <a:t>Exploiting</a:t>
            </a:r>
            <a:r>
              <a:rPr lang="en-US" sz="3200" b="1" dirty="0"/>
              <a:t> the</a:t>
            </a:r>
            <a:r>
              <a:rPr lang="en-US" sz="3200" b="1" dirty="0">
                <a:solidFill>
                  <a:srgbClr val="006C31"/>
                </a:solidFill>
              </a:rPr>
              <a:t> Optimal </a:t>
            </a:r>
            <a:r>
              <a:rPr lang="en-US" sz="3200" b="1" dirty="0" err="1">
                <a:solidFill>
                  <a:srgbClr val="006C31"/>
                </a:solidFill>
              </a:rPr>
              <a:t>subpath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Observation</a:t>
                </a:r>
                <a:r>
                  <a:rPr lang="en-US" sz="2000" dirty="0"/>
                  <a:t>: If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has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edges,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/>
                  <a:t>has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edges.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  <p:sp>
        <p:nvSpPr>
          <p:cNvPr id="48" name="Rounded Rectangle 47"/>
          <p:cNvSpPr/>
          <p:nvPr/>
        </p:nvSpPr>
        <p:spPr>
          <a:xfrm>
            <a:off x="5495925" y="4114800"/>
            <a:ext cx="1371600" cy="457200"/>
          </a:xfrm>
          <a:prstGeom prst="roundRect">
            <a:avLst/>
          </a:prstGeom>
          <a:noFill/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" name="Group 7"/>
          <p:cNvGrpSpPr/>
          <p:nvPr/>
        </p:nvGrpSpPr>
        <p:grpSpPr>
          <a:xfrm>
            <a:off x="1828800" y="2740223"/>
            <a:ext cx="5380036" cy="445532"/>
            <a:chOff x="1828800" y="2740223"/>
            <a:chExt cx="5380036" cy="445532"/>
          </a:xfrm>
        </p:grpSpPr>
        <p:grpSp>
          <p:nvGrpSpPr>
            <p:cNvPr id="43" name="Group 42"/>
            <p:cNvGrpSpPr/>
            <p:nvPr/>
          </p:nvGrpSpPr>
          <p:grpSpPr>
            <a:xfrm>
              <a:off x="1828800" y="2740223"/>
              <a:ext cx="352981" cy="445532"/>
              <a:chOff x="1828800" y="2831068"/>
              <a:chExt cx="352981" cy="445532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1981200" y="2831068"/>
                <a:ext cx="152400" cy="152400"/>
              </a:xfrm>
              <a:prstGeom prst="ellipse">
                <a:avLst/>
              </a:prstGeom>
              <a:solidFill>
                <a:srgbClr val="FFC000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39" name="TextBox 38"/>
                  <p:cNvSpPr txBox="1"/>
                  <p:nvPr/>
                </p:nvSpPr>
                <p:spPr>
                  <a:xfrm>
                    <a:off x="1828800" y="2907268"/>
                    <a:ext cx="352981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𝒔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39" name="TextBox 38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28800" y="2907268"/>
                    <a:ext cx="352981" cy="369332"/>
                  </a:xfrm>
                  <a:prstGeom prst="rect">
                    <a:avLst/>
                  </a:prstGeom>
                  <a:blipFill rotWithShape="1">
                    <a:blip r:embed="rId8"/>
                    <a:stretch>
                      <a:fillRect t="-8197" r="-22414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42" name="Group 41"/>
            <p:cNvGrpSpPr/>
            <p:nvPr/>
          </p:nvGrpSpPr>
          <p:grpSpPr>
            <a:xfrm>
              <a:off x="6833413" y="2740223"/>
              <a:ext cx="375423" cy="445532"/>
              <a:chOff x="6833413" y="2983468"/>
              <a:chExt cx="375423" cy="445532"/>
            </a:xfrm>
          </p:grpSpPr>
          <p:sp>
            <p:nvSpPr>
              <p:cNvPr id="40" name="Oval 39"/>
              <p:cNvSpPr/>
              <p:nvPr/>
            </p:nvSpPr>
            <p:spPr>
              <a:xfrm>
                <a:off x="7010400" y="2983468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41" name="TextBox 40"/>
                  <p:cNvSpPr txBox="1"/>
                  <p:nvPr/>
                </p:nvSpPr>
                <p:spPr>
                  <a:xfrm>
                    <a:off x="6833413" y="3059668"/>
                    <a:ext cx="375423" cy="369332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n-US" b="1" dirty="0">
                        <a:solidFill>
                          <a:srgbClr val="0070C0"/>
                        </a:solidFill>
                      </a:rPr>
                      <a:t> </a:t>
                    </a:r>
                    <a14:m>
                      <m:oMath xmlns:m="http://schemas.openxmlformats.org/officeDocument/2006/math"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oMath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41" name="TextBox 40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33413" y="3059668"/>
                    <a:ext cx="375423" cy="369332"/>
                  </a:xfrm>
                  <a:prstGeom prst="rect">
                    <a:avLst/>
                  </a:prstGeom>
                  <a:blipFill rotWithShape="1">
                    <a:blip r:embed="rId9"/>
                    <a:stretch>
                      <a:fillRect l="-14516" t="-8197" r="-25806" b="-2459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3" name="Oval 32"/>
          <p:cNvSpPr/>
          <p:nvPr/>
        </p:nvSpPr>
        <p:spPr>
          <a:xfrm>
            <a:off x="2819400" y="2740223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3657600" y="2740223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5" name="Straight Arrow Connector 34"/>
          <p:cNvCxnSpPr/>
          <p:nvPr/>
        </p:nvCxnSpPr>
        <p:spPr>
          <a:xfrm>
            <a:off x="2133600" y="2816423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>
            <a:off x="2971800" y="2816423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/>
          <p:nvPr/>
        </p:nvCxnSpPr>
        <p:spPr>
          <a:xfrm>
            <a:off x="6324600" y="2816423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4495800" y="2740223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3810000" y="2816423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334000" y="2740223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4648200" y="2816423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Oval 48"/>
          <p:cNvSpPr/>
          <p:nvPr/>
        </p:nvSpPr>
        <p:spPr>
          <a:xfrm>
            <a:off x="6172200" y="2740223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>
            <a:off x="5486400" y="2816423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3938816" y="1968579"/>
                <a:ext cx="9284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𝑷</m:t>
                      </m:r>
                      <m:r>
                        <a:rPr lang="en-US" b="1" i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  <m:r>
                        <a:rPr lang="en-US" b="1" i="1" dirty="0">
                          <a:latin typeface="Cambria Math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38816" y="1968579"/>
                <a:ext cx="928459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85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6019800" y="2816423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2816423"/>
                <a:ext cx="370614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197" r="-2333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ectangle 10"/>
          <p:cNvSpPr/>
          <p:nvPr/>
        </p:nvSpPr>
        <p:spPr>
          <a:xfrm>
            <a:off x="4267200" y="4191000"/>
            <a:ext cx="27432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2288788" y="2316718"/>
            <a:ext cx="4496139" cy="444698"/>
            <a:chOff x="2288788" y="2316718"/>
            <a:chExt cx="4496139" cy="444698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TextBox 11"/>
                <p:cNvSpPr txBox="1"/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2" name="TextBox 1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62403" y="2316718"/>
                  <a:ext cx="322524" cy="369332"/>
                </a:xfrm>
                <a:prstGeom prst="rect">
                  <a:avLst/>
                </a:prstGeom>
                <a:blipFill rotWithShape="1">
                  <a:blip r:embed="rId12"/>
                  <a:stretch>
                    <a:fillRect t="-8197" r="-2452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88788" y="2392084"/>
                  <a:ext cx="375424" cy="369332"/>
                </a:xfrm>
                <a:prstGeom prst="rect">
                  <a:avLst/>
                </a:prstGeom>
                <a:blipFill rotWithShape="1">
                  <a:blip r:embed="rId13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4" name="TextBox 53"/>
                <p:cNvSpPr txBox="1"/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4" name="TextBox 53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9777" y="2373868"/>
                  <a:ext cx="375423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t="-8197" r="-2096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/>
                <p:cNvSpPr txBox="1"/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…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5" name="TextBox 54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891777" y="2373868"/>
                  <a:ext cx="410689" cy="369332"/>
                </a:xfrm>
                <a:prstGeom prst="rect">
                  <a:avLst/>
                </a:prstGeom>
                <a:blipFill rotWithShape="1">
                  <a:blip r:embed="rId15"/>
                  <a:stretch>
                    <a:fillRect t="-8197" r="-1911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" name="Rectangle 31"/>
          <p:cNvSpPr/>
          <p:nvPr/>
        </p:nvSpPr>
        <p:spPr>
          <a:xfrm>
            <a:off x="1981200" y="4191000"/>
            <a:ext cx="2209800" cy="381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144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7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97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0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8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  <p:bldP spid="48" grpId="0" animBg="1"/>
      <p:bldP spid="33" grpId="0" animBg="1"/>
      <p:bldP spid="34" grpId="0" animBg="1"/>
      <p:bldP spid="44" grpId="0" animBg="1"/>
      <p:bldP spid="46" grpId="0" animBg="1"/>
      <p:bldP spid="49" grpId="0" animBg="1"/>
      <p:bldP spid="51" grpId="0"/>
      <p:bldP spid="52" grpId="0"/>
      <p:bldP spid="11" grpId="0" animBg="1"/>
      <p:bldP spid="3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A </a:t>
            </a:r>
            <a:r>
              <a:rPr lang="en-US" sz="2800" b="1" dirty="0">
                <a:solidFill>
                  <a:srgbClr val="7030A0"/>
                </a:solidFill>
              </a:rPr>
              <a:t>hierarchy</a:t>
            </a:r>
            <a:r>
              <a:rPr lang="en-US" sz="2800" b="1" dirty="0"/>
              <a:t> of set of paths</a:t>
            </a:r>
            <a:br>
              <a:rPr lang="en-US" sz="2800" b="1" dirty="0"/>
            </a:br>
            <a:endParaRPr lang="en-US" sz="28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066800"/>
                <a:ext cx="8686800" cy="5059363"/>
              </a:xfrm>
            </p:spPr>
            <p:txBody>
              <a:bodyPr/>
              <a:lstStyle/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r>
                  <a:rPr lang="en-US" sz="2000" dirty="0"/>
                  <a:t>All paths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𝑸</m:t>
                    </m:r>
                    <m:r>
                      <a:rPr lang="en-US" sz="2000" b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: all paths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consisting of at most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 edges.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: the shortest among all paths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consisting of at most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 edges.</a:t>
                </a:r>
              </a:p>
              <a:p>
                <a:pPr marL="0" indent="0" algn="ctr">
                  <a:buNone/>
                </a:pPr>
                <a:endParaRPr lang="en-US" sz="2000" dirty="0"/>
              </a:p>
              <a:p>
                <a:pPr marL="0" indent="0" algn="ctr">
                  <a:buNone/>
                </a:pPr>
                <a:endParaRPr lang="en-US" sz="2000" dirty="0"/>
              </a:p>
              <a:p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066800"/>
                <a:ext cx="8686800" cy="5059363"/>
              </a:xfrm>
              <a:blipFill rotWithShape="1">
                <a:blip r:embed="rId2"/>
                <a:stretch>
                  <a:fillRect l="-211" t="-602" b="-25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2895600" y="2209800"/>
            <a:ext cx="3124200" cy="31242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>
            <a:off x="3124200" y="2438400"/>
            <a:ext cx="2667000" cy="26670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352800" y="2667000"/>
            <a:ext cx="2209800" cy="22098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581400" y="2895600"/>
            <a:ext cx="1752600" cy="17526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3771900" y="3124200"/>
            <a:ext cx="1371600" cy="12954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3962400" y="3352800"/>
            <a:ext cx="990600" cy="914400"/>
          </a:xfrm>
          <a:prstGeom prst="ellipse">
            <a:avLst/>
          </a:prstGeom>
          <a:blipFill>
            <a:blip r:embed="rId3"/>
            <a:tile tx="0" ty="0" sx="100000" sy="100000" flip="none" algn="tl"/>
          </a:blip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7" name="Group 16"/>
          <p:cNvGrpSpPr/>
          <p:nvPr/>
        </p:nvGrpSpPr>
        <p:grpSpPr>
          <a:xfrm>
            <a:off x="3992310" y="3352801"/>
            <a:ext cx="960690" cy="960864"/>
            <a:chOff x="3992310" y="3352801"/>
            <a:chExt cx="960690" cy="960864"/>
          </a:xfrm>
        </p:grpSpPr>
        <p:sp>
          <p:nvSpPr>
            <p:cNvPr id="13" name="TextBox 12"/>
            <p:cNvSpPr txBox="1"/>
            <p:nvPr/>
          </p:nvSpPr>
          <p:spPr>
            <a:xfrm>
              <a:off x="3992310" y="3381998"/>
              <a:ext cx="5036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4449336" y="3392269"/>
              <a:ext cx="5036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 rot="5400000">
              <a:off x="4338534" y="3281467"/>
              <a:ext cx="5036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 rot="5400000">
              <a:off x="4338534" y="3738667"/>
              <a:ext cx="5036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600" dirty="0"/>
                <a:t>…</a:t>
              </a:r>
            </a:p>
          </p:txBody>
        </p:sp>
      </p:grpSp>
      <p:sp>
        <p:nvSpPr>
          <p:cNvPr id="18" name="TextBox 17"/>
          <p:cNvSpPr txBox="1"/>
          <p:nvPr/>
        </p:nvSpPr>
        <p:spPr>
          <a:xfrm>
            <a:off x="3105684" y="3292391"/>
            <a:ext cx="327334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>
                <a:solidFill>
                  <a:srgbClr val="C00000"/>
                </a:solidFill>
              </a:rPr>
              <a:t>.</a:t>
            </a:r>
          </a:p>
        </p:txBody>
      </p:sp>
      <p:grpSp>
        <p:nvGrpSpPr>
          <p:cNvPr id="24" name="Group 23"/>
          <p:cNvGrpSpPr/>
          <p:nvPr/>
        </p:nvGrpSpPr>
        <p:grpSpPr>
          <a:xfrm>
            <a:off x="4953000" y="1840468"/>
            <a:ext cx="2045891" cy="445532"/>
            <a:chOff x="4953000" y="1840468"/>
            <a:chExt cx="2045891" cy="4455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Rectangle 18"/>
                <p:cNvSpPr/>
                <p:nvPr/>
              </p:nvSpPr>
              <p:spPr>
                <a:xfrm>
                  <a:off x="5613575" y="1840468"/>
                  <a:ext cx="1385316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marL="0" indent="0">
                    <a:buNone/>
                  </a:pP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𝑸</m:t>
                      </m:r>
                      <m:r>
                        <a:rPr lang="en-US" b="1" dirty="0">
                          <a:latin typeface="Cambria Math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19" name="Rectangle 1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3575" y="1840468"/>
                  <a:ext cx="1385316" cy="369332"/>
                </a:xfrm>
                <a:prstGeom prst="rect">
                  <a:avLst/>
                </a:prstGeom>
                <a:blipFill rotWithShape="1">
                  <a:blip r:embed="rId4"/>
                  <a:stretch>
                    <a:fillRect l="-437" t="-6349" r="-6114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1" name="Straight Connector 20"/>
            <p:cNvCxnSpPr>
              <a:endCxn id="19" idx="1"/>
            </p:cNvCxnSpPr>
            <p:nvPr/>
          </p:nvCxnSpPr>
          <p:spPr>
            <a:xfrm flipV="1">
              <a:off x="4953000" y="2025134"/>
              <a:ext cx="660575" cy="2608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5" name="Group 24"/>
          <p:cNvGrpSpPr/>
          <p:nvPr/>
        </p:nvGrpSpPr>
        <p:grpSpPr>
          <a:xfrm>
            <a:off x="5310937" y="2297668"/>
            <a:ext cx="2045891" cy="445532"/>
            <a:chOff x="4953000" y="1840468"/>
            <a:chExt cx="2045891" cy="4455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6" name="Rectangle 25"/>
                <p:cNvSpPr/>
                <p:nvPr/>
              </p:nvSpPr>
              <p:spPr>
                <a:xfrm>
                  <a:off x="5613575" y="1840468"/>
                  <a:ext cx="1385316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marL="0" indent="0">
                    <a:buNone/>
                  </a:pP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𝑸</m:t>
                      </m:r>
                      <m:r>
                        <a:rPr lang="en-US" b="1" dirty="0">
                          <a:latin typeface="Cambria Math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26" name="Rectangle 2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3575" y="1840468"/>
                  <a:ext cx="1385316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l="-437" t="-6349" r="-6114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7" name="Straight Connector 26"/>
            <p:cNvCxnSpPr>
              <a:endCxn id="26" idx="1"/>
            </p:cNvCxnSpPr>
            <p:nvPr/>
          </p:nvCxnSpPr>
          <p:spPr>
            <a:xfrm flipV="1">
              <a:off x="4953000" y="2025134"/>
              <a:ext cx="660575" cy="2608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Group 27"/>
          <p:cNvGrpSpPr/>
          <p:nvPr/>
        </p:nvGrpSpPr>
        <p:grpSpPr>
          <a:xfrm>
            <a:off x="5463337" y="2907268"/>
            <a:ext cx="2045891" cy="445532"/>
            <a:chOff x="4953000" y="1840468"/>
            <a:chExt cx="2045891" cy="4455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Rectangle 28"/>
                <p:cNvSpPr/>
                <p:nvPr/>
              </p:nvSpPr>
              <p:spPr>
                <a:xfrm>
                  <a:off x="5613575" y="1840468"/>
                  <a:ext cx="1385316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marL="0" indent="0">
                    <a:buNone/>
                  </a:pP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𝑸</m:t>
                      </m:r>
                      <m:r>
                        <a:rPr lang="en-US" b="1" dirty="0">
                          <a:latin typeface="Cambria Math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𝒏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𝟑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29" name="Rectangle 2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3575" y="1840468"/>
                  <a:ext cx="138531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l="-437" t="-6349" r="-6114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0" name="Straight Connector 29"/>
            <p:cNvCxnSpPr>
              <a:endCxn id="29" idx="1"/>
            </p:cNvCxnSpPr>
            <p:nvPr/>
          </p:nvCxnSpPr>
          <p:spPr>
            <a:xfrm flipV="1">
              <a:off x="4953000" y="2025134"/>
              <a:ext cx="660575" cy="2608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30"/>
          <p:cNvGrpSpPr/>
          <p:nvPr/>
        </p:nvGrpSpPr>
        <p:grpSpPr>
          <a:xfrm>
            <a:off x="5143500" y="3516868"/>
            <a:ext cx="1944137" cy="369332"/>
            <a:chOff x="4633163" y="1840468"/>
            <a:chExt cx="1944137" cy="3693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Rectangle 31"/>
                <p:cNvSpPr/>
                <p:nvPr/>
              </p:nvSpPr>
              <p:spPr>
                <a:xfrm>
                  <a:off x="5613575" y="1840468"/>
                  <a:ext cx="963725" cy="369332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  <a:ln>
                  <a:solidFill>
                    <a:schemeClr val="tx1"/>
                  </a:solidFill>
                </a:ln>
              </p:spPr>
              <p:txBody>
                <a:bodyPr wrap="none">
                  <a:spAutoFit/>
                </a:bodyPr>
                <a:lstStyle/>
                <a:p>
                  <a:pPr marL="0" indent="0">
                    <a:buNone/>
                  </a:pP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𝑸</m:t>
                      </m:r>
                      <m:r>
                        <a:rPr lang="en-US" b="1" dirty="0">
                          <a:latin typeface="Cambria Math"/>
                        </a:rPr>
                        <m:t>(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a14:m>
                  <a:r>
                    <a:rPr lang="en-US" dirty="0"/>
                    <a:t> </a:t>
                  </a:r>
                </a:p>
              </p:txBody>
            </p:sp>
          </mc:Choice>
          <mc:Fallback xmlns="">
            <p:sp>
              <p:nvSpPr>
                <p:cNvPr id="32" name="Rectangle 3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613575" y="1840468"/>
                  <a:ext cx="963725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625" t="-6349" r="-9375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/>
            <p:cNvCxnSpPr/>
            <p:nvPr/>
          </p:nvCxnSpPr>
          <p:spPr>
            <a:xfrm flipV="1">
              <a:off x="4633163" y="2063234"/>
              <a:ext cx="980412" cy="70366"/>
            </a:xfrm>
            <a:prstGeom prst="line">
              <a:avLst/>
            </a:prstGeom>
            <a:ln w="190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2" name="Group 21"/>
          <p:cNvGrpSpPr/>
          <p:nvPr/>
        </p:nvGrpSpPr>
        <p:grpSpPr>
          <a:xfrm>
            <a:off x="588969" y="2526268"/>
            <a:ext cx="2687631" cy="1283732"/>
            <a:chOff x="588969" y="2526268"/>
            <a:chExt cx="2687631" cy="1283732"/>
          </a:xfrm>
        </p:grpSpPr>
        <p:cxnSp>
          <p:nvCxnSpPr>
            <p:cNvPr id="3" name="Straight Arrow Connector 2"/>
            <p:cNvCxnSpPr/>
            <p:nvPr/>
          </p:nvCxnSpPr>
          <p:spPr>
            <a:xfrm>
              <a:off x="2362200" y="2895600"/>
              <a:ext cx="914400" cy="91440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TextBox 19"/>
                <p:cNvSpPr txBox="1"/>
                <p:nvPr/>
              </p:nvSpPr>
              <p:spPr>
                <a:xfrm>
                  <a:off x="588969" y="2526268"/>
                  <a:ext cx="2654573" cy="369332"/>
                </a:xfrm>
                <a:prstGeom prst="rect">
                  <a:avLst/>
                </a:prstGeom>
                <a:noFill/>
                <a:ln>
                  <a:solidFill>
                    <a:schemeClr val="tx1"/>
                  </a:solidFill>
                </a:ln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Shortest path from</a:t>
                  </a:r>
                  <a:r>
                    <a:rPr lang="en-US" b="1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𝒔</m:t>
                      </m:r>
                    </m:oMath>
                  </a14:m>
                  <a:r>
                    <a:rPr lang="en-US" dirty="0"/>
                    <a:t> to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20" name="TextBox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88969" y="2526268"/>
                  <a:ext cx="2654573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1831" t="-6349" b="-22222"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Rectangle 1"/>
          <p:cNvSpPr/>
          <p:nvPr/>
        </p:nvSpPr>
        <p:spPr>
          <a:xfrm>
            <a:off x="3657599" y="5410200"/>
            <a:ext cx="3341291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524000" y="5410200"/>
            <a:ext cx="3341291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524000" y="5791200"/>
            <a:ext cx="4191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5715000" y="5867400"/>
            <a:ext cx="4191000" cy="4572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2361114" y="381000"/>
                <a:ext cx="5304144" cy="523220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     </a:t>
                </a:r>
                <a:r>
                  <a:rPr lang="en-US" sz="2800" b="1" dirty="0">
                    <a:solidFill>
                      <a:srgbClr val="C00000"/>
                    </a:solidFill>
                  </a:rPr>
                  <a:t>Aim</a:t>
                </a:r>
                <a:r>
                  <a:rPr lang="en-US" sz="2800" dirty="0"/>
                  <a:t>: </a:t>
                </a:r>
                <a:r>
                  <a:rPr lang="en-US" sz="2800" b="1" dirty="0"/>
                  <a:t>To compute </a:t>
                </a:r>
                <a14:m>
                  <m:oMath xmlns:m="http://schemas.openxmlformats.org/officeDocument/2006/math">
                    <m:r>
                      <a:rPr lang="en-US" sz="2800" b="1" i="1" dirty="0">
                        <a:solidFill>
                          <a:srgbClr val="006C31"/>
                        </a:solidFill>
                        <a:latin typeface="Cambria Math"/>
                      </a:rPr>
                      <m:t>𝑷</m:t>
                    </m:r>
                    <m:r>
                      <a:rPr lang="en-US" sz="2800" b="1" dirty="0">
                        <a:latin typeface="Cambria Math"/>
                      </a:rPr>
                      <m:t>(</m:t>
                    </m:r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8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800" dirty="0"/>
                  <a:t>     </a:t>
                </a:r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61114" y="381000"/>
                <a:ext cx="5304144" cy="523220"/>
              </a:xfrm>
              <a:prstGeom prst="rect">
                <a:avLst/>
              </a:prstGeom>
              <a:blipFill rotWithShape="1">
                <a:blip r:embed="rId9"/>
                <a:stretch>
                  <a:fillRect l="-1724" t="-10588" r="-2874" b="-329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92687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0" dur="1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65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1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1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1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0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xit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left)">
                                      <p:cBhvr>
                                        <p:cTn id="115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8" grpId="0"/>
      <p:bldP spid="2" grpId="0" animBg="1"/>
      <p:bldP spid="34" grpId="0" animBg="1"/>
      <p:bldP spid="35" grpId="0" animBg="1"/>
      <p:bldP spid="36" grpId="0" animBg="1"/>
      <p:bldP spid="2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Bellman-Ford</a:t>
            </a:r>
            <a:r>
              <a:rPr lang="en-US" sz="3600" b="1" dirty="0"/>
              <a:t>’s algorithm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Bellman-Ford-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,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\</m:t>
                    </m:r>
                    <m:r>
                      <m:rPr>
                        <m:lit/>
                      </m:rP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{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}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           If </a:t>
                </a:r>
                <a14:m>
                  <m:oMath xmlns:m="http://schemas.openxmlformats.org/officeDocument/2006/math"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b="1" dirty="0"/>
                  <a:t>   then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ea typeface="Cambria Math"/>
                    <a:sym typeface="Wingdings" pitchFamily="2" charset="2"/>
                  </a:rPr>
                  <a:t>                                    </a:t>
                </a:r>
                <a:r>
                  <a:rPr lang="en-US" sz="2000" b="1" dirty="0">
                    <a:ea typeface="Cambria Math"/>
                    <a:sym typeface="Wingdings" pitchFamily="2" charset="2"/>
                  </a:rPr>
                  <a:t>else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C00000"/>
                    </a:solidFill>
                  </a:rPr>
                  <a:t> ?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   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𝟐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{   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  </a:t>
                </a:r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	      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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min</a:t>
                </a:r>
                <a:r>
                  <a:rPr lang="en-US" sz="2000" dirty="0"/>
                  <a:t>(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r>
                  <a:rPr lang="en-US" sz="2000" dirty="0"/>
                  <a:t>                  , 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 ?</a:t>
                </a:r>
                <a:r>
                  <a:rPr lang="en-US" sz="2000" dirty="0"/>
                  <a:t>                       )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     </a:t>
                </a:r>
              </a:p>
              <a:p>
                <a:pPr marL="0" indent="0">
                  <a:buNone/>
                </a:pPr>
                <a:r>
                  <a:rPr lang="en-US" sz="2000" dirty="0"/>
                  <a:t>  }</a:t>
                </a:r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229600" cy="5410200"/>
              </a:xfrm>
              <a:blipFill rotWithShape="1">
                <a:blip r:embed="rId2"/>
                <a:stretch>
                  <a:fillRect l="-741" t="-5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127532" y="2362200"/>
                <a:ext cx="8254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𝒔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7532" y="2362200"/>
                <a:ext cx="825468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333" r="-2720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0" y="2678668"/>
                <a:ext cx="60960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∞</m:t>
                    </m:r>
                  </m:oMath>
                </a14:m>
                <a:r>
                  <a:rPr lang="en-US" dirty="0"/>
                  <a:t>; </a:t>
                </a:r>
                <a:endParaRPr lang="en-US" b="1" i="1" dirty="0">
                  <a:solidFill>
                    <a:srgbClr val="006C3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678668"/>
                <a:ext cx="609600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1676400" y="3059668"/>
                <a:ext cx="48893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𝟎</m:t>
                    </m:r>
                  </m:oMath>
                </a14:m>
                <a:r>
                  <a:rPr lang="en-US" dirty="0"/>
                  <a:t>;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76400" y="3059668"/>
                <a:ext cx="488934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962400" y="4876800"/>
                <a:ext cx="8254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𝑳</m:t>
                      </m:r>
                      <m:r>
                        <a:rPr lang="en-US" b="1" dirty="0">
                          <a:latin typeface="Cambria Math"/>
                        </a:rPr>
                        <m:t>[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dirty="0">
                          <a:latin typeface="Cambria Math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dirty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62400" y="4876800"/>
                <a:ext cx="825468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963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5410200" y="4888468"/>
                <a:ext cx="243840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b="1" dirty="0">
                        <a:latin typeface="Cambria Math"/>
                      </a:rPr>
                      <m:t>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b="1" i="1" dirty="0">
                        <a:latin typeface="Cambria Math"/>
                      </a:rPr>
                      <m:t>]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𝒙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𝒗</m:t>
                        </m:r>
                      </m:e>
                    </m:d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10200" y="4888468"/>
                <a:ext cx="2438400" cy="369332"/>
              </a:xfrm>
              <a:prstGeom prst="rect">
                <a:avLst/>
              </a:prstGeom>
              <a:blipFill rotWithShape="1">
                <a:blip r:embed="rId7"/>
                <a:stretch>
                  <a:fillRect l="-2250"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954384" y="41148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54384" y="53340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}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026152" y="1981200"/>
            <a:ext cx="2289048" cy="1447800"/>
            <a:chOff x="5026152" y="1981200"/>
            <a:chExt cx="2289048" cy="1447800"/>
          </a:xfrm>
        </p:grpSpPr>
        <p:sp>
          <p:nvSpPr>
            <p:cNvPr id="12" name="Right Brace 11"/>
            <p:cNvSpPr/>
            <p:nvPr/>
          </p:nvSpPr>
          <p:spPr>
            <a:xfrm>
              <a:off x="5026152" y="1981200"/>
              <a:ext cx="384048" cy="1447800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5497074" y="2546866"/>
                  <a:ext cx="1818126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Initializing </a:t>
                  </a:r>
                  <a14:m>
                    <m:oMath xmlns:m="http://schemas.openxmlformats.org/officeDocument/2006/math">
                      <m:r>
                        <a:rPr lang="en-US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𝑳</m:t>
                      </m:r>
                      <m:r>
                        <a:rPr lang="en-US" b="1" dirty="0">
                          <a:latin typeface="Cambria Math"/>
                        </a:rPr>
                        <m:t>[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∗</m:t>
                      </m:r>
                      <m:r>
                        <a:rPr lang="en-US" dirty="0">
                          <a:latin typeface="Cambria Math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1" dirty="0">
                          <a:latin typeface="Cambria Math"/>
                        </a:rPr>
                        <m:t>]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074" y="2546866"/>
                  <a:ext cx="1818126" cy="369332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3020" t="-8333" r="-5034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/>
          <p:cNvGrpSpPr/>
          <p:nvPr/>
        </p:nvGrpSpPr>
        <p:grpSpPr>
          <a:xfrm>
            <a:off x="5090078" y="4114800"/>
            <a:ext cx="2453721" cy="1419257"/>
            <a:chOff x="5085145" y="2214716"/>
            <a:chExt cx="2377735" cy="869867"/>
          </a:xfrm>
        </p:grpSpPr>
        <p:sp>
          <p:nvSpPr>
            <p:cNvPr id="16" name="Right Brace 15"/>
            <p:cNvSpPr/>
            <p:nvPr/>
          </p:nvSpPr>
          <p:spPr>
            <a:xfrm>
              <a:off x="5085145" y="2214716"/>
              <a:ext cx="457888" cy="869867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497074" y="2546866"/>
                  <a:ext cx="1965806" cy="226365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Computing</a:t>
                  </a:r>
                  <a14:m>
                    <m:oMath xmlns:m="http://schemas.openxmlformats.org/officeDocument/2006/math">
                      <m:r>
                        <a:rPr lang="en-US" b="0" i="0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 </m:t>
                      </m:r>
                      <m:r>
                        <a:rPr lang="en-US" b="1" i="1" dirty="0">
                          <a:solidFill>
                            <a:srgbClr val="006C31"/>
                          </a:solidFill>
                          <a:latin typeface="Cambria Math"/>
                        </a:rPr>
                        <m:t>𝑳</m:t>
                      </m:r>
                      <m:r>
                        <a:rPr lang="en-US" b="1" dirty="0">
                          <a:latin typeface="Cambria Math"/>
                        </a:rPr>
                        <m:t>[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  <m:r>
                        <a:rPr lang="en-US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dirty="0">
                          <a:latin typeface="Cambria Math"/>
                        </a:rPr>
                        <m:t>]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074" y="2546866"/>
                  <a:ext cx="1965806" cy="226365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2711" t="-8333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538688" y="6336268"/>
                <a:ext cx="723371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C00000"/>
                    </a:solidFill>
                  </a:rPr>
                  <a:t>Lemma:</a:t>
                </a:r>
                <a:r>
                  <a:rPr lang="en-US" dirty="0" err="1"/>
                  <a:t>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𝑳</m:t>
                    </m:r>
                    <m:r>
                      <a:rPr lang="en-US" b="1" dirty="0">
                        <a:latin typeface="Cambria Math"/>
                      </a:rPr>
                      <m:t>[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stores the shortest path from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dirty="0"/>
                  <a:t>to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having </a:t>
                </a:r>
                <a:r>
                  <a:rPr lang="en-US" b="1" dirty="0"/>
                  <a:t>at most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b="1" dirty="0">
                    <a:solidFill>
                      <a:srgbClr val="C00000"/>
                    </a:solidFill>
                  </a:rPr>
                  <a:t> </a:t>
                </a:r>
                <a:r>
                  <a:rPr lang="en-US" dirty="0"/>
                  <a:t>edges.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8688" y="6336268"/>
                <a:ext cx="7233712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674" t="-8197" r="-92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9461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Single source shortest paths in a graph</a:t>
            </a:r>
            <a:br>
              <a:rPr lang="en-US" sz="3600" b="1" dirty="0">
                <a:solidFill>
                  <a:srgbClr val="0070C0"/>
                </a:solidFill>
              </a:rPr>
            </a:b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305800" cy="49530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a graph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=(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=|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vertices and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=|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edges,</a:t>
                </a:r>
              </a:p>
              <a:p>
                <a:pPr marL="0" indent="0">
                  <a:buNone/>
                </a:pPr>
                <a:r>
                  <a:rPr lang="en-US" sz="2000" dirty="0"/>
                  <a:t>and a source vertex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 </m:t>
                    </m:r>
                  </m:oMath>
                </a14:m>
                <a:r>
                  <a:rPr lang="en-US" sz="2000" dirty="0"/>
                  <a:t>compute shortest path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Solutions</a:t>
                </a:r>
                <a:r>
                  <a:rPr lang="en-US" sz="2000" dirty="0"/>
                  <a:t>: </a:t>
                </a:r>
              </a:p>
              <a:p>
                <a:r>
                  <a:rPr lang="en-US" sz="2000" dirty="0"/>
                  <a:t>Edge weights are</a:t>
                </a:r>
                <a:r>
                  <a:rPr lang="en-US" sz="2000" b="1" dirty="0"/>
                  <a:t> 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non-negative</a:t>
                </a:r>
                <a:endParaRPr lang="en-US" sz="2000" dirty="0">
                  <a:solidFill>
                    <a:srgbClr val="0070C0"/>
                  </a:solidFill>
                </a:endParaRPr>
              </a:p>
              <a:p>
                <a:pPr marL="0" indent="0" algn="ctr">
                  <a:buNone/>
                </a:pPr>
                <a:r>
                  <a:rPr lang="en-US" sz="2000" dirty="0"/>
                  <a:t> </a:t>
                </a:r>
                <a:r>
                  <a:rPr lang="en-US" sz="2000" b="1" dirty="0" err="1"/>
                  <a:t>Dijkstra</a:t>
                </a:r>
                <a:r>
                  <a:rPr lang="en-US" sz="2000" dirty="0" err="1"/>
                  <a:t>’s</a:t>
                </a:r>
                <a:r>
                  <a:rPr lang="en-US" sz="2000" dirty="0"/>
                  <a:t> algorithm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Time complexity = 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log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r>
                  <a:rPr lang="en-US" sz="2000" dirty="0"/>
                  <a:t>Edge weights are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negative</a:t>
                </a:r>
                <a:r>
                  <a:rPr lang="en-US" sz="2000" dirty="0"/>
                  <a:t> but </a:t>
                </a:r>
                <a:r>
                  <a:rPr lang="en-US" sz="2000" b="1" dirty="0"/>
                  <a:t>no-negative cycle</a:t>
                </a:r>
              </a:p>
              <a:p>
                <a:pPr marL="0" indent="0" algn="ctr">
                  <a:buNone/>
                </a:pPr>
                <a:r>
                  <a:rPr lang="en-US" sz="2000" b="1" dirty="0"/>
                  <a:t>Bellman-Ford algorithm</a:t>
                </a:r>
                <a:r>
                  <a:rPr lang="en-US" sz="2000" dirty="0"/>
                  <a:t>.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Time complexity = 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𝒎𝒏</m:t>
                    </m:r>
                  </m:oMath>
                </a14:m>
                <a:r>
                  <a:rPr lang="en-US" sz="2000" dirty="0"/>
                  <a:t>)</a:t>
                </a:r>
                <a:endParaRPr lang="en-US" sz="2000" b="1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Data structure </a:t>
                </a:r>
                <a:r>
                  <a:rPr lang="en-US" sz="2000" dirty="0"/>
                  <a:t>for reporting shortest path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:</a:t>
                </a:r>
              </a:p>
              <a:p>
                <a:pPr marL="0" indent="0" algn="ctr">
                  <a:buNone/>
                </a:pPr>
                <a:r>
                  <a:rPr lang="en-US" sz="2000" u="sng" dirty="0"/>
                  <a:t>Shortest paths tree rooted at </a:t>
                </a:r>
                <a14:m>
                  <m:oMath xmlns:m="http://schemas.openxmlformats.org/officeDocument/2006/math">
                    <m:r>
                      <a:rPr lang="en-US" sz="2000" b="1" i="1" u="sng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endParaRPr lang="en-US" sz="2000" u="sng" dirty="0"/>
              </a:p>
              <a:p>
                <a:pPr marL="0" indent="0">
                  <a:buNone/>
                </a:pPr>
                <a:r>
                  <a:rPr lang="en-US" sz="2000" b="1" dirty="0"/>
                  <a:t>Time taken to report shortest path </a:t>
                </a:r>
                <a:r>
                  <a:rPr lang="en-US" sz="2000" dirty="0"/>
                  <a:t>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= </a:t>
                </a:r>
                <a:r>
                  <a:rPr lang="en-US" sz="2000" b="1" dirty="0"/>
                  <a:t>O</a:t>
                </a:r>
                <a:r>
                  <a:rPr lang="en-US" sz="2000" dirty="0"/>
                  <a:t>(|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|)</a:t>
                </a:r>
                <a:endParaRPr lang="en-US" sz="2000" b="1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305800" cy="4953000"/>
              </a:xfrm>
              <a:blipFill rotWithShape="1">
                <a:blip r:embed="rId2"/>
                <a:stretch>
                  <a:fillRect l="-734" t="-61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2264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All-pairs shortest paths in a graph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/>
              <a:t>with positive edge weights</a:t>
            </a:r>
            <a:endParaRPr lang="en-US" sz="3600" b="1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a graph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=(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=|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vertices and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=|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edges,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compute distance/shortest-path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Solutions</a:t>
                </a:r>
                <a:r>
                  <a:rPr lang="en-US" sz="2000" dirty="0"/>
                  <a:t>: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Execute </a:t>
                </a:r>
                <a:r>
                  <a:rPr lang="en-US" sz="2000" dirty="0" err="1"/>
                  <a:t>Dijkstra’s</a:t>
                </a:r>
                <a:r>
                  <a:rPr lang="en-US" sz="2000" dirty="0"/>
                  <a:t> algorithm from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Total time =</a:t>
                </a:r>
                <a:r>
                  <a:rPr lang="en-US" sz="2000" dirty="0"/>
                  <a:t> 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sSup>
                      <m:sSup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log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Data structure </a:t>
                </a:r>
                <a:r>
                  <a:rPr lang="en-US" sz="2000" dirty="0"/>
                  <a:t>for reporting shortest path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:</a:t>
                </a:r>
              </a:p>
              <a:p>
                <a:pPr marL="0" indent="0" algn="ctr">
                  <a:buNone/>
                </a:pPr>
                <a:r>
                  <a:rPr lang="en-US" sz="2000" u="sng" dirty="0"/>
                  <a:t>Shortest paths tree rooted at </a:t>
                </a:r>
                <a14:m>
                  <m:oMath xmlns:m="http://schemas.openxmlformats.org/officeDocument/2006/math">
                    <m:r>
                      <a:rPr lang="en-US" sz="2000" b="1" i="1" u="sng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000" u="sng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Space taken by the data structure </a:t>
                </a:r>
                <a:r>
                  <a:rPr lang="en-US" sz="2000" dirty="0"/>
                  <a:t>=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438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All-pairs shortest paths in a graph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/>
              <a:t>with </a:t>
            </a:r>
            <a:r>
              <a:rPr lang="en-US" sz="2800" b="1" dirty="0">
                <a:solidFill>
                  <a:srgbClr val="0070C0"/>
                </a:solidFill>
              </a:rPr>
              <a:t>negative edge</a:t>
            </a:r>
            <a:r>
              <a:rPr lang="en-US" sz="2800" b="1" dirty="0"/>
              <a:t> weights but </a:t>
            </a:r>
            <a:r>
              <a:rPr lang="en-US" sz="2800" b="1" dirty="0">
                <a:solidFill>
                  <a:srgbClr val="C00000"/>
                </a:solidFill>
              </a:rPr>
              <a:t>no negative cycle</a:t>
            </a:r>
            <a:endParaRPr lang="en-US" sz="36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Problem</a:t>
                </a:r>
                <a:r>
                  <a:rPr lang="en-US" sz="2000" dirty="0"/>
                  <a:t>: Given a graph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=(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=|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vertices and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=|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edges,</a:t>
                </a:r>
              </a:p>
              <a:p>
                <a:pPr marL="0" indent="0">
                  <a:buNone/>
                </a:pPr>
                <a:r>
                  <a:rPr lang="en-US" sz="2000" dirty="0"/>
                  <a:t>compute shortest path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Solution</a:t>
                </a:r>
                <a:r>
                  <a:rPr lang="en-US" sz="2000" dirty="0"/>
                  <a:t>: </a:t>
                </a:r>
              </a:p>
              <a:p>
                <a:pPr marL="0" indent="0" algn="ctr">
                  <a:buNone/>
                </a:pPr>
                <a:r>
                  <a:rPr lang="en-US" sz="2000" dirty="0"/>
                  <a:t>Execute Bellman-Ford’s algorithm from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Total time =</a:t>
                </a:r>
                <a:r>
                  <a:rPr lang="en-US" sz="2000" dirty="0"/>
                  <a:t> 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sSup>
                      <m:sSupPr>
                        <m:ctrlP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Data structure </a:t>
                </a:r>
                <a:r>
                  <a:rPr lang="en-US" sz="2000" dirty="0"/>
                  <a:t>for reporting shortest path from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:</a:t>
                </a:r>
              </a:p>
              <a:p>
                <a:pPr marL="0" indent="0" algn="ctr">
                  <a:buNone/>
                </a:pPr>
                <a:r>
                  <a:rPr lang="en-US" sz="2000" u="sng" dirty="0"/>
                  <a:t>Shortest paths tree rooted at </a:t>
                </a:r>
                <a14:m>
                  <m:oMath xmlns:m="http://schemas.openxmlformats.org/officeDocument/2006/math">
                    <m:r>
                      <a:rPr lang="en-US" sz="2000" b="1" i="1" u="sng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sz="2000" u="sng" dirty="0"/>
              </a:p>
              <a:p>
                <a:pPr marL="0" indent="0">
                  <a:buNone/>
                </a:pPr>
                <a:endParaRPr lang="en-US" sz="2000" b="1" dirty="0"/>
              </a:p>
              <a:p>
                <a:pPr marL="0" indent="0">
                  <a:buNone/>
                </a:pPr>
                <a:r>
                  <a:rPr lang="en-US" sz="2000" b="1" dirty="0"/>
                  <a:t>Space taken by the data structure </a:t>
                </a:r>
                <a:r>
                  <a:rPr lang="en-US" sz="2000" dirty="0"/>
                  <a:t>=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Left Arrow 1"/>
              <p:cNvSpPr/>
              <p:nvPr/>
            </p:nvSpPr>
            <p:spPr>
              <a:xfrm>
                <a:off x="2819400" y="3325368"/>
                <a:ext cx="3810000" cy="713232"/>
              </a:xfrm>
              <a:prstGeom prst="leftArrow">
                <a:avLst/>
              </a:prstGeom>
              <a:solidFill>
                <a:srgbClr val="FFC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rgbClr val="C00000"/>
                    </a:solidFill>
                  </a:rPr>
                  <a:t>How to improve it to </a:t>
                </a:r>
                <a:r>
                  <a:rPr lang="en-US" b="1" dirty="0">
                    <a:solidFill>
                      <a:schemeClr val="tx1"/>
                    </a:solidFill>
                  </a:rPr>
                  <a:t>O</a:t>
                </a:r>
                <a:r>
                  <a:rPr lang="en-US" dirty="0">
                    <a:solidFill>
                      <a:schemeClr val="tx1"/>
                    </a:solidFill>
                  </a:rPr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) ?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2" name="Left Arrow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9400" y="3325368"/>
                <a:ext cx="3810000" cy="713232"/>
              </a:xfrm>
              <a:prstGeom prst="leftArrow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2483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>
              <a:xfrm>
                <a:off x="722313" y="1828800"/>
                <a:ext cx="7772400" cy="1362075"/>
              </a:xfrm>
            </p:spPr>
            <p:txBody>
              <a:bodyPr/>
              <a:lstStyle/>
              <a:p>
                <a:pPr algn="ctr"/>
                <a:r>
                  <a:rPr lang="en-US" sz="3200" dirty="0">
                    <a:solidFill>
                      <a:srgbClr val="7030A0"/>
                    </a:solidFill>
                  </a:rPr>
                  <a:t>All-pairs shortest paths in </a:t>
                </a:r>
                <a:br>
                  <a:rPr lang="en-US" sz="3200" dirty="0">
                    <a:solidFill>
                      <a:srgbClr val="7030A0"/>
                    </a:solidFill>
                  </a:rPr>
                </a:br>
                <a:r>
                  <a:rPr lang="en-US" sz="3200" dirty="0"/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32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32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3200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3200" dirty="0"/>
                  <a:t>) time</a:t>
                </a:r>
                <a:br>
                  <a:rPr lang="en-US" sz="3200" dirty="0">
                    <a:solidFill>
                      <a:srgbClr val="7030A0"/>
                    </a:solidFill>
                  </a:rPr>
                </a:br>
                <a:endParaRPr lang="en-US" sz="24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22313" y="1828800"/>
                <a:ext cx="7772400" cy="1362075"/>
              </a:xfrm>
              <a:blipFill rotWithShape="1">
                <a:blip r:embed="rId2"/>
                <a:stretch>
                  <a:fillRect t="-5830" b="-1659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en-US" sz="2800" b="1" dirty="0">
                <a:solidFill>
                  <a:schemeClr val="tx1"/>
                </a:solidFill>
              </a:rPr>
              <a:t>In graphs with </a:t>
            </a:r>
            <a:r>
              <a:rPr lang="en-US" sz="2800" b="1" dirty="0">
                <a:solidFill>
                  <a:srgbClr val="0070C0"/>
                </a:solidFill>
              </a:rPr>
              <a:t>negative edge</a:t>
            </a:r>
            <a:r>
              <a:rPr lang="en-US" sz="2800" b="1" dirty="0"/>
              <a:t> </a:t>
            </a:r>
            <a:r>
              <a:rPr lang="en-US" sz="2800" b="1" dirty="0">
                <a:solidFill>
                  <a:schemeClr val="tx1"/>
                </a:solidFill>
              </a:rPr>
              <a:t>weights </a:t>
            </a:r>
          </a:p>
          <a:p>
            <a:pPr algn="ctr"/>
            <a:r>
              <a:rPr lang="en-US" sz="2800" b="1" dirty="0">
                <a:solidFill>
                  <a:schemeClr val="tx1"/>
                </a:solidFill>
              </a:rPr>
              <a:t>but </a:t>
            </a:r>
            <a:r>
              <a:rPr lang="en-US" sz="2800" b="1" dirty="0">
                <a:solidFill>
                  <a:srgbClr val="C00000"/>
                </a:solidFill>
              </a:rPr>
              <a:t>no negative cycle</a:t>
            </a:r>
            <a:endParaRPr lang="en-US" sz="2800" b="1" dirty="0">
              <a:solidFill>
                <a:srgbClr val="0070C0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1139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</a:t>
            </a:r>
            <a:r>
              <a:rPr lang="en-US" sz="3200" b="1" dirty="0">
                <a:solidFill>
                  <a:srgbClr val="006C31"/>
                </a:solidFill>
              </a:rPr>
              <a:t> Optimal substructure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Consider any shortest path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We used “</a:t>
                </a:r>
                <a:r>
                  <a:rPr lang="en-US" sz="2000" u="sng" dirty="0"/>
                  <a:t>no. of edges</a:t>
                </a:r>
                <a:r>
                  <a:rPr lang="en-US" sz="2000" dirty="0"/>
                  <a:t>” for a recursive formulation of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. [</a:t>
                </a:r>
                <a:r>
                  <a:rPr lang="en-US" sz="1800" b="1" dirty="0">
                    <a:solidFill>
                      <a:srgbClr val="7030A0"/>
                    </a:solidFill>
                  </a:rPr>
                  <a:t>Bellman Ford </a:t>
                </a:r>
                <a:r>
                  <a:rPr lang="en-US" sz="18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000" dirty="0"/>
                  <a:t>]</a:t>
                </a: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: length of the shortest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  <a:ea typeface="Cambria Math"/>
                      </a:rPr>
                      <m:t>⇝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 having </a:t>
                </a:r>
                <a:r>
                  <a:rPr lang="en-US" sz="2000" b="1" dirty="0"/>
                  <a:t>at most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b="1" dirty="0"/>
                  <a:t> </a:t>
                </a:r>
                <a:r>
                  <a:rPr lang="en-US" sz="2000" dirty="0"/>
                  <a:t>edges.</a:t>
                </a:r>
              </a:p>
              <a:p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 smtClean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</a:t>
                </a:r>
                <a14:m>
                  <m:oMath xmlns:m="http://schemas.openxmlformats.org/officeDocument/2006/math">
                    <m:r>
                      <a:rPr lang="en-US" sz="2000" b="0" i="0" dirty="0" smtClean="0">
                        <a:solidFill>
                          <a:srgbClr val="00B050"/>
                        </a:solidFill>
                        <a:latin typeface="Cambria Math"/>
                      </a:rPr>
                      <m:t> </m:t>
                    </m:r>
                    <m:r>
                      <a:rPr lang="en-US" sz="20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−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r>
                  <a:rPr lang="en-US" sz="2000" dirty="0"/>
                  <a:t>Expressed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recursvely in terms of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for all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𝒙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endParaRPr lang="en-US" sz="2000" dirty="0"/>
              </a:p>
              <a:p>
                <a:r>
                  <a:rPr lang="en-US" sz="2000" b="1" dirty="0"/>
                  <a:t>Base case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B050"/>
                        </a:solidFill>
                        <a:latin typeface="Cambria Math"/>
                      </a:rPr>
                      <m:t>𝑳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 if  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𝒔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dirty="0"/>
                  <a:t>, and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∞</m:t>
                    </m:r>
                  </m:oMath>
                </a14:m>
                <a:r>
                  <a:rPr lang="en-US" sz="2000" dirty="0"/>
                  <a:t> otherwise.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686800" cy="4525963"/>
              </a:xfrm>
              <a:blipFill rotWithShape="1">
                <a:blip r:embed="rId2"/>
                <a:stretch>
                  <a:fillRect l="-702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  <p:sp>
        <p:nvSpPr>
          <p:cNvPr id="38" name="Oval 37"/>
          <p:cNvSpPr/>
          <p:nvPr/>
        </p:nvSpPr>
        <p:spPr>
          <a:xfrm>
            <a:off x="1981200" y="2740223"/>
            <a:ext cx="152400" cy="15240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7010400" y="2740223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819400" y="2740223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657600" y="2740223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8" name="Straight Arrow Connector 17"/>
          <p:cNvCxnSpPr/>
          <p:nvPr/>
        </p:nvCxnSpPr>
        <p:spPr>
          <a:xfrm>
            <a:off x="2133600" y="2816423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2971800" y="2816423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6324600" y="2816423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25"/>
          <p:cNvSpPr/>
          <p:nvPr/>
        </p:nvSpPr>
        <p:spPr>
          <a:xfrm>
            <a:off x="4495800" y="2754868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3810000" y="2831068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5334000" y="2754868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4648200" y="2831068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6172200" y="2754868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1" name="Straight Arrow Connector 30"/>
          <p:cNvCxnSpPr/>
          <p:nvPr/>
        </p:nvCxnSpPr>
        <p:spPr>
          <a:xfrm>
            <a:off x="5486400" y="2831068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1295400" y="2819400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873187" y="2740223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4" name="Straight Arrow Connector 23"/>
          <p:cNvCxnSpPr/>
          <p:nvPr/>
        </p:nvCxnSpPr>
        <p:spPr>
          <a:xfrm>
            <a:off x="7162800" y="2819400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90600" y="2816423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816423"/>
                <a:ext cx="386644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8197" r="-2063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7696200" y="2816423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2816423"/>
                <a:ext cx="375424" cy="369332"/>
              </a:xfrm>
              <a:prstGeom prst="rect">
                <a:avLst/>
              </a:prstGeom>
              <a:blipFill rotWithShape="1">
                <a:blip r:embed="rId4"/>
                <a:stretch>
                  <a:fillRect l="-14754" t="-8197" r="-2786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Oval 32"/>
          <p:cNvSpPr/>
          <p:nvPr/>
        </p:nvSpPr>
        <p:spPr>
          <a:xfrm>
            <a:off x="1143000" y="2740223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/>
          <p:cNvGrpSpPr/>
          <p:nvPr/>
        </p:nvGrpSpPr>
        <p:grpSpPr>
          <a:xfrm>
            <a:off x="1167091" y="1916668"/>
            <a:ext cx="6782295" cy="597932"/>
            <a:chOff x="1167091" y="1916668"/>
            <a:chExt cx="6782295" cy="597932"/>
          </a:xfrm>
        </p:grpSpPr>
        <p:sp>
          <p:nvSpPr>
            <p:cNvPr id="34" name="Right Brace 33"/>
            <p:cNvSpPr/>
            <p:nvPr/>
          </p:nvSpPr>
          <p:spPr>
            <a:xfrm rot="5400000" flipH="1">
              <a:off x="4413183" y="-1021604"/>
              <a:ext cx="290112" cy="6782295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" name="TextBox 1"/>
                <p:cNvSpPr txBox="1"/>
                <p:nvPr/>
              </p:nvSpPr>
              <p:spPr>
                <a:xfrm>
                  <a:off x="4114800" y="1916668"/>
                  <a:ext cx="870431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</m:oMath>
                  </a14:m>
                  <a:r>
                    <a:rPr lang="en-US" dirty="0"/>
                    <a:t>edges</a:t>
                  </a:r>
                </a:p>
              </p:txBody>
            </p:sp>
          </mc:Choice>
          <mc:Fallback xmlns="">
            <p:sp>
              <p:nvSpPr>
                <p:cNvPr id="2" name="TextBox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14800" y="1916668"/>
                  <a:ext cx="870431" cy="369332"/>
                </a:xfrm>
                <a:prstGeom prst="rect">
                  <a:avLst/>
                </a:prstGeom>
                <a:blipFill rotWithShape="1">
                  <a:blip r:embed="rId5"/>
                  <a:stretch>
                    <a:fillRect t="-8197" r="-11888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7" name="Group 6"/>
          <p:cNvGrpSpPr/>
          <p:nvPr/>
        </p:nvGrpSpPr>
        <p:grpSpPr>
          <a:xfrm>
            <a:off x="1143001" y="3215088"/>
            <a:ext cx="5943601" cy="594912"/>
            <a:chOff x="1143001" y="3215088"/>
            <a:chExt cx="5943601" cy="594912"/>
          </a:xfrm>
        </p:grpSpPr>
        <p:sp>
          <p:nvSpPr>
            <p:cNvPr id="35" name="Right Brace 34"/>
            <p:cNvSpPr/>
            <p:nvPr/>
          </p:nvSpPr>
          <p:spPr>
            <a:xfrm rot="16200000" flipH="1">
              <a:off x="3969746" y="388343"/>
              <a:ext cx="290112" cy="5943601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6" name="TextBox 35"/>
                <p:cNvSpPr txBox="1"/>
                <p:nvPr/>
              </p:nvSpPr>
              <p:spPr>
                <a:xfrm>
                  <a:off x="3657600" y="3440668"/>
                  <a:ext cx="1284006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−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 </m:t>
                      </m:r>
                    </m:oMath>
                  </a14:m>
                  <a:r>
                    <a:rPr lang="en-US" dirty="0"/>
                    <a:t>edges</a:t>
                  </a:r>
                </a:p>
              </p:txBody>
            </p:sp>
          </mc:Choice>
          <mc:Fallback xmlns="">
            <p:sp>
              <p:nvSpPr>
                <p:cNvPr id="36" name="TextBox 3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7600" y="3440668"/>
                  <a:ext cx="1284006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7583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6858000" y="2895600"/>
                <a:ext cx="3706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𝒙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58000" y="2895600"/>
                <a:ext cx="370614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63024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2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1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2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2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2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2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8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29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0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1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2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3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34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35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6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7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8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9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0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1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2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3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4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45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46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4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4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4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52" presetID="32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53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4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55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56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57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8" dur="500"/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</a:t>
            </a:r>
            <a:r>
              <a:rPr lang="en-US" sz="3200" b="1" dirty="0">
                <a:solidFill>
                  <a:srgbClr val="006C31"/>
                </a:solidFill>
              </a:rPr>
              <a:t> Optimal substructure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Consider any shortest path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.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Can we use “</a:t>
                </a:r>
                <a:r>
                  <a:rPr lang="en-US" sz="2000" b="1" u="sng" dirty="0"/>
                  <a:t>vertices</a:t>
                </a:r>
                <a:r>
                  <a:rPr lang="en-US" sz="2000" dirty="0"/>
                  <a:t>” for recursive formulation of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?</a:t>
                </a: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  <p:grpSp>
        <p:nvGrpSpPr>
          <p:cNvPr id="14" name="Group 13"/>
          <p:cNvGrpSpPr/>
          <p:nvPr/>
        </p:nvGrpSpPr>
        <p:grpSpPr>
          <a:xfrm>
            <a:off x="1295400" y="2740223"/>
            <a:ext cx="6553200" cy="167045"/>
            <a:chOff x="1295400" y="2740223"/>
            <a:chExt cx="6553200" cy="167045"/>
          </a:xfrm>
        </p:grpSpPr>
        <p:grpSp>
          <p:nvGrpSpPr>
            <p:cNvPr id="13" name="Group 12"/>
            <p:cNvGrpSpPr/>
            <p:nvPr/>
          </p:nvGrpSpPr>
          <p:grpSpPr>
            <a:xfrm>
              <a:off x="1981200" y="2740223"/>
              <a:ext cx="5181600" cy="167045"/>
              <a:chOff x="1981200" y="2740223"/>
              <a:chExt cx="5181600" cy="167045"/>
            </a:xfrm>
          </p:grpSpPr>
          <p:sp>
            <p:nvSpPr>
              <p:cNvPr id="38" name="Oval 37"/>
              <p:cNvSpPr/>
              <p:nvPr/>
            </p:nvSpPr>
            <p:spPr>
              <a:xfrm>
                <a:off x="1981200" y="2740223"/>
                <a:ext cx="152400" cy="152400"/>
              </a:xfrm>
              <a:prstGeom prst="ellipse">
                <a:avLst/>
              </a:prstGeom>
              <a:solidFill>
                <a:schemeClr val="accent1"/>
              </a:solidFill>
              <a:ln w="127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Oval 39"/>
              <p:cNvSpPr/>
              <p:nvPr/>
            </p:nvSpPr>
            <p:spPr>
              <a:xfrm>
                <a:off x="7010400" y="2740223"/>
                <a:ext cx="152400" cy="152400"/>
              </a:xfrm>
              <a:prstGeom prst="ellipse">
                <a:avLst/>
              </a:prstGeom>
              <a:solidFill>
                <a:schemeClr val="tx2"/>
              </a:solidFill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" name="Group 2"/>
              <p:cNvGrpSpPr/>
              <p:nvPr/>
            </p:nvGrpSpPr>
            <p:grpSpPr>
              <a:xfrm>
                <a:off x="2133600" y="2740223"/>
                <a:ext cx="4876800" cy="167045"/>
                <a:chOff x="2133600" y="2740223"/>
                <a:chExt cx="4876800" cy="167045"/>
              </a:xfrm>
            </p:grpSpPr>
            <p:grpSp>
              <p:nvGrpSpPr>
                <p:cNvPr id="7" name="Group 6"/>
                <p:cNvGrpSpPr/>
                <p:nvPr/>
              </p:nvGrpSpPr>
              <p:grpSpPr>
                <a:xfrm>
                  <a:off x="2133600" y="2740223"/>
                  <a:ext cx="4876800" cy="152400"/>
                  <a:chOff x="2133600" y="4191000"/>
                  <a:chExt cx="4876800" cy="152400"/>
                </a:xfrm>
              </p:grpSpPr>
              <p:sp>
                <p:nvSpPr>
                  <p:cNvPr id="9" name="Oval 8"/>
                  <p:cNvSpPr/>
                  <p:nvPr/>
                </p:nvSpPr>
                <p:spPr>
                  <a:xfrm>
                    <a:off x="2819400" y="4191000"/>
                    <a:ext cx="152400" cy="152400"/>
                  </a:xfrm>
                  <a:prstGeom prst="ellipse">
                    <a:avLst/>
                  </a:prstGeom>
                  <a:solidFill>
                    <a:schemeClr val="tx2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0" name="Oval 9"/>
                  <p:cNvSpPr/>
                  <p:nvPr/>
                </p:nvSpPr>
                <p:spPr>
                  <a:xfrm>
                    <a:off x="3657600" y="4191000"/>
                    <a:ext cx="152400" cy="152400"/>
                  </a:xfrm>
                  <a:prstGeom prst="ellipse">
                    <a:avLst/>
                  </a:prstGeom>
                  <a:solidFill>
                    <a:schemeClr val="tx2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18" name="Straight Arrow Connector 17"/>
                  <p:cNvCxnSpPr/>
                  <p:nvPr/>
                </p:nvCxnSpPr>
                <p:spPr>
                  <a:xfrm>
                    <a:off x="2133600" y="4267200"/>
                    <a:ext cx="685800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Arrow Connector 18"/>
                  <p:cNvCxnSpPr/>
                  <p:nvPr/>
                </p:nvCxnSpPr>
                <p:spPr>
                  <a:xfrm>
                    <a:off x="2971800" y="4267200"/>
                    <a:ext cx="685800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" name="Straight Arrow Connector 19"/>
                  <p:cNvCxnSpPr/>
                  <p:nvPr/>
                </p:nvCxnSpPr>
                <p:spPr>
                  <a:xfrm>
                    <a:off x="6324600" y="4267200"/>
                    <a:ext cx="685800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" name="Group 1"/>
                <p:cNvGrpSpPr/>
                <p:nvPr/>
              </p:nvGrpSpPr>
              <p:grpSpPr>
                <a:xfrm>
                  <a:off x="3810000" y="2754868"/>
                  <a:ext cx="2514600" cy="152400"/>
                  <a:chOff x="3810000" y="2740223"/>
                  <a:chExt cx="2514600" cy="152400"/>
                </a:xfrm>
              </p:grpSpPr>
              <p:sp>
                <p:nvSpPr>
                  <p:cNvPr id="26" name="Oval 25"/>
                  <p:cNvSpPr/>
                  <p:nvPr/>
                </p:nvSpPr>
                <p:spPr>
                  <a:xfrm>
                    <a:off x="4495800" y="2740223"/>
                    <a:ext cx="152400" cy="152400"/>
                  </a:xfrm>
                  <a:prstGeom prst="ellipse">
                    <a:avLst/>
                  </a:prstGeom>
                  <a:solidFill>
                    <a:schemeClr val="tx2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7" name="Straight Arrow Connector 26"/>
                  <p:cNvCxnSpPr/>
                  <p:nvPr/>
                </p:nvCxnSpPr>
                <p:spPr>
                  <a:xfrm>
                    <a:off x="3810000" y="2816423"/>
                    <a:ext cx="685800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" name="Oval 27"/>
                  <p:cNvSpPr/>
                  <p:nvPr/>
                </p:nvSpPr>
                <p:spPr>
                  <a:xfrm>
                    <a:off x="5334000" y="2740223"/>
                    <a:ext cx="152400" cy="152400"/>
                  </a:xfrm>
                  <a:prstGeom prst="ellipse">
                    <a:avLst/>
                  </a:prstGeom>
                  <a:solidFill>
                    <a:schemeClr val="tx2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29" name="Straight Arrow Connector 28"/>
                  <p:cNvCxnSpPr/>
                  <p:nvPr/>
                </p:nvCxnSpPr>
                <p:spPr>
                  <a:xfrm>
                    <a:off x="4648200" y="2816423"/>
                    <a:ext cx="685800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" name="Oval 29"/>
                  <p:cNvSpPr/>
                  <p:nvPr/>
                </p:nvSpPr>
                <p:spPr>
                  <a:xfrm>
                    <a:off x="6172200" y="2740223"/>
                    <a:ext cx="152400" cy="152400"/>
                  </a:xfrm>
                  <a:prstGeom prst="ellipse">
                    <a:avLst/>
                  </a:prstGeom>
                  <a:solidFill>
                    <a:schemeClr val="tx2"/>
                  </a:solidFill>
                  <a:ln w="1270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cxnSp>
                <p:nvCxnSpPr>
                  <p:cNvPr id="31" name="Straight Arrow Connector 30"/>
                  <p:cNvCxnSpPr/>
                  <p:nvPr/>
                </p:nvCxnSpPr>
                <p:spPr>
                  <a:xfrm>
                    <a:off x="5486400" y="2816423"/>
                    <a:ext cx="685800" cy="0"/>
                  </a:xfrm>
                  <a:prstGeom prst="straightConnector1">
                    <a:avLst/>
                  </a:prstGeom>
                  <a:ln w="28575">
                    <a:solidFill>
                      <a:schemeClr val="tx1"/>
                    </a:solidFill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</p:grpSp>
        <p:cxnSp>
          <p:nvCxnSpPr>
            <p:cNvPr id="36" name="Straight Arrow Connector 35"/>
            <p:cNvCxnSpPr/>
            <p:nvPr/>
          </p:nvCxnSpPr>
          <p:spPr>
            <a:xfrm>
              <a:off x="7162800" y="2819400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295400" y="2819400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1" name="Group 10"/>
          <p:cNvGrpSpPr/>
          <p:nvPr/>
        </p:nvGrpSpPr>
        <p:grpSpPr>
          <a:xfrm>
            <a:off x="990600" y="2740223"/>
            <a:ext cx="386644" cy="445532"/>
            <a:chOff x="990600" y="2740223"/>
            <a:chExt cx="386644" cy="445532"/>
          </a:xfrm>
        </p:grpSpPr>
        <p:sp>
          <p:nvSpPr>
            <p:cNvPr id="44" name="Oval 43"/>
            <p:cNvSpPr/>
            <p:nvPr/>
          </p:nvSpPr>
          <p:spPr>
            <a:xfrm>
              <a:off x="1143000" y="2740223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7" name="TextBox 46"/>
                <p:cNvSpPr txBox="1"/>
                <p:nvPr/>
              </p:nvSpPr>
              <p:spPr>
                <a:xfrm>
                  <a:off x="990600" y="2816423"/>
                  <a:ext cx="38664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𝒖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7" name="TextBox 4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600" y="2816423"/>
                  <a:ext cx="386644" cy="369332"/>
                </a:xfrm>
                <a:prstGeom prst="rect">
                  <a:avLst/>
                </a:prstGeom>
                <a:blipFill rotWithShape="1">
                  <a:blip r:embed="rId3"/>
                  <a:stretch>
                    <a:fillRect t="-8197" r="-20635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2" name="Group 11"/>
          <p:cNvGrpSpPr/>
          <p:nvPr/>
        </p:nvGrpSpPr>
        <p:grpSpPr>
          <a:xfrm>
            <a:off x="7696200" y="2740223"/>
            <a:ext cx="375423" cy="445532"/>
            <a:chOff x="7696200" y="2740223"/>
            <a:chExt cx="375423" cy="445532"/>
          </a:xfrm>
        </p:grpSpPr>
        <p:sp>
          <p:nvSpPr>
            <p:cNvPr id="35" name="Oval 34"/>
            <p:cNvSpPr/>
            <p:nvPr/>
          </p:nvSpPr>
          <p:spPr>
            <a:xfrm>
              <a:off x="7873187" y="2740223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8" name="TextBox 47"/>
                <p:cNvSpPr txBox="1"/>
                <p:nvPr/>
              </p:nvSpPr>
              <p:spPr>
                <a:xfrm>
                  <a:off x="7696200" y="2816423"/>
                  <a:ext cx="37542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𝒗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48" name="TextBox 4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6200" y="2816423"/>
                  <a:ext cx="375423" cy="369332"/>
                </a:xfrm>
                <a:prstGeom prst="rect">
                  <a:avLst/>
                </a:prstGeom>
                <a:blipFill rotWithShape="1">
                  <a:blip r:embed="rId14"/>
                  <a:stretch>
                    <a:fillRect l="-14754" t="-8197" r="-27869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159748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The</a:t>
            </a:r>
            <a:r>
              <a:rPr lang="en-US" sz="3200" b="1" dirty="0">
                <a:solidFill>
                  <a:srgbClr val="006C31"/>
                </a:solidFill>
              </a:rPr>
              <a:t> Optimal substructure</a:t>
            </a:r>
            <a:r>
              <a:rPr lang="en-US" sz="3200" b="1" dirty="0"/>
              <a:t> property</a:t>
            </a:r>
            <a:br>
              <a:rPr lang="en-US" sz="3200" b="1" dirty="0"/>
            </a:br>
            <a:endParaRPr lang="en-US" sz="3200" b="1" u="sng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Consider any shortest path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For a recursive formulation of 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,</a:t>
                </a:r>
              </a:p>
              <a:p>
                <a:pPr marL="0" indent="0">
                  <a:buNone/>
                </a:pPr>
                <a:r>
                  <a:rPr lang="en-US" sz="2000" dirty="0"/>
                  <a:t>We can use </a:t>
                </a:r>
                <a:r>
                  <a:rPr lang="en-US" sz="2000" b="1" dirty="0">
                    <a:solidFill>
                      <a:srgbClr val="C00000"/>
                    </a:solidFill>
                  </a:rPr>
                  <a:t>max-index</a:t>
                </a:r>
                <a:r>
                  <a:rPr lang="en-US" sz="2000" dirty="0"/>
                  <a:t> of </a:t>
                </a:r>
                <a:r>
                  <a:rPr lang="en-US" sz="2000" b="1" dirty="0"/>
                  <a:t>intermediate vertices</a:t>
                </a:r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𝑷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  <a:endParaRPr lang="en-US" sz="2000" b="1" dirty="0">
                  <a:sym typeface="Wingdings" pitchFamily="2" charset="2"/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7010400" y="2740223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2819400" y="2740223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>
            <a:off x="3657600" y="2740223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4495800" y="2754868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5334000" y="2754868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172200" y="2754868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2133600" y="2816423"/>
            <a:ext cx="4876800" cy="14645"/>
            <a:chOff x="2133600" y="2816423"/>
            <a:chExt cx="4876800" cy="14645"/>
          </a:xfrm>
        </p:grpSpPr>
        <p:cxnSp>
          <p:nvCxnSpPr>
            <p:cNvPr id="18" name="Straight Arrow Connector 17"/>
            <p:cNvCxnSpPr/>
            <p:nvPr/>
          </p:nvCxnSpPr>
          <p:spPr>
            <a:xfrm>
              <a:off x="2133600" y="2816423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2971800" y="2816423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324600" y="2816423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/>
            <p:cNvCxnSpPr/>
            <p:nvPr/>
          </p:nvCxnSpPr>
          <p:spPr>
            <a:xfrm>
              <a:off x="3810000" y="2831068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/>
            <p:nvPr/>
          </p:nvCxnSpPr>
          <p:spPr>
            <a:xfrm>
              <a:off x="4648200" y="2831068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/>
            <p:cNvCxnSpPr/>
            <p:nvPr/>
          </p:nvCxnSpPr>
          <p:spPr>
            <a:xfrm>
              <a:off x="5486400" y="2831068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2667000" y="2373868"/>
                <a:ext cx="5132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𝟏𝟏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67000" y="2373868"/>
                <a:ext cx="513281" cy="369332"/>
              </a:xfrm>
              <a:prstGeom prst="rect">
                <a:avLst/>
              </a:prstGeom>
              <a:blipFill rotWithShape="1">
                <a:blip r:embed="rId10"/>
                <a:stretch>
                  <a:fillRect t="-8197" r="-1547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3449119" y="23622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𝟑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9119" y="2362200"/>
                <a:ext cx="375423" cy="369332"/>
              </a:xfrm>
              <a:prstGeom prst="rect">
                <a:avLst/>
              </a:prstGeom>
              <a:blipFill rotWithShape="1">
                <a:blip r:embed="rId11"/>
                <a:stretch>
                  <a:fillRect t="-8333" r="-2131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343400" y="2362200"/>
                <a:ext cx="513282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𝟑𝟓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2362200"/>
                <a:ext cx="513282" cy="369332"/>
              </a:xfrm>
              <a:prstGeom prst="rect">
                <a:avLst/>
              </a:prstGeom>
              <a:blipFill rotWithShape="1">
                <a:blip r:embed="rId12"/>
                <a:stretch>
                  <a:fillRect t="-8333" r="-1547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2" name="TextBox 31"/>
              <p:cNvSpPr txBox="1"/>
              <p:nvPr/>
            </p:nvSpPr>
            <p:spPr>
              <a:xfrm>
                <a:off x="5125518" y="2362200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2" name="TextBox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25518" y="2362200"/>
                <a:ext cx="375423" cy="369332"/>
              </a:xfrm>
              <a:prstGeom prst="rect">
                <a:avLst/>
              </a:prstGeom>
              <a:blipFill rotWithShape="1">
                <a:blip r:embed="rId13"/>
                <a:stretch>
                  <a:fillRect t="-8333" r="-21311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6019800" y="2373868"/>
                <a:ext cx="5132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𝟏𝟕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9800" y="2373868"/>
                <a:ext cx="513281" cy="369332"/>
              </a:xfrm>
              <a:prstGeom prst="rect">
                <a:avLst/>
              </a:prstGeom>
              <a:blipFill rotWithShape="1">
                <a:blip r:embed="rId14"/>
                <a:stretch>
                  <a:fillRect t="-8197" r="-1547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Oval 34"/>
          <p:cNvSpPr/>
          <p:nvPr/>
        </p:nvSpPr>
        <p:spPr>
          <a:xfrm>
            <a:off x="1143000" y="2740223"/>
            <a:ext cx="152400" cy="152400"/>
          </a:xfrm>
          <a:prstGeom prst="ellipse">
            <a:avLst/>
          </a:prstGeom>
          <a:solidFill>
            <a:srgbClr val="FFC000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7" name="Straight Arrow Connector 36"/>
          <p:cNvCxnSpPr/>
          <p:nvPr/>
        </p:nvCxnSpPr>
        <p:spPr>
          <a:xfrm>
            <a:off x="1295400" y="2819400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Oval 43"/>
          <p:cNvSpPr/>
          <p:nvPr/>
        </p:nvSpPr>
        <p:spPr>
          <a:xfrm>
            <a:off x="1981200" y="2743200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Oval 45"/>
          <p:cNvSpPr/>
          <p:nvPr/>
        </p:nvSpPr>
        <p:spPr>
          <a:xfrm>
            <a:off x="7873187" y="2740223"/>
            <a:ext cx="152400" cy="152400"/>
          </a:xfrm>
          <a:prstGeom prst="ellipse">
            <a:avLst/>
          </a:prstGeom>
          <a:solidFill>
            <a:schemeClr val="tx2"/>
          </a:solidFill>
          <a:ln w="127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Straight Arrow Connector 47"/>
          <p:cNvCxnSpPr/>
          <p:nvPr/>
        </p:nvCxnSpPr>
        <p:spPr>
          <a:xfrm>
            <a:off x="7162800" y="2819400"/>
            <a:ext cx="6858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/>
              <p:cNvSpPr txBox="1"/>
              <p:nvPr/>
            </p:nvSpPr>
            <p:spPr>
              <a:xfrm>
                <a:off x="1752600" y="2362200"/>
                <a:ext cx="51328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𝟐𝟒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9" name="TextBox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2600" y="2362200"/>
                <a:ext cx="513281" cy="369332"/>
              </a:xfrm>
              <a:prstGeom prst="rect">
                <a:avLst/>
              </a:prstGeom>
              <a:blipFill rotWithShape="1">
                <a:blip r:embed="rId15"/>
                <a:stretch>
                  <a:fillRect t="-8333" r="-15476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6781800" y="2373868"/>
                <a:ext cx="37542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𝟗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81800" y="2373868"/>
                <a:ext cx="375423" cy="369332"/>
              </a:xfrm>
              <a:prstGeom prst="rect">
                <a:avLst/>
              </a:prstGeom>
              <a:blipFill rotWithShape="1">
                <a:blip r:embed="rId16"/>
                <a:stretch>
                  <a:fillRect t="-8197" r="-2131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990600" y="2816423"/>
                <a:ext cx="38664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𝒖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90600" y="2816423"/>
                <a:ext cx="386644" cy="369332"/>
              </a:xfrm>
              <a:prstGeom prst="rect">
                <a:avLst/>
              </a:prstGeom>
              <a:blipFill rotWithShape="1">
                <a:blip r:embed="rId17"/>
                <a:stretch>
                  <a:fillRect t="-8197" r="-2063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/>
              <p:cNvSpPr txBox="1"/>
              <p:nvPr/>
            </p:nvSpPr>
            <p:spPr>
              <a:xfrm>
                <a:off x="7696200" y="2816423"/>
                <a:ext cx="37542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2" name="TextBox 5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96200" y="2816423"/>
                <a:ext cx="375424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4754" t="-8197" r="-2786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Right Brace 6"/>
          <p:cNvSpPr/>
          <p:nvPr/>
        </p:nvSpPr>
        <p:spPr>
          <a:xfrm rot="5400000" flipH="1">
            <a:off x="4406476" y="-470324"/>
            <a:ext cx="275422" cy="5389626"/>
          </a:xfrm>
          <a:prstGeom prst="rightBrac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12"/>
          <p:cNvGrpSpPr/>
          <p:nvPr/>
        </p:nvGrpSpPr>
        <p:grpSpPr>
          <a:xfrm>
            <a:off x="3947864" y="2971800"/>
            <a:ext cx="1233736" cy="826532"/>
            <a:chOff x="3947864" y="2971800"/>
            <a:chExt cx="1233736" cy="826532"/>
          </a:xfrm>
        </p:grpSpPr>
        <p:sp>
          <p:nvSpPr>
            <p:cNvPr id="8" name="Right Arrow 7"/>
            <p:cNvSpPr/>
            <p:nvPr/>
          </p:nvSpPr>
          <p:spPr>
            <a:xfrm rot="16200000">
              <a:off x="4346600" y="3083206"/>
              <a:ext cx="489205" cy="26639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3947864" y="3429000"/>
              <a:ext cx="1233736" cy="369332"/>
            </a:xfrm>
            <a:prstGeom prst="rect">
              <a:avLst/>
            </a:prstGeom>
            <a:solidFill>
              <a:srgbClr val="FFC000"/>
            </a:solidFill>
          </p:spPr>
          <p:txBody>
            <a:bodyPr wrap="none" rtlCol="0">
              <a:spAutoFit/>
            </a:bodyPr>
            <a:lstStyle/>
            <a:p>
              <a:r>
                <a:rPr lang="en-US" b="1" dirty="0">
                  <a:solidFill>
                    <a:srgbClr val="C00000"/>
                  </a:solidFill>
                </a:rPr>
                <a:t>max-index</a:t>
              </a:r>
              <a:r>
                <a:rPr lang="en-US" b="1" dirty="0"/>
                <a:t> 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1828800" y="3200400"/>
            <a:ext cx="1995742" cy="597932"/>
            <a:chOff x="1828800" y="3200400"/>
            <a:chExt cx="1995742" cy="597932"/>
          </a:xfrm>
        </p:grpSpPr>
        <p:sp>
          <p:nvSpPr>
            <p:cNvPr id="34" name="Right Brace 33"/>
            <p:cNvSpPr/>
            <p:nvPr/>
          </p:nvSpPr>
          <p:spPr>
            <a:xfrm rot="16200000" flipH="1">
              <a:off x="2674271" y="2354929"/>
              <a:ext cx="304800" cy="1995742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667000" y="3429000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?</a:t>
              </a:r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5202174" y="3200400"/>
            <a:ext cx="2036826" cy="597932"/>
            <a:chOff x="5202174" y="3200400"/>
            <a:chExt cx="2036826" cy="597932"/>
          </a:xfrm>
        </p:grpSpPr>
        <p:sp>
          <p:nvSpPr>
            <p:cNvPr id="36" name="Right Brace 35"/>
            <p:cNvSpPr/>
            <p:nvPr/>
          </p:nvSpPr>
          <p:spPr>
            <a:xfrm rot="16200000" flipH="1">
              <a:off x="6068186" y="2334388"/>
              <a:ext cx="304801" cy="2036826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6096000" y="3429000"/>
              <a:ext cx="29206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?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2590800" y="3505200"/>
                <a:ext cx="575799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𝟑𝟓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90800" y="3505200"/>
                <a:ext cx="575799" cy="369332"/>
              </a:xfrm>
              <a:prstGeom prst="rect">
                <a:avLst/>
              </a:prstGeom>
              <a:blipFill rotWithShape="1">
                <a:blip r:embed="rId18"/>
                <a:stretch>
                  <a:fillRect l="-8511" t="-8197" r="-1808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5901201" y="3505200"/>
                <a:ext cx="575799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&lt;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𝟑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𝟓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1201" y="3505200"/>
                <a:ext cx="575799" cy="369332"/>
              </a:xfrm>
              <a:prstGeom prst="rect">
                <a:avLst/>
              </a:prstGeom>
              <a:blipFill rotWithShape="1">
                <a:blip r:embed="rId19"/>
                <a:stretch>
                  <a:fillRect l="-8421" t="-8197" r="-1789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99477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9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6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9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1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2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28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4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21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36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7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3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3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1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32" presetClass="emph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87" dur="1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88" dur="200" fill="hold">
                                          <p:stCondLst>
                                            <p:cond delay="2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89" dur="2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90" dur="200" fill="hold">
                                          <p:stCondLst>
                                            <p:cond delay="6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91" dur="2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1" presetClass="emph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hsl" dir="cw">
                                      <p:cBhvr override="childStyle">
                                        <p:cTn id="100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animClr clrSpc="hsl" dir="cw">
                                      <p:cBhvr>
                                        <p:cTn id="10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by>
                                        <p:hsl h="7200000" s="0" l="0"/>
                                      </p:by>
                                    </p:animClr>
                                    <p:set>
                                      <p:cBhvr>
                                        <p:cTn id="10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40" grpId="0" animBg="1"/>
      <p:bldP spid="9" grpId="0" animBg="1"/>
      <p:bldP spid="10" grpId="0" animBg="1"/>
      <p:bldP spid="26" grpId="0" animBg="1"/>
      <p:bldP spid="28" grpId="0" animBg="1"/>
      <p:bldP spid="30" grpId="0" animBg="1"/>
      <p:bldP spid="3" grpId="0"/>
      <p:bldP spid="24" grpId="0"/>
      <p:bldP spid="25" grpId="0" animBg="1"/>
      <p:bldP spid="25" grpId="1" animBg="1"/>
      <p:bldP spid="25" grpId="2" animBg="1"/>
      <p:bldP spid="32" grpId="0"/>
      <p:bldP spid="33" grpId="0"/>
      <p:bldP spid="44" grpId="0" animBg="1"/>
      <p:bldP spid="49" grpId="0"/>
      <p:bldP spid="50" grpId="0"/>
      <p:bldP spid="7" grpId="0" animBg="1"/>
      <p:bldP spid="11" grpId="0" animBg="1"/>
      <p:bldP spid="3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Term for Recursive formulation </a:t>
                </a:r>
                <a:r>
                  <a:rPr lang="en-US" sz="3200" b="1" dirty="0"/>
                  <a:t>of </a:t>
                </a:r>
                <a14:m>
                  <m:oMath xmlns:m="http://schemas.openxmlformats.org/officeDocument/2006/math"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𝜹</m:t>
                    </m:r>
                    <m:r>
                      <a:rPr lang="en-US" sz="3200" b="1" i="1" dirty="0">
                        <a:latin typeface="Cambria Math"/>
                      </a:rPr>
                      <m:t>(</m:t>
                    </m:r>
                    <m:r>
                      <a:rPr lang="en-US" sz="32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𝒖</m:t>
                    </m:r>
                    <m:r>
                      <a:rPr lang="en-US" sz="3200" b="1" i="1" dirty="0">
                        <a:latin typeface="Cambria Math"/>
                      </a:rPr>
                      <m:t>,</m:t>
                    </m:r>
                    <m:r>
                      <a:rPr lang="en-US" sz="3200" b="1" i="1" dirty="0">
                        <a:solidFill>
                          <a:srgbClr val="0070C0"/>
                        </a:solidFill>
                        <a:latin typeface="Cambria Math"/>
                      </a:rPr>
                      <m:t>𝒗</m:t>
                    </m:r>
                    <m:r>
                      <a:rPr lang="en-US" sz="32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3200" dirty="0"/>
                  <a:t> ?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              :  the shortest path from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with </a:t>
                </a:r>
                <a:r>
                  <a:rPr lang="en-US" sz="2000" u="sng" dirty="0"/>
                  <a:t>intermediate vertices</a:t>
                </a:r>
                <a:r>
                  <a:rPr lang="en-US" sz="2000" dirty="0"/>
                  <a:t> of index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≤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:  length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/>
                  <a:t>: How can we express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in terms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?</a:t>
                </a:r>
              </a:p>
              <a:p>
                <a:pPr marL="0" indent="0">
                  <a:buNone/>
                </a:pPr>
                <a:r>
                  <a:rPr lang="en-US" sz="2000" dirty="0"/>
                  <a:t>Answer: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𝜹</m:t>
                    </m:r>
                    <m:r>
                      <a:rPr lang="en-US" sz="2000" b="1" i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𝒏</m:t>
                        </m:r>
                      </m:sub>
                    </m:sSub>
                    <m:r>
                      <a:rPr lang="en-US" sz="2000" b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: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Base Case</a:t>
                </a:r>
                <a:r>
                  <a:rPr lang="en-US" sz="2000" dirty="0"/>
                  <a:t>: 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</a:p>
              <a:p>
                <a:pPr marL="0" indent="0">
                  <a:buNone/>
                </a:pPr>
                <a:endParaRPr lang="en-US" sz="2000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Question</a:t>
                </a:r>
                <a:r>
                  <a:rPr lang="en-US" sz="2000" dirty="0">
                    <a:solidFill>
                      <a:srgbClr val="C00000"/>
                    </a:solidFill>
                  </a:rPr>
                  <a:t>: </a:t>
                </a:r>
                <a:r>
                  <a:rPr lang="en-US" sz="2000" dirty="0"/>
                  <a:t>What is recursive formulation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dirty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?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600200"/>
                <a:ext cx="8458200" cy="4525963"/>
              </a:xfrm>
              <a:blipFill rotWithShape="1">
                <a:blip r:embed="rId3"/>
                <a:stretch>
                  <a:fillRect l="-720" t="-6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13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1524000" y="4419600"/>
                <a:ext cx="2180853" cy="586571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d>
                        <m:dPr>
                          <m:begChr m:val="{"/>
                          <m:endChr m:val=""/>
                          <m:ctrlPr>
                            <a:rPr lang="en-US" i="1" dirty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eqArr>
                            <m:eqArrPr>
                              <m:ctrlPr>
                                <a:rPr lang="en-US" i="1" dirty="0">
                                  <a:latin typeface="Cambria Math" panose="02040503050406030204" pitchFamily="18" charset="0"/>
                                </a:rPr>
                              </m:ctrlPr>
                            </m:eqArrPr>
                            <m:e>
                              <m:r>
                                <a:rPr lang="en-US" b="1" i="1" dirty="0">
                                  <a:solidFill>
                                    <a:srgbClr val="7030A0"/>
                                  </a:solidFill>
                                  <a:latin typeface="Cambria Math"/>
                                </a:rPr>
                                <m:t>𝝎</m:t>
                              </m:r>
                              <m:d>
                                <m:dPr>
                                  <m:ctrlP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𝒊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,</m:t>
                                  </m:r>
                                  <m:r>
                                    <a:rPr lang="en-US" b="1" i="1" dirty="0">
                                      <a:solidFill>
                                        <a:srgbClr val="0070C0"/>
                                      </a:solidFill>
                                      <a:latin typeface="Cambria Math"/>
                                    </a:rPr>
                                    <m:t>𝒋</m:t>
                                  </m:r>
                                </m:e>
                              </m:d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a:rPr lang="en-US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 </m:t>
                              </m:r>
                              <m:r>
                                <m:rPr>
                                  <m:sty m:val="p"/>
                                </m:rPr>
                                <a:rPr lang="en-US" dirty="0">
                                  <a:latin typeface="Cambria Math"/>
                                </a:rPr>
                                <m:t>if</m:t>
                              </m:r>
                              <m:r>
                                <a:rPr lang="en-US" b="1" dirty="0">
                                  <a:latin typeface="Cambria Math"/>
                                </a:rPr>
                                <m:t>  (</m:t>
                              </m:r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𝒊</m:t>
                              </m:r>
                              <m:r>
                                <a:rPr lang="en-US" b="1" dirty="0">
                                  <a:latin typeface="Cambria Math"/>
                                </a:rPr>
                                <m:t>,</m:t>
                              </m:r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𝒋</m:t>
                              </m:r>
                              <m:r>
                                <a:rPr lang="en-US" b="1" i="1" dirty="0">
                                  <a:latin typeface="Cambria Math"/>
                                </a:rPr>
                                <m:t>)∈</m:t>
                              </m:r>
                              <m:r>
                                <a:rPr lang="en-US" b="1" i="1" dirty="0">
                                  <a:solidFill>
                                    <a:srgbClr val="0070C0"/>
                                  </a:solidFill>
                                  <a:latin typeface="Cambria Math"/>
                                </a:rPr>
                                <m:t>𝑬</m:t>
                              </m:r>
                            </m:e>
                            <m:e>
                              <m:r>
                                <a:rPr lang="en-US" b="1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  <a:sym typeface="Wingdings" pitchFamily="2" charset="2"/>
                                </a:rPr>
                                <m:t>∞</m:t>
                              </m:r>
                              <m:r>
                                <a:rPr lang="en-US" i="1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  <a:sym typeface="Wingdings" pitchFamily="2" charset="2"/>
                                </a:rPr>
                                <m:t> </m:t>
                              </m:r>
                              <m:r>
                                <a:rPr lang="en-US" b="0" i="0" smtClean="0">
                                  <a:solidFill>
                                    <a:srgbClr val="0070C0"/>
                                  </a:solidFill>
                                  <a:latin typeface="Cambria Math"/>
                                  <a:ea typeface="Cambria Math"/>
                                  <a:sym typeface="Wingdings" pitchFamily="2" charset="2"/>
                                </a:rPr>
                                <m:t>           </m:t>
                              </m:r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/>
                                  <a:ea typeface="Cambria Math"/>
                                  <a:sym typeface="Wingdings" pitchFamily="2" charset="2"/>
                                </a:rPr>
                                <m:t>otherwise</m:t>
                              </m:r>
                            </m:e>
                          </m:eqArr>
                        </m:e>
                      </m:d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24000" y="4419600"/>
                <a:ext cx="2180853" cy="586571"/>
              </a:xfrm>
              <a:prstGeom prst="rect">
                <a:avLst/>
              </a:prstGeom>
              <a:blipFill rotWithShape="1">
                <a:blip r:embed="rId4"/>
                <a:stretch>
                  <a:fillRect r="-307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76124" y="1611868"/>
                <a:ext cx="97167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𝑷</m:t>
                          </m:r>
                        </m:e>
                        <m:sub>
                          <m:r>
                            <a:rPr lang="en-US" b="1" i="1" dirty="0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b="1" dirty="0">
                          <a:latin typeface="Cambria Math"/>
                        </a:rPr>
                        <m:t>(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dirty="0">
                          <a:latin typeface="Cambria Math"/>
                        </a:rPr>
                        <m:t>,</m:t>
                      </m:r>
                      <m:r>
                        <a:rPr lang="en-US" b="1" i="1" dirty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  <m:r>
                        <a:rPr lang="en-US" b="1" i="1" dirty="0">
                          <a:latin typeface="Cambria Math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6124" y="1611868"/>
                <a:ext cx="971676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750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43580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  <p:bldP spid="5" grpId="0" animBg="1"/>
      <p:bldP spid="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formulation </a:t>
                </a:r>
                <a:r>
                  <a:rPr lang="en-US" sz="3200" b="1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8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800" dirty="0">
                        <a:latin typeface="Cambria Math"/>
                      </a:rPr>
                      <m:t>,</m:t>
                    </m:r>
                    <m:r>
                      <a:rPr lang="en-US" sz="28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br>
                  <a:rPr lang="en-US" sz="2800" b="1" dirty="0"/>
                </a:br>
                <a:endParaRPr lang="en-US" sz="2800" b="1" u="sng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1064" b="-9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Consider the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are two cases: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Case 1</a:t>
                </a:r>
                <a:r>
                  <a:rPr lang="en-US" sz="2000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 does not pass through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Case 2 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 indeed passes through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  <a:blipFill rotWithShape="1">
                <a:blip r:embed="rId3"/>
                <a:stretch>
                  <a:fillRect l="-741" t="-631" b="-12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14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343400" y="3260469"/>
                <a:ext cx="378629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3260469"/>
                <a:ext cx="37862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2096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295400" y="3638492"/>
            <a:ext cx="6553200" cy="167045"/>
            <a:chOff x="1295400" y="3638492"/>
            <a:chExt cx="6553200" cy="167045"/>
          </a:xfrm>
        </p:grpSpPr>
        <p:sp>
          <p:nvSpPr>
            <p:cNvPr id="9" name="Oval 8"/>
            <p:cNvSpPr/>
            <p:nvPr/>
          </p:nvSpPr>
          <p:spPr>
            <a:xfrm>
              <a:off x="2819400" y="3638492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657600" y="3638492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2133600" y="3714692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2971800" y="3714692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324600" y="3714692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4495800" y="3653137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>
              <a:off x="3810000" y="3729337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/>
            <p:cNvSpPr/>
            <p:nvPr/>
          </p:nvSpPr>
          <p:spPr>
            <a:xfrm>
              <a:off x="5334000" y="3653137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>
              <a:off x="4648200" y="3729337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>
              <a:off x="6172200" y="3653137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5486400" y="3729337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1295400" y="3717669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1981200" y="3641469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>
              <a:off x="7162800" y="3717669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7010400" y="3641469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1219200" y="4006338"/>
            <a:ext cx="3313514" cy="778131"/>
            <a:chOff x="3657600" y="3036334"/>
            <a:chExt cx="3313514" cy="778131"/>
          </a:xfrm>
        </p:grpSpPr>
        <p:sp>
          <p:nvSpPr>
            <p:cNvPr id="45" name="Right Brace 44"/>
            <p:cNvSpPr/>
            <p:nvPr/>
          </p:nvSpPr>
          <p:spPr>
            <a:xfrm rot="5400000">
              <a:off x="5118024" y="1575910"/>
              <a:ext cx="392666" cy="3313514"/>
            </a:xfrm>
            <a:prstGeom prst="rightBrac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159066" y="3352800"/>
              <a:ext cx="3273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?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611286" y="4022469"/>
            <a:ext cx="3313514" cy="778131"/>
            <a:chOff x="3657600" y="3036334"/>
            <a:chExt cx="3313514" cy="778131"/>
          </a:xfrm>
        </p:grpSpPr>
        <p:sp>
          <p:nvSpPr>
            <p:cNvPr id="48" name="Right Brace 47"/>
            <p:cNvSpPr/>
            <p:nvPr/>
          </p:nvSpPr>
          <p:spPr>
            <a:xfrm rot="5400000">
              <a:off x="5118024" y="1575910"/>
              <a:ext cx="392666" cy="3313514"/>
            </a:xfrm>
            <a:prstGeom prst="rightBrac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159066" y="3352800"/>
              <a:ext cx="3273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?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119054" y="2069068"/>
                <a:ext cx="2446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=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054" y="2069068"/>
                <a:ext cx="2446504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244" t="-9836" r="-349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085217" y="2438400"/>
                <a:ext cx="58221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dirty="0" smtClean="0">
                        <a:solidFill>
                          <a:srgbClr val="C00000"/>
                        </a:solidFill>
                        <a:latin typeface="Cambria Math"/>
                      </a:rPr>
                      <m:t>?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217" y="2438400"/>
                <a:ext cx="582211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8333" t="-9836" r="-1770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286000" y="4419600"/>
                <a:ext cx="1236172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0" dirty="0" smtClean="0"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419600"/>
                <a:ext cx="1236172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738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638800" y="4419600"/>
                <a:ext cx="1240981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0" dirty="0" smtClean="0"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419600"/>
                <a:ext cx="1240981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73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7696200" y="3638492"/>
            <a:ext cx="329387" cy="445532"/>
            <a:chOff x="7696200" y="3638492"/>
            <a:chExt cx="329387" cy="4455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696200" y="3714692"/>
                  <a:ext cx="3273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6200" y="3714692"/>
                  <a:ext cx="327334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16981" t="-8197" r="-3396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Oval 53"/>
            <p:cNvSpPr/>
            <p:nvPr/>
          </p:nvSpPr>
          <p:spPr>
            <a:xfrm>
              <a:off x="7873187" y="3638492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990600" y="3638492"/>
            <a:ext cx="322524" cy="540840"/>
            <a:chOff x="990600" y="3638492"/>
            <a:chExt cx="322524" cy="5408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990600" y="3810000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600" y="3810000"/>
                  <a:ext cx="322524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197" r="-25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Oval 54"/>
            <p:cNvSpPr/>
            <p:nvPr/>
          </p:nvSpPr>
          <p:spPr>
            <a:xfrm>
              <a:off x="1143000" y="3638492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8" name="Rounded Rectangle 37"/>
              <p:cNvSpPr/>
              <p:nvPr/>
            </p:nvSpPr>
            <p:spPr>
              <a:xfrm>
                <a:off x="1073034" y="4846320"/>
                <a:ext cx="3797531" cy="1170782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If this is longer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then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replacing it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dirty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dirty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will </a:t>
                </a:r>
                <a:r>
                  <a:rPr lang="en-US" b="1" dirty="0">
                    <a:solidFill>
                      <a:schemeClr val="tx1"/>
                    </a:solidFill>
                  </a:rPr>
                  <a:t>only</a:t>
                </a:r>
                <a:r>
                  <a:rPr lang="en-US" dirty="0">
                    <a:solidFill>
                      <a:schemeClr val="tx1"/>
                    </a:solidFill>
                  </a:rPr>
                  <a:t> give a shorter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b="1" dirty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dirty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 A contradiction!</a:t>
                </a:r>
              </a:p>
            </p:txBody>
          </p:sp>
        </mc:Choice>
        <mc:Fallback xmlns="">
          <p:sp>
            <p:nvSpPr>
              <p:cNvPr id="38" name="Rounded Rectangle 3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3034" y="4846320"/>
                <a:ext cx="3797531" cy="1170782"/>
              </a:xfrm>
              <a:prstGeom prst="roundRect">
                <a:avLst/>
              </a:prstGeom>
              <a:blipFill rotWithShape="1">
                <a:blip r:embed="rId11"/>
                <a:stretch>
                  <a:fillRect t="-2041" r="-1116"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/>
          <p:cNvCxnSpPr/>
          <p:nvPr/>
        </p:nvCxnSpPr>
        <p:spPr>
          <a:xfrm>
            <a:off x="1752600" y="4218802"/>
            <a:ext cx="0" cy="627518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Rounded Rectangle 42"/>
              <p:cNvSpPr/>
              <p:nvPr/>
            </p:nvSpPr>
            <p:spPr>
              <a:xfrm>
                <a:off x="4876800" y="4818518"/>
                <a:ext cx="3797531" cy="1170782"/>
              </a:xfrm>
              <a:prstGeom prst="roundRect">
                <a:avLst/>
              </a:prstGeom>
              <a:solidFill>
                <a:schemeClr val="accent3">
                  <a:lumMod val="60000"/>
                  <a:lumOff val="4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If this is longer than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  <m:r>
                      <a:rPr lang="en-US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then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replacing it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dirty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dirty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)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</a:rPr>
                  <a:t> </a:t>
                </a: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will </a:t>
                </a:r>
                <a:r>
                  <a:rPr lang="en-US" b="1" dirty="0">
                    <a:solidFill>
                      <a:schemeClr val="tx1"/>
                    </a:solidFill>
                  </a:rPr>
                  <a:t>only</a:t>
                </a:r>
                <a:r>
                  <a:rPr lang="en-US" dirty="0">
                    <a:solidFill>
                      <a:schemeClr val="tx1"/>
                    </a:solidFill>
                  </a:rPr>
                  <a:t> give a shorter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b="1" dirty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dirty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 )</m:t>
                    </m:r>
                  </m:oMath>
                </a14:m>
                <a:endParaRPr lang="en-US" dirty="0">
                  <a:solidFill>
                    <a:schemeClr val="tx1"/>
                  </a:solidFill>
                </a:endParaRPr>
              </a:p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 A contradiction!</a:t>
                </a:r>
              </a:p>
            </p:txBody>
          </p:sp>
        </mc:Choice>
        <mc:Fallback xmlns="">
          <p:sp>
            <p:nvSpPr>
              <p:cNvPr id="43" name="Rounded Rectangle 4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76800" y="4818518"/>
                <a:ext cx="3797531" cy="1170782"/>
              </a:xfrm>
              <a:prstGeom prst="roundRect">
                <a:avLst/>
              </a:prstGeom>
              <a:blipFill rotWithShape="1">
                <a:blip r:embed="rId12"/>
                <a:stretch>
                  <a:fillRect t="-2041" r="-1116" b="-81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Connector 55"/>
          <p:cNvCxnSpPr/>
          <p:nvPr/>
        </p:nvCxnSpPr>
        <p:spPr>
          <a:xfrm>
            <a:off x="5556366" y="4191000"/>
            <a:ext cx="0" cy="627518"/>
          </a:xfrm>
          <a:prstGeom prst="line">
            <a:avLst/>
          </a:prstGeom>
          <a:ln w="38100">
            <a:solidFill>
              <a:srgbClr val="006C3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73813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500"/>
                            </p:stCondLst>
                            <p:childTnLst>
                              <p:par>
                                <p:cTn id="90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9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9" dur="500"/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2" dur="500"/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5" dur="500"/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8" dur="500"/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>
                            <p:stCondLst>
                              <p:cond delay="500"/>
                            </p:stCondLst>
                            <p:childTnLst>
                              <p:par>
                                <p:cTn id="139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1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8" dur="500"/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1" dur="500"/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4" dur="500"/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7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0" dur="500"/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 uiExpand="1" build="p"/>
      <p:bldP spid="25" grpId="0" animBg="1"/>
      <p:bldP spid="33" grpId="0"/>
      <p:bldP spid="50" grpId="0"/>
      <p:bldP spid="2" grpId="0" animBg="1"/>
      <p:bldP spid="51" grpId="0" animBg="1"/>
      <p:bldP spid="38" grpId="0" animBg="1"/>
      <p:bldP spid="38" grpId="1" build="allAtOnce" animBg="1"/>
      <p:bldP spid="43" grpId="0" animBg="1"/>
      <p:bldP spid="43" grpId="1" build="allAtOnce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5" name="Title 4"/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sz="3200" b="1" dirty="0">
                    <a:solidFill>
                      <a:srgbClr val="7030A0"/>
                    </a:solidFill>
                  </a:rPr>
                  <a:t>Recursive formulation </a:t>
                </a:r>
                <a:r>
                  <a:rPr lang="en-US" sz="3200" b="1" dirty="0"/>
                  <a:t>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8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800" dirty="0">
                        <a:latin typeface="Cambria Math"/>
                      </a:rPr>
                      <m:t>,</m:t>
                    </m:r>
                    <m:r>
                      <a:rPr lang="en-US" sz="28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8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br>
                  <a:rPr lang="en-US" sz="2800" b="1" dirty="0"/>
                </a:br>
                <a:endParaRPr lang="en-US" sz="2800" b="1" u="sng" dirty="0"/>
              </a:p>
            </p:txBody>
          </p:sp>
        </mc:Choice>
        <mc:Fallback xmlns="">
          <p:sp>
            <p:nvSpPr>
              <p:cNvPr id="5" name="Title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 rotWithShape="1">
                <a:blip r:embed="rId2"/>
                <a:stretch>
                  <a:fillRect t="-1064" b="-90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dirty="0"/>
                  <a:t>Consider the path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</a:t>
                </a:r>
              </a:p>
              <a:p>
                <a:pPr marL="0" indent="0">
                  <a:buNone/>
                </a:pPr>
                <a:r>
                  <a:rPr lang="en-US" sz="2000" dirty="0"/>
                  <a:t>There are two cases: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Case 1</a:t>
                </a:r>
                <a:r>
                  <a:rPr lang="en-US" sz="2000" dirty="0"/>
                  <a:t> 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 does not pass through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Case 2 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 indeed passes through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endParaRPr lang="en-US" sz="2000" dirty="0"/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i="0" dirty="0" smtClean="0">
                        <a:latin typeface="Cambria Math"/>
                      </a:rPr>
                      <m:t>(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=</a:t>
                </a:r>
                <a:r>
                  <a:rPr lang="en-US" sz="20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rgbClr val="FF0000"/>
                        </a:solidFill>
                        <a:latin typeface="Cambria Math"/>
                      </a:rPr>
                      <m:t>𝑚𝑖𝑛</m:t>
                    </m:r>
                  </m:oMath>
                </a14:m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  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i="1" dirty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  <m:r>
                      <a:rPr lang="en-US" sz="2000" i="1" dirty="0">
                        <a:latin typeface="Cambria Math"/>
                      </a:rPr>
                      <m:t>+</m:t>
                    </m:r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0" i="1" dirty="0" smtClean="0">
                        <a:latin typeface="Cambria Math"/>
                      </a:rPr>
                      <m:t>(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2000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)</a:t>
                </a:r>
                <a:endParaRPr lang="en-US" sz="2000" b="1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95400"/>
                <a:ext cx="8229600" cy="4830763"/>
              </a:xfrm>
              <a:blipFill rotWithShape="1">
                <a:blip r:embed="rId3"/>
                <a:stretch>
                  <a:fillRect l="-741" t="-631" b="-88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4343400" y="3260469"/>
                <a:ext cx="378629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3260469"/>
                <a:ext cx="378629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333" r="-20968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" name="Group 2"/>
          <p:cNvGrpSpPr/>
          <p:nvPr/>
        </p:nvGrpSpPr>
        <p:grpSpPr>
          <a:xfrm>
            <a:off x="1295400" y="3638492"/>
            <a:ext cx="6553200" cy="167045"/>
            <a:chOff x="1295400" y="3638492"/>
            <a:chExt cx="6553200" cy="167045"/>
          </a:xfrm>
        </p:grpSpPr>
        <p:sp>
          <p:nvSpPr>
            <p:cNvPr id="9" name="Oval 8"/>
            <p:cNvSpPr/>
            <p:nvPr/>
          </p:nvSpPr>
          <p:spPr>
            <a:xfrm>
              <a:off x="2819400" y="3638492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/>
            <p:cNvSpPr/>
            <p:nvPr/>
          </p:nvSpPr>
          <p:spPr>
            <a:xfrm>
              <a:off x="3657600" y="3638492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8" name="Straight Arrow Connector 17"/>
            <p:cNvCxnSpPr/>
            <p:nvPr/>
          </p:nvCxnSpPr>
          <p:spPr>
            <a:xfrm>
              <a:off x="2133600" y="3714692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/>
            <p:nvPr/>
          </p:nvCxnSpPr>
          <p:spPr>
            <a:xfrm>
              <a:off x="2971800" y="3714692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/>
            <p:nvPr/>
          </p:nvCxnSpPr>
          <p:spPr>
            <a:xfrm>
              <a:off x="6324600" y="3714692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Oval 25"/>
            <p:cNvSpPr/>
            <p:nvPr/>
          </p:nvSpPr>
          <p:spPr>
            <a:xfrm>
              <a:off x="4495800" y="3653137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7" name="Straight Arrow Connector 26"/>
            <p:cNvCxnSpPr/>
            <p:nvPr/>
          </p:nvCxnSpPr>
          <p:spPr>
            <a:xfrm>
              <a:off x="3810000" y="3729337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Oval 27"/>
            <p:cNvSpPr/>
            <p:nvPr/>
          </p:nvSpPr>
          <p:spPr>
            <a:xfrm>
              <a:off x="5334000" y="3653137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9" name="Straight Arrow Connector 28"/>
            <p:cNvCxnSpPr/>
            <p:nvPr/>
          </p:nvCxnSpPr>
          <p:spPr>
            <a:xfrm>
              <a:off x="4648200" y="3729337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Oval 29"/>
            <p:cNvSpPr/>
            <p:nvPr/>
          </p:nvSpPr>
          <p:spPr>
            <a:xfrm>
              <a:off x="6172200" y="3653137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1" name="Straight Arrow Connector 30"/>
            <p:cNvCxnSpPr/>
            <p:nvPr/>
          </p:nvCxnSpPr>
          <p:spPr>
            <a:xfrm>
              <a:off x="5486400" y="3729337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/>
            <p:cNvCxnSpPr/>
            <p:nvPr/>
          </p:nvCxnSpPr>
          <p:spPr>
            <a:xfrm>
              <a:off x="1295400" y="3717669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Oval 34"/>
            <p:cNvSpPr/>
            <p:nvPr/>
          </p:nvSpPr>
          <p:spPr>
            <a:xfrm>
              <a:off x="1981200" y="3641469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6" name="Straight Arrow Connector 35"/>
            <p:cNvCxnSpPr/>
            <p:nvPr/>
          </p:nvCxnSpPr>
          <p:spPr>
            <a:xfrm>
              <a:off x="7162800" y="3717669"/>
              <a:ext cx="685800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Oval 36"/>
            <p:cNvSpPr/>
            <p:nvPr/>
          </p:nvSpPr>
          <p:spPr>
            <a:xfrm>
              <a:off x="7010400" y="3641469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1219200" y="4006338"/>
            <a:ext cx="3313514" cy="778131"/>
            <a:chOff x="3657600" y="3036334"/>
            <a:chExt cx="3313514" cy="778131"/>
          </a:xfrm>
        </p:grpSpPr>
        <p:sp>
          <p:nvSpPr>
            <p:cNvPr id="45" name="Right Brace 44"/>
            <p:cNvSpPr/>
            <p:nvPr/>
          </p:nvSpPr>
          <p:spPr>
            <a:xfrm rot="5400000">
              <a:off x="5118024" y="1575910"/>
              <a:ext cx="392666" cy="3313514"/>
            </a:xfrm>
            <a:prstGeom prst="rightBrac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5159066" y="3352800"/>
              <a:ext cx="3273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?</a:t>
              </a:r>
            </a:p>
          </p:txBody>
        </p:sp>
      </p:grpSp>
      <p:grpSp>
        <p:nvGrpSpPr>
          <p:cNvPr id="47" name="Group 46"/>
          <p:cNvGrpSpPr/>
          <p:nvPr/>
        </p:nvGrpSpPr>
        <p:grpSpPr>
          <a:xfrm>
            <a:off x="4611286" y="4022469"/>
            <a:ext cx="3313514" cy="778131"/>
            <a:chOff x="3657600" y="3036334"/>
            <a:chExt cx="3313514" cy="778131"/>
          </a:xfrm>
        </p:grpSpPr>
        <p:sp>
          <p:nvSpPr>
            <p:cNvPr id="48" name="Right Brace 47"/>
            <p:cNvSpPr/>
            <p:nvPr/>
          </p:nvSpPr>
          <p:spPr>
            <a:xfrm rot="5400000">
              <a:off x="5118024" y="1575910"/>
              <a:ext cx="392666" cy="3313514"/>
            </a:xfrm>
            <a:prstGeom prst="rightBrace">
              <a:avLst/>
            </a:prstGeom>
            <a:ln w="28575">
              <a:solidFill>
                <a:srgbClr val="006C3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5159066" y="3352800"/>
              <a:ext cx="327334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dirty="0">
                  <a:solidFill>
                    <a:srgbClr val="C00000"/>
                  </a:solidFill>
                </a:rPr>
                <a:t>?</a:t>
              </a:r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/>
              <p:cNvSpPr txBox="1"/>
              <p:nvPr/>
            </p:nvSpPr>
            <p:spPr>
              <a:xfrm>
                <a:off x="5119054" y="2069068"/>
                <a:ext cx="24465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=</a:t>
                </a:r>
                <a:r>
                  <a:rPr lang="en-US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33" name="TextBox 3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19054" y="2069068"/>
                <a:ext cx="2446504" cy="369332"/>
              </a:xfrm>
              <a:prstGeom prst="rect">
                <a:avLst/>
              </a:prstGeom>
              <a:blipFill rotWithShape="1">
                <a:blip r:embed="rId5"/>
                <a:stretch>
                  <a:fillRect l="-2244" t="-9836" r="-3491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0" name="TextBox 49"/>
              <p:cNvSpPr txBox="1"/>
              <p:nvPr/>
            </p:nvSpPr>
            <p:spPr>
              <a:xfrm>
                <a:off x="5085217" y="2438400"/>
                <a:ext cx="38064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b="1" dirty="0">
                    <a:sym typeface="Wingdings" pitchFamily="2" charset="2"/>
                  </a:rPr>
                  <a:t></a:t>
                </a:r>
                <a:r>
                  <a:rPr lang="en-US" b="1" dirty="0">
                    <a:solidFill>
                      <a:srgbClr val="006C31"/>
                    </a:solidFill>
                    <a:sym typeface="Wingdings" pitchFamily="2" charset="2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b="0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i="1" dirty="0">
                        <a:latin typeface="Cambria Math"/>
                      </a:rPr>
                      <m:t>(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i="1" dirty="0">
                        <a:latin typeface="Cambria Math"/>
                      </a:rPr>
                      <m:t>)+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0" i="1" dirty="0" smtClean="0">
                        <a:latin typeface="Cambria Math"/>
                      </a:rPr>
                      <m:t>(</m:t>
                    </m:r>
                    <m:r>
                      <a:rPr lang="en-US" b="0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b="0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0" name="TextBox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85217" y="2438400"/>
                <a:ext cx="3806427" cy="369332"/>
              </a:xfrm>
              <a:prstGeom prst="rect">
                <a:avLst/>
              </a:prstGeom>
              <a:blipFill rotWithShape="1">
                <a:blip r:embed="rId6"/>
                <a:stretch>
                  <a:fillRect l="-1280" t="-9836" r="-112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2286000" y="4419600"/>
                <a:ext cx="1236172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0" dirty="0" smtClean="0">
                        <a:latin typeface="Cambria Math"/>
                      </a:rPr>
                      <m:t>(</m:t>
                    </m:r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6000" y="4419600"/>
                <a:ext cx="1236172" cy="369332"/>
              </a:xfrm>
              <a:prstGeom prst="rect">
                <a:avLst/>
              </a:prstGeom>
              <a:blipFill rotWithShape="1">
                <a:blip r:embed="rId7"/>
                <a:stretch>
                  <a:fillRect t="-8197" r="-7389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/>
              <p:cNvSpPr txBox="1"/>
              <p:nvPr/>
            </p:nvSpPr>
            <p:spPr>
              <a:xfrm>
                <a:off x="5638800" y="4419600"/>
                <a:ext cx="1240981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i="0" dirty="0" smtClean="0">
                        <a:latin typeface="Cambria Math"/>
                      </a:rPr>
                      <m:t>(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b="1" i="1" dirty="0" smtClean="0">
                        <a:latin typeface="Cambria Math"/>
                      </a:rPr>
                      <m:t>)</m:t>
                    </m:r>
                  </m:oMath>
                </a14:m>
                <a:r>
                  <a:rPr lang="en-US" dirty="0"/>
                  <a:t> </a:t>
                </a:r>
              </a:p>
            </p:txBody>
          </p:sp>
        </mc:Choice>
        <mc:Fallback xmlns="">
          <p:sp>
            <p:nvSpPr>
              <p:cNvPr id="51" name="TextBox 5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38800" y="4419600"/>
                <a:ext cx="1240981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73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" name="Group 7"/>
          <p:cNvGrpSpPr/>
          <p:nvPr/>
        </p:nvGrpSpPr>
        <p:grpSpPr>
          <a:xfrm>
            <a:off x="7696200" y="3638492"/>
            <a:ext cx="329387" cy="445532"/>
            <a:chOff x="7696200" y="3638492"/>
            <a:chExt cx="329387" cy="445532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2" name="TextBox 51"/>
                <p:cNvSpPr txBox="1"/>
                <p:nvPr/>
              </p:nvSpPr>
              <p:spPr>
                <a:xfrm>
                  <a:off x="7696200" y="3714692"/>
                  <a:ext cx="3273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b="1" dirty="0">
                      <a:solidFill>
                        <a:srgbClr val="0070C0"/>
                      </a:solidFill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2" name="TextBox 5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96200" y="3714692"/>
                  <a:ext cx="327334" cy="369332"/>
                </a:xfrm>
                <a:prstGeom prst="rect">
                  <a:avLst/>
                </a:prstGeom>
                <a:blipFill rotWithShape="1">
                  <a:blip r:embed="rId9"/>
                  <a:stretch>
                    <a:fillRect l="-16981" t="-8197" r="-3396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Oval 53"/>
            <p:cNvSpPr/>
            <p:nvPr/>
          </p:nvSpPr>
          <p:spPr>
            <a:xfrm>
              <a:off x="7873187" y="3638492"/>
              <a:ext cx="152400" cy="152400"/>
            </a:xfrm>
            <a:prstGeom prst="ellipse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990600" y="3638492"/>
            <a:ext cx="322524" cy="540840"/>
            <a:chOff x="990600" y="3638492"/>
            <a:chExt cx="322524" cy="54084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TextBox 52"/>
                <p:cNvSpPr txBox="1"/>
                <p:nvPr/>
              </p:nvSpPr>
              <p:spPr>
                <a:xfrm>
                  <a:off x="990600" y="3810000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53" name="TextBox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90600" y="3810000"/>
                  <a:ext cx="322524" cy="369332"/>
                </a:xfrm>
                <a:prstGeom prst="rect">
                  <a:avLst/>
                </a:prstGeom>
                <a:blipFill rotWithShape="1">
                  <a:blip r:embed="rId10"/>
                  <a:stretch>
                    <a:fillRect t="-8197" r="-2500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5" name="Oval 54"/>
            <p:cNvSpPr/>
            <p:nvPr/>
          </p:nvSpPr>
          <p:spPr>
            <a:xfrm>
              <a:off x="1143000" y="3638492"/>
              <a:ext cx="152400" cy="152400"/>
            </a:xfrm>
            <a:prstGeom prst="ellipse">
              <a:avLst/>
            </a:prstGeom>
            <a:solidFill>
              <a:srgbClr val="FFC000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Cloud Callout 6"/>
              <p:cNvSpPr/>
              <p:nvPr/>
            </p:nvSpPr>
            <p:spPr>
              <a:xfrm>
                <a:off x="-181801" y="4923728"/>
                <a:ext cx="4860481" cy="948187"/>
              </a:xfrm>
              <a:prstGeom prst="cloudCallout">
                <a:avLst>
                  <a:gd name="adj1" fmla="val -24493"/>
                  <a:gd name="adj2" fmla="val 7185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What is the guarantee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600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/>
                  <a:t> </a:t>
                </a:r>
                <a:r>
                  <a:rPr lang="en-US" sz="1600" dirty="0">
                    <a:solidFill>
                      <a:schemeClr val="tx1"/>
                    </a:solidFill>
                  </a:rPr>
                  <a:t>::</a:t>
                </a:r>
                <a:r>
                  <a:rPr lang="en-US" sz="16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600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600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is a path ?</a:t>
                </a:r>
              </a:p>
            </p:txBody>
          </p:sp>
        </mc:Choice>
        <mc:Fallback xmlns="">
          <p:sp>
            <p:nvSpPr>
              <p:cNvPr id="7" name="Cloud Callout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81801" y="4923728"/>
                <a:ext cx="4860481" cy="948187"/>
              </a:xfrm>
              <a:prstGeom prst="cloudCallout">
                <a:avLst>
                  <a:gd name="adj1" fmla="val -24493"/>
                  <a:gd name="adj2" fmla="val 71857"/>
                </a:avLst>
              </a:prstGeom>
              <a:blipFill rotWithShape="1"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7" name="Cloud Callout 56"/>
              <p:cNvSpPr/>
              <p:nvPr/>
            </p:nvSpPr>
            <p:spPr>
              <a:xfrm>
                <a:off x="-304799" y="4800600"/>
                <a:ext cx="4648199" cy="1194445"/>
              </a:xfrm>
              <a:prstGeom prst="cloudCallout">
                <a:avLst>
                  <a:gd name="adj1" fmla="val -24493"/>
                  <a:gd name="adj2" fmla="val 71857"/>
                </a:avLst>
              </a:prstGeom>
              <a:solidFill>
                <a:schemeClr val="accent2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In other words, what is the guarantee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600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00" b="1" dirty="0">
                    <a:solidFill>
                      <a:srgbClr val="006C31"/>
                    </a:solidFill>
                  </a:rPr>
                  <a:t> ::</a:t>
                </a:r>
                <a:r>
                  <a:rPr lang="en-US" sz="1600" dirty="0">
                    <a:solidFill>
                      <a:schemeClr val="tx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6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𝑷</m:t>
                        </m:r>
                      </m:e>
                      <m:sub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6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600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600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16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 does not have a cycle ?</a:t>
                </a:r>
              </a:p>
            </p:txBody>
          </p:sp>
        </mc:Choice>
        <mc:Fallback xmlns="">
          <p:sp>
            <p:nvSpPr>
              <p:cNvPr id="57" name="Cloud Callout 5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304799" y="4800600"/>
                <a:ext cx="4648199" cy="1194445"/>
              </a:xfrm>
              <a:prstGeom prst="cloudCallout">
                <a:avLst>
                  <a:gd name="adj1" fmla="val -24493"/>
                  <a:gd name="adj2" fmla="val 71857"/>
                </a:avLst>
              </a:prstGeom>
              <a:blipFill rotWithShape="1"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Down Ribbon 12"/>
              <p:cNvSpPr/>
              <p:nvPr/>
            </p:nvSpPr>
            <p:spPr>
              <a:xfrm>
                <a:off x="4343400" y="4569767"/>
                <a:ext cx="4928554" cy="1678633"/>
              </a:xfrm>
              <a:prstGeom prst="ribbon">
                <a:avLst>
                  <a:gd name="adj1" fmla="val 16667"/>
                  <a:gd name="adj2" fmla="val 75000"/>
                </a:avLst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Any such cycle will surely have non-negative weight.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Removing the cycle will give a path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of the same or smaller length which does 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not pass through </a:t>
                </a:r>
                <a14:m>
                  <m:oMath xmlns:m="http://schemas.openxmlformats.org/officeDocument/2006/math"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600" dirty="0">
                    <a:solidFill>
                      <a:schemeClr val="tx1"/>
                    </a:solidFill>
                  </a:rPr>
                  <a:t>.</a:t>
                </a:r>
              </a:p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 contradiction !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3" name="Down Ribbon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400" y="4569767"/>
                <a:ext cx="4928554" cy="1678633"/>
              </a:xfrm>
              <a:prstGeom prst="ribbon">
                <a:avLst>
                  <a:gd name="adj1" fmla="val 16667"/>
                  <a:gd name="adj2" fmla="val 75000"/>
                </a:avLst>
              </a:prstGeom>
              <a:blipFill rotWithShape="1">
                <a:blip r:embed="rId13"/>
                <a:stretch>
                  <a:fillRect b="-860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5899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9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3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5" dur="500"/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8" dur="500"/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50" grpId="0"/>
      <p:bldP spid="7" grpId="0" animBg="1"/>
      <p:bldP spid="7" grpId="1" animBg="1"/>
      <p:bldP spid="57" grpId="0" animBg="1"/>
      <p:bldP spid="57" grpId="1" animBg="1"/>
      <p:bldP spid="13" grpId="0" animBg="1"/>
      <p:bldP spid="13" grpId="1" build="allAtOnce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Floyd </a:t>
            </a:r>
            <a:r>
              <a:rPr lang="en-US" sz="3200" dirty="0" err="1">
                <a:solidFill>
                  <a:srgbClr val="7030A0"/>
                </a:solidFill>
              </a:rPr>
              <a:t>Warshal</a:t>
            </a:r>
            <a:r>
              <a:rPr lang="en-US" sz="3200" dirty="0">
                <a:solidFill>
                  <a:srgbClr val="7030A0"/>
                </a:solidFill>
              </a:rPr>
              <a:t> Algorithm </a:t>
            </a:r>
            <a:r>
              <a:rPr lang="en-US" sz="3200" dirty="0"/>
              <a:t>for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200" dirty="0">
                <a:solidFill>
                  <a:srgbClr val="0070C0"/>
                </a:solidFill>
              </a:rPr>
              <a:t>All Pairs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in</a:t>
                </a:r>
                <a:r>
                  <a:rPr lang="en-US" sz="28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chemeClr val="tx1"/>
                    </a:solidFill>
                  </a:rPr>
                  <a:t>)</a:t>
                </a:r>
                <a:r>
                  <a:rPr lang="en-US" sz="2800" b="1" dirty="0"/>
                  <a:t> 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time</a:t>
                </a:r>
              </a:p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and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chemeClr val="tx1"/>
                    </a:solidFill>
                  </a:rPr>
                  <a:t>)</a:t>
                </a:r>
                <a:r>
                  <a:rPr lang="en-US" sz="2800" b="1" dirty="0"/>
                  <a:t> 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space</a:t>
                </a:r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b="-11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8003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Floyd  </a:t>
            </a:r>
            <a:r>
              <a:rPr lang="en-US" sz="3600" b="1" dirty="0"/>
              <a:t>and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 err="1">
                <a:solidFill>
                  <a:srgbClr val="7030A0"/>
                </a:solidFill>
              </a:rPr>
              <a:t>Warshal</a:t>
            </a:r>
            <a:r>
              <a:rPr lang="en-US" sz="3600" b="1" dirty="0" err="1"/>
              <a:t>’s</a:t>
            </a:r>
            <a:r>
              <a:rPr lang="en-US" sz="3600" b="1" dirty="0"/>
              <a:t> algorithm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6106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Floyd-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Warshal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-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For each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 do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           If </a:t>
                </a:r>
                <a14:m>
                  <m:oMath xmlns:m="http://schemas.openxmlformats.org/officeDocument/2006/math"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b="1" dirty="0"/>
                  <a:t>   then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ea typeface="Cambria Math"/>
                    <a:sym typeface="Wingdings" pitchFamily="2" charset="2"/>
                  </a:rPr>
                  <a:t>                                    </a:t>
                </a:r>
                <a:r>
                  <a:rPr lang="en-US" sz="2000" b="1" dirty="0">
                    <a:ea typeface="Cambria Math"/>
                    <a:sym typeface="Wingdings" pitchFamily="2" charset="2"/>
                  </a:rPr>
                  <a:t>else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dirty="0">
                    <a:solidFill>
                      <a:srgbClr val="C00000"/>
                    </a:solidFill>
                  </a:rPr>
                  <a:t> ?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𝟎</m:t>
                        </m:r>
                      </m:sub>
                    </m:sSub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 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?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   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 do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             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;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	  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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min</a:t>
                </a:r>
                <a:r>
                  <a:rPr lang="en-US" sz="2000" dirty="0"/>
                  <a:t>(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r>
                  <a:rPr lang="en-US" sz="2000" dirty="0"/>
                  <a:t>   ,                        </a:t>
                </a:r>
                <a:r>
                  <a:rPr lang="en-US" sz="2000" dirty="0">
                    <a:solidFill>
                      <a:srgbClr val="C00000"/>
                    </a:solidFill>
                  </a:rPr>
                  <a:t> ?</a:t>
                </a:r>
                <a:r>
                  <a:rPr lang="en-US" sz="2000" dirty="0"/>
                  <a:t>                )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Lemma</a:t>
                </a:r>
                <a:r>
                  <a:rPr lang="en-US" sz="200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20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=</a:t>
                </a:r>
                <a:r>
                  <a:rPr lang="en-US" sz="1800" dirty="0"/>
                  <a:t> length of the shortest path from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1800" dirty="0"/>
                  <a:t> with all intermediate vertices of indices </a:t>
                </a:r>
                <a14:m>
                  <m:oMath xmlns:m="http://schemas.openxmlformats.org/officeDocument/2006/math">
                    <m:r>
                      <a:rPr lang="en-US" sz="1800" b="0" i="1" dirty="0" smtClean="0">
                        <a:solidFill>
                          <a:srgbClr val="006C31"/>
                        </a:solidFill>
                        <a:latin typeface="Cambria Math"/>
                      </a:rPr>
                      <m:t>≤</m:t>
                    </m:r>
                    <m:r>
                      <a:rPr lang="en-US" sz="1800" b="1" i="1" dirty="0">
                        <a:solidFill>
                          <a:srgbClr val="006C31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610600" cy="5410200"/>
              </a:xfrm>
              <a:blipFill rotWithShape="1">
                <a:blip r:embed="rId2"/>
                <a:stretch>
                  <a:fillRect l="-708" t="-563" b="-20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4114800" y="2678668"/>
                <a:ext cx="609600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∞</m:t>
                    </m:r>
                  </m:oMath>
                </a14:m>
                <a:r>
                  <a:rPr lang="en-US" dirty="0"/>
                  <a:t>; </a:t>
                </a:r>
                <a:endParaRPr lang="en-US" b="1" i="1" dirty="0">
                  <a:solidFill>
                    <a:srgbClr val="006C31"/>
                  </a:solidFill>
                  <a:latin typeface="Cambria Math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14800" y="2678668"/>
                <a:ext cx="609600" cy="369332"/>
              </a:xfrm>
              <a:prstGeom prst="rect">
                <a:avLst/>
              </a:prstGeom>
              <a:blipFill rotWithShape="1">
                <a:blip r:embed="rId3"/>
                <a:stretch>
                  <a:fillRect t="-11475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3244866" y="3059668"/>
                <a:ext cx="488934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𝟎</m:t>
                    </m:r>
                  </m:oMath>
                </a14:m>
                <a:r>
                  <a:rPr lang="en-US" dirty="0"/>
                  <a:t>;</a:t>
                </a:r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4866" y="3059668"/>
                <a:ext cx="488934" cy="369332"/>
              </a:xfrm>
              <a:prstGeom prst="rect">
                <a:avLst/>
              </a:prstGeom>
              <a:blipFill rotWithShape="1">
                <a:blip r:embed="rId4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3365532" y="4888468"/>
                <a:ext cx="8254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b="1" dirty="0">
                          <a:latin typeface="Cambria Math"/>
                        </a:rPr>
                        <m:t>[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  <m:r>
                        <a:rPr lang="en-US" b="1" i="1" dirty="0">
                          <a:latin typeface="Cambria Math"/>
                        </a:rPr>
                        <m:t>]</m:t>
                      </m:r>
                    </m:oMath>
                  </m:oMathPara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5532" y="4888468"/>
                <a:ext cx="825468" cy="369332"/>
              </a:xfrm>
              <a:prstGeom prst="rect">
                <a:avLst/>
              </a:prstGeom>
              <a:blipFill rotWithShape="1">
                <a:blip r:embed="rId5"/>
                <a:stretch>
                  <a:fillRect t="-8197" r="-19853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43398" y="4888468"/>
                <a:ext cx="2438401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dirty="0">
                        <a:latin typeface="Cambria Math"/>
                      </a:rPr>
                      <m:t>[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b="1" i="1" dirty="0">
                        <a:latin typeface="Cambria Math"/>
                      </a:rPr>
                      <m:t>]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</m:oMath>
                </a14:m>
                <a:r>
                  <a:rPr lang="en-US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b="1" dirty="0">
                        <a:latin typeface="Cambria Math"/>
                      </a:rPr>
                      <m:t>[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dirty="0">
                        <a:latin typeface="Cambria Math"/>
                      </a:rPr>
                      <m:t>,</m:t>
                    </m:r>
                    <m:r>
                      <a:rPr lang="en-US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b="1" i="1" dirty="0">
                        <a:latin typeface="Cambria Math"/>
                      </a:rPr>
                      <m:t>]</m:t>
                    </m:r>
                  </m:oMath>
                </a14:m>
                <a:endParaRPr 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3398" y="4888468"/>
                <a:ext cx="2438401" cy="369332"/>
              </a:xfrm>
              <a:prstGeom prst="rect">
                <a:avLst/>
              </a:prstGeom>
              <a:blipFill rotWithShape="1">
                <a:blip r:embed="rId6"/>
                <a:stretch>
                  <a:fillRect t="-8197" r="-325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1106784" y="447669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784" y="51816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}</a:t>
            </a:r>
          </a:p>
        </p:txBody>
      </p:sp>
      <p:grpSp>
        <p:nvGrpSpPr>
          <p:cNvPr id="14" name="Group 13"/>
          <p:cNvGrpSpPr/>
          <p:nvPr/>
        </p:nvGrpSpPr>
        <p:grpSpPr>
          <a:xfrm>
            <a:off x="5026152" y="1981200"/>
            <a:ext cx="2458902" cy="1447800"/>
            <a:chOff x="5026152" y="1981200"/>
            <a:chExt cx="2458902" cy="1447800"/>
          </a:xfrm>
        </p:grpSpPr>
        <p:sp>
          <p:nvSpPr>
            <p:cNvPr id="12" name="Right Brace 11"/>
            <p:cNvSpPr/>
            <p:nvPr/>
          </p:nvSpPr>
          <p:spPr>
            <a:xfrm>
              <a:off x="5026152" y="1981200"/>
              <a:ext cx="384048" cy="1447800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TextBox 12"/>
                <p:cNvSpPr txBox="1"/>
                <p:nvPr/>
              </p:nvSpPr>
              <p:spPr>
                <a:xfrm>
                  <a:off x="5497074" y="2546866"/>
                  <a:ext cx="1987980" cy="369332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none" rtlCol="0">
                  <a:spAutoFit/>
                </a:bodyPr>
                <a:lstStyle/>
                <a:p>
                  <a:r>
                    <a:rPr lang="en-US" dirty="0"/>
                    <a:t>Computing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𝟎</m:t>
                          </m:r>
                        </m:sub>
                      </m:sSub>
                      <m:r>
                        <a:rPr lang="en-US" b="1" dirty="0">
                          <a:latin typeface="Cambria Math"/>
                        </a:rPr>
                        <m:t>[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∗</m:t>
                      </m:r>
                      <m:r>
                        <a:rPr lang="en-US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latin typeface="Cambria Math"/>
                        </a:rPr>
                        <m:t>∗</m:t>
                      </m:r>
                      <m:r>
                        <a:rPr lang="en-US" b="1" i="1" dirty="0">
                          <a:latin typeface="Cambria Math"/>
                        </a:rPr>
                        <m:t>]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3" name="TextBox 1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074" y="2546866"/>
                  <a:ext cx="1987980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l="-2761" t="-8333" r="-4294" b="-2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5" name="Group 14"/>
          <p:cNvGrpSpPr/>
          <p:nvPr/>
        </p:nvGrpSpPr>
        <p:grpSpPr>
          <a:xfrm>
            <a:off x="5090078" y="4419600"/>
            <a:ext cx="2453721" cy="990604"/>
            <a:chOff x="5085145" y="2401528"/>
            <a:chExt cx="2377735" cy="607144"/>
          </a:xfrm>
        </p:grpSpPr>
        <p:sp>
          <p:nvSpPr>
            <p:cNvPr id="16" name="Right Brace 15"/>
            <p:cNvSpPr/>
            <p:nvPr/>
          </p:nvSpPr>
          <p:spPr>
            <a:xfrm>
              <a:off x="5085145" y="2401528"/>
              <a:ext cx="457888" cy="607144"/>
            </a:xfrm>
            <a:prstGeom prst="rightBrace">
              <a:avLst/>
            </a:prstGeom>
            <a:ln w="28575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TextBox 16"/>
                <p:cNvSpPr txBox="1"/>
                <p:nvPr/>
              </p:nvSpPr>
              <p:spPr>
                <a:xfrm>
                  <a:off x="5497074" y="2595492"/>
                  <a:ext cx="1965806" cy="226365"/>
                </a:xfrm>
                <a:prstGeom prst="rect">
                  <a:avLst/>
                </a:prstGeom>
                <a:solidFill>
                  <a:schemeClr val="accent2">
                    <a:lumMod val="20000"/>
                    <a:lumOff val="80000"/>
                  </a:schemeClr>
                </a:solidFill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dirty="0"/>
                    <a:t>Computing</a:t>
                  </a:r>
                  <a14:m>
                    <m:oMath xmlns:m="http://schemas.openxmlformats.org/officeDocument/2006/math">
                      <m:r>
                        <a:rPr lang="en-US" b="0" i="0" dirty="0" smtClean="0">
                          <a:solidFill>
                            <a:srgbClr val="006C31"/>
                          </a:solidFill>
                          <a:latin typeface="Cambria Math"/>
                        </a:rPr>
                        <m:t> </m:t>
                      </m:r>
                      <m:sSub>
                        <m:sSubPr>
                          <m:ctrlP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</m:ctrlPr>
                        </m:sSubPr>
                        <m:e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b>
                          <m:r>
                            <a:rPr lang="en-US" b="1" i="1" dirty="0" smtClean="0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𝒌</m:t>
                          </m:r>
                        </m:sub>
                      </m:sSub>
                      <m:r>
                        <a:rPr lang="en-US" b="1" dirty="0">
                          <a:latin typeface="Cambria Math"/>
                        </a:rPr>
                        <m:t>[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𝒊</m:t>
                      </m:r>
                      <m:r>
                        <a:rPr lang="en-US" dirty="0">
                          <a:latin typeface="Cambria Math"/>
                        </a:rPr>
                        <m:t>,</m:t>
                      </m:r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𝒋</m:t>
                      </m:r>
                      <m:r>
                        <a:rPr lang="en-US" b="1" i="1" dirty="0">
                          <a:latin typeface="Cambria Math"/>
                        </a:rPr>
                        <m:t>]</m:t>
                      </m:r>
                    </m:oMath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7" name="TextBox 1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7074" y="2595492"/>
                  <a:ext cx="1965806" cy="226365"/>
                </a:xfrm>
                <a:prstGeom prst="rect">
                  <a:avLst/>
                </a:prstGeom>
                <a:blipFill rotWithShape="1">
                  <a:blip r:embed="rId8"/>
                  <a:stretch>
                    <a:fillRect l="-2711" t="-8197" r="-2410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3975132" y="2286000"/>
                <a:ext cx="825468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square" rtlCol="0">
                <a:spAutoFit/>
              </a:bodyPr>
              <a:lstStyle/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b="1" i="1" dirty="0" smtClean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e>
                    </m:d>
                  </m:oMath>
                </a14:m>
                <a:r>
                  <a:rPr lang="en-US" dirty="0">
                    <a:sym typeface="Wingdings" pitchFamily="2" charset="2"/>
                  </a:rPr>
                  <a:t> </a:t>
                </a: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75132" y="2286000"/>
                <a:ext cx="825468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18382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775823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2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6" grpId="0" animBg="1"/>
      <p:bldP spid="7" grpId="0" animBg="1"/>
      <p:bldP spid="8" grpId="0" animBg="1"/>
      <p:bldP spid="9" grpId="0" animBg="1"/>
      <p:bldP spid="10" grpId="0"/>
      <p:bldP spid="11" grpId="0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722313" y="1828800"/>
            <a:ext cx="7772400" cy="1362075"/>
          </a:xfrm>
        </p:spPr>
        <p:txBody>
          <a:bodyPr/>
          <a:lstStyle/>
          <a:p>
            <a:pPr algn="ctr"/>
            <a:r>
              <a:rPr lang="en-US" sz="3200" dirty="0">
                <a:solidFill>
                  <a:srgbClr val="7030A0"/>
                </a:solidFill>
              </a:rPr>
              <a:t>Floyd </a:t>
            </a:r>
            <a:r>
              <a:rPr lang="en-US" sz="3200" dirty="0" err="1">
                <a:solidFill>
                  <a:srgbClr val="7030A0"/>
                </a:solidFill>
              </a:rPr>
              <a:t>Warshal</a:t>
            </a:r>
            <a:r>
              <a:rPr lang="en-US" sz="3200" dirty="0">
                <a:solidFill>
                  <a:srgbClr val="7030A0"/>
                </a:solidFill>
              </a:rPr>
              <a:t> Algorithm </a:t>
            </a:r>
            <a:r>
              <a:rPr lang="en-US" sz="3200" dirty="0"/>
              <a:t>for</a:t>
            </a:r>
            <a:r>
              <a:rPr lang="en-US" sz="3200" dirty="0">
                <a:solidFill>
                  <a:srgbClr val="7030A0"/>
                </a:solidFill>
              </a:rPr>
              <a:t> </a:t>
            </a:r>
            <a:br>
              <a:rPr lang="en-US" sz="3200" dirty="0">
                <a:solidFill>
                  <a:srgbClr val="7030A0"/>
                </a:solidFill>
              </a:rPr>
            </a:br>
            <a:r>
              <a:rPr lang="en-US" sz="3200" dirty="0">
                <a:solidFill>
                  <a:srgbClr val="0070C0"/>
                </a:solidFill>
              </a:rPr>
              <a:t>All Pairs Shortest Paths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 Placeholder 5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in</a:t>
                </a:r>
                <a:r>
                  <a:rPr lang="en-US" sz="2800" b="1" dirty="0">
                    <a:solidFill>
                      <a:srgbClr val="7030A0"/>
                    </a:solidFill>
                  </a:rPr>
                  <a:t> 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chemeClr val="tx1"/>
                    </a:solidFill>
                  </a:rPr>
                  <a:t>)</a:t>
                </a:r>
                <a:r>
                  <a:rPr lang="en-US" sz="2800" b="1" dirty="0"/>
                  <a:t> 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time</a:t>
                </a:r>
              </a:p>
              <a:p>
                <a:pPr algn="ctr"/>
                <a:r>
                  <a:rPr lang="en-US" sz="2800" b="1" dirty="0">
                    <a:solidFill>
                      <a:schemeClr val="tx1"/>
                    </a:solidFill>
                  </a:rPr>
                  <a:t>and O(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800" b="1" dirty="0">
                    <a:solidFill>
                      <a:schemeClr val="tx1"/>
                    </a:solidFill>
                  </a:rPr>
                  <a:t>)</a:t>
                </a:r>
                <a:r>
                  <a:rPr lang="en-US" sz="2800" b="1" dirty="0"/>
                  <a:t> </a:t>
                </a:r>
                <a:r>
                  <a:rPr lang="en-US" sz="2800" b="1" dirty="0">
                    <a:solidFill>
                      <a:schemeClr val="tx1"/>
                    </a:solidFill>
                  </a:rPr>
                  <a:t>space</a:t>
                </a:r>
              </a:p>
            </p:txBody>
          </p:sp>
        </mc:Choice>
        <mc:Fallback xmlns="">
          <p:sp>
            <p:nvSpPr>
              <p:cNvPr id="6" name="Tex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 rotWithShape="1">
                <a:blip r:embed="rId2"/>
                <a:stretch>
                  <a:fillRect b="-117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5906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1800" b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=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FF0000"/>
                        </a:solidFill>
                        <a:latin typeface="Cambria Math"/>
                      </a:rPr>
                      <m:t>𝑚𝑖𝑛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800" i="1" dirty="0">
                        <a:latin typeface="Cambria Math"/>
                      </a:rPr>
                      <m:t>(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1800" dirty="0">
                        <a:latin typeface="Cambria Math"/>
                      </a:rPr>
                      <m:t>,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18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  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800" i="1" dirty="0">
                        <a:latin typeface="Cambria Math"/>
                      </a:rPr>
                      <m:t>(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1800" dirty="0">
                        <a:latin typeface="Cambria Math"/>
                      </a:rPr>
                      <m:t>,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1800" i="1" dirty="0">
                        <a:latin typeface="Cambria Math"/>
                      </a:rPr>
                      <m:t>)+</m:t>
                    </m:r>
                    <m:sSub>
                      <m:sSubPr>
                        <m:ctrlP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800" i="1" dirty="0">
                        <a:latin typeface="Cambria Math"/>
                      </a:rPr>
                      <m:t>(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1800" dirty="0">
                        <a:latin typeface="Cambria Math"/>
                      </a:rPr>
                      <m:t>,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18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)</a:t>
                </a:r>
                <a:endParaRPr lang="en-US" sz="18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endParaRPr lang="en-US" sz="18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674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225174"/>
              </p:ext>
            </p:extLst>
          </p:nvPr>
        </p:nvGraphicFramePr>
        <p:xfrm>
          <a:off x="3200400" y="2209800"/>
          <a:ext cx="3048000" cy="294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6267417"/>
              </p:ext>
            </p:extLst>
          </p:nvPr>
        </p:nvGraphicFramePr>
        <p:xfrm>
          <a:off x="3200400" y="4053840"/>
          <a:ext cx="3048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5105400" y="2209800"/>
            <a:ext cx="381000" cy="2971800"/>
            <a:chOff x="6248400" y="2209800"/>
            <a:chExt cx="381000" cy="2971800"/>
          </a:xfrm>
        </p:grpSpPr>
        <p:sp>
          <p:nvSpPr>
            <p:cNvPr id="10" name="Rectangle 9"/>
            <p:cNvSpPr/>
            <p:nvPr/>
          </p:nvSpPr>
          <p:spPr>
            <a:xfrm>
              <a:off x="6248400" y="2209800"/>
              <a:ext cx="381000" cy="29718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6248400" y="2583679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248400" y="2895600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248400" y="3276600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6248400" y="3657600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6248400" y="4038600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248400" y="4408918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248400" y="4800600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6248400" y="5181600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129416" y="1574723"/>
                <a:ext cx="74738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416" y="1574723"/>
                <a:ext cx="747384" cy="374270"/>
              </a:xfrm>
              <a:prstGeom prst="rect">
                <a:avLst/>
              </a:prstGeom>
              <a:blipFill rotWithShape="1">
                <a:blip r:embed="rId3"/>
                <a:stretch>
                  <a:fillRect t="-6452" r="-10569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38200" y="2140330"/>
                <a:ext cx="747384" cy="37427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40330"/>
                <a:ext cx="747384" cy="374270"/>
              </a:xfrm>
              <a:prstGeom prst="rect">
                <a:avLst/>
              </a:prstGeom>
              <a:blipFill rotWithShape="1">
                <a:blip r:embed="rId4"/>
                <a:stretch>
                  <a:fillRect t="-4688" r="-9677" b="-218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41598" y="4017948"/>
                <a:ext cx="527772" cy="37427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98" y="4017948"/>
                <a:ext cx="527772" cy="374270"/>
              </a:xfrm>
              <a:prstGeom prst="rect">
                <a:avLst/>
              </a:prstGeom>
              <a:blipFill rotWithShape="1">
                <a:blip r:embed="rId5"/>
                <a:stretch>
                  <a:fillRect t="-4688" r="-13483" b="-218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Down Arrow 24"/>
          <p:cNvSpPr/>
          <p:nvPr/>
        </p:nvSpPr>
        <p:spPr>
          <a:xfrm>
            <a:off x="963168" y="2717292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962400" y="3314700"/>
            <a:ext cx="381000" cy="381000"/>
          </a:xfrm>
          <a:prstGeom prst="rect">
            <a:avLst/>
          </a:prstGeom>
          <a:solidFill>
            <a:srgbClr val="006C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2881787" y="3352800"/>
            <a:ext cx="1080613" cy="369332"/>
            <a:chOff x="2881787" y="3352800"/>
            <a:chExt cx="1080613" cy="369332"/>
          </a:xfrm>
        </p:grpSpPr>
        <p:cxnSp>
          <p:nvCxnSpPr>
            <p:cNvPr id="28" name="Straight Connector 27"/>
            <p:cNvCxnSpPr>
              <a:endCxn id="26" idx="1"/>
            </p:cNvCxnSpPr>
            <p:nvPr/>
          </p:nvCxnSpPr>
          <p:spPr>
            <a:xfrm>
              <a:off x="3124200" y="3505200"/>
              <a:ext cx="838200" cy="0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2881787" y="3352800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1787" y="3352800"/>
                  <a:ext cx="3225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/>
          <p:cNvGrpSpPr/>
          <p:nvPr/>
        </p:nvGrpSpPr>
        <p:grpSpPr>
          <a:xfrm>
            <a:off x="3962400" y="3657600"/>
            <a:ext cx="327334" cy="1905000"/>
            <a:chOff x="3962400" y="3657600"/>
            <a:chExt cx="327334" cy="19050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3962400" y="5193268"/>
                  <a:ext cx="3273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2400" y="5193268"/>
                  <a:ext cx="32733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197" r="-2222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/>
            <p:cNvCxnSpPr>
              <a:stCxn id="32" idx="0"/>
            </p:cNvCxnSpPr>
            <p:nvPr/>
          </p:nvCxnSpPr>
          <p:spPr>
            <a:xfrm flipH="1" flipV="1">
              <a:off x="4114800" y="3657600"/>
              <a:ext cx="11267" cy="1535668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105400" y="1828800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1828800"/>
                <a:ext cx="378630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743200" y="4050268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4050268"/>
                <a:ext cx="378630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/>
          <p:cNvSpPr/>
          <p:nvPr/>
        </p:nvSpPr>
        <p:spPr>
          <a:xfrm>
            <a:off x="5105400" y="3276600"/>
            <a:ext cx="381000" cy="381000"/>
          </a:xfrm>
          <a:prstGeom prst="rect">
            <a:avLst/>
          </a:prstGeom>
          <a:solidFill>
            <a:srgbClr val="006C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962400" y="4038600"/>
            <a:ext cx="381000" cy="381000"/>
          </a:xfrm>
          <a:prstGeom prst="rect">
            <a:avLst/>
          </a:prstGeom>
          <a:solidFill>
            <a:srgbClr val="006C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 flipH="1">
            <a:off x="4343400" y="3505200"/>
            <a:ext cx="9525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 flipH="1" flipV="1">
            <a:off x="4120434" y="3695700"/>
            <a:ext cx="8982" cy="539234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451561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1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1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  <p:bldP spid="22" grpId="0"/>
      <p:bldP spid="23" grpId="0" animBg="1"/>
      <p:bldP spid="24" grpId="0" animBg="1"/>
      <p:bldP spid="25" grpId="0" animBg="1"/>
      <p:bldP spid="26" grpId="0" animBg="1"/>
      <p:bldP spid="37" grpId="0"/>
      <p:bldP spid="38" grpId="0"/>
      <p:bldP spid="39" grpId="0" animBg="1"/>
      <p:bldP spid="4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>
                  <a:buNone/>
                </a:pPr>
                <a:endParaRPr lang="en-US" sz="1800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1800" b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=</a:t>
                </a:r>
                <a:r>
                  <a:rPr lang="en-US" sz="1800" b="1" dirty="0">
                    <a:solidFill>
                      <a:srgbClr val="0070C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1800" i="1" dirty="0">
                        <a:solidFill>
                          <a:srgbClr val="FF0000"/>
                        </a:solidFill>
                        <a:latin typeface="Cambria Math"/>
                      </a:rPr>
                      <m:t>𝑚𝑖𝑛</m:t>
                    </m:r>
                  </m:oMath>
                </a14:m>
                <a:r>
                  <a:rPr lang="en-US" sz="1800" dirty="0"/>
                  <a:t>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800" i="1" dirty="0">
                        <a:latin typeface="Cambria Math"/>
                      </a:rPr>
                      <m:t>(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1800" dirty="0">
                        <a:latin typeface="Cambria Math"/>
                      </a:rPr>
                      <m:t>,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18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  , 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800" i="1" dirty="0">
                        <a:latin typeface="Cambria Math"/>
                      </a:rPr>
                      <m:t>(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/>
                      </a:rPr>
                      <m:t>𝑖</m:t>
                    </m:r>
                    <m:r>
                      <a:rPr lang="en-US" sz="1800" dirty="0">
                        <a:latin typeface="Cambria Math"/>
                      </a:rPr>
                      <m:t>,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1800" i="1" dirty="0">
                        <a:latin typeface="Cambria Math"/>
                      </a:rPr>
                      <m:t>)+</m:t>
                    </m:r>
                    <m:sSub>
                      <m:sSubPr>
                        <m:ctrlP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r>
                      <a:rPr lang="en-US" sz="1800" i="1" dirty="0">
                        <a:latin typeface="Cambria Math"/>
                      </a:rPr>
                      <m:t>(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/>
                      </a:rPr>
                      <m:t>𝑘</m:t>
                    </m:r>
                    <m:r>
                      <a:rPr lang="en-US" sz="1800" dirty="0">
                        <a:latin typeface="Cambria Math"/>
                      </a:rPr>
                      <m:t>,</m:t>
                    </m:r>
                    <m:r>
                      <a:rPr lang="en-US" sz="1800" i="1" dirty="0">
                        <a:solidFill>
                          <a:srgbClr val="0070C0"/>
                        </a:solidFill>
                        <a:latin typeface="Cambria Math"/>
                      </a:rPr>
                      <m:t>𝑗</m:t>
                    </m:r>
                    <m:r>
                      <a:rPr lang="en-US" sz="1800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)</a:t>
                </a:r>
              </a:p>
              <a:p>
                <a:pPr marL="0" indent="0">
                  <a:buNone/>
                </a:pPr>
                <a:r>
                  <a:rPr lang="en-US" sz="1800" dirty="0"/>
                  <a:t>For computing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r>
                      <a:rPr lang="en-US" sz="1800" b="1" dirty="0">
                        <a:latin typeface="Cambria Math"/>
                      </a:rPr>
                      <m:t>(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18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1800" dirty="0"/>
                  <a:t> for any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800" dirty="0">
                        <a:solidFill>
                          <a:srgbClr val="0070C0"/>
                        </a:solidFill>
                        <a:latin typeface="Cambria Math"/>
                      </a:rPr>
                      <m:t>≠</m:t>
                    </m:r>
                    <m:r>
                      <a:rPr lang="en-US" sz="18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1800" dirty="0">
                        <a:latin typeface="Cambria Math"/>
                      </a:rPr>
                      <m:t>,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1800" dirty="0">
                        <a:solidFill>
                          <a:srgbClr val="0070C0"/>
                        </a:solidFill>
                        <a:latin typeface="Cambria Math"/>
                      </a:rPr>
                      <m:t>≠</m:t>
                    </m:r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/>
                  <a:t>, we need …</a:t>
                </a:r>
                <a:r>
                  <a:rPr lang="en-US" sz="1800" b="1" dirty="0">
                    <a:solidFill>
                      <a:srgbClr val="C00000"/>
                    </a:solidFill>
                  </a:rPr>
                  <a:t>?</a:t>
                </a:r>
                <a:r>
                  <a:rPr lang="en-US" sz="1800" dirty="0"/>
                  <a:t>...</a:t>
                </a:r>
              </a:p>
              <a:p>
                <a:pPr marL="0" indent="0">
                  <a:buNone/>
                </a:pPr>
                <a:r>
                  <a:rPr lang="en-US" sz="1800" dirty="0"/>
                  <a:t>Moreover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800" dirty="0">
                            <a:latin typeface="Cambria Math"/>
                          </a:rPr>
                          <m:t>,</m:t>
                        </m:r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∗</m:t>
                        </m:r>
                      </m:e>
                    </m:d>
                    <m:r>
                      <a:rPr lang="en-US" sz="1800" b="1" i="1" dirty="0" smtClean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sz="1800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sz="18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sz="1800" dirty="0">
                            <a:latin typeface="Cambria Math"/>
                          </a:rPr>
                          <m:t>,</m:t>
                        </m:r>
                        <m:r>
                          <a:rPr lang="en-US" sz="18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∗</m:t>
                        </m:r>
                      </m:e>
                    </m:d>
                  </m:oMath>
                </a14:m>
                <a:r>
                  <a:rPr lang="en-US" sz="1800" dirty="0"/>
                  <a:t>, </a:t>
                </a:r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593" t="-674" b="-119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6217420"/>
              </p:ext>
            </p:extLst>
          </p:nvPr>
        </p:nvGraphicFramePr>
        <p:xfrm>
          <a:off x="3200400" y="2209800"/>
          <a:ext cx="3048000" cy="2946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83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3083182"/>
              </p:ext>
            </p:extLst>
          </p:nvPr>
        </p:nvGraphicFramePr>
        <p:xfrm>
          <a:off x="3200400" y="4053840"/>
          <a:ext cx="3048000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1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560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1" name="Group 20"/>
          <p:cNvGrpSpPr/>
          <p:nvPr/>
        </p:nvGrpSpPr>
        <p:grpSpPr>
          <a:xfrm>
            <a:off x="5105400" y="2209800"/>
            <a:ext cx="381000" cy="2971800"/>
            <a:chOff x="6248400" y="2209800"/>
            <a:chExt cx="381000" cy="2971800"/>
          </a:xfrm>
        </p:grpSpPr>
        <p:sp>
          <p:nvSpPr>
            <p:cNvPr id="10" name="Rectangle 9"/>
            <p:cNvSpPr/>
            <p:nvPr/>
          </p:nvSpPr>
          <p:spPr>
            <a:xfrm>
              <a:off x="6248400" y="2209800"/>
              <a:ext cx="381000" cy="29718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6248400" y="2583679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>
              <a:off x="6248400" y="2895600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/>
            <p:cNvCxnSpPr/>
            <p:nvPr/>
          </p:nvCxnSpPr>
          <p:spPr>
            <a:xfrm>
              <a:off x="6248400" y="3276600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/>
            <p:cNvCxnSpPr/>
            <p:nvPr/>
          </p:nvCxnSpPr>
          <p:spPr>
            <a:xfrm>
              <a:off x="6248400" y="3657600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>
              <a:off x="6248400" y="4038600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248400" y="4408918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6248400" y="4800600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>
              <a:off x="6248400" y="5181600"/>
              <a:ext cx="381000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4129416" y="1574723"/>
                <a:ext cx="747384" cy="37427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9416" y="1574723"/>
                <a:ext cx="747384" cy="374270"/>
              </a:xfrm>
              <a:prstGeom prst="rect">
                <a:avLst/>
              </a:prstGeom>
              <a:blipFill rotWithShape="1">
                <a:blip r:embed="rId3"/>
                <a:stretch>
                  <a:fillRect t="-6452" r="-10569" b="-241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/>
              <p:cNvSpPr txBox="1"/>
              <p:nvPr/>
            </p:nvSpPr>
            <p:spPr>
              <a:xfrm>
                <a:off x="838200" y="2140330"/>
                <a:ext cx="747384" cy="37427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</m:t>
                          </m:r>
                          <m:r>
                            <a:rPr lang="en-US" i="1">
                              <a:latin typeface="Cambria Math"/>
                            </a:rPr>
                            <m:t>−</m:t>
                          </m:r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140330"/>
                <a:ext cx="747384" cy="374270"/>
              </a:xfrm>
              <a:prstGeom prst="rect">
                <a:avLst/>
              </a:prstGeom>
              <a:blipFill rotWithShape="1">
                <a:blip r:embed="rId4"/>
                <a:stretch>
                  <a:fillRect t="-4688" r="-9677" b="-218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41598" y="4017948"/>
                <a:ext cx="527772" cy="374270"/>
              </a:xfrm>
              <a:prstGeom prst="rect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sSup>
                        <m:sSupPr>
                          <m:ctrlP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US" b="1" i="1">
                              <a:solidFill>
                                <a:srgbClr val="006C31"/>
                              </a:solidFill>
                              <a:latin typeface="Cambria Math"/>
                            </a:rPr>
                            <m:t>𝑫</m:t>
                          </m:r>
                        </m:e>
                        <m:sup>
                          <m:r>
                            <a:rPr lang="en-US" i="1">
                              <a:solidFill>
                                <a:srgbClr val="0070C0"/>
                              </a:solidFill>
                              <a:latin typeface="Cambria Math"/>
                            </a:rPr>
                            <m:t>𝑘</m:t>
                          </m:r>
                        </m:sup>
                      </m:sSup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598" y="4017948"/>
                <a:ext cx="527772" cy="374270"/>
              </a:xfrm>
              <a:prstGeom prst="rect">
                <a:avLst/>
              </a:prstGeom>
              <a:blipFill rotWithShape="1">
                <a:blip r:embed="rId5"/>
                <a:stretch>
                  <a:fillRect t="-4688" r="-13483" b="-21875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Down Arrow 24"/>
          <p:cNvSpPr/>
          <p:nvPr/>
        </p:nvSpPr>
        <p:spPr>
          <a:xfrm>
            <a:off x="963168" y="2717292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5867400" y="4800600"/>
            <a:ext cx="381000" cy="381000"/>
          </a:xfrm>
          <a:prstGeom prst="rect">
            <a:avLst/>
          </a:prstGeom>
          <a:solidFill>
            <a:srgbClr val="006C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5" name="Group 34"/>
          <p:cNvGrpSpPr/>
          <p:nvPr/>
        </p:nvGrpSpPr>
        <p:grpSpPr>
          <a:xfrm>
            <a:off x="2881787" y="4812268"/>
            <a:ext cx="2985613" cy="369332"/>
            <a:chOff x="2881787" y="4812268"/>
            <a:chExt cx="2985613" cy="369332"/>
          </a:xfrm>
        </p:grpSpPr>
        <p:cxnSp>
          <p:nvCxnSpPr>
            <p:cNvPr id="28" name="Straight Connector 27"/>
            <p:cNvCxnSpPr>
              <a:stCxn id="31" idx="3"/>
              <a:endCxn id="26" idx="1"/>
            </p:cNvCxnSpPr>
            <p:nvPr/>
          </p:nvCxnSpPr>
          <p:spPr>
            <a:xfrm flipV="1">
              <a:off x="3204311" y="4991100"/>
              <a:ext cx="2663089" cy="5834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1" name="TextBox 30"/>
                <p:cNvSpPr txBox="1"/>
                <p:nvPr/>
              </p:nvSpPr>
              <p:spPr>
                <a:xfrm>
                  <a:off x="2881787" y="4812268"/>
                  <a:ext cx="32252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1" name="TextBox 3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81787" y="4812268"/>
                  <a:ext cx="322524" cy="369332"/>
                </a:xfrm>
                <a:prstGeom prst="rect">
                  <a:avLst/>
                </a:prstGeom>
                <a:blipFill rotWithShape="1">
                  <a:blip r:embed="rId6"/>
                  <a:stretch>
                    <a:fillRect t="-8197" r="-22642" b="-2459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6" name="Group 35"/>
          <p:cNvGrpSpPr/>
          <p:nvPr/>
        </p:nvGrpSpPr>
        <p:grpSpPr>
          <a:xfrm>
            <a:off x="5921066" y="5131832"/>
            <a:ext cx="327334" cy="495300"/>
            <a:chOff x="3962400" y="5131832"/>
            <a:chExt cx="327334" cy="495300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32" name="TextBox 31"/>
                <p:cNvSpPr txBox="1"/>
                <p:nvPr/>
              </p:nvSpPr>
              <p:spPr>
                <a:xfrm>
                  <a:off x="3962400" y="5257800"/>
                  <a:ext cx="327334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oMath>
                    </m:oMathPara>
                  </a14:m>
                  <a:endParaRPr lang="en-US" b="1" dirty="0"/>
                </a:p>
              </p:txBody>
            </p:sp>
          </mc:Choice>
          <mc:Fallback xmlns="">
            <p:sp>
              <p:nvSpPr>
                <p:cNvPr id="32" name="TextBox 3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62400" y="5257800"/>
                  <a:ext cx="327334" cy="369332"/>
                </a:xfrm>
                <a:prstGeom prst="rect">
                  <a:avLst/>
                </a:prstGeom>
                <a:blipFill rotWithShape="1">
                  <a:blip r:embed="rId7"/>
                  <a:stretch>
                    <a:fillRect t="-8333" r="-24074" b="-250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3" name="Straight Connector 32"/>
            <p:cNvCxnSpPr/>
            <p:nvPr/>
          </p:nvCxnSpPr>
          <p:spPr>
            <a:xfrm flipV="1">
              <a:off x="4126067" y="5131832"/>
              <a:ext cx="0" cy="202168"/>
            </a:xfrm>
            <a:prstGeom prst="line">
              <a:avLst/>
            </a:prstGeom>
            <a:ln w="28575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TextBox 36"/>
              <p:cNvSpPr txBox="1"/>
              <p:nvPr/>
            </p:nvSpPr>
            <p:spPr>
              <a:xfrm>
                <a:off x="5105400" y="1828800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7" name="TextBox 3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05400" y="1828800"/>
                <a:ext cx="378630" cy="369332"/>
              </a:xfrm>
              <a:prstGeom prst="rect">
                <a:avLst/>
              </a:prstGeom>
              <a:blipFill rotWithShape="1">
                <a:blip r:embed="rId8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8" name="TextBox 37"/>
              <p:cNvSpPr txBox="1"/>
              <p:nvPr/>
            </p:nvSpPr>
            <p:spPr>
              <a:xfrm>
                <a:off x="2743200" y="4050268"/>
                <a:ext cx="37863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>
                      <m:r>
                        <a:rPr lang="en-US" b="1" i="1" dirty="0" smtClean="0">
                          <a:solidFill>
                            <a:srgbClr val="0070C0"/>
                          </a:solidFill>
                          <a:latin typeface="Cambria Math"/>
                        </a:rPr>
                        <m:t>𝒌</m:t>
                      </m:r>
                    </m:oMath>
                  </m:oMathPara>
                </a14:m>
                <a:endParaRPr lang="en-US" b="1" dirty="0"/>
              </a:p>
            </p:txBody>
          </p:sp>
        </mc:Choice>
        <mc:Fallback xmlns="">
          <p:sp>
            <p:nvSpPr>
              <p:cNvPr id="38" name="TextBox 3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43200" y="4050268"/>
                <a:ext cx="378630" cy="369332"/>
              </a:xfrm>
              <a:prstGeom prst="rect">
                <a:avLst/>
              </a:prstGeom>
              <a:blipFill rotWithShape="1">
                <a:blip r:embed="rId9"/>
                <a:stretch>
                  <a:fillRect t="-8197" r="-20968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9" name="Rectangle 38"/>
          <p:cNvSpPr/>
          <p:nvPr/>
        </p:nvSpPr>
        <p:spPr>
          <a:xfrm>
            <a:off x="5867400" y="4038600"/>
            <a:ext cx="381000" cy="381000"/>
          </a:xfrm>
          <a:prstGeom prst="rect">
            <a:avLst/>
          </a:prstGeom>
          <a:solidFill>
            <a:srgbClr val="006C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5105400" y="4800600"/>
            <a:ext cx="381000" cy="381000"/>
          </a:xfrm>
          <a:prstGeom prst="rect">
            <a:avLst/>
          </a:prstGeom>
          <a:solidFill>
            <a:srgbClr val="006C3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6057900" y="4234934"/>
            <a:ext cx="0" cy="565666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endCxn id="26" idx="1"/>
          </p:cNvCxnSpPr>
          <p:nvPr/>
        </p:nvCxnSpPr>
        <p:spPr>
          <a:xfrm>
            <a:off x="5295900" y="4991100"/>
            <a:ext cx="571500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/>
              <p:cNvSpPr txBox="1"/>
              <p:nvPr/>
            </p:nvSpPr>
            <p:spPr>
              <a:xfrm>
                <a:off x="5513291" y="5879068"/>
                <a:ext cx="3808863" cy="369332"/>
              </a:xfrm>
              <a:prstGeom prst="rect">
                <a:avLst/>
              </a:prstGeom>
              <a:solidFill>
                <a:schemeClr val="bg2"/>
              </a:solidFill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only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column and </a:t>
                </a:r>
                <a14:m>
                  <m:oMath xmlns:m="http://schemas.openxmlformats.org/officeDocument/2006/math">
                    <m:r>
                      <a:rPr lang="en-US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dirty="0" err="1"/>
                  <a:t>th</a:t>
                </a:r>
                <a:r>
                  <a:rPr lang="en-US" dirty="0"/>
                  <a:t> row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</m:oMath>
                </a14:m>
                <a:r>
                  <a:rPr lang="en-US" dirty="0"/>
                  <a:t>.</a:t>
                </a:r>
              </a:p>
            </p:txBody>
          </p:sp>
        </mc:Choice>
        <mc:Fallback xmlns="">
          <p:sp>
            <p:nvSpPr>
              <p:cNvPr id="2" name="TextBox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13291" y="5879068"/>
                <a:ext cx="3808863" cy="369332"/>
              </a:xfrm>
              <a:prstGeom prst="rect">
                <a:avLst/>
              </a:prstGeom>
              <a:blipFill rotWithShape="1">
                <a:blip r:embed="rId10"/>
                <a:stretch>
                  <a:fillRect l="-1280" t="-8197" r="-2080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3657599" y="6228021"/>
                <a:ext cx="274940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sub>
                    </m:sSub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∗,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e>
                    </m:d>
                    <m:r>
                      <a:rPr lang="en-US" b="1" i="1" dirty="0">
                        <a:latin typeface="Cambria Math"/>
                      </a:rPr>
                      <m:t>=</m:t>
                    </m:r>
                    <m:sSub>
                      <m:sSubPr>
                        <m:ctrlP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bPr>
                      <m:e>
                        <m:r>
                          <a:rPr lang="en-US" b="1" i="1" dirty="0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b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−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𝟏</m:t>
                        </m:r>
                      </m:sub>
                    </m:sSub>
                    <m:d>
                      <m:dPr>
                        <m:ctrlP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∗,</m:t>
                        </m:r>
                        <m:r>
                          <a:rPr lang="en-US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𝒌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57599" y="6228021"/>
                <a:ext cx="2749407" cy="369332"/>
              </a:xfrm>
              <a:prstGeom prst="rect">
                <a:avLst/>
              </a:prstGeom>
              <a:blipFill rotWithShape="1">
                <a:blip r:embed="rId11"/>
                <a:stretch>
                  <a:fillRect l="-1774" t="-8333" r="-2882" b="-2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2818865" y="449871"/>
                <a:ext cx="3368486" cy="807785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/>
                  <a:t>Hence we can just overwrite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14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p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  <m:r>
                          <a:rPr lang="en-US" sz="1400" i="1">
                            <a:latin typeface="Cambria Math"/>
                          </a:rPr>
                          <m:t>−</m:t>
                        </m:r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1</m:t>
                        </m:r>
                      </m:sup>
                    </m:sSup>
                  </m:oMath>
                </a14:m>
                <a:endParaRPr lang="en-US" sz="1400" dirty="0"/>
              </a:p>
              <a:p>
                <a:pPr algn="ctr"/>
                <a:r>
                  <a:rPr lang="en-US" sz="1400" dirty="0"/>
                  <a:t>instead of creating a separate matrix for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4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1400" b="1" i="1">
                            <a:solidFill>
                              <a:srgbClr val="006C31"/>
                            </a:solidFill>
                            <a:latin typeface="Cambria Math"/>
                          </a:rPr>
                          <m:t>𝑫</m:t>
                        </m:r>
                      </m:e>
                      <m:sup>
                        <m:r>
                          <a:rPr lang="en-US" sz="1400" i="1">
                            <a:solidFill>
                              <a:srgbClr val="0070C0"/>
                            </a:solidFill>
                            <a:latin typeface="Cambria Math"/>
                          </a:rPr>
                          <m:t>𝑘</m:t>
                        </m:r>
                      </m:sup>
                    </m:sSup>
                  </m:oMath>
                </a14:m>
                <a:endParaRPr lang="en-US" dirty="0"/>
              </a:p>
              <a:p>
                <a:pPr algn="ctr"/>
                <a:r>
                  <a:rPr lang="en-US" dirty="0">
                    <a:sym typeface="Wingdings" pitchFamily="2" charset="2"/>
                  </a:rPr>
                  <a:t></a:t>
                </a:r>
                <a:endParaRPr lang="en-US" dirty="0"/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8865" y="449871"/>
                <a:ext cx="3368486" cy="807785"/>
              </a:xfrm>
              <a:prstGeom prst="rect">
                <a:avLst/>
              </a:prstGeom>
              <a:blipFill rotWithShape="1">
                <a:blip r:embed="rId12"/>
                <a:stretch>
                  <a:fillRect r="-1081" b="-11194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3041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uiExpand="1" build="p"/>
      <p:bldP spid="26" grpId="0" animBg="1"/>
      <p:bldP spid="39" grpId="0" animBg="1"/>
      <p:bldP spid="40" grpId="0" animBg="1"/>
      <p:bldP spid="2" grpId="0" animBg="1"/>
      <p:bldP spid="3" grpId="0"/>
      <p:bldP spid="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Floyd  </a:t>
            </a:r>
            <a:r>
              <a:rPr lang="en-US" sz="3600" b="1" dirty="0"/>
              <a:t>and</a:t>
            </a:r>
            <a:r>
              <a:rPr lang="en-US" sz="3600" b="1" dirty="0">
                <a:solidFill>
                  <a:srgbClr val="7030A0"/>
                </a:solidFill>
              </a:rPr>
              <a:t> </a:t>
            </a:r>
            <a:r>
              <a:rPr lang="en-US" sz="3600" b="1" dirty="0" err="1">
                <a:solidFill>
                  <a:srgbClr val="7030A0"/>
                </a:solidFill>
              </a:rPr>
              <a:t>Warshal</a:t>
            </a:r>
            <a:r>
              <a:rPr lang="en-US" sz="3600" b="1" dirty="0" err="1"/>
              <a:t>’s</a:t>
            </a:r>
            <a:r>
              <a:rPr lang="en-US" sz="3600" b="1" dirty="0"/>
              <a:t> algorithm</a:t>
            </a:r>
            <a:br>
              <a:rPr lang="en-US" sz="3600" b="1" dirty="0"/>
            </a:br>
            <a:endParaRPr lang="en-US"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>
              <a:xfrm>
                <a:off x="457200" y="1219200"/>
                <a:ext cx="8686800" cy="5410200"/>
              </a:xfrm>
            </p:spPr>
            <p:txBody>
              <a:bodyPr/>
              <a:lstStyle/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Floyd-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Warshal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-</a:t>
                </a:r>
                <a:r>
                  <a:rPr lang="en-US" sz="2000" b="1" dirty="0" err="1">
                    <a:solidFill>
                      <a:srgbClr val="7030A0"/>
                    </a:solidFill>
                  </a:rPr>
                  <a:t>algo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</m:oMath>
                </a14:m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r>
                  <a:rPr lang="en-US" sz="2000" dirty="0"/>
                  <a:t>{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For each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 do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/>
                  <a:t>           If </a:t>
                </a:r>
                <a14:m>
                  <m:oMath xmlns:m="http://schemas.openxmlformats.org/officeDocument/2006/math"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dirty="0" smtClean="0">
                        <a:solidFill>
                          <a:schemeClr val="tx1"/>
                        </a:solidFill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)∈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</m:oMath>
                </a14:m>
                <a:r>
                  <a:rPr lang="en-US" sz="2000" b="1" dirty="0"/>
                  <a:t>   then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𝑫</m:t>
                    </m:r>
                    <m:r>
                      <a:rPr lang="en-US" sz="2000" b="1" i="0" dirty="0" smtClean="0">
                        <a:solidFill>
                          <a:schemeClr val="tx1"/>
                        </a:solidFill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 smtClean="0">
                        <a:solidFill>
                          <a:schemeClr val="tx1"/>
                        </a:solidFill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7030A0"/>
                        </a:solidFill>
                        <a:latin typeface="Cambria Math"/>
                      </a:rPr>
                      <m:t>𝝎</m:t>
                    </m:r>
                    <m:d>
                      <m:d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d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𝒊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,</m:t>
                        </m:r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𝒋</m:t>
                        </m:r>
                      </m:e>
                    </m:d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  <a:ea typeface="Cambria Math"/>
                    <a:sym typeface="Wingdings" pitchFamily="2" charset="2"/>
                  </a:rPr>
                  <a:t>                                    </a:t>
                </a:r>
                <a:r>
                  <a:rPr lang="en-US" sz="2000" b="1" dirty="0">
                    <a:ea typeface="Cambria Math"/>
                    <a:sym typeface="Wingdings" pitchFamily="2" charset="2"/>
                  </a:rPr>
                  <a:t>else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𝑫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</a:t>
                </a:r>
                <a:r>
                  <a:rPr lang="en-US" sz="2000" b="1" dirty="0">
                    <a:solidFill>
                      <a:srgbClr val="7030A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∞</m:t>
                    </m:r>
                  </m:oMath>
                </a14:m>
                <a:r>
                  <a:rPr lang="en-US" sz="2000" dirty="0"/>
                  <a:t>; </a:t>
                </a:r>
                <a:endParaRPr lang="en-US" sz="2000" b="1" dirty="0">
                  <a:solidFill>
                    <a:srgbClr val="7030A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𝑫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 </a:t>
                </a:r>
                <a14:m>
                  <m:oMath xmlns:m="http://schemas.openxmlformats.org/officeDocument/2006/math">
                    <m:r>
                      <a:rPr lang="en-US" sz="2000" b="1" i="1">
                        <a:solidFill>
                          <a:srgbClr val="0070C0"/>
                        </a:solidFill>
                        <a:latin typeface="Cambria Math"/>
                        <a:ea typeface="Cambria Math"/>
                        <a:sym typeface="Wingdings" pitchFamily="2" charset="2"/>
                      </a:rPr>
                      <m:t>𝟎</m:t>
                    </m:r>
                  </m:oMath>
                </a14:m>
                <a:r>
                  <a:rPr lang="en-US" sz="2000" dirty="0">
                    <a:sym typeface="Wingdings" pitchFamily="2" charset="2"/>
                  </a:rPr>
                  <a:t>;</a:t>
                </a:r>
                <a:r>
                  <a:rPr lang="en-US" sz="2000" dirty="0">
                    <a:solidFill>
                      <a:srgbClr val="C00000"/>
                    </a:solidFill>
                    <a:sym typeface="Wingdings" pitchFamily="2" charset="2"/>
                  </a:rPr>
                  <a:t> </a:t>
                </a: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/>
                  <a:t>   For</a:t>
                </a:r>
                <a:r>
                  <a:rPr lang="en-US" sz="2000" dirty="0"/>
                  <a:t>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2000" dirty="0"/>
                  <a:t> =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𝟏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 </m:t>
                    </m:r>
                  </m:oMath>
                </a14:m>
                <a:r>
                  <a:rPr lang="en-US" sz="2000" dirty="0"/>
                  <a:t> do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</a:t>
                </a:r>
                <a:r>
                  <a:rPr lang="en-US" sz="2000" b="1" dirty="0"/>
                  <a:t>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do</a:t>
                </a:r>
              </a:p>
              <a:p>
                <a:pPr marL="0" indent="0">
                  <a:buNone/>
                </a:pPr>
                <a:r>
                  <a:rPr lang="en-US" sz="2000" b="1" dirty="0"/>
                  <a:t>            For each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r>
                  <a:rPr lang="en-US" sz="2000" dirty="0"/>
                  <a:t> </a:t>
                </a:r>
                <a:r>
                  <a:rPr lang="en-US" sz="2000" b="1" dirty="0"/>
                  <a:t> do</a:t>
                </a:r>
                <a:endParaRPr lang="en-US" sz="2000" b="1" i="1" dirty="0">
                  <a:solidFill>
                    <a:srgbClr val="006C31"/>
                  </a:solidFill>
                  <a:latin typeface="Cambria Math"/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	   </a:t>
                </a:r>
                <a:r>
                  <a:rPr lang="en-US" sz="2000" b="1" dirty="0"/>
                  <a:t>If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𝑫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 &gt;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𝑫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</m:oMath>
                </a14:m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𝑫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)</a:t>
                </a:r>
                <a:r>
                  <a:rPr lang="en-US" sz="2000" b="1" dirty="0">
                    <a:solidFill>
                      <a:srgbClr val="006C31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                              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6C31"/>
                        </a:solidFill>
                        <a:latin typeface="Cambria Math"/>
                      </a:rPr>
                      <m:t>𝑫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  <m:r>
                      <m:rPr>
                        <m:nor/>
                      </m:rPr>
                      <a:rPr lang="en-US" sz="2000" i="0" dirty="0">
                        <a:sym typeface="Wingdings" pitchFamily="2" charset="2"/>
                      </a:rPr>
                      <m:t></m:t>
                    </m:r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𝑫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+</m:t>
                    </m:r>
                    <m:r>
                      <m:rPr>
                        <m:nor/>
                      </m:rPr>
                      <a:rPr lang="en-US" sz="2000" b="1" i="0" dirty="0">
                        <a:solidFill>
                          <a:srgbClr val="006C31"/>
                        </a:solidFill>
                      </a:rPr>
                      <m:t> </m:t>
                    </m:r>
                    <m:r>
                      <a:rPr lang="en-US" sz="2000" b="1" i="1" dirty="0">
                        <a:solidFill>
                          <a:srgbClr val="006C31"/>
                        </a:solidFill>
                        <a:latin typeface="Cambria Math"/>
                      </a:rPr>
                      <m:t>𝑫</m:t>
                    </m:r>
                    <m:r>
                      <a:rPr lang="en-US" sz="2000" b="1" dirty="0">
                        <a:latin typeface="Cambria Math"/>
                      </a:rPr>
                      <m:t>[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  <m:r>
                      <a:rPr lang="en-US" sz="2000" dirty="0">
                        <a:latin typeface="Cambria Math"/>
                      </a:rPr>
                      <m:t>,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20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2000" dirty="0"/>
                  <a:t>;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dirty="0"/>
                  <a:t>}</a:t>
                </a:r>
                <a:r>
                  <a:rPr lang="en-US" sz="2400" b="1" dirty="0">
                    <a:solidFill>
                      <a:srgbClr val="C00000"/>
                    </a:solidFill>
                  </a:rPr>
                  <a:t> </a:t>
                </a:r>
              </a:p>
              <a:p>
                <a:pPr marL="0" indent="0">
                  <a:buNone/>
                </a:pPr>
                <a:r>
                  <a:rPr lang="en-US" sz="1800" b="1" dirty="0" err="1">
                    <a:solidFill>
                      <a:srgbClr val="C00000"/>
                    </a:solidFill>
                  </a:rPr>
                  <a:t>Lemma</a:t>
                </a:r>
                <a:r>
                  <a:rPr lang="en-US" sz="1800" dirty="0" err="1"/>
                  <a:t>:At</a:t>
                </a:r>
                <a:r>
                  <a:rPr lang="en-US" sz="1800" dirty="0"/>
                  <a:t> the end of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𝒌</m:t>
                    </m:r>
                  </m:oMath>
                </a14:m>
                <a:r>
                  <a:rPr lang="en-US" sz="1800" dirty="0" err="1"/>
                  <a:t>th</a:t>
                </a:r>
                <a:r>
                  <a:rPr lang="en-US" sz="1800" dirty="0"/>
                  <a:t> iteration,</a:t>
                </a:r>
              </a:p>
              <a:p>
                <a:pPr marL="0" indent="0">
                  <a:buNone/>
                </a:pPr>
                <a:r>
                  <a:rPr lang="en-US" sz="1800" dirty="0"/>
                  <a:t>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6C31"/>
                        </a:solidFill>
                        <a:latin typeface="Cambria Math"/>
                      </a:rPr>
                      <m:t>𝑫</m:t>
                    </m:r>
                    <m:r>
                      <a:rPr lang="en-US" sz="1600" b="1" dirty="0">
                        <a:latin typeface="Cambria Math"/>
                      </a:rPr>
                      <m:t>[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  <m:r>
                      <a:rPr lang="en-US" sz="1600" dirty="0">
                        <a:latin typeface="Cambria Math"/>
                      </a:rPr>
                      <m:t>,</m:t>
                    </m:r>
                    <m:r>
                      <a:rPr lang="en-US" sz="16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  <m:r>
                      <a:rPr lang="en-US" sz="1600" b="1" i="1" dirty="0">
                        <a:latin typeface="Cambria Math"/>
                      </a:rPr>
                      <m:t>]</m:t>
                    </m:r>
                  </m:oMath>
                </a14:m>
                <a:r>
                  <a:rPr lang="en-US" sz="1800" dirty="0"/>
                  <a:t> = length of the shortest path from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𝒊</m:t>
                    </m:r>
                  </m:oMath>
                </a14:m>
                <a:r>
                  <a:rPr lang="en-US" sz="1800" dirty="0"/>
                  <a:t> to </a:t>
                </a:r>
                <a14:m>
                  <m:oMath xmlns:m="http://schemas.openxmlformats.org/officeDocument/2006/math">
                    <m:r>
                      <a:rPr lang="en-US" sz="1800" b="1" i="1" dirty="0">
                        <a:solidFill>
                          <a:srgbClr val="0070C0"/>
                        </a:solidFill>
                        <a:latin typeface="Cambria Math"/>
                      </a:rPr>
                      <m:t>𝒋</m:t>
                    </m:r>
                  </m:oMath>
                </a14:m>
                <a:endParaRPr lang="en-US" sz="1800" dirty="0"/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57200" y="1219200"/>
                <a:ext cx="8686800" cy="5410200"/>
              </a:xfrm>
              <a:blipFill rotWithShape="1">
                <a:blip r:embed="rId2"/>
                <a:stretch>
                  <a:fillRect l="-702" t="-563" b="-1069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7D3F34-CCFE-4664-990B-25D48250FF76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1106784" y="447669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{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784" y="5181600"/>
            <a:ext cx="26481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>
              <a:xfrm>
                <a:off x="4839873" y="6400800"/>
                <a:ext cx="430412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with all intermediate vertices of indices </a:t>
                </a:r>
                <a14:m>
                  <m:oMath xmlns:m="http://schemas.openxmlformats.org/officeDocument/2006/math">
                    <m:r>
                      <a:rPr lang="en-US" i="1" dirty="0">
                        <a:solidFill>
                          <a:srgbClr val="006C31"/>
                        </a:solidFill>
                        <a:latin typeface="Cambria Math"/>
                      </a:rPr>
                      <m:t>≤</m:t>
                    </m:r>
                    <m:r>
                      <a:rPr lang="en-US" b="1" i="1" dirty="0">
                        <a:solidFill>
                          <a:srgbClr val="006C31"/>
                        </a:solidFill>
                        <a:latin typeface="Cambria Math"/>
                      </a:rPr>
                      <m:t>𝒌</m:t>
                    </m:r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39873" y="6400800"/>
                <a:ext cx="4304127" cy="369332"/>
              </a:xfrm>
              <a:prstGeom prst="rect">
                <a:avLst/>
              </a:prstGeom>
              <a:blipFill rotWithShape="1">
                <a:blip r:embed="rId3"/>
                <a:stretch>
                  <a:fillRect l="-1275" t="-8197" r="-1416" b="-2459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83748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10" grpId="0"/>
      <p:bldP spid="11" grpId="0"/>
      <p:bldP spid="5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>
                <a:solidFill>
                  <a:srgbClr val="7030A0"/>
                </a:solidFill>
              </a:rPr>
              <a:t>All-pairs shortest paths in a digraph</a:t>
            </a:r>
            <a:br>
              <a:rPr lang="en-US" sz="3600" b="1" dirty="0">
                <a:solidFill>
                  <a:srgbClr val="0070C0"/>
                </a:solidFill>
              </a:rPr>
            </a:br>
            <a:r>
              <a:rPr lang="en-US" sz="2800" b="1" dirty="0"/>
              <a:t>with </a:t>
            </a:r>
            <a:r>
              <a:rPr lang="en-US" sz="2800" b="1" dirty="0">
                <a:solidFill>
                  <a:srgbClr val="0070C0"/>
                </a:solidFill>
              </a:rPr>
              <a:t>negative ed</a:t>
            </a:r>
            <a:r>
              <a:rPr lang="en-US" sz="2800" b="1" dirty="0"/>
              <a:t>ge weights but </a:t>
            </a:r>
            <a:r>
              <a:rPr lang="en-US" sz="2800" b="1" dirty="0">
                <a:solidFill>
                  <a:srgbClr val="C00000"/>
                </a:solidFill>
              </a:rPr>
              <a:t>no negative cycle</a:t>
            </a:r>
            <a:endParaRPr lang="en-US" sz="3600" b="1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Content Placeholder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endParaRPr lang="en-US" sz="2000" b="1" dirty="0">
                  <a:solidFill>
                    <a:srgbClr val="C00000"/>
                  </a:solidFill>
                </a:endParaRPr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C00000"/>
                    </a:solidFill>
                  </a:rPr>
                  <a:t>Theorem</a:t>
                </a:r>
                <a:r>
                  <a:rPr lang="en-US" sz="2000" dirty="0"/>
                  <a:t>: Given a graph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𝑮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=(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>
                        <a:latin typeface="Cambria Math"/>
                      </a:rPr>
                      <m:t>,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latin typeface="Cambria Math"/>
                      </a:rPr>
                      <m:t>)</m:t>
                    </m:r>
                  </m:oMath>
                </a14:m>
                <a:r>
                  <a:rPr lang="en-US" sz="2000" dirty="0"/>
                  <a:t> on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𝒏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=|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𝑽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vertices and 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𝒎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=|</m:t>
                    </m:r>
                    <m:r>
                      <a:rPr lang="en-US" sz="2000" b="1" i="1" dirty="0" smtClean="0">
                        <a:solidFill>
                          <a:srgbClr val="0070C0"/>
                        </a:solidFill>
                        <a:latin typeface="Cambria Math"/>
                      </a:rPr>
                      <m:t>𝑬</m:t>
                    </m:r>
                    <m:r>
                      <a:rPr lang="en-US" sz="2000" b="1" i="1" dirty="0">
                        <a:solidFill>
                          <a:srgbClr val="0070C0"/>
                        </a:solidFill>
                        <a:latin typeface="Cambria Math"/>
                      </a:rPr>
                      <m:t>|</m:t>
                    </m:r>
                  </m:oMath>
                </a14:m>
                <a:r>
                  <a:rPr lang="en-US" sz="2000" dirty="0"/>
                  <a:t> edges,</a:t>
                </a:r>
              </a:p>
              <a:p>
                <a:pPr marL="0" indent="0">
                  <a:buNone/>
                </a:pPr>
                <a:r>
                  <a:rPr lang="en-US" sz="2000" dirty="0"/>
                  <a:t>we can compute all-pairs distances in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dirty="0" smtClean="0">
                            <a:solidFill>
                              <a:srgbClr val="0070C0"/>
                            </a:solidFill>
                            <a:latin typeface="Cambria Math"/>
                          </a:rPr>
                          <m:t>𝟑</m:t>
                        </m:r>
                      </m:sup>
                    </m:sSup>
                  </m:oMath>
                </a14:m>
                <a:r>
                  <a:rPr lang="en-US" sz="2000" dirty="0"/>
                  <a:t>) time.</a:t>
                </a:r>
              </a:p>
              <a:p>
                <a:pPr marL="0" indent="0">
                  <a:buNone/>
                </a:pPr>
                <a:r>
                  <a:rPr lang="en-US" sz="2000" dirty="0"/>
                  <a:t>The space requirement is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).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006C31"/>
                    </a:solidFill>
                  </a:rPr>
                  <a:t>Homework</a:t>
                </a:r>
                <a:r>
                  <a:rPr lang="en-US" sz="2000" b="1" dirty="0"/>
                  <a:t>: </a:t>
                </a:r>
              </a:p>
              <a:p>
                <a:r>
                  <a:rPr lang="en-US" sz="2000" dirty="0"/>
                  <a:t>How to retrieve shortest path ?</a:t>
                </a:r>
              </a:p>
              <a:p>
                <a:pPr marL="0" indent="0">
                  <a:buNone/>
                </a:pPr>
                <a:endParaRPr lang="en-US" sz="2000" dirty="0"/>
              </a:p>
              <a:p>
                <a:pPr marL="0" indent="0">
                  <a:buNone/>
                </a:pPr>
                <a:r>
                  <a:rPr lang="en-US" sz="2000" b="1" dirty="0">
                    <a:solidFill>
                      <a:srgbClr val="7030A0"/>
                    </a:solidFill>
                  </a:rPr>
                  <a:t>Hint</a:t>
                </a:r>
                <a:r>
                  <a:rPr lang="en-US" sz="2000" dirty="0"/>
                  <a:t>: Augment the given algorithm with a </a:t>
                </a:r>
                <a:r>
                  <a:rPr lang="en-US" sz="2000" b="1" dirty="0"/>
                  <a:t>O</a:t>
                </a:r>
                <a:r>
                  <a:rPr lang="en-US" sz="2000" dirty="0"/>
                  <a:t>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</m:ctrlPr>
                      </m:sSupPr>
                      <m:e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𝒏</m:t>
                        </m:r>
                      </m:e>
                      <m:sup>
                        <m:r>
                          <a:rPr lang="en-US" sz="2000" b="1" i="1" dirty="0">
                            <a:solidFill>
                              <a:srgbClr val="0070C0"/>
                            </a:solidFill>
                            <a:latin typeface="Cambria Math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US" sz="2000" dirty="0"/>
                  <a:t>) size data structure.</a:t>
                </a:r>
              </a:p>
              <a:p>
                <a:pPr marL="0" indent="0">
                  <a:buNone/>
                </a:pPr>
                <a:r>
                  <a:rPr lang="en-US" sz="2000" dirty="0"/>
                  <a:t>               (that stores all-pairs shortest paths </a:t>
                </a:r>
                <a:r>
                  <a:rPr lang="en-US" sz="2000" b="1" u="sng" dirty="0"/>
                  <a:t>implicitly</a:t>
                </a:r>
                <a:r>
                  <a:rPr lang="en-US" sz="2000" dirty="0"/>
                  <a:t>)</a:t>
                </a:r>
              </a:p>
              <a:p>
                <a:pPr marL="0" indent="0">
                  <a:buNone/>
                </a:pPr>
                <a:endParaRPr lang="en-US" sz="2000" dirty="0"/>
              </a:p>
            </p:txBody>
          </p:sp>
        </mc:Choice>
        <mc:Fallback xmlns="">
          <p:sp>
            <p:nvSpPr>
              <p:cNvPr id="6" name="Content Placeholder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2"/>
                <a:stretch>
                  <a:fillRect l="-741" t="-674" r="-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92E9ED8-BBDD-47A1-9C62-8C7F2ACFBD70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391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14616</TotalTime>
  <Words>2071</Words>
  <Application>Microsoft Macintosh PowerPoint</Application>
  <PresentationFormat>On-screen Show (4:3)</PresentationFormat>
  <Paragraphs>376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Arial</vt:lpstr>
      <vt:lpstr>Calibri</vt:lpstr>
      <vt:lpstr>Cambria Math</vt:lpstr>
      <vt:lpstr>Wingdings</vt:lpstr>
      <vt:lpstr>Office Theme</vt:lpstr>
      <vt:lpstr>Design and Analysis of Algorithms CS345  </vt:lpstr>
      <vt:lpstr>BellMAN-Ford Algorithm </vt:lpstr>
      <vt:lpstr>Exploiting the Optimal subpath property </vt:lpstr>
      <vt:lpstr>A hierarchy of set of paths </vt:lpstr>
      <vt:lpstr>Bellman-Ford’s algorithm </vt:lpstr>
      <vt:lpstr>Single source shortest paths in a graph </vt:lpstr>
      <vt:lpstr>All-pairs shortest paths in a graph with positive edge weights</vt:lpstr>
      <vt:lpstr>All-pairs shortest paths in a graph with negative edge weights but no negative cycle</vt:lpstr>
      <vt:lpstr>All-pairs shortest paths in  O(n^3) time </vt:lpstr>
      <vt:lpstr>The Optimal substructure property </vt:lpstr>
      <vt:lpstr>The Optimal substructure property </vt:lpstr>
      <vt:lpstr>The Optimal substructure property </vt:lpstr>
      <vt:lpstr>Term for Recursive formulation of δ(u,v) ?</vt:lpstr>
      <vt:lpstr>Recursive formulation of D_k (i,j) </vt:lpstr>
      <vt:lpstr>Recursive formulation of D_k (i,j) </vt:lpstr>
      <vt:lpstr>Floyd Warshal Algorithm for  All Pairs Shortest Paths</vt:lpstr>
      <vt:lpstr>Floyd  and Warshal’s algorithm </vt:lpstr>
      <vt:lpstr>Floyd Warshal Algorithm for  All Pairs Shortest Paths</vt:lpstr>
      <vt:lpstr>PowerPoint Presentation</vt:lpstr>
      <vt:lpstr>PowerPoint Presentation</vt:lpstr>
      <vt:lpstr>Floyd  and Warshal’s algorithm </vt:lpstr>
      <vt:lpstr>All-pairs shortest paths in a digraph with negative edge weights but no negative cycle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Surender Baswana</dc:creator>
  <cp:lastModifiedBy>Raghunath Tewari</cp:lastModifiedBy>
  <cp:revision>1330</cp:revision>
  <dcterms:created xsi:type="dcterms:W3CDTF">2011-12-03T04:13:03Z</dcterms:created>
  <dcterms:modified xsi:type="dcterms:W3CDTF">2026-09-10T13:44:26Z</dcterms:modified>
</cp:coreProperties>
</file>