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3"/>
  </p:notesMasterIdLst>
  <p:sldIdLst>
    <p:sldId id="547" r:id="rId2"/>
    <p:sldId id="527" r:id="rId3"/>
    <p:sldId id="442" r:id="rId4"/>
    <p:sldId id="550" r:id="rId5"/>
    <p:sldId id="519" r:id="rId6"/>
    <p:sldId id="538" r:id="rId7"/>
    <p:sldId id="484" r:id="rId8"/>
    <p:sldId id="523" r:id="rId9"/>
    <p:sldId id="549" r:id="rId10"/>
    <p:sldId id="551" r:id="rId11"/>
    <p:sldId id="552" r:id="rId12"/>
    <p:sldId id="553" r:id="rId13"/>
    <p:sldId id="554" r:id="rId14"/>
    <p:sldId id="555" r:id="rId15"/>
    <p:sldId id="548" r:id="rId16"/>
    <p:sldId id="510" r:id="rId17"/>
    <p:sldId id="556" r:id="rId18"/>
    <p:sldId id="558" r:id="rId19"/>
    <p:sldId id="576" r:id="rId20"/>
    <p:sldId id="559" r:id="rId21"/>
    <p:sldId id="561" r:id="rId22"/>
    <p:sldId id="560" r:id="rId23"/>
    <p:sldId id="563" r:id="rId24"/>
    <p:sldId id="566" r:id="rId25"/>
    <p:sldId id="564" r:id="rId26"/>
    <p:sldId id="568" r:id="rId27"/>
    <p:sldId id="567" r:id="rId28"/>
    <p:sldId id="569" r:id="rId29"/>
    <p:sldId id="565" r:id="rId30"/>
    <p:sldId id="570" r:id="rId31"/>
    <p:sldId id="571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178A90-1435-0846-9001-8F39503F5780}" v="6" dt="2026-08-03T02:36:05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8" autoAdjust="0"/>
    <p:restoredTop sz="94658" autoAdjust="0"/>
  </p:normalViewPr>
  <p:slideViewPr>
    <p:cSldViewPr>
      <p:cViewPr varScale="1">
        <p:scale>
          <a:sx n="115" d="100"/>
          <a:sy n="115" d="100"/>
        </p:scale>
        <p:origin x="176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modSld">
      <pc:chgData name="Raghunath Tewari" userId="2638bdda-d406-4938-a2a6-e4e967acb772" providerId="ADAL" clId="{5BB0A526-9D3F-5694-B192-877B52D1FAF9}" dt="2026-08-03T02:36:05.298" v="5" actId="20577"/>
      <pc:docMkLst>
        <pc:docMk/>
      </pc:docMkLst>
      <pc:sldChg chg="modSp">
        <pc:chgData name="Raghunath Tewari" userId="2638bdda-d406-4938-a2a6-e4e967acb772" providerId="ADAL" clId="{5BB0A526-9D3F-5694-B192-877B52D1FAF9}" dt="2026-08-03T02:36:05.298" v="5" actId="20577"/>
        <pc:sldMkLst>
          <pc:docMk/>
          <pc:sldMk cId="3387424875" sldId="561"/>
        </pc:sldMkLst>
        <pc:spChg chg="mod">
          <ac:chgData name="Raghunath Tewari" userId="2638bdda-d406-4938-a2a6-e4e967acb772" providerId="ADAL" clId="{5BB0A526-9D3F-5694-B192-877B52D1FAF9}" dt="2026-08-03T02:36:05.298" v="5" actId="20577"/>
          <ac:spMkLst>
            <pc:docMk/>
            <pc:sldMk cId="3387424875" sldId="56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0.png"/><Relationship Id="rId7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1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CS345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endParaRPr lang="en-US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371600" y="4495800"/>
                <a:ext cx="6400800" cy="1600200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>
                <a:normAutofit fontScale="92500" lnSpcReduction="20000"/>
              </a:bodyPr>
              <a:lstStyle/>
              <a:p>
                <a:pPr fontAlgn="auto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Lecture 2</a:t>
                </a:r>
              </a:p>
              <a:p>
                <a:pPr fontAlgn="auto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endParaRPr lang="en-US" sz="2400" b="1" dirty="0">
                  <a:solidFill>
                    <a:schemeClr val="tx1"/>
                  </a:solidFill>
                </a:endParaRPr>
              </a:p>
              <a:p>
                <a:pPr marL="342900" indent="-342900" algn="l" fontAlgn="auto"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Closest Pair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problem:  </a:t>
                </a:r>
                <a:r>
                  <a:rPr lang="en-US" sz="2000" b="1" i="1" dirty="0">
                    <a:solidFill>
                      <a:schemeClr val="tx1"/>
                    </a:solidFill>
                  </a:rPr>
                  <a:t>O</a:t>
                </a:r>
                <a:r>
                  <a:rPr lang="en-US" sz="2000" dirty="0">
                    <a:solidFill>
                      <a:schemeClr val="tx1"/>
                    </a:solidFill>
                  </a:rPr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sz="2000" b="1" dirty="0">
                  <a:solidFill>
                    <a:schemeClr val="tx1"/>
                  </a:solidFill>
                </a:endParaRPr>
              </a:p>
              <a:p>
                <a:pPr marL="342900" indent="-342900" algn="l" fontAlgn="auto"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Convex Hull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problem</a:t>
                </a:r>
              </a:p>
              <a:p>
                <a:pPr marL="342900" indent="-342900" algn="l" fontAlgn="auto"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Non-dominated points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problem</a:t>
                </a: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371600" y="4495800"/>
                <a:ext cx="6400800" cy="16002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14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Recap from Lecture 1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84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Closest Pair </a:t>
            </a:r>
            <a:r>
              <a:rPr lang="en-US" sz="4000" b="1" dirty="0"/>
              <a:t>Problem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334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7244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31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divide</a:t>
            </a:r>
            <a:r>
              <a:rPr lang="en-US" sz="4000" b="1" dirty="0"/>
              <a:t> and </a:t>
            </a:r>
            <a:r>
              <a:rPr lang="en-US" sz="4000" b="1" dirty="0">
                <a:solidFill>
                  <a:srgbClr val="7030A0"/>
                </a:solidFill>
              </a:rPr>
              <a:t>conquer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334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7244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9" name="Straight Connector 68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/>
          <p:cNvCxnSpPr/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/>
          <p:cNvGrpSpPr/>
          <p:nvPr/>
        </p:nvGrpSpPr>
        <p:grpSpPr>
          <a:xfrm>
            <a:off x="685800" y="5978652"/>
            <a:ext cx="3810000" cy="726948"/>
            <a:chOff x="685800" y="5978652"/>
            <a:chExt cx="3810000" cy="726948"/>
          </a:xfrm>
        </p:grpSpPr>
        <p:sp>
          <p:nvSpPr>
            <p:cNvPr id="88" name="Right Brace 87"/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/>
                <p:cNvSpPr txBox="1"/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13287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/>
          <p:cNvGrpSpPr/>
          <p:nvPr/>
        </p:nvGrpSpPr>
        <p:grpSpPr>
          <a:xfrm>
            <a:off x="4648200" y="5978652"/>
            <a:ext cx="3810000" cy="726948"/>
            <a:chOff x="685800" y="5978652"/>
            <a:chExt cx="3810000" cy="726948"/>
          </a:xfrm>
        </p:grpSpPr>
        <p:sp>
          <p:nvSpPr>
            <p:cNvPr id="91" name="Right Brace 90"/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/>
                <p:cNvSpPr txBox="1"/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13287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226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3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5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1" grpId="0"/>
      <p:bldP spid="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divide</a:t>
            </a:r>
            <a:r>
              <a:rPr lang="en-US" sz="4000" b="1" dirty="0"/>
              <a:t> and </a:t>
            </a:r>
            <a:r>
              <a:rPr lang="en-US" sz="4000" b="1" dirty="0">
                <a:solidFill>
                  <a:srgbClr val="7030A0"/>
                </a:solidFill>
              </a:rPr>
              <a:t>conquer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267200" y="4991100"/>
            <a:ext cx="6969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076700" y="48768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" name="Group 91"/>
          <p:cNvGrpSpPr/>
          <p:nvPr/>
        </p:nvGrpSpPr>
        <p:grpSpPr>
          <a:xfrm>
            <a:off x="4261624" y="4572000"/>
            <a:ext cx="1243925" cy="876300"/>
            <a:chOff x="4261624" y="2362200"/>
            <a:chExt cx="1243925" cy="876300"/>
          </a:xfrm>
        </p:grpSpPr>
        <p:sp>
          <p:nvSpPr>
            <p:cNvPr id="93" name="Rectangle 92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Connector 93"/>
            <p:cNvCxnSpPr/>
            <p:nvPr/>
          </p:nvCxnSpPr>
          <p:spPr>
            <a:xfrm>
              <a:off x="4261624" y="2781300"/>
              <a:ext cx="696951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/>
                <p:cNvSpPr txBox="1"/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1666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9" name="Oval 9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47244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1" name="Group 100"/>
          <p:cNvGrpSpPr/>
          <p:nvPr/>
        </p:nvGrpSpPr>
        <p:grpSpPr>
          <a:xfrm>
            <a:off x="4267200" y="2362200"/>
            <a:ext cx="1238349" cy="876300"/>
            <a:chOff x="4267200" y="2362200"/>
            <a:chExt cx="1238349" cy="876300"/>
          </a:xfrm>
        </p:grpSpPr>
        <p:sp>
          <p:nvSpPr>
            <p:cNvPr id="102" name="Rectangle 101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Straight Connector 102"/>
            <p:cNvCxnSpPr/>
            <p:nvPr/>
          </p:nvCxnSpPr>
          <p:spPr>
            <a:xfrm>
              <a:off x="4267200" y="2781300"/>
              <a:ext cx="696951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/>
                <p:cNvSpPr txBox="1"/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1666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8" name="Oval 107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Oval 109"/>
          <p:cNvSpPr/>
          <p:nvPr/>
        </p:nvSpPr>
        <p:spPr>
          <a:xfrm>
            <a:off x="4800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2" name="Group 111"/>
          <p:cNvGrpSpPr/>
          <p:nvPr/>
        </p:nvGrpSpPr>
        <p:grpSpPr>
          <a:xfrm>
            <a:off x="4267200" y="3505200"/>
            <a:ext cx="1238349" cy="876300"/>
            <a:chOff x="4267200" y="2362200"/>
            <a:chExt cx="1238349" cy="876300"/>
          </a:xfrm>
        </p:grpSpPr>
        <p:sp>
          <p:nvSpPr>
            <p:cNvPr id="113" name="Rectangle 112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4" name="Straight Connector 113"/>
            <p:cNvCxnSpPr/>
            <p:nvPr/>
          </p:nvCxnSpPr>
          <p:spPr>
            <a:xfrm>
              <a:off x="4267200" y="2781300"/>
              <a:ext cx="696951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/>
                <p:cNvSpPr txBox="1"/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/>
                <p:cNvSpPr txBox="1"/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1666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9" name="Oval 118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1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/>
      <p:bldP spid="1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Divide and Conquer based algorithm</a:t>
            </a:r>
            <a:br>
              <a:rPr lang="en-US" sz="3200" b="1" dirty="0"/>
            </a:b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) </a:t>
                </a:r>
              </a:p>
              <a:p>
                <a:pPr marL="0" indent="0">
                  <a:buNone/>
                </a:pPr>
                <a:r>
                  <a:rPr lang="en-US" sz="1600" dirty="0"/>
                  <a:t>{   </a:t>
                </a:r>
                <a:r>
                  <a:rPr lang="en-US" sz="1600" b="1" dirty="0"/>
                  <a:t>If</a:t>
                </a:r>
                <a:r>
                  <a:rPr lang="en-US" sz="1600" dirty="0"/>
                  <a:t> (|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|=1 ) return infinity;</a:t>
                </a:r>
              </a:p>
              <a:p>
                <a:pPr marL="0" indent="0">
                  <a:buNone/>
                </a:pPr>
                <a:r>
                  <a:rPr lang="en-US" sz="1600" dirty="0"/>
                  <a:t>    {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𝑚𝑒𝑑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 </a:t>
                </a:r>
                <a:r>
                  <a:rPr lang="en-US" sz="1600" dirty="0"/>
                  <a:t>Compute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/>
                  <a:t>-median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;</a:t>
                </a:r>
              </a:p>
              <a:p>
                <a:pPr marL="0" indent="0">
                  <a:buNone/>
                </a:pPr>
                <a:r>
                  <a:rPr lang="en-US" sz="1600" b="0" dirty="0"/>
                  <a:t>   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𝐿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Split-by-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-median(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𝑚𝑒𝑑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70C0"/>
                    </a:solidFill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 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𝐴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 Sorted-array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For each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𝑝</m:t>
                    </m:r>
                    <m:r>
                      <a:rPr lang="en-US" sz="1600" b="0" i="1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do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𝒚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  </a:t>
                </a:r>
                <a:r>
                  <a:rPr lang="en-US" sz="1600" dirty="0">
                    <a:sym typeface="Wingdings" pitchFamily="2" charset="2"/>
                  </a:rPr>
                  <a:t>y-coordinate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𝑝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Binary </a:t>
                </a:r>
                <a:r>
                  <a:rPr lang="en-US" sz="1600" dirty="0">
                    <a:sym typeface="Wingdings" pitchFamily="2" charset="2"/>
                  </a:rPr>
                  <a:t>Search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𝐴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for points with y-coordinate within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</a:rPr>
                      <m:t>𝒚</m:t>
                    </m:r>
                    <m:r>
                      <a:rPr lang="en-US" sz="1600" b="0" i="1" smtClean="0">
                        <a:latin typeface="Cambria Math"/>
                      </a:rPr>
                      <m:t>±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</a:t>
                </a:r>
                <a:r>
                  <a:rPr lang="en-US" sz="1600" dirty="0">
                    <a:sym typeface="Wingdings" pitchFamily="2" charset="2"/>
                  </a:rPr>
                  <a:t>Compute distance from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𝑝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to each of these points;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Update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accordingly;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return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;</a:t>
                </a:r>
                <a:endParaRPr lang="en-US" sz="16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}</a:t>
                </a:r>
                <a:r>
                  <a:rPr lang="en-US" sz="1600" dirty="0">
                    <a:sym typeface="Wingdings" pitchFamily="2" charset="2"/>
                  </a:rPr>
                  <a:t>             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370" t="-367" b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029200" y="1828800"/>
            <a:ext cx="2902760" cy="1239798"/>
            <a:chOff x="1371601" y="2025134"/>
            <a:chExt cx="2902760" cy="1239798"/>
          </a:xfrm>
        </p:grpSpPr>
        <p:sp>
          <p:nvSpPr>
            <p:cNvPr id="5" name="Right Brace 4"/>
            <p:cNvSpPr/>
            <p:nvPr/>
          </p:nvSpPr>
          <p:spPr>
            <a:xfrm>
              <a:off x="1371601" y="2025134"/>
              <a:ext cx="1752600" cy="1239798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048000" y="2494002"/>
              <a:ext cx="1226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Divide step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29200" y="3200400"/>
            <a:ext cx="3962400" cy="2819400"/>
            <a:chOff x="1808973" y="1295400"/>
            <a:chExt cx="3962400" cy="2819400"/>
          </a:xfrm>
        </p:grpSpPr>
        <p:sp>
          <p:nvSpPr>
            <p:cNvPr id="9" name="Right Brace 8"/>
            <p:cNvSpPr/>
            <p:nvPr/>
          </p:nvSpPr>
          <p:spPr>
            <a:xfrm>
              <a:off x="1808973" y="1295400"/>
              <a:ext cx="1676400" cy="2819400"/>
            </a:xfrm>
            <a:prstGeom prst="rightBrace">
              <a:avLst>
                <a:gd name="adj1" fmla="val 646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29000" y="2678668"/>
              <a:ext cx="2342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Combine/conquer step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60754" y="4126468"/>
                <a:ext cx="1888850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754" y="4126468"/>
                <a:ext cx="1888850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517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172200" y="1981200"/>
                <a:ext cx="2526846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+ 2 </a:t>
                </a:r>
                <a:r>
                  <a:rPr lang="en-US" b="1" dirty="0"/>
                  <a:t>T</a:t>
                </a:r>
                <a:r>
                  <a:rPr lang="en-US" dirty="0"/>
                  <a:t>(|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/>
                      </a:rPr>
                      <m:t>𝐏</m:t>
                    </m:r>
                  </m:oMath>
                </a14:m>
                <a:r>
                  <a:rPr lang="en-US" dirty="0"/>
                  <a:t>|/2) time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981200"/>
                <a:ext cx="2526846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362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1524000" y="1752600"/>
            <a:ext cx="2421542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676400" y="2057400"/>
            <a:ext cx="26670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371600" y="2895600"/>
            <a:ext cx="26670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62358" y="3200400"/>
            <a:ext cx="26670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8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Running time </a:t>
            </a:r>
            <a:r>
              <a:rPr lang="en-US" sz="3600" b="1" dirty="0"/>
              <a:t>of the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000" dirty="0"/>
                  <a:t>What is the recurrence for running time?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 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c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log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+  2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/2)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</a:t>
                </a:r>
                <a:r>
                  <a:rPr lang="en-US" sz="2000" b="1" dirty="0"/>
                  <a:t>   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exists an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 sz="200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time </a:t>
                </a:r>
                <a:r>
                  <a:rPr lang="en-US" sz="2000" dirty="0"/>
                  <a:t>algorithm  to compute closest pair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points in plane.</a:t>
                </a: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 rotWithShape="1">
                <a:blip r:embed="rId2"/>
                <a:stretch>
                  <a:fillRect l="-714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86000" y="2286000"/>
            <a:ext cx="10668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5" idx="5"/>
          </p:cNvCxnSpPr>
          <p:nvPr/>
        </p:nvCxnSpPr>
        <p:spPr>
          <a:xfrm>
            <a:off x="3196571" y="2806326"/>
            <a:ext cx="1756429" cy="39407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own Arrow 10"/>
          <p:cNvSpPr/>
          <p:nvPr/>
        </p:nvSpPr>
        <p:spPr>
          <a:xfrm>
            <a:off x="4953000" y="3549396"/>
            <a:ext cx="484632" cy="489204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953000" y="4019490"/>
                <a:ext cx="503215" cy="40011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c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019490"/>
                <a:ext cx="503215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1905" t="-5882" r="-22619" b="-23529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loud Callout 5"/>
              <p:cNvSpPr/>
              <p:nvPr/>
            </p:nvSpPr>
            <p:spPr>
              <a:xfrm>
                <a:off x="6096000" y="2057400"/>
                <a:ext cx="2819400" cy="917448"/>
              </a:xfrm>
              <a:prstGeom prst="cloudCallout">
                <a:avLst>
                  <a:gd name="adj1" fmla="val -33154"/>
                  <a:gd name="adj2" fmla="val 87774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How to improve the running time to </a:t>
                </a:r>
              </a:p>
              <a:p>
                <a:pPr algn="ctr"/>
                <a:r>
                  <a:rPr lang="en-US" sz="1400" b="1" i="1" dirty="0">
                    <a:solidFill>
                      <a:schemeClr val="tx1"/>
                    </a:solidFill>
                  </a:rPr>
                  <a:t>O</a:t>
                </a:r>
                <a:r>
                  <a:rPr lang="en-US" sz="1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r>
                  <a:rPr lang="en-US" sz="1400" dirty="0">
                    <a:solidFill>
                      <a:schemeClr val="tx1"/>
                    </a:solidFill>
                  </a:rPr>
                  <a:t> ? </a:t>
                </a:r>
              </a:p>
            </p:txBody>
          </p:sp>
        </mc:Choice>
        <mc:Fallback xmlns="">
          <p:sp>
            <p:nvSpPr>
              <p:cNvPr id="6" name="Cloud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57400"/>
                <a:ext cx="2819400" cy="917448"/>
              </a:xfrm>
              <a:prstGeom prst="cloudCallout">
                <a:avLst>
                  <a:gd name="adj1" fmla="val -33154"/>
                  <a:gd name="adj2" fmla="val 87774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9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11" grpId="0" animBg="1"/>
      <p:bldP spid="12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conquer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2672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4196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586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8387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8" name="Group 137"/>
          <p:cNvGrpSpPr/>
          <p:nvPr/>
        </p:nvGrpSpPr>
        <p:grpSpPr>
          <a:xfrm>
            <a:off x="4305300" y="1741441"/>
            <a:ext cx="152400" cy="3897359"/>
            <a:chOff x="4305300" y="1741441"/>
            <a:chExt cx="152400" cy="3897359"/>
          </a:xfrm>
        </p:grpSpPr>
        <p:cxnSp>
          <p:nvCxnSpPr>
            <p:cNvPr id="12" name="Straight Connector 11"/>
            <p:cNvCxnSpPr>
              <a:stCxn id="78" idx="0"/>
              <a:endCxn id="38" idx="4"/>
            </p:cNvCxnSpPr>
            <p:nvPr/>
          </p:nvCxnSpPr>
          <p:spPr>
            <a:xfrm flipH="1" flipV="1">
              <a:off x="4305300" y="5181600"/>
              <a:ext cx="15240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stCxn id="38" idx="7"/>
              <a:endCxn id="81" idx="3"/>
            </p:cNvCxnSpPr>
            <p:nvPr/>
          </p:nvCxnSpPr>
          <p:spPr>
            <a:xfrm flipV="1">
              <a:off x="4332241" y="4560841"/>
              <a:ext cx="98518" cy="555718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77" idx="4"/>
              <a:endCxn id="81" idx="1"/>
            </p:cNvCxnSpPr>
            <p:nvPr/>
          </p:nvCxnSpPr>
          <p:spPr>
            <a:xfrm>
              <a:off x="4305300" y="3962400"/>
              <a:ext cx="125459" cy="5445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09" idx="2"/>
              <a:endCxn id="77" idx="0"/>
            </p:cNvCxnSpPr>
            <p:nvPr/>
          </p:nvCxnSpPr>
          <p:spPr>
            <a:xfrm flipH="1">
              <a:off x="4305300" y="3390900"/>
              <a:ext cx="114300" cy="4953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85" idx="4"/>
              <a:endCxn id="109" idx="0"/>
            </p:cNvCxnSpPr>
            <p:nvPr/>
          </p:nvCxnSpPr>
          <p:spPr>
            <a:xfrm>
              <a:off x="4305300" y="2819400"/>
              <a:ext cx="152400" cy="5334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stCxn id="59" idx="4"/>
              <a:endCxn id="85" idx="0"/>
            </p:cNvCxnSpPr>
            <p:nvPr/>
          </p:nvCxnSpPr>
          <p:spPr>
            <a:xfrm>
              <a:off x="4305300" y="2286000"/>
              <a:ext cx="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stCxn id="108" idx="3"/>
              <a:endCxn id="59" idx="0"/>
            </p:cNvCxnSpPr>
            <p:nvPr/>
          </p:nvCxnSpPr>
          <p:spPr>
            <a:xfrm flipH="1">
              <a:off x="4305300" y="1741441"/>
              <a:ext cx="49259" cy="4683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/>
          <p:cNvGrpSpPr/>
          <p:nvPr/>
        </p:nvGrpSpPr>
        <p:grpSpPr>
          <a:xfrm>
            <a:off x="4686300" y="1714500"/>
            <a:ext cx="201659" cy="4152900"/>
            <a:chOff x="4686300" y="1714500"/>
            <a:chExt cx="201659" cy="4152900"/>
          </a:xfrm>
        </p:grpSpPr>
        <p:cxnSp>
          <p:nvCxnSpPr>
            <p:cNvPr id="125" name="Straight Connector 124"/>
            <p:cNvCxnSpPr>
              <a:stCxn id="79" idx="0"/>
              <a:endCxn id="80" idx="4"/>
            </p:cNvCxnSpPr>
            <p:nvPr/>
          </p:nvCxnSpPr>
          <p:spPr>
            <a:xfrm flipV="1">
              <a:off x="4838700" y="5334000"/>
              <a:ext cx="38100" cy="5334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80" idx="4"/>
              <a:endCxn id="119" idx="5"/>
            </p:cNvCxnSpPr>
            <p:nvPr/>
          </p:nvCxnSpPr>
          <p:spPr>
            <a:xfrm flipH="1" flipV="1">
              <a:off x="4713241" y="4789441"/>
              <a:ext cx="163559" cy="5445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19" idx="0"/>
              <a:endCxn id="117" idx="3"/>
            </p:cNvCxnSpPr>
            <p:nvPr/>
          </p:nvCxnSpPr>
          <p:spPr>
            <a:xfrm flipV="1">
              <a:off x="4686300" y="4256041"/>
              <a:ext cx="201659" cy="4683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17" idx="1"/>
              <a:endCxn id="105" idx="5"/>
            </p:cNvCxnSpPr>
            <p:nvPr/>
          </p:nvCxnSpPr>
          <p:spPr>
            <a:xfrm flipH="1" flipV="1">
              <a:off x="4789441" y="3798841"/>
              <a:ext cx="98518" cy="4033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105" idx="1"/>
              <a:endCxn id="94" idx="5"/>
            </p:cNvCxnSpPr>
            <p:nvPr/>
          </p:nvCxnSpPr>
          <p:spPr>
            <a:xfrm flipV="1">
              <a:off x="4735559" y="3113041"/>
              <a:ext cx="53882" cy="6319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94" idx="0"/>
            </p:cNvCxnSpPr>
            <p:nvPr/>
          </p:nvCxnSpPr>
          <p:spPr>
            <a:xfrm flipV="1">
              <a:off x="4762500" y="2514601"/>
              <a:ext cx="5575" cy="53339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93" idx="0"/>
              <a:endCxn id="106" idx="3"/>
            </p:cNvCxnSpPr>
            <p:nvPr/>
          </p:nvCxnSpPr>
          <p:spPr>
            <a:xfrm flipV="1">
              <a:off x="4762500" y="2122441"/>
              <a:ext cx="125459" cy="3159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>
              <a:stCxn id="106" idx="3"/>
              <a:endCxn id="107" idx="6"/>
            </p:cNvCxnSpPr>
            <p:nvPr/>
          </p:nvCxnSpPr>
          <p:spPr>
            <a:xfrm flipH="1" flipV="1">
              <a:off x="4724400" y="1714500"/>
              <a:ext cx="163559" cy="4079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TextBox 154"/>
          <p:cNvSpPr txBox="1"/>
          <p:nvPr/>
        </p:nvSpPr>
        <p:spPr>
          <a:xfrm>
            <a:off x="3048000" y="1219200"/>
            <a:ext cx="341317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the two strips are already sorted</a:t>
            </a:r>
          </a:p>
        </p:txBody>
      </p:sp>
    </p:spTree>
    <p:extLst>
      <p:ext uri="{BB962C8B-B14F-4D97-AF65-F5344CB8AC3E}">
        <p14:creationId xmlns:p14="http://schemas.microsoft.com/office/powerpoint/2010/main" val="193277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3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conquer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2672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586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Rectangle 141"/>
          <p:cNvSpPr/>
          <p:nvPr/>
        </p:nvSpPr>
        <p:spPr>
          <a:xfrm>
            <a:off x="4200735" y="5572926"/>
            <a:ext cx="37126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/>
          <p:cNvCxnSpPr/>
          <p:nvPr/>
        </p:nvCxnSpPr>
        <p:spPr>
          <a:xfrm>
            <a:off x="4256049" y="5943600"/>
            <a:ext cx="6969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 153"/>
          <p:cNvGrpSpPr/>
          <p:nvPr/>
        </p:nvGrpSpPr>
        <p:grpSpPr>
          <a:xfrm>
            <a:off x="3714651" y="5562600"/>
            <a:ext cx="476349" cy="381000"/>
            <a:chOff x="6610251" y="5486400"/>
            <a:chExt cx="476349" cy="381000"/>
          </a:xfrm>
        </p:grpSpPr>
        <p:cxnSp>
          <p:nvCxnSpPr>
            <p:cNvPr id="148" name="Straight Arrow Connector 147"/>
            <p:cNvCxnSpPr/>
            <p:nvPr/>
          </p:nvCxnSpPr>
          <p:spPr>
            <a:xfrm flipH="1">
              <a:off x="7010400" y="5486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/>
                <p:cNvSpPr txBox="1"/>
                <p:nvPr/>
              </p:nvSpPr>
              <p:spPr>
                <a:xfrm>
                  <a:off x="6610251" y="5486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50" name="TextBox 1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0251" y="5486400"/>
                  <a:ext cx="476349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1645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5" name="Oval 94"/>
          <p:cNvSpPr/>
          <p:nvPr/>
        </p:nvSpPr>
        <p:spPr>
          <a:xfrm>
            <a:off x="44196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6" name="Group 95"/>
          <p:cNvGrpSpPr/>
          <p:nvPr/>
        </p:nvGrpSpPr>
        <p:grpSpPr>
          <a:xfrm>
            <a:off x="4305300" y="1741441"/>
            <a:ext cx="152400" cy="3897359"/>
            <a:chOff x="4305300" y="1741441"/>
            <a:chExt cx="152400" cy="3897359"/>
          </a:xfrm>
        </p:grpSpPr>
        <p:cxnSp>
          <p:nvCxnSpPr>
            <p:cNvPr id="97" name="Straight Connector 96"/>
            <p:cNvCxnSpPr/>
            <p:nvPr/>
          </p:nvCxnSpPr>
          <p:spPr>
            <a:xfrm flipH="1" flipV="1">
              <a:off x="4305300" y="5181600"/>
              <a:ext cx="15240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V="1">
              <a:off x="4332241" y="4560841"/>
              <a:ext cx="98518" cy="555718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4305300" y="3962400"/>
              <a:ext cx="125459" cy="5445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>
              <a:off x="4305300" y="3390900"/>
              <a:ext cx="114300" cy="4953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4305300" y="2819400"/>
              <a:ext cx="152400" cy="5334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4305300" y="2286000"/>
              <a:ext cx="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H="1">
              <a:off x="4305300" y="1741441"/>
              <a:ext cx="49259" cy="4683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Oval 103"/>
          <p:cNvSpPr/>
          <p:nvPr/>
        </p:nvSpPr>
        <p:spPr>
          <a:xfrm>
            <a:off x="4686300" y="57912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/>
          <p:cNvCxnSpPr>
            <a:stCxn id="79" idx="1"/>
          </p:cNvCxnSpPr>
          <p:nvPr/>
        </p:nvCxnSpPr>
        <p:spPr>
          <a:xfrm flipH="1" flipV="1">
            <a:off x="4495800" y="5676900"/>
            <a:ext cx="315959" cy="2016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4592886" y="5257800"/>
            <a:ext cx="398214" cy="4230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Connector 111"/>
          <p:cNvCxnSpPr/>
          <p:nvPr/>
        </p:nvCxnSpPr>
        <p:spPr>
          <a:xfrm>
            <a:off x="4272705" y="5676900"/>
            <a:ext cx="6969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/>
          <p:cNvGrpSpPr/>
          <p:nvPr/>
        </p:nvGrpSpPr>
        <p:grpSpPr>
          <a:xfrm>
            <a:off x="4993748" y="5295900"/>
            <a:ext cx="529247" cy="381000"/>
            <a:chOff x="6915051" y="5486400"/>
            <a:chExt cx="529247" cy="381000"/>
          </a:xfrm>
        </p:grpSpPr>
        <p:cxnSp>
          <p:nvCxnSpPr>
            <p:cNvPr id="114" name="Straight Arrow Connector 113"/>
            <p:cNvCxnSpPr/>
            <p:nvPr/>
          </p:nvCxnSpPr>
          <p:spPr>
            <a:xfrm flipH="1">
              <a:off x="7010400" y="5486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/>
                <p:cNvSpPr txBox="1"/>
                <p:nvPr/>
              </p:nvSpPr>
              <p:spPr>
                <a:xfrm>
                  <a:off x="6915051" y="5486400"/>
                  <a:ext cx="5292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5" name="TextBox 1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5051" y="5486400"/>
                  <a:ext cx="52924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9195" t="-8333" r="-1954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6" name="Oval 115"/>
          <p:cNvSpPr/>
          <p:nvPr/>
        </p:nvSpPr>
        <p:spPr>
          <a:xfrm>
            <a:off x="4267200" y="55626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48387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4" name="Straight Arrow Connector 163"/>
          <p:cNvCxnSpPr/>
          <p:nvPr/>
        </p:nvCxnSpPr>
        <p:spPr>
          <a:xfrm flipH="1">
            <a:off x="4495800" y="5334000"/>
            <a:ext cx="392160" cy="331232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 164"/>
          <p:cNvSpPr/>
          <p:nvPr/>
        </p:nvSpPr>
        <p:spPr>
          <a:xfrm>
            <a:off x="4592886" y="2971800"/>
            <a:ext cx="398214" cy="4230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6" name="Straight Connector 165"/>
          <p:cNvCxnSpPr/>
          <p:nvPr/>
        </p:nvCxnSpPr>
        <p:spPr>
          <a:xfrm>
            <a:off x="4272705" y="3390900"/>
            <a:ext cx="6969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7" name="Group 166"/>
          <p:cNvGrpSpPr/>
          <p:nvPr/>
        </p:nvGrpSpPr>
        <p:grpSpPr>
          <a:xfrm>
            <a:off x="4993748" y="3009900"/>
            <a:ext cx="529247" cy="381000"/>
            <a:chOff x="6915051" y="5486400"/>
            <a:chExt cx="529247" cy="381000"/>
          </a:xfrm>
        </p:grpSpPr>
        <p:cxnSp>
          <p:nvCxnSpPr>
            <p:cNvPr id="168" name="Straight Arrow Connector 167"/>
            <p:cNvCxnSpPr/>
            <p:nvPr/>
          </p:nvCxnSpPr>
          <p:spPr>
            <a:xfrm flipH="1">
              <a:off x="7010400" y="5486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/>
                <p:cNvSpPr txBox="1"/>
                <p:nvPr/>
              </p:nvSpPr>
              <p:spPr>
                <a:xfrm>
                  <a:off x="6915051" y="5486400"/>
                  <a:ext cx="5292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69" name="TextBox 1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5051" y="5486400"/>
                  <a:ext cx="52924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9195" t="-8333" r="-1954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0" name="Oval 169"/>
          <p:cNvSpPr/>
          <p:nvPr/>
        </p:nvSpPr>
        <p:spPr>
          <a:xfrm>
            <a:off x="4267200" y="32766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1" name="Straight Arrow Connector 170"/>
          <p:cNvCxnSpPr>
            <a:stCxn id="181" idx="3"/>
            <a:endCxn id="109" idx="7"/>
          </p:cNvCxnSpPr>
          <p:nvPr/>
        </p:nvCxnSpPr>
        <p:spPr>
          <a:xfrm flipH="1">
            <a:off x="4484641" y="3113041"/>
            <a:ext cx="250918" cy="250918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/>
          <p:cNvGrpSpPr/>
          <p:nvPr/>
        </p:nvGrpSpPr>
        <p:grpSpPr>
          <a:xfrm>
            <a:off x="4686300" y="1714500"/>
            <a:ext cx="201659" cy="4152900"/>
            <a:chOff x="4686300" y="1714500"/>
            <a:chExt cx="201659" cy="4152900"/>
          </a:xfrm>
        </p:grpSpPr>
        <p:cxnSp>
          <p:nvCxnSpPr>
            <p:cNvPr id="173" name="Straight Connector 172"/>
            <p:cNvCxnSpPr/>
            <p:nvPr/>
          </p:nvCxnSpPr>
          <p:spPr>
            <a:xfrm flipV="1">
              <a:off x="4838700" y="5334000"/>
              <a:ext cx="38100" cy="5334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flipH="1" flipV="1">
              <a:off x="4713241" y="4789441"/>
              <a:ext cx="163559" cy="5445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 flipV="1">
              <a:off x="4686300" y="4256041"/>
              <a:ext cx="201659" cy="4683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 flipH="1" flipV="1">
              <a:off x="4789441" y="3798841"/>
              <a:ext cx="98518" cy="4033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flipV="1">
              <a:off x="4735559" y="3113041"/>
              <a:ext cx="53882" cy="6319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4762500" y="2514601"/>
              <a:ext cx="5575" cy="53339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4762500" y="2122441"/>
              <a:ext cx="125459" cy="3159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H="1" flipV="1">
              <a:off x="4724400" y="1714500"/>
              <a:ext cx="163559" cy="4079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Oval 180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8" name="TextBox 117"/>
          <p:cNvSpPr txBox="1"/>
          <p:nvPr/>
        </p:nvSpPr>
        <p:spPr>
          <a:xfrm>
            <a:off x="3048000" y="1219200"/>
            <a:ext cx="341317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the two strips are already sorted</a:t>
            </a:r>
          </a:p>
        </p:txBody>
      </p:sp>
      <p:sp>
        <p:nvSpPr>
          <p:cNvPr id="6" name="Down Ribbon 5"/>
          <p:cNvSpPr/>
          <p:nvPr/>
        </p:nvSpPr>
        <p:spPr>
          <a:xfrm>
            <a:off x="5486400" y="2667000"/>
            <a:ext cx="3657600" cy="8382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For each point in one strip, we need to find distance to points in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the </a:t>
            </a:r>
            <a:r>
              <a:rPr lang="en-US" sz="1200" b="1" dirty="0">
                <a:solidFill>
                  <a:schemeClr val="tx1"/>
                </a:solidFill>
              </a:rPr>
              <a:t>upper</a:t>
            </a:r>
            <a:r>
              <a:rPr lang="en-US" sz="1200" dirty="0">
                <a:solidFill>
                  <a:schemeClr val="tx1"/>
                </a:solidFill>
              </a:rPr>
              <a:t> red- square in the other strip. </a:t>
            </a:r>
          </a:p>
        </p:txBody>
      </p:sp>
      <p:sp>
        <p:nvSpPr>
          <p:cNvPr id="8" name="Cloud Callout 7"/>
          <p:cNvSpPr/>
          <p:nvPr/>
        </p:nvSpPr>
        <p:spPr>
          <a:xfrm>
            <a:off x="5638800" y="3962401"/>
            <a:ext cx="2895599" cy="800100"/>
          </a:xfrm>
          <a:prstGeom prst="cloudCallout">
            <a:avLst>
              <a:gd name="adj1" fmla="val -36305"/>
              <a:gd name="adj2" fmla="val 8038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How to do it  efficiently using the fact that the strips  are sorted ?</a:t>
            </a:r>
          </a:p>
        </p:txBody>
      </p:sp>
    </p:spTree>
    <p:extLst>
      <p:ext uri="{BB962C8B-B14F-4D97-AF65-F5344CB8AC3E}">
        <p14:creationId xmlns:p14="http://schemas.microsoft.com/office/powerpoint/2010/main" val="297123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5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5" dur="2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nimBg="1"/>
      <p:bldP spid="142" grpId="1" animBg="1"/>
      <p:bldP spid="104" grpId="0" animBg="1"/>
      <p:bldP spid="104" grpId="1" animBg="1"/>
      <p:bldP spid="111" grpId="0" animBg="1"/>
      <p:bldP spid="111" grpId="1" animBg="1"/>
      <p:bldP spid="116" grpId="0" animBg="1"/>
      <p:bldP spid="116" grpId="1" animBg="1"/>
      <p:bldP spid="165" grpId="0" animBg="1"/>
      <p:bldP spid="165" grpId="1" animBg="1"/>
      <p:bldP spid="170" grpId="0" animBg="1"/>
      <p:bldP spid="170" grpId="1" animBg="1"/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conquer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2672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4196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586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8387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8" name="Group 137"/>
          <p:cNvGrpSpPr/>
          <p:nvPr/>
        </p:nvGrpSpPr>
        <p:grpSpPr>
          <a:xfrm>
            <a:off x="4305300" y="1741441"/>
            <a:ext cx="152400" cy="3897359"/>
            <a:chOff x="4305300" y="1741441"/>
            <a:chExt cx="152400" cy="3897359"/>
          </a:xfrm>
        </p:grpSpPr>
        <p:cxnSp>
          <p:nvCxnSpPr>
            <p:cNvPr id="12" name="Straight Connector 11"/>
            <p:cNvCxnSpPr>
              <a:stCxn id="78" idx="0"/>
              <a:endCxn id="38" idx="4"/>
            </p:cNvCxnSpPr>
            <p:nvPr/>
          </p:nvCxnSpPr>
          <p:spPr>
            <a:xfrm flipH="1" flipV="1">
              <a:off x="4305300" y="5181600"/>
              <a:ext cx="15240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stCxn id="38" idx="7"/>
              <a:endCxn id="81" idx="3"/>
            </p:cNvCxnSpPr>
            <p:nvPr/>
          </p:nvCxnSpPr>
          <p:spPr>
            <a:xfrm flipV="1">
              <a:off x="4332241" y="4560841"/>
              <a:ext cx="98518" cy="555718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77" idx="4"/>
              <a:endCxn id="81" idx="1"/>
            </p:cNvCxnSpPr>
            <p:nvPr/>
          </p:nvCxnSpPr>
          <p:spPr>
            <a:xfrm>
              <a:off x="4305300" y="3962400"/>
              <a:ext cx="125459" cy="5445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09" idx="2"/>
              <a:endCxn id="77" idx="0"/>
            </p:cNvCxnSpPr>
            <p:nvPr/>
          </p:nvCxnSpPr>
          <p:spPr>
            <a:xfrm flipH="1">
              <a:off x="4305300" y="3390900"/>
              <a:ext cx="114300" cy="4953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85" idx="4"/>
              <a:endCxn id="109" idx="0"/>
            </p:cNvCxnSpPr>
            <p:nvPr/>
          </p:nvCxnSpPr>
          <p:spPr>
            <a:xfrm>
              <a:off x="4305300" y="2819400"/>
              <a:ext cx="152400" cy="5334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stCxn id="59" idx="4"/>
              <a:endCxn id="85" idx="0"/>
            </p:cNvCxnSpPr>
            <p:nvPr/>
          </p:nvCxnSpPr>
          <p:spPr>
            <a:xfrm>
              <a:off x="4305300" y="2286000"/>
              <a:ext cx="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stCxn id="108" idx="3"/>
              <a:endCxn id="59" idx="0"/>
            </p:cNvCxnSpPr>
            <p:nvPr/>
          </p:nvCxnSpPr>
          <p:spPr>
            <a:xfrm flipH="1">
              <a:off x="4305300" y="1741441"/>
              <a:ext cx="49259" cy="4683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Straight Connector 124"/>
          <p:cNvCxnSpPr>
            <a:stCxn id="79" idx="0"/>
            <a:endCxn id="80" idx="4"/>
          </p:cNvCxnSpPr>
          <p:nvPr/>
        </p:nvCxnSpPr>
        <p:spPr>
          <a:xfrm flipV="1">
            <a:off x="4838700" y="5334000"/>
            <a:ext cx="38100" cy="5334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80" idx="4"/>
            <a:endCxn id="119" idx="5"/>
          </p:cNvCxnSpPr>
          <p:nvPr/>
        </p:nvCxnSpPr>
        <p:spPr>
          <a:xfrm flipH="1" flipV="1">
            <a:off x="4713241" y="4789441"/>
            <a:ext cx="163559" cy="5445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>
            <a:stCxn id="119" idx="0"/>
            <a:endCxn id="117" idx="3"/>
          </p:cNvCxnSpPr>
          <p:nvPr/>
        </p:nvCxnSpPr>
        <p:spPr>
          <a:xfrm flipV="1">
            <a:off x="4686300" y="4256041"/>
            <a:ext cx="201659" cy="4683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>
            <a:stCxn id="117" idx="1"/>
            <a:endCxn id="105" idx="5"/>
          </p:cNvCxnSpPr>
          <p:nvPr/>
        </p:nvCxnSpPr>
        <p:spPr>
          <a:xfrm flipH="1" flipV="1">
            <a:off x="4789441" y="3798841"/>
            <a:ext cx="98518" cy="4033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>
            <a:stCxn id="105" idx="1"/>
            <a:endCxn id="94" idx="5"/>
          </p:cNvCxnSpPr>
          <p:nvPr/>
        </p:nvCxnSpPr>
        <p:spPr>
          <a:xfrm flipV="1">
            <a:off x="4735559" y="3113041"/>
            <a:ext cx="53882" cy="6319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94" idx="0"/>
          </p:cNvCxnSpPr>
          <p:nvPr/>
        </p:nvCxnSpPr>
        <p:spPr>
          <a:xfrm flipV="1">
            <a:off x="4762500" y="2514601"/>
            <a:ext cx="5575" cy="53339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93" idx="0"/>
            <a:endCxn id="106" idx="3"/>
          </p:cNvCxnSpPr>
          <p:nvPr/>
        </p:nvCxnSpPr>
        <p:spPr>
          <a:xfrm flipV="1">
            <a:off x="4762500" y="2122441"/>
            <a:ext cx="125459" cy="3159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06" idx="3"/>
            <a:endCxn id="107" idx="6"/>
          </p:cNvCxnSpPr>
          <p:nvPr/>
        </p:nvCxnSpPr>
        <p:spPr>
          <a:xfrm flipH="1" flipV="1">
            <a:off x="4724400" y="1714500"/>
            <a:ext cx="163559" cy="40794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3048000" y="1219200"/>
            <a:ext cx="341317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the two strips are already sorted</a:t>
            </a:r>
          </a:p>
        </p:txBody>
      </p:sp>
      <p:sp>
        <p:nvSpPr>
          <p:cNvPr id="91" name="Oval 90"/>
          <p:cNvSpPr/>
          <p:nvPr/>
        </p:nvSpPr>
        <p:spPr>
          <a:xfrm>
            <a:off x="4724400" y="57912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4305300" y="55626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4191000" y="50292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/>
          <p:cNvSpPr/>
          <p:nvPr/>
        </p:nvSpPr>
        <p:spPr>
          <a:xfrm>
            <a:off x="4343400" y="44196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/>
          <p:cNvSpPr/>
          <p:nvPr/>
        </p:nvSpPr>
        <p:spPr>
          <a:xfrm>
            <a:off x="4152900" y="38100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07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92" grpId="1" animBg="1"/>
      <p:bldP spid="95" grpId="0" animBg="1"/>
      <p:bldP spid="95" grpId="1" animBg="1"/>
      <p:bldP spid="97" grpId="0" animBg="1"/>
      <p:bldP spid="97" grpId="1" animBg="1"/>
      <p:bldP spid="98" grpId="0" animBg="1"/>
      <p:bldP spid="9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conquer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2672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4196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8387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/>
          <p:cNvCxnSpPr>
            <a:stCxn id="78" idx="0"/>
            <a:endCxn id="38" idx="4"/>
          </p:cNvCxnSpPr>
          <p:nvPr/>
        </p:nvCxnSpPr>
        <p:spPr>
          <a:xfrm flipH="1" flipV="1">
            <a:off x="4305300" y="5181600"/>
            <a:ext cx="152400" cy="457200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38" idx="7"/>
            <a:endCxn id="81" idx="3"/>
          </p:cNvCxnSpPr>
          <p:nvPr/>
        </p:nvCxnSpPr>
        <p:spPr>
          <a:xfrm flipV="1">
            <a:off x="4332241" y="4560841"/>
            <a:ext cx="98518" cy="555718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77" idx="4"/>
            <a:endCxn id="81" idx="1"/>
          </p:cNvCxnSpPr>
          <p:nvPr/>
        </p:nvCxnSpPr>
        <p:spPr>
          <a:xfrm>
            <a:off x="4305300" y="3962400"/>
            <a:ext cx="125459" cy="544559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9" idx="2"/>
            <a:endCxn id="77" idx="0"/>
          </p:cNvCxnSpPr>
          <p:nvPr/>
        </p:nvCxnSpPr>
        <p:spPr>
          <a:xfrm flipH="1">
            <a:off x="4305300" y="3390900"/>
            <a:ext cx="114300" cy="495300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85" idx="4"/>
            <a:endCxn id="109" idx="0"/>
          </p:cNvCxnSpPr>
          <p:nvPr/>
        </p:nvCxnSpPr>
        <p:spPr>
          <a:xfrm>
            <a:off x="4305300" y="2819400"/>
            <a:ext cx="152400" cy="533400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59" idx="4"/>
            <a:endCxn id="85" idx="0"/>
          </p:cNvCxnSpPr>
          <p:nvPr/>
        </p:nvCxnSpPr>
        <p:spPr>
          <a:xfrm>
            <a:off x="4305300" y="2286000"/>
            <a:ext cx="0" cy="457200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108" idx="3"/>
            <a:endCxn id="59" idx="0"/>
          </p:cNvCxnSpPr>
          <p:nvPr/>
        </p:nvCxnSpPr>
        <p:spPr>
          <a:xfrm flipH="1">
            <a:off x="4305300" y="1741441"/>
            <a:ext cx="49259" cy="468359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80" idx="4"/>
            <a:endCxn id="119" idx="5"/>
          </p:cNvCxnSpPr>
          <p:nvPr/>
        </p:nvCxnSpPr>
        <p:spPr>
          <a:xfrm flipH="1" flipV="1">
            <a:off x="4713241" y="4789441"/>
            <a:ext cx="163559" cy="5445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>
            <a:stCxn id="119" idx="0"/>
            <a:endCxn id="117" idx="3"/>
          </p:cNvCxnSpPr>
          <p:nvPr/>
        </p:nvCxnSpPr>
        <p:spPr>
          <a:xfrm flipV="1">
            <a:off x="4686300" y="4256041"/>
            <a:ext cx="201659" cy="4683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>
            <a:stCxn id="117" idx="1"/>
            <a:endCxn id="105" idx="5"/>
          </p:cNvCxnSpPr>
          <p:nvPr/>
        </p:nvCxnSpPr>
        <p:spPr>
          <a:xfrm flipH="1" flipV="1">
            <a:off x="4789441" y="3798841"/>
            <a:ext cx="98518" cy="4033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>
            <a:stCxn id="105" idx="1"/>
            <a:endCxn id="94" idx="5"/>
          </p:cNvCxnSpPr>
          <p:nvPr/>
        </p:nvCxnSpPr>
        <p:spPr>
          <a:xfrm flipV="1">
            <a:off x="4735559" y="3113041"/>
            <a:ext cx="53882" cy="6319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94" idx="0"/>
          </p:cNvCxnSpPr>
          <p:nvPr/>
        </p:nvCxnSpPr>
        <p:spPr>
          <a:xfrm flipV="1">
            <a:off x="4762500" y="2514601"/>
            <a:ext cx="5575" cy="53339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93" idx="0"/>
            <a:endCxn id="106" idx="3"/>
          </p:cNvCxnSpPr>
          <p:nvPr/>
        </p:nvCxnSpPr>
        <p:spPr>
          <a:xfrm flipV="1">
            <a:off x="4762500" y="2122441"/>
            <a:ext cx="125459" cy="3159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06" idx="3"/>
            <a:endCxn id="107" idx="6"/>
          </p:cNvCxnSpPr>
          <p:nvPr/>
        </p:nvCxnSpPr>
        <p:spPr>
          <a:xfrm flipH="1" flipV="1">
            <a:off x="4724400" y="1714500"/>
            <a:ext cx="163559" cy="40794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3048000" y="1219200"/>
            <a:ext cx="341317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the two strips are already sorted</a:t>
            </a:r>
          </a:p>
        </p:txBody>
      </p:sp>
      <p:sp>
        <p:nvSpPr>
          <p:cNvPr id="91" name="Oval 90"/>
          <p:cNvSpPr/>
          <p:nvPr/>
        </p:nvSpPr>
        <p:spPr>
          <a:xfrm>
            <a:off x="4305300" y="55626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4762500" y="51816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4533900" y="46482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/>
          <p:cNvSpPr/>
          <p:nvPr/>
        </p:nvSpPr>
        <p:spPr>
          <a:xfrm>
            <a:off x="4800600" y="41148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/>
          <p:cNvSpPr/>
          <p:nvPr/>
        </p:nvSpPr>
        <p:spPr>
          <a:xfrm>
            <a:off x="4648200" y="36576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Oval 95"/>
          <p:cNvSpPr/>
          <p:nvPr/>
        </p:nvSpPr>
        <p:spPr>
          <a:xfrm>
            <a:off x="4800600" y="586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9" name="Straight Connector 98"/>
          <p:cNvCxnSpPr>
            <a:stCxn id="96" idx="0"/>
          </p:cNvCxnSpPr>
          <p:nvPr/>
        </p:nvCxnSpPr>
        <p:spPr>
          <a:xfrm flipV="1">
            <a:off x="4838700" y="5334000"/>
            <a:ext cx="38100" cy="5334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5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91" grpId="0" animBg="1"/>
      <p:bldP spid="91" grpId="1" animBg="1"/>
      <p:bldP spid="92" grpId="0" animBg="1"/>
      <p:bldP spid="92" grpId="1" animBg="1"/>
      <p:bldP spid="95" grpId="0" animBg="1"/>
      <p:bldP spid="95" grpId="1" animBg="1"/>
      <p:bldP spid="97" grpId="0" animBg="1"/>
      <p:bldP spid="97" grpId="1" animBg="1"/>
      <p:bldP spid="98" grpId="0" animBg="1"/>
      <p:bldP spid="98" grpId="1" animBg="1"/>
      <p:bldP spid="9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conquer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0" name="Straight Connector 119"/>
          <p:cNvCxnSpPr>
            <a:stCxn id="77" idx="4"/>
            <a:endCxn id="81" idx="1"/>
          </p:cNvCxnSpPr>
          <p:nvPr/>
        </p:nvCxnSpPr>
        <p:spPr>
          <a:xfrm>
            <a:off x="4305300" y="3962400"/>
            <a:ext cx="125459" cy="544559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9" idx="2"/>
            <a:endCxn id="77" idx="0"/>
          </p:cNvCxnSpPr>
          <p:nvPr/>
        </p:nvCxnSpPr>
        <p:spPr>
          <a:xfrm flipH="1">
            <a:off x="4305300" y="3390900"/>
            <a:ext cx="114300" cy="495300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85" idx="4"/>
            <a:endCxn id="109" idx="0"/>
          </p:cNvCxnSpPr>
          <p:nvPr/>
        </p:nvCxnSpPr>
        <p:spPr>
          <a:xfrm>
            <a:off x="4305300" y="2819400"/>
            <a:ext cx="152400" cy="533400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59" idx="4"/>
            <a:endCxn id="85" idx="0"/>
          </p:cNvCxnSpPr>
          <p:nvPr/>
        </p:nvCxnSpPr>
        <p:spPr>
          <a:xfrm>
            <a:off x="4305300" y="2286000"/>
            <a:ext cx="0" cy="457200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108" idx="3"/>
            <a:endCxn id="59" idx="0"/>
          </p:cNvCxnSpPr>
          <p:nvPr/>
        </p:nvCxnSpPr>
        <p:spPr>
          <a:xfrm flipH="1">
            <a:off x="4305300" y="1741441"/>
            <a:ext cx="49259" cy="468359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>
            <a:stCxn id="117" idx="1"/>
            <a:endCxn id="105" idx="5"/>
          </p:cNvCxnSpPr>
          <p:nvPr/>
        </p:nvCxnSpPr>
        <p:spPr>
          <a:xfrm flipH="1" flipV="1">
            <a:off x="4789441" y="3798841"/>
            <a:ext cx="98518" cy="4033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>
            <a:stCxn id="105" idx="1"/>
            <a:endCxn id="94" idx="5"/>
          </p:cNvCxnSpPr>
          <p:nvPr/>
        </p:nvCxnSpPr>
        <p:spPr>
          <a:xfrm flipV="1">
            <a:off x="4735559" y="3113041"/>
            <a:ext cx="53882" cy="6319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94" idx="0"/>
          </p:cNvCxnSpPr>
          <p:nvPr/>
        </p:nvCxnSpPr>
        <p:spPr>
          <a:xfrm flipV="1">
            <a:off x="4762500" y="2514601"/>
            <a:ext cx="5575" cy="53339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93" idx="0"/>
            <a:endCxn id="106" idx="3"/>
          </p:cNvCxnSpPr>
          <p:nvPr/>
        </p:nvCxnSpPr>
        <p:spPr>
          <a:xfrm flipV="1">
            <a:off x="4762500" y="2122441"/>
            <a:ext cx="125459" cy="3159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06" idx="3"/>
            <a:endCxn id="107" idx="6"/>
          </p:cNvCxnSpPr>
          <p:nvPr/>
        </p:nvCxnSpPr>
        <p:spPr>
          <a:xfrm flipH="1" flipV="1">
            <a:off x="4724400" y="1714500"/>
            <a:ext cx="163559" cy="40794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3048000" y="1219200"/>
            <a:ext cx="341317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the two strips are already sorted</a:t>
            </a:r>
          </a:p>
        </p:txBody>
      </p:sp>
      <p:sp>
        <p:nvSpPr>
          <p:cNvPr id="91" name="Oval 90"/>
          <p:cNvSpPr/>
          <p:nvPr/>
        </p:nvSpPr>
        <p:spPr>
          <a:xfrm>
            <a:off x="4305300" y="44196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4648200" y="23622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4610100" y="29718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/>
          <p:cNvSpPr/>
          <p:nvPr/>
        </p:nvSpPr>
        <p:spPr>
          <a:xfrm>
            <a:off x="4800600" y="41148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/>
          <p:cNvSpPr/>
          <p:nvPr/>
        </p:nvSpPr>
        <p:spPr>
          <a:xfrm>
            <a:off x="4648200" y="36576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8" name="Group 77"/>
          <p:cNvGrpSpPr/>
          <p:nvPr/>
        </p:nvGrpSpPr>
        <p:grpSpPr>
          <a:xfrm>
            <a:off x="5595915" y="3113041"/>
            <a:ext cx="3167085" cy="1143979"/>
            <a:chOff x="5595915" y="3113041"/>
            <a:chExt cx="3167085" cy="1143979"/>
          </a:xfrm>
        </p:grpSpPr>
        <p:sp>
          <p:nvSpPr>
            <p:cNvPr id="79" name="Smiley Face 78"/>
            <p:cNvSpPr/>
            <p:nvPr/>
          </p:nvSpPr>
          <p:spPr>
            <a:xfrm>
              <a:off x="6858000" y="3113041"/>
              <a:ext cx="609600" cy="631918"/>
            </a:xfrm>
            <a:prstGeom prst="smileyFac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5595915" y="3733800"/>
                  <a:ext cx="3167085" cy="52322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This is very much like merging two strips.</a:t>
                  </a:r>
                </a:p>
                <a:p>
                  <a:r>
                    <a:rPr lang="en-US" sz="1400" dirty="0"/>
                    <a:t>We can indeed conquer in </a:t>
                  </a:r>
                  <a:r>
                    <a:rPr lang="en-US" sz="1400" b="1" i="1" dirty="0"/>
                    <a:t>O</a:t>
                  </a:r>
                  <a:r>
                    <a:rPr lang="en-US" sz="1400" dirty="0"/>
                    <a:t>(</a:t>
                  </a:r>
                  <a14:m>
                    <m:oMath xmlns:m="http://schemas.openxmlformats.org/officeDocument/2006/math">
                      <m:r>
                        <a:rPr lang="en-US" sz="1400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sz="1400" dirty="0"/>
                    <a:t>) </a:t>
                  </a:r>
                  <a:r>
                    <a:rPr lang="en-US" sz="1400" b="1" dirty="0"/>
                    <a:t>time</a:t>
                  </a:r>
                  <a:r>
                    <a:rPr lang="en-US" sz="1400" dirty="0"/>
                    <a:t>.</a:t>
                  </a:r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5915" y="3733800"/>
                  <a:ext cx="3167085" cy="52322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383" r="-575" b="-919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Cloud Callout 81"/>
          <p:cNvSpPr/>
          <p:nvPr/>
        </p:nvSpPr>
        <p:spPr>
          <a:xfrm>
            <a:off x="5486400" y="3962400"/>
            <a:ext cx="3352800" cy="1066799"/>
          </a:xfrm>
          <a:prstGeom prst="cloudCallout">
            <a:avLst>
              <a:gd name="adj1" fmla="val -36305"/>
              <a:gd name="adj2" fmla="val 8038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How to justify that the two strips are sorted </a:t>
            </a:r>
            <a:r>
              <a:rPr lang="en-US" sz="1400" b="1" dirty="0">
                <a:solidFill>
                  <a:schemeClr val="tx1"/>
                </a:solidFill>
              </a:rPr>
              <a:t>without any overhead of time</a:t>
            </a:r>
            <a:r>
              <a:rPr lang="en-US" sz="1400" dirty="0">
                <a:solidFill>
                  <a:schemeClr val="tx1"/>
                </a:solidFill>
              </a:rPr>
              <a:t> ?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Think over it …</a:t>
            </a:r>
          </a:p>
        </p:txBody>
      </p:sp>
    </p:spTree>
    <p:extLst>
      <p:ext uri="{BB962C8B-B14F-4D97-AF65-F5344CB8AC3E}">
        <p14:creationId xmlns:p14="http://schemas.microsoft.com/office/powerpoint/2010/main" val="16129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92" grpId="1" animBg="1"/>
      <p:bldP spid="95" grpId="0" animBg="1"/>
      <p:bldP spid="95" grpId="1" animBg="1"/>
      <p:bldP spid="97" grpId="0" animBg="1"/>
      <p:bldP spid="97" grpId="1" animBg="1"/>
      <p:bldP spid="98" grpId="0" animBg="1"/>
      <p:bldP spid="98" grpId="1" animBg="1"/>
      <p:bldP spid="8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Inspiration</a:t>
            </a:r>
            <a:r>
              <a:rPr lang="en-US" sz="3600" b="1" dirty="0"/>
              <a:t> from </a:t>
            </a:r>
            <a:r>
              <a:rPr lang="en-US" sz="3600" b="1" dirty="0">
                <a:solidFill>
                  <a:srgbClr val="006C31"/>
                </a:solidFill>
              </a:rPr>
              <a:t>Merge sort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1800" dirty="0"/>
              <a:t>In merge sort, the two recursive calls return sorted lists.</a:t>
            </a:r>
          </a:p>
          <a:p>
            <a:pPr>
              <a:buFont typeface="Wingdings"/>
              <a:buChar char="è"/>
            </a:pPr>
            <a:r>
              <a:rPr lang="en-US" sz="1800" dirty="0">
                <a:sym typeface="Wingdings" pitchFamily="2" charset="2"/>
              </a:rPr>
              <a:t>So creating the sorted list requires only </a:t>
            </a:r>
            <a:r>
              <a:rPr lang="en-US" sz="1800" b="1" dirty="0">
                <a:sym typeface="Wingdings" pitchFamily="2" charset="2"/>
              </a:rPr>
              <a:t>merging</a:t>
            </a:r>
            <a:r>
              <a:rPr lang="en-US" sz="1800" dirty="0">
                <a:sym typeface="Wingdings" pitchFamily="2" charset="2"/>
              </a:rPr>
              <a:t> them.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   Doesn’t it provide an answer to the question of the previous slide ?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419600" y="3276600"/>
            <a:ext cx="457200" cy="4572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352800" y="4419600"/>
            <a:ext cx="2590800" cy="457200"/>
            <a:chOff x="3352800" y="3962400"/>
            <a:chExt cx="2590800" cy="457200"/>
          </a:xfrm>
        </p:grpSpPr>
        <p:sp>
          <p:nvSpPr>
            <p:cNvPr id="6" name="Oval 5"/>
            <p:cNvSpPr/>
            <p:nvPr/>
          </p:nvSpPr>
          <p:spPr>
            <a:xfrm>
              <a:off x="3352800" y="3962400"/>
              <a:ext cx="457200" cy="4572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486400" y="3962400"/>
              <a:ext cx="457200" cy="4572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638800" y="3352800"/>
            <a:ext cx="228600" cy="914400"/>
            <a:chOff x="6705600" y="2514600"/>
            <a:chExt cx="228600" cy="914400"/>
          </a:xfrm>
        </p:grpSpPr>
        <p:sp>
          <p:nvSpPr>
            <p:cNvPr id="8" name="Rectangle 7"/>
            <p:cNvSpPr/>
            <p:nvPr/>
          </p:nvSpPr>
          <p:spPr>
            <a:xfrm>
              <a:off x="6705600" y="2514600"/>
              <a:ext cx="2286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>
              <a:stCxn id="8" idx="1"/>
              <a:endCxn id="8" idx="3"/>
            </p:cNvCxnSpPr>
            <p:nvPr/>
          </p:nvCxnSpPr>
          <p:spPr>
            <a:xfrm>
              <a:off x="6705600" y="29718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27432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705600" y="32004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3743045" y="3666845"/>
            <a:ext cx="1810310" cy="819710"/>
            <a:chOff x="3743045" y="3209645"/>
            <a:chExt cx="1810310" cy="819710"/>
          </a:xfrm>
        </p:grpSpPr>
        <p:cxnSp>
          <p:nvCxnSpPr>
            <p:cNvPr id="17" name="Straight Arrow Connector 16"/>
            <p:cNvCxnSpPr>
              <a:stCxn id="5" idx="3"/>
              <a:endCxn id="6" idx="7"/>
            </p:cNvCxnSpPr>
            <p:nvPr/>
          </p:nvCxnSpPr>
          <p:spPr>
            <a:xfrm flipH="1">
              <a:off x="3743045" y="3209645"/>
              <a:ext cx="743510" cy="8197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5" idx="5"/>
              <a:endCxn id="7" idx="1"/>
            </p:cNvCxnSpPr>
            <p:nvPr/>
          </p:nvCxnSpPr>
          <p:spPr>
            <a:xfrm>
              <a:off x="4809845" y="3209645"/>
              <a:ext cx="743510" cy="8197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429000" y="3352800"/>
            <a:ext cx="228600" cy="914400"/>
            <a:chOff x="6705600" y="2514600"/>
            <a:chExt cx="228600" cy="914400"/>
          </a:xfrm>
        </p:grpSpPr>
        <p:sp>
          <p:nvSpPr>
            <p:cNvPr id="24" name="Rectangle 23"/>
            <p:cNvSpPr/>
            <p:nvPr/>
          </p:nvSpPr>
          <p:spPr>
            <a:xfrm>
              <a:off x="6705600" y="2514600"/>
              <a:ext cx="2286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/>
            <p:cNvCxnSpPr>
              <a:stCxn id="24" idx="1"/>
              <a:endCxn id="24" idx="3"/>
            </p:cNvCxnSpPr>
            <p:nvPr/>
          </p:nvCxnSpPr>
          <p:spPr>
            <a:xfrm>
              <a:off x="6705600" y="29718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6705600" y="27432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705600" y="32004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4572000" y="1371600"/>
            <a:ext cx="228600" cy="1828800"/>
            <a:chOff x="4572000" y="914400"/>
            <a:chExt cx="228600" cy="1828800"/>
          </a:xfrm>
        </p:grpSpPr>
        <p:grpSp>
          <p:nvGrpSpPr>
            <p:cNvPr id="28" name="Group 27"/>
            <p:cNvGrpSpPr/>
            <p:nvPr/>
          </p:nvGrpSpPr>
          <p:grpSpPr>
            <a:xfrm>
              <a:off x="4572000" y="914400"/>
              <a:ext cx="228600" cy="1828800"/>
              <a:chOff x="6705600" y="1600200"/>
              <a:chExt cx="228600" cy="1828800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6705600" y="1600200"/>
                <a:ext cx="228600" cy="1828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Connector 29"/>
              <p:cNvCxnSpPr>
                <a:stCxn id="29" idx="1"/>
                <a:endCxn id="29" idx="3"/>
              </p:cNvCxnSpPr>
              <p:nvPr/>
            </p:nvCxnSpPr>
            <p:spPr>
              <a:xfrm>
                <a:off x="6705600" y="2514600"/>
                <a:ext cx="228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6705600" y="2743200"/>
                <a:ext cx="228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6705600" y="3200400"/>
                <a:ext cx="228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/>
            <p:cNvCxnSpPr/>
            <p:nvPr/>
          </p:nvCxnSpPr>
          <p:spPr>
            <a:xfrm>
              <a:off x="4572000" y="22860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4572000" y="16002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4572000" y="13716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4572000" y="11430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589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conquer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2672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4196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586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8387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>
                <a:off x="0" y="1168334"/>
                <a:ext cx="4154663" cy="95410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400" dirty="0"/>
                  <a:t> are sorted according to y-coordinate,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sz="1400" dirty="0"/>
                  <a:t>Getting the strips sorted according to y-coordinate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sz="1400" dirty="0"/>
                  <a:t>Getting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𝑃</m:t>
                    </m:r>
                    <m:r>
                      <a:rPr lang="en-US" sz="1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400" dirty="0"/>
                  <a:t>sorted by merging them</a:t>
                </a:r>
              </a:p>
              <a:p>
                <a:r>
                  <a:rPr lang="en-US" sz="1400" dirty="0"/>
                  <a:t>takes </a:t>
                </a:r>
                <a:r>
                  <a:rPr lang="en-US" sz="1400" b="1" i="1" dirty="0"/>
                  <a:t>O</a:t>
                </a:r>
                <a:r>
                  <a:rPr lang="en-US" sz="1400" dirty="0"/>
                  <a:t>(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400" dirty="0"/>
                  <a:t>)  time. </a:t>
                </a:r>
                <a:r>
                  <a:rPr lang="en-US" sz="1400" dirty="0">
                    <a:sym typeface="Wingdings" pitchFamily="2" charset="2"/>
                  </a:rPr>
                  <a:t></a:t>
                </a:r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68334"/>
                <a:ext cx="4154663" cy="954107"/>
              </a:xfrm>
              <a:prstGeom prst="rect">
                <a:avLst/>
              </a:prstGeom>
              <a:blipFill rotWithShape="1">
                <a:blip r:embed="rId7"/>
                <a:stretch>
                  <a:fillRect l="-146" r="-146" b="-5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9" name="Group 218"/>
          <p:cNvGrpSpPr/>
          <p:nvPr/>
        </p:nvGrpSpPr>
        <p:grpSpPr>
          <a:xfrm>
            <a:off x="4713241" y="1687559"/>
            <a:ext cx="3276600" cy="4179841"/>
            <a:chOff x="4713241" y="1687559"/>
            <a:chExt cx="3276600" cy="4179841"/>
          </a:xfrm>
        </p:grpSpPr>
        <p:cxnSp>
          <p:nvCxnSpPr>
            <p:cNvPr id="125" name="Straight Connector 124"/>
            <p:cNvCxnSpPr>
              <a:stCxn id="79" idx="0"/>
              <a:endCxn id="62" idx="3"/>
            </p:cNvCxnSpPr>
            <p:nvPr/>
          </p:nvCxnSpPr>
          <p:spPr>
            <a:xfrm flipV="1">
              <a:off x="4838700" y="5627641"/>
              <a:ext cx="811259" cy="2397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17" idx="1"/>
              <a:endCxn id="66" idx="2"/>
            </p:cNvCxnSpPr>
            <p:nvPr/>
          </p:nvCxnSpPr>
          <p:spPr>
            <a:xfrm flipV="1">
              <a:off x="4887959" y="4076700"/>
              <a:ext cx="3036841" cy="1254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60" idx="3"/>
              <a:endCxn id="94" idx="5"/>
            </p:cNvCxnSpPr>
            <p:nvPr/>
          </p:nvCxnSpPr>
          <p:spPr>
            <a:xfrm flipH="1">
              <a:off x="4789441" y="3113041"/>
              <a:ext cx="708118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94" idx="0"/>
              <a:endCxn id="53" idx="2"/>
            </p:cNvCxnSpPr>
            <p:nvPr/>
          </p:nvCxnSpPr>
          <p:spPr>
            <a:xfrm flipV="1">
              <a:off x="4762500" y="2628900"/>
              <a:ext cx="1714500" cy="4191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93" idx="0"/>
              <a:endCxn id="42" idx="1"/>
            </p:cNvCxnSpPr>
            <p:nvPr/>
          </p:nvCxnSpPr>
          <p:spPr>
            <a:xfrm>
              <a:off x="4762500" y="2438400"/>
              <a:ext cx="430259" cy="873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>
              <a:stCxn id="106" idx="3"/>
              <a:endCxn id="93" idx="7"/>
            </p:cNvCxnSpPr>
            <p:nvPr/>
          </p:nvCxnSpPr>
          <p:spPr>
            <a:xfrm flipH="1">
              <a:off x="4789441" y="2122441"/>
              <a:ext cx="98518" cy="3271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>
              <a:stCxn id="62" idx="5"/>
              <a:endCxn id="54" idx="5"/>
            </p:cNvCxnSpPr>
            <p:nvPr/>
          </p:nvCxnSpPr>
          <p:spPr>
            <a:xfrm flipH="1" flipV="1">
              <a:off x="5170441" y="5475241"/>
              <a:ext cx="533400" cy="1524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>
              <a:stCxn id="54" idx="2"/>
              <a:endCxn id="80" idx="5"/>
            </p:cNvCxnSpPr>
            <p:nvPr/>
          </p:nvCxnSpPr>
          <p:spPr>
            <a:xfrm flipH="1" flipV="1">
              <a:off x="4903741" y="5322841"/>
              <a:ext cx="201659" cy="1254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>
              <a:stCxn id="41" idx="2"/>
              <a:endCxn id="80" idx="5"/>
            </p:cNvCxnSpPr>
            <p:nvPr/>
          </p:nvCxnSpPr>
          <p:spPr>
            <a:xfrm flipH="1">
              <a:off x="4903741" y="5295900"/>
              <a:ext cx="1116059" cy="269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>
              <a:stCxn id="68" idx="1"/>
              <a:endCxn id="41" idx="7"/>
            </p:cNvCxnSpPr>
            <p:nvPr/>
          </p:nvCxnSpPr>
          <p:spPr>
            <a:xfrm flipH="1">
              <a:off x="6084841" y="5040359"/>
              <a:ext cx="1698718" cy="2286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>
              <a:stCxn id="68" idx="7"/>
              <a:endCxn id="119" idx="5"/>
            </p:cNvCxnSpPr>
            <p:nvPr/>
          </p:nvCxnSpPr>
          <p:spPr>
            <a:xfrm flipH="1" flipV="1">
              <a:off x="4713241" y="4789441"/>
              <a:ext cx="3124200" cy="2509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>
              <a:stCxn id="52" idx="3"/>
              <a:endCxn id="119" idx="6"/>
            </p:cNvCxnSpPr>
            <p:nvPr/>
          </p:nvCxnSpPr>
          <p:spPr>
            <a:xfrm flipH="1">
              <a:off x="4724400" y="4560841"/>
              <a:ext cx="2220959" cy="2016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>
              <a:endCxn id="61" idx="7"/>
            </p:cNvCxnSpPr>
            <p:nvPr/>
          </p:nvCxnSpPr>
          <p:spPr>
            <a:xfrm flipH="1" flipV="1">
              <a:off x="5551441" y="4506959"/>
              <a:ext cx="1458959" cy="269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>
              <a:stCxn id="61" idx="2"/>
              <a:endCxn id="117" idx="5"/>
            </p:cNvCxnSpPr>
            <p:nvPr/>
          </p:nvCxnSpPr>
          <p:spPr>
            <a:xfrm flipH="1" flipV="1">
              <a:off x="4941841" y="4256041"/>
              <a:ext cx="544559" cy="2778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>
              <a:stCxn id="40" idx="6"/>
              <a:endCxn id="66" idx="5"/>
            </p:cNvCxnSpPr>
            <p:nvPr/>
          </p:nvCxnSpPr>
          <p:spPr>
            <a:xfrm>
              <a:off x="6096000" y="3924300"/>
              <a:ext cx="1893841" cy="1793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>
              <a:stCxn id="105" idx="7"/>
              <a:endCxn id="40" idx="6"/>
            </p:cNvCxnSpPr>
            <p:nvPr/>
          </p:nvCxnSpPr>
          <p:spPr>
            <a:xfrm>
              <a:off x="4789441" y="3744959"/>
              <a:ext cx="1306559" cy="1793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>
              <a:stCxn id="105" idx="0"/>
              <a:endCxn id="87" idx="4"/>
            </p:cNvCxnSpPr>
            <p:nvPr/>
          </p:nvCxnSpPr>
          <p:spPr>
            <a:xfrm flipV="1">
              <a:off x="4762500" y="3657600"/>
              <a:ext cx="457200" cy="762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>
              <a:stCxn id="36" idx="7"/>
              <a:endCxn id="87" idx="4"/>
            </p:cNvCxnSpPr>
            <p:nvPr/>
          </p:nvCxnSpPr>
          <p:spPr>
            <a:xfrm flipH="1">
              <a:off x="5219700" y="3516359"/>
              <a:ext cx="1474741" cy="1412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>
              <a:stCxn id="65" idx="2"/>
              <a:endCxn id="36" idx="7"/>
            </p:cNvCxnSpPr>
            <p:nvPr/>
          </p:nvCxnSpPr>
          <p:spPr>
            <a:xfrm flipH="1">
              <a:off x="6694441" y="3162300"/>
              <a:ext cx="1077959" cy="3540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>
              <a:stCxn id="65" idx="5"/>
              <a:endCxn id="60" idx="7"/>
            </p:cNvCxnSpPr>
            <p:nvPr/>
          </p:nvCxnSpPr>
          <p:spPr>
            <a:xfrm flipH="1" flipV="1">
              <a:off x="5551441" y="3059159"/>
              <a:ext cx="2286000" cy="13008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>
              <a:stCxn id="42" idx="6"/>
              <a:endCxn id="53" idx="3"/>
            </p:cNvCxnSpPr>
            <p:nvPr/>
          </p:nvCxnSpPr>
          <p:spPr>
            <a:xfrm>
              <a:off x="5257800" y="2552700"/>
              <a:ext cx="1230359" cy="1031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>
              <a:stCxn id="67" idx="1"/>
              <a:endCxn id="106" idx="7"/>
            </p:cNvCxnSpPr>
            <p:nvPr/>
          </p:nvCxnSpPr>
          <p:spPr>
            <a:xfrm flipH="1">
              <a:off x="4941841" y="2068559"/>
              <a:ext cx="2994118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>
              <a:stCxn id="67" idx="7"/>
              <a:endCxn id="64" idx="6"/>
            </p:cNvCxnSpPr>
            <p:nvPr/>
          </p:nvCxnSpPr>
          <p:spPr>
            <a:xfrm flipH="1" flipV="1">
              <a:off x="6705600" y="1866900"/>
              <a:ext cx="1284241" cy="2016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>
              <a:stCxn id="64" idx="4"/>
              <a:endCxn id="63" idx="7"/>
            </p:cNvCxnSpPr>
            <p:nvPr/>
          </p:nvCxnSpPr>
          <p:spPr>
            <a:xfrm flipH="1" flipV="1">
              <a:off x="5856241" y="1839959"/>
              <a:ext cx="811259" cy="650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>
              <a:stCxn id="63" idx="1"/>
              <a:endCxn id="107" idx="7"/>
            </p:cNvCxnSpPr>
            <p:nvPr/>
          </p:nvCxnSpPr>
          <p:spPr>
            <a:xfrm flipH="1" flipV="1">
              <a:off x="4713241" y="1687559"/>
              <a:ext cx="1089118" cy="1524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1" name="Group 220"/>
          <p:cNvGrpSpPr/>
          <p:nvPr/>
        </p:nvGrpSpPr>
        <p:grpSpPr>
          <a:xfrm>
            <a:off x="903241" y="1741441"/>
            <a:ext cx="3592559" cy="4114800"/>
            <a:chOff x="903241" y="1741441"/>
            <a:chExt cx="3592559" cy="4114800"/>
          </a:xfrm>
        </p:grpSpPr>
        <p:cxnSp>
          <p:nvCxnSpPr>
            <p:cNvPr id="136" name="Straight Connector 135"/>
            <p:cNvCxnSpPr>
              <a:stCxn id="49" idx="6"/>
              <a:endCxn id="109" idx="6"/>
            </p:cNvCxnSpPr>
            <p:nvPr/>
          </p:nvCxnSpPr>
          <p:spPr>
            <a:xfrm>
              <a:off x="2057400" y="3314700"/>
              <a:ext cx="2438400" cy="76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7" name="Group 216"/>
            <p:cNvGrpSpPr/>
            <p:nvPr/>
          </p:nvGrpSpPr>
          <p:grpSpPr>
            <a:xfrm>
              <a:off x="903241" y="1741441"/>
              <a:ext cx="3592559" cy="4114800"/>
              <a:chOff x="903241" y="1741441"/>
              <a:chExt cx="3592559" cy="4114800"/>
            </a:xfrm>
          </p:grpSpPr>
          <p:cxnSp>
            <p:nvCxnSpPr>
              <p:cNvPr id="96" name="Straight Connector 95"/>
              <p:cNvCxnSpPr>
                <a:stCxn id="76" idx="5"/>
                <a:endCxn id="78" idx="0"/>
              </p:cNvCxnSpPr>
              <p:nvPr/>
            </p:nvCxnSpPr>
            <p:spPr>
              <a:xfrm flipV="1">
                <a:off x="903241" y="5638800"/>
                <a:ext cx="3554459" cy="217441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>
                <a:stCxn id="50" idx="5"/>
                <a:endCxn id="78" idx="6"/>
              </p:cNvCxnSpPr>
              <p:nvPr/>
            </p:nvCxnSpPr>
            <p:spPr>
              <a:xfrm>
                <a:off x="3189241" y="5399041"/>
                <a:ext cx="1306559" cy="277859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>
                <a:stCxn id="38" idx="2"/>
                <a:endCxn id="50" idx="7"/>
              </p:cNvCxnSpPr>
              <p:nvPr/>
            </p:nvCxnSpPr>
            <p:spPr>
              <a:xfrm flipH="1">
                <a:off x="3189241" y="5143500"/>
                <a:ext cx="1077959" cy="201659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>
                <a:stCxn id="38" idx="1"/>
                <a:endCxn id="57" idx="5"/>
              </p:cNvCxnSpPr>
              <p:nvPr/>
            </p:nvCxnSpPr>
            <p:spPr>
              <a:xfrm flipH="1" flipV="1">
                <a:off x="1970041" y="5018041"/>
                <a:ext cx="2308318" cy="98518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>
                <a:stCxn id="57" idx="2"/>
                <a:endCxn id="75" idx="2"/>
              </p:cNvCxnSpPr>
              <p:nvPr/>
            </p:nvCxnSpPr>
            <p:spPr>
              <a:xfrm flipH="1" flipV="1">
                <a:off x="1371600" y="4838700"/>
                <a:ext cx="533400" cy="152400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>
                <a:stCxn id="75" idx="6"/>
                <a:endCxn id="81" idx="2"/>
              </p:cNvCxnSpPr>
              <p:nvPr/>
            </p:nvCxnSpPr>
            <p:spPr>
              <a:xfrm flipV="1">
                <a:off x="1447800" y="4533900"/>
                <a:ext cx="2971800" cy="304800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>
                <a:stCxn id="55" idx="6"/>
                <a:endCxn id="81" idx="6"/>
              </p:cNvCxnSpPr>
              <p:nvPr/>
            </p:nvCxnSpPr>
            <p:spPr>
              <a:xfrm>
                <a:off x="2209800" y="4000500"/>
                <a:ext cx="2286000" cy="533400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>
                <a:stCxn id="55" idx="6"/>
                <a:endCxn id="35" idx="3"/>
              </p:cNvCxnSpPr>
              <p:nvPr/>
            </p:nvCxnSpPr>
            <p:spPr>
              <a:xfrm flipV="1">
                <a:off x="2209800" y="3951241"/>
                <a:ext cx="1458959" cy="49259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>
                <a:endCxn id="77" idx="2"/>
              </p:cNvCxnSpPr>
              <p:nvPr/>
            </p:nvCxnSpPr>
            <p:spPr>
              <a:xfrm>
                <a:off x="3728220" y="3924300"/>
                <a:ext cx="538980" cy="0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>
                <a:stCxn id="51" idx="7"/>
                <a:endCxn id="77" idx="6"/>
              </p:cNvCxnSpPr>
              <p:nvPr/>
            </p:nvCxnSpPr>
            <p:spPr>
              <a:xfrm>
                <a:off x="2808241" y="3668759"/>
                <a:ext cx="1535159" cy="255541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>
                <a:stCxn id="51" idx="7"/>
                <a:endCxn id="86" idx="3"/>
              </p:cNvCxnSpPr>
              <p:nvPr/>
            </p:nvCxnSpPr>
            <p:spPr>
              <a:xfrm flipV="1">
                <a:off x="2808241" y="3494041"/>
                <a:ext cx="1241518" cy="174718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>
                <a:endCxn id="34" idx="3"/>
              </p:cNvCxnSpPr>
              <p:nvPr/>
            </p:nvCxnSpPr>
            <p:spPr>
              <a:xfrm flipV="1">
                <a:off x="1752600" y="2960641"/>
                <a:ext cx="1535159" cy="250918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>
                <a:stCxn id="34" idx="7"/>
                <a:endCxn id="85" idx="2"/>
              </p:cNvCxnSpPr>
              <p:nvPr/>
            </p:nvCxnSpPr>
            <p:spPr>
              <a:xfrm flipV="1">
                <a:off x="3341641" y="2781300"/>
                <a:ext cx="925559" cy="125459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>
                <a:stCxn id="47" idx="6"/>
                <a:endCxn id="85" idx="7"/>
              </p:cNvCxnSpPr>
              <p:nvPr/>
            </p:nvCxnSpPr>
            <p:spPr>
              <a:xfrm>
                <a:off x="2514600" y="2705100"/>
                <a:ext cx="1817641" cy="49259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/>
              <p:cNvCxnSpPr>
                <a:stCxn id="58" idx="6"/>
                <a:endCxn id="47" idx="7"/>
              </p:cNvCxnSpPr>
              <p:nvPr/>
            </p:nvCxnSpPr>
            <p:spPr>
              <a:xfrm>
                <a:off x="1828800" y="2552700"/>
                <a:ext cx="674641" cy="125459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>
                <a:stCxn id="58" idx="7"/>
                <a:endCxn id="59" idx="4"/>
              </p:cNvCxnSpPr>
              <p:nvPr/>
            </p:nvCxnSpPr>
            <p:spPr>
              <a:xfrm flipV="1">
                <a:off x="1817641" y="2286000"/>
                <a:ext cx="2487659" cy="239759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>
                <a:stCxn id="59" idx="0"/>
                <a:endCxn id="108" idx="5"/>
              </p:cNvCxnSpPr>
              <p:nvPr/>
            </p:nvCxnSpPr>
            <p:spPr>
              <a:xfrm flipV="1">
                <a:off x="4305300" y="1741441"/>
                <a:ext cx="103141" cy="468359"/>
              </a:xfrm>
              <a:prstGeom prst="line">
                <a:avLst/>
              </a:prstGeom>
              <a:ln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0" name="Straight Connector 219"/>
            <p:cNvCxnSpPr/>
            <p:nvPr/>
          </p:nvCxnSpPr>
          <p:spPr>
            <a:xfrm flipV="1">
              <a:off x="4049759" y="3390900"/>
              <a:ext cx="369841" cy="492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624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3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Divide and Conquer based algorithm</a:t>
            </a:r>
            <a:br>
              <a:rPr lang="en-US" sz="3200" b="1" dirty="0"/>
            </a:br>
            <a:br>
              <a:rPr lang="en-US" sz="3200" b="1" dirty="0"/>
            </a:b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54403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) </a:t>
                </a:r>
              </a:p>
              <a:p>
                <a:pPr marL="0" indent="0">
                  <a:buNone/>
                </a:pPr>
                <a:r>
                  <a:rPr lang="en-US" sz="1600" dirty="0"/>
                  <a:t>{   </a:t>
                </a:r>
                <a:r>
                  <a:rPr lang="en-US" sz="1600" b="1" dirty="0"/>
                  <a:t>If</a:t>
                </a:r>
                <a:r>
                  <a:rPr lang="en-US" sz="1600" dirty="0"/>
                  <a:t> (|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|=1 ) return (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);</a:t>
                </a:r>
              </a:p>
              <a:p>
                <a:pPr marL="0" indent="0">
                  <a:buNone/>
                </a:pPr>
                <a:r>
                  <a:rPr lang="en-US" sz="1600" dirty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𝑚𝑒𝑑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dirty="0"/>
                  <a:t>Compute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/>
                  <a:t>-median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;</a:t>
                </a:r>
              </a:p>
              <a:p>
                <a:pPr marL="0" indent="0">
                  <a:buNone/>
                </a:pPr>
                <a:r>
                  <a:rPr lang="en-US" sz="1600" b="0" dirty="0"/>
                  <a:t>    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𝐿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Split-by-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-median(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70C0"/>
                    </a:solidFill>
                  </a:rPr>
                  <a:t>           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 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  <a:r>
                  <a:rPr lang="en-US" sz="1600" b="1" dirty="0"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  <m:r>
                      <a:rPr lang="en-US" sz="16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-Merge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While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≠</m:t>
                    </m:r>
                    <m:r>
                      <a:rPr lang="en-US" sz="1600" b="0" i="1" smtClean="0">
                        <a:latin typeface="Cambria Math"/>
                      </a:rPr>
                      <m:t>∅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≠∅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)</a:t>
                </a:r>
                <a:r>
                  <a:rPr lang="en-US" sz="1600" b="1" dirty="0">
                    <a:sym typeface="Wingdings" pitchFamily="2" charset="2"/>
                  </a:rPr>
                  <a:t>      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  </a:t>
                </a:r>
                <a:r>
                  <a:rPr lang="en-US" sz="1600" b="1" dirty="0">
                    <a:sym typeface="Wingdings" pitchFamily="2" charset="2"/>
                  </a:rPr>
                  <a:t>{</a:t>
                </a:r>
                <a:r>
                  <a:rPr lang="en-US" sz="1600" dirty="0">
                    <a:sym typeface="Wingdings" pitchFamily="2" charset="2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first(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 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first(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); 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        </a:t>
                </a:r>
                <a:r>
                  <a:rPr lang="en-US" sz="1600" b="1" dirty="0">
                    <a:sym typeface="Wingdings" pitchFamily="2" charset="2"/>
                  </a:rPr>
                  <a:t>If</a:t>
                </a:r>
                <a:r>
                  <a:rPr lang="en-US" sz="1600" dirty="0">
                    <a:sym typeface="Wingdings" pitchFamily="2" charset="2"/>
                  </a:rPr>
                  <a:t>( </a:t>
                </a:r>
                <a:r>
                  <a:rPr lang="en-US" sz="1600" dirty="0">
                    <a:solidFill>
                      <a:srgbClr val="C00000"/>
                    </a:solidFill>
                    <a:sym typeface="Wingdings" pitchFamily="2" charset="2"/>
                  </a:rPr>
                  <a:t>y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) 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  <a:ea typeface="Cambria Math"/>
                        <a:sym typeface="Wingdings" pitchFamily="2" charset="2"/>
                      </a:rPr>
                      <m:t>≤</m:t>
                    </m:r>
                  </m:oMath>
                </a14:m>
                <a:r>
                  <a:rPr lang="en-US" sz="1600" dirty="0">
                    <a:solidFill>
                      <a:srgbClr val="C00000"/>
                    </a:solidFill>
                    <a:sym typeface="Wingdings" pitchFamily="2" charset="2"/>
                  </a:rPr>
                  <a:t> y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) ) </a:t>
                </a:r>
                <a:endParaRPr lang="en-US" sz="16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 {          </a:t>
                </a:r>
                <a:r>
                  <a:rPr lang="en-US" sz="1600" dirty="0">
                    <a:sym typeface="Wingdings" pitchFamily="2" charset="2"/>
                  </a:rPr>
                  <a:t>Compute distance from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𝑎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to the first </a:t>
                </a:r>
                <a:r>
                  <a:rPr lang="en-US" sz="1600" b="1" dirty="0">
                    <a:solidFill>
                      <a:srgbClr val="0070C0"/>
                    </a:solidFill>
                    <a:sym typeface="Wingdings" pitchFamily="2" charset="2"/>
                  </a:rPr>
                  <a:t>4</a:t>
                </a:r>
                <a:r>
                  <a:rPr lang="en-US" sz="1600" dirty="0">
                    <a:sym typeface="Wingdings" pitchFamily="2" charset="2"/>
                  </a:rPr>
                  <a:t> points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            Update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accordingly;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                  Remove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 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 } 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 else … </a:t>
                </a:r>
                <a:r>
                  <a:rPr lang="en-US" sz="1600" dirty="0">
                    <a:solidFill>
                      <a:srgbClr val="006C31"/>
                    </a:solidFill>
                    <a:sym typeface="Wingdings" pitchFamily="2" charset="2"/>
                  </a:rPr>
                  <a:t>//similar processing for point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𝑏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} 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return 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  <m:r>
                      <a:rPr lang="en-US" sz="1600" b="0" i="1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}</a:t>
                </a:r>
                <a:r>
                  <a:rPr lang="en-US" sz="1600" dirty="0">
                    <a:sym typeface="Wingdings" pitchFamily="2" charset="2"/>
                  </a:rPr>
                  <a:t>             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5440363"/>
              </a:xfrm>
              <a:blipFill rotWithShape="1">
                <a:blip r:embed="rId2"/>
                <a:stretch>
                  <a:fillRect l="-370" t="-336" b="-4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638800" y="1828800"/>
            <a:ext cx="2902760" cy="1239798"/>
            <a:chOff x="1371601" y="2025134"/>
            <a:chExt cx="2902760" cy="1239798"/>
          </a:xfrm>
        </p:grpSpPr>
        <p:sp>
          <p:nvSpPr>
            <p:cNvPr id="5" name="Right Brace 4"/>
            <p:cNvSpPr/>
            <p:nvPr/>
          </p:nvSpPr>
          <p:spPr>
            <a:xfrm>
              <a:off x="1371601" y="2025134"/>
              <a:ext cx="1752600" cy="1239798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048000" y="2494002"/>
              <a:ext cx="1226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Divide step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638800" y="3200400"/>
            <a:ext cx="3035223" cy="2819400"/>
            <a:chOff x="1808973" y="1295400"/>
            <a:chExt cx="3035223" cy="2819400"/>
          </a:xfrm>
        </p:grpSpPr>
        <p:sp>
          <p:nvSpPr>
            <p:cNvPr id="9" name="Right Brace 8"/>
            <p:cNvSpPr/>
            <p:nvPr/>
          </p:nvSpPr>
          <p:spPr>
            <a:xfrm>
              <a:off x="1808973" y="1295400"/>
              <a:ext cx="1676400" cy="2819400"/>
            </a:xfrm>
            <a:prstGeom prst="rightBrace">
              <a:avLst>
                <a:gd name="adj1" fmla="val 646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29000" y="2678668"/>
              <a:ext cx="1415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conquer step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721750" y="4214336"/>
                <a:ext cx="1318181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750" y="4214336"/>
                <a:ext cx="131818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787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540954" y="1981200"/>
                <a:ext cx="2526846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+ 2 </a:t>
                </a:r>
                <a:r>
                  <a:rPr lang="en-US" b="1" dirty="0"/>
                  <a:t>T</a:t>
                </a:r>
                <a:r>
                  <a:rPr lang="en-US" dirty="0"/>
                  <a:t>(|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/>
                      </a:rPr>
                      <m:t>𝐏</m:t>
                    </m:r>
                  </m:oMath>
                </a14:m>
                <a:r>
                  <a:rPr lang="en-US" dirty="0"/>
                  <a:t>|/2) time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954" y="1981200"/>
                <a:ext cx="2526846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337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514600" y="2438400"/>
            <a:ext cx="1905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6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sz="40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exists an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>
                    <a:sym typeface="Wingdings" pitchFamily="2" charset="2"/>
                  </a:rPr>
                  <a:t>) time </a:t>
                </a:r>
                <a:r>
                  <a:rPr lang="en-US" sz="2000" dirty="0"/>
                  <a:t>algorithm  to compute closest pair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points in plane.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Note: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r>
                  <a:rPr lang="en-US" sz="2000" dirty="0"/>
                  <a:t>There exists a randomized algorithm with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expected time.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b="1" dirty="0"/>
                  <a:t>: </a:t>
                </a:r>
              </a:p>
              <a:p>
                <a:pPr marL="457200" indent="-457200">
                  <a:buAutoNum type="arabicPeriod"/>
                </a:pPr>
                <a:r>
                  <a:rPr lang="en-US" sz="1800" dirty="0"/>
                  <a:t>Complete the </a:t>
                </a:r>
                <a:r>
                  <a:rPr lang="en-US" sz="1800" dirty="0" err="1"/>
                  <a:t>pseudocode</a:t>
                </a:r>
                <a:r>
                  <a:rPr lang="en-US" sz="1800" dirty="0"/>
                  <a:t> of the algorithm.</a:t>
                </a:r>
                <a:r>
                  <a:rPr lang="en-US" sz="1800" dirty="0">
                    <a:sym typeface="Wingdings" pitchFamily="2" charset="2"/>
                  </a:rPr>
                  <a:t>   </a:t>
                </a:r>
              </a:p>
              <a:p>
                <a:pPr marL="0" indent="0">
                  <a:buNone/>
                </a:pPr>
                <a:endParaRPr lang="en-US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43000" y="3048000"/>
            <a:ext cx="38100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953000" y="3048000"/>
            <a:ext cx="38100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2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Convex Hull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0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Convex hull </a:t>
            </a:r>
            <a:r>
              <a:rPr lang="en-US" sz="4000" b="1" dirty="0"/>
              <a:t>Problem</a:t>
            </a:r>
            <a:br>
              <a:rPr lang="en-US" sz="4000" b="1" dirty="0"/>
            </a:b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dirty="0"/>
                  <a:t>: Convex polygon of smallest area enclosing a set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 of points.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  <a:blipFill rotWithShape="1">
                <a:blip r:embed="rId2"/>
                <a:stretch>
                  <a:fillRect l="-741" t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276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029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21336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81537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609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3962400" y="4572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60198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/>
          <p:cNvCxnSpPr>
            <a:stCxn id="76" idx="0"/>
            <a:endCxn id="75" idx="1"/>
          </p:cNvCxnSpPr>
          <p:nvPr/>
        </p:nvCxnSpPr>
        <p:spPr>
          <a:xfrm>
            <a:off x="647700" y="3886200"/>
            <a:ext cx="735059" cy="115415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50" idx="3"/>
            <a:endCxn id="75" idx="5"/>
          </p:cNvCxnSpPr>
          <p:nvPr/>
        </p:nvCxnSpPr>
        <p:spPr>
          <a:xfrm flipH="1" flipV="1">
            <a:off x="1436641" y="5094241"/>
            <a:ext cx="1698718" cy="3048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2" idx="6"/>
            <a:endCxn id="50" idx="5"/>
          </p:cNvCxnSpPr>
          <p:nvPr/>
        </p:nvCxnSpPr>
        <p:spPr>
          <a:xfrm flipH="1" flipV="1">
            <a:off x="3189241" y="5399041"/>
            <a:ext cx="2525759" cy="20165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8" idx="3"/>
            <a:endCxn id="62" idx="5"/>
          </p:cNvCxnSpPr>
          <p:nvPr/>
        </p:nvCxnSpPr>
        <p:spPr>
          <a:xfrm flipH="1">
            <a:off x="5703841" y="5399041"/>
            <a:ext cx="2079718" cy="2286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65" idx="7"/>
            <a:endCxn id="68" idx="6"/>
          </p:cNvCxnSpPr>
          <p:nvPr/>
        </p:nvCxnSpPr>
        <p:spPr>
          <a:xfrm flipH="1">
            <a:off x="7848600" y="3287759"/>
            <a:ext cx="674641" cy="208434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58" idx="2"/>
            <a:endCxn id="76" idx="7"/>
          </p:cNvCxnSpPr>
          <p:nvPr/>
        </p:nvCxnSpPr>
        <p:spPr>
          <a:xfrm flipH="1">
            <a:off x="674641" y="2247900"/>
            <a:ext cx="1458959" cy="164945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3" idx="2"/>
            <a:endCxn id="58" idx="2"/>
          </p:cNvCxnSpPr>
          <p:nvPr/>
        </p:nvCxnSpPr>
        <p:spPr>
          <a:xfrm flipH="1">
            <a:off x="2133600" y="1714500"/>
            <a:ext cx="3657600" cy="5334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5" idx="0"/>
            <a:endCxn id="64" idx="7"/>
          </p:cNvCxnSpPr>
          <p:nvPr/>
        </p:nvCxnSpPr>
        <p:spPr>
          <a:xfrm flipH="1" flipV="1">
            <a:off x="6746578" y="1687559"/>
            <a:ext cx="1749722" cy="158904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stCxn id="64" idx="7"/>
            <a:endCxn id="63" idx="6"/>
          </p:cNvCxnSpPr>
          <p:nvPr/>
        </p:nvCxnSpPr>
        <p:spPr>
          <a:xfrm flipH="1">
            <a:off x="5867400" y="1687559"/>
            <a:ext cx="879178" cy="2694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70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 </a:t>
            </a:r>
            <a:r>
              <a:rPr lang="en-US" sz="3200" b="1" dirty="0">
                <a:solidFill>
                  <a:srgbClr val="0070C0"/>
                </a:solidFill>
              </a:rPr>
              <a:t>simple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Given a line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 and a point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, how to determine if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 lies above/below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 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3340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808948" y="263975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grpSp>
        <p:nvGrpSpPr>
          <p:cNvPr id="15" name="Group 14"/>
          <p:cNvGrpSpPr/>
          <p:nvPr/>
        </p:nvGrpSpPr>
        <p:grpSpPr>
          <a:xfrm>
            <a:off x="1730282" y="2677855"/>
            <a:ext cx="5486400" cy="906509"/>
            <a:chOff x="152400" y="3086100"/>
            <a:chExt cx="5486400" cy="906509"/>
          </a:xfrm>
        </p:grpSpPr>
        <p:cxnSp>
          <p:nvCxnSpPr>
            <p:cNvPr id="7" name="Straight Connector 6"/>
            <p:cNvCxnSpPr/>
            <p:nvPr/>
          </p:nvCxnSpPr>
          <p:spPr>
            <a:xfrm flipH="1">
              <a:off x="762000" y="3298918"/>
              <a:ext cx="3711482" cy="587282"/>
            </a:xfrm>
            <a:prstGeom prst="line">
              <a:avLst/>
            </a:prstGeom>
            <a:ln w="5715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4473482" y="3086100"/>
              <a:ext cx="1165318" cy="212818"/>
            </a:xfrm>
            <a:prstGeom prst="line">
              <a:avLst/>
            </a:prstGeom>
            <a:ln w="57150">
              <a:solidFill>
                <a:srgbClr val="0070C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52400" y="3886200"/>
              <a:ext cx="658859" cy="106409"/>
            </a:xfrm>
            <a:prstGeom prst="line">
              <a:avLst/>
            </a:prstGeom>
            <a:ln w="57150">
              <a:solidFill>
                <a:srgbClr val="0070C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646652" y="3149150"/>
                <a:ext cx="1385957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𝑦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𝑚𝑥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652" y="3149150"/>
                <a:ext cx="1385957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526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93790" y="2427744"/>
                <a:ext cx="9664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790" y="2427744"/>
                <a:ext cx="96648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754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>
            <a:stCxn id="6" idx="0"/>
          </p:cNvCxnSpPr>
          <p:nvPr/>
        </p:nvCxnSpPr>
        <p:spPr>
          <a:xfrm>
            <a:off x="2847048" y="2639755"/>
            <a:ext cx="0" cy="713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372100" y="2996277"/>
            <a:ext cx="0" cy="11947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993790" y="4648200"/>
                <a:ext cx="1412566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𝑶</m:t>
                    </m:r>
                    <m:r>
                      <a:rPr lang="en-US" b="1" i="1" smtClean="0"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 </a:t>
                </a:r>
                <a:r>
                  <a:rPr lang="en-US" dirty="0">
                    <a:sym typeface="Wingdings" pitchFamily="2" charset="2"/>
                  </a:rPr>
                  <a:t>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790" y="4648200"/>
                <a:ext cx="141256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065" r="-6410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926959" y="4269561"/>
                <a:ext cx="97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959" y="4269561"/>
                <a:ext cx="977127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74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5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  <p:bldP spid="16" grpId="0" animBg="1"/>
      <p:bldP spid="19" grpId="0"/>
      <p:bldP spid="9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Divide and Conquer </a:t>
            </a:r>
            <a:r>
              <a:rPr lang="en-US" sz="4000" b="1" dirty="0"/>
              <a:t>algorithm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276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029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21336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81537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609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3962400" y="4572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60198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Straight Connector 47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647700" y="2247900"/>
            <a:ext cx="3771900" cy="3151141"/>
            <a:chOff x="647700" y="2247900"/>
            <a:chExt cx="3771900" cy="3151141"/>
          </a:xfrm>
        </p:grpSpPr>
        <p:cxnSp>
          <p:nvCxnSpPr>
            <p:cNvPr id="6" name="Straight Connector 5"/>
            <p:cNvCxnSpPr>
              <a:stCxn id="76" idx="0"/>
              <a:endCxn id="75" idx="1"/>
            </p:cNvCxnSpPr>
            <p:nvPr/>
          </p:nvCxnSpPr>
          <p:spPr>
            <a:xfrm>
              <a:off x="647700" y="3886200"/>
              <a:ext cx="735059" cy="1154159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50" idx="3"/>
              <a:endCxn id="75" idx="5"/>
            </p:cNvCxnSpPr>
            <p:nvPr/>
          </p:nvCxnSpPr>
          <p:spPr>
            <a:xfrm flipH="1" flipV="1">
              <a:off x="1436641" y="5094241"/>
              <a:ext cx="1698718" cy="3048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81" idx="4"/>
              <a:endCxn id="50" idx="5"/>
            </p:cNvCxnSpPr>
            <p:nvPr/>
          </p:nvCxnSpPr>
          <p:spPr>
            <a:xfrm flipH="1">
              <a:off x="3189241" y="4648200"/>
              <a:ext cx="811259" cy="75084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58" idx="2"/>
              <a:endCxn id="76" idx="7"/>
            </p:cNvCxnSpPr>
            <p:nvPr/>
          </p:nvCxnSpPr>
          <p:spPr>
            <a:xfrm flipH="1">
              <a:off x="674641" y="2247900"/>
              <a:ext cx="1458959" cy="1649459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85" idx="1"/>
              <a:endCxn id="58" idx="2"/>
            </p:cNvCxnSpPr>
            <p:nvPr/>
          </p:nvCxnSpPr>
          <p:spPr>
            <a:xfrm flipH="1" flipV="1">
              <a:off x="2133600" y="2247900"/>
              <a:ext cx="1535159" cy="430259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77" idx="3"/>
              <a:endCxn id="81" idx="6"/>
            </p:cNvCxnSpPr>
            <p:nvPr/>
          </p:nvCxnSpPr>
          <p:spPr>
            <a:xfrm flipH="1">
              <a:off x="4038600" y="3951241"/>
              <a:ext cx="315959" cy="658859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85" idx="6"/>
              <a:endCxn id="77" idx="6"/>
            </p:cNvCxnSpPr>
            <p:nvPr/>
          </p:nvCxnSpPr>
          <p:spPr>
            <a:xfrm>
              <a:off x="3733800" y="2705100"/>
              <a:ext cx="685800" cy="12192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4762500" y="1687559"/>
            <a:ext cx="3760741" cy="3940082"/>
            <a:chOff x="4762500" y="1687559"/>
            <a:chExt cx="3760741" cy="3940082"/>
          </a:xfrm>
        </p:grpSpPr>
        <p:cxnSp>
          <p:nvCxnSpPr>
            <p:cNvPr id="71" name="Straight Connector 70"/>
            <p:cNvCxnSpPr>
              <a:stCxn id="68" idx="3"/>
              <a:endCxn id="62" idx="5"/>
            </p:cNvCxnSpPr>
            <p:nvPr/>
          </p:nvCxnSpPr>
          <p:spPr>
            <a:xfrm flipH="1">
              <a:off x="5703841" y="5399041"/>
              <a:ext cx="2079718" cy="2286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65" idx="7"/>
              <a:endCxn id="68" idx="6"/>
            </p:cNvCxnSpPr>
            <p:nvPr/>
          </p:nvCxnSpPr>
          <p:spPr>
            <a:xfrm flipH="1">
              <a:off x="7848600" y="3287759"/>
              <a:ext cx="674641" cy="208434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65" idx="0"/>
              <a:endCxn id="64" idx="7"/>
            </p:cNvCxnSpPr>
            <p:nvPr/>
          </p:nvCxnSpPr>
          <p:spPr>
            <a:xfrm flipH="1" flipV="1">
              <a:off x="6746578" y="1687559"/>
              <a:ext cx="1749722" cy="158904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64" idx="7"/>
              <a:endCxn id="63" idx="6"/>
            </p:cNvCxnSpPr>
            <p:nvPr/>
          </p:nvCxnSpPr>
          <p:spPr>
            <a:xfrm flipH="1">
              <a:off x="5867400" y="1687559"/>
              <a:ext cx="879178" cy="2694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83" idx="4"/>
              <a:endCxn id="82" idx="1"/>
            </p:cNvCxnSpPr>
            <p:nvPr/>
          </p:nvCxnSpPr>
          <p:spPr>
            <a:xfrm>
              <a:off x="4762500" y="3124200"/>
              <a:ext cx="125459" cy="1077959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63" idx="4"/>
              <a:endCxn id="42" idx="7"/>
            </p:cNvCxnSpPr>
            <p:nvPr/>
          </p:nvCxnSpPr>
          <p:spPr>
            <a:xfrm flipH="1">
              <a:off x="5094241" y="1752600"/>
              <a:ext cx="735059" cy="468359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42" idx="3"/>
              <a:endCxn id="83" idx="7"/>
            </p:cNvCxnSpPr>
            <p:nvPr/>
          </p:nvCxnSpPr>
          <p:spPr>
            <a:xfrm flipH="1">
              <a:off x="4789441" y="2274841"/>
              <a:ext cx="250918" cy="784318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82" idx="5"/>
              <a:endCxn id="62" idx="2"/>
            </p:cNvCxnSpPr>
            <p:nvPr/>
          </p:nvCxnSpPr>
          <p:spPr>
            <a:xfrm>
              <a:off x="4941841" y="4256041"/>
              <a:ext cx="696959" cy="1344659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" name="Straight Connector 95"/>
          <p:cNvCxnSpPr/>
          <p:nvPr/>
        </p:nvCxnSpPr>
        <p:spPr>
          <a:xfrm flipH="1">
            <a:off x="2209800" y="1725659"/>
            <a:ext cx="3581400" cy="533400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H="1" flipV="1">
            <a:off x="3200400" y="5410200"/>
            <a:ext cx="2449559" cy="228600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85421" y="3810000"/>
            <a:ext cx="310379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/>
          <p:cNvSpPr/>
          <p:nvPr/>
        </p:nvSpPr>
        <p:spPr>
          <a:xfrm>
            <a:off x="4572000" y="2971800"/>
            <a:ext cx="310379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/>
          <p:cNvCxnSpPr/>
          <p:nvPr/>
        </p:nvCxnSpPr>
        <p:spPr>
          <a:xfrm flipH="1">
            <a:off x="4114801" y="2247900"/>
            <a:ext cx="1142999" cy="2095500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Up Arrow 32"/>
          <p:cNvSpPr/>
          <p:nvPr/>
        </p:nvSpPr>
        <p:spPr>
          <a:xfrm rot="19991570">
            <a:off x="3957339" y="2717370"/>
            <a:ext cx="316418" cy="746915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Up Arrow 99"/>
          <p:cNvSpPr/>
          <p:nvPr/>
        </p:nvSpPr>
        <p:spPr>
          <a:xfrm rot="962143">
            <a:off x="4592807" y="2119513"/>
            <a:ext cx="316418" cy="746915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/>
          <p:cNvCxnSpPr/>
          <p:nvPr/>
        </p:nvCxnSpPr>
        <p:spPr>
          <a:xfrm flipH="1" flipV="1">
            <a:off x="2590801" y="2286000"/>
            <a:ext cx="2514599" cy="914400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3189242" y="1981200"/>
            <a:ext cx="2640058" cy="838200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Up Arrow 104"/>
          <p:cNvSpPr/>
          <p:nvPr/>
        </p:nvSpPr>
        <p:spPr>
          <a:xfrm rot="17733661">
            <a:off x="3218760" y="1987804"/>
            <a:ext cx="316418" cy="746915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Connector 105"/>
          <p:cNvCxnSpPr/>
          <p:nvPr/>
        </p:nvCxnSpPr>
        <p:spPr>
          <a:xfrm flipH="1">
            <a:off x="1752600" y="2204220"/>
            <a:ext cx="4229100" cy="70621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Up Arrow 108"/>
          <p:cNvSpPr/>
          <p:nvPr/>
        </p:nvSpPr>
        <p:spPr>
          <a:xfrm rot="3042709">
            <a:off x="5072975" y="1357513"/>
            <a:ext cx="316418" cy="746915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Up Arrow 112"/>
          <p:cNvSpPr/>
          <p:nvPr/>
        </p:nvSpPr>
        <p:spPr>
          <a:xfrm rot="10399828">
            <a:off x="4570196" y="3521048"/>
            <a:ext cx="316418" cy="746915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Up Arrow 113"/>
          <p:cNvSpPr/>
          <p:nvPr/>
        </p:nvSpPr>
        <p:spPr>
          <a:xfrm rot="12252691">
            <a:off x="4177841" y="4070633"/>
            <a:ext cx="316418" cy="746915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Connector 114"/>
          <p:cNvCxnSpPr>
            <a:stCxn id="63" idx="7"/>
            <a:endCxn id="58" idx="3"/>
          </p:cNvCxnSpPr>
          <p:nvPr/>
        </p:nvCxnSpPr>
        <p:spPr>
          <a:xfrm flipH="1">
            <a:off x="2144759" y="1687559"/>
            <a:ext cx="3711482" cy="587282"/>
          </a:xfrm>
          <a:prstGeom prst="line">
            <a:avLst/>
          </a:prstGeom>
          <a:ln w="571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H="1" flipV="1">
            <a:off x="3200400" y="5410200"/>
            <a:ext cx="2449559" cy="228600"/>
          </a:xfrm>
          <a:prstGeom prst="line">
            <a:avLst/>
          </a:prstGeom>
          <a:ln w="571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/>
          <p:cNvGrpSpPr/>
          <p:nvPr/>
        </p:nvGrpSpPr>
        <p:grpSpPr>
          <a:xfrm>
            <a:off x="685800" y="5978652"/>
            <a:ext cx="3810000" cy="726948"/>
            <a:chOff x="685800" y="5978652"/>
            <a:chExt cx="3810000" cy="726948"/>
          </a:xfrm>
        </p:grpSpPr>
        <p:sp>
          <p:nvSpPr>
            <p:cNvPr id="121" name="Right Brace 120"/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/>
                <p:cNvSpPr txBox="1"/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r="-13287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/>
          <p:cNvGrpSpPr/>
          <p:nvPr/>
        </p:nvGrpSpPr>
        <p:grpSpPr>
          <a:xfrm>
            <a:off x="4648200" y="5978652"/>
            <a:ext cx="3810000" cy="726948"/>
            <a:chOff x="685800" y="5978652"/>
            <a:chExt cx="3810000" cy="726948"/>
          </a:xfrm>
        </p:grpSpPr>
        <p:sp>
          <p:nvSpPr>
            <p:cNvPr id="124" name="Right Brace 123"/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/>
                <p:cNvSpPr txBox="1"/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r="-13287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3" name="Oval 102"/>
          <p:cNvSpPr/>
          <p:nvPr/>
        </p:nvSpPr>
        <p:spPr>
          <a:xfrm>
            <a:off x="3499621" y="2590800"/>
            <a:ext cx="310379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4947421" y="2133600"/>
            <a:ext cx="310379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5633221" y="1600200"/>
            <a:ext cx="310379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1981200" y="2133600"/>
            <a:ext cx="310379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4188210" y="3836941"/>
            <a:ext cx="310379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Oval 111"/>
          <p:cNvSpPr/>
          <p:nvPr/>
        </p:nvSpPr>
        <p:spPr>
          <a:xfrm>
            <a:off x="4577580" y="3004168"/>
            <a:ext cx="310379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89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6" grpId="0" animBg="1"/>
      <p:bldP spid="26" grpId="1" animBg="1"/>
      <p:bldP spid="98" grpId="0" animBg="1"/>
      <p:bldP spid="98" grpId="1" animBg="1"/>
      <p:bldP spid="33" grpId="0" animBg="1"/>
      <p:bldP spid="33" grpId="1" animBg="1"/>
      <p:bldP spid="100" grpId="0" animBg="1"/>
      <p:bldP spid="100" grpId="1" animBg="1"/>
      <p:bldP spid="105" grpId="0" animBg="1"/>
      <p:bldP spid="105" grpId="1" animBg="1"/>
      <p:bldP spid="109" grpId="0" animBg="1"/>
      <p:bldP spid="109" grpId="1" animBg="1"/>
      <p:bldP spid="113" grpId="0" animBg="1"/>
      <p:bldP spid="114" grpId="0" animBg="1"/>
      <p:bldP spid="103" grpId="0" animBg="1"/>
      <p:bldP spid="103" grpId="1" animBg="1"/>
      <p:bldP spid="104" grpId="0" animBg="1"/>
      <p:bldP spid="104" grpId="1" animBg="1"/>
      <p:bldP spid="107" grpId="0" animBg="1"/>
      <p:bldP spid="107" grpId="1" animBg="1"/>
      <p:bldP spid="108" grpId="0" animBg="1"/>
      <p:bldP spid="108" grpId="1" animBg="1"/>
      <p:bldP spid="110" grpId="0" animBg="1"/>
      <p:bldP spid="1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sz="40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1. Provide </a:t>
                </a:r>
                <a:r>
                  <a:rPr lang="en-US" sz="2000" b="1" dirty="0"/>
                  <a:t>complete details </a:t>
                </a:r>
                <a:r>
                  <a:rPr lang="en-US" sz="2000" dirty="0"/>
                  <a:t>of the “conquer” part of the algorithm.</a:t>
                </a:r>
              </a:p>
              <a:p>
                <a:pPr marL="0" indent="0">
                  <a:buNone/>
                </a:pPr>
                <a:r>
                  <a:rPr lang="en-US" sz="2000" dirty="0"/>
                  <a:t>[</a:t>
                </a:r>
                <a:r>
                  <a:rPr lang="en-US" sz="2000" dirty="0">
                    <a:solidFill>
                      <a:srgbClr val="C00000"/>
                    </a:solidFill>
                  </a:rPr>
                  <a:t>Caution</a:t>
                </a:r>
                <a:r>
                  <a:rPr lang="en-US" sz="2000" dirty="0"/>
                  <a:t>: We </a:t>
                </a:r>
                <a:r>
                  <a:rPr lang="en-US" sz="2000" u="sng" dirty="0"/>
                  <a:t>did not</a:t>
                </a:r>
                <a:r>
                  <a:rPr lang="en-US" sz="2000" dirty="0"/>
                  <a:t> discuss </a:t>
                </a:r>
                <a:r>
                  <a:rPr lang="en-US" sz="2000" b="1" u="sng" dirty="0"/>
                  <a:t>all the </a:t>
                </a:r>
                <a:r>
                  <a:rPr lang="en-US" sz="2000" b="1" u="sng"/>
                  <a:t>cases</a:t>
                </a:r>
                <a:r>
                  <a:rPr lang="en-US" sz="2000"/>
                  <a:t> (when </a:t>
                </a:r>
                <a:r>
                  <a:rPr lang="en-US" sz="2000" dirty="0"/>
                  <a:t>a </a:t>
                </a:r>
                <a:r>
                  <a:rPr lang="en-US" sz="2000"/>
                  <a:t>line is a tangent).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Make sure that you find all the missing cases on your own.]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2. Write complete the </a:t>
                </a:r>
                <a:r>
                  <a:rPr lang="en-US" sz="2000" dirty="0" err="1"/>
                  <a:t>pseudocode</a:t>
                </a:r>
                <a:r>
                  <a:rPr lang="en-US" sz="2000" dirty="0"/>
                  <a:t> of the algorithm.</a:t>
                </a:r>
                <a:r>
                  <a:rPr lang="en-US" sz="2000" dirty="0">
                    <a:sym typeface="Wingdings" pitchFamily="2" charset="2"/>
                  </a:rPr>
                  <a:t>  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exists an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>
                    <a:sym typeface="Wingdings" pitchFamily="2" charset="2"/>
                  </a:rPr>
                  <a:t>) time </a:t>
                </a:r>
                <a:r>
                  <a:rPr lang="en-US" sz="2000" dirty="0"/>
                  <a:t>algorithm  to compute convex hull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points in plane.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7030A0"/>
                    </a:solidFill>
                    <a:sym typeface="Wingdings" pitchFamily="2" charset="2"/>
                  </a:rPr>
                  <a:t>        </a:t>
                </a: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endParaRPr lang="en-IN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r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2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Non-dominated </a:t>
            </a:r>
            <a:r>
              <a:rPr lang="en-US" sz="3600" b="1" dirty="0"/>
              <a:t>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03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Non Dominated </a:t>
            </a:r>
            <a:r>
              <a:rPr lang="en-US" sz="4000" b="1" dirty="0"/>
              <a:t>Points</a:t>
            </a:r>
            <a:br>
              <a:rPr lang="en-US" sz="4000" b="1" dirty="0"/>
            </a:b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  Given a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points</a:t>
                </a:r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dirty="0"/>
                  <a:t>: point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 is said to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dominate</a:t>
                </a:r>
                <a:r>
                  <a:rPr lang="en-US" sz="2000" dirty="0"/>
                  <a:t> point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/>
                  <a:t> if</a:t>
                </a:r>
              </a:p>
              <a:p>
                <a:pPr marL="0" indent="0">
                  <a:buNone/>
                </a:pPr>
                <a:r>
                  <a:rPr lang="en-US" sz="2000" dirty="0"/>
                  <a:t>			x(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) &gt; x(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		and         y(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) &gt; y(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  <a:blipFill rotWithShape="1">
                <a:blip r:embed="rId2"/>
                <a:stretch>
                  <a:fillRect l="-741" t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152400" y="6126163"/>
            <a:ext cx="838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619500" y="3810000"/>
            <a:ext cx="1" cy="231616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81" idx="3"/>
          </p:cNvCxnSpPr>
          <p:nvPr/>
        </p:nvCxnSpPr>
        <p:spPr>
          <a:xfrm>
            <a:off x="609600" y="3798841"/>
            <a:ext cx="29829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3352800" y="3733800"/>
            <a:ext cx="368627" cy="407432"/>
            <a:chOff x="3352800" y="3733800"/>
            <a:chExt cx="368627" cy="407432"/>
          </a:xfrm>
        </p:grpSpPr>
        <p:sp>
          <p:nvSpPr>
            <p:cNvPr id="81" name="Oval 80"/>
            <p:cNvSpPr/>
            <p:nvPr/>
          </p:nvSpPr>
          <p:spPr>
            <a:xfrm>
              <a:off x="3581400" y="3733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3352800" y="3771900"/>
                  <a:ext cx="3686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𝑝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2800" y="3771900"/>
                  <a:ext cx="36862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21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2590800" y="4724400"/>
            <a:ext cx="369588" cy="369332"/>
            <a:chOff x="2590800" y="4724400"/>
            <a:chExt cx="369588" cy="369332"/>
          </a:xfrm>
        </p:grpSpPr>
        <p:sp>
          <p:nvSpPr>
            <p:cNvPr id="42" name="Oval 41"/>
            <p:cNvSpPr/>
            <p:nvPr/>
          </p:nvSpPr>
          <p:spPr>
            <a:xfrm>
              <a:off x="27432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2590800" y="4724400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0800" y="4724400"/>
                  <a:ext cx="369588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967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4343400" y="5410200"/>
            <a:ext cx="369588" cy="445532"/>
            <a:chOff x="4343400" y="5410200"/>
            <a:chExt cx="369588" cy="445532"/>
          </a:xfrm>
        </p:grpSpPr>
        <p:sp>
          <p:nvSpPr>
            <p:cNvPr id="62" name="Oval 61"/>
            <p:cNvSpPr/>
            <p:nvPr/>
          </p:nvSpPr>
          <p:spPr>
            <a:xfrm>
              <a:off x="4495800" y="5410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/>
                <p:cNvSpPr txBox="1"/>
                <p:nvPr/>
              </p:nvSpPr>
              <p:spPr>
                <a:xfrm>
                  <a:off x="4343400" y="5486400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400" y="5486400"/>
                  <a:ext cx="36958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1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loud Callout 4"/>
              <p:cNvSpPr/>
              <p:nvPr/>
            </p:nvSpPr>
            <p:spPr>
              <a:xfrm>
                <a:off x="5562600" y="2895600"/>
                <a:ext cx="3124200" cy="914400"/>
              </a:xfrm>
              <a:prstGeom prst="cloudCallout">
                <a:avLst>
                  <a:gd name="adj1" fmla="val -43842"/>
                  <a:gd name="adj2" fmla="val 7306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Does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dominate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now ?</a:t>
                </a:r>
              </a:p>
            </p:txBody>
          </p:sp>
        </mc:Choice>
        <mc:Fallback xmlns="">
          <p:sp>
            <p:nvSpPr>
              <p:cNvPr id="5" name="Cloud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2895600"/>
                <a:ext cx="3124200" cy="914400"/>
              </a:xfrm>
              <a:prstGeom prst="cloudCallout">
                <a:avLst>
                  <a:gd name="adj1" fmla="val -43842"/>
                  <a:gd name="adj2" fmla="val 73067"/>
                </a:avLst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629400" y="4648200"/>
            <a:ext cx="48603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295400"/>
            <a:ext cx="762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590800" y="1295400"/>
            <a:ext cx="3276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6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20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Non Dominated </a:t>
            </a:r>
            <a:r>
              <a:rPr lang="en-US" sz="4000" b="1" dirty="0"/>
              <a:t>Points</a:t>
            </a:r>
            <a:br>
              <a:rPr lang="en-US" sz="4000" b="1" dirty="0"/>
            </a:b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  Given a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points</a:t>
                </a:r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dirty="0"/>
                  <a:t>: point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 is said to be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non-dominated</a:t>
                </a:r>
                <a:r>
                  <a:rPr lang="en-US" sz="2000" dirty="0"/>
                  <a:t> point if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there is no point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 such that</a:t>
                </a:r>
              </a:p>
              <a:p>
                <a:pPr marL="0" indent="0">
                  <a:buNone/>
                </a:pPr>
                <a:r>
                  <a:rPr lang="en-US" sz="2000" dirty="0"/>
                  <a:t>			x(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) &gt; x(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		and         y(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) &gt; y(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  <a:blipFill rotWithShape="1">
                <a:blip r:embed="rId2"/>
                <a:stretch>
                  <a:fillRect l="-741" t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152400" y="6126163"/>
            <a:ext cx="838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619500" y="3810000"/>
            <a:ext cx="1" cy="231616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81" idx="3"/>
          </p:cNvCxnSpPr>
          <p:nvPr/>
        </p:nvCxnSpPr>
        <p:spPr>
          <a:xfrm>
            <a:off x="609600" y="3798841"/>
            <a:ext cx="29829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3352800" y="3733800"/>
            <a:ext cx="368627" cy="407432"/>
            <a:chOff x="3352800" y="3733800"/>
            <a:chExt cx="368627" cy="407432"/>
          </a:xfrm>
        </p:grpSpPr>
        <p:sp>
          <p:nvSpPr>
            <p:cNvPr id="81" name="Oval 80"/>
            <p:cNvSpPr/>
            <p:nvPr/>
          </p:nvSpPr>
          <p:spPr>
            <a:xfrm>
              <a:off x="3581400" y="3733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3352800" y="3771900"/>
                  <a:ext cx="3686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𝑝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2800" y="3771900"/>
                  <a:ext cx="36862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21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4343400" y="5410200"/>
            <a:ext cx="369588" cy="445532"/>
            <a:chOff x="4343400" y="5410200"/>
            <a:chExt cx="369588" cy="445532"/>
          </a:xfrm>
        </p:grpSpPr>
        <p:sp>
          <p:nvSpPr>
            <p:cNvPr id="62" name="Oval 61"/>
            <p:cNvSpPr/>
            <p:nvPr/>
          </p:nvSpPr>
          <p:spPr>
            <a:xfrm>
              <a:off x="4495800" y="5410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/>
                <p:cNvSpPr txBox="1"/>
                <p:nvPr/>
              </p:nvSpPr>
              <p:spPr>
                <a:xfrm>
                  <a:off x="4343400" y="5486400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400" y="5486400"/>
                  <a:ext cx="369588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1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4"/>
          <p:cNvSpPr/>
          <p:nvPr/>
        </p:nvSpPr>
        <p:spPr>
          <a:xfrm>
            <a:off x="1828800" y="1295400"/>
            <a:ext cx="2514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419600" y="1295400"/>
            <a:ext cx="2514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Non Dominated </a:t>
            </a:r>
            <a:r>
              <a:rPr lang="en-US" sz="4000" b="1" dirty="0"/>
              <a:t>Points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276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36576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191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152400" y="6126163"/>
            <a:ext cx="838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endCxn id="42" idx="3"/>
          </p:cNvCxnSpPr>
          <p:nvPr/>
        </p:nvCxnSpPr>
        <p:spPr>
          <a:xfrm>
            <a:off x="609600" y="1512841"/>
            <a:ext cx="11541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1790700" y="1512842"/>
            <a:ext cx="0" cy="5064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1790700" y="2019300"/>
            <a:ext cx="8112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2667000" y="2046242"/>
            <a:ext cx="0" cy="5064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3733800" y="2579642"/>
            <a:ext cx="0" cy="17471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endCxn id="85" idx="2"/>
          </p:cNvCxnSpPr>
          <p:nvPr/>
        </p:nvCxnSpPr>
        <p:spPr>
          <a:xfrm>
            <a:off x="2667000" y="2552700"/>
            <a:ext cx="9906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endCxn id="84" idx="1"/>
          </p:cNvCxnSpPr>
          <p:nvPr/>
        </p:nvCxnSpPr>
        <p:spPr>
          <a:xfrm>
            <a:off x="3733800" y="2754359"/>
            <a:ext cx="21447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5905500" y="3048000"/>
            <a:ext cx="5826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6515100" y="3657600"/>
            <a:ext cx="8001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7315200" y="4038600"/>
            <a:ext cx="6096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7962900" y="5029200"/>
            <a:ext cx="1905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8153400" y="5536532"/>
            <a:ext cx="3429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5905500" y="2819401"/>
            <a:ext cx="0" cy="22859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6553200" y="3124201"/>
            <a:ext cx="0" cy="53339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7315200" y="3657602"/>
            <a:ext cx="0" cy="3809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7962900" y="4114800"/>
            <a:ext cx="0" cy="9144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V="1">
            <a:off x="8153400" y="5105400"/>
            <a:ext cx="0" cy="43113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8496300" y="5562600"/>
            <a:ext cx="0" cy="56356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loud Callout 69"/>
          <p:cNvSpPr/>
          <p:nvPr/>
        </p:nvSpPr>
        <p:spPr>
          <a:xfrm>
            <a:off x="4648200" y="1219200"/>
            <a:ext cx="4038600" cy="838200"/>
          </a:xfrm>
          <a:prstGeom prst="cloudCallout">
            <a:avLst>
              <a:gd name="adj1" fmla="val -43842"/>
              <a:gd name="adj2" fmla="val 730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How does the structure formed by all the non-dominated point</a:t>
            </a:r>
            <a:r>
              <a:rPr lang="en-US" dirty="0">
                <a:solidFill>
                  <a:schemeClr val="tx1"/>
                </a:solidFill>
              </a:rPr>
              <a:t>s </a:t>
            </a:r>
            <a:r>
              <a:rPr lang="en-US" sz="1400" dirty="0">
                <a:solidFill>
                  <a:schemeClr val="tx1"/>
                </a:solidFill>
              </a:rPr>
              <a:t>look like ?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29400" y="2286000"/>
            <a:ext cx="2338845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 staircase structure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r>
              <a:rPr lang="en-US" dirty="0">
                <a:sym typeface="Wingdings" pitchFamily="2" charset="2"/>
              </a:rPr>
              <a:t>Prove it. </a:t>
            </a:r>
            <a:r>
              <a:rPr lang="en-US">
                <a:sym typeface="Wingdings" pitchFamily="2" charset="2"/>
              </a:rPr>
              <a:t>(Exercise) </a:t>
            </a:r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41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9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 simple </a:t>
            </a:r>
            <a:r>
              <a:rPr lang="en-US" sz="3600" b="1" dirty="0"/>
              <a:t>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Based on the fact: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 point with maximum x-coordinate is surely a non-dominated point</a:t>
            </a:r>
          </a:p>
        </p:txBody>
      </p:sp>
    </p:spTree>
    <p:extLst>
      <p:ext uri="{BB962C8B-B14F-4D97-AF65-F5344CB8AC3E}">
        <p14:creationId xmlns:p14="http://schemas.microsoft.com/office/powerpoint/2010/main" val="88105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 </a:t>
            </a:r>
            <a:r>
              <a:rPr lang="en-US" sz="4000" b="1" dirty="0">
                <a:solidFill>
                  <a:srgbClr val="7030A0"/>
                </a:solidFill>
              </a:rPr>
              <a:t>Simple Algorithm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343400" y="5562600"/>
            <a:ext cx="1371600" cy="228600"/>
            <a:chOff x="4343400" y="5562600"/>
            <a:chExt cx="1371600" cy="228600"/>
          </a:xfrm>
        </p:grpSpPr>
        <p:sp>
          <p:nvSpPr>
            <p:cNvPr id="62" name="Oval 61"/>
            <p:cNvSpPr/>
            <p:nvPr/>
          </p:nvSpPr>
          <p:spPr>
            <a:xfrm>
              <a:off x="5638800" y="55626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1" name="Oval 80"/>
            <p:cNvSpPr/>
            <p:nvPr/>
          </p:nvSpPr>
          <p:spPr>
            <a:xfrm>
              <a:off x="4343400" y="57150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00200" y="4114800"/>
            <a:ext cx="5410200" cy="762000"/>
            <a:chOff x="1600200" y="4114800"/>
            <a:chExt cx="5410200" cy="762000"/>
          </a:xfrm>
        </p:grpSpPr>
        <p:sp>
          <p:nvSpPr>
            <p:cNvPr id="37" name="Oval 36"/>
            <p:cNvSpPr/>
            <p:nvPr/>
          </p:nvSpPr>
          <p:spPr>
            <a:xfrm>
              <a:off x="16002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3276600" y="4495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6934200" y="4495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/>
            <p:cNvSpPr/>
            <p:nvPr/>
          </p:nvSpPr>
          <p:spPr>
            <a:xfrm>
              <a:off x="59436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/>
            <p:cNvSpPr/>
            <p:nvPr/>
          </p:nvSpPr>
          <p:spPr>
            <a:xfrm>
              <a:off x="2590800" y="48006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1" name="Oval 60"/>
            <p:cNvSpPr/>
            <p:nvPr/>
          </p:nvSpPr>
          <p:spPr>
            <a:xfrm>
              <a:off x="5486400" y="4495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7" name="Oval 76"/>
            <p:cNvSpPr/>
            <p:nvPr/>
          </p:nvSpPr>
          <p:spPr>
            <a:xfrm>
              <a:off x="36576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/>
            <p:cNvSpPr/>
            <p:nvPr/>
          </p:nvSpPr>
          <p:spPr>
            <a:xfrm>
              <a:off x="64008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/>
            <p:cNvSpPr/>
            <p:nvPr/>
          </p:nvSpPr>
          <p:spPr>
            <a:xfrm>
              <a:off x="2667000" y="4114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/>
            <p:cNvSpPr/>
            <p:nvPr/>
          </p:nvSpPr>
          <p:spPr>
            <a:xfrm>
              <a:off x="4876800" y="41910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371600" y="5029200"/>
            <a:ext cx="4800600" cy="381000"/>
            <a:chOff x="1371600" y="5029200"/>
            <a:chExt cx="4800600" cy="381000"/>
          </a:xfrm>
        </p:grpSpPr>
        <p:sp>
          <p:nvSpPr>
            <p:cNvPr id="41" name="Oval 40"/>
            <p:cNvSpPr/>
            <p:nvPr/>
          </p:nvSpPr>
          <p:spPr>
            <a:xfrm>
              <a:off x="6096000" y="51816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3124200" y="53340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/>
            <p:cNvSpPr/>
            <p:nvPr/>
          </p:nvSpPr>
          <p:spPr>
            <a:xfrm>
              <a:off x="1371600" y="5029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/>
            <p:cNvSpPr/>
            <p:nvPr/>
          </p:nvSpPr>
          <p:spPr>
            <a:xfrm>
              <a:off x="4191000" y="5105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152400" y="6126163"/>
            <a:ext cx="838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endCxn id="42" idx="3"/>
          </p:cNvCxnSpPr>
          <p:nvPr/>
        </p:nvCxnSpPr>
        <p:spPr>
          <a:xfrm>
            <a:off x="609600" y="1512841"/>
            <a:ext cx="11541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1790700" y="1512842"/>
            <a:ext cx="0" cy="5064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1790700" y="2019300"/>
            <a:ext cx="8112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2667000" y="2046242"/>
            <a:ext cx="0" cy="5064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3733800" y="2579642"/>
            <a:ext cx="0" cy="17471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endCxn id="85" idx="2"/>
          </p:cNvCxnSpPr>
          <p:nvPr/>
        </p:nvCxnSpPr>
        <p:spPr>
          <a:xfrm>
            <a:off x="2667000" y="2552700"/>
            <a:ext cx="9906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endCxn id="84" idx="1"/>
          </p:cNvCxnSpPr>
          <p:nvPr/>
        </p:nvCxnSpPr>
        <p:spPr>
          <a:xfrm>
            <a:off x="3733800" y="2754359"/>
            <a:ext cx="21447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5905500" y="3048000"/>
            <a:ext cx="5826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6515100" y="3657600"/>
            <a:ext cx="8001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7315200" y="4038600"/>
            <a:ext cx="6096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7962900" y="5029200"/>
            <a:ext cx="1905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8153400" y="5536532"/>
            <a:ext cx="3429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5905500" y="2819401"/>
            <a:ext cx="0" cy="22859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6553200" y="3124201"/>
            <a:ext cx="0" cy="53339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7315200" y="3657602"/>
            <a:ext cx="0" cy="3809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7962900" y="4114800"/>
            <a:ext cx="0" cy="9144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V="1">
            <a:off x="8153400" y="5105400"/>
            <a:ext cx="0" cy="43113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8496300" y="5562600"/>
            <a:ext cx="0" cy="56356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382000" y="5410200"/>
            <a:ext cx="228600" cy="25466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8077200" y="4953000"/>
            <a:ext cx="228600" cy="25466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Oval 90"/>
          <p:cNvSpPr/>
          <p:nvPr/>
        </p:nvSpPr>
        <p:spPr>
          <a:xfrm>
            <a:off x="7848600" y="3936332"/>
            <a:ext cx="228600" cy="25466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581607" y="1524000"/>
                <a:ext cx="2190793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h</m:t>
                    </m:r>
                  </m:oMath>
                </a14:m>
                <a:r>
                  <a:rPr lang="en-US" dirty="0"/>
                  <a:t>) time algorithm</a:t>
                </a:r>
                <a:endParaRPr lang="en-US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607" y="1524000"/>
                <a:ext cx="2190793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216" t="-6349" r="-415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524500" y="914400"/>
                <a:ext cx="3179525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h</m:t>
                    </m:r>
                  </m:oMath>
                </a14:m>
                <a:r>
                  <a:rPr lang="en-US" dirty="0"/>
                  <a:t> : no. of non-dominated points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0" y="914400"/>
                <a:ext cx="3179525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6349" r="-2481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27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70" grpId="0" animBg="1"/>
      <p:bldP spid="91" grpId="0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 Divide and Conquer </a:t>
            </a:r>
            <a:r>
              <a:rPr lang="en-US" sz="3600" b="1" dirty="0"/>
              <a:t>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47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 </a:t>
            </a:r>
            <a:r>
              <a:rPr lang="en-US" sz="4000" b="1" dirty="0">
                <a:solidFill>
                  <a:srgbClr val="7030A0"/>
                </a:solidFill>
              </a:rPr>
              <a:t>Divide and conquer </a:t>
            </a:r>
            <a:r>
              <a:rPr lang="en-US" sz="4000" b="1" dirty="0"/>
              <a:t>algorithm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276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36576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191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Straight Connector 47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152400" y="6126163"/>
            <a:ext cx="838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/>
          <p:cNvGrpSpPr/>
          <p:nvPr/>
        </p:nvGrpSpPr>
        <p:grpSpPr>
          <a:xfrm>
            <a:off x="685800" y="6096000"/>
            <a:ext cx="3810000" cy="688982"/>
            <a:chOff x="685800" y="5978652"/>
            <a:chExt cx="3810000" cy="688982"/>
          </a:xfrm>
        </p:grpSpPr>
        <p:sp>
          <p:nvSpPr>
            <p:cNvPr id="92" name="Right Brace 91"/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/>
                <p:cNvSpPr txBox="1"/>
                <p:nvPr/>
              </p:nvSpPr>
              <p:spPr>
                <a:xfrm>
                  <a:off x="2209800" y="6207252"/>
                  <a:ext cx="876650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3" name="Text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07252"/>
                  <a:ext cx="876650" cy="46038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r="-13287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/>
          <p:cNvGrpSpPr/>
          <p:nvPr/>
        </p:nvGrpSpPr>
        <p:grpSpPr>
          <a:xfrm>
            <a:off x="4648200" y="6096000"/>
            <a:ext cx="3810000" cy="688982"/>
            <a:chOff x="685800" y="5978652"/>
            <a:chExt cx="3810000" cy="688982"/>
          </a:xfrm>
        </p:grpSpPr>
        <p:sp>
          <p:nvSpPr>
            <p:cNvPr id="95" name="Right Brace 94"/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/>
                <p:cNvSpPr txBox="1"/>
                <p:nvPr/>
              </p:nvSpPr>
              <p:spPr>
                <a:xfrm>
                  <a:off x="2209800" y="6207252"/>
                  <a:ext cx="876650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6" name="TextBox 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07252"/>
                  <a:ext cx="876650" cy="46038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r="-13287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/>
          <p:cNvGrpSpPr/>
          <p:nvPr/>
        </p:nvGrpSpPr>
        <p:grpSpPr>
          <a:xfrm>
            <a:off x="609600" y="1512841"/>
            <a:ext cx="3798841" cy="4613322"/>
            <a:chOff x="609600" y="1512841"/>
            <a:chExt cx="3798841" cy="4613322"/>
          </a:xfrm>
        </p:grpSpPr>
        <p:grpSp>
          <p:nvGrpSpPr>
            <p:cNvPr id="5" name="Group 4"/>
            <p:cNvGrpSpPr/>
            <p:nvPr/>
          </p:nvGrpSpPr>
          <p:grpSpPr>
            <a:xfrm>
              <a:off x="609600" y="1512841"/>
              <a:ext cx="3124200" cy="2563859"/>
              <a:chOff x="609600" y="1512841"/>
              <a:chExt cx="3124200" cy="2563859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609600" y="1512841"/>
                <a:ext cx="115415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V="1">
                <a:off x="1790700" y="1512842"/>
                <a:ext cx="0" cy="50645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1790700" y="2019300"/>
                <a:ext cx="81125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V="1">
                <a:off x="2667000" y="2046242"/>
                <a:ext cx="0" cy="50645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V="1">
                <a:off x="3733800" y="2579643"/>
                <a:ext cx="0" cy="1497057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2667000" y="2552700"/>
                <a:ext cx="9906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8" name="Straight Connector 87"/>
            <p:cNvCxnSpPr/>
            <p:nvPr/>
          </p:nvCxnSpPr>
          <p:spPr>
            <a:xfrm>
              <a:off x="3733800" y="4038600"/>
              <a:ext cx="228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V="1">
              <a:off x="3962400" y="4065544"/>
              <a:ext cx="0" cy="107795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3962400" y="5143500"/>
              <a:ext cx="228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V="1">
              <a:off x="4267200" y="5170444"/>
              <a:ext cx="0" cy="58265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4267200" y="5753100"/>
              <a:ext cx="96253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endCxn id="81" idx="5"/>
            </p:cNvCxnSpPr>
            <p:nvPr/>
          </p:nvCxnSpPr>
          <p:spPr>
            <a:xfrm flipV="1">
              <a:off x="4408441" y="5780041"/>
              <a:ext cx="0" cy="34612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4572000" y="2781300"/>
            <a:ext cx="3924300" cy="3344864"/>
            <a:chOff x="4572000" y="2781300"/>
            <a:chExt cx="3924300" cy="3344864"/>
          </a:xfrm>
        </p:grpSpPr>
        <p:grpSp>
          <p:nvGrpSpPr>
            <p:cNvPr id="14" name="Group 13"/>
            <p:cNvGrpSpPr/>
            <p:nvPr/>
          </p:nvGrpSpPr>
          <p:grpSpPr>
            <a:xfrm>
              <a:off x="5905500" y="2819401"/>
              <a:ext cx="2590800" cy="3306763"/>
              <a:chOff x="5905500" y="2819401"/>
              <a:chExt cx="2590800" cy="3306763"/>
            </a:xfrm>
          </p:grpSpPr>
          <p:cxnSp>
            <p:nvCxnSpPr>
              <p:cNvPr id="101" name="Straight Connector 100"/>
              <p:cNvCxnSpPr/>
              <p:nvPr/>
            </p:nvCxnSpPr>
            <p:spPr>
              <a:xfrm>
                <a:off x="5905500" y="3048000"/>
                <a:ext cx="58265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6515100" y="3657600"/>
                <a:ext cx="8001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7315200" y="4038600"/>
                <a:ext cx="6096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7962900" y="5029200"/>
                <a:ext cx="1905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8153400" y="5536532"/>
                <a:ext cx="3429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V="1">
                <a:off x="5905500" y="2819401"/>
                <a:ext cx="0" cy="22859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flipV="1">
                <a:off x="6553200" y="3124201"/>
                <a:ext cx="0" cy="53339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V="1">
                <a:off x="7315200" y="3657602"/>
                <a:ext cx="0" cy="38099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 flipV="1">
                <a:off x="7962900" y="4114800"/>
                <a:ext cx="0" cy="914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V="1">
                <a:off x="8153400" y="5105400"/>
                <a:ext cx="0" cy="431132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 flipV="1">
                <a:off x="8496300" y="5562600"/>
                <a:ext cx="0" cy="563564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/>
            <p:cNvCxnSpPr>
              <a:endCxn id="84" idx="6"/>
            </p:cNvCxnSpPr>
            <p:nvPr/>
          </p:nvCxnSpPr>
          <p:spPr>
            <a:xfrm>
              <a:off x="4572000" y="2781300"/>
              <a:ext cx="1371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962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 </a:t>
            </a:r>
            <a:r>
              <a:rPr lang="en-US" sz="4000" b="1" dirty="0">
                <a:solidFill>
                  <a:srgbClr val="7030A0"/>
                </a:solidFill>
              </a:rPr>
              <a:t>Divide and conquer </a:t>
            </a:r>
            <a:r>
              <a:rPr lang="en-US" sz="4000" b="1" dirty="0"/>
              <a:t>algorithm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276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36576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191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Straight Connector 47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152400" y="6126163"/>
            <a:ext cx="838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/>
          <p:cNvGrpSpPr/>
          <p:nvPr/>
        </p:nvGrpSpPr>
        <p:grpSpPr>
          <a:xfrm>
            <a:off x="685800" y="6096000"/>
            <a:ext cx="3810000" cy="688982"/>
            <a:chOff x="685800" y="5867400"/>
            <a:chExt cx="3810000" cy="688982"/>
          </a:xfrm>
        </p:grpSpPr>
        <p:sp>
          <p:nvSpPr>
            <p:cNvPr id="92" name="Right Brace 91"/>
            <p:cNvSpPr/>
            <p:nvPr/>
          </p:nvSpPr>
          <p:spPr>
            <a:xfrm rot="5400000">
              <a:off x="2417826" y="4135374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/>
                <p:cNvSpPr txBox="1"/>
                <p:nvPr/>
              </p:nvSpPr>
              <p:spPr>
                <a:xfrm>
                  <a:off x="2209800" y="6096000"/>
                  <a:ext cx="876650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3" name="Text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096000"/>
                  <a:ext cx="876650" cy="46038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r="-13287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/>
          <p:cNvGrpSpPr/>
          <p:nvPr/>
        </p:nvGrpSpPr>
        <p:grpSpPr>
          <a:xfrm>
            <a:off x="4648200" y="6096000"/>
            <a:ext cx="3810000" cy="688982"/>
            <a:chOff x="685800" y="5867400"/>
            <a:chExt cx="3810000" cy="688982"/>
          </a:xfrm>
        </p:grpSpPr>
        <p:sp>
          <p:nvSpPr>
            <p:cNvPr id="95" name="Right Brace 94"/>
            <p:cNvSpPr/>
            <p:nvPr/>
          </p:nvSpPr>
          <p:spPr>
            <a:xfrm rot="5400000">
              <a:off x="2417826" y="4135374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/>
                <p:cNvSpPr txBox="1"/>
                <p:nvPr/>
              </p:nvSpPr>
              <p:spPr>
                <a:xfrm>
                  <a:off x="2209800" y="6096000"/>
                  <a:ext cx="876650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6" name="TextBox 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096000"/>
                  <a:ext cx="876650" cy="46038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r="-13287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/>
          <p:cNvGrpSpPr/>
          <p:nvPr/>
        </p:nvGrpSpPr>
        <p:grpSpPr>
          <a:xfrm>
            <a:off x="609600" y="1512841"/>
            <a:ext cx="3124200" cy="1268459"/>
            <a:chOff x="609600" y="1512841"/>
            <a:chExt cx="3124200" cy="1268459"/>
          </a:xfrm>
        </p:grpSpPr>
        <p:cxnSp>
          <p:nvCxnSpPr>
            <p:cNvPr id="69" name="Straight Connector 68"/>
            <p:cNvCxnSpPr/>
            <p:nvPr/>
          </p:nvCxnSpPr>
          <p:spPr>
            <a:xfrm>
              <a:off x="609600" y="1512841"/>
              <a:ext cx="1154159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1790700" y="1512842"/>
              <a:ext cx="0" cy="50645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1790700" y="2019300"/>
              <a:ext cx="811259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V="1">
              <a:off x="2667000" y="2046242"/>
              <a:ext cx="0" cy="50645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3733800" y="2579644"/>
              <a:ext cx="0" cy="20165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2667000" y="2552700"/>
              <a:ext cx="990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4572000" y="2781300"/>
            <a:ext cx="3924300" cy="3344864"/>
            <a:chOff x="4572000" y="2781300"/>
            <a:chExt cx="3924300" cy="3344864"/>
          </a:xfrm>
        </p:grpSpPr>
        <p:grpSp>
          <p:nvGrpSpPr>
            <p:cNvPr id="14" name="Group 13"/>
            <p:cNvGrpSpPr/>
            <p:nvPr/>
          </p:nvGrpSpPr>
          <p:grpSpPr>
            <a:xfrm>
              <a:off x="5905500" y="2819401"/>
              <a:ext cx="2590800" cy="3306763"/>
              <a:chOff x="5905500" y="2819401"/>
              <a:chExt cx="2590800" cy="3306763"/>
            </a:xfrm>
          </p:grpSpPr>
          <p:cxnSp>
            <p:nvCxnSpPr>
              <p:cNvPr id="101" name="Straight Connector 100"/>
              <p:cNvCxnSpPr/>
              <p:nvPr/>
            </p:nvCxnSpPr>
            <p:spPr>
              <a:xfrm>
                <a:off x="5905500" y="3048000"/>
                <a:ext cx="58265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6515100" y="3657600"/>
                <a:ext cx="8001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7315200" y="4038600"/>
                <a:ext cx="6096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7962900" y="5029200"/>
                <a:ext cx="1905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8153400" y="5536532"/>
                <a:ext cx="3429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V="1">
                <a:off x="5905500" y="2819401"/>
                <a:ext cx="0" cy="22859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flipV="1">
                <a:off x="6553200" y="3124201"/>
                <a:ext cx="0" cy="53339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V="1">
                <a:off x="7315200" y="3657602"/>
                <a:ext cx="0" cy="38099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 flipV="1">
                <a:off x="7962900" y="4114800"/>
                <a:ext cx="0" cy="914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V="1">
                <a:off x="8153400" y="5105400"/>
                <a:ext cx="0" cy="431132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 flipV="1">
                <a:off x="8496300" y="5562600"/>
                <a:ext cx="0" cy="563564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/>
            <p:cNvCxnSpPr>
              <a:endCxn id="84" idx="6"/>
            </p:cNvCxnSpPr>
            <p:nvPr/>
          </p:nvCxnSpPr>
          <p:spPr>
            <a:xfrm>
              <a:off x="4572000" y="2781300"/>
              <a:ext cx="1371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Straight Connector 112"/>
          <p:cNvCxnSpPr/>
          <p:nvPr/>
        </p:nvCxnSpPr>
        <p:spPr>
          <a:xfrm>
            <a:off x="3733800" y="2767263"/>
            <a:ext cx="8382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3733800" y="2732044"/>
            <a:ext cx="674641" cy="3394119"/>
            <a:chOff x="3733800" y="2732044"/>
            <a:chExt cx="674641" cy="3394119"/>
          </a:xfrm>
        </p:grpSpPr>
        <p:cxnSp>
          <p:nvCxnSpPr>
            <p:cNvPr id="88" name="Straight Connector 87"/>
            <p:cNvCxnSpPr/>
            <p:nvPr/>
          </p:nvCxnSpPr>
          <p:spPr>
            <a:xfrm>
              <a:off x="3733800" y="4038600"/>
              <a:ext cx="228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V="1">
              <a:off x="3962400" y="4065544"/>
              <a:ext cx="0" cy="107795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3962400" y="5143500"/>
              <a:ext cx="228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V="1">
              <a:off x="4267200" y="5170444"/>
              <a:ext cx="0" cy="58265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4267200" y="5753100"/>
              <a:ext cx="96253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endCxn id="81" idx="5"/>
            </p:cNvCxnSpPr>
            <p:nvPr/>
          </p:nvCxnSpPr>
          <p:spPr>
            <a:xfrm flipV="1">
              <a:off x="4408441" y="5780041"/>
              <a:ext cx="0" cy="34612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3733800" y="2732044"/>
              <a:ext cx="0" cy="133350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4724400" y="1219200"/>
                <a:ext cx="1638300" cy="489466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i="1" dirty="0">
                    <a:solidFill>
                      <a:schemeClr val="tx1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219200"/>
                <a:ext cx="1638300" cy="489466"/>
              </a:xfrm>
              <a:prstGeom prst="roundRect">
                <a:avLst/>
              </a:prstGeom>
              <a:blipFill rotWithShape="1"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ounded Rectangle 114"/>
              <p:cNvSpPr/>
              <p:nvPr/>
            </p:nvSpPr>
            <p:spPr>
              <a:xfrm>
                <a:off x="4724400" y="1981200"/>
                <a:ext cx="1638300" cy="45720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i="1" dirty="0">
                    <a:solidFill>
                      <a:schemeClr val="tx1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5" name="Rounded Rectangle 1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981200"/>
                <a:ext cx="1638300" cy="457200"/>
              </a:xfrm>
              <a:prstGeom prst="roundRect">
                <a:avLst/>
              </a:prstGeom>
              <a:blipFill rotWithShape="1">
                <a:blip r:embed="rId4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ounded Rectangle 115"/>
              <p:cNvSpPr/>
              <p:nvPr/>
            </p:nvSpPr>
            <p:spPr>
              <a:xfrm>
                <a:off x="7505700" y="1600200"/>
                <a:ext cx="1638300" cy="489466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i="1" dirty="0">
                    <a:solidFill>
                      <a:schemeClr val="tx1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Rounded 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700" y="1600200"/>
                <a:ext cx="1638300" cy="489466"/>
              </a:xfrm>
              <a:prstGeom prst="roundRect">
                <a:avLst/>
              </a:prstGeom>
              <a:blipFill rotWithShape="1">
                <a:blip r:embed="rId5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Up Arrow 8"/>
          <p:cNvSpPr/>
          <p:nvPr/>
        </p:nvSpPr>
        <p:spPr>
          <a:xfrm rot="5400000">
            <a:off x="6705600" y="1353312"/>
            <a:ext cx="484632" cy="978408"/>
          </a:xfrm>
          <a:prstGeom prst="up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9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5" grpId="0" animBg="1"/>
      <p:bldP spid="116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sz="40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exists an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>
                    <a:sym typeface="Wingdings" pitchFamily="2" charset="2"/>
                  </a:rPr>
                  <a:t>) time </a:t>
                </a:r>
                <a:r>
                  <a:rPr lang="en-US" sz="2000" dirty="0"/>
                  <a:t>algorithm  to compute </a:t>
                </a:r>
                <a:r>
                  <a:rPr lang="en-US" sz="2000" b="1" dirty="0"/>
                  <a:t>non-dominated</a:t>
                </a:r>
                <a:r>
                  <a:rPr lang="en-US" sz="2000" dirty="0"/>
                  <a:t> points in a plane.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b="1" dirty="0"/>
                  <a:t>: 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Complete the </a:t>
                </a:r>
                <a:r>
                  <a:rPr lang="en-US" sz="2000" dirty="0" err="1"/>
                  <a:t>pseudocode</a:t>
                </a:r>
                <a:r>
                  <a:rPr lang="en-US" sz="2000" dirty="0"/>
                  <a:t> of the divide and conquer algorithm.</a:t>
                </a:r>
                <a:r>
                  <a:rPr lang="en-US" sz="2000" dirty="0">
                    <a:sym typeface="Wingdings" pitchFamily="2" charset="2"/>
                  </a:rPr>
                  <a:t> </a:t>
                </a:r>
              </a:p>
              <a:p>
                <a:pPr marL="457200" indent="-457200">
                  <a:buAutoNum type="arabicPeriod"/>
                </a:pPr>
                <a:endParaRPr lang="en-US" sz="2000" dirty="0">
                  <a:sym typeface="Wingdings" pitchFamily="2" charset="2"/>
                </a:endParaRPr>
              </a:p>
              <a:p>
                <a:pPr marL="457200" indent="-457200">
                  <a:buAutoNum type="arabicPeriod"/>
                </a:pPr>
                <a:r>
                  <a:rPr lang="en-US" sz="2000" dirty="0">
                    <a:sym typeface="Wingdings" pitchFamily="2" charset="2"/>
                  </a:rPr>
                  <a:t>Extension to 3-dimensions.</a:t>
                </a:r>
              </a:p>
              <a:p>
                <a:pPr marL="457200" indent="-457200">
                  <a:buAutoNum type="arabicPeriod"/>
                </a:pPr>
                <a:endParaRPr lang="en-US" sz="2000" dirty="0">
                  <a:sym typeface="Wingdings" pitchFamily="2" charset="2"/>
                </a:endParaRPr>
              </a:p>
              <a:p>
                <a:pPr marL="457200" indent="-457200">
                  <a:buAutoNum type="arabicPeriod"/>
                </a:pPr>
                <a:r>
                  <a:rPr lang="en-US" sz="2000" dirty="0">
                    <a:sym typeface="Wingdings" pitchFamily="2" charset="2"/>
                  </a:rPr>
                  <a:t>Combine the two algorithms to design an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h</m:t>
                        </m:r>
                      </m:e>
                    </m:func>
                  </m:oMath>
                </a14:m>
                <a:r>
                  <a:rPr lang="en-US" sz="2000" dirty="0">
                    <a:sym typeface="Wingdings" pitchFamily="2" charset="2"/>
                  </a:rPr>
                  <a:t>) time algorithm.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309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3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6044</TotalTime>
  <Words>1299</Words>
  <Application>Microsoft Macintosh PowerPoint</Application>
  <PresentationFormat>On-screen Show (4:3)</PresentationFormat>
  <Paragraphs>265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 Math</vt:lpstr>
      <vt:lpstr>Wingdings</vt:lpstr>
      <vt:lpstr>Office Theme</vt:lpstr>
      <vt:lpstr>Design and Analysis of Algorithms CS345 </vt:lpstr>
      <vt:lpstr>Recap from Lecture 1</vt:lpstr>
      <vt:lpstr>The Closest Pair Problem</vt:lpstr>
      <vt:lpstr>The divide and conquer</vt:lpstr>
      <vt:lpstr>The divide and conquer</vt:lpstr>
      <vt:lpstr>Divide and Conquer based algorithm </vt:lpstr>
      <vt:lpstr>Running time of the algorithm</vt:lpstr>
      <vt:lpstr>The conquer step in O(n) time </vt:lpstr>
      <vt:lpstr>The conquer step in O(n) time </vt:lpstr>
      <vt:lpstr>The conquer step in O(n) time </vt:lpstr>
      <vt:lpstr>The conquer step in O(n) time </vt:lpstr>
      <vt:lpstr>The conquer step in O(n) time </vt:lpstr>
      <vt:lpstr>Inspiration from Merge sort </vt:lpstr>
      <vt:lpstr>The conquer step in O(n) time </vt:lpstr>
      <vt:lpstr>Divide and Conquer based algorithm  </vt:lpstr>
      <vt:lpstr>PowerPoint Presentation</vt:lpstr>
      <vt:lpstr>Convex Hull</vt:lpstr>
      <vt:lpstr>The Convex hull Problem </vt:lpstr>
      <vt:lpstr>A simple exercise</vt:lpstr>
      <vt:lpstr>Divide and Conquer algorithm </vt:lpstr>
      <vt:lpstr>PowerPoint Presentation</vt:lpstr>
      <vt:lpstr>Non-dominated Points</vt:lpstr>
      <vt:lpstr>The Non Dominated Points </vt:lpstr>
      <vt:lpstr>The Non Dominated Points </vt:lpstr>
      <vt:lpstr>The Non Dominated Points </vt:lpstr>
      <vt:lpstr>A simple algorithm</vt:lpstr>
      <vt:lpstr>A Simple Algorithm </vt:lpstr>
      <vt:lpstr>A Divide and Conquer algorithm</vt:lpstr>
      <vt:lpstr>A Divide and conquer algorithm </vt:lpstr>
      <vt:lpstr>A Divide and conquer algorithm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610</cp:revision>
  <dcterms:created xsi:type="dcterms:W3CDTF">2011-12-03T04:13:03Z</dcterms:created>
  <dcterms:modified xsi:type="dcterms:W3CDTF">2026-08-03T02:36:07Z</dcterms:modified>
</cp:coreProperties>
</file>