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274" r:id="rId2"/>
    <p:sldId id="496" r:id="rId3"/>
    <p:sldId id="560" r:id="rId4"/>
    <p:sldId id="517" r:id="rId5"/>
    <p:sldId id="499" r:id="rId6"/>
    <p:sldId id="526" r:id="rId7"/>
    <p:sldId id="503" r:id="rId8"/>
    <p:sldId id="505" r:id="rId9"/>
    <p:sldId id="547" r:id="rId10"/>
    <p:sldId id="555" r:id="rId11"/>
    <p:sldId id="509" r:id="rId12"/>
    <p:sldId id="524" r:id="rId13"/>
    <p:sldId id="501" r:id="rId14"/>
    <p:sldId id="518" r:id="rId15"/>
    <p:sldId id="507" r:id="rId16"/>
    <p:sldId id="502" r:id="rId17"/>
    <p:sldId id="512" r:id="rId18"/>
    <p:sldId id="510" r:id="rId19"/>
    <p:sldId id="527" r:id="rId20"/>
    <p:sldId id="532" r:id="rId21"/>
    <p:sldId id="545" r:id="rId22"/>
    <p:sldId id="544" r:id="rId23"/>
    <p:sldId id="546" r:id="rId24"/>
    <p:sldId id="536" r:id="rId25"/>
    <p:sldId id="549" r:id="rId26"/>
    <p:sldId id="559" r:id="rId27"/>
    <p:sldId id="558" r:id="rId28"/>
    <p:sldId id="551" r:id="rId29"/>
    <p:sldId id="552" r:id="rId30"/>
    <p:sldId id="553" r:id="rId31"/>
    <p:sldId id="554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 autoAdjust="0"/>
    <p:restoredTop sz="94673" autoAdjust="0"/>
  </p:normalViewPr>
  <p:slideViewPr>
    <p:cSldViewPr>
      <p:cViewPr varScale="1">
        <p:scale>
          <a:sx n="115" d="100"/>
          <a:sy n="115" d="100"/>
        </p:scale>
        <p:origin x="196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addSld delSld modSld">
      <pc:chgData name="Raghunath Tewari" userId="2638bdda-d406-4938-a2a6-e4e967acb772" providerId="ADAL" clId="{5BB0A526-9D3F-5694-B192-877B52D1FAF9}" dt="2026-09-08T16:59:28.917" v="1"/>
      <pc:docMkLst>
        <pc:docMk/>
      </pc:docMkLst>
      <pc:sldChg chg="del">
        <pc:chgData name="Raghunath Tewari" userId="2638bdda-d406-4938-a2a6-e4e967acb772" providerId="ADAL" clId="{5BB0A526-9D3F-5694-B192-877B52D1FAF9}" dt="2026-09-08T16:59:24.741" v="0" actId="2696"/>
        <pc:sldMkLst>
          <pc:docMk/>
          <pc:sldMk cId="2750982367" sldId="525"/>
        </pc:sldMkLst>
      </pc:sldChg>
      <pc:sldChg chg="add">
        <pc:chgData name="Raghunath Tewari" userId="2638bdda-d406-4938-a2a6-e4e967acb772" providerId="ADAL" clId="{5BB0A526-9D3F-5694-B192-877B52D1FAF9}" dt="2026-09-08T16:59:28.917" v="1"/>
        <pc:sldMkLst>
          <pc:docMk/>
          <pc:sldMk cId="2757125729" sldId="5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28B6ACE-7DA9-451D-B4FE-F8D8CCE413A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70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0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0" Type="http://schemas.openxmlformats.org/officeDocument/2006/relationships/image" Target="../media/image33.png"/><Relationship Id="rId4" Type="http://schemas.openxmlformats.org/officeDocument/2006/relationships/image" Target="../media/image270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3" Type="http://schemas.openxmlformats.org/officeDocument/2006/relationships/image" Target="../media/image2600.png"/><Relationship Id="rId7" Type="http://schemas.openxmlformats.org/officeDocument/2006/relationships/image" Target="../media/image301.png"/><Relationship Id="rId12" Type="http://schemas.openxmlformats.org/officeDocument/2006/relationships/image" Target="../media/image3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0.png"/><Relationship Id="rId5" Type="http://schemas.openxmlformats.org/officeDocument/2006/relationships/image" Target="../media/image2800.png"/><Relationship Id="rId10" Type="http://schemas.openxmlformats.org/officeDocument/2006/relationships/image" Target="../media/image330.png"/><Relationship Id="rId4" Type="http://schemas.openxmlformats.org/officeDocument/2006/relationships/image" Target="../media/image2700.png"/><Relationship Id="rId9" Type="http://schemas.openxmlformats.org/officeDocument/2006/relationships/image" Target="../media/image3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3" Type="http://schemas.openxmlformats.org/officeDocument/2006/relationships/image" Target="../media/image2600.png"/><Relationship Id="rId7" Type="http://schemas.openxmlformats.org/officeDocument/2006/relationships/image" Target="../media/image301.png"/><Relationship Id="rId12" Type="http://schemas.openxmlformats.org/officeDocument/2006/relationships/image" Target="../media/image3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0.png"/><Relationship Id="rId5" Type="http://schemas.openxmlformats.org/officeDocument/2006/relationships/image" Target="../media/image2800.png"/><Relationship Id="rId10" Type="http://schemas.openxmlformats.org/officeDocument/2006/relationships/image" Target="../media/image330.png"/><Relationship Id="rId4" Type="http://schemas.openxmlformats.org/officeDocument/2006/relationships/image" Target="../media/image2700.png"/><Relationship Id="rId9" Type="http://schemas.openxmlformats.org/officeDocument/2006/relationships/image" Target="../media/image3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3" Type="http://schemas.openxmlformats.org/officeDocument/2006/relationships/image" Target="../media/image2600.png"/><Relationship Id="rId7" Type="http://schemas.openxmlformats.org/officeDocument/2006/relationships/image" Target="../media/image301.png"/><Relationship Id="rId12" Type="http://schemas.openxmlformats.org/officeDocument/2006/relationships/image" Target="../media/image3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0.png"/><Relationship Id="rId5" Type="http://schemas.openxmlformats.org/officeDocument/2006/relationships/image" Target="../media/image2800.png"/><Relationship Id="rId10" Type="http://schemas.openxmlformats.org/officeDocument/2006/relationships/image" Target="../media/image330.png"/><Relationship Id="rId4" Type="http://schemas.openxmlformats.org/officeDocument/2006/relationships/image" Target="../media/image2700.png"/><Relationship Id="rId9" Type="http://schemas.openxmlformats.org/officeDocument/2006/relationships/image" Target="../media/image3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90.png"/><Relationship Id="rId3" Type="http://schemas.openxmlformats.org/officeDocument/2006/relationships/image" Target="../media/image2600.png"/><Relationship Id="rId7" Type="http://schemas.openxmlformats.org/officeDocument/2006/relationships/image" Target="../media/image301.png"/><Relationship Id="rId12" Type="http://schemas.openxmlformats.org/officeDocument/2006/relationships/image" Target="../media/image3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0.png"/><Relationship Id="rId5" Type="http://schemas.openxmlformats.org/officeDocument/2006/relationships/image" Target="../media/image2800.png"/><Relationship Id="rId10" Type="http://schemas.openxmlformats.org/officeDocument/2006/relationships/image" Target="../media/image330.png"/><Relationship Id="rId4" Type="http://schemas.openxmlformats.org/officeDocument/2006/relationships/image" Target="../media/image2700.png"/><Relationship Id="rId9" Type="http://schemas.openxmlformats.org/officeDocument/2006/relationships/image" Target="../media/image320.png"/><Relationship Id="rId1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80.png"/><Relationship Id="rId3" Type="http://schemas.openxmlformats.org/officeDocument/2006/relationships/image" Target="../media/image2600.png"/><Relationship Id="rId7" Type="http://schemas.openxmlformats.org/officeDocument/2006/relationships/image" Target="../media/image301.png"/><Relationship Id="rId1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0.png"/><Relationship Id="rId5" Type="http://schemas.openxmlformats.org/officeDocument/2006/relationships/image" Target="../media/image2800.png"/><Relationship Id="rId10" Type="http://schemas.openxmlformats.org/officeDocument/2006/relationships/image" Target="../media/image330.png"/><Relationship Id="rId4" Type="http://schemas.openxmlformats.org/officeDocument/2006/relationships/image" Target="../media/image270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80.png"/><Relationship Id="rId3" Type="http://schemas.openxmlformats.org/officeDocument/2006/relationships/image" Target="../media/image2600.png"/><Relationship Id="rId7" Type="http://schemas.openxmlformats.org/officeDocument/2006/relationships/image" Target="../media/image301.png"/><Relationship Id="rId12" Type="http://schemas.openxmlformats.org/officeDocument/2006/relationships/image" Target="../media/image35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0.png"/><Relationship Id="rId5" Type="http://schemas.openxmlformats.org/officeDocument/2006/relationships/image" Target="../media/image2800.png"/><Relationship Id="rId10" Type="http://schemas.openxmlformats.org/officeDocument/2006/relationships/image" Target="../media/image330.png"/><Relationship Id="rId4" Type="http://schemas.openxmlformats.org/officeDocument/2006/relationships/image" Target="../media/image270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2" Type="http://schemas.openxmlformats.org/officeDocument/2006/relationships/image" Target="../media/image7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57.png"/><Relationship Id="rId14" Type="http://schemas.openxmlformats.org/officeDocument/2006/relationships/image" Target="../media/image41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21" Type="http://schemas.openxmlformats.org/officeDocument/2006/relationships/image" Target="../media/image13.png"/><Relationship Id="rId12" Type="http://schemas.openxmlformats.org/officeDocument/2006/relationships/image" Target="../media/image380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70.png"/><Relationship Id="rId19" Type="http://schemas.openxmlformats.org/officeDocument/2006/relationships/image" Target="../media/image411.png"/><Relationship Id="rId1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0.png"/><Relationship Id="rId9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3.png"/><Relationship Id="rId7" Type="http://schemas.openxmlformats.org/officeDocument/2006/relationships/image" Target="../media/image50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10" Type="http://schemas.openxmlformats.org/officeDocument/2006/relationships/image" Target="../media/image140.png"/><Relationship Id="rId4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7" Type="http://schemas.openxmlformats.org/officeDocument/2006/relationships/image" Target="../media/image50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5" Type="http://schemas.openxmlformats.org/officeDocument/2006/relationships/image" Target="../media/image55.png"/><Relationship Id="rId4" Type="http://schemas.openxmlformats.org/officeDocument/2006/relationships/image" Target="../media/image570.png"/><Relationship Id="rId9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61.png"/><Relationship Id="rId12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23.png"/><Relationship Id="rId5" Type="http://schemas.openxmlformats.org/officeDocument/2006/relationships/image" Target="../media/image40.png"/><Relationship Id="rId10" Type="http://schemas.openxmlformats.org/officeDocument/2006/relationships/image" Target="../media/image22.png"/><Relationship Id="rId4" Type="http://schemas.openxmlformats.org/officeDocument/2006/relationships/image" Target="../media/image300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5.png"/><Relationship Id="rId3" Type="http://schemas.openxmlformats.org/officeDocument/2006/relationships/image" Target="../media/image300.png"/><Relationship Id="rId7" Type="http://schemas.openxmlformats.org/officeDocument/2006/relationships/image" Target="../media/image71.png"/><Relationship Id="rId12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23.png"/><Relationship Id="rId5" Type="http://schemas.openxmlformats.org/officeDocument/2006/relationships/image" Target="../media/image50.png"/><Relationship Id="rId10" Type="http://schemas.openxmlformats.org/officeDocument/2006/relationships/image" Target="../media/image22.png"/><Relationship Id="rId4" Type="http://schemas.openxmlformats.org/officeDocument/2006/relationships/image" Target="../media/image40.png"/><Relationship Id="rId9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12" Type="http://schemas.openxmlformats.org/officeDocument/2006/relationships/image" Target="../media/image17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0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Relationship Id="rId4" Type="http://schemas.openxmlformats.org/officeDocument/2006/relationships/image" Target="../media/image100.png"/><Relationship Id="rId1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17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0.png"/><Relationship Id="rId10" Type="http://schemas.openxmlformats.org/officeDocument/2006/relationships/image" Target="../media/image15.png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12" Type="http://schemas.openxmlformats.org/officeDocument/2006/relationships/image" Target="../media/image17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60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0.png"/><Relationship Id="rId9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201.png"/><Relationship Id="rId21" Type="http://schemas.openxmlformats.org/officeDocument/2006/relationships/image" Target="../media/image410.png"/><Relationship Id="rId12" Type="http://schemas.openxmlformats.org/officeDocument/2006/relationships/image" Target="../media/image39.png"/><Relationship Id="rId17" Type="http://schemas.openxmlformats.org/officeDocument/2006/relationships/image" Target="../media/image41.png"/><Relationship Id="rId2" Type="http://schemas.openxmlformats.org/officeDocument/2006/relationships/image" Target="../media/image16.png"/><Relationship Id="rId16" Type="http://schemas.openxmlformats.org/officeDocument/2006/relationships/image" Target="../media/image191.png"/><Relationship Id="rId20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70.png"/><Relationship Id="rId15" Type="http://schemas.openxmlformats.org/officeDocument/2006/relationships/image" Target="../media/image18.png"/><Relationship Id="rId10" Type="http://schemas.openxmlformats.org/officeDocument/2006/relationships/image" Target="../media/image160.png"/><Relationship Id="rId19" Type="http://schemas.openxmlformats.org/officeDocument/2006/relationships/image" Target="../media/image220.png"/><Relationship Id="rId9" Type="http://schemas.openxmlformats.org/officeDocument/2006/relationships/image" Target="../media/image15.png"/><Relationship Id="rId1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201.png"/><Relationship Id="rId12" Type="http://schemas.openxmlformats.org/officeDocument/2006/relationships/image" Target="../media/image200.png"/><Relationship Id="rId17" Type="http://schemas.openxmlformats.org/officeDocument/2006/relationships/image" Target="../media/image191.png"/><Relationship Id="rId2" Type="http://schemas.openxmlformats.org/officeDocument/2006/relationships/image" Target="../media/image230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70.png"/><Relationship Id="rId15" Type="http://schemas.openxmlformats.org/officeDocument/2006/relationships/image" Target="../media/image7.png"/><Relationship Id="rId10" Type="http://schemas.openxmlformats.org/officeDocument/2006/relationships/image" Target="../media/image160.png"/><Relationship Id="rId19" Type="http://schemas.openxmlformats.org/officeDocument/2006/relationships/image" Target="../media/image220.png"/><Relationship Id="rId9" Type="http://schemas.openxmlformats.org/officeDocument/2006/relationships/image" Target="../media/image15.png"/><Relationship Id="rId1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905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br>
              <a:rPr lang="en-US" sz="3200" b="1" dirty="0">
                <a:solidFill>
                  <a:srgbClr val="C00000"/>
                </a:solidFill>
              </a:rPr>
            </a:b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16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7030A0"/>
                </a:solidFill>
              </a:rPr>
              <a:t>Dynamic Programming – III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 err="1">
                <a:solidFill>
                  <a:schemeClr val="tx1"/>
                </a:solidFill>
              </a:rPr>
              <a:t>Bitonic</a:t>
            </a:r>
            <a:r>
              <a:rPr lang="en-US" sz="2000" b="1" dirty="0">
                <a:solidFill>
                  <a:schemeClr val="tx1"/>
                </a:solidFill>
              </a:rPr>
              <a:t> Tour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Shortest Paths in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907263" y="5519058"/>
            <a:ext cx="2853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/>
              <a:t>with </a:t>
            </a:r>
            <a:r>
              <a:rPr lang="en-US" b="1" dirty="0">
                <a:solidFill>
                  <a:srgbClr val="FF0000"/>
                </a:solidFill>
              </a:rPr>
              <a:t>negative </a:t>
            </a:r>
            <a:r>
              <a:rPr lang="en-US" b="1" dirty="0"/>
              <a:t>edge weights.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 err="1">
                <a:solidFill>
                  <a:srgbClr val="7030A0"/>
                </a:solidFill>
              </a:rPr>
              <a:t>Bitonic</a:t>
            </a:r>
            <a:r>
              <a:rPr lang="en-US" sz="3200" dirty="0">
                <a:solidFill>
                  <a:srgbClr val="7030A0"/>
                </a:solidFill>
              </a:rPr>
              <a:t> tour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8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A tour is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𝑏𝑖𝑡𝑜𝑛𝑖𝑐</m:t>
                    </m:r>
                  </m:oMath>
                </a14:m>
                <a:r>
                  <a:rPr lang="en-US" sz="2000" dirty="0"/>
                  <a:t> if every vertical line cuts the tour exactly twice, except for the two extreme points.</a:t>
                </a: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</a:t>
                </a:r>
                <a:r>
                  <a:rPr lang="en-US" sz="2000" b="1" dirty="0"/>
                  <a:t> of a tour</a:t>
                </a:r>
                <a:r>
                  <a:rPr lang="en-US" sz="2000" dirty="0"/>
                  <a:t>: Total distance traveled. 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>
                <a:blip r:embed="rId2"/>
                <a:stretch>
                  <a:fillRect l="-772" t="-787" b="-15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Arrow 1"/>
          <p:cNvSpPr/>
          <p:nvPr/>
        </p:nvSpPr>
        <p:spPr>
          <a:xfrm>
            <a:off x="5486400" y="2133600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Arrow 51"/>
          <p:cNvSpPr/>
          <p:nvPr/>
        </p:nvSpPr>
        <p:spPr>
          <a:xfrm rot="10800000">
            <a:off x="3773874" y="4725309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49577" y="1676400"/>
            <a:ext cx="305984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2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uiExpand="1" animBg="1"/>
      <p:bldP spid="2" grpId="1" uiExpand="1" animBg="1"/>
      <p:bldP spid="52" grpId="0" uiExpand="1" animBg="1"/>
      <p:bldP spid="52" grpId="1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</a:t>
                </a:r>
                <a:r>
                  <a:rPr lang="en-US" sz="2000" b="1" dirty="0"/>
                  <a:t> of a tour</a:t>
                </a:r>
                <a:r>
                  <a:rPr lang="en-US" sz="2000" dirty="0"/>
                  <a:t>: Total distance traveled. 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  <a:blipFill rotWithShape="1">
                <a:blip r:embed="rId2"/>
                <a:stretch>
                  <a:fillRect l="-741" t="-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8" idx="0"/>
          </p:cNvCxnSpPr>
          <p:nvPr/>
        </p:nvCxnSpPr>
        <p:spPr>
          <a:xfrm>
            <a:off x="4974685" y="2376845"/>
            <a:ext cx="2035715" cy="79426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12" idx="2"/>
            <a:endCxn id="15" idx="7"/>
          </p:cNvCxnSpPr>
          <p:nvPr/>
        </p:nvCxnSpPr>
        <p:spPr>
          <a:xfrm flipH="1" flipV="1">
            <a:off x="4032338" y="2830559"/>
            <a:ext cx="1382759" cy="10016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1"/>
            <a:endCxn id="24" idx="7"/>
          </p:cNvCxnSpPr>
          <p:nvPr/>
        </p:nvCxnSpPr>
        <p:spPr>
          <a:xfrm flipH="1">
            <a:off x="2965538" y="2830559"/>
            <a:ext cx="1012918" cy="762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6"/>
            <a:endCxn id="21" idx="1"/>
          </p:cNvCxnSpPr>
          <p:nvPr/>
        </p:nvCxnSpPr>
        <p:spPr>
          <a:xfrm>
            <a:off x="3352800" y="4000500"/>
            <a:ext cx="930456" cy="274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21" idx="6"/>
          </p:cNvCxnSpPr>
          <p:nvPr/>
        </p:nvCxnSpPr>
        <p:spPr>
          <a:xfrm flipH="1">
            <a:off x="4348297" y="4188023"/>
            <a:ext cx="1409700" cy="114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33" idx="7"/>
            <a:endCxn id="30" idx="3"/>
          </p:cNvCxnSpPr>
          <p:nvPr/>
        </p:nvCxnSpPr>
        <p:spPr>
          <a:xfrm flipV="1">
            <a:off x="5784938" y="3643464"/>
            <a:ext cx="479518" cy="5557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ine Callout 1 45"/>
          <p:cNvSpPr/>
          <p:nvPr/>
        </p:nvSpPr>
        <p:spPr>
          <a:xfrm>
            <a:off x="7010400" y="2057400"/>
            <a:ext cx="1828800" cy="612648"/>
          </a:xfrm>
          <a:prstGeom prst="borderCallout1">
            <a:avLst>
              <a:gd name="adj1" fmla="val 52510"/>
              <a:gd name="adj2" fmla="val 0"/>
              <a:gd name="adj3" fmla="val 146260"/>
              <a:gd name="adj4" fmla="val -32381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Not </a:t>
            </a:r>
            <a:r>
              <a:rPr lang="en-US" dirty="0" err="1">
                <a:solidFill>
                  <a:srgbClr val="C00000"/>
                </a:solidFill>
              </a:rPr>
              <a:t>bitonic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35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</a:t>
                </a:r>
                <a:r>
                  <a:rPr lang="en-US" sz="2000" b="1" dirty="0"/>
                  <a:t> of a tour</a:t>
                </a:r>
                <a:r>
                  <a:rPr lang="en-US" sz="2000" dirty="0"/>
                  <a:t>: Total distance traveled.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compute the least cost </a:t>
                </a:r>
                <a:r>
                  <a:rPr lang="en-US" sz="2000" b="1" dirty="0" err="1"/>
                  <a:t>Bitonic</a:t>
                </a:r>
                <a:r>
                  <a:rPr lang="en-US" sz="2000" dirty="0"/>
                  <a:t> tour.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181600"/>
              </a:xfrm>
              <a:blipFill rotWithShape="1">
                <a:blip r:embed="rId2"/>
                <a:stretch>
                  <a:fillRect l="-741" t="-824" b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30" idx="7"/>
          </p:cNvCxnSpPr>
          <p:nvPr/>
        </p:nvCxnSpPr>
        <p:spPr>
          <a:xfrm flipV="1">
            <a:off x="6318338" y="3171111"/>
            <a:ext cx="692062" cy="41847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15" idx="7"/>
          </p:cNvCxnSpPr>
          <p:nvPr/>
        </p:nvCxnSpPr>
        <p:spPr>
          <a:xfrm flipH="1">
            <a:off x="4032338" y="2351041"/>
            <a:ext cx="849360" cy="4795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1"/>
            <a:endCxn id="24" idx="7"/>
          </p:cNvCxnSpPr>
          <p:nvPr/>
        </p:nvCxnSpPr>
        <p:spPr>
          <a:xfrm flipH="1">
            <a:off x="2965538" y="2830559"/>
            <a:ext cx="1012918" cy="762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6"/>
            <a:endCxn id="21" idx="1"/>
          </p:cNvCxnSpPr>
          <p:nvPr/>
        </p:nvCxnSpPr>
        <p:spPr>
          <a:xfrm>
            <a:off x="3352800" y="4000500"/>
            <a:ext cx="930456" cy="2748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21" idx="6"/>
          </p:cNvCxnSpPr>
          <p:nvPr/>
        </p:nvCxnSpPr>
        <p:spPr>
          <a:xfrm flipH="1">
            <a:off x="4348297" y="4188023"/>
            <a:ext cx="1409700" cy="114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12" idx="5"/>
            <a:endCxn id="30" idx="1"/>
          </p:cNvCxnSpPr>
          <p:nvPr/>
        </p:nvCxnSpPr>
        <p:spPr>
          <a:xfrm>
            <a:off x="5480138" y="2957664"/>
            <a:ext cx="784318" cy="6319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3" idx="7"/>
            <a:endCxn id="39" idx="3"/>
          </p:cNvCxnSpPr>
          <p:nvPr/>
        </p:nvCxnSpPr>
        <p:spPr>
          <a:xfrm flipV="1">
            <a:off x="5784938" y="3795864"/>
            <a:ext cx="2003518" cy="4033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Line Callout 1 49"/>
          <p:cNvSpPr/>
          <p:nvPr/>
        </p:nvSpPr>
        <p:spPr>
          <a:xfrm>
            <a:off x="7010400" y="2057400"/>
            <a:ext cx="1828800" cy="612648"/>
          </a:xfrm>
          <a:prstGeom prst="borderCallout1">
            <a:avLst>
              <a:gd name="adj1" fmla="val 52510"/>
              <a:gd name="adj2" fmla="val 1190"/>
              <a:gd name="adj3" fmla="val 203119"/>
              <a:gd name="adj4" fmla="val -63929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Bitonic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73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0" grpId="0" animBg="1"/>
      <p:bldP spid="5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Cost</a:t>
                </a:r>
                <a:r>
                  <a:rPr lang="en-US" sz="2000" b="1" dirty="0"/>
                  <a:t> of a tour</a:t>
                </a:r>
                <a:r>
                  <a:rPr lang="en-US" sz="2000" dirty="0"/>
                  <a:t>: Total distance traveled.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compute the least cost of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by two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while traversing each intermediate point exclusively once.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486400"/>
              </a:xfrm>
              <a:blipFill rotWithShape="1">
                <a:blip r:embed="rId2"/>
                <a:stretch>
                  <a:fillRect l="-741" t="-778" b="-9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Arrow 1"/>
          <p:cNvSpPr/>
          <p:nvPr/>
        </p:nvSpPr>
        <p:spPr>
          <a:xfrm>
            <a:off x="5486400" y="2133600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Arrow 51"/>
          <p:cNvSpPr/>
          <p:nvPr/>
        </p:nvSpPr>
        <p:spPr>
          <a:xfrm rot="10800000" flipH="1">
            <a:off x="4912926" y="4724400"/>
            <a:ext cx="649674" cy="485541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own Ribbon 2"/>
          <p:cNvSpPr/>
          <p:nvPr/>
        </p:nvSpPr>
        <p:spPr>
          <a:xfrm>
            <a:off x="3176298" y="838200"/>
            <a:ext cx="2614902" cy="5334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Equivalent 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24002" y="6096000"/>
            <a:ext cx="392919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5486400" y="6019800"/>
            <a:ext cx="273026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1524003" y="6477000"/>
            <a:ext cx="6100894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4" dur="1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animBg="1"/>
      <p:bldP spid="2" grpId="1" animBg="1"/>
      <p:bldP spid="52" grpId="0" uiExpand="1" animBg="1"/>
      <p:bldP spid="52" grpId="1" animBg="1"/>
      <p:bldP spid="3" grpId="0" animBg="1"/>
      <p:bldP spid="53" grpId="0" animBg="1"/>
      <p:bldP spid="55" grpId="0" animBg="1"/>
      <p:bldP spid="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Attempt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: The least cost of reaching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by two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while traversing each intermediate point exclusively once.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Aim</a:t>
                </a:r>
                <a:r>
                  <a:rPr lang="en-US" sz="2000" dirty="0"/>
                  <a:t>: To compute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48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1" cy="2438400"/>
            <a:chOff x="2057400" y="2286000"/>
            <a:chExt cx="6159261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4" cy="460177"/>
              <a:chOff x="2667000" y="2740223"/>
              <a:chExt cx="591764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4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2274841" y="2351041"/>
            <a:ext cx="4746718" cy="1978223"/>
            <a:chOff x="2274841" y="2351041"/>
            <a:chExt cx="4746718" cy="1978223"/>
          </a:xfrm>
        </p:grpSpPr>
        <p:cxnSp>
          <p:nvCxnSpPr>
            <p:cNvPr id="42" name="Straight Connector 41"/>
            <p:cNvCxnSpPr/>
            <p:nvPr/>
          </p:nvCxnSpPr>
          <p:spPr>
            <a:xfrm>
              <a:off x="5491297" y="2968823"/>
              <a:ext cx="1519103" cy="2022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4946738" y="2351041"/>
              <a:ext cx="468359" cy="57968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4337138" y="2351041"/>
              <a:ext cx="544559" cy="19243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 flipV="1">
              <a:off x="2965538" y="2906759"/>
              <a:ext cx="1317718" cy="142250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2274841" y="2960641"/>
              <a:ext cx="636815" cy="4003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 flipV="1">
              <a:off x="2274841" y="3414864"/>
              <a:ext cx="1001759" cy="5856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3341641" y="2884441"/>
              <a:ext cx="636815" cy="10891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 flipV="1">
              <a:off x="4032338" y="2884441"/>
              <a:ext cx="1725659" cy="13035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flipV="1">
              <a:off x="5796097" y="3643464"/>
              <a:ext cx="468359" cy="5475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stCxn id="30" idx="7"/>
              <a:endCxn id="36" idx="3"/>
            </p:cNvCxnSpPr>
            <p:nvPr/>
          </p:nvCxnSpPr>
          <p:spPr>
            <a:xfrm flipV="1">
              <a:off x="6318338" y="3189241"/>
              <a:ext cx="703221" cy="4003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/>
          <p:cNvSpPr/>
          <p:nvPr/>
        </p:nvSpPr>
        <p:spPr>
          <a:xfrm>
            <a:off x="1066800" y="1524000"/>
            <a:ext cx="53388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loud Callout 2"/>
              <p:cNvSpPr/>
              <p:nvPr/>
            </p:nvSpPr>
            <p:spPr>
              <a:xfrm>
                <a:off x="5823770" y="676989"/>
                <a:ext cx="3657601" cy="847011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Try to relate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loud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770" y="676989"/>
                <a:ext cx="3657601" cy="847011"/>
              </a:xfrm>
              <a:prstGeom prst="cloudCallout">
                <a:avLst>
                  <a:gd name="adj1" fmla="val -29690"/>
                  <a:gd name="adj2" fmla="val 85901"/>
                </a:avLst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/>
          <p:cNvGrpSpPr/>
          <p:nvPr/>
        </p:nvGrpSpPr>
        <p:grpSpPr>
          <a:xfrm>
            <a:off x="6669948" y="4539734"/>
            <a:ext cx="1795684" cy="1000703"/>
            <a:chOff x="5165327" y="5105400"/>
            <a:chExt cx="1795684" cy="1000703"/>
          </a:xfrm>
        </p:grpSpPr>
        <p:sp>
          <p:nvSpPr>
            <p:cNvPr id="54" name="Smiley Face 53"/>
            <p:cNvSpPr/>
            <p:nvPr/>
          </p:nvSpPr>
          <p:spPr>
            <a:xfrm>
              <a:off x="5719897" y="5105400"/>
              <a:ext cx="609600" cy="6096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165327" y="5736771"/>
              <a:ext cx="1795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obvious way !</a:t>
              </a:r>
            </a:p>
          </p:txBody>
        </p:sp>
      </p:grpSp>
      <p:sp>
        <p:nvSpPr>
          <p:cNvPr id="58" name="Rectangle 57"/>
          <p:cNvSpPr/>
          <p:nvPr/>
        </p:nvSpPr>
        <p:spPr>
          <a:xfrm>
            <a:off x="1143000" y="2057400"/>
            <a:ext cx="608151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066800" y="4876800"/>
            <a:ext cx="22479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4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 animBg="1"/>
      <p:bldP spid="3" grpId="0" animBg="1"/>
      <p:bldP spid="58" grpId="0" animBg="1"/>
      <p:bldP spid="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Split the tour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>
            <a:off x="6329497" y="3616523"/>
            <a:ext cx="1481003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584192" y="37338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0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11022E-16 -2.22222E-6 L -0.00208 0.0722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Split the tour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travel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What is the least distance traveled ?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  <a:blipFill rotWithShape="1">
                <a:blip r:embed="rId2"/>
                <a:stretch>
                  <a:fillRect l="-708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>
            <a:off x="6329497" y="3616523"/>
            <a:ext cx="1481003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584192" y="41910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915190" y="5257800"/>
            <a:ext cx="4169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traversing each point </a:t>
            </a:r>
            <a:r>
              <a:rPr lang="en-US" sz="2000" u="sng" dirty="0"/>
              <a:t>exclusively once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493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3286125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What should be the </a:t>
            </a:r>
            <a:r>
              <a:rPr lang="en-US" sz="3200" dirty="0">
                <a:solidFill>
                  <a:srgbClr val="0070C0"/>
                </a:solidFill>
              </a:rPr>
              <a:t>Term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for </a:t>
            </a:r>
            <a:br>
              <a:rPr lang="en-US" sz="3200" dirty="0"/>
            </a:b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7030A0"/>
                </a:solidFill>
              </a:rPr>
              <a:t>Recursive formulation ?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Term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</a:t>
            </a:r>
            <a:r>
              <a:rPr lang="en-US" sz="3600" b="1" dirty="0">
                <a:solidFill>
                  <a:srgbClr val="7030A0"/>
                </a:solidFill>
              </a:rPr>
              <a:t> Recursive formulation </a:t>
            </a:r>
            <a:r>
              <a:rPr lang="en-US" sz="3600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Yes,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can be covered either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But we need a slightly bigger picture of the two paths </a:t>
                </a:r>
              </a:p>
              <a:p>
                <a:pPr marL="0" indent="0">
                  <a:buNone/>
                </a:pPr>
                <a:r>
                  <a:rPr lang="en-US" sz="2000" dirty="0"/>
                  <a:t>to devise the recursive term.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3349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15097" y="28926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7297" y="2819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66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5720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00497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81697" y="22860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315200" y="4267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719897" y="41880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0104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30" idx="6"/>
          </p:cNvCxnSpPr>
          <p:nvPr/>
        </p:nvCxnSpPr>
        <p:spPr>
          <a:xfrm flipV="1">
            <a:off x="7391400" y="4237911"/>
            <a:ext cx="723900" cy="67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077200" y="41910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/>
          <p:cNvSpPr/>
          <p:nvPr/>
        </p:nvSpPr>
        <p:spPr>
          <a:xfrm>
            <a:off x="25908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981200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676400" y="4038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38200" y="3505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295400" y="2971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8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/>
          <p:cNvSpPr/>
          <p:nvPr/>
        </p:nvSpPr>
        <p:spPr>
          <a:xfrm>
            <a:off x="6781800" y="4876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010400" y="4343400"/>
                <a:ext cx="721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343400"/>
                <a:ext cx="721608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1101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/>
          <p:cNvCxnSpPr>
            <a:stCxn id="30" idx="7"/>
            <a:endCxn id="53" idx="4"/>
          </p:cNvCxnSpPr>
          <p:nvPr/>
        </p:nvCxnSpPr>
        <p:spPr>
          <a:xfrm flipV="1">
            <a:off x="7380241" y="3807023"/>
            <a:ext cx="435156" cy="47133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7888992" y="4202668"/>
                <a:ext cx="721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2" y="4202668"/>
                <a:ext cx="721608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109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20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55" grpId="0"/>
      <p:bldP spid="75" grpId="0"/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Term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</a:t>
            </a:r>
            <a:r>
              <a:rPr lang="en-US" sz="3600" b="1" dirty="0">
                <a:solidFill>
                  <a:srgbClr val="7030A0"/>
                </a:solidFill>
              </a:rPr>
              <a:t> Recursive formulation </a:t>
            </a:r>
            <a:r>
              <a:rPr lang="en-US" sz="3600" b="1" dirty="0"/>
              <a:t>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3349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15097" y="28926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7297" y="2819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66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5720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00497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81697" y="22860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315200" y="4267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719897" y="41880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0104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631413" y="2351041"/>
            <a:ext cx="250285" cy="77315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6858000" y="4332241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 flipV="1">
            <a:off x="7391400" y="4237911"/>
            <a:ext cx="723900" cy="67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888992" y="41910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15" idx="5"/>
          </p:cNvCxnSpPr>
          <p:nvPr/>
        </p:nvCxnSpPr>
        <p:spPr>
          <a:xfrm flipH="1" flipV="1">
            <a:off x="4032338" y="2884441"/>
            <a:ext cx="599075" cy="23975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Brace 1"/>
          <p:cNvSpPr/>
          <p:nvPr/>
        </p:nvSpPr>
        <p:spPr>
          <a:xfrm rot="16200000">
            <a:off x="2097537" y="759963"/>
            <a:ext cx="316782" cy="3445056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48"/>
          <p:cNvSpPr/>
          <p:nvPr/>
        </p:nvSpPr>
        <p:spPr>
          <a:xfrm rot="5400000">
            <a:off x="2991252" y="2148156"/>
            <a:ext cx="270792" cy="5186497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Left Arrow 56"/>
          <p:cNvSpPr/>
          <p:nvPr/>
        </p:nvSpPr>
        <p:spPr>
          <a:xfrm>
            <a:off x="3782004" y="3477768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5472800"/>
                <a:ext cx="7924797" cy="67262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is the least distance to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dirty="0"/>
                  <a:t> by covering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dirty="0"/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exactly once!                                                                                               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72800"/>
                <a:ext cx="7924797" cy="672620"/>
              </a:xfrm>
              <a:prstGeom prst="rect">
                <a:avLst/>
              </a:prstGeom>
              <a:blipFill>
                <a:blip r:embed="rId14"/>
                <a:stretch>
                  <a:fillRect l="-479" t="-3636" b="-1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124200" y="4053245"/>
                <a:ext cx="675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053245"/>
                <a:ext cx="675121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1181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814897" y="2910245"/>
                <a:ext cx="4523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97" y="2910245"/>
                <a:ext cx="452303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175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567497" y="4278868"/>
                <a:ext cx="455509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497" y="4278868"/>
                <a:ext cx="455509" cy="395621"/>
              </a:xfrm>
              <a:prstGeom prst="rect">
                <a:avLst/>
              </a:prstGeom>
              <a:blipFill rotWithShape="1">
                <a:blip r:embed="rId17"/>
                <a:stretch>
                  <a:fillRect t="-6154" r="-17333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/>
          <p:cNvCxnSpPr/>
          <p:nvPr/>
        </p:nvCxnSpPr>
        <p:spPr>
          <a:xfrm flipH="1">
            <a:off x="7848599" y="2057400"/>
            <a:ext cx="1" cy="312420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25908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981200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676400" y="4038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38200" y="3505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295400" y="2971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blipFill rotWithShape="1">
                <a:blip r:embed="rId19"/>
                <a:stretch>
                  <a:fillRect t="-8197" r="-148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/>
          <p:cNvSpPr/>
          <p:nvPr/>
        </p:nvSpPr>
        <p:spPr>
          <a:xfrm>
            <a:off x="6781800" y="4876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>
            <a:stCxn id="33" idx="3"/>
            <a:endCxn id="71" idx="1"/>
          </p:cNvCxnSpPr>
          <p:nvPr/>
        </p:nvCxnSpPr>
        <p:spPr>
          <a:xfrm>
            <a:off x="5731056" y="4253064"/>
            <a:ext cx="1061903" cy="634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Callout 8"/>
              <p:cNvSpPr/>
              <p:nvPr/>
            </p:nvSpPr>
            <p:spPr>
              <a:xfrm>
                <a:off x="3200400" y="1066800"/>
                <a:ext cx="6019801" cy="1222248"/>
              </a:xfrm>
              <a:prstGeom prst="cloudCallout">
                <a:avLst>
                  <a:gd name="adj1" fmla="val -11604"/>
                  <a:gd name="adj2" fmla="val 7624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we reveal the two paths covering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onwards, what can we infer about their unrevealed portions? </a:t>
                </a:r>
              </a:p>
            </p:txBody>
          </p:sp>
        </mc:Choice>
        <mc:Fallback xmlns="">
          <p:sp>
            <p:nvSpPr>
              <p:cNvPr id="9" name="Cloud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066800"/>
                <a:ext cx="6019801" cy="1222248"/>
              </a:xfrm>
              <a:prstGeom prst="cloudCallout">
                <a:avLst>
                  <a:gd name="adj1" fmla="val -11604"/>
                  <a:gd name="adj2" fmla="val 76245"/>
                </a:avLst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67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44166 -0.00556 " pathEditMode="relative" rAng="0" ptsTypes="AA">
                                      <p:cBhvr>
                                        <p:cTn id="13" dur="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8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9" grpId="0" animBg="1"/>
      <p:bldP spid="57" grpId="0" animBg="1"/>
      <p:bldP spid="8" grpId="0" animBg="1"/>
      <p:bldP spid="59" grpId="0"/>
      <p:bldP spid="60" grpId="0"/>
      <p:bldP spid="61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Term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</a:t>
            </a:r>
            <a:r>
              <a:rPr lang="en-US" sz="3600" b="1" dirty="0">
                <a:solidFill>
                  <a:srgbClr val="7030A0"/>
                </a:solidFill>
              </a:rPr>
              <a:t> Recursive formulation </a:t>
            </a:r>
            <a:r>
              <a:rPr lang="en-US" sz="3600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86800" cy="4525963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0" dirty="0" smtClean="0">
                        <a:latin typeface="Cambria Math"/>
                      </a:rPr>
                      <m:t>&lt;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, define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Least distance travelled to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by two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</a:t>
                </a:r>
                <a:r>
                  <a:rPr lang="en-US" sz="2000" dirty="0"/>
                  <a:t>covering each point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exclusively once.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Aim: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</a:t>
                </a:r>
                <a:r>
                  <a:rPr lang="en-US" sz="2000" dirty="0"/>
                  <a:t>To compute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]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Base case</a:t>
                </a:r>
                <a:r>
                  <a:rPr lang="en-US" sz="2000" dirty="0"/>
                  <a:t>: 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for all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≥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86800" cy="4525963"/>
              </a:xfrm>
              <a:blipFill rotWithShape="1">
                <a:blip r:embed="rId2"/>
                <a:stretch>
                  <a:fillRect l="-702" t="-943" b="-14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95400" y="44958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19600" y="2286000"/>
            <a:ext cx="3048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</p:spPr>
            <p:txBody>
              <a:bodyPr/>
              <a:lstStyle/>
              <a:p>
                <a:pPr algn="ctr"/>
                <a:r>
                  <a:rPr lang="en-US" sz="3200" dirty="0">
                    <a:solidFill>
                      <a:srgbClr val="7030A0"/>
                    </a:solidFill>
                  </a:rPr>
                  <a:t>Recursive formulation for</a:t>
                </a:r>
                <a:br>
                  <a:rPr lang="en-US" sz="3200" dirty="0">
                    <a:solidFill>
                      <a:srgbClr val="7030A0"/>
                    </a:solidFill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sz="3200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sz="3200" dirty="0">
                          <a:latin typeface="Cambria Math"/>
                        </a:rPr>
                        <m:t>[</m:t>
                      </m:r>
                      <m:r>
                        <a:rPr lang="en-US" sz="3200" b="0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3200" b="0" dirty="0">
                          <a:latin typeface="Cambria Math"/>
                        </a:rPr>
                        <m:t>,</m:t>
                      </m:r>
                      <m:r>
                        <a:rPr lang="en-US" sz="3200" b="0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  <m:r>
                        <a:rPr lang="en-US" sz="3200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  <a:blipFill rotWithShape="1">
                <a:blip r:embed="rId2"/>
                <a:stretch>
                  <a:fillRect t="-5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Recursive formulation </a:t>
                </a:r>
                <a:r>
                  <a:rPr lang="en-US" sz="3600" b="1" dirty="0"/>
                  <a:t>of </a:t>
                </a:r>
                <a14:m>
                  <m:oMath xmlns:m="http://schemas.openxmlformats.org/officeDocument/2006/math">
                    <m:r>
                      <a:rPr lang="en-US" sz="36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3600" b="1" dirty="0">
                        <a:latin typeface="Cambria Math"/>
                      </a:rPr>
                      <m:t>[</m:t>
                    </m:r>
                    <m:r>
                      <a:rPr lang="en-US" sz="36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3600" dirty="0">
                        <a:latin typeface="Cambria Math"/>
                      </a:rPr>
                      <m:t>,</m:t>
                    </m:r>
                    <m:r>
                      <a:rPr lang="en-US" sz="36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36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Two cases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visited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visited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−1,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   ,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−1,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3"/>
                <a:stretch>
                  <a:fillRect l="-741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209800" y="2667000"/>
            <a:ext cx="4876800" cy="1673423"/>
            <a:chOff x="2209800" y="2667000"/>
            <a:chExt cx="4876800" cy="1673423"/>
          </a:xfrm>
        </p:grpSpPr>
        <p:sp>
          <p:nvSpPr>
            <p:cNvPr id="7" name="Oval 6"/>
            <p:cNvSpPr/>
            <p:nvPr/>
          </p:nvSpPr>
          <p:spPr>
            <a:xfrm>
              <a:off x="2209800" y="3349823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257800" y="26670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733800" y="28194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276600" y="39624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72097" y="4264223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900497" y="28956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72000" y="31242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253297" y="28956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791200" y="32004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7010400" y="31242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/>
          <p:cNvSpPr/>
          <p:nvPr/>
        </p:nvSpPr>
        <p:spPr>
          <a:xfrm>
            <a:off x="6819299" y="4038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631091" y="4050268"/>
                <a:ext cx="455509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091" y="4050268"/>
                <a:ext cx="455509" cy="395621"/>
              </a:xfrm>
              <a:prstGeom prst="rect">
                <a:avLst/>
              </a:prstGeom>
              <a:blipFill rotWithShape="1">
                <a:blip r:embed="rId4"/>
                <a:stretch>
                  <a:fillRect t="-6154" r="-1600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105400" y="2667000"/>
                <a:ext cx="4523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667000"/>
                <a:ext cx="452303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75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386025" y="3124200"/>
                <a:ext cx="675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25" y="3124200"/>
                <a:ext cx="67512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171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057400" y="34406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440668"/>
                <a:ext cx="490775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625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 flipH="1">
            <a:off x="4631414" y="2743200"/>
            <a:ext cx="626386" cy="381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2" idx="0"/>
          </p:cNvCxnSpPr>
          <p:nvPr/>
        </p:nvCxnSpPr>
        <p:spPr>
          <a:xfrm flipH="1" flipV="1">
            <a:off x="4631414" y="3200400"/>
            <a:ext cx="2227432" cy="8498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14800" y="1676400"/>
                <a:ext cx="3643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i="0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−1,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1676400"/>
                <a:ext cx="3643946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338" t="-9836" r="-1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114800" y="2069068"/>
                <a:ext cx="3472554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)=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−1,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069068"/>
                <a:ext cx="3472554" cy="395621"/>
              </a:xfrm>
              <a:prstGeom prst="rect">
                <a:avLst/>
              </a:prstGeom>
              <a:blipFill rotWithShape="1">
                <a:blip r:embed="rId9"/>
                <a:stretch>
                  <a:fillRect l="-1404" t="-7692" r="-193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27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2" grpId="0"/>
      <p:bldP spid="55" grpId="0"/>
      <p:bldP spid="46" grpId="0"/>
      <p:bldP spid="13" grpId="0"/>
      <p:bldP spid="5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3200" b="1" i="0" dirty="0" smtClean="0">
                        <a:latin typeface="Cambria Math"/>
                      </a:rPr>
                      <m:t>(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3200" dirty="0">
                        <a:latin typeface="Cambria Math"/>
                      </a:rPr>
                      <m:t>,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Recur-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-tour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) 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0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endParaRPr lang="en-US" sz="20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return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  <a:blipFill rotWithShape="1">
                <a:blip r:embed="rId3"/>
                <a:stretch>
                  <a:fillRect l="-1250" t="-674" r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81600" y="1600200"/>
                <a:ext cx="3886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Time taken by 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-tour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=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total no. of </a:t>
                </a:r>
                <a:r>
                  <a:rPr lang="en-US" sz="2000" dirty="0" err="1"/>
                  <a:t>subproblems</a:t>
                </a:r>
                <a:r>
                  <a:rPr lang="en-US" sz="2000" dirty="0"/>
                  <a:t> to be solved: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>
                  <a:buFont typeface="Wingdings"/>
                  <a:buChar char="è"/>
                </a:pPr>
                <a:r>
                  <a:rPr lang="en-US" sz="2000" dirty="0">
                    <a:sym typeface="Wingdings" pitchFamily="2" charset="2"/>
                  </a:rPr>
                  <a:t>Iterative implementation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of the recursive formulation.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81600" y="1600200"/>
                <a:ext cx="3886200" cy="4525963"/>
              </a:xfrm>
              <a:blipFill rotWithShape="1">
                <a:blip r:embed="rId4"/>
                <a:stretch>
                  <a:fillRect l="-1567" t="-809" r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09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3200" b="1" i="0" dirty="0" smtClean="0">
                        <a:latin typeface="Cambria Math"/>
                      </a:rPr>
                      <m:t>(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3200" dirty="0">
                        <a:latin typeface="Cambria Math"/>
                      </a:rPr>
                      <m:t>,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Recur-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-tour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) 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0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endParaRPr lang="en-US" sz="20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return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  <a:blipFill rotWithShape="1">
                <a:blip r:embed="rId3"/>
                <a:stretch>
                  <a:fillRect l="-1250" t="-674" r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600200"/>
            <a:ext cx="3886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5562600" y="2057400"/>
            <a:ext cx="3276600" cy="3217127"/>
            <a:chOff x="5257800" y="2057400"/>
            <a:chExt cx="3276600" cy="3217127"/>
          </a:xfrm>
        </p:grpSpPr>
        <p:sp>
          <p:nvSpPr>
            <p:cNvPr id="6" name="Rectangle 5"/>
            <p:cNvSpPr/>
            <p:nvPr/>
          </p:nvSpPr>
          <p:spPr>
            <a:xfrm>
              <a:off x="5257800" y="2057400"/>
              <a:ext cx="3276600" cy="320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5715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61722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6294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081024" y="2057400"/>
              <a:ext cx="5576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543800" y="2057400"/>
              <a:ext cx="0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001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257800" y="2514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257800" y="2971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257800" y="34290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257800" y="38862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57800" y="43434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257800" y="4800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78486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7904703" y="3886200"/>
            <a:ext cx="324897" cy="1752600"/>
            <a:chOff x="7599903" y="3886200"/>
            <a:chExt cx="324897" cy="1752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/>
            <p:cNvCxnSpPr>
              <a:stCxn id="25" idx="2"/>
            </p:cNvCxnSpPr>
            <p:nvPr/>
          </p:nvCxnSpPr>
          <p:spPr>
            <a:xfrm>
              <a:off x="7772400" y="3886200"/>
              <a:ext cx="33076" cy="13832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5243988" y="3440668"/>
            <a:ext cx="2680812" cy="369332"/>
            <a:chOff x="4939188" y="3440668"/>
            <a:chExt cx="268081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/>
            <p:cNvCxnSpPr>
              <a:stCxn id="6" idx="1"/>
              <a:endCxn id="25" idx="1"/>
            </p:cNvCxnSpPr>
            <p:nvPr/>
          </p:nvCxnSpPr>
          <p:spPr>
            <a:xfrm>
              <a:off x="5334000" y="3657600"/>
              <a:ext cx="2286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78486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8077200" y="3581400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342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7162800" y="3657601"/>
            <a:ext cx="904351" cy="457199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182380" y="2133600"/>
            <a:ext cx="456420" cy="3124200"/>
            <a:chOff x="4876800" y="2057400"/>
            <a:chExt cx="456420" cy="3124200"/>
          </a:xfrm>
        </p:grpSpPr>
        <p:sp>
          <p:nvSpPr>
            <p:cNvPr id="37" name="TextBox 36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56114" y="4355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67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/>
            <p:cNvSpPr txBox="1"/>
            <p:nvPr/>
          </p:nvSpPr>
          <p:spPr>
            <a:xfrm rot="5173825">
              <a:off x="4976872" y="38228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666111" y="5269469"/>
                <a:ext cx="3630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1     2          ...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111" y="5269469"/>
                <a:ext cx="3630289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34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7010400" y="4343400"/>
            <a:ext cx="318612" cy="1283732"/>
            <a:chOff x="7543800" y="4343400"/>
            <a:chExt cx="318612" cy="1283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7543800" y="5257800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0" y="5257800"/>
                  <a:ext cx="31861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307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/>
            <p:cNvCxnSpPr>
              <a:stCxn id="34" idx="2"/>
            </p:cNvCxnSpPr>
            <p:nvPr/>
          </p:nvCxnSpPr>
          <p:spPr>
            <a:xfrm>
              <a:off x="7696200" y="4343400"/>
              <a:ext cx="0" cy="9260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52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 animBg="1"/>
      <p:bldP spid="32" grpId="0" animBg="1"/>
      <p:bldP spid="34" grpId="0" animBg="1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Iterative algorithm </a:t>
            </a:r>
            <a:r>
              <a:rPr lang="en-US" sz="3200" b="1" dirty="0"/>
              <a:t>for Optimal </a:t>
            </a:r>
            <a:r>
              <a:rPr lang="en-US" sz="3200" b="1" dirty="0" err="1"/>
              <a:t>Bitonic</a:t>
            </a:r>
            <a:r>
              <a:rPr lang="en-US" sz="3200" b="1" dirty="0"/>
              <a:t> tour</a:t>
            </a:r>
            <a:br>
              <a:rPr lang="en-US" sz="3200" dirty="0"/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9560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Iterative-</a:t>
                </a:r>
                <a:r>
                  <a:rPr lang="en-US" sz="20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-tour</a:t>
                </a:r>
                <a:r>
                  <a:rPr lang="en-US" sz="2000" dirty="0"/>
                  <a:t>{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Add </a:t>
                </a:r>
                <a:r>
                  <a:rPr lang="en-US" sz="2000" dirty="0"/>
                  <a:t>one more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</a:t>
                </a: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{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−1,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−1,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endParaRPr lang="en-US" sz="20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r>
                  <a:rPr lang="en-US" sz="2000" dirty="0"/>
                  <a:t>Return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] 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956048"/>
              </a:xfrm>
              <a:blipFill rotWithShape="1">
                <a:blip r:embed="rId2"/>
                <a:stretch>
                  <a:fillRect l="-1379" t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1" name="Rectangle 70"/>
          <p:cNvSpPr/>
          <p:nvPr/>
        </p:nvSpPr>
        <p:spPr>
          <a:xfrm>
            <a:off x="75438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3810000" y="5715000"/>
                <a:ext cx="2819400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Time complexity: 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715000"/>
                <a:ext cx="2819400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75438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7772400" y="3581400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1722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/>
          <p:cNvCxnSpPr/>
          <p:nvPr/>
        </p:nvCxnSpPr>
        <p:spPr>
          <a:xfrm flipV="1">
            <a:off x="6400800" y="3657600"/>
            <a:ext cx="1361551" cy="502349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5562600" y="2057400"/>
            <a:ext cx="3276600" cy="3217127"/>
            <a:chOff x="5257800" y="2057400"/>
            <a:chExt cx="3276600" cy="3217127"/>
          </a:xfrm>
        </p:grpSpPr>
        <p:sp>
          <p:nvSpPr>
            <p:cNvPr id="53" name="Rectangle 52"/>
            <p:cNvSpPr/>
            <p:nvPr/>
          </p:nvSpPr>
          <p:spPr>
            <a:xfrm>
              <a:off x="5257800" y="2057400"/>
              <a:ext cx="3276600" cy="320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61722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66294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7081024" y="2057400"/>
              <a:ext cx="5576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7543800" y="2057400"/>
              <a:ext cx="0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8001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5257800" y="2514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5257800" y="2971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5257800" y="34290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5257800" y="38862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5257800" y="43434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5257800" y="4800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715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/>
          <p:cNvSpPr/>
          <p:nvPr/>
        </p:nvSpPr>
        <p:spPr>
          <a:xfrm>
            <a:off x="78486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/>
          <p:cNvGrpSpPr/>
          <p:nvPr/>
        </p:nvGrpSpPr>
        <p:grpSpPr>
          <a:xfrm>
            <a:off x="5243988" y="3440668"/>
            <a:ext cx="2680812" cy="369332"/>
            <a:chOff x="4939188" y="3440668"/>
            <a:chExt cx="268081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/>
            <p:cNvCxnSpPr>
              <a:stCxn id="53" idx="1"/>
              <a:endCxn id="88" idx="1"/>
            </p:cNvCxnSpPr>
            <p:nvPr/>
          </p:nvCxnSpPr>
          <p:spPr>
            <a:xfrm>
              <a:off x="5334000" y="3657600"/>
              <a:ext cx="2286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/>
          <p:cNvSpPr/>
          <p:nvPr/>
        </p:nvSpPr>
        <p:spPr>
          <a:xfrm>
            <a:off x="78486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8077200" y="3581400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69342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666111" y="5257800"/>
                <a:ext cx="3630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1     2          ...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111" y="5257800"/>
                <a:ext cx="3630289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342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" name="Group 105"/>
          <p:cNvGrpSpPr/>
          <p:nvPr/>
        </p:nvGrpSpPr>
        <p:grpSpPr>
          <a:xfrm>
            <a:off x="5182380" y="2133600"/>
            <a:ext cx="456420" cy="3124200"/>
            <a:chOff x="4876800" y="2057400"/>
            <a:chExt cx="456420" cy="3124200"/>
          </a:xfrm>
        </p:grpSpPr>
        <p:sp>
          <p:nvSpPr>
            <p:cNvPr id="107" name="TextBox 106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956114" y="4355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67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TextBox 109"/>
            <p:cNvSpPr txBox="1"/>
            <p:nvPr/>
          </p:nvSpPr>
          <p:spPr>
            <a:xfrm rot="5173825">
              <a:off x="4976872" y="38228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cxnSp>
        <p:nvCxnSpPr>
          <p:cNvPr id="43" name="Straight Arrow Connector 42"/>
          <p:cNvCxnSpPr/>
          <p:nvPr/>
        </p:nvCxnSpPr>
        <p:spPr>
          <a:xfrm flipV="1">
            <a:off x="7162800" y="3657601"/>
            <a:ext cx="904351" cy="457199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5562600" y="4800600"/>
            <a:ext cx="3276600" cy="457200"/>
            <a:chOff x="5562600" y="4800600"/>
            <a:chExt cx="3276600" cy="457200"/>
          </a:xfrm>
        </p:grpSpPr>
        <p:sp>
          <p:nvSpPr>
            <p:cNvPr id="44" name="Rectangle 43"/>
            <p:cNvSpPr/>
            <p:nvPr/>
          </p:nvSpPr>
          <p:spPr>
            <a:xfrm>
              <a:off x="55626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198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770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342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3914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8486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05800" y="4800600"/>
              <a:ext cx="5334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904703" y="3886200"/>
            <a:ext cx="324897" cy="1752600"/>
            <a:chOff x="7599903" y="3886200"/>
            <a:chExt cx="324897" cy="1752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Connector 91"/>
            <p:cNvCxnSpPr>
              <a:stCxn id="88" idx="2"/>
            </p:cNvCxnSpPr>
            <p:nvPr/>
          </p:nvCxnSpPr>
          <p:spPr>
            <a:xfrm>
              <a:off x="7772400" y="3886200"/>
              <a:ext cx="33076" cy="13832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260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Summary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</p:spPr>
            <p:txBody>
              <a:bodyPr/>
              <a:lstStyle/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Sometimes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generalizaton</a:t>
                </a:r>
                <a:r>
                  <a:rPr lang="en-US" sz="2400" dirty="0"/>
                  <a:t> helps !</a:t>
                </a:r>
              </a:p>
              <a:p>
                <a:r>
                  <a:rPr lang="en-US" sz="2400" dirty="0"/>
                  <a:t>Maintaining two parameters instead of one.</a:t>
                </a:r>
              </a:p>
              <a:p>
                <a:r>
                  <a:rPr lang="en-US" sz="2400" dirty="0" err="1"/>
                  <a:t>Bitonic</a:t>
                </a:r>
                <a:r>
                  <a:rPr lang="en-US" sz="2400" dirty="0"/>
                  <a:t> tour can be solved in </a:t>
                </a:r>
                <a:r>
                  <a:rPr lang="en-US" sz="2400" b="1" dirty="0"/>
                  <a:t>O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 time using dynamic programming.</a:t>
                </a:r>
              </a:p>
              <a:p>
                <a:r>
                  <a:rPr lang="en-US" sz="2400" dirty="0"/>
                  <a:t>This solution was given by Bentley in 1990.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  <a:blipFill>
                <a:blip r:embed="rId2"/>
                <a:stretch>
                  <a:fillRect l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5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Shortest </a:t>
            </a:r>
            <a:r>
              <a:rPr lang="en-US" sz="3200" dirty="0" err="1">
                <a:solidFill>
                  <a:srgbClr val="7030A0"/>
                </a:solidFill>
              </a:rPr>
              <a:t>pathS</a:t>
            </a:r>
            <a:r>
              <a:rPr lang="en-US" sz="3200" dirty="0">
                <a:solidFill>
                  <a:srgbClr val="7030A0"/>
                </a:solidFill>
              </a:rPr>
              <a:t> in a graph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 presence of </a:t>
            </a:r>
            <a:r>
              <a:rPr lang="en-US" sz="2800" b="1" dirty="0">
                <a:solidFill>
                  <a:srgbClr val="C00000"/>
                </a:solidFill>
              </a:rPr>
              <a:t>negative </a:t>
            </a:r>
            <a:r>
              <a:rPr lang="en-US" sz="2800" b="1" dirty="0">
                <a:solidFill>
                  <a:schemeClr val="tx1"/>
                </a:solidFill>
              </a:rPr>
              <a:t>edge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Input</a:t>
                </a:r>
                <a:r>
                  <a:rPr lang="en-US" sz="2000" dirty="0"/>
                  <a:t>: A 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 and a source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Notations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i="1" dirty="0">
                    <a:solidFill>
                      <a:srgbClr val="0070C0"/>
                    </a:solidFill>
                    <a:latin typeface="Cambria Math"/>
                  </a:rPr>
                  <a:t>    </a:t>
                </a:r>
                <a:r>
                  <a:rPr lang="en-US" sz="2000" i="1" dirty="0">
                    <a:latin typeface="Cambria Math"/>
                  </a:rPr>
                  <a:t> ,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The shortest path from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000" dirty="0"/>
                  <a:t>: </a:t>
                </a:r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	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	Compute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>
                        <a:latin typeface="Cambria Math"/>
                      </a:rPr>
                      <m:t>{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}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Lesson from ESO207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𝑹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Dijkstra’s</a:t>
                </a:r>
                <a:r>
                  <a:rPr lang="en-US" sz="2000" dirty="0"/>
                  <a:t> algorithm solves the problem in 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</m:oMath>
                </a14:m>
                <a:r>
                  <a:rPr lang="en-US" sz="2000" dirty="0"/>
                  <a:t> + </a:t>
                </a:r>
                <a:r>
                  <a:rPr lang="en-US" sz="2000" b="1" dirty="0"/>
                  <a:t>log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 time.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crucial is the non-negative weights for </a:t>
                </a:r>
                <a:r>
                  <a:rPr lang="en-US" sz="2000" dirty="0" err="1"/>
                  <a:t>Dijkstra’s</a:t>
                </a:r>
                <a:r>
                  <a:rPr lang="en-US" sz="2000" dirty="0"/>
                  <a:t> algorithm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257800"/>
              </a:xfrm>
              <a:blipFill>
                <a:blip r:embed="rId2"/>
                <a:stretch>
                  <a:fillRect l="-772" t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8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Revisiting </a:t>
            </a:r>
            <a:r>
              <a:rPr lang="en-US" sz="3200" b="1" dirty="0"/>
              <a:t>Dijkstra’s Algorithm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058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000" dirty="0"/>
                  <a:t>We took 2 approaches for algorithm for shortest paths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Approach  1</a:t>
                </a:r>
                <a:r>
                  <a:rPr lang="en-US" sz="2000" dirty="0"/>
                  <a:t>:  </a:t>
                </a:r>
              </a:p>
              <a:p>
                <a:pPr lvl="1"/>
                <a:r>
                  <a:rPr lang="en-US" sz="1600" dirty="0"/>
                  <a:t>Made a </a:t>
                </a:r>
                <a:r>
                  <a:rPr lang="en-US" sz="1600" b="1" dirty="0">
                    <a:solidFill>
                      <a:srgbClr val="006C31"/>
                    </a:solidFill>
                  </a:rPr>
                  <a:t>key observation</a:t>
                </a:r>
                <a:r>
                  <a:rPr lang="en-US" sz="1600" dirty="0">
                    <a:solidFill>
                      <a:srgbClr val="006C31"/>
                    </a:solidFill>
                  </a:rPr>
                  <a:t> </a:t>
                </a:r>
                <a:r>
                  <a:rPr lang="en-US" sz="1600" dirty="0"/>
                  <a:t>about  a vertex in the neighborhood  of 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Followed the </a:t>
                </a:r>
                <a:r>
                  <a:rPr lang="en-US" sz="1600" b="1" dirty="0"/>
                  <a:t>generic greedy approach</a:t>
                </a:r>
                <a:r>
                  <a:rPr lang="en-US" sz="1600" dirty="0"/>
                  <a:t>.  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Approach  2</a:t>
                </a:r>
                <a:r>
                  <a:rPr lang="en-US" sz="2000" dirty="0"/>
                  <a:t>:</a:t>
                </a:r>
              </a:p>
              <a:p>
                <a:pPr lvl="1"/>
                <a:r>
                  <a:rPr lang="en-US" sz="1600" dirty="0"/>
                  <a:t>Explored</a:t>
                </a:r>
                <a:r>
                  <a:rPr lang="en-US" sz="1600" b="1" dirty="0"/>
                  <a:t> the structure </a:t>
                </a:r>
                <a:r>
                  <a:rPr lang="en-US" sz="1600" dirty="0"/>
                  <a:t>of a shortest path</a:t>
                </a:r>
              </a:p>
              <a:p>
                <a:pPr lvl="1"/>
                <a:r>
                  <a:rPr lang="en-US" sz="1600" dirty="0"/>
                  <a:t>Derived some crucial </a:t>
                </a:r>
                <a:r>
                  <a:rPr lang="en-US" sz="1600" b="1" dirty="0"/>
                  <a:t>properties </a:t>
                </a:r>
                <a:r>
                  <a:rPr lang="en-US" sz="1600" dirty="0"/>
                  <a:t>of a shortest path</a:t>
                </a:r>
              </a:p>
              <a:p>
                <a:pPr lvl="1"/>
                <a:r>
                  <a:rPr lang="en-US" sz="1600" dirty="0"/>
                  <a:t>Used these properties to design </a:t>
                </a:r>
                <a:r>
                  <a:rPr lang="en-US" sz="1600" b="1" dirty="0" err="1"/>
                  <a:t>Dijkstra’s</a:t>
                </a:r>
                <a:r>
                  <a:rPr lang="en-US" sz="1600" b="1" dirty="0"/>
                  <a:t> algorithm                     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05800" cy="4525963"/>
              </a:xfrm>
              <a:blipFill rotWithShape="1">
                <a:blip r:embed="rId2"/>
                <a:stretch>
                  <a:fillRect l="-734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5587087"/>
            <a:ext cx="834728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Let us explore how crucial was the role of “</a:t>
            </a:r>
            <a:r>
              <a:rPr lang="en-US" b="1" dirty="0"/>
              <a:t>positive edge weights</a:t>
            </a:r>
            <a:r>
              <a:rPr lang="en-US" dirty="0"/>
              <a:t>” in these approaches.</a:t>
            </a:r>
          </a:p>
        </p:txBody>
      </p:sp>
    </p:spTree>
    <p:extLst>
      <p:ext uri="{BB962C8B-B14F-4D97-AF65-F5344CB8AC3E}">
        <p14:creationId xmlns:p14="http://schemas.microsoft.com/office/powerpoint/2010/main" val="128332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be certain about the distance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any vertex in this picture ?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Answer</a:t>
                </a:r>
                <a:r>
                  <a:rPr lang="en-US" sz="2000" dirty="0"/>
                  <a:t>: NO.</a:t>
                </a:r>
                <a:r>
                  <a:rPr lang="en-US" sz="2000" dirty="0">
                    <a:sym typeface="Wingdings" panose="05000000000000000000" pitchFamily="2" charset="2"/>
                  </a:rPr>
                  <a:t>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2"/>
                <a:stretch>
                  <a:fillRect l="-1852" t="-1677" b="-1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7" name="Group 96"/>
          <p:cNvGrpSpPr/>
          <p:nvPr/>
        </p:nvGrpSpPr>
        <p:grpSpPr>
          <a:xfrm>
            <a:off x="4572000" y="2514600"/>
            <a:ext cx="1079508" cy="1219200"/>
            <a:chOff x="4572000" y="2514600"/>
            <a:chExt cx="1079508" cy="121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1961" r="-921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/>
                <p:cNvSpPr txBox="1"/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𝟏𝟐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1961" r="-972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/>
                <p:cNvSpPr txBox="1"/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𝟏𝟎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TextBox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2000" r="-9722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grpSp>
          <p:nvGrpSpPr>
            <p:cNvPr id="96" name="Group 95"/>
            <p:cNvGrpSpPr/>
            <p:nvPr/>
          </p:nvGrpSpPr>
          <p:grpSpPr>
            <a:xfrm>
              <a:off x="3733800" y="1992868"/>
              <a:ext cx="2438400" cy="2350532"/>
              <a:chOff x="3733800" y="1992868"/>
              <a:chExt cx="2438400" cy="2350532"/>
            </a:xfrm>
          </p:grpSpPr>
          <p:cxnSp>
            <p:nvCxnSpPr>
              <p:cNvPr id="37" name="Straight Connector 36"/>
              <p:cNvCxnSpPr>
                <a:endCxn id="7" idx="7"/>
              </p:cNvCxnSpPr>
              <p:nvPr/>
            </p:nvCxnSpPr>
            <p:spPr>
              <a:xfrm flipH="1">
                <a:off x="5616482" y="2416082"/>
                <a:ext cx="408962" cy="4463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616482" y="2111282"/>
                <a:ext cx="98518" cy="32711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 flipV="1">
                <a:off x="5867400" y="3429000"/>
                <a:ext cx="304800" cy="196334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flipH="1">
                <a:off x="5867400" y="3276600"/>
                <a:ext cx="304800" cy="13008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V="1">
                <a:off x="4800600" y="4038600"/>
                <a:ext cx="0" cy="3048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H="1" flipV="1">
                <a:off x="4800600" y="4016282"/>
                <a:ext cx="282482" cy="2400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733800" y="2971800"/>
                <a:ext cx="38658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793262" y="2830832"/>
                <a:ext cx="327118" cy="140968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endCxn id="11" idx="2"/>
              </p:cNvCxnSpPr>
              <p:nvPr/>
            </p:nvCxnSpPr>
            <p:spPr>
              <a:xfrm>
                <a:off x="4267200" y="2177534"/>
                <a:ext cx="304800" cy="184666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H="1">
                <a:off x="4676218" y="1992868"/>
                <a:ext cx="124384" cy="369332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5562600" y="3494042"/>
              <a:ext cx="152400" cy="13129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Approach 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ine Callout 2 1"/>
              <p:cNvSpPr/>
              <p:nvPr/>
            </p:nvSpPr>
            <p:spPr>
              <a:xfrm>
                <a:off x="7696200" y="914400"/>
                <a:ext cx="1447800" cy="612648"/>
              </a:xfrm>
              <a:prstGeom prst="borderCallout2">
                <a:avLst>
                  <a:gd name="adj1" fmla="val 50833"/>
                  <a:gd name="adj2" fmla="val -660"/>
                  <a:gd name="adj3" fmla="val 50832"/>
                  <a:gd name="adj4" fmla="val -21389"/>
                  <a:gd name="adj5" fmla="val 387294"/>
                  <a:gd name="adj6" fmla="val -1263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about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Line Callout 2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914400"/>
                <a:ext cx="1447800" cy="612648"/>
              </a:xfrm>
              <a:prstGeom prst="borderCallout2">
                <a:avLst>
                  <a:gd name="adj1" fmla="val 50833"/>
                  <a:gd name="adj2" fmla="val -660"/>
                  <a:gd name="adj3" fmla="val 50832"/>
                  <a:gd name="adj4" fmla="val -21389"/>
                  <a:gd name="adj5" fmla="val 387294"/>
                  <a:gd name="adj6" fmla="val -126352"/>
                </a:avLst>
              </a:prstGeom>
              <a:blipFill rotWithShape="1">
                <a:blip r:embed="rId14"/>
                <a:stretch>
                  <a:fillRect t="-1266" r="-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5665741" y="3276600"/>
            <a:ext cx="228600" cy="28308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4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90" grpId="0"/>
      <p:bldP spid="14" grpId="0"/>
      <p:bldP spid="2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Cloud 4"/>
          <p:cNvSpPr/>
          <p:nvPr/>
        </p:nvSpPr>
        <p:spPr>
          <a:xfrm>
            <a:off x="1066800" y="1447800"/>
            <a:ext cx="7620000" cy="365760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4" name="Group 93"/>
          <p:cNvGrpSpPr/>
          <p:nvPr/>
        </p:nvGrpSpPr>
        <p:grpSpPr>
          <a:xfrm>
            <a:off x="4267200" y="2416082"/>
            <a:ext cx="1447800" cy="1470118"/>
            <a:chOff x="4267200" y="2416082"/>
            <a:chExt cx="1447800" cy="1470118"/>
          </a:xfrm>
        </p:grpSpPr>
        <p:cxnSp>
          <p:nvCxnSpPr>
            <p:cNvPr id="12" name="Straight Arrow Connector 11"/>
            <p:cNvCxnSpPr>
              <a:stCxn id="6" idx="2"/>
            </p:cNvCxnSpPr>
            <p:nvPr/>
          </p:nvCxnSpPr>
          <p:spPr>
            <a:xfrm flipH="1" flipV="1">
              <a:off x="4267200" y="2971801"/>
              <a:ext cx="685800" cy="1523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6" idx="4"/>
            </p:cNvCxnSpPr>
            <p:nvPr/>
          </p:nvCxnSpPr>
          <p:spPr>
            <a:xfrm flipH="1">
              <a:off x="4800600" y="3200400"/>
              <a:ext cx="228600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5"/>
            </p:cNvCxnSpPr>
            <p:nvPr/>
          </p:nvCxnSpPr>
          <p:spPr>
            <a:xfrm>
              <a:off x="5083082" y="3178082"/>
              <a:ext cx="631918" cy="1747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7" idx="3"/>
            </p:cNvCxnSpPr>
            <p:nvPr/>
          </p:nvCxnSpPr>
          <p:spPr>
            <a:xfrm flipV="1">
              <a:off x="5105400" y="2568482"/>
              <a:ext cx="403318" cy="533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6" idx="0"/>
              <a:endCxn id="11" idx="5"/>
            </p:cNvCxnSpPr>
            <p:nvPr/>
          </p:nvCxnSpPr>
          <p:spPr>
            <a:xfrm flipH="1" flipV="1">
              <a:off x="4702082" y="2416082"/>
              <a:ext cx="327118" cy="6319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4676219" y="3048000"/>
            <a:ext cx="429181" cy="369332"/>
            <a:chOff x="4676219" y="3048000"/>
            <a:chExt cx="429181" cy="369332"/>
          </a:xfrm>
        </p:grpSpPr>
        <p:sp>
          <p:nvSpPr>
            <p:cNvPr id="6" name="Oval 5"/>
            <p:cNvSpPr/>
            <p:nvPr/>
          </p:nvSpPr>
          <p:spPr>
            <a:xfrm>
              <a:off x="49530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219" y="3048000"/>
                  <a:ext cx="352981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413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5" name="Group 94"/>
          <p:cNvGrpSpPr/>
          <p:nvPr/>
        </p:nvGrpSpPr>
        <p:grpSpPr>
          <a:xfrm>
            <a:off x="4005693" y="1992868"/>
            <a:ext cx="2019751" cy="2263446"/>
            <a:chOff x="4005693" y="1992868"/>
            <a:chExt cx="2019751" cy="2263446"/>
          </a:xfrm>
        </p:grpSpPr>
        <p:sp>
          <p:nvSpPr>
            <p:cNvPr id="7" name="Oval 6"/>
            <p:cNvSpPr/>
            <p:nvPr/>
          </p:nvSpPr>
          <p:spPr>
            <a:xfrm>
              <a:off x="5486400" y="24384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715000" y="33528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4724400" y="38862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114800" y="28956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4572000" y="2286000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3440668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693" y="2971800"/>
                  <a:ext cx="37061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295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8507" y="3886982"/>
                  <a:ext cx="37542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096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213" y="1992868"/>
                  <a:ext cx="356187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2526268"/>
                  <a:ext cx="37542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/>
          <p:cNvGrpSpPr/>
          <p:nvPr/>
        </p:nvGrpSpPr>
        <p:grpSpPr>
          <a:xfrm>
            <a:off x="3733800" y="1992868"/>
            <a:ext cx="2438400" cy="2350532"/>
            <a:chOff x="3733800" y="1992868"/>
            <a:chExt cx="2438400" cy="2350532"/>
          </a:xfrm>
        </p:grpSpPr>
        <p:cxnSp>
          <p:nvCxnSpPr>
            <p:cNvPr id="37" name="Straight Connector 36"/>
            <p:cNvCxnSpPr>
              <a:endCxn id="7" idx="7"/>
            </p:cNvCxnSpPr>
            <p:nvPr/>
          </p:nvCxnSpPr>
          <p:spPr>
            <a:xfrm flipH="1">
              <a:off x="5616482" y="2416082"/>
              <a:ext cx="408962" cy="4463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5616482" y="2111282"/>
              <a:ext cx="98518" cy="32711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H="1" flipV="1">
              <a:off x="5867400" y="3429000"/>
              <a:ext cx="304800" cy="196334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5867400" y="3276600"/>
              <a:ext cx="304800" cy="13008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V="1">
              <a:off x="4800600" y="4038600"/>
              <a:ext cx="0" cy="3048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 flipV="1">
              <a:off x="4800600" y="4016282"/>
              <a:ext cx="282482" cy="24003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V="1">
              <a:off x="3733800" y="2971800"/>
              <a:ext cx="386580" cy="7620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793262" y="2830832"/>
              <a:ext cx="327118" cy="140968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endCxn id="11" idx="2"/>
            </p:cNvCxnSpPr>
            <p:nvPr/>
          </p:nvCxnSpPr>
          <p:spPr>
            <a:xfrm>
              <a:off x="4267200" y="2177534"/>
              <a:ext cx="304800" cy="184666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4676218" y="1992868"/>
              <a:ext cx="124384" cy="369332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/>
          <p:cNvSpPr txBox="1"/>
          <p:nvPr/>
        </p:nvSpPr>
        <p:spPr>
          <a:xfrm>
            <a:off x="610368" y="2895600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70C0"/>
                </a:solidFill>
              </a:rPr>
              <a:t>G</a:t>
            </a:r>
          </a:p>
        </p:txBody>
      </p:sp>
      <p:sp>
        <p:nvSpPr>
          <p:cNvPr id="16" name="Freeform 15"/>
          <p:cNvSpPr/>
          <p:nvPr/>
        </p:nvSpPr>
        <p:spPr>
          <a:xfrm>
            <a:off x="2918982" y="2950029"/>
            <a:ext cx="2099332" cy="1654628"/>
          </a:xfrm>
          <a:custGeom>
            <a:avLst/>
            <a:gdLst>
              <a:gd name="connsiteX0" fmla="*/ 1261132 w 2099332"/>
              <a:gd name="connsiteY0" fmla="*/ 0 h 1654628"/>
              <a:gd name="connsiteX1" fmla="*/ 716847 w 2099332"/>
              <a:gd name="connsiteY1" fmla="*/ 119742 h 1654628"/>
              <a:gd name="connsiteX2" fmla="*/ 390275 w 2099332"/>
              <a:gd name="connsiteY2" fmla="*/ 206828 h 1654628"/>
              <a:gd name="connsiteX3" fmla="*/ 74589 w 2099332"/>
              <a:gd name="connsiteY3" fmla="*/ 435428 h 1654628"/>
              <a:gd name="connsiteX4" fmla="*/ 31047 w 2099332"/>
              <a:gd name="connsiteY4" fmla="*/ 751114 h 1654628"/>
              <a:gd name="connsiteX5" fmla="*/ 466475 w 2099332"/>
              <a:gd name="connsiteY5" fmla="*/ 1317171 h 1654628"/>
              <a:gd name="connsiteX6" fmla="*/ 1631247 w 2099332"/>
              <a:gd name="connsiteY6" fmla="*/ 1415142 h 1654628"/>
              <a:gd name="connsiteX7" fmla="*/ 2099332 w 2099332"/>
              <a:gd name="connsiteY7" fmla="*/ 1654628 h 165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9332" h="1654628">
                <a:moveTo>
                  <a:pt x="1261132" y="0"/>
                </a:moveTo>
                <a:lnTo>
                  <a:pt x="716847" y="119742"/>
                </a:lnTo>
                <a:cubicBezTo>
                  <a:pt x="571704" y="154213"/>
                  <a:pt x="497318" y="154214"/>
                  <a:pt x="390275" y="206828"/>
                </a:cubicBezTo>
                <a:cubicBezTo>
                  <a:pt x="283232" y="259442"/>
                  <a:pt x="134460" y="344714"/>
                  <a:pt x="74589" y="435428"/>
                </a:cubicBezTo>
                <a:cubicBezTo>
                  <a:pt x="14718" y="526142"/>
                  <a:pt x="-34267" y="604157"/>
                  <a:pt x="31047" y="751114"/>
                </a:cubicBezTo>
                <a:cubicBezTo>
                  <a:pt x="96361" y="898071"/>
                  <a:pt x="199775" y="1206500"/>
                  <a:pt x="466475" y="1317171"/>
                </a:cubicBezTo>
                <a:cubicBezTo>
                  <a:pt x="733175" y="1427842"/>
                  <a:pt x="1359104" y="1358899"/>
                  <a:pt x="1631247" y="1415142"/>
                </a:cubicBezTo>
                <a:cubicBezTo>
                  <a:pt x="1903390" y="1471385"/>
                  <a:pt x="2001361" y="1563006"/>
                  <a:pt x="2099332" y="1654628"/>
                </a:cubicBezTo>
              </a:path>
            </a:pathLst>
          </a:cu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5018314" y="3461657"/>
            <a:ext cx="1045398" cy="1433462"/>
          </a:xfrm>
          <a:custGeom>
            <a:avLst/>
            <a:gdLst>
              <a:gd name="connsiteX0" fmla="*/ 0 w 1045398"/>
              <a:gd name="connsiteY0" fmla="*/ 1143000 h 1433462"/>
              <a:gd name="connsiteX1" fmla="*/ 130629 w 1045398"/>
              <a:gd name="connsiteY1" fmla="*/ 1262743 h 1433462"/>
              <a:gd name="connsiteX2" fmla="*/ 413657 w 1045398"/>
              <a:gd name="connsiteY2" fmla="*/ 1426029 h 1433462"/>
              <a:gd name="connsiteX3" fmla="*/ 762000 w 1045398"/>
              <a:gd name="connsiteY3" fmla="*/ 1349829 h 1433462"/>
              <a:gd name="connsiteX4" fmla="*/ 903515 w 1045398"/>
              <a:gd name="connsiteY4" fmla="*/ 870857 h 1433462"/>
              <a:gd name="connsiteX5" fmla="*/ 1045029 w 1045398"/>
              <a:gd name="connsiteY5" fmla="*/ 304800 h 1433462"/>
              <a:gd name="connsiteX6" fmla="*/ 859972 w 1045398"/>
              <a:gd name="connsiteY6" fmla="*/ 0 h 14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5398" h="1433462">
                <a:moveTo>
                  <a:pt x="0" y="1143000"/>
                </a:moveTo>
                <a:cubicBezTo>
                  <a:pt x="30843" y="1179286"/>
                  <a:pt x="61686" y="1215572"/>
                  <a:pt x="130629" y="1262743"/>
                </a:cubicBezTo>
                <a:cubicBezTo>
                  <a:pt x="199572" y="1309914"/>
                  <a:pt x="308429" y="1411515"/>
                  <a:pt x="413657" y="1426029"/>
                </a:cubicBezTo>
                <a:cubicBezTo>
                  <a:pt x="518886" y="1440543"/>
                  <a:pt x="680357" y="1442358"/>
                  <a:pt x="762000" y="1349829"/>
                </a:cubicBezTo>
                <a:cubicBezTo>
                  <a:pt x="843643" y="1257300"/>
                  <a:pt x="856344" y="1045028"/>
                  <a:pt x="903515" y="870857"/>
                </a:cubicBezTo>
                <a:cubicBezTo>
                  <a:pt x="950686" y="696686"/>
                  <a:pt x="1052286" y="449943"/>
                  <a:pt x="1045029" y="304800"/>
                </a:cubicBezTo>
                <a:cubicBezTo>
                  <a:pt x="1037772" y="159657"/>
                  <a:pt x="948872" y="79828"/>
                  <a:pt x="859972" y="0"/>
                </a:cubicBezTo>
              </a:path>
            </a:pathLst>
          </a:custGeom>
          <a:ln w="28575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endCxn id="19" idx="6"/>
          </p:cNvCxnSpPr>
          <p:nvPr/>
        </p:nvCxnSpPr>
        <p:spPr>
          <a:xfrm flipH="1" flipV="1">
            <a:off x="5878286" y="3461657"/>
            <a:ext cx="147158" cy="118254"/>
          </a:xfrm>
          <a:prstGeom prst="straightConnector1">
            <a:avLst/>
          </a:prstGeom>
          <a:ln w="28575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30732" y="4038600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732" y="4038600"/>
                <a:ext cx="686406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1061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/>
          <p:cNvCxnSpPr/>
          <p:nvPr/>
        </p:nvCxnSpPr>
        <p:spPr>
          <a:xfrm flipV="1">
            <a:off x="5562600" y="3494042"/>
            <a:ext cx="152400" cy="13129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Approach 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p:grpSp>
        <p:nvGrpSpPr>
          <p:cNvPr id="51" name="Group 50"/>
          <p:cNvGrpSpPr/>
          <p:nvPr/>
        </p:nvGrpSpPr>
        <p:grpSpPr>
          <a:xfrm>
            <a:off x="4572000" y="2514600"/>
            <a:ext cx="1079508" cy="1219200"/>
            <a:chOff x="4572000" y="2514600"/>
            <a:chExt cx="1079508" cy="121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𝟑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714" y="3273623"/>
                  <a:ext cx="466794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t="-1961" r="-921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𝟓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6962" y="3426023"/>
                  <a:ext cx="332142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𝟏𝟐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816423"/>
                  <a:ext cx="439544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t="-1961" r="-9722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𝟏𝟎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4192" y="2514600"/>
                  <a:ext cx="439544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2000" r="-9722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1" i="1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𝟕</m:t>
                        </m:r>
                      </m:oMath>
                    </m:oMathPara>
                  </a14:m>
                  <a:endParaRPr lang="en-US" sz="1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192" y="2816423"/>
                  <a:ext cx="332142" cy="307777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1961" r="-12727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4249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 animBg="1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Proof</a:t>
                </a:r>
                <a:r>
                  <a:rPr lang="en-US" sz="2000" dirty="0"/>
                  <a:t>: If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is not shortest,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replace it by a shorter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This will give us a path shorter than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Hence a contradiction.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Assumption: </a:t>
                </a:r>
                <a:r>
                  <a:rPr lang="en-US" sz="2000" dirty="0"/>
                  <a:t>The shortest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does not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 b="-5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65" name="Straight Connector 64"/>
            <p:cNvCxnSpPr/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59" name="Straight Connector 58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What </a:t>
            </a:r>
            <a:r>
              <a:rPr lang="en-US" sz="2800" b="1" dirty="0">
                <a:solidFill>
                  <a:srgbClr val="7030A0"/>
                </a:solidFill>
              </a:rPr>
              <a:t>propertie</a:t>
            </a:r>
            <a:r>
              <a:rPr lang="en-US" sz="2800" b="1" dirty="0"/>
              <a:t>s does </a:t>
            </a:r>
            <a:r>
              <a:rPr lang="en-US" sz="2800" b="1" dirty="0" err="1">
                <a:solidFill>
                  <a:srgbClr val="0070C0"/>
                </a:solidFill>
              </a:rPr>
              <a:t>Dijkstra</a:t>
            </a:r>
            <a:r>
              <a:rPr lang="en-US" sz="2800" b="1" dirty="0" err="1"/>
              <a:t>’s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algorithm </a:t>
            </a:r>
            <a:r>
              <a:rPr lang="en-US" sz="2800" b="1" u="sng" dirty="0"/>
              <a:t>exploit</a:t>
            </a:r>
            <a:r>
              <a:rPr lang="en-US" sz="2800" b="1" dirty="0"/>
              <a:t> ?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34" name="Group 33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" name="Oval 4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Oval 47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Oval 4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Oval 4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8" name="Straight Arrow Connector 37"/>
            <p:cNvCxnSpPr>
              <a:endCxn id="50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50" idx="6"/>
              <a:endCxn id="48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46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44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44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52" name="Arc 51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/>
          <p:cNvGrpSpPr/>
          <p:nvPr/>
        </p:nvGrpSpPr>
        <p:grpSpPr>
          <a:xfrm>
            <a:off x="4676962" y="2590799"/>
            <a:ext cx="1800038" cy="1143001"/>
            <a:chOff x="6234808" y="3428998"/>
            <a:chExt cx="1613792" cy="1143000"/>
          </a:xfrm>
        </p:grpSpPr>
        <p:sp>
          <p:nvSpPr>
            <p:cNvPr id="55" name="Arc 54"/>
            <p:cNvSpPr/>
            <p:nvPr/>
          </p:nvSpPr>
          <p:spPr>
            <a:xfrm rot="10800000">
              <a:off x="6234808" y="3428998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ight Brace 72"/>
          <p:cNvSpPr/>
          <p:nvPr/>
        </p:nvSpPr>
        <p:spPr>
          <a:xfrm rot="5400000">
            <a:off x="3994667" y="2025133"/>
            <a:ext cx="392666" cy="2590800"/>
          </a:xfrm>
          <a:prstGeom prst="righ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215245" y="228600"/>
            <a:ext cx="2480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Approach  2</a:t>
            </a:r>
            <a:endParaRPr lang="en-US" sz="3600" dirty="0"/>
          </a:p>
        </p:txBody>
      </p:sp>
      <p:sp>
        <p:nvSpPr>
          <p:cNvPr id="23" name="TextBox 22"/>
          <p:cNvSpPr txBox="1"/>
          <p:nvPr/>
        </p:nvSpPr>
        <p:spPr>
          <a:xfrm>
            <a:off x="1072941" y="2247817"/>
            <a:ext cx="685700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We used 2 </a:t>
            </a:r>
            <a:r>
              <a:rPr lang="en-US" b="1" dirty="0"/>
              <a:t>properties </a:t>
            </a:r>
            <a:r>
              <a:rPr lang="en-US" dirty="0"/>
              <a:t>of a shortest path to design </a:t>
            </a:r>
            <a:r>
              <a:rPr lang="en-US" dirty="0" err="1"/>
              <a:t>Dijkstra’s</a:t>
            </a:r>
            <a:r>
              <a:rPr lang="en-US" dirty="0"/>
              <a:t> algorithm</a:t>
            </a:r>
          </a:p>
        </p:txBody>
      </p:sp>
      <p:sp>
        <p:nvSpPr>
          <p:cNvPr id="28" name="Right Brace 27"/>
          <p:cNvSpPr/>
          <p:nvPr/>
        </p:nvSpPr>
        <p:spPr>
          <a:xfrm>
            <a:off x="5638800" y="3886201"/>
            <a:ext cx="327785" cy="1295399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867400" y="4241512"/>
            <a:ext cx="3315908" cy="584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This proof is based on an assumption.</a:t>
            </a:r>
          </a:p>
          <a:p>
            <a:r>
              <a:rPr lang="en-US" sz="1600" dirty="0"/>
              <a:t>Can you spot that ?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2805704" y="2209800"/>
            <a:ext cx="2762540" cy="742555"/>
            <a:chOff x="3720104" y="1968379"/>
            <a:chExt cx="2528296" cy="666354"/>
          </a:xfrm>
        </p:grpSpPr>
        <p:sp>
          <p:nvSpPr>
            <p:cNvPr id="69" name="Freeform 68"/>
            <p:cNvSpPr/>
            <p:nvPr/>
          </p:nvSpPr>
          <p:spPr>
            <a:xfrm>
              <a:off x="3720104" y="1968379"/>
              <a:ext cx="2506525" cy="633307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Arrow Connector 69"/>
            <p:cNvCxnSpPr>
              <a:stCxn id="69" idx="6"/>
            </p:cNvCxnSpPr>
            <p:nvPr/>
          </p:nvCxnSpPr>
          <p:spPr>
            <a:xfrm>
              <a:off x="6226629" y="2579914"/>
              <a:ext cx="21771" cy="548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Cloud Callout 70"/>
          <p:cNvSpPr/>
          <p:nvPr/>
        </p:nvSpPr>
        <p:spPr>
          <a:xfrm>
            <a:off x="2654291" y="5562600"/>
            <a:ext cx="4757570" cy="1022866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see that this assumption exploits the fact that edge weights are non-negative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139588" y="3173849"/>
                <a:ext cx="3004412" cy="116955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Exploiting the fact that </a:t>
                </a:r>
              </a:p>
              <a:p>
                <a:pPr algn="ctr"/>
                <a:r>
                  <a:rPr lang="en-US" sz="1400" dirty="0"/>
                  <a:t>edge weights are non-negative, </a:t>
                </a:r>
              </a:p>
              <a:p>
                <a:pPr algn="ctr"/>
                <a:r>
                  <a:rPr lang="en-US" sz="1400" dirty="0"/>
                  <a:t>argue that the green path from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400" dirty="0"/>
                  <a:t> to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1400" dirty="0"/>
              </a:p>
              <a:p>
                <a:pPr algn="ctr"/>
                <a:r>
                  <a:rPr lang="en-US" sz="1400" dirty="0"/>
                  <a:t>is shorter than </a:t>
                </a:r>
                <a14:m>
                  <m:oMath xmlns:m="http://schemas.openxmlformats.org/officeDocument/2006/math"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1400" b="1" i="1" dirty="0">
                        <a:latin typeface="Cambria Math"/>
                      </a:rPr>
                      <m:t>(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400" b="1" i="1" dirty="0">
                        <a:latin typeface="Cambria Math"/>
                      </a:rPr>
                      <m:t>,</m:t>
                    </m:r>
                    <m:r>
                      <a:rPr lang="en-US" sz="14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4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400" dirty="0"/>
                  <a:t>.  </a:t>
                </a:r>
              </a:p>
              <a:p>
                <a:pPr algn="ctr"/>
                <a:r>
                  <a:rPr lang="en-US" sz="1400" dirty="0"/>
                  <a:t>Contradiction !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588" y="3173849"/>
                <a:ext cx="3004412" cy="1169551"/>
              </a:xfrm>
              <a:prstGeom prst="rect">
                <a:avLst/>
              </a:prstGeom>
              <a:blipFill rotWithShape="1">
                <a:blip r:embed="rId14"/>
                <a:stretch>
                  <a:fillRect r="-1414" b="-36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4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1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1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4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9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4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/>
      <p:bldP spid="5" grpId="0"/>
      <p:bldP spid="22" grpId="0" uiExpand="1" animBg="1"/>
      <p:bldP spid="73" grpId="0" animBg="1"/>
      <p:bldP spid="73" grpId="1" animBg="1"/>
      <p:bldP spid="67" grpId="0"/>
      <p:bldP spid="67" grpId="1"/>
      <p:bldP spid="23" grpId="0" animBg="1"/>
      <p:bldP spid="23" grpId="1" animBg="1"/>
      <p:bldP spid="28" grpId="0" animBg="1"/>
      <p:bldP spid="28" grpId="1" animBg="1"/>
      <p:bldP spid="29" grpId="0" animBg="1"/>
      <p:bldP spid="29" grpId="1" animBg="1"/>
      <p:bldP spid="71" grpId="0" animBg="1"/>
      <p:bldP spid="71" grpId="1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2</a:t>
                </a:r>
                <a:r>
                  <a:rPr lang="en-US" sz="2000" dirty="0"/>
                  <a:t>: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d>
                      <m:d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)≤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What </a:t>
            </a:r>
            <a:r>
              <a:rPr lang="en-US" sz="2800" b="1" dirty="0">
                <a:solidFill>
                  <a:srgbClr val="7030A0"/>
                </a:solidFill>
              </a:rPr>
              <a:t>propertie</a:t>
            </a:r>
            <a:r>
              <a:rPr lang="en-US" sz="2800" b="1" dirty="0"/>
              <a:t>s does </a:t>
            </a:r>
            <a:r>
              <a:rPr lang="en-US" sz="2800" b="1" dirty="0" err="1">
                <a:solidFill>
                  <a:srgbClr val="0070C0"/>
                </a:solidFill>
              </a:rPr>
              <a:t>Dijkstra</a:t>
            </a:r>
            <a:r>
              <a:rPr lang="en-US" sz="2800" b="1" dirty="0" err="1"/>
              <a:t>’s</a:t>
            </a:r>
            <a:r>
              <a:rPr lang="en-US" sz="2800" b="1" dirty="0">
                <a:solidFill>
                  <a:srgbClr val="006C31"/>
                </a:solidFill>
              </a:rPr>
              <a:t> </a:t>
            </a:r>
            <a:r>
              <a:rPr lang="en-US" sz="2800" b="1" dirty="0"/>
              <a:t>algorithm </a:t>
            </a:r>
            <a:r>
              <a:rPr lang="en-US" sz="2800" b="1" u="sng" dirty="0"/>
              <a:t>exploit</a:t>
            </a:r>
            <a:r>
              <a:rPr lang="en-US" sz="2800" b="1" dirty="0"/>
              <a:t> ?</a:t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&quot;No&quot; Symbol 24"/>
          <p:cNvSpPr/>
          <p:nvPr/>
        </p:nvSpPr>
        <p:spPr>
          <a:xfrm>
            <a:off x="76200" y="3657600"/>
            <a:ext cx="457200" cy="457200"/>
          </a:xfrm>
          <a:prstGeom prst="noSmoking">
            <a:avLst>
              <a:gd name="adj" fmla="val 1160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68" name="TextBox 67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33" name="Cloud Callout 32"/>
          <p:cNvSpPr/>
          <p:nvPr/>
        </p:nvSpPr>
        <p:spPr>
          <a:xfrm>
            <a:off x="2654291" y="5562600"/>
            <a:ext cx="4757570" cy="1022866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Which of these properties will fail to hold if edge weights are allowed to be negative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67" y="1004500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0781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 animBg="1"/>
      <p:bldP spid="33" grpId="0" animBg="1"/>
      <p:bldP spid="33" grpId="1" animBg="1"/>
      <p:bldP spid="2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To show the violation, we need to come up with </a:t>
                </a:r>
              </a:p>
              <a:p>
                <a:pPr marL="0" indent="0">
                  <a:buNone/>
                </a:pPr>
                <a:r>
                  <a:rPr lang="en-US" sz="1800" dirty="0"/>
                  <a:t>a path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of length &lt;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60</a:t>
                </a:r>
                <a:r>
                  <a:rPr lang="en-US" sz="1800" dirty="0"/>
                  <a:t> that intersects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1800" b="1" i="1" dirty="0">
                            <a:latin typeface="Cambria Math"/>
                          </a:rPr>
                          <m:t>,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and still keeping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=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5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 b="-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29" name="TextBox 28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423792" y="3730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grpSp>
        <p:nvGrpSpPr>
          <p:cNvPr id="107" name="Group 106"/>
          <p:cNvGrpSpPr/>
          <p:nvPr/>
        </p:nvGrpSpPr>
        <p:grpSpPr>
          <a:xfrm>
            <a:off x="2924362" y="1752600"/>
            <a:ext cx="3676276" cy="841177"/>
            <a:chOff x="2924362" y="1752600"/>
            <a:chExt cx="3676276" cy="841177"/>
          </a:xfrm>
        </p:grpSpPr>
        <p:sp>
          <p:nvSpPr>
            <p:cNvPr id="59" name="TextBox 58"/>
            <p:cNvSpPr txBox="1"/>
            <p:nvPr/>
          </p:nvSpPr>
          <p:spPr>
            <a:xfrm>
              <a:off x="374739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76962" y="175260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-3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460660" y="1752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24600" y="2283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24362" y="2286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158" name="Straight Connector 157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170" name="Arc 169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4676962" y="2590800"/>
            <a:ext cx="1800038" cy="1143001"/>
            <a:chOff x="6234808" y="3429000"/>
            <a:chExt cx="1613792" cy="1143000"/>
          </a:xfrm>
        </p:grpSpPr>
        <p:sp>
          <p:nvSpPr>
            <p:cNvPr id="71" name="Arc 70"/>
            <p:cNvSpPr/>
            <p:nvPr/>
          </p:nvSpPr>
          <p:spPr>
            <a:xfrm rot="10800000">
              <a:off x="6234808" y="3429000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180" name="Group 179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Oval 19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4" name="Oval 19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2" name="Oval 191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0" name="Oval 18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4" name="Straight Arrow Connector 183"/>
            <p:cNvCxnSpPr>
              <a:endCxn id="196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>
              <a:stCxn id="196" idx="6"/>
              <a:endCxn id="194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endCxn id="192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endCxn id="190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90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177" name="Straight Connector 176"/>
            <p:cNvCxnSpPr>
              <a:endCxn id="17" idx="2"/>
            </p:cNvCxnSpPr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 rot="10800000">
            <a:off x="2819400" y="3276599"/>
            <a:ext cx="2743200" cy="669667"/>
            <a:chOff x="3505200" y="2759333"/>
            <a:chExt cx="2743200" cy="669667"/>
          </a:xfrm>
        </p:grpSpPr>
        <p:sp>
          <p:nvSpPr>
            <p:cNvPr id="73" name="Right Brace 72"/>
            <p:cNvSpPr/>
            <p:nvPr/>
          </p:nvSpPr>
          <p:spPr>
            <a:xfrm rot="16200000">
              <a:off x="4680467" y="1861067"/>
              <a:ext cx="392666" cy="2743200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 rot="10800000">
              <a:off x="4610496" y="27593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60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524000" y="1535668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5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24000" y="19050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40</a:t>
            </a:r>
          </a:p>
        </p:txBody>
      </p:sp>
      <p:sp>
        <p:nvSpPr>
          <p:cNvPr id="79" name="&quot;No&quot; Symbol 78"/>
          <p:cNvSpPr/>
          <p:nvPr/>
        </p:nvSpPr>
        <p:spPr>
          <a:xfrm>
            <a:off x="76200" y="1143000"/>
            <a:ext cx="457200" cy="457200"/>
          </a:xfrm>
          <a:prstGeom prst="noSmoking">
            <a:avLst>
              <a:gd name="adj" fmla="val 1160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Down Ribbon 24"/>
          <p:cNvSpPr/>
          <p:nvPr/>
        </p:nvSpPr>
        <p:spPr>
          <a:xfrm>
            <a:off x="6051104" y="4038600"/>
            <a:ext cx="3007078" cy="111378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This example illustrates that the </a:t>
            </a:r>
            <a:r>
              <a:rPr lang="en-US" sz="1200" b="1" dirty="0">
                <a:solidFill>
                  <a:schemeClr val="tx1"/>
                </a:solidFill>
              </a:rPr>
              <a:t>optimal </a:t>
            </a:r>
            <a:r>
              <a:rPr lang="en-US" sz="1200" b="1" dirty="0" err="1">
                <a:solidFill>
                  <a:schemeClr val="tx1"/>
                </a:solidFill>
              </a:rPr>
              <a:t>subpath</a:t>
            </a:r>
            <a:r>
              <a:rPr lang="en-US" sz="1200" b="1" dirty="0">
                <a:solidFill>
                  <a:schemeClr val="tx1"/>
                </a:solidFill>
              </a:rPr>
              <a:t> property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u="sng" dirty="0">
                <a:solidFill>
                  <a:schemeClr val="tx1"/>
                </a:solidFill>
              </a:rPr>
              <a:t>may</a:t>
            </a:r>
            <a:r>
              <a:rPr lang="en-US" sz="1200" dirty="0">
                <a:solidFill>
                  <a:schemeClr val="tx1"/>
                </a:solidFill>
              </a:rPr>
              <a:t> get violated when the edge weights are negative.</a:t>
            </a:r>
          </a:p>
        </p:txBody>
      </p:sp>
      <p:sp>
        <p:nvSpPr>
          <p:cNvPr id="28" name="Cloud Callout 27"/>
          <p:cNvSpPr/>
          <p:nvPr/>
        </p:nvSpPr>
        <p:spPr>
          <a:xfrm>
            <a:off x="3412322" y="4011072"/>
            <a:ext cx="1933019" cy="773160"/>
          </a:xfrm>
          <a:prstGeom prst="cloudCallout">
            <a:avLst>
              <a:gd name="adj1" fmla="val -28777"/>
              <a:gd name="adj2" fmla="val 803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to do ?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Down Arrow 31"/>
          <p:cNvSpPr/>
          <p:nvPr/>
        </p:nvSpPr>
        <p:spPr>
          <a:xfrm rot="1878908">
            <a:off x="3369558" y="4725437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218272" y="5486400"/>
            <a:ext cx="2292572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Start all over from scratch to solve the shortest paths  problem in graph with –</a:t>
            </a:r>
            <a:r>
              <a:rPr lang="en-US" sz="1400" dirty="0" err="1">
                <a:solidFill>
                  <a:schemeClr val="tx1"/>
                </a:solidFill>
              </a:rPr>
              <a:t>ve</a:t>
            </a:r>
            <a:r>
              <a:rPr lang="en-US" sz="1400" dirty="0">
                <a:solidFill>
                  <a:schemeClr val="tx1"/>
                </a:solidFill>
              </a:rPr>
              <a:t> edge weights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88669" y="5486400"/>
            <a:ext cx="2438400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Let us investigate like a true researcher for the exact cause of the violation of the optimal </a:t>
            </a:r>
            <a:r>
              <a:rPr lang="en-US" sz="1400" dirty="0" err="1">
                <a:solidFill>
                  <a:schemeClr val="tx1"/>
                </a:solidFill>
              </a:rPr>
              <a:t>subpath</a:t>
            </a:r>
            <a:r>
              <a:rPr lang="en-US" sz="1400" dirty="0">
                <a:solidFill>
                  <a:schemeClr val="tx1"/>
                </a:solidFill>
              </a:rPr>
              <a:t> property.</a:t>
            </a:r>
          </a:p>
        </p:txBody>
      </p:sp>
      <p:sp>
        <p:nvSpPr>
          <p:cNvPr id="84" name="Down Arrow 83"/>
          <p:cNvSpPr/>
          <p:nvPr/>
        </p:nvSpPr>
        <p:spPr>
          <a:xfrm rot="19390715">
            <a:off x="5141980" y="4743720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-Shape 33"/>
          <p:cNvSpPr/>
          <p:nvPr/>
        </p:nvSpPr>
        <p:spPr>
          <a:xfrm rot="19493833">
            <a:off x="7490443" y="5542287"/>
            <a:ext cx="552424" cy="294130"/>
          </a:xfrm>
          <a:prstGeom prst="corner">
            <a:avLst>
              <a:gd name="adj1" fmla="val 33177"/>
              <a:gd name="adj2" fmla="val 28083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3703277" y="5556725"/>
            <a:ext cx="1219200" cy="4117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Give up !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4229953" y="4877837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loud Callout 88"/>
          <p:cNvSpPr/>
          <p:nvPr/>
        </p:nvSpPr>
        <p:spPr>
          <a:xfrm>
            <a:off x="3062381" y="5556725"/>
            <a:ext cx="1704419" cy="604392"/>
          </a:xfrm>
          <a:prstGeom prst="cloudCallout">
            <a:avLst>
              <a:gd name="adj1" fmla="val -28777"/>
              <a:gd name="adj2" fmla="val 803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But how ?</a:t>
            </a:r>
          </a:p>
        </p:txBody>
      </p:sp>
      <p:sp>
        <p:nvSpPr>
          <p:cNvPr id="90" name="Down Ribbon 89"/>
          <p:cNvSpPr/>
          <p:nvPr/>
        </p:nvSpPr>
        <p:spPr>
          <a:xfrm>
            <a:off x="0" y="5364490"/>
            <a:ext cx="3352800" cy="80771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Instead of working with these numbers (2,-3,10,…), consider a </a:t>
            </a:r>
            <a:r>
              <a:rPr lang="en-US" sz="1200" b="1" dirty="0">
                <a:solidFill>
                  <a:schemeClr val="tx1"/>
                </a:solidFill>
              </a:rPr>
              <a:t>generic example </a:t>
            </a:r>
            <a:r>
              <a:rPr lang="en-US" sz="1200" dirty="0">
                <a:solidFill>
                  <a:schemeClr val="tx1"/>
                </a:solidFill>
              </a:rPr>
              <a:t>where the property fails.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4174" y="4419601"/>
            <a:ext cx="2184047" cy="53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0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" grpId="1" uiExpand="1" build="p"/>
      <p:bldP spid="78" grpId="0"/>
      <p:bldP spid="22" grpId="0" uiExpand="1" animBg="1"/>
      <p:bldP spid="23" grpId="0" animBg="1"/>
      <p:bldP spid="79" grpId="0" animBg="1"/>
      <p:bldP spid="25" grpId="0" animBg="1"/>
      <p:bldP spid="25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83" grpId="0" animBg="1"/>
      <p:bldP spid="84" grpId="0" animBg="1"/>
      <p:bldP spid="84" grpId="1" animBg="1"/>
      <p:bldP spid="34" grpId="0" animBg="1"/>
      <p:bldP spid="36" grpId="0" animBg="1"/>
      <p:bldP spid="36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When can the shortest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path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𝝉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𝜷</m:t>
                    </m:r>
                    <m:r>
                      <a:rPr lang="en-US" sz="1800" b="1" i="1" dirty="0" smtClean="0">
                        <a:latin typeface="Cambria Math"/>
                      </a:rPr>
                      <m:t>&lt;</m:t>
                    </m:r>
                    <m:r>
                      <a:rPr lang="en-US" sz="1800" b="1" i="1" dirty="0" smtClean="0">
                        <a:latin typeface="Cambria Math"/>
                      </a:rPr>
                      <m:t>𝜶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𝜷</m:t>
                    </m:r>
                  </m:oMath>
                </a14:m>
                <a:endParaRPr lang="en-US" sz="1800" b="1" dirty="0"/>
              </a:p>
              <a:p>
                <a:pPr>
                  <a:buFont typeface="Wingdings"/>
                  <a:buChar char="è"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𝜶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𝜷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𝜸</m:t>
                    </m:r>
                    <m:r>
                      <a:rPr lang="en-US" sz="1800" b="1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𝝉</m:t>
                    </m:r>
                    <m:r>
                      <a:rPr lang="en-US" sz="1800" b="1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𝜷</m:t>
                    </m:r>
                    <m:r>
                      <a:rPr lang="en-US" sz="1800" b="1" i="1" dirty="0"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latin typeface="Cambria Math"/>
                      </a:rPr>
                      <m:t>𝜶</m:t>
                    </m:r>
                    <m:r>
                      <a:rPr lang="en-US" sz="1800" b="1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𝜷</m:t>
                    </m:r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cxnSp>
          <p:nvCxnSpPr>
            <p:cNvPr id="24" name="Straight Arrow Connector 23"/>
            <p:cNvCxnSpPr>
              <a:stCxn id="7" idx="6"/>
              <a:endCxn id="17" idx="2"/>
            </p:cNvCxnSpPr>
            <p:nvPr/>
          </p:nvCxnSpPr>
          <p:spPr>
            <a:xfrm>
              <a:off x="2895600" y="2971800"/>
              <a:ext cx="2596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 24"/>
          <p:cNvSpPr/>
          <p:nvPr/>
        </p:nvSpPr>
        <p:spPr>
          <a:xfrm>
            <a:off x="2917371" y="1811817"/>
            <a:ext cx="3623923" cy="1164751"/>
          </a:xfrm>
          <a:custGeom>
            <a:avLst/>
            <a:gdLst>
              <a:gd name="connsiteX0" fmla="*/ 0 w 3623923"/>
              <a:gd name="connsiteY0" fmla="*/ 1149097 h 1176143"/>
              <a:gd name="connsiteX1" fmla="*/ 468086 w 3623923"/>
              <a:gd name="connsiteY1" fmla="*/ 1170869 h 1176143"/>
              <a:gd name="connsiteX2" fmla="*/ 696686 w 3623923"/>
              <a:gd name="connsiteY2" fmla="*/ 1062012 h 1176143"/>
              <a:gd name="connsiteX3" fmla="*/ 870858 w 3623923"/>
              <a:gd name="connsiteY3" fmla="*/ 746326 h 1176143"/>
              <a:gd name="connsiteX4" fmla="*/ 1349829 w 3623923"/>
              <a:gd name="connsiteY4" fmla="*/ 60526 h 1176143"/>
              <a:gd name="connsiteX5" fmla="*/ 2090058 w 3623923"/>
              <a:gd name="connsiteY5" fmla="*/ 289126 h 1176143"/>
              <a:gd name="connsiteX6" fmla="*/ 3015343 w 3623923"/>
              <a:gd name="connsiteY6" fmla="*/ 6097 h 1176143"/>
              <a:gd name="connsiteX7" fmla="*/ 3559629 w 3623923"/>
              <a:gd name="connsiteY7" fmla="*/ 180269 h 1176143"/>
              <a:gd name="connsiteX8" fmla="*/ 3592286 w 3623923"/>
              <a:gd name="connsiteY8" fmla="*/ 1083783 h 1176143"/>
              <a:gd name="connsiteX0" fmla="*/ 0 w 3623923"/>
              <a:gd name="connsiteY0" fmla="*/ 1149097 h 1186401"/>
              <a:gd name="connsiteX1" fmla="*/ 468086 w 3623923"/>
              <a:gd name="connsiteY1" fmla="*/ 1170869 h 1186401"/>
              <a:gd name="connsiteX2" fmla="*/ 762000 w 3623923"/>
              <a:gd name="connsiteY2" fmla="*/ 920498 h 1186401"/>
              <a:gd name="connsiteX3" fmla="*/ 870858 w 3623923"/>
              <a:gd name="connsiteY3" fmla="*/ 746326 h 1186401"/>
              <a:gd name="connsiteX4" fmla="*/ 1349829 w 3623923"/>
              <a:gd name="connsiteY4" fmla="*/ 60526 h 1186401"/>
              <a:gd name="connsiteX5" fmla="*/ 2090058 w 3623923"/>
              <a:gd name="connsiteY5" fmla="*/ 289126 h 1186401"/>
              <a:gd name="connsiteX6" fmla="*/ 3015343 w 3623923"/>
              <a:gd name="connsiteY6" fmla="*/ 6097 h 1186401"/>
              <a:gd name="connsiteX7" fmla="*/ 3559629 w 3623923"/>
              <a:gd name="connsiteY7" fmla="*/ 180269 h 1186401"/>
              <a:gd name="connsiteX8" fmla="*/ 3592286 w 3623923"/>
              <a:gd name="connsiteY8" fmla="*/ 1083783 h 1186401"/>
              <a:gd name="connsiteX0" fmla="*/ 0 w 3623923"/>
              <a:gd name="connsiteY0" fmla="*/ 1149097 h 1164751"/>
              <a:gd name="connsiteX1" fmla="*/ 478972 w 3623923"/>
              <a:gd name="connsiteY1" fmla="*/ 1138212 h 1164751"/>
              <a:gd name="connsiteX2" fmla="*/ 762000 w 3623923"/>
              <a:gd name="connsiteY2" fmla="*/ 920498 h 1164751"/>
              <a:gd name="connsiteX3" fmla="*/ 870858 w 3623923"/>
              <a:gd name="connsiteY3" fmla="*/ 746326 h 1164751"/>
              <a:gd name="connsiteX4" fmla="*/ 1349829 w 3623923"/>
              <a:gd name="connsiteY4" fmla="*/ 60526 h 1164751"/>
              <a:gd name="connsiteX5" fmla="*/ 2090058 w 3623923"/>
              <a:gd name="connsiteY5" fmla="*/ 289126 h 1164751"/>
              <a:gd name="connsiteX6" fmla="*/ 3015343 w 3623923"/>
              <a:gd name="connsiteY6" fmla="*/ 6097 h 1164751"/>
              <a:gd name="connsiteX7" fmla="*/ 3559629 w 3623923"/>
              <a:gd name="connsiteY7" fmla="*/ 180269 h 1164751"/>
              <a:gd name="connsiteX8" fmla="*/ 3592286 w 3623923"/>
              <a:gd name="connsiteY8" fmla="*/ 1083783 h 116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3923" h="1164751">
                <a:moveTo>
                  <a:pt x="0" y="1149097"/>
                </a:moveTo>
                <a:cubicBezTo>
                  <a:pt x="175986" y="1167240"/>
                  <a:pt x="351972" y="1176312"/>
                  <a:pt x="478972" y="1138212"/>
                </a:cubicBezTo>
                <a:cubicBezTo>
                  <a:pt x="605972" y="1100112"/>
                  <a:pt x="696686" y="985812"/>
                  <a:pt x="762000" y="920498"/>
                </a:cubicBezTo>
                <a:cubicBezTo>
                  <a:pt x="827314" y="855184"/>
                  <a:pt x="772887" y="889655"/>
                  <a:pt x="870858" y="746326"/>
                </a:cubicBezTo>
                <a:cubicBezTo>
                  <a:pt x="968829" y="602997"/>
                  <a:pt x="1146629" y="136726"/>
                  <a:pt x="1349829" y="60526"/>
                </a:cubicBezTo>
                <a:cubicBezTo>
                  <a:pt x="1553029" y="-15674"/>
                  <a:pt x="1812472" y="298197"/>
                  <a:pt x="2090058" y="289126"/>
                </a:cubicBezTo>
                <a:cubicBezTo>
                  <a:pt x="2367644" y="280055"/>
                  <a:pt x="2770415" y="24240"/>
                  <a:pt x="3015343" y="6097"/>
                </a:cubicBezTo>
                <a:cubicBezTo>
                  <a:pt x="3260271" y="-12046"/>
                  <a:pt x="3463472" y="655"/>
                  <a:pt x="3559629" y="180269"/>
                </a:cubicBezTo>
                <a:cubicBezTo>
                  <a:pt x="3655786" y="359883"/>
                  <a:pt x="3624036" y="721833"/>
                  <a:pt x="3592286" y="1083783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832534" y="2971800"/>
            <a:ext cx="2980310" cy="1291517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>
            <a:stCxn id="32" idx="8"/>
          </p:cNvCxnSpPr>
          <p:nvPr/>
        </p:nvCxnSpPr>
        <p:spPr>
          <a:xfrm>
            <a:off x="4419600" y="2971800"/>
            <a:ext cx="1072444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5638800" y="2971800"/>
            <a:ext cx="767644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334000" y="1459468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459468"/>
                <a:ext cx="380232" cy="369332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333" r="-2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𝜷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2153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𝜸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𝝉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224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600" y="4953001"/>
                <a:ext cx="21951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>
                          <a:latin typeface="Cambria Math"/>
                        </a:rPr>
                        <m:t>𝜶</m:t>
                      </m:r>
                      <m:r>
                        <a:rPr lang="en-US" b="1" i="1" dirty="0">
                          <a:latin typeface="Cambria Math"/>
                        </a:rPr>
                        <m:t>+</m:t>
                      </m:r>
                      <m:r>
                        <a:rPr lang="en-US" b="1" i="1" dirty="0">
                          <a:latin typeface="Cambria Math"/>
                        </a:rPr>
                        <m:t>𝜷</m:t>
                      </m:r>
                      <m:r>
                        <a:rPr lang="en-US" b="1" i="1" dirty="0">
                          <a:latin typeface="Cambria Math"/>
                        </a:rPr>
                        <m:t>+</m:t>
                      </m:r>
                      <m:r>
                        <a:rPr lang="en-US" b="1" i="1" dirty="0">
                          <a:latin typeface="Cambria Math"/>
                        </a:rPr>
                        <m:t>𝜸</m:t>
                      </m:r>
                      <m:r>
                        <a:rPr lang="en-US" b="1" i="1" dirty="0">
                          <a:latin typeface="Cambria Math"/>
                        </a:rPr>
                        <m:t>≤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953001"/>
                <a:ext cx="2195177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𝜸</m:t>
                    </m:r>
                    <m:r>
                      <a:rPr lang="en-US" b="1" i="1" dirty="0">
                        <a:latin typeface="Cambria Math"/>
                      </a:rPr>
                      <m:t>+ </m:t>
                    </m:r>
                    <m:r>
                      <a:rPr lang="en-US" b="1" i="1" dirty="0"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latin typeface="Cambria Math"/>
                      </a:rPr>
                      <m:t>𝜷</m:t>
                    </m:r>
                    <m:r>
                      <a:rPr lang="en-US" b="1" i="1" dirty="0">
                        <a:latin typeface="Cambria Math"/>
                      </a:rPr>
                      <m:t>&lt;</m:t>
                    </m:r>
                    <m:r>
                      <a:rPr lang="en-US" b="1" i="1" dirty="0">
                        <a:latin typeface="Cambria Math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2516" t="-9836" r="-4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loud Callout 29"/>
              <p:cNvSpPr/>
              <p:nvPr/>
            </p:nvSpPr>
            <p:spPr>
              <a:xfrm>
                <a:off x="6573945" y="818735"/>
                <a:ext cx="2585224" cy="1281465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 to ?</a:t>
                </a:r>
              </a:p>
            </p:txBody>
          </p:sp>
        </mc:Choice>
        <mc:Fallback xmlns="">
          <p:sp>
            <p:nvSpPr>
              <p:cNvPr id="30" name="Cloud Callou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945" y="818735"/>
                <a:ext cx="2585224" cy="1281465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2939783" y="4909067"/>
                <a:ext cx="3613417" cy="34873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Because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the shortest path</a:t>
                </a:r>
                <a:endParaRPr lang="en-US" dirty="0"/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783" y="4909067"/>
                <a:ext cx="3613417" cy="348733"/>
              </a:xfrm>
              <a:prstGeom prst="roundRect">
                <a:avLst/>
              </a:prstGeom>
              <a:blipFill rotWithShape="1">
                <a:blip r:embed="rId20"/>
                <a:stretch>
                  <a:fillRect t="-6452" r="-167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/>
              <p:cNvSpPr/>
              <p:nvPr/>
            </p:nvSpPr>
            <p:spPr>
              <a:xfrm>
                <a:off x="2917371" y="5257800"/>
                <a:ext cx="6226629" cy="34873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Since the green path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</a:t>
                </a:r>
                <a:r>
                  <a:rPr lang="en-US" b="1" dirty="0">
                    <a:solidFill>
                      <a:schemeClr val="tx1"/>
                    </a:solidFill>
                  </a:rPr>
                  <a:t>shorter</a:t>
                </a:r>
                <a:r>
                  <a:rPr lang="en-US" dirty="0">
                    <a:solidFill>
                      <a:schemeClr val="tx1"/>
                    </a:solidFill>
                  </a:rPr>
                  <a:t> than the </a:t>
                </a:r>
                <a:r>
                  <a:rPr lang="en-US" dirty="0" err="1">
                    <a:solidFill>
                      <a:schemeClr val="tx1"/>
                    </a:solidFill>
                  </a:rPr>
                  <a:t>subpath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1" name="Rounded 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371" y="5257800"/>
                <a:ext cx="6226629" cy="348733"/>
              </a:xfrm>
              <a:prstGeom prst="roundRect">
                <a:avLst/>
              </a:prstGeom>
              <a:blipFill rotWithShape="1">
                <a:blip r:embed="rId21"/>
                <a:stretch>
                  <a:fillRect t="-8197" r="-13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47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5" grpId="0"/>
      <p:bldP spid="25" grpId="0" uiExpand="1" animBg="1"/>
      <p:bldP spid="32" grpId="0" uiExpand="1" animBg="1"/>
      <p:bldP spid="22" grpId="0" uiExpand="1"/>
      <p:bldP spid="23" grpId="0" uiExpand="1"/>
      <p:bldP spid="26" grpId="0" uiExpand="1"/>
      <p:bldP spid="28" grpId="0" uiExpand="1"/>
      <p:bldP spid="29" grpId="0" uiExpand="1"/>
      <p:bldP spid="10" grpId="0" uiExpand="1"/>
      <p:bldP spid="10" grpId="1"/>
      <p:bldP spid="11" grpId="0"/>
      <p:bldP spid="30" grpId="0" animBg="1"/>
      <p:bldP spid="9" grpId="0" animBg="1"/>
      <p:bldP spid="9" grpId="1" animBg="1"/>
      <p:bldP spid="31" grpId="0" animBg="1"/>
      <p:bldP spid="31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/>
          <p:cNvCxnSpPr>
            <a:stCxn id="22" idx="8"/>
          </p:cNvCxnSpPr>
          <p:nvPr/>
        </p:nvCxnSpPr>
        <p:spPr>
          <a:xfrm>
            <a:off x="4419934" y="2971800"/>
            <a:ext cx="1072444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3832868" y="2971800"/>
            <a:ext cx="2980310" cy="1291517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When can the shortest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path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</a:t>
                </a:r>
                <a:r>
                  <a:rPr lang="en-US" sz="1800" dirty="0"/>
                  <a:t>: Weight of the cycle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>
                    <a:solidFill>
                      <a:srgbClr val="7030A0"/>
                    </a:solidFill>
                  </a:rPr>
                  <a:t> </a:t>
                </a:r>
                <a:r>
                  <a:rPr lang="en-US" sz="1800" dirty="0"/>
                  <a:t>must be </a:t>
                </a:r>
                <a:r>
                  <a:rPr lang="en-US" sz="1800" b="1" dirty="0"/>
                  <a:t>NEGATIVE</a:t>
                </a:r>
                <a:r>
                  <a:rPr lang="en-US" sz="1800" dirty="0"/>
                  <a:t>.</a:t>
                </a: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 </a:t>
                </a:r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741"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cxnSp>
          <p:nvCxnSpPr>
            <p:cNvPr id="24" name="Straight Arrow Connector 23"/>
            <p:cNvCxnSpPr>
              <a:stCxn id="7" idx="6"/>
              <a:endCxn id="17" idx="2"/>
            </p:cNvCxnSpPr>
            <p:nvPr/>
          </p:nvCxnSpPr>
          <p:spPr>
            <a:xfrm>
              <a:off x="2895600" y="2971800"/>
              <a:ext cx="2596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 24"/>
          <p:cNvSpPr/>
          <p:nvPr/>
        </p:nvSpPr>
        <p:spPr>
          <a:xfrm>
            <a:off x="2917371" y="1811817"/>
            <a:ext cx="3623923" cy="1164751"/>
          </a:xfrm>
          <a:custGeom>
            <a:avLst/>
            <a:gdLst>
              <a:gd name="connsiteX0" fmla="*/ 0 w 3623923"/>
              <a:gd name="connsiteY0" fmla="*/ 1149097 h 1176143"/>
              <a:gd name="connsiteX1" fmla="*/ 468086 w 3623923"/>
              <a:gd name="connsiteY1" fmla="*/ 1170869 h 1176143"/>
              <a:gd name="connsiteX2" fmla="*/ 696686 w 3623923"/>
              <a:gd name="connsiteY2" fmla="*/ 1062012 h 1176143"/>
              <a:gd name="connsiteX3" fmla="*/ 870858 w 3623923"/>
              <a:gd name="connsiteY3" fmla="*/ 746326 h 1176143"/>
              <a:gd name="connsiteX4" fmla="*/ 1349829 w 3623923"/>
              <a:gd name="connsiteY4" fmla="*/ 60526 h 1176143"/>
              <a:gd name="connsiteX5" fmla="*/ 2090058 w 3623923"/>
              <a:gd name="connsiteY5" fmla="*/ 289126 h 1176143"/>
              <a:gd name="connsiteX6" fmla="*/ 3015343 w 3623923"/>
              <a:gd name="connsiteY6" fmla="*/ 6097 h 1176143"/>
              <a:gd name="connsiteX7" fmla="*/ 3559629 w 3623923"/>
              <a:gd name="connsiteY7" fmla="*/ 180269 h 1176143"/>
              <a:gd name="connsiteX8" fmla="*/ 3592286 w 3623923"/>
              <a:gd name="connsiteY8" fmla="*/ 1083783 h 1176143"/>
              <a:gd name="connsiteX0" fmla="*/ 0 w 3623923"/>
              <a:gd name="connsiteY0" fmla="*/ 1149097 h 1186401"/>
              <a:gd name="connsiteX1" fmla="*/ 468086 w 3623923"/>
              <a:gd name="connsiteY1" fmla="*/ 1170869 h 1186401"/>
              <a:gd name="connsiteX2" fmla="*/ 762000 w 3623923"/>
              <a:gd name="connsiteY2" fmla="*/ 920498 h 1186401"/>
              <a:gd name="connsiteX3" fmla="*/ 870858 w 3623923"/>
              <a:gd name="connsiteY3" fmla="*/ 746326 h 1186401"/>
              <a:gd name="connsiteX4" fmla="*/ 1349829 w 3623923"/>
              <a:gd name="connsiteY4" fmla="*/ 60526 h 1186401"/>
              <a:gd name="connsiteX5" fmla="*/ 2090058 w 3623923"/>
              <a:gd name="connsiteY5" fmla="*/ 289126 h 1186401"/>
              <a:gd name="connsiteX6" fmla="*/ 3015343 w 3623923"/>
              <a:gd name="connsiteY6" fmla="*/ 6097 h 1186401"/>
              <a:gd name="connsiteX7" fmla="*/ 3559629 w 3623923"/>
              <a:gd name="connsiteY7" fmla="*/ 180269 h 1186401"/>
              <a:gd name="connsiteX8" fmla="*/ 3592286 w 3623923"/>
              <a:gd name="connsiteY8" fmla="*/ 1083783 h 1186401"/>
              <a:gd name="connsiteX0" fmla="*/ 0 w 3623923"/>
              <a:gd name="connsiteY0" fmla="*/ 1149097 h 1164751"/>
              <a:gd name="connsiteX1" fmla="*/ 478972 w 3623923"/>
              <a:gd name="connsiteY1" fmla="*/ 1138212 h 1164751"/>
              <a:gd name="connsiteX2" fmla="*/ 762000 w 3623923"/>
              <a:gd name="connsiteY2" fmla="*/ 920498 h 1164751"/>
              <a:gd name="connsiteX3" fmla="*/ 870858 w 3623923"/>
              <a:gd name="connsiteY3" fmla="*/ 746326 h 1164751"/>
              <a:gd name="connsiteX4" fmla="*/ 1349829 w 3623923"/>
              <a:gd name="connsiteY4" fmla="*/ 60526 h 1164751"/>
              <a:gd name="connsiteX5" fmla="*/ 2090058 w 3623923"/>
              <a:gd name="connsiteY5" fmla="*/ 289126 h 1164751"/>
              <a:gd name="connsiteX6" fmla="*/ 3015343 w 3623923"/>
              <a:gd name="connsiteY6" fmla="*/ 6097 h 1164751"/>
              <a:gd name="connsiteX7" fmla="*/ 3559629 w 3623923"/>
              <a:gd name="connsiteY7" fmla="*/ 180269 h 1164751"/>
              <a:gd name="connsiteX8" fmla="*/ 3592286 w 3623923"/>
              <a:gd name="connsiteY8" fmla="*/ 1083783 h 116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3923" h="1164751">
                <a:moveTo>
                  <a:pt x="0" y="1149097"/>
                </a:moveTo>
                <a:cubicBezTo>
                  <a:pt x="175986" y="1167240"/>
                  <a:pt x="351972" y="1176312"/>
                  <a:pt x="478972" y="1138212"/>
                </a:cubicBezTo>
                <a:cubicBezTo>
                  <a:pt x="605972" y="1100112"/>
                  <a:pt x="696686" y="985812"/>
                  <a:pt x="762000" y="920498"/>
                </a:cubicBezTo>
                <a:cubicBezTo>
                  <a:pt x="827314" y="855184"/>
                  <a:pt x="772887" y="889655"/>
                  <a:pt x="870858" y="746326"/>
                </a:cubicBezTo>
                <a:cubicBezTo>
                  <a:pt x="968829" y="602997"/>
                  <a:pt x="1146629" y="136726"/>
                  <a:pt x="1349829" y="60526"/>
                </a:cubicBezTo>
                <a:cubicBezTo>
                  <a:pt x="1553029" y="-15674"/>
                  <a:pt x="1812472" y="298197"/>
                  <a:pt x="2090058" y="289126"/>
                </a:cubicBezTo>
                <a:cubicBezTo>
                  <a:pt x="2367644" y="280055"/>
                  <a:pt x="2770415" y="24240"/>
                  <a:pt x="3015343" y="6097"/>
                </a:cubicBezTo>
                <a:cubicBezTo>
                  <a:pt x="3260271" y="-12046"/>
                  <a:pt x="3463472" y="655"/>
                  <a:pt x="3559629" y="180269"/>
                </a:cubicBezTo>
                <a:cubicBezTo>
                  <a:pt x="3655786" y="359883"/>
                  <a:pt x="3624036" y="721833"/>
                  <a:pt x="3592286" y="1083783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832534" y="2971800"/>
            <a:ext cx="2980310" cy="1291517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>
            <a:stCxn id="32" idx="8"/>
          </p:cNvCxnSpPr>
          <p:nvPr/>
        </p:nvCxnSpPr>
        <p:spPr>
          <a:xfrm>
            <a:off x="4419600" y="2971800"/>
            <a:ext cx="1072444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953000" y="3593068"/>
                <a:ext cx="877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Cycle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593068"/>
                <a:ext cx="877420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6294" t="-8197" r="-104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334000" y="1459468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𝝆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459468"/>
                <a:ext cx="385554" cy="369332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2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𝜷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2153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𝜸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𝝉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197" r="-224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𝜸</m:t>
                    </m:r>
                    <m:r>
                      <a:rPr lang="en-US" b="1" i="1" dirty="0">
                        <a:latin typeface="Cambria Math"/>
                      </a:rPr>
                      <m:t>+ </m:t>
                    </m:r>
                    <m:r>
                      <a:rPr lang="en-US" b="1" i="1" dirty="0"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latin typeface="Cambria Math"/>
                      </a:rPr>
                      <m:t>𝜷</m:t>
                    </m:r>
                    <m:r>
                      <a:rPr lang="en-US" b="1" i="1" dirty="0">
                        <a:latin typeface="Cambria Math"/>
                      </a:rPr>
                      <m:t>&lt;</m:t>
                    </m:r>
                    <m:r>
                      <a:rPr lang="en-US" b="1" i="1" dirty="0">
                        <a:latin typeface="Cambria Math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2516" t="-9836" r="-4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Callout 8"/>
              <p:cNvSpPr/>
              <p:nvPr/>
            </p:nvSpPr>
            <p:spPr>
              <a:xfrm>
                <a:off x="6573945" y="818735"/>
                <a:ext cx="2585224" cy="1281465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 to ?</a:t>
                </a:r>
              </a:p>
            </p:txBody>
          </p:sp>
        </mc:Choice>
        <mc:Fallback xmlns="">
          <p:sp>
            <p:nvSpPr>
              <p:cNvPr id="9" name="Cloud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3945" y="818735"/>
                <a:ext cx="2585224" cy="1281465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1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Given a directed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>
                        <a:latin typeface="Cambria Math"/>
                      </a:rPr>
                      <m:t>=(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: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𝑹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if  </a:t>
                </a:r>
                <a:r>
                  <a:rPr lang="en-US" sz="2000" dirty="0"/>
                  <a:t>there are no negative cycles,</a:t>
                </a:r>
              </a:p>
              <a:p>
                <a:pPr marL="0" indent="0">
                  <a:buNone/>
                </a:pPr>
                <a:r>
                  <a:rPr lang="en-US" sz="2000" dirty="0"/>
                  <a:t>all shortest paths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u="sng" dirty="0"/>
                  <a:t>possess</a:t>
                </a:r>
                <a:r>
                  <a:rPr lang="en-US" sz="2000" dirty="0"/>
                  <a:t> optimal substructure property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901623" y="4114800"/>
            <a:ext cx="3757567" cy="841177"/>
            <a:chOff x="1901623" y="4114800"/>
            <a:chExt cx="3757567" cy="841177"/>
          </a:xfrm>
        </p:grpSpPr>
        <p:sp>
          <p:nvSpPr>
            <p:cNvPr id="6" name="Smiley Face 5"/>
            <p:cNvSpPr/>
            <p:nvPr/>
          </p:nvSpPr>
          <p:spPr>
            <a:xfrm>
              <a:off x="3505200" y="4114800"/>
              <a:ext cx="457200" cy="457200"/>
            </a:xfrm>
            <a:prstGeom prst="smileyFac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901623" y="4648200"/>
              <a:ext cx="3757567" cy="307777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The spirit of a researcher proved to be very right.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672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219325"/>
            <a:ext cx="7772400" cy="1362075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7030A0"/>
                </a:solidFill>
              </a:rPr>
              <a:t>shortest paths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/>
              <a:t>in a graph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Negative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weights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BUT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No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negative cycle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752600" y="4876800"/>
            <a:ext cx="555363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Ponder over it before coming to the next class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algn="ctr"/>
            <a:r>
              <a:rPr lang="en-US" dirty="0"/>
              <a:t>All we are allowed to use is the optimal </a:t>
            </a:r>
            <a:r>
              <a:rPr lang="en-US" dirty="0" err="1"/>
              <a:t>subpath</a:t>
            </a:r>
            <a:r>
              <a:rPr lang="en-US" dirty="0"/>
              <a:t> property.</a:t>
            </a:r>
          </a:p>
        </p:txBody>
      </p:sp>
    </p:spTree>
    <p:extLst>
      <p:ext uri="{BB962C8B-B14F-4D97-AF65-F5344CB8AC3E}">
        <p14:creationId xmlns:p14="http://schemas.microsoft.com/office/powerpoint/2010/main" val="381107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15012</TotalTime>
  <Words>2204</Words>
  <Application>Microsoft Macintosh PowerPoint</Application>
  <PresentationFormat>On-screen Show (4:3)</PresentationFormat>
  <Paragraphs>604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Wingdings</vt:lpstr>
      <vt:lpstr>Office Theme</vt:lpstr>
      <vt:lpstr>Design and Analysis of Algorithms CS345  </vt:lpstr>
      <vt:lpstr>Bitonic tour</vt:lpstr>
      <vt:lpstr>Bitonic tour </vt:lpstr>
      <vt:lpstr>Bitonic tour </vt:lpstr>
      <vt:lpstr>Bitonic tour </vt:lpstr>
      <vt:lpstr>Bitonic tour </vt:lpstr>
      <vt:lpstr>Attempt 1</vt:lpstr>
      <vt:lpstr>New Idea: Split the tour</vt:lpstr>
      <vt:lpstr>New Idea: Split the tour</vt:lpstr>
      <vt:lpstr>What should be the Term for  </vt:lpstr>
      <vt:lpstr>Term for Recursive formulation ?</vt:lpstr>
      <vt:lpstr>Term for Recursive formulation ?</vt:lpstr>
      <vt:lpstr>Term for Recursive formulation ?</vt:lpstr>
      <vt:lpstr>Recursive formulation for T[i,j]</vt:lpstr>
      <vt:lpstr>Recursive formulation of T[i,j] </vt:lpstr>
      <vt:lpstr>Recursive algorithm for T(i,j)  </vt:lpstr>
      <vt:lpstr>Recursive algorithm for T(i,j)  </vt:lpstr>
      <vt:lpstr>Iterative algorithm for Optimal Bitonic tour </vt:lpstr>
      <vt:lpstr>Summary</vt:lpstr>
      <vt:lpstr>Shortest pathS in a graph</vt:lpstr>
      <vt:lpstr>Problem Definition</vt:lpstr>
      <vt:lpstr>Revisiting Dijkstra’s Algorithm</vt:lpstr>
      <vt:lpstr>Approach  1 </vt:lpstr>
      <vt:lpstr>Approach  1 </vt:lpstr>
      <vt:lpstr>What properties does Dijkstra’s algorithm exploit ? </vt:lpstr>
      <vt:lpstr>What properties does Dijkstra’s algorithm exploit ? </vt:lpstr>
      <vt:lpstr>Violating the Optimal subpath property </vt:lpstr>
      <vt:lpstr>Violating the Optimal subpath property </vt:lpstr>
      <vt:lpstr>Violating the Optimal subpath property </vt:lpstr>
      <vt:lpstr>PowerPoint Presentation</vt:lpstr>
      <vt:lpstr>shortest paths in a graph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1336</cp:revision>
  <dcterms:created xsi:type="dcterms:W3CDTF">2011-12-03T04:13:03Z</dcterms:created>
  <dcterms:modified xsi:type="dcterms:W3CDTF">2026-09-08T16:59:35Z</dcterms:modified>
</cp:coreProperties>
</file>