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Lst>
  <p:notesMasterIdLst>
    <p:notesMasterId r:id="rId16"/>
  </p:notesMasterIdLst>
  <p:handoutMasterIdLst>
    <p:handoutMasterId r:id="rId17"/>
  </p:handoutMasterIdLst>
  <p:sldIdLst>
    <p:sldId id="265" r:id="rId2"/>
    <p:sldId id="555" r:id="rId3"/>
    <p:sldId id="612" r:id="rId4"/>
    <p:sldId id="613" r:id="rId5"/>
    <p:sldId id="614" r:id="rId6"/>
    <p:sldId id="617" r:id="rId7"/>
    <p:sldId id="639" r:id="rId8"/>
    <p:sldId id="633" r:id="rId9"/>
    <p:sldId id="634" r:id="rId10"/>
    <p:sldId id="636" r:id="rId11"/>
    <p:sldId id="618" r:id="rId12"/>
    <p:sldId id="635" r:id="rId13"/>
    <p:sldId id="638" r:id="rId14"/>
    <p:sldId id="624" r:id="rId15"/>
  </p:sldIdLst>
  <p:sldSz cx="12192000" cy="6858000"/>
  <p:notesSz cx="9929813" cy="67976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FFCCCC"/>
    <a:srgbClr val="FF99CC"/>
    <a:srgbClr val="366752"/>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5890"/>
  </p:normalViewPr>
  <p:slideViewPr>
    <p:cSldViewPr snapToGrid="0" snapToObjects="1">
      <p:cViewPr varScale="1">
        <p:scale>
          <a:sx n="89" d="100"/>
          <a:sy n="89" d="100"/>
        </p:scale>
        <p:origin x="46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4001" cy="34124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5623494" y="0"/>
            <a:ext cx="4304001" cy="341242"/>
          </a:xfrm>
          <a:prstGeom prst="rect">
            <a:avLst/>
          </a:prstGeom>
        </p:spPr>
        <p:txBody>
          <a:bodyPr vert="horz" lIns="91440" tIns="45720" rIns="91440" bIns="45720" rtlCol="0"/>
          <a:lstStyle>
            <a:lvl1pPr algn="r">
              <a:defRPr sz="1200"/>
            </a:lvl1pPr>
          </a:lstStyle>
          <a:p>
            <a:fld id="{ABC86ED3-83A1-415E-B018-B1E46DF31CFD}" type="datetimeFigureOut">
              <a:rPr lang="en-IN" smtClean="0"/>
              <a:t>05-05-2026</a:t>
            </a:fld>
            <a:endParaRPr lang="en-IN"/>
          </a:p>
        </p:txBody>
      </p:sp>
      <p:sp>
        <p:nvSpPr>
          <p:cNvPr id="4" name="Footer Placeholder 3"/>
          <p:cNvSpPr>
            <a:spLocks noGrp="1"/>
          </p:cNvSpPr>
          <p:nvPr>
            <p:ph type="ftr" sz="quarter" idx="2"/>
          </p:nvPr>
        </p:nvSpPr>
        <p:spPr>
          <a:xfrm>
            <a:off x="0" y="6456433"/>
            <a:ext cx="4304001" cy="341242"/>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5623494" y="6456433"/>
            <a:ext cx="4304001" cy="341242"/>
          </a:xfrm>
          <a:prstGeom prst="rect">
            <a:avLst/>
          </a:prstGeom>
        </p:spPr>
        <p:txBody>
          <a:bodyPr vert="horz" lIns="91440" tIns="45720" rIns="91440" bIns="45720" rtlCol="0" anchor="b"/>
          <a:lstStyle>
            <a:lvl1pPr algn="r">
              <a:defRPr sz="1200"/>
            </a:lvl1pPr>
          </a:lstStyle>
          <a:p>
            <a:fld id="{A83670B8-C772-4CC6-AB05-AB1566C74071}" type="slidenum">
              <a:rPr lang="en-IN" smtClean="0"/>
              <a:t>‹#›</a:t>
            </a:fld>
            <a:endParaRPr lang="en-IN"/>
          </a:p>
        </p:txBody>
      </p:sp>
    </p:spTree>
    <p:extLst>
      <p:ext uri="{BB962C8B-B14F-4D97-AF65-F5344CB8AC3E}">
        <p14:creationId xmlns:p14="http://schemas.microsoft.com/office/powerpoint/2010/main" val="25940442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2919" cy="341064"/>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24597" y="0"/>
            <a:ext cx="4302919" cy="341064"/>
          </a:xfrm>
          <a:prstGeom prst="rect">
            <a:avLst/>
          </a:prstGeom>
        </p:spPr>
        <p:txBody>
          <a:bodyPr vert="horz" lIns="91440" tIns="45720" rIns="91440" bIns="45720" rtlCol="0"/>
          <a:lstStyle>
            <a:lvl1pPr algn="r">
              <a:defRPr sz="1200"/>
            </a:lvl1pPr>
          </a:lstStyle>
          <a:p>
            <a:fld id="{BDA1889E-C7EC-45CB-B713-9702810221D9}" type="datetimeFigureOut">
              <a:rPr lang="en-IN" smtClean="0"/>
              <a:t>05-05-2026</a:t>
            </a:fld>
            <a:endParaRPr lang="en-IN"/>
          </a:p>
        </p:txBody>
      </p:sp>
      <p:sp>
        <p:nvSpPr>
          <p:cNvPr id="4" name="Slide Image Placeholder 3"/>
          <p:cNvSpPr>
            <a:spLocks noGrp="1" noRot="1" noChangeAspect="1"/>
          </p:cNvSpPr>
          <p:nvPr>
            <p:ph type="sldImg" idx="2"/>
          </p:nvPr>
        </p:nvSpPr>
        <p:spPr>
          <a:xfrm>
            <a:off x="2927350" y="849313"/>
            <a:ext cx="4075113" cy="2293937"/>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92982" y="3271381"/>
            <a:ext cx="7943850" cy="267658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1" y="6456612"/>
            <a:ext cx="4302919" cy="341064"/>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24597" y="6456612"/>
            <a:ext cx="4302919" cy="341064"/>
          </a:xfrm>
          <a:prstGeom prst="rect">
            <a:avLst/>
          </a:prstGeom>
        </p:spPr>
        <p:txBody>
          <a:bodyPr vert="horz" lIns="91440" tIns="45720" rIns="91440" bIns="45720" rtlCol="0" anchor="b"/>
          <a:lstStyle>
            <a:lvl1pPr algn="r">
              <a:defRPr sz="1200"/>
            </a:lvl1pPr>
          </a:lstStyle>
          <a:p>
            <a:fld id="{BEC38954-55DA-4B58-B5A1-805DC88A142F}" type="slidenum">
              <a:rPr lang="en-IN" smtClean="0"/>
              <a:t>‹#›</a:t>
            </a:fld>
            <a:endParaRPr lang="en-IN"/>
          </a:p>
        </p:txBody>
      </p:sp>
    </p:spTree>
    <p:extLst>
      <p:ext uri="{BB962C8B-B14F-4D97-AF65-F5344CB8AC3E}">
        <p14:creationId xmlns:p14="http://schemas.microsoft.com/office/powerpoint/2010/main" val="2522590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2927350" y="849313"/>
            <a:ext cx="4075113" cy="2293937"/>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dirty="0"/>
          </a:p>
        </p:txBody>
      </p:sp>
      <p:sp>
        <p:nvSpPr>
          <p:cNvPr id="61444"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400">
                <a:solidFill>
                  <a:schemeClr val="tx1"/>
                </a:solidFill>
                <a:latin typeface="Times New Roman" pitchFamily="18" charset="0"/>
              </a:defRPr>
            </a:lvl1pPr>
            <a:lvl2pPr marL="742950" indent="-285750" defTabSz="911225">
              <a:defRPr sz="2400">
                <a:solidFill>
                  <a:schemeClr val="tx1"/>
                </a:solidFill>
                <a:latin typeface="Times New Roman" pitchFamily="18" charset="0"/>
              </a:defRPr>
            </a:lvl2pPr>
            <a:lvl3pPr marL="1143000" indent="-228600" defTabSz="911225">
              <a:defRPr sz="2400">
                <a:solidFill>
                  <a:schemeClr val="tx1"/>
                </a:solidFill>
                <a:latin typeface="Times New Roman" pitchFamily="18" charset="0"/>
              </a:defRPr>
            </a:lvl3pPr>
            <a:lvl4pPr marL="1600200" indent="-228600" defTabSz="911225">
              <a:defRPr sz="2400">
                <a:solidFill>
                  <a:schemeClr val="tx1"/>
                </a:solidFill>
                <a:latin typeface="Times New Roman" pitchFamily="18" charset="0"/>
              </a:defRPr>
            </a:lvl4pPr>
            <a:lvl5pPr marL="2057400" indent="-228600" defTabSz="911225">
              <a:defRPr sz="2400">
                <a:solidFill>
                  <a:schemeClr val="tx1"/>
                </a:solidFill>
                <a:latin typeface="Times New Roman" pitchFamily="18" charset="0"/>
              </a:defRPr>
            </a:lvl5pPr>
            <a:lvl6pPr marL="2514600" indent="-228600" defTabSz="911225" eaLnBrk="0" fontAlgn="base" hangingPunct="0">
              <a:spcBef>
                <a:spcPct val="0"/>
              </a:spcBef>
              <a:spcAft>
                <a:spcPct val="0"/>
              </a:spcAft>
              <a:defRPr sz="2400">
                <a:solidFill>
                  <a:schemeClr val="tx1"/>
                </a:solidFill>
                <a:latin typeface="Times New Roman" pitchFamily="18" charset="0"/>
              </a:defRPr>
            </a:lvl6pPr>
            <a:lvl7pPr marL="2971800" indent="-228600" defTabSz="911225" eaLnBrk="0" fontAlgn="base" hangingPunct="0">
              <a:spcBef>
                <a:spcPct val="0"/>
              </a:spcBef>
              <a:spcAft>
                <a:spcPct val="0"/>
              </a:spcAft>
              <a:defRPr sz="2400">
                <a:solidFill>
                  <a:schemeClr val="tx1"/>
                </a:solidFill>
                <a:latin typeface="Times New Roman" pitchFamily="18" charset="0"/>
              </a:defRPr>
            </a:lvl7pPr>
            <a:lvl8pPr marL="3429000" indent="-228600" defTabSz="911225" eaLnBrk="0" fontAlgn="base" hangingPunct="0">
              <a:spcBef>
                <a:spcPct val="0"/>
              </a:spcBef>
              <a:spcAft>
                <a:spcPct val="0"/>
              </a:spcAft>
              <a:defRPr sz="2400">
                <a:solidFill>
                  <a:schemeClr val="tx1"/>
                </a:solidFill>
                <a:latin typeface="Times New Roman" pitchFamily="18" charset="0"/>
              </a:defRPr>
            </a:lvl8pPr>
            <a:lvl9pPr marL="3886200" indent="-228600" defTabSz="911225" eaLnBrk="0" fontAlgn="base" hangingPunct="0">
              <a:spcBef>
                <a:spcPct val="0"/>
              </a:spcBef>
              <a:spcAft>
                <a:spcPct val="0"/>
              </a:spcAft>
              <a:defRPr sz="2400">
                <a:solidFill>
                  <a:schemeClr val="tx1"/>
                </a:solidFill>
                <a:latin typeface="Times New Roman" pitchFamily="18" charset="0"/>
              </a:defRPr>
            </a:lvl9pPr>
          </a:lstStyle>
          <a:p>
            <a:endParaRPr lang="en-US" sz="1200">
              <a:cs typeface="Arial" pitchFamily="34" charset="0"/>
            </a:endParaRPr>
          </a:p>
        </p:txBody>
      </p:sp>
      <p:sp>
        <p:nvSpPr>
          <p:cNvPr id="61445" name="Date Placeholder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400">
                <a:solidFill>
                  <a:schemeClr val="tx1"/>
                </a:solidFill>
                <a:latin typeface="Times New Roman" pitchFamily="18" charset="0"/>
              </a:defRPr>
            </a:lvl1pPr>
            <a:lvl2pPr marL="742950" indent="-285750" defTabSz="911225">
              <a:defRPr sz="2400">
                <a:solidFill>
                  <a:schemeClr val="tx1"/>
                </a:solidFill>
                <a:latin typeface="Times New Roman" pitchFamily="18" charset="0"/>
              </a:defRPr>
            </a:lvl2pPr>
            <a:lvl3pPr marL="1143000" indent="-228600" defTabSz="911225">
              <a:defRPr sz="2400">
                <a:solidFill>
                  <a:schemeClr val="tx1"/>
                </a:solidFill>
                <a:latin typeface="Times New Roman" pitchFamily="18" charset="0"/>
              </a:defRPr>
            </a:lvl3pPr>
            <a:lvl4pPr marL="1600200" indent="-228600" defTabSz="911225">
              <a:defRPr sz="2400">
                <a:solidFill>
                  <a:schemeClr val="tx1"/>
                </a:solidFill>
                <a:latin typeface="Times New Roman" pitchFamily="18" charset="0"/>
              </a:defRPr>
            </a:lvl4pPr>
            <a:lvl5pPr marL="2057400" indent="-228600" defTabSz="911225">
              <a:defRPr sz="2400">
                <a:solidFill>
                  <a:schemeClr val="tx1"/>
                </a:solidFill>
                <a:latin typeface="Times New Roman" pitchFamily="18" charset="0"/>
              </a:defRPr>
            </a:lvl5pPr>
            <a:lvl6pPr marL="2514600" indent="-228600" defTabSz="911225" eaLnBrk="0" fontAlgn="base" hangingPunct="0">
              <a:spcBef>
                <a:spcPct val="0"/>
              </a:spcBef>
              <a:spcAft>
                <a:spcPct val="0"/>
              </a:spcAft>
              <a:defRPr sz="2400">
                <a:solidFill>
                  <a:schemeClr val="tx1"/>
                </a:solidFill>
                <a:latin typeface="Times New Roman" pitchFamily="18" charset="0"/>
              </a:defRPr>
            </a:lvl6pPr>
            <a:lvl7pPr marL="2971800" indent="-228600" defTabSz="911225" eaLnBrk="0" fontAlgn="base" hangingPunct="0">
              <a:spcBef>
                <a:spcPct val="0"/>
              </a:spcBef>
              <a:spcAft>
                <a:spcPct val="0"/>
              </a:spcAft>
              <a:defRPr sz="2400">
                <a:solidFill>
                  <a:schemeClr val="tx1"/>
                </a:solidFill>
                <a:latin typeface="Times New Roman" pitchFamily="18" charset="0"/>
              </a:defRPr>
            </a:lvl7pPr>
            <a:lvl8pPr marL="3429000" indent="-228600" defTabSz="911225" eaLnBrk="0" fontAlgn="base" hangingPunct="0">
              <a:spcBef>
                <a:spcPct val="0"/>
              </a:spcBef>
              <a:spcAft>
                <a:spcPct val="0"/>
              </a:spcAft>
              <a:defRPr sz="2400">
                <a:solidFill>
                  <a:schemeClr val="tx1"/>
                </a:solidFill>
                <a:latin typeface="Times New Roman" pitchFamily="18" charset="0"/>
              </a:defRPr>
            </a:lvl8pPr>
            <a:lvl9pPr marL="3886200" indent="-228600" defTabSz="911225" eaLnBrk="0" fontAlgn="base" hangingPunct="0">
              <a:spcBef>
                <a:spcPct val="0"/>
              </a:spcBef>
              <a:spcAft>
                <a:spcPct val="0"/>
              </a:spcAft>
              <a:defRPr sz="2400">
                <a:solidFill>
                  <a:schemeClr val="tx1"/>
                </a:solidFill>
                <a:latin typeface="Times New Roman" pitchFamily="18" charset="0"/>
              </a:defRPr>
            </a:lvl9pPr>
          </a:lstStyle>
          <a:p>
            <a:fld id="{ECC79330-1379-4D1A-A640-B153B418A841}" type="datetime8">
              <a:rPr lang="en-GB" sz="1200" smtClean="0">
                <a:cs typeface="Arial" pitchFamily="34" charset="0"/>
              </a:rPr>
              <a:pPr/>
              <a:t>05/05/2026 11:05</a:t>
            </a:fld>
            <a:endParaRPr lang="en-GB" sz="1200">
              <a:cs typeface="Arial" pitchFamily="34" charset="0"/>
            </a:endParaRPr>
          </a:p>
        </p:txBody>
      </p:sp>
      <p:sp>
        <p:nvSpPr>
          <p:cNvPr id="61446" name="Footer Placeholder 5"/>
          <p:cNvSpPr>
            <a:spLocks noGrp="1"/>
          </p:cNvSpPr>
          <p:nvPr>
            <p:ph type="ftr" sz="quarter" idx="4"/>
          </p:nvPr>
        </p:nvSpPr>
        <p:spPr>
          <a:xfrm>
            <a:off x="0" y="6564005"/>
            <a:ext cx="9134509" cy="34578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400">
                <a:solidFill>
                  <a:schemeClr val="tx1"/>
                </a:solidFill>
                <a:latin typeface="Times New Roman" pitchFamily="18" charset="0"/>
              </a:defRPr>
            </a:lvl1pPr>
            <a:lvl2pPr marL="742950" indent="-285750" defTabSz="911225">
              <a:defRPr sz="2400">
                <a:solidFill>
                  <a:schemeClr val="tx1"/>
                </a:solidFill>
                <a:latin typeface="Times New Roman" pitchFamily="18" charset="0"/>
              </a:defRPr>
            </a:lvl2pPr>
            <a:lvl3pPr marL="1143000" indent="-228600" defTabSz="911225">
              <a:defRPr sz="2400">
                <a:solidFill>
                  <a:schemeClr val="tx1"/>
                </a:solidFill>
                <a:latin typeface="Times New Roman" pitchFamily="18" charset="0"/>
              </a:defRPr>
            </a:lvl3pPr>
            <a:lvl4pPr marL="1600200" indent="-228600" defTabSz="911225">
              <a:defRPr sz="2400">
                <a:solidFill>
                  <a:schemeClr val="tx1"/>
                </a:solidFill>
                <a:latin typeface="Times New Roman" pitchFamily="18" charset="0"/>
              </a:defRPr>
            </a:lvl4pPr>
            <a:lvl5pPr marL="2057400" indent="-228600" defTabSz="911225">
              <a:defRPr sz="2400">
                <a:solidFill>
                  <a:schemeClr val="tx1"/>
                </a:solidFill>
                <a:latin typeface="Times New Roman" pitchFamily="18" charset="0"/>
              </a:defRPr>
            </a:lvl5pPr>
            <a:lvl6pPr marL="2514600" indent="-228600" defTabSz="911225" eaLnBrk="0" fontAlgn="base" hangingPunct="0">
              <a:spcBef>
                <a:spcPct val="0"/>
              </a:spcBef>
              <a:spcAft>
                <a:spcPct val="0"/>
              </a:spcAft>
              <a:defRPr sz="2400">
                <a:solidFill>
                  <a:schemeClr val="tx1"/>
                </a:solidFill>
                <a:latin typeface="Times New Roman" pitchFamily="18" charset="0"/>
              </a:defRPr>
            </a:lvl6pPr>
            <a:lvl7pPr marL="2971800" indent="-228600" defTabSz="911225" eaLnBrk="0" fontAlgn="base" hangingPunct="0">
              <a:spcBef>
                <a:spcPct val="0"/>
              </a:spcBef>
              <a:spcAft>
                <a:spcPct val="0"/>
              </a:spcAft>
              <a:defRPr sz="2400">
                <a:solidFill>
                  <a:schemeClr val="tx1"/>
                </a:solidFill>
                <a:latin typeface="Times New Roman" pitchFamily="18" charset="0"/>
              </a:defRPr>
            </a:lvl7pPr>
            <a:lvl8pPr marL="3429000" indent="-228600" defTabSz="911225" eaLnBrk="0" fontAlgn="base" hangingPunct="0">
              <a:spcBef>
                <a:spcPct val="0"/>
              </a:spcBef>
              <a:spcAft>
                <a:spcPct val="0"/>
              </a:spcAft>
              <a:defRPr sz="2400">
                <a:solidFill>
                  <a:schemeClr val="tx1"/>
                </a:solidFill>
                <a:latin typeface="Times New Roman" pitchFamily="18" charset="0"/>
              </a:defRPr>
            </a:lvl8pPr>
            <a:lvl9pPr marL="3886200" indent="-228600" defTabSz="911225" eaLnBrk="0" fontAlgn="base" hangingPunct="0">
              <a:spcBef>
                <a:spcPct val="0"/>
              </a:spcBef>
              <a:spcAft>
                <a:spcPct val="0"/>
              </a:spcAft>
              <a:defRPr sz="2400">
                <a:solidFill>
                  <a:schemeClr val="tx1"/>
                </a:solidFill>
                <a:latin typeface="Times New Roman" pitchFamily="18" charset="0"/>
              </a:defRPr>
            </a:lvl9pPr>
          </a:lstStyle>
          <a:p>
            <a:r>
              <a:rPr lang="en-GB" sz="500">
                <a:solidFill>
                  <a:srgbClr val="000000"/>
                </a:solidFill>
                <a:cs typeface="Arial" pitchFamily="34" charset="0"/>
              </a:rPr>
              <a:t>© 2007 Microsoft Corporation. All rights reserved. Microsoft, Windows, Windows Vista and other product names are or may be registered trademarks and/or trademarks in the U.S. and/or other countries.</a:t>
            </a:r>
          </a:p>
          <a:p>
            <a:r>
              <a:rPr lang="en-GB" sz="500">
                <a:solidFill>
                  <a:srgbClr val="000000"/>
                </a:solidFill>
                <a:cs typeface="Arial"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GB" sz="500">
                <a:solidFill>
                  <a:srgbClr val="000000"/>
                </a:solidFill>
                <a:cs typeface="Arial" pitchFamily="34" charset="0"/>
              </a:rPr>
            </a:br>
            <a:r>
              <a:rPr lang="en-GB" sz="500">
                <a:solidFill>
                  <a:srgbClr val="000000"/>
                </a:solidFill>
                <a:cs typeface="Arial" pitchFamily="34" charset="0"/>
              </a:rPr>
              <a:t>MICROSOFT MAKES NO WARRANTIES, EXPRESS, IMPLIED OR STATUTORY, AS TO THE INFORMATION IN THIS PRESENTATION.</a:t>
            </a:r>
          </a:p>
          <a:p>
            <a:endParaRPr lang="en-GB" sz="500">
              <a:cs typeface="Arial" pitchFamily="34" charset="0"/>
            </a:endParaRPr>
          </a:p>
        </p:txBody>
      </p:sp>
      <p:sp>
        <p:nvSpPr>
          <p:cNvPr id="61447" name="Slide Number Placeholder 6"/>
          <p:cNvSpPr>
            <a:spLocks noGrp="1"/>
          </p:cNvSpPr>
          <p:nvPr>
            <p:ph type="sldNum" sz="quarter" idx="5"/>
          </p:nvPr>
        </p:nvSpPr>
        <p:spPr>
          <a:xfrm>
            <a:off x="9134508" y="6564005"/>
            <a:ext cx="1013669" cy="34578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sz="2400">
                <a:solidFill>
                  <a:schemeClr val="tx1"/>
                </a:solidFill>
                <a:latin typeface="Times New Roman" pitchFamily="18" charset="0"/>
              </a:defRPr>
            </a:lvl1pPr>
            <a:lvl2pPr marL="742950" indent="-285750" defTabSz="911225">
              <a:defRPr sz="2400">
                <a:solidFill>
                  <a:schemeClr val="tx1"/>
                </a:solidFill>
                <a:latin typeface="Times New Roman" pitchFamily="18" charset="0"/>
              </a:defRPr>
            </a:lvl2pPr>
            <a:lvl3pPr marL="1143000" indent="-228600" defTabSz="911225">
              <a:defRPr sz="2400">
                <a:solidFill>
                  <a:schemeClr val="tx1"/>
                </a:solidFill>
                <a:latin typeface="Times New Roman" pitchFamily="18" charset="0"/>
              </a:defRPr>
            </a:lvl3pPr>
            <a:lvl4pPr marL="1600200" indent="-228600" defTabSz="911225">
              <a:defRPr sz="2400">
                <a:solidFill>
                  <a:schemeClr val="tx1"/>
                </a:solidFill>
                <a:latin typeface="Times New Roman" pitchFamily="18" charset="0"/>
              </a:defRPr>
            </a:lvl4pPr>
            <a:lvl5pPr marL="2057400" indent="-228600" defTabSz="911225">
              <a:defRPr sz="2400">
                <a:solidFill>
                  <a:schemeClr val="tx1"/>
                </a:solidFill>
                <a:latin typeface="Times New Roman" pitchFamily="18" charset="0"/>
              </a:defRPr>
            </a:lvl5pPr>
            <a:lvl6pPr marL="2514600" indent="-228600" defTabSz="911225" eaLnBrk="0" fontAlgn="base" hangingPunct="0">
              <a:spcBef>
                <a:spcPct val="0"/>
              </a:spcBef>
              <a:spcAft>
                <a:spcPct val="0"/>
              </a:spcAft>
              <a:defRPr sz="2400">
                <a:solidFill>
                  <a:schemeClr val="tx1"/>
                </a:solidFill>
                <a:latin typeface="Times New Roman" pitchFamily="18" charset="0"/>
              </a:defRPr>
            </a:lvl6pPr>
            <a:lvl7pPr marL="2971800" indent="-228600" defTabSz="911225" eaLnBrk="0" fontAlgn="base" hangingPunct="0">
              <a:spcBef>
                <a:spcPct val="0"/>
              </a:spcBef>
              <a:spcAft>
                <a:spcPct val="0"/>
              </a:spcAft>
              <a:defRPr sz="2400">
                <a:solidFill>
                  <a:schemeClr val="tx1"/>
                </a:solidFill>
                <a:latin typeface="Times New Roman" pitchFamily="18" charset="0"/>
              </a:defRPr>
            </a:lvl7pPr>
            <a:lvl8pPr marL="3429000" indent="-228600" defTabSz="911225" eaLnBrk="0" fontAlgn="base" hangingPunct="0">
              <a:spcBef>
                <a:spcPct val="0"/>
              </a:spcBef>
              <a:spcAft>
                <a:spcPct val="0"/>
              </a:spcAft>
              <a:defRPr sz="2400">
                <a:solidFill>
                  <a:schemeClr val="tx1"/>
                </a:solidFill>
                <a:latin typeface="Times New Roman" pitchFamily="18" charset="0"/>
              </a:defRPr>
            </a:lvl8pPr>
            <a:lvl9pPr marL="3886200" indent="-228600" defTabSz="911225" eaLnBrk="0" fontAlgn="base" hangingPunct="0">
              <a:spcBef>
                <a:spcPct val="0"/>
              </a:spcBef>
              <a:spcAft>
                <a:spcPct val="0"/>
              </a:spcAft>
              <a:defRPr sz="2400">
                <a:solidFill>
                  <a:schemeClr val="tx1"/>
                </a:solidFill>
                <a:latin typeface="Times New Roman" pitchFamily="18" charset="0"/>
              </a:defRPr>
            </a:lvl9pPr>
          </a:lstStyle>
          <a:p>
            <a:fld id="{3B000D14-7105-452D-9919-33C61B2ECE5D}" type="slidenum">
              <a:rPr lang="en-GB" sz="1200" smtClean="0">
                <a:cs typeface="Arial" pitchFamily="34" charset="0"/>
              </a:rPr>
              <a:pPr/>
              <a:t>1</a:t>
            </a:fld>
            <a:endParaRPr lang="en-GB" sz="1200">
              <a:cs typeface="Arial" pitchFamily="34" charset="0"/>
            </a:endParaRPr>
          </a:p>
        </p:txBody>
      </p:sp>
    </p:spTree>
    <p:extLst>
      <p:ext uri="{BB962C8B-B14F-4D97-AF65-F5344CB8AC3E}">
        <p14:creationId xmlns:p14="http://schemas.microsoft.com/office/powerpoint/2010/main" val="120149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4602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endParaRPr lang="en-US" dirty="0"/>
          </a:p>
          <a:p>
            <a:r>
              <a:rPr lang="en-US" dirty="0"/>
              <a:t>The other TCP topic we’ll want to consider here is that of “connection  management”</a:t>
            </a:r>
          </a:p>
          <a:p>
            <a:endParaRPr lang="en-US" dirty="0"/>
          </a:p>
          <a:p>
            <a:pPr marL="0" indent="0">
              <a:buFont typeface="Arial" panose="020B0604020202020204" pitchFamily="34" charset="0"/>
              <a:buNone/>
            </a:pPr>
            <a:r>
              <a:rPr lang="en-US" dirty="0"/>
              <a:t>The TCP sender and </a:t>
            </a:r>
            <a:r>
              <a:rPr lang="en-US" dirty="0" err="1"/>
              <a:t>reciver</a:t>
            </a:r>
            <a:r>
              <a:rPr lang="en-US" dirty="0"/>
              <a:t> have a number of pieces of shared state that they must establish before actually communication</a:t>
            </a:r>
          </a:p>
          <a:p>
            <a:pPr marL="171450" indent="-171450">
              <a:buFont typeface="Arial" panose="020B0604020202020204" pitchFamily="34" charset="0"/>
              <a:buChar char="•"/>
            </a:pPr>
            <a:r>
              <a:rPr lang="en-US" dirty="0"/>
              <a:t>FIRST </a:t>
            </a:r>
            <a:r>
              <a:rPr lang="en-US" dirty="0" err="1"/>
              <a:t>theym</a:t>
            </a:r>
            <a:r>
              <a:rPr lang="en-US" dirty="0"/>
              <a:t> </a:t>
            </a:r>
            <a:r>
              <a:rPr lang="en-US" dirty="0" err="1"/>
              <a:t>ust</a:t>
            </a:r>
            <a:r>
              <a:rPr lang="en-US" dirty="0"/>
              <a:t> both agree that they WANT to communicate with each other</a:t>
            </a:r>
          </a:p>
          <a:p>
            <a:pPr marL="171450" indent="-171450">
              <a:buFont typeface="Arial" panose="020B0604020202020204" pitchFamily="34" charset="0"/>
              <a:buChar char="•"/>
            </a:pPr>
            <a:r>
              <a:rPr lang="en-US" dirty="0"/>
              <a:t>Secondly there are connection parameters – the initial sequence number and the initial receiver-advertised </a:t>
            </a:r>
            <a:r>
              <a:rPr lang="en-US" dirty="0" err="1"/>
              <a:t>bufferspace</a:t>
            </a:r>
            <a:r>
              <a:rPr lang="en-US" dirty="0"/>
              <a:t> that they’ll want to agree on</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This is done via a so-called handshake protocol – the client reaching our to the server, and the server answering back.</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And before diving into the TCP handshake protocol, let’s first consider the problem of handshaking, of establishing shared state.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7915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endParaRPr lang="en-US" dirty="0"/>
          </a:p>
          <a:p>
            <a:r>
              <a:rPr lang="en-US" dirty="0"/>
              <a:t>Here’s an example of a two way handshake.  Alice reaches out to Bob and say’s “let’s talk” and Bob says OK, and they start their conversation</a:t>
            </a:r>
          </a:p>
          <a:p>
            <a:endParaRPr lang="en-US" dirty="0"/>
          </a:p>
          <a:p>
            <a:r>
              <a:rPr lang="en-US" dirty="0"/>
              <a:t>For a network protocol, the equivalent protocol would be a client sending a “request connection” message saying ”let’s talk, the initial sequence number is x”</a:t>
            </a:r>
          </a:p>
          <a:p>
            <a:r>
              <a:rPr lang="en-US" dirty="0"/>
              <a:t>And the server would respond with a message ”I accept your connect x”</a:t>
            </a:r>
          </a:p>
          <a:p>
            <a:endParaRPr lang="en-US" dirty="0"/>
          </a:p>
          <a:p>
            <a:r>
              <a:rPr lang="en-US" dirty="0"/>
              <a:t>And the question we want to ask ourselves is &lt;talk through&gt;</a:t>
            </a:r>
          </a:p>
          <a:p>
            <a:endParaRPr lang="en-US" dirty="0"/>
          </a:p>
          <a:p>
            <a:r>
              <a:rPr lang="en-US" dirty="0"/>
              <a:t>Will this work?  Let’s look at a few scenarios…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610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9291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r>
              <a:rPr lang="en-US" dirty="0"/>
              <a:t>TCP’s three way handshake, that operates as follows</a:t>
            </a:r>
          </a:p>
          <a:p>
            <a:r>
              <a:rPr lang="en-US" dirty="0"/>
              <a:t> </a:t>
            </a:r>
          </a:p>
          <a:p>
            <a:r>
              <a:rPr lang="en-US" dirty="0"/>
              <a:t>Let’s say the client and server both create a TCP socket as we learned about in Chapter 2 and enter the LISTEN state</a:t>
            </a:r>
          </a:p>
          <a:p>
            <a:endParaRPr lang="en-US" dirty="0"/>
          </a:p>
          <a:p>
            <a:r>
              <a:rPr lang="en-US" dirty="0"/>
              <a:t>The client then connects to the server sending a SYN message with a sequence number x (SYN Message is an TCP Segment with SYN but set in the header – you might want to go back and review the TCP segment format!)</a:t>
            </a:r>
          </a:p>
          <a:p>
            <a:endParaRPr lang="en-US" dirty="0"/>
          </a:p>
          <a:p>
            <a:r>
              <a:rPr lang="en-US" dirty="0"/>
              <a:t>The server is waiting for a connection, and receives the SYN message enters the SYN received state (NOT the established state and sends a SYN ACK message back.</a:t>
            </a:r>
          </a:p>
          <a:p>
            <a:endParaRPr lang="en-US" dirty="0"/>
          </a:p>
          <a:p>
            <a:r>
              <a:rPr lang="en-US" dirty="0"/>
              <a:t>Finally the client sends an ACK message to the server, and when the server receiver this enters the </a:t>
            </a:r>
            <a:r>
              <a:rPr lang="en-US" dirty="0" err="1"/>
              <a:t>ESTABLished</a:t>
            </a:r>
            <a:r>
              <a:rPr lang="en-US" dirty="0"/>
              <a:t> state.  This is when the application process would see the return from the wait on the  socket accept() call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7005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r>
              <a:rPr lang="en-US" dirty="0"/>
              <a:t>All good things must come to an end, and that’s true for a TCP connection as well.</a:t>
            </a:r>
          </a:p>
          <a:p>
            <a:endParaRPr lang="en-US" dirty="0"/>
          </a:p>
          <a:p>
            <a:r>
              <a:rPr lang="en-US" dirty="0"/>
              <a:t>And of course there’s a protocol for one side to gracefully close of a TCP connection using a FIN message, to which the other side sends a FINACK message and waits around a bit to respond to any retransmitted FIN messages before timing out.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47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6578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0032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4162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r>
              <a:rPr lang="en-US" dirty="0"/>
              <a:t>All good things must come to an end, and that’s true for a TCP connection as well.</a:t>
            </a:r>
          </a:p>
          <a:p>
            <a:endParaRPr lang="en-US" dirty="0"/>
          </a:p>
          <a:p>
            <a:r>
              <a:rPr lang="en-US" dirty="0"/>
              <a:t>And of course there’s a protocol for one side to gracefully close of a TCP connection using a FIN message, to which the other side sends a FINACK message and waits around a bit to respond to any retransmitted FIN messages before timing out.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2524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r>
              <a:rPr lang="en-US" dirty="0"/>
              <a:t>All good things must come to an end, and that’s true for a TCP connection as well.</a:t>
            </a:r>
          </a:p>
          <a:p>
            <a:endParaRPr lang="en-US" dirty="0"/>
          </a:p>
          <a:p>
            <a:r>
              <a:rPr lang="en-US" dirty="0"/>
              <a:t>And of course there’s a protocol for one side to gracefully close of a TCP connection using a FIN message, to which the other side sends a FINACK message and waits around a bit to respond to any retransmitted FIN messages before timing out.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8766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r>
              <a:rPr lang="en-US" dirty="0"/>
              <a:t>All good things must come to an end, and that’s true for a TCP connection as well.</a:t>
            </a:r>
          </a:p>
          <a:p>
            <a:endParaRPr lang="en-US" dirty="0"/>
          </a:p>
          <a:p>
            <a:r>
              <a:rPr lang="en-US" dirty="0"/>
              <a:t>And of course there’s a protocol for one side to gracefully close of a TCP connection using a FIN message, to which the other side sends a FINACK message and waits around a bit to respond to any retransmitted FIN messages before timing out.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3566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27350" y="849313"/>
            <a:ext cx="4075113" cy="22939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8955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1536962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D945F5-5B7A-BE43-BE56-11CC737CC9DC}" type="slidenum">
              <a:rPr lang="en-US" smtClean="0"/>
              <a:pPr/>
              <a:t>‹#›</a:t>
            </a:fld>
            <a:endParaRPr lang="en-US" dirty="0"/>
          </a:p>
        </p:txBody>
      </p:sp>
      <p:cxnSp>
        <p:nvCxnSpPr>
          <p:cNvPr id="7" name="Straight Connector 6"/>
          <p:cNvCxnSpPr/>
          <p:nvPr userDrawn="1"/>
        </p:nvCxnSpPr>
        <p:spPr>
          <a:xfrm>
            <a:off x="11016" y="5257800"/>
            <a:ext cx="1219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7175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2008503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cxnSp>
        <p:nvCxnSpPr>
          <p:cNvPr id="8" name="Straight Connector 7"/>
          <p:cNvCxnSpPr/>
          <p:nvPr userDrawn="1"/>
        </p:nvCxnSpPr>
        <p:spPr>
          <a:xfrm>
            <a:off x="11016" y="5257800"/>
            <a:ext cx="1219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3916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386599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2527871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2D945F5-5B7A-BE43-BE56-11CC737CC9DC}" type="slidenum">
              <a:rPr lang="en-US" smtClean="0"/>
              <a:pPr/>
              <a:t>‹#›</a:t>
            </a:fld>
            <a:endParaRPr lang="en-US" dirty="0"/>
          </a:p>
        </p:txBody>
      </p:sp>
      <p:cxnSp>
        <p:nvCxnSpPr>
          <p:cNvPr id="5" name="Straight Connector 4"/>
          <p:cNvCxnSpPr/>
          <p:nvPr userDrawn="1"/>
        </p:nvCxnSpPr>
        <p:spPr>
          <a:xfrm>
            <a:off x="11016" y="5257800"/>
            <a:ext cx="12192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3646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1457167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1616200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2565782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E2C89-3D21-5645-8D07-A6E26F08B175}" type="datetimeFigureOut">
              <a:rPr lang="en-US" smtClean="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3977484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E2C89-3D21-5645-8D07-A6E26F08B175}" type="datetimeFigureOut">
              <a:rPr lang="en-US" smtClean="0"/>
              <a:pPr/>
              <a:t>5/5/2026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D945F5-5B7A-BE43-BE56-11CC737CC9DC}" type="slidenum">
              <a:rPr lang="en-US" smtClean="0"/>
              <a:pPr/>
              <a:t>‹#›</a:t>
            </a:fld>
            <a:endParaRPr lang="en-US" dirty="0"/>
          </a:p>
        </p:txBody>
      </p:sp>
    </p:spTree>
    <p:extLst>
      <p:ext uri="{BB962C8B-B14F-4D97-AF65-F5344CB8AC3E}">
        <p14:creationId xmlns:p14="http://schemas.microsoft.com/office/powerpoint/2010/main" val="401262907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1981200" y="1687513"/>
            <a:ext cx="8382000" cy="1568450"/>
          </a:xfrm>
        </p:spPr>
        <p:txBody>
          <a:bodyPr>
            <a:normAutofit fontScale="90000"/>
          </a:bodyPr>
          <a:lstStyle/>
          <a:p>
            <a:br>
              <a:rPr lang="en-US" sz="3200" dirty="0">
                <a:latin typeface="Avenir Book" panose="020B0503020203020204" pitchFamily="34" charset="-78"/>
                <a:cs typeface="Avenir Book" panose="020B0503020203020204" pitchFamily="34" charset="-78"/>
              </a:rPr>
            </a:br>
            <a:r>
              <a:rPr lang="en-US" sz="3200">
                <a:latin typeface="Avenir Book" panose="020B0503020203020204" pitchFamily="34" charset="-78"/>
                <a:cs typeface="Avenir Book" panose="020B0503020203020204" pitchFamily="34" charset="-78"/>
              </a:rPr>
              <a:t>Computer Networks</a:t>
            </a:r>
            <a:br>
              <a:rPr lang="en-US" sz="3200" dirty="0">
                <a:latin typeface="Avenir Book" panose="020B0503020203020204" pitchFamily="34" charset="-78"/>
                <a:cs typeface="Avenir Book" panose="020B0503020203020204" pitchFamily="34" charset="-78"/>
              </a:rPr>
            </a:br>
            <a:br>
              <a:rPr lang="en-US" sz="3200" dirty="0">
                <a:latin typeface="Avenir Book" panose="020B0503020203020204" pitchFamily="34" charset="-78"/>
                <a:cs typeface="Avenir Book" panose="020B0503020203020204" pitchFamily="34" charset="-78"/>
              </a:rPr>
            </a:br>
            <a:r>
              <a:rPr lang="en-US" sz="3200" dirty="0">
                <a:latin typeface="Avenir Book" panose="020B0503020203020204" pitchFamily="34" charset="-78"/>
                <a:cs typeface="Avenir Book" panose="020B0503020203020204" pitchFamily="34" charset="-78"/>
              </a:rPr>
              <a:t>TCP Connection Management</a:t>
            </a:r>
          </a:p>
        </p:txBody>
      </p:sp>
      <p:sp>
        <p:nvSpPr>
          <p:cNvPr id="8" name="Rounded Rectangle 4"/>
          <p:cNvSpPr/>
          <p:nvPr/>
        </p:nvSpPr>
        <p:spPr bwMode="auto">
          <a:xfrm>
            <a:off x="2084389" y="519113"/>
            <a:ext cx="8137525" cy="2563812"/>
          </a:xfrm>
          <a:prstGeom prst="rect">
            <a:avLst/>
          </a:prstGeom>
        </p:spPr>
        <p:style>
          <a:lnRef idx="0">
            <a:scrgbClr r="0" g="0" b="0"/>
          </a:lnRef>
          <a:fillRef idx="0">
            <a:scrgbClr r="0" g="0" b="0"/>
          </a:fillRef>
          <a:effectRef idx="0">
            <a:scrgbClr r="0" g="0" b="0"/>
          </a:effectRef>
          <a:fontRef idx="minor">
            <a:schemeClr val="dk1"/>
          </a:fontRef>
        </p:style>
        <p:txBody>
          <a:bodyPr lIns="148590" tIns="148590" rIns="148590" bIns="148590" spcCol="1270" anchor="ctr"/>
          <a:lstStyle/>
          <a:p>
            <a:pPr algn="ctr" defTabSz="1733550">
              <a:lnSpc>
                <a:spcPct val="90000"/>
              </a:lnSpc>
              <a:spcAft>
                <a:spcPct val="35000"/>
              </a:spcAft>
              <a:defRPr/>
            </a:pPr>
            <a:endParaRPr lang="en-US" sz="4400" dirty="0">
              <a:solidFill>
                <a:schemeClr val="accent2">
                  <a:lumMod val="75000"/>
                </a:schemeClr>
              </a:solidFill>
              <a:effectLst>
                <a:outerShdw blurRad="38100" dist="38100" dir="2700000" algn="tl">
                  <a:srgbClr val="000000">
                    <a:alpha val="43137"/>
                  </a:srgbClr>
                </a:outerShdw>
              </a:effectLst>
              <a:latin typeface="Avenir Book" panose="020B0503020203020204" pitchFamily="34" charset="-78"/>
              <a:cs typeface="Avenir Book" panose="020B0503020203020204" pitchFamily="34" charset="-78"/>
            </a:endParaRPr>
          </a:p>
        </p:txBody>
      </p:sp>
      <p:sp>
        <p:nvSpPr>
          <p:cNvPr id="6" name="Subtitle 3"/>
          <p:cNvSpPr txBox="1">
            <a:spLocks/>
          </p:cNvSpPr>
          <p:nvPr/>
        </p:nvSpPr>
        <p:spPr bwMode="auto">
          <a:xfrm>
            <a:off x="2952750" y="3962400"/>
            <a:ext cx="6400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Clr>
                <a:schemeClr val="accent1"/>
              </a:buClr>
              <a:buSzPct val="65000"/>
              <a:buFont typeface="Wingdings" pitchFamily="2" charset="2"/>
              <a:buNone/>
              <a:defRPr sz="3000">
                <a:solidFill>
                  <a:schemeClr val="tx1"/>
                </a:solidFill>
                <a:latin typeface="+mn-lt"/>
                <a:ea typeface="+mn-ea"/>
                <a:cs typeface="+mn-cs"/>
              </a:defRPr>
            </a:lvl1pPr>
            <a:lvl2pPr marL="457200" indent="0" algn="ctr" rtl="0" eaLnBrk="0" fontAlgn="base" hangingPunct="0">
              <a:spcBef>
                <a:spcPct val="20000"/>
              </a:spcBef>
              <a:spcAft>
                <a:spcPct val="0"/>
              </a:spcAft>
              <a:buClr>
                <a:schemeClr val="accent2"/>
              </a:buClr>
              <a:buSzPct val="60000"/>
              <a:buFont typeface="Wingdings" pitchFamily="2" charset="2"/>
              <a:buNone/>
              <a:defRPr sz="2600">
                <a:solidFill>
                  <a:schemeClr val="tx1"/>
                </a:solidFill>
                <a:latin typeface="+mn-lt"/>
              </a:defRPr>
            </a:lvl2pPr>
            <a:lvl3pPr marL="914400" indent="0" algn="ctr" rtl="0" eaLnBrk="0" fontAlgn="base" hangingPunct="0">
              <a:spcBef>
                <a:spcPct val="20000"/>
              </a:spcBef>
              <a:spcAft>
                <a:spcPct val="0"/>
              </a:spcAft>
              <a:buClr>
                <a:schemeClr val="accent1"/>
              </a:buClr>
              <a:buSzPct val="65000"/>
              <a:buFont typeface="Wingdings" pitchFamily="2" charset="2"/>
              <a:buNone/>
              <a:defRPr sz="2200">
                <a:solidFill>
                  <a:schemeClr val="tx1"/>
                </a:solidFill>
                <a:latin typeface="+mn-lt"/>
              </a:defRPr>
            </a:lvl3pPr>
            <a:lvl4pPr marL="1371600" indent="0" algn="ctr" rtl="0" eaLnBrk="0" fontAlgn="base" hangingPunct="0">
              <a:spcBef>
                <a:spcPct val="20000"/>
              </a:spcBef>
              <a:spcAft>
                <a:spcPct val="0"/>
              </a:spcAft>
              <a:buClr>
                <a:schemeClr val="accent2"/>
              </a:buClr>
              <a:buSzPct val="70000"/>
              <a:buFont typeface="Wingdings" pitchFamily="2" charset="2"/>
              <a:buNone/>
              <a:defRPr sz="2000">
                <a:solidFill>
                  <a:schemeClr val="tx1"/>
                </a:solidFill>
                <a:latin typeface="+mn-lt"/>
              </a:defRPr>
            </a:lvl4pPr>
            <a:lvl5pPr marL="1828800" indent="0" algn="ctr" rtl="0" eaLnBrk="0" fontAlgn="base" hangingPunct="0">
              <a:spcBef>
                <a:spcPct val="20000"/>
              </a:spcBef>
              <a:spcAft>
                <a:spcPct val="0"/>
              </a:spcAft>
              <a:buClr>
                <a:schemeClr val="accent1"/>
              </a:buClr>
              <a:buSzPct val="75000"/>
              <a:buFont typeface="Wingdings" pitchFamily="2" charset="2"/>
              <a:buNone/>
              <a:defRPr sz="2000">
                <a:solidFill>
                  <a:schemeClr val="tx1"/>
                </a:solidFill>
                <a:latin typeface="+mn-lt"/>
              </a:defRPr>
            </a:lvl5pPr>
            <a:lvl6pPr marL="2286000" indent="0" algn="ctr" rtl="0" eaLnBrk="1" fontAlgn="base" hangingPunct="1">
              <a:spcBef>
                <a:spcPct val="20000"/>
              </a:spcBef>
              <a:spcAft>
                <a:spcPct val="0"/>
              </a:spcAft>
              <a:buClr>
                <a:schemeClr val="accent1"/>
              </a:buClr>
              <a:buSzPct val="75000"/>
              <a:buFont typeface="Wingdings" pitchFamily="2" charset="2"/>
              <a:buNone/>
              <a:defRPr sz="2000">
                <a:solidFill>
                  <a:schemeClr val="tx1"/>
                </a:solidFill>
                <a:latin typeface="+mn-lt"/>
              </a:defRPr>
            </a:lvl6pPr>
            <a:lvl7pPr marL="2743200" indent="0" algn="ctr" rtl="0" eaLnBrk="1" fontAlgn="base" hangingPunct="1">
              <a:spcBef>
                <a:spcPct val="20000"/>
              </a:spcBef>
              <a:spcAft>
                <a:spcPct val="0"/>
              </a:spcAft>
              <a:buClr>
                <a:schemeClr val="accent1"/>
              </a:buClr>
              <a:buSzPct val="75000"/>
              <a:buFont typeface="Wingdings" pitchFamily="2" charset="2"/>
              <a:buNone/>
              <a:defRPr sz="2000">
                <a:solidFill>
                  <a:schemeClr val="tx1"/>
                </a:solidFill>
                <a:latin typeface="+mn-lt"/>
              </a:defRPr>
            </a:lvl7pPr>
            <a:lvl8pPr marL="3200400" indent="0" algn="ctr" rtl="0" eaLnBrk="1" fontAlgn="base" hangingPunct="1">
              <a:spcBef>
                <a:spcPct val="20000"/>
              </a:spcBef>
              <a:spcAft>
                <a:spcPct val="0"/>
              </a:spcAft>
              <a:buClr>
                <a:schemeClr val="accent1"/>
              </a:buClr>
              <a:buSzPct val="75000"/>
              <a:buFont typeface="Wingdings" pitchFamily="2" charset="2"/>
              <a:buNone/>
              <a:defRPr sz="2000">
                <a:solidFill>
                  <a:schemeClr val="tx1"/>
                </a:solidFill>
                <a:latin typeface="+mn-lt"/>
              </a:defRPr>
            </a:lvl8pPr>
            <a:lvl9pPr marL="3657600" indent="0" algn="ctr" rtl="0" eaLnBrk="1" fontAlgn="base" hangingPunct="1">
              <a:spcBef>
                <a:spcPct val="20000"/>
              </a:spcBef>
              <a:spcAft>
                <a:spcPct val="0"/>
              </a:spcAft>
              <a:buClr>
                <a:schemeClr val="accent1"/>
              </a:buClr>
              <a:buSzPct val="75000"/>
              <a:buFont typeface="Wingdings" pitchFamily="2" charset="2"/>
              <a:buNone/>
              <a:defRPr sz="2000">
                <a:solidFill>
                  <a:schemeClr val="tx1"/>
                </a:solidFill>
                <a:latin typeface="+mn-lt"/>
              </a:defRPr>
            </a:lvl9pPr>
          </a:lstStyle>
          <a:p>
            <a:pPr eaLnBrk="1" hangingPunct="1"/>
            <a:r>
              <a:rPr lang="en-US" sz="2000" kern="0" dirty="0" err="1">
                <a:latin typeface="Avenir Book" panose="020B0503020203020204" pitchFamily="34" charset="-78"/>
                <a:cs typeface="Avenir Book" panose="020B0503020203020204" pitchFamily="34" charset="-78"/>
              </a:rPr>
              <a:t>Amitangshu</a:t>
            </a:r>
            <a:r>
              <a:rPr lang="en-US" sz="2000" kern="0" dirty="0">
                <a:latin typeface="Avenir Book" panose="020B0503020203020204" pitchFamily="34" charset="-78"/>
                <a:cs typeface="Avenir Book" panose="020B0503020203020204" pitchFamily="34" charset="-78"/>
              </a:rPr>
              <a:t> Pal</a:t>
            </a:r>
          </a:p>
          <a:p>
            <a:pPr eaLnBrk="1" hangingPunct="1"/>
            <a:r>
              <a:rPr lang="en-US" sz="2000" kern="0" dirty="0">
                <a:latin typeface="Avenir Book" panose="020B0503020203020204" pitchFamily="34" charset="-78"/>
                <a:cs typeface="Avenir Book" panose="020B0503020203020204" pitchFamily="34" charset="-78"/>
              </a:rPr>
              <a:t>Computer Science and Engineering</a:t>
            </a:r>
          </a:p>
          <a:p>
            <a:pPr eaLnBrk="1" hangingPunct="1"/>
            <a:r>
              <a:rPr lang="en-US" sz="2000" kern="0" dirty="0">
                <a:latin typeface="Avenir Book" panose="020B0503020203020204" pitchFamily="34" charset="-78"/>
                <a:cs typeface="Avenir Book" panose="020B0503020203020204" pitchFamily="34" charset="-78"/>
              </a:rPr>
              <a:t>IIT Kanpur</a:t>
            </a:r>
          </a:p>
        </p:txBody>
      </p:sp>
    </p:spTree>
    <p:extLst>
      <p:ext uri="{BB962C8B-B14F-4D97-AF65-F5344CB8AC3E}">
        <p14:creationId xmlns:p14="http://schemas.microsoft.com/office/powerpoint/2010/main" val="4257869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887915" y="286800"/>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Segment Structure</a:t>
            </a:r>
            <a:endParaRPr lang="en-US" sz="3300" dirty="0">
              <a:latin typeface="Avenir Book" panose="020B0503020203020204" pitchFamily="34" charset="-78"/>
              <a:cs typeface="Avenir Book" panose="020B0503020203020204" pitchFamily="34" charset="-78"/>
            </a:endParaRPr>
          </a:p>
        </p:txBody>
      </p:sp>
      <p:sp>
        <p:nvSpPr>
          <p:cNvPr id="60" name="Rectangle 4">
            <a:extLst>
              <a:ext uri="{FF2B5EF4-FFF2-40B4-BE49-F238E27FC236}">
                <a16:creationId xmlns:a16="http://schemas.microsoft.com/office/drawing/2014/main" id="{1438C6A7-F9CB-854D-92BB-74AFAE175928}"/>
              </a:ext>
            </a:extLst>
          </p:cNvPr>
          <p:cNvSpPr>
            <a:spLocks noChangeArrowheads="1"/>
          </p:cNvSpPr>
          <p:nvPr/>
        </p:nvSpPr>
        <p:spPr bwMode="auto">
          <a:xfrm>
            <a:off x="4871430" y="1356331"/>
            <a:ext cx="2963465" cy="3618309"/>
          </a:xfrm>
          <a:prstGeom prst="rect">
            <a:avLst/>
          </a:prstGeom>
          <a:solidFill>
            <a:srgbClr val="000099"/>
          </a:solidFill>
          <a:ln>
            <a:noFill/>
          </a:ln>
          <a:effectLst/>
          <a:extLst>
            <a:ext uri="{91240B29-F687-4f45-9708-019B960494DF}">
              <a14:hiddenLine xmlns:a14="http://schemas.microsoft.com/office/drawing/2010/main" xmlns="" w="190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61" name="Rectangle 5">
            <a:extLst>
              <a:ext uri="{FF2B5EF4-FFF2-40B4-BE49-F238E27FC236}">
                <a16:creationId xmlns:a16="http://schemas.microsoft.com/office/drawing/2014/main" id="{21D47CEF-020C-9C44-AB75-DA719011CBEF}"/>
              </a:ext>
            </a:extLst>
          </p:cNvPr>
          <p:cNvSpPr>
            <a:spLocks noChangeArrowheads="1"/>
          </p:cNvSpPr>
          <p:nvPr/>
        </p:nvSpPr>
        <p:spPr bwMode="auto">
          <a:xfrm>
            <a:off x="4807137" y="1443245"/>
            <a:ext cx="2963465" cy="3604022"/>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4" name="Group 3">
            <a:extLst>
              <a:ext uri="{FF2B5EF4-FFF2-40B4-BE49-F238E27FC236}">
                <a16:creationId xmlns:a16="http://schemas.microsoft.com/office/drawing/2014/main" id="{A0F66122-9E4A-7644-B40C-189BABEA3388}"/>
              </a:ext>
            </a:extLst>
          </p:cNvPr>
          <p:cNvGrpSpPr/>
          <p:nvPr/>
        </p:nvGrpSpPr>
        <p:grpSpPr>
          <a:xfrm>
            <a:off x="4867916" y="1432262"/>
            <a:ext cx="2697564" cy="327006"/>
            <a:chOff x="4427390" y="1661303"/>
            <a:chExt cx="3596753" cy="436008"/>
          </a:xfrm>
        </p:grpSpPr>
        <p:sp>
          <p:nvSpPr>
            <p:cNvPr id="62" name="Text Box 6">
              <a:extLst>
                <a:ext uri="{FF2B5EF4-FFF2-40B4-BE49-F238E27FC236}">
                  <a16:creationId xmlns:a16="http://schemas.microsoft.com/office/drawing/2014/main" id="{A183A89B-2122-E141-9DF3-203A60EFF295}"/>
                </a:ext>
              </a:extLst>
            </p:cNvPr>
            <p:cNvSpPr txBox="1">
              <a:spLocks noChangeArrowheads="1"/>
            </p:cNvSpPr>
            <p:nvPr/>
          </p:nvSpPr>
          <p:spPr bwMode="auto">
            <a:xfrm>
              <a:off x="4427390" y="1661303"/>
              <a:ext cx="1800067" cy="43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venir Book" panose="020B0503020203020204" pitchFamily="34" charset="-78"/>
                  <a:cs typeface="Avenir Book" panose="020B0503020203020204" pitchFamily="34" charset="-78"/>
                </a:rPr>
                <a:t>Source port #</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63" name="Text Box 7">
              <a:extLst>
                <a:ext uri="{FF2B5EF4-FFF2-40B4-BE49-F238E27FC236}">
                  <a16:creationId xmlns:a16="http://schemas.microsoft.com/office/drawing/2014/main" id="{E52BAEBA-8AEA-B545-A35F-AEB6190843E5}"/>
                </a:ext>
              </a:extLst>
            </p:cNvPr>
            <p:cNvSpPr txBox="1">
              <a:spLocks noChangeArrowheads="1"/>
            </p:cNvSpPr>
            <p:nvPr/>
          </p:nvSpPr>
          <p:spPr bwMode="auto">
            <a:xfrm>
              <a:off x="6486968" y="1666424"/>
              <a:ext cx="1537175" cy="43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err="1">
                  <a:solidFill>
                    <a:srgbClr val="000000"/>
                  </a:solidFill>
                  <a:latin typeface="Avenir Book" panose="020B0503020203020204" pitchFamily="34" charset="-78"/>
                  <a:cs typeface="Avenir Book" panose="020B0503020203020204" pitchFamily="34" charset="-78"/>
                </a:rPr>
                <a:t>Dest</a:t>
              </a:r>
              <a:r>
                <a:rPr lang="en-US" sz="1500" dirty="0">
                  <a:solidFill>
                    <a:srgbClr val="000000"/>
                  </a:solidFill>
                  <a:latin typeface="Avenir Book" panose="020B0503020203020204" pitchFamily="34" charset="-78"/>
                  <a:cs typeface="Avenir Book" panose="020B0503020203020204" pitchFamily="34" charset="-78"/>
                </a:rPr>
                <a:t> port #</a:t>
              </a:r>
              <a:endParaRPr lang="en-US" sz="1350" dirty="0">
                <a:solidFill>
                  <a:srgbClr val="000000"/>
                </a:solidFill>
                <a:latin typeface="Avenir Book" panose="020B0503020203020204" pitchFamily="34" charset="-78"/>
                <a:cs typeface="Avenir Book" panose="020B0503020203020204" pitchFamily="34" charset="-78"/>
              </a:endParaRPr>
            </a:p>
          </p:txBody>
        </p:sp>
      </p:grpSp>
      <p:sp>
        <p:nvSpPr>
          <p:cNvPr id="64" name="Line 8">
            <a:extLst>
              <a:ext uri="{FF2B5EF4-FFF2-40B4-BE49-F238E27FC236}">
                <a16:creationId xmlns:a16="http://schemas.microsoft.com/office/drawing/2014/main" id="{BDC40F37-DD1A-6848-AB76-2EA7683B9566}"/>
              </a:ext>
            </a:extLst>
          </p:cNvPr>
          <p:cNvSpPr>
            <a:spLocks noChangeShapeType="1"/>
          </p:cNvSpPr>
          <p:nvPr/>
        </p:nvSpPr>
        <p:spPr bwMode="auto">
          <a:xfrm>
            <a:off x="4809517" y="1724233"/>
            <a:ext cx="2959894" cy="3572"/>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65" name="Line 9">
            <a:extLst>
              <a:ext uri="{FF2B5EF4-FFF2-40B4-BE49-F238E27FC236}">
                <a16:creationId xmlns:a16="http://schemas.microsoft.com/office/drawing/2014/main" id="{92C91585-33BC-084B-A3CF-F5A7CD082B67}"/>
              </a:ext>
            </a:extLst>
          </p:cNvPr>
          <p:cNvSpPr>
            <a:spLocks noChangeShapeType="1"/>
          </p:cNvSpPr>
          <p:nvPr/>
        </p:nvSpPr>
        <p:spPr bwMode="auto">
          <a:xfrm flipV="1">
            <a:off x="4804755" y="2008792"/>
            <a:ext cx="296346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2" name="Group 11">
            <a:extLst>
              <a:ext uri="{FF2B5EF4-FFF2-40B4-BE49-F238E27FC236}">
                <a16:creationId xmlns:a16="http://schemas.microsoft.com/office/drawing/2014/main" id="{8552304C-19AC-C84B-842E-CBCC3EA9E153}"/>
              </a:ext>
            </a:extLst>
          </p:cNvPr>
          <p:cNvGrpSpPr/>
          <p:nvPr/>
        </p:nvGrpSpPr>
        <p:grpSpPr>
          <a:xfrm>
            <a:off x="4790467" y="1045577"/>
            <a:ext cx="2951559" cy="300082"/>
            <a:chOff x="4324123" y="1145724"/>
            <a:chExt cx="3935412" cy="400108"/>
          </a:xfrm>
        </p:grpSpPr>
        <p:sp>
          <p:nvSpPr>
            <p:cNvPr id="67" name="Text Box 11">
              <a:extLst>
                <a:ext uri="{FF2B5EF4-FFF2-40B4-BE49-F238E27FC236}">
                  <a16:creationId xmlns:a16="http://schemas.microsoft.com/office/drawing/2014/main" id="{D7A6E153-CAA2-2E43-9742-982E16926734}"/>
                </a:ext>
              </a:extLst>
            </p:cNvPr>
            <p:cNvSpPr txBox="1">
              <a:spLocks noChangeArrowheads="1"/>
            </p:cNvSpPr>
            <p:nvPr/>
          </p:nvSpPr>
          <p:spPr bwMode="auto">
            <a:xfrm>
              <a:off x="5791512" y="1145724"/>
              <a:ext cx="938720" cy="40010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a:solidFill>
                    <a:srgbClr val="000000"/>
                  </a:solidFill>
                  <a:latin typeface="Avenir Book" panose="020B0503020203020204" pitchFamily="34" charset="-78"/>
                  <a:cs typeface="Avenir Book" panose="020B0503020203020204" pitchFamily="34" charset="-78"/>
                </a:rPr>
                <a:t>32 bits</a:t>
              </a:r>
              <a:endParaRPr lang="en-US" sz="1800">
                <a:solidFill>
                  <a:srgbClr val="000000"/>
                </a:solidFill>
                <a:latin typeface="Avenir Book" panose="020B0503020203020204" pitchFamily="34" charset="-78"/>
                <a:cs typeface="Avenir Book" panose="020B0503020203020204" pitchFamily="34" charset="-78"/>
              </a:endParaRPr>
            </a:p>
          </p:txBody>
        </p:sp>
        <p:sp>
          <p:nvSpPr>
            <p:cNvPr id="68" name="Line 12">
              <a:extLst>
                <a:ext uri="{FF2B5EF4-FFF2-40B4-BE49-F238E27FC236}">
                  <a16:creationId xmlns:a16="http://schemas.microsoft.com/office/drawing/2014/main" id="{C28AE80D-AED7-BB43-AEEF-9A3E95D70A42}"/>
                </a:ext>
              </a:extLst>
            </p:cNvPr>
            <p:cNvSpPr>
              <a:spLocks noChangeShapeType="1"/>
            </p:cNvSpPr>
            <p:nvPr/>
          </p:nvSpPr>
          <p:spPr bwMode="auto">
            <a:xfrm>
              <a:off x="6832373" y="1391787"/>
              <a:ext cx="1427162" cy="476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69" name="Line 13">
              <a:extLst>
                <a:ext uri="{FF2B5EF4-FFF2-40B4-BE49-F238E27FC236}">
                  <a16:creationId xmlns:a16="http://schemas.microsoft.com/office/drawing/2014/main" id="{0FE91D57-DF52-A948-8B79-BE2C69D24056}"/>
                </a:ext>
              </a:extLst>
            </p:cNvPr>
            <p:cNvSpPr>
              <a:spLocks noChangeShapeType="1"/>
            </p:cNvSpPr>
            <p:nvPr/>
          </p:nvSpPr>
          <p:spPr bwMode="auto">
            <a:xfrm rot="10800000">
              <a:off x="4324123" y="1402899"/>
              <a:ext cx="1341437"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74" name="Line 16">
            <a:extLst>
              <a:ext uri="{FF2B5EF4-FFF2-40B4-BE49-F238E27FC236}">
                <a16:creationId xmlns:a16="http://schemas.microsoft.com/office/drawing/2014/main" id="{ADBC9EF8-B51B-F249-8F7B-C16F5F07A21E}"/>
              </a:ext>
            </a:extLst>
          </p:cNvPr>
          <p:cNvSpPr>
            <a:spLocks noChangeShapeType="1"/>
          </p:cNvSpPr>
          <p:nvPr/>
        </p:nvSpPr>
        <p:spPr bwMode="auto">
          <a:xfrm flipV="1">
            <a:off x="4811899" y="2294542"/>
            <a:ext cx="296346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76" name="Line 18">
            <a:extLst>
              <a:ext uri="{FF2B5EF4-FFF2-40B4-BE49-F238E27FC236}">
                <a16:creationId xmlns:a16="http://schemas.microsoft.com/office/drawing/2014/main" id="{32231029-9349-864B-ABF1-0D56E55824BB}"/>
              </a:ext>
            </a:extLst>
          </p:cNvPr>
          <p:cNvSpPr>
            <a:spLocks noChangeShapeType="1"/>
          </p:cNvSpPr>
          <p:nvPr/>
        </p:nvSpPr>
        <p:spPr bwMode="auto">
          <a:xfrm flipV="1">
            <a:off x="4808325" y="2591007"/>
            <a:ext cx="2963466"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77" name="Line 19">
            <a:extLst>
              <a:ext uri="{FF2B5EF4-FFF2-40B4-BE49-F238E27FC236}">
                <a16:creationId xmlns:a16="http://schemas.microsoft.com/office/drawing/2014/main" id="{F2503E28-C28E-B541-932B-7E2993655C9A}"/>
              </a:ext>
            </a:extLst>
          </p:cNvPr>
          <p:cNvSpPr>
            <a:spLocks noChangeShapeType="1"/>
          </p:cNvSpPr>
          <p:nvPr/>
        </p:nvSpPr>
        <p:spPr bwMode="auto">
          <a:xfrm flipV="1">
            <a:off x="4804755" y="2883901"/>
            <a:ext cx="296346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78" name="Line 20">
            <a:extLst>
              <a:ext uri="{FF2B5EF4-FFF2-40B4-BE49-F238E27FC236}">
                <a16:creationId xmlns:a16="http://schemas.microsoft.com/office/drawing/2014/main" id="{10D5BEAE-CBC6-5040-B37E-6D12FC20E9CB}"/>
              </a:ext>
            </a:extLst>
          </p:cNvPr>
          <p:cNvSpPr>
            <a:spLocks noChangeShapeType="1"/>
          </p:cNvSpPr>
          <p:nvPr/>
        </p:nvSpPr>
        <p:spPr bwMode="auto">
          <a:xfrm flipV="1">
            <a:off x="4804755" y="3305382"/>
            <a:ext cx="296346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79" name="Line 21">
            <a:extLst>
              <a:ext uri="{FF2B5EF4-FFF2-40B4-BE49-F238E27FC236}">
                <a16:creationId xmlns:a16="http://schemas.microsoft.com/office/drawing/2014/main" id="{A186AEBD-F0F5-494B-9D24-09B9888787CD}"/>
              </a:ext>
            </a:extLst>
          </p:cNvPr>
          <p:cNvSpPr>
            <a:spLocks noChangeShapeType="1"/>
          </p:cNvSpPr>
          <p:nvPr/>
        </p:nvSpPr>
        <p:spPr bwMode="auto">
          <a:xfrm flipH="1" flipV="1">
            <a:off x="6275176" y="2296924"/>
            <a:ext cx="3572" cy="583406"/>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7" name="Line 29">
            <a:extLst>
              <a:ext uri="{FF2B5EF4-FFF2-40B4-BE49-F238E27FC236}">
                <a16:creationId xmlns:a16="http://schemas.microsoft.com/office/drawing/2014/main" id="{B0BB3064-7239-A344-B7D3-3350540CF7AA}"/>
              </a:ext>
            </a:extLst>
          </p:cNvPr>
          <p:cNvSpPr>
            <a:spLocks noChangeShapeType="1"/>
          </p:cNvSpPr>
          <p:nvPr/>
        </p:nvSpPr>
        <p:spPr bwMode="auto">
          <a:xfrm flipV="1">
            <a:off x="5798925" y="2296923"/>
            <a:ext cx="0" cy="294084"/>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8" name="Line 30">
            <a:extLst>
              <a:ext uri="{FF2B5EF4-FFF2-40B4-BE49-F238E27FC236}">
                <a16:creationId xmlns:a16="http://schemas.microsoft.com/office/drawing/2014/main" id="{22FDEDB0-0202-4C4C-9B34-FF72CC278D77}"/>
              </a:ext>
            </a:extLst>
          </p:cNvPr>
          <p:cNvSpPr>
            <a:spLocks noChangeShapeType="1"/>
          </p:cNvSpPr>
          <p:nvPr/>
        </p:nvSpPr>
        <p:spPr bwMode="auto">
          <a:xfrm flipV="1">
            <a:off x="5683435" y="2293352"/>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9" name="Line 31">
            <a:extLst>
              <a:ext uri="{FF2B5EF4-FFF2-40B4-BE49-F238E27FC236}">
                <a16:creationId xmlns:a16="http://schemas.microsoft.com/office/drawing/2014/main" id="{9AF172E8-0A6A-6644-BD77-F1EE190D4ADE}"/>
              </a:ext>
            </a:extLst>
          </p:cNvPr>
          <p:cNvSpPr>
            <a:spLocks noChangeShapeType="1"/>
          </p:cNvSpPr>
          <p:nvPr/>
        </p:nvSpPr>
        <p:spPr bwMode="auto">
          <a:xfrm flipV="1">
            <a:off x="5564373" y="2300496"/>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6" name="Text Box 38">
            <a:extLst>
              <a:ext uri="{FF2B5EF4-FFF2-40B4-BE49-F238E27FC236}">
                <a16:creationId xmlns:a16="http://schemas.microsoft.com/office/drawing/2014/main" id="{A4AA77C6-3CD5-F642-BD90-B898C462C724}"/>
              </a:ext>
            </a:extLst>
          </p:cNvPr>
          <p:cNvSpPr txBox="1">
            <a:spLocks noChangeArrowheads="1"/>
          </p:cNvSpPr>
          <p:nvPr/>
        </p:nvSpPr>
        <p:spPr bwMode="auto">
          <a:xfrm>
            <a:off x="4989593" y="2303497"/>
            <a:ext cx="433132" cy="3277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85000"/>
              </a:lnSpc>
              <a:spcBef>
                <a:spcPct val="0"/>
              </a:spcBef>
              <a:spcAft>
                <a:spcPct val="0"/>
              </a:spcAft>
              <a:defRPr/>
            </a:pPr>
            <a:r>
              <a:rPr lang="en-US" sz="900" dirty="0">
                <a:solidFill>
                  <a:srgbClr val="000000"/>
                </a:solidFill>
                <a:latin typeface="Avenir Book" panose="020B0503020203020204" pitchFamily="34" charset="-78"/>
                <a:cs typeface="Avenir Book" panose="020B0503020203020204" pitchFamily="34" charset="-78"/>
              </a:rPr>
              <a:t>not</a:t>
            </a:r>
          </a:p>
          <a:p>
            <a:pPr algn="ctr" defTabSz="685800" eaLnBrk="0" fontAlgn="base" hangingPunct="0">
              <a:lnSpc>
                <a:spcPct val="85000"/>
              </a:lnSpc>
              <a:spcBef>
                <a:spcPct val="0"/>
              </a:spcBef>
              <a:spcAft>
                <a:spcPct val="0"/>
              </a:spcAft>
              <a:defRPr/>
            </a:pPr>
            <a:r>
              <a:rPr lang="en-US" sz="900" dirty="0">
                <a:solidFill>
                  <a:srgbClr val="000000"/>
                </a:solidFill>
                <a:latin typeface="Avenir Book" panose="020B0503020203020204" pitchFamily="34" charset="-78"/>
                <a:cs typeface="Avenir Book" panose="020B0503020203020204" pitchFamily="34" charset="-78"/>
              </a:rPr>
              <a:t>used</a:t>
            </a:r>
            <a:endParaRPr lang="en-US" sz="1200" dirty="0">
              <a:solidFill>
                <a:srgbClr val="000000"/>
              </a:solidFill>
              <a:latin typeface="Avenir Book" panose="020B0503020203020204" pitchFamily="34" charset="-78"/>
              <a:cs typeface="Avenir Book" panose="020B0503020203020204" pitchFamily="34" charset="-78"/>
            </a:endParaRPr>
          </a:p>
        </p:txBody>
      </p:sp>
      <p:sp>
        <p:nvSpPr>
          <p:cNvPr id="97" name="Line 39">
            <a:extLst>
              <a:ext uri="{FF2B5EF4-FFF2-40B4-BE49-F238E27FC236}">
                <a16:creationId xmlns:a16="http://schemas.microsoft.com/office/drawing/2014/main" id="{356A6247-1FB1-3845-A2C5-956708DFFBCF}"/>
              </a:ext>
            </a:extLst>
          </p:cNvPr>
          <p:cNvSpPr>
            <a:spLocks noChangeShapeType="1"/>
          </p:cNvSpPr>
          <p:nvPr/>
        </p:nvSpPr>
        <p:spPr bwMode="auto">
          <a:xfrm flipV="1">
            <a:off x="5082699" y="2293352"/>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5" name="Group 114">
            <a:extLst>
              <a:ext uri="{FF2B5EF4-FFF2-40B4-BE49-F238E27FC236}">
                <a16:creationId xmlns:a16="http://schemas.microsoft.com/office/drawing/2014/main" id="{25F3ABB6-FC22-8E45-923B-C272F3E47C12}"/>
              </a:ext>
            </a:extLst>
          </p:cNvPr>
          <p:cNvGrpSpPr/>
          <p:nvPr/>
        </p:nvGrpSpPr>
        <p:grpSpPr>
          <a:xfrm>
            <a:off x="6314362" y="2299305"/>
            <a:ext cx="4300990" cy="571696"/>
            <a:chOff x="6355985" y="2817362"/>
            <a:chExt cx="5734653" cy="762260"/>
          </a:xfrm>
        </p:grpSpPr>
        <p:sp>
          <p:nvSpPr>
            <p:cNvPr id="80" name="Text Box 22">
              <a:extLst>
                <a:ext uri="{FF2B5EF4-FFF2-40B4-BE49-F238E27FC236}">
                  <a16:creationId xmlns:a16="http://schemas.microsoft.com/office/drawing/2014/main" id="{C121B465-E333-C34D-A9B1-4EC95AB29663}"/>
                </a:ext>
              </a:extLst>
            </p:cNvPr>
            <p:cNvSpPr txBox="1">
              <a:spLocks noChangeArrowheads="1"/>
            </p:cNvSpPr>
            <p:nvPr/>
          </p:nvSpPr>
          <p:spPr bwMode="auto">
            <a:xfrm>
              <a:off x="6355985" y="2817362"/>
              <a:ext cx="1844951" cy="4001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dirty="0">
                  <a:solidFill>
                    <a:srgbClr val="000000"/>
                  </a:solidFill>
                  <a:latin typeface="Avenir Book" panose="020B0503020203020204" pitchFamily="34" charset="-78"/>
                  <a:cs typeface="Avenir Book" panose="020B0503020203020204" pitchFamily="34" charset="-78"/>
                </a:rPr>
                <a:t>receive window</a:t>
              </a:r>
            </a:p>
          </p:txBody>
        </p:sp>
        <p:sp>
          <p:nvSpPr>
            <p:cNvPr id="107" name="Text Box 49">
              <a:extLst>
                <a:ext uri="{FF2B5EF4-FFF2-40B4-BE49-F238E27FC236}">
                  <a16:creationId xmlns:a16="http://schemas.microsoft.com/office/drawing/2014/main" id="{C1196D10-63E5-F146-A338-FB6B53C00F42}"/>
                </a:ext>
              </a:extLst>
            </p:cNvPr>
            <p:cNvSpPr txBox="1">
              <a:spLocks noChangeArrowheads="1"/>
            </p:cNvSpPr>
            <p:nvPr/>
          </p:nvSpPr>
          <p:spPr bwMode="auto">
            <a:xfrm>
              <a:off x="8724898" y="2847115"/>
              <a:ext cx="3365740" cy="73250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800" dirty="0">
                  <a:solidFill>
                    <a:srgbClr val="000000"/>
                  </a:solidFill>
                  <a:latin typeface="Avenir Book" panose="020B0503020203020204" pitchFamily="34" charset="-78"/>
                  <a:cs typeface="Avenir Book" panose="020B0503020203020204" pitchFamily="34" charset="-78"/>
                </a:rPr>
                <a:t>flow control: </a:t>
              </a:r>
              <a:r>
                <a:rPr lang="en-US" sz="1500" dirty="0">
                  <a:solidFill>
                    <a:srgbClr val="000000"/>
                  </a:solidFill>
                  <a:latin typeface="Avenir Book" panose="020B0503020203020204" pitchFamily="34" charset="-78"/>
                  <a:cs typeface="Avenir Book" panose="020B0503020203020204" pitchFamily="34" charset="-78"/>
                </a:rPr>
                <a:t># bytes receiver willing to accept</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111" name="Line 53">
              <a:extLst>
                <a:ext uri="{FF2B5EF4-FFF2-40B4-BE49-F238E27FC236}">
                  <a16:creationId xmlns:a16="http://schemas.microsoft.com/office/drawing/2014/main" id="{AF202832-D8A0-CC44-AEC9-474E90CA4102}"/>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6" name="Group 5">
            <a:extLst>
              <a:ext uri="{FF2B5EF4-FFF2-40B4-BE49-F238E27FC236}">
                <a16:creationId xmlns:a16="http://schemas.microsoft.com/office/drawing/2014/main" id="{9EBAA956-8E89-0A4A-A4BC-91B08D93CC59}"/>
              </a:ext>
            </a:extLst>
          </p:cNvPr>
          <p:cNvGrpSpPr/>
          <p:nvPr/>
        </p:nvGrpSpPr>
        <p:grpSpPr>
          <a:xfrm>
            <a:off x="5282195" y="1442110"/>
            <a:ext cx="5574227" cy="798680"/>
            <a:chOff x="4979760" y="1674436"/>
            <a:chExt cx="7432302" cy="1064908"/>
          </a:xfrm>
        </p:grpSpPr>
        <p:sp>
          <p:nvSpPr>
            <p:cNvPr id="73" name="Text Box 15">
              <a:extLst>
                <a:ext uri="{FF2B5EF4-FFF2-40B4-BE49-F238E27FC236}">
                  <a16:creationId xmlns:a16="http://schemas.microsoft.com/office/drawing/2014/main" id="{2925631F-CA45-E24E-A2A3-36475CE0E0E7}"/>
                </a:ext>
              </a:extLst>
            </p:cNvPr>
            <p:cNvSpPr txBox="1">
              <a:spLocks noChangeArrowheads="1"/>
            </p:cNvSpPr>
            <p:nvPr/>
          </p:nvSpPr>
          <p:spPr bwMode="auto">
            <a:xfrm>
              <a:off x="4979760" y="2029962"/>
              <a:ext cx="2486025" cy="43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venir Book" panose="020B0503020203020204" pitchFamily="34" charset="-78"/>
                  <a:cs typeface="Avenir Book" panose="020B0503020203020204" pitchFamily="34" charset="-78"/>
                </a:rPr>
                <a:t>Sequence number</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108" name="Text Box 50">
              <a:extLst>
                <a:ext uri="{FF2B5EF4-FFF2-40B4-BE49-F238E27FC236}">
                  <a16:creationId xmlns:a16="http://schemas.microsoft.com/office/drawing/2014/main" id="{62087231-CA89-9F46-9993-D5CE4726B8FD}"/>
                </a:ext>
              </a:extLst>
            </p:cNvPr>
            <p:cNvSpPr txBox="1">
              <a:spLocks noChangeArrowheads="1"/>
            </p:cNvSpPr>
            <p:nvPr/>
          </p:nvSpPr>
          <p:spPr bwMode="auto">
            <a:xfrm>
              <a:off x="8724900" y="1674436"/>
              <a:ext cx="3687162" cy="106490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800" dirty="0">
                  <a:solidFill>
                    <a:srgbClr val="000000"/>
                  </a:solidFill>
                  <a:latin typeface="Avenir Book" panose="020B0503020203020204" pitchFamily="34" charset="-78"/>
                  <a:cs typeface="Avenir Book" panose="020B0503020203020204" pitchFamily="34" charset="-78"/>
                </a:rPr>
                <a:t>segment seq  #: </a:t>
              </a:r>
              <a:r>
                <a:rPr lang="en-US" sz="1500" dirty="0">
                  <a:solidFill>
                    <a:srgbClr val="000000"/>
                  </a:solidFill>
                  <a:latin typeface="Avenir Book" panose="020B0503020203020204" pitchFamily="34" charset="-78"/>
                  <a:cs typeface="Avenir Book" panose="020B0503020203020204" pitchFamily="34" charset="-78"/>
                </a:rPr>
                <a:t>counting bytes of data</a:t>
              </a:r>
              <a:r>
                <a:rPr lang="en-US" sz="1800" dirty="0">
                  <a:solidFill>
                    <a:srgbClr val="000000"/>
                  </a:solidFill>
                  <a:latin typeface="Avenir Book" panose="020B0503020203020204" pitchFamily="34" charset="-78"/>
                  <a:cs typeface="Avenir Book" panose="020B0503020203020204" pitchFamily="34" charset="-78"/>
                </a:rPr>
                <a:t> </a:t>
              </a:r>
              <a:r>
                <a:rPr lang="en-US" sz="1500" dirty="0">
                  <a:solidFill>
                    <a:srgbClr val="000000"/>
                  </a:solidFill>
                  <a:latin typeface="Avenir Book" panose="020B0503020203020204" pitchFamily="34" charset="-78"/>
                  <a:cs typeface="Avenir Book" panose="020B0503020203020204" pitchFamily="34" charset="-78"/>
                </a:rPr>
                <a:t>into </a:t>
              </a:r>
              <a:r>
                <a:rPr lang="en-US" sz="1500" dirty="0" err="1">
                  <a:solidFill>
                    <a:srgbClr val="000000"/>
                  </a:solidFill>
                  <a:latin typeface="Avenir Book" panose="020B0503020203020204" pitchFamily="34" charset="-78"/>
                  <a:cs typeface="Avenir Book" panose="020B0503020203020204" pitchFamily="34" charset="-78"/>
                </a:rPr>
                <a:t>bytestream</a:t>
              </a:r>
              <a:r>
                <a:rPr lang="en-US" sz="1800" dirty="0">
                  <a:solidFill>
                    <a:srgbClr val="000000"/>
                  </a:solidFill>
                  <a:latin typeface="Avenir Book" panose="020B0503020203020204" pitchFamily="34" charset="-78"/>
                  <a:cs typeface="Avenir Book" panose="020B0503020203020204" pitchFamily="34" charset="-78"/>
                </a:rPr>
                <a:t> </a:t>
              </a:r>
              <a:r>
                <a:rPr lang="en-US" sz="1500" dirty="0">
                  <a:solidFill>
                    <a:srgbClr val="000000"/>
                  </a:solidFill>
                  <a:latin typeface="Avenir Book" panose="020B0503020203020204" pitchFamily="34" charset="-78"/>
                  <a:cs typeface="Avenir Book" panose="020B0503020203020204" pitchFamily="34" charset="-78"/>
                </a:rPr>
                <a:t>(not segments!)</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113" name="Line 55">
              <a:extLst>
                <a:ext uri="{FF2B5EF4-FFF2-40B4-BE49-F238E27FC236}">
                  <a16:creationId xmlns:a16="http://schemas.microsoft.com/office/drawing/2014/main" id="{69F8FE7B-57A5-CA45-A15F-AB7CA1D8D54F}"/>
                </a:ext>
              </a:extLst>
            </p:cNvPr>
            <p:cNvSpPr>
              <a:spLocks noChangeShapeType="1"/>
            </p:cNvSpPr>
            <p:nvPr/>
          </p:nvSpPr>
          <p:spPr bwMode="auto">
            <a:xfrm flipH="1" flipV="1">
              <a:off x="7924797" y="2244436"/>
              <a:ext cx="800102"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129" name="Group 128">
            <a:extLst>
              <a:ext uri="{FF2B5EF4-FFF2-40B4-BE49-F238E27FC236}">
                <a16:creationId xmlns:a16="http://schemas.microsoft.com/office/drawing/2014/main" id="{33475873-1909-F649-A643-DFFF77ECF966}"/>
              </a:ext>
            </a:extLst>
          </p:cNvPr>
          <p:cNvGrpSpPr/>
          <p:nvPr/>
        </p:nvGrpSpPr>
        <p:grpSpPr>
          <a:xfrm>
            <a:off x="5361623" y="3647095"/>
            <a:ext cx="5004349" cy="1107477"/>
            <a:chOff x="5110510" y="4614412"/>
            <a:chExt cx="6059166" cy="1476635"/>
          </a:xfrm>
        </p:grpSpPr>
        <p:sp>
          <p:nvSpPr>
            <p:cNvPr id="72" name="Text Box 14">
              <a:extLst>
                <a:ext uri="{FF2B5EF4-FFF2-40B4-BE49-F238E27FC236}">
                  <a16:creationId xmlns:a16="http://schemas.microsoft.com/office/drawing/2014/main" id="{394540FC-9B80-C049-964F-3AEAF7A4BA2D}"/>
                </a:ext>
              </a:extLst>
            </p:cNvPr>
            <p:cNvSpPr txBox="1">
              <a:spLocks noChangeArrowheads="1"/>
            </p:cNvSpPr>
            <p:nvPr/>
          </p:nvSpPr>
          <p:spPr bwMode="auto">
            <a:xfrm>
              <a:off x="5110510" y="4614412"/>
              <a:ext cx="2476066" cy="7386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venir Book" panose="020B0503020203020204" pitchFamily="34" charset="-78"/>
                  <a:cs typeface="Avenir Book" panose="020B0503020203020204" pitchFamily="34" charset="-78"/>
                </a:rPr>
                <a:t>Application data </a:t>
              </a:r>
            </a:p>
            <a:p>
              <a:pPr algn="ctr" defTabSz="685800" eaLnBrk="0" fontAlgn="base" hangingPunct="0">
                <a:spcBef>
                  <a:spcPct val="0"/>
                </a:spcBef>
                <a:spcAft>
                  <a:spcPct val="0"/>
                </a:spcAft>
                <a:defRPr/>
              </a:pPr>
              <a:r>
                <a:rPr lang="en-US" sz="1500" dirty="0">
                  <a:solidFill>
                    <a:srgbClr val="000000"/>
                  </a:solidFill>
                  <a:latin typeface="Avenir Book" panose="020B0503020203020204" pitchFamily="34" charset="-78"/>
                  <a:cs typeface="Avenir Book" panose="020B0503020203020204" pitchFamily="34" charset="-78"/>
                </a:rPr>
                <a:t>(variable length)</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125" name="TextBox 124">
              <a:extLst>
                <a:ext uri="{FF2B5EF4-FFF2-40B4-BE49-F238E27FC236}">
                  <a16:creationId xmlns:a16="http://schemas.microsoft.com/office/drawing/2014/main" id="{5CEFBFE2-D6C5-6C4B-85CD-C2B1704479E4}"/>
                </a:ext>
              </a:extLst>
            </p:cNvPr>
            <p:cNvSpPr txBox="1"/>
            <p:nvPr/>
          </p:nvSpPr>
          <p:spPr>
            <a:xfrm>
              <a:off x="8980285" y="4638343"/>
              <a:ext cx="2189391" cy="1452704"/>
            </a:xfrm>
            <a:prstGeom prst="rect">
              <a:avLst/>
            </a:prstGeom>
            <a:noFill/>
          </p:spPr>
          <p:txBody>
            <a:bodyPr wrap="square" rtlCol="0">
              <a:spAutoFit/>
            </a:bodyPr>
            <a:lstStyle/>
            <a:p>
              <a:pPr defTabSz="685800">
                <a:lnSpc>
                  <a:spcPct val="90000"/>
                </a:lnSpc>
                <a:defRPr/>
              </a:pPr>
              <a:r>
                <a:rPr lang="en-US" dirty="0">
                  <a:solidFill>
                    <a:prstClr val="black"/>
                  </a:solidFill>
                  <a:latin typeface="Avenir Book" panose="020B0503020203020204" pitchFamily="34" charset="-78"/>
                  <a:cs typeface="Avenir Book" panose="020B0503020203020204" pitchFamily="34" charset="-78"/>
                </a:rPr>
                <a:t>data sent by application into TCP socket</a:t>
              </a:r>
            </a:p>
          </p:txBody>
        </p:sp>
        <p:cxnSp>
          <p:nvCxnSpPr>
            <p:cNvPr id="127" name="Straight Connector 126">
              <a:extLst>
                <a:ext uri="{FF2B5EF4-FFF2-40B4-BE49-F238E27FC236}">
                  <a16:creationId xmlns:a16="http://schemas.microsoft.com/office/drawing/2014/main" id="{C6493B77-D766-824F-B26A-A73B9CE92231}"/>
                </a:ext>
              </a:extLst>
            </p:cNvPr>
            <p:cNvCxnSpPr>
              <a:cxnSpLocks/>
            </p:cNvCxnSpPr>
            <p:nvPr/>
          </p:nvCxnSpPr>
          <p:spPr>
            <a:xfrm>
              <a:off x="6727821" y="5150307"/>
              <a:ext cx="214947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F59DCBE-5CE4-3C4C-AE43-7FF674B5D23E}"/>
              </a:ext>
            </a:extLst>
          </p:cNvPr>
          <p:cNvGrpSpPr/>
          <p:nvPr/>
        </p:nvGrpSpPr>
        <p:grpSpPr>
          <a:xfrm>
            <a:off x="1422238" y="1650841"/>
            <a:ext cx="6126777" cy="954044"/>
            <a:chOff x="-166850" y="1952743"/>
            <a:chExt cx="8169036" cy="1272058"/>
          </a:xfrm>
        </p:grpSpPr>
        <p:sp>
          <p:nvSpPr>
            <p:cNvPr id="137" name="Text Box 35">
              <a:extLst>
                <a:ext uri="{FF2B5EF4-FFF2-40B4-BE49-F238E27FC236}">
                  <a16:creationId xmlns:a16="http://schemas.microsoft.com/office/drawing/2014/main" id="{56F627F0-D04E-AD42-8864-F7B517B4A587}"/>
                </a:ext>
              </a:extLst>
            </p:cNvPr>
            <p:cNvSpPr txBox="1">
              <a:spLocks noChangeArrowheads="1"/>
            </p:cNvSpPr>
            <p:nvPr/>
          </p:nvSpPr>
          <p:spPr bwMode="auto">
            <a:xfrm>
              <a:off x="5405299" y="2855469"/>
              <a:ext cx="387285"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Avenir Book" panose="020B0503020203020204" pitchFamily="34" charset="-78"/>
                  <a:cs typeface="Avenir Book" panose="020B0503020203020204" pitchFamily="34" charset="-78"/>
                </a:rPr>
                <a:t>A</a:t>
              </a:r>
              <a:endParaRPr lang="en-US" sz="1800" dirty="0">
                <a:solidFill>
                  <a:srgbClr val="000000"/>
                </a:solidFill>
                <a:latin typeface="Avenir Book" panose="020B0503020203020204" pitchFamily="34" charset="-78"/>
                <a:cs typeface="Avenir Book" panose="020B0503020203020204" pitchFamily="34" charset="-78"/>
              </a:endParaRPr>
            </a:p>
          </p:txBody>
        </p:sp>
        <p:grpSp>
          <p:nvGrpSpPr>
            <p:cNvPr id="15" name="Group 14">
              <a:extLst>
                <a:ext uri="{FF2B5EF4-FFF2-40B4-BE49-F238E27FC236}">
                  <a16:creationId xmlns:a16="http://schemas.microsoft.com/office/drawing/2014/main" id="{3379D87E-87A4-BA4A-B25D-D60B162F998C}"/>
                </a:ext>
              </a:extLst>
            </p:cNvPr>
            <p:cNvGrpSpPr/>
            <p:nvPr/>
          </p:nvGrpSpPr>
          <p:grpSpPr>
            <a:xfrm>
              <a:off x="-166850" y="1952743"/>
              <a:ext cx="8169036" cy="971860"/>
              <a:chOff x="-179376" y="1965269"/>
              <a:chExt cx="8169036" cy="971860"/>
            </a:xfrm>
          </p:grpSpPr>
          <p:sp>
            <p:nvSpPr>
              <p:cNvPr id="75" name="Text Box 17">
                <a:extLst>
                  <a:ext uri="{FF2B5EF4-FFF2-40B4-BE49-F238E27FC236}">
                    <a16:creationId xmlns:a16="http://schemas.microsoft.com/office/drawing/2014/main" id="{0864898F-71F3-8C4E-ACBC-273A8F765CF5}"/>
                  </a:ext>
                </a:extLst>
              </p:cNvPr>
              <p:cNvSpPr txBox="1">
                <a:spLocks noChangeArrowheads="1"/>
              </p:cNvSpPr>
              <p:nvPr/>
            </p:nvSpPr>
            <p:spPr bwMode="auto">
              <a:xfrm>
                <a:off x="4579709" y="2430012"/>
                <a:ext cx="3409951" cy="43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venir Book" panose="020B0503020203020204" pitchFamily="34" charset="-78"/>
                    <a:cs typeface="Avenir Book" panose="020B0503020203020204" pitchFamily="34" charset="-78"/>
                  </a:rPr>
                  <a:t>Acknowledgement number</a:t>
                </a:r>
              </a:p>
            </p:txBody>
          </p:sp>
          <p:sp>
            <p:nvSpPr>
              <p:cNvPr id="119" name="Text Box 42">
                <a:extLst>
                  <a:ext uri="{FF2B5EF4-FFF2-40B4-BE49-F238E27FC236}">
                    <a16:creationId xmlns:a16="http://schemas.microsoft.com/office/drawing/2014/main" id="{C0762B76-1537-D346-8718-8BAF6E1F14E0}"/>
                  </a:ext>
                </a:extLst>
              </p:cNvPr>
              <p:cNvSpPr txBox="1">
                <a:spLocks noChangeArrowheads="1"/>
              </p:cNvSpPr>
              <p:nvPr/>
            </p:nvSpPr>
            <p:spPr bwMode="auto">
              <a:xfrm>
                <a:off x="-179376" y="1965269"/>
                <a:ext cx="3684576" cy="73250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800" dirty="0">
                    <a:solidFill>
                      <a:srgbClr val="000000"/>
                    </a:solidFill>
                    <a:latin typeface="Avenir Book" panose="020B0503020203020204" pitchFamily="34" charset="-78"/>
                    <a:cs typeface="Avenir Book" panose="020B0503020203020204" pitchFamily="34" charset="-78"/>
                  </a:rPr>
                  <a:t>ACK: </a:t>
                </a:r>
                <a:r>
                  <a:rPr lang="en-US" sz="1500" dirty="0">
                    <a:solidFill>
                      <a:srgbClr val="000000"/>
                    </a:solidFill>
                    <a:latin typeface="Avenir Book" panose="020B0503020203020204" pitchFamily="34" charset="-78"/>
                    <a:cs typeface="Avenir Book" panose="020B0503020203020204" pitchFamily="34" charset="-78"/>
                  </a:rPr>
                  <a:t>seq # of next expected byte; A bit: this is an ACK</a:t>
                </a:r>
                <a:endParaRPr lang="en-US" sz="825" dirty="0">
                  <a:solidFill>
                    <a:srgbClr val="000000"/>
                  </a:solidFill>
                  <a:latin typeface="Avenir Book" panose="020B0503020203020204" pitchFamily="34" charset="-78"/>
                  <a:cs typeface="Avenir Book" panose="020B0503020203020204" pitchFamily="34" charset="-78"/>
                </a:endParaRPr>
              </a:p>
            </p:txBody>
          </p:sp>
          <p:sp>
            <p:nvSpPr>
              <p:cNvPr id="130" name="Line 46">
                <a:extLst>
                  <a:ext uri="{FF2B5EF4-FFF2-40B4-BE49-F238E27FC236}">
                    <a16:creationId xmlns:a16="http://schemas.microsoft.com/office/drawing/2014/main" id="{412FF679-1D4F-2847-94BC-15BFC61FB4F3}"/>
                  </a:ext>
                </a:extLst>
              </p:cNvPr>
              <p:cNvSpPr>
                <a:spLocks noChangeShapeType="1"/>
              </p:cNvSpPr>
              <p:nvPr/>
            </p:nvSpPr>
            <p:spPr bwMode="auto">
              <a:xfrm>
                <a:off x="3505200" y="2417523"/>
                <a:ext cx="2076276" cy="519606"/>
              </a:xfrm>
              <a:custGeom>
                <a:avLst/>
                <a:gdLst>
                  <a:gd name="connsiteX0" fmla="*/ 0 w 2082626"/>
                  <a:gd name="connsiteY0" fmla="*/ 0 h 560881"/>
                  <a:gd name="connsiteX1" fmla="*/ 2082626 w 2082626"/>
                  <a:gd name="connsiteY1" fmla="*/ 560881 h 560881"/>
                  <a:gd name="connsiteX0" fmla="*/ 0 w 2076276"/>
                  <a:gd name="connsiteY0" fmla="*/ 0 h 519606"/>
                  <a:gd name="connsiteX1" fmla="*/ 2076276 w 2076276"/>
                  <a:gd name="connsiteY1" fmla="*/ 519606 h 519606"/>
                </a:gdLst>
                <a:ahLst/>
                <a:cxnLst>
                  <a:cxn ang="0">
                    <a:pos x="connsiteX0" y="connsiteY0"/>
                  </a:cxn>
                  <a:cxn ang="0">
                    <a:pos x="connsiteX1" y="connsiteY1"/>
                  </a:cxn>
                </a:cxnLst>
                <a:rect l="l" t="t" r="r" b="b"/>
                <a:pathLst>
                  <a:path w="2076276" h="519606">
                    <a:moveTo>
                      <a:pt x="0" y="0"/>
                    </a:moveTo>
                    <a:cubicBezTo>
                      <a:pt x="694209" y="186960"/>
                      <a:pt x="1382067" y="332646"/>
                      <a:pt x="2076276" y="519606"/>
                    </a:cubicBezTo>
                  </a:path>
                </a:pathLst>
              </a:cu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9" name="Line 46">
                <a:extLst>
                  <a:ext uri="{FF2B5EF4-FFF2-40B4-BE49-F238E27FC236}">
                    <a16:creationId xmlns:a16="http://schemas.microsoft.com/office/drawing/2014/main" id="{EB8BFD18-324C-2547-AC63-1A0429ECFF56}"/>
                  </a:ext>
                </a:extLst>
              </p:cNvPr>
              <p:cNvSpPr>
                <a:spLocks noChangeShapeType="1"/>
              </p:cNvSpPr>
              <p:nvPr/>
            </p:nvSpPr>
            <p:spPr bwMode="auto">
              <a:xfrm>
                <a:off x="3505200" y="2404996"/>
                <a:ext cx="1263476" cy="215853"/>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grpSp>
        <p:nvGrpSpPr>
          <p:cNvPr id="19" name="Group 18">
            <a:extLst>
              <a:ext uri="{FF2B5EF4-FFF2-40B4-BE49-F238E27FC236}">
                <a16:creationId xmlns:a16="http://schemas.microsoft.com/office/drawing/2014/main" id="{953AA9D9-F43E-B546-80D0-95A95FF3FD84}"/>
              </a:ext>
            </a:extLst>
          </p:cNvPr>
          <p:cNvGrpSpPr/>
          <p:nvPr/>
        </p:nvGrpSpPr>
        <p:grpSpPr>
          <a:xfrm>
            <a:off x="2776451" y="2931136"/>
            <a:ext cx="4630189" cy="841318"/>
            <a:chOff x="1638767" y="3659802"/>
            <a:chExt cx="6173586" cy="1121757"/>
          </a:xfrm>
        </p:grpSpPr>
        <p:sp>
          <p:nvSpPr>
            <p:cNvPr id="98" name="Text Box 40">
              <a:extLst>
                <a:ext uri="{FF2B5EF4-FFF2-40B4-BE49-F238E27FC236}">
                  <a16:creationId xmlns:a16="http://schemas.microsoft.com/office/drawing/2014/main" id="{CF922213-3DD4-4C4D-B198-ADF3A29EDBE7}"/>
                </a:ext>
              </a:extLst>
            </p:cNvPr>
            <p:cNvSpPr txBox="1">
              <a:spLocks noChangeArrowheads="1"/>
            </p:cNvSpPr>
            <p:nvPr/>
          </p:nvSpPr>
          <p:spPr bwMode="auto">
            <a:xfrm>
              <a:off x="4830361" y="3659802"/>
              <a:ext cx="2981992" cy="4308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000000"/>
                  </a:solidFill>
                  <a:latin typeface="Avenir Book" panose="020B0503020203020204" pitchFamily="34" charset="-78"/>
                  <a:cs typeface="Avenir Book" panose="020B0503020203020204" pitchFamily="34" charset="-78"/>
                </a:rPr>
                <a:t>options (variable length)</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99" name="Text Box 42">
              <a:extLst>
                <a:ext uri="{FF2B5EF4-FFF2-40B4-BE49-F238E27FC236}">
                  <a16:creationId xmlns:a16="http://schemas.microsoft.com/office/drawing/2014/main" id="{0BC58028-06B7-1A4E-8510-AE6EC1534B60}"/>
                </a:ext>
              </a:extLst>
            </p:cNvPr>
            <p:cNvSpPr txBox="1">
              <a:spLocks noChangeArrowheads="1"/>
            </p:cNvSpPr>
            <p:nvPr/>
          </p:nvSpPr>
          <p:spPr bwMode="auto">
            <a:xfrm>
              <a:off x="1638767" y="4326050"/>
              <a:ext cx="1945577" cy="4555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500" dirty="0">
                  <a:solidFill>
                    <a:srgbClr val="000000"/>
                  </a:solidFill>
                  <a:latin typeface="Avenir Book" panose="020B0503020203020204" pitchFamily="34" charset="-78"/>
                  <a:cs typeface="Avenir Book" panose="020B0503020203020204" pitchFamily="34" charset="-78"/>
                </a:rPr>
                <a:t>TCP</a:t>
              </a:r>
              <a:r>
                <a:rPr lang="en-US" sz="1800" dirty="0">
                  <a:solidFill>
                    <a:srgbClr val="000000"/>
                  </a:solidFill>
                  <a:latin typeface="Avenir Book" panose="020B0503020203020204" pitchFamily="34" charset="-78"/>
                  <a:cs typeface="Avenir Book" panose="020B0503020203020204" pitchFamily="34" charset="-78"/>
                </a:rPr>
                <a:t> options</a:t>
              </a:r>
              <a:endParaRPr lang="en-US" sz="1500" dirty="0">
                <a:solidFill>
                  <a:srgbClr val="000000"/>
                </a:solidFill>
                <a:latin typeface="Avenir Book" panose="020B0503020203020204" pitchFamily="34" charset="-78"/>
                <a:cs typeface="Avenir Book" panose="020B0503020203020204" pitchFamily="34" charset="-78"/>
              </a:endParaRPr>
            </a:p>
          </p:txBody>
        </p:sp>
        <p:cxnSp>
          <p:nvCxnSpPr>
            <p:cNvPr id="7" name="Straight Connector 6">
              <a:extLst>
                <a:ext uri="{FF2B5EF4-FFF2-40B4-BE49-F238E27FC236}">
                  <a16:creationId xmlns:a16="http://schemas.microsoft.com/office/drawing/2014/main" id="{163A6281-16AF-5F4C-91CB-DC46FB513501}"/>
                </a:ext>
              </a:extLst>
            </p:cNvPr>
            <p:cNvCxnSpPr>
              <a:cxnSpLocks/>
              <a:stCxn id="99" idx="3"/>
              <a:endCxn id="98" idx="1"/>
            </p:cNvCxnSpPr>
            <p:nvPr/>
          </p:nvCxnSpPr>
          <p:spPr>
            <a:xfrm flipV="1">
              <a:off x="3584345" y="3875246"/>
              <a:ext cx="1246016" cy="67855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2A3E3DD-D73E-3547-B33E-7D97BEE9201E}"/>
              </a:ext>
            </a:extLst>
          </p:cNvPr>
          <p:cNvGrpSpPr/>
          <p:nvPr/>
        </p:nvGrpSpPr>
        <p:grpSpPr>
          <a:xfrm>
            <a:off x="1785932" y="2300629"/>
            <a:ext cx="3377850" cy="341632"/>
            <a:chOff x="318075" y="2819126"/>
            <a:chExt cx="4503799" cy="455509"/>
          </a:xfrm>
        </p:grpSpPr>
        <p:sp>
          <p:nvSpPr>
            <p:cNvPr id="95" name="Text Box 37">
              <a:extLst>
                <a:ext uri="{FF2B5EF4-FFF2-40B4-BE49-F238E27FC236}">
                  <a16:creationId xmlns:a16="http://schemas.microsoft.com/office/drawing/2014/main" id="{71EB8016-A1DB-1C48-954C-FFBE5CF06DD6}"/>
                </a:ext>
              </a:extLst>
            </p:cNvPr>
            <p:cNvSpPr txBox="1">
              <a:spLocks noChangeArrowheads="1"/>
            </p:cNvSpPr>
            <p:nvPr/>
          </p:nvSpPr>
          <p:spPr bwMode="auto">
            <a:xfrm>
              <a:off x="4231541" y="2826981"/>
              <a:ext cx="590333" cy="43704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85000"/>
                </a:lnSpc>
                <a:spcBef>
                  <a:spcPct val="0"/>
                </a:spcBef>
                <a:spcAft>
                  <a:spcPct val="0"/>
                </a:spcAft>
                <a:defRPr/>
              </a:pPr>
              <a:r>
                <a:rPr lang="en-US" sz="900" dirty="0">
                  <a:solidFill>
                    <a:srgbClr val="000000"/>
                  </a:solidFill>
                  <a:latin typeface="Avenir Book" panose="020B0503020203020204" pitchFamily="34" charset="-78"/>
                  <a:cs typeface="Avenir Book" panose="020B0503020203020204" pitchFamily="34" charset="-78"/>
                </a:rPr>
                <a:t>head</a:t>
              </a:r>
            </a:p>
            <a:p>
              <a:pPr algn="ctr" defTabSz="685800" eaLnBrk="0" fontAlgn="base" hangingPunct="0">
                <a:lnSpc>
                  <a:spcPct val="85000"/>
                </a:lnSpc>
                <a:spcBef>
                  <a:spcPct val="0"/>
                </a:spcBef>
                <a:spcAft>
                  <a:spcPct val="0"/>
                </a:spcAft>
                <a:defRPr/>
              </a:pPr>
              <a:r>
                <a:rPr lang="en-US" sz="900" dirty="0" err="1">
                  <a:solidFill>
                    <a:srgbClr val="000000"/>
                  </a:solidFill>
                  <a:latin typeface="Avenir Book" panose="020B0503020203020204" pitchFamily="34" charset="-78"/>
                  <a:cs typeface="Avenir Book" panose="020B0503020203020204" pitchFamily="34" charset="-78"/>
                </a:rPr>
                <a:t>len</a:t>
              </a:r>
              <a:endParaRPr lang="en-US" sz="1200" dirty="0">
                <a:solidFill>
                  <a:srgbClr val="000000"/>
                </a:solidFill>
                <a:latin typeface="Avenir Book" panose="020B0503020203020204" pitchFamily="34" charset="-78"/>
                <a:cs typeface="Avenir Book" panose="020B0503020203020204" pitchFamily="34" charset="-78"/>
              </a:endParaRPr>
            </a:p>
          </p:txBody>
        </p:sp>
        <p:sp>
          <p:nvSpPr>
            <p:cNvPr id="93" name="Text Box 42">
              <a:extLst>
                <a:ext uri="{FF2B5EF4-FFF2-40B4-BE49-F238E27FC236}">
                  <a16:creationId xmlns:a16="http://schemas.microsoft.com/office/drawing/2014/main" id="{23616F6F-F6F8-274A-8F63-2AC8E94CAB0A}"/>
                </a:ext>
              </a:extLst>
            </p:cNvPr>
            <p:cNvSpPr txBox="1">
              <a:spLocks noChangeArrowheads="1"/>
            </p:cNvSpPr>
            <p:nvPr/>
          </p:nvSpPr>
          <p:spPr bwMode="auto">
            <a:xfrm>
              <a:off x="318075" y="2819126"/>
              <a:ext cx="3287333" cy="4555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800" dirty="0">
                  <a:solidFill>
                    <a:srgbClr val="000000"/>
                  </a:solidFill>
                  <a:latin typeface="Avenir Book" panose="020B0503020203020204" pitchFamily="34" charset="-78"/>
                  <a:cs typeface="Avenir Book" panose="020B0503020203020204" pitchFamily="34" charset="-78"/>
                </a:rPr>
                <a:t>length </a:t>
              </a:r>
              <a:r>
                <a:rPr lang="en-US" sz="1500" dirty="0">
                  <a:solidFill>
                    <a:srgbClr val="000000"/>
                  </a:solidFill>
                  <a:latin typeface="Avenir Book" panose="020B0503020203020204" pitchFamily="34" charset="-78"/>
                  <a:cs typeface="Avenir Book" panose="020B0503020203020204" pitchFamily="34" charset="-78"/>
                </a:rPr>
                <a:t>(of TCP header)</a:t>
              </a:r>
            </a:p>
          </p:txBody>
        </p:sp>
        <p:cxnSp>
          <p:nvCxnSpPr>
            <p:cNvPr id="100" name="Straight Connector 99">
              <a:extLst>
                <a:ext uri="{FF2B5EF4-FFF2-40B4-BE49-F238E27FC236}">
                  <a16:creationId xmlns:a16="http://schemas.microsoft.com/office/drawing/2014/main" id="{D004F6AA-C795-934B-B4F0-CA6FD9652FA1}"/>
                </a:ext>
              </a:extLst>
            </p:cNvPr>
            <p:cNvCxnSpPr>
              <a:cxnSpLocks/>
            </p:cNvCxnSpPr>
            <p:nvPr/>
          </p:nvCxnSpPr>
          <p:spPr>
            <a:xfrm>
              <a:off x="3544867" y="3031480"/>
              <a:ext cx="78388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B36175C2-99D1-404D-ADB0-0C09C4338566}"/>
              </a:ext>
            </a:extLst>
          </p:cNvPr>
          <p:cNvGrpSpPr/>
          <p:nvPr/>
        </p:nvGrpSpPr>
        <p:grpSpPr>
          <a:xfrm>
            <a:off x="1528716" y="2566871"/>
            <a:ext cx="4550857" cy="341632"/>
            <a:chOff x="-24878" y="3174115"/>
            <a:chExt cx="6067809" cy="455509"/>
          </a:xfrm>
        </p:grpSpPr>
        <p:sp>
          <p:nvSpPr>
            <p:cNvPr id="82" name="Text Box 24">
              <a:extLst>
                <a:ext uri="{FF2B5EF4-FFF2-40B4-BE49-F238E27FC236}">
                  <a16:creationId xmlns:a16="http://schemas.microsoft.com/office/drawing/2014/main" id="{DA04993C-122C-384A-9568-6515DE95D883}"/>
                </a:ext>
              </a:extLst>
            </p:cNvPr>
            <p:cNvSpPr txBox="1">
              <a:spLocks noChangeArrowheads="1"/>
            </p:cNvSpPr>
            <p:nvPr/>
          </p:nvSpPr>
          <p:spPr bwMode="auto">
            <a:xfrm>
              <a:off x="4757963" y="3203124"/>
              <a:ext cx="1284968" cy="4001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dirty="0">
                  <a:solidFill>
                    <a:srgbClr val="000000"/>
                  </a:solidFill>
                  <a:latin typeface="Avenir Book" panose="020B0503020203020204" pitchFamily="34" charset="-78"/>
                  <a:cs typeface="Avenir Book" panose="020B0503020203020204" pitchFamily="34" charset="-78"/>
                </a:rPr>
                <a:t>checksum</a:t>
              </a:r>
            </a:p>
          </p:txBody>
        </p:sp>
        <p:sp>
          <p:nvSpPr>
            <p:cNvPr id="109" name="Text Box 51">
              <a:extLst>
                <a:ext uri="{FF2B5EF4-FFF2-40B4-BE49-F238E27FC236}">
                  <a16:creationId xmlns:a16="http://schemas.microsoft.com/office/drawing/2014/main" id="{CE090396-5F4D-6E4E-AA9C-2778A62E73B2}"/>
                </a:ext>
              </a:extLst>
            </p:cNvPr>
            <p:cNvSpPr txBox="1">
              <a:spLocks noChangeArrowheads="1"/>
            </p:cNvSpPr>
            <p:nvPr/>
          </p:nvSpPr>
          <p:spPr bwMode="auto">
            <a:xfrm>
              <a:off x="-24878" y="3174115"/>
              <a:ext cx="3595494" cy="4555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800" dirty="0">
                  <a:solidFill>
                    <a:srgbClr val="000000"/>
                  </a:solidFill>
                  <a:latin typeface="Avenir Book" panose="020B0503020203020204" pitchFamily="34" charset="-78"/>
                  <a:cs typeface="Avenir Book" panose="020B0503020203020204" pitchFamily="34" charset="-78"/>
                </a:rPr>
                <a:t>Internet checksum</a:t>
              </a:r>
            </a:p>
          </p:txBody>
        </p:sp>
        <p:cxnSp>
          <p:nvCxnSpPr>
            <p:cNvPr id="101" name="Straight Connector 100">
              <a:extLst>
                <a:ext uri="{FF2B5EF4-FFF2-40B4-BE49-F238E27FC236}">
                  <a16:creationId xmlns:a16="http://schemas.microsoft.com/office/drawing/2014/main" id="{4F87AC36-0055-DB45-A995-89129C5BB34A}"/>
                </a:ext>
              </a:extLst>
            </p:cNvPr>
            <p:cNvCxnSpPr>
              <a:cxnSpLocks/>
              <a:stCxn id="109" idx="3"/>
              <a:endCxn id="82" idx="1"/>
            </p:cNvCxnSpPr>
            <p:nvPr/>
          </p:nvCxnSpPr>
          <p:spPr>
            <a:xfrm>
              <a:off x="3570617" y="3386481"/>
              <a:ext cx="122340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6" name="Line 10">
            <a:extLst>
              <a:ext uri="{FF2B5EF4-FFF2-40B4-BE49-F238E27FC236}">
                <a16:creationId xmlns:a16="http://schemas.microsoft.com/office/drawing/2014/main" id="{A7BD37B6-D73B-A04D-BDC5-AC47A5470DF4}"/>
              </a:ext>
            </a:extLst>
          </p:cNvPr>
          <p:cNvSpPr>
            <a:spLocks noChangeShapeType="1"/>
          </p:cNvSpPr>
          <p:nvPr/>
        </p:nvSpPr>
        <p:spPr bwMode="auto">
          <a:xfrm flipH="1" flipV="1">
            <a:off x="6264461" y="1445814"/>
            <a:ext cx="1321" cy="273888"/>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4" name="Line 26">
            <a:extLst>
              <a:ext uri="{FF2B5EF4-FFF2-40B4-BE49-F238E27FC236}">
                <a16:creationId xmlns:a16="http://schemas.microsoft.com/office/drawing/2014/main" id="{E9E32468-C9DF-C94D-9DAD-F82B75D02C08}"/>
              </a:ext>
            </a:extLst>
          </p:cNvPr>
          <p:cNvSpPr>
            <a:spLocks noChangeShapeType="1"/>
          </p:cNvSpPr>
          <p:nvPr/>
        </p:nvSpPr>
        <p:spPr bwMode="auto">
          <a:xfrm flipV="1">
            <a:off x="6160407" y="2289780"/>
            <a:ext cx="0" cy="294084"/>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5" name="Line 27">
            <a:extLst>
              <a:ext uri="{FF2B5EF4-FFF2-40B4-BE49-F238E27FC236}">
                <a16:creationId xmlns:a16="http://schemas.microsoft.com/office/drawing/2014/main" id="{595D2D86-0F8D-4945-A03B-3D969A9DA275}"/>
              </a:ext>
            </a:extLst>
          </p:cNvPr>
          <p:cNvSpPr>
            <a:spLocks noChangeShapeType="1"/>
          </p:cNvSpPr>
          <p:nvPr/>
        </p:nvSpPr>
        <p:spPr bwMode="auto">
          <a:xfrm flipV="1">
            <a:off x="6042067" y="2293352"/>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6" name="Line 28">
            <a:extLst>
              <a:ext uri="{FF2B5EF4-FFF2-40B4-BE49-F238E27FC236}">
                <a16:creationId xmlns:a16="http://schemas.microsoft.com/office/drawing/2014/main" id="{480E04C4-4E6B-614E-B6E0-47722F1E738E}"/>
              </a:ext>
            </a:extLst>
          </p:cNvPr>
          <p:cNvSpPr>
            <a:spLocks noChangeShapeType="1"/>
          </p:cNvSpPr>
          <p:nvPr/>
        </p:nvSpPr>
        <p:spPr bwMode="auto">
          <a:xfrm flipV="1">
            <a:off x="5920155" y="2293352"/>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8" name="Group 27">
            <a:extLst>
              <a:ext uri="{FF2B5EF4-FFF2-40B4-BE49-F238E27FC236}">
                <a16:creationId xmlns:a16="http://schemas.microsoft.com/office/drawing/2014/main" id="{D7BB42C1-3F72-AF44-97A0-27D00776292C}"/>
              </a:ext>
            </a:extLst>
          </p:cNvPr>
          <p:cNvGrpSpPr/>
          <p:nvPr/>
        </p:nvGrpSpPr>
        <p:grpSpPr>
          <a:xfrm>
            <a:off x="1676782" y="2334245"/>
            <a:ext cx="4672946" cy="2018496"/>
            <a:chOff x="172543" y="2863949"/>
            <a:chExt cx="6230596" cy="2691328"/>
          </a:xfrm>
        </p:grpSpPr>
        <p:sp>
          <p:nvSpPr>
            <p:cNvPr id="102" name="Text Box 44">
              <a:extLst>
                <a:ext uri="{FF2B5EF4-FFF2-40B4-BE49-F238E27FC236}">
                  <a16:creationId xmlns:a16="http://schemas.microsoft.com/office/drawing/2014/main" id="{26B4BE77-FB6F-AB48-BDB1-C2E23D5564F9}"/>
                </a:ext>
              </a:extLst>
            </p:cNvPr>
            <p:cNvSpPr txBox="1">
              <a:spLocks noChangeArrowheads="1"/>
            </p:cNvSpPr>
            <p:nvPr/>
          </p:nvSpPr>
          <p:spPr bwMode="auto">
            <a:xfrm>
              <a:off x="172543" y="4822769"/>
              <a:ext cx="3419248" cy="73250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800" dirty="0">
                  <a:solidFill>
                    <a:srgbClr val="000000"/>
                  </a:solidFill>
                  <a:latin typeface="Avenir Book" panose="020B0503020203020204" pitchFamily="34" charset="-78"/>
                  <a:cs typeface="Avenir Book" panose="020B0503020203020204" pitchFamily="34" charset="-78"/>
                </a:rPr>
                <a:t>RST, SYN, FIN: </a:t>
              </a:r>
              <a:r>
                <a:rPr lang="en-US" sz="1500" dirty="0">
                  <a:solidFill>
                    <a:srgbClr val="000000"/>
                  </a:solidFill>
                  <a:latin typeface="Avenir Book" panose="020B0503020203020204" pitchFamily="34" charset="-78"/>
                  <a:cs typeface="Avenir Book" panose="020B0503020203020204" pitchFamily="34" charset="-78"/>
                </a:rPr>
                <a:t>connection management</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106" name="Freeform 48">
              <a:extLst>
                <a:ext uri="{FF2B5EF4-FFF2-40B4-BE49-F238E27FC236}">
                  <a16:creationId xmlns:a16="http://schemas.microsoft.com/office/drawing/2014/main" id="{60B1CDA3-93F4-6C43-A635-618B9929B512}"/>
                </a:ext>
              </a:extLst>
            </p:cNvPr>
            <p:cNvSpPr>
              <a:spLocks/>
            </p:cNvSpPr>
            <p:nvPr/>
          </p:nvSpPr>
          <p:spPr bwMode="auto">
            <a:xfrm>
              <a:off x="3558336" y="3152325"/>
              <a:ext cx="2678659" cy="2026938"/>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877"/>
                <a:gd name="connsiteY0" fmla="*/ 32885 h 32885"/>
                <a:gd name="connsiteX1" fmla="*/ 10451 w 11877"/>
                <a:gd name="connsiteY1" fmla="*/ 0 h 32885"/>
                <a:gd name="connsiteX2" fmla="*/ 11877 w 11877"/>
                <a:gd name="connsiteY2" fmla="*/ 0 h 32885"/>
                <a:gd name="connsiteX0" fmla="*/ 0 w 11573"/>
                <a:gd name="connsiteY0" fmla="*/ 32885 h 32885"/>
                <a:gd name="connsiteX1" fmla="*/ 10147 w 11573"/>
                <a:gd name="connsiteY1" fmla="*/ 0 h 32885"/>
                <a:gd name="connsiteX2" fmla="*/ 11573 w 11573"/>
                <a:gd name="connsiteY2" fmla="*/ 0 h 32885"/>
                <a:gd name="connsiteX0" fmla="*/ 0 w 11573"/>
                <a:gd name="connsiteY0" fmla="*/ 28757 h 28757"/>
                <a:gd name="connsiteX1" fmla="*/ 10147 w 11573"/>
                <a:gd name="connsiteY1" fmla="*/ 0 h 28757"/>
                <a:gd name="connsiteX2" fmla="*/ 11573 w 11573"/>
                <a:gd name="connsiteY2" fmla="*/ 0 h 28757"/>
              </a:gdLst>
              <a:ahLst/>
              <a:cxnLst>
                <a:cxn ang="0">
                  <a:pos x="connsiteX0" y="connsiteY0"/>
                </a:cxn>
                <a:cxn ang="0">
                  <a:pos x="connsiteX1" y="connsiteY1"/>
                </a:cxn>
                <a:cxn ang="0">
                  <a:pos x="connsiteX2" y="connsiteY2"/>
                </a:cxn>
              </a:cxnLst>
              <a:rect l="l" t="t" r="r" b="b"/>
              <a:pathLst>
                <a:path w="11573" h="28757">
                  <a:moveTo>
                    <a:pt x="0" y="28757"/>
                  </a:moveTo>
                  <a:lnTo>
                    <a:pt x="10147" y="0"/>
                  </a:lnTo>
                  <a:lnTo>
                    <a:pt x="11573"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27" name="Group 26">
              <a:extLst>
                <a:ext uri="{FF2B5EF4-FFF2-40B4-BE49-F238E27FC236}">
                  <a16:creationId xmlns:a16="http://schemas.microsoft.com/office/drawing/2014/main" id="{879AF9A6-0FEF-B247-BE32-9C9E788D06B7}"/>
                </a:ext>
              </a:extLst>
            </p:cNvPr>
            <p:cNvGrpSpPr/>
            <p:nvPr/>
          </p:nvGrpSpPr>
          <p:grpSpPr>
            <a:xfrm>
              <a:off x="5739711" y="2863949"/>
              <a:ext cx="663428" cy="369958"/>
              <a:chOff x="5739711" y="2863949"/>
              <a:chExt cx="663428" cy="369958"/>
            </a:xfrm>
          </p:grpSpPr>
          <p:sp>
            <p:nvSpPr>
              <p:cNvPr id="104" name="Text Box 25">
                <a:extLst>
                  <a:ext uri="{FF2B5EF4-FFF2-40B4-BE49-F238E27FC236}">
                    <a16:creationId xmlns:a16="http://schemas.microsoft.com/office/drawing/2014/main" id="{1E9027CA-7A6A-B448-891E-3892BD3436EF}"/>
                  </a:ext>
                </a:extLst>
              </p:cNvPr>
              <p:cNvSpPr txBox="1">
                <a:spLocks noChangeArrowheads="1"/>
              </p:cNvSpPr>
              <p:nvPr/>
            </p:nvSpPr>
            <p:spPr bwMode="auto">
              <a:xfrm>
                <a:off x="6043638" y="2864576"/>
                <a:ext cx="359501" cy="3693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Avenir Book" panose="020B0503020203020204" pitchFamily="34" charset="-78"/>
                    <a:cs typeface="Avenir Book" panose="020B0503020203020204" pitchFamily="34" charset="-78"/>
                  </a:rPr>
                  <a:t>F</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105" name="Text Box 32">
                <a:extLst>
                  <a:ext uri="{FF2B5EF4-FFF2-40B4-BE49-F238E27FC236}">
                    <a16:creationId xmlns:a16="http://schemas.microsoft.com/office/drawing/2014/main" id="{BF401CFD-599A-5C4B-A029-67CB6B08DBD3}"/>
                  </a:ext>
                </a:extLst>
              </p:cNvPr>
              <p:cNvSpPr txBox="1">
                <a:spLocks noChangeArrowheads="1"/>
              </p:cNvSpPr>
              <p:nvPr/>
            </p:nvSpPr>
            <p:spPr bwMode="auto">
              <a:xfrm>
                <a:off x="5899056" y="2863949"/>
                <a:ext cx="359501" cy="3693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Avenir Book" panose="020B0503020203020204" pitchFamily="34" charset="-78"/>
                    <a:cs typeface="Avenir Book" panose="020B0503020203020204" pitchFamily="34" charset="-78"/>
                  </a:rPr>
                  <a:t>S</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112" name="Text Box 33">
                <a:extLst>
                  <a:ext uri="{FF2B5EF4-FFF2-40B4-BE49-F238E27FC236}">
                    <a16:creationId xmlns:a16="http://schemas.microsoft.com/office/drawing/2014/main" id="{4835EFCA-3EC6-3040-AA54-B10AD772E111}"/>
                  </a:ext>
                </a:extLst>
              </p:cNvPr>
              <p:cNvSpPr txBox="1">
                <a:spLocks noChangeArrowheads="1"/>
              </p:cNvSpPr>
              <p:nvPr/>
            </p:nvSpPr>
            <p:spPr bwMode="auto">
              <a:xfrm>
                <a:off x="5739711" y="2863950"/>
                <a:ext cx="368051" cy="3693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Avenir Book" panose="020B0503020203020204" pitchFamily="34" charset="-78"/>
                    <a:cs typeface="Avenir Book" panose="020B0503020203020204" pitchFamily="34" charset="-78"/>
                  </a:rPr>
                  <a:t>R</a:t>
                </a:r>
                <a:endParaRPr lang="en-US" sz="1800" dirty="0">
                  <a:solidFill>
                    <a:srgbClr val="000000"/>
                  </a:solidFill>
                  <a:latin typeface="Avenir Book" panose="020B0503020203020204" pitchFamily="34" charset="-78"/>
                  <a:cs typeface="Avenir Book" panose="020B0503020203020204" pitchFamily="34" charset="-78"/>
                </a:endParaRPr>
              </a:p>
            </p:txBody>
          </p:sp>
        </p:grpSp>
      </p:grpSp>
      <p:grpSp>
        <p:nvGrpSpPr>
          <p:cNvPr id="25" name="Group 24">
            <a:extLst>
              <a:ext uri="{FF2B5EF4-FFF2-40B4-BE49-F238E27FC236}">
                <a16:creationId xmlns:a16="http://schemas.microsoft.com/office/drawing/2014/main" id="{3AF86AF7-F0A9-0D49-BD66-0BCBA2EFC273}"/>
              </a:ext>
            </a:extLst>
          </p:cNvPr>
          <p:cNvGrpSpPr/>
          <p:nvPr/>
        </p:nvGrpSpPr>
        <p:grpSpPr>
          <a:xfrm>
            <a:off x="5478442" y="2331251"/>
            <a:ext cx="2307337" cy="564601"/>
            <a:chOff x="5241421" y="2859957"/>
            <a:chExt cx="3076448" cy="752801"/>
          </a:xfrm>
        </p:grpSpPr>
        <p:sp>
          <p:nvSpPr>
            <p:cNvPr id="81" name="Text Box 23">
              <a:extLst>
                <a:ext uri="{FF2B5EF4-FFF2-40B4-BE49-F238E27FC236}">
                  <a16:creationId xmlns:a16="http://schemas.microsoft.com/office/drawing/2014/main" id="{81D77D1D-D542-E748-880E-847E52816584}"/>
                </a:ext>
              </a:extLst>
            </p:cNvPr>
            <p:cNvSpPr txBox="1">
              <a:spLocks noChangeArrowheads="1"/>
            </p:cNvSpPr>
            <p:nvPr/>
          </p:nvSpPr>
          <p:spPr bwMode="auto">
            <a:xfrm>
              <a:off x="6366054" y="3212649"/>
              <a:ext cx="1951815" cy="4001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dirty="0" err="1">
                  <a:solidFill>
                    <a:prstClr val="white">
                      <a:lumMod val="75000"/>
                    </a:prstClr>
                  </a:solidFill>
                  <a:latin typeface="Avenir Book" panose="020B0503020203020204" pitchFamily="34" charset="-78"/>
                  <a:cs typeface="Avenir Book" panose="020B0503020203020204" pitchFamily="34" charset="-78"/>
                </a:rPr>
                <a:t>Urg</a:t>
              </a:r>
              <a:r>
                <a:rPr lang="en-US" sz="1350" dirty="0">
                  <a:solidFill>
                    <a:prstClr val="white">
                      <a:lumMod val="75000"/>
                    </a:prstClr>
                  </a:solidFill>
                  <a:latin typeface="Avenir Book" panose="020B0503020203020204" pitchFamily="34" charset="-78"/>
                  <a:cs typeface="Avenir Book" panose="020B0503020203020204" pitchFamily="34" charset="-78"/>
                </a:rPr>
                <a:t> data pointer</a:t>
              </a:r>
            </a:p>
          </p:txBody>
        </p:sp>
        <p:grpSp>
          <p:nvGrpSpPr>
            <p:cNvPr id="20" name="Group 19">
              <a:extLst>
                <a:ext uri="{FF2B5EF4-FFF2-40B4-BE49-F238E27FC236}">
                  <a16:creationId xmlns:a16="http://schemas.microsoft.com/office/drawing/2014/main" id="{B4F94C5D-E8AA-B440-8C55-70C383D81C15}"/>
                </a:ext>
              </a:extLst>
            </p:cNvPr>
            <p:cNvGrpSpPr/>
            <p:nvPr/>
          </p:nvGrpSpPr>
          <p:grpSpPr>
            <a:xfrm>
              <a:off x="5241421" y="2859957"/>
              <a:ext cx="700078" cy="376473"/>
              <a:chOff x="5491942" y="3067992"/>
              <a:chExt cx="700078" cy="376473"/>
            </a:xfrm>
          </p:grpSpPr>
          <p:sp>
            <p:nvSpPr>
              <p:cNvPr id="114" name="Text Box 34">
                <a:extLst>
                  <a:ext uri="{FF2B5EF4-FFF2-40B4-BE49-F238E27FC236}">
                    <a16:creationId xmlns:a16="http://schemas.microsoft.com/office/drawing/2014/main" id="{7FD0470F-0A1F-AA4D-A333-01EBF41CDBEA}"/>
                  </a:ext>
                </a:extLst>
              </p:cNvPr>
              <p:cNvSpPr txBox="1">
                <a:spLocks noChangeArrowheads="1"/>
              </p:cNvSpPr>
              <p:nvPr/>
            </p:nvSpPr>
            <p:spPr bwMode="auto">
              <a:xfrm>
                <a:off x="5828245" y="3067992"/>
                <a:ext cx="363775"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prstClr val="white">
                        <a:lumMod val="65000"/>
                      </a:prstClr>
                    </a:solidFill>
                    <a:latin typeface="Avenir Book" panose="020B0503020203020204" pitchFamily="34" charset="-78"/>
                    <a:cs typeface="Avenir Book" panose="020B0503020203020204" pitchFamily="34" charset="-78"/>
                  </a:rPr>
                  <a:t>P</a:t>
                </a:r>
                <a:endParaRPr lang="en-US" sz="1800" dirty="0">
                  <a:solidFill>
                    <a:prstClr val="white">
                      <a:lumMod val="65000"/>
                    </a:prstClr>
                  </a:solidFill>
                  <a:latin typeface="Avenir Book" panose="020B0503020203020204" pitchFamily="34" charset="-78"/>
                  <a:cs typeface="Avenir Book" panose="020B0503020203020204" pitchFamily="34" charset="-78"/>
                </a:endParaRPr>
              </a:p>
            </p:txBody>
          </p:sp>
          <p:sp>
            <p:nvSpPr>
              <p:cNvPr id="120" name="Text Box 36">
                <a:extLst>
                  <a:ext uri="{FF2B5EF4-FFF2-40B4-BE49-F238E27FC236}">
                    <a16:creationId xmlns:a16="http://schemas.microsoft.com/office/drawing/2014/main" id="{B48CC928-18A3-8E4E-944E-47C0F754B01D}"/>
                  </a:ext>
                </a:extLst>
              </p:cNvPr>
              <p:cNvSpPr txBox="1">
                <a:spLocks noChangeArrowheads="1"/>
              </p:cNvSpPr>
              <p:nvPr/>
            </p:nvSpPr>
            <p:spPr bwMode="auto">
              <a:xfrm>
                <a:off x="5491942" y="3075133"/>
                <a:ext cx="387286"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prstClr val="white">
                        <a:lumMod val="65000"/>
                      </a:prstClr>
                    </a:solidFill>
                    <a:latin typeface="Avenir Book" panose="020B0503020203020204" pitchFamily="34" charset="-78"/>
                    <a:cs typeface="Avenir Book" panose="020B0503020203020204" pitchFamily="34" charset="-78"/>
                  </a:rPr>
                  <a:t>U</a:t>
                </a:r>
                <a:endParaRPr lang="en-US" sz="1800" dirty="0">
                  <a:solidFill>
                    <a:prstClr val="white">
                      <a:lumMod val="65000"/>
                    </a:prstClr>
                  </a:solidFill>
                  <a:latin typeface="Avenir Book" panose="020B0503020203020204" pitchFamily="34" charset="-78"/>
                  <a:cs typeface="Avenir Book" panose="020B0503020203020204" pitchFamily="34" charset="-78"/>
                </a:endParaRPr>
              </a:p>
            </p:txBody>
          </p:sp>
        </p:grpSp>
      </p:grpSp>
      <p:sp>
        <p:nvSpPr>
          <p:cNvPr id="83" name="Line 39">
            <a:extLst>
              <a:ext uri="{FF2B5EF4-FFF2-40B4-BE49-F238E27FC236}">
                <a16:creationId xmlns:a16="http://schemas.microsoft.com/office/drawing/2014/main" id="{392B7123-3C26-1749-8AFA-C33B254E566D}"/>
              </a:ext>
            </a:extLst>
          </p:cNvPr>
          <p:cNvSpPr>
            <a:spLocks noChangeShapeType="1"/>
          </p:cNvSpPr>
          <p:nvPr/>
        </p:nvSpPr>
        <p:spPr bwMode="auto">
          <a:xfrm flipV="1">
            <a:off x="5326103" y="2302145"/>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0" name="Line 39">
            <a:extLst>
              <a:ext uri="{FF2B5EF4-FFF2-40B4-BE49-F238E27FC236}">
                <a16:creationId xmlns:a16="http://schemas.microsoft.com/office/drawing/2014/main" id="{7076B497-C69A-EF44-9C73-7365E43E17C4}"/>
              </a:ext>
            </a:extLst>
          </p:cNvPr>
          <p:cNvSpPr>
            <a:spLocks noChangeShapeType="1"/>
          </p:cNvSpPr>
          <p:nvPr/>
        </p:nvSpPr>
        <p:spPr bwMode="auto">
          <a:xfrm flipV="1">
            <a:off x="5446394" y="2295421"/>
            <a:ext cx="0" cy="294085"/>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1" name="Group 20">
            <a:extLst>
              <a:ext uri="{FF2B5EF4-FFF2-40B4-BE49-F238E27FC236}">
                <a16:creationId xmlns:a16="http://schemas.microsoft.com/office/drawing/2014/main" id="{EDC6B1EF-A64F-C94C-81C5-7457A0FFD99A}"/>
              </a:ext>
            </a:extLst>
          </p:cNvPr>
          <p:cNvGrpSpPr/>
          <p:nvPr/>
        </p:nvGrpSpPr>
        <p:grpSpPr>
          <a:xfrm>
            <a:off x="1422238" y="2334246"/>
            <a:ext cx="4215421" cy="1065639"/>
            <a:chOff x="-166851" y="2863950"/>
            <a:chExt cx="5620563" cy="1420851"/>
          </a:xfrm>
        </p:grpSpPr>
        <p:grpSp>
          <p:nvGrpSpPr>
            <p:cNvPr id="18" name="Group 17">
              <a:extLst>
                <a:ext uri="{FF2B5EF4-FFF2-40B4-BE49-F238E27FC236}">
                  <a16:creationId xmlns:a16="http://schemas.microsoft.com/office/drawing/2014/main" id="{A2C55822-331C-DB41-AB07-59E5BF177405}"/>
                </a:ext>
              </a:extLst>
            </p:cNvPr>
            <p:cNvGrpSpPr/>
            <p:nvPr/>
          </p:nvGrpSpPr>
          <p:grpSpPr>
            <a:xfrm>
              <a:off x="4915157" y="2863950"/>
              <a:ext cx="538555" cy="369332"/>
              <a:chOff x="4915157" y="2863950"/>
              <a:chExt cx="538555" cy="369332"/>
            </a:xfrm>
          </p:grpSpPr>
          <p:sp>
            <p:nvSpPr>
              <p:cNvPr id="91" name="Text Box 33">
                <a:extLst>
                  <a:ext uri="{FF2B5EF4-FFF2-40B4-BE49-F238E27FC236}">
                    <a16:creationId xmlns:a16="http://schemas.microsoft.com/office/drawing/2014/main" id="{C85C82AE-5A3B-EC47-8EA4-C0FA0727D048}"/>
                  </a:ext>
                </a:extLst>
              </p:cNvPr>
              <p:cNvSpPr txBox="1">
                <a:spLocks noChangeArrowheads="1"/>
              </p:cNvSpPr>
              <p:nvPr/>
            </p:nvSpPr>
            <p:spPr bwMode="auto">
              <a:xfrm>
                <a:off x="4915157" y="2863950"/>
                <a:ext cx="391561"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Avenir Book" panose="020B0503020203020204" pitchFamily="34" charset="-78"/>
                    <a:cs typeface="Avenir Book" panose="020B0503020203020204" pitchFamily="34" charset="-78"/>
                  </a:rPr>
                  <a:t>C</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92" name="Text Box 33">
                <a:extLst>
                  <a:ext uri="{FF2B5EF4-FFF2-40B4-BE49-F238E27FC236}">
                    <a16:creationId xmlns:a16="http://schemas.microsoft.com/office/drawing/2014/main" id="{D8D1B074-0355-2942-9977-4413DF7E41C7}"/>
                  </a:ext>
                </a:extLst>
              </p:cNvPr>
              <p:cNvSpPr txBox="1">
                <a:spLocks noChangeArrowheads="1"/>
              </p:cNvSpPr>
              <p:nvPr/>
            </p:nvSpPr>
            <p:spPr bwMode="auto">
              <a:xfrm>
                <a:off x="5085662" y="2863950"/>
                <a:ext cx="368050"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Avenir Book" panose="020B0503020203020204" pitchFamily="34" charset="-78"/>
                    <a:cs typeface="Avenir Book" panose="020B0503020203020204" pitchFamily="34" charset="-78"/>
                  </a:rPr>
                  <a:t>E</a:t>
                </a:r>
                <a:endParaRPr lang="en-US" sz="1800" dirty="0">
                  <a:solidFill>
                    <a:srgbClr val="000000"/>
                  </a:solidFill>
                  <a:latin typeface="Avenir Book" panose="020B0503020203020204" pitchFamily="34" charset="-78"/>
                  <a:cs typeface="Avenir Book" panose="020B0503020203020204" pitchFamily="34" charset="-78"/>
                </a:endParaRPr>
              </a:p>
            </p:txBody>
          </p:sp>
        </p:grpSp>
        <p:sp>
          <p:nvSpPr>
            <p:cNvPr id="103" name="Text Box 44">
              <a:extLst>
                <a:ext uri="{FF2B5EF4-FFF2-40B4-BE49-F238E27FC236}">
                  <a16:creationId xmlns:a16="http://schemas.microsoft.com/office/drawing/2014/main" id="{8DAB804F-166B-0D4B-8089-4B58E3A0811F}"/>
                </a:ext>
              </a:extLst>
            </p:cNvPr>
            <p:cNvSpPr txBox="1">
              <a:spLocks noChangeArrowheads="1"/>
            </p:cNvSpPr>
            <p:nvPr/>
          </p:nvSpPr>
          <p:spPr bwMode="auto">
            <a:xfrm>
              <a:off x="-166851" y="3829292"/>
              <a:ext cx="3734210" cy="45550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800" dirty="0">
                  <a:solidFill>
                    <a:srgbClr val="000000"/>
                  </a:solidFill>
                  <a:latin typeface="Avenir Book" panose="020B0503020203020204" pitchFamily="34" charset="-78"/>
                  <a:cs typeface="Avenir Book" panose="020B0503020203020204" pitchFamily="34" charset="-78"/>
                </a:rPr>
                <a:t>C, E: </a:t>
              </a:r>
              <a:r>
                <a:rPr lang="en-US" sz="1500" dirty="0">
                  <a:solidFill>
                    <a:srgbClr val="000000"/>
                  </a:solidFill>
                  <a:latin typeface="Avenir Book" panose="020B0503020203020204" pitchFamily="34" charset="-78"/>
                  <a:cs typeface="Avenir Book" panose="020B0503020203020204" pitchFamily="34" charset="-78"/>
                </a:rPr>
                <a:t>congestion notification</a:t>
              </a:r>
              <a:endParaRPr lang="en-US" sz="1800" dirty="0">
                <a:solidFill>
                  <a:srgbClr val="000000"/>
                </a:solidFill>
                <a:latin typeface="Avenir Book" panose="020B0503020203020204" pitchFamily="34" charset="-78"/>
                <a:cs typeface="Avenir Book" panose="020B0503020203020204" pitchFamily="34" charset="-78"/>
              </a:endParaRPr>
            </a:p>
          </p:txBody>
        </p:sp>
        <p:sp>
          <p:nvSpPr>
            <p:cNvPr id="110" name="Freeform 48">
              <a:extLst>
                <a:ext uri="{FF2B5EF4-FFF2-40B4-BE49-F238E27FC236}">
                  <a16:creationId xmlns:a16="http://schemas.microsoft.com/office/drawing/2014/main" id="{7103D547-1AEC-9743-8B26-22B579AF1CE1}"/>
                </a:ext>
              </a:extLst>
            </p:cNvPr>
            <p:cNvSpPr>
              <a:spLocks/>
            </p:cNvSpPr>
            <p:nvPr/>
          </p:nvSpPr>
          <p:spPr bwMode="auto">
            <a:xfrm>
              <a:off x="3573195" y="3136684"/>
              <a:ext cx="1749482" cy="914811"/>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391"/>
                <a:gd name="connsiteY0" fmla="*/ 28743 h 28743"/>
                <a:gd name="connsiteX1" fmla="*/ 6388 w 11391"/>
                <a:gd name="connsiteY1" fmla="*/ 0 h 28743"/>
                <a:gd name="connsiteX2" fmla="*/ 11391 w 11391"/>
                <a:gd name="connsiteY2" fmla="*/ 49 h 28743"/>
                <a:gd name="connsiteX0" fmla="*/ 0 w 7455"/>
                <a:gd name="connsiteY0" fmla="*/ 28792 h 28792"/>
                <a:gd name="connsiteX1" fmla="*/ 6388 w 7455"/>
                <a:gd name="connsiteY1" fmla="*/ 49 h 28792"/>
                <a:gd name="connsiteX2" fmla="*/ 7455 w 7455"/>
                <a:gd name="connsiteY2" fmla="*/ 0 h 28792"/>
                <a:gd name="connsiteX0" fmla="*/ 0 w 9679"/>
                <a:gd name="connsiteY0" fmla="*/ 9983 h 9983"/>
                <a:gd name="connsiteX1" fmla="*/ 8569 w 9679"/>
                <a:gd name="connsiteY1" fmla="*/ 0 h 9983"/>
                <a:gd name="connsiteX2" fmla="*/ 9679 w 9679"/>
                <a:gd name="connsiteY2" fmla="*/ 34 h 9983"/>
                <a:gd name="connsiteX0" fmla="*/ 0 w 10062"/>
                <a:gd name="connsiteY0" fmla="*/ 10017 h 10017"/>
                <a:gd name="connsiteX1" fmla="*/ 8853 w 10062"/>
                <a:gd name="connsiteY1" fmla="*/ 17 h 10017"/>
                <a:gd name="connsiteX2" fmla="*/ 10062 w 10062"/>
                <a:gd name="connsiteY2" fmla="*/ 0 h 10017"/>
              </a:gdLst>
              <a:ahLst/>
              <a:cxnLst>
                <a:cxn ang="0">
                  <a:pos x="connsiteX0" y="connsiteY0"/>
                </a:cxn>
                <a:cxn ang="0">
                  <a:pos x="connsiteX1" y="connsiteY1"/>
                </a:cxn>
                <a:cxn ang="0">
                  <a:pos x="connsiteX2" y="connsiteY2"/>
                </a:cxn>
              </a:cxnLst>
              <a:rect l="l" t="t" r="r" b="b"/>
              <a:pathLst>
                <a:path w="10062" h="10017">
                  <a:moveTo>
                    <a:pt x="0" y="10017"/>
                  </a:moveTo>
                  <a:lnTo>
                    <a:pt x="8853" y="17"/>
                  </a:lnTo>
                  <a:lnTo>
                    <a:pt x="10062"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spTree>
    <p:extLst>
      <p:ext uri="{BB962C8B-B14F-4D97-AF65-F5344CB8AC3E}">
        <p14:creationId xmlns:p14="http://schemas.microsoft.com/office/powerpoint/2010/main" val="3509862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123018" y="425823"/>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Connection Management</a:t>
            </a:r>
            <a:endParaRPr lang="en-US" sz="3300" dirty="0">
              <a:latin typeface="Avenir Book" panose="020B0503020203020204" pitchFamily="34" charset="-78"/>
              <a:cs typeface="Avenir Book" panose="020B0503020203020204" pitchFamily="34" charset="-78"/>
            </a:endParaRPr>
          </a:p>
        </p:txBody>
      </p:sp>
      <p:sp>
        <p:nvSpPr>
          <p:cNvPr id="31" name="Rectangle 5">
            <a:extLst>
              <a:ext uri="{FF2B5EF4-FFF2-40B4-BE49-F238E27FC236}">
                <a16:creationId xmlns:a16="http://schemas.microsoft.com/office/drawing/2014/main" id="{9C578410-CCAC-A940-BEC5-74269A538606}"/>
              </a:ext>
            </a:extLst>
          </p:cNvPr>
          <p:cNvSpPr txBox="1">
            <a:spLocks noChangeArrowheads="1"/>
          </p:cNvSpPr>
          <p:nvPr/>
        </p:nvSpPr>
        <p:spPr>
          <a:xfrm>
            <a:off x="803564" y="1205879"/>
            <a:ext cx="10908145" cy="164068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a:spcBef>
                <a:spcPts val="750"/>
              </a:spcBef>
              <a:buNone/>
              <a:defRPr/>
            </a:pPr>
            <a:r>
              <a:rPr lang="en-US" altLang="en-US"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Before exchanging data, sender/receiver “</a:t>
            </a:r>
            <a:r>
              <a:rPr lang="en-US" altLang="ja-JP" dirty="0">
                <a:solidFill>
                  <a:srgbClr val="0000FF"/>
                </a:solidFill>
                <a:latin typeface="Avenir Book" panose="020B0503020203020204" pitchFamily="34" charset="-78"/>
                <a:ea typeface="ＭＳ Ｐゴシック" panose="020B0600070205080204" pitchFamily="34" charset="-128"/>
                <a:cs typeface="Avenir Book" panose="020B0503020203020204" pitchFamily="34" charset="-78"/>
              </a:rPr>
              <a:t>handshake</a:t>
            </a:r>
            <a:r>
              <a:rPr lang="en-US" altLang="ja-JP"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a:t>
            </a:r>
          </a:p>
          <a:p>
            <a:pPr marL="264319" indent="-166688" defTabSz="685800">
              <a:spcBef>
                <a:spcPts val="300"/>
              </a:spcBef>
              <a:defRPr/>
            </a:pPr>
            <a:r>
              <a:rPr lang="en-US" altLang="en-US" sz="240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Agree to establish connection (each knowing the other willing to establish connection)</a:t>
            </a:r>
          </a:p>
          <a:p>
            <a:pPr marL="264319" indent="-166688" defTabSz="685800">
              <a:spcBef>
                <a:spcPts val="300"/>
              </a:spcBef>
              <a:defRPr/>
            </a:pPr>
            <a:r>
              <a:rPr lang="en-US" altLang="en-US" sz="240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Agree on connection parameters (e.g., starting seq #s)</a:t>
            </a:r>
          </a:p>
        </p:txBody>
      </p:sp>
      <p:sp>
        <p:nvSpPr>
          <p:cNvPr id="129" name="Rectangle 62">
            <a:extLst>
              <a:ext uri="{FF2B5EF4-FFF2-40B4-BE49-F238E27FC236}">
                <a16:creationId xmlns:a16="http://schemas.microsoft.com/office/drawing/2014/main" id="{C5E2ED2D-96E6-7640-B8B9-2E97B87686AF}"/>
              </a:ext>
            </a:extLst>
          </p:cNvPr>
          <p:cNvSpPr>
            <a:spLocks noChangeArrowheads="1"/>
          </p:cNvSpPr>
          <p:nvPr/>
        </p:nvSpPr>
        <p:spPr bwMode="auto">
          <a:xfrm>
            <a:off x="3849530" y="2988548"/>
            <a:ext cx="1709738" cy="1810941"/>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0" name="Rectangle 45">
            <a:extLst>
              <a:ext uri="{FF2B5EF4-FFF2-40B4-BE49-F238E27FC236}">
                <a16:creationId xmlns:a16="http://schemas.microsoft.com/office/drawing/2014/main" id="{E1C433CA-144F-FE40-9939-574216DE0F50}"/>
              </a:ext>
            </a:extLst>
          </p:cNvPr>
          <p:cNvSpPr>
            <a:spLocks noChangeArrowheads="1"/>
          </p:cNvSpPr>
          <p:nvPr/>
        </p:nvSpPr>
        <p:spPr bwMode="auto">
          <a:xfrm>
            <a:off x="3819764" y="3029028"/>
            <a:ext cx="1702594" cy="1853804"/>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1" name="Line 55">
            <a:extLst>
              <a:ext uri="{FF2B5EF4-FFF2-40B4-BE49-F238E27FC236}">
                <a16:creationId xmlns:a16="http://schemas.microsoft.com/office/drawing/2014/main" id="{B5AF7973-E361-6A42-9B3B-A8AD0E9C7140}"/>
              </a:ext>
            </a:extLst>
          </p:cNvPr>
          <p:cNvSpPr>
            <a:spLocks noChangeShapeType="1"/>
          </p:cNvSpPr>
          <p:nvPr/>
        </p:nvSpPr>
        <p:spPr bwMode="auto">
          <a:xfrm>
            <a:off x="3819764" y="3360022"/>
            <a:ext cx="1702594"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2" name="Text Box 6">
            <a:extLst>
              <a:ext uri="{FF2B5EF4-FFF2-40B4-BE49-F238E27FC236}">
                <a16:creationId xmlns:a16="http://schemas.microsoft.com/office/drawing/2014/main" id="{F4060720-F3C5-A543-A168-90183A3F78EB}"/>
              </a:ext>
            </a:extLst>
          </p:cNvPr>
          <p:cNvSpPr txBox="1">
            <a:spLocks noChangeArrowheads="1"/>
          </p:cNvSpPr>
          <p:nvPr/>
        </p:nvSpPr>
        <p:spPr bwMode="auto">
          <a:xfrm>
            <a:off x="3830481" y="3444556"/>
            <a:ext cx="1751409" cy="12234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230188">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connection state: ESTAB</a:t>
            </a:r>
          </a:p>
          <a:p>
            <a:pPr defTabSz="685800" eaLnBrk="0" fontAlgn="base" hangingPunct="0">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connection variables:</a:t>
            </a:r>
          </a:p>
          <a:p>
            <a:pPr marL="172641" lvl="1" defTabSz="685800" eaLnBrk="0" fontAlgn="base" hangingPunct="0">
              <a:spcBef>
                <a:spcPct val="0"/>
              </a:spcBef>
              <a:spcAft>
                <a:spcPct val="0"/>
              </a:spcAft>
              <a:defRPr/>
            </a:pPr>
            <a:r>
              <a:rPr lang="en-US" sz="1050" kern="0" dirty="0" err="1">
                <a:solidFill>
                  <a:srgbClr val="000000"/>
                </a:solidFill>
                <a:latin typeface="Avenir Book" panose="020B0503020203020204" pitchFamily="34" charset="-78"/>
                <a:cs typeface="Avenir Book" panose="020B0503020203020204" pitchFamily="34" charset="-78"/>
              </a:rPr>
              <a:t>seq</a:t>
            </a:r>
            <a:r>
              <a:rPr lang="en-US" sz="1050" kern="0" dirty="0">
                <a:solidFill>
                  <a:srgbClr val="000000"/>
                </a:solidFill>
                <a:latin typeface="Avenir Book" panose="020B0503020203020204" pitchFamily="34" charset="-78"/>
                <a:cs typeface="Avenir Book" panose="020B0503020203020204" pitchFamily="34" charset="-78"/>
              </a:rPr>
              <a:t> # client-to-server</a:t>
            </a:r>
          </a:p>
          <a:p>
            <a:pPr marL="172641" lvl="1" defTabSz="685800" eaLnBrk="0" fontAlgn="base" hangingPunct="0">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         server-to-client</a:t>
            </a:r>
          </a:p>
          <a:p>
            <a:pPr marL="172641" lvl="1" defTabSz="685800" eaLnBrk="0" fontAlgn="base" hangingPunct="0">
              <a:spcBef>
                <a:spcPct val="0"/>
              </a:spcBef>
              <a:spcAft>
                <a:spcPct val="0"/>
              </a:spcAft>
              <a:defRPr/>
            </a:pPr>
            <a:r>
              <a:rPr lang="en-US" sz="1050" b="1" kern="0" dirty="0" err="1">
                <a:solidFill>
                  <a:srgbClr val="000000"/>
                </a:solidFill>
                <a:latin typeface="Avenir Book" panose="020B0503020203020204" pitchFamily="34" charset="-78"/>
                <a:cs typeface="Avenir Book" panose="020B0503020203020204" pitchFamily="34" charset="-78"/>
              </a:rPr>
              <a:t>rcvBuffer</a:t>
            </a:r>
            <a:r>
              <a:rPr lang="en-US" sz="1050" kern="0" dirty="0">
                <a:solidFill>
                  <a:srgbClr val="000000"/>
                </a:solidFill>
                <a:latin typeface="Avenir Book" panose="020B0503020203020204" pitchFamily="34" charset="-78"/>
                <a:cs typeface="Avenir Book" panose="020B0503020203020204" pitchFamily="34" charset="-78"/>
              </a:rPr>
              <a:t> size</a:t>
            </a:r>
          </a:p>
          <a:p>
            <a:pPr marL="172641" lvl="1" defTabSz="685800" eaLnBrk="0" fontAlgn="base" hangingPunct="0">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   at </a:t>
            </a:r>
            <a:r>
              <a:rPr lang="en-US" sz="1050" kern="0" dirty="0" err="1">
                <a:solidFill>
                  <a:srgbClr val="000000"/>
                </a:solidFill>
                <a:latin typeface="Avenir Book" panose="020B0503020203020204" pitchFamily="34" charset="-78"/>
                <a:cs typeface="Avenir Book" panose="020B0503020203020204" pitchFamily="34" charset="-78"/>
              </a:rPr>
              <a:t>server,client</a:t>
            </a:r>
            <a:r>
              <a:rPr lang="en-US" sz="1050" kern="0" dirty="0">
                <a:solidFill>
                  <a:srgbClr val="000000"/>
                </a:solidFill>
                <a:latin typeface="Avenir Book" panose="020B0503020203020204" pitchFamily="34" charset="-78"/>
                <a:cs typeface="Avenir Book" panose="020B0503020203020204" pitchFamily="34" charset="-78"/>
              </a:rPr>
              <a:t> </a:t>
            </a:r>
          </a:p>
          <a:p>
            <a:pPr marL="172641" lvl="1" defTabSz="685800" eaLnBrk="0" fontAlgn="base" hangingPunct="0">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           </a:t>
            </a:r>
          </a:p>
        </p:txBody>
      </p:sp>
      <p:grpSp>
        <p:nvGrpSpPr>
          <p:cNvPr id="133" name="Group 46">
            <a:extLst>
              <a:ext uri="{FF2B5EF4-FFF2-40B4-BE49-F238E27FC236}">
                <a16:creationId xmlns:a16="http://schemas.microsoft.com/office/drawing/2014/main" id="{B33AB7A5-CCC5-254C-8A3A-759B759D5041}"/>
              </a:ext>
            </a:extLst>
          </p:cNvPr>
          <p:cNvGrpSpPr>
            <a:grpSpLocks/>
          </p:cNvGrpSpPr>
          <p:nvPr/>
        </p:nvGrpSpPr>
        <p:grpSpPr bwMode="auto">
          <a:xfrm>
            <a:off x="4480142" y="3295729"/>
            <a:ext cx="328613" cy="154781"/>
            <a:chOff x="344" y="1846"/>
            <a:chExt cx="336" cy="130"/>
          </a:xfrm>
        </p:grpSpPr>
        <p:sp>
          <p:nvSpPr>
            <p:cNvPr id="134" name="Rectangle 47">
              <a:extLst>
                <a:ext uri="{FF2B5EF4-FFF2-40B4-BE49-F238E27FC236}">
                  <a16:creationId xmlns:a16="http://schemas.microsoft.com/office/drawing/2014/main" id="{6C823A22-D6EB-C649-B7E4-0B164EE814C3}"/>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5" name="Rectangle 48">
              <a:extLst>
                <a:ext uri="{FF2B5EF4-FFF2-40B4-BE49-F238E27FC236}">
                  <a16:creationId xmlns:a16="http://schemas.microsoft.com/office/drawing/2014/main" id="{A8BB07C4-6AD0-A344-8975-A5BF33372416}"/>
                </a:ext>
              </a:extLst>
            </p:cNvPr>
            <p:cNvSpPr>
              <a:spLocks noChangeArrowheads="1"/>
            </p:cNvSpPr>
            <p:nvPr/>
          </p:nvSpPr>
          <p:spPr bwMode="auto">
            <a:xfrm>
              <a:off x="454" y="1863"/>
              <a:ext cx="112"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6" name="Rectangle 49">
              <a:extLst>
                <a:ext uri="{FF2B5EF4-FFF2-40B4-BE49-F238E27FC236}">
                  <a16:creationId xmlns:a16="http://schemas.microsoft.com/office/drawing/2014/main" id="{2CA09AF3-81EA-B643-82AA-454FD210EE48}"/>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7" name="Rectangle 50">
              <a:extLst>
                <a:ext uri="{FF2B5EF4-FFF2-40B4-BE49-F238E27FC236}">
                  <a16:creationId xmlns:a16="http://schemas.microsoft.com/office/drawing/2014/main" id="{467634F2-41DA-0748-9C1A-D08864A76A2F}"/>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38" name="Text Box 54">
            <a:extLst>
              <a:ext uri="{FF2B5EF4-FFF2-40B4-BE49-F238E27FC236}">
                <a16:creationId xmlns:a16="http://schemas.microsoft.com/office/drawing/2014/main" id="{A9AEB3C4-6978-5E48-B717-A659B5C3B9DD}"/>
              </a:ext>
            </a:extLst>
          </p:cNvPr>
          <p:cNvSpPr txBox="1">
            <a:spLocks noChangeArrowheads="1"/>
          </p:cNvSpPr>
          <p:nvPr/>
        </p:nvSpPr>
        <p:spPr bwMode="auto">
          <a:xfrm>
            <a:off x="4165103" y="3041913"/>
            <a:ext cx="946093"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application</a:t>
            </a:r>
          </a:p>
        </p:txBody>
      </p:sp>
      <p:sp>
        <p:nvSpPr>
          <p:cNvPr id="139" name="Line 56">
            <a:extLst>
              <a:ext uri="{FF2B5EF4-FFF2-40B4-BE49-F238E27FC236}">
                <a16:creationId xmlns:a16="http://schemas.microsoft.com/office/drawing/2014/main" id="{D326D2D6-0DA1-914C-9073-3ECFE526F8CC}"/>
              </a:ext>
            </a:extLst>
          </p:cNvPr>
          <p:cNvSpPr>
            <a:spLocks noChangeShapeType="1"/>
          </p:cNvSpPr>
          <p:nvPr/>
        </p:nvSpPr>
        <p:spPr bwMode="auto">
          <a:xfrm>
            <a:off x="3824526" y="4481590"/>
            <a:ext cx="1701404"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0" name="Text Box 57">
            <a:extLst>
              <a:ext uri="{FF2B5EF4-FFF2-40B4-BE49-F238E27FC236}">
                <a16:creationId xmlns:a16="http://schemas.microsoft.com/office/drawing/2014/main" id="{E4C0EAD6-0908-3C42-9A10-A6AAF94515B4}"/>
              </a:ext>
            </a:extLst>
          </p:cNvPr>
          <p:cNvSpPr txBox="1">
            <a:spLocks noChangeArrowheads="1"/>
          </p:cNvSpPr>
          <p:nvPr/>
        </p:nvSpPr>
        <p:spPr bwMode="auto">
          <a:xfrm>
            <a:off x="4186536" y="4552963"/>
            <a:ext cx="734496"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network</a:t>
            </a:r>
          </a:p>
        </p:txBody>
      </p:sp>
      <p:sp>
        <p:nvSpPr>
          <p:cNvPr id="141" name="Rectangle 58">
            <a:extLst>
              <a:ext uri="{FF2B5EF4-FFF2-40B4-BE49-F238E27FC236}">
                <a16:creationId xmlns:a16="http://schemas.microsoft.com/office/drawing/2014/main" id="{1CB6C439-3E38-7043-B2E4-E0EA4F390BE5}"/>
              </a:ext>
            </a:extLst>
          </p:cNvPr>
          <p:cNvSpPr>
            <a:spLocks noChangeArrowheads="1"/>
          </p:cNvSpPr>
          <p:nvPr/>
        </p:nvSpPr>
        <p:spPr bwMode="auto">
          <a:xfrm>
            <a:off x="3798333" y="4798298"/>
            <a:ext cx="1751410" cy="135731"/>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2" name="Line 59">
            <a:extLst>
              <a:ext uri="{FF2B5EF4-FFF2-40B4-BE49-F238E27FC236}">
                <a16:creationId xmlns:a16="http://schemas.microsoft.com/office/drawing/2014/main" id="{D8BBE84F-BCD3-BB4A-9FD3-757AFB3C13AA}"/>
              </a:ext>
            </a:extLst>
          </p:cNvPr>
          <p:cNvSpPr>
            <a:spLocks noChangeShapeType="1"/>
          </p:cNvSpPr>
          <p:nvPr/>
        </p:nvSpPr>
        <p:spPr bwMode="auto">
          <a:xfrm>
            <a:off x="3819764" y="4789964"/>
            <a:ext cx="0" cy="177403"/>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3" name="Line 60">
            <a:extLst>
              <a:ext uri="{FF2B5EF4-FFF2-40B4-BE49-F238E27FC236}">
                <a16:creationId xmlns:a16="http://schemas.microsoft.com/office/drawing/2014/main" id="{F862C10B-983A-F94D-A269-24CE747FC5AA}"/>
              </a:ext>
            </a:extLst>
          </p:cNvPr>
          <p:cNvSpPr>
            <a:spLocks noChangeShapeType="1"/>
          </p:cNvSpPr>
          <p:nvPr/>
        </p:nvSpPr>
        <p:spPr bwMode="auto">
          <a:xfrm>
            <a:off x="5517595" y="4768533"/>
            <a:ext cx="0" cy="177403"/>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4" name="Freeform 8">
            <a:extLst>
              <a:ext uri="{FF2B5EF4-FFF2-40B4-BE49-F238E27FC236}">
                <a16:creationId xmlns:a16="http://schemas.microsoft.com/office/drawing/2014/main" id="{DF364C08-2C0C-EE4E-8664-EDA4833FE296}"/>
              </a:ext>
            </a:extLst>
          </p:cNvPr>
          <p:cNvSpPr>
            <a:spLocks/>
          </p:cNvSpPr>
          <p:nvPr/>
        </p:nvSpPr>
        <p:spPr bwMode="auto">
          <a:xfrm flipH="1">
            <a:off x="3464959" y="3031410"/>
            <a:ext cx="351235" cy="186809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45" name="Rectangle 63">
            <a:extLst>
              <a:ext uri="{FF2B5EF4-FFF2-40B4-BE49-F238E27FC236}">
                <a16:creationId xmlns:a16="http://schemas.microsoft.com/office/drawing/2014/main" id="{0F4E1AF7-DE3A-2541-818F-C54CEC430AE0}"/>
              </a:ext>
            </a:extLst>
          </p:cNvPr>
          <p:cNvSpPr>
            <a:spLocks noChangeArrowheads="1"/>
          </p:cNvSpPr>
          <p:nvPr/>
        </p:nvSpPr>
        <p:spPr bwMode="auto">
          <a:xfrm>
            <a:off x="7076123" y="2993310"/>
            <a:ext cx="1709738" cy="1810941"/>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6" name="Rectangle 64">
            <a:extLst>
              <a:ext uri="{FF2B5EF4-FFF2-40B4-BE49-F238E27FC236}">
                <a16:creationId xmlns:a16="http://schemas.microsoft.com/office/drawing/2014/main" id="{5B961E58-331E-B748-A80F-3B7778F1C486}"/>
              </a:ext>
            </a:extLst>
          </p:cNvPr>
          <p:cNvSpPr>
            <a:spLocks noChangeArrowheads="1"/>
          </p:cNvSpPr>
          <p:nvPr/>
        </p:nvSpPr>
        <p:spPr bwMode="auto">
          <a:xfrm>
            <a:off x="7046358" y="3033790"/>
            <a:ext cx="1702594" cy="1853804"/>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7" name="Line 65">
            <a:extLst>
              <a:ext uri="{FF2B5EF4-FFF2-40B4-BE49-F238E27FC236}">
                <a16:creationId xmlns:a16="http://schemas.microsoft.com/office/drawing/2014/main" id="{83696C28-A57C-AC46-B97E-048E3D615664}"/>
              </a:ext>
            </a:extLst>
          </p:cNvPr>
          <p:cNvSpPr>
            <a:spLocks noChangeShapeType="1"/>
          </p:cNvSpPr>
          <p:nvPr/>
        </p:nvSpPr>
        <p:spPr bwMode="auto">
          <a:xfrm>
            <a:off x="7046358" y="3364784"/>
            <a:ext cx="1702594"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8" name="Text Box 66">
            <a:extLst>
              <a:ext uri="{FF2B5EF4-FFF2-40B4-BE49-F238E27FC236}">
                <a16:creationId xmlns:a16="http://schemas.microsoft.com/office/drawing/2014/main" id="{3C17C23B-2BF5-5B4E-BB33-288C1922406B}"/>
              </a:ext>
            </a:extLst>
          </p:cNvPr>
          <p:cNvSpPr txBox="1">
            <a:spLocks noChangeArrowheads="1"/>
          </p:cNvSpPr>
          <p:nvPr/>
        </p:nvSpPr>
        <p:spPr bwMode="auto">
          <a:xfrm>
            <a:off x="7057075" y="3449319"/>
            <a:ext cx="1751409" cy="12234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230188">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connection state: ESTAB</a:t>
            </a:r>
          </a:p>
          <a:p>
            <a:pPr defTabSz="685800" eaLnBrk="0" fontAlgn="base" hangingPunct="0">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connection Variables:</a:t>
            </a:r>
          </a:p>
          <a:p>
            <a:pPr marL="172641" lvl="1" defTabSz="685800" eaLnBrk="0" fontAlgn="base" hangingPunct="0">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seq # client-to-server</a:t>
            </a:r>
          </a:p>
          <a:p>
            <a:pPr marL="172641" lvl="1" defTabSz="685800" eaLnBrk="0" fontAlgn="base" hangingPunct="0">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          server-to-client</a:t>
            </a:r>
          </a:p>
          <a:p>
            <a:pPr marL="172641" lvl="1" defTabSz="685800" eaLnBrk="0" fontAlgn="base" hangingPunct="0">
              <a:spcBef>
                <a:spcPct val="0"/>
              </a:spcBef>
              <a:spcAft>
                <a:spcPct val="0"/>
              </a:spcAft>
              <a:defRPr/>
            </a:pPr>
            <a:r>
              <a:rPr lang="en-US" sz="1050" b="1" kern="0">
                <a:solidFill>
                  <a:srgbClr val="000000"/>
                </a:solidFill>
                <a:latin typeface="Avenir Book" panose="020B0503020203020204" pitchFamily="34" charset="-78"/>
                <a:cs typeface="Avenir Book" panose="020B0503020203020204" pitchFamily="34" charset="-78"/>
              </a:rPr>
              <a:t>rcvBuffer</a:t>
            </a:r>
            <a:r>
              <a:rPr lang="en-US" sz="1050" kern="0">
                <a:solidFill>
                  <a:srgbClr val="000000"/>
                </a:solidFill>
                <a:latin typeface="Avenir Book" panose="020B0503020203020204" pitchFamily="34" charset="-78"/>
                <a:cs typeface="Avenir Book" panose="020B0503020203020204" pitchFamily="34" charset="-78"/>
              </a:rPr>
              <a:t> size</a:t>
            </a:r>
          </a:p>
          <a:p>
            <a:pPr marL="172641" lvl="1" defTabSz="685800" eaLnBrk="0" fontAlgn="base" hangingPunct="0">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   at server,client </a:t>
            </a:r>
          </a:p>
          <a:p>
            <a:pPr marL="172641" lvl="1" defTabSz="685800" eaLnBrk="0" fontAlgn="base" hangingPunct="0">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           </a:t>
            </a:r>
          </a:p>
        </p:txBody>
      </p:sp>
      <p:grpSp>
        <p:nvGrpSpPr>
          <p:cNvPr id="149" name="Group 67">
            <a:extLst>
              <a:ext uri="{FF2B5EF4-FFF2-40B4-BE49-F238E27FC236}">
                <a16:creationId xmlns:a16="http://schemas.microsoft.com/office/drawing/2014/main" id="{A3675259-9C7A-1740-AEED-A90AD2D0AE87}"/>
              </a:ext>
            </a:extLst>
          </p:cNvPr>
          <p:cNvGrpSpPr>
            <a:grpSpLocks/>
          </p:cNvGrpSpPr>
          <p:nvPr/>
        </p:nvGrpSpPr>
        <p:grpSpPr bwMode="auto">
          <a:xfrm>
            <a:off x="7726906" y="3300492"/>
            <a:ext cx="328613" cy="154781"/>
            <a:chOff x="344" y="1846"/>
            <a:chExt cx="336" cy="130"/>
          </a:xfrm>
        </p:grpSpPr>
        <p:sp>
          <p:nvSpPr>
            <p:cNvPr id="150" name="Rectangle 68">
              <a:extLst>
                <a:ext uri="{FF2B5EF4-FFF2-40B4-BE49-F238E27FC236}">
                  <a16:creationId xmlns:a16="http://schemas.microsoft.com/office/drawing/2014/main" id="{4B4BD261-01C7-494F-8D01-68B19AA4B9AC}"/>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1" name="Rectangle 69">
              <a:extLst>
                <a:ext uri="{FF2B5EF4-FFF2-40B4-BE49-F238E27FC236}">
                  <a16:creationId xmlns:a16="http://schemas.microsoft.com/office/drawing/2014/main" id="{4E7628F3-86B5-E44C-8195-D9FF1BBA53D4}"/>
                </a:ext>
              </a:extLst>
            </p:cNvPr>
            <p:cNvSpPr>
              <a:spLocks noChangeArrowheads="1"/>
            </p:cNvSpPr>
            <p:nvPr/>
          </p:nvSpPr>
          <p:spPr bwMode="auto">
            <a:xfrm>
              <a:off x="454" y="1863"/>
              <a:ext cx="112"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2" name="Rectangle 70">
              <a:extLst>
                <a:ext uri="{FF2B5EF4-FFF2-40B4-BE49-F238E27FC236}">
                  <a16:creationId xmlns:a16="http://schemas.microsoft.com/office/drawing/2014/main" id="{BE5565DB-C659-5048-B6BD-16420D5CE92C}"/>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3" name="Rectangle 71">
              <a:extLst>
                <a:ext uri="{FF2B5EF4-FFF2-40B4-BE49-F238E27FC236}">
                  <a16:creationId xmlns:a16="http://schemas.microsoft.com/office/drawing/2014/main" id="{720A74F5-E1C3-FF45-B800-884CFBB24D0A}"/>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54" name="Text Box 72">
            <a:extLst>
              <a:ext uri="{FF2B5EF4-FFF2-40B4-BE49-F238E27FC236}">
                <a16:creationId xmlns:a16="http://schemas.microsoft.com/office/drawing/2014/main" id="{48C5FBCA-1883-5B46-BC6B-BD218B24C18D}"/>
              </a:ext>
            </a:extLst>
          </p:cNvPr>
          <p:cNvSpPr txBox="1">
            <a:spLocks noChangeArrowheads="1"/>
          </p:cNvSpPr>
          <p:nvPr/>
        </p:nvSpPr>
        <p:spPr bwMode="auto">
          <a:xfrm>
            <a:off x="7409727" y="3055119"/>
            <a:ext cx="946093"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application</a:t>
            </a:r>
          </a:p>
        </p:txBody>
      </p:sp>
      <p:sp>
        <p:nvSpPr>
          <p:cNvPr id="155" name="Line 73">
            <a:extLst>
              <a:ext uri="{FF2B5EF4-FFF2-40B4-BE49-F238E27FC236}">
                <a16:creationId xmlns:a16="http://schemas.microsoft.com/office/drawing/2014/main" id="{C7D010E1-FDC8-B843-B502-33120A86EB14}"/>
              </a:ext>
            </a:extLst>
          </p:cNvPr>
          <p:cNvSpPr>
            <a:spLocks noChangeShapeType="1"/>
          </p:cNvSpPr>
          <p:nvPr/>
        </p:nvSpPr>
        <p:spPr bwMode="auto">
          <a:xfrm>
            <a:off x="7051120" y="4486353"/>
            <a:ext cx="1701404"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6" name="Text Box 74">
            <a:extLst>
              <a:ext uri="{FF2B5EF4-FFF2-40B4-BE49-F238E27FC236}">
                <a16:creationId xmlns:a16="http://schemas.microsoft.com/office/drawing/2014/main" id="{46053DCC-44E5-2C43-B37B-8DA921C733B2}"/>
              </a:ext>
            </a:extLst>
          </p:cNvPr>
          <p:cNvSpPr txBox="1">
            <a:spLocks noChangeArrowheads="1"/>
          </p:cNvSpPr>
          <p:nvPr/>
        </p:nvSpPr>
        <p:spPr bwMode="auto">
          <a:xfrm>
            <a:off x="7522008" y="4547440"/>
            <a:ext cx="734496"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network</a:t>
            </a:r>
          </a:p>
        </p:txBody>
      </p:sp>
      <p:sp>
        <p:nvSpPr>
          <p:cNvPr id="157" name="Rectangle 75">
            <a:extLst>
              <a:ext uri="{FF2B5EF4-FFF2-40B4-BE49-F238E27FC236}">
                <a16:creationId xmlns:a16="http://schemas.microsoft.com/office/drawing/2014/main" id="{2794759F-1BDF-124F-8990-F97B9E3FFDCA}"/>
              </a:ext>
            </a:extLst>
          </p:cNvPr>
          <p:cNvSpPr>
            <a:spLocks noChangeArrowheads="1"/>
          </p:cNvSpPr>
          <p:nvPr/>
        </p:nvSpPr>
        <p:spPr bwMode="auto">
          <a:xfrm>
            <a:off x="7024927" y="4803061"/>
            <a:ext cx="1751410" cy="135731"/>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8" name="Line 76">
            <a:extLst>
              <a:ext uri="{FF2B5EF4-FFF2-40B4-BE49-F238E27FC236}">
                <a16:creationId xmlns:a16="http://schemas.microsoft.com/office/drawing/2014/main" id="{AA62258B-6959-8646-9E2E-9B0097512BD1}"/>
              </a:ext>
            </a:extLst>
          </p:cNvPr>
          <p:cNvSpPr>
            <a:spLocks noChangeShapeType="1"/>
          </p:cNvSpPr>
          <p:nvPr/>
        </p:nvSpPr>
        <p:spPr bwMode="auto">
          <a:xfrm>
            <a:off x="7046358" y="4794726"/>
            <a:ext cx="0" cy="177403"/>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9" name="Line 77">
            <a:extLst>
              <a:ext uri="{FF2B5EF4-FFF2-40B4-BE49-F238E27FC236}">
                <a16:creationId xmlns:a16="http://schemas.microsoft.com/office/drawing/2014/main" id="{B39909BE-5B6C-6F46-8749-CE29AEAB2CB2}"/>
              </a:ext>
            </a:extLst>
          </p:cNvPr>
          <p:cNvSpPr>
            <a:spLocks noChangeShapeType="1"/>
          </p:cNvSpPr>
          <p:nvPr/>
        </p:nvSpPr>
        <p:spPr bwMode="auto">
          <a:xfrm>
            <a:off x="8744189" y="4773295"/>
            <a:ext cx="0" cy="177403"/>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0" name="Freeform 78">
            <a:extLst>
              <a:ext uri="{FF2B5EF4-FFF2-40B4-BE49-F238E27FC236}">
                <a16:creationId xmlns:a16="http://schemas.microsoft.com/office/drawing/2014/main" id="{830D21F8-79F0-0E4D-A9EF-3C8300C80D17}"/>
              </a:ext>
            </a:extLst>
          </p:cNvPr>
          <p:cNvSpPr>
            <a:spLocks/>
          </p:cNvSpPr>
          <p:nvPr/>
        </p:nvSpPr>
        <p:spPr bwMode="auto">
          <a:xfrm>
            <a:off x="8757286" y="2986166"/>
            <a:ext cx="351234" cy="186809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63" name="Group 89">
            <a:extLst>
              <a:ext uri="{FF2B5EF4-FFF2-40B4-BE49-F238E27FC236}">
                <a16:creationId xmlns:a16="http://schemas.microsoft.com/office/drawing/2014/main" id="{DB71F8E2-0EB4-2A4E-B4C5-3DC2955DEDE8}"/>
              </a:ext>
            </a:extLst>
          </p:cNvPr>
          <p:cNvGrpSpPr>
            <a:grpSpLocks/>
          </p:cNvGrpSpPr>
          <p:nvPr/>
        </p:nvGrpSpPr>
        <p:grpSpPr bwMode="auto">
          <a:xfrm>
            <a:off x="3107771" y="4555411"/>
            <a:ext cx="523875" cy="459581"/>
            <a:chOff x="-44" y="1473"/>
            <a:chExt cx="981" cy="1105"/>
          </a:xfrm>
        </p:grpSpPr>
        <p:pic>
          <p:nvPicPr>
            <p:cNvPr id="164" name="Picture 90" descr="desktop_computer_stylized_medium">
              <a:extLst>
                <a:ext uri="{FF2B5EF4-FFF2-40B4-BE49-F238E27FC236}">
                  <a16:creationId xmlns:a16="http://schemas.microsoft.com/office/drawing/2014/main" id="{C631DB34-DA41-694E-BA26-57FDF68E6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 name="Freeform 91">
              <a:extLst>
                <a:ext uri="{FF2B5EF4-FFF2-40B4-BE49-F238E27FC236}">
                  <a16:creationId xmlns:a16="http://schemas.microsoft.com/office/drawing/2014/main" id="{BEF55614-0BD4-8249-9822-CEE59DA9A93D}"/>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66" name="Group 92">
            <a:extLst>
              <a:ext uri="{FF2B5EF4-FFF2-40B4-BE49-F238E27FC236}">
                <a16:creationId xmlns:a16="http://schemas.microsoft.com/office/drawing/2014/main" id="{F06A1B16-A85F-394E-802F-0E5CD7D943D6}"/>
              </a:ext>
            </a:extLst>
          </p:cNvPr>
          <p:cNvGrpSpPr>
            <a:grpSpLocks/>
          </p:cNvGrpSpPr>
          <p:nvPr/>
        </p:nvGrpSpPr>
        <p:grpSpPr bwMode="auto">
          <a:xfrm>
            <a:off x="8969218" y="4479211"/>
            <a:ext cx="311944" cy="470297"/>
            <a:chOff x="4140" y="429"/>
            <a:chExt cx="1425" cy="2396"/>
          </a:xfrm>
        </p:grpSpPr>
        <p:sp>
          <p:nvSpPr>
            <p:cNvPr id="167" name="Freeform 93">
              <a:extLst>
                <a:ext uri="{FF2B5EF4-FFF2-40B4-BE49-F238E27FC236}">
                  <a16:creationId xmlns:a16="http://schemas.microsoft.com/office/drawing/2014/main" id="{0B18D7B8-4C19-6A48-9356-0BDC63F4B19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68" name="Rectangle 94">
              <a:extLst>
                <a:ext uri="{FF2B5EF4-FFF2-40B4-BE49-F238E27FC236}">
                  <a16:creationId xmlns:a16="http://schemas.microsoft.com/office/drawing/2014/main" id="{83F51854-758D-F348-B0AE-4C8BBF01B327}"/>
                </a:ext>
              </a:extLst>
            </p:cNvPr>
            <p:cNvSpPr>
              <a:spLocks noChangeArrowheads="1"/>
            </p:cNvSpPr>
            <p:nvPr/>
          </p:nvSpPr>
          <p:spPr bwMode="auto">
            <a:xfrm>
              <a:off x="4205" y="429"/>
              <a:ext cx="1050" cy="2287"/>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9" name="Freeform 95">
              <a:extLst>
                <a:ext uri="{FF2B5EF4-FFF2-40B4-BE49-F238E27FC236}">
                  <a16:creationId xmlns:a16="http://schemas.microsoft.com/office/drawing/2014/main" id="{BCB6E605-7A9B-CA4D-855C-288812DAAB0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70" name="Freeform 96">
              <a:extLst>
                <a:ext uri="{FF2B5EF4-FFF2-40B4-BE49-F238E27FC236}">
                  <a16:creationId xmlns:a16="http://schemas.microsoft.com/office/drawing/2014/main" id="{010D7A25-5C86-B443-B0F4-6A6735092E3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71" name="Rectangle 97">
              <a:extLst>
                <a:ext uri="{FF2B5EF4-FFF2-40B4-BE49-F238E27FC236}">
                  <a16:creationId xmlns:a16="http://schemas.microsoft.com/office/drawing/2014/main" id="{6B6FDD4A-AD55-9345-AF53-BC625746DD19}"/>
                </a:ext>
              </a:extLst>
            </p:cNvPr>
            <p:cNvSpPr>
              <a:spLocks noChangeArrowheads="1"/>
            </p:cNvSpPr>
            <p:nvPr/>
          </p:nvSpPr>
          <p:spPr bwMode="auto">
            <a:xfrm>
              <a:off x="4211" y="696"/>
              <a:ext cx="598"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72" name="Group 98">
              <a:extLst>
                <a:ext uri="{FF2B5EF4-FFF2-40B4-BE49-F238E27FC236}">
                  <a16:creationId xmlns:a16="http://schemas.microsoft.com/office/drawing/2014/main" id="{A97FBBEC-0302-FA4C-A3B9-B0FD424712B4}"/>
                </a:ext>
              </a:extLst>
            </p:cNvPr>
            <p:cNvGrpSpPr>
              <a:grpSpLocks/>
            </p:cNvGrpSpPr>
            <p:nvPr/>
          </p:nvGrpSpPr>
          <p:grpSpPr bwMode="auto">
            <a:xfrm>
              <a:off x="4749" y="668"/>
              <a:ext cx="581" cy="145"/>
              <a:chOff x="614" y="2568"/>
              <a:chExt cx="725" cy="139"/>
            </a:xfrm>
          </p:grpSpPr>
          <p:sp>
            <p:nvSpPr>
              <p:cNvPr id="197" name="AutoShape 99">
                <a:extLst>
                  <a:ext uri="{FF2B5EF4-FFF2-40B4-BE49-F238E27FC236}">
                    <a16:creationId xmlns:a16="http://schemas.microsoft.com/office/drawing/2014/main" id="{C21CB491-D46B-EE41-AA0F-DE79A218D55A}"/>
                  </a:ext>
                </a:extLst>
              </p:cNvPr>
              <p:cNvSpPr>
                <a:spLocks noChangeArrowheads="1"/>
              </p:cNvSpPr>
              <p:nvPr/>
            </p:nvSpPr>
            <p:spPr bwMode="auto">
              <a:xfrm>
                <a:off x="614" y="2566"/>
                <a:ext cx="726"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8" name="AutoShape 100">
                <a:extLst>
                  <a:ext uri="{FF2B5EF4-FFF2-40B4-BE49-F238E27FC236}">
                    <a16:creationId xmlns:a16="http://schemas.microsoft.com/office/drawing/2014/main" id="{1FC5D9EE-EAE0-7E4E-B85F-6FC8DE4DEE26}"/>
                  </a:ext>
                </a:extLst>
              </p:cNvPr>
              <p:cNvSpPr>
                <a:spLocks noChangeArrowheads="1"/>
              </p:cNvSpPr>
              <p:nvPr/>
            </p:nvSpPr>
            <p:spPr bwMode="auto">
              <a:xfrm>
                <a:off x="628" y="2583"/>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73" name="Rectangle 101">
              <a:extLst>
                <a:ext uri="{FF2B5EF4-FFF2-40B4-BE49-F238E27FC236}">
                  <a16:creationId xmlns:a16="http://schemas.microsoft.com/office/drawing/2014/main" id="{8F3C4297-FFD3-D843-98B6-43C61A7317BF}"/>
                </a:ext>
              </a:extLst>
            </p:cNvPr>
            <p:cNvSpPr>
              <a:spLocks noChangeArrowheads="1"/>
            </p:cNvSpPr>
            <p:nvPr/>
          </p:nvSpPr>
          <p:spPr bwMode="auto">
            <a:xfrm>
              <a:off x="4222" y="1017"/>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74" name="Group 102">
              <a:extLst>
                <a:ext uri="{FF2B5EF4-FFF2-40B4-BE49-F238E27FC236}">
                  <a16:creationId xmlns:a16="http://schemas.microsoft.com/office/drawing/2014/main" id="{21DC2796-CCBB-6A4F-838F-49A2C67C0E64}"/>
                </a:ext>
              </a:extLst>
            </p:cNvPr>
            <p:cNvGrpSpPr>
              <a:grpSpLocks/>
            </p:cNvGrpSpPr>
            <p:nvPr/>
          </p:nvGrpSpPr>
          <p:grpSpPr bwMode="auto">
            <a:xfrm>
              <a:off x="4747" y="994"/>
              <a:ext cx="581" cy="134"/>
              <a:chOff x="614" y="2568"/>
              <a:chExt cx="725" cy="139"/>
            </a:xfrm>
          </p:grpSpPr>
          <p:sp>
            <p:nvSpPr>
              <p:cNvPr id="195" name="AutoShape 103">
                <a:extLst>
                  <a:ext uri="{FF2B5EF4-FFF2-40B4-BE49-F238E27FC236}">
                    <a16:creationId xmlns:a16="http://schemas.microsoft.com/office/drawing/2014/main" id="{969D7B41-0DC1-4440-AFDE-248D9CDB66EB}"/>
                  </a:ext>
                </a:extLst>
              </p:cNvPr>
              <p:cNvSpPr>
                <a:spLocks noChangeArrowheads="1"/>
              </p:cNvSpPr>
              <p:nvPr/>
            </p:nvSpPr>
            <p:spPr bwMode="auto">
              <a:xfrm>
                <a:off x="617" y="2567"/>
                <a:ext cx="719"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6" name="AutoShape 104">
                <a:extLst>
                  <a:ext uri="{FF2B5EF4-FFF2-40B4-BE49-F238E27FC236}">
                    <a16:creationId xmlns:a16="http://schemas.microsoft.com/office/drawing/2014/main" id="{B3EC6575-CF4C-6246-8181-ED39D289D214}"/>
                  </a:ext>
                </a:extLst>
              </p:cNvPr>
              <p:cNvSpPr>
                <a:spLocks noChangeArrowheads="1"/>
              </p:cNvSpPr>
              <p:nvPr/>
            </p:nvSpPr>
            <p:spPr bwMode="auto">
              <a:xfrm>
                <a:off x="630" y="2586"/>
                <a:ext cx="67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75" name="Rectangle 105">
              <a:extLst>
                <a:ext uri="{FF2B5EF4-FFF2-40B4-BE49-F238E27FC236}">
                  <a16:creationId xmlns:a16="http://schemas.microsoft.com/office/drawing/2014/main" id="{E4C8EF29-9693-8843-BE99-DFF7EF55F859}"/>
                </a:ext>
              </a:extLst>
            </p:cNvPr>
            <p:cNvSpPr>
              <a:spLocks noChangeArrowheads="1"/>
            </p:cNvSpPr>
            <p:nvPr/>
          </p:nvSpPr>
          <p:spPr bwMode="auto">
            <a:xfrm>
              <a:off x="4216" y="1357"/>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76" name="Rectangle 106">
              <a:extLst>
                <a:ext uri="{FF2B5EF4-FFF2-40B4-BE49-F238E27FC236}">
                  <a16:creationId xmlns:a16="http://schemas.microsoft.com/office/drawing/2014/main" id="{444A4DA4-95C5-7247-8CDB-5D7AF6D3A816}"/>
                </a:ext>
              </a:extLst>
            </p:cNvPr>
            <p:cNvSpPr>
              <a:spLocks noChangeArrowheads="1"/>
            </p:cNvSpPr>
            <p:nvPr/>
          </p:nvSpPr>
          <p:spPr bwMode="auto">
            <a:xfrm>
              <a:off x="4227" y="1654"/>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77" name="Group 107">
              <a:extLst>
                <a:ext uri="{FF2B5EF4-FFF2-40B4-BE49-F238E27FC236}">
                  <a16:creationId xmlns:a16="http://schemas.microsoft.com/office/drawing/2014/main" id="{E95F09FB-35B3-984D-8B07-8ED352E49862}"/>
                </a:ext>
              </a:extLst>
            </p:cNvPr>
            <p:cNvGrpSpPr>
              <a:grpSpLocks/>
            </p:cNvGrpSpPr>
            <p:nvPr/>
          </p:nvGrpSpPr>
          <p:grpSpPr bwMode="auto">
            <a:xfrm>
              <a:off x="4735" y="1627"/>
              <a:ext cx="582" cy="151"/>
              <a:chOff x="614" y="2568"/>
              <a:chExt cx="725" cy="139"/>
            </a:xfrm>
          </p:grpSpPr>
          <p:sp>
            <p:nvSpPr>
              <p:cNvPr id="193" name="AutoShape 108">
                <a:extLst>
                  <a:ext uri="{FF2B5EF4-FFF2-40B4-BE49-F238E27FC236}">
                    <a16:creationId xmlns:a16="http://schemas.microsoft.com/office/drawing/2014/main" id="{0D8F2BD6-B00B-A145-9FAD-DEBB9A14C761}"/>
                  </a:ext>
                </a:extLst>
              </p:cNvPr>
              <p:cNvSpPr>
                <a:spLocks noChangeArrowheads="1"/>
              </p:cNvSpPr>
              <p:nvPr/>
            </p:nvSpPr>
            <p:spPr bwMode="auto">
              <a:xfrm>
                <a:off x="611" y="2576"/>
                <a:ext cx="725" cy="123"/>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4" name="AutoShape 109">
                <a:extLst>
                  <a:ext uri="{FF2B5EF4-FFF2-40B4-BE49-F238E27FC236}">
                    <a16:creationId xmlns:a16="http://schemas.microsoft.com/office/drawing/2014/main" id="{FBEB72B8-9464-2649-9EA1-03257A809BD1}"/>
                  </a:ext>
                </a:extLst>
              </p:cNvPr>
              <p:cNvSpPr>
                <a:spLocks noChangeArrowheads="1"/>
              </p:cNvSpPr>
              <p:nvPr/>
            </p:nvSpPr>
            <p:spPr bwMode="auto">
              <a:xfrm>
                <a:off x="625" y="2588"/>
                <a:ext cx="691"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78" name="Freeform 110">
              <a:extLst>
                <a:ext uri="{FF2B5EF4-FFF2-40B4-BE49-F238E27FC236}">
                  <a16:creationId xmlns:a16="http://schemas.microsoft.com/office/drawing/2014/main" id="{69825DF1-2B01-DB4D-AD1A-63C84CD1638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79" name="Group 111">
              <a:extLst>
                <a:ext uri="{FF2B5EF4-FFF2-40B4-BE49-F238E27FC236}">
                  <a16:creationId xmlns:a16="http://schemas.microsoft.com/office/drawing/2014/main" id="{77E8896E-C175-9440-8F1C-C0DAB898AF9D}"/>
                </a:ext>
              </a:extLst>
            </p:cNvPr>
            <p:cNvGrpSpPr>
              <a:grpSpLocks/>
            </p:cNvGrpSpPr>
            <p:nvPr/>
          </p:nvGrpSpPr>
          <p:grpSpPr bwMode="auto">
            <a:xfrm>
              <a:off x="4739" y="1327"/>
              <a:ext cx="582" cy="139"/>
              <a:chOff x="614" y="2568"/>
              <a:chExt cx="725" cy="139"/>
            </a:xfrm>
          </p:grpSpPr>
          <p:sp>
            <p:nvSpPr>
              <p:cNvPr id="191" name="AutoShape 112">
                <a:extLst>
                  <a:ext uri="{FF2B5EF4-FFF2-40B4-BE49-F238E27FC236}">
                    <a16:creationId xmlns:a16="http://schemas.microsoft.com/office/drawing/2014/main" id="{207BBBCB-E17B-0743-A1A2-C4D7DD812519}"/>
                  </a:ext>
                </a:extLst>
              </p:cNvPr>
              <p:cNvSpPr>
                <a:spLocks noChangeArrowheads="1"/>
              </p:cNvSpPr>
              <p:nvPr/>
            </p:nvSpPr>
            <p:spPr bwMode="auto">
              <a:xfrm>
                <a:off x="613" y="2568"/>
                <a:ext cx="725"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2" name="AutoShape 113">
                <a:extLst>
                  <a:ext uri="{FF2B5EF4-FFF2-40B4-BE49-F238E27FC236}">
                    <a16:creationId xmlns:a16="http://schemas.microsoft.com/office/drawing/2014/main" id="{28DD6B35-219B-6B45-BF21-71B299ABB40C}"/>
                  </a:ext>
                </a:extLst>
              </p:cNvPr>
              <p:cNvSpPr>
                <a:spLocks noChangeArrowheads="1"/>
              </p:cNvSpPr>
              <p:nvPr/>
            </p:nvSpPr>
            <p:spPr bwMode="auto">
              <a:xfrm>
                <a:off x="627" y="2586"/>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80" name="Rectangle 114">
              <a:extLst>
                <a:ext uri="{FF2B5EF4-FFF2-40B4-BE49-F238E27FC236}">
                  <a16:creationId xmlns:a16="http://schemas.microsoft.com/office/drawing/2014/main" id="{CD269004-8DB5-4549-A4AF-499B61683FB8}"/>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1" name="Freeform 115">
              <a:extLst>
                <a:ext uri="{FF2B5EF4-FFF2-40B4-BE49-F238E27FC236}">
                  <a16:creationId xmlns:a16="http://schemas.microsoft.com/office/drawing/2014/main" id="{8AAFEB73-B442-224B-96A6-63129BA97E1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82" name="Freeform 116">
              <a:extLst>
                <a:ext uri="{FF2B5EF4-FFF2-40B4-BE49-F238E27FC236}">
                  <a16:creationId xmlns:a16="http://schemas.microsoft.com/office/drawing/2014/main" id="{E0880A41-79A8-9248-8678-A4C1ACE4B8B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83" name="Oval 117">
              <a:extLst>
                <a:ext uri="{FF2B5EF4-FFF2-40B4-BE49-F238E27FC236}">
                  <a16:creationId xmlns:a16="http://schemas.microsoft.com/office/drawing/2014/main" id="{11D25FBB-2A67-A949-8638-6A82B88E1AEE}"/>
                </a:ext>
              </a:extLst>
            </p:cNvPr>
            <p:cNvSpPr>
              <a:spLocks noChangeArrowheads="1"/>
            </p:cNvSpPr>
            <p:nvPr/>
          </p:nvSpPr>
          <p:spPr bwMode="auto">
            <a:xfrm>
              <a:off x="5516" y="2613"/>
              <a:ext cx="49"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4" name="Freeform 118">
              <a:extLst>
                <a:ext uri="{FF2B5EF4-FFF2-40B4-BE49-F238E27FC236}">
                  <a16:creationId xmlns:a16="http://schemas.microsoft.com/office/drawing/2014/main" id="{9FEB11C7-9DF6-A746-9A7F-CE68217C13B7}"/>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85" name="AutoShape 119">
              <a:extLst>
                <a:ext uri="{FF2B5EF4-FFF2-40B4-BE49-F238E27FC236}">
                  <a16:creationId xmlns:a16="http://schemas.microsoft.com/office/drawing/2014/main" id="{D279A648-2B84-1346-BF0F-DB65CFB075C7}"/>
                </a:ext>
              </a:extLst>
            </p:cNvPr>
            <p:cNvSpPr>
              <a:spLocks noChangeArrowheads="1"/>
            </p:cNvSpPr>
            <p:nvPr/>
          </p:nvSpPr>
          <p:spPr bwMode="auto">
            <a:xfrm>
              <a:off x="4140" y="2679"/>
              <a:ext cx="1197"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6" name="AutoShape 120">
              <a:extLst>
                <a:ext uri="{FF2B5EF4-FFF2-40B4-BE49-F238E27FC236}">
                  <a16:creationId xmlns:a16="http://schemas.microsoft.com/office/drawing/2014/main" id="{0EDBF10F-D10C-CA46-A0A9-1ACE621AD066}"/>
                </a:ext>
              </a:extLst>
            </p:cNvPr>
            <p:cNvSpPr>
              <a:spLocks noChangeArrowheads="1"/>
            </p:cNvSpPr>
            <p:nvPr/>
          </p:nvSpPr>
          <p:spPr bwMode="auto">
            <a:xfrm>
              <a:off x="4205" y="2710"/>
              <a:ext cx="1071"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7" name="Oval 121">
              <a:extLst>
                <a:ext uri="{FF2B5EF4-FFF2-40B4-BE49-F238E27FC236}">
                  <a16:creationId xmlns:a16="http://schemas.microsoft.com/office/drawing/2014/main" id="{E4E41E31-C9C4-AF4E-A419-E8421CCEF424}"/>
                </a:ext>
              </a:extLst>
            </p:cNvPr>
            <p:cNvSpPr>
              <a:spLocks noChangeArrowheads="1"/>
            </p:cNvSpPr>
            <p:nvPr/>
          </p:nvSpPr>
          <p:spPr bwMode="auto">
            <a:xfrm>
              <a:off x="4309"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8" name="Oval 122">
              <a:extLst>
                <a:ext uri="{FF2B5EF4-FFF2-40B4-BE49-F238E27FC236}">
                  <a16:creationId xmlns:a16="http://schemas.microsoft.com/office/drawing/2014/main" id="{2C59CE5F-437A-C441-8354-6530041056CC}"/>
                </a:ext>
              </a:extLst>
            </p:cNvPr>
            <p:cNvSpPr>
              <a:spLocks noChangeArrowheads="1"/>
            </p:cNvSpPr>
            <p:nvPr/>
          </p:nvSpPr>
          <p:spPr bwMode="auto">
            <a:xfrm>
              <a:off x="4488"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189" name="Oval 123">
              <a:extLst>
                <a:ext uri="{FF2B5EF4-FFF2-40B4-BE49-F238E27FC236}">
                  <a16:creationId xmlns:a16="http://schemas.microsoft.com/office/drawing/2014/main" id="{E077C775-39FA-824B-8701-FA02EBEDC5FF}"/>
                </a:ext>
              </a:extLst>
            </p:cNvPr>
            <p:cNvSpPr>
              <a:spLocks noChangeArrowheads="1"/>
            </p:cNvSpPr>
            <p:nvPr/>
          </p:nvSpPr>
          <p:spPr bwMode="auto">
            <a:xfrm>
              <a:off x="4662"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0" name="Rectangle 124">
              <a:extLst>
                <a:ext uri="{FF2B5EF4-FFF2-40B4-BE49-F238E27FC236}">
                  <a16:creationId xmlns:a16="http://schemas.microsoft.com/office/drawing/2014/main" id="{858DFD8B-E1AF-0646-911F-639730691009}"/>
                </a:ext>
              </a:extLst>
            </p:cNvPr>
            <p:cNvSpPr>
              <a:spLocks noChangeArrowheads="1"/>
            </p:cNvSpPr>
            <p:nvPr/>
          </p:nvSpPr>
          <p:spPr bwMode="auto">
            <a:xfrm>
              <a:off x="5065" y="1836"/>
              <a:ext cx="82"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Tree>
    <p:extLst>
      <p:ext uri="{BB962C8B-B14F-4D97-AF65-F5344CB8AC3E}">
        <p14:creationId xmlns:p14="http://schemas.microsoft.com/office/powerpoint/2010/main" val="244110036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031578" y="355506"/>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Agreeing to Establish a Connection</a:t>
            </a:r>
            <a:endParaRPr lang="en-US" sz="3300" dirty="0">
              <a:latin typeface="Avenir Book" panose="020B0503020203020204" pitchFamily="34" charset="-78"/>
              <a:cs typeface="Avenir Book" panose="020B0503020203020204" pitchFamily="34" charset="-78"/>
            </a:endParaRPr>
          </a:p>
        </p:txBody>
      </p:sp>
      <p:sp>
        <p:nvSpPr>
          <p:cNvPr id="211" name="Rectangle 63">
            <a:extLst>
              <a:ext uri="{FF2B5EF4-FFF2-40B4-BE49-F238E27FC236}">
                <a16:creationId xmlns:a16="http://schemas.microsoft.com/office/drawing/2014/main" id="{1C578050-76D7-774F-8B1E-4F455216E94E}"/>
              </a:ext>
            </a:extLst>
          </p:cNvPr>
          <p:cNvSpPr txBox="1">
            <a:spLocks noChangeArrowheads="1"/>
          </p:cNvSpPr>
          <p:nvPr/>
        </p:nvSpPr>
        <p:spPr bwMode="auto">
          <a:xfrm>
            <a:off x="5308347" y="1672169"/>
            <a:ext cx="6449544" cy="31964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buNone/>
              <a:defRPr/>
            </a:pPr>
            <a:r>
              <a:rPr lang="en-US" altLang="en-US" sz="24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Will 2-way handshake always work in network?</a:t>
            </a:r>
          </a:p>
          <a:p>
            <a:pPr marL="259556" indent="-209550" defTabSz="685800">
              <a:lnSpc>
                <a:spcPct val="90000"/>
              </a:lnSpc>
              <a:defRPr/>
            </a:pPr>
            <a:r>
              <a:rPr lang="en-US" altLang="en-US" sz="21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Variable delays</a:t>
            </a:r>
          </a:p>
          <a:p>
            <a:pPr marL="259556" indent="-209550" defTabSz="685800">
              <a:lnSpc>
                <a:spcPct val="90000"/>
              </a:lnSpc>
              <a:defRPr/>
            </a:pPr>
            <a:r>
              <a:rPr lang="en-US" altLang="en-US" sz="21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Retransmitted messages (e.g. </a:t>
            </a:r>
            <a:r>
              <a:rPr lang="en-US" altLang="en-US" sz="2100" kern="0" dirty="0" err="1">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req_conn</a:t>
            </a:r>
            <a:r>
              <a:rPr lang="en-US" altLang="en-US" sz="21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(x)) due to message loss</a:t>
            </a:r>
          </a:p>
          <a:p>
            <a:pPr marL="259556" indent="-209550" defTabSz="685800">
              <a:lnSpc>
                <a:spcPct val="90000"/>
              </a:lnSpc>
              <a:defRPr/>
            </a:pPr>
            <a:r>
              <a:rPr lang="en-US" altLang="en-US" sz="21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Message reordering</a:t>
            </a:r>
          </a:p>
        </p:txBody>
      </p:sp>
      <p:pic>
        <p:nvPicPr>
          <p:cNvPr id="212" name="Picture 62" descr="Alice">
            <a:extLst>
              <a:ext uri="{FF2B5EF4-FFF2-40B4-BE49-F238E27FC236}">
                <a16:creationId xmlns:a16="http://schemas.microsoft.com/office/drawing/2014/main" id="{15DE982A-54F5-BC41-BC95-48D876587A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2044" y="1709737"/>
            <a:ext cx="514080" cy="511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3" name="Picture 63" descr="Bob">
            <a:extLst>
              <a:ext uri="{FF2B5EF4-FFF2-40B4-BE49-F238E27FC236}">
                <a16:creationId xmlns:a16="http://schemas.microsoft.com/office/drawing/2014/main" id="{178ED826-4BC2-684F-9F28-0736092503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9465" y="1738218"/>
            <a:ext cx="629747" cy="517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 name="Text Box 49">
            <a:extLst>
              <a:ext uri="{FF2B5EF4-FFF2-40B4-BE49-F238E27FC236}">
                <a16:creationId xmlns:a16="http://schemas.microsoft.com/office/drawing/2014/main" id="{F0A75C95-49D9-D049-B8FA-C8954515AFD3}"/>
              </a:ext>
            </a:extLst>
          </p:cNvPr>
          <p:cNvSpPr txBox="1">
            <a:spLocks noChangeArrowheads="1"/>
          </p:cNvSpPr>
          <p:nvPr/>
        </p:nvSpPr>
        <p:spPr bwMode="auto">
          <a:xfrm>
            <a:off x="1854344" y="1220306"/>
            <a:ext cx="263565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2400" kern="0" dirty="0">
                <a:solidFill>
                  <a:srgbClr val="000000"/>
                </a:solidFill>
                <a:latin typeface="Avenir Book" panose="020B0503020203020204" pitchFamily="34" charset="-78"/>
                <a:cs typeface="Avenir Book" panose="020B0503020203020204" pitchFamily="34" charset="-78"/>
              </a:rPr>
              <a:t>2-way handshake:</a:t>
            </a:r>
          </a:p>
        </p:txBody>
      </p:sp>
      <p:sp>
        <p:nvSpPr>
          <p:cNvPr id="215" name="Line 50">
            <a:extLst>
              <a:ext uri="{FF2B5EF4-FFF2-40B4-BE49-F238E27FC236}">
                <a16:creationId xmlns:a16="http://schemas.microsoft.com/office/drawing/2014/main" id="{2B6C64FC-1BFF-2745-8864-00793CCCA3F1}"/>
              </a:ext>
            </a:extLst>
          </p:cNvPr>
          <p:cNvSpPr>
            <a:spLocks noChangeShapeType="1"/>
          </p:cNvSpPr>
          <p:nvPr/>
        </p:nvSpPr>
        <p:spPr bwMode="auto">
          <a:xfrm>
            <a:off x="2185312" y="2306551"/>
            <a:ext cx="1497257" cy="25762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6" name="Line 51">
            <a:extLst>
              <a:ext uri="{FF2B5EF4-FFF2-40B4-BE49-F238E27FC236}">
                <a16:creationId xmlns:a16="http://schemas.microsoft.com/office/drawing/2014/main" id="{662E0AA8-2544-0243-A461-A97BB5D9F891}"/>
              </a:ext>
            </a:extLst>
          </p:cNvPr>
          <p:cNvSpPr>
            <a:spLocks noChangeShapeType="1"/>
          </p:cNvSpPr>
          <p:nvPr/>
        </p:nvSpPr>
        <p:spPr bwMode="auto">
          <a:xfrm>
            <a:off x="2140329" y="2239232"/>
            <a:ext cx="0" cy="89328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7" name="Line 53">
            <a:extLst>
              <a:ext uri="{FF2B5EF4-FFF2-40B4-BE49-F238E27FC236}">
                <a16:creationId xmlns:a16="http://schemas.microsoft.com/office/drawing/2014/main" id="{61703F8D-DE60-7647-AB88-B625C4E037AF}"/>
              </a:ext>
            </a:extLst>
          </p:cNvPr>
          <p:cNvSpPr>
            <a:spLocks noChangeShapeType="1"/>
          </p:cNvSpPr>
          <p:nvPr/>
        </p:nvSpPr>
        <p:spPr bwMode="auto">
          <a:xfrm>
            <a:off x="3688994" y="2261240"/>
            <a:ext cx="0" cy="89328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8" name="Line 54">
            <a:extLst>
              <a:ext uri="{FF2B5EF4-FFF2-40B4-BE49-F238E27FC236}">
                <a16:creationId xmlns:a16="http://schemas.microsoft.com/office/drawing/2014/main" id="{DE642691-1B6A-B64E-88A0-E9C02593B397}"/>
              </a:ext>
            </a:extLst>
          </p:cNvPr>
          <p:cNvSpPr>
            <a:spLocks noChangeShapeType="1"/>
          </p:cNvSpPr>
          <p:nvPr/>
        </p:nvSpPr>
        <p:spPr bwMode="auto">
          <a:xfrm flipH="1">
            <a:off x="2137117" y="2630204"/>
            <a:ext cx="1497257" cy="25762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9" name="Rectangle 56">
            <a:extLst>
              <a:ext uri="{FF2B5EF4-FFF2-40B4-BE49-F238E27FC236}">
                <a16:creationId xmlns:a16="http://schemas.microsoft.com/office/drawing/2014/main" id="{AB601B94-B2EC-5F44-8BA3-961BC7EAD4D6}"/>
              </a:ext>
            </a:extLst>
          </p:cNvPr>
          <p:cNvSpPr>
            <a:spLocks noChangeArrowheads="1"/>
          </p:cNvSpPr>
          <p:nvPr/>
        </p:nvSpPr>
        <p:spPr bwMode="auto">
          <a:xfrm>
            <a:off x="2426287" y="2294900"/>
            <a:ext cx="901247" cy="26669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0" name="Text Box 55">
            <a:extLst>
              <a:ext uri="{FF2B5EF4-FFF2-40B4-BE49-F238E27FC236}">
                <a16:creationId xmlns:a16="http://schemas.microsoft.com/office/drawing/2014/main" id="{51E91065-A73A-7D43-92CF-648D7E78E17F}"/>
              </a:ext>
            </a:extLst>
          </p:cNvPr>
          <p:cNvSpPr txBox="1">
            <a:spLocks noChangeArrowheads="1"/>
          </p:cNvSpPr>
          <p:nvPr/>
        </p:nvSpPr>
        <p:spPr bwMode="auto">
          <a:xfrm>
            <a:off x="2418315" y="2276777"/>
            <a:ext cx="939681" cy="32316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500" kern="0" dirty="0">
                <a:solidFill>
                  <a:srgbClr val="000000"/>
                </a:solidFill>
                <a:latin typeface="Avenir Book" panose="020B0503020203020204" pitchFamily="34" charset="-78"/>
                <a:cs typeface="Avenir Book" panose="020B0503020203020204" pitchFamily="34" charset="-78"/>
              </a:rPr>
              <a:t>Let’</a:t>
            </a:r>
            <a:r>
              <a:rPr lang="en-US" altLang="ja-JP" sz="1500" kern="0" dirty="0">
                <a:solidFill>
                  <a:srgbClr val="000000"/>
                </a:solidFill>
                <a:latin typeface="Avenir Book" panose="020B0503020203020204" pitchFamily="34" charset="-78"/>
                <a:cs typeface="Avenir Book" panose="020B0503020203020204" pitchFamily="34" charset="-78"/>
              </a:rPr>
              <a:t>s talk</a:t>
            </a:r>
            <a:endParaRPr lang="en-US" altLang="en-US" sz="1500" kern="0" dirty="0">
              <a:solidFill>
                <a:srgbClr val="000000"/>
              </a:solidFill>
              <a:latin typeface="Avenir Book" panose="020B0503020203020204" pitchFamily="34" charset="-78"/>
              <a:cs typeface="Avenir Book" panose="020B0503020203020204" pitchFamily="34" charset="-78"/>
            </a:endParaRPr>
          </a:p>
        </p:txBody>
      </p:sp>
      <p:sp>
        <p:nvSpPr>
          <p:cNvPr id="221" name="Rectangle 57">
            <a:extLst>
              <a:ext uri="{FF2B5EF4-FFF2-40B4-BE49-F238E27FC236}">
                <a16:creationId xmlns:a16="http://schemas.microsoft.com/office/drawing/2014/main" id="{2004BA2B-FE8D-D147-B254-220BD421C2B5}"/>
              </a:ext>
            </a:extLst>
          </p:cNvPr>
          <p:cNvSpPr>
            <a:spLocks noChangeArrowheads="1"/>
          </p:cNvSpPr>
          <p:nvPr/>
        </p:nvSpPr>
        <p:spPr bwMode="auto">
          <a:xfrm>
            <a:off x="2686540" y="2640560"/>
            <a:ext cx="445001" cy="26669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2" name="Text Box 58">
            <a:extLst>
              <a:ext uri="{FF2B5EF4-FFF2-40B4-BE49-F238E27FC236}">
                <a16:creationId xmlns:a16="http://schemas.microsoft.com/office/drawing/2014/main" id="{45CBCA7D-6EF9-B544-8A1D-83FC7ADA336D}"/>
              </a:ext>
            </a:extLst>
          </p:cNvPr>
          <p:cNvSpPr txBox="1">
            <a:spLocks noChangeArrowheads="1"/>
          </p:cNvSpPr>
          <p:nvPr/>
        </p:nvSpPr>
        <p:spPr bwMode="auto">
          <a:xfrm>
            <a:off x="2663594" y="2622437"/>
            <a:ext cx="466794" cy="32316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a:solidFill>
                  <a:srgbClr val="000000"/>
                </a:solidFill>
                <a:latin typeface="Avenir Book" panose="020B0503020203020204" pitchFamily="34" charset="-78"/>
                <a:cs typeface="Avenir Book" panose="020B0503020203020204" pitchFamily="34" charset="-78"/>
              </a:rPr>
              <a:t>OK</a:t>
            </a:r>
          </a:p>
        </p:txBody>
      </p:sp>
      <p:sp>
        <p:nvSpPr>
          <p:cNvPr id="223" name="Text Box 60">
            <a:extLst>
              <a:ext uri="{FF2B5EF4-FFF2-40B4-BE49-F238E27FC236}">
                <a16:creationId xmlns:a16="http://schemas.microsoft.com/office/drawing/2014/main" id="{9105DBEA-03C4-1045-B9A8-39AA7B1F3CAB}"/>
              </a:ext>
            </a:extLst>
          </p:cNvPr>
          <p:cNvSpPr txBox="1">
            <a:spLocks noChangeArrowheads="1"/>
          </p:cNvSpPr>
          <p:nvPr/>
        </p:nvSpPr>
        <p:spPr bwMode="auto">
          <a:xfrm>
            <a:off x="3699313" y="2486504"/>
            <a:ext cx="769763"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a:solidFill>
                  <a:srgbClr val="CC0000"/>
                </a:solidFill>
                <a:latin typeface="Avenir Book" panose="020B0503020203020204" pitchFamily="34" charset="-78"/>
                <a:cs typeface="Avenir Book" panose="020B0503020203020204" pitchFamily="34" charset="-78"/>
              </a:rPr>
              <a:t>ESTAB</a:t>
            </a:r>
          </a:p>
        </p:txBody>
      </p:sp>
      <p:sp>
        <p:nvSpPr>
          <p:cNvPr id="224" name="Text Box 61">
            <a:extLst>
              <a:ext uri="{FF2B5EF4-FFF2-40B4-BE49-F238E27FC236}">
                <a16:creationId xmlns:a16="http://schemas.microsoft.com/office/drawing/2014/main" id="{D3DDB3E1-DD0C-7242-BD98-892C99B0A0FC}"/>
              </a:ext>
            </a:extLst>
          </p:cNvPr>
          <p:cNvSpPr txBox="1">
            <a:spLocks noChangeArrowheads="1"/>
          </p:cNvSpPr>
          <p:nvPr/>
        </p:nvSpPr>
        <p:spPr bwMode="auto">
          <a:xfrm>
            <a:off x="1278318" y="2758372"/>
            <a:ext cx="769763"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a:solidFill>
                  <a:srgbClr val="CC0000"/>
                </a:solidFill>
                <a:latin typeface="Avenir Book" panose="020B0503020203020204" pitchFamily="34" charset="-78"/>
                <a:cs typeface="Avenir Book" panose="020B0503020203020204" pitchFamily="34" charset="-78"/>
              </a:rPr>
              <a:t>ESTAB</a:t>
            </a:r>
          </a:p>
        </p:txBody>
      </p:sp>
      <p:sp>
        <p:nvSpPr>
          <p:cNvPr id="225" name="Oval 66">
            <a:extLst>
              <a:ext uri="{FF2B5EF4-FFF2-40B4-BE49-F238E27FC236}">
                <a16:creationId xmlns:a16="http://schemas.microsoft.com/office/drawing/2014/main" id="{7A085CF1-13C2-7E45-BD13-7FBE5EC96389}"/>
              </a:ext>
            </a:extLst>
          </p:cNvPr>
          <p:cNvSpPr>
            <a:spLocks noChangeArrowheads="1"/>
          </p:cNvSpPr>
          <p:nvPr/>
        </p:nvSpPr>
        <p:spPr bwMode="auto">
          <a:xfrm>
            <a:off x="2093741" y="2854172"/>
            <a:ext cx="91570" cy="72498"/>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226" name="Oval 67">
            <a:extLst>
              <a:ext uri="{FF2B5EF4-FFF2-40B4-BE49-F238E27FC236}">
                <a16:creationId xmlns:a16="http://schemas.microsoft.com/office/drawing/2014/main" id="{5F8DFD39-4C67-544E-BDB6-995B73F0032B}"/>
              </a:ext>
            </a:extLst>
          </p:cNvPr>
          <p:cNvSpPr>
            <a:spLocks noChangeArrowheads="1"/>
          </p:cNvSpPr>
          <p:nvPr/>
        </p:nvSpPr>
        <p:spPr bwMode="auto">
          <a:xfrm>
            <a:off x="3640801" y="2574536"/>
            <a:ext cx="91571" cy="72498"/>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227" name="Text Box 72">
            <a:extLst>
              <a:ext uri="{FF2B5EF4-FFF2-40B4-BE49-F238E27FC236}">
                <a16:creationId xmlns:a16="http://schemas.microsoft.com/office/drawing/2014/main" id="{DB384BF1-67A8-D941-979F-3D776AAC77D8}"/>
              </a:ext>
            </a:extLst>
          </p:cNvPr>
          <p:cNvSpPr txBox="1">
            <a:spLocks noChangeArrowheads="1"/>
          </p:cNvSpPr>
          <p:nvPr/>
        </p:nvSpPr>
        <p:spPr bwMode="auto">
          <a:xfrm>
            <a:off x="1131522" y="3901511"/>
            <a:ext cx="947760" cy="5539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500" kern="0">
                <a:solidFill>
                  <a:srgbClr val="000000"/>
                </a:solidFill>
                <a:latin typeface="Avenir Book" panose="020B0503020203020204" pitchFamily="34" charset="-78"/>
                <a:cs typeface="Avenir Book" panose="020B0503020203020204" pitchFamily="34" charset="-78"/>
              </a:rPr>
              <a:t>choose x</a:t>
            </a:r>
          </a:p>
          <a:p>
            <a:pPr algn="r" defTabSz="685800" eaLnBrk="0" fontAlgn="base" hangingPunct="0">
              <a:spcBef>
                <a:spcPct val="0"/>
              </a:spcBef>
              <a:spcAft>
                <a:spcPct val="0"/>
              </a:spcAft>
              <a:defRPr/>
            </a:pPr>
            <a:endParaRPr lang="en-US" sz="1500" kern="0">
              <a:solidFill>
                <a:srgbClr val="000000"/>
              </a:solidFill>
              <a:latin typeface="Avenir Book" panose="020B0503020203020204" pitchFamily="34" charset="-78"/>
              <a:cs typeface="Avenir Book" panose="020B0503020203020204" pitchFamily="34" charset="-78"/>
            </a:endParaRPr>
          </a:p>
        </p:txBody>
      </p:sp>
      <p:sp>
        <p:nvSpPr>
          <p:cNvPr id="228" name="Line 73">
            <a:extLst>
              <a:ext uri="{FF2B5EF4-FFF2-40B4-BE49-F238E27FC236}">
                <a16:creationId xmlns:a16="http://schemas.microsoft.com/office/drawing/2014/main" id="{F4A5217C-A64A-BC43-8BDA-A9CC2AE187E7}"/>
              </a:ext>
            </a:extLst>
          </p:cNvPr>
          <p:cNvSpPr>
            <a:spLocks noChangeShapeType="1"/>
          </p:cNvSpPr>
          <p:nvPr/>
        </p:nvSpPr>
        <p:spPr bwMode="auto">
          <a:xfrm>
            <a:off x="2214229" y="4042626"/>
            <a:ext cx="1497257" cy="257627"/>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9" name="Line 74">
            <a:extLst>
              <a:ext uri="{FF2B5EF4-FFF2-40B4-BE49-F238E27FC236}">
                <a16:creationId xmlns:a16="http://schemas.microsoft.com/office/drawing/2014/main" id="{5DF0EBDC-C356-0F40-8E4B-0D4CDB884913}"/>
              </a:ext>
            </a:extLst>
          </p:cNvPr>
          <p:cNvSpPr>
            <a:spLocks noChangeShapeType="1"/>
          </p:cNvSpPr>
          <p:nvPr/>
        </p:nvSpPr>
        <p:spPr bwMode="auto">
          <a:xfrm>
            <a:off x="2169246" y="3975305"/>
            <a:ext cx="0" cy="89328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0" name="Line 75">
            <a:extLst>
              <a:ext uri="{FF2B5EF4-FFF2-40B4-BE49-F238E27FC236}">
                <a16:creationId xmlns:a16="http://schemas.microsoft.com/office/drawing/2014/main" id="{06DA6EB7-8FDC-114C-A158-24F848F8929E}"/>
              </a:ext>
            </a:extLst>
          </p:cNvPr>
          <p:cNvSpPr>
            <a:spLocks noChangeShapeType="1"/>
          </p:cNvSpPr>
          <p:nvPr/>
        </p:nvSpPr>
        <p:spPr bwMode="auto">
          <a:xfrm>
            <a:off x="3717911" y="3997313"/>
            <a:ext cx="0" cy="89328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1" name="Line 76">
            <a:extLst>
              <a:ext uri="{FF2B5EF4-FFF2-40B4-BE49-F238E27FC236}">
                <a16:creationId xmlns:a16="http://schemas.microsoft.com/office/drawing/2014/main" id="{6E751C46-6DAD-2049-8052-C6ECA9B99101}"/>
              </a:ext>
            </a:extLst>
          </p:cNvPr>
          <p:cNvSpPr>
            <a:spLocks noChangeShapeType="1"/>
          </p:cNvSpPr>
          <p:nvPr/>
        </p:nvSpPr>
        <p:spPr bwMode="auto">
          <a:xfrm flipH="1">
            <a:off x="2166034" y="4366279"/>
            <a:ext cx="1497257" cy="257627"/>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5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2" name="Rectangle 77">
            <a:extLst>
              <a:ext uri="{FF2B5EF4-FFF2-40B4-BE49-F238E27FC236}">
                <a16:creationId xmlns:a16="http://schemas.microsoft.com/office/drawing/2014/main" id="{05CA4AE2-2F93-D544-A582-D6138CBE65B1}"/>
              </a:ext>
            </a:extLst>
          </p:cNvPr>
          <p:cNvSpPr>
            <a:spLocks noChangeArrowheads="1"/>
          </p:cNvSpPr>
          <p:nvPr/>
        </p:nvSpPr>
        <p:spPr bwMode="auto">
          <a:xfrm>
            <a:off x="2535528" y="4030973"/>
            <a:ext cx="787184" cy="26669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3" name="Text Box 78">
            <a:extLst>
              <a:ext uri="{FF2B5EF4-FFF2-40B4-BE49-F238E27FC236}">
                <a16:creationId xmlns:a16="http://schemas.microsoft.com/office/drawing/2014/main" id="{DF22492C-21D4-FC46-996B-E22F99143FEC}"/>
              </a:ext>
            </a:extLst>
          </p:cNvPr>
          <p:cNvSpPr txBox="1">
            <a:spLocks noChangeArrowheads="1"/>
          </p:cNvSpPr>
          <p:nvPr/>
        </p:nvSpPr>
        <p:spPr bwMode="auto">
          <a:xfrm>
            <a:off x="2355125" y="4003787"/>
            <a:ext cx="1183337" cy="3231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a:solidFill>
                  <a:srgbClr val="000000"/>
                </a:solidFill>
                <a:latin typeface="Avenir Book" panose="020B0503020203020204" pitchFamily="34" charset="-78"/>
                <a:cs typeface="Avenir Book" panose="020B0503020203020204" pitchFamily="34" charset="-78"/>
              </a:rPr>
              <a:t>req_conn(x)</a:t>
            </a:r>
          </a:p>
        </p:txBody>
      </p:sp>
      <p:sp>
        <p:nvSpPr>
          <p:cNvPr id="234" name="Rectangle 79">
            <a:extLst>
              <a:ext uri="{FF2B5EF4-FFF2-40B4-BE49-F238E27FC236}">
                <a16:creationId xmlns:a16="http://schemas.microsoft.com/office/drawing/2014/main" id="{EB35072C-E8DC-1D43-88F2-D6CC06A96B2B}"/>
              </a:ext>
            </a:extLst>
          </p:cNvPr>
          <p:cNvSpPr>
            <a:spLocks noChangeArrowheads="1"/>
          </p:cNvSpPr>
          <p:nvPr/>
        </p:nvSpPr>
        <p:spPr bwMode="auto">
          <a:xfrm>
            <a:off x="2715457" y="4376634"/>
            <a:ext cx="445001" cy="26669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5" name="Text Box 81">
            <a:extLst>
              <a:ext uri="{FF2B5EF4-FFF2-40B4-BE49-F238E27FC236}">
                <a16:creationId xmlns:a16="http://schemas.microsoft.com/office/drawing/2014/main" id="{41E79C30-5AC2-7B42-AF35-87394C87DCF6}"/>
              </a:ext>
            </a:extLst>
          </p:cNvPr>
          <p:cNvSpPr txBox="1">
            <a:spLocks noChangeArrowheads="1"/>
          </p:cNvSpPr>
          <p:nvPr/>
        </p:nvSpPr>
        <p:spPr bwMode="auto">
          <a:xfrm>
            <a:off x="3728229" y="4222577"/>
            <a:ext cx="769763"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a:solidFill>
                  <a:srgbClr val="CC0000"/>
                </a:solidFill>
                <a:latin typeface="Avenir Book" panose="020B0503020203020204" pitchFamily="34" charset="-78"/>
                <a:cs typeface="Avenir Book" panose="020B0503020203020204" pitchFamily="34" charset="-78"/>
              </a:rPr>
              <a:t>ESTAB</a:t>
            </a:r>
          </a:p>
        </p:txBody>
      </p:sp>
      <p:sp>
        <p:nvSpPr>
          <p:cNvPr id="236" name="Text Box 82">
            <a:extLst>
              <a:ext uri="{FF2B5EF4-FFF2-40B4-BE49-F238E27FC236}">
                <a16:creationId xmlns:a16="http://schemas.microsoft.com/office/drawing/2014/main" id="{15937B6C-DE9E-BB41-AF3C-AFA9046B2368}"/>
              </a:ext>
            </a:extLst>
          </p:cNvPr>
          <p:cNvSpPr txBox="1">
            <a:spLocks noChangeArrowheads="1"/>
          </p:cNvSpPr>
          <p:nvPr/>
        </p:nvSpPr>
        <p:spPr bwMode="auto">
          <a:xfrm>
            <a:off x="1307236" y="4494445"/>
            <a:ext cx="769763"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a:solidFill>
                  <a:srgbClr val="CC0000"/>
                </a:solidFill>
                <a:latin typeface="Avenir Book" panose="020B0503020203020204" pitchFamily="34" charset="-78"/>
                <a:cs typeface="Avenir Book" panose="020B0503020203020204" pitchFamily="34" charset="-78"/>
              </a:rPr>
              <a:t>ESTAB</a:t>
            </a:r>
          </a:p>
        </p:txBody>
      </p:sp>
      <p:sp>
        <p:nvSpPr>
          <p:cNvPr id="237" name="Oval 83">
            <a:extLst>
              <a:ext uri="{FF2B5EF4-FFF2-40B4-BE49-F238E27FC236}">
                <a16:creationId xmlns:a16="http://schemas.microsoft.com/office/drawing/2014/main" id="{60CAB79E-F562-A147-B2B6-BCD35B4CE79B}"/>
              </a:ext>
            </a:extLst>
          </p:cNvPr>
          <p:cNvSpPr>
            <a:spLocks noChangeArrowheads="1"/>
          </p:cNvSpPr>
          <p:nvPr/>
        </p:nvSpPr>
        <p:spPr bwMode="auto">
          <a:xfrm>
            <a:off x="2122658" y="4590245"/>
            <a:ext cx="91570" cy="72498"/>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238" name="Oval 84">
            <a:extLst>
              <a:ext uri="{FF2B5EF4-FFF2-40B4-BE49-F238E27FC236}">
                <a16:creationId xmlns:a16="http://schemas.microsoft.com/office/drawing/2014/main" id="{AB867DAA-A20D-7E4E-8866-E4B15C4B0299}"/>
              </a:ext>
            </a:extLst>
          </p:cNvPr>
          <p:cNvSpPr>
            <a:spLocks noChangeArrowheads="1"/>
          </p:cNvSpPr>
          <p:nvPr/>
        </p:nvSpPr>
        <p:spPr bwMode="auto">
          <a:xfrm>
            <a:off x="3669718" y="4310609"/>
            <a:ext cx="91571" cy="72498"/>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239" name="Rectangle 86">
            <a:extLst>
              <a:ext uri="{FF2B5EF4-FFF2-40B4-BE49-F238E27FC236}">
                <a16:creationId xmlns:a16="http://schemas.microsoft.com/office/drawing/2014/main" id="{0E9D55EE-8F12-D242-B60A-BF7C0AE861A3}"/>
              </a:ext>
            </a:extLst>
          </p:cNvPr>
          <p:cNvSpPr>
            <a:spLocks noChangeArrowheads="1"/>
          </p:cNvSpPr>
          <p:nvPr/>
        </p:nvSpPr>
        <p:spPr bwMode="auto">
          <a:xfrm>
            <a:off x="2413434" y="4381813"/>
            <a:ext cx="1084388" cy="21231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0" name="Text Box 85">
            <a:extLst>
              <a:ext uri="{FF2B5EF4-FFF2-40B4-BE49-F238E27FC236}">
                <a16:creationId xmlns:a16="http://schemas.microsoft.com/office/drawing/2014/main" id="{98A973F5-A6AE-4941-BAAF-D9632C720884}"/>
              </a:ext>
            </a:extLst>
          </p:cNvPr>
          <p:cNvSpPr txBox="1">
            <a:spLocks noChangeArrowheads="1"/>
          </p:cNvSpPr>
          <p:nvPr/>
        </p:nvSpPr>
        <p:spPr bwMode="auto">
          <a:xfrm>
            <a:off x="2351105" y="4350743"/>
            <a:ext cx="1180131" cy="3231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a:solidFill>
                  <a:srgbClr val="000000"/>
                </a:solidFill>
                <a:latin typeface="Avenir Book" panose="020B0503020203020204" pitchFamily="34" charset="-78"/>
                <a:cs typeface="Avenir Book" panose="020B0503020203020204" pitchFamily="34" charset="-78"/>
              </a:rPr>
              <a:t>acc_conn(x)</a:t>
            </a:r>
          </a:p>
        </p:txBody>
      </p:sp>
      <p:grpSp>
        <p:nvGrpSpPr>
          <p:cNvPr id="241" name="Group 92">
            <a:extLst>
              <a:ext uri="{FF2B5EF4-FFF2-40B4-BE49-F238E27FC236}">
                <a16:creationId xmlns:a16="http://schemas.microsoft.com/office/drawing/2014/main" id="{A1DEBE31-8A7C-FA42-BF21-534E9F956FD1}"/>
              </a:ext>
            </a:extLst>
          </p:cNvPr>
          <p:cNvGrpSpPr>
            <a:grpSpLocks/>
          </p:cNvGrpSpPr>
          <p:nvPr/>
        </p:nvGrpSpPr>
        <p:grpSpPr bwMode="auto">
          <a:xfrm>
            <a:off x="1799751" y="3540316"/>
            <a:ext cx="581552" cy="424632"/>
            <a:chOff x="-44" y="1473"/>
            <a:chExt cx="981" cy="1105"/>
          </a:xfrm>
        </p:grpSpPr>
        <p:pic>
          <p:nvPicPr>
            <p:cNvPr id="242" name="Picture 93" descr="desktop_computer_stylized_medium">
              <a:extLst>
                <a:ext uri="{FF2B5EF4-FFF2-40B4-BE49-F238E27FC236}">
                  <a16:creationId xmlns:a16="http://schemas.microsoft.com/office/drawing/2014/main" id="{D4855CC7-B0C0-0C40-99B3-064E94398C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 name="Freeform 94">
              <a:extLst>
                <a:ext uri="{FF2B5EF4-FFF2-40B4-BE49-F238E27FC236}">
                  <a16:creationId xmlns:a16="http://schemas.microsoft.com/office/drawing/2014/main" id="{E45A3676-D1D0-F747-9A77-79DCC58FFC6C}"/>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244" name="Group 95">
            <a:extLst>
              <a:ext uri="{FF2B5EF4-FFF2-40B4-BE49-F238E27FC236}">
                <a16:creationId xmlns:a16="http://schemas.microsoft.com/office/drawing/2014/main" id="{30DE6A89-1D8F-B54B-9DDE-549AD2FC2274}"/>
              </a:ext>
            </a:extLst>
          </p:cNvPr>
          <p:cNvGrpSpPr>
            <a:grpSpLocks/>
          </p:cNvGrpSpPr>
          <p:nvPr/>
        </p:nvGrpSpPr>
        <p:grpSpPr bwMode="auto">
          <a:xfrm>
            <a:off x="3582966" y="3524782"/>
            <a:ext cx="239063" cy="418159"/>
            <a:chOff x="4140" y="429"/>
            <a:chExt cx="1425" cy="2396"/>
          </a:xfrm>
        </p:grpSpPr>
        <p:sp>
          <p:nvSpPr>
            <p:cNvPr id="245" name="Freeform 96">
              <a:extLst>
                <a:ext uri="{FF2B5EF4-FFF2-40B4-BE49-F238E27FC236}">
                  <a16:creationId xmlns:a16="http://schemas.microsoft.com/office/drawing/2014/main" id="{B71F5390-5611-A549-8A76-3052ABA7D19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46" name="Rectangle 97">
              <a:extLst>
                <a:ext uri="{FF2B5EF4-FFF2-40B4-BE49-F238E27FC236}">
                  <a16:creationId xmlns:a16="http://schemas.microsoft.com/office/drawing/2014/main" id="{A1B57D5C-B8BE-CC48-A959-8D0CB8D18EA1}"/>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7" name="Freeform 98">
              <a:extLst>
                <a:ext uri="{FF2B5EF4-FFF2-40B4-BE49-F238E27FC236}">
                  <a16:creationId xmlns:a16="http://schemas.microsoft.com/office/drawing/2014/main" id="{F022A685-2E50-194F-BC85-D97F7CAFFCF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48" name="Freeform 99">
              <a:extLst>
                <a:ext uri="{FF2B5EF4-FFF2-40B4-BE49-F238E27FC236}">
                  <a16:creationId xmlns:a16="http://schemas.microsoft.com/office/drawing/2014/main" id="{67381A9D-9DB7-0A4E-B993-95AAAF4CCB9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49" name="Rectangle 100">
              <a:extLst>
                <a:ext uri="{FF2B5EF4-FFF2-40B4-BE49-F238E27FC236}">
                  <a16:creationId xmlns:a16="http://schemas.microsoft.com/office/drawing/2014/main" id="{B178CA92-6419-B94D-82C2-001A4C53E7AC}"/>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50" name="Group 101">
              <a:extLst>
                <a:ext uri="{FF2B5EF4-FFF2-40B4-BE49-F238E27FC236}">
                  <a16:creationId xmlns:a16="http://schemas.microsoft.com/office/drawing/2014/main" id="{2DDA5E0E-93B0-FC4E-AA1E-3A161BEB6179}"/>
                </a:ext>
              </a:extLst>
            </p:cNvPr>
            <p:cNvGrpSpPr>
              <a:grpSpLocks/>
            </p:cNvGrpSpPr>
            <p:nvPr/>
          </p:nvGrpSpPr>
          <p:grpSpPr bwMode="auto">
            <a:xfrm>
              <a:off x="4749" y="668"/>
              <a:ext cx="581" cy="145"/>
              <a:chOff x="614" y="2568"/>
              <a:chExt cx="725" cy="139"/>
            </a:xfrm>
          </p:grpSpPr>
          <p:sp>
            <p:nvSpPr>
              <p:cNvPr id="275" name="AutoShape 102">
                <a:extLst>
                  <a:ext uri="{FF2B5EF4-FFF2-40B4-BE49-F238E27FC236}">
                    <a16:creationId xmlns:a16="http://schemas.microsoft.com/office/drawing/2014/main" id="{1245BCF6-EEF2-F34C-92E3-2CA1C2C948EF}"/>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6" name="AutoShape 103">
                <a:extLst>
                  <a:ext uri="{FF2B5EF4-FFF2-40B4-BE49-F238E27FC236}">
                    <a16:creationId xmlns:a16="http://schemas.microsoft.com/office/drawing/2014/main" id="{1067DCBA-D400-0642-B68F-AE171164BAE3}"/>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51" name="Rectangle 104">
              <a:extLst>
                <a:ext uri="{FF2B5EF4-FFF2-40B4-BE49-F238E27FC236}">
                  <a16:creationId xmlns:a16="http://schemas.microsoft.com/office/drawing/2014/main" id="{CEE13654-E51E-634B-B3A8-1909C6DC88FB}"/>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52" name="Group 105">
              <a:extLst>
                <a:ext uri="{FF2B5EF4-FFF2-40B4-BE49-F238E27FC236}">
                  <a16:creationId xmlns:a16="http://schemas.microsoft.com/office/drawing/2014/main" id="{3DE4D6D2-40C1-6843-BB18-76EFFF97C7B0}"/>
                </a:ext>
              </a:extLst>
            </p:cNvPr>
            <p:cNvGrpSpPr>
              <a:grpSpLocks/>
            </p:cNvGrpSpPr>
            <p:nvPr/>
          </p:nvGrpSpPr>
          <p:grpSpPr bwMode="auto">
            <a:xfrm>
              <a:off x="4747" y="994"/>
              <a:ext cx="581" cy="134"/>
              <a:chOff x="614" y="2568"/>
              <a:chExt cx="725" cy="139"/>
            </a:xfrm>
          </p:grpSpPr>
          <p:sp>
            <p:nvSpPr>
              <p:cNvPr id="273" name="AutoShape 106">
                <a:extLst>
                  <a:ext uri="{FF2B5EF4-FFF2-40B4-BE49-F238E27FC236}">
                    <a16:creationId xmlns:a16="http://schemas.microsoft.com/office/drawing/2014/main" id="{2685B222-9BE5-0D43-A3B3-6021358AE35E}"/>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4" name="AutoShape 107">
                <a:extLst>
                  <a:ext uri="{FF2B5EF4-FFF2-40B4-BE49-F238E27FC236}">
                    <a16:creationId xmlns:a16="http://schemas.microsoft.com/office/drawing/2014/main" id="{00F72E45-552A-534D-A233-34AE532CCE1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53" name="Rectangle 108">
              <a:extLst>
                <a:ext uri="{FF2B5EF4-FFF2-40B4-BE49-F238E27FC236}">
                  <a16:creationId xmlns:a16="http://schemas.microsoft.com/office/drawing/2014/main" id="{3DF4CAF9-06A6-F849-9FCD-1AEC85C1CF94}"/>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4" name="Rectangle 109">
              <a:extLst>
                <a:ext uri="{FF2B5EF4-FFF2-40B4-BE49-F238E27FC236}">
                  <a16:creationId xmlns:a16="http://schemas.microsoft.com/office/drawing/2014/main" id="{148B444B-183C-764F-B7FB-60CA4703B6DB}"/>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55" name="Group 110">
              <a:extLst>
                <a:ext uri="{FF2B5EF4-FFF2-40B4-BE49-F238E27FC236}">
                  <a16:creationId xmlns:a16="http://schemas.microsoft.com/office/drawing/2014/main" id="{39959419-6C63-ED42-9E1F-394A82CD6225}"/>
                </a:ext>
              </a:extLst>
            </p:cNvPr>
            <p:cNvGrpSpPr>
              <a:grpSpLocks/>
            </p:cNvGrpSpPr>
            <p:nvPr/>
          </p:nvGrpSpPr>
          <p:grpSpPr bwMode="auto">
            <a:xfrm>
              <a:off x="4735" y="1627"/>
              <a:ext cx="582" cy="151"/>
              <a:chOff x="614" y="2568"/>
              <a:chExt cx="725" cy="139"/>
            </a:xfrm>
          </p:grpSpPr>
          <p:sp>
            <p:nvSpPr>
              <p:cNvPr id="271" name="AutoShape 111">
                <a:extLst>
                  <a:ext uri="{FF2B5EF4-FFF2-40B4-BE49-F238E27FC236}">
                    <a16:creationId xmlns:a16="http://schemas.microsoft.com/office/drawing/2014/main" id="{A34CF4FA-FD1C-5145-835F-119FE044DC34}"/>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2" name="AutoShape 112">
                <a:extLst>
                  <a:ext uri="{FF2B5EF4-FFF2-40B4-BE49-F238E27FC236}">
                    <a16:creationId xmlns:a16="http://schemas.microsoft.com/office/drawing/2014/main" id="{59A59735-AA02-0146-A5A5-87EEABC8E28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56" name="Freeform 113">
              <a:extLst>
                <a:ext uri="{FF2B5EF4-FFF2-40B4-BE49-F238E27FC236}">
                  <a16:creationId xmlns:a16="http://schemas.microsoft.com/office/drawing/2014/main" id="{FDFF2545-90A4-DA4C-82D7-3315F0B6C88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257" name="Group 114">
              <a:extLst>
                <a:ext uri="{FF2B5EF4-FFF2-40B4-BE49-F238E27FC236}">
                  <a16:creationId xmlns:a16="http://schemas.microsoft.com/office/drawing/2014/main" id="{05A30CF6-38EC-774A-B2D7-6BC1988EFCEE}"/>
                </a:ext>
              </a:extLst>
            </p:cNvPr>
            <p:cNvGrpSpPr>
              <a:grpSpLocks/>
            </p:cNvGrpSpPr>
            <p:nvPr/>
          </p:nvGrpSpPr>
          <p:grpSpPr bwMode="auto">
            <a:xfrm>
              <a:off x="4739" y="1327"/>
              <a:ext cx="582" cy="139"/>
              <a:chOff x="614" y="2568"/>
              <a:chExt cx="725" cy="139"/>
            </a:xfrm>
          </p:grpSpPr>
          <p:sp>
            <p:nvSpPr>
              <p:cNvPr id="269" name="AutoShape 115">
                <a:extLst>
                  <a:ext uri="{FF2B5EF4-FFF2-40B4-BE49-F238E27FC236}">
                    <a16:creationId xmlns:a16="http://schemas.microsoft.com/office/drawing/2014/main" id="{82E4336A-2972-5248-BA09-8141B5778E54}"/>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0" name="AutoShape 116">
                <a:extLst>
                  <a:ext uri="{FF2B5EF4-FFF2-40B4-BE49-F238E27FC236}">
                    <a16:creationId xmlns:a16="http://schemas.microsoft.com/office/drawing/2014/main" id="{AD1D49DB-E480-5641-AC7E-56E3D66E7135}"/>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58" name="Rectangle 117">
              <a:extLst>
                <a:ext uri="{FF2B5EF4-FFF2-40B4-BE49-F238E27FC236}">
                  <a16:creationId xmlns:a16="http://schemas.microsoft.com/office/drawing/2014/main" id="{0B98AE39-2021-6E44-A2F5-79952D91407E}"/>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9" name="Freeform 118">
              <a:extLst>
                <a:ext uri="{FF2B5EF4-FFF2-40B4-BE49-F238E27FC236}">
                  <a16:creationId xmlns:a16="http://schemas.microsoft.com/office/drawing/2014/main" id="{E786E227-0635-1B4C-B935-93B9B2090B2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0" name="Freeform 119">
              <a:extLst>
                <a:ext uri="{FF2B5EF4-FFF2-40B4-BE49-F238E27FC236}">
                  <a16:creationId xmlns:a16="http://schemas.microsoft.com/office/drawing/2014/main" id="{FB8A87AF-D14D-3042-95ED-47109B79894D}"/>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1" name="Oval 120">
              <a:extLst>
                <a:ext uri="{FF2B5EF4-FFF2-40B4-BE49-F238E27FC236}">
                  <a16:creationId xmlns:a16="http://schemas.microsoft.com/office/drawing/2014/main" id="{2E438A96-E553-D34A-BF0C-432436BD21D5}"/>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2" name="Freeform 121">
              <a:extLst>
                <a:ext uri="{FF2B5EF4-FFF2-40B4-BE49-F238E27FC236}">
                  <a16:creationId xmlns:a16="http://schemas.microsoft.com/office/drawing/2014/main" id="{C7F13FD9-6F22-2742-B6C1-05E03B039F7D}"/>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3" name="AutoShape 122">
              <a:extLst>
                <a:ext uri="{FF2B5EF4-FFF2-40B4-BE49-F238E27FC236}">
                  <a16:creationId xmlns:a16="http://schemas.microsoft.com/office/drawing/2014/main" id="{348EE68C-CA73-834E-B867-CD1C84FAC89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4" name="AutoShape 123">
              <a:extLst>
                <a:ext uri="{FF2B5EF4-FFF2-40B4-BE49-F238E27FC236}">
                  <a16:creationId xmlns:a16="http://schemas.microsoft.com/office/drawing/2014/main" id="{1204051C-8ED9-7648-9B46-C01EFEE9DB1E}"/>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5" name="Oval 124">
              <a:extLst>
                <a:ext uri="{FF2B5EF4-FFF2-40B4-BE49-F238E27FC236}">
                  <a16:creationId xmlns:a16="http://schemas.microsoft.com/office/drawing/2014/main" id="{E60C883F-574D-2748-ABCD-0B7DB3EE98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6" name="Oval 125">
              <a:extLst>
                <a:ext uri="{FF2B5EF4-FFF2-40B4-BE49-F238E27FC236}">
                  <a16:creationId xmlns:a16="http://schemas.microsoft.com/office/drawing/2014/main" id="{FB94FD42-6202-F644-B3BA-267D89970B38}"/>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267" name="Oval 126">
              <a:extLst>
                <a:ext uri="{FF2B5EF4-FFF2-40B4-BE49-F238E27FC236}">
                  <a16:creationId xmlns:a16="http://schemas.microsoft.com/office/drawing/2014/main" id="{FD6A9A5E-7B0B-0C4F-B512-765209079139}"/>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8" name="Rectangle 127">
              <a:extLst>
                <a:ext uri="{FF2B5EF4-FFF2-40B4-BE49-F238E27FC236}">
                  <a16:creationId xmlns:a16="http://schemas.microsoft.com/office/drawing/2014/main" id="{1A503147-D0ED-D94A-8360-5E7F4D3ED8FD}"/>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5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Tree>
    <p:extLst>
      <p:ext uri="{BB962C8B-B14F-4D97-AF65-F5344CB8AC3E}">
        <p14:creationId xmlns:p14="http://schemas.microsoft.com/office/powerpoint/2010/main" val="54852308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dissolve">
                                      <p:cBhvr>
                                        <p:cTn id="7"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188031" y="177023"/>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2-way Handshake Scenarios</a:t>
            </a:r>
          </a:p>
        </p:txBody>
      </p:sp>
      <p:grpSp>
        <p:nvGrpSpPr>
          <p:cNvPr id="423" name="Group 422">
            <a:extLst>
              <a:ext uri="{FF2B5EF4-FFF2-40B4-BE49-F238E27FC236}">
                <a16:creationId xmlns:a16="http://schemas.microsoft.com/office/drawing/2014/main" id="{D692DA0E-1EF2-F448-A9D8-1C3ACE390DD1}"/>
              </a:ext>
            </a:extLst>
          </p:cNvPr>
          <p:cNvGrpSpPr/>
          <p:nvPr/>
        </p:nvGrpSpPr>
        <p:grpSpPr>
          <a:xfrm>
            <a:off x="911471" y="1168083"/>
            <a:ext cx="2955845" cy="2415788"/>
            <a:chOff x="349930" y="1990325"/>
            <a:chExt cx="3941126" cy="3221051"/>
          </a:xfrm>
        </p:grpSpPr>
        <p:sp>
          <p:nvSpPr>
            <p:cNvPr id="424" name="Line 25">
              <a:extLst>
                <a:ext uri="{FF2B5EF4-FFF2-40B4-BE49-F238E27FC236}">
                  <a16:creationId xmlns:a16="http://schemas.microsoft.com/office/drawing/2014/main" id="{91E4D71D-79FA-CA4A-B78E-8C1871D4733B}"/>
                </a:ext>
              </a:extLst>
            </p:cNvPr>
            <p:cNvSpPr>
              <a:spLocks noChangeShapeType="1"/>
            </p:cNvSpPr>
            <p:nvPr/>
          </p:nvSpPr>
          <p:spPr bwMode="auto">
            <a:xfrm flipH="1">
              <a:off x="1461180" y="2545950"/>
              <a:ext cx="1588" cy="2470150"/>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25" name="Line 39">
              <a:extLst>
                <a:ext uri="{FF2B5EF4-FFF2-40B4-BE49-F238E27FC236}">
                  <a16:creationId xmlns:a16="http://schemas.microsoft.com/office/drawing/2014/main" id="{3CE8A2F3-443B-CB42-96FD-D8DF221502CB}"/>
                </a:ext>
              </a:extLst>
            </p:cNvPr>
            <p:cNvSpPr>
              <a:spLocks noChangeShapeType="1"/>
            </p:cNvSpPr>
            <p:nvPr/>
          </p:nvSpPr>
          <p:spPr bwMode="auto">
            <a:xfrm flipH="1">
              <a:off x="2991529" y="2618975"/>
              <a:ext cx="0" cy="2524525"/>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426" name="Group 93">
              <a:extLst>
                <a:ext uri="{FF2B5EF4-FFF2-40B4-BE49-F238E27FC236}">
                  <a16:creationId xmlns:a16="http://schemas.microsoft.com/office/drawing/2014/main" id="{773C4FC2-EAD6-0D4F-85E4-043FD6EDCD22}"/>
                </a:ext>
              </a:extLst>
            </p:cNvPr>
            <p:cNvGrpSpPr>
              <a:grpSpLocks/>
            </p:cNvGrpSpPr>
            <p:nvPr/>
          </p:nvGrpSpPr>
          <p:grpSpPr bwMode="auto">
            <a:xfrm>
              <a:off x="1386567" y="4700200"/>
              <a:ext cx="2405063" cy="511176"/>
              <a:chOff x="1097" y="2807"/>
              <a:chExt cx="1515" cy="322"/>
            </a:xfrm>
          </p:grpSpPr>
          <p:sp>
            <p:nvSpPr>
              <p:cNvPr id="488" name="Line 40">
                <a:extLst>
                  <a:ext uri="{FF2B5EF4-FFF2-40B4-BE49-F238E27FC236}">
                    <a16:creationId xmlns:a16="http://schemas.microsoft.com/office/drawing/2014/main" id="{111704BC-1B6B-2944-9D57-698BFD5CC308}"/>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89" name="Text Box 85">
                <a:extLst>
                  <a:ext uri="{FF2B5EF4-FFF2-40B4-BE49-F238E27FC236}">
                    <a16:creationId xmlns:a16="http://schemas.microsoft.com/office/drawing/2014/main" id="{190D3E08-8ADE-534C-9FC3-5199F6792D9B}"/>
                  </a:ext>
                </a:extLst>
              </p:cNvPr>
              <p:cNvSpPr txBox="1">
                <a:spLocks noChangeArrowheads="1"/>
              </p:cNvSpPr>
              <p:nvPr/>
            </p:nvSpPr>
            <p:spPr bwMode="auto">
              <a:xfrm>
                <a:off x="1239" y="2807"/>
                <a:ext cx="766" cy="32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connection </a:t>
                </a:r>
              </a:p>
              <a:p>
                <a:pPr algn="ct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x completes</a:t>
                </a:r>
              </a:p>
            </p:txBody>
          </p:sp>
        </p:grpSp>
        <p:grpSp>
          <p:nvGrpSpPr>
            <p:cNvPr id="427" name="Group 102">
              <a:extLst>
                <a:ext uri="{FF2B5EF4-FFF2-40B4-BE49-F238E27FC236}">
                  <a16:creationId xmlns:a16="http://schemas.microsoft.com/office/drawing/2014/main" id="{0D5744FA-4339-D545-9B57-B45E093F571A}"/>
                </a:ext>
              </a:extLst>
            </p:cNvPr>
            <p:cNvGrpSpPr>
              <a:grpSpLocks/>
            </p:cNvGrpSpPr>
            <p:nvPr/>
          </p:nvGrpSpPr>
          <p:grpSpPr bwMode="auto">
            <a:xfrm>
              <a:off x="349930" y="1990325"/>
              <a:ext cx="3522664" cy="2170113"/>
              <a:chOff x="430" y="1100"/>
              <a:chExt cx="2219" cy="1367"/>
            </a:xfrm>
          </p:grpSpPr>
          <p:sp>
            <p:nvSpPr>
              <p:cNvPr id="439" name="Text Box 103">
                <a:extLst>
                  <a:ext uri="{FF2B5EF4-FFF2-40B4-BE49-F238E27FC236}">
                    <a16:creationId xmlns:a16="http://schemas.microsoft.com/office/drawing/2014/main" id="{384A1174-EF45-3D47-B451-2B62A2717579}"/>
                  </a:ext>
                </a:extLst>
              </p:cNvPr>
              <p:cNvSpPr txBox="1">
                <a:spLocks noChangeArrowheads="1"/>
              </p:cNvSpPr>
              <p:nvPr/>
            </p:nvSpPr>
            <p:spPr bwMode="auto">
              <a:xfrm>
                <a:off x="430" y="1393"/>
                <a:ext cx="667" cy="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choose x</a:t>
                </a:r>
              </a:p>
              <a:p>
                <a:pPr algn="r" defTabSz="685800" eaLnBrk="0" fontAlgn="base" hangingPunct="0">
                  <a:spcBef>
                    <a:spcPct val="0"/>
                  </a:spcBef>
                  <a:spcAft>
                    <a:spcPct val="0"/>
                  </a:spcAft>
                  <a:defRPr/>
                </a:pPr>
                <a:endParaRPr lang="en-US" sz="1200" kern="0">
                  <a:solidFill>
                    <a:srgbClr val="000000"/>
                  </a:solidFill>
                  <a:latin typeface="Avenir Book" panose="020B0503020203020204" pitchFamily="34" charset="-78"/>
                  <a:cs typeface="Avenir Book" panose="020B0503020203020204" pitchFamily="34" charset="-78"/>
                </a:endParaRPr>
              </a:p>
            </p:txBody>
          </p:sp>
          <p:sp>
            <p:nvSpPr>
              <p:cNvPr id="440" name="Line 104">
                <a:extLst>
                  <a:ext uri="{FF2B5EF4-FFF2-40B4-BE49-F238E27FC236}">
                    <a16:creationId xmlns:a16="http://schemas.microsoft.com/office/drawing/2014/main" id="{01799853-A3A5-894C-8B0B-3CBEE6379CDD}"/>
                  </a:ext>
                </a:extLst>
              </p:cNvPr>
              <p:cNvSpPr>
                <a:spLocks noChangeShapeType="1"/>
              </p:cNvSpPr>
              <p:nvPr/>
            </p:nvSpPr>
            <p:spPr bwMode="auto">
              <a:xfrm>
                <a:off x="1159" y="1516"/>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41" name="Line 105">
                <a:extLst>
                  <a:ext uri="{FF2B5EF4-FFF2-40B4-BE49-F238E27FC236}">
                    <a16:creationId xmlns:a16="http://schemas.microsoft.com/office/drawing/2014/main" id="{E4D37334-2302-C946-AD71-897255F798F8}"/>
                  </a:ext>
                </a:extLst>
              </p:cNvPr>
              <p:cNvSpPr>
                <a:spLocks noChangeShapeType="1"/>
              </p:cNvSpPr>
              <p:nvPr/>
            </p:nvSpPr>
            <p:spPr bwMode="auto">
              <a:xfrm flipH="1">
                <a:off x="1121" y="1739"/>
                <a:ext cx="990" cy="60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42" name="Rectangle 106">
                <a:extLst>
                  <a:ext uri="{FF2B5EF4-FFF2-40B4-BE49-F238E27FC236}">
                    <a16:creationId xmlns:a16="http://schemas.microsoft.com/office/drawing/2014/main" id="{A9F291AF-7263-964C-9C39-E6D9DD79FF9B}"/>
                  </a:ext>
                </a:extLst>
              </p:cNvPr>
              <p:cNvSpPr>
                <a:spLocks noChangeArrowheads="1"/>
              </p:cNvSpPr>
              <p:nvPr/>
            </p:nvSpPr>
            <p:spPr bwMode="auto">
              <a:xfrm>
                <a:off x="1359" y="1507"/>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43" name="Text Box 107">
                <a:extLst>
                  <a:ext uri="{FF2B5EF4-FFF2-40B4-BE49-F238E27FC236}">
                    <a16:creationId xmlns:a16="http://schemas.microsoft.com/office/drawing/2014/main" id="{8256400A-AA91-2B45-8FD6-9FEEAEE48C35}"/>
                  </a:ext>
                </a:extLst>
              </p:cNvPr>
              <p:cNvSpPr txBox="1">
                <a:spLocks noChangeArrowheads="1"/>
              </p:cNvSpPr>
              <p:nvPr/>
            </p:nvSpPr>
            <p:spPr bwMode="auto">
              <a:xfrm>
                <a:off x="1189" y="1486"/>
                <a:ext cx="851"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req_conn(x)</a:t>
                </a:r>
              </a:p>
            </p:txBody>
          </p:sp>
          <p:sp>
            <p:nvSpPr>
              <p:cNvPr id="444" name="Rectangle 108">
                <a:extLst>
                  <a:ext uri="{FF2B5EF4-FFF2-40B4-BE49-F238E27FC236}">
                    <a16:creationId xmlns:a16="http://schemas.microsoft.com/office/drawing/2014/main" id="{8F206717-52E2-FB4D-B242-30E9BF426AE1}"/>
                  </a:ext>
                </a:extLst>
              </p:cNvPr>
              <p:cNvSpPr>
                <a:spLocks noChangeArrowheads="1"/>
              </p:cNvSpPr>
              <p:nvPr/>
            </p:nvSpPr>
            <p:spPr bwMode="auto">
              <a:xfrm>
                <a:off x="1471" y="1774"/>
                <a:ext cx="277"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45" name="Text Box 109">
                <a:extLst>
                  <a:ext uri="{FF2B5EF4-FFF2-40B4-BE49-F238E27FC236}">
                    <a16:creationId xmlns:a16="http://schemas.microsoft.com/office/drawing/2014/main" id="{9F6C9D6F-A1F8-8544-BE47-BCDA73F1EC12}"/>
                  </a:ext>
                </a:extLst>
              </p:cNvPr>
              <p:cNvSpPr txBox="1">
                <a:spLocks noChangeArrowheads="1"/>
              </p:cNvSpPr>
              <p:nvPr/>
            </p:nvSpPr>
            <p:spPr bwMode="auto">
              <a:xfrm>
                <a:off x="2102" y="1649"/>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446" name="Text Box 110">
                <a:extLst>
                  <a:ext uri="{FF2B5EF4-FFF2-40B4-BE49-F238E27FC236}">
                    <a16:creationId xmlns:a16="http://schemas.microsoft.com/office/drawing/2014/main" id="{5194F166-9430-4242-89A4-5D091B008960}"/>
                  </a:ext>
                </a:extLst>
              </p:cNvPr>
              <p:cNvSpPr txBox="1">
                <a:spLocks noChangeArrowheads="1"/>
              </p:cNvSpPr>
              <p:nvPr/>
            </p:nvSpPr>
            <p:spPr bwMode="auto">
              <a:xfrm>
                <a:off x="552" y="2234"/>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447" name="Oval 111">
                <a:extLst>
                  <a:ext uri="{FF2B5EF4-FFF2-40B4-BE49-F238E27FC236}">
                    <a16:creationId xmlns:a16="http://schemas.microsoft.com/office/drawing/2014/main" id="{64F10CAD-3D48-3B4D-AE41-2AEA0DB2E4A3}"/>
                  </a:ext>
                </a:extLst>
              </p:cNvPr>
              <p:cNvSpPr>
                <a:spLocks noChangeArrowheads="1"/>
              </p:cNvSpPr>
              <p:nvPr/>
            </p:nvSpPr>
            <p:spPr bwMode="auto">
              <a:xfrm>
                <a:off x="1095" y="2298"/>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448" name="Oval 112">
                <a:extLst>
                  <a:ext uri="{FF2B5EF4-FFF2-40B4-BE49-F238E27FC236}">
                    <a16:creationId xmlns:a16="http://schemas.microsoft.com/office/drawing/2014/main" id="{98F68D03-FCEB-0F41-A286-A0FEC1FAEA51}"/>
                  </a:ext>
                </a:extLst>
              </p:cNvPr>
              <p:cNvSpPr>
                <a:spLocks noChangeArrowheads="1"/>
              </p:cNvSpPr>
              <p:nvPr/>
            </p:nvSpPr>
            <p:spPr bwMode="auto">
              <a:xfrm>
                <a:off x="2065" y="1723"/>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nvGrpSpPr>
              <p:cNvPr id="449" name="Group 113">
                <a:extLst>
                  <a:ext uri="{FF2B5EF4-FFF2-40B4-BE49-F238E27FC236}">
                    <a16:creationId xmlns:a16="http://schemas.microsoft.com/office/drawing/2014/main" id="{E535B351-6B01-AE49-8479-F8762FC2AA2E}"/>
                  </a:ext>
                </a:extLst>
              </p:cNvPr>
              <p:cNvGrpSpPr>
                <a:grpSpLocks/>
              </p:cNvGrpSpPr>
              <p:nvPr/>
            </p:nvGrpSpPr>
            <p:grpSpPr bwMode="auto">
              <a:xfrm>
                <a:off x="1254" y="1861"/>
                <a:ext cx="850" cy="233"/>
                <a:chOff x="1042" y="2085"/>
                <a:chExt cx="850" cy="233"/>
              </a:xfrm>
            </p:grpSpPr>
            <p:sp>
              <p:nvSpPr>
                <p:cNvPr id="486" name="Rectangle 114">
                  <a:extLst>
                    <a:ext uri="{FF2B5EF4-FFF2-40B4-BE49-F238E27FC236}">
                      <a16:creationId xmlns:a16="http://schemas.microsoft.com/office/drawing/2014/main" id="{3ABD9392-9290-6043-AF0A-164F1B0F7B39}"/>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87" name="Text Box 115">
                  <a:extLst>
                    <a:ext uri="{FF2B5EF4-FFF2-40B4-BE49-F238E27FC236}">
                      <a16:creationId xmlns:a16="http://schemas.microsoft.com/office/drawing/2014/main" id="{E01A5D11-E159-0C40-9DBC-E064BEC5774C}"/>
                    </a:ext>
                  </a:extLst>
                </p:cNvPr>
                <p:cNvSpPr txBox="1">
                  <a:spLocks noChangeArrowheads="1"/>
                </p:cNvSpPr>
                <p:nvPr/>
              </p:nvSpPr>
              <p:spPr bwMode="auto">
                <a:xfrm>
                  <a:off x="1042" y="2085"/>
                  <a:ext cx="850"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acc_conn(x)</a:t>
                  </a:r>
                </a:p>
              </p:txBody>
            </p:sp>
          </p:grpSp>
          <p:grpSp>
            <p:nvGrpSpPr>
              <p:cNvPr id="450" name="Group 116">
                <a:extLst>
                  <a:ext uri="{FF2B5EF4-FFF2-40B4-BE49-F238E27FC236}">
                    <a16:creationId xmlns:a16="http://schemas.microsoft.com/office/drawing/2014/main" id="{3E3A49BF-0E39-8D4D-A2D0-63CBFDDD6FAF}"/>
                  </a:ext>
                </a:extLst>
              </p:cNvPr>
              <p:cNvGrpSpPr>
                <a:grpSpLocks/>
              </p:cNvGrpSpPr>
              <p:nvPr/>
            </p:nvGrpSpPr>
            <p:grpSpPr bwMode="auto">
              <a:xfrm>
                <a:off x="834" y="1112"/>
                <a:ext cx="391" cy="307"/>
                <a:chOff x="-44" y="1473"/>
                <a:chExt cx="981" cy="1105"/>
              </a:xfrm>
            </p:grpSpPr>
            <p:pic>
              <p:nvPicPr>
                <p:cNvPr id="484" name="Picture 117" descr="desktop_computer_stylized_medium">
                  <a:extLst>
                    <a:ext uri="{FF2B5EF4-FFF2-40B4-BE49-F238E27FC236}">
                      <a16:creationId xmlns:a16="http://schemas.microsoft.com/office/drawing/2014/main" id="{68652FF9-3BA5-AD41-98E0-A222D63A41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5" name="Freeform 118">
                  <a:extLst>
                    <a:ext uri="{FF2B5EF4-FFF2-40B4-BE49-F238E27FC236}">
                      <a16:creationId xmlns:a16="http://schemas.microsoft.com/office/drawing/2014/main" id="{73D50490-21D8-7746-B97E-C2FE25CBD7B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451" name="Group 119">
                <a:extLst>
                  <a:ext uri="{FF2B5EF4-FFF2-40B4-BE49-F238E27FC236}">
                    <a16:creationId xmlns:a16="http://schemas.microsoft.com/office/drawing/2014/main" id="{6E788993-C5DA-164F-9258-0CB775450A30}"/>
                  </a:ext>
                </a:extLst>
              </p:cNvPr>
              <p:cNvGrpSpPr>
                <a:grpSpLocks/>
              </p:cNvGrpSpPr>
              <p:nvPr/>
            </p:nvGrpSpPr>
            <p:grpSpPr bwMode="auto">
              <a:xfrm>
                <a:off x="1973" y="1100"/>
                <a:ext cx="212" cy="323"/>
                <a:chOff x="4140" y="429"/>
                <a:chExt cx="1425" cy="2396"/>
              </a:xfrm>
            </p:grpSpPr>
            <p:sp>
              <p:nvSpPr>
                <p:cNvPr id="452" name="Freeform 120">
                  <a:extLst>
                    <a:ext uri="{FF2B5EF4-FFF2-40B4-BE49-F238E27FC236}">
                      <a16:creationId xmlns:a16="http://schemas.microsoft.com/office/drawing/2014/main" id="{12CC2128-75E5-114A-937D-4B672A89AA2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453" name="Rectangle 121">
                  <a:extLst>
                    <a:ext uri="{FF2B5EF4-FFF2-40B4-BE49-F238E27FC236}">
                      <a16:creationId xmlns:a16="http://schemas.microsoft.com/office/drawing/2014/main" id="{F5C3491A-CD29-114C-A378-A2E414822C3C}"/>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54" name="Freeform 122">
                  <a:extLst>
                    <a:ext uri="{FF2B5EF4-FFF2-40B4-BE49-F238E27FC236}">
                      <a16:creationId xmlns:a16="http://schemas.microsoft.com/office/drawing/2014/main" id="{1FAF7C96-26AF-BC4C-8EE5-52686FB51F57}"/>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455" name="Freeform 123">
                  <a:extLst>
                    <a:ext uri="{FF2B5EF4-FFF2-40B4-BE49-F238E27FC236}">
                      <a16:creationId xmlns:a16="http://schemas.microsoft.com/office/drawing/2014/main" id="{F24EFDC4-D2B3-7440-A83B-52220A26C979}"/>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456" name="Rectangle 124">
                  <a:extLst>
                    <a:ext uri="{FF2B5EF4-FFF2-40B4-BE49-F238E27FC236}">
                      <a16:creationId xmlns:a16="http://schemas.microsoft.com/office/drawing/2014/main" id="{C738D1B1-14C3-F143-9286-716F3B0BC8CB}"/>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457" name="Group 125">
                  <a:extLst>
                    <a:ext uri="{FF2B5EF4-FFF2-40B4-BE49-F238E27FC236}">
                      <a16:creationId xmlns:a16="http://schemas.microsoft.com/office/drawing/2014/main" id="{1C9F2DD0-76F5-9945-A4A2-BFF420651D30}"/>
                    </a:ext>
                  </a:extLst>
                </p:cNvPr>
                <p:cNvGrpSpPr>
                  <a:grpSpLocks/>
                </p:cNvGrpSpPr>
                <p:nvPr/>
              </p:nvGrpSpPr>
              <p:grpSpPr bwMode="auto">
                <a:xfrm>
                  <a:off x="4749" y="668"/>
                  <a:ext cx="581" cy="145"/>
                  <a:chOff x="614" y="2568"/>
                  <a:chExt cx="725" cy="139"/>
                </a:xfrm>
              </p:grpSpPr>
              <p:sp>
                <p:nvSpPr>
                  <p:cNvPr id="482" name="AutoShape 126">
                    <a:extLst>
                      <a:ext uri="{FF2B5EF4-FFF2-40B4-BE49-F238E27FC236}">
                        <a16:creationId xmlns:a16="http://schemas.microsoft.com/office/drawing/2014/main" id="{C09A9BC4-E4D4-9740-8415-C18557F484B7}"/>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83" name="AutoShape 127">
                    <a:extLst>
                      <a:ext uri="{FF2B5EF4-FFF2-40B4-BE49-F238E27FC236}">
                        <a16:creationId xmlns:a16="http://schemas.microsoft.com/office/drawing/2014/main" id="{F3D70C92-E5D6-2E4F-8DCA-B1904F759DA4}"/>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458" name="Rectangle 128">
                  <a:extLst>
                    <a:ext uri="{FF2B5EF4-FFF2-40B4-BE49-F238E27FC236}">
                      <a16:creationId xmlns:a16="http://schemas.microsoft.com/office/drawing/2014/main" id="{722160C6-98E8-2849-92F6-C0477CF41C15}"/>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459" name="Group 129">
                  <a:extLst>
                    <a:ext uri="{FF2B5EF4-FFF2-40B4-BE49-F238E27FC236}">
                      <a16:creationId xmlns:a16="http://schemas.microsoft.com/office/drawing/2014/main" id="{5CF614C1-2FA4-194F-99CB-B59EBAA69627}"/>
                    </a:ext>
                  </a:extLst>
                </p:cNvPr>
                <p:cNvGrpSpPr>
                  <a:grpSpLocks/>
                </p:cNvGrpSpPr>
                <p:nvPr/>
              </p:nvGrpSpPr>
              <p:grpSpPr bwMode="auto">
                <a:xfrm>
                  <a:off x="4747" y="994"/>
                  <a:ext cx="581" cy="134"/>
                  <a:chOff x="614" y="2568"/>
                  <a:chExt cx="725" cy="139"/>
                </a:xfrm>
              </p:grpSpPr>
              <p:sp>
                <p:nvSpPr>
                  <p:cNvPr id="480" name="AutoShape 130">
                    <a:extLst>
                      <a:ext uri="{FF2B5EF4-FFF2-40B4-BE49-F238E27FC236}">
                        <a16:creationId xmlns:a16="http://schemas.microsoft.com/office/drawing/2014/main" id="{2DFF64EB-D097-2043-B088-40E31FBCA144}"/>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81" name="AutoShape 131">
                    <a:extLst>
                      <a:ext uri="{FF2B5EF4-FFF2-40B4-BE49-F238E27FC236}">
                        <a16:creationId xmlns:a16="http://schemas.microsoft.com/office/drawing/2014/main" id="{DF72C84E-59FE-844F-8A5B-E79C5EEA947F}"/>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460" name="Rectangle 132">
                  <a:extLst>
                    <a:ext uri="{FF2B5EF4-FFF2-40B4-BE49-F238E27FC236}">
                      <a16:creationId xmlns:a16="http://schemas.microsoft.com/office/drawing/2014/main" id="{0D34B495-F619-5744-92CE-02150CAEF02F}"/>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61" name="Rectangle 133">
                  <a:extLst>
                    <a:ext uri="{FF2B5EF4-FFF2-40B4-BE49-F238E27FC236}">
                      <a16:creationId xmlns:a16="http://schemas.microsoft.com/office/drawing/2014/main" id="{B289AC45-5AE1-8144-A213-D8D732FD9762}"/>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462" name="Group 134">
                  <a:extLst>
                    <a:ext uri="{FF2B5EF4-FFF2-40B4-BE49-F238E27FC236}">
                      <a16:creationId xmlns:a16="http://schemas.microsoft.com/office/drawing/2014/main" id="{1749D736-5D93-C94F-BEFF-83BA3C60704D}"/>
                    </a:ext>
                  </a:extLst>
                </p:cNvPr>
                <p:cNvGrpSpPr>
                  <a:grpSpLocks/>
                </p:cNvGrpSpPr>
                <p:nvPr/>
              </p:nvGrpSpPr>
              <p:grpSpPr bwMode="auto">
                <a:xfrm>
                  <a:off x="4735" y="1627"/>
                  <a:ext cx="582" cy="151"/>
                  <a:chOff x="614" y="2568"/>
                  <a:chExt cx="725" cy="139"/>
                </a:xfrm>
              </p:grpSpPr>
              <p:sp>
                <p:nvSpPr>
                  <p:cNvPr id="478" name="AutoShape 135">
                    <a:extLst>
                      <a:ext uri="{FF2B5EF4-FFF2-40B4-BE49-F238E27FC236}">
                        <a16:creationId xmlns:a16="http://schemas.microsoft.com/office/drawing/2014/main" id="{A0C2743E-C87A-D14C-85B5-A8F79F7531D4}"/>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79" name="AutoShape 136">
                    <a:extLst>
                      <a:ext uri="{FF2B5EF4-FFF2-40B4-BE49-F238E27FC236}">
                        <a16:creationId xmlns:a16="http://schemas.microsoft.com/office/drawing/2014/main" id="{9BD6DBA0-FC1C-254E-9398-6CCD7340CADE}"/>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463" name="Freeform 137">
                  <a:extLst>
                    <a:ext uri="{FF2B5EF4-FFF2-40B4-BE49-F238E27FC236}">
                      <a16:creationId xmlns:a16="http://schemas.microsoft.com/office/drawing/2014/main" id="{5440E4EF-7DC8-C948-8355-65BC2A778B02}"/>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464" name="Group 138">
                  <a:extLst>
                    <a:ext uri="{FF2B5EF4-FFF2-40B4-BE49-F238E27FC236}">
                      <a16:creationId xmlns:a16="http://schemas.microsoft.com/office/drawing/2014/main" id="{5E633347-2A45-9548-B218-3565A9B3D215}"/>
                    </a:ext>
                  </a:extLst>
                </p:cNvPr>
                <p:cNvGrpSpPr>
                  <a:grpSpLocks/>
                </p:cNvGrpSpPr>
                <p:nvPr/>
              </p:nvGrpSpPr>
              <p:grpSpPr bwMode="auto">
                <a:xfrm>
                  <a:off x="4739" y="1327"/>
                  <a:ext cx="582" cy="139"/>
                  <a:chOff x="614" y="2568"/>
                  <a:chExt cx="725" cy="139"/>
                </a:xfrm>
              </p:grpSpPr>
              <p:sp>
                <p:nvSpPr>
                  <p:cNvPr id="476" name="AutoShape 139">
                    <a:extLst>
                      <a:ext uri="{FF2B5EF4-FFF2-40B4-BE49-F238E27FC236}">
                        <a16:creationId xmlns:a16="http://schemas.microsoft.com/office/drawing/2014/main" id="{0F545573-C3F3-7D4F-8E2E-057960582DC3}"/>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77" name="AutoShape 140">
                    <a:extLst>
                      <a:ext uri="{FF2B5EF4-FFF2-40B4-BE49-F238E27FC236}">
                        <a16:creationId xmlns:a16="http://schemas.microsoft.com/office/drawing/2014/main" id="{2B38E4F6-9B20-FE41-8688-9F827513A800}"/>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465" name="Rectangle 141">
                  <a:extLst>
                    <a:ext uri="{FF2B5EF4-FFF2-40B4-BE49-F238E27FC236}">
                      <a16:creationId xmlns:a16="http://schemas.microsoft.com/office/drawing/2014/main" id="{0ADB7777-054A-3B42-99E1-AA3880CEBF4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66" name="Freeform 142">
                  <a:extLst>
                    <a:ext uri="{FF2B5EF4-FFF2-40B4-BE49-F238E27FC236}">
                      <a16:creationId xmlns:a16="http://schemas.microsoft.com/office/drawing/2014/main" id="{851EFEA0-9F99-9D45-BDD9-05781330AA68}"/>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467" name="Freeform 143">
                  <a:extLst>
                    <a:ext uri="{FF2B5EF4-FFF2-40B4-BE49-F238E27FC236}">
                      <a16:creationId xmlns:a16="http://schemas.microsoft.com/office/drawing/2014/main" id="{D46DD2F0-137E-7246-8429-922D11398E36}"/>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468" name="Oval 144">
                  <a:extLst>
                    <a:ext uri="{FF2B5EF4-FFF2-40B4-BE49-F238E27FC236}">
                      <a16:creationId xmlns:a16="http://schemas.microsoft.com/office/drawing/2014/main" id="{6D2FDB16-DD50-754D-B173-29B81535A1D0}"/>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69" name="Freeform 145">
                  <a:extLst>
                    <a:ext uri="{FF2B5EF4-FFF2-40B4-BE49-F238E27FC236}">
                      <a16:creationId xmlns:a16="http://schemas.microsoft.com/office/drawing/2014/main" id="{7D62A206-5CA0-E947-82FC-8F081AA926B0}"/>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470" name="AutoShape 146">
                  <a:extLst>
                    <a:ext uri="{FF2B5EF4-FFF2-40B4-BE49-F238E27FC236}">
                      <a16:creationId xmlns:a16="http://schemas.microsoft.com/office/drawing/2014/main" id="{FD0F85B5-11E0-7445-9862-BC483A492BC8}"/>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71" name="AutoShape 147">
                  <a:extLst>
                    <a:ext uri="{FF2B5EF4-FFF2-40B4-BE49-F238E27FC236}">
                      <a16:creationId xmlns:a16="http://schemas.microsoft.com/office/drawing/2014/main" id="{67E0531B-2E65-AF43-9DB9-355885A8BFB3}"/>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72" name="Oval 148">
                  <a:extLst>
                    <a:ext uri="{FF2B5EF4-FFF2-40B4-BE49-F238E27FC236}">
                      <a16:creationId xmlns:a16="http://schemas.microsoft.com/office/drawing/2014/main" id="{64B5B35B-452E-FD4C-ACFF-7D475CD7D3D3}"/>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73" name="Oval 149">
                  <a:extLst>
                    <a:ext uri="{FF2B5EF4-FFF2-40B4-BE49-F238E27FC236}">
                      <a16:creationId xmlns:a16="http://schemas.microsoft.com/office/drawing/2014/main" id="{A4534FEA-4A8B-8A42-8930-71A153E19C7E}"/>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474" name="Oval 150">
                  <a:extLst>
                    <a:ext uri="{FF2B5EF4-FFF2-40B4-BE49-F238E27FC236}">
                      <a16:creationId xmlns:a16="http://schemas.microsoft.com/office/drawing/2014/main" id="{D6E50F70-5ED2-3344-A7D3-F9408B324055}"/>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75" name="Rectangle 151">
                  <a:extLst>
                    <a:ext uri="{FF2B5EF4-FFF2-40B4-BE49-F238E27FC236}">
                      <a16:creationId xmlns:a16="http://schemas.microsoft.com/office/drawing/2014/main" id="{7B699B0E-7FA7-A24C-814D-12D1D823F816}"/>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sp>
          <p:nvSpPr>
            <p:cNvPr id="428" name="Oval 159">
              <a:extLst>
                <a:ext uri="{FF2B5EF4-FFF2-40B4-BE49-F238E27FC236}">
                  <a16:creationId xmlns:a16="http://schemas.microsoft.com/office/drawing/2014/main" id="{8AE68307-4F03-0042-965E-5D84FCC3C3EB}"/>
                </a:ext>
              </a:extLst>
            </p:cNvPr>
            <p:cNvSpPr>
              <a:spLocks noChangeArrowheads="1"/>
            </p:cNvSpPr>
            <p:nvPr/>
          </p:nvSpPr>
          <p:spPr bwMode="auto">
            <a:xfrm>
              <a:off x="1416094" y="3893738"/>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429" name="Line 169">
              <a:extLst>
                <a:ext uri="{FF2B5EF4-FFF2-40B4-BE49-F238E27FC236}">
                  <a16:creationId xmlns:a16="http://schemas.microsoft.com/office/drawing/2014/main" id="{28EC4C67-0BE3-D54D-926D-9B81AED1C0D5}"/>
                </a:ext>
              </a:extLst>
            </p:cNvPr>
            <p:cNvSpPr>
              <a:spLocks noChangeShapeType="1"/>
            </p:cNvSpPr>
            <p:nvPr/>
          </p:nvSpPr>
          <p:spPr bwMode="auto">
            <a:xfrm>
              <a:off x="1511344" y="3966763"/>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30" name="Rectangle 170">
              <a:extLst>
                <a:ext uri="{FF2B5EF4-FFF2-40B4-BE49-F238E27FC236}">
                  <a16:creationId xmlns:a16="http://schemas.microsoft.com/office/drawing/2014/main" id="{B8AFD2C9-C151-F748-8B96-E389535E32BE}"/>
                </a:ext>
              </a:extLst>
            </p:cNvPr>
            <p:cNvSpPr>
              <a:spLocks noChangeArrowheads="1"/>
            </p:cNvSpPr>
            <p:nvPr/>
          </p:nvSpPr>
          <p:spPr bwMode="auto">
            <a:xfrm>
              <a:off x="1828844" y="3952476"/>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31" name="Text Box 171">
              <a:extLst>
                <a:ext uri="{FF2B5EF4-FFF2-40B4-BE49-F238E27FC236}">
                  <a16:creationId xmlns:a16="http://schemas.microsoft.com/office/drawing/2014/main" id="{E48C6C06-1970-9949-B718-68B9AD5B435E}"/>
                </a:ext>
              </a:extLst>
            </p:cNvPr>
            <p:cNvSpPr txBox="1">
              <a:spLocks noChangeArrowheads="1"/>
            </p:cNvSpPr>
            <p:nvPr/>
          </p:nvSpPr>
          <p:spPr bwMode="auto">
            <a:xfrm>
              <a:off x="1680392" y="3919139"/>
              <a:ext cx="110970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data(x+1)</a:t>
              </a:r>
            </a:p>
          </p:txBody>
        </p:sp>
        <p:sp>
          <p:nvSpPr>
            <p:cNvPr id="432" name="Oval 172">
              <a:extLst>
                <a:ext uri="{FF2B5EF4-FFF2-40B4-BE49-F238E27FC236}">
                  <a16:creationId xmlns:a16="http://schemas.microsoft.com/office/drawing/2014/main" id="{C551802D-96E3-F942-A271-44B93EF7D61C}"/>
                </a:ext>
              </a:extLst>
            </p:cNvPr>
            <p:cNvSpPr>
              <a:spLocks noChangeArrowheads="1"/>
            </p:cNvSpPr>
            <p:nvPr/>
          </p:nvSpPr>
          <p:spPr bwMode="auto">
            <a:xfrm>
              <a:off x="2960731" y="4250926"/>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433" name="Text Box 173">
              <a:extLst>
                <a:ext uri="{FF2B5EF4-FFF2-40B4-BE49-F238E27FC236}">
                  <a16:creationId xmlns:a16="http://schemas.microsoft.com/office/drawing/2014/main" id="{D76C6664-0DFF-6847-8C91-9630B8CABF4C}"/>
                </a:ext>
              </a:extLst>
            </p:cNvPr>
            <p:cNvSpPr txBox="1">
              <a:spLocks noChangeArrowheads="1"/>
            </p:cNvSpPr>
            <p:nvPr/>
          </p:nvSpPr>
          <p:spPr bwMode="auto">
            <a:xfrm>
              <a:off x="3119482" y="4011213"/>
              <a:ext cx="1171574" cy="5416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accept</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data(x+1)</a:t>
              </a:r>
            </a:p>
          </p:txBody>
        </p:sp>
        <p:grpSp>
          <p:nvGrpSpPr>
            <p:cNvPr id="434" name="Group 433">
              <a:extLst>
                <a:ext uri="{FF2B5EF4-FFF2-40B4-BE49-F238E27FC236}">
                  <a16:creationId xmlns:a16="http://schemas.microsoft.com/office/drawing/2014/main" id="{7800DC3B-8637-C445-B46C-B1F234EAAAF7}"/>
                </a:ext>
              </a:extLst>
            </p:cNvPr>
            <p:cNvGrpSpPr/>
            <p:nvPr/>
          </p:nvGrpSpPr>
          <p:grpSpPr>
            <a:xfrm flipH="1">
              <a:off x="1449388" y="4279047"/>
              <a:ext cx="1539875" cy="390924"/>
              <a:chOff x="796245" y="5993547"/>
              <a:chExt cx="1539875" cy="390924"/>
            </a:xfrm>
          </p:grpSpPr>
          <p:sp>
            <p:nvSpPr>
              <p:cNvPr id="436" name="Line 169">
                <a:extLst>
                  <a:ext uri="{FF2B5EF4-FFF2-40B4-BE49-F238E27FC236}">
                    <a16:creationId xmlns:a16="http://schemas.microsoft.com/office/drawing/2014/main" id="{DF8AED72-CC03-D141-BF1D-CDBAD8CFF041}"/>
                  </a:ext>
                </a:extLst>
              </p:cNvPr>
              <p:cNvSpPr>
                <a:spLocks noChangeShapeType="1"/>
              </p:cNvSpPr>
              <p:nvPr/>
            </p:nvSpPr>
            <p:spPr bwMode="auto">
              <a:xfrm>
                <a:off x="796245" y="6007834"/>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37" name="Rectangle 170">
                <a:extLst>
                  <a:ext uri="{FF2B5EF4-FFF2-40B4-BE49-F238E27FC236}">
                    <a16:creationId xmlns:a16="http://schemas.microsoft.com/office/drawing/2014/main" id="{629240BC-A74F-6E49-91FA-059AA1C94494}"/>
                  </a:ext>
                </a:extLst>
              </p:cNvPr>
              <p:cNvSpPr>
                <a:spLocks noChangeArrowheads="1"/>
              </p:cNvSpPr>
              <p:nvPr/>
            </p:nvSpPr>
            <p:spPr bwMode="auto">
              <a:xfrm>
                <a:off x="1113745" y="5993547"/>
                <a:ext cx="859292" cy="39092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38" name="Oval 172">
                <a:extLst>
                  <a:ext uri="{FF2B5EF4-FFF2-40B4-BE49-F238E27FC236}">
                    <a16:creationId xmlns:a16="http://schemas.microsoft.com/office/drawing/2014/main" id="{A155E5ED-674B-0544-A028-085A5AD95F12}"/>
                  </a:ext>
                </a:extLst>
              </p:cNvPr>
              <p:cNvSpPr>
                <a:spLocks noChangeArrowheads="1"/>
              </p:cNvSpPr>
              <p:nvPr/>
            </p:nvSpPr>
            <p:spPr bwMode="auto">
              <a:xfrm>
                <a:off x="2245632" y="6291997"/>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sp>
          <p:nvSpPr>
            <p:cNvPr id="435" name="Text Box 171">
              <a:extLst>
                <a:ext uri="{FF2B5EF4-FFF2-40B4-BE49-F238E27FC236}">
                  <a16:creationId xmlns:a16="http://schemas.microsoft.com/office/drawing/2014/main" id="{F73380DB-6861-6B4E-B8D4-43FE3C783476}"/>
                </a:ext>
              </a:extLst>
            </p:cNvPr>
            <p:cNvSpPr txBox="1">
              <a:spLocks noChangeArrowheads="1"/>
            </p:cNvSpPr>
            <p:nvPr/>
          </p:nvSpPr>
          <p:spPr bwMode="auto">
            <a:xfrm>
              <a:off x="1703582" y="4283529"/>
              <a:ext cx="1135353"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ACK(x+1)</a:t>
              </a:r>
            </a:p>
          </p:txBody>
        </p:sp>
      </p:grpSp>
      <p:grpSp>
        <p:nvGrpSpPr>
          <p:cNvPr id="9" name="Group 8">
            <a:extLst>
              <a:ext uri="{FF2B5EF4-FFF2-40B4-BE49-F238E27FC236}">
                <a16:creationId xmlns:a16="http://schemas.microsoft.com/office/drawing/2014/main" id="{A4CB8012-D87E-F547-97B0-03323A38506E}"/>
              </a:ext>
            </a:extLst>
          </p:cNvPr>
          <p:cNvGrpSpPr/>
          <p:nvPr/>
        </p:nvGrpSpPr>
        <p:grpSpPr>
          <a:xfrm>
            <a:off x="1604246" y="3951758"/>
            <a:ext cx="1505540" cy="752792"/>
            <a:chOff x="1273629" y="5146706"/>
            <a:chExt cx="2007387" cy="1003723"/>
          </a:xfrm>
        </p:grpSpPr>
        <p:sp>
          <p:nvSpPr>
            <p:cNvPr id="4" name="TextBox 3">
              <a:extLst>
                <a:ext uri="{FF2B5EF4-FFF2-40B4-BE49-F238E27FC236}">
                  <a16:creationId xmlns:a16="http://schemas.microsoft.com/office/drawing/2014/main" id="{BDFF0F55-D08F-1344-9B87-5BCA4686A75C}"/>
                </a:ext>
              </a:extLst>
            </p:cNvPr>
            <p:cNvSpPr txBox="1"/>
            <p:nvPr/>
          </p:nvSpPr>
          <p:spPr>
            <a:xfrm>
              <a:off x="1273629" y="5146706"/>
              <a:ext cx="2007387" cy="492443"/>
            </a:xfrm>
            <a:prstGeom prst="rect">
              <a:avLst/>
            </a:prstGeom>
            <a:noFill/>
          </p:spPr>
          <p:txBody>
            <a:bodyPr wrap="none" rtlCol="0">
              <a:spAutoFit/>
            </a:bodyPr>
            <a:lstStyle/>
            <a:p>
              <a:pPr defTabSz="685800">
                <a:defRPr/>
              </a:pPr>
              <a:r>
                <a:rPr lang="en-US" dirty="0">
                  <a:solidFill>
                    <a:prstClr val="black"/>
                  </a:solidFill>
                  <a:latin typeface="Avenir Book" panose="020B0503020203020204" pitchFamily="34" charset="-78"/>
                  <a:cs typeface="Avenir Book" panose="020B0503020203020204" pitchFamily="34" charset="-78"/>
                </a:rPr>
                <a:t>No problem!</a:t>
              </a:r>
            </a:p>
          </p:txBody>
        </p:sp>
        <p:pic>
          <p:nvPicPr>
            <p:cNvPr id="6" name="Picture 5" descr="A picture containing drawing&#10;&#10;Description automatically generated">
              <a:extLst>
                <a:ext uri="{FF2B5EF4-FFF2-40B4-BE49-F238E27FC236}">
                  <a16:creationId xmlns:a16="http://schemas.microsoft.com/office/drawing/2014/main" id="{4F95E370-82E9-0D41-AB1B-B42B590C4566}"/>
                </a:ext>
              </a:extLst>
            </p:cNvPr>
            <p:cNvPicPr>
              <a:picLocks noChangeAspect="1"/>
            </p:cNvPicPr>
            <p:nvPr/>
          </p:nvPicPr>
          <p:blipFill>
            <a:blip r:embed="rId4"/>
            <a:stretch>
              <a:fillRect/>
            </a:stretch>
          </p:blipFill>
          <p:spPr>
            <a:xfrm>
              <a:off x="1812470" y="5524500"/>
              <a:ext cx="625929" cy="625929"/>
            </a:xfrm>
            <a:prstGeom prst="rect">
              <a:avLst/>
            </a:prstGeom>
          </p:spPr>
        </p:pic>
      </p:grpSp>
      <p:grpSp>
        <p:nvGrpSpPr>
          <p:cNvPr id="73" name="Group 72">
            <a:extLst>
              <a:ext uri="{FF2B5EF4-FFF2-40B4-BE49-F238E27FC236}">
                <a16:creationId xmlns:a16="http://schemas.microsoft.com/office/drawing/2014/main" id="{9CAAA66F-65EC-E34C-8D40-259E21717735}"/>
              </a:ext>
            </a:extLst>
          </p:cNvPr>
          <p:cNvGrpSpPr/>
          <p:nvPr/>
        </p:nvGrpSpPr>
        <p:grpSpPr>
          <a:xfrm>
            <a:off x="5389887" y="1370979"/>
            <a:ext cx="1147761" cy="3025379"/>
            <a:chOff x="5276625" y="2475192"/>
            <a:chExt cx="1530348" cy="4033838"/>
          </a:xfrm>
        </p:grpSpPr>
        <p:sp>
          <p:nvSpPr>
            <p:cNvPr id="74" name="Line 25">
              <a:extLst>
                <a:ext uri="{FF2B5EF4-FFF2-40B4-BE49-F238E27FC236}">
                  <a16:creationId xmlns:a16="http://schemas.microsoft.com/office/drawing/2014/main" id="{BC6653C1-9562-C643-B0CA-B2050012CB3F}"/>
                </a:ext>
              </a:extLst>
            </p:cNvPr>
            <p:cNvSpPr>
              <a:spLocks noChangeShapeType="1"/>
            </p:cNvSpPr>
            <p:nvPr/>
          </p:nvSpPr>
          <p:spPr bwMode="auto">
            <a:xfrm flipH="1">
              <a:off x="5276625" y="2475192"/>
              <a:ext cx="1588" cy="2470150"/>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75" name="Line 39">
              <a:extLst>
                <a:ext uri="{FF2B5EF4-FFF2-40B4-BE49-F238E27FC236}">
                  <a16:creationId xmlns:a16="http://schemas.microsoft.com/office/drawing/2014/main" id="{315091FE-FBA3-1544-BB24-018D1D00254A}"/>
                </a:ext>
              </a:extLst>
            </p:cNvPr>
            <p:cNvSpPr>
              <a:spLocks noChangeShapeType="1"/>
            </p:cNvSpPr>
            <p:nvPr/>
          </p:nvSpPr>
          <p:spPr bwMode="auto">
            <a:xfrm flipH="1">
              <a:off x="6805386" y="2548217"/>
              <a:ext cx="1587" cy="3960813"/>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76" name="Group 75">
            <a:extLst>
              <a:ext uri="{FF2B5EF4-FFF2-40B4-BE49-F238E27FC236}">
                <a16:creationId xmlns:a16="http://schemas.microsoft.com/office/drawing/2014/main" id="{D58C52DC-C8FA-4944-8CC4-85815AC982E1}"/>
              </a:ext>
            </a:extLst>
          </p:cNvPr>
          <p:cNvGrpSpPr/>
          <p:nvPr/>
        </p:nvGrpSpPr>
        <p:grpSpPr>
          <a:xfrm>
            <a:off x="6519630" y="3900522"/>
            <a:ext cx="672042" cy="276999"/>
            <a:chOff x="11151735" y="5148718"/>
            <a:chExt cx="896055" cy="369332"/>
          </a:xfrm>
        </p:grpSpPr>
        <p:sp>
          <p:nvSpPr>
            <p:cNvPr id="77" name="Text Box 44">
              <a:extLst>
                <a:ext uri="{FF2B5EF4-FFF2-40B4-BE49-F238E27FC236}">
                  <a16:creationId xmlns:a16="http://schemas.microsoft.com/office/drawing/2014/main" id="{44C9896B-08D9-DD4F-A1D1-E6EE31E997B0}"/>
                </a:ext>
              </a:extLst>
            </p:cNvPr>
            <p:cNvSpPr txBox="1">
              <a:spLocks noChangeArrowheads="1"/>
            </p:cNvSpPr>
            <p:nvPr/>
          </p:nvSpPr>
          <p:spPr bwMode="auto">
            <a:xfrm>
              <a:off x="11179604" y="5148718"/>
              <a:ext cx="8681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ESTAB</a:t>
              </a:r>
            </a:p>
          </p:txBody>
        </p:sp>
        <p:sp>
          <p:nvSpPr>
            <p:cNvPr id="78" name="Oval 45">
              <a:extLst>
                <a:ext uri="{FF2B5EF4-FFF2-40B4-BE49-F238E27FC236}">
                  <a16:creationId xmlns:a16="http://schemas.microsoft.com/office/drawing/2014/main" id="{523A6BAB-2B5B-8B48-B14C-CD5B3206CAA2}"/>
                </a:ext>
              </a:extLst>
            </p:cNvPr>
            <p:cNvSpPr>
              <a:spLocks noChangeArrowheads="1"/>
            </p:cNvSpPr>
            <p:nvPr/>
          </p:nvSpPr>
          <p:spPr bwMode="auto">
            <a:xfrm>
              <a:off x="11151735" y="5275718"/>
              <a:ext cx="90487"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grpSp>
        <p:nvGrpSpPr>
          <p:cNvPr id="79" name="Group 78">
            <a:extLst>
              <a:ext uri="{FF2B5EF4-FFF2-40B4-BE49-F238E27FC236}">
                <a16:creationId xmlns:a16="http://schemas.microsoft.com/office/drawing/2014/main" id="{BF5066A4-7FFD-3447-A085-E135DC48118A}"/>
              </a:ext>
            </a:extLst>
          </p:cNvPr>
          <p:cNvGrpSpPr/>
          <p:nvPr/>
        </p:nvGrpSpPr>
        <p:grpSpPr>
          <a:xfrm>
            <a:off x="4373947" y="1889549"/>
            <a:ext cx="2199592" cy="2137174"/>
            <a:chOff x="8261807" y="2492829"/>
            <a:chExt cx="2932790" cy="2849565"/>
          </a:xfrm>
        </p:grpSpPr>
        <p:sp>
          <p:nvSpPr>
            <p:cNvPr id="80" name="Text Box 42">
              <a:extLst>
                <a:ext uri="{FF2B5EF4-FFF2-40B4-BE49-F238E27FC236}">
                  <a16:creationId xmlns:a16="http://schemas.microsoft.com/office/drawing/2014/main" id="{8B0E3738-2A2C-C540-B07D-16F35D1B7460}"/>
                </a:ext>
              </a:extLst>
            </p:cNvPr>
            <p:cNvSpPr txBox="1">
              <a:spLocks noChangeArrowheads="1"/>
            </p:cNvSpPr>
            <p:nvPr/>
          </p:nvSpPr>
          <p:spPr bwMode="auto">
            <a:xfrm>
              <a:off x="8261807" y="2492829"/>
              <a:ext cx="1364342"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req_conn</a:t>
              </a:r>
              <a:r>
                <a:rPr lang="en-US" sz="1200" kern="0" dirty="0">
                  <a:solidFill>
                    <a:srgbClr val="000000"/>
                  </a:solidFill>
                  <a:latin typeface="Avenir Book" panose="020B0503020203020204" pitchFamily="34" charset="-78"/>
                  <a:cs typeface="Avenir Book" panose="020B0503020203020204" pitchFamily="34" charset="-78"/>
                </a:rPr>
                <a:t>(x)</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81" name="Freeform 43">
              <a:extLst>
                <a:ext uri="{FF2B5EF4-FFF2-40B4-BE49-F238E27FC236}">
                  <a16:creationId xmlns:a16="http://schemas.microsoft.com/office/drawing/2014/main" id="{528F5849-C9BA-364B-BBF1-086991584A75}"/>
                </a:ext>
              </a:extLst>
            </p:cNvPr>
            <p:cNvSpPr>
              <a:spLocks/>
            </p:cNvSpPr>
            <p:nvPr/>
          </p:nvSpPr>
          <p:spPr bwMode="auto">
            <a:xfrm>
              <a:off x="9667423" y="2783342"/>
              <a:ext cx="1527174" cy="255905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82" name="Group 46">
              <a:extLst>
                <a:ext uri="{FF2B5EF4-FFF2-40B4-BE49-F238E27FC236}">
                  <a16:creationId xmlns:a16="http://schemas.microsoft.com/office/drawing/2014/main" id="{3F65A0FD-93D7-FE4A-976F-9F9685E790A3}"/>
                </a:ext>
              </a:extLst>
            </p:cNvPr>
            <p:cNvGrpSpPr>
              <a:grpSpLocks/>
            </p:cNvGrpSpPr>
            <p:nvPr/>
          </p:nvGrpSpPr>
          <p:grpSpPr bwMode="auto">
            <a:xfrm>
              <a:off x="9724574" y="3386596"/>
              <a:ext cx="1350962" cy="369888"/>
              <a:chOff x="1040" y="2085"/>
              <a:chExt cx="851" cy="233"/>
            </a:xfrm>
          </p:grpSpPr>
          <p:sp>
            <p:nvSpPr>
              <p:cNvPr id="83" name="Rectangle 47">
                <a:extLst>
                  <a:ext uri="{FF2B5EF4-FFF2-40B4-BE49-F238E27FC236}">
                    <a16:creationId xmlns:a16="http://schemas.microsoft.com/office/drawing/2014/main" id="{528CC805-3663-4846-BF33-966C0CEBEFDC}"/>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4" name="Text Box 48">
                <a:extLst>
                  <a:ext uri="{FF2B5EF4-FFF2-40B4-BE49-F238E27FC236}">
                    <a16:creationId xmlns:a16="http://schemas.microsoft.com/office/drawing/2014/main" id="{37D76C29-568C-6D4B-A1D0-D37EBE61CD72}"/>
                  </a:ext>
                </a:extLst>
              </p:cNvPr>
              <p:cNvSpPr txBox="1">
                <a:spLocks noChangeArrowheads="1"/>
              </p:cNvSpPr>
              <p:nvPr/>
            </p:nvSpPr>
            <p:spPr bwMode="auto">
              <a:xfrm>
                <a:off x="1040" y="2085"/>
                <a:ext cx="851"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req_conn(x)</a:t>
                </a:r>
              </a:p>
            </p:txBody>
          </p:sp>
        </p:grpSp>
      </p:grpSp>
      <p:grpSp>
        <p:nvGrpSpPr>
          <p:cNvPr id="85" name="Group 93">
            <a:extLst>
              <a:ext uri="{FF2B5EF4-FFF2-40B4-BE49-F238E27FC236}">
                <a16:creationId xmlns:a16="http://schemas.microsoft.com/office/drawing/2014/main" id="{86B69F27-A994-CA47-985C-04430FA1972B}"/>
              </a:ext>
            </a:extLst>
          </p:cNvPr>
          <p:cNvGrpSpPr>
            <a:grpSpLocks/>
          </p:cNvGrpSpPr>
          <p:nvPr/>
        </p:nvGrpSpPr>
        <p:grpSpPr bwMode="auto">
          <a:xfrm>
            <a:off x="4455417" y="2975769"/>
            <a:ext cx="2939654" cy="561975"/>
            <a:chOff x="350" y="2807"/>
            <a:chExt cx="2469" cy="472"/>
          </a:xfrm>
        </p:grpSpPr>
        <p:sp>
          <p:nvSpPr>
            <p:cNvPr id="86" name="Line 40">
              <a:extLst>
                <a:ext uri="{FF2B5EF4-FFF2-40B4-BE49-F238E27FC236}">
                  <a16:creationId xmlns:a16="http://schemas.microsoft.com/office/drawing/2014/main" id="{C5AE8131-69E2-444B-8BC2-5C71A372218D}"/>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7" name="Text Box 83">
              <a:extLst>
                <a:ext uri="{FF2B5EF4-FFF2-40B4-BE49-F238E27FC236}">
                  <a16:creationId xmlns:a16="http://schemas.microsoft.com/office/drawing/2014/main" id="{8DBECFE4-76F0-AB4E-B789-A21C0EFCB611}"/>
                </a:ext>
              </a:extLst>
            </p:cNvPr>
            <p:cNvSpPr txBox="1">
              <a:spLocks noChangeArrowheads="1"/>
            </p:cNvSpPr>
            <p:nvPr/>
          </p:nvSpPr>
          <p:spPr bwMode="auto">
            <a:xfrm>
              <a:off x="350" y="2937"/>
              <a:ext cx="794"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client terminates</a:t>
              </a:r>
            </a:p>
          </p:txBody>
        </p:sp>
        <p:sp>
          <p:nvSpPr>
            <p:cNvPr id="88" name="Text Box 84">
              <a:extLst>
                <a:ext uri="{FF2B5EF4-FFF2-40B4-BE49-F238E27FC236}">
                  <a16:creationId xmlns:a16="http://schemas.microsoft.com/office/drawing/2014/main" id="{01770E8E-591E-3449-B45B-86CFA7116170}"/>
                </a:ext>
              </a:extLst>
            </p:cNvPr>
            <p:cNvSpPr txBox="1">
              <a:spLocks noChangeArrowheads="1"/>
            </p:cNvSpPr>
            <p:nvPr/>
          </p:nvSpPr>
          <p:spPr bwMode="auto">
            <a:xfrm>
              <a:off x="2081" y="2938"/>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server</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forgets x</a:t>
              </a:r>
            </a:p>
          </p:txBody>
        </p:sp>
        <p:sp>
          <p:nvSpPr>
            <p:cNvPr id="89" name="Text Box 85">
              <a:extLst>
                <a:ext uri="{FF2B5EF4-FFF2-40B4-BE49-F238E27FC236}">
                  <a16:creationId xmlns:a16="http://schemas.microsoft.com/office/drawing/2014/main" id="{6398E97B-6925-E144-A17A-19BDFF67AF27}"/>
                </a:ext>
              </a:extLst>
            </p:cNvPr>
            <p:cNvSpPr txBox="1">
              <a:spLocks noChangeArrowheads="1"/>
            </p:cNvSpPr>
            <p:nvPr/>
          </p:nvSpPr>
          <p:spPr bwMode="auto">
            <a:xfrm>
              <a:off x="1239" y="2807"/>
              <a:ext cx="766" cy="32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connection </a:t>
              </a:r>
            </a:p>
            <a:p>
              <a:pPr algn="ct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x completes</a:t>
              </a:r>
            </a:p>
          </p:txBody>
        </p:sp>
      </p:grpSp>
      <p:grpSp>
        <p:nvGrpSpPr>
          <p:cNvPr id="90" name="Group 89">
            <a:extLst>
              <a:ext uri="{FF2B5EF4-FFF2-40B4-BE49-F238E27FC236}">
                <a16:creationId xmlns:a16="http://schemas.microsoft.com/office/drawing/2014/main" id="{09A60973-A80A-204A-B7D6-FB475901ED33}"/>
              </a:ext>
            </a:extLst>
          </p:cNvPr>
          <p:cNvGrpSpPr/>
          <p:nvPr/>
        </p:nvGrpSpPr>
        <p:grpSpPr>
          <a:xfrm>
            <a:off x="4545839" y="1368427"/>
            <a:ext cx="2642251" cy="1278315"/>
            <a:chOff x="7779797" y="1602735"/>
            <a:chExt cx="3523002" cy="1704419"/>
          </a:xfrm>
        </p:grpSpPr>
        <p:sp>
          <p:nvSpPr>
            <p:cNvPr id="91" name="Text Box 103">
              <a:extLst>
                <a:ext uri="{FF2B5EF4-FFF2-40B4-BE49-F238E27FC236}">
                  <a16:creationId xmlns:a16="http://schemas.microsoft.com/office/drawing/2014/main" id="{27DD0EE7-74A0-A142-919B-D9D3C93523C2}"/>
                </a:ext>
              </a:extLst>
            </p:cNvPr>
            <p:cNvSpPr txBox="1">
              <a:spLocks noChangeArrowheads="1"/>
            </p:cNvSpPr>
            <p:nvPr/>
          </p:nvSpPr>
          <p:spPr bwMode="auto">
            <a:xfrm>
              <a:off x="7779797" y="1602735"/>
              <a:ext cx="1058496" cy="6155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choose x</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92" name="Line 104">
              <a:extLst>
                <a:ext uri="{FF2B5EF4-FFF2-40B4-BE49-F238E27FC236}">
                  <a16:creationId xmlns:a16="http://schemas.microsoft.com/office/drawing/2014/main" id="{1CA9B668-6F05-1A48-9C2A-8D882F798CE6}"/>
                </a:ext>
              </a:extLst>
            </p:cNvPr>
            <p:cNvSpPr>
              <a:spLocks noChangeShapeType="1"/>
            </p:cNvSpPr>
            <p:nvPr/>
          </p:nvSpPr>
          <p:spPr bwMode="auto">
            <a:xfrm>
              <a:off x="8936718" y="1797997"/>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3" name="Line 105">
              <a:extLst>
                <a:ext uri="{FF2B5EF4-FFF2-40B4-BE49-F238E27FC236}">
                  <a16:creationId xmlns:a16="http://schemas.microsoft.com/office/drawing/2014/main" id="{419290E8-9A2F-1349-8BDC-8DFEA6A57E20}"/>
                </a:ext>
              </a:extLst>
            </p:cNvPr>
            <p:cNvSpPr>
              <a:spLocks noChangeShapeType="1"/>
            </p:cNvSpPr>
            <p:nvPr/>
          </p:nvSpPr>
          <p:spPr bwMode="auto">
            <a:xfrm flipH="1">
              <a:off x="8876393" y="2152010"/>
              <a:ext cx="1571625" cy="95567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4" name="Rectangle 106">
              <a:extLst>
                <a:ext uri="{FF2B5EF4-FFF2-40B4-BE49-F238E27FC236}">
                  <a16:creationId xmlns:a16="http://schemas.microsoft.com/office/drawing/2014/main" id="{6E5822A0-BC34-8444-893D-1967BA1DAE48}"/>
                </a:ext>
              </a:extLst>
            </p:cNvPr>
            <p:cNvSpPr>
              <a:spLocks noChangeArrowheads="1"/>
            </p:cNvSpPr>
            <p:nvPr/>
          </p:nvSpPr>
          <p:spPr bwMode="auto">
            <a:xfrm>
              <a:off x="9254218" y="1783710"/>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5"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8985005" y="1750372"/>
              <a:ext cx="135122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req_conn(x)</a:t>
              </a:r>
            </a:p>
          </p:txBody>
        </p:sp>
        <p:sp>
          <p:nvSpPr>
            <p:cNvPr id="96" name="Rectangle 108">
              <a:extLst>
                <a:ext uri="{FF2B5EF4-FFF2-40B4-BE49-F238E27FC236}">
                  <a16:creationId xmlns:a16="http://schemas.microsoft.com/office/drawing/2014/main" id="{0F092120-BA14-CA43-B320-651262EF6262}"/>
                </a:ext>
              </a:extLst>
            </p:cNvPr>
            <p:cNvSpPr>
              <a:spLocks noChangeArrowheads="1"/>
            </p:cNvSpPr>
            <p:nvPr/>
          </p:nvSpPr>
          <p:spPr bwMode="auto">
            <a:xfrm>
              <a:off x="9432018" y="2207572"/>
              <a:ext cx="439738"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7"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0434612" y="2009135"/>
              <a:ext cx="868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98" name="Text Box 110">
              <a:extLst>
                <a:ext uri="{FF2B5EF4-FFF2-40B4-BE49-F238E27FC236}">
                  <a16:creationId xmlns:a16="http://schemas.microsoft.com/office/drawing/2014/main" id="{8653D286-5C97-A747-BA85-93954395E4EE}"/>
                </a:ext>
              </a:extLst>
            </p:cNvPr>
            <p:cNvSpPr txBox="1">
              <a:spLocks noChangeArrowheads="1"/>
            </p:cNvSpPr>
            <p:nvPr/>
          </p:nvSpPr>
          <p:spPr bwMode="auto">
            <a:xfrm>
              <a:off x="7973989" y="2937822"/>
              <a:ext cx="868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99" name="Oval 111">
              <a:extLst>
                <a:ext uri="{FF2B5EF4-FFF2-40B4-BE49-F238E27FC236}">
                  <a16:creationId xmlns:a16="http://schemas.microsoft.com/office/drawing/2014/main" id="{300C99E0-DB04-CE43-BF80-AA9266EE3E52}"/>
                </a:ext>
              </a:extLst>
            </p:cNvPr>
            <p:cNvSpPr>
              <a:spLocks noChangeArrowheads="1"/>
            </p:cNvSpPr>
            <p:nvPr/>
          </p:nvSpPr>
          <p:spPr bwMode="auto">
            <a:xfrm>
              <a:off x="8835118" y="3039422"/>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100" name="Oval 112">
              <a:extLst>
                <a:ext uri="{FF2B5EF4-FFF2-40B4-BE49-F238E27FC236}">
                  <a16:creationId xmlns:a16="http://schemas.microsoft.com/office/drawing/2014/main" id="{55BCC378-2E90-C548-84E6-682C16C047D2}"/>
                </a:ext>
              </a:extLst>
            </p:cNvPr>
            <p:cNvSpPr>
              <a:spLocks noChangeArrowheads="1"/>
            </p:cNvSpPr>
            <p:nvPr/>
          </p:nvSpPr>
          <p:spPr bwMode="auto">
            <a:xfrm>
              <a:off x="10374993" y="2126610"/>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nvGrpSpPr>
            <p:cNvPr id="101" name="Group 113">
              <a:extLst>
                <a:ext uri="{FF2B5EF4-FFF2-40B4-BE49-F238E27FC236}">
                  <a16:creationId xmlns:a16="http://schemas.microsoft.com/office/drawing/2014/main" id="{204BAA52-89B1-794F-88E6-9C5622E551C2}"/>
                </a:ext>
              </a:extLst>
            </p:cNvPr>
            <p:cNvGrpSpPr>
              <a:grpSpLocks/>
            </p:cNvGrpSpPr>
            <p:nvPr/>
          </p:nvGrpSpPr>
          <p:grpSpPr bwMode="auto">
            <a:xfrm>
              <a:off x="9087531" y="2345689"/>
              <a:ext cx="1349376" cy="369888"/>
              <a:chOff x="1042" y="2085"/>
              <a:chExt cx="850" cy="233"/>
            </a:xfrm>
          </p:grpSpPr>
          <p:sp>
            <p:nvSpPr>
              <p:cNvPr id="102" name="Rectangle 114">
                <a:extLst>
                  <a:ext uri="{FF2B5EF4-FFF2-40B4-BE49-F238E27FC236}">
                    <a16:creationId xmlns:a16="http://schemas.microsoft.com/office/drawing/2014/main" id="{C6D2B144-2FD8-974E-9CC8-AFFFEB74685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3"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1042" y="2085"/>
                <a:ext cx="850"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acc_conn</a:t>
                </a:r>
                <a:r>
                  <a:rPr lang="en-US" sz="1200" kern="0" dirty="0">
                    <a:solidFill>
                      <a:srgbClr val="000000"/>
                    </a:solidFill>
                    <a:latin typeface="Avenir Book" panose="020B0503020203020204" pitchFamily="34" charset="-78"/>
                    <a:cs typeface="Avenir Book" panose="020B0503020203020204" pitchFamily="34" charset="-78"/>
                  </a:rPr>
                  <a:t>(x)</a:t>
                </a:r>
              </a:p>
            </p:txBody>
          </p:sp>
        </p:grpSp>
      </p:grpSp>
      <p:grpSp>
        <p:nvGrpSpPr>
          <p:cNvPr id="104" name="Group 116">
            <a:extLst>
              <a:ext uri="{FF2B5EF4-FFF2-40B4-BE49-F238E27FC236}">
                <a16:creationId xmlns:a16="http://schemas.microsoft.com/office/drawing/2014/main" id="{80C83854-C77F-BA47-9721-52914A496B51}"/>
              </a:ext>
            </a:extLst>
          </p:cNvPr>
          <p:cNvGrpSpPr>
            <a:grpSpLocks/>
          </p:cNvGrpSpPr>
          <p:nvPr/>
        </p:nvGrpSpPr>
        <p:grpSpPr bwMode="auto">
          <a:xfrm>
            <a:off x="5102778" y="957661"/>
            <a:ext cx="465535" cy="365522"/>
            <a:chOff x="-44" y="1473"/>
            <a:chExt cx="981" cy="1105"/>
          </a:xfrm>
        </p:grpSpPr>
        <p:pic>
          <p:nvPicPr>
            <p:cNvPr id="105" name="Picture 117" descr="desktop_computer_stylized_medium">
              <a:extLst>
                <a:ext uri="{FF2B5EF4-FFF2-40B4-BE49-F238E27FC236}">
                  <a16:creationId xmlns:a16="http://schemas.microsoft.com/office/drawing/2014/main" id="{FE9AA7D5-5E43-A948-A974-AB4C6A011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118">
              <a:extLst>
                <a:ext uri="{FF2B5EF4-FFF2-40B4-BE49-F238E27FC236}">
                  <a16:creationId xmlns:a16="http://schemas.microsoft.com/office/drawing/2014/main" id="{E2235674-3CC8-FA49-8410-24EA9726B2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07" name="Group 119">
            <a:extLst>
              <a:ext uri="{FF2B5EF4-FFF2-40B4-BE49-F238E27FC236}">
                <a16:creationId xmlns:a16="http://schemas.microsoft.com/office/drawing/2014/main" id="{20AAAB4F-DE43-4840-934B-1D6561325F75}"/>
              </a:ext>
            </a:extLst>
          </p:cNvPr>
          <p:cNvGrpSpPr>
            <a:grpSpLocks/>
          </p:cNvGrpSpPr>
          <p:nvPr/>
        </p:nvGrpSpPr>
        <p:grpSpPr bwMode="auto">
          <a:xfrm>
            <a:off x="6458899" y="943374"/>
            <a:ext cx="252413" cy="384572"/>
            <a:chOff x="4140" y="429"/>
            <a:chExt cx="1425" cy="2396"/>
          </a:xfrm>
        </p:grpSpPr>
        <p:sp>
          <p:nvSpPr>
            <p:cNvPr id="108" name="Freeform 120">
              <a:extLst>
                <a:ext uri="{FF2B5EF4-FFF2-40B4-BE49-F238E27FC236}">
                  <a16:creationId xmlns:a16="http://schemas.microsoft.com/office/drawing/2014/main" id="{5DB74304-D404-914A-B276-40CA04FC1311}"/>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09" name="Rectangle 121">
              <a:extLst>
                <a:ext uri="{FF2B5EF4-FFF2-40B4-BE49-F238E27FC236}">
                  <a16:creationId xmlns:a16="http://schemas.microsoft.com/office/drawing/2014/main" id="{4478CCC0-71C5-0742-833B-39071606459A}"/>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0" name="Freeform 122">
              <a:extLst>
                <a:ext uri="{FF2B5EF4-FFF2-40B4-BE49-F238E27FC236}">
                  <a16:creationId xmlns:a16="http://schemas.microsoft.com/office/drawing/2014/main" id="{773F3087-0AEC-3244-AE9B-B906345E8CA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11" name="Freeform 123">
              <a:extLst>
                <a:ext uri="{FF2B5EF4-FFF2-40B4-BE49-F238E27FC236}">
                  <a16:creationId xmlns:a16="http://schemas.microsoft.com/office/drawing/2014/main" id="{6D261F9A-FEF5-2C48-A572-F9AEEE61C84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12" name="Rectangle 124">
              <a:extLst>
                <a:ext uri="{FF2B5EF4-FFF2-40B4-BE49-F238E27FC236}">
                  <a16:creationId xmlns:a16="http://schemas.microsoft.com/office/drawing/2014/main" id="{D7A88CB8-3019-0847-8D63-FB56841E8488}"/>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3" name="Group 125">
              <a:extLst>
                <a:ext uri="{FF2B5EF4-FFF2-40B4-BE49-F238E27FC236}">
                  <a16:creationId xmlns:a16="http://schemas.microsoft.com/office/drawing/2014/main" id="{92427F18-D9EB-5F4E-A265-DCBE0DDFDD70}"/>
                </a:ext>
              </a:extLst>
            </p:cNvPr>
            <p:cNvGrpSpPr>
              <a:grpSpLocks/>
            </p:cNvGrpSpPr>
            <p:nvPr/>
          </p:nvGrpSpPr>
          <p:grpSpPr bwMode="auto">
            <a:xfrm>
              <a:off x="4749" y="668"/>
              <a:ext cx="581" cy="145"/>
              <a:chOff x="614" y="2568"/>
              <a:chExt cx="725" cy="139"/>
            </a:xfrm>
          </p:grpSpPr>
          <p:sp>
            <p:nvSpPr>
              <p:cNvPr id="138" name="AutoShape 126">
                <a:extLst>
                  <a:ext uri="{FF2B5EF4-FFF2-40B4-BE49-F238E27FC236}">
                    <a16:creationId xmlns:a16="http://schemas.microsoft.com/office/drawing/2014/main" id="{49297CCC-774B-1443-8147-999AEBDA5FE6}"/>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9" name="AutoShape 127">
                <a:extLst>
                  <a:ext uri="{FF2B5EF4-FFF2-40B4-BE49-F238E27FC236}">
                    <a16:creationId xmlns:a16="http://schemas.microsoft.com/office/drawing/2014/main" id="{99AA7B97-011A-844B-9C5E-49EF3FECA59C}"/>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4" name="Rectangle 128">
              <a:extLst>
                <a:ext uri="{FF2B5EF4-FFF2-40B4-BE49-F238E27FC236}">
                  <a16:creationId xmlns:a16="http://schemas.microsoft.com/office/drawing/2014/main" id="{0DE915D7-115F-0148-8246-F07CA43F2DF0}"/>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5" name="Group 129">
              <a:extLst>
                <a:ext uri="{FF2B5EF4-FFF2-40B4-BE49-F238E27FC236}">
                  <a16:creationId xmlns:a16="http://schemas.microsoft.com/office/drawing/2014/main" id="{1168EC4F-26EA-454C-A186-35A18483C0EB}"/>
                </a:ext>
              </a:extLst>
            </p:cNvPr>
            <p:cNvGrpSpPr>
              <a:grpSpLocks/>
            </p:cNvGrpSpPr>
            <p:nvPr/>
          </p:nvGrpSpPr>
          <p:grpSpPr bwMode="auto">
            <a:xfrm>
              <a:off x="4747" y="994"/>
              <a:ext cx="581" cy="134"/>
              <a:chOff x="614" y="2568"/>
              <a:chExt cx="725" cy="139"/>
            </a:xfrm>
          </p:grpSpPr>
          <p:sp>
            <p:nvSpPr>
              <p:cNvPr id="136" name="AutoShape 130">
                <a:extLst>
                  <a:ext uri="{FF2B5EF4-FFF2-40B4-BE49-F238E27FC236}">
                    <a16:creationId xmlns:a16="http://schemas.microsoft.com/office/drawing/2014/main" id="{30DEF7E1-5206-E14C-8F6E-C221B89557E7}"/>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7" name="AutoShape 131">
                <a:extLst>
                  <a:ext uri="{FF2B5EF4-FFF2-40B4-BE49-F238E27FC236}">
                    <a16:creationId xmlns:a16="http://schemas.microsoft.com/office/drawing/2014/main" id="{6DBD6BDF-F229-9945-8578-CEC44256CF6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6" name="Rectangle 132">
              <a:extLst>
                <a:ext uri="{FF2B5EF4-FFF2-40B4-BE49-F238E27FC236}">
                  <a16:creationId xmlns:a16="http://schemas.microsoft.com/office/drawing/2014/main" id="{0A0EEFD7-8203-2740-ABF0-C767B83C1EBD}"/>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7" name="Rectangle 133">
              <a:extLst>
                <a:ext uri="{FF2B5EF4-FFF2-40B4-BE49-F238E27FC236}">
                  <a16:creationId xmlns:a16="http://schemas.microsoft.com/office/drawing/2014/main" id="{9B3363E9-032E-DE45-B7D5-07B9FA6590E9}"/>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8" name="Group 134">
              <a:extLst>
                <a:ext uri="{FF2B5EF4-FFF2-40B4-BE49-F238E27FC236}">
                  <a16:creationId xmlns:a16="http://schemas.microsoft.com/office/drawing/2014/main" id="{64432C7D-9E6A-6E4E-965D-954C702C6B6E}"/>
                </a:ext>
              </a:extLst>
            </p:cNvPr>
            <p:cNvGrpSpPr>
              <a:grpSpLocks/>
            </p:cNvGrpSpPr>
            <p:nvPr/>
          </p:nvGrpSpPr>
          <p:grpSpPr bwMode="auto">
            <a:xfrm>
              <a:off x="4735" y="1627"/>
              <a:ext cx="582" cy="151"/>
              <a:chOff x="614" y="2568"/>
              <a:chExt cx="725" cy="139"/>
            </a:xfrm>
          </p:grpSpPr>
          <p:sp>
            <p:nvSpPr>
              <p:cNvPr id="134" name="AutoShape 135">
                <a:extLst>
                  <a:ext uri="{FF2B5EF4-FFF2-40B4-BE49-F238E27FC236}">
                    <a16:creationId xmlns:a16="http://schemas.microsoft.com/office/drawing/2014/main" id="{B32D344B-D91B-954B-BD35-1984E9213AA1}"/>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5" name="AutoShape 136">
                <a:extLst>
                  <a:ext uri="{FF2B5EF4-FFF2-40B4-BE49-F238E27FC236}">
                    <a16:creationId xmlns:a16="http://schemas.microsoft.com/office/drawing/2014/main" id="{47067A3E-2B26-F04B-A35D-FE7A4A41031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9" name="Freeform 137">
              <a:extLst>
                <a:ext uri="{FF2B5EF4-FFF2-40B4-BE49-F238E27FC236}">
                  <a16:creationId xmlns:a16="http://schemas.microsoft.com/office/drawing/2014/main" id="{D7735CF1-1F30-4F47-AC44-432430394B3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20" name="Group 138">
              <a:extLst>
                <a:ext uri="{FF2B5EF4-FFF2-40B4-BE49-F238E27FC236}">
                  <a16:creationId xmlns:a16="http://schemas.microsoft.com/office/drawing/2014/main" id="{FB78B141-B15E-674E-8F3F-8329CF49818C}"/>
                </a:ext>
              </a:extLst>
            </p:cNvPr>
            <p:cNvGrpSpPr>
              <a:grpSpLocks/>
            </p:cNvGrpSpPr>
            <p:nvPr/>
          </p:nvGrpSpPr>
          <p:grpSpPr bwMode="auto">
            <a:xfrm>
              <a:off x="4739" y="1327"/>
              <a:ext cx="582" cy="139"/>
              <a:chOff x="614" y="2568"/>
              <a:chExt cx="725" cy="139"/>
            </a:xfrm>
          </p:grpSpPr>
          <p:sp>
            <p:nvSpPr>
              <p:cNvPr id="132" name="AutoShape 139">
                <a:extLst>
                  <a:ext uri="{FF2B5EF4-FFF2-40B4-BE49-F238E27FC236}">
                    <a16:creationId xmlns:a16="http://schemas.microsoft.com/office/drawing/2014/main" id="{2FE8954C-766A-0743-AFEA-BE850F02F6A5}"/>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3" name="AutoShape 140">
                <a:extLst>
                  <a:ext uri="{FF2B5EF4-FFF2-40B4-BE49-F238E27FC236}">
                    <a16:creationId xmlns:a16="http://schemas.microsoft.com/office/drawing/2014/main" id="{B0838D8D-F17D-6642-84C3-0A7A06DB11E7}"/>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21" name="Rectangle 141">
              <a:extLst>
                <a:ext uri="{FF2B5EF4-FFF2-40B4-BE49-F238E27FC236}">
                  <a16:creationId xmlns:a16="http://schemas.microsoft.com/office/drawing/2014/main" id="{201450E4-426D-034A-898C-EA0F1878F2BD}"/>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2" name="Freeform 142">
              <a:extLst>
                <a:ext uri="{FF2B5EF4-FFF2-40B4-BE49-F238E27FC236}">
                  <a16:creationId xmlns:a16="http://schemas.microsoft.com/office/drawing/2014/main" id="{BEF832CC-F889-B740-96DA-EC8898E429EA}"/>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3" name="Freeform 143">
              <a:extLst>
                <a:ext uri="{FF2B5EF4-FFF2-40B4-BE49-F238E27FC236}">
                  <a16:creationId xmlns:a16="http://schemas.microsoft.com/office/drawing/2014/main" id="{62398C75-46A0-3745-982E-EFC495B4758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4" name="Oval 144">
              <a:extLst>
                <a:ext uri="{FF2B5EF4-FFF2-40B4-BE49-F238E27FC236}">
                  <a16:creationId xmlns:a16="http://schemas.microsoft.com/office/drawing/2014/main" id="{352FBF24-62B2-6F49-AC68-A67E46BEF583}"/>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5" name="Freeform 145">
              <a:extLst>
                <a:ext uri="{FF2B5EF4-FFF2-40B4-BE49-F238E27FC236}">
                  <a16:creationId xmlns:a16="http://schemas.microsoft.com/office/drawing/2014/main" id="{689E20C5-4EA8-8A4D-86CB-905743CC96A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6" name="AutoShape 146">
              <a:extLst>
                <a:ext uri="{FF2B5EF4-FFF2-40B4-BE49-F238E27FC236}">
                  <a16:creationId xmlns:a16="http://schemas.microsoft.com/office/drawing/2014/main" id="{EEA954D3-56B0-3541-93CF-131CC960367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7" name="AutoShape 147">
              <a:extLst>
                <a:ext uri="{FF2B5EF4-FFF2-40B4-BE49-F238E27FC236}">
                  <a16:creationId xmlns:a16="http://schemas.microsoft.com/office/drawing/2014/main" id="{D041028B-4F78-C84C-BFED-1142E17FC05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8" name="Oval 148">
              <a:extLst>
                <a:ext uri="{FF2B5EF4-FFF2-40B4-BE49-F238E27FC236}">
                  <a16:creationId xmlns:a16="http://schemas.microsoft.com/office/drawing/2014/main" id="{1DB124EA-65C6-2944-95EA-9CF5A05FD4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9" name="Oval 149">
              <a:extLst>
                <a:ext uri="{FF2B5EF4-FFF2-40B4-BE49-F238E27FC236}">
                  <a16:creationId xmlns:a16="http://schemas.microsoft.com/office/drawing/2014/main" id="{F9B231BC-3EE3-C645-A89F-95E350FAA4A6}"/>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130" name="Oval 150">
              <a:extLst>
                <a:ext uri="{FF2B5EF4-FFF2-40B4-BE49-F238E27FC236}">
                  <a16:creationId xmlns:a16="http://schemas.microsoft.com/office/drawing/2014/main" id="{01CC1925-74AE-594F-AD3D-173726AFBB10}"/>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1" name="Rectangle 151">
              <a:extLst>
                <a:ext uri="{FF2B5EF4-FFF2-40B4-BE49-F238E27FC236}">
                  <a16:creationId xmlns:a16="http://schemas.microsoft.com/office/drawing/2014/main" id="{92B6BE0B-71DF-9742-BE8C-BEF3D8A9EF2F}"/>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140" name="Group 139">
            <a:extLst>
              <a:ext uri="{FF2B5EF4-FFF2-40B4-BE49-F238E27FC236}">
                <a16:creationId xmlns:a16="http://schemas.microsoft.com/office/drawing/2014/main" id="{DE38AD7C-A8B1-2B4B-BE71-513FFA7EFB6C}"/>
              </a:ext>
            </a:extLst>
          </p:cNvPr>
          <p:cNvGrpSpPr/>
          <p:nvPr/>
        </p:nvGrpSpPr>
        <p:grpSpPr>
          <a:xfrm>
            <a:off x="5131351" y="4037609"/>
            <a:ext cx="1417354" cy="496521"/>
            <a:chOff x="9620023" y="2667000"/>
            <a:chExt cx="1889805" cy="662028"/>
          </a:xfrm>
        </p:grpSpPr>
        <p:sp>
          <p:nvSpPr>
            <p:cNvPr id="141" name="Line 105">
              <a:extLst>
                <a:ext uri="{FF2B5EF4-FFF2-40B4-BE49-F238E27FC236}">
                  <a16:creationId xmlns:a16="http://schemas.microsoft.com/office/drawing/2014/main" id="{6EE235BA-E9E9-3149-AB4E-BB5E5B9184E9}"/>
                </a:ext>
              </a:extLst>
            </p:cNvPr>
            <p:cNvSpPr>
              <a:spLocks noChangeShapeType="1"/>
            </p:cNvSpPr>
            <p:nvPr/>
          </p:nvSpPr>
          <p:spPr bwMode="auto">
            <a:xfrm flipH="1">
              <a:off x="9620023" y="2667000"/>
              <a:ext cx="1889805" cy="66202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2" name="Rectangle 108">
              <a:extLst>
                <a:ext uri="{FF2B5EF4-FFF2-40B4-BE49-F238E27FC236}">
                  <a16:creationId xmlns:a16="http://schemas.microsoft.com/office/drawing/2014/main" id="{34867620-5404-3840-9CB7-CC051B16076F}"/>
                </a:ext>
              </a:extLst>
            </p:cNvPr>
            <p:cNvSpPr>
              <a:spLocks noChangeArrowheads="1"/>
            </p:cNvSpPr>
            <p:nvPr/>
          </p:nvSpPr>
          <p:spPr bwMode="auto">
            <a:xfrm>
              <a:off x="10132106" y="2824428"/>
              <a:ext cx="855208" cy="39774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43" name="Group 113">
              <a:extLst>
                <a:ext uri="{FF2B5EF4-FFF2-40B4-BE49-F238E27FC236}">
                  <a16:creationId xmlns:a16="http://schemas.microsoft.com/office/drawing/2014/main" id="{FF53EAD9-E51E-C047-8717-0A017ED29429}"/>
                </a:ext>
              </a:extLst>
            </p:cNvPr>
            <p:cNvGrpSpPr>
              <a:grpSpLocks/>
            </p:cNvGrpSpPr>
            <p:nvPr/>
          </p:nvGrpSpPr>
          <p:grpSpPr bwMode="auto">
            <a:xfrm>
              <a:off x="9961789" y="2802889"/>
              <a:ext cx="1349376" cy="369888"/>
              <a:chOff x="1042" y="2085"/>
              <a:chExt cx="850" cy="233"/>
            </a:xfrm>
          </p:grpSpPr>
          <p:sp>
            <p:nvSpPr>
              <p:cNvPr id="144" name="Rectangle 114">
                <a:extLst>
                  <a:ext uri="{FF2B5EF4-FFF2-40B4-BE49-F238E27FC236}">
                    <a16:creationId xmlns:a16="http://schemas.microsoft.com/office/drawing/2014/main" id="{49C5CA13-D3E8-AD41-9B46-F0CAA1288DCE}"/>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5" name="Text Box 115">
                <a:extLst>
                  <a:ext uri="{FF2B5EF4-FFF2-40B4-BE49-F238E27FC236}">
                    <a16:creationId xmlns:a16="http://schemas.microsoft.com/office/drawing/2014/main" id="{D4E6AFA2-674D-4C4B-889C-819675572F06}"/>
                  </a:ext>
                </a:extLst>
              </p:cNvPr>
              <p:cNvSpPr txBox="1">
                <a:spLocks noChangeArrowheads="1"/>
              </p:cNvSpPr>
              <p:nvPr/>
            </p:nvSpPr>
            <p:spPr bwMode="auto">
              <a:xfrm>
                <a:off x="1042" y="2085"/>
                <a:ext cx="850"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acc_conn</a:t>
                </a:r>
                <a:r>
                  <a:rPr lang="en-US" sz="1200" kern="0" dirty="0">
                    <a:solidFill>
                      <a:srgbClr val="000000"/>
                    </a:solidFill>
                    <a:latin typeface="Avenir Book" panose="020B0503020203020204" pitchFamily="34" charset="-78"/>
                    <a:cs typeface="Avenir Book" panose="020B0503020203020204" pitchFamily="34" charset="-78"/>
                  </a:rPr>
                  <a:t>(x)</a:t>
                </a:r>
              </a:p>
            </p:txBody>
          </p:sp>
        </p:grpSp>
      </p:grpSp>
      <p:grpSp>
        <p:nvGrpSpPr>
          <p:cNvPr id="146" name="Group 145">
            <a:extLst>
              <a:ext uri="{FF2B5EF4-FFF2-40B4-BE49-F238E27FC236}">
                <a16:creationId xmlns:a16="http://schemas.microsoft.com/office/drawing/2014/main" id="{D5CE827D-884B-C243-811A-BA57B03C1272}"/>
              </a:ext>
            </a:extLst>
          </p:cNvPr>
          <p:cNvGrpSpPr/>
          <p:nvPr/>
        </p:nvGrpSpPr>
        <p:grpSpPr>
          <a:xfrm>
            <a:off x="4392824" y="4394807"/>
            <a:ext cx="3101067" cy="811667"/>
            <a:chOff x="3673928" y="5775778"/>
            <a:chExt cx="4134756" cy="1082222"/>
          </a:xfrm>
        </p:grpSpPr>
        <p:sp>
          <p:nvSpPr>
            <p:cNvPr id="147" name="Rectangle 146">
              <a:extLst>
                <a:ext uri="{FF2B5EF4-FFF2-40B4-BE49-F238E27FC236}">
                  <a16:creationId xmlns:a16="http://schemas.microsoft.com/office/drawing/2014/main" id="{014466EA-38BF-AC46-AFFE-C98EDEE60F29}"/>
                </a:ext>
              </a:extLst>
            </p:cNvPr>
            <p:cNvSpPr/>
            <p:nvPr/>
          </p:nvSpPr>
          <p:spPr>
            <a:xfrm>
              <a:off x="4020455" y="5775778"/>
              <a:ext cx="3788229" cy="1082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Avenir Book" panose="020B0503020203020204" pitchFamily="34" charset="-78"/>
                <a:cs typeface="Avenir Book" panose="020B0503020203020204" pitchFamily="34" charset="-78"/>
              </a:endParaRPr>
            </a:p>
          </p:txBody>
        </p:sp>
        <p:grpSp>
          <p:nvGrpSpPr>
            <p:cNvPr id="148" name="Group 147">
              <a:extLst>
                <a:ext uri="{FF2B5EF4-FFF2-40B4-BE49-F238E27FC236}">
                  <a16:creationId xmlns:a16="http://schemas.microsoft.com/office/drawing/2014/main" id="{0FEA675F-95EB-944F-978C-22DF4F8A54DC}"/>
                </a:ext>
              </a:extLst>
            </p:cNvPr>
            <p:cNvGrpSpPr/>
            <p:nvPr/>
          </p:nvGrpSpPr>
          <p:grpSpPr>
            <a:xfrm>
              <a:off x="3673928" y="5804239"/>
              <a:ext cx="4134755" cy="861774"/>
              <a:chOff x="4588327" y="5819777"/>
              <a:chExt cx="4134755" cy="861774"/>
            </a:xfrm>
            <a:noFill/>
          </p:grpSpPr>
          <p:sp>
            <p:nvSpPr>
              <p:cNvPr id="149" name="Text Box 49">
                <a:extLst>
                  <a:ext uri="{FF2B5EF4-FFF2-40B4-BE49-F238E27FC236}">
                    <a16:creationId xmlns:a16="http://schemas.microsoft.com/office/drawing/2014/main" id="{132D608A-D3A5-E54F-AEEE-E1F1B0718AC0}"/>
                  </a:ext>
                </a:extLst>
              </p:cNvPr>
              <p:cNvSpPr txBox="1">
                <a:spLocks noChangeArrowheads="1"/>
              </p:cNvSpPr>
              <p:nvPr/>
            </p:nvSpPr>
            <p:spPr bwMode="auto">
              <a:xfrm>
                <a:off x="5202012" y="5819777"/>
                <a:ext cx="3521070" cy="861774"/>
              </a:xfrm>
              <a:prstGeom prst="rect">
                <a:avLst/>
              </a:prstGeom>
              <a:gr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800" kern="0" dirty="0">
                    <a:solidFill>
                      <a:srgbClr val="000000"/>
                    </a:solidFill>
                    <a:latin typeface="Avenir Book" panose="020B0503020203020204" pitchFamily="34" charset="-78"/>
                    <a:cs typeface="Avenir Book" panose="020B0503020203020204" pitchFamily="34" charset="-78"/>
                  </a:rPr>
                  <a:t>Problem: half open connection! (no client)</a:t>
                </a:r>
              </a:p>
            </p:txBody>
          </p:sp>
          <p:pic>
            <p:nvPicPr>
              <p:cNvPr id="150" name="Picture 149" descr="A picture containing drawing&#10;&#10;Description automatically generated">
                <a:extLst>
                  <a:ext uri="{FF2B5EF4-FFF2-40B4-BE49-F238E27FC236}">
                    <a16:creationId xmlns:a16="http://schemas.microsoft.com/office/drawing/2014/main" id="{5EAF06CF-36BA-E34A-83CF-1DFB966A8512}"/>
                  </a:ext>
                </a:extLst>
              </p:cNvPr>
              <p:cNvPicPr>
                <a:picLocks noChangeAspect="1"/>
              </p:cNvPicPr>
              <p:nvPr/>
            </p:nvPicPr>
            <p:blipFill>
              <a:blip r:embed="rId5"/>
              <a:stretch>
                <a:fillRect/>
              </a:stretch>
            </p:blipFill>
            <p:spPr>
              <a:xfrm>
                <a:off x="4588327" y="5916386"/>
                <a:ext cx="636815" cy="636815"/>
              </a:xfrm>
              <a:prstGeom prst="rect">
                <a:avLst/>
              </a:prstGeom>
              <a:grpFill/>
            </p:spPr>
          </p:pic>
        </p:grpSp>
      </p:grpSp>
      <p:grpSp>
        <p:nvGrpSpPr>
          <p:cNvPr id="151" name="Group 152">
            <a:extLst>
              <a:ext uri="{FF2B5EF4-FFF2-40B4-BE49-F238E27FC236}">
                <a16:creationId xmlns:a16="http://schemas.microsoft.com/office/drawing/2014/main" id="{9C2006BA-AA2D-8544-A70F-118097C53265}"/>
              </a:ext>
            </a:extLst>
          </p:cNvPr>
          <p:cNvGrpSpPr>
            <a:grpSpLocks/>
          </p:cNvGrpSpPr>
          <p:nvPr/>
        </p:nvGrpSpPr>
        <p:grpSpPr bwMode="auto">
          <a:xfrm>
            <a:off x="7831041" y="799308"/>
            <a:ext cx="2990850" cy="3426619"/>
            <a:chOff x="3116" y="1107"/>
            <a:chExt cx="2512" cy="2878"/>
          </a:xfrm>
        </p:grpSpPr>
        <p:sp>
          <p:nvSpPr>
            <p:cNvPr id="152" name="Line 153">
              <a:extLst>
                <a:ext uri="{FF2B5EF4-FFF2-40B4-BE49-F238E27FC236}">
                  <a16:creationId xmlns:a16="http://schemas.microsoft.com/office/drawing/2014/main" id="{C056962F-C2E4-4D43-8591-63C2094689E9}"/>
                </a:ext>
              </a:extLst>
            </p:cNvPr>
            <p:cNvSpPr>
              <a:spLocks noChangeShapeType="1"/>
            </p:cNvSpPr>
            <p:nvPr/>
          </p:nvSpPr>
          <p:spPr bwMode="auto">
            <a:xfrm flipH="1">
              <a:off x="4822" y="1490"/>
              <a:ext cx="1" cy="2495"/>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3" name="Text Box 154">
              <a:extLst>
                <a:ext uri="{FF2B5EF4-FFF2-40B4-BE49-F238E27FC236}">
                  <a16:creationId xmlns:a16="http://schemas.microsoft.com/office/drawing/2014/main" id="{CDA652F2-819F-6848-A5C9-8D9B66F9680B}"/>
                </a:ext>
              </a:extLst>
            </p:cNvPr>
            <p:cNvSpPr txBox="1">
              <a:spLocks noChangeArrowheads="1"/>
            </p:cNvSpPr>
            <p:nvPr/>
          </p:nvSpPr>
          <p:spPr bwMode="auto">
            <a:xfrm>
              <a:off x="3116" y="2983"/>
              <a:ext cx="772"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client terminates</a:t>
              </a:r>
            </a:p>
          </p:txBody>
        </p:sp>
        <p:sp>
          <p:nvSpPr>
            <p:cNvPr id="154" name="Line 155">
              <a:extLst>
                <a:ext uri="{FF2B5EF4-FFF2-40B4-BE49-F238E27FC236}">
                  <a16:creationId xmlns:a16="http://schemas.microsoft.com/office/drawing/2014/main" id="{666153C5-2212-0042-ABC5-919CF540FFF1}"/>
                </a:ext>
              </a:extLst>
            </p:cNvPr>
            <p:cNvSpPr>
              <a:spLocks noChangeShapeType="1"/>
            </p:cNvSpPr>
            <p:nvPr/>
          </p:nvSpPr>
          <p:spPr bwMode="auto">
            <a:xfrm flipH="1">
              <a:off x="3845" y="1451"/>
              <a:ext cx="15" cy="1549"/>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5" name="Line 156">
              <a:extLst>
                <a:ext uri="{FF2B5EF4-FFF2-40B4-BE49-F238E27FC236}">
                  <a16:creationId xmlns:a16="http://schemas.microsoft.com/office/drawing/2014/main" id="{16ACB45E-8A1D-F74A-9C70-18C251DD28E3}"/>
                </a:ext>
              </a:extLst>
            </p:cNvPr>
            <p:cNvSpPr>
              <a:spLocks noChangeShapeType="1"/>
            </p:cNvSpPr>
            <p:nvPr/>
          </p:nvSpPr>
          <p:spPr bwMode="auto">
            <a:xfrm flipH="1">
              <a:off x="3850" y="1726"/>
              <a:ext cx="990" cy="60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6" name="Rectangle 157">
              <a:extLst>
                <a:ext uri="{FF2B5EF4-FFF2-40B4-BE49-F238E27FC236}">
                  <a16:creationId xmlns:a16="http://schemas.microsoft.com/office/drawing/2014/main" id="{7479C1A9-07F7-CD4C-A137-D663CAEFD43C}"/>
                </a:ext>
              </a:extLst>
            </p:cNvPr>
            <p:cNvSpPr>
              <a:spLocks noChangeArrowheads="1"/>
            </p:cNvSpPr>
            <p:nvPr/>
          </p:nvSpPr>
          <p:spPr bwMode="auto">
            <a:xfrm>
              <a:off x="4200" y="1761"/>
              <a:ext cx="277"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7" name="Text Box 158">
              <a:extLst>
                <a:ext uri="{FF2B5EF4-FFF2-40B4-BE49-F238E27FC236}">
                  <a16:creationId xmlns:a16="http://schemas.microsoft.com/office/drawing/2014/main" id="{07E98DEC-15BD-8E44-8C66-72860ACC5678}"/>
                </a:ext>
              </a:extLst>
            </p:cNvPr>
            <p:cNvSpPr txBox="1">
              <a:spLocks noChangeArrowheads="1"/>
            </p:cNvSpPr>
            <p:nvPr/>
          </p:nvSpPr>
          <p:spPr bwMode="auto">
            <a:xfrm>
              <a:off x="3281" y="2221"/>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158" name="Oval 159">
              <a:extLst>
                <a:ext uri="{FF2B5EF4-FFF2-40B4-BE49-F238E27FC236}">
                  <a16:creationId xmlns:a16="http://schemas.microsoft.com/office/drawing/2014/main" id="{C387CC00-D294-7442-8EAF-0E4792392432}"/>
                </a:ext>
              </a:extLst>
            </p:cNvPr>
            <p:cNvSpPr>
              <a:spLocks noChangeArrowheads="1"/>
            </p:cNvSpPr>
            <p:nvPr/>
          </p:nvSpPr>
          <p:spPr bwMode="auto">
            <a:xfrm>
              <a:off x="3817" y="2299"/>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159" name="Text Box 160">
              <a:extLst>
                <a:ext uri="{FF2B5EF4-FFF2-40B4-BE49-F238E27FC236}">
                  <a16:creationId xmlns:a16="http://schemas.microsoft.com/office/drawing/2014/main" id="{A3029202-6E45-6F46-B68F-696E31F63852}"/>
                </a:ext>
              </a:extLst>
            </p:cNvPr>
            <p:cNvSpPr txBox="1">
              <a:spLocks noChangeArrowheads="1"/>
            </p:cNvSpPr>
            <p:nvPr/>
          </p:nvSpPr>
          <p:spPr bwMode="auto">
            <a:xfrm>
              <a:off x="3159" y="1380"/>
              <a:ext cx="667" cy="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choose x</a:t>
              </a:r>
            </a:p>
            <a:p>
              <a:pPr algn="r" defTabSz="685800" eaLnBrk="0" fontAlgn="base" hangingPunct="0">
                <a:spcBef>
                  <a:spcPct val="0"/>
                </a:spcBef>
                <a:spcAft>
                  <a:spcPct val="0"/>
                </a:spcAft>
                <a:defRPr/>
              </a:pPr>
              <a:endParaRPr lang="en-US" sz="1200" kern="0">
                <a:solidFill>
                  <a:srgbClr val="000000"/>
                </a:solidFill>
                <a:latin typeface="Avenir Book" panose="020B0503020203020204" pitchFamily="34" charset="-78"/>
                <a:cs typeface="Avenir Book" panose="020B0503020203020204" pitchFamily="34" charset="-78"/>
              </a:endParaRPr>
            </a:p>
          </p:txBody>
        </p:sp>
        <p:sp>
          <p:nvSpPr>
            <p:cNvPr id="160" name="Line 161">
              <a:extLst>
                <a:ext uri="{FF2B5EF4-FFF2-40B4-BE49-F238E27FC236}">
                  <a16:creationId xmlns:a16="http://schemas.microsoft.com/office/drawing/2014/main" id="{0FC46209-BD0B-0445-AF05-C8310A8E862F}"/>
                </a:ext>
              </a:extLst>
            </p:cNvPr>
            <p:cNvSpPr>
              <a:spLocks noChangeShapeType="1"/>
            </p:cNvSpPr>
            <p:nvPr/>
          </p:nvSpPr>
          <p:spPr bwMode="auto">
            <a:xfrm>
              <a:off x="3888" y="1503"/>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1" name="Rectangle 162">
              <a:extLst>
                <a:ext uri="{FF2B5EF4-FFF2-40B4-BE49-F238E27FC236}">
                  <a16:creationId xmlns:a16="http://schemas.microsoft.com/office/drawing/2014/main" id="{636932A4-EF38-E141-9BEF-C806F12D9ABB}"/>
                </a:ext>
              </a:extLst>
            </p:cNvPr>
            <p:cNvSpPr>
              <a:spLocks noChangeArrowheads="1"/>
            </p:cNvSpPr>
            <p:nvPr/>
          </p:nvSpPr>
          <p:spPr bwMode="auto">
            <a:xfrm>
              <a:off x="4088" y="1494"/>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2" name="Text Box 163">
              <a:extLst>
                <a:ext uri="{FF2B5EF4-FFF2-40B4-BE49-F238E27FC236}">
                  <a16:creationId xmlns:a16="http://schemas.microsoft.com/office/drawing/2014/main" id="{09C7E230-4405-9E40-BEB3-C33FFEF6366D}"/>
                </a:ext>
              </a:extLst>
            </p:cNvPr>
            <p:cNvSpPr txBox="1">
              <a:spLocks noChangeArrowheads="1"/>
            </p:cNvSpPr>
            <p:nvPr/>
          </p:nvSpPr>
          <p:spPr bwMode="auto">
            <a:xfrm>
              <a:off x="3918" y="1473"/>
              <a:ext cx="851"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req_conn(x)</a:t>
              </a:r>
            </a:p>
          </p:txBody>
        </p:sp>
        <p:sp>
          <p:nvSpPr>
            <p:cNvPr id="163" name="Text Box 164">
              <a:extLst>
                <a:ext uri="{FF2B5EF4-FFF2-40B4-BE49-F238E27FC236}">
                  <a16:creationId xmlns:a16="http://schemas.microsoft.com/office/drawing/2014/main" id="{8AEE0E4A-F8B4-9A4D-85F5-6FF0942C65C4}"/>
                </a:ext>
              </a:extLst>
            </p:cNvPr>
            <p:cNvSpPr txBox="1">
              <a:spLocks noChangeArrowheads="1"/>
            </p:cNvSpPr>
            <p:nvPr/>
          </p:nvSpPr>
          <p:spPr bwMode="auto">
            <a:xfrm>
              <a:off x="4831" y="1636"/>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164" name="Oval 165">
              <a:extLst>
                <a:ext uri="{FF2B5EF4-FFF2-40B4-BE49-F238E27FC236}">
                  <a16:creationId xmlns:a16="http://schemas.microsoft.com/office/drawing/2014/main" id="{837C2516-1B6F-784E-B717-4861DCB88C9F}"/>
                </a:ext>
              </a:extLst>
            </p:cNvPr>
            <p:cNvSpPr>
              <a:spLocks noChangeArrowheads="1"/>
            </p:cNvSpPr>
            <p:nvPr/>
          </p:nvSpPr>
          <p:spPr bwMode="auto">
            <a:xfrm>
              <a:off x="4794" y="1710"/>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nvGrpSpPr>
            <p:cNvPr id="165" name="Group 166">
              <a:extLst>
                <a:ext uri="{FF2B5EF4-FFF2-40B4-BE49-F238E27FC236}">
                  <a16:creationId xmlns:a16="http://schemas.microsoft.com/office/drawing/2014/main" id="{A1A4C995-57EF-2B44-9A2B-4B574A973474}"/>
                </a:ext>
              </a:extLst>
            </p:cNvPr>
            <p:cNvGrpSpPr>
              <a:grpSpLocks/>
            </p:cNvGrpSpPr>
            <p:nvPr/>
          </p:nvGrpSpPr>
          <p:grpSpPr bwMode="auto">
            <a:xfrm>
              <a:off x="3983" y="1848"/>
              <a:ext cx="850" cy="233"/>
              <a:chOff x="1042" y="2085"/>
              <a:chExt cx="850" cy="233"/>
            </a:xfrm>
          </p:grpSpPr>
          <p:sp>
            <p:nvSpPr>
              <p:cNvPr id="211" name="Rectangle 167">
                <a:extLst>
                  <a:ext uri="{FF2B5EF4-FFF2-40B4-BE49-F238E27FC236}">
                    <a16:creationId xmlns:a16="http://schemas.microsoft.com/office/drawing/2014/main" id="{5B3B9AC0-C168-2542-9619-9FFE0FFD6E7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2" name="Text Box 168">
                <a:extLst>
                  <a:ext uri="{FF2B5EF4-FFF2-40B4-BE49-F238E27FC236}">
                    <a16:creationId xmlns:a16="http://schemas.microsoft.com/office/drawing/2014/main" id="{FAF5722C-69B4-6B44-95D4-000562ACFDF9}"/>
                  </a:ext>
                </a:extLst>
              </p:cNvPr>
              <p:cNvSpPr txBox="1">
                <a:spLocks noChangeArrowheads="1"/>
              </p:cNvSpPr>
              <p:nvPr/>
            </p:nvSpPr>
            <p:spPr bwMode="auto">
              <a:xfrm>
                <a:off x="1042" y="2085"/>
                <a:ext cx="850"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acc_conn(x)</a:t>
                </a:r>
              </a:p>
            </p:txBody>
          </p:sp>
        </p:grpSp>
        <p:sp>
          <p:nvSpPr>
            <p:cNvPr id="166" name="Line 169">
              <a:extLst>
                <a:ext uri="{FF2B5EF4-FFF2-40B4-BE49-F238E27FC236}">
                  <a16:creationId xmlns:a16="http://schemas.microsoft.com/office/drawing/2014/main" id="{73E51126-71B9-DA4D-B01B-7072D4E22BDC}"/>
                </a:ext>
              </a:extLst>
            </p:cNvPr>
            <p:cNvSpPr>
              <a:spLocks noChangeShapeType="1"/>
            </p:cNvSpPr>
            <p:nvPr/>
          </p:nvSpPr>
          <p:spPr bwMode="auto">
            <a:xfrm>
              <a:off x="3877" y="2345"/>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7" name="Rectangle 170">
              <a:extLst>
                <a:ext uri="{FF2B5EF4-FFF2-40B4-BE49-F238E27FC236}">
                  <a16:creationId xmlns:a16="http://schemas.microsoft.com/office/drawing/2014/main" id="{8B70B875-EE96-E044-B8D9-41CF1BBB693D}"/>
                </a:ext>
              </a:extLst>
            </p:cNvPr>
            <p:cNvSpPr>
              <a:spLocks noChangeArrowheads="1"/>
            </p:cNvSpPr>
            <p:nvPr/>
          </p:nvSpPr>
          <p:spPr bwMode="auto">
            <a:xfrm>
              <a:off x="4077" y="2336"/>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8" name="Text Box 171">
              <a:extLst>
                <a:ext uri="{FF2B5EF4-FFF2-40B4-BE49-F238E27FC236}">
                  <a16:creationId xmlns:a16="http://schemas.microsoft.com/office/drawing/2014/main" id="{069C4711-758D-CF4A-A407-6F22C98DCF70}"/>
                </a:ext>
              </a:extLst>
            </p:cNvPr>
            <p:cNvSpPr txBox="1">
              <a:spLocks noChangeArrowheads="1"/>
            </p:cNvSpPr>
            <p:nvPr/>
          </p:nvSpPr>
          <p:spPr bwMode="auto">
            <a:xfrm>
              <a:off x="3984" y="2315"/>
              <a:ext cx="699"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data(x+1)</a:t>
              </a:r>
            </a:p>
          </p:txBody>
        </p:sp>
        <p:sp>
          <p:nvSpPr>
            <p:cNvPr id="169" name="Oval 172">
              <a:extLst>
                <a:ext uri="{FF2B5EF4-FFF2-40B4-BE49-F238E27FC236}">
                  <a16:creationId xmlns:a16="http://schemas.microsoft.com/office/drawing/2014/main" id="{B63CF324-44AD-D941-BFE9-6823A7212A48}"/>
                </a:ext>
              </a:extLst>
            </p:cNvPr>
            <p:cNvSpPr>
              <a:spLocks noChangeArrowheads="1"/>
            </p:cNvSpPr>
            <p:nvPr/>
          </p:nvSpPr>
          <p:spPr bwMode="auto">
            <a:xfrm>
              <a:off x="4790" y="2524"/>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170" name="Text Box 173">
              <a:extLst>
                <a:ext uri="{FF2B5EF4-FFF2-40B4-BE49-F238E27FC236}">
                  <a16:creationId xmlns:a16="http://schemas.microsoft.com/office/drawing/2014/main" id="{21C7DDF1-6000-FA4F-8259-FD106EBA0F67}"/>
                </a:ext>
              </a:extLst>
            </p:cNvPr>
            <p:cNvSpPr txBox="1">
              <a:spLocks noChangeArrowheads="1"/>
            </p:cNvSpPr>
            <p:nvPr/>
          </p:nvSpPr>
          <p:spPr bwMode="auto">
            <a:xfrm>
              <a:off x="4890" y="2373"/>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accept</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data(x+1)</a:t>
              </a:r>
            </a:p>
          </p:txBody>
        </p:sp>
        <p:grpSp>
          <p:nvGrpSpPr>
            <p:cNvPr id="171" name="Group 174">
              <a:extLst>
                <a:ext uri="{FF2B5EF4-FFF2-40B4-BE49-F238E27FC236}">
                  <a16:creationId xmlns:a16="http://schemas.microsoft.com/office/drawing/2014/main" id="{67E235CF-E2F0-4A4C-B6BE-CB6AC0D0B6B1}"/>
                </a:ext>
              </a:extLst>
            </p:cNvPr>
            <p:cNvGrpSpPr>
              <a:grpSpLocks/>
            </p:cNvGrpSpPr>
            <p:nvPr/>
          </p:nvGrpSpPr>
          <p:grpSpPr bwMode="auto">
            <a:xfrm>
              <a:off x="3826" y="2803"/>
              <a:ext cx="1515" cy="322"/>
              <a:chOff x="3818" y="2796"/>
              <a:chExt cx="1515" cy="322"/>
            </a:xfrm>
          </p:grpSpPr>
          <p:sp>
            <p:nvSpPr>
              <p:cNvPr id="209" name="Line 175">
                <a:extLst>
                  <a:ext uri="{FF2B5EF4-FFF2-40B4-BE49-F238E27FC236}">
                    <a16:creationId xmlns:a16="http://schemas.microsoft.com/office/drawing/2014/main" id="{BC5ADDF2-7CBC-484B-8D57-A55A75E1FA1C}"/>
                  </a:ext>
                </a:extLst>
              </p:cNvPr>
              <p:cNvSpPr>
                <a:spLocks noChangeShapeType="1"/>
              </p:cNvSpPr>
              <p:nvPr/>
            </p:nvSpPr>
            <p:spPr bwMode="auto">
              <a:xfrm>
                <a:off x="3818" y="2951"/>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0" name="Text Box 176">
                <a:extLst>
                  <a:ext uri="{FF2B5EF4-FFF2-40B4-BE49-F238E27FC236}">
                    <a16:creationId xmlns:a16="http://schemas.microsoft.com/office/drawing/2014/main" id="{4DB46F2E-E4BE-194B-8D43-E5E134B15493}"/>
                  </a:ext>
                </a:extLst>
              </p:cNvPr>
              <p:cNvSpPr txBox="1">
                <a:spLocks noChangeArrowheads="1"/>
              </p:cNvSpPr>
              <p:nvPr/>
            </p:nvSpPr>
            <p:spPr bwMode="auto">
              <a:xfrm>
                <a:off x="3959" y="2796"/>
                <a:ext cx="766" cy="32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connection </a:t>
                </a:r>
              </a:p>
              <a:p>
                <a:pPr algn="ct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x completes</a:t>
                </a:r>
              </a:p>
            </p:txBody>
          </p:sp>
        </p:grpSp>
        <p:sp>
          <p:nvSpPr>
            <p:cNvPr id="172" name="Text Box 177">
              <a:extLst>
                <a:ext uri="{FF2B5EF4-FFF2-40B4-BE49-F238E27FC236}">
                  <a16:creationId xmlns:a16="http://schemas.microsoft.com/office/drawing/2014/main" id="{1C719B44-FA92-594B-8E17-4A5C23A8F44E}"/>
                </a:ext>
              </a:extLst>
            </p:cNvPr>
            <p:cNvSpPr txBox="1">
              <a:spLocks noChangeArrowheads="1"/>
            </p:cNvSpPr>
            <p:nvPr/>
          </p:nvSpPr>
          <p:spPr bwMode="auto">
            <a:xfrm>
              <a:off x="4830" y="2962"/>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server</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forgets x</a:t>
              </a:r>
            </a:p>
          </p:txBody>
        </p:sp>
        <p:grpSp>
          <p:nvGrpSpPr>
            <p:cNvPr id="173" name="Group 178">
              <a:extLst>
                <a:ext uri="{FF2B5EF4-FFF2-40B4-BE49-F238E27FC236}">
                  <a16:creationId xmlns:a16="http://schemas.microsoft.com/office/drawing/2014/main" id="{EC86099C-C8AD-6846-8AE7-34CA041B869C}"/>
                </a:ext>
              </a:extLst>
            </p:cNvPr>
            <p:cNvGrpSpPr>
              <a:grpSpLocks/>
            </p:cNvGrpSpPr>
            <p:nvPr/>
          </p:nvGrpSpPr>
          <p:grpSpPr bwMode="auto">
            <a:xfrm>
              <a:off x="3570" y="1119"/>
              <a:ext cx="391" cy="307"/>
              <a:chOff x="-44" y="1473"/>
              <a:chExt cx="981" cy="1105"/>
            </a:xfrm>
          </p:grpSpPr>
          <p:pic>
            <p:nvPicPr>
              <p:cNvPr id="207" name="Picture 179" descr="desktop_computer_stylized_medium">
                <a:extLst>
                  <a:ext uri="{FF2B5EF4-FFF2-40B4-BE49-F238E27FC236}">
                    <a16:creationId xmlns:a16="http://schemas.microsoft.com/office/drawing/2014/main" id="{F1C9C236-427D-834B-8DAC-99F53A437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 name="Freeform 180">
                <a:extLst>
                  <a:ext uri="{FF2B5EF4-FFF2-40B4-BE49-F238E27FC236}">
                    <a16:creationId xmlns:a16="http://schemas.microsoft.com/office/drawing/2014/main" id="{77EA5CD5-1868-AB46-B031-A7892A487F0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74" name="Group 181">
              <a:extLst>
                <a:ext uri="{FF2B5EF4-FFF2-40B4-BE49-F238E27FC236}">
                  <a16:creationId xmlns:a16="http://schemas.microsoft.com/office/drawing/2014/main" id="{D3F68FA6-F7DF-A146-A605-ABBDC8F8EFF8}"/>
                </a:ext>
              </a:extLst>
            </p:cNvPr>
            <p:cNvGrpSpPr>
              <a:grpSpLocks/>
            </p:cNvGrpSpPr>
            <p:nvPr/>
          </p:nvGrpSpPr>
          <p:grpSpPr bwMode="auto">
            <a:xfrm>
              <a:off x="4709" y="1107"/>
              <a:ext cx="212" cy="323"/>
              <a:chOff x="4140" y="429"/>
              <a:chExt cx="1425" cy="2396"/>
            </a:xfrm>
          </p:grpSpPr>
          <p:sp>
            <p:nvSpPr>
              <p:cNvPr id="175" name="Freeform 182">
                <a:extLst>
                  <a:ext uri="{FF2B5EF4-FFF2-40B4-BE49-F238E27FC236}">
                    <a16:creationId xmlns:a16="http://schemas.microsoft.com/office/drawing/2014/main" id="{1D2E36D3-F983-B54A-87F8-4B0FB1D0A97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76" name="Rectangle 183">
                <a:extLst>
                  <a:ext uri="{FF2B5EF4-FFF2-40B4-BE49-F238E27FC236}">
                    <a16:creationId xmlns:a16="http://schemas.microsoft.com/office/drawing/2014/main" id="{86762413-0C19-5E4F-AA7E-12F7BBEF4FE0}"/>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77" name="Freeform 184">
                <a:extLst>
                  <a:ext uri="{FF2B5EF4-FFF2-40B4-BE49-F238E27FC236}">
                    <a16:creationId xmlns:a16="http://schemas.microsoft.com/office/drawing/2014/main" id="{9ABD2B3D-5A73-0E4B-91D1-78596AD0A854}"/>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78" name="Freeform 185">
                <a:extLst>
                  <a:ext uri="{FF2B5EF4-FFF2-40B4-BE49-F238E27FC236}">
                    <a16:creationId xmlns:a16="http://schemas.microsoft.com/office/drawing/2014/main" id="{CAECD6F3-58BC-F24D-9434-643EDC4E7A8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79" name="Rectangle 186">
                <a:extLst>
                  <a:ext uri="{FF2B5EF4-FFF2-40B4-BE49-F238E27FC236}">
                    <a16:creationId xmlns:a16="http://schemas.microsoft.com/office/drawing/2014/main" id="{D640048A-92E5-F240-B20B-73B8FE8B2413}"/>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80" name="Group 187">
                <a:extLst>
                  <a:ext uri="{FF2B5EF4-FFF2-40B4-BE49-F238E27FC236}">
                    <a16:creationId xmlns:a16="http://schemas.microsoft.com/office/drawing/2014/main" id="{55FC97C6-B1FB-854D-94BE-E7BED8E1DC83}"/>
                  </a:ext>
                </a:extLst>
              </p:cNvPr>
              <p:cNvGrpSpPr>
                <a:grpSpLocks/>
              </p:cNvGrpSpPr>
              <p:nvPr/>
            </p:nvGrpSpPr>
            <p:grpSpPr bwMode="auto">
              <a:xfrm>
                <a:off x="4749" y="668"/>
                <a:ext cx="581" cy="145"/>
                <a:chOff x="614" y="2568"/>
                <a:chExt cx="725" cy="139"/>
              </a:xfrm>
            </p:grpSpPr>
            <p:sp>
              <p:nvSpPr>
                <p:cNvPr id="205" name="AutoShape 188">
                  <a:extLst>
                    <a:ext uri="{FF2B5EF4-FFF2-40B4-BE49-F238E27FC236}">
                      <a16:creationId xmlns:a16="http://schemas.microsoft.com/office/drawing/2014/main" id="{E2DCD474-0D76-1D47-938B-0347B4119D35}"/>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6" name="AutoShape 189">
                  <a:extLst>
                    <a:ext uri="{FF2B5EF4-FFF2-40B4-BE49-F238E27FC236}">
                      <a16:creationId xmlns:a16="http://schemas.microsoft.com/office/drawing/2014/main" id="{ADC0CDA4-3ACC-784D-AFDA-1C6EA9C5411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81" name="Rectangle 190">
                <a:extLst>
                  <a:ext uri="{FF2B5EF4-FFF2-40B4-BE49-F238E27FC236}">
                    <a16:creationId xmlns:a16="http://schemas.microsoft.com/office/drawing/2014/main" id="{AEEFE7D3-0B38-EE42-AA94-340CFCA0C0A3}"/>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82" name="Group 191">
                <a:extLst>
                  <a:ext uri="{FF2B5EF4-FFF2-40B4-BE49-F238E27FC236}">
                    <a16:creationId xmlns:a16="http://schemas.microsoft.com/office/drawing/2014/main" id="{3BFA70F3-4887-4A45-A0B0-300E77757667}"/>
                  </a:ext>
                </a:extLst>
              </p:cNvPr>
              <p:cNvGrpSpPr>
                <a:grpSpLocks/>
              </p:cNvGrpSpPr>
              <p:nvPr/>
            </p:nvGrpSpPr>
            <p:grpSpPr bwMode="auto">
              <a:xfrm>
                <a:off x="4747" y="994"/>
                <a:ext cx="581" cy="134"/>
                <a:chOff x="614" y="2568"/>
                <a:chExt cx="725" cy="139"/>
              </a:xfrm>
            </p:grpSpPr>
            <p:sp>
              <p:nvSpPr>
                <p:cNvPr id="203" name="AutoShape 192">
                  <a:extLst>
                    <a:ext uri="{FF2B5EF4-FFF2-40B4-BE49-F238E27FC236}">
                      <a16:creationId xmlns:a16="http://schemas.microsoft.com/office/drawing/2014/main" id="{14B933DF-A76C-E94B-9362-3D28B4CBFFB6}"/>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4" name="AutoShape 193">
                  <a:extLst>
                    <a:ext uri="{FF2B5EF4-FFF2-40B4-BE49-F238E27FC236}">
                      <a16:creationId xmlns:a16="http://schemas.microsoft.com/office/drawing/2014/main" id="{D1EC9173-2D5E-F641-9324-62AF5244C467}"/>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83" name="Rectangle 194">
                <a:extLst>
                  <a:ext uri="{FF2B5EF4-FFF2-40B4-BE49-F238E27FC236}">
                    <a16:creationId xmlns:a16="http://schemas.microsoft.com/office/drawing/2014/main" id="{B180E0D5-32AA-5A4A-92D4-28F216DC536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4" name="Rectangle 195">
                <a:extLst>
                  <a:ext uri="{FF2B5EF4-FFF2-40B4-BE49-F238E27FC236}">
                    <a16:creationId xmlns:a16="http://schemas.microsoft.com/office/drawing/2014/main" id="{A3E70690-FEFF-2446-B890-3315B37B0B0D}"/>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85" name="Group 196">
                <a:extLst>
                  <a:ext uri="{FF2B5EF4-FFF2-40B4-BE49-F238E27FC236}">
                    <a16:creationId xmlns:a16="http://schemas.microsoft.com/office/drawing/2014/main" id="{4184D53B-C370-5248-82BB-5D96E5BF521A}"/>
                  </a:ext>
                </a:extLst>
              </p:cNvPr>
              <p:cNvGrpSpPr>
                <a:grpSpLocks/>
              </p:cNvGrpSpPr>
              <p:nvPr/>
            </p:nvGrpSpPr>
            <p:grpSpPr bwMode="auto">
              <a:xfrm>
                <a:off x="4735" y="1627"/>
                <a:ext cx="582" cy="151"/>
                <a:chOff x="614" y="2568"/>
                <a:chExt cx="725" cy="139"/>
              </a:xfrm>
            </p:grpSpPr>
            <p:sp>
              <p:nvSpPr>
                <p:cNvPr id="201" name="AutoShape 197">
                  <a:extLst>
                    <a:ext uri="{FF2B5EF4-FFF2-40B4-BE49-F238E27FC236}">
                      <a16:creationId xmlns:a16="http://schemas.microsoft.com/office/drawing/2014/main" id="{66CD18C8-97C8-AD49-8806-45F2C3FA3A20}"/>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2" name="AutoShape 198">
                  <a:extLst>
                    <a:ext uri="{FF2B5EF4-FFF2-40B4-BE49-F238E27FC236}">
                      <a16:creationId xmlns:a16="http://schemas.microsoft.com/office/drawing/2014/main" id="{E4596270-7ACC-5941-82EB-426AAF88315D}"/>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86" name="Freeform 199">
                <a:extLst>
                  <a:ext uri="{FF2B5EF4-FFF2-40B4-BE49-F238E27FC236}">
                    <a16:creationId xmlns:a16="http://schemas.microsoft.com/office/drawing/2014/main" id="{8D520046-573E-1549-A1AD-345D7B8191C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87" name="Group 200">
                <a:extLst>
                  <a:ext uri="{FF2B5EF4-FFF2-40B4-BE49-F238E27FC236}">
                    <a16:creationId xmlns:a16="http://schemas.microsoft.com/office/drawing/2014/main" id="{CBDA9A7E-0A7F-D64B-867D-2FC72D58322A}"/>
                  </a:ext>
                </a:extLst>
              </p:cNvPr>
              <p:cNvGrpSpPr>
                <a:grpSpLocks/>
              </p:cNvGrpSpPr>
              <p:nvPr/>
            </p:nvGrpSpPr>
            <p:grpSpPr bwMode="auto">
              <a:xfrm>
                <a:off x="4739" y="1327"/>
                <a:ext cx="582" cy="139"/>
                <a:chOff x="614" y="2568"/>
                <a:chExt cx="725" cy="139"/>
              </a:xfrm>
            </p:grpSpPr>
            <p:sp>
              <p:nvSpPr>
                <p:cNvPr id="199" name="AutoShape 201">
                  <a:extLst>
                    <a:ext uri="{FF2B5EF4-FFF2-40B4-BE49-F238E27FC236}">
                      <a16:creationId xmlns:a16="http://schemas.microsoft.com/office/drawing/2014/main" id="{F7CB7A1E-7741-E24C-AFB5-5F057AFD0C52}"/>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0" name="AutoShape 202">
                  <a:extLst>
                    <a:ext uri="{FF2B5EF4-FFF2-40B4-BE49-F238E27FC236}">
                      <a16:creationId xmlns:a16="http://schemas.microsoft.com/office/drawing/2014/main" id="{93BC514D-19E5-DF47-87E9-7BF859D24356}"/>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88" name="Rectangle 203">
                <a:extLst>
                  <a:ext uri="{FF2B5EF4-FFF2-40B4-BE49-F238E27FC236}">
                    <a16:creationId xmlns:a16="http://schemas.microsoft.com/office/drawing/2014/main" id="{992A2C09-2187-A749-9718-F045A2349EA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9" name="Freeform 204">
                <a:extLst>
                  <a:ext uri="{FF2B5EF4-FFF2-40B4-BE49-F238E27FC236}">
                    <a16:creationId xmlns:a16="http://schemas.microsoft.com/office/drawing/2014/main" id="{D473F289-DF79-1D4B-BA3A-57AFA552A24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0" name="Freeform 205">
                <a:extLst>
                  <a:ext uri="{FF2B5EF4-FFF2-40B4-BE49-F238E27FC236}">
                    <a16:creationId xmlns:a16="http://schemas.microsoft.com/office/drawing/2014/main" id="{55F98009-7662-6D40-889B-2D6F20DE3EA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1" name="Oval 206">
                <a:extLst>
                  <a:ext uri="{FF2B5EF4-FFF2-40B4-BE49-F238E27FC236}">
                    <a16:creationId xmlns:a16="http://schemas.microsoft.com/office/drawing/2014/main" id="{8C0E348C-3A61-F54D-B6E7-8EEC0C479961}"/>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2" name="Freeform 207">
                <a:extLst>
                  <a:ext uri="{FF2B5EF4-FFF2-40B4-BE49-F238E27FC236}">
                    <a16:creationId xmlns:a16="http://schemas.microsoft.com/office/drawing/2014/main" id="{06CDC36B-C766-0244-ABF7-3336A9C2E7B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3" name="AutoShape 208">
                <a:extLst>
                  <a:ext uri="{FF2B5EF4-FFF2-40B4-BE49-F238E27FC236}">
                    <a16:creationId xmlns:a16="http://schemas.microsoft.com/office/drawing/2014/main" id="{E47AE9BE-71F7-0C40-BB36-B6201EAE727F}"/>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4" name="AutoShape 209">
                <a:extLst>
                  <a:ext uri="{FF2B5EF4-FFF2-40B4-BE49-F238E27FC236}">
                    <a16:creationId xmlns:a16="http://schemas.microsoft.com/office/drawing/2014/main" id="{6DDF70D2-966F-0443-BFEC-34DC981AB2D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5" name="Oval 210">
                <a:extLst>
                  <a:ext uri="{FF2B5EF4-FFF2-40B4-BE49-F238E27FC236}">
                    <a16:creationId xmlns:a16="http://schemas.microsoft.com/office/drawing/2014/main" id="{DFF00D08-0F51-F044-8429-6F3D5CC28DB2}"/>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6" name="Oval 211">
                <a:extLst>
                  <a:ext uri="{FF2B5EF4-FFF2-40B4-BE49-F238E27FC236}">
                    <a16:creationId xmlns:a16="http://schemas.microsoft.com/office/drawing/2014/main" id="{BBFCC1D5-E5D6-FB46-9D8C-E8CE8BFE2270}"/>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197" name="Oval 212">
                <a:extLst>
                  <a:ext uri="{FF2B5EF4-FFF2-40B4-BE49-F238E27FC236}">
                    <a16:creationId xmlns:a16="http://schemas.microsoft.com/office/drawing/2014/main" id="{F4244C1D-3E80-C847-BD71-A4309DAB13CE}"/>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8" name="Rectangle 213">
                <a:extLst>
                  <a:ext uri="{FF2B5EF4-FFF2-40B4-BE49-F238E27FC236}">
                    <a16:creationId xmlns:a16="http://schemas.microsoft.com/office/drawing/2014/main" id="{F13C27D5-275D-5C47-9B76-D6F9DDED6AD3}"/>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grpSp>
        <p:nvGrpSpPr>
          <p:cNvPr id="213" name="Group 212">
            <a:extLst>
              <a:ext uri="{FF2B5EF4-FFF2-40B4-BE49-F238E27FC236}">
                <a16:creationId xmlns:a16="http://schemas.microsoft.com/office/drawing/2014/main" id="{3BB0CBF7-361A-5548-A01C-90FF3005AB01}"/>
              </a:ext>
            </a:extLst>
          </p:cNvPr>
          <p:cNvGrpSpPr/>
          <p:nvPr/>
        </p:nvGrpSpPr>
        <p:grpSpPr>
          <a:xfrm>
            <a:off x="8552901" y="4453987"/>
            <a:ext cx="2661557" cy="646331"/>
            <a:chOff x="8757558" y="5903267"/>
            <a:chExt cx="3548742" cy="861775"/>
          </a:xfrm>
        </p:grpSpPr>
        <p:sp>
          <p:nvSpPr>
            <p:cNvPr id="214" name="TextBox 213">
              <a:extLst>
                <a:ext uri="{FF2B5EF4-FFF2-40B4-BE49-F238E27FC236}">
                  <a16:creationId xmlns:a16="http://schemas.microsoft.com/office/drawing/2014/main" id="{9C02D14E-840C-344B-9763-DE44A289373C}"/>
                </a:ext>
              </a:extLst>
            </p:cNvPr>
            <p:cNvSpPr txBox="1"/>
            <p:nvPr/>
          </p:nvSpPr>
          <p:spPr>
            <a:xfrm>
              <a:off x="9372601" y="5903267"/>
              <a:ext cx="2933699" cy="861775"/>
            </a:xfrm>
            <a:prstGeom prst="rect">
              <a:avLst/>
            </a:prstGeom>
            <a:noFill/>
          </p:spPr>
          <p:txBody>
            <a:bodyPr wrap="square" rtlCol="0">
              <a:spAutoFit/>
            </a:bodyPr>
            <a:lstStyle/>
            <a:p>
              <a:pPr defTabSz="685800">
                <a:defRPr/>
              </a:pPr>
              <a:r>
                <a:rPr lang="en-US" dirty="0">
                  <a:solidFill>
                    <a:prstClr val="black"/>
                  </a:solidFill>
                  <a:latin typeface="Avenir Book" panose="020B0503020203020204" pitchFamily="34" charset="-78"/>
                  <a:cs typeface="Avenir Book" panose="020B0503020203020204" pitchFamily="34" charset="-78"/>
                </a:rPr>
                <a:t>Problem: dup data</a:t>
              </a:r>
            </a:p>
            <a:p>
              <a:pPr defTabSz="685800">
                <a:defRPr/>
              </a:pPr>
              <a:r>
                <a:rPr lang="en-US" dirty="0">
                  <a:solidFill>
                    <a:prstClr val="black"/>
                  </a:solidFill>
                  <a:latin typeface="Avenir Book" panose="020B0503020203020204" pitchFamily="34" charset="-78"/>
                  <a:cs typeface="Avenir Book" panose="020B0503020203020204" pitchFamily="34" charset="-78"/>
                </a:rPr>
                <a:t>accepted!</a:t>
              </a:r>
            </a:p>
          </p:txBody>
        </p:sp>
        <p:pic>
          <p:nvPicPr>
            <p:cNvPr id="215" name="Picture 214" descr="A picture containing drawing&#10;&#10;Description automatically generated">
              <a:extLst>
                <a:ext uri="{FF2B5EF4-FFF2-40B4-BE49-F238E27FC236}">
                  <a16:creationId xmlns:a16="http://schemas.microsoft.com/office/drawing/2014/main" id="{44630E30-AB86-2744-AC77-B540735E14B7}"/>
                </a:ext>
              </a:extLst>
            </p:cNvPr>
            <p:cNvPicPr>
              <a:picLocks noChangeAspect="1"/>
            </p:cNvPicPr>
            <p:nvPr/>
          </p:nvPicPr>
          <p:blipFill>
            <a:blip r:embed="rId5"/>
            <a:stretch>
              <a:fillRect/>
            </a:stretch>
          </p:blipFill>
          <p:spPr>
            <a:xfrm>
              <a:off x="8757558" y="6003472"/>
              <a:ext cx="636815" cy="636815"/>
            </a:xfrm>
            <a:prstGeom prst="rect">
              <a:avLst/>
            </a:prstGeom>
          </p:spPr>
        </p:pic>
      </p:grpSp>
      <p:grpSp>
        <p:nvGrpSpPr>
          <p:cNvPr id="216" name="Group 215">
            <a:extLst>
              <a:ext uri="{FF2B5EF4-FFF2-40B4-BE49-F238E27FC236}">
                <a16:creationId xmlns:a16="http://schemas.microsoft.com/office/drawing/2014/main" id="{FF4B12AC-451D-994B-8F10-E450C0737005}"/>
              </a:ext>
            </a:extLst>
          </p:cNvPr>
          <p:cNvGrpSpPr/>
          <p:nvPr/>
        </p:nvGrpSpPr>
        <p:grpSpPr>
          <a:xfrm>
            <a:off x="7810290" y="2554629"/>
            <a:ext cx="2997994" cy="1799297"/>
            <a:chOff x="3185703" y="3422010"/>
            <a:chExt cx="3997325" cy="2399062"/>
          </a:xfrm>
        </p:grpSpPr>
        <p:sp>
          <p:nvSpPr>
            <p:cNvPr id="217" name="Freeform 86">
              <a:extLst>
                <a:ext uri="{FF2B5EF4-FFF2-40B4-BE49-F238E27FC236}">
                  <a16:creationId xmlns:a16="http://schemas.microsoft.com/office/drawing/2014/main" id="{38A816A8-A2A7-7540-BCC4-F843FEC5A429}"/>
                </a:ext>
              </a:extLst>
            </p:cNvPr>
            <p:cNvSpPr>
              <a:spLocks/>
            </p:cNvSpPr>
            <p:nvPr/>
          </p:nvSpPr>
          <p:spPr bwMode="auto">
            <a:xfrm>
              <a:off x="4431891" y="3661722"/>
              <a:ext cx="1501775" cy="1897063"/>
            </a:xfrm>
            <a:custGeom>
              <a:avLst/>
              <a:gdLst>
                <a:gd name="T0" fmla="*/ 0 w 946"/>
                <a:gd name="T1" fmla="*/ 15 h 1195"/>
                <a:gd name="T2" fmla="*/ 199 w 946"/>
                <a:gd name="T3" fmla="*/ 164 h 1195"/>
                <a:gd name="T4" fmla="*/ 320 w 946"/>
                <a:gd name="T5" fmla="*/ 960 h 1195"/>
                <a:gd name="T6" fmla="*/ 946 w 946"/>
                <a:gd name="T7" fmla="*/ 1138 h 11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6" h="1195">
                  <a:moveTo>
                    <a:pt x="0" y="15"/>
                  </a:moveTo>
                  <a:cubicBezTo>
                    <a:pt x="32" y="40"/>
                    <a:pt x="114" y="0"/>
                    <a:pt x="199" y="164"/>
                  </a:cubicBezTo>
                  <a:cubicBezTo>
                    <a:pt x="284" y="328"/>
                    <a:pt x="195" y="798"/>
                    <a:pt x="320" y="960"/>
                  </a:cubicBezTo>
                  <a:cubicBezTo>
                    <a:pt x="477" y="1195"/>
                    <a:pt x="816" y="1101"/>
                    <a:pt x="946" y="1138"/>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18" name="Rectangle 88">
              <a:extLst>
                <a:ext uri="{FF2B5EF4-FFF2-40B4-BE49-F238E27FC236}">
                  <a16:creationId xmlns:a16="http://schemas.microsoft.com/office/drawing/2014/main" id="{2B3E4B53-E066-C34C-A204-C42E865280B3}"/>
                </a:ext>
              </a:extLst>
            </p:cNvPr>
            <p:cNvSpPr>
              <a:spLocks noChangeArrowheads="1"/>
            </p:cNvSpPr>
            <p:nvPr/>
          </p:nvSpPr>
          <p:spPr bwMode="auto">
            <a:xfrm>
              <a:off x="4782728" y="5196835"/>
              <a:ext cx="711200" cy="2825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9" name="Text Box 87">
              <a:extLst>
                <a:ext uri="{FF2B5EF4-FFF2-40B4-BE49-F238E27FC236}">
                  <a16:creationId xmlns:a16="http://schemas.microsoft.com/office/drawing/2014/main" id="{3D13DFEA-C794-CD4D-B546-BEBC15495B31}"/>
                </a:ext>
              </a:extLst>
            </p:cNvPr>
            <p:cNvSpPr txBox="1">
              <a:spLocks noChangeArrowheads="1"/>
            </p:cNvSpPr>
            <p:nvPr/>
          </p:nvSpPr>
          <p:spPr bwMode="auto">
            <a:xfrm>
              <a:off x="4459651" y="5152386"/>
              <a:ext cx="110970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data(x+1)</a:t>
              </a:r>
            </a:p>
          </p:txBody>
        </p:sp>
        <p:sp>
          <p:nvSpPr>
            <p:cNvPr id="220" name="Text Box 89">
              <a:extLst>
                <a:ext uri="{FF2B5EF4-FFF2-40B4-BE49-F238E27FC236}">
                  <a16:creationId xmlns:a16="http://schemas.microsoft.com/office/drawing/2014/main" id="{5708E844-9ADD-5141-AEAF-930791B6807E}"/>
                </a:ext>
              </a:extLst>
            </p:cNvPr>
            <p:cNvSpPr txBox="1">
              <a:spLocks noChangeArrowheads="1"/>
            </p:cNvSpPr>
            <p:nvPr/>
          </p:nvSpPr>
          <p:spPr bwMode="auto">
            <a:xfrm>
              <a:off x="3185703" y="3422010"/>
              <a:ext cx="1273175"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data(x+1)</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221" name="Text Box 90">
              <a:extLst>
                <a:ext uri="{FF2B5EF4-FFF2-40B4-BE49-F238E27FC236}">
                  <a16:creationId xmlns:a16="http://schemas.microsoft.com/office/drawing/2014/main" id="{32C37D16-8B61-D246-B162-8D0E36A5BA9F}"/>
                </a:ext>
              </a:extLst>
            </p:cNvPr>
            <p:cNvSpPr txBox="1">
              <a:spLocks noChangeArrowheads="1"/>
            </p:cNvSpPr>
            <p:nvPr/>
          </p:nvSpPr>
          <p:spPr bwMode="auto">
            <a:xfrm>
              <a:off x="6011453" y="5279385"/>
              <a:ext cx="1171575" cy="5416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accept</a:t>
              </a:r>
            </a:p>
            <a:p>
              <a:pP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data(x+1)</a:t>
              </a:r>
            </a:p>
          </p:txBody>
        </p:sp>
      </p:grpSp>
      <p:grpSp>
        <p:nvGrpSpPr>
          <p:cNvPr id="222" name="Group 221">
            <a:extLst>
              <a:ext uri="{FF2B5EF4-FFF2-40B4-BE49-F238E27FC236}">
                <a16:creationId xmlns:a16="http://schemas.microsoft.com/office/drawing/2014/main" id="{2FBF50D0-D345-1348-8991-01B659F7A8D4}"/>
              </a:ext>
            </a:extLst>
          </p:cNvPr>
          <p:cNvGrpSpPr/>
          <p:nvPr/>
        </p:nvGrpSpPr>
        <p:grpSpPr>
          <a:xfrm>
            <a:off x="7696979" y="1662650"/>
            <a:ext cx="2813669" cy="2268915"/>
            <a:chOff x="3078166" y="2369497"/>
            <a:chExt cx="3751557" cy="3025220"/>
          </a:xfrm>
        </p:grpSpPr>
        <p:grpSp>
          <p:nvGrpSpPr>
            <p:cNvPr id="223" name="Group 222">
              <a:extLst>
                <a:ext uri="{FF2B5EF4-FFF2-40B4-BE49-F238E27FC236}">
                  <a16:creationId xmlns:a16="http://schemas.microsoft.com/office/drawing/2014/main" id="{6190F2C1-0C5D-3A42-A359-9CD3AF8C99E1}"/>
                </a:ext>
              </a:extLst>
            </p:cNvPr>
            <p:cNvGrpSpPr/>
            <p:nvPr/>
          </p:nvGrpSpPr>
          <p:grpSpPr>
            <a:xfrm>
              <a:off x="3078166" y="2369497"/>
              <a:ext cx="3751557" cy="3025220"/>
              <a:chOff x="3078166" y="2369497"/>
              <a:chExt cx="3751557" cy="3025220"/>
            </a:xfrm>
          </p:grpSpPr>
          <p:grpSp>
            <p:nvGrpSpPr>
              <p:cNvPr id="226" name="Group 225">
                <a:extLst>
                  <a:ext uri="{FF2B5EF4-FFF2-40B4-BE49-F238E27FC236}">
                    <a16:creationId xmlns:a16="http://schemas.microsoft.com/office/drawing/2014/main" id="{56EB4120-1B3C-1046-99F5-B25161010680}"/>
                  </a:ext>
                </a:extLst>
              </p:cNvPr>
              <p:cNvGrpSpPr/>
              <p:nvPr/>
            </p:nvGrpSpPr>
            <p:grpSpPr>
              <a:xfrm>
                <a:off x="3078166" y="2369497"/>
                <a:ext cx="3751557" cy="3025220"/>
                <a:chOff x="3078166" y="2369497"/>
                <a:chExt cx="3751557" cy="3025220"/>
              </a:xfrm>
            </p:grpSpPr>
            <p:sp>
              <p:nvSpPr>
                <p:cNvPr id="228" name="Text Box 69">
                  <a:extLst>
                    <a:ext uri="{FF2B5EF4-FFF2-40B4-BE49-F238E27FC236}">
                      <a16:creationId xmlns:a16="http://schemas.microsoft.com/office/drawing/2014/main" id="{EE39D5A5-75E8-1642-A928-9D7249ADC116}"/>
                    </a:ext>
                  </a:extLst>
                </p:cNvPr>
                <p:cNvSpPr txBox="1">
                  <a:spLocks noChangeArrowheads="1"/>
                </p:cNvSpPr>
                <p:nvPr/>
              </p:nvSpPr>
              <p:spPr bwMode="auto">
                <a:xfrm>
                  <a:off x="3078166" y="2369497"/>
                  <a:ext cx="1329913"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req_conn</a:t>
                  </a:r>
                  <a:r>
                    <a:rPr lang="en-US" sz="1200" kern="0" dirty="0">
                      <a:solidFill>
                        <a:srgbClr val="000000"/>
                      </a:solidFill>
                      <a:latin typeface="Avenir Book" panose="020B0503020203020204" pitchFamily="34" charset="-78"/>
                      <a:cs typeface="Avenir Book" panose="020B0503020203020204" pitchFamily="34" charset="-78"/>
                    </a:rPr>
                    <a:t>(x)</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229" name="Freeform 70">
                  <a:extLst>
                    <a:ext uri="{FF2B5EF4-FFF2-40B4-BE49-F238E27FC236}">
                      <a16:creationId xmlns:a16="http://schemas.microsoft.com/office/drawing/2014/main" id="{87666E37-BAB8-714B-BDF4-51ADC162FD6B}"/>
                    </a:ext>
                  </a:extLst>
                </p:cNvPr>
                <p:cNvSpPr>
                  <a:spLocks/>
                </p:cNvSpPr>
                <p:nvPr/>
              </p:nvSpPr>
              <p:spPr bwMode="auto">
                <a:xfrm>
                  <a:off x="4449353" y="2671122"/>
                  <a:ext cx="1527175" cy="2559050"/>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30" name="Text Box 71">
                  <a:extLst>
                    <a:ext uri="{FF2B5EF4-FFF2-40B4-BE49-F238E27FC236}">
                      <a16:creationId xmlns:a16="http://schemas.microsoft.com/office/drawing/2014/main" id="{B25E41D2-C0CA-EB48-880B-B13A1DD07596}"/>
                    </a:ext>
                  </a:extLst>
                </p:cNvPr>
                <p:cNvSpPr txBox="1">
                  <a:spLocks noChangeArrowheads="1"/>
                </p:cNvSpPr>
                <p:nvPr/>
              </p:nvSpPr>
              <p:spPr bwMode="auto">
                <a:xfrm>
                  <a:off x="5961536" y="5025385"/>
                  <a:ext cx="868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grpSp>
          <p:sp>
            <p:nvSpPr>
              <p:cNvPr id="227" name="Oval 72">
                <a:extLst>
                  <a:ext uri="{FF2B5EF4-FFF2-40B4-BE49-F238E27FC236}">
                    <a16:creationId xmlns:a16="http://schemas.microsoft.com/office/drawing/2014/main" id="{64BE47B6-AB1B-DB4F-891D-6475A8808F8F}"/>
                  </a:ext>
                </a:extLst>
              </p:cNvPr>
              <p:cNvSpPr>
                <a:spLocks noChangeArrowheads="1"/>
              </p:cNvSpPr>
              <p:nvPr/>
            </p:nvSpPr>
            <p:spPr bwMode="auto">
              <a:xfrm>
                <a:off x="5933666" y="5152385"/>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sp>
          <p:nvSpPr>
            <p:cNvPr id="224" name="Rectangle 74">
              <a:extLst>
                <a:ext uri="{FF2B5EF4-FFF2-40B4-BE49-F238E27FC236}">
                  <a16:creationId xmlns:a16="http://schemas.microsoft.com/office/drawing/2014/main" id="{27FAA0CE-40E3-9343-AB09-AE069D66FDA9}"/>
                </a:ext>
              </a:extLst>
            </p:cNvPr>
            <p:cNvSpPr>
              <a:spLocks noChangeArrowheads="1"/>
            </p:cNvSpPr>
            <p:nvPr/>
          </p:nvSpPr>
          <p:spPr bwMode="auto">
            <a:xfrm>
              <a:off x="4660491" y="4725570"/>
              <a:ext cx="1071563" cy="26035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5" name="Text Box 75">
              <a:extLst>
                <a:ext uri="{FF2B5EF4-FFF2-40B4-BE49-F238E27FC236}">
                  <a16:creationId xmlns:a16="http://schemas.microsoft.com/office/drawing/2014/main" id="{DDB36B2F-A920-A540-B13F-3450D027F31C}"/>
                </a:ext>
              </a:extLst>
            </p:cNvPr>
            <p:cNvSpPr txBox="1">
              <a:spLocks noChangeArrowheads="1"/>
            </p:cNvSpPr>
            <p:nvPr/>
          </p:nvSpPr>
          <p:spPr bwMode="auto">
            <a:xfrm>
              <a:off x="4729416" y="4650732"/>
              <a:ext cx="135122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req_conn</a:t>
              </a:r>
              <a:r>
                <a:rPr lang="en-US" sz="1200" kern="0" dirty="0">
                  <a:solidFill>
                    <a:srgbClr val="000000"/>
                  </a:solidFill>
                  <a:latin typeface="Avenir Book" panose="020B0503020203020204" pitchFamily="34" charset="-78"/>
                  <a:cs typeface="Avenir Book" panose="020B0503020203020204" pitchFamily="34" charset="-78"/>
                </a:rPr>
                <a:t>(x)</a:t>
              </a:r>
            </a:p>
          </p:txBody>
        </p:sp>
      </p:grpSp>
    </p:spTree>
    <p:extLst>
      <p:ext uri="{BB962C8B-B14F-4D97-AF65-F5344CB8AC3E}">
        <p14:creationId xmlns:p14="http://schemas.microsoft.com/office/powerpoint/2010/main" val="304609875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23"/>
                                        </p:tgtEl>
                                        <p:attrNameLst>
                                          <p:attrName>style.visibility</p:attrName>
                                        </p:attrNameLst>
                                      </p:cBhvr>
                                      <p:to>
                                        <p:strVal val="visible"/>
                                      </p:to>
                                    </p:set>
                                    <p:anim calcmode="lin" valueType="num">
                                      <p:cBhvr>
                                        <p:cTn id="7" dur="500" fill="hold"/>
                                        <p:tgtEl>
                                          <p:spTgt spid="423"/>
                                        </p:tgtEl>
                                        <p:attrNameLst>
                                          <p:attrName>ppt_w</p:attrName>
                                        </p:attrNameLst>
                                      </p:cBhvr>
                                      <p:tavLst>
                                        <p:tav tm="0">
                                          <p:val>
                                            <p:fltVal val="0"/>
                                          </p:val>
                                        </p:tav>
                                        <p:tav tm="100000">
                                          <p:val>
                                            <p:strVal val="#ppt_w"/>
                                          </p:val>
                                        </p:tav>
                                      </p:tavLst>
                                    </p:anim>
                                    <p:anim calcmode="lin" valueType="num">
                                      <p:cBhvr>
                                        <p:cTn id="8" dur="500" fill="hold"/>
                                        <p:tgtEl>
                                          <p:spTgt spid="423"/>
                                        </p:tgtEl>
                                        <p:attrNameLst>
                                          <p:attrName>ppt_h</p:attrName>
                                        </p:attrNameLst>
                                      </p:cBhvr>
                                      <p:tavLst>
                                        <p:tav tm="0">
                                          <p:val>
                                            <p:fltVal val="0"/>
                                          </p:val>
                                        </p:tav>
                                        <p:tav tm="100000">
                                          <p:val>
                                            <p:strVal val="#ppt_h"/>
                                          </p:val>
                                        </p:tav>
                                      </p:tavLst>
                                    </p:anim>
                                    <p:animEffect transition="in" filter="fade">
                                      <p:cBhvr>
                                        <p:cTn id="9" dur="500"/>
                                        <p:tgtEl>
                                          <p:spTgt spid="42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90"/>
                                        </p:tgtEl>
                                        <p:attrNameLst>
                                          <p:attrName>style.visibility</p:attrName>
                                        </p:attrNameLst>
                                      </p:cBhvr>
                                      <p:to>
                                        <p:strVal val="visible"/>
                                      </p:to>
                                    </p:set>
                                    <p:animEffect transition="in" filter="wipe(up)">
                                      <p:cBhvr>
                                        <p:cTn id="29" dur="2000"/>
                                        <p:tgtEl>
                                          <p:spTgt spid="9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85"/>
                                        </p:tgtEl>
                                        <p:attrNameLst>
                                          <p:attrName>style.visibility</p:attrName>
                                        </p:attrNameLst>
                                      </p:cBhvr>
                                      <p:to>
                                        <p:strVal val="visible"/>
                                      </p:to>
                                    </p:set>
                                    <p:animEffect transition="in" filter="dissolve">
                                      <p:cBhvr>
                                        <p:cTn id="34" dur="500"/>
                                        <p:tgtEl>
                                          <p:spTgt spid="8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79"/>
                                        </p:tgtEl>
                                        <p:attrNameLst>
                                          <p:attrName>style.visibility</p:attrName>
                                        </p:attrNameLst>
                                      </p:cBhvr>
                                      <p:to>
                                        <p:strVal val="visible"/>
                                      </p:to>
                                    </p:set>
                                    <p:animEffect transition="in" filter="wipe(up)">
                                      <p:cBhvr>
                                        <p:cTn id="39" dur="500"/>
                                        <p:tgtEl>
                                          <p:spTgt spid="7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76"/>
                                        </p:tgtEl>
                                        <p:attrNameLst>
                                          <p:attrName>style.visibility</p:attrName>
                                        </p:attrNameLst>
                                      </p:cBhvr>
                                      <p:to>
                                        <p:strVal val="visible"/>
                                      </p:to>
                                    </p:set>
                                    <p:animEffect transition="in" filter="dissolve">
                                      <p:cBhvr>
                                        <p:cTn id="44" dur="500"/>
                                        <p:tgtEl>
                                          <p:spTgt spid="7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nodeType="clickEffect">
                                  <p:stCondLst>
                                    <p:cond delay="0"/>
                                  </p:stCondLst>
                                  <p:childTnLst>
                                    <p:set>
                                      <p:cBhvr>
                                        <p:cTn id="48" dur="1" fill="hold">
                                          <p:stCondLst>
                                            <p:cond delay="0"/>
                                          </p:stCondLst>
                                        </p:cTn>
                                        <p:tgtEl>
                                          <p:spTgt spid="140"/>
                                        </p:tgtEl>
                                        <p:attrNameLst>
                                          <p:attrName>style.visibility</p:attrName>
                                        </p:attrNameLst>
                                      </p:cBhvr>
                                      <p:to>
                                        <p:strVal val="visible"/>
                                      </p:to>
                                    </p:set>
                                    <p:animEffect transition="in" filter="wipe(right)">
                                      <p:cBhvr>
                                        <p:cTn id="49" dur="500"/>
                                        <p:tgtEl>
                                          <p:spTgt spid="140"/>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146"/>
                                        </p:tgtEl>
                                        <p:attrNameLst>
                                          <p:attrName>style.visibility</p:attrName>
                                        </p:attrNameLst>
                                      </p:cBhvr>
                                      <p:to>
                                        <p:strVal val="visible"/>
                                      </p:to>
                                    </p:set>
                                    <p:animEffect transition="in" filter="dissolve">
                                      <p:cBhvr>
                                        <p:cTn id="54" dur="500"/>
                                        <p:tgtEl>
                                          <p:spTgt spid="146"/>
                                        </p:tgtEl>
                                      </p:cBhvr>
                                    </p:animEffect>
                                  </p:childTnLst>
                                </p:cTn>
                              </p:par>
                              <p:par>
                                <p:cTn id="55" presetID="1" presetClass="entr" presetSubtype="0" fill="hold" nodeType="withEffect">
                                  <p:stCondLst>
                                    <p:cond delay="0"/>
                                  </p:stCondLst>
                                  <p:childTnLst>
                                    <p:set>
                                      <p:cBhvr>
                                        <p:cTn id="56" dur="1" fill="hold">
                                          <p:stCondLst>
                                            <p:cond delay="0"/>
                                          </p:stCondLst>
                                        </p:cTn>
                                        <p:tgtEl>
                                          <p:spTgt spid="15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222"/>
                                        </p:tgtEl>
                                        <p:attrNameLst>
                                          <p:attrName>style.visibility</p:attrName>
                                        </p:attrNameLst>
                                      </p:cBhvr>
                                      <p:to>
                                        <p:strVal val="visible"/>
                                      </p:to>
                                    </p:set>
                                    <p:animEffect transition="in" filter="wipe(up)">
                                      <p:cBhvr>
                                        <p:cTn id="61" dur="500"/>
                                        <p:tgtEl>
                                          <p:spTgt spid="22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216"/>
                                        </p:tgtEl>
                                        <p:attrNameLst>
                                          <p:attrName>style.visibility</p:attrName>
                                        </p:attrNameLst>
                                      </p:cBhvr>
                                      <p:to>
                                        <p:strVal val="visible"/>
                                      </p:to>
                                    </p:set>
                                    <p:animEffect transition="in" filter="wipe(up)">
                                      <p:cBhvr>
                                        <p:cTn id="66" dur="500"/>
                                        <p:tgtEl>
                                          <p:spTgt spid="216"/>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213"/>
                                        </p:tgtEl>
                                        <p:attrNameLst>
                                          <p:attrName>style.visibility</p:attrName>
                                        </p:attrNameLst>
                                      </p:cBhvr>
                                      <p:to>
                                        <p:strVal val="visible"/>
                                      </p:to>
                                    </p:set>
                                    <p:animEffect transition="in" filter="dissolve">
                                      <p:cBhvr>
                                        <p:cTn id="71" dur="5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095568" y="403278"/>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3-way Handshake</a:t>
            </a:r>
            <a:endParaRPr lang="en-US" sz="3300" dirty="0">
              <a:latin typeface="Avenir Book" panose="020B0503020203020204" pitchFamily="34" charset="-78"/>
              <a:cs typeface="Avenir Book" panose="020B0503020203020204" pitchFamily="34" charset="-78"/>
            </a:endParaRPr>
          </a:p>
        </p:txBody>
      </p:sp>
      <p:sp>
        <p:nvSpPr>
          <p:cNvPr id="215" name="Line 5">
            <a:extLst>
              <a:ext uri="{FF2B5EF4-FFF2-40B4-BE49-F238E27FC236}">
                <a16:creationId xmlns:a16="http://schemas.microsoft.com/office/drawing/2014/main" id="{977A2B4A-655D-5443-8A4F-92884511787E}"/>
              </a:ext>
            </a:extLst>
          </p:cNvPr>
          <p:cNvSpPr>
            <a:spLocks noChangeShapeType="1"/>
          </p:cNvSpPr>
          <p:nvPr/>
        </p:nvSpPr>
        <p:spPr bwMode="auto">
          <a:xfrm flipH="1">
            <a:off x="5094024" y="2495280"/>
            <a:ext cx="1191" cy="1852613"/>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16" name="Group 102">
            <a:extLst>
              <a:ext uri="{FF2B5EF4-FFF2-40B4-BE49-F238E27FC236}">
                <a16:creationId xmlns:a16="http://schemas.microsoft.com/office/drawing/2014/main" id="{1F3D6A6C-5FEE-8646-8A80-04AC9F3BFF74}"/>
              </a:ext>
            </a:extLst>
          </p:cNvPr>
          <p:cNvGrpSpPr>
            <a:grpSpLocks/>
          </p:cNvGrpSpPr>
          <p:nvPr/>
        </p:nvGrpSpPr>
        <p:grpSpPr bwMode="auto">
          <a:xfrm>
            <a:off x="3546212" y="2440511"/>
            <a:ext cx="3429000" cy="716756"/>
            <a:chOff x="761" y="1363"/>
            <a:chExt cx="2880" cy="602"/>
          </a:xfrm>
        </p:grpSpPr>
        <p:sp>
          <p:nvSpPr>
            <p:cNvPr id="217" name="Line 10">
              <a:extLst>
                <a:ext uri="{FF2B5EF4-FFF2-40B4-BE49-F238E27FC236}">
                  <a16:creationId xmlns:a16="http://schemas.microsoft.com/office/drawing/2014/main" id="{EE87312F-9111-3748-8D8C-BFB220C5EE37}"/>
                </a:ext>
              </a:extLst>
            </p:cNvPr>
            <p:cNvSpPr>
              <a:spLocks noChangeShapeType="1"/>
            </p:cNvSpPr>
            <p:nvPr/>
          </p:nvSpPr>
          <p:spPr bwMode="auto">
            <a:xfrm>
              <a:off x="2062" y="1502"/>
              <a:ext cx="1579" cy="46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8" name="Rectangle 12">
              <a:extLst>
                <a:ext uri="{FF2B5EF4-FFF2-40B4-BE49-F238E27FC236}">
                  <a16:creationId xmlns:a16="http://schemas.microsoft.com/office/drawing/2014/main" id="{F50F8FCD-3A00-574F-A159-92B207C593BD}"/>
                </a:ext>
              </a:extLst>
            </p:cNvPr>
            <p:cNvSpPr>
              <a:spLocks noChangeArrowheads="1"/>
            </p:cNvSpPr>
            <p:nvPr/>
          </p:nvSpPr>
          <p:spPr bwMode="auto">
            <a:xfrm>
              <a:off x="2518" y="1565"/>
              <a:ext cx="590" cy="27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9" name="Text Box 13">
              <a:extLst>
                <a:ext uri="{FF2B5EF4-FFF2-40B4-BE49-F238E27FC236}">
                  <a16:creationId xmlns:a16="http://schemas.microsoft.com/office/drawing/2014/main" id="{24E8EE1C-DBA9-8F4D-82EE-29CEECDFAAD7}"/>
                </a:ext>
              </a:extLst>
            </p:cNvPr>
            <p:cNvSpPr txBox="1">
              <a:spLocks noChangeArrowheads="1"/>
            </p:cNvSpPr>
            <p:nvPr/>
          </p:nvSpPr>
          <p:spPr bwMode="auto">
            <a:xfrm>
              <a:off x="2286" y="1624"/>
              <a:ext cx="1145"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SYNbit=1, Seq=x</a:t>
              </a:r>
            </a:p>
          </p:txBody>
        </p:sp>
        <p:sp>
          <p:nvSpPr>
            <p:cNvPr id="220" name="Text Box 21">
              <a:extLst>
                <a:ext uri="{FF2B5EF4-FFF2-40B4-BE49-F238E27FC236}">
                  <a16:creationId xmlns:a16="http://schemas.microsoft.com/office/drawing/2014/main" id="{8343DEBF-07A5-D746-BE48-88F38BD40754}"/>
                </a:ext>
              </a:extLst>
            </p:cNvPr>
            <p:cNvSpPr txBox="1">
              <a:spLocks noChangeArrowheads="1"/>
            </p:cNvSpPr>
            <p:nvPr/>
          </p:nvSpPr>
          <p:spPr bwMode="auto">
            <a:xfrm>
              <a:off x="761" y="1363"/>
              <a:ext cx="1279" cy="32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choose init seq num, x</a:t>
              </a:r>
            </a:p>
            <a:p>
              <a:pPr algn="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send TCP SYN msg</a:t>
              </a:r>
            </a:p>
          </p:txBody>
        </p:sp>
      </p:grpSp>
      <p:sp>
        <p:nvSpPr>
          <p:cNvPr id="221" name="Line 22">
            <a:extLst>
              <a:ext uri="{FF2B5EF4-FFF2-40B4-BE49-F238E27FC236}">
                <a16:creationId xmlns:a16="http://schemas.microsoft.com/office/drawing/2014/main" id="{2FC7049F-93A3-A84A-9D90-B3F4B6E3F6E9}"/>
              </a:ext>
            </a:extLst>
          </p:cNvPr>
          <p:cNvSpPr>
            <a:spLocks noChangeShapeType="1"/>
          </p:cNvSpPr>
          <p:nvPr/>
        </p:nvSpPr>
        <p:spPr bwMode="auto">
          <a:xfrm flipH="1">
            <a:off x="7035934" y="2547666"/>
            <a:ext cx="1190" cy="2563416"/>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2" name="Text Box 92">
            <a:extLst>
              <a:ext uri="{FF2B5EF4-FFF2-40B4-BE49-F238E27FC236}">
                <a16:creationId xmlns:a16="http://schemas.microsoft.com/office/drawing/2014/main" id="{8192AE36-3CEB-7940-A712-3437D9AE1C17}"/>
              </a:ext>
            </a:extLst>
          </p:cNvPr>
          <p:cNvSpPr txBox="1">
            <a:spLocks noChangeArrowheads="1"/>
          </p:cNvSpPr>
          <p:nvPr/>
        </p:nvSpPr>
        <p:spPr bwMode="auto">
          <a:xfrm>
            <a:off x="8639178" y="4676505"/>
            <a:ext cx="651140"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grpSp>
        <p:nvGrpSpPr>
          <p:cNvPr id="223" name="Group 109">
            <a:extLst>
              <a:ext uri="{FF2B5EF4-FFF2-40B4-BE49-F238E27FC236}">
                <a16:creationId xmlns:a16="http://schemas.microsoft.com/office/drawing/2014/main" id="{9180F1A8-9EF0-3C49-80B2-6C9528088F36}"/>
              </a:ext>
            </a:extLst>
          </p:cNvPr>
          <p:cNvGrpSpPr>
            <a:grpSpLocks/>
          </p:cNvGrpSpPr>
          <p:nvPr/>
        </p:nvGrpSpPr>
        <p:grpSpPr bwMode="auto">
          <a:xfrm>
            <a:off x="5092834" y="2942955"/>
            <a:ext cx="3446859" cy="1069181"/>
            <a:chOff x="2060" y="1785"/>
            <a:chExt cx="2895" cy="898"/>
          </a:xfrm>
        </p:grpSpPr>
        <p:sp>
          <p:nvSpPr>
            <p:cNvPr id="224" name="Line 11">
              <a:extLst>
                <a:ext uri="{FF2B5EF4-FFF2-40B4-BE49-F238E27FC236}">
                  <a16:creationId xmlns:a16="http://schemas.microsoft.com/office/drawing/2014/main" id="{660BD729-B466-584F-9DAC-1C1358024968}"/>
                </a:ext>
              </a:extLst>
            </p:cNvPr>
            <p:cNvSpPr>
              <a:spLocks noChangeShapeType="1"/>
            </p:cNvSpPr>
            <p:nvPr/>
          </p:nvSpPr>
          <p:spPr bwMode="auto">
            <a:xfrm flipH="1">
              <a:off x="2060" y="2031"/>
              <a:ext cx="1580" cy="65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5" name="Rectangle 14">
              <a:extLst>
                <a:ext uri="{FF2B5EF4-FFF2-40B4-BE49-F238E27FC236}">
                  <a16:creationId xmlns:a16="http://schemas.microsoft.com/office/drawing/2014/main" id="{36832487-CAD9-A047-9D5F-96D1B02D3E65}"/>
                </a:ext>
              </a:extLst>
            </p:cNvPr>
            <p:cNvSpPr>
              <a:spLocks noChangeArrowheads="1"/>
            </p:cNvSpPr>
            <p:nvPr/>
          </p:nvSpPr>
          <p:spPr bwMode="auto">
            <a:xfrm>
              <a:off x="2381" y="2206"/>
              <a:ext cx="896" cy="32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6" name="Text Box 83">
              <a:extLst>
                <a:ext uri="{FF2B5EF4-FFF2-40B4-BE49-F238E27FC236}">
                  <a16:creationId xmlns:a16="http://schemas.microsoft.com/office/drawing/2014/main" id="{393E04DD-B089-D14F-BFBB-76E878EC5F6F}"/>
                </a:ext>
              </a:extLst>
            </p:cNvPr>
            <p:cNvSpPr txBox="1">
              <a:spLocks noChangeArrowheads="1"/>
            </p:cNvSpPr>
            <p:nvPr/>
          </p:nvSpPr>
          <p:spPr bwMode="auto">
            <a:xfrm>
              <a:off x="2116" y="2169"/>
              <a:ext cx="1620" cy="3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SYNbit</a:t>
              </a:r>
              <a:r>
                <a:rPr lang="en-US" sz="1200" kern="0" dirty="0">
                  <a:solidFill>
                    <a:srgbClr val="000000"/>
                  </a:solidFill>
                  <a:latin typeface="Avenir Book" panose="020B0503020203020204" pitchFamily="34" charset="-78"/>
                  <a:cs typeface="Avenir Book" panose="020B0503020203020204" pitchFamily="34" charset="-78"/>
                </a:rPr>
                <a:t>=1, </a:t>
              </a: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=y</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ACKbit</a:t>
              </a:r>
              <a:r>
                <a:rPr lang="en-US" sz="1200" kern="0" dirty="0">
                  <a:solidFill>
                    <a:srgbClr val="000000"/>
                  </a:solidFill>
                  <a:latin typeface="Avenir Book" panose="020B0503020203020204" pitchFamily="34" charset="-78"/>
                  <a:cs typeface="Avenir Book" panose="020B0503020203020204" pitchFamily="34" charset="-78"/>
                </a:rPr>
                <a:t>=1; </a:t>
              </a:r>
              <a:r>
                <a:rPr lang="en-US" sz="1200" kern="0" dirty="0" err="1">
                  <a:solidFill>
                    <a:srgbClr val="000000"/>
                  </a:solidFill>
                  <a:latin typeface="Avenir Book" panose="020B0503020203020204" pitchFamily="34" charset="-78"/>
                  <a:cs typeface="Avenir Book" panose="020B0503020203020204" pitchFamily="34" charset="-78"/>
                </a:rPr>
                <a:t>ACKnum</a:t>
              </a:r>
              <a:r>
                <a:rPr lang="en-US" sz="1200" kern="0" dirty="0">
                  <a:solidFill>
                    <a:srgbClr val="000000"/>
                  </a:solidFill>
                  <a:latin typeface="Avenir Book" panose="020B0503020203020204" pitchFamily="34" charset="-78"/>
                  <a:cs typeface="Avenir Book" panose="020B0503020203020204" pitchFamily="34" charset="-78"/>
                </a:rPr>
                <a:t>=x+1</a:t>
              </a:r>
            </a:p>
          </p:txBody>
        </p:sp>
        <p:sp>
          <p:nvSpPr>
            <p:cNvPr id="227" name="Text Box 93">
              <a:extLst>
                <a:ext uri="{FF2B5EF4-FFF2-40B4-BE49-F238E27FC236}">
                  <a16:creationId xmlns:a16="http://schemas.microsoft.com/office/drawing/2014/main" id="{D2107B90-790F-D84D-8A95-4CD5BE8D772A}"/>
                </a:ext>
              </a:extLst>
            </p:cNvPr>
            <p:cNvSpPr txBox="1">
              <a:spLocks noChangeArrowheads="1"/>
            </p:cNvSpPr>
            <p:nvPr/>
          </p:nvSpPr>
          <p:spPr bwMode="auto">
            <a:xfrm>
              <a:off x="3676" y="1785"/>
              <a:ext cx="1279" cy="44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choose init seq num, y</a:t>
              </a:r>
            </a:p>
            <a:p>
              <a:pP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send TCP SYNACK</a:t>
              </a:r>
            </a:p>
            <a:p>
              <a:pP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msg, acking SYN</a:t>
              </a:r>
            </a:p>
          </p:txBody>
        </p:sp>
      </p:grpSp>
      <p:grpSp>
        <p:nvGrpSpPr>
          <p:cNvPr id="228" name="Group 110">
            <a:extLst>
              <a:ext uri="{FF2B5EF4-FFF2-40B4-BE49-F238E27FC236}">
                <a16:creationId xmlns:a16="http://schemas.microsoft.com/office/drawing/2014/main" id="{92A8D17F-88B5-E34B-ADF1-D1D5F4C6CACA}"/>
              </a:ext>
            </a:extLst>
          </p:cNvPr>
          <p:cNvGrpSpPr>
            <a:grpSpLocks/>
          </p:cNvGrpSpPr>
          <p:nvPr/>
        </p:nvGrpSpPr>
        <p:grpSpPr bwMode="auto">
          <a:xfrm>
            <a:off x="3319993" y="3766868"/>
            <a:ext cx="5100637" cy="1056085"/>
            <a:chOff x="571" y="2477"/>
            <a:chExt cx="4284" cy="887"/>
          </a:xfrm>
        </p:grpSpPr>
        <p:sp>
          <p:nvSpPr>
            <p:cNvPr id="229" name="Line 84">
              <a:extLst>
                <a:ext uri="{FF2B5EF4-FFF2-40B4-BE49-F238E27FC236}">
                  <a16:creationId xmlns:a16="http://schemas.microsoft.com/office/drawing/2014/main" id="{31D580AA-9CAF-1544-A3DB-06757FBBB395}"/>
                </a:ext>
              </a:extLst>
            </p:cNvPr>
            <p:cNvSpPr>
              <a:spLocks noChangeShapeType="1"/>
            </p:cNvSpPr>
            <p:nvPr/>
          </p:nvSpPr>
          <p:spPr bwMode="auto">
            <a:xfrm>
              <a:off x="2073" y="2728"/>
              <a:ext cx="1579" cy="46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0" name="Rectangle 89">
              <a:extLst>
                <a:ext uri="{FF2B5EF4-FFF2-40B4-BE49-F238E27FC236}">
                  <a16:creationId xmlns:a16="http://schemas.microsoft.com/office/drawing/2014/main" id="{60D16AD1-FAFA-6248-BB4D-76643C40A64C}"/>
                </a:ext>
              </a:extLst>
            </p:cNvPr>
            <p:cNvSpPr>
              <a:spLocks noChangeArrowheads="1"/>
            </p:cNvSpPr>
            <p:nvPr/>
          </p:nvSpPr>
          <p:spPr bwMode="auto">
            <a:xfrm>
              <a:off x="2486" y="2806"/>
              <a:ext cx="775" cy="27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1" name="Text Box 90">
              <a:extLst>
                <a:ext uri="{FF2B5EF4-FFF2-40B4-BE49-F238E27FC236}">
                  <a16:creationId xmlns:a16="http://schemas.microsoft.com/office/drawing/2014/main" id="{D8F9F960-0A9B-F045-8B04-6F4D63130318}"/>
                </a:ext>
              </a:extLst>
            </p:cNvPr>
            <p:cNvSpPr txBox="1">
              <a:spLocks noChangeArrowheads="1"/>
            </p:cNvSpPr>
            <p:nvPr/>
          </p:nvSpPr>
          <p:spPr bwMode="auto">
            <a:xfrm>
              <a:off x="2047" y="2852"/>
              <a:ext cx="1620"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ACKbit=1, ACKnum=y+1</a:t>
              </a:r>
            </a:p>
          </p:txBody>
        </p:sp>
        <p:sp>
          <p:nvSpPr>
            <p:cNvPr id="232" name="Text Box 94">
              <a:extLst>
                <a:ext uri="{FF2B5EF4-FFF2-40B4-BE49-F238E27FC236}">
                  <a16:creationId xmlns:a16="http://schemas.microsoft.com/office/drawing/2014/main" id="{B9046815-BDD2-9143-979C-D64169C26C55}"/>
                </a:ext>
              </a:extLst>
            </p:cNvPr>
            <p:cNvSpPr txBox="1">
              <a:spLocks noChangeArrowheads="1"/>
            </p:cNvSpPr>
            <p:nvPr/>
          </p:nvSpPr>
          <p:spPr bwMode="auto">
            <a:xfrm>
              <a:off x="571" y="2477"/>
              <a:ext cx="1473" cy="6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received SYNACK(x) </a:t>
              </a:r>
            </a:p>
            <a:p>
              <a:pPr algn="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indicates server is live;</a:t>
              </a:r>
            </a:p>
            <a:p>
              <a:pPr algn="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send ACK for SYNACK;</a:t>
              </a:r>
            </a:p>
            <a:p>
              <a:pPr algn="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this segment may contain </a:t>
              </a:r>
            </a:p>
            <a:p>
              <a:pPr algn="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client-to-server data</a:t>
              </a:r>
            </a:p>
          </p:txBody>
        </p:sp>
        <p:sp>
          <p:nvSpPr>
            <p:cNvPr id="233" name="Text Box 95">
              <a:extLst>
                <a:ext uri="{FF2B5EF4-FFF2-40B4-BE49-F238E27FC236}">
                  <a16:creationId xmlns:a16="http://schemas.microsoft.com/office/drawing/2014/main" id="{ADF0930B-F723-4446-8C5B-8996D59396E2}"/>
                </a:ext>
              </a:extLst>
            </p:cNvPr>
            <p:cNvSpPr txBox="1">
              <a:spLocks noChangeArrowheads="1"/>
            </p:cNvSpPr>
            <p:nvPr/>
          </p:nvSpPr>
          <p:spPr bwMode="auto">
            <a:xfrm>
              <a:off x="3640" y="3042"/>
              <a:ext cx="1215" cy="32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received ACK(y) </a:t>
              </a:r>
            </a:p>
            <a:p>
              <a:pP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indicates client is live</a:t>
              </a:r>
            </a:p>
          </p:txBody>
        </p:sp>
      </p:grpSp>
      <p:grpSp>
        <p:nvGrpSpPr>
          <p:cNvPr id="234" name="Group 105">
            <a:extLst>
              <a:ext uri="{FF2B5EF4-FFF2-40B4-BE49-F238E27FC236}">
                <a16:creationId xmlns:a16="http://schemas.microsoft.com/office/drawing/2014/main" id="{45AA77DF-71CD-2E48-9AEE-EC1E8FB1B1C5}"/>
              </a:ext>
            </a:extLst>
          </p:cNvPr>
          <p:cNvGrpSpPr>
            <a:grpSpLocks/>
          </p:cNvGrpSpPr>
          <p:nvPr/>
        </p:nvGrpSpPr>
        <p:grpSpPr bwMode="auto">
          <a:xfrm>
            <a:off x="2811596" y="1908303"/>
            <a:ext cx="863203" cy="1110854"/>
            <a:chOff x="144" y="916"/>
            <a:chExt cx="725" cy="933"/>
          </a:xfrm>
        </p:grpSpPr>
        <p:sp>
          <p:nvSpPr>
            <p:cNvPr id="235" name="Text Box 91">
              <a:extLst>
                <a:ext uri="{FF2B5EF4-FFF2-40B4-BE49-F238E27FC236}">
                  <a16:creationId xmlns:a16="http://schemas.microsoft.com/office/drawing/2014/main" id="{B93FA479-02A5-4C43-B059-3F1D0BB052E8}"/>
                </a:ext>
              </a:extLst>
            </p:cNvPr>
            <p:cNvSpPr txBox="1">
              <a:spLocks noChangeArrowheads="1"/>
            </p:cNvSpPr>
            <p:nvPr/>
          </p:nvSpPr>
          <p:spPr bwMode="auto">
            <a:xfrm>
              <a:off x="144" y="1616"/>
              <a:ext cx="725"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SYNSENT</a:t>
              </a:r>
            </a:p>
          </p:txBody>
        </p:sp>
        <p:sp>
          <p:nvSpPr>
            <p:cNvPr id="236" name="Line 103">
              <a:extLst>
                <a:ext uri="{FF2B5EF4-FFF2-40B4-BE49-F238E27FC236}">
                  <a16:creationId xmlns:a16="http://schemas.microsoft.com/office/drawing/2014/main" id="{C569F88B-55D7-1F45-9FD5-8D995E4C94A5}"/>
                </a:ext>
              </a:extLst>
            </p:cNvPr>
            <p:cNvSpPr>
              <a:spLocks noChangeShapeType="1"/>
            </p:cNvSpPr>
            <p:nvPr/>
          </p:nvSpPr>
          <p:spPr bwMode="auto">
            <a:xfrm>
              <a:off x="452" y="916"/>
              <a:ext cx="5" cy="71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237" name="Group 111">
            <a:extLst>
              <a:ext uri="{FF2B5EF4-FFF2-40B4-BE49-F238E27FC236}">
                <a16:creationId xmlns:a16="http://schemas.microsoft.com/office/drawing/2014/main" id="{FBD3641B-4567-B84B-B0A9-51F31757E64D}"/>
              </a:ext>
            </a:extLst>
          </p:cNvPr>
          <p:cNvGrpSpPr>
            <a:grpSpLocks/>
          </p:cNvGrpSpPr>
          <p:nvPr/>
        </p:nvGrpSpPr>
        <p:grpSpPr bwMode="auto">
          <a:xfrm>
            <a:off x="2821120" y="2964385"/>
            <a:ext cx="651273" cy="1241822"/>
            <a:chOff x="152" y="1803"/>
            <a:chExt cx="547" cy="1043"/>
          </a:xfrm>
        </p:grpSpPr>
        <p:sp>
          <p:nvSpPr>
            <p:cNvPr id="238" name="Text Box 16">
              <a:extLst>
                <a:ext uri="{FF2B5EF4-FFF2-40B4-BE49-F238E27FC236}">
                  <a16:creationId xmlns:a16="http://schemas.microsoft.com/office/drawing/2014/main" id="{46A42911-E4FA-6E45-98D3-9BA61AF39351}"/>
                </a:ext>
              </a:extLst>
            </p:cNvPr>
            <p:cNvSpPr txBox="1">
              <a:spLocks noChangeArrowheads="1"/>
            </p:cNvSpPr>
            <p:nvPr/>
          </p:nvSpPr>
          <p:spPr bwMode="auto">
            <a:xfrm>
              <a:off x="152" y="2613"/>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239" name="Line 104">
              <a:extLst>
                <a:ext uri="{FF2B5EF4-FFF2-40B4-BE49-F238E27FC236}">
                  <a16:creationId xmlns:a16="http://schemas.microsoft.com/office/drawing/2014/main" id="{B764515C-528C-5B41-979E-CEB5F77FD9DC}"/>
                </a:ext>
              </a:extLst>
            </p:cNvPr>
            <p:cNvSpPr>
              <a:spLocks noChangeShapeType="1"/>
            </p:cNvSpPr>
            <p:nvPr/>
          </p:nvSpPr>
          <p:spPr bwMode="auto">
            <a:xfrm>
              <a:off x="465" y="1803"/>
              <a:ext cx="0" cy="79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240" name="Group 108">
            <a:extLst>
              <a:ext uri="{FF2B5EF4-FFF2-40B4-BE49-F238E27FC236}">
                <a16:creationId xmlns:a16="http://schemas.microsoft.com/office/drawing/2014/main" id="{E9975853-CA29-F64E-9978-90818E85074F}"/>
              </a:ext>
            </a:extLst>
          </p:cNvPr>
          <p:cNvGrpSpPr>
            <a:grpSpLocks/>
          </p:cNvGrpSpPr>
          <p:nvPr/>
        </p:nvGrpSpPr>
        <p:grpSpPr bwMode="auto">
          <a:xfrm>
            <a:off x="8401579" y="2510758"/>
            <a:ext cx="929878" cy="919162"/>
            <a:chOff x="4839" y="1422"/>
            <a:chExt cx="781" cy="772"/>
          </a:xfrm>
        </p:grpSpPr>
        <p:sp>
          <p:nvSpPr>
            <p:cNvPr id="241" name="Text Box 99">
              <a:extLst>
                <a:ext uri="{FF2B5EF4-FFF2-40B4-BE49-F238E27FC236}">
                  <a16:creationId xmlns:a16="http://schemas.microsoft.com/office/drawing/2014/main" id="{8F08BD14-4FFB-B243-AC1A-68FE85BE4E11}"/>
                </a:ext>
              </a:extLst>
            </p:cNvPr>
            <p:cNvSpPr txBox="1">
              <a:spLocks noChangeArrowheads="1"/>
            </p:cNvSpPr>
            <p:nvPr/>
          </p:nvSpPr>
          <p:spPr bwMode="auto">
            <a:xfrm>
              <a:off x="4839" y="1961"/>
              <a:ext cx="781"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SYN RCVD</a:t>
              </a:r>
            </a:p>
          </p:txBody>
        </p:sp>
        <p:sp>
          <p:nvSpPr>
            <p:cNvPr id="242" name="Line 106">
              <a:extLst>
                <a:ext uri="{FF2B5EF4-FFF2-40B4-BE49-F238E27FC236}">
                  <a16:creationId xmlns:a16="http://schemas.microsoft.com/office/drawing/2014/main" id="{0D6BD76C-B84A-F940-AC88-70ACC69EC6F4}"/>
                </a:ext>
              </a:extLst>
            </p:cNvPr>
            <p:cNvSpPr>
              <a:spLocks noChangeShapeType="1"/>
            </p:cNvSpPr>
            <p:nvPr/>
          </p:nvSpPr>
          <p:spPr bwMode="auto">
            <a:xfrm>
              <a:off x="5339" y="1422"/>
              <a:ext cx="0" cy="56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43" name="Line 107">
            <a:extLst>
              <a:ext uri="{FF2B5EF4-FFF2-40B4-BE49-F238E27FC236}">
                <a16:creationId xmlns:a16="http://schemas.microsoft.com/office/drawing/2014/main" id="{28C3410E-FF26-2849-8647-5DA1E34B6C9E}"/>
              </a:ext>
            </a:extLst>
          </p:cNvPr>
          <p:cNvSpPr>
            <a:spLocks noChangeShapeType="1"/>
          </p:cNvSpPr>
          <p:nvPr/>
        </p:nvSpPr>
        <p:spPr bwMode="auto">
          <a:xfrm>
            <a:off x="8983796" y="3412062"/>
            <a:ext cx="0" cy="1278731"/>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5" name="Text Box 114">
            <a:extLst>
              <a:ext uri="{FF2B5EF4-FFF2-40B4-BE49-F238E27FC236}">
                <a16:creationId xmlns:a16="http://schemas.microsoft.com/office/drawing/2014/main" id="{A27DEC11-2958-674C-B587-49A38C649582}"/>
              </a:ext>
            </a:extLst>
          </p:cNvPr>
          <p:cNvSpPr txBox="1">
            <a:spLocks noChangeArrowheads="1"/>
          </p:cNvSpPr>
          <p:nvPr/>
        </p:nvSpPr>
        <p:spPr bwMode="auto">
          <a:xfrm>
            <a:off x="2373334" y="1433089"/>
            <a:ext cx="1548887" cy="6001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2100" kern="0" dirty="0">
                <a:solidFill>
                  <a:srgbClr val="000099"/>
                </a:solidFill>
                <a:latin typeface="Avenir Book" panose="020B0503020203020204" pitchFamily="34" charset="-78"/>
                <a:cs typeface="Avenir Book" panose="020B0503020203020204" pitchFamily="34" charset="-78"/>
              </a:rPr>
              <a:t>C</a:t>
            </a:r>
            <a:r>
              <a:rPr lang="en-US" sz="2100" kern="0" dirty="0" err="1">
                <a:solidFill>
                  <a:srgbClr val="000099"/>
                </a:solidFill>
                <a:latin typeface="Avenir Book" panose="020B0503020203020204" pitchFamily="34" charset="-78"/>
                <a:cs typeface="Avenir Book" panose="020B0503020203020204" pitchFamily="34" charset="-78"/>
              </a:rPr>
              <a:t>lient</a:t>
            </a:r>
            <a:r>
              <a:rPr lang="en-US" sz="2100" kern="0" dirty="0">
                <a:solidFill>
                  <a:srgbClr val="000099"/>
                </a:solidFill>
                <a:latin typeface="Avenir Book" panose="020B0503020203020204" pitchFamily="34" charset="-78"/>
                <a:cs typeface="Avenir Book" panose="020B0503020203020204" pitchFamily="34" charset="-78"/>
              </a:rPr>
              <a:t> state</a:t>
            </a:r>
          </a:p>
          <a:p>
            <a:pPr algn="r" defTabSz="685800" eaLnBrk="0" fontAlgn="base" hangingPunct="0">
              <a:spcBef>
                <a:spcPct val="0"/>
              </a:spcBef>
              <a:spcAft>
                <a:spcPct val="0"/>
              </a:spcAft>
              <a:defRPr/>
            </a:pPr>
            <a:endParaRPr lang="en-US" sz="1200" i="1" kern="0" dirty="0">
              <a:solidFill>
                <a:srgbClr val="000099"/>
              </a:solidFill>
              <a:latin typeface="Avenir Book" panose="020B0503020203020204" pitchFamily="34" charset="-78"/>
              <a:cs typeface="Avenir Book" panose="020B0503020203020204" pitchFamily="34" charset="-78"/>
            </a:endParaRPr>
          </a:p>
        </p:txBody>
      </p:sp>
      <p:sp>
        <p:nvSpPr>
          <p:cNvPr id="247" name="Text Box 116">
            <a:extLst>
              <a:ext uri="{FF2B5EF4-FFF2-40B4-BE49-F238E27FC236}">
                <a16:creationId xmlns:a16="http://schemas.microsoft.com/office/drawing/2014/main" id="{27C21C28-5638-8F4A-8A80-DBD146AD39D1}"/>
              </a:ext>
            </a:extLst>
          </p:cNvPr>
          <p:cNvSpPr txBox="1">
            <a:spLocks noChangeArrowheads="1"/>
          </p:cNvSpPr>
          <p:nvPr/>
        </p:nvSpPr>
        <p:spPr bwMode="auto">
          <a:xfrm>
            <a:off x="8066426" y="1386330"/>
            <a:ext cx="1600183" cy="6001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2100" kern="0" dirty="0">
                <a:solidFill>
                  <a:srgbClr val="000099"/>
                </a:solidFill>
                <a:latin typeface="Avenir Book" panose="020B0503020203020204" pitchFamily="34" charset="-78"/>
                <a:cs typeface="Avenir Book" panose="020B0503020203020204" pitchFamily="34" charset="-78"/>
              </a:rPr>
              <a:t>S</a:t>
            </a:r>
            <a:r>
              <a:rPr lang="en-US" sz="2100" kern="0" dirty="0" err="1">
                <a:solidFill>
                  <a:srgbClr val="000099"/>
                </a:solidFill>
                <a:latin typeface="Avenir Book" panose="020B0503020203020204" pitchFamily="34" charset="-78"/>
                <a:cs typeface="Avenir Book" panose="020B0503020203020204" pitchFamily="34" charset="-78"/>
              </a:rPr>
              <a:t>erver</a:t>
            </a:r>
            <a:r>
              <a:rPr lang="en-US" sz="2100" kern="0" dirty="0">
                <a:solidFill>
                  <a:srgbClr val="000099"/>
                </a:solidFill>
                <a:latin typeface="Avenir Book" panose="020B0503020203020204" pitchFamily="34" charset="-78"/>
                <a:cs typeface="Avenir Book" panose="020B0503020203020204" pitchFamily="34" charset="-78"/>
              </a:rPr>
              <a:t> state</a:t>
            </a:r>
          </a:p>
          <a:p>
            <a:pPr algn="r" defTabSz="685800" eaLnBrk="0" fontAlgn="base" hangingPunct="0">
              <a:spcBef>
                <a:spcPct val="0"/>
              </a:spcBef>
              <a:spcAft>
                <a:spcPct val="0"/>
              </a:spcAft>
              <a:defRPr/>
            </a:pPr>
            <a:endParaRPr lang="en-US" sz="1200" i="1" kern="0" dirty="0">
              <a:solidFill>
                <a:srgbClr val="000099"/>
              </a:solidFill>
              <a:latin typeface="Avenir Book" panose="020B0503020203020204" pitchFamily="34" charset="-78"/>
              <a:cs typeface="Avenir Book" panose="020B0503020203020204" pitchFamily="34" charset="-78"/>
            </a:endParaRPr>
          </a:p>
        </p:txBody>
      </p:sp>
      <p:sp>
        <p:nvSpPr>
          <p:cNvPr id="248" name="Text Box 117">
            <a:extLst>
              <a:ext uri="{FF2B5EF4-FFF2-40B4-BE49-F238E27FC236}">
                <a16:creationId xmlns:a16="http://schemas.microsoft.com/office/drawing/2014/main" id="{2B920772-7698-6844-B114-A453A028C206}"/>
              </a:ext>
            </a:extLst>
          </p:cNvPr>
          <p:cNvSpPr txBox="1">
            <a:spLocks noChangeArrowheads="1"/>
          </p:cNvSpPr>
          <p:nvPr/>
        </p:nvSpPr>
        <p:spPr bwMode="auto">
          <a:xfrm>
            <a:off x="8604689" y="2160667"/>
            <a:ext cx="683200"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LISTEN</a:t>
            </a:r>
          </a:p>
        </p:txBody>
      </p:sp>
      <p:grpSp>
        <p:nvGrpSpPr>
          <p:cNvPr id="249" name="Group 118">
            <a:extLst>
              <a:ext uri="{FF2B5EF4-FFF2-40B4-BE49-F238E27FC236}">
                <a16:creationId xmlns:a16="http://schemas.microsoft.com/office/drawing/2014/main" id="{EE14688C-F1C2-7F41-8726-D165159240FD}"/>
              </a:ext>
            </a:extLst>
          </p:cNvPr>
          <p:cNvGrpSpPr>
            <a:grpSpLocks/>
          </p:cNvGrpSpPr>
          <p:nvPr/>
        </p:nvGrpSpPr>
        <p:grpSpPr bwMode="auto">
          <a:xfrm>
            <a:off x="4844906" y="2055890"/>
            <a:ext cx="482203" cy="450056"/>
            <a:chOff x="-44" y="1473"/>
            <a:chExt cx="981" cy="1105"/>
          </a:xfrm>
        </p:grpSpPr>
        <p:pic>
          <p:nvPicPr>
            <p:cNvPr id="424" name="Picture 119" descr="desktop_computer_stylized_medium">
              <a:extLst>
                <a:ext uri="{FF2B5EF4-FFF2-40B4-BE49-F238E27FC236}">
                  <a16:creationId xmlns:a16="http://schemas.microsoft.com/office/drawing/2014/main" id="{1C11CA15-FEC8-A341-80F1-CFA1FA9F1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5" name="Freeform 120">
              <a:extLst>
                <a:ext uri="{FF2B5EF4-FFF2-40B4-BE49-F238E27FC236}">
                  <a16:creationId xmlns:a16="http://schemas.microsoft.com/office/drawing/2014/main" id="{8CCBA09D-3C96-6544-9960-AA2F6CD2F41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250" name="Group 121">
            <a:extLst>
              <a:ext uri="{FF2B5EF4-FFF2-40B4-BE49-F238E27FC236}">
                <a16:creationId xmlns:a16="http://schemas.microsoft.com/office/drawing/2014/main" id="{DC61BD1A-A71F-CF4B-B53E-5ECC0609FEB5}"/>
              </a:ext>
            </a:extLst>
          </p:cNvPr>
          <p:cNvGrpSpPr>
            <a:grpSpLocks/>
          </p:cNvGrpSpPr>
          <p:nvPr/>
        </p:nvGrpSpPr>
        <p:grpSpPr bwMode="auto">
          <a:xfrm>
            <a:off x="6912908" y="2121374"/>
            <a:ext cx="252413" cy="384572"/>
            <a:chOff x="4140" y="429"/>
            <a:chExt cx="1425" cy="2396"/>
          </a:xfrm>
        </p:grpSpPr>
        <p:sp>
          <p:nvSpPr>
            <p:cNvPr id="251" name="Freeform 122">
              <a:extLst>
                <a:ext uri="{FF2B5EF4-FFF2-40B4-BE49-F238E27FC236}">
                  <a16:creationId xmlns:a16="http://schemas.microsoft.com/office/drawing/2014/main" id="{0CD95998-3FB2-FF44-94A2-CC491B71334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52" name="Rectangle 123">
              <a:extLst>
                <a:ext uri="{FF2B5EF4-FFF2-40B4-BE49-F238E27FC236}">
                  <a16:creationId xmlns:a16="http://schemas.microsoft.com/office/drawing/2014/main" id="{BF76EB82-B4E1-B149-BE06-EFCD582E8676}"/>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3" name="Freeform 124">
              <a:extLst>
                <a:ext uri="{FF2B5EF4-FFF2-40B4-BE49-F238E27FC236}">
                  <a16:creationId xmlns:a16="http://schemas.microsoft.com/office/drawing/2014/main" id="{338FE797-056A-6E48-9B03-4B0253D638F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54" name="Freeform 125">
              <a:extLst>
                <a:ext uri="{FF2B5EF4-FFF2-40B4-BE49-F238E27FC236}">
                  <a16:creationId xmlns:a16="http://schemas.microsoft.com/office/drawing/2014/main" id="{8D12AA45-CFED-084A-B74C-A299F8140712}"/>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55" name="Rectangle 126">
              <a:extLst>
                <a:ext uri="{FF2B5EF4-FFF2-40B4-BE49-F238E27FC236}">
                  <a16:creationId xmlns:a16="http://schemas.microsoft.com/office/drawing/2014/main" id="{56E176FE-7110-C043-AC64-4C5F3D2E4792}"/>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56" name="Group 127">
              <a:extLst>
                <a:ext uri="{FF2B5EF4-FFF2-40B4-BE49-F238E27FC236}">
                  <a16:creationId xmlns:a16="http://schemas.microsoft.com/office/drawing/2014/main" id="{A3707B54-2470-3A4A-B09A-A776F4E8539D}"/>
                </a:ext>
              </a:extLst>
            </p:cNvPr>
            <p:cNvGrpSpPr>
              <a:grpSpLocks/>
            </p:cNvGrpSpPr>
            <p:nvPr/>
          </p:nvGrpSpPr>
          <p:grpSpPr bwMode="auto">
            <a:xfrm>
              <a:off x="4749" y="668"/>
              <a:ext cx="581" cy="145"/>
              <a:chOff x="614" y="2568"/>
              <a:chExt cx="725" cy="139"/>
            </a:xfrm>
          </p:grpSpPr>
          <p:sp>
            <p:nvSpPr>
              <p:cNvPr id="422" name="AutoShape 128">
                <a:extLst>
                  <a:ext uri="{FF2B5EF4-FFF2-40B4-BE49-F238E27FC236}">
                    <a16:creationId xmlns:a16="http://schemas.microsoft.com/office/drawing/2014/main" id="{C32686E6-B534-4B48-85B4-322123C24741}"/>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23" name="AutoShape 129">
                <a:extLst>
                  <a:ext uri="{FF2B5EF4-FFF2-40B4-BE49-F238E27FC236}">
                    <a16:creationId xmlns:a16="http://schemas.microsoft.com/office/drawing/2014/main" id="{5846C4C5-19DD-E040-A465-B55F5E21A75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57" name="Rectangle 130">
              <a:extLst>
                <a:ext uri="{FF2B5EF4-FFF2-40B4-BE49-F238E27FC236}">
                  <a16:creationId xmlns:a16="http://schemas.microsoft.com/office/drawing/2014/main" id="{E24E2E97-8AA8-D94D-B792-C58D1DB2D334}"/>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58" name="Group 131">
              <a:extLst>
                <a:ext uri="{FF2B5EF4-FFF2-40B4-BE49-F238E27FC236}">
                  <a16:creationId xmlns:a16="http://schemas.microsoft.com/office/drawing/2014/main" id="{01958DE7-9158-5C4A-975E-7090A73BD88C}"/>
                </a:ext>
              </a:extLst>
            </p:cNvPr>
            <p:cNvGrpSpPr>
              <a:grpSpLocks/>
            </p:cNvGrpSpPr>
            <p:nvPr/>
          </p:nvGrpSpPr>
          <p:grpSpPr bwMode="auto">
            <a:xfrm>
              <a:off x="4747" y="994"/>
              <a:ext cx="581" cy="134"/>
              <a:chOff x="614" y="2568"/>
              <a:chExt cx="725" cy="139"/>
            </a:xfrm>
          </p:grpSpPr>
          <p:sp>
            <p:nvSpPr>
              <p:cNvPr id="420" name="AutoShape 132">
                <a:extLst>
                  <a:ext uri="{FF2B5EF4-FFF2-40B4-BE49-F238E27FC236}">
                    <a16:creationId xmlns:a16="http://schemas.microsoft.com/office/drawing/2014/main" id="{0097250A-579E-714A-BB43-1775F7C45B3C}"/>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21" name="AutoShape 133">
                <a:extLst>
                  <a:ext uri="{FF2B5EF4-FFF2-40B4-BE49-F238E27FC236}">
                    <a16:creationId xmlns:a16="http://schemas.microsoft.com/office/drawing/2014/main" id="{011ECBC9-4E9D-9949-BBD3-4E72A731A813}"/>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59" name="Rectangle 134">
              <a:extLst>
                <a:ext uri="{FF2B5EF4-FFF2-40B4-BE49-F238E27FC236}">
                  <a16:creationId xmlns:a16="http://schemas.microsoft.com/office/drawing/2014/main" id="{52385C15-71CF-0646-85DA-481C87C2251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0" name="Rectangle 135">
              <a:extLst>
                <a:ext uri="{FF2B5EF4-FFF2-40B4-BE49-F238E27FC236}">
                  <a16:creationId xmlns:a16="http://schemas.microsoft.com/office/drawing/2014/main" id="{E9AFAD7D-A0FD-3344-8D9C-D21DB7BED2D3}"/>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61" name="Group 136">
              <a:extLst>
                <a:ext uri="{FF2B5EF4-FFF2-40B4-BE49-F238E27FC236}">
                  <a16:creationId xmlns:a16="http://schemas.microsoft.com/office/drawing/2014/main" id="{36701E94-39B0-BB4E-B8F9-B11ED62531B0}"/>
                </a:ext>
              </a:extLst>
            </p:cNvPr>
            <p:cNvGrpSpPr>
              <a:grpSpLocks/>
            </p:cNvGrpSpPr>
            <p:nvPr/>
          </p:nvGrpSpPr>
          <p:grpSpPr bwMode="auto">
            <a:xfrm>
              <a:off x="4735" y="1627"/>
              <a:ext cx="582" cy="151"/>
              <a:chOff x="614" y="2568"/>
              <a:chExt cx="725" cy="139"/>
            </a:xfrm>
          </p:grpSpPr>
          <p:sp>
            <p:nvSpPr>
              <p:cNvPr id="277" name="AutoShape 137">
                <a:extLst>
                  <a:ext uri="{FF2B5EF4-FFF2-40B4-BE49-F238E27FC236}">
                    <a16:creationId xmlns:a16="http://schemas.microsoft.com/office/drawing/2014/main" id="{2535A487-3992-6B4F-9D85-E297BC39036D}"/>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19" name="AutoShape 138">
                <a:extLst>
                  <a:ext uri="{FF2B5EF4-FFF2-40B4-BE49-F238E27FC236}">
                    <a16:creationId xmlns:a16="http://schemas.microsoft.com/office/drawing/2014/main" id="{C55E1D44-7480-0442-A9DA-330FF7250538}"/>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2" name="Freeform 139">
              <a:extLst>
                <a:ext uri="{FF2B5EF4-FFF2-40B4-BE49-F238E27FC236}">
                  <a16:creationId xmlns:a16="http://schemas.microsoft.com/office/drawing/2014/main" id="{56DA20E3-D49F-444E-8D21-F715762F02D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263" name="Group 140">
              <a:extLst>
                <a:ext uri="{FF2B5EF4-FFF2-40B4-BE49-F238E27FC236}">
                  <a16:creationId xmlns:a16="http://schemas.microsoft.com/office/drawing/2014/main" id="{350DC23D-91BA-0F49-A121-0BB6DA6FFB97}"/>
                </a:ext>
              </a:extLst>
            </p:cNvPr>
            <p:cNvGrpSpPr>
              <a:grpSpLocks/>
            </p:cNvGrpSpPr>
            <p:nvPr/>
          </p:nvGrpSpPr>
          <p:grpSpPr bwMode="auto">
            <a:xfrm>
              <a:off x="4739" y="1327"/>
              <a:ext cx="582" cy="139"/>
              <a:chOff x="614" y="2568"/>
              <a:chExt cx="725" cy="139"/>
            </a:xfrm>
          </p:grpSpPr>
          <p:sp>
            <p:nvSpPr>
              <p:cNvPr id="275" name="AutoShape 141">
                <a:extLst>
                  <a:ext uri="{FF2B5EF4-FFF2-40B4-BE49-F238E27FC236}">
                    <a16:creationId xmlns:a16="http://schemas.microsoft.com/office/drawing/2014/main" id="{B6F4CD24-7945-E141-8AE5-B72F07D79D0A}"/>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6" name="AutoShape 142">
                <a:extLst>
                  <a:ext uri="{FF2B5EF4-FFF2-40B4-BE49-F238E27FC236}">
                    <a16:creationId xmlns:a16="http://schemas.microsoft.com/office/drawing/2014/main" id="{A13F2C2E-8E50-C242-BBFA-276B4503978A}"/>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4" name="Rectangle 143">
              <a:extLst>
                <a:ext uri="{FF2B5EF4-FFF2-40B4-BE49-F238E27FC236}">
                  <a16:creationId xmlns:a16="http://schemas.microsoft.com/office/drawing/2014/main" id="{C95C6BF7-C7DF-FB4E-BCA1-1C5F3CF4748B}"/>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5" name="Freeform 144">
              <a:extLst>
                <a:ext uri="{FF2B5EF4-FFF2-40B4-BE49-F238E27FC236}">
                  <a16:creationId xmlns:a16="http://schemas.microsoft.com/office/drawing/2014/main" id="{E716E123-C485-CC44-A743-C9D7E94AF6B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6" name="Freeform 145">
              <a:extLst>
                <a:ext uri="{FF2B5EF4-FFF2-40B4-BE49-F238E27FC236}">
                  <a16:creationId xmlns:a16="http://schemas.microsoft.com/office/drawing/2014/main" id="{8B36D081-D3B9-D34B-91B2-079B05D0914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7" name="Oval 146">
              <a:extLst>
                <a:ext uri="{FF2B5EF4-FFF2-40B4-BE49-F238E27FC236}">
                  <a16:creationId xmlns:a16="http://schemas.microsoft.com/office/drawing/2014/main" id="{B32C0505-6B5E-5B45-9C22-ABAD0452C43F}"/>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8" name="Freeform 147">
              <a:extLst>
                <a:ext uri="{FF2B5EF4-FFF2-40B4-BE49-F238E27FC236}">
                  <a16:creationId xmlns:a16="http://schemas.microsoft.com/office/drawing/2014/main" id="{30177E53-587A-9B45-9ECD-611B7CEB1E04}"/>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9" name="AutoShape 148">
              <a:extLst>
                <a:ext uri="{FF2B5EF4-FFF2-40B4-BE49-F238E27FC236}">
                  <a16:creationId xmlns:a16="http://schemas.microsoft.com/office/drawing/2014/main" id="{0DA2D2A9-124E-EB41-86B5-909A794DF763}"/>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0" name="AutoShape 149">
              <a:extLst>
                <a:ext uri="{FF2B5EF4-FFF2-40B4-BE49-F238E27FC236}">
                  <a16:creationId xmlns:a16="http://schemas.microsoft.com/office/drawing/2014/main" id="{CA5FFC73-D7D9-D240-94B8-900F51AC0C7D}"/>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1" name="Oval 150">
              <a:extLst>
                <a:ext uri="{FF2B5EF4-FFF2-40B4-BE49-F238E27FC236}">
                  <a16:creationId xmlns:a16="http://schemas.microsoft.com/office/drawing/2014/main" id="{EFC35150-3347-7042-80EB-A8781A361256}"/>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2" name="Oval 151">
              <a:extLst>
                <a:ext uri="{FF2B5EF4-FFF2-40B4-BE49-F238E27FC236}">
                  <a16:creationId xmlns:a16="http://schemas.microsoft.com/office/drawing/2014/main" id="{EA2EA724-2820-AE47-8D84-09E997A6DDAA}"/>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273" name="Oval 152">
              <a:extLst>
                <a:ext uri="{FF2B5EF4-FFF2-40B4-BE49-F238E27FC236}">
                  <a16:creationId xmlns:a16="http://schemas.microsoft.com/office/drawing/2014/main" id="{27B270D9-EE2B-924F-8F2A-27B9EB6ABE98}"/>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4" name="Rectangle 153">
              <a:extLst>
                <a:ext uri="{FF2B5EF4-FFF2-40B4-BE49-F238E27FC236}">
                  <a16:creationId xmlns:a16="http://schemas.microsoft.com/office/drawing/2014/main" id="{689F1C5E-1D85-0243-9E5E-0ABE340F97D1}"/>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72" name="Text Box 105"/>
          <p:cNvSpPr txBox="1">
            <a:spLocks noChangeArrowheads="1"/>
          </p:cNvSpPr>
          <p:nvPr/>
        </p:nvSpPr>
        <p:spPr bwMode="auto">
          <a:xfrm>
            <a:off x="9796382" y="2814145"/>
            <a:ext cx="208250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b="1" dirty="0">
                <a:solidFill>
                  <a:srgbClr val="C00000"/>
                </a:solidFill>
                <a:latin typeface="Avenir Book" panose="020B0503020203020204" pitchFamily="34" charset="-78"/>
                <a:cs typeface="Avenir Book" panose="020B0503020203020204" pitchFamily="34" charset="-78"/>
              </a:rPr>
              <a:t>x and y are chosen randomly</a:t>
            </a:r>
          </a:p>
        </p:txBody>
      </p:sp>
      <p:sp>
        <p:nvSpPr>
          <p:cNvPr id="73" name="Oval 72">
            <a:extLst>
              <a:ext uri="{FF2B5EF4-FFF2-40B4-BE49-F238E27FC236}">
                <a16:creationId xmlns:a16="http://schemas.microsoft.com/office/drawing/2014/main" id="{AB715EF6-F294-3449-96CB-B6947A099ADE}"/>
              </a:ext>
            </a:extLst>
          </p:cNvPr>
          <p:cNvSpPr/>
          <p:nvPr/>
        </p:nvSpPr>
        <p:spPr>
          <a:xfrm>
            <a:off x="6522774" y="3325600"/>
            <a:ext cx="385643" cy="348916"/>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74" name="Oval 73">
            <a:extLst>
              <a:ext uri="{FF2B5EF4-FFF2-40B4-BE49-F238E27FC236}">
                <a16:creationId xmlns:a16="http://schemas.microsoft.com/office/drawing/2014/main" id="{7D783624-80C6-2148-8502-F1C29047872A}"/>
              </a:ext>
            </a:extLst>
          </p:cNvPr>
          <p:cNvSpPr/>
          <p:nvPr/>
        </p:nvSpPr>
        <p:spPr>
          <a:xfrm>
            <a:off x="6430691" y="2729659"/>
            <a:ext cx="385643" cy="348916"/>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cxnSp>
        <p:nvCxnSpPr>
          <p:cNvPr id="75" name="Straight Arrow Connector 74">
            <a:extLst>
              <a:ext uri="{FF2B5EF4-FFF2-40B4-BE49-F238E27FC236}">
                <a16:creationId xmlns:a16="http://schemas.microsoft.com/office/drawing/2014/main" id="{907B7D31-A373-0B4B-A1B5-F4FD39A2F3C3}"/>
              </a:ext>
            </a:extLst>
          </p:cNvPr>
          <p:cNvCxnSpPr>
            <a:endCxn id="74" idx="6"/>
          </p:cNvCxnSpPr>
          <p:nvPr/>
        </p:nvCxnSpPr>
        <p:spPr>
          <a:xfrm flipH="1" flipV="1">
            <a:off x="6816334" y="2904117"/>
            <a:ext cx="2859742" cy="146826"/>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07B7D31-A373-0B4B-A1B5-F4FD39A2F3C3}"/>
              </a:ext>
            </a:extLst>
          </p:cNvPr>
          <p:cNvCxnSpPr/>
          <p:nvPr/>
        </p:nvCxnSpPr>
        <p:spPr>
          <a:xfrm flipH="1">
            <a:off x="6942666" y="3182270"/>
            <a:ext cx="2733410" cy="318301"/>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54662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wipe(left)">
                                      <p:cBhvr>
                                        <p:cTn id="7" dur="500"/>
                                        <p:tgtEl>
                                          <p:spTgt spid="216"/>
                                        </p:tgtEl>
                                      </p:cBhvr>
                                    </p:animEffect>
                                  </p:childTnLst>
                                </p:cTn>
                              </p:par>
                              <p:par>
                                <p:cTn id="8" presetID="22" presetClass="entr" presetSubtype="1" fill="hold" nodeType="withEffect">
                                  <p:stCondLst>
                                    <p:cond delay="0"/>
                                  </p:stCondLst>
                                  <p:childTnLst>
                                    <p:set>
                                      <p:cBhvr>
                                        <p:cTn id="9" dur="1" fill="hold">
                                          <p:stCondLst>
                                            <p:cond delay="0"/>
                                          </p:stCondLst>
                                        </p:cTn>
                                        <p:tgtEl>
                                          <p:spTgt spid="234"/>
                                        </p:tgtEl>
                                        <p:attrNameLst>
                                          <p:attrName>style.visibility</p:attrName>
                                        </p:attrNameLst>
                                      </p:cBhvr>
                                      <p:to>
                                        <p:strVal val="visible"/>
                                      </p:to>
                                    </p:set>
                                    <p:animEffect transition="in" filter="wipe(up)">
                                      <p:cBhvr>
                                        <p:cTn id="10" dur="500"/>
                                        <p:tgtEl>
                                          <p:spTgt spid="23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240"/>
                                        </p:tgtEl>
                                        <p:attrNameLst>
                                          <p:attrName>style.visibility</p:attrName>
                                        </p:attrNameLst>
                                      </p:cBhvr>
                                      <p:to>
                                        <p:strVal val="visible"/>
                                      </p:to>
                                    </p:set>
                                    <p:animEffect transition="in" filter="wipe(up)">
                                      <p:cBhvr>
                                        <p:cTn id="15" dur="500"/>
                                        <p:tgtEl>
                                          <p:spTgt spid="240"/>
                                        </p:tgtEl>
                                      </p:cBhvr>
                                    </p:animEffect>
                                  </p:childTnLst>
                                </p:cTn>
                              </p:par>
                              <p:par>
                                <p:cTn id="16" presetID="22" presetClass="entr" presetSubtype="2" fill="hold" nodeType="withEffect">
                                  <p:stCondLst>
                                    <p:cond delay="0"/>
                                  </p:stCondLst>
                                  <p:childTnLst>
                                    <p:set>
                                      <p:cBhvr>
                                        <p:cTn id="17" dur="1" fill="hold">
                                          <p:stCondLst>
                                            <p:cond delay="0"/>
                                          </p:stCondLst>
                                        </p:cTn>
                                        <p:tgtEl>
                                          <p:spTgt spid="223"/>
                                        </p:tgtEl>
                                        <p:attrNameLst>
                                          <p:attrName>style.visibility</p:attrName>
                                        </p:attrNameLst>
                                      </p:cBhvr>
                                      <p:to>
                                        <p:strVal val="visible"/>
                                      </p:to>
                                    </p:set>
                                    <p:animEffect transition="in" filter="wipe(right)">
                                      <p:cBhvr>
                                        <p:cTn id="18" dur="500"/>
                                        <p:tgtEl>
                                          <p:spTgt spid="22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28"/>
                                        </p:tgtEl>
                                        <p:attrNameLst>
                                          <p:attrName>style.visibility</p:attrName>
                                        </p:attrNameLst>
                                      </p:cBhvr>
                                      <p:to>
                                        <p:strVal val="visible"/>
                                      </p:to>
                                    </p:set>
                                    <p:animEffect transition="in" filter="wipe(left)">
                                      <p:cBhvr>
                                        <p:cTn id="23" dur="500"/>
                                        <p:tgtEl>
                                          <p:spTgt spid="228"/>
                                        </p:tgtEl>
                                      </p:cBhvr>
                                    </p:animEffect>
                                  </p:childTnLst>
                                </p:cTn>
                              </p:par>
                              <p:par>
                                <p:cTn id="24" presetID="22" presetClass="entr" presetSubtype="1" fill="hold" nodeType="withEffect">
                                  <p:stCondLst>
                                    <p:cond delay="0"/>
                                  </p:stCondLst>
                                  <p:childTnLst>
                                    <p:set>
                                      <p:cBhvr>
                                        <p:cTn id="25" dur="1" fill="hold">
                                          <p:stCondLst>
                                            <p:cond delay="0"/>
                                          </p:stCondLst>
                                        </p:cTn>
                                        <p:tgtEl>
                                          <p:spTgt spid="237"/>
                                        </p:tgtEl>
                                        <p:attrNameLst>
                                          <p:attrName>style.visibility</p:attrName>
                                        </p:attrNameLst>
                                      </p:cBhvr>
                                      <p:to>
                                        <p:strVal val="visible"/>
                                      </p:to>
                                    </p:set>
                                    <p:animEffect transition="in" filter="wipe(up)">
                                      <p:cBhvr>
                                        <p:cTn id="26" dur="500"/>
                                        <p:tgtEl>
                                          <p:spTgt spid="237"/>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222"/>
                                        </p:tgtEl>
                                        <p:attrNameLst>
                                          <p:attrName>style.visibility</p:attrName>
                                        </p:attrNameLst>
                                      </p:cBhvr>
                                      <p:to>
                                        <p:strVal val="visible"/>
                                      </p:to>
                                    </p:set>
                                    <p:animEffect transition="in" filter="wipe(up)">
                                      <p:cBhvr>
                                        <p:cTn id="30" dur="500"/>
                                        <p:tgtEl>
                                          <p:spTgt spid="222"/>
                                        </p:tgtEl>
                                      </p:cBhvr>
                                    </p:animEffect>
                                  </p:childTnLst>
                                </p:cTn>
                              </p:par>
                              <p:par>
                                <p:cTn id="31" presetID="22" presetClass="entr" presetSubtype="1" fill="hold" nodeType="withEffect">
                                  <p:stCondLst>
                                    <p:cond delay="0"/>
                                  </p:stCondLst>
                                  <p:childTnLst>
                                    <p:set>
                                      <p:cBhvr>
                                        <p:cTn id="32" dur="1" fill="hold">
                                          <p:stCondLst>
                                            <p:cond delay="0"/>
                                          </p:stCondLst>
                                        </p:cTn>
                                        <p:tgtEl>
                                          <p:spTgt spid="243"/>
                                        </p:tgtEl>
                                        <p:attrNameLst>
                                          <p:attrName>style.visibility</p:attrName>
                                        </p:attrNameLst>
                                      </p:cBhvr>
                                      <p:to>
                                        <p:strVal val="visible"/>
                                      </p:to>
                                    </p:set>
                                    <p:animEffect transition="in" filter="wipe(up)">
                                      <p:cBhvr>
                                        <p:cTn id="33" dur="500"/>
                                        <p:tgtEl>
                                          <p:spTgt spid="243"/>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7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74"/>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7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0"/>
      <p:bldP spid="72" grpId="0"/>
      <p:bldP spid="73" grpId="0" animBg="1"/>
      <p:bldP spid="7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16475" y="194344"/>
            <a:ext cx="5084908" cy="639481"/>
          </a:xfrm>
        </p:spPr>
        <p:txBody>
          <a:bodyPr>
            <a:normAutofit/>
          </a:bodyPr>
          <a:lstStyle/>
          <a:p>
            <a:pPr algn="ctr"/>
            <a:r>
              <a:rPr lang="en-US" sz="3600" dirty="0">
                <a:latin typeface="Avenir Book" panose="020B0503020203020204" pitchFamily="34" charset="-78"/>
                <a:cs typeface="Avenir Book" panose="020B0503020203020204" pitchFamily="34" charset="-78"/>
              </a:rPr>
              <a:t>TCP State Diagram</a:t>
            </a:r>
            <a:endParaRPr lang="en-US" sz="3300" dirty="0">
              <a:latin typeface="Avenir Book" panose="020B0503020203020204" pitchFamily="34" charset="-78"/>
              <a:cs typeface="Avenir Book" panose="020B0503020203020204" pitchFamily="34" charset="-78"/>
            </a:endParaRPr>
          </a:p>
        </p:txBody>
      </p:sp>
      <p:sp>
        <p:nvSpPr>
          <p:cNvPr id="5" name="Rectangle 3">
            <a:extLst>
              <a:ext uri="{FF2B5EF4-FFF2-40B4-BE49-F238E27FC236}">
                <a16:creationId xmlns:a16="http://schemas.microsoft.com/office/drawing/2014/main" id="{B1658BD5-0EA4-1264-B5EB-9D73BC47134E}"/>
              </a:ext>
            </a:extLst>
          </p:cNvPr>
          <p:cNvSpPr txBox="1">
            <a:spLocks noChangeArrowheads="1"/>
          </p:cNvSpPr>
          <p:nvPr/>
        </p:nvSpPr>
        <p:spPr bwMode="auto">
          <a:xfrm>
            <a:off x="6771239" y="4934755"/>
            <a:ext cx="4162840" cy="33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5000"/>
              </a:lnSpc>
              <a:spcBef>
                <a:spcPct val="20000"/>
              </a:spcBef>
              <a:buClr>
                <a:srgbClr val="000099"/>
              </a:buClr>
              <a:buSzPct val="75000"/>
              <a:defRPr/>
            </a:pPr>
            <a:r>
              <a:rPr lang="en-US" altLang="en-US" sz="1200" dirty="0" err="1">
                <a:solidFill>
                  <a:prstClr val="black"/>
                </a:solidFill>
                <a:latin typeface="+mn-lt"/>
                <a:ea typeface="Arial" panose="020B0604020202020204" pitchFamily="34" charset="0"/>
              </a:rPr>
              <a:t>Src</a:t>
            </a:r>
            <a:r>
              <a:rPr lang="en-US" altLang="en-US" sz="1200" dirty="0">
                <a:solidFill>
                  <a:prstClr val="black"/>
                </a:solidFill>
                <a:latin typeface="+mn-lt"/>
                <a:ea typeface="Arial" panose="020B0604020202020204" pitchFamily="34" charset="0"/>
              </a:rPr>
              <a:t>: https://en.wikipedia.org/wiki/File:Tcp_state_diagram.png</a:t>
            </a:r>
            <a:endParaRPr lang="en-US" altLang="en-US" sz="1200" dirty="0">
              <a:solidFill>
                <a:prstClr val="black"/>
              </a:solidFill>
              <a:latin typeface="+mn-lt"/>
              <a:cs typeface="Calibri" panose="020F0502020204030204" pitchFamily="34" charset="0"/>
            </a:endParaRPr>
          </a:p>
        </p:txBody>
      </p:sp>
      <p:pic>
        <p:nvPicPr>
          <p:cNvPr id="6" name="Picture 5"/>
          <p:cNvPicPr>
            <a:picLocks noChangeAspect="1"/>
          </p:cNvPicPr>
          <p:nvPr/>
        </p:nvPicPr>
        <p:blipFill>
          <a:blip r:embed="rId3"/>
          <a:stretch>
            <a:fillRect/>
          </a:stretch>
        </p:blipFill>
        <p:spPr>
          <a:xfrm>
            <a:off x="5577131" y="185873"/>
            <a:ext cx="6021014" cy="4748882"/>
          </a:xfrm>
          <a:prstGeom prst="rect">
            <a:avLst/>
          </a:prstGeom>
        </p:spPr>
      </p:pic>
      <p:sp>
        <p:nvSpPr>
          <p:cNvPr id="7" name="Line 5">
            <a:extLst>
              <a:ext uri="{FF2B5EF4-FFF2-40B4-BE49-F238E27FC236}">
                <a16:creationId xmlns:a16="http://schemas.microsoft.com/office/drawing/2014/main" id="{977A2B4A-655D-5443-8A4F-92884511787E}"/>
              </a:ext>
            </a:extLst>
          </p:cNvPr>
          <p:cNvSpPr>
            <a:spLocks noChangeShapeType="1"/>
          </p:cNvSpPr>
          <p:nvPr/>
        </p:nvSpPr>
        <p:spPr bwMode="auto">
          <a:xfrm flipH="1">
            <a:off x="1930123" y="2368984"/>
            <a:ext cx="1191" cy="1852613"/>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8" name="Group 102">
            <a:extLst>
              <a:ext uri="{FF2B5EF4-FFF2-40B4-BE49-F238E27FC236}">
                <a16:creationId xmlns:a16="http://schemas.microsoft.com/office/drawing/2014/main" id="{1F3D6A6C-5FEE-8646-8A80-04AC9F3BFF74}"/>
              </a:ext>
            </a:extLst>
          </p:cNvPr>
          <p:cNvGrpSpPr>
            <a:grpSpLocks/>
          </p:cNvGrpSpPr>
          <p:nvPr/>
        </p:nvGrpSpPr>
        <p:grpSpPr bwMode="auto">
          <a:xfrm>
            <a:off x="1931314" y="2479711"/>
            <a:ext cx="1879997" cy="551259"/>
            <a:chOff x="2062" y="1502"/>
            <a:chExt cx="1579" cy="463"/>
          </a:xfrm>
        </p:grpSpPr>
        <p:sp>
          <p:nvSpPr>
            <p:cNvPr id="9" name="Line 10">
              <a:extLst>
                <a:ext uri="{FF2B5EF4-FFF2-40B4-BE49-F238E27FC236}">
                  <a16:creationId xmlns:a16="http://schemas.microsoft.com/office/drawing/2014/main" id="{EE87312F-9111-3748-8D8C-BFB220C5EE37}"/>
                </a:ext>
              </a:extLst>
            </p:cNvPr>
            <p:cNvSpPr>
              <a:spLocks noChangeShapeType="1"/>
            </p:cNvSpPr>
            <p:nvPr/>
          </p:nvSpPr>
          <p:spPr bwMode="auto">
            <a:xfrm>
              <a:off x="2062" y="1502"/>
              <a:ext cx="1579" cy="46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 name="Rectangle 12">
              <a:extLst>
                <a:ext uri="{FF2B5EF4-FFF2-40B4-BE49-F238E27FC236}">
                  <a16:creationId xmlns:a16="http://schemas.microsoft.com/office/drawing/2014/main" id="{F50F8FCD-3A00-574F-A159-92B207C593BD}"/>
                </a:ext>
              </a:extLst>
            </p:cNvPr>
            <p:cNvSpPr>
              <a:spLocks noChangeArrowheads="1"/>
            </p:cNvSpPr>
            <p:nvPr/>
          </p:nvSpPr>
          <p:spPr bwMode="auto">
            <a:xfrm>
              <a:off x="2518" y="1565"/>
              <a:ext cx="590" cy="27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 name="Text Box 13">
              <a:extLst>
                <a:ext uri="{FF2B5EF4-FFF2-40B4-BE49-F238E27FC236}">
                  <a16:creationId xmlns:a16="http://schemas.microsoft.com/office/drawing/2014/main" id="{24E8EE1C-DBA9-8F4D-82EE-29CEECDFAAD7}"/>
                </a:ext>
              </a:extLst>
            </p:cNvPr>
            <p:cNvSpPr txBox="1">
              <a:spLocks noChangeArrowheads="1"/>
            </p:cNvSpPr>
            <p:nvPr/>
          </p:nvSpPr>
          <p:spPr bwMode="auto">
            <a:xfrm>
              <a:off x="2286" y="1624"/>
              <a:ext cx="1145"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SYNbit=1, Seq=x</a:t>
              </a:r>
            </a:p>
          </p:txBody>
        </p:sp>
      </p:grpSp>
      <p:sp>
        <p:nvSpPr>
          <p:cNvPr id="13" name="Line 22">
            <a:extLst>
              <a:ext uri="{FF2B5EF4-FFF2-40B4-BE49-F238E27FC236}">
                <a16:creationId xmlns:a16="http://schemas.microsoft.com/office/drawing/2014/main" id="{2FC7049F-93A3-A84A-9D90-B3F4B6E3F6E9}"/>
              </a:ext>
            </a:extLst>
          </p:cNvPr>
          <p:cNvSpPr>
            <a:spLocks noChangeShapeType="1"/>
          </p:cNvSpPr>
          <p:nvPr/>
        </p:nvSpPr>
        <p:spPr bwMode="auto">
          <a:xfrm flipH="1">
            <a:off x="3872033" y="2421370"/>
            <a:ext cx="1190" cy="2563416"/>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 name="Text Box 92">
            <a:extLst>
              <a:ext uri="{FF2B5EF4-FFF2-40B4-BE49-F238E27FC236}">
                <a16:creationId xmlns:a16="http://schemas.microsoft.com/office/drawing/2014/main" id="{8192AE36-3CEB-7940-A712-3437D9AE1C17}"/>
              </a:ext>
            </a:extLst>
          </p:cNvPr>
          <p:cNvSpPr txBox="1">
            <a:spLocks noChangeArrowheads="1"/>
          </p:cNvSpPr>
          <p:nvPr/>
        </p:nvSpPr>
        <p:spPr bwMode="auto">
          <a:xfrm>
            <a:off x="4203992" y="4550209"/>
            <a:ext cx="651140"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grpSp>
        <p:nvGrpSpPr>
          <p:cNvPr id="15" name="Group 109">
            <a:extLst>
              <a:ext uri="{FF2B5EF4-FFF2-40B4-BE49-F238E27FC236}">
                <a16:creationId xmlns:a16="http://schemas.microsoft.com/office/drawing/2014/main" id="{9180F1A8-9EF0-3C49-80B2-6C9528088F36}"/>
              </a:ext>
            </a:extLst>
          </p:cNvPr>
          <p:cNvGrpSpPr>
            <a:grpSpLocks/>
          </p:cNvGrpSpPr>
          <p:nvPr/>
        </p:nvGrpSpPr>
        <p:grpSpPr bwMode="auto">
          <a:xfrm>
            <a:off x="1928933" y="3109552"/>
            <a:ext cx="1995487" cy="776287"/>
            <a:chOff x="2060" y="2031"/>
            <a:chExt cx="1676" cy="652"/>
          </a:xfrm>
        </p:grpSpPr>
        <p:sp>
          <p:nvSpPr>
            <p:cNvPr id="16" name="Line 11">
              <a:extLst>
                <a:ext uri="{FF2B5EF4-FFF2-40B4-BE49-F238E27FC236}">
                  <a16:creationId xmlns:a16="http://schemas.microsoft.com/office/drawing/2014/main" id="{660BD729-B466-584F-9DAC-1C1358024968}"/>
                </a:ext>
              </a:extLst>
            </p:cNvPr>
            <p:cNvSpPr>
              <a:spLocks noChangeShapeType="1"/>
            </p:cNvSpPr>
            <p:nvPr/>
          </p:nvSpPr>
          <p:spPr bwMode="auto">
            <a:xfrm flipH="1">
              <a:off x="2060" y="2031"/>
              <a:ext cx="1580" cy="65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7" name="Rectangle 14">
              <a:extLst>
                <a:ext uri="{FF2B5EF4-FFF2-40B4-BE49-F238E27FC236}">
                  <a16:creationId xmlns:a16="http://schemas.microsoft.com/office/drawing/2014/main" id="{36832487-CAD9-A047-9D5F-96D1B02D3E65}"/>
                </a:ext>
              </a:extLst>
            </p:cNvPr>
            <p:cNvSpPr>
              <a:spLocks noChangeArrowheads="1"/>
            </p:cNvSpPr>
            <p:nvPr/>
          </p:nvSpPr>
          <p:spPr bwMode="auto">
            <a:xfrm>
              <a:off x="2381" y="2206"/>
              <a:ext cx="896" cy="32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 name="Text Box 83">
              <a:extLst>
                <a:ext uri="{FF2B5EF4-FFF2-40B4-BE49-F238E27FC236}">
                  <a16:creationId xmlns:a16="http://schemas.microsoft.com/office/drawing/2014/main" id="{393E04DD-B089-D14F-BFBB-76E878EC5F6F}"/>
                </a:ext>
              </a:extLst>
            </p:cNvPr>
            <p:cNvSpPr txBox="1">
              <a:spLocks noChangeArrowheads="1"/>
            </p:cNvSpPr>
            <p:nvPr/>
          </p:nvSpPr>
          <p:spPr bwMode="auto">
            <a:xfrm>
              <a:off x="2116" y="2169"/>
              <a:ext cx="1620" cy="3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SYNbit</a:t>
              </a:r>
              <a:r>
                <a:rPr lang="en-US" sz="1200" kern="0" dirty="0">
                  <a:solidFill>
                    <a:srgbClr val="000000"/>
                  </a:solidFill>
                  <a:latin typeface="Avenir Book" panose="020B0503020203020204" pitchFamily="34" charset="-78"/>
                  <a:cs typeface="Avenir Book" panose="020B0503020203020204" pitchFamily="34" charset="-78"/>
                </a:rPr>
                <a:t>=1, </a:t>
              </a: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=y</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ACKbit</a:t>
              </a:r>
              <a:r>
                <a:rPr lang="en-US" sz="1200" kern="0" dirty="0">
                  <a:solidFill>
                    <a:srgbClr val="000000"/>
                  </a:solidFill>
                  <a:latin typeface="Avenir Book" panose="020B0503020203020204" pitchFamily="34" charset="-78"/>
                  <a:cs typeface="Avenir Book" panose="020B0503020203020204" pitchFamily="34" charset="-78"/>
                </a:rPr>
                <a:t>=1; </a:t>
              </a:r>
              <a:r>
                <a:rPr lang="en-US" sz="1200" kern="0" dirty="0" err="1">
                  <a:solidFill>
                    <a:srgbClr val="000000"/>
                  </a:solidFill>
                  <a:latin typeface="Avenir Book" panose="020B0503020203020204" pitchFamily="34" charset="-78"/>
                  <a:cs typeface="Avenir Book" panose="020B0503020203020204" pitchFamily="34" charset="-78"/>
                </a:rPr>
                <a:t>ACKnum</a:t>
              </a:r>
              <a:r>
                <a:rPr lang="en-US" sz="1200" kern="0" dirty="0">
                  <a:solidFill>
                    <a:srgbClr val="000000"/>
                  </a:solidFill>
                  <a:latin typeface="Avenir Book" panose="020B0503020203020204" pitchFamily="34" charset="-78"/>
                  <a:cs typeface="Avenir Book" panose="020B0503020203020204" pitchFamily="34" charset="-78"/>
                </a:rPr>
                <a:t>=x+1</a:t>
              </a:r>
            </a:p>
          </p:txBody>
        </p:sp>
      </p:grpSp>
      <p:grpSp>
        <p:nvGrpSpPr>
          <p:cNvPr id="20" name="Group 110">
            <a:extLst>
              <a:ext uri="{FF2B5EF4-FFF2-40B4-BE49-F238E27FC236}">
                <a16:creationId xmlns:a16="http://schemas.microsoft.com/office/drawing/2014/main" id="{92A8D17F-88B5-E34B-ADF1-D1D5F4C6CACA}"/>
              </a:ext>
            </a:extLst>
          </p:cNvPr>
          <p:cNvGrpSpPr>
            <a:grpSpLocks/>
          </p:cNvGrpSpPr>
          <p:nvPr/>
        </p:nvGrpSpPr>
        <p:grpSpPr bwMode="auto">
          <a:xfrm>
            <a:off x="1913456" y="3939421"/>
            <a:ext cx="1928813" cy="551260"/>
            <a:chOff x="2047" y="2728"/>
            <a:chExt cx="1620" cy="463"/>
          </a:xfrm>
        </p:grpSpPr>
        <p:sp>
          <p:nvSpPr>
            <p:cNvPr id="21" name="Line 84">
              <a:extLst>
                <a:ext uri="{FF2B5EF4-FFF2-40B4-BE49-F238E27FC236}">
                  <a16:creationId xmlns:a16="http://schemas.microsoft.com/office/drawing/2014/main" id="{31D580AA-9CAF-1544-A3DB-06757FBBB395}"/>
                </a:ext>
              </a:extLst>
            </p:cNvPr>
            <p:cNvSpPr>
              <a:spLocks noChangeShapeType="1"/>
            </p:cNvSpPr>
            <p:nvPr/>
          </p:nvSpPr>
          <p:spPr bwMode="auto">
            <a:xfrm>
              <a:off x="2073" y="2728"/>
              <a:ext cx="1579" cy="46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 name="Rectangle 89">
              <a:extLst>
                <a:ext uri="{FF2B5EF4-FFF2-40B4-BE49-F238E27FC236}">
                  <a16:creationId xmlns:a16="http://schemas.microsoft.com/office/drawing/2014/main" id="{60D16AD1-FAFA-6248-BB4D-76643C40A64C}"/>
                </a:ext>
              </a:extLst>
            </p:cNvPr>
            <p:cNvSpPr>
              <a:spLocks noChangeArrowheads="1"/>
            </p:cNvSpPr>
            <p:nvPr/>
          </p:nvSpPr>
          <p:spPr bwMode="auto">
            <a:xfrm>
              <a:off x="2486" y="2806"/>
              <a:ext cx="775" cy="27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 name="Text Box 90">
              <a:extLst>
                <a:ext uri="{FF2B5EF4-FFF2-40B4-BE49-F238E27FC236}">
                  <a16:creationId xmlns:a16="http://schemas.microsoft.com/office/drawing/2014/main" id="{D8F9F960-0A9B-F045-8B04-6F4D63130318}"/>
                </a:ext>
              </a:extLst>
            </p:cNvPr>
            <p:cNvSpPr txBox="1">
              <a:spLocks noChangeArrowheads="1"/>
            </p:cNvSpPr>
            <p:nvPr/>
          </p:nvSpPr>
          <p:spPr bwMode="auto">
            <a:xfrm>
              <a:off x="2047" y="2852"/>
              <a:ext cx="1620"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ACKbit=1, ACKnum=y+1</a:t>
              </a:r>
            </a:p>
          </p:txBody>
        </p:sp>
      </p:grpSp>
      <p:grpSp>
        <p:nvGrpSpPr>
          <p:cNvPr id="26" name="Group 105">
            <a:extLst>
              <a:ext uri="{FF2B5EF4-FFF2-40B4-BE49-F238E27FC236}">
                <a16:creationId xmlns:a16="http://schemas.microsoft.com/office/drawing/2014/main" id="{45AA77DF-71CD-2E48-9AEE-EC1E8FB1B1C5}"/>
              </a:ext>
            </a:extLst>
          </p:cNvPr>
          <p:cNvGrpSpPr>
            <a:grpSpLocks/>
          </p:cNvGrpSpPr>
          <p:nvPr/>
        </p:nvGrpSpPr>
        <p:grpSpPr bwMode="auto">
          <a:xfrm>
            <a:off x="822283" y="1870770"/>
            <a:ext cx="863203" cy="1110854"/>
            <a:chOff x="144" y="916"/>
            <a:chExt cx="725" cy="933"/>
          </a:xfrm>
        </p:grpSpPr>
        <p:sp>
          <p:nvSpPr>
            <p:cNvPr id="27" name="Text Box 91">
              <a:extLst>
                <a:ext uri="{FF2B5EF4-FFF2-40B4-BE49-F238E27FC236}">
                  <a16:creationId xmlns:a16="http://schemas.microsoft.com/office/drawing/2014/main" id="{B93FA479-02A5-4C43-B059-3F1D0BB052E8}"/>
                </a:ext>
              </a:extLst>
            </p:cNvPr>
            <p:cNvSpPr txBox="1">
              <a:spLocks noChangeArrowheads="1"/>
            </p:cNvSpPr>
            <p:nvPr/>
          </p:nvSpPr>
          <p:spPr bwMode="auto">
            <a:xfrm>
              <a:off x="144" y="1616"/>
              <a:ext cx="725"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SYNSENT</a:t>
              </a:r>
            </a:p>
          </p:txBody>
        </p:sp>
        <p:sp>
          <p:nvSpPr>
            <p:cNvPr id="28" name="Line 103">
              <a:extLst>
                <a:ext uri="{FF2B5EF4-FFF2-40B4-BE49-F238E27FC236}">
                  <a16:creationId xmlns:a16="http://schemas.microsoft.com/office/drawing/2014/main" id="{C569F88B-55D7-1F45-9FD5-8D995E4C94A5}"/>
                </a:ext>
              </a:extLst>
            </p:cNvPr>
            <p:cNvSpPr>
              <a:spLocks noChangeShapeType="1"/>
            </p:cNvSpPr>
            <p:nvPr/>
          </p:nvSpPr>
          <p:spPr bwMode="auto">
            <a:xfrm>
              <a:off x="452" y="916"/>
              <a:ext cx="5" cy="71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29" name="Group 111">
            <a:extLst>
              <a:ext uri="{FF2B5EF4-FFF2-40B4-BE49-F238E27FC236}">
                <a16:creationId xmlns:a16="http://schemas.microsoft.com/office/drawing/2014/main" id="{FBD3641B-4567-B84B-B0A9-51F31757E64D}"/>
              </a:ext>
            </a:extLst>
          </p:cNvPr>
          <p:cNvGrpSpPr>
            <a:grpSpLocks/>
          </p:cNvGrpSpPr>
          <p:nvPr/>
        </p:nvGrpSpPr>
        <p:grpSpPr bwMode="auto">
          <a:xfrm>
            <a:off x="831807" y="2926852"/>
            <a:ext cx="651273" cy="1241822"/>
            <a:chOff x="152" y="1803"/>
            <a:chExt cx="547" cy="1043"/>
          </a:xfrm>
        </p:grpSpPr>
        <p:sp>
          <p:nvSpPr>
            <p:cNvPr id="30" name="Text Box 16">
              <a:extLst>
                <a:ext uri="{FF2B5EF4-FFF2-40B4-BE49-F238E27FC236}">
                  <a16:creationId xmlns:a16="http://schemas.microsoft.com/office/drawing/2014/main" id="{46A42911-E4FA-6E45-98D3-9BA61AF39351}"/>
                </a:ext>
              </a:extLst>
            </p:cNvPr>
            <p:cNvSpPr txBox="1">
              <a:spLocks noChangeArrowheads="1"/>
            </p:cNvSpPr>
            <p:nvPr/>
          </p:nvSpPr>
          <p:spPr bwMode="auto">
            <a:xfrm>
              <a:off x="152" y="2613"/>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31" name="Line 104">
              <a:extLst>
                <a:ext uri="{FF2B5EF4-FFF2-40B4-BE49-F238E27FC236}">
                  <a16:creationId xmlns:a16="http://schemas.microsoft.com/office/drawing/2014/main" id="{B764515C-528C-5B41-979E-CEB5F77FD9DC}"/>
                </a:ext>
              </a:extLst>
            </p:cNvPr>
            <p:cNvSpPr>
              <a:spLocks noChangeShapeType="1"/>
            </p:cNvSpPr>
            <p:nvPr/>
          </p:nvSpPr>
          <p:spPr bwMode="auto">
            <a:xfrm>
              <a:off x="465" y="1803"/>
              <a:ext cx="0" cy="79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32" name="Group 108">
            <a:extLst>
              <a:ext uri="{FF2B5EF4-FFF2-40B4-BE49-F238E27FC236}">
                <a16:creationId xmlns:a16="http://schemas.microsoft.com/office/drawing/2014/main" id="{E9975853-CA29-F64E-9978-90818E85074F}"/>
              </a:ext>
            </a:extLst>
          </p:cNvPr>
          <p:cNvGrpSpPr>
            <a:grpSpLocks/>
          </p:cNvGrpSpPr>
          <p:nvPr/>
        </p:nvGrpSpPr>
        <p:grpSpPr bwMode="auto">
          <a:xfrm>
            <a:off x="3966393" y="2384462"/>
            <a:ext cx="929878" cy="919162"/>
            <a:chOff x="4839" y="1422"/>
            <a:chExt cx="781" cy="772"/>
          </a:xfrm>
        </p:grpSpPr>
        <p:sp>
          <p:nvSpPr>
            <p:cNvPr id="33" name="Text Box 99">
              <a:extLst>
                <a:ext uri="{FF2B5EF4-FFF2-40B4-BE49-F238E27FC236}">
                  <a16:creationId xmlns:a16="http://schemas.microsoft.com/office/drawing/2014/main" id="{8F08BD14-4FFB-B243-AC1A-68FE85BE4E11}"/>
                </a:ext>
              </a:extLst>
            </p:cNvPr>
            <p:cNvSpPr txBox="1">
              <a:spLocks noChangeArrowheads="1"/>
            </p:cNvSpPr>
            <p:nvPr/>
          </p:nvSpPr>
          <p:spPr bwMode="auto">
            <a:xfrm>
              <a:off x="4839" y="1961"/>
              <a:ext cx="781"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SYN RCVD</a:t>
              </a:r>
            </a:p>
          </p:txBody>
        </p:sp>
        <p:sp>
          <p:nvSpPr>
            <p:cNvPr id="34" name="Line 106">
              <a:extLst>
                <a:ext uri="{FF2B5EF4-FFF2-40B4-BE49-F238E27FC236}">
                  <a16:creationId xmlns:a16="http://schemas.microsoft.com/office/drawing/2014/main" id="{0D6BD76C-B84A-F940-AC88-70ACC69EC6F4}"/>
                </a:ext>
              </a:extLst>
            </p:cNvPr>
            <p:cNvSpPr>
              <a:spLocks noChangeShapeType="1"/>
            </p:cNvSpPr>
            <p:nvPr/>
          </p:nvSpPr>
          <p:spPr bwMode="auto">
            <a:xfrm>
              <a:off x="5339" y="1422"/>
              <a:ext cx="0" cy="56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35" name="Line 107">
            <a:extLst>
              <a:ext uri="{FF2B5EF4-FFF2-40B4-BE49-F238E27FC236}">
                <a16:creationId xmlns:a16="http://schemas.microsoft.com/office/drawing/2014/main" id="{28C3410E-FF26-2849-8647-5DA1E34B6C9E}"/>
              </a:ext>
            </a:extLst>
          </p:cNvPr>
          <p:cNvSpPr>
            <a:spLocks noChangeShapeType="1"/>
          </p:cNvSpPr>
          <p:nvPr/>
        </p:nvSpPr>
        <p:spPr bwMode="auto">
          <a:xfrm>
            <a:off x="4548610" y="3285766"/>
            <a:ext cx="0" cy="1278731"/>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6" name="Text Box 114">
            <a:extLst>
              <a:ext uri="{FF2B5EF4-FFF2-40B4-BE49-F238E27FC236}">
                <a16:creationId xmlns:a16="http://schemas.microsoft.com/office/drawing/2014/main" id="{A27DEC11-2958-674C-B587-49A38C649582}"/>
              </a:ext>
            </a:extLst>
          </p:cNvPr>
          <p:cNvSpPr txBox="1">
            <a:spLocks noChangeArrowheads="1"/>
          </p:cNvSpPr>
          <p:nvPr/>
        </p:nvSpPr>
        <p:spPr bwMode="auto">
          <a:xfrm>
            <a:off x="334880" y="1246130"/>
            <a:ext cx="1548887" cy="6001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2100" kern="0" dirty="0">
                <a:solidFill>
                  <a:srgbClr val="000099"/>
                </a:solidFill>
                <a:latin typeface="Avenir Book" panose="020B0503020203020204" pitchFamily="34" charset="-78"/>
                <a:cs typeface="Avenir Book" panose="020B0503020203020204" pitchFamily="34" charset="-78"/>
              </a:rPr>
              <a:t>C</a:t>
            </a:r>
            <a:r>
              <a:rPr lang="en-US" sz="2100" kern="0" dirty="0" err="1">
                <a:solidFill>
                  <a:srgbClr val="000099"/>
                </a:solidFill>
                <a:latin typeface="Avenir Book" panose="020B0503020203020204" pitchFamily="34" charset="-78"/>
                <a:cs typeface="Avenir Book" panose="020B0503020203020204" pitchFamily="34" charset="-78"/>
              </a:rPr>
              <a:t>lient</a:t>
            </a:r>
            <a:r>
              <a:rPr lang="en-US" sz="2100" kern="0" dirty="0">
                <a:solidFill>
                  <a:srgbClr val="000099"/>
                </a:solidFill>
                <a:latin typeface="Avenir Book" panose="020B0503020203020204" pitchFamily="34" charset="-78"/>
                <a:cs typeface="Avenir Book" panose="020B0503020203020204" pitchFamily="34" charset="-78"/>
              </a:rPr>
              <a:t> state</a:t>
            </a:r>
          </a:p>
          <a:p>
            <a:pPr algn="r" defTabSz="685800" eaLnBrk="0" fontAlgn="base" hangingPunct="0">
              <a:spcBef>
                <a:spcPct val="0"/>
              </a:spcBef>
              <a:spcAft>
                <a:spcPct val="0"/>
              </a:spcAft>
              <a:defRPr/>
            </a:pPr>
            <a:endParaRPr lang="en-US" sz="1200" i="1" kern="0" dirty="0">
              <a:solidFill>
                <a:srgbClr val="000099"/>
              </a:solidFill>
              <a:latin typeface="Avenir Book" panose="020B0503020203020204" pitchFamily="34" charset="-78"/>
              <a:cs typeface="Avenir Book" panose="020B0503020203020204" pitchFamily="34" charset="-78"/>
            </a:endParaRPr>
          </a:p>
        </p:txBody>
      </p:sp>
      <p:sp>
        <p:nvSpPr>
          <p:cNvPr id="37" name="Text Box 116">
            <a:extLst>
              <a:ext uri="{FF2B5EF4-FFF2-40B4-BE49-F238E27FC236}">
                <a16:creationId xmlns:a16="http://schemas.microsoft.com/office/drawing/2014/main" id="{27C21C28-5638-8F4A-8A80-DBD146AD39D1}"/>
              </a:ext>
            </a:extLst>
          </p:cNvPr>
          <p:cNvSpPr txBox="1">
            <a:spLocks noChangeArrowheads="1"/>
          </p:cNvSpPr>
          <p:nvPr/>
        </p:nvSpPr>
        <p:spPr bwMode="auto">
          <a:xfrm>
            <a:off x="3631240" y="1260034"/>
            <a:ext cx="1600183" cy="6001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2100" kern="0" dirty="0">
                <a:solidFill>
                  <a:srgbClr val="000099"/>
                </a:solidFill>
                <a:latin typeface="Avenir Book" panose="020B0503020203020204" pitchFamily="34" charset="-78"/>
                <a:cs typeface="Avenir Book" panose="020B0503020203020204" pitchFamily="34" charset="-78"/>
              </a:rPr>
              <a:t>S</a:t>
            </a:r>
            <a:r>
              <a:rPr lang="en-US" sz="2100" kern="0" dirty="0" err="1">
                <a:solidFill>
                  <a:srgbClr val="000099"/>
                </a:solidFill>
                <a:latin typeface="Avenir Book" panose="020B0503020203020204" pitchFamily="34" charset="-78"/>
                <a:cs typeface="Avenir Book" panose="020B0503020203020204" pitchFamily="34" charset="-78"/>
              </a:rPr>
              <a:t>erver</a:t>
            </a:r>
            <a:r>
              <a:rPr lang="en-US" sz="2100" kern="0" dirty="0">
                <a:solidFill>
                  <a:srgbClr val="000099"/>
                </a:solidFill>
                <a:latin typeface="Avenir Book" panose="020B0503020203020204" pitchFamily="34" charset="-78"/>
                <a:cs typeface="Avenir Book" panose="020B0503020203020204" pitchFamily="34" charset="-78"/>
              </a:rPr>
              <a:t> state</a:t>
            </a:r>
          </a:p>
          <a:p>
            <a:pPr algn="r" defTabSz="685800" eaLnBrk="0" fontAlgn="base" hangingPunct="0">
              <a:spcBef>
                <a:spcPct val="0"/>
              </a:spcBef>
              <a:spcAft>
                <a:spcPct val="0"/>
              </a:spcAft>
              <a:defRPr/>
            </a:pPr>
            <a:endParaRPr lang="en-US" sz="1200" i="1" kern="0" dirty="0">
              <a:solidFill>
                <a:srgbClr val="000099"/>
              </a:solidFill>
              <a:latin typeface="Avenir Book" panose="020B0503020203020204" pitchFamily="34" charset="-78"/>
              <a:cs typeface="Avenir Book" panose="020B0503020203020204" pitchFamily="34" charset="-78"/>
            </a:endParaRPr>
          </a:p>
        </p:txBody>
      </p:sp>
      <p:sp>
        <p:nvSpPr>
          <p:cNvPr id="38" name="Text Box 117">
            <a:extLst>
              <a:ext uri="{FF2B5EF4-FFF2-40B4-BE49-F238E27FC236}">
                <a16:creationId xmlns:a16="http://schemas.microsoft.com/office/drawing/2014/main" id="{2B920772-7698-6844-B114-A453A028C206}"/>
              </a:ext>
            </a:extLst>
          </p:cNvPr>
          <p:cNvSpPr txBox="1">
            <a:spLocks noChangeArrowheads="1"/>
          </p:cNvSpPr>
          <p:nvPr/>
        </p:nvSpPr>
        <p:spPr bwMode="auto">
          <a:xfrm>
            <a:off x="4169503" y="2034371"/>
            <a:ext cx="683200"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LISTEN</a:t>
            </a:r>
          </a:p>
        </p:txBody>
      </p:sp>
      <p:grpSp>
        <p:nvGrpSpPr>
          <p:cNvPr id="39" name="Group 118">
            <a:extLst>
              <a:ext uri="{FF2B5EF4-FFF2-40B4-BE49-F238E27FC236}">
                <a16:creationId xmlns:a16="http://schemas.microsoft.com/office/drawing/2014/main" id="{EE14688C-F1C2-7F41-8726-D165159240FD}"/>
              </a:ext>
            </a:extLst>
          </p:cNvPr>
          <p:cNvGrpSpPr>
            <a:grpSpLocks/>
          </p:cNvGrpSpPr>
          <p:nvPr/>
        </p:nvGrpSpPr>
        <p:grpSpPr bwMode="auto">
          <a:xfrm>
            <a:off x="1681005" y="1929594"/>
            <a:ext cx="482203" cy="450056"/>
            <a:chOff x="-44" y="1473"/>
            <a:chExt cx="981" cy="1105"/>
          </a:xfrm>
        </p:grpSpPr>
        <p:pic>
          <p:nvPicPr>
            <p:cNvPr id="40" name="Picture 119" descr="desktop_computer_stylized_medium">
              <a:extLst>
                <a:ext uri="{FF2B5EF4-FFF2-40B4-BE49-F238E27FC236}">
                  <a16:creationId xmlns:a16="http://schemas.microsoft.com/office/drawing/2014/main" id="{1C11CA15-FEC8-A341-80F1-CFA1FA9F14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Freeform 120">
              <a:extLst>
                <a:ext uri="{FF2B5EF4-FFF2-40B4-BE49-F238E27FC236}">
                  <a16:creationId xmlns:a16="http://schemas.microsoft.com/office/drawing/2014/main" id="{8CCBA09D-3C96-6544-9960-AA2F6CD2F41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42" name="Group 121">
            <a:extLst>
              <a:ext uri="{FF2B5EF4-FFF2-40B4-BE49-F238E27FC236}">
                <a16:creationId xmlns:a16="http://schemas.microsoft.com/office/drawing/2014/main" id="{DC61BD1A-A71F-CF4B-B53E-5ECC0609FEB5}"/>
              </a:ext>
            </a:extLst>
          </p:cNvPr>
          <p:cNvGrpSpPr>
            <a:grpSpLocks/>
          </p:cNvGrpSpPr>
          <p:nvPr/>
        </p:nvGrpSpPr>
        <p:grpSpPr bwMode="auto">
          <a:xfrm>
            <a:off x="3749007" y="1995078"/>
            <a:ext cx="252413" cy="384572"/>
            <a:chOff x="4140" y="429"/>
            <a:chExt cx="1425" cy="2396"/>
          </a:xfrm>
        </p:grpSpPr>
        <p:sp>
          <p:nvSpPr>
            <p:cNvPr id="43" name="Freeform 122">
              <a:extLst>
                <a:ext uri="{FF2B5EF4-FFF2-40B4-BE49-F238E27FC236}">
                  <a16:creationId xmlns:a16="http://schemas.microsoft.com/office/drawing/2014/main" id="{0CD95998-3FB2-FF44-94A2-CC491B71334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44" name="Rectangle 123">
              <a:extLst>
                <a:ext uri="{FF2B5EF4-FFF2-40B4-BE49-F238E27FC236}">
                  <a16:creationId xmlns:a16="http://schemas.microsoft.com/office/drawing/2014/main" id="{BF76EB82-B4E1-B149-BE06-EFCD582E8676}"/>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45" name="Freeform 124">
              <a:extLst>
                <a:ext uri="{FF2B5EF4-FFF2-40B4-BE49-F238E27FC236}">
                  <a16:creationId xmlns:a16="http://schemas.microsoft.com/office/drawing/2014/main" id="{338FE797-056A-6E48-9B03-4B0253D638F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46" name="Freeform 125">
              <a:extLst>
                <a:ext uri="{FF2B5EF4-FFF2-40B4-BE49-F238E27FC236}">
                  <a16:creationId xmlns:a16="http://schemas.microsoft.com/office/drawing/2014/main" id="{8D12AA45-CFED-084A-B74C-A299F8140712}"/>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47" name="Rectangle 126">
              <a:extLst>
                <a:ext uri="{FF2B5EF4-FFF2-40B4-BE49-F238E27FC236}">
                  <a16:creationId xmlns:a16="http://schemas.microsoft.com/office/drawing/2014/main" id="{56E176FE-7110-C043-AC64-4C5F3D2E4792}"/>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48" name="Group 127">
              <a:extLst>
                <a:ext uri="{FF2B5EF4-FFF2-40B4-BE49-F238E27FC236}">
                  <a16:creationId xmlns:a16="http://schemas.microsoft.com/office/drawing/2014/main" id="{A3707B54-2470-3A4A-B09A-A776F4E8539D}"/>
                </a:ext>
              </a:extLst>
            </p:cNvPr>
            <p:cNvGrpSpPr>
              <a:grpSpLocks/>
            </p:cNvGrpSpPr>
            <p:nvPr/>
          </p:nvGrpSpPr>
          <p:grpSpPr bwMode="auto">
            <a:xfrm>
              <a:off x="4749" y="668"/>
              <a:ext cx="581" cy="145"/>
              <a:chOff x="614" y="2568"/>
              <a:chExt cx="725" cy="139"/>
            </a:xfrm>
          </p:grpSpPr>
          <p:sp>
            <p:nvSpPr>
              <p:cNvPr id="73" name="AutoShape 128">
                <a:extLst>
                  <a:ext uri="{FF2B5EF4-FFF2-40B4-BE49-F238E27FC236}">
                    <a16:creationId xmlns:a16="http://schemas.microsoft.com/office/drawing/2014/main" id="{C32686E6-B534-4B48-85B4-322123C24741}"/>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74" name="AutoShape 129">
                <a:extLst>
                  <a:ext uri="{FF2B5EF4-FFF2-40B4-BE49-F238E27FC236}">
                    <a16:creationId xmlns:a16="http://schemas.microsoft.com/office/drawing/2014/main" id="{5846C4C5-19DD-E040-A465-B55F5E21A75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49" name="Rectangle 130">
              <a:extLst>
                <a:ext uri="{FF2B5EF4-FFF2-40B4-BE49-F238E27FC236}">
                  <a16:creationId xmlns:a16="http://schemas.microsoft.com/office/drawing/2014/main" id="{E24E2E97-8AA8-D94D-B792-C58D1DB2D334}"/>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50" name="Group 131">
              <a:extLst>
                <a:ext uri="{FF2B5EF4-FFF2-40B4-BE49-F238E27FC236}">
                  <a16:creationId xmlns:a16="http://schemas.microsoft.com/office/drawing/2014/main" id="{01958DE7-9158-5C4A-975E-7090A73BD88C}"/>
                </a:ext>
              </a:extLst>
            </p:cNvPr>
            <p:cNvGrpSpPr>
              <a:grpSpLocks/>
            </p:cNvGrpSpPr>
            <p:nvPr/>
          </p:nvGrpSpPr>
          <p:grpSpPr bwMode="auto">
            <a:xfrm>
              <a:off x="4747" y="994"/>
              <a:ext cx="581" cy="134"/>
              <a:chOff x="614" y="2568"/>
              <a:chExt cx="725" cy="139"/>
            </a:xfrm>
          </p:grpSpPr>
          <p:sp>
            <p:nvSpPr>
              <p:cNvPr id="71" name="AutoShape 132">
                <a:extLst>
                  <a:ext uri="{FF2B5EF4-FFF2-40B4-BE49-F238E27FC236}">
                    <a16:creationId xmlns:a16="http://schemas.microsoft.com/office/drawing/2014/main" id="{0097250A-579E-714A-BB43-1775F7C45B3C}"/>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72" name="AutoShape 133">
                <a:extLst>
                  <a:ext uri="{FF2B5EF4-FFF2-40B4-BE49-F238E27FC236}">
                    <a16:creationId xmlns:a16="http://schemas.microsoft.com/office/drawing/2014/main" id="{011ECBC9-4E9D-9949-BBD3-4E72A731A813}"/>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51" name="Rectangle 134">
              <a:extLst>
                <a:ext uri="{FF2B5EF4-FFF2-40B4-BE49-F238E27FC236}">
                  <a16:creationId xmlns:a16="http://schemas.microsoft.com/office/drawing/2014/main" id="{52385C15-71CF-0646-85DA-481C87C2251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52" name="Rectangle 135">
              <a:extLst>
                <a:ext uri="{FF2B5EF4-FFF2-40B4-BE49-F238E27FC236}">
                  <a16:creationId xmlns:a16="http://schemas.microsoft.com/office/drawing/2014/main" id="{E9AFAD7D-A0FD-3344-8D9C-D21DB7BED2D3}"/>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53" name="Group 136">
              <a:extLst>
                <a:ext uri="{FF2B5EF4-FFF2-40B4-BE49-F238E27FC236}">
                  <a16:creationId xmlns:a16="http://schemas.microsoft.com/office/drawing/2014/main" id="{36701E94-39B0-BB4E-B8F9-B11ED62531B0}"/>
                </a:ext>
              </a:extLst>
            </p:cNvPr>
            <p:cNvGrpSpPr>
              <a:grpSpLocks/>
            </p:cNvGrpSpPr>
            <p:nvPr/>
          </p:nvGrpSpPr>
          <p:grpSpPr bwMode="auto">
            <a:xfrm>
              <a:off x="4735" y="1627"/>
              <a:ext cx="582" cy="151"/>
              <a:chOff x="614" y="2568"/>
              <a:chExt cx="725" cy="139"/>
            </a:xfrm>
          </p:grpSpPr>
          <p:sp>
            <p:nvSpPr>
              <p:cNvPr id="69" name="AutoShape 137">
                <a:extLst>
                  <a:ext uri="{FF2B5EF4-FFF2-40B4-BE49-F238E27FC236}">
                    <a16:creationId xmlns:a16="http://schemas.microsoft.com/office/drawing/2014/main" id="{2535A487-3992-6B4F-9D85-E297BC39036D}"/>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70" name="AutoShape 138">
                <a:extLst>
                  <a:ext uri="{FF2B5EF4-FFF2-40B4-BE49-F238E27FC236}">
                    <a16:creationId xmlns:a16="http://schemas.microsoft.com/office/drawing/2014/main" id="{C55E1D44-7480-0442-A9DA-330FF7250538}"/>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54" name="Freeform 139">
              <a:extLst>
                <a:ext uri="{FF2B5EF4-FFF2-40B4-BE49-F238E27FC236}">
                  <a16:creationId xmlns:a16="http://schemas.microsoft.com/office/drawing/2014/main" id="{56DA20E3-D49F-444E-8D21-F715762F02D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55" name="Group 140">
              <a:extLst>
                <a:ext uri="{FF2B5EF4-FFF2-40B4-BE49-F238E27FC236}">
                  <a16:creationId xmlns:a16="http://schemas.microsoft.com/office/drawing/2014/main" id="{350DC23D-91BA-0F49-A121-0BB6DA6FFB97}"/>
                </a:ext>
              </a:extLst>
            </p:cNvPr>
            <p:cNvGrpSpPr>
              <a:grpSpLocks/>
            </p:cNvGrpSpPr>
            <p:nvPr/>
          </p:nvGrpSpPr>
          <p:grpSpPr bwMode="auto">
            <a:xfrm>
              <a:off x="4739" y="1327"/>
              <a:ext cx="582" cy="139"/>
              <a:chOff x="614" y="2568"/>
              <a:chExt cx="725" cy="139"/>
            </a:xfrm>
          </p:grpSpPr>
          <p:sp>
            <p:nvSpPr>
              <p:cNvPr id="67" name="AutoShape 141">
                <a:extLst>
                  <a:ext uri="{FF2B5EF4-FFF2-40B4-BE49-F238E27FC236}">
                    <a16:creationId xmlns:a16="http://schemas.microsoft.com/office/drawing/2014/main" id="{B6F4CD24-7945-E141-8AE5-B72F07D79D0A}"/>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68" name="AutoShape 142">
                <a:extLst>
                  <a:ext uri="{FF2B5EF4-FFF2-40B4-BE49-F238E27FC236}">
                    <a16:creationId xmlns:a16="http://schemas.microsoft.com/office/drawing/2014/main" id="{A13F2C2E-8E50-C242-BBFA-276B4503978A}"/>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56" name="Rectangle 143">
              <a:extLst>
                <a:ext uri="{FF2B5EF4-FFF2-40B4-BE49-F238E27FC236}">
                  <a16:creationId xmlns:a16="http://schemas.microsoft.com/office/drawing/2014/main" id="{C95C6BF7-C7DF-FB4E-BCA1-1C5F3CF4748B}"/>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57" name="Freeform 144">
              <a:extLst>
                <a:ext uri="{FF2B5EF4-FFF2-40B4-BE49-F238E27FC236}">
                  <a16:creationId xmlns:a16="http://schemas.microsoft.com/office/drawing/2014/main" id="{E716E123-C485-CC44-A743-C9D7E94AF6B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58" name="Freeform 145">
              <a:extLst>
                <a:ext uri="{FF2B5EF4-FFF2-40B4-BE49-F238E27FC236}">
                  <a16:creationId xmlns:a16="http://schemas.microsoft.com/office/drawing/2014/main" id="{8B36D081-D3B9-D34B-91B2-079B05D0914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59" name="Oval 146">
              <a:extLst>
                <a:ext uri="{FF2B5EF4-FFF2-40B4-BE49-F238E27FC236}">
                  <a16:creationId xmlns:a16="http://schemas.microsoft.com/office/drawing/2014/main" id="{B32C0505-6B5E-5B45-9C22-ABAD0452C43F}"/>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60" name="Freeform 147">
              <a:extLst>
                <a:ext uri="{FF2B5EF4-FFF2-40B4-BE49-F238E27FC236}">
                  <a16:creationId xmlns:a16="http://schemas.microsoft.com/office/drawing/2014/main" id="{30177E53-587A-9B45-9ECD-611B7CEB1E04}"/>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61" name="AutoShape 148">
              <a:extLst>
                <a:ext uri="{FF2B5EF4-FFF2-40B4-BE49-F238E27FC236}">
                  <a16:creationId xmlns:a16="http://schemas.microsoft.com/office/drawing/2014/main" id="{0DA2D2A9-124E-EB41-86B5-909A794DF763}"/>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62" name="AutoShape 149">
              <a:extLst>
                <a:ext uri="{FF2B5EF4-FFF2-40B4-BE49-F238E27FC236}">
                  <a16:creationId xmlns:a16="http://schemas.microsoft.com/office/drawing/2014/main" id="{CA5FFC73-D7D9-D240-94B8-900F51AC0C7D}"/>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63" name="Oval 150">
              <a:extLst>
                <a:ext uri="{FF2B5EF4-FFF2-40B4-BE49-F238E27FC236}">
                  <a16:creationId xmlns:a16="http://schemas.microsoft.com/office/drawing/2014/main" id="{EFC35150-3347-7042-80EB-A8781A361256}"/>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64" name="Oval 151">
              <a:extLst>
                <a:ext uri="{FF2B5EF4-FFF2-40B4-BE49-F238E27FC236}">
                  <a16:creationId xmlns:a16="http://schemas.microsoft.com/office/drawing/2014/main" id="{EA2EA724-2820-AE47-8D84-09E997A6DDAA}"/>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65" name="Oval 152">
              <a:extLst>
                <a:ext uri="{FF2B5EF4-FFF2-40B4-BE49-F238E27FC236}">
                  <a16:creationId xmlns:a16="http://schemas.microsoft.com/office/drawing/2014/main" id="{27B270D9-EE2B-924F-8F2A-27B9EB6ABE98}"/>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66" name="Rectangle 153">
              <a:extLst>
                <a:ext uri="{FF2B5EF4-FFF2-40B4-BE49-F238E27FC236}">
                  <a16:creationId xmlns:a16="http://schemas.microsoft.com/office/drawing/2014/main" id="{689F1C5E-1D85-0243-9E5E-0ABE340F97D1}"/>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Tree>
    <p:extLst>
      <p:ext uri="{BB962C8B-B14F-4D97-AF65-F5344CB8AC3E}">
        <p14:creationId xmlns:p14="http://schemas.microsoft.com/office/powerpoint/2010/main" val="3709395369"/>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188031" y="177023"/>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3-way Handshake</a:t>
            </a:r>
          </a:p>
        </p:txBody>
      </p:sp>
      <p:grpSp>
        <p:nvGrpSpPr>
          <p:cNvPr id="73" name="Group 72">
            <a:extLst>
              <a:ext uri="{FF2B5EF4-FFF2-40B4-BE49-F238E27FC236}">
                <a16:creationId xmlns:a16="http://schemas.microsoft.com/office/drawing/2014/main" id="{9CAAA66F-65EC-E34C-8D40-259E21717735}"/>
              </a:ext>
            </a:extLst>
          </p:cNvPr>
          <p:cNvGrpSpPr/>
          <p:nvPr/>
        </p:nvGrpSpPr>
        <p:grpSpPr>
          <a:xfrm>
            <a:off x="7126412" y="1211965"/>
            <a:ext cx="1153193" cy="3825550"/>
            <a:chOff x="5269383" y="2475193"/>
            <a:chExt cx="1537590" cy="2910061"/>
          </a:xfrm>
        </p:grpSpPr>
        <p:sp>
          <p:nvSpPr>
            <p:cNvPr id="74" name="Line 25">
              <a:extLst>
                <a:ext uri="{FF2B5EF4-FFF2-40B4-BE49-F238E27FC236}">
                  <a16:creationId xmlns:a16="http://schemas.microsoft.com/office/drawing/2014/main" id="{BC6653C1-9562-C643-B0CA-B2050012CB3F}"/>
                </a:ext>
              </a:extLst>
            </p:cNvPr>
            <p:cNvSpPr>
              <a:spLocks noChangeShapeType="1"/>
            </p:cNvSpPr>
            <p:nvPr/>
          </p:nvSpPr>
          <p:spPr bwMode="auto">
            <a:xfrm flipH="1">
              <a:off x="5269383" y="2475193"/>
              <a:ext cx="8825" cy="2910061"/>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75" name="Line 39">
              <a:extLst>
                <a:ext uri="{FF2B5EF4-FFF2-40B4-BE49-F238E27FC236}">
                  <a16:creationId xmlns:a16="http://schemas.microsoft.com/office/drawing/2014/main" id="{315091FE-FBA3-1544-BB24-018D1D00254A}"/>
                </a:ext>
              </a:extLst>
            </p:cNvPr>
            <p:cNvSpPr>
              <a:spLocks noChangeShapeType="1"/>
            </p:cNvSpPr>
            <p:nvPr/>
          </p:nvSpPr>
          <p:spPr bwMode="auto">
            <a:xfrm flipH="1">
              <a:off x="6792914" y="2548218"/>
              <a:ext cx="14059" cy="2837036"/>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76" name="Group 75">
            <a:extLst>
              <a:ext uri="{FF2B5EF4-FFF2-40B4-BE49-F238E27FC236}">
                <a16:creationId xmlns:a16="http://schemas.microsoft.com/office/drawing/2014/main" id="{D58C52DC-C8FA-4944-8CC4-85815AC982E1}"/>
              </a:ext>
            </a:extLst>
          </p:cNvPr>
          <p:cNvGrpSpPr/>
          <p:nvPr/>
        </p:nvGrpSpPr>
        <p:grpSpPr>
          <a:xfrm>
            <a:off x="8261585" y="3722946"/>
            <a:ext cx="699915" cy="276999"/>
            <a:chOff x="11151735" y="5123971"/>
            <a:chExt cx="933219" cy="369332"/>
          </a:xfrm>
        </p:grpSpPr>
        <p:sp>
          <p:nvSpPr>
            <p:cNvPr id="77" name="Text Box 44">
              <a:extLst>
                <a:ext uri="{FF2B5EF4-FFF2-40B4-BE49-F238E27FC236}">
                  <a16:creationId xmlns:a16="http://schemas.microsoft.com/office/drawing/2014/main" id="{44C9896B-08D9-DD4F-A1D1-E6EE31E997B0}"/>
                </a:ext>
              </a:extLst>
            </p:cNvPr>
            <p:cNvSpPr txBox="1">
              <a:spLocks noChangeArrowheads="1"/>
            </p:cNvSpPr>
            <p:nvPr/>
          </p:nvSpPr>
          <p:spPr bwMode="auto">
            <a:xfrm>
              <a:off x="11216768" y="5123971"/>
              <a:ext cx="8681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ESTAB</a:t>
              </a:r>
            </a:p>
          </p:txBody>
        </p:sp>
        <p:sp>
          <p:nvSpPr>
            <p:cNvPr id="78" name="Oval 45">
              <a:extLst>
                <a:ext uri="{FF2B5EF4-FFF2-40B4-BE49-F238E27FC236}">
                  <a16:creationId xmlns:a16="http://schemas.microsoft.com/office/drawing/2014/main" id="{523A6BAB-2B5B-8B48-B14C-CD5B3206CAA2}"/>
                </a:ext>
              </a:extLst>
            </p:cNvPr>
            <p:cNvSpPr>
              <a:spLocks noChangeArrowheads="1"/>
            </p:cNvSpPr>
            <p:nvPr/>
          </p:nvSpPr>
          <p:spPr bwMode="auto">
            <a:xfrm>
              <a:off x="11151735" y="5275718"/>
              <a:ext cx="90487"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grpSp>
        <p:nvGrpSpPr>
          <p:cNvPr id="79" name="Group 78">
            <a:extLst>
              <a:ext uri="{FF2B5EF4-FFF2-40B4-BE49-F238E27FC236}">
                <a16:creationId xmlns:a16="http://schemas.microsoft.com/office/drawing/2014/main" id="{BF5066A4-7FFD-3447-A085-E135DC48118A}"/>
              </a:ext>
            </a:extLst>
          </p:cNvPr>
          <p:cNvGrpSpPr/>
          <p:nvPr/>
        </p:nvGrpSpPr>
        <p:grpSpPr>
          <a:xfrm>
            <a:off x="6127125" y="1730533"/>
            <a:ext cx="2188369" cy="2137174"/>
            <a:chOff x="8276771" y="2492829"/>
            <a:chExt cx="2917826" cy="2849565"/>
          </a:xfrm>
        </p:grpSpPr>
        <p:sp>
          <p:nvSpPr>
            <p:cNvPr id="80" name="Text Box 42">
              <a:extLst>
                <a:ext uri="{FF2B5EF4-FFF2-40B4-BE49-F238E27FC236}">
                  <a16:creationId xmlns:a16="http://schemas.microsoft.com/office/drawing/2014/main" id="{8B0E3738-2A2C-C540-B07D-16F35D1B7460}"/>
                </a:ext>
              </a:extLst>
            </p:cNvPr>
            <p:cNvSpPr txBox="1">
              <a:spLocks noChangeArrowheads="1"/>
            </p:cNvSpPr>
            <p:nvPr/>
          </p:nvSpPr>
          <p:spPr bwMode="auto">
            <a:xfrm>
              <a:off x="8276771" y="2492829"/>
              <a:ext cx="1349376"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req_conn</a:t>
              </a:r>
              <a:r>
                <a:rPr lang="en-US" sz="1200" kern="0" dirty="0">
                  <a:solidFill>
                    <a:srgbClr val="000000"/>
                  </a:solidFill>
                  <a:latin typeface="Avenir Book" panose="020B0503020203020204" pitchFamily="34" charset="-78"/>
                  <a:cs typeface="Avenir Book" panose="020B0503020203020204" pitchFamily="34" charset="-78"/>
                </a:rPr>
                <a:t>(x)</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81" name="Freeform 43">
              <a:extLst>
                <a:ext uri="{FF2B5EF4-FFF2-40B4-BE49-F238E27FC236}">
                  <a16:creationId xmlns:a16="http://schemas.microsoft.com/office/drawing/2014/main" id="{528F5849-C9BA-364B-BBF1-086991584A75}"/>
                </a:ext>
              </a:extLst>
            </p:cNvPr>
            <p:cNvSpPr>
              <a:spLocks/>
            </p:cNvSpPr>
            <p:nvPr/>
          </p:nvSpPr>
          <p:spPr bwMode="auto">
            <a:xfrm>
              <a:off x="9667423" y="2783342"/>
              <a:ext cx="1527174" cy="255905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82" name="Group 46">
              <a:extLst>
                <a:ext uri="{FF2B5EF4-FFF2-40B4-BE49-F238E27FC236}">
                  <a16:creationId xmlns:a16="http://schemas.microsoft.com/office/drawing/2014/main" id="{3F65A0FD-93D7-FE4A-976F-9F9685E790A3}"/>
                </a:ext>
              </a:extLst>
            </p:cNvPr>
            <p:cNvGrpSpPr>
              <a:grpSpLocks/>
            </p:cNvGrpSpPr>
            <p:nvPr/>
          </p:nvGrpSpPr>
          <p:grpSpPr bwMode="auto">
            <a:xfrm>
              <a:off x="9724574" y="3386596"/>
              <a:ext cx="1350962" cy="369888"/>
              <a:chOff x="1040" y="2085"/>
              <a:chExt cx="851" cy="233"/>
            </a:xfrm>
          </p:grpSpPr>
          <p:sp>
            <p:nvSpPr>
              <p:cNvPr id="83" name="Rectangle 47">
                <a:extLst>
                  <a:ext uri="{FF2B5EF4-FFF2-40B4-BE49-F238E27FC236}">
                    <a16:creationId xmlns:a16="http://schemas.microsoft.com/office/drawing/2014/main" id="{528CC805-3663-4846-BF33-966C0CEBEFDC}"/>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4" name="Text Box 48">
                <a:extLst>
                  <a:ext uri="{FF2B5EF4-FFF2-40B4-BE49-F238E27FC236}">
                    <a16:creationId xmlns:a16="http://schemas.microsoft.com/office/drawing/2014/main" id="{37D76C29-568C-6D4B-A1D0-D37EBE61CD72}"/>
                  </a:ext>
                </a:extLst>
              </p:cNvPr>
              <p:cNvSpPr txBox="1">
                <a:spLocks noChangeArrowheads="1"/>
              </p:cNvSpPr>
              <p:nvPr/>
            </p:nvSpPr>
            <p:spPr bwMode="auto">
              <a:xfrm>
                <a:off x="1040" y="2085"/>
                <a:ext cx="851"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req_conn(x)</a:t>
                </a:r>
              </a:p>
            </p:txBody>
          </p:sp>
        </p:grpSp>
      </p:grpSp>
      <p:grpSp>
        <p:nvGrpSpPr>
          <p:cNvPr id="85" name="Group 93">
            <a:extLst>
              <a:ext uri="{FF2B5EF4-FFF2-40B4-BE49-F238E27FC236}">
                <a16:creationId xmlns:a16="http://schemas.microsoft.com/office/drawing/2014/main" id="{86B69F27-A994-CA47-985C-04430FA1972B}"/>
              </a:ext>
            </a:extLst>
          </p:cNvPr>
          <p:cNvGrpSpPr>
            <a:grpSpLocks/>
          </p:cNvGrpSpPr>
          <p:nvPr/>
        </p:nvGrpSpPr>
        <p:grpSpPr bwMode="auto">
          <a:xfrm>
            <a:off x="6184275" y="2816753"/>
            <a:ext cx="2952751" cy="561975"/>
            <a:chOff x="339" y="2807"/>
            <a:chExt cx="2480" cy="472"/>
          </a:xfrm>
        </p:grpSpPr>
        <p:sp>
          <p:nvSpPr>
            <p:cNvPr id="86" name="Line 40">
              <a:extLst>
                <a:ext uri="{FF2B5EF4-FFF2-40B4-BE49-F238E27FC236}">
                  <a16:creationId xmlns:a16="http://schemas.microsoft.com/office/drawing/2014/main" id="{C5AE8131-69E2-444B-8BC2-5C71A372218D}"/>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7" name="Text Box 83">
              <a:extLst>
                <a:ext uri="{FF2B5EF4-FFF2-40B4-BE49-F238E27FC236}">
                  <a16:creationId xmlns:a16="http://schemas.microsoft.com/office/drawing/2014/main" id="{8DBECFE4-76F0-AB4E-B789-A21C0EFCB611}"/>
                </a:ext>
              </a:extLst>
            </p:cNvPr>
            <p:cNvSpPr txBox="1">
              <a:spLocks noChangeArrowheads="1"/>
            </p:cNvSpPr>
            <p:nvPr/>
          </p:nvSpPr>
          <p:spPr bwMode="auto">
            <a:xfrm>
              <a:off x="339" y="2937"/>
              <a:ext cx="805"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client terminates</a:t>
              </a:r>
            </a:p>
          </p:txBody>
        </p:sp>
        <p:sp>
          <p:nvSpPr>
            <p:cNvPr id="88" name="Text Box 84">
              <a:extLst>
                <a:ext uri="{FF2B5EF4-FFF2-40B4-BE49-F238E27FC236}">
                  <a16:creationId xmlns:a16="http://schemas.microsoft.com/office/drawing/2014/main" id="{01770E8E-591E-3449-B45B-86CFA7116170}"/>
                </a:ext>
              </a:extLst>
            </p:cNvPr>
            <p:cNvSpPr txBox="1">
              <a:spLocks noChangeArrowheads="1"/>
            </p:cNvSpPr>
            <p:nvPr/>
          </p:nvSpPr>
          <p:spPr bwMode="auto">
            <a:xfrm>
              <a:off x="2081" y="2938"/>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server</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forgets x</a:t>
              </a:r>
            </a:p>
          </p:txBody>
        </p:sp>
        <p:sp>
          <p:nvSpPr>
            <p:cNvPr id="89" name="Text Box 85">
              <a:extLst>
                <a:ext uri="{FF2B5EF4-FFF2-40B4-BE49-F238E27FC236}">
                  <a16:creationId xmlns:a16="http://schemas.microsoft.com/office/drawing/2014/main" id="{6398E97B-6925-E144-A17A-19BDFF67AF27}"/>
                </a:ext>
              </a:extLst>
            </p:cNvPr>
            <p:cNvSpPr txBox="1">
              <a:spLocks noChangeArrowheads="1"/>
            </p:cNvSpPr>
            <p:nvPr/>
          </p:nvSpPr>
          <p:spPr bwMode="auto">
            <a:xfrm>
              <a:off x="1239" y="2807"/>
              <a:ext cx="766" cy="32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connection </a:t>
              </a:r>
            </a:p>
            <a:p>
              <a:pPr algn="ct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x completes</a:t>
              </a:r>
            </a:p>
          </p:txBody>
        </p:sp>
      </p:grpSp>
      <p:grpSp>
        <p:nvGrpSpPr>
          <p:cNvPr id="90" name="Group 89">
            <a:extLst>
              <a:ext uri="{FF2B5EF4-FFF2-40B4-BE49-F238E27FC236}">
                <a16:creationId xmlns:a16="http://schemas.microsoft.com/office/drawing/2014/main" id="{09A60973-A80A-204A-B7D6-FB475901ED33}"/>
              </a:ext>
            </a:extLst>
          </p:cNvPr>
          <p:cNvGrpSpPr/>
          <p:nvPr/>
        </p:nvGrpSpPr>
        <p:grpSpPr>
          <a:xfrm>
            <a:off x="6287794" y="1209411"/>
            <a:ext cx="2642251" cy="1278315"/>
            <a:chOff x="7779797" y="1602735"/>
            <a:chExt cx="3523002" cy="1704419"/>
          </a:xfrm>
        </p:grpSpPr>
        <p:sp>
          <p:nvSpPr>
            <p:cNvPr id="91" name="Text Box 103">
              <a:extLst>
                <a:ext uri="{FF2B5EF4-FFF2-40B4-BE49-F238E27FC236}">
                  <a16:creationId xmlns:a16="http://schemas.microsoft.com/office/drawing/2014/main" id="{27DD0EE7-74A0-A142-919B-D9D3C93523C2}"/>
                </a:ext>
              </a:extLst>
            </p:cNvPr>
            <p:cNvSpPr txBox="1">
              <a:spLocks noChangeArrowheads="1"/>
            </p:cNvSpPr>
            <p:nvPr/>
          </p:nvSpPr>
          <p:spPr bwMode="auto">
            <a:xfrm>
              <a:off x="7779797" y="1602735"/>
              <a:ext cx="1058496" cy="6155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choose x</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92" name="Line 104">
              <a:extLst>
                <a:ext uri="{FF2B5EF4-FFF2-40B4-BE49-F238E27FC236}">
                  <a16:creationId xmlns:a16="http://schemas.microsoft.com/office/drawing/2014/main" id="{1CA9B668-6F05-1A48-9C2A-8D882F798CE6}"/>
                </a:ext>
              </a:extLst>
            </p:cNvPr>
            <p:cNvSpPr>
              <a:spLocks noChangeShapeType="1"/>
            </p:cNvSpPr>
            <p:nvPr/>
          </p:nvSpPr>
          <p:spPr bwMode="auto">
            <a:xfrm>
              <a:off x="8936718" y="1797997"/>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3" name="Line 105">
              <a:extLst>
                <a:ext uri="{FF2B5EF4-FFF2-40B4-BE49-F238E27FC236}">
                  <a16:creationId xmlns:a16="http://schemas.microsoft.com/office/drawing/2014/main" id="{419290E8-9A2F-1349-8BDC-8DFEA6A57E20}"/>
                </a:ext>
              </a:extLst>
            </p:cNvPr>
            <p:cNvSpPr>
              <a:spLocks noChangeShapeType="1"/>
            </p:cNvSpPr>
            <p:nvPr/>
          </p:nvSpPr>
          <p:spPr bwMode="auto">
            <a:xfrm flipH="1">
              <a:off x="8876393" y="2152010"/>
              <a:ext cx="1571625" cy="95567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4" name="Rectangle 106">
              <a:extLst>
                <a:ext uri="{FF2B5EF4-FFF2-40B4-BE49-F238E27FC236}">
                  <a16:creationId xmlns:a16="http://schemas.microsoft.com/office/drawing/2014/main" id="{6E5822A0-BC34-8444-893D-1967BA1DAE48}"/>
                </a:ext>
              </a:extLst>
            </p:cNvPr>
            <p:cNvSpPr>
              <a:spLocks noChangeArrowheads="1"/>
            </p:cNvSpPr>
            <p:nvPr/>
          </p:nvSpPr>
          <p:spPr bwMode="auto">
            <a:xfrm>
              <a:off x="9254218" y="1783710"/>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5"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8985005" y="1750372"/>
              <a:ext cx="135122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req_conn(x)</a:t>
              </a:r>
            </a:p>
          </p:txBody>
        </p:sp>
        <p:sp>
          <p:nvSpPr>
            <p:cNvPr id="96" name="Rectangle 108">
              <a:extLst>
                <a:ext uri="{FF2B5EF4-FFF2-40B4-BE49-F238E27FC236}">
                  <a16:creationId xmlns:a16="http://schemas.microsoft.com/office/drawing/2014/main" id="{0F092120-BA14-CA43-B320-651262EF6262}"/>
                </a:ext>
              </a:extLst>
            </p:cNvPr>
            <p:cNvSpPr>
              <a:spLocks noChangeArrowheads="1"/>
            </p:cNvSpPr>
            <p:nvPr/>
          </p:nvSpPr>
          <p:spPr bwMode="auto">
            <a:xfrm>
              <a:off x="9432018" y="2207572"/>
              <a:ext cx="439738"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7"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0434612" y="2009135"/>
              <a:ext cx="868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98" name="Text Box 110">
              <a:extLst>
                <a:ext uri="{FF2B5EF4-FFF2-40B4-BE49-F238E27FC236}">
                  <a16:creationId xmlns:a16="http://schemas.microsoft.com/office/drawing/2014/main" id="{8653D286-5C97-A747-BA85-93954395E4EE}"/>
                </a:ext>
              </a:extLst>
            </p:cNvPr>
            <p:cNvSpPr txBox="1">
              <a:spLocks noChangeArrowheads="1"/>
            </p:cNvSpPr>
            <p:nvPr/>
          </p:nvSpPr>
          <p:spPr bwMode="auto">
            <a:xfrm>
              <a:off x="7973989" y="2937822"/>
              <a:ext cx="868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99" name="Oval 111">
              <a:extLst>
                <a:ext uri="{FF2B5EF4-FFF2-40B4-BE49-F238E27FC236}">
                  <a16:creationId xmlns:a16="http://schemas.microsoft.com/office/drawing/2014/main" id="{300C99E0-DB04-CE43-BF80-AA9266EE3E52}"/>
                </a:ext>
              </a:extLst>
            </p:cNvPr>
            <p:cNvSpPr>
              <a:spLocks noChangeArrowheads="1"/>
            </p:cNvSpPr>
            <p:nvPr/>
          </p:nvSpPr>
          <p:spPr bwMode="auto">
            <a:xfrm>
              <a:off x="8835118" y="3039422"/>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100" name="Oval 112">
              <a:extLst>
                <a:ext uri="{FF2B5EF4-FFF2-40B4-BE49-F238E27FC236}">
                  <a16:creationId xmlns:a16="http://schemas.microsoft.com/office/drawing/2014/main" id="{55BCC378-2E90-C548-84E6-682C16C047D2}"/>
                </a:ext>
              </a:extLst>
            </p:cNvPr>
            <p:cNvSpPr>
              <a:spLocks noChangeArrowheads="1"/>
            </p:cNvSpPr>
            <p:nvPr/>
          </p:nvSpPr>
          <p:spPr bwMode="auto">
            <a:xfrm>
              <a:off x="10374993" y="2126610"/>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nvGrpSpPr>
            <p:cNvPr id="101" name="Group 113">
              <a:extLst>
                <a:ext uri="{FF2B5EF4-FFF2-40B4-BE49-F238E27FC236}">
                  <a16:creationId xmlns:a16="http://schemas.microsoft.com/office/drawing/2014/main" id="{204BAA52-89B1-794F-88E6-9C5622E551C2}"/>
                </a:ext>
              </a:extLst>
            </p:cNvPr>
            <p:cNvGrpSpPr>
              <a:grpSpLocks/>
            </p:cNvGrpSpPr>
            <p:nvPr/>
          </p:nvGrpSpPr>
          <p:grpSpPr bwMode="auto">
            <a:xfrm>
              <a:off x="9087531" y="2345689"/>
              <a:ext cx="1349376" cy="369888"/>
              <a:chOff x="1042" y="2085"/>
              <a:chExt cx="850" cy="233"/>
            </a:xfrm>
          </p:grpSpPr>
          <p:sp>
            <p:nvSpPr>
              <p:cNvPr id="102" name="Rectangle 114">
                <a:extLst>
                  <a:ext uri="{FF2B5EF4-FFF2-40B4-BE49-F238E27FC236}">
                    <a16:creationId xmlns:a16="http://schemas.microsoft.com/office/drawing/2014/main" id="{C6D2B144-2FD8-974E-9CC8-AFFFEB74685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3"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1042" y="2085"/>
                <a:ext cx="850"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acc_conn</a:t>
                </a:r>
                <a:r>
                  <a:rPr lang="en-US" sz="1200" kern="0" dirty="0">
                    <a:solidFill>
                      <a:srgbClr val="000000"/>
                    </a:solidFill>
                    <a:latin typeface="Avenir Book" panose="020B0503020203020204" pitchFamily="34" charset="-78"/>
                    <a:cs typeface="Avenir Book" panose="020B0503020203020204" pitchFamily="34" charset="-78"/>
                  </a:rPr>
                  <a:t>(x)</a:t>
                </a:r>
              </a:p>
            </p:txBody>
          </p:sp>
        </p:grpSp>
      </p:grpSp>
      <p:grpSp>
        <p:nvGrpSpPr>
          <p:cNvPr id="104" name="Group 116">
            <a:extLst>
              <a:ext uri="{FF2B5EF4-FFF2-40B4-BE49-F238E27FC236}">
                <a16:creationId xmlns:a16="http://schemas.microsoft.com/office/drawing/2014/main" id="{80C83854-C77F-BA47-9721-52914A496B51}"/>
              </a:ext>
            </a:extLst>
          </p:cNvPr>
          <p:cNvGrpSpPr>
            <a:grpSpLocks/>
          </p:cNvGrpSpPr>
          <p:nvPr/>
        </p:nvGrpSpPr>
        <p:grpSpPr bwMode="auto">
          <a:xfrm>
            <a:off x="6844733" y="798645"/>
            <a:ext cx="465535" cy="365522"/>
            <a:chOff x="-44" y="1473"/>
            <a:chExt cx="981" cy="1105"/>
          </a:xfrm>
        </p:grpSpPr>
        <p:pic>
          <p:nvPicPr>
            <p:cNvPr id="105" name="Picture 117" descr="desktop_computer_stylized_medium">
              <a:extLst>
                <a:ext uri="{FF2B5EF4-FFF2-40B4-BE49-F238E27FC236}">
                  <a16:creationId xmlns:a16="http://schemas.microsoft.com/office/drawing/2014/main" id="{FE9AA7D5-5E43-A948-A974-AB4C6A011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118">
              <a:extLst>
                <a:ext uri="{FF2B5EF4-FFF2-40B4-BE49-F238E27FC236}">
                  <a16:creationId xmlns:a16="http://schemas.microsoft.com/office/drawing/2014/main" id="{E2235674-3CC8-FA49-8410-24EA9726B2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07" name="Group 119">
            <a:extLst>
              <a:ext uri="{FF2B5EF4-FFF2-40B4-BE49-F238E27FC236}">
                <a16:creationId xmlns:a16="http://schemas.microsoft.com/office/drawing/2014/main" id="{20AAAB4F-DE43-4840-934B-1D6561325F75}"/>
              </a:ext>
            </a:extLst>
          </p:cNvPr>
          <p:cNvGrpSpPr>
            <a:grpSpLocks/>
          </p:cNvGrpSpPr>
          <p:nvPr/>
        </p:nvGrpSpPr>
        <p:grpSpPr bwMode="auto">
          <a:xfrm>
            <a:off x="8200854" y="784358"/>
            <a:ext cx="252413" cy="384572"/>
            <a:chOff x="4140" y="429"/>
            <a:chExt cx="1425" cy="2396"/>
          </a:xfrm>
        </p:grpSpPr>
        <p:sp>
          <p:nvSpPr>
            <p:cNvPr id="108" name="Freeform 120">
              <a:extLst>
                <a:ext uri="{FF2B5EF4-FFF2-40B4-BE49-F238E27FC236}">
                  <a16:creationId xmlns:a16="http://schemas.microsoft.com/office/drawing/2014/main" id="{5DB74304-D404-914A-B276-40CA04FC1311}"/>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09" name="Rectangle 121">
              <a:extLst>
                <a:ext uri="{FF2B5EF4-FFF2-40B4-BE49-F238E27FC236}">
                  <a16:creationId xmlns:a16="http://schemas.microsoft.com/office/drawing/2014/main" id="{4478CCC0-71C5-0742-833B-39071606459A}"/>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0" name="Freeform 122">
              <a:extLst>
                <a:ext uri="{FF2B5EF4-FFF2-40B4-BE49-F238E27FC236}">
                  <a16:creationId xmlns:a16="http://schemas.microsoft.com/office/drawing/2014/main" id="{773F3087-0AEC-3244-AE9B-B906345E8CA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11" name="Freeform 123">
              <a:extLst>
                <a:ext uri="{FF2B5EF4-FFF2-40B4-BE49-F238E27FC236}">
                  <a16:creationId xmlns:a16="http://schemas.microsoft.com/office/drawing/2014/main" id="{6D261F9A-FEF5-2C48-A572-F9AEEE61C84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12" name="Rectangle 124">
              <a:extLst>
                <a:ext uri="{FF2B5EF4-FFF2-40B4-BE49-F238E27FC236}">
                  <a16:creationId xmlns:a16="http://schemas.microsoft.com/office/drawing/2014/main" id="{D7A88CB8-3019-0847-8D63-FB56841E8488}"/>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3" name="Group 125">
              <a:extLst>
                <a:ext uri="{FF2B5EF4-FFF2-40B4-BE49-F238E27FC236}">
                  <a16:creationId xmlns:a16="http://schemas.microsoft.com/office/drawing/2014/main" id="{92427F18-D9EB-5F4E-A265-DCBE0DDFDD70}"/>
                </a:ext>
              </a:extLst>
            </p:cNvPr>
            <p:cNvGrpSpPr>
              <a:grpSpLocks/>
            </p:cNvGrpSpPr>
            <p:nvPr/>
          </p:nvGrpSpPr>
          <p:grpSpPr bwMode="auto">
            <a:xfrm>
              <a:off x="4749" y="668"/>
              <a:ext cx="581" cy="145"/>
              <a:chOff x="614" y="2568"/>
              <a:chExt cx="725" cy="139"/>
            </a:xfrm>
          </p:grpSpPr>
          <p:sp>
            <p:nvSpPr>
              <p:cNvPr id="138" name="AutoShape 126">
                <a:extLst>
                  <a:ext uri="{FF2B5EF4-FFF2-40B4-BE49-F238E27FC236}">
                    <a16:creationId xmlns:a16="http://schemas.microsoft.com/office/drawing/2014/main" id="{49297CCC-774B-1443-8147-999AEBDA5FE6}"/>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9" name="AutoShape 127">
                <a:extLst>
                  <a:ext uri="{FF2B5EF4-FFF2-40B4-BE49-F238E27FC236}">
                    <a16:creationId xmlns:a16="http://schemas.microsoft.com/office/drawing/2014/main" id="{99AA7B97-011A-844B-9C5E-49EF3FECA59C}"/>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4" name="Rectangle 128">
              <a:extLst>
                <a:ext uri="{FF2B5EF4-FFF2-40B4-BE49-F238E27FC236}">
                  <a16:creationId xmlns:a16="http://schemas.microsoft.com/office/drawing/2014/main" id="{0DE915D7-115F-0148-8246-F07CA43F2DF0}"/>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5" name="Group 129">
              <a:extLst>
                <a:ext uri="{FF2B5EF4-FFF2-40B4-BE49-F238E27FC236}">
                  <a16:creationId xmlns:a16="http://schemas.microsoft.com/office/drawing/2014/main" id="{1168EC4F-26EA-454C-A186-35A18483C0EB}"/>
                </a:ext>
              </a:extLst>
            </p:cNvPr>
            <p:cNvGrpSpPr>
              <a:grpSpLocks/>
            </p:cNvGrpSpPr>
            <p:nvPr/>
          </p:nvGrpSpPr>
          <p:grpSpPr bwMode="auto">
            <a:xfrm>
              <a:off x="4747" y="994"/>
              <a:ext cx="581" cy="134"/>
              <a:chOff x="614" y="2568"/>
              <a:chExt cx="725" cy="139"/>
            </a:xfrm>
          </p:grpSpPr>
          <p:sp>
            <p:nvSpPr>
              <p:cNvPr id="136" name="AutoShape 130">
                <a:extLst>
                  <a:ext uri="{FF2B5EF4-FFF2-40B4-BE49-F238E27FC236}">
                    <a16:creationId xmlns:a16="http://schemas.microsoft.com/office/drawing/2014/main" id="{30DEF7E1-5206-E14C-8F6E-C221B89557E7}"/>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7" name="AutoShape 131">
                <a:extLst>
                  <a:ext uri="{FF2B5EF4-FFF2-40B4-BE49-F238E27FC236}">
                    <a16:creationId xmlns:a16="http://schemas.microsoft.com/office/drawing/2014/main" id="{6DBD6BDF-F229-9945-8578-CEC44256CF6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6" name="Rectangle 132">
              <a:extLst>
                <a:ext uri="{FF2B5EF4-FFF2-40B4-BE49-F238E27FC236}">
                  <a16:creationId xmlns:a16="http://schemas.microsoft.com/office/drawing/2014/main" id="{0A0EEFD7-8203-2740-ABF0-C767B83C1EBD}"/>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7" name="Rectangle 133">
              <a:extLst>
                <a:ext uri="{FF2B5EF4-FFF2-40B4-BE49-F238E27FC236}">
                  <a16:creationId xmlns:a16="http://schemas.microsoft.com/office/drawing/2014/main" id="{9B3363E9-032E-DE45-B7D5-07B9FA6590E9}"/>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8" name="Group 134">
              <a:extLst>
                <a:ext uri="{FF2B5EF4-FFF2-40B4-BE49-F238E27FC236}">
                  <a16:creationId xmlns:a16="http://schemas.microsoft.com/office/drawing/2014/main" id="{64432C7D-9E6A-6E4E-965D-954C702C6B6E}"/>
                </a:ext>
              </a:extLst>
            </p:cNvPr>
            <p:cNvGrpSpPr>
              <a:grpSpLocks/>
            </p:cNvGrpSpPr>
            <p:nvPr/>
          </p:nvGrpSpPr>
          <p:grpSpPr bwMode="auto">
            <a:xfrm>
              <a:off x="4735" y="1627"/>
              <a:ext cx="582" cy="151"/>
              <a:chOff x="614" y="2568"/>
              <a:chExt cx="725" cy="139"/>
            </a:xfrm>
          </p:grpSpPr>
          <p:sp>
            <p:nvSpPr>
              <p:cNvPr id="134" name="AutoShape 135">
                <a:extLst>
                  <a:ext uri="{FF2B5EF4-FFF2-40B4-BE49-F238E27FC236}">
                    <a16:creationId xmlns:a16="http://schemas.microsoft.com/office/drawing/2014/main" id="{B32D344B-D91B-954B-BD35-1984E9213AA1}"/>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5" name="AutoShape 136">
                <a:extLst>
                  <a:ext uri="{FF2B5EF4-FFF2-40B4-BE49-F238E27FC236}">
                    <a16:creationId xmlns:a16="http://schemas.microsoft.com/office/drawing/2014/main" id="{47067A3E-2B26-F04B-A35D-FE7A4A41031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9" name="Freeform 137">
              <a:extLst>
                <a:ext uri="{FF2B5EF4-FFF2-40B4-BE49-F238E27FC236}">
                  <a16:creationId xmlns:a16="http://schemas.microsoft.com/office/drawing/2014/main" id="{D7735CF1-1F30-4F47-AC44-432430394B3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20" name="Group 138">
              <a:extLst>
                <a:ext uri="{FF2B5EF4-FFF2-40B4-BE49-F238E27FC236}">
                  <a16:creationId xmlns:a16="http://schemas.microsoft.com/office/drawing/2014/main" id="{FB78B141-B15E-674E-8F3F-8329CF49818C}"/>
                </a:ext>
              </a:extLst>
            </p:cNvPr>
            <p:cNvGrpSpPr>
              <a:grpSpLocks/>
            </p:cNvGrpSpPr>
            <p:nvPr/>
          </p:nvGrpSpPr>
          <p:grpSpPr bwMode="auto">
            <a:xfrm>
              <a:off x="4739" y="1327"/>
              <a:ext cx="582" cy="139"/>
              <a:chOff x="614" y="2568"/>
              <a:chExt cx="725" cy="139"/>
            </a:xfrm>
          </p:grpSpPr>
          <p:sp>
            <p:nvSpPr>
              <p:cNvPr id="132" name="AutoShape 139">
                <a:extLst>
                  <a:ext uri="{FF2B5EF4-FFF2-40B4-BE49-F238E27FC236}">
                    <a16:creationId xmlns:a16="http://schemas.microsoft.com/office/drawing/2014/main" id="{2FE8954C-766A-0743-AFEA-BE850F02F6A5}"/>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3" name="AutoShape 140">
                <a:extLst>
                  <a:ext uri="{FF2B5EF4-FFF2-40B4-BE49-F238E27FC236}">
                    <a16:creationId xmlns:a16="http://schemas.microsoft.com/office/drawing/2014/main" id="{B0838D8D-F17D-6642-84C3-0A7A06DB11E7}"/>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21" name="Rectangle 141">
              <a:extLst>
                <a:ext uri="{FF2B5EF4-FFF2-40B4-BE49-F238E27FC236}">
                  <a16:creationId xmlns:a16="http://schemas.microsoft.com/office/drawing/2014/main" id="{201450E4-426D-034A-898C-EA0F1878F2BD}"/>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2" name="Freeform 142">
              <a:extLst>
                <a:ext uri="{FF2B5EF4-FFF2-40B4-BE49-F238E27FC236}">
                  <a16:creationId xmlns:a16="http://schemas.microsoft.com/office/drawing/2014/main" id="{BEF832CC-F889-B740-96DA-EC8898E429EA}"/>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3" name="Freeform 143">
              <a:extLst>
                <a:ext uri="{FF2B5EF4-FFF2-40B4-BE49-F238E27FC236}">
                  <a16:creationId xmlns:a16="http://schemas.microsoft.com/office/drawing/2014/main" id="{62398C75-46A0-3745-982E-EFC495B4758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4" name="Oval 144">
              <a:extLst>
                <a:ext uri="{FF2B5EF4-FFF2-40B4-BE49-F238E27FC236}">
                  <a16:creationId xmlns:a16="http://schemas.microsoft.com/office/drawing/2014/main" id="{352FBF24-62B2-6F49-AC68-A67E46BEF583}"/>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5" name="Freeform 145">
              <a:extLst>
                <a:ext uri="{FF2B5EF4-FFF2-40B4-BE49-F238E27FC236}">
                  <a16:creationId xmlns:a16="http://schemas.microsoft.com/office/drawing/2014/main" id="{689E20C5-4EA8-8A4D-86CB-905743CC96A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6" name="AutoShape 146">
              <a:extLst>
                <a:ext uri="{FF2B5EF4-FFF2-40B4-BE49-F238E27FC236}">
                  <a16:creationId xmlns:a16="http://schemas.microsoft.com/office/drawing/2014/main" id="{EEA954D3-56B0-3541-93CF-131CC960367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7" name="AutoShape 147">
              <a:extLst>
                <a:ext uri="{FF2B5EF4-FFF2-40B4-BE49-F238E27FC236}">
                  <a16:creationId xmlns:a16="http://schemas.microsoft.com/office/drawing/2014/main" id="{D041028B-4F78-C84C-BFED-1142E17FC05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8" name="Oval 148">
              <a:extLst>
                <a:ext uri="{FF2B5EF4-FFF2-40B4-BE49-F238E27FC236}">
                  <a16:creationId xmlns:a16="http://schemas.microsoft.com/office/drawing/2014/main" id="{1DB124EA-65C6-2944-95EA-9CF5A05FD4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9" name="Oval 149">
              <a:extLst>
                <a:ext uri="{FF2B5EF4-FFF2-40B4-BE49-F238E27FC236}">
                  <a16:creationId xmlns:a16="http://schemas.microsoft.com/office/drawing/2014/main" id="{F9B231BC-3EE3-C645-A89F-95E350FAA4A6}"/>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130" name="Oval 150">
              <a:extLst>
                <a:ext uri="{FF2B5EF4-FFF2-40B4-BE49-F238E27FC236}">
                  <a16:creationId xmlns:a16="http://schemas.microsoft.com/office/drawing/2014/main" id="{01CC1925-74AE-594F-AD3D-173726AFBB10}"/>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1" name="Rectangle 151">
              <a:extLst>
                <a:ext uri="{FF2B5EF4-FFF2-40B4-BE49-F238E27FC236}">
                  <a16:creationId xmlns:a16="http://schemas.microsoft.com/office/drawing/2014/main" id="{92B6BE0B-71DF-9742-BE8C-BEF3D8A9EF2F}"/>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140" name="Group 139">
            <a:extLst>
              <a:ext uri="{FF2B5EF4-FFF2-40B4-BE49-F238E27FC236}">
                <a16:creationId xmlns:a16="http://schemas.microsoft.com/office/drawing/2014/main" id="{DE38AD7C-A8B1-2B4B-BE71-513FFA7EFB6C}"/>
              </a:ext>
            </a:extLst>
          </p:cNvPr>
          <p:cNvGrpSpPr/>
          <p:nvPr/>
        </p:nvGrpSpPr>
        <p:grpSpPr>
          <a:xfrm>
            <a:off x="7110239" y="3878593"/>
            <a:ext cx="1180419" cy="416378"/>
            <a:chOff x="9935935" y="2667001"/>
            <a:chExt cx="1573892" cy="555171"/>
          </a:xfrm>
        </p:grpSpPr>
        <p:sp>
          <p:nvSpPr>
            <p:cNvPr id="141" name="Line 105">
              <a:extLst>
                <a:ext uri="{FF2B5EF4-FFF2-40B4-BE49-F238E27FC236}">
                  <a16:creationId xmlns:a16="http://schemas.microsoft.com/office/drawing/2014/main" id="{6EE235BA-E9E9-3149-AB4E-BB5E5B9184E9}"/>
                </a:ext>
              </a:extLst>
            </p:cNvPr>
            <p:cNvSpPr>
              <a:spLocks noChangeShapeType="1"/>
            </p:cNvSpPr>
            <p:nvPr/>
          </p:nvSpPr>
          <p:spPr bwMode="auto">
            <a:xfrm flipH="1">
              <a:off x="9935935" y="2667001"/>
              <a:ext cx="1573892" cy="555171"/>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2" name="Rectangle 108">
              <a:extLst>
                <a:ext uri="{FF2B5EF4-FFF2-40B4-BE49-F238E27FC236}">
                  <a16:creationId xmlns:a16="http://schemas.microsoft.com/office/drawing/2014/main" id="{34867620-5404-3840-9CB7-CC051B16076F}"/>
                </a:ext>
              </a:extLst>
            </p:cNvPr>
            <p:cNvSpPr>
              <a:spLocks noChangeArrowheads="1"/>
            </p:cNvSpPr>
            <p:nvPr/>
          </p:nvSpPr>
          <p:spPr bwMode="auto">
            <a:xfrm>
              <a:off x="10132106" y="2824428"/>
              <a:ext cx="855208" cy="39774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43" name="Group 113">
              <a:extLst>
                <a:ext uri="{FF2B5EF4-FFF2-40B4-BE49-F238E27FC236}">
                  <a16:creationId xmlns:a16="http://schemas.microsoft.com/office/drawing/2014/main" id="{FF53EAD9-E51E-C047-8717-0A017ED29429}"/>
                </a:ext>
              </a:extLst>
            </p:cNvPr>
            <p:cNvGrpSpPr>
              <a:grpSpLocks/>
            </p:cNvGrpSpPr>
            <p:nvPr/>
          </p:nvGrpSpPr>
          <p:grpSpPr bwMode="auto">
            <a:xfrm>
              <a:off x="10049102" y="2693350"/>
              <a:ext cx="1349376" cy="430213"/>
              <a:chOff x="1097" y="2016"/>
              <a:chExt cx="850" cy="271"/>
            </a:xfrm>
          </p:grpSpPr>
          <p:sp>
            <p:nvSpPr>
              <p:cNvPr id="144" name="Rectangle 114">
                <a:extLst>
                  <a:ext uri="{FF2B5EF4-FFF2-40B4-BE49-F238E27FC236}">
                    <a16:creationId xmlns:a16="http://schemas.microsoft.com/office/drawing/2014/main" id="{49C5CA13-D3E8-AD41-9B46-F0CAA1288DCE}"/>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5" name="Text Box 115">
                <a:extLst>
                  <a:ext uri="{FF2B5EF4-FFF2-40B4-BE49-F238E27FC236}">
                    <a16:creationId xmlns:a16="http://schemas.microsoft.com/office/drawing/2014/main" id="{D4E6AFA2-674D-4C4B-889C-819675572F06}"/>
                  </a:ext>
                </a:extLst>
              </p:cNvPr>
              <p:cNvSpPr txBox="1">
                <a:spLocks noChangeArrowheads="1"/>
              </p:cNvSpPr>
              <p:nvPr/>
            </p:nvSpPr>
            <p:spPr bwMode="auto">
              <a:xfrm>
                <a:off x="1097" y="2016"/>
                <a:ext cx="850"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acc_conn</a:t>
                </a:r>
                <a:r>
                  <a:rPr lang="en-US" sz="1200" kern="0" dirty="0">
                    <a:solidFill>
                      <a:srgbClr val="000000"/>
                    </a:solidFill>
                    <a:latin typeface="Avenir Book" panose="020B0503020203020204" pitchFamily="34" charset="-78"/>
                    <a:cs typeface="Avenir Book" panose="020B0503020203020204" pitchFamily="34" charset="-78"/>
                  </a:rPr>
                  <a:t>(x)</a:t>
                </a:r>
              </a:p>
            </p:txBody>
          </p:sp>
        </p:grpSp>
      </p:grpSp>
      <p:grpSp>
        <p:nvGrpSpPr>
          <p:cNvPr id="219" name="Group 218">
            <a:extLst>
              <a:ext uri="{FF2B5EF4-FFF2-40B4-BE49-F238E27FC236}">
                <a16:creationId xmlns:a16="http://schemas.microsoft.com/office/drawing/2014/main" id="{9CAAA66F-65EC-E34C-8D40-259E21717735}"/>
              </a:ext>
            </a:extLst>
          </p:cNvPr>
          <p:cNvGrpSpPr/>
          <p:nvPr/>
        </p:nvGrpSpPr>
        <p:grpSpPr>
          <a:xfrm>
            <a:off x="10181794" y="1221708"/>
            <a:ext cx="1153193" cy="3825550"/>
            <a:chOff x="5269383" y="2475193"/>
            <a:chExt cx="1537590" cy="2910061"/>
          </a:xfrm>
        </p:grpSpPr>
        <p:sp>
          <p:nvSpPr>
            <p:cNvPr id="220" name="Line 25">
              <a:extLst>
                <a:ext uri="{FF2B5EF4-FFF2-40B4-BE49-F238E27FC236}">
                  <a16:creationId xmlns:a16="http://schemas.microsoft.com/office/drawing/2014/main" id="{BC6653C1-9562-C643-B0CA-B2050012CB3F}"/>
                </a:ext>
              </a:extLst>
            </p:cNvPr>
            <p:cNvSpPr>
              <a:spLocks noChangeShapeType="1"/>
            </p:cNvSpPr>
            <p:nvPr/>
          </p:nvSpPr>
          <p:spPr bwMode="auto">
            <a:xfrm flipH="1">
              <a:off x="5269383" y="2475193"/>
              <a:ext cx="8825" cy="2910061"/>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1" name="Line 39">
              <a:extLst>
                <a:ext uri="{FF2B5EF4-FFF2-40B4-BE49-F238E27FC236}">
                  <a16:creationId xmlns:a16="http://schemas.microsoft.com/office/drawing/2014/main" id="{315091FE-FBA3-1544-BB24-018D1D00254A}"/>
                </a:ext>
              </a:extLst>
            </p:cNvPr>
            <p:cNvSpPr>
              <a:spLocks noChangeShapeType="1"/>
            </p:cNvSpPr>
            <p:nvPr/>
          </p:nvSpPr>
          <p:spPr bwMode="auto">
            <a:xfrm flipH="1">
              <a:off x="6792914" y="2548218"/>
              <a:ext cx="14059" cy="2837036"/>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24" name="Oval 45">
            <a:extLst>
              <a:ext uri="{FF2B5EF4-FFF2-40B4-BE49-F238E27FC236}">
                <a16:creationId xmlns:a16="http://schemas.microsoft.com/office/drawing/2014/main" id="{523A6BAB-2B5B-8B48-B14C-CD5B3206CAA2}"/>
              </a:ext>
            </a:extLst>
          </p:cNvPr>
          <p:cNvSpPr>
            <a:spLocks noChangeArrowheads="1"/>
          </p:cNvSpPr>
          <p:nvPr/>
        </p:nvSpPr>
        <p:spPr bwMode="auto">
          <a:xfrm>
            <a:off x="11316927" y="3846499"/>
            <a:ext cx="67865" cy="66675"/>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nvGrpSpPr>
          <p:cNvPr id="225" name="Group 224">
            <a:extLst>
              <a:ext uri="{FF2B5EF4-FFF2-40B4-BE49-F238E27FC236}">
                <a16:creationId xmlns:a16="http://schemas.microsoft.com/office/drawing/2014/main" id="{BF5066A4-7FFD-3447-A085-E135DC48118A}"/>
              </a:ext>
            </a:extLst>
          </p:cNvPr>
          <p:cNvGrpSpPr/>
          <p:nvPr/>
        </p:nvGrpSpPr>
        <p:grpSpPr>
          <a:xfrm>
            <a:off x="9182507" y="1740276"/>
            <a:ext cx="2188369" cy="2137174"/>
            <a:chOff x="8276771" y="2492829"/>
            <a:chExt cx="2917826" cy="2849565"/>
          </a:xfrm>
        </p:grpSpPr>
        <p:sp>
          <p:nvSpPr>
            <p:cNvPr id="226" name="Text Box 42">
              <a:extLst>
                <a:ext uri="{FF2B5EF4-FFF2-40B4-BE49-F238E27FC236}">
                  <a16:creationId xmlns:a16="http://schemas.microsoft.com/office/drawing/2014/main" id="{8B0E3738-2A2C-C540-B07D-16F35D1B7460}"/>
                </a:ext>
              </a:extLst>
            </p:cNvPr>
            <p:cNvSpPr txBox="1">
              <a:spLocks noChangeArrowheads="1"/>
            </p:cNvSpPr>
            <p:nvPr/>
          </p:nvSpPr>
          <p:spPr bwMode="auto">
            <a:xfrm>
              <a:off x="8276771" y="2492829"/>
              <a:ext cx="1349376"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SYN</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227" name="Freeform 43">
              <a:extLst>
                <a:ext uri="{FF2B5EF4-FFF2-40B4-BE49-F238E27FC236}">
                  <a16:creationId xmlns:a16="http://schemas.microsoft.com/office/drawing/2014/main" id="{528F5849-C9BA-364B-BBF1-086991584A75}"/>
                </a:ext>
              </a:extLst>
            </p:cNvPr>
            <p:cNvSpPr>
              <a:spLocks/>
            </p:cNvSpPr>
            <p:nvPr/>
          </p:nvSpPr>
          <p:spPr bwMode="auto">
            <a:xfrm>
              <a:off x="9667423" y="2783342"/>
              <a:ext cx="1527174" cy="255905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231" name="Group 93">
            <a:extLst>
              <a:ext uri="{FF2B5EF4-FFF2-40B4-BE49-F238E27FC236}">
                <a16:creationId xmlns:a16="http://schemas.microsoft.com/office/drawing/2014/main" id="{86B69F27-A994-CA47-985C-04430FA1972B}"/>
              </a:ext>
            </a:extLst>
          </p:cNvPr>
          <p:cNvGrpSpPr>
            <a:grpSpLocks/>
          </p:cNvGrpSpPr>
          <p:nvPr/>
        </p:nvGrpSpPr>
        <p:grpSpPr bwMode="auto">
          <a:xfrm>
            <a:off x="9239657" y="2826496"/>
            <a:ext cx="2952751" cy="561975"/>
            <a:chOff x="339" y="2807"/>
            <a:chExt cx="2480" cy="472"/>
          </a:xfrm>
        </p:grpSpPr>
        <p:sp>
          <p:nvSpPr>
            <p:cNvPr id="232" name="Line 40">
              <a:extLst>
                <a:ext uri="{FF2B5EF4-FFF2-40B4-BE49-F238E27FC236}">
                  <a16:creationId xmlns:a16="http://schemas.microsoft.com/office/drawing/2014/main" id="{C5AE8131-69E2-444B-8BC2-5C71A372218D}"/>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3" name="Text Box 83">
              <a:extLst>
                <a:ext uri="{FF2B5EF4-FFF2-40B4-BE49-F238E27FC236}">
                  <a16:creationId xmlns:a16="http://schemas.microsoft.com/office/drawing/2014/main" id="{8DBECFE4-76F0-AB4E-B789-A21C0EFCB611}"/>
                </a:ext>
              </a:extLst>
            </p:cNvPr>
            <p:cNvSpPr txBox="1">
              <a:spLocks noChangeArrowheads="1"/>
            </p:cNvSpPr>
            <p:nvPr/>
          </p:nvSpPr>
          <p:spPr bwMode="auto">
            <a:xfrm>
              <a:off x="339" y="2937"/>
              <a:ext cx="805"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client terminates</a:t>
              </a:r>
            </a:p>
          </p:txBody>
        </p:sp>
        <p:sp>
          <p:nvSpPr>
            <p:cNvPr id="234" name="Text Box 84">
              <a:extLst>
                <a:ext uri="{FF2B5EF4-FFF2-40B4-BE49-F238E27FC236}">
                  <a16:creationId xmlns:a16="http://schemas.microsoft.com/office/drawing/2014/main" id="{01770E8E-591E-3449-B45B-86CFA7116170}"/>
                </a:ext>
              </a:extLst>
            </p:cNvPr>
            <p:cNvSpPr txBox="1">
              <a:spLocks noChangeArrowheads="1"/>
            </p:cNvSpPr>
            <p:nvPr/>
          </p:nvSpPr>
          <p:spPr bwMode="auto">
            <a:xfrm>
              <a:off x="2081" y="2938"/>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server</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forgets x</a:t>
              </a:r>
            </a:p>
          </p:txBody>
        </p:sp>
        <p:sp>
          <p:nvSpPr>
            <p:cNvPr id="235" name="Text Box 85">
              <a:extLst>
                <a:ext uri="{FF2B5EF4-FFF2-40B4-BE49-F238E27FC236}">
                  <a16:creationId xmlns:a16="http://schemas.microsoft.com/office/drawing/2014/main" id="{6398E97B-6925-E144-A17A-19BDFF67AF27}"/>
                </a:ext>
              </a:extLst>
            </p:cNvPr>
            <p:cNvSpPr txBox="1">
              <a:spLocks noChangeArrowheads="1"/>
            </p:cNvSpPr>
            <p:nvPr/>
          </p:nvSpPr>
          <p:spPr bwMode="auto">
            <a:xfrm>
              <a:off x="1239" y="2807"/>
              <a:ext cx="766" cy="32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connection </a:t>
              </a:r>
            </a:p>
            <a:p>
              <a:pPr algn="ct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x completes</a:t>
              </a:r>
            </a:p>
          </p:txBody>
        </p:sp>
      </p:grpSp>
      <p:grpSp>
        <p:nvGrpSpPr>
          <p:cNvPr id="236" name="Group 235">
            <a:extLst>
              <a:ext uri="{FF2B5EF4-FFF2-40B4-BE49-F238E27FC236}">
                <a16:creationId xmlns:a16="http://schemas.microsoft.com/office/drawing/2014/main" id="{09A60973-A80A-204A-B7D6-FB475901ED33}"/>
              </a:ext>
            </a:extLst>
          </p:cNvPr>
          <p:cNvGrpSpPr/>
          <p:nvPr/>
        </p:nvGrpSpPr>
        <p:grpSpPr>
          <a:xfrm>
            <a:off x="9343171" y="1219154"/>
            <a:ext cx="2716676" cy="1545571"/>
            <a:chOff x="7779797" y="1602735"/>
            <a:chExt cx="3622238" cy="2060760"/>
          </a:xfrm>
        </p:grpSpPr>
        <p:sp>
          <p:nvSpPr>
            <p:cNvPr id="237" name="Text Box 103">
              <a:extLst>
                <a:ext uri="{FF2B5EF4-FFF2-40B4-BE49-F238E27FC236}">
                  <a16:creationId xmlns:a16="http://schemas.microsoft.com/office/drawing/2014/main" id="{27DD0EE7-74A0-A142-919B-D9D3C93523C2}"/>
                </a:ext>
              </a:extLst>
            </p:cNvPr>
            <p:cNvSpPr txBox="1">
              <a:spLocks noChangeArrowheads="1"/>
            </p:cNvSpPr>
            <p:nvPr/>
          </p:nvSpPr>
          <p:spPr bwMode="auto">
            <a:xfrm>
              <a:off x="7779797" y="1602735"/>
              <a:ext cx="1058496" cy="6155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choose x</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238" name="Line 104">
              <a:extLst>
                <a:ext uri="{FF2B5EF4-FFF2-40B4-BE49-F238E27FC236}">
                  <a16:creationId xmlns:a16="http://schemas.microsoft.com/office/drawing/2014/main" id="{1CA9B668-6F05-1A48-9C2A-8D882F798CE6}"/>
                </a:ext>
              </a:extLst>
            </p:cNvPr>
            <p:cNvSpPr>
              <a:spLocks noChangeShapeType="1"/>
            </p:cNvSpPr>
            <p:nvPr/>
          </p:nvSpPr>
          <p:spPr bwMode="auto">
            <a:xfrm>
              <a:off x="8936718" y="1797997"/>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9" name="Line 105">
              <a:extLst>
                <a:ext uri="{FF2B5EF4-FFF2-40B4-BE49-F238E27FC236}">
                  <a16:creationId xmlns:a16="http://schemas.microsoft.com/office/drawing/2014/main" id="{419290E8-9A2F-1349-8BDC-8DFEA6A57E20}"/>
                </a:ext>
              </a:extLst>
            </p:cNvPr>
            <p:cNvSpPr>
              <a:spLocks noChangeShapeType="1"/>
            </p:cNvSpPr>
            <p:nvPr/>
          </p:nvSpPr>
          <p:spPr bwMode="auto">
            <a:xfrm flipH="1">
              <a:off x="8876393" y="2152010"/>
              <a:ext cx="1571625" cy="95567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0" name="Rectangle 106">
              <a:extLst>
                <a:ext uri="{FF2B5EF4-FFF2-40B4-BE49-F238E27FC236}">
                  <a16:creationId xmlns:a16="http://schemas.microsoft.com/office/drawing/2014/main" id="{6E5822A0-BC34-8444-893D-1967BA1DAE48}"/>
                </a:ext>
              </a:extLst>
            </p:cNvPr>
            <p:cNvSpPr>
              <a:spLocks noChangeArrowheads="1"/>
            </p:cNvSpPr>
            <p:nvPr/>
          </p:nvSpPr>
          <p:spPr bwMode="auto">
            <a:xfrm>
              <a:off x="9254218" y="1783710"/>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1"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019201" y="1750372"/>
              <a:ext cx="1282831"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SYN,Seq</a:t>
              </a:r>
              <a:r>
                <a:rPr lang="en-US" sz="1200" kern="0" dirty="0">
                  <a:solidFill>
                    <a:srgbClr val="000000"/>
                  </a:solidFill>
                  <a:latin typeface="Avenir Book" panose="020B0503020203020204" pitchFamily="34" charset="-78"/>
                  <a:cs typeface="Avenir Book" panose="020B0503020203020204" pitchFamily="34" charset="-78"/>
                </a:rPr>
                <a:t>=x</a:t>
              </a:r>
            </a:p>
          </p:txBody>
        </p:sp>
        <p:sp>
          <p:nvSpPr>
            <p:cNvPr id="242" name="Rectangle 108">
              <a:extLst>
                <a:ext uri="{FF2B5EF4-FFF2-40B4-BE49-F238E27FC236}">
                  <a16:creationId xmlns:a16="http://schemas.microsoft.com/office/drawing/2014/main" id="{0F092120-BA14-CA43-B320-651262EF6262}"/>
                </a:ext>
              </a:extLst>
            </p:cNvPr>
            <p:cNvSpPr>
              <a:spLocks noChangeArrowheads="1"/>
            </p:cNvSpPr>
            <p:nvPr/>
          </p:nvSpPr>
          <p:spPr bwMode="auto">
            <a:xfrm>
              <a:off x="9432018" y="2207572"/>
              <a:ext cx="439738"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3"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0533848" y="3294163"/>
              <a:ext cx="868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ESTAB</a:t>
              </a:r>
            </a:p>
          </p:txBody>
        </p:sp>
        <p:sp>
          <p:nvSpPr>
            <p:cNvPr id="244" name="Text Box 110">
              <a:extLst>
                <a:ext uri="{FF2B5EF4-FFF2-40B4-BE49-F238E27FC236}">
                  <a16:creationId xmlns:a16="http://schemas.microsoft.com/office/drawing/2014/main" id="{8653D286-5C97-A747-BA85-93954395E4EE}"/>
                </a:ext>
              </a:extLst>
            </p:cNvPr>
            <p:cNvSpPr txBox="1">
              <a:spLocks noChangeArrowheads="1"/>
            </p:cNvSpPr>
            <p:nvPr/>
          </p:nvSpPr>
          <p:spPr bwMode="auto">
            <a:xfrm>
              <a:off x="7973989" y="2937822"/>
              <a:ext cx="868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245" name="Oval 111">
              <a:extLst>
                <a:ext uri="{FF2B5EF4-FFF2-40B4-BE49-F238E27FC236}">
                  <a16:creationId xmlns:a16="http://schemas.microsoft.com/office/drawing/2014/main" id="{300C99E0-DB04-CE43-BF80-AA9266EE3E52}"/>
                </a:ext>
              </a:extLst>
            </p:cNvPr>
            <p:cNvSpPr>
              <a:spLocks noChangeArrowheads="1"/>
            </p:cNvSpPr>
            <p:nvPr/>
          </p:nvSpPr>
          <p:spPr bwMode="auto">
            <a:xfrm>
              <a:off x="8835118" y="3039422"/>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246" name="Oval 112">
              <a:extLst>
                <a:ext uri="{FF2B5EF4-FFF2-40B4-BE49-F238E27FC236}">
                  <a16:creationId xmlns:a16="http://schemas.microsoft.com/office/drawing/2014/main" id="{55BCC378-2E90-C548-84E6-682C16C047D2}"/>
                </a:ext>
              </a:extLst>
            </p:cNvPr>
            <p:cNvSpPr>
              <a:spLocks noChangeArrowheads="1"/>
            </p:cNvSpPr>
            <p:nvPr/>
          </p:nvSpPr>
          <p:spPr bwMode="auto">
            <a:xfrm>
              <a:off x="10374993" y="2126610"/>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nvGrpSpPr>
            <p:cNvPr id="247" name="Group 113">
              <a:extLst>
                <a:ext uri="{FF2B5EF4-FFF2-40B4-BE49-F238E27FC236}">
                  <a16:creationId xmlns:a16="http://schemas.microsoft.com/office/drawing/2014/main" id="{204BAA52-89B1-794F-88E6-9C5622E551C2}"/>
                </a:ext>
              </a:extLst>
            </p:cNvPr>
            <p:cNvGrpSpPr>
              <a:grpSpLocks/>
            </p:cNvGrpSpPr>
            <p:nvPr/>
          </p:nvGrpSpPr>
          <p:grpSpPr bwMode="auto">
            <a:xfrm>
              <a:off x="8866868" y="2345690"/>
              <a:ext cx="1792291" cy="615951"/>
              <a:chOff x="903" y="2085"/>
              <a:chExt cx="1129" cy="388"/>
            </a:xfrm>
          </p:grpSpPr>
          <p:sp>
            <p:nvSpPr>
              <p:cNvPr id="248" name="Rectangle 114">
                <a:extLst>
                  <a:ext uri="{FF2B5EF4-FFF2-40B4-BE49-F238E27FC236}">
                    <a16:creationId xmlns:a16="http://schemas.microsoft.com/office/drawing/2014/main" id="{C6D2B144-2FD8-974E-9CC8-AFFFEB74685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9"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903" y="2085"/>
                <a:ext cx="1129" cy="3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SYNACK,</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a:t>
                </a:r>
                <a:r>
                  <a:rPr lang="en-US" sz="1200" b="1" kern="0" dirty="0" err="1">
                    <a:solidFill>
                      <a:srgbClr val="FF0000"/>
                    </a:solidFill>
                    <a:latin typeface="Avenir Book" panose="020B0503020203020204" pitchFamily="34" charset="-78"/>
                    <a:cs typeface="Avenir Book" panose="020B0503020203020204" pitchFamily="34" charset="-78"/>
                  </a:rPr>
                  <a:t>y</a:t>
                </a:r>
                <a:r>
                  <a:rPr lang="en-US" sz="1200" kern="0" dirty="0" err="1">
                    <a:solidFill>
                      <a:srgbClr val="000000"/>
                    </a:solidFill>
                    <a:latin typeface="Avenir Book" panose="020B0503020203020204" pitchFamily="34" charset="-78"/>
                    <a:cs typeface="Avenir Book" panose="020B0503020203020204" pitchFamily="34" charset="-78"/>
                  </a:rPr>
                  <a:t>,ACK</a:t>
                </a:r>
                <a:r>
                  <a:rPr lang="en-US" sz="1200" kern="0" dirty="0">
                    <a:solidFill>
                      <a:srgbClr val="000000"/>
                    </a:solidFill>
                    <a:latin typeface="Avenir Book" panose="020B0503020203020204" pitchFamily="34" charset="-78"/>
                    <a:cs typeface="Avenir Book" panose="020B0503020203020204" pitchFamily="34" charset="-78"/>
                  </a:rPr>
                  <a:t>=x+1</a:t>
                </a:r>
              </a:p>
            </p:txBody>
          </p:sp>
        </p:grpSp>
      </p:grpSp>
      <p:grpSp>
        <p:nvGrpSpPr>
          <p:cNvPr id="250" name="Group 116">
            <a:extLst>
              <a:ext uri="{FF2B5EF4-FFF2-40B4-BE49-F238E27FC236}">
                <a16:creationId xmlns:a16="http://schemas.microsoft.com/office/drawing/2014/main" id="{80C83854-C77F-BA47-9721-52914A496B51}"/>
              </a:ext>
            </a:extLst>
          </p:cNvPr>
          <p:cNvGrpSpPr>
            <a:grpSpLocks/>
          </p:cNvGrpSpPr>
          <p:nvPr/>
        </p:nvGrpSpPr>
        <p:grpSpPr bwMode="auto">
          <a:xfrm>
            <a:off x="9900115" y="808388"/>
            <a:ext cx="465535" cy="365522"/>
            <a:chOff x="-44" y="1473"/>
            <a:chExt cx="981" cy="1105"/>
          </a:xfrm>
        </p:grpSpPr>
        <p:pic>
          <p:nvPicPr>
            <p:cNvPr id="251" name="Picture 117" descr="desktop_computer_stylized_medium">
              <a:extLst>
                <a:ext uri="{FF2B5EF4-FFF2-40B4-BE49-F238E27FC236}">
                  <a16:creationId xmlns:a16="http://schemas.microsoft.com/office/drawing/2014/main" id="{FE9AA7D5-5E43-A948-A974-AB4C6A011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18">
              <a:extLst>
                <a:ext uri="{FF2B5EF4-FFF2-40B4-BE49-F238E27FC236}">
                  <a16:creationId xmlns:a16="http://schemas.microsoft.com/office/drawing/2014/main" id="{E2235674-3CC8-FA49-8410-24EA9726B2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253" name="Group 119">
            <a:extLst>
              <a:ext uri="{FF2B5EF4-FFF2-40B4-BE49-F238E27FC236}">
                <a16:creationId xmlns:a16="http://schemas.microsoft.com/office/drawing/2014/main" id="{20AAAB4F-DE43-4840-934B-1D6561325F75}"/>
              </a:ext>
            </a:extLst>
          </p:cNvPr>
          <p:cNvGrpSpPr>
            <a:grpSpLocks/>
          </p:cNvGrpSpPr>
          <p:nvPr/>
        </p:nvGrpSpPr>
        <p:grpSpPr bwMode="auto">
          <a:xfrm>
            <a:off x="11256236" y="794101"/>
            <a:ext cx="252413" cy="384572"/>
            <a:chOff x="4140" y="429"/>
            <a:chExt cx="1425" cy="2396"/>
          </a:xfrm>
        </p:grpSpPr>
        <p:sp>
          <p:nvSpPr>
            <p:cNvPr id="254" name="Freeform 120">
              <a:extLst>
                <a:ext uri="{FF2B5EF4-FFF2-40B4-BE49-F238E27FC236}">
                  <a16:creationId xmlns:a16="http://schemas.microsoft.com/office/drawing/2014/main" id="{5DB74304-D404-914A-B276-40CA04FC1311}"/>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55" name="Rectangle 121">
              <a:extLst>
                <a:ext uri="{FF2B5EF4-FFF2-40B4-BE49-F238E27FC236}">
                  <a16:creationId xmlns:a16="http://schemas.microsoft.com/office/drawing/2014/main" id="{4478CCC0-71C5-0742-833B-39071606459A}"/>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6" name="Freeform 122">
              <a:extLst>
                <a:ext uri="{FF2B5EF4-FFF2-40B4-BE49-F238E27FC236}">
                  <a16:creationId xmlns:a16="http://schemas.microsoft.com/office/drawing/2014/main" id="{773F3087-0AEC-3244-AE9B-B906345E8CA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57" name="Freeform 123">
              <a:extLst>
                <a:ext uri="{FF2B5EF4-FFF2-40B4-BE49-F238E27FC236}">
                  <a16:creationId xmlns:a16="http://schemas.microsoft.com/office/drawing/2014/main" id="{6D261F9A-FEF5-2C48-A572-F9AEEE61C84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58" name="Rectangle 124">
              <a:extLst>
                <a:ext uri="{FF2B5EF4-FFF2-40B4-BE49-F238E27FC236}">
                  <a16:creationId xmlns:a16="http://schemas.microsoft.com/office/drawing/2014/main" id="{D7A88CB8-3019-0847-8D63-FB56841E8488}"/>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59" name="Group 125">
              <a:extLst>
                <a:ext uri="{FF2B5EF4-FFF2-40B4-BE49-F238E27FC236}">
                  <a16:creationId xmlns:a16="http://schemas.microsoft.com/office/drawing/2014/main" id="{92427F18-D9EB-5F4E-A265-DCBE0DDFDD70}"/>
                </a:ext>
              </a:extLst>
            </p:cNvPr>
            <p:cNvGrpSpPr>
              <a:grpSpLocks/>
            </p:cNvGrpSpPr>
            <p:nvPr/>
          </p:nvGrpSpPr>
          <p:grpSpPr bwMode="auto">
            <a:xfrm>
              <a:off x="4749" y="668"/>
              <a:ext cx="581" cy="145"/>
              <a:chOff x="614" y="2568"/>
              <a:chExt cx="725" cy="139"/>
            </a:xfrm>
          </p:grpSpPr>
          <p:sp>
            <p:nvSpPr>
              <p:cNvPr id="284" name="AutoShape 126">
                <a:extLst>
                  <a:ext uri="{FF2B5EF4-FFF2-40B4-BE49-F238E27FC236}">
                    <a16:creationId xmlns:a16="http://schemas.microsoft.com/office/drawing/2014/main" id="{49297CCC-774B-1443-8147-999AEBDA5FE6}"/>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5" name="AutoShape 127">
                <a:extLst>
                  <a:ext uri="{FF2B5EF4-FFF2-40B4-BE49-F238E27FC236}">
                    <a16:creationId xmlns:a16="http://schemas.microsoft.com/office/drawing/2014/main" id="{99AA7B97-011A-844B-9C5E-49EF3FECA59C}"/>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0" name="Rectangle 128">
              <a:extLst>
                <a:ext uri="{FF2B5EF4-FFF2-40B4-BE49-F238E27FC236}">
                  <a16:creationId xmlns:a16="http://schemas.microsoft.com/office/drawing/2014/main" id="{0DE915D7-115F-0148-8246-F07CA43F2DF0}"/>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61" name="Group 129">
              <a:extLst>
                <a:ext uri="{FF2B5EF4-FFF2-40B4-BE49-F238E27FC236}">
                  <a16:creationId xmlns:a16="http://schemas.microsoft.com/office/drawing/2014/main" id="{1168EC4F-26EA-454C-A186-35A18483C0EB}"/>
                </a:ext>
              </a:extLst>
            </p:cNvPr>
            <p:cNvGrpSpPr>
              <a:grpSpLocks/>
            </p:cNvGrpSpPr>
            <p:nvPr/>
          </p:nvGrpSpPr>
          <p:grpSpPr bwMode="auto">
            <a:xfrm>
              <a:off x="4747" y="994"/>
              <a:ext cx="581" cy="134"/>
              <a:chOff x="614" y="2568"/>
              <a:chExt cx="725" cy="139"/>
            </a:xfrm>
          </p:grpSpPr>
          <p:sp>
            <p:nvSpPr>
              <p:cNvPr id="282" name="AutoShape 130">
                <a:extLst>
                  <a:ext uri="{FF2B5EF4-FFF2-40B4-BE49-F238E27FC236}">
                    <a16:creationId xmlns:a16="http://schemas.microsoft.com/office/drawing/2014/main" id="{30DEF7E1-5206-E14C-8F6E-C221B89557E7}"/>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3" name="AutoShape 131">
                <a:extLst>
                  <a:ext uri="{FF2B5EF4-FFF2-40B4-BE49-F238E27FC236}">
                    <a16:creationId xmlns:a16="http://schemas.microsoft.com/office/drawing/2014/main" id="{6DBD6BDF-F229-9945-8578-CEC44256CF6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2" name="Rectangle 132">
              <a:extLst>
                <a:ext uri="{FF2B5EF4-FFF2-40B4-BE49-F238E27FC236}">
                  <a16:creationId xmlns:a16="http://schemas.microsoft.com/office/drawing/2014/main" id="{0A0EEFD7-8203-2740-ABF0-C767B83C1EBD}"/>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3" name="Rectangle 133">
              <a:extLst>
                <a:ext uri="{FF2B5EF4-FFF2-40B4-BE49-F238E27FC236}">
                  <a16:creationId xmlns:a16="http://schemas.microsoft.com/office/drawing/2014/main" id="{9B3363E9-032E-DE45-B7D5-07B9FA6590E9}"/>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64" name="Group 134">
              <a:extLst>
                <a:ext uri="{FF2B5EF4-FFF2-40B4-BE49-F238E27FC236}">
                  <a16:creationId xmlns:a16="http://schemas.microsoft.com/office/drawing/2014/main" id="{64432C7D-9E6A-6E4E-965D-954C702C6B6E}"/>
                </a:ext>
              </a:extLst>
            </p:cNvPr>
            <p:cNvGrpSpPr>
              <a:grpSpLocks/>
            </p:cNvGrpSpPr>
            <p:nvPr/>
          </p:nvGrpSpPr>
          <p:grpSpPr bwMode="auto">
            <a:xfrm>
              <a:off x="4735" y="1627"/>
              <a:ext cx="582" cy="151"/>
              <a:chOff x="614" y="2568"/>
              <a:chExt cx="725" cy="139"/>
            </a:xfrm>
          </p:grpSpPr>
          <p:sp>
            <p:nvSpPr>
              <p:cNvPr id="280" name="AutoShape 135">
                <a:extLst>
                  <a:ext uri="{FF2B5EF4-FFF2-40B4-BE49-F238E27FC236}">
                    <a16:creationId xmlns:a16="http://schemas.microsoft.com/office/drawing/2014/main" id="{B32D344B-D91B-954B-BD35-1984E9213AA1}"/>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1" name="AutoShape 136">
                <a:extLst>
                  <a:ext uri="{FF2B5EF4-FFF2-40B4-BE49-F238E27FC236}">
                    <a16:creationId xmlns:a16="http://schemas.microsoft.com/office/drawing/2014/main" id="{47067A3E-2B26-F04B-A35D-FE7A4A41031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5" name="Freeform 137">
              <a:extLst>
                <a:ext uri="{FF2B5EF4-FFF2-40B4-BE49-F238E27FC236}">
                  <a16:creationId xmlns:a16="http://schemas.microsoft.com/office/drawing/2014/main" id="{D7735CF1-1F30-4F47-AC44-432430394B3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266" name="Group 138">
              <a:extLst>
                <a:ext uri="{FF2B5EF4-FFF2-40B4-BE49-F238E27FC236}">
                  <a16:creationId xmlns:a16="http://schemas.microsoft.com/office/drawing/2014/main" id="{FB78B141-B15E-674E-8F3F-8329CF49818C}"/>
                </a:ext>
              </a:extLst>
            </p:cNvPr>
            <p:cNvGrpSpPr>
              <a:grpSpLocks/>
            </p:cNvGrpSpPr>
            <p:nvPr/>
          </p:nvGrpSpPr>
          <p:grpSpPr bwMode="auto">
            <a:xfrm>
              <a:off x="4739" y="1327"/>
              <a:ext cx="582" cy="139"/>
              <a:chOff x="614" y="2568"/>
              <a:chExt cx="725" cy="139"/>
            </a:xfrm>
          </p:grpSpPr>
          <p:sp>
            <p:nvSpPr>
              <p:cNvPr id="278" name="AutoShape 139">
                <a:extLst>
                  <a:ext uri="{FF2B5EF4-FFF2-40B4-BE49-F238E27FC236}">
                    <a16:creationId xmlns:a16="http://schemas.microsoft.com/office/drawing/2014/main" id="{2FE8954C-766A-0743-AFEA-BE850F02F6A5}"/>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9" name="AutoShape 140">
                <a:extLst>
                  <a:ext uri="{FF2B5EF4-FFF2-40B4-BE49-F238E27FC236}">
                    <a16:creationId xmlns:a16="http://schemas.microsoft.com/office/drawing/2014/main" id="{B0838D8D-F17D-6642-84C3-0A7A06DB11E7}"/>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7" name="Rectangle 141">
              <a:extLst>
                <a:ext uri="{FF2B5EF4-FFF2-40B4-BE49-F238E27FC236}">
                  <a16:creationId xmlns:a16="http://schemas.microsoft.com/office/drawing/2014/main" id="{201450E4-426D-034A-898C-EA0F1878F2BD}"/>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8" name="Freeform 142">
              <a:extLst>
                <a:ext uri="{FF2B5EF4-FFF2-40B4-BE49-F238E27FC236}">
                  <a16:creationId xmlns:a16="http://schemas.microsoft.com/office/drawing/2014/main" id="{BEF832CC-F889-B740-96DA-EC8898E429EA}"/>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9" name="Freeform 143">
              <a:extLst>
                <a:ext uri="{FF2B5EF4-FFF2-40B4-BE49-F238E27FC236}">
                  <a16:creationId xmlns:a16="http://schemas.microsoft.com/office/drawing/2014/main" id="{62398C75-46A0-3745-982E-EFC495B4758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70" name="Oval 144">
              <a:extLst>
                <a:ext uri="{FF2B5EF4-FFF2-40B4-BE49-F238E27FC236}">
                  <a16:creationId xmlns:a16="http://schemas.microsoft.com/office/drawing/2014/main" id="{352FBF24-62B2-6F49-AC68-A67E46BEF583}"/>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1" name="Freeform 145">
              <a:extLst>
                <a:ext uri="{FF2B5EF4-FFF2-40B4-BE49-F238E27FC236}">
                  <a16:creationId xmlns:a16="http://schemas.microsoft.com/office/drawing/2014/main" id="{689E20C5-4EA8-8A4D-86CB-905743CC96A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72" name="AutoShape 146">
              <a:extLst>
                <a:ext uri="{FF2B5EF4-FFF2-40B4-BE49-F238E27FC236}">
                  <a16:creationId xmlns:a16="http://schemas.microsoft.com/office/drawing/2014/main" id="{EEA954D3-56B0-3541-93CF-131CC960367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3" name="AutoShape 147">
              <a:extLst>
                <a:ext uri="{FF2B5EF4-FFF2-40B4-BE49-F238E27FC236}">
                  <a16:creationId xmlns:a16="http://schemas.microsoft.com/office/drawing/2014/main" id="{D041028B-4F78-C84C-BFED-1142E17FC05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4" name="Oval 148">
              <a:extLst>
                <a:ext uri="{FF2B5EF4-FFF2-40B4-BE49-F238E27FC236}">
                  <a16:creationId xmlns:a16="http://schemas.microsoft.com/office/drawing/2014/main" id="{1DB124EA-65C6-2944-95EA-9CF5A05FD4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5" name="Oval 149">
              <a:extLst>
                <a:ext uri="{FF2B5EF4-FFF2-40B4-BE49-F238E27FC236}">
                  <a16:creationId xmlns:a16="http://schemas.microsoft.com/office/drawing/2014/main" id="{F9B231BC-3EE3-C645-A89F-95E350FAA4A6}"/>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276" name="Oval 150">
              <a:extLst>
                <a:ext uri="{FF2B5EF4-FFF2-40B4-BE49-F238E27FC236}">
                  <a16:creationId xmlns:a16="http://schemas.microsoft.com/office/drawing/2014/main" id="{01CC1925-74AE-594F-AD3D-173726AFBB10}"/>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7" name="Rectangle 151">
              <a:extLst>
                <a:ext uri="{FF2B5EF4-FFF2-40B4-BE49-F238E27FC236}">
                  <a16:creationId xmlns:a16="http://schemas.microsoft.com/office/drawing/2014/main" id="{92B6BE0B-71DF-9742-BE8C-BEF3D8A9EF2F}"/>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87" name="Line 105">
            <a:extLst>
              <a:ext uri="{FF2B5EF4-FFF2-40B4-BE49-F238E27FC236}">
                <a16:creationId xmlns:a16="http://schemas.microsoft.com/office/drawing/2014/main" id="{6EE235BA-E9E9-3149-AB4E-BB5E5B9184E9}"/>
              </a:ext>
            </a:extLst>
          </p:cNvPr>
          <p:cNvSpPr>
            <a:spLocks noChangeShapeType="1"/>
          </p:cNvSpPr>
          <p:nvPr/>
        </p:nvSpPr>
        <p:spPr bwMode="auto">
          <a:xfrm flipH="1">
            <a:off x="10165621" y="3888336"/>
            <a:ext cx="1180419" cy="41637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92" name="Line 104">
            <a:extLst>
              <a:ext uri="{FF2B5EF4-FFF2-40B4-BE49-F238E27FC236}">
                <a16:creationId xmlns:a16="http://schemas.microsoft.com/office/drawing/2014/main" id="{1CA9B668-6F05-1A48-9C2A-8D882F798CE6}"/>
              </a:ext>
            </a:extLst>
          </p:cNvPr>
          <p:cNvSpPr>
            <a:spLocks noChangeShapeType="1"/>
          </p:cNvSpPr>
          <p:nvPr/>
        </p:nvSpPr>
        <p:spPr bwMode="auto">
          <a:xfrm>
            <a:off x="10245360" y="2328506"/>
            <a:ext cx="1109661" cy="2369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93"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10159747" y="2292787"/>
            <a:ext cx="1257075" cy="27699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ACK, ACK=y+1</a:t>
            </a:r>
          </a:p>
        </p:txBody>
      </p:sp>
      <p:sp>
        <p:nvSpPr>
          <p:cNvPr id="295"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10227279" y="3891942"/>
            <a:ext cx="1335623"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SYNACK,</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a:t>
            </a:r>
            <a:r>
              <a:rPr lang="en-US" sz="1200" b="1" kern="0" dirty="0" err="1">
                <a:solidFill>
                  <a:srgbClr val="FF0000"/>
                </a:solidFill>
                <a:latin typeface="Avenir Book" panose="020B0503020203020204" pitchFamily="34" charset="-78"/>
                <a:cs typeface="Avenir Book" panose="020B0503020203020204" pitchFamily="34" charset="-78"/>
              </a:rPr>
              <a:t>z</a:t>
            </a:r>
            <a:r>
              <a:rPr lang="en-US" sz="1200" kern="0" dirty="0" err="1">
                <a:solidFill>
                  <a:srgbClr val="000000"/>
                </a:solidFill>
                <a:latin typeface="Avenir Book" panose="020B0503020203020204" pitchFamily="34" charset="-78"/>
                <a:cs typeface="Avenir Book" panose="020B0503020203020204" pitchFamily="34" charset="-78"/>
              </a:rPr>
              <a:t>,ACK</a:t>
            </a:r>
            <a:r>
              <a:rPr lang="en-US" sz="1200" kern="0" dirty="0">
                <a:solidFill>
                  <a:srgbClr val="000000"/>
                </a:solidFill>
                <a:latin typeface="Avenir Book" panose="020B0503020203020204" pitchFamily="34" charset="-78"/>
                <a:cs typeface="Avenir Book" panose="020B0503020203020204" pitchFamily="34" charset="-78"/>
              </a:rPr>
              <a:t>=x+1</a:t>
            </a:r>
          </a:p>
        </p:txBody>
      </p:sp>
      <p:sp>
        <p:nvSpPr>
          <p:cNvPr id="298" name="Line 104">
            <a:extLst>
              <a:ext uri="{FF2B5EF4-FFF2-40B4-BE49-F238E27FC236}">
                <a16:creationId xmlns:a16="http://schemas.microsoft.com/office/drawing/2014/main" id="{1CA9B668-6F05-1A48-9C2A-8D882F798CE6}"/>
              </a:ext>
            </a:extLst>
          </p:cNvPr>
          <p:cNvSpPr>
            <a:spLocks noChangeShapeType="1"/>
          </p:cNvSpPr>
          <p:nvPr/>
        </p:nvSpPr>
        <p:spPr bwMode="auto">
          <a:xfrm>
            <a:off x="10200899" y="4340966"/>
            <a:ext cx="1109661" cy="2369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99"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10146154" y="4389020"/>
            <a:ext cx="1173719" cy="27699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b="1" kern="0" dirty="0">
                <a:solidFill>
                  <a:srgbClr val="FF0000"/>
                </a:solidFill>
                <a:latin typeface="Avenir Book" panose="020B0503020203020204" pitchFamily="34" charset="-78"/>
                <a:cs typeface="Avenir Book" panose="020B0503020203020204" pitchFamily="34" charset="-78"/>
              </a:rPr>
              <a:t>RST</a:t>
            </a:r>
            <a:r>
              <a:rPr lang="en-US" sz="1200" kern="0" dirty="0">
                <a:solidFill>
                  <a:srgbClr val="000000"/>
                </a:solidFill>
                <a:latin typeface="Avenir Book" panose="020B0503020203020204" pitchFamily="34" charset="-78"/>
                <a:cs typeface="Avenir Book" panose="020B0503020203020204" pitchFamily="34" charset="-78"/>
              </a:rPr>
              <a:t>,ACK=z+1</a:t>
            </a:r>
          </a:p>
        </p:txBody>
      </p:sp>
      <p:sp>
        <p:nvSpPr>
          <p:cNvPr id="4" name="Rectangle 3"/>
          <p:cNvSpPr/>
          <p:nvPr/>
        </p:nvSpPr>
        <p:spPr>
          <a:xfrm>
            <a:off x="9715310" y="4193509"/>
            <a:ext cx="502061" cy="369332"/>
          </a:xfrm>
          <a:prstGeom prst="rect">
            <a:avLst/>
          </a:prstGeom>
        </p:spPr>
        <p:txBody>
          <a:bodyPr wrap="none">
            <a:spAutoFit/>
          </a:bodyPr>
          <a:lstStyle/>
          <a:p>
            <a:r>
              <a:rPr lang="en-IN" altLang="en-US" dirty="0">
                <a:solidFill>
                  <a:srgbClr val="C00000"/>
                </a:solidFill>
                <a:latin typeface="Segoe UI Emoji" panose="020B0502040204020203" pitchFamily="34" charset="0"/>
                <a:ea typeface="Segoe UI Emoji" panose="020B0502040204020203" pitchFamily="34" charset="0"/>
              </a:rPr>
              <a:t>🤔</a:t>
            </a:r>
            <a:endParaRPr lang="en-IN" dirty="0"/>
          </a:p>
        </p:txBody>
      </p:sp>
      <p:sp>
        <p:nvSpPr>
          <p:cNvPr id="294"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10320849" y="3356342"/>
            <a:ext cx="962122" cy="27699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SYN,Seq</a:t>
            </a:r>
            <a:r>
              <a:rPr lang="en-US" sz="1200" kern="0" dirty="0">
                <a:solidFill>
                  <a:srgbClr val="000000"/>
                </a:solidFill>
                <a:latin typeface="Avenir Book" panose="020B0503020203020204" pitchFamily="34" charset="-78"/>
                <a:cs typeface="Avenir Book" panose="020B0503020203020204" pitchFamily="34" charset="-78"/>
              </a:rPr>
              <a:t>=x</a:t>
            </a:r>
          </a:p>
        </p:txBody>
      </p:sp>
      <p:sp>
        <p:nvSpPr>
          <p:cNvPr id="300" name="Rectangle 63">
            <a:extLst>
              <a:ext uri="{FF2B5EF4-FFF2-40B4-BE49-F238E27FC236}">
                <a16:creationId xmlns:a16="http://schemas.microsoft.com/office/drawing/2014/main" id="{B7868940-CBBF-48D0-F132-2DB4A68D3A47}"/>
              </a:ext>
            </a:extLst>
          </p:cNvPr>
          <p:cNvSpPr txBox="1">
            <a:spLocks noChangeArrowheads="1"/>
          </p:cNvSpPr>
          <p:nvPr/>
        </p:nvSpPr>
        <p:spPr bwMode="auto">
          <a:xfrm>
            <a:off x="597741" y="1219154"/>
            <a:ext cx="4456397" cy="31964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buNone/>
              <a:defRPr/>
            </a:pPr>
            <a:r>
              <a:rPr lang="en-US" altLang="en-US" sz="2400" kern="0" dirty="0">
                <a:solidFill>
                  <a:srgbClr val="0000FF"/>
                </a:solidFill>
                <a:latin typeface="Avenir Book" panose="020B0503020203020204" pitchFamily="34" charset="-78"/>
                <a:ea typeface="ＭＳ Ｐゴシック" panose="020B0600070205080204" pitchFamily="34" charset="-128"/>
                <a:cs typeface="Avenir Book" panose="020B0503020203020204" pitchFamily="34" charset="-78"/>
              </a:rPr>
              <a:t>RST</a:t>
            </a:r>
            <a:r>
              <a:rPr lang="en-US" altLang="en-US" sz="24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 Abort connection</a:t>
            </a:r>
          </a:p>
          <a:p>
            <a:pPr marL="259556" indent="-209550" defTabSz="685800">
              <a:lnSpc>
                <a:spcPct val="90000"/>
              </a:lnSpc>
              <a:defRPr/>
            </a:pPr>
            <a:r>
              <a:rPr lang="en-US" altLang="en-US" sz="21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Receiver is confused</a:t>
            </a:r>
          </a:p>
          <a:p>
            <a:pPr marL="662781" lvl="1" indent="-209550" defTabSz="685800">
              <a:lnSpc>
                <a:spcPct val="90000"/>
              </a:lnSpc>
              <a:defRPr/>
            </a:pPr>
            <a:r>
              <a:rPr lang="en-US" altLang="en-US" sz="17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Unexpected sequence number</a:t>
            </a:r>
          </a:p>
          <a:p>
            <a:pPr marL="662781" lvl="1" indent="-209550" defTabSz="685800">
              <a:lnSpc>
                <a:spcPct val="90000"/>
              </a:lnSpc>
              <a:defRPr/>
            </a:pPr>
            <a:r>
              <a:rPr lang="en-US" altLang="en-US" sz="17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Port number or IP address do not match with any ongoing sockets</a:t>
            </a:r>
          </a:p>
          <a:p>
            <a:pPr marL="50006" indent="0" defTabSz="685800">
              <a:lnSpc>
                <a:spcPct val="90000"/>
              </a:lnSpc>
              <a:buNone/>
              <a:defRPr/>
            </a:pPr>
            <a:endParaRPr lang="en-US" altLang="en-US" sz="21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301" name="TextBox 300"/>
          <p:cNvSpPr txBox="1"/>
          <p:nvPr/>
        </p:nvSpPr>
        <p:spPr>
          <a:xfrm>
            <a:off x="513807" y="3662843"/>
            <a:ext cx="4608442" cy="830997"/>
          </a:xfrm>
          <a:prstGeom prst="rect">
            <a:avLst/>
          </a:prstGeom>
          <a:noFill/>
        </p:spPr>
        <p:txBody>
          <a:bodyPr wrap="square" rtlCol="0">
            <a:spAutoFit/>
          </a:bodyPr>
          <a:lstStyle/>
          <a:p>
            <a:r>
              <a:rPr lang="en-IN" sz="2400" dirty="0">
                <a:solidFill>
                  <a:srgbClr val="0000FF"/>
                </a:solidFill>
                <a:latin typeface="Avenir Book" panose="020B0503020203020204" pitchFamily="34" charset="-78"/>
                <a:cs typeface="Avenir Book" panose="020B0503020203020204" pitchFamily="34" charset="-78"/>
              </a:rPr>
              <a:t>How it will solve the </a:t>
            </a:r>
            <a:r>
              <a:rPr lang="en-IN" sz="2400" dirty="0">
                <a:solidFill>
                  <a:srgbClr val="C00000"/>
                </a:solidFill>
                <a:latin typeface="Avenir Book" panose="020B0503020203020204" pitchFamily="34" charset="-78"/>
                <a:cs typeface="Avenir Book" panose="020B0503020203020204" pitchFamily="34" charset="-78"/>
              </a:rPr>
              <a:t>“half-open connection”</a:t>
            </a:r>
            <a:r>
              <a:rPr lang="en-IN" sz="2400" dirty="0">
                <a:solidFill>
                  <a:srgbClr val="0000FF"/>
                </a:solidFill>
                <a:latin typeface="Avenir Book" panose="020B0503020203020204" pitchFamily="34" charset="-78"/>
                <a:cs typeface="Avenir Book" panose="020B0503020203020204" pitchFamily="34" charset="-78"/>
              </a:rPr>
              <a:t> problem?</a:t>
            </a:r>
          </a:p>
        </p:txBody>
      </p:sp>
      <p:sp>
        <p:nvSpPr>
          <p:cNvPr id="150"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1382240" y="1519266"/>
            <a:ext cx="59343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SYN </a:t>
            </a:r>
          </a:p>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RCVD</a:t>
            </a:r>
          </a:p>
        </p:txBody>
      </p:sp>
      <p:sp>
        <p:nvSpPr>
          <p:cNvPr id="151"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1361697" y="3674757"/>
            <a:ext cx="59343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SYN </a:t>
            </a:r>
          </a:p>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RCVD</a:t>
            </a:r>
          </a:p>
        </p:txBody>
      </p:sp>
    </p:spTree>
    <p:extLst>
      <p:ext uri="{BB962C8B-B14F-4D97-AF65-F5344CB8AC3E}">
        <p14:creationId xmlns:p14="http://schemas.microsoft.com/office/powerpoint/2010/main" val="3459705667"/>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188031" y="177023"/>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TCP 3-way Handshake</a:t>
            </a:r>
          </a:p>
        </p:txBody>
      </p:sp>
      <p:grpSp>
        <p:nvGrpSpPr>
          <p:cNvPr id="151" name="Group 152">
            <a:extLst>
              <a:ext uri="{FF2B5EF4-FFF2-40B4-BE49-F238E27FC236}">
                <a16:creationId xmlns:a16="http://schemas.microsoft.com/office/drawing/2014/main" id="{9C2006BA-AA2D-8544-A70F-118097C53265}"/>
              </a:ext>
            </a:extLst>
          </p:cNvPr>
          <p:cNvGrpSpPr>
            <a:grpSpLocks/>
          </p:cNvGrpSpPr>
          <p:nvPr/>
        </p:nvGrpSpPr>
        <p:grpSpPr bwMode="auto">
          <a:xfrm>
            <a:off x="5617319" y="828388"/>
            <a:ext cx="3011091" cy="4258866"/>
            <a:chOff x="3099" y="1107"/>
            <a:chExt cx="2529" cy="3577"/>
          </a:xfrm>
        </p:grpSpPr>
        <p:sp>
          <p:nvSpPr>
            <p:cNvPr id="152" name="Line 153">
              <a:extLst>
                <a:ext uri="{FF2B5EF4-FFF2-40B4-BE49-F238E27FC236}">
                  <a16:creationId xmlns:a16="http://schemas.microsoft.com/office/drawing/2014/main" id="{C056962F-C2E4-4D43-8591-63C2094689E9}"/>
                </a:ext>
              </a:extLst>
            </p:cNvPr>
            <p:cNvSpPr>
              <a:spLocks noChangeShapeType="1"/>
            </p:cNvSpPr>
            <p:nvPr/>
          </p:nvSpPr>
          <p:spPr bwMode="auto">
            <a:xfrm>
              <a:off x="4823" y="1490"/>
              <a:ext cx="24" cy="3194"/>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3" name="Text Box 154">
              <a:extLst>
                <a:ext uri="{FF2B5EF4-FFF2-40B4-BE49-F238E27FC236}">
                  <a16:creationId xmlns:a16="http://schemas.microsoft.com/office/drawing/2014/main" id="{CDA652F2-819F-6848-A5C9-8D9B66F9680B}"/>
                </a:ext>
              </a:extLst>
            </p:cNvPr>
            <p:cNvSpPr txBox="1">
              <a:spLocks noChangeArrowheads="1"/>
            </p:cNvSpPr>
            <p:nvPr/>
          </p:nvSpPr>
          <p:spPr bwMode="auto">
            <a:xfrm>
              <a:off x="3099" y="2983"/>
              <a:ext cx="789"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client terminates</a:t>
              </a:r>
            </a:p>
          </p:txBody>
        </p:sp>
        <p:sp>
          <p:nvSpPr>
            <p:cNvPr id="154" name="Line 155">
              <a:extLst>
                <a:ext uri="{FF2B5EF4-FFF2-40B4-BE49-F238E27FC236}">
                  <a16:creationId xmlns:a16="http://schemas.microsoft.com/office/drawing/2014/main" id="{666153C5-2212-0042-ABC5-919CF540FFF1}"/>
                </a:ext>
              </a:extLst>
            </p:cNvPr>
            <p:cNvSpPr>
              <a:spLocks noChangeShapeType="1"/>
            </p:cNvSpPr>
            <p:nvPr/>
          </p:nvSpPr>
          <p:spPr bwMode="auto">
            <a:xfrm>
              <a:off x="3860" y="1451"/>
              <a:ext cx="9" cy="3233"/>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5" name="Line 156">
              <a:extLst>
                <a:ext uri="{FF2B5EF4-FFF2-40B4-BE49-F238E27FC236}">
                  <a16:creationId xmlns:a16="http://schemas.microsoft.com/office/drawing/2014/main" id="{16ACB45E-8A1D-F74A-9C70-18C251DD28E3}"/>
                </a:ext>
              </a:extLst>
            </p:cNvPr>
            <p:cNvSpPr>
              <a:spLocks noChangeShapeType="1"/>
            </p:cNvSpPr>
            <p:nvPr/>
          </p:nvSpPr>
          <p:spPr bwMode="auto">
            <a:xfrm flipH="1">
              <a:off x="3850" y="1726"/>
              <a:ext cx="990" cy="60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6" name="Rectangle 157">
              <a:extLst>
                <a:ext uri="{FF2B5EF4-FFF2-40B4-BE49-F238E27FC236}">
                  <a16:creationId xmlns:a16="http://schemas.microsoft.com/office/drawing/2014/main" id="{7479C1A9-07F7-CD4C-A137-D663CAEFD43C}"/>
                </a:ext>
              </a:extLst>
            </p:cNvPr>
            <p:cNvSpPr>
              <a:spLocks noChangeArrowheads="1"/>
            </p:cNvSpPr>
            <p:nvPr/>
          </p:nvSpPr>
          <p:spPr bwMode="auto">
            <a:xfrm>
              <a:off x="4200" y="1761"/>
              <a:ext cx="277"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7" name="Text Box 158">
              <a:extLst>
                <a:ext uri="{FF2B5EF4-FFF2-40B4-BE49-F238E27FC236}">
                  <a16:creationId xmlns:a16="http://schemas.microsoft.com/office/drawing/2014/main" id="{07E98DEC-15BD-8E44-8C66-72860ACC5678}"/>
                </a:ext>
              </a:extLst>
            </p:cNvPr>
            <p:cNvSpPr txBox="1">
              <a:spLocks noChangeArrowheads="1"/>
            </p:cNvSpPr>
            <p:nvPr/>
          </p:nvSpPr>
          <p:spPr bwMode="auto">
            <a:xfrm>
              <a:off x="3281" y="2221"/>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158" name="Oval 159">
              <a:extLst>
                <a:ext uri="{FF2B5EF4-FFF2-40B4-BE49-F238E27FC236}">
                  <a16:creationId xmlns:a16="http://schemas.microsoft.com/office/drawing/2014/main" id="{C387CC00-D294-7442-8EAF-0E4792392432}"/>
                </a:ext>
              </a:extLst>
            </p:cNvPr>
            <p:cNvSpPr>
              <a:spLocks noChangeArrowheads="1"/>
            </p:cNvSpPr>
            <p:nvPr/>
          </p:nvSpPr>
          <p:spPr bwMode="auto">
            <a:xfrm>
              <a:off x="3817" y="2299"/>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159" name="Text Box 160">
              <a:extLst>
                <a:ext uri="{FF2B5EF4-FFF2-40B4-BE49-F238E27FC236}">
                  <a16:creationId xmlns:a16="http://schemas.microsoft.com/office/drawing/2014/main" id="{A3029202-6E45-6F46-B68F-696E31F63852}"/>
                </a:ext>
              </a:extLst>
            </p:cNvPr>
            <p:cNvSpPr txBox="1">
              <a:spLocks noChangeArrowheads="1"/>
            </p:cNvSpPr>
            <p:nvPr/>
          </p:nvSpPr>
          <p:spPr bwMode="auto">
            <a:xfrm>
              <a:off x="3159" y="1380"/>
              <a:ext cx="667" cy="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choose x</a:t>
              </a:r>
            </a:p>
            <a:p>
              <a:pPr algn="r" defTabSz="685800" eaLnBrk="0" fontAlgn="base" hangingPunct="0">
                <a:spcBef>
                  <a:spcPct val="0"/>
                </a:spcBef>
                <a:spcAft>
                  <a:spcPct val="0"/>
                </a:spcAft>
                <a:defRPr/>
              </a:pPr>
              <a:endParaRPr lang="en-US" sz="1200" kern="0">
                <a:solidFill>
                  <a:srgbClr val="000000"/>
                </a:solidFill>
                <a:latin typeface="Avenir Book" panose="020B0503020203020204" pitchFamily="34" charset="-78"/>
                <a:cs typeface="Avenir Book" panose="020B0503020203020204" pitchFamily="34" charset="-78"/>
              </a:endParaRPr>
            </a:p>
          </p:txBody>
        </p:sp>
        <p:sp>
          <p:nvSpPr>
            <p:cNvPr id="160" name="Line 161">
              <a:extLst>
                <a:ext uri="{FF2B5EF4-FFF2-40B4-BE49-F238E27FC236}">
                  <a16:creationId xmlns:a16="http://schemas.microsoft.com/office/drawing/2014/main" id="{0FC46209-BD0B-0445-AF05-C8310A8E862F}"/>
                </a:ext>
              </a:extLst>
            </p:cNvPr>
            <p:cNvSpPr>
              <a:spLocks noChangeShapeType="1"/>
            </p:cNvSpPr>
            <p:nvPr/>
          </p:nvSpPr>
          <p:spPr bwMode="auto">
            <a:xfrm>
              <a:off x="3888" y="1503"/>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1" name="Rectangle 162">
              <a:extLst>
                <a:ext uri="{FF2B5EF4-FFF2-40B4-BE49-F238E27FC236}">
                  <a16:creationId xmlns:a16="http://schemas.microsoft.com/office/drawing/2014/main" id="{636932A4-EF38-E141-9BEF-C806F12D9ABB}"/>
                </a:ext>
              </a:extLst>
            </p:cNvPr>
            <p:cNvSpPr>
              <a:spLocks noChangeArrowheads="1"/>
            </p:cNvSpPr>
            <p:nvPr/>
          </p:nvSpPr>
          <p:spPr bwMode="auto">
            <a:xfrm>
              <a:off x="4088" y="1494"/>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2" name="Text Box 163">
              <a:extLst>
                <a:ext uri="{FF2B5EF4-FFF2-40B4-BE49-F238E27FC236}">
                  <a16:creationId xmlns:a16="http://schemas.microsoft.com/office/drawing/2014/main" id="{09C7E230-4405-9E40-BEB3-C33FFEF6366D}"/>
                </a:ext>
              </a:extLst>
            </p:cNvPr>
            <p:cNvSpPr txBox="1">
              <a:spLocks noChangeArrowheads="1"/>
            </p:cNvSpPr>
            <p:nvPr/>
          </p:nvSpPr>
          <p:spPr bwMode="auto">
            <a:xfrm>
              <a:off x="3918" y="1473"/>
              <a:ext cx="851"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req_conn(x)</a:t>
              </a:r>
            </a:p>
          </p:txBody>
        </p:sp>
        <p:sp>
          <p:nvSpPr>
            <p:cNvPr id="163" name="Text Box 164">
              <a:extLst>
                <a:ext uri="{FF2B5EF4-FFF2-40B4-BE49-F238E27FC236}">
                  <a16:creationId xmlns:a16="http://schemas.microsoft.com/office/drawing/2014/main" id="{8AEE0E4A-F8B4-9A4D-85F5-6FF0942C65C4}"/>
                </a:ext>
              </a:extLst>
            </p:cNvPr>
            <p:cNvSpPr txBox="1">
              <a:spLocks noChangeArrowheads="1"/>
            </p:cNvSpPr>
            <p:nvPr/>
          </p:nvSpPr>
          <p:spPr bwMode="auto">
            <a:xfrm>
              <a:off x="4831" y="1636"/>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164" name="Oval 165">
              <a:extLst>
                <a:ext uri="{FF2B5EF4-FFF2-40B4-BE49-F238E27FC236}">
                  <a16:creationId xmlns:a16="http://schemas.microsoft.com/office/drawing/2014/main" id="{837C2516-1B6F-784E-B717-4861DCB88C9F}"/>
                </a:ext>
              </a:extLst>
            </p:cNvPr>
            <p:cNvSpPr>
              <a:spLocks noChangeArrowheads="1"/>
            </p:cNvSpPr>
            <p:nvPr/>
          </p:nvSpPr>
          <p:spPr bwMode="auto">
            <a:xfrm>
              <a:off x="4794" y="1710"/>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nvGrpSpPr>
            <p:cNvPr id="165" name="Group 166">
              <a:extLst>
                <a:ext uri="{FF2B5EF4-FFF2-40B4-BE49-F238E27FC236}">
                  <a16:creationId xmlns:a16="http://schemas.microsoft.com/office/drawing/2014/main" id="{A1A4C995-57EF-2B44-9A2B-4B574A973474}"/>
                </a:ext>
              </a:extLst>
            </p:cNvPr>
            <p:cNvGrpSpPr>
              <a:grpSpLocks/>
            </p:cNvGrpSpPr>
            <p:nvPr/>
          </p:nvGrpSpPr>
          <p:grpSpPr bwMode="auto">
            <a:xfrm>
              <a:off x="3983" y="1848"/>
              <a:ext cx="850" cy="233"/>
              <a:chOff x="1042" y="2085"/>
              <a:chExt cx="850" cy="233"/>
            </a:xfrm>
          </p:grpSpPr>
          <p:sp>
            <p:nvSpPr>
              <p:cNvPr id="211" name="Rectangle 167">
                <a:extLst>
                  <a:ext uri="{FF2B5EF4-FFF2-40B4-BE49-F238E27FC236}">
                    <a16:creationId xmlns:a16="http://schemas.microsoft.com/office/drawing/2014/main" id="{5B3B9AC0-C168-2542-9619-9FFE0FFD6E7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2" name="Text Box 168">
                <a:extLst>
                  <a:ext uri="{FF2B5EF4-FFF2-40B4-BE49-F238E27FC236}">
                    <a16:creationId xmlns:a16="http://schemas.microsoft.com/office/drawing/2014/main" id="{FAF5722C-69B4-6B44-95D4-000562ACFDF9}"/>
                  </a:ext>
                </a:extLst>
              </p:cNvPr>
              <p:cNvSpPr txBox="1">
                <a:spLocks noChangeArrowheads="1"/>
              </p:cNvSpPr>
              <p:nvPr/>
            </p:nvSpPr>
            <p:spPr bwMode="auto">
              <a:xfrm>
                <a:off x="1042" y="2085"/>
                <a:ext cx="850"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acc_conn(x)</a:t>
                </a:r>
              </a:p>
            </p:txBody>
          </p:sp>
        </p:grpSp>
        <p:sp>
          <p:nvSpPr>
            <p:cNvPr id="166" name="Line 169">
              <a:extLst>
                <a:ext uri="{FF2B5EF4-FFF2-40B4-BE49-F238E27FC236}">
                  <a16:creationId xmlns:a16="http://schemas.microsoft.com/office/drawing/2014/main" id="{73E51126-71B9-DA4D-B01B-7072D4E22BDC}"/>
                </a:ext>
              </a:extLst>
            </p:cNvPr>
            <p:cNvSpPr>
              <a:spLocks noChangeShapeType="1"/>
            </p:cNvSpPr>
            <p:nvPr/>
          </p:nvSpPr>
          <p:spPr bwMode="auto">
            <a:xfrm>
              <a:off x="3877" y="2345"/>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7" name="Rectangle 170">
              <a:extLst>
                <a:ext uri="{FF2B5EF4-FFF2-40B4-BE49-F238E27FC236}">
                  <a16:creationId xmlns:a16="http://schemas.microsoft.com/office/drawing/2014/main" id="{8B70B875-EE96-E044-B8D9-41CF1BBB693D}"/>
                </a:ext>
              </a:extLst>
            </p:cNvPr>
            <p:cNvSpPr>
              <a:spLocks noChangeArrowheads="1"/>
            </p:cNvSpPr>
            <p:nvPr/>
          </p:nvSpPr>
          <p:spPr bwMode="auto">
            <a:xfrm>
              <a:off x="4077" y="2336"/>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68" name="Text Box 171">
              <a:extLst>
                <a:ext uri="{FF2B5EF4-FFF2-40B4-BE49-F238E27FC236}">
                  <a16:creationId xmlns:a16="http://schemas.microsoft.com/office/drawing/2014/main" id="{069C4711-758D-CF4A-A407-6F22C98DCF70}"/>
                </a:ext>
              </a:extLst>
            </p:cNvPr>
            <p:cNvSpPr txBox="1">
              <a:spLocks noChangeArrowheads="1"/>
            </p:cNvSpPr>
            <p:nvPr/>
          </p:nvSpPr>
          <p:spPr bwMode="auto">
            <a:xfrm>
              <a:off x="3984" y="2315"/>
              <a:ext cx="699" cy="23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data(x+1)</a:t>
              </a:r>
            </a:p>
          </p:txBody>
        </p:sp>
        <p:sp>
          <p:nvSpPr>
            <p:cNvPr id="169" name="Oval 172">
              <a:extLst>
                <a:ext uri="{FF2B5EF4-FFF2-40B4-BE49-F238E27FC236}">
                  <a16:creationId xmlns:a16="http://schemas.microsoft.com/office/drawing/2014/main" id="{B63CF324-44AD-D941-BFE9-6823A7212A48}"/>
                </a:ext>
              </a:extLst>
            </p:cNvPr>
            <p:cNvSpPr>
              <a:spLocks noChangeArrowheads="1"/>
            </p:cNvSpPr>
            <p:nvPr/>
          </p:nvSpPr>
          <p:spPr bwMode="auto">
            <a:xfrm>
              <a:off x="4790" y="2524"/>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170" name="Text Box 173">
              <a:extLst>
                <a:ext uri="{FF2B5EF4-FFF2-40B4-BE49-F238E27FC236}">
                  <a16:creationId xmlns:a16="http://schemas.microsoft.com/office/drawing/2014/main" id="{21C7DDF1-6000-FA4F-8259-FD106EBA0F67}"/>
                </a:ext>
              </a:extLst>
            </p:cNvPr>
            <p:cNvSpPr txBox="1">
              <a:spLocks noChangeArrowheads="1"/>
            </p:cNvSpPr>
            <p:nvPr/>
          </p:nvSpPr>
          <p:spPr bwMode="auto">
            <a:xfrm>
              <a:off x="4890" y="2373"/>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accept</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data(x+1)</a:t>
              </a:r>
            </a:p>
          </p:txBody>
        </p:sp>
        <p:grpSp>
          <p:nvGrpSpPr>
            <p:cNvPr id="171" name="Group 174">
              <a:extLst>
                <a:ext uri="{FF2B5EF4-FFF2-40B4-BE49-F238E27FC236}">
                  <a16:creationId xmlns:a16="http://schemas.microsoft.com/office/drawing/2014/main" id="{67E235CF-E2F0-4A4C-B6BE-CB6AC0D0B6B1}"/>
                </a:ext>
              </a:extLst>
            </p:cNvPr>
            <p:cNvGrpSpPr>
              <a:grpSpLocks/>
            </p:cNvGrpSpPr>
            <p:nvPr/>
          </p:nvGrpSpPr>
          <p:grpSpPr bwMode="auto">
            <a:xfrm>
              <a:off x="3826" y="2803"/>
              <a:ext cx="1515" cy="322"/>
              <a:chOff x="3818" y="2796"/>
              <a:chExt cx="1515" cy="322"/>
            </a:xfrm>
          </p:grpSpPr>
          <p:sp>
            <p:nvSpPr>
              <p:cNvPr id="209" name="Line 175">
                <a:extLst>
                  <a:ext uri="{FF2B5EF4-FFF2-40B4-BE49-F238E27FC236}">
                    <a16:creationId xmlns:a16="http://schemas.microsoft.com/office/drawing/2014/main" id="{BC5ADDF2-7CBC-484B-8D57-A55A75E1FA1C}"/>
                  </a:ext>
                </a:extLst>
              </p:cNvPr>
              <p:cNvSpPr>
                <a:spLocks noChangeShapeType="1"/>
              </p:cNvSpPr>
              <p:nvPr/>
            </p:nvSpPr>
            <p:spPr bwMode="auto">
              <a:xfrm>
                <a:off x="3818" y="2951"/>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0" name="Text Box 176">
                <a:extLst>
                  <a:ext uri="{FF2B5EF4-FFF2-40B4-BE49-F238E27FC236}">
                    <a16:creationId xmlns:a16="http://schemas.microsoft.com/office/drawing/2014/main" id="{4DB46F2E-E4BE-194B-8D43-E5E134B15493}"/>
                  </a:ext>
                </a:extLst>
              </p:cNvPr>
              <p:cNvSpPr txBox="1">
                <a:spLocks noChangeArrowheads="1"/>
              </p:cNvSpPr>
              <p:nvPr/>
            </p:nvSpPr>
            <p:spPr bwMode="auto">
              <a:xfrm>
                <a:off x="3959" y="2796"/>
                <a:ext cx="766" cy="32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connection </a:t>
                </a:r>
              </a:p>
              <a:p>
                <a:pPr algn="ct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x completes</a:t>
                </a:r>
              </a:p>
            </p:txBody>
          </p:sp>
        </p:grpSp>
        <p:sp>
          <p:nvSpPr>
            <p:cNvPr id="172" name="Text Box 177">
              <a:extLst>
                <a:ext uri="{FF2B5EF4-FFF2-40B4-BE49-F238E27FC236}">
                  <a16:creationId xmlns:a16="http://schemas.microsoft.com/office/drawing/2014/main" id="{1C719B44-FA92-594B-8E17-4A5C23A8F44E}"/>
                </a:ext>
              </a:extLst>
            </p:cNvPr>
            <p:cNvSpPr txBox="1">
              <a:spLocks noChangeArrowheads="1"/>
            </p:cNvSpPr>
            <p:nvPr/>
          </p:nvSpPr>
          <p:spPr bwMode="auto">
            <a:xfrm>
              <a:off x="4830" y="2962"/>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server</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forgets x</a:t>
              </a:r>
            </a:p>
          </p:txBody>
        </p:sp>
        <p:grpSp>
          <p:nvGrpSpPr>
            <p:cNvPr id="173" name="Group 178">
              <a:extLst>
                <a:ext uri="{FF2B5EF4-FFF2-40B4-BE49-F238E27FC236}">
                  <a16:creationId xmlns:a16="http://schemas.microsoft.com/office/drawing/2014/main" id="{EC86099C-C8AD-6846-8AE7-34CA041B869C}"/>
                </a:ext>
              </a:extLst>
            </p:cNvPr>
            <p:cNvGrpSpPr>
              <a:grpSpLocks/>
            </p:cNvGrpSpPr>
            <p:nvPr/>
          </p:nvGrpSpPr>
          <p:grpSpPr bwMode="auto">
            <a:xfrm>
              <a:off x="3570" y="1119"/>
              <a:ext cx="391" cy="307"/>
              <a:chOff x="-44" y="1473"/>
              <a:chExt cx="981" cy="1105"/>
            </a:xfrm>
          </p:grpSpPr>
          <p:pic>
            <p:nvPicPr>
              <p:cNvPr id="207" name="Picture 179" descr="desktop_computer_stylized_medium">
                <a:extLst>
                  <a:ext uri="{FF2B5EF4-FFF2-40B4-BE49-F238E27FC236}">
                    <a16:creationId xmlns:a16="http://schemas.microsoft.com/office/drawing/2014/main" id="{F1C9C236-427D-834B-8DAC-99F53A437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 name="Freeform 180">
                <a:extLst>
                  <a:ext uri="{FF2B5EF4-FFF2-40B4-BE49-F238E27FC236}">
                    <a16:creationId xmlns:a16="http://schemas.microsoft.com/office/drawing/2014/main" id="{77EA5CD5-1868-AB46-B031-A7892A487F0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74" name="Group 181">
              <a:extLst>
                <a:ext uri="{FF2B5EF4-FFF2-40B4-BE49-F238E27FC236}">
                  <a16:creationId xmlns:a16="http://schemas.microsoft.com/office/drawing/2014/main" id="{D3F68FA6-F7DF-A146-A605-ABBDC8F8EFF8}"/>
                </a:ext>
              </a:extLst>
            </p:cNvPr>
            <p:cNvGrpSpPr>
              <a:grpSpLocks/>
            </p:cNvGrpSpPr>
            <p:nvPr/>
          </p:nvGrpSpPr>
          <p:grpSpPr bwMode="auto">
            <a:xfrm>
              <a:off x="4709" y="1107"/>
              <a:ext cx="212" cy="323"/>
              <a:chOff x="4140" y="429"/>
              <a:chExt cx="1425" cy="2396"/>
            </a:xfrm>
          </p:grpSpPr>
          <p:sp>
            <p:nvSpPr>
              <p:cNvPr id="175" name="Freeform 182">
                <a:extLst>
                  <a:ext uri="{FF2B5EF4-FFF2-40B4-BE49-F238E27FC236}">
                    <a16:creationId xmlns:a16="http://schemas.microsoft.com/office/drawing/2014/main" id="{1D2E36D3-F983-B54A-87F8-4B0FB1D0A97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76" name="Rectangle 183">
                <a:extLst>
                  <a:ext uri="{FF2B5EF4-FFF2-40B4-BE49-F238E27FC236}">
                    <a16:creationId xmlns:a16="http://schemas.microsoft.com/office/drawing/2014/main" id="{86762413-0C19-5E4F-AA7E-12F7BBEF4FE0}"/>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77" name="Freeform 184">
                <a:extLst>
                  <a:ext uri="{FF2B5EF4-FFF2-40B4-BE49-F238E27FC236}">
                    <a16:creationId xmlns:a16="http://schemas.microsoft.com/office/drawing/2014/main" id="{9ABD2B3D-5A73-0E4B-91D1-78596AD0A854}"/>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78" name="Freeform 185">
                <a:extLst>
                  <a:ext uri="{FF2B5EF4-FFF2-40B4-BE49-F238E27FC236}">
                    <a16:creationId xmlns:a16="http://schemas.microsoft.com/office/drawing/2014/main" id="{CAECD6F3-58BC-F24D-9434-643EDC4E7A8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79" name="Rectangle 186">
                <a:extLst>
                  <a:ext uri="{FF2B5EF4-FFF2-40B4-BE49-F238E27FC236}">
                    <a16:creationId xmlns:a16="http://schemas.microsoft.com/office/drawing/2014/main" id="{D640048A-92E5-F240-B20B-73B8FE8B2413}"/>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80" name="Group 187">
                <a:extLst>
                  <a:ext uri="{FF2B5EF4-FFF2-40B4-BE49-F238E27FC236}">
                    <a16:creationId xmlns:a16="http://schemas.microsoft.com/office/drawing/2014/main" id="{55FC97C6-B1FB-854D-94BE-E7BED8E1DC83}"/>
                  </a:ext>
                </a:extLst>
              </p:cNvPr>
              <p:cNvGrpSpPr>
                <a:grpSpLocks/>
              </p:cNvGrpSpPr>
              <p:nvPr/>
            </p:nvGrpSpPr>
            <p:grpSpPr bwMode="auto">
              <a:xfrm>
                <a:off x="4749" y="668"/>
                <a:ext cx="581" cy="145"/>
                <a:chOff x="614" y="2568"/>
                <a:chExt cx="725" cy="139"/>
              </a:xfrm>
            </p:grpSpPr>
            <p:sp>
              <p:nvSpPr>
                <p:cNvPr id="205" name="AutoShape 188">
                  <a:extLst>
                    <a:ext uri="{FF2B5EF4-FFF2-40B4-BE49-F238E27FC236}">
                      <a16:creationId xmlns:a16="http://schemas.microsoft.com/office/drawing/2014/main" id="{E2DCD474-0D76-1D47-938B-0347B4119D35}"/>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6" name="AutoShape 189">
                  <a:extLst>
                    <a:ext uri="{FF2B5EF4-FFF2-40B4-BE49-F238E27FC236}">
                      <a16:creationId xmlns:a16="http://schemas.microsoft.com/office/drawing/2014/main" id="{ADC0CDA4-3ACC-784D-AFDA-1C6EA9C5411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81" name="Rectangle 190">
                <a:extLst>
                  <a:ext uri="{FF2B5EF4-FFF2-40B4-BE49-F238E27FC236}">
                    <a16:creationId xmlns:a16="http://schemas.microsoft.com/office/drawing/2014/main" id="{AEEFE7D3-0B38-EE42-AA94-340CFCA0C0A3}"/>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82" name="Group 191">
                <a:extLst>
                  <a:ext uri="{FF2B5EF4-FFF2-40B4-BE49-F238E27FC236}">
                    <a16:creationId xmlns:a16="http://schemas.microsoft.com/office/drawing/2014/main" id="{3BFA70F3-4887-4A45-A0B0-300E77757667}"/>
                  </a:ext>
                </a:extLst>
              </p:cNvPr>
              <p:cNvGrpSpPr>
                <a:grpSpLocks/>
              </p:cNvGrpSpPr>
              <p:nvPr/>
            </p:nvGrpSpPr>
            <p:grpSpPr bwMode="auto">
              <a:xfrm>
                <a:off x="4747" y="994"/>
                <a:ext cx="581" cy="134"/>
                <a:chOff x="614" y="2568"/>
                <a:chExt cx="725" cy="139"/>
              </a:xfrm>
            </p:grpSpPr>
            <p:sp>
              <p:nvSpPr>
                <p:cNvPr id="203" name="AutoShape 192">
                  <a:extLst>
                    <a:ext uri="{FF2B5EF4-FFF2-40B4-BE49-F238E27FC236}">
                      <a16:creationId xmlns:a16="http://schemas.microsoft.com/office/drawing/2014/main" id="{14B933DF-A76C-E94B-9362-3D28B4CBFFB6}"/>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4" name="AutoShape 193">
                  <a:extLst>
                    <a:ext uri="{FF2B5EF4-FFF2-40B4-BE49-F238E27FC236}">
                      <a16:creationId xmlns:a16="http://schemas.microsoft.com/office/drawing/2014/main" id="{D1EC9173-2D5E-F641-9324-62AF5244C467}"/>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83" name="Rectangle 194">
                <a:extLst>
                  <a:ext uri="{FF2B5EF4-FFF2-40B4-BE49-F238E27FC236}">
                    <a16:creationId xmlns:a16="http://schemas.microsoft.com/office/drawing/2014/main" id="{B180E0D5-32AA-5A4A-92D4-28F216DC536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4" name="Rectangle 195">
                <a:extLst>
                  <a:ext uri="{FF2B5EF4-FFF2-40B4-BE49-F238E27FC236}">
                    <a16:creationId xmlns:a16="http://schemas.microsoft.com/office/drawing/2014/main" id="{A3E70690-FEFF-2446-B890-3315B37B0B0D}"/>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85" name="Group 196">
                <a:extLst>
                  <a:ext uri="{FF2B5EF4-FFF2-40B4-BE49-F238E27FC236}">
                    <a16:creationId xmlns:a16="http://schemas.microsoft.com/office/drawing/2014/main" id="{4184D53B-C370-5248-82BB-5D96E5BF521A}"/>
                  </a:ext>
                </a:extLst>
              </p:cNvPr>
              <p:cNvGrpSpPr>
                <a:grpSpLocks/>
              </p:cNvGrpSpPr>
              <p:nvPr/>
            </p:nvGrpSpPr>
            <p:grpSpPr bwMode="auto">
              <a:xfrm>
                <a:off x="4735" y="1627"/>
                <a:ext cx="582" cy="151"/>
                <a:chOff x="614" y="2568"/>
                <a:chExt cx="725" cy="139"/>
              </a:xfrm>
            </p:grpSpPr>
            <p:sp>
              <p:nvSpPr>
                <p:cNvPr id="201" name="AutoShape 197">
                  <a:extLst>
                    <a:ext uri="{FF2B5EF4-FFF2-40B4-BE49-F238E27FC236}">
                      <a16:creationId xmlns:a16="http://schemas.microsoft.com/office/drawing/2014/main" id="{66CD18C8-97C8-AD49-8806-45F2C3FA3A20}"/>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2" name="AutoShape 198">
                  <a:extLst>
                    <a:ext uri="{FF2B5EF4-FFF2-40B4-BE49-F238E27FC236}">
                      <a16:creationId xmlns:a16="http://schemas.microsoft.com/office/drawing/2014/main" id="{E4596270-7ACC-5941-82EB-426AAF88315D}"/>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86" name="Freeform 199">
                <a:extLst>
                  <a:ext uri="{FF2B5EF4-FFF2-40B4-BE49-F238E27FC236}">
                    <a16:creationId xmlns:a16="http://schemas.microsoft.com/office/drawing/2014/main" id="{8D520046-573E-1549-A1AD-345D7B8191C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87" name="Group 200">
                <a:extLst>
                  <a:ext uri="{FF2B5EF4-FFF2-40B4-BE49-F238E27FC236}">
                    <a16:creationId xmlns:a16="http://schemas.microsoft.com/office/drawing/2014/main" id="{CBDA9A7E-0A7F-D64B-867D-2FC72D58322A}"/>
                  </a:ext>
                </a:extLst>
              </p:cNvPr>
              <p:cNvGrpSpPr>
                <a:grpSpLocks/>
              </p:cNvGrpSpPr>
              <p:nvPr/>
            </p:nvGrpSpPr>
            <p:grpSpPr bwMode="auto">
              <a:xfrm>
                <a:off x="4739" y="1327"/>
                <a:ext cx="582" cy="139"/>
                <a:chOff x="614" y="2568"/>
                <a:chExt cx="725" cy="139"/>
              </a:xfrm>
            </p:grpSpPr>
            <p:sp>
              <p:nvSpPr>
                <p:cNvPr id="199" name="AutoShape 201">
                  <a:extLst>
                    <a:ext uri="{FF2B5EF4-FFF2-40B4-BE49-F238E27FC236}">
                      <a16:creationId xmlns:a16="http://schemas.microsoft.com/office/drawing/2014/main" id="{F7CB7A1E-7741-E24C-AFB5-5F057AFD0C52}"/>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00" name="AutoShape 202">
                  <a:extLst>
                    <a:ext uri="{FF2B5EF4-FFF2-40B4-BE49-F238E27FC236}">
                      <a16:creationId xmlns:a16="http://schemas.microsoft.com/office/drawing/2014/main" id="{93BC514D-19E5-DF47-87E9-7BF859D24356}"/>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88" name="Rectangle 203">
                <a:extLst>
                  <a:ext uri="{FF2B5EF4-FFF2-40B4-BE49-F238E27FC236}">
                    <a16:creationId xmlns:a16="http://schemas.microsoft.com/office/drawing/2014/main" id="{992A2C09-2187-A749-9718-F045A2349EA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89" name="Freeform 204">
                <a:extLst>
                  <a:ext uri="{FF2B5EF4-FFF2-40B4-BE49-F238E27FC236}">
                    <a16:creationId xmlns:a16="http://schemas.microsoft.com/office/drawing/2014/main" id="{D473F289-DF79-1D4B-BA3A-57AFA552A24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0" name="Freeform 205">
                <a:extLst>
                  <a:ext uri="{FF2B5EF4-FFF2-40B4-BE49-F238E27FC236}">
                    <a16:creationId xmlns:a16="http://schemas.microsoft.com/office/drawing/2014/main" id="{55F98009-7662-6D40-889B-2D6F20DE3EA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1" name="Oval 206">
                <a:extLst>
                  <a:ext uri="{FF2B5EF4-FFF2-40B4-BE49-F238E27FC236}">
                    <a16:creationId xmlns:a16="http://schemas.microsoft.com/office/drawing/2014/main" id="{8C0E348C-3A61-F54D-B6E7-8EEC0C479961}"/>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2" name="Freeform 207">
                <a:extLst>
                  <a:ext uri="{FF2B5EF4-FFF2-40B4-BE49-F238E27FC236}">
                    <a16:creationId xmlns:a16="http://schemas.microsoft.com/office/drawing/2014/main" id="{06CDC36B-C766-0244-ABF7-3336A9C2E7B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93" name="AutoShape 208">
                <a:extLst>
                  <a:ext uri="{FF2B5EF4-FFF2-40B4-BE49-F238E27FC236}">
                    <a16:creationId xmlns:a16="http://schemas.microsoft.com/office/drawing/2014/main" id="{E47AE9BE-71F7-0C40-BB36-B6201EAE727F}"/>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4" name="AutoShape 209">
                <a:extLst>
                  <a:ext uri="{FF2B5EF4-FFF2-40B4-BE49-F238E27FC236}">
                    <a16:creationId xmlns:a16="http://schemas.microsoft.com/office/drawing/2014/main" id="{6DDF70D2-966F-0443-BFEC-34DC981AB2D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5" name="Oval 210">
                <a:extLst>
                  <a:ext uri="{FF2B5EF4-FFF2-40B4-BE49-F238E27FC236}">
                    <a16:creationId xmlns:a16="http://schemas.microsoft.com/office/drawing/2014/main" id="{DFF00D08-0F51-F044-8429-6F3D5CC28DB2}"/>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6" name="Oval 211">
                <a:extLst>
                  <a:ext uri="{FF2B5EF4-FFF2-40B4-BE49-F238E27FC236}">
                    <a16:creationId xmlns:a16="http://schemas.microsoft.com/office/drawing/2014/main" id="{BBFCC1D5-E5D6-FB46-9D8C-E8CE8BFE2270}"/>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197" name="Oval 212">
                <a:extLst>
                  <a:ext uri="{FF2B5EF4-FFF2-40B4-BE49-F238E27FC236}">
                    <a16:creationId xmlns:a16="http://schemas.microsoft.com/office/drawing/2014/main" id="{F4244C1D-3E80-C847-BD71-A4309DAB13CE}"/>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98" name="Rectangle 213">
                <a:extLst>
                  <a:ext uri="{FF2B5EF4-FFF2-40B4-BE49-F238E27FC236}">
                    <a16:creationId xmlns:a16="http://schemas.microsoft.com/office/drawing/2014/main" id="{F13C27D5-275D-5C47-9B76-D6F9DDED6AD3}"/>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grpSp>
        <p:nvGrpSpPr>
          <p:cNvPr id="216" name="Group 215">
            <a:extLst>
              <a:ext uri="{FF2B5EF4-FFF2-40B4-BE49-F238E27FC236}">
                <a16:creationId xmlns:a16="http://schemas.microsoft.com/office/drawing/2014/main" id="{FF4B12AC-451D-994B-8F10-E450C0737005}"/>
              </a:ext>
            </a:extLst>
          </p:cNvPr>
          <p:cNvGrpSpPr/>
          <p:nvPr/>
        </p:nvGrpSpPr>
        <p:grpSpPr>
          <a:xfrm>
            <a:off x="5616808" y="2583709"/>
            <a:ext cx="2997994" cy="1799297"/>
            <a:chOff x="3185703" y="3422010"/>
            <a:chExt cx="3997325" cy="2399062"/>
          </a:xfrm>
        </p:grpSpPr>
        <p:sp>
          <p:nvSpPr>
            <p:cNvPr id="217" name="Freeform 86">
              <a:extLst>
                <a:ext uri="{FF2B5EF4-FFF2-40B4-BE49-F238E27FC236}">
                  <a16:creationId xmlns:a16="http://schemas.microsoft.com/office/drawing/2014/main" id="{38A816A8-A2A7-7540-BCC4-F843FEC5A429}"/>
                </a:ext>
              </a:extLst>
            </p:cNvPr>
            <p:cNvSpPr>
              <a:spLocks/>
            </p:cNvSpPr>
            <p:nvPr/>
          </p:nvSpPr>
          <p:spPr bwMode="auto">
            <a:xfrm>
              <a:off x="4431891" y="3661722"/>
              <a:ext cx="1501775" cy="1897063"/>
            </a:xfrm>
            <a:custGeom>
              <a:avLst/>
              <a:gdLst>
                <a:gd name="T0" fmla="*/ 0 w 946"/>
                <a:gd name="T1" fmla="*/ 15 h 1195"/>
                <a:gd name="T2" fmla="*/ 199 w 946"/>
                <a:gd name="T3" fmla="*/ 164 h 1195"/>
                <a:gd name="T4" fmla="*/ 320 w 946"/>
                <a:gd name="T5" fmla="*/ 960 h 1195"/>
                <a:gd name="T6" fmla="*/ 946 w 946"/>
                <a:gd name="T7" fmla="*/ 1138 h 11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6" h="1195">
                  <a:moveTo>
                    <a:pt x="0" y="15"/>
                  </a:moveTo>
                  <a:cubicBezTo>
                    <a:pt x="32" y="40"/>
                    <a:pt x="114" y="0"/>
                    <a:pt x="199" y="164"/>
                  </a:cubicBezTo>
                  <a:cubicBezTo>
                    <a:pt x="284" y="328"/>
                    <a:pt x="195" y="798"/>
                    <a:pt x="320" y="960"/>
                  </a:cubicBezTo>
                  <a:cubicBezTo>
                    <a:pt x="477" y="1195"/>
                    <a:pt x="816" y="1101"/>
                    <a:pt x="946" y="1138"/>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18" name="Rectangle 88">
              <a:extLst>
                <a:ext uri="{FF2B5EF4-FFF2-40B4-BE49-F238E27FC236}">
                  <a16:creationId xmlns:a16="http://schemas.microsoft.com/office/drawing/2014/main" id="{2B3E4B53-E066-C34C-A204-C42E865280B3}"/>
                </a:ext>
              </a:extLst>
            </p:cNvPr>
            <p:cNvSpPr>
              <a:spLocks noChangeArrowheads="1"/>
            </p:cNvSpPr>
            <p:nvPr/>
          </p:nvSpPr>
          <p:spPr bwMode="auto">
            <a:xfrm>
              <a:off x="4782728" y="5196835"/>
              <a:ext cx="711200" cy="2825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19" name="Text Box 87">
              <a:extLst>
                <a:ext uri="{FF2B5EF4-FFF2-40B4-BE49-F238E27FC236}">
                  <a16:creationId xmlns:a16="http://schemas.microsoft.com/office/drawing/2014/main" id="{3D13DFEA-C794-CD4D-B546-BEBC15495B31}"/>
                </a:ext>
              </a:extLst>
            </p:cNvPr>
            <p:cNvSpPr txBox="1">
              <a:spLocks noChangeArrowheads="1"/>
            </p:cNvSpPr>
            <p:nvPr/>
          </p:nvSpPr>
          <p:spPr bwMode="auto">
            <a:xfrm>
              <a:off x="4459651" y="5152386"/>
              <a:ext cx="110970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data(x+1)</a:t>
              </a:r>
            </a:p>
          </p:txBody>
        </p:sp>
        <p:sp>
          <p:nvSpPr>
            <p:cNvPr id="220" name="Text Box 89">
              <a:extLst>
                <a:ext uri="{FF2B5EF4-FFF2-40B4-BE49-F238E27FC236}">
                  <a16:creationId xmlns:a16="http://schemas.microsoft.com/office/drawing/2014/main" id="{5708E844-9ADD-5141-AEAF-930791B6807E}"/>
                </a:ext>
              </a:extLst>
            </p:cNvPr>
            <p:cNvSpPr txBox="1">
              <a:spLocks noChangeArrowheads="1"/>
            </p:cNvSpPr>
            <p:nvPr/>
          </p:nvSpPr>
          <p:spPr bwMode="auto">
            <a:xfrm>
              <a:off x="3185703" y="3422010"/>
              <a:ext cx="1273175"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data(x+1)</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221" name="Text Box 90">
              <a:extLst>
                <a:ext uri="{FF2B5EF4-FFF2-40B4-BE49-F238E27FC236}">
                  <a16:creationId xmlns:a16="http://schemas.microsoft.com/office/drawing/2014/main" id="{32C37D16-8B61-D246-B162-8D0E36A5BA9F}"/>
                </a:ext>
              </a:extLst>
            </p:cNvPr>
            <p:cNvSpPr txBox="1">
              <a:spLocks noChangeArrowheads="1"/>
            </p:cNvSpPr>
            <p:nvPr/>
          </p:nvSpPr>
          <p:spPr bwMode="auto">
            <a:xfrm>
              <a:off x="6011453" y="5279385"/>
              <a:ext cx="1171575" cy="5416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accept</a:t>
              </a:r>
            </a:p>
            <a:p>
              <a:pP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data(x+1)</a:t>
              </a:r>
            </a:p>
          </p:txBody>
        </p:sp>
      </p:grpSp>
      <p:grpSp>
        <p:nvGrpSpPr>
          <p:cNvPr id="222" name="Group 221">
            <a:extLst>
              <a:ext uri="{FF2B5EF4-FFF2-40B4-BE49-F238E27FC236}">
                <a16:creationId xmlns:a16="http://schemas.microsoft.com/office/drawing/2014/main" id="{2FBF50D0-D345-1348-8991-01B659F7A8D4}"/>
              </a:ext>
            </a:extLst>
          </p:cNvPr>
          <p:cNvGrpSpPr/>
          <p:nvPr/>
        </p:nvGrpSpPr>
        <p:grpSpPr>
          <a:xfrm>
            <a:off x="5491978" y="1691730"/>
            <a:ext cx="2825188" cy="2268915"/>
            <a:chOff x="3062807" y="2369497"/>
            <a:chExt cx="3766916" cy="3025220"/>
          </a:xfrm>
        </p:grpSpPr>
        <p:grpSp>
          <p:nvGrpSpPr>
            <p:cNvPr id="223" name="Group 222">
              <a:extLst>
                <a:ext uri="{FF2B5EF4-FFF2-40B4-BE49-F238E27FC236}">
                  <a16:creationId xmlns:a16="http://schemas.microsoft.com/office/drawing/2014/main" id="{6190F2C1-0C5D-3A42-A359-9CD3AF8C99E1}"/>
                </a:ext>
              </a:extLst>
            </p:cNvPr>
            <p:cNvGrpSpPr/>
            <p:nvPr/>
          </p:nvGrpSpPr>
          <p:grpSpPr>
            <a:xfrm>
              <a:off x="3062807" y="2369497"/>
              <a:ext cx="3766916" cy="3025220"/>
              <a:chOff x="3062807" y="2369497"/>
              <a:chExt cx="3766916" cy="3025220"/>
            </a:xfrm>
          </p:grpSpPr>
          <p:grpSp>
            <p:nvGrpSpPr>
              <p:cNvPr id="226" name="Group 225">
                <a:extLst>
                  <a:ext uri="{FF2B5EF4-FFF2-40B4-BE49-F238E27FC236}">
                    <a16:creationId xmlns:a16="http://schemas.microsoft.com/office/drawing/2014/main" id="{56EB4120-1B3C-1046-99F5-B25161010680}"/>
                  </a:ext>
                </a:extLst>
              </p:cNvPr>
              <p:cNvGrpSpPr/>
              <p:nvPr/>
            </p:nvGrpSpPr>
            <p:grpSpPr>
              <a:xfrm>
                <a:off x="3062807" y="2369497"/>
                <a:ext cx="3766916" cy="3025220"/>
                <a:chOff x="3062807" y="2369497"/>
                <a:chExt cx="3766916" cy="3025220"/>
              </a:xfrm>
            </p:grpSpPr>
            <p:sp>
              <p:nvSpPr>
                <p:cNvPr id="228" name="Text Box 69">
                  <a:extLst>
                    <a:ext uri="{FF2B5EF4-FFF2-40B4-BE49-F238E27FC236}">
                      <a16:creationId xmlns:a16="http://schemas.microsoft.com/office/drawing/2014/main" id="{EE39D5A5-75E8-1642-A928-9D7249ADC116}"/>
                    </a:ext>
                  </a:extLst>
                </p:cNvPr>
                <p:cNvSpPr txBox="1">
                  <a:spLocks noChangeArrowheads="1"/>
                </p:cNvSpPr>
                <p:nvPr/>
              </p:nvSpPr>
              <p:spPr bwMode="auto">
                <a:xfrm>
                  <a:off x="3062807" y="2369497"/>
                  <a:ext cx="1345272"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req_conn</a:t>
                  </a:r>
                  <a:r>
                    <a:rPr lang="en-US" sz="1200" kern="0" dirty="0">
                      <a:solidFill>
                        <a:srgbClr val="000000"/>
                      </a:solidFill>
                      <a:latin typeface="Avenir Book" panose="020B0503020203020204" pitchFamily="34" charset="-78"/>
                      <a:cs typeface="Avenir Book" panose="020B0503020203020204" pitchFamily="34" charset="-78"/>
                    </a:rPr>
                    <a:t>(x)</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229" name="Freeform 70">
                  <a:extLst>
                    <a:ext uri="{FF2B5EF4-FFF2-40B4-BE49-F238E27FC236}">
                      <a16:creationId xmlns:a16="http://schemas.microsoft.com/office/drawing/2014/main" id="{87666E37-BAB8-714B-BDF4-51ADC162FD6B}"/>
                    </a:ext>
                  </a:extLst>
                </p:cNvPr>
                <p:cNvSpPr>
                  <a:spLocks/>
                </p:cNvSpPr>
                <p:nvPr/>
              </p:nvSpPr>
              <p:spPr bwMode="auto">
                <a:xfrm>
                  <a:off x="4449353" y="2671122"/>
                  <a:ext cx="1527175" cy="2559050"/>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30" name="Text Box 71">
                  <a:extLst>
                    <a:ext uri="{FF2B5EF4-FFF2-40B4-BE49-F238E27FC236}">
                      <a16:creationId xmlns:a16="http://schemas.microsoft.com/office/drawing/2014/main" id="{B25E41D2-C0CA-EB48-880B-B13A1DD07596}"/>
                    </a:ext>
                  </a:extLst>
                </p:cNvPr>
                <p:cNvSpPr txBox="1">
                  <a:spLocks noChangeArrowheads="1"/>
                </p:cNvSpPr>
                <p:nvPr/>
              </p:nvSpPr>
              <p:spPr bwMode="auto">
                <a:xfrm>
                  <a:off x="5961536" y="5025385"/>
                  <a:ext cx="868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grpSp>
          <p:sp>
            <p:nvSpPr>
              <p:cNvPr id="227" name="Oval 72">
                <a:extLst>
                  <a:ext uri="{FF2B5EF4-FFF2-40B4-BE49-F238E27FC236}">
                    <a16:creationId xmlns:a16="http://schemas.microsoft.com/office/drawing/2014/main" id="{64BE47B6-AB1B-DB4F-891D-6475A8808F8F}"/>
                  </a:ext>
                </a:extLst>
              </p:cNvPr>
              <p:cNvSpPr>
                <a:spLocks noChangeArrowheads="1"/>
              </p:cNvSpPr>
              <p:nvPr/>
            </p:nvSpPr>
            <p:spPr bwMode="auto">
              <a:xfrm>
                <a:off x="5933666" y="5152385"/>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sp>
          <p:nvSpPr>
            <p:cNvPr id="224" name="Rectangle 74">
              <a:extLst>
                <a:ext uri="{FF2B5EF4-FFF2-40B4-BE49-F238E27FC236}">
                  <a16:creationId xmlns:a16="http://schemas.microsoft.com/office/drawing/2014/main" id="{27FAA0CE-40E3-9343-AB09-AE069D66FDA9}"/>
                </a:ext>
              </a:extLst>
            </p:cNvPr>
            <p:cNvSpPr>
              <a:spLocks noChangeArrowheads="1"/>
            </p:cNvSpPr>
            <p:nvPr/>
          </p:nvSpPr>
          <p:spPr bwMode="auto">
            <a:xfrm>
              <a:off x="4660491" y="4725570"/>
              <a:ext cx="1071563" cy="26035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25" name="Text Box 75">
              <a:extLst>
                <a:ext uri="{FF2B5EF4-FFF2-40B4-BE49-F238E27FC236}">
                  <a16:creationId xmlns:a16="http://schemas.microsoft.com/office/drawing/2014/main" id="{DDB36B2F-A920-A540-B13F-3450D027F31C}"/>
                </a:ext>
              </a:extLst>
            </p:cNvPr>
            <p:cNvSpPr txBox="1">
              <a:spLocks noChangeArrowheads="1"/>
            </p:cNvSpPr>
            <p:nvPr/>
          </p:nvSpPr>
          <p:spPr bwMode="auto">
            <a:xfrm>
              <a:off x="4729416" y="4650732"/>
              <a:ext cx="1351225"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req_conn</a:t>
              </a:r>
              <a:r>
                <a:rPr lang="en-US" sz="1200" kern="0" dirty="0">
                  <a:solidFill>
                    <a:srgbClr val="000000"/>
                  </a:solidFill>
                  <a:latin typeface="Avenir Book" panose="020B0503020203020204" pitchFamily="34" charset="-78"/>
                  <a:cs typeface="Avenir Book" panose="020B0503020203020204" pitchFamily="34" charset="-78"/>
                </a:rPr>
                <a:t>(x)</a:t>
              </a:r>
            </a:p>
          </p:txBody>
        </p:sp>
      </p:grpSp>
      <p:sp>
        <p:nvSpPr>
          <p:cNvPr id="81" name="Rectangle 63">
            <a:extLst>
              <a:ext uri="{FF2B5EF4-FFF2-40B4-BE49-F238E27FC236}">
                <a16:creationId xmlns:a16="http://schemas.microsoft.com/office/drawing/2014/main" id="{B7868940-CBBF-48D0-F132-2DB4A68D3A47}"/>
              </a:ext>
            </a:extLst>
          </p:cNvPr>
          <p:cNvSpPr txBox="1">
            <a:spLocks noChangeArrowheads="1"/>
          </p:cNvSpPr>
          <p:nvPr/>
        </p:nvSpPr>
        <p:spPr bwMode="auto">
          <a:xfrm>
            <a:off x="597741" y="1219154"/>
            <a:ext cx="4456397" cy="31964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buNone/>
              <a:defRPr/>
            </a:pPr>
            <a:r>
              <a:rPr lang="en-US" altLang="en-US" sz="2400" kern="0" dirty="0">
                <a:solidFill>
                  <a:srgbClr val="0000FF"/>
                </a:solidFill>
                <a:latin typeface="Avenir Book" panose="020B0503020203020204" pitchFamily="34" charset="-78"/>
                <a:ea typeface="ＭＳ Ｐゴシック" panose="020B0600070205080204" pitchFamily="34" charset="-128"/>
                <a:cs typeface="Avenir Book" panose="020B0503020203020204" pitchFamily="34" charset="-78"/>
              </a:rPr>
              <a:t>RST</a:t>
            </a:r>
            <a:r>
              <a:rPr lang="en-US" altLang="en-US" sz="24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 Abort connection</a:t>
            </a:r>
          </a:p>
          <a:p>
            <a:pPr marL="259556" indent="-209550" defTabSz="685800">
              <a:lnSpc>
                <a:spcPct val="90000"/>
              </a:lnSpc>
              <a:defRPr/>
            </a:pPr>
            <a:r>
              <a:rPr lang="en-US" altLang="en-US" sz="21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Receiver is confused</a:t>
            </a:r>
          </a:p>
          <a:p>
            <a:pPr marL="662781" lvl="1" indent="-209550" defTabSz="685800">
              <a:lnSpc>
                <a:spcPct val="90000"/>
              </a:lnSpc>
              <a:defRPr/>
            </a:pPr>
            <a:r>
              <a:rPr lang="en-US" altLang="en-US" sz="17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Unexpected sequence number</a:t>
            </a:r>
          </a:p>
          <a:p>
            <a:pPr marL="662781" lvl="1" indent="-209550" defTabSz="685800">
              <a:lnSpc>
                <a:spcPct val="90000"/>
              </a:lnSpc>
              <a:defRPr/>
            </a:pPr>
            <a:r>
              <a:rPr lang="en-US" altLang="en-US" sz="17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Port number or IP address do not match with any ongoing sockets</a:t>
            </a:r>
          </a:p>
          <a:p>
            <a:pPr marL="50006" indent="0" defTabSz="685800">
              <a:lnSpc>
                <a:spcPct val="90000"/>
              </a:lnSpc>
              <a:buNone/>
              <a:defRPr/>
            </a:pPr>
            <a:endParaRPr lang="en-US" altLang="en-US" sz="21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82" name="Group 152">
            <a:extLst>
              <a:ext uri="{FF2B5EF4-FFF2-40B4-BE49-F238E27FC236}">
                <a16:creationId xmlns:a16="http://schemas.microsoft.com/office/drawing/2014/main" id="{9C2006BA-AA2D-8544-A70F-118097C53265}"/>
              </a:ext>
            </a:extLst>
          </p:cNvPr>
          <p:cNvGrpSpPr>
            <a:grpSpLocks/>
          </p:cNvGrpSpPr>
          <p:nvPr/>
        </p:nvGrpSpPr>
        <p:grpSpPr bwMode="auto">
          <a:xfrm>
            <a:off x="9064443" y="828388"/>
            <a:ext cx="3011091" cy="4258866"/>
            <a:chOff x="3099" y="1107"/>
            <a:chExt cx="2529" cy="3577"/>
          </a:xfrm>
        </p:grpSpPr>
        <p:sp>
          <p:nvSpPr>
            <p:cNvPr id="83" name="Line 153">
              <a:extLst>
                <a:ext uri="{FF2B5EF4-FFF2-40B4-BE49-F238E27FC236}">
                  <a16:creationId xmlns:a16="http://schemas.microsoft.com/office/drawing/2014/main" id="{C056962F-C2E4-4D43-8591-63C2094689E9}"/>
                </a:ext>
              </a:extLst>
            </p:cNvPr>
            <p:cNvSpPr>
              <a:spLocks noChangeShapeType="1"/>
            </p:cNvSpPr>
            <p:nvPr/>
          </p:nvSpPr>
          <p:spPr bwMode="auto">
            <a:xfrm>
              <a:off x="4823" y="1490"/>
              <a:ext cx="24" cy="3194"/>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4" name="Text Box 154">
              <a:extLst>
                <a:ext uri="{FF2B5EF4-FFF2-40B4-BE49-F238E27FC236}">
                  <a16:creationId xmlns:a16="http://schemas.microsoft.com/office/drawing/2014/main" id="{CDA652F2-819F-6848-A5C9-8D9B66F9680B}"/>
                </a:ext>
              </a:extLst>
            </p:cNvPr>
            <p:cNvSpPr txBox="1">
              <a:spLocks noChangeArrowheads="1"/>
            </p:cNvSpPr>
            <p:nvPr/>
          </p:nvSpPr>
          <p:spPr bwMode="auto">
            <a:xfrm>
              <a:off x="3099" y="2983"/>
              <a:ext cx="789"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client terminates</a:t>
              </a:r>
            </a:p>
          </p:txBody>
        </p:sp>
        <p:sp>
          <p:nvSpPr>
            <p:cNvPr id="85" name="Line 155">
              <a:extLst>
                <a:ext uri="{FF2B5EF4-FFF2-40B4-BE49-F238E27FC236}">
                  <a16:creationId xmlns:a16="http://schemas.microsoft.com/office/drawing/2014/main" id="{666153C5-2212-0042-ABC5-919CF540FFF1}"/>
                </a:ext>
              </a:extLst>
            </p:cNvPr>
            <p:cNvSpPr>
              <a:spLocks noChangeShapeType="1"/>
            </p:cNvSpPr>
            <p:nvPr/>
          </p:nvSpPr>
          <p:spPr bwMode="auto">
            <a:xfrm>
              <a:off x="3860" y="1451"/>
              <a:ext cx="9" cy="3233"/>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6" name="Line 156">
              <a:extLst>
                <a:ext uri="{FF2B5EF4-FFF2-40B4-BE49-F238E27FC236}">
                  <a16:creationId xmlns:a16="http://schemas.microsoft.com/office/drawing/2014/main" id="{16ACB45E-8A1D-F74A-9C70-18C251DD28E3}"/>
                </a:ext>
              </a:extLst>
            </p:cNvPr>
            <p:cNvSpPr>
              <a:spLocks noChangeShapeType="1"/>
            </p:cNvSpPr>
            <p:nvPr/>
          </p:nvSpPr>
          <p:spPr bwMode="auto">
            <a:xfrm flipH="1">
              <a:off x="3850" y="1726"/>
              <a:ext cx="990" cy="60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8" name="Text Box 158">
              <a:extLst>
                <a:ext uri="{FF2B5EF4-FFF2-40B4-BE49-F238E27FC236}">
                  <a16:creationId xmlns:a16="http://schemas.microsoft.com/office/drawing/2014/main" id="{07E98DEC-15BD-8E44-8C66-72860ACC5678}"/>
                </a:ext>
              </a:extLst>
            </p:cNvPr>
            <p:cNvSpPr txBox="1">
              <a:spLocks noChangeArrowheads="1"/>
            </p:cNvSpPr>
            <p:nvPr/>
          </p:nvSpPr>
          <p:spPr bwMode="auto">
            <a:xfrm>
              <a:off x="3281" y="2221"/>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89" name="Oval 159">
              <a:extLst>
                <a:ext uri="{FF2B5EF4-FFF2-40B4-BE49-F238E27FC236}">
                  <a16:creationId xmlns:a16="http://schemas.microsoft.com/office/drawing/2014/main" id="{C387CC00-D294-7442-8EAF-0E4792392432}"/>
                </a:ext>
              </a:extLst>
            </p:cNvPr>
            <p:cNvSpPr>
              <a:spLocks noChangeArrowheads="1"/>
            </p:cNvSpPr>
            <p:nvPr/>
          </p:nvSpPr>
          <p:spPr bwMode="auto">
            <a:xfrm>
              <a:off x="3817" y="2299"/>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90" name="Text Box 160">
              <a:extLst>
                <a:ext uri="{FF2B5EF4-FFF2-40B4-BE49-F238E27FC236}">
                  <a16:creationId xmlns:a16="http://schemas.microsoft.com/office/drawing/2014/main" id="{A3029202-6E45-6F46-B68F-696E31F63852}"/>
                </a:ext>
              </a:extLst>
            </p:cNvPr>
            <p:cNvSpPr txBox="1">
              <a:spLocks noChangeArrowheads="1"/>
            </p:cNvSpPr>
            <p:nvPr/>
          </p:nvSpPr>
          <p:spPr bwMode="auto">
            <a:xfrm>
              <a:off x="3159" y="1380"/>
              <a:ext cx="667" cy="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choose x</a:t>
              </a:r>
            </a:p>
            <a:p>
              <a:pPr algn="r" defTabSz="685800" eaLnBrk="0" fontAlgn="base" hangingPunct="0">
                <a:spcBef>
                  <a:spcPct val="0"/>
                </a:spcBef>
                <a:spcAft>
                  <a:spcPct val="0"/>
                </a:spcAft>
                <a:defRPr/>
              </a:pPr>
              <a:endParaRPr lang="en-US" sz="1200" kern="0">
                <a:solidFill>
                  <a:srgbClr val="000000"/>
                </a:solidFill>
                <a:latin typeface="Avenir Book" panose="020B0503020203020204" pitchFamily="34" charset="-78"/>
                <a:cs typeface="Avenir Book" panose="020B0503020203020204" pitchFamily="34" charset="-78"/>
              </a:endParaRPr>
            </a:p>
          </p:txBody>
        </p:sp>
        <p:sp>
          <p:nvSpPr>
            <p:cNvPr id="91" name="Line 161">
              <a:extLst>
                <a:ext uri="{FF2B5EF4-FFF2-40B4-BE49-F238E27FC236}">
                  <a16:creationId xmlns:a16="http://schemas.microsoft.com/office/drawing/2014/main" id="{0FC46209-BD0B-0445-AF05-C8310A8E862F}"/>
                </a:ext>
              </a:extLst>
            </p:cNvPr>
            <p:cNvSpPr>
              <a:spLocks noChangeShapeType="1"/>
            </p:cNvSpPr>
            <p:nvPr/>
          </p:nvSpPr>
          <p:spPr bwMode="auto">
            <a:xfrm>
              <a:off x="3888" y="1503"/>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4" name="Text Box 164">
              <a:extLst>
                <a:ext uri="{FF2B5EF4-FFF2-40B4-BE49-F238E27FC236}">
                  <a16:creationId xmlns:a16="http://schemas.microsoft.com/office/drawing/2014/main" id="{8AEE0E4A-F8B4-9A4D-85F5-6FF0942C65C4}"/>
                </a:ext>
              </a:extLst>
            </p:cNvPr>
            <p:cNvSpPr txBox="1">
              <a:spLocks noChangeArrowheads="1"/>
            </p:cNvSpPr>
            <p:nvPr/>
          </p:nvSpPr>
          <p:spPr bwMode="auto">
            <a:xfrm>
              <a:off x="4865" y="2243"/>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95" name="Oval 165">
              <a:extLst>
                <a:ext uri="{FF2B5EF4-FFF2-40B4-BE49-F238E27FC236}">
                  <a16:creationId xmlns:a16="http://schemas.microsoft.com/office/drawing/2014/main" id="{837C2516-1B6F-784E-B717-4861DCB88C9F}"/>
                </a:ext>
              </a:extLst>
            </p:cNvPr>
            <p:cNvSpPr>
              <a:spLocks noChangeArrowheads="1"/>
            </p:cNvSpPr>
            <p:nvPr/>
          </p:nvSpPr>
          <p:spPr bwMode="auto">
            <a:xfrm>
              <a:off x="4794" y="1710"/>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97" name="Line 169">
              <a:extLst>
                <a:ext uri="{FF2B5EF4-FFF2-40B4-BE49-F238E27FC236}">
                  <a16:creationId xmlns:a16="http://schemas.microsoft.com/office/drawing/2014/main" id="{73E51126-71B9-DA4D-B01B-7072D4E22BDC}"/>
                </a:ext>
              </a:extLst>
            </p:cNvPr>
            <p:cNvSpPr>
              <a:spLocks noChangeShapeType="1"/>
            </p:cNvSpPr>
            <p:nvPr/>
          </p:nvSpPr>
          <p:spPr bwMode="auto">
            <a:xfrm>
              <a:off x="3877" y="2345"/>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0" name="Oval 172">
              <a:extLst>
                <a:ext uri="{FF2B5EF4-FFF2-40B4-BE49-F238E27FC236}">
                  <a16:creationId xmlns:a16="http://schemas.microsoft.com/office/drawing/2014/main" id="{B63CF324-44AD-D941-BFE9-6823A7212A48}"/>
                </a:ext>
              </a:extLst>
            </p:cNvPr>
            <p:cNvSpPr>
              <a:spLocks noChangeArrowheads="1"/>
            </p:cNvSpPr>
            <p:nvPr/>
          </p:nvSpPr>
          <p:spPr bwMode="auto">
            <a:xfrm>
              <a:off x="4790" y="2524"/>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101" name="Text Box 173">
              <a:extLst>
                <a:ext uri="{FF2B5EF4-FFF2-40B4-BE49-F238E27FC236}">
                  <a16:creationId xmlns:a16="http://schemas.microsoft.com/office/drawing/2014/main" id="{21C7DDF1-6000-FA4F-8259-FD106EBA0F67}"/>
                </a:ext>
              </a:extLst>
            </p:cNvPr>
            <p:cNvSpPr txBox="1">
              <a:spLocks noChangeArrowheads="1"/>
            </p:cNvSpPr>
            <p:nvPr/>
          </p:nvSpPr>
          <p:spPr bwMode="auto">
            <a:xfrm>
              <a:off x="4890" y="2373"/>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accept</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data(x+1)</a:t>
              </a:r>
            </a:p>
          </p:txBody>
        </p:sp>
        <p:grpSp>
          <p:nvGrpSpPr>
            <p:cNvPr id="102" name="Group 174">
              <a:extLst>
                <a:ext uri="{FF2B5EF4-FFF2-40B4-BE49-F238E27FC236}">
                  <a16:creationId xmlns:a16="http://schemas.microsoft.com/office/drawing/2014/main" id="{67E235CF-E2F0-4A4C-B6BE-CB6AC0D0B6B1}"/>
                </a:ext>
              </a:extLst>
            </p:cNvPr>
            <p:cNvGrpSpPr>
              <a:grpSpLocks/>
            </p:cNvGrpSpPr>
            <p:nvPr/>
          </p:nvGrpSpPr>
          <p:grpSpPr bwMode="auto">
            <a:xfrm>
              <a:off x="3826" y="2803"/>
              <a:ext cx="1515" cy="322"/>
              <a:chOff x="3818" y="2796"/>
              <a:chExt cx="1515" cy="322"/>
            </a:xfrm>
          </p:grpSpPr>
          <p:sp>
            <p:nvSpPr>
              <p:cNvPr id="140" name="Line 175">
                <a:extLst>
                  <a:ext uri="{FF2B5EF4-FFF2-40B4-BE49-F238E27FC236}">
                    <a16:creationId xmlns:a16="http://schemas.microsoft.com/office/drawing/2014/main" id="{BC5ADDF2-7CBC-484B-8D57-A55A75E1FA1C}"/>
                  </a:ext>
                </a:extLst>
              </p:cNvPr>
              <p:cNvSpPr>
                <a:spLocks noChangeShapeType="1"/>
              </p:cNvSpPr>
              <p:nvPr/>
            </p:nvSpPr>
            <p:spPr bwMode="auto">
              <a:xfrm>
                <a:off x="3818" y="2951"/>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1" name="Text Box 176">
                <a:extLst>
                  <a:ext uri="{FF2B5EF4-FFF2-40B4-BE49-F238E27FC236}">
                    <a16:creationId xmlns:a16="http://schemas.microsoft.com/office/drawing/2014/main" id="{4DB46F2E-E4BE-194B-8D43-E5E134B15493}"/>
                  </a:ext>
                </a:extLst>
              </p:cNvPr>
              <p:cNvSpPr txBox="1">
                <a:spLocks noChangeArrowheads="1"/>
              </p:cNvSpPr>
              <p:nvPr/>
            </p:nvSpPr>
            <p:spPr bwMode="auto">
              <a:xfrm>
                <a:off x="3959" y="2796"/>
                <a:ext cx="766" cy="32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connection </a:t>
                </a:r>
              </a:p>
              <a:p>
                <a:pPr algn="ct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x completes</a:t>
                </a:r>
              </a:p>
            </p:txBody>
          </p:sp>
        </p:grpSp>
        <p:sp>
          <p:nvSpPr>
            <p:cNvPr id="103" name="Text Box 177">
              <a:extLst>
                <a:ext uri="{FF2B5EF4-FFF2-40B4-BE49-F238E27FC236}">
                  <a16:creationId xmlns:a16="http://schemas.microsoft.com/office/drawing/2014/main" id="{1C719B44-FA92-594B-8E17-4A5C23A8F44E}"/>
                </a:ext>
              </a:extLst>
            </p:cNvPr>
            <p:cNvSpPr txBox="1">
              <a:spLocks noChangeArrowheads="1"/>
            </p:cNvSpPr>
            <p:nvPr/>
          </p:nvSpPr>
          <p:spPr bwMode="auto">
            <a:xfrm>
              <a:off x="4830" y="2962"/>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server</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forgets x</a:t>
              </a:r>
            </a:p>
          </p:txBody>
        </p:sp>
        <p:grpSp>
          <p:nvGrpSpPr>
            <p:cNvPr id="104" name="Group 178">
              <a:extLst>
                <a:ext uri="{FF2B5EF4-FFF2-40B4-BE49-F238E27FC236}">
                  <a16:creationId xmlns:a16="http://schemas.microsoft.com/office/drawing/2014/main" id="{EC86099C-C8AD-6846-8AE7-34CA041B869C}"/>
                </a:ext>
              </a:extLst>
            </p:cNvPr>
            <p:cNvGrpSpPr>
              <a:grpSpLocks/>
            </p:cNvGrpSpPr>
            <p:nvPr/>
          </p:nvGrpSpPr>
          <p:grpSpPr bwMode="auto">
            <a:xfrm>
              <a:off x="3570" y="1119"/>
              <a:ext cx="391" cy="307"/>
              <a:chOff x="-44" y="1473"/>
              <a:chExt cx="981" cy="1105"/>
            </a:xfrm>
          </p:grpSpPr>
          <p:pic>
            <p:nvPicPr>
              <p:cNvPr id="138" name="Picture 179" descr="desktop_computer_stylized_medium">
                <a:extLst>
                  <a:ext uri="{FF2B5EF4-FFF2-40B4-BE49-F238E27FC236}">
                    <a16:creationId xmlns:a16="http://schemas.microsoft.com/office/drawing/2014/main" id="{F1C9C236-427D-834B-8DAC-99F53A437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 name="Freeform 180">
                <a:extLst>
                  <a:ext uri="{FF2B5EF4-FFF2-40B4-BE49-F238E27FC236}">
                    <a16:creationId xmlns:a16="http://schemas.microsoft.com/office/drawing/2014/main" id="{77EA5CD5-1868-AB46-B031-A7892A487F0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05" name="Group 181">
              <a:extLst>
                <a:ext uri="{FF2B5EF4-FFF2-40B4-BE49-F238E27FC236}">
                  <a16:creationId xmlns:a16="http://schemas.microsoft.com/office/drawing/2014/main" id="{D3F68FA6-F7DF-A146-A605-ABBDC8F8EFF8}"/>
                </a:ext>
              </a:extLst>
            </p:cNvPr>
            <p:cNvGrpSpPr>
              <a:grpSpLocks/>
            </p:cNvGrpSpPr>
            <p:nvPr/>
          </p:nvGrpSpPr>
          <p:grpSpPr bwMode="auto">
            <a:xfrm>
              <a:off x="4709" y="1107"/>
              <a:ext cx="212" cy="323"/>
              <a:chOff x="4140" y="429"/>
              <a:chExt cx="1425" cy="2396"/>
            </a:xfrm>
          </p:grpSpPr>
          <p:sp>
            <p:nvSpPr>
              <p:cNvPr id="106" name="Freeform 182">
                <a:extLst>
                  <a:ext uri="{FF2B5EF4-FFF2-40B4-BE49-F238E27FC236}">
                    <a16:creationId xmlns:a16="http://schemas.microsoft.com/office/drawing/2014/main" id="{1D2E36D3-F983-B54A-87F8-4B0FB1D0A97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07" name="Rectangle 183">
                <a:extLst>
                  <a:ext uri="{FF2B5EF4-FFF2-40B4-BE49-F238E27FC236}">
                    <a16:creationId xmlns:a16="http://schemas.microsoft.com/office/drawing/2014/main" id="{86762413-0C19-5E4F-AA7E-12F7BBEF4FE0}"/>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8" name="Freeform 184">
                <a:extLst>
                  <a:ext uri="{FF2B5EF4-FFF2-40B4-BE49-F238E27FC236}">
                    <a16:creationId xmlns:a16="http://schemas.microsoft.com/office/drawing/2014/main" id="{9ABD2B3D-5A73-0E4B-91D1-78596AD0A854}"/>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09" name="Freeform 185">
                <a:extLst>
                  <a:ext uri="{FF2B5EF4-FFF2-40B4-BE49-F238E27FC236}">
                    <a16:creationId xmlns:a16="http://schemas.microsoft.com/office/drawing/2014/main" id="{CAECD6F3-58BC-F24D-9434-643EDC4E7A8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10" name="Rectangle 186">
                <a:extLst>
                  <a:ext uri="{FF2B5EF4-FFF2-40B4-BE49-F238E27FC236}">
                    <a16:creationId xmlns:a16="http://schemas.microsoft.com/office/drawing/2014/main" id="{D640048A-92E5-F240-B20B-73B8FE8B2413}"/>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1" name="Group 187">
                <a:extLst>
                  <a:ext uri="{FF2B5EF4-FFF2-40B4-BE49-F238E27FC236}">
                    <a16:creationId xmlns:a16="http://schemas.microsoft.com/office/drawing/2014/main" id="{55FC97C6-B1FB-854D-94BE-E7BED8E1DC83}"/>
                  </a:ext>
                </a:extLst>
              </p:cNvPr>
              <p:cNvGrpSpPr>
                <a:grpSpLocks/>
              </p:cNvGrpSpPr>
              <p:nvPr/>
            </p:nvGrpSpPr>
            <p:grpSpPr bwMode="auto">
              <a:xfrm>
                <a:off x="4749" y="668"/>
                <a:ext cx="581" cy="145"/>
                <a:chOff x="614" y="2568"/>
                <a:chExt cx="725" cy="139"/>
              </a:xfrm>
            </p:grpSpPr>
            <p:sp>
              <p:nvSpPr>
                <p:cNvPr id="136" name="AutoShape 188">
                  <a:extLst>
                    <a:ext uri="{FF2B5EF4-FFF2-40B4-BE49-F238E27FC236}">
                      <a16:creationId xmlns:a16="http://schemas.microsoft.com/office/drawing/2014/main" id="{E2DCD474-0D76-1D47-938B-0347B4119D35}"/>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7" name="AutoShape 189">
                  <a:extLst>
                    <a:ext uri="{FF2B5EF4-FFF2-40B4-BE49-F238E27FC236}">
                      <a16:creationId xmlns:a16="http://schemas.microsoft.com/office/drawing/2014/main" id="{ADC0CDA4-3ACC-784D-AFDA-1C6EA9C5411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2" name="Rectangle 190">
                <a:extLst>
                  <a:ext uri="{FF2B5EF4-FFF2-40B4-BE49-F238E27FC236}">
                    <a16:creationId xmlns:a16="http://schemas.microsoft.com/office/drawing/2014/main" id="{AEEFE7D3-0B38-EE42-AA94-340CFCA0C0A3}"/>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3" name="Group 191">
                <a:extLst>
                  <a:ext uri="{FF2B5EF4-FFF2-40B4-BE49-F238E27FC236}">
                    <a16:creationId xmlns:a16="http://schemas.microsoft.com/office/drawing/2014/main" id="{3BFA70F3-4887-4A45-A0B0-300E77757667}"/>
                  </a:ext>
                </a:extLst>
              </p:cNvPr>
              <p:cNvGrpSpPr>
                <a:grpSpLocks/>
              </p:cNvGrpSpPr>
              <p:nvPr/>
            </p:nvGrpSpPr>
            <p:grpSpPr bwMode="auto">
              <a:xfrm>
                <a:off x="4747" y="994"/>
                <a:ext cx="581" cy="134"/>
                <a:chOff x="614" y="2568"/>
                <a:chExt cx="725" cy="139"/>
              </a:xfrm>
            </p:grpSpPr>
            <p:sp>
              <p:nvSpPr>
                <p:cNvPr id="134" name="AutoShape 192">
                  <a:extLst>
                    <a:ext uri="{FF2B5EF4-FFF2-40B4-BE49-F238E27FC236}">
                      <a16:creationId xmlns:a16="http://schemas.microsoft.com/office/drawing/2014/main" id="{14B933DF-A76C-E94B-9362-3D28B4CBFFB6}"/>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5" name="AutoShape 193">
                  <a:extLst>
                    <a:ext uri="{FF2B5EF4-FFF2-40B4-BE49-F238E27FC236}">
                      <a16:creationId xmlns:a16="http://schemas.microsoft.com/office/drawing/2014/main" id="{D1EC9173-2D5E-F641-9324-62AF5244C467}"/>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4" name="Rectangle 194">
                <a:extLst>
                  <a:ext uri="{FF2B5EF4-FFF2-40B4-BE49-F238E27FC236}">
                    <a16:creationId xmlns:a16="http://schemas.microsoft.com/office/drawing/2014/main" id="{B180E0D5-32AA-5A4A-92D4-28F216DC536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5" name="Rectangle 195">
                <a:extLst>
                  <a:ext uri="{FF2B5EF4-FFF2-40B4-BE49-F238E27FC236}">
                    <a16:creationId xmlns:a16="http://schemas.microsoft.com/office/drawing/2014/main" id="{A3E70690-FEFF-2446-B890-3315B37B0B0D}"/>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6" name="Group 196">
                <a:extLst>
                  <a:ext uri="{FF2B5EF4-FFF2-40B4-BE49-F238E27FC236}">
                    <a16:creationId xmlns:a16="http://schemas.microsoft.com/office/drawing/2014/main" id="{4184D53B-C370-5248-82BB-5D96E5BF521A}"/>
                  </a:ext>
                </a:extLst>
              </p:cNvPr>
              <p:cNvGrpSpPr>
                <a:grpSpLocks/>
              </p:cNvGrpSpPr>
              <p:nvPr/>
            </p:nvGrpSpPr>
            <p:grpSpPr bwMode="auto">
              <a:xfrm>
                <a:off x="4735" y="1627"/>
                <a:ext cx="582" cy="151"/>
                <a:chOff x="614" y="2568"/>
                <a:chExt cx="725" cy="139"/>
              </a:xfrm>
            </p:grpSpPr>
            <p:sp>
              <p:nvSpPr>
                <p:cNvPr id="132" name="AutoShape 197">
                  <a:extLst>
                    <a:ext uri="{FF2B5EF4-FFF2-40B4-BE49-F238E27FC236}">
                      <a16:creationId xmlns:a16="http://schemas.microsoft.com/office/drawing/2014/main" id="{66CD18C8-97C8-AD49-8806-45F2C3FA3A20}"/>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3" name="AutoShape 198">
                  <a:extLst>
                    <a:ext uri="{FF2B5EF4-FFF2-40B4-BE49-F238E27FC236}">
                      <a16:creationId xmlns:a16="http://schemas.microsoft.com/office/drawing/2014/main" id="{E4596270-7ACC-5941-82EB-426AAF88315D}"/>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7" name="Freeform 199">
                <a:extLst>
                  <a:ext uri="{FF2B5EF4-FFF2-40B4-BE49-F238E27FC236}">
                    <a16:creationId xmlns:a16="http://schemas.microsoft.com/office/drawing/2014/main" id="{8D520046-573E-1549-A1AD-345D7B8191C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18" name="Group 200">
                <a:extLst>
                  <a:ext uri="{FF2B5EF4-FFF2-40B4-BE49-F238E27FC236}">
                    <a16:creationId xmlns:a16="http://schemas.microsoft.com/office/drawing/2014/main" id="{CBDA9A7E-0A7F-D64B-867D-2FC72D58322A}"/>
                  </a:ext>
                </a:extLst>
              </p:cNvPr>
              <p:cNvGrpSpPr>
                <a:grpSpLocks/>
              </p:cNvGrpSpPr>
              <p:nvPr/>
            </p:nvGrpSpPr>
            <p:grpSpPr bwMode="auto">
              <a:xfrm>
                <a:off x="4739" y="1327"/>
                <a:ext cx="582" cy="139"/>
                <a:chOff x="614" y="2568"/>
                <a:chExt cx="725" cy="139"/>
              </a:xfrm>
            </p:grpSpPr>
            <p:sp>
              <p:nvSpPr>
                <p:cNvPr id="130" name="AutoShape 201">
                  <a:extLst>
                    <a:ext uri="{FF2B5EF4-FFF2-40B4-BE49-F238E27FC236}">
                      <a16:creationId xmlns:a16="http://schemas.microsoft.com/office/drawing/2014/main" id="{F7CB7A1E-7741-E24C-AFB5-5F057AFD0C52}"/>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1" name="AutoShape 202">
                  <a:extLst>
                    <a:ext uri="{FF2B5EF4-FFF2-40B4-BE49-F238E27FC236}">
                      <a16:creationId xmlns:a16="http://schemas.microsoft.com/office/drawing/2014/main" id="{93BC514D-19E5-DF47-87E9-7BF859D24356}"/>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9" name="Rectangle 203">
                <a:extLst>
                  <a:ext uri="{FF2B5EF4-FFF2-40B4-BE49-F238E27FC236}">
                    <a16:creationId xmlns:a16="http://schemas.microsoft.com/office/drawing/2014/main" id="{992A2C09-2187-A749-9718-F045A2349EA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0" name="Freeform 204">
                <a:extLst>
                  <a:ext uri="{FF2B5EF4-FFF2-40B4-BE49-F238E27FC236}">
                    <a16:creationId xmlns:a16="http://schemas.microsoft.com/office/drawing/2014/main" id="{D473F289-DF79-1D4B-BA3A-57AFA552A24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1" name="Freeform 205">
                <a:extLst>
                  <a:ext uri="{FF2B5EF4-FFF2-40B4-BE49-F238E27FC236}">
                    <a16:creationId xmlns:a16="http://schemas.microsoft.com/office/drawing/2014/main" id="{55F98009-7662-6D40-889B-2D6F20DE3EA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2" name="Oval 206">
                <a:extLst>
                  <a:ext uri="{FF2B5EF4-FFF2-40B4-BE49-F238E27FC236}">
                    <a16:creationId xmlns:a16="http://schemas.microsoft.com/office/drawing/2014/main" id="{8C0E348C-3A61-F54D-B6E7-8EEC0C479961}"/>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3" name="Freeform 207">
                <a:extLst>
                  <a:ext uri="{FF2B5EF4-FFF2-40B4-BE49-F238E27FC236}">
                    <a16:creationId xmlns:a16="http://schemas.microsoft.com/office/drawing/2014/main" id="{06CDC36B-C766-0244-ABF7-3336A9C2E7B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4" name="AutoShape 208">
                <a:extLst>
                  <a:ext uri="{FF2B5EF4-FFF2-40B4-BE49-F238E27FC236}">
                    <a16:creationId xmlns:a16="http://schemas.microsoft.com/office/drawing/2014/main" id="{E47AE9BE-71F7-0C40-BB36-B6201EAE727F}"/>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5" name="AutoShape 209">
                <a:extLst>
                  <a:ext uri="{FF2B5EF4-FFF2-40B4-BE49-F238E27FC236}">
                    <a16:creationId xmlns:a16="http://schemas.microsoft.com/office/drawing/2014/main" id="{6DDF70D2-966F-0443-BFEC-34DC981AB2D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6" name="Oval 210">
                <a:extLst>
                  <a:ext uri="{FF2B5EF4-FFF2-40B4-BE49-F238E27FC236}">
                    <a16:creationId xmlns:a16="http://schemas.microsoft.com/office/drawing/2014/main" id="{DFF00D08-0F51-F044-8429-6F3D5CC28DB2}"/>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7" name="Oval 211">
                <a:extLst>
                  <a:ext uri="{FF2B5EF4-FFF2-40B4-BE49-F238E27FC236}">
                    <a16:creationId xmlns:a16="http://schemas.microsoft.com/office/drawing/2014/main" id="{BBFCC1D5-E5D6-FB46-9D8C-E8CE8BFE2270}"/>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128" name="Oval 212">
                <a:extLst>
                  <a:ext uri="{FF2B5EF4-FFF2-40B4-BE49-F238E27FC236}">
                    <a16:creationId xmlns:a16="http://schemas.microsoft.com/office/drawing/2014/main" id="{F4244C1D-3E80-C847-BD71-A4309DAB13CE}"/>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9" name="Rectangle 213">
                <a:extLst>
                  <a:ext uri="{FF2B5EF4-FFF2-40B4-BE49-F238E27FC236}">
                    <a16:creationId xmlns:a16="http://schemas.microsoft.com/office/drawing/2014/main" id="{F13C27D5-275D-5C47-9B76-D6F9DDED6AD3}"/>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grpSp>
        <p:nvGrpSpPr>
          <p:cNvPr id="144" name="Group 143">
            <a:extLst>
              <a:ext uri="{FF2B5EF4-FFF2-40B4-BE49-F238E27FC236}">
                <a16:creationId xmlns:a16="http://schemas.microsoft.com/office/drawing/2014/main" id="{FF4B12AC-451D-994B-8F10-E450C0737005}"/>
              </a:ext>
            </a:extLst>
          </p:cNvPr>
          <p:cNvGrpSpPr/>
          <p:nvPr/>
        </p:nvGrpSpPr>
        <p:grpSpPr>
          <a:xfrm>
            <a:off x="9063932" y="2583709"/>
            <a:ext cx="2060972" cy="1602582"/>
            <a:chOff x="3185703" y="3422010"/>
            <a:chExt cx="2747963" cy="2136775"/>
          </a:xfrm>
        </p:grpSpPr>
        <p:sp>
          <p:nvSpPr>
            <p:cNvPr id="145" name="Freeform 86">
              <a:extLst>
                <a:ext uri="{FF2B5EF4-FFF2-40B4-BE49-F238E27FC236}">
                  <a16:creationId xmlns:a16="http://schemas.microsoft.com/office/drawing/2014/main" id="{38A816A8-A2A7-7540-BCC4-F843FEC5A429}"/>
                </a:ext>
              </a:extLst>
            </p:cNvPr>
            <p:cNvSpPr>
              <a:spLocks/>
            </p:cNvSpPr>
            <p:nvPr/>
          </p:nvSpPr>
          <p:spPr bwMode="auto">
            <a:xfrm>
              <a:off x="4431891" y="3661722"/>
              <a:ext cx="1501775" cy="1897063"/>
            </a:xfrm>
            <a:custGeom>
              <a:avLst/>
              <a:gdLst>
                <a:gd name="T0" fmla="*/ 0 w 946"/>
                <a:gd name="T1" fmla="*/ 15 h 1195"/>
                <a:gd name="T2" fmla="*/ 199 w 946"/>
                <a:gd name="T3" fmla="*/ 164 h 1195"/>
                <a:gd name="T4" fmla="*/ 320 w 946"/>
                <a:gd name="T5" fmla="*/ 960 h 1195"/>
                <a:gd name="T6" fmla="*/ 946 w 946"/>
                <a:gd name="T7" fmla="*/ 1138 h 11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6" h="1195">
                  <a:moveTo>
                    <a:pt x="0" y="15"/>
                  </a:moveTo>
                  <a:cubicBezTo>
                    <a:pt x="32" y="40"/>
                    <a:pt x="114" y="0"/>
                    <a:pt x="199" y="164"/>
                  </a:cubicBezTo>
                  <a:cubicBezTo>
                    <a:pt x="284" y="328"/>
                    <a:pt x="195" y="798"/>
                    <a:pt x="320" y="960"/>
                  </a:cubicBezTo>
                  <a:cubicBezTo>
                    <a:pt x="477" y="1195"/>
                    <a:pt x="816" y="1101"/>
                    <a:pt x="946" y="1138"/>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48" name="Text Box 89">
              <a:extLst>
                <a:ext uri="{FF2B5EF4-FFF2-40B4-BE49-F238E27FC236}">
                  <a16:creationId xmlns:a16="http://schemas.microsoft.com/office/drawing/2014/main" id="{5708E844-9ADD-5141-AEAF-930791B6807E}"/>
                </a:ext>
              </a:extLst>
            </p:cNvPr>
            <p:cNvSpPr txBox="1">
              <a:spLocks noChangeArrowheads="1"/>
            </p:cNvSpPr>
            <p:nvPr/>
          </p:nvSpPr>
          <p:spPr bwMode="auto">
            <a:xfrm>
              <a:off x="3185703" y="3422010"/>
              <a:ext cx="1273175"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data(x+1)</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grpSp>
      <p:grpSp>
        <p:nvGrpSpPr>
          <p:cNvPr id="213" name="Group 212">
            <a:extLst>
              <a:ext uri="{FF2B5EF4-FFF2-40B4-BE49-F238E27FC236}">
                <a16:creationId xmlns:a16="http://schemas.microsoft.com/office/drawing/2014/main" id="{6190F2C1-0C5D-3A42-A359-9CD3AF8C99E1}"/>
              </a:ext>
            </a:extLst>
          </p:cNvPr>
          <p:cNvGrpSpPr/>
          <p:nvPr/>
        </p:nvGrpSpPr>
        <p:grpSpPr>
          <a:xfrm>
            <a:off x="8952710" y="1801863"/>
            <a:ext cx="2221011" cy="2153841"/>
            <a:chOff x="3062807" y="2369497"/>
            <a:chExt cx="2961347" cy="2871788"/>
          </a:xfrm>
        </p:grpSpPr>
        <p:grpSp>
          <p:nvGrpSpPr>
            <p:cNvPr id="231" name="Group 230">
              <a:extLst>
                <a:ext uri="{FF2B5EF4-FFF2-40B4-BE49-F238E27FC236}">
                  <a16:creationId xmlns:a16="http://schemas.microsoft.com/office/drawing/2014/main" id="{56EB4120-1B3C-1046-99F5-B25161010680}"/>
                </a:ext>
              </a:extLst>
            </p:cNvPr>
            <p:cNvGrpSpPr/>
            <p:nvPr/>
          </p:nvGrpSpPr>
          <p:grpSpPr>
            <a:xfrm>
              <a:off x="3062807" y="2369497"/>
              <a:ext cx="2913721" cy="2860675"/>
              <a:chOff x="3062807" y="2369497"/>
              <a:chExt cx="2913721" cy="2860675"/>
            </a:xfrm>
          </p:grpSpPr>
          <p:sp>
            <p:nvSpPr>
              <p:cNvPr id="233" name="Text Box 69">
                <a:extLst>
                  <a:ext uri="{FF2B5EF4-FFF2-40B4-BE49-F238E27FC236}">
                    <a16:creationId xmlns:a16="http://schemas.microsoft.com/office/drawing/2014/main" id="{EE39D5A5-75E8-1642-A928-9D7249ADC116}"/>
                  </a:ext>
                </a:extLst>
              </p:cNvPr>
              <p:cNvSpPr txBox="1">
                <a:spLocks noChangeArrowheads="1"/>
              </p:cNvSpPr>
              <p:nvPr/>
            </p:nvSpPr>
            <p:spPr bwMode="auto">
              <a:xfrm>
                <a:off x="3062807" y="2369497"/>
                <a:ext cx="1345272"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req_conn</a:t>
                </a:r>
                <a:r>
                  <a:rPr lang="en-US" sz="1200" kern="0" dirty="0">
                    <a:solidFill>
                      <a:srgbClr val="000000"/>
                    </a:solidFill>
                    <a:latin typeface="Avenir Book" panose="020B0503020203020204" pitchFamily="34" charset="-78"/>
                    <a:cs typeface="Avenir Book" panose="020B0503020203020204" pitchFamily="34" charset="-78"/>
                  </a:rPr>
                  <a:t>(x)</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234" name="Freeform 70">
                <a:extLst>
                  <a:ext uri="{FF2B5EF4-FFF2-40B4-BE49-F238E27FC236}">
                    <a16:creationId xmlns:a16="http://schemas.microsoft.com/office/drawing/2014/main" id="{87666E37-BAB8-714B-BDF4-51ADC162FD6B}"/>
                  </a:ext>
                </a:extLst>
              </p:cNvPr>
              <p:cNvSpPr>
                <a:spLocks/>
              </p:cNvSpPr>
              <p:nvPr/>
            </p:nvSpPr>
            <p:spPr bwMode="auto">
              <a:xfrm>
                <a:off x="4449353" y="2671122"/>
                <a:ext cx="1527175" cy="2559050"/>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sp>
          <p:nvSpPr>
            <p:cNvPr id="232" name="Oval 72">
              <a:extLst>
                <a:ext uri="{FF2B5EF4-FFF2-40B4-BE49-F238E27FC236}">
                  <a16:creationId xmlns:a16="http://schemas.microsoft.com/office/drawing/2014/main" id="{64BE47B6-AB1B-DB4F-891D-6475A8808F8F}"/>
                </a:ext>
              </a:extLst>
            </p:cNvPr>
            <p:cNvSpPr>
              <a:spLocks noChangeArrowheads="1"/>
            </p:cNvSpPr>
            <p:nvPr/>
          </p:nvSpPr>
          <p:spPr bwMode="auto">
            <a:xfrm>
              <a:off x="5933666" y="5152385"/>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grpSp>
        <p:nvGrpSpPr>
          <p:cNvPr id="236" name="Group 235">
            <a:extLst>
              <a:ext uri="{FF2B5EF4-FFF2-40B4-BE49-F238E27FC236}">
                <a16:creationId xmlns:a16="http://schemas.microsoft.com/office/drawing/2014/main" id="{09A60973-A80A-204A-B7D6-FB475901ED33}"/>
              </a:ext>
            </a:extLst>
          </p:cNvPr>
          <p:cNvGrpSpPr/>
          <p:nvPr/>
        </p:nvGrpSpPr>
        <p:grpSpPr>
          <a:xfrm>
            <a:off x="9966690" y="1264157"/>
            <a:ext cx="1344217" cy="908452"/>
            <a:chOff x="8866868" y="1750372"/>
            <a:chExt cx="1792291" cy="1211269"/>
          </a:xfrm>
        </p:grpSpPr>
        <p:sp>
          <p:nvSpPr>
            <p:cNvPr id="240" name="Rectangle 106">
              <a:extLst>
                <a:ext uri="{FF2B5EF4-FFF2-40B4-BE49-F238E27FC236}">
                  <a16:creationId xmlns:a16="http://schemas.microsoft.com/office/drawing/2014/main" id="{6E5822A0-BC34-8444-893D-1967BA1DAE48}"/>
                </a:ext>
              </a:extLst>
            </p:cNvPr>
            <p:cNvSpPr>
              <a:spLocks noChangeArrowheads="1"/>
            </p:cNvSpPr>
            <p:nvPr/>
          </p:nvSpPr>
          <p:spPr bwMode="auto">
            <a:xfrm>
              <a:off x="9254218" y="1783710"/>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1"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019201" y="1750372"/>
              <a:ext cx="1282831"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SYN,Seq</a:t>
              </a:r>
              <a:r>
                <a:rPr lang="en-US" sz="1200" kern="0" dirty="0">
                  <a:solidFill>
                    <a:srgbClr val="000000"/>
                  </a:solidFill>
                  <a:latin typeface="Avenir Book" panose="020B0503020203020204" pitchFamily="34" charset="-78"/>
                  <a:cs typeface="Avenir Book" panose="020B0503020203020204" pitchFamily="34" charset="-78"/>
                </a:rPr>
                <a:t>=x</a:t>
              </a:r>
            </a:p>
          </p:txBody>
        </p:sp>
        <p:sp>
          <p:nvSpPr>
            <p:cNvPr id="242" name="Rectangle 108">
              <a:extLst>
                <a:ext uri="{FF2B5EF4-FFF2-40B4-BE49-F238E27FC236}">
                  <a16:creationId xmlns:a16="http://schemas.microsoft.com/office/drawing/2014/main" id="{0F092120-BA14-CA43-B320-651262EF6262}"/>
                </a:ext>
              </a:extLst>
            </p:cNvPr>
            <p:cNvSpPr>
              <a:spLocks noChangeArrowheads="1"/>
            </p:cNvSpPr>
            <p:nvPr/>
          </p:nvSpPr>
          <p:spPr bwMode="auto">
            <a:xfrm>
              <a:off x="9432018" y="2207572"/>
              <a:ext cx="439738"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47" name="Group 113">
              <a:extLst>
                <a:ext uri="{FF2B5EF4-FFF2-40B4-BE49-F238E27FC236}">
                  <a16:creationId xmlns:a16="http://schemas.microsoft.com/office/drawing/2014/main" id="{204BAA52-89B1-794F-88E6-9C5622E551C2}"/>
                </a:ext>
              </a:extLst>
            </p:cNvPr>
            <p:cNvGrpSpPr>
              <a:grpSpLocks/>
            </p:cNvGrpSpPr>
            <p:nvPr/>
          </p:nvGrpSpPr>
          <p:grpSpPr bwMode="auto">
            <a:xfrm>
              <a:off x="8866868" y="2345690"/>
              <a:ext cx="1792291" cy="615951"/>
              <a:chOff x="903" y="2085"/>
              <a:chExt cx="1129" cy="388"/>
            </a:xfrm>
          </p:grpSpPr>
          <p:sp>
            <p:nvSpPr>
              <p:cNvPr id="248" name="Rectangle 114">
                <a:extLst>
                  <a:ext uri="{FF2B5EF4-FFF2-40B4-BE49-F238E27FC236}">
                    <a16:creationId xmlns:a16="http://schemas.microsoft.com/office/drawing/2014/main" id="{C6D2B144-2FD8-974E-9CC8-AFFFEB74685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9"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903" y="2085"/>
                <a:ext cx="1129" cy="3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SYNACK,</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a:t>
                </a:r>
                <a:r>
                  <a:rPr lang="en-US" sz="1200" b="1" kern="0" dirty="0" err="1">
                    <a:solidFill>
                      <a:srgbClr val="FF0000"/>
                    </a:solidFill>
                    <a:latin typeface="Avenir Book" panose="020B0503020203020204" pitchFamily="34" charset="-78"/>
                    <a:cs typeface="Avenir Book" panose="020B0503020203020204" pitchFamily="34" charset="-78"/>
                  </a:rPr>
                  <a:t>y</a:t>
                </a:r>
                <a:r>
                  <a:rPr lang="en-US" sz="1200" kern="0" dirty="0" err="1">
                    <a:solidFill>
                      <a:srgbClr val="000000"/>
                    </a:solidFill>
                    <a:latin typeface="Avenir Book" panose="020B0503020203020204" pitchFamily="34" charset="-78"/>
                    <a:cs typeface="Avenir Book" panose="020B0503020203020204" pitchFamily="34" charset="-78"/>
                  </a:rPr>
                  <a:t>,ACK</a:t>
                </a:r>
                <a:r>
                  <a:rPr lang="en-US" sz="1200" kern="0" dirty="0">
                    <a:solidFill>
                      <a:srgbClr val="000000"/>
                    </a:solidFill>
                    <a:latin typeface="Avenir Book" panose="020B0503020203020204" pitchFamily="34" charset="-78"/>
                    <a:cs typeface="Avenir Book" panose="020B0503020203020204" pitchFamily="34" charset="-78"/>
                  </a:rPr>
                  <a:t>=x+1</a:t>
                </a:r>
              </a:p>
            </p:txBody>
          </p:sp>
        </p:grpSp>
      </p:grpSp>
      <p:sp>
        <p:nvSpPr>
          <p:cNvPr id="250"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867581" y="2221642"/>
            <a:ext cx="1316386"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ACK,Seq</a:t>
            </a:r>
            <a:r>
              <a:rPr lang="en-US" sz="1200" kern="0" dirty="0">
                <a:solidFill>
                  <a:srgbClr val="000000"/>
                </a:solidFill>
                <a:latin typeface="Avenir Book" panose="020B0503020203020204" pitchFamily="34" charset="-78"/>
                <a:cs typeface="Avenir Book" panose="020B0503020203020204" pitchFamily="34" charset="-78"/>
              </a:rPr>
              <a:t>=x+1,</a:t>
            </a:r>
          </a:p>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ACK=y+1,DATA</a:t>
            </a:r>
          </a:p>
        </p:txBody>
      </p:sp>
      <p:sp>
        <p:nvSpPr>
          <p:cNvPr id="251"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10129065" y="3290617"/>
            <a:ext cx="962122" cy="27699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SYN,Seq</a:t>
            </a:r>
            <a:r>
              <a:rPr lang="en-US" sz="1200" kern="0" dirty="0">
                <a:solidFill>
                  <a:srgbClr val="000000"/>
                </a:solidFill>
                <a:latin typeface="Avenir Book" panose="020B0503020203020204" pitchFamily="34" charset="-78"/>
                <a:cs typeface="Avenir Book" panose="020B0503020203020204" pitchFamily="34" charset="-78"/>
              </a:rPr>
              <a:t>=x</a:t>
            </a:r>
          </a:p>
        </p:txBody>
      </p:sp>
      <p:sp>
        <p:nvSpPr>
          <p:cNvPr id="252"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10018813" y="4124508"/>
            <a:ext cx="1335623"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SYNACK,</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a:t>
            </a:r>
            <a:r>
              <a:rPr lang="en-US" sz="1200" b="1" kern="0" dirty="0" err="1">
                <a:solidFill>
                  <a:srgbClr val="FF0000"/>
                </a:solidFill>
                <a:latin typeface="Avenir Book" panose="020B0503020203020204" pitchFamily="34" charset="-78"/>
                <a:cs typeface="Avenir Book" panose="020B0503020203020204" pitchFamily="34" charset="-78"/>
              </a:rPr>
              <a:t>z</a:t>
            </a:r>
            <a:r>
              <a:rPr lang="en-US" sz="1200" kern="0" dirty="0" err="1">
                <a:solidFill>
                  <a:srgbClr val="000000"/>
                </a:solidFill>
                <a:latin typeface="Avenir Book" panose="020B0503020203020204" pitchFamily="34" charset="-78"/>
                <a:cs typeface="Avenir Book" panose="020B0503020203020204" pitchFamily="34" charset="-78"/>
              </a:rPr>
              <a:t>,ACK</a:t>
            </a:r>
            <a:r>
              <a:rPr lang="en-US" sz="1200" kern="0" dirty="0">
                <a:solidFill>
                  <a:srgbClr val="000000"/>
                </a:solidFill>
                <a:latin typeface="Avenir Book" panose="020B0503020203020204" pitchFamily="34" charset="-78"/>
                <a:cs typeface="Avenir Book" panose="020B0503020203020204" pitchFamily="34" charset="-78"/>
              </a:rPr>
              <a:t>=x+1</a:t>
            </a:r>
          </a:p>
        </p:txBody>
      </p:sp>
      <p:sp>
        <p:nvSpPr>
          <p:cNvPr id="314" name="Line 156">
            <a:extLst>
              <a:ext uri="{FF2B5EF4-FFF2-40B4-BE49-F238E27FC236}">
                <a16:creationId xmlns:a16="http://schemas.microsoft.com/office/drawing/2014/main" id="{16ACB45E-8A1D-F74A-9C70-18C251DD28E3}"/>
              </a:ext>
            </a:extLst>
          </p:cNvPr>
          <p:cNvSpPr>
            <a:spLocks noChangeShapeType="1"/>
          </p:cNvSpPr>
          <p:nvPr/>
        </p:nvSpPr>
        <p:spPr bwMode="auto">
          <a:xfrm flipH="1">
            <a:off x="9985731" y="3943207"/>
            <a:ext cx="1178719" cy="716756"/>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15"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403969" y="3699350"/>
            <a:ext cx="1316386"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ACK,Seq</a:t>
            </a:r>
            <a:r>
              <a:rPr lang="en-US" sz="1200" kern="0" dirty="0">
                <a:solidFill>
                  <a:srgbClr val="000000"/>
                </a:solidFill>
                <a:latin typeface="Avenir Book" panose="020B0503020203020204" pitchFamily="34" charset="-78"/>
                <a:cs typeface="Avenir Book" panose="020B0503020203020204" pitchFamily="34" charset="-78"/>
              </a:rPr>
              <a:t>=x+1,</a:t>
            </a:r>
          </a:p>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ACK=y+1,DATA</a:t>
            </a:r>
          </a:p>
        </p:txBody>
      </p:sp>
      <p:sp>
        <p:nvSpPr>
          <p:cNvPr id="316" name="Line 104">
            <a:extLst>
              <a:ext uri="{FF2B5EF4-FFF2-40B4-BE49-F238E27FC236}">
                <a16:creationId xmlns:a16="http://schemas.microsoft.com/office/drawing/2014/main" id="{1CA9B668-6F05-1A48-9C2A-8D882F798CE6}"/>
              </a:ext>
            </a:extLst>
          </p:cNvPr>
          <p:cNvSpPr>
            <a:spLocks noChangeShapeType="1"/>
          </p:cNvSpPr>
          <p:nvPr/>
        </p:nvSpPr>
        <p:spPr bwMode="auto">
          <a:xfrm>
            <a:off x="9994438" y="4694909"/>
            <a:ext cx="1109661" cy="2369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17"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991360" y="4689629"/>
            <a:ext cx="1173719" cy="27699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b="1" kern="0" dirty="0">
                <a:solidFill>
                  <a:srgbClr val="FF0000"/>
                </a:solidFill>
                <a:latin typeface="Avenir Book" panose="020B0503020203020204" pitchFamily="34" charset="-78"/>
                <a:cs typeface="Avenir Book" panose="020B0503020203020204" pitchFamily="34" charset="-78"/>
              </a:rPr>
              <a:t>RST</a:t>
            </a:r>
            <a:r>
              <a:rPr lang="en-US" sz="1200" kern="0" dirty="0">
                <a:solidFill>
                  <a:srgbClr val="000000"/>
                </a:solidFill>
                <a:latin typeface="Avenir Book" panose="020B0503020203020204" pitchFamily="34" charset="-78"/>
                <a:cs typeface="Avenir Book" panose="020B0503020203020204" pitchFamily="34" charset="-78"/>
              </a:rPr>
              <a:t>,ACK=z+1</a:t>
            </a:r>
          </a:p>
        </p:txBody>
      </p:sp>
      <p:sp>
        <p:nvSpPr>
          <p:cNvPr id="4" name="Rectangle 3"/>
          <p:cNvSpPr/>
          <p:nvPr/>
        </p:nvSpPr>
        <p:spPr>
          <a:xfrm>
            <a:off x="9495025" y="4501059"/>
            <a:ext cx="502061" cy="369332"/>
          </a:xfrm>
          <a:prstGeom prst="rect">
            <a:avLst/>
          </a:prstGeom>
        </p:spPr>
        <p:txBody>
          <a:bodyPr wrap="none">
            <a:spAutoFit/>
          </a:bodyPr>
          <a:lstStyle/>
          <a:p>
            <a:r>
              <a:rPr lang="en-IN" altLang="en-US" dirty="0">
                <a:solidFill>
                  <a:srgbClr val="C00000"/>
                </a:solidFill>
                <a:latin typeface="Segoe UI Emoji" panose="020B0502040204020203" pitchFamily="34" charset="0"/>
                <a:ea typeface="Segoe UI Emoji" panose="020B0502040204020203" pitchFamily="34" charset="0"/>
              </a:rPr>
              <a:t>🤔</a:t>
            </a:r>
            <a:endParaRPr lang="en-IN" dirty="0"/>
          </a:p>
        </p:txBody>
      </p:sp>
      <p:sp>
        <p:nvSpPr>
          <p:cNvPr id="5" name="Rectangle 4"/>
          <p:cNvSpPr/>
          <p:nvPr/>
        </p:nvSpPr>
        <p:spPr>
          <a:xfrm>
            <a:off x="11087811" y="3973824"/>
            <a:ext cx="502061" cy="369332"/>
          </a:xfrm>
          <a:prstGeom prst="rect">
            <a:avLst/>
          </a:prstGeom>
        </p:spPr>
        <p:txBody>
          <a:bodyPr wrap="none">
            <a:spAutoFit/>
          </a:bodyPr>
          <a:lstStyle/>
          <a:p>
            <a:r>
              <a:rPr lang="en-IN" altLang="en-US" dirty="0">
                <a:solidFill>
                  <a:srgbClr val="C00000"/>
                </a:solidFill>
                <a:latin typeface="Segoe UI Emoji" panose="020B0502040204020203" pitchFamily="34" charset="0"/>
                <a:ea typeface="Segoe UI Emoji" panose="020B0502040204020203" pitchFamily="34" charset="0"/>
              </a:rPr>
              <a:t>🤔</a:t>
            </a:r>
            <a:endParaRPr lang="en-IN" dirty="0"/>
          </a:p>
        </p:txBody>
      </p:sp>
      <p:sp>
        <p:nvSpPr>
          <p:cNvPr id="318" name="TextBox 317"/>
          <p:cNvSpPr txBox="1"/>
          <p:nvPr/>
        </p:nvSpPr>
        <p:spPr>
          <a:xfrm>
            <a:off x="513807" y="3662843"/>
            <a:ext cx="4608442" cy="830997"/>
          </a:xfrm>
          <a:prstGeom prst="rect">
            <a:avLst/>
          </a:prstGeom>
          <a:noFill/>
        </p:spPr>
        <p:txBody>
          <a:bodyPr wrap="square" rtlCol="0">
            <a:spAutoFit/>
          </a:bodyPr>
          <a:lstStyle/>
          <a:p>
            <a:r>
              <a:rPr lang="en-IN" sz="2400" dirty="0">
                <a:solidFill>
                  <a:srgbClr val="0000FF"/>
                </a:solidFill>
                <a:latin typeface="Avenir Book" panose="020B0503020203020204" pitchFamily="34" charset="-78"/>
                <a:cs typeface="Avenir Book" panose="020B0503020203020204" pitchFamily="34" charset="-78"/>
              </a:rPr>
              <a:t>How it will solve the </a:t>
            </a:r>
            <a:r>
              <a:rPr lang="en-IN" sz="2400" dirty="0">
                <a:solidFill>
                  <a:srgbClr val="C00000"/>
                </a:solidFill>
                <a:latin typeface="Avenir Book" panose="020B0503020203020204" pitchFamily="34" charset="-78"/>
                <a:cs typeface="Avenir Book" panose="020B0503020203020204" pitchFamily="34" charset="-78"/>
              </a:rPr>
              <a:t>“duplicate data accept”</a:t>
            </a:r>
            <a:r>
              <a:rPr lang="en-IN" sz="2400" dirty="0">
                <a:solidFill>
                  <a:srgbClr val="0000FF"/>
                </a:solidFill>
                <a:latin typeface="Avenir Book" panose="020B0503020203020204" pitchFamily="34" charset="-78"/>
                <a:cs typeface="Avenir Book" panose="020B0503020203020204" pitchFamily="34" charset="-78"/>
              </a:rPr>
              <a:t> problem?</a:t>
            </a:r>
          </a:p>
        </p:txBody>
      </p:sp>
      <p:sp>
        <p:nvSpPr>
          <p:cNvPr id="214"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1128945" y="3616676"/>
            <a:ext cx="59343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SYN </a:t>
            </a:r>
          </a:p>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RCVD</a:t>
            </a:r>
          </a:p>
        </p:txBody>
      </p:sp>
      <p:sp>
        <p:nvSpPr>
          <p:cNvPr id="215"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1145656" y="1396145"/>
            <a:ext cx="59343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SYN </a:t>
            </a:r>
          </a:p>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RCVD</a:t>
            </a:r>
          </a:p>
        </p:txBody>
      </p:sp>
    </p:spTree>
    <p:extLst>
      <p:ext uri="{BB962C8B-B14F-4D97-AF65-F5344CB8AC3E}">
        <p14:creationId xmlns:p14="http://schemas.microsoft.com/office/powerpoint/2010/main" val="868283893"/>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188031" y="177023"/>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Initial Sequence Number</a:t>
            </a:r>
          </a:p>
        </p:txBody>
      </p:sp>
      <p:sp>
        <p:nvSpPr>
          <p:cNvPr id="3" name="Rectangle 63">
            <a:extLst>
              <a:ext uri="{FF2B5EF4-FFF2-40B4-BE49-F238E27FC236}">
                <a16:creationId xmlns:a16="http://schemas.microsoft.com/office/drawing/2014/main" id="{B7868940-CBBF-48D0-F132-2DB4A68D3A47}"/>
              </a:ext>
            </a:extLst>
          </p:cNvPr>
          <p:cNvSpPr txBox="1">
            <a:spLocks noChangeArrowheads="1"/>
          </p:cNvSpPr>
          <p:nvPr/>
        </p:nvSpPr>
        <p:spPr bwMode="auto">
          <a:xfrm>
            <a:off x="597742" y="1219154"/>
            <a:ext cx="4889688" cy="31964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buNone/>
              <a:defRPr/>
            </a:pPr>
            <a:r>
              <a:rPr lang="en-US" altLang="en-US" sz="24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Initial sequence numbers are chosen </a:t>
            </a:r>
            <a:r>
              <a:rPr lang="en-US" altLang="en-US" sz="2400" kern="0" dirty="0">
                <a:solidFill>
                  <a:srgbClr val="0000FF"/>
                </a:solidFill>
                <a:latin typeface="Avenir Book" panose="020B0503020203020204" pitchFamily="34" charset="-78"/>
                <a:ea typeface="ＭＳ Ｐゴシック" panose="020B0600070205080204" pitchFamily="34" charset="-128"/>
                <a:cs typeface="Avenir Book" panose="020B0503020203020204" pitchFamily="34" charset="-78"/>
              </a:rPr>
              <a:t>randomly</a:t>
            </a:r>
          </a:p>
          <a:p>
            <a:pPr marL="259556" indent="-209550" defTabSz="685800">
              <a:lnSpc>
                <a:spcPct val="90000"/>
              </a:lnSpc>
              <a:defRPr/>
            </a:pPr>
            <a:r>
              <a:rPr lang="en-US" altLang="en-US" sz="2100" kern="0" dirty="0">
                <a:solidFill>
                  <a:srgbClr val="C00000"/>
                </a:solidFill>
                <a:latin typeface="Avenir Book" panose="020B0503020203020204" pitchFamily="34" charset="-78"/>
                <a:ea typeface="ＭＳ Ｐゴシック" panose="020B0600070205080204" pitchFamily="34" charset="-128"/>
                <a:cs typeface="Avenir Book" panose="020B0503020203020204" pitchFamily="34" charset="-78"/>
              </a:rPr>
              <a:t>Why not 0?</a:t>
            </a:r>
          </a:p>
          <a:p>
            <a:pPr marL="662781" lvl="1" indent="-209550" defTabSz="685800">
              <a:lnSpc>
                <a:spcPct val="90000"/>
              </a:lnSpc>
              <a:defRPr/>
            </a:pPr>
            <a:r>
              <a:rPr lang="en-US" altLang="en-US" sz="17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Segments of different connections can get mixed up</a:t>
            </a:r>
          </a:p>
          <a:p>
            <a:pPr marL="662781" lvl="1" indent="-209550" defTabSz="685800">
              <a:lnSpc>
                <a:spcPct val="90000"/>
              </a:lnSpc>
              <a:defRPr/>
            </a:pPr>
            <a:r>
              <a:rPr lang="en-US" altLang="en-US" sz="17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rPr>
              <a:t>Security issues when sequence numbers are predictable</a:t>
            </a:r>
          </a:p>
          <a:p>
            <a:pPr marL="50006" indent="0" defTabSz="685800">
              <a:lnSpc>
                <a:spcPct val="90000"/>
              </a:lnSpc>
              <a:buNone/>
              <a:defRPr/>
            </a:pPr>
            <a:endParaRPr lang="en-US" altLang="en-US" sz="2100" kern="0" dirty="0">
              <a:solidFill>
                <a:prstClr val="black"/>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81" name="Group 80">
            <a:extLst>
              <a:ext uri="{FF2B5EF4-FFF2-40B4-BE49-F238E27FC236}">
                <a16:creationId xmlns:a16="http://schemas.microsoft.com/office/drawing/2014/main" id="{9CAAA66F-65EC-E34C-8D40-259E21717735}"/>
              </a:ext>
            </a:extLst>
          </p:cNvPr>
          <p:cNvGrpSpPr/>
          <p:nvPr/>
        </p:nvGrpSpPr>
        <p:grpSpPr>
          <a:xfrm>
            <a:off x="6730477" y="1280296"/>
            <a:ext cx="1153193" cy="3825550"/>
            <a:chOff x="5269383" y="2475193"/>
            <a:chExt cx="1537590" cy="2910061"/>
          </a:xfrm>
        </p:grpSpPr>
        <p:sp>
          <p:nvSpPr>
            <p:cNvPr id="82" name="Line 25">
              <a:extLst>
                <a:ext uri="{FF2B5EF4-FFF2-40B4-BE49-F238E27FC236}">
                  <a16:creationId xmlns:a16="http://schemas.microsoft.com/office/drawing/2014/main" id="{BC6653C1-9562-C643-B0CA-B2050012CB3F}"/>
                </a:ext>
              </a:extLst>
            </p:cNvPr>
            <p:cNvSpPr>
              <a:spLocks noChangeShapeType="1"/>
            </p:cNvSpPr>
            <p:nvPr/>
          </p:nvSpPr>
          <p:spPr bwMode="auto">
            <a:xfrm flipH="1">
              <a:off x="5269383" y="2475193"/>
              <a:ext cx="8825" cy="2910061"/>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83" name="Line 39">
              <a:extLst>
                <a:ext uri="{FF2B5EF4-FFF2-40B4-BE49-F238E27FC236}">
                  <a16:creationId xmlns:a16="http://schemas.microsoft.com/office/drawing/2014/main" id="{315091FE-FBA3-1544-BB24-018D1D00254A}"/>
                </a:ext>
              </a:extLst>
            </p:cNvPr>
            <p:cNvSpPr>
              <a:spLocks noChangeShapeType="1"/>
            </p:cNvSpPr>
            <p:nvPr/>
          </p:nvSpPr>
          <p:spPr bwMode="auto">
            <a:xfrm flipH="1">
              <a:off x="6792914" y="2548218"/>
              <a:ext cx="14059" cy="2837036"/>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nvGrpSpPr>
          <p:cNvPr id="84" name="Group 83">
            <a:extLst>
              <a:ext uri="{FF2B5EF4-FFF2-40B4-BE49-F238E27FC236}">
                <a16:creationId xmlns:a16="http://schemas.microsoft.com/office/drawing/2014/main" id="{D58C52DC-C8FA-4944-8CC4-85815AC982E1}"/>
              </a:ext>
            </a:extLst>
          </p:cNvPr>
          <p:cNvGrpSpPr/>
          <p:nvPr/>
        </p:nvGrpSpPr>
        <p:grpSpPr>
          <a:xfrm>
            <a:off x="7865650" y="3791277"/>
            <a:ext cx="699915" cy="276999"/>
            <a:chOff x="11151735" y="5123971"/>
            <a:chExt cx="933219" cy="369332"/>
          </a:xfrm>
        </p:grpSpPr>
        <p:sp>
          <p:nvSpPr>
            <p:cNvPr id="85" name="Text Box 44">
              <a:extLst>
                <a:ext uri="{FF2B5EF4-FFF2-40B4-BE49-F238E27FC236}">
                  <a16:creationId xmlns:a16="http://schemas.microsoft.com/office/drawing/2014/main" id="{44C9896B-08D9-DD4F-A1D1-E6EE31E997B0}"/>
                </a:ext>
              </a:extLst>
            </p:cNvPr>
            <p:cNvSpPr txBox="1">
              <a:spLocks noChangeArrowheads="1"/>
            </p:cNvSpPr>
            <p:nvPr/>
          </p:nvSpPr>
          <p:spPr bwMode="auto">
            <a:xfrm>
              <a:off x="11216768" y="5123971"/>
              <a:ext cx="86818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ESTAB</a:t>
              </a:r>
            </a:p>
          </p:txBody>
        </p:sp>
        <p:sp>
          <p:nvSpPr>
            <p:cNvPr id="86" name="Oval 45">
              <a:extLst>
                <a:ext uri="{FF2B5EF4-FFF2-40B4-BE49-F238E27FC236}">
                  <a16:creationId xmlns:a16="http://schemas.microsoft.com/office/drawing/2014/main" id="{523A6BAB-2B5B-8B48-B14C-CD5B3206CAA2}"/>
                </a:ext>
              </a:extLst>
            </p:cNvPr>
            <p:cNvSpPr>
              <a:spLocks noChangeArrowheads="1"/>
            </p:cNvSpPr>
            <p:nvPr/>
          </p:nvSpPr>
          <p:spPr bwMode="auto">
            <a:xfrm>
              <a:off x="11151735" y="5275718"/>
              <a:ext cx="90487"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grpSp>
        <p:nvGrpSpPr>
          <p:cNvPr id="87" name="Group 86">
            <a:extLst>
              <a:ext uri="{FF2B5EF4-FFF2-40B4-BE49-F238E27FC236}">
                <a16:creationId xmlns:a16="http://schemas.microsoft.com/office/drawing/2014/main" id="{BF5066A4-7FFD-3447-A085-E135DC48118A}"/>
              </a:ext>
            </a:extLst>
          </p:cNvPr>
          <p:cNvGrpSpPr/>
          <p:nvPr/>
        </p:nvGrpSpPr>
        <p:grpSpPr>
          <a:xfrm>
            <a:off x="5731190" y="1798864"/>
            <a:ext cx="2188369" cy="2137174"/>
            <a:chOff x="8276771" y="2492829"/>
            <a:chExt cx="2917826" cy="2849565"/>
          </a:xfrm>
        </p:grpSpPr>
        <p:sp>
          <p:nvSpPr>
            <p:cNvPr id="88" name="Text Box 42">
              <a:extLst>
                <a:ext uri="{FF2B5EF4-FFF2-40B4-BE49-F238E27FC236}">
                  <a16:creationId xmlns:a16="http://schemas.microsoft.com/office/drawing/2014/main" id="{8B0E3738-2A2C-C540-B07D-16F35D1B7460}"/>
                </a:ext>
              </a:extLst>
            </p:cNvPr>
            <p:cNvSpPr txBox="1">
              <a:spLocks noChangeArrowheads="1"/>
            </p:cNvSpPr>
            <p:nvPr/>
          </p:nvSpPr>
          <p:spPr bwMode="auto">
            <a:xfrm>
              <a:off x="8276771" y="2492829"/>
              <a:ext cx="1349376"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SYN</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89" name="Freeform 43">
              <a:extLst>
                <a:ext uri="{FF2B5EF4-FFF2-40B4-BE49-F238E27FC236}">
                  <a16:creationId xmlns:a16="http://schemas.microsoft.com/office/drawing/2014/main" id="{528F5849-C9BA-364B-BBF1-086991584A75}"/>
                </a:ext>
              </a:extLst>
            </p:cNvPr>
            <p:cNvSpPr>
              <a:spLocks/>
            </p:cNvSpPr>
            <p:nvPr/>
          </p:nvSpPr>
          <p:spPr bwMode="auto">
            <a:xfrm>
              <a:off x="9667423" y="2783342"/>
              <a:ext cx="1527174" cy="255905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90" name="Group 93">
            <a:extLst>
              <a:ext uri="{FF2B5EF4-FFF2-40B4-BE49-F238E27FC236}">
                <a16:creationId xmlns:a16="http://schemas.microsoft.com/office/drawing/2014/main" id="{86B69F27-A994-CA47-985C-04430FA1972B}"/>
              </a:ext>
            </a:extLst>
          </p:cNvPr>
          <p:cNvGrpSpPr>
            <a:grpSpLocks/>
          </p:cNvGrpSpPr>
          <p:nvPr/>
        </p:nvGrpSpPr>
        <p:grpSpPr bwMode="auto">
          <a:xfrm>
            <a:off x="5788340" y="2885084"/>
            <a:ext cx="2952751" cy="561975"/>
            <a:chOff x="339" y="2807"/>
            <a:chExt cx="2480" cy="472"/>
          </a:xfrm>
        </p:grpSpPr>
        <p:sp>
          <p:nvSpPr>
            <p:cNvPr id="91" name="Line 40">
              <a:extLst>
                <a:ext uri="{FF2B5EF4-FFF2-40B4-BE49-F238E27FC236}">
                  <a16:creationId xmlns:a16="http://schemas.microsoft.com/office/drawing/2014/main" id="{C5AE8131-69E2-444B-8BC2-5C71A372218D}"/>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2" name="Text Box 83">
              <a:extLst>
                <a:ext uri="{FF2B5EF4-FFF2-40B4-BE49-F238E27FC236}">
                  <a16:creationId xmlns:a16="http://schemas.microsoft.com/office/drawing/2014/main" id="{8DBECFE4-76F0-AB4E-B789-A21C0EFCB611}"/>
                </a:ext>
              </a:extLst>
            </p:cNvPr>
            <p:cNvSpPr txBox="1">
              <a:spLocks noChangeArrowheads="1"/>
            </p:cNvSpPr>
            <p:nvPr/>
          </p:nvSpPr>
          <p:spPr bwMode="auto">
            <a:xfrm>
              <a:off x="339" y="2937"/>
              <a:ext cx="805"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client terminates</a:t>
              </a:r>
            </a:p>
          </p:txBody>
        </p:sp>
        <p:sp>
          <p:nvSpPr>
            <p:cNvPr id="93" name="Text Box 84">
              <a:extLst>
                <a:ext uri="{FF2B5EF4-FFF2-40B4-BE49-F238E27FC236}">
                  <a16:creationId xmlns:a16="http://schemas.microsoft.com/office/drawing/2014/main" id="{01770E8E-591E-3449-B45B-86CFA7116170}"/>
                </a:ext>
              </a:extLst>
            </p:cNvPr>
            <p:cNvSpPr txBox="1">
              <a:spLocks noChangeArrowheads="1"/>
            </p:cNvSpPr>
            <p:nvPr/>
          </p:nvSpPr>
          <p:spPr bwMode="auto">
            <a:xfrm>
              <a:off x="2081" y="2938"/>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server</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forgets x</a:t>
              </a:r>
            </a:p>
          </p:txBody>
        </p:sp>
        <p:sp>
          <p:nvSpPr>
            <p:cNvPr id="94" name="Text Box 85">
              <a:extLst>
                <a:ext uri="{FF2B5EF4-FFF2-40B4-BE49-F238E27FC236}">
                  <a16:creationId xmlns:a16="http://schemas.microsoft.com/office/drawing/2014/main" id="{6398E97B-6925-E144-A17A-19BDFF67AF27}"/>
                </a:ext>
              </a:extLst>
            </p:cNvPr>
            <p:cNvSpPr txBox="1">
              <a:spLocks noChangeArrowheads="1"/>
            </p:cNvSpPr>
            <p:nvPr/>
          </p:nvSpPr>
          <p:spPr bwMode="auto">
            <a:xfrm>
              <a:off x="1239" y="2807"/>
              <a:ext cx="766" cy="32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connection </a:t>
              </a:r>
            </a:p>
            <a:p>
              <a:pPr algn="ctr" defTabSz="685800" eaLnBrk="0" fontAlgn="base" hangingPunct="0">
                <a:lnSpc>
                  <a:spcPct val="90000"/>
                </a:lnSpc>
                <a:spcBef>
                  <a:spcPct val="0"/>
                </a:spcBef>
                <a:spcAft>
                  <a:spcPct val="0"/>
                </a:spcAft>
                <a:defRPr/>
              </a:pPr>
              <a:r>
                <a:rPr lang="en-US" sz="1050" kern="0" dirty="0">
                  <a:solidFill>
                    <a:srgbClr val="000000"/>
                  </a:solidFill>
                  <a:latin typeface="Avenir Book" panose="020B0503020203020204" pitchFamily="34" charset="-78"/>
                  <a:cs typeface="Avenir Book" panose="020B0503020203020204" pitchFamily="34" charset="-78"/>
                </a:rPr>
                <a:t>x completes</a:t>
              </a:r>
            </a:p>
          </p:txBody>
        </p:sp>
      </p:grpSp>
      <p:grpSp>
        <p:nvGrpSpPr>
          <p:cNvPr id="95" name="Group 94">
            <a:extLst>
              <a:ext uri="{FF2B5EF4-FFF2-40B4-BE49-F238E27FC236}">
                <a16:creationId xmlns:a16="http://schemas.microsoft.com/office/drawing/2014/main" id="{09A60973-A80A-204A-B7D6-FB475901ED33}"/>
              </a:ext>
            </a:extLst>
          </p:cNvPr>
          <p:cNvGrpSpPr/>
          <p:nvPr/>
        </p:nvGrpSpPr>
        <p:grpSpPr>
          <a:xfrm>
            <a:off x="5891854" y="1277742"/>
            <a:ext cx="2642249" cy="1278315"/>
            <a:chOff x="7779797" y="1602735"/>
            <a:chExt cx="3523002" cy="1704419"/>
          </a:xfrm>
        </p:grpSpPr>
        <p:sp>
          <p:nvSpPr>
            <p:cNvPr id="96" name="Text Box 103">
              <a:extLst>
                <a:ext uri="{FF2B5EF4-FFF2-40B4-BE49-F238E27FC236}">
                  <a16:creationId xmlns:a16="http://schemas.microsoft.com/office/drawing/2014/main" id="{27DD0EE7-74A0-A142-919B-D9D3C93523C2}"/>
                </a:ext>
              </a:extLst>
            </p:cNvPr>
            <p:cNvSpPr txBox="1">
              <a:spLocks noChangeArrowheads="1"/>
            </p:cNvSpPr>
            <p:nvPr/>
          </p:nvSpPr>
          <p:spPr bwMode="auto">
            <a:xfrm>
              <a:off x="7779797" y="1602735"/>
              <a:ext cx="1058496" cy="6155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choose x</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97" name="Line 104">
              <a:extLst>
                <a:ext uri="{FF2B5EF4-FFF2-40B4-BE49-F238E27FC236}">
                  <a16:creationId xmlns:a16="http://schemas.microsoft.com/office/drawing/2014/main" id="{1CA9B668-6F05-1A48-9C2A-8D882F798CE6}"/>
                </a:ext>
              </a:extLst>
            </p:cNvPr>
            <p:cNvSpPr>
              <a:spLocks noChangeShapeType="1"/>
            </p:cNvSpPr>
            <p:nvPr/>
          </p:nvSpPr>
          <p:spPr bwMode="auto">
            <a:xfrm>
              <a:off x="8936718" y="1797997"/>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8" name="Line 105">
              <a:extLst>
                <a:ext uri="{FF2B5EF4-FFF2-40B4-BE49-F238E27FC236}">
                  <a16:creationId xmlns:a16="http://schemas.microsoft.com/office/drawing/2014/main" id="{419290E8-9A2F-1349-8BDC-8DFEA6A57E20}"/>
                </a:ext>
              </a:extLst>
            </p:cNvPr>
            <p:cNvSpPr>
              <a:spLocks noChangeShapeType="1"/>
            </p:cNvSpPr>
            <p:nvPr/>
          </p:nvSpPr>
          <p:spPr bwMode="auto">
            <a:xfrm flipH="1">
              <a:off x="8876393" y="2152010"/>
              <a:ext cx="1571625" cy="95567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99" name="Rectangle 106">
              <a:extLst>
                <a:ext uri="{FF2B5EF4-FFF2-40B4-BE49-F238E27FC236}">
                  <a16:creationId xmlns:a16="http://schemas.microsoft.com/office/drawing/2014/main" id="{6E5822A0-BC34-8444-893D-1967BA1DAE48}"/>
                </a:ext>
              </a:extLst>
            </p:cNvPr>
            <p:cNvSpPr>
              <a:spLocks noChangeArrowheads="1"/>
            </p:cNvSpPr>
            <p:nvPr/>
          </p:nvSpPr>
          <p:spPr bwMode="auto">
            <a:xfrm>
              <a:off x="9254218" y="1783710"/>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0"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019201" y="1750372"/>
              <a:ext cx="1282831"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SYN,Seq</a:t>
              </a:r>
              <a:r>
                <a:rPr lang="en-US" sz="1200" kern="0" dirty="0">
                  <a:solidFill>
                    <a:srgbClr val="000000"/>
                  </a:solidFill>
                  <a:latin typeface="Avenir Book" panose="020B0503020203020204" pitchFamily="34" charset="-78"/>
                  <a:cs typeface="Avenir Book" panose="020B0503020203020204" pitchFamily="34" charset="-78"/>
                </a:rPr>
                <a:t>=x</a:t>
              </a:r>
            </a:p>
          </p:txBody>
        </p:sp>
        <p:sp>
          <p:nvSpPr>
            <p:cNvPr id="101" name="Rectangle 108">
              <a:extLst>
                <a:ext uri="{FF2B5EF4-FFF2-40B4-BE49-F238E27FC236}">
                  <a16:creationId xmlns:a16="http://schemas.microsoft.com/office/drawing/2014/main" id="{0F092120-BA14-CA43-B320-651262EF6262}"/>
                </a:ext>
              </a:extLst>
            </p:cNvPr>
            <p:cNvSpPr>
              <a:spLocks noChangeArrowheads="1"/>
            </p:cNvSpPr>
            <p:nvPr/>
          </p:nvSpPr>
          <p:spPr bwMode="auto">
            <a:xfrm>
              <a:off x="9432018" y="2207572"/>
              <a:ext cx="439738"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2"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0434612" y="2009135"/>
              <a:ext cx="868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103" name="Text Box 110">
              <a:extLst>
                <a:ext uri="{FF2B5EF4-FFF2-40B4-BE49-F238E27FC236}">
                  <a16:creationId xmlns:a16="http://schemas.microsoft.com/office/drawing/2014/main" id="{8653D286-5C97-A747-BA85-93954395E4EE}"/>
                </a:ext>
              </a:extLst>
            </p:cNvPr>
            <p:cNvSpPr txBox="1">
              <a:spLocks noChangeArrowheads="1"/>
            </p:cNvSpPr>
            <p:nvPr/>
          </p:nvSpPr>
          <p:spPr bwMode="auto">
            <a:xfrm>
              <a:off x="7973989" y="2937822"/>
              <a:ext cx="868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104" name="Oval 111">
              <a:extLst>
                <a:ext uri="{FF2B5EF4-FFF2-40B4-BE49-F238E27FC236}">
                  <a16:creationId xmlns:a16="http://schemas.microsoft.com/office/drawing/2014/main" id="{300C99E0-DB04-CE43-BF80-AA9266EE3E52}"/>
                </a:ext>
              </a:extLst>
            </p:cNvPr>
            <p:cNvSpPr>
              <a:spLocks noChangeArrowheads="1"/>
            </p:cNvSpPr>
            <p:nvPr/>
          </p:nvSpPr>
          <p:spPr bwMode="auto">
            <a:xfrm>
              <a:off x="8835118" y="3039422"/>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105" name="Oval 112">
              <a:extLst>
                <a:ext uri="{FF2B5EF4-FFF2-40B4-BE49-F238E27FC236}">
                  <a16:creationId xmlns:a16="http://schemas.microsoft.com/office/drawing/2014/main" id="{55BCC378-2E90-C548-84E6-682C16C047D2}"/>
                </a:ext>
              </a:extLst>
            </p:cNvPr>
            <p:cNvSpPr>
              <a:spLocks noChangeArrowheads="1"/>
            </p:cNvSpPr>
            <p:nvPr/>
          </p:nvSpPr>
          <p:spPr bwMode="auto">
            <a:xfrm>
              <a:off x="10374993" y="2126610"/>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nvGrpSpPr>
            <p:cNvPr id="106" name="Group 113">
              <a:extLst>
                <a:ext uri="{FF2B5EF4-FFF2-40B4-BE49-F238E27FC236}">
                  <a16:creationId xmlns:a16="http://schemas.microsoft.com/office/drawing/2014/main" id="{204BAA52-89B1-794F-88E6-9C5622E551C2}"/>
                </a:ext>
              </a:extLst>
            </p:cNvPr>
            <p:cNvGrpSpPr>
              <a:grpSpLocks/>
            </p:cNvGrpSpPr>
            <p:nvPr/>
          </p:nvGrpSpPr>
          <p:grpSpPr bwMode="auto">
            <a:xfrm>
              <a:off x="8866868" y="2345690"/>
              <a:ext cx="1792291" cy="615951"/>
              <a:chOff x="903" y="2085"/>
              <a:chExt cx="1129" cy="388"/>
            </a:xfrm>
          </p:grpSpPr>
          <p:sp>
            <p:nvSpPr>
              <p:cNvPr id="107" name="Rectangle 114">
                <a:extLst>
                  <a:ext uri="{FF2B5EF4-FFF2-40B4-BE49-F238E27FC236}">
                    <a16:creationId xmlns:a16="http://schemas.microsoft.com/office/drawing/2014/main" id="{C6D2B144-2FD8-974E-9CC8-AFFFEB74685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08"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903" y="2085"/>
                <a:ext cx="1129" cy="3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SYNACK,</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a:t>
                </a:r>
                <a:r>
                  <a:rPr lang="en-US" sz="1200" b="1" kern="0" dirty="0" err="1">
                    <a:solidFill>
                      <a:srgbClr val="FF0000"/>
                    </a:solidFill>
                    <a:latin typeface="Avenir Book" panose="020B0503020203020204" pitchFamily="34" charset="-78"/>
                    <a:cs typeface="Avenir Book" panose="020B0503020203020204" pitchFamily="34" charset="-78"/>
                  </a:rPr>
                  <a:t>y</a:t>
                </a:r>
                <a:r>
                  <a:rPr lang="en-US" sz="1200" kern="0" dirty="0" err="1">
                    <a:solidFill>
                      <a:srgbClr val="000000"/>
                    </a:solidFill>
                    <a:latin typeface="Avenir Book" panose="020B0503020203020204" pitchFamily="34" charset="-78"/>
                    <a:cs typeface="Avenir Book" panose="020B0503020203020204" pitchFamily="34" charset="-78"/>
                  </a:rPr>
                  <a:t>,ACK</a:t>
                </a:r>
                <a:r>
                  <a:rPr lang="en-US" sz="1200" kern="0" dirty="0">
                    <a:solidFill>
                      <a:srgbClr val="000000"/>
                    </a:solidFill>
                    <a:latin typeface="Avenir Book" panose="020B0503020203020204" pitchFamily="34" charset="-78"/>
                    <a:cs typeface="Avenir Book" panose="020B0503020203020204" pitchFamily="34" charset="-78"/>
                  </a:rPr>
                  <a:t>=x+1</a:t>
                </a:r>
              </a:p>
            </p:txBody>
          </p:sp>
        </p:grpSp>
      </p:grpSp>
      <p:grpSp>
        <p:nvGrpSpPr>
          <p:cNvPr id="109" name="Group 116">
            <a:extLst>
              <a:ext uri="{FF2B5EF4-FFF2-40B4-BE49-F238E27FC236}">
                <a16:creationId xmlns:a16="http://schemas.microsoft.com/office/drawing/2014/main" id="{80C83854-C77F-BA47-9721-52914A496B51}"/>
              </a:ext>
            </a:extLst>
          </p:cNvPr>
          <p:cNvGrpSpPr>
            <a:grpSpLocks/>
          </p:cNvGrpSpPr>
          <p:nvPr/>
        </p:nvGrpSpPr>
        <p:grpSpPr bwMode="auto">
          <a:xfrm>
            <a:off x="6448798" y="866976"/>
            <a:ext cx="465535" cy="365522"/>
            <a:chOff x="-44" y="1473"/>
            <a:chExt cx="981" cy="1105"/>
          </a:xfrm>
        </p:grpSpPr>
        <p:pic>
          <p:nvPicPr>
            <p:cNvPr id="110" name="Picture 117" descr="desktop_computer_stylized_medium">
              <a:extLst>
                <a:ext uri="{FF2B5EF4-FFF2-40B4-BE49-F238E27FC236}">
                  <a16:creationId xmlns:a16="http://schemas.microsoft.com/office/drawing/2014/main" id="{FE9AA7D5-5E43-A948-A974-AB4C6A011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 name="Freeform 118">
              <a:extLst>
                <a:ext uri="{FF2B5EF4-FFF2-40B4-BE49-F238E27FC236}">
                  <a16:creationId xmlns:a16="http://schemas.microsoft.com/office/drawing/2014/main" id="{E2235674-3CC8-FA49-8410-24EA9726B2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112" name="Group 119">
            <a:extLst>
              <a:ext uri="{FF2B5EF4-FFF2-40B4-BE49-F238E27FC236}">
                <a16:creationId xmlns:a16="http://schemas.microsoft.com/office/drawing/2014/main" id="{20AAAB4F-DE43-4840-934B-1D6561325F75}"/>
              </a:ext>
            </a:extLst>
          </p:cNvPr>
          <p:cNvGrpSpPr>
            <a:grpSpLocks/>
          </p:cNvGrpSpPr>
          <p:nvPr/>
        </p:nvGrpSpPr>
        <p:grpSpPr bwMode="auto">
          <a:xfrm>
            <a:off x="7804919" y="852689"/>
            <a:ext cx="252413" cy="384572"/>
            <a:chOff x="4140" y="429"/>
            <a:chExt cx="1425" cy="2396"/>
          </a:xfrm>
        </p:grpSpPr>
        <p:sp>
          <p:nvSpPr>
            <p:cNvPr id="113" name="Freeform 120">
              <a:extLst>
                <a:ext uri="{FF2B5EF4-FFF2-40B4-BE49-F238E27FC236}">
                  <a16:creationId xmlns:a16="http://schemas.microsoft.com/office/drawing/2014/main" id="{5DB74304-D404-914A-B276-40CA04FC1311}"/>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14" name="Rectangle 121">
              <a:extLst>
                <a:ext uri="{FF2B5EF4-FFF2-40B4-BE49-F238E27FC236}">
                  <a16:creationId xmlns:a16="http://schemas.microsoft.com/office/drawing/2014/main" id="{4478CCC0-71C5-0742-833B-39071606459A}"/>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15" name="Freeform 122">
              <a:extLst>
                <a:ext uri="{FF2B5EF4-FFF2-40B4-BE49-F238E27FC236}">
                  <a16:creationId xmlns:a16="http://schemas.microsoft.com/office/drawing/2014/main" id="{773F3087-0AEC-3244-AE9B-B906345E8CA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16" name="Freeform 123">
              <a:extLst>
                <a:ext uri="{FF2B5EF4-FFF2-40B4-BE49-F238E27FC236}">
                  <a16:creationId xmlns:a16="http://schemas.microsoft.com/office/drawing/2014/main" id="{6D261F9A-FEF5-2C48-A572-F9AEEE61C84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17" name="Rectangle 124">
              <a:extLst>
                <a:ext uri="{FF2B5EF4-FFF2-40B4-BE49-F238E27FC236}">
                  <a16:creationId xmlns:a16="http://schemas.microsoft.com/office/drawing/2014/main" id="{D7A88CB8-3019-0847-8D63-FB56841E8488}"/>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18" name="Group 125">
              <a:extLst>
                <a:ext uri="{FF2B5EF4-FFF2-40B4-BE49-F238E27FC236}">
                  <a16:creationId xmlns:a16="http://schemas.microsoft.com/office/drawing/2014/main" id="{92427F18-D9EB-5F4E-A265-DCBE0DDFDD70}"/>
                </a:ext>
              </a:extLst>
            </p:cNvPr>
            <p:cNvGrpSpPr>
              <a:grpSpLocks/>
            </p:cNvGrpSpPr>
            <p:nvPr/>
          </p:nvGrpSpPr>
          <p:grpSpPr bwMode="auto">
            <a:xfrm>
              <a:off x="4749" y="668"/>
              <a:ext cx="581" cy="145"/>
              <a:chOff x="614" y="2568"/>
              <a:chExt cx="725" cy="139"/>
            </a:xfrm>
          </p:grpSpPr>
          <p:sp>
            <p:nvSpPr>
              <p:cNvPr id="143" name="AutoShape 126">
                <a:extLst>
                  <a:ext uri="{FF2B5EF4-FFF2-40B4-BE49-F238E27FC236}">
                    <a16:creationId xmlns:a16="http://schemas.microsoft.com/office/drawing/2014/main" id="{49297CCC-774B-1443-8147-999AEBDA5FE6}"/>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4" name="AutoShape 127">
                <a:extLst>
                  <a:ext uri="{FF2B5EF4-FFF2-40B4-BE49-F238E27FC236}">
                    <a16:creationId xmlns:a16="http://schemas.microsoft.com/office/drawing/2014/main" id="{99AA7B97-011A-844B-9C5E-49EF3FECA59C}"/>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19" name="Rectangle 128">
              <a:extLst>
                <a:ext uri="{FF2B5EF4-FFF2-40B4-BE49-F238E27FC236}">
                  <a16:creationId xmlns:a16="http://schemas.microsoft.com/office/drawing/2014/main" id="{0DE915D7-115F-0148-8246-F07CA43F2DF0}"/>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20" name="Group 129">
              <a:extLst>
                <a:ext uri="{FF2B5EF4-FFF2-40B4-BE49-F238E27FC236}">
                  <a16:creationId xmlns:a16="http://schemas.microsoft.com/office/drawing/2014/main" id="{1168EC4F-26EA-454C-A186-35A18483C0EB}"/>
                </a:ext>
              </a:extLst>
            </p:cNvPr>
            <p:cNvGrpSpPr>
              <a:grpSpLocks/>
            </p:cNvGrpSpPr>
            <p:nvPr/>
          </p:nvGrpSpPr>
          <p:grpSpPr bwMode="auto">
            <a:xfrm>
              <a:off x="4747" y="994"/>
              <a:ext cx="581" cy="134"/>
              <a:chOff x="614" y="2568"/>
              <a:chExt cx="725" cy="139"/>
            </a:xfrm>
          </p:grpSpPr>
          <p:sp>
            <p:nvSpPr>
              <p:cNvPr id="141" name="AutoShape 130">
                <a:extLst>
                  <a:ext uri="{FF2B5EF4-FFF2-40B4-BE49-F238E27FC236}">
                    <a16:creationId xmlns:a16="http://schemas.microsoft.com/office/drawing/2014/main" id="{30DEF7E1-5206-E14C-8F6E-C221B89557E7}"/>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2" name="AutoShape 131">
                <a:extLst>
                  <a:ext uri="{FF2B5EF4-FFF2-40B4-BE49-F238E27FC236}">
                    <a16:creationId xmlns:a16="http://schemas.microsoft.com/office/drawing/2014/main" id="{6DBD6BDF-F229-9945-8578-CEC44256CF6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21" name="Rectangle 132">
              <a:extLst>
                <a:ext uri="{FF2B5EF4-FFF2-40B4-BE49-F238E27FC236}">
                  <a16:creationId xmlns:a16="http://schemas.microsoft.com/office/drawing/2014/main" id="{0A0EEFD7-8203-2740-ABF0-C767B83C1EBD}"/>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2" name="Rectangle 133">
              <a:extLst>
                <a:ext uri="{FF2B5EF4-FFF2-40B4-BE49-F238E27FC236}">
                  <a16:creationId xmlns:a16="http://schemas.microsoft.com/office/drawing/2014/main" id="{9B3363E9-032E-DE45-B7D5-07B9FA6590E9}"/>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123" name="Group 134">
              <a:extLst>
                <a:ext uri="{FF2B5EF4-FFF2-40B4-BE49-F238E27FC236}">
                  <a16:creationId xmlns:a16="http://schemas.microsoft.com/office/drawing/2014/main" id="{64432C7D-9E6A-6E4E-965D-954C702C6B6E}"/>
                </a:ext>
              </a:extLst>
            </p:cNvPr>
            <p:cNvGrpSpPr>
              <a:grpSpLocks/>
            </p:cNvGrpSpPr>
            <p:nvPr/>
          </p:nvGrpSpPr>
          <p:grpSpPr bwMode="auto">
            <a:xfrm>
              <a:off x="4735" y="1627"/>
              <a:ext cx="582" cy="151"/>
              <a:chOff x="614" y="2568"/>
              <a:chExt cx="725" cy="139"/>
            </a:xfrm>
          </p:grpSpPr>
          <p:sp>
            <p:nvSpPr>
              <p:cNvPr id="139" name="AutoShape 135">
                <a:extLst>
                  <a:ext uri="{FF2B5EF4-FFF2-40B4-BE49-F238E27FC236}">
                    <a16:creationId xmlns:a16="http://schemas.microsoft.com/office/drawing/2014/main" id="{B32D344B-D91B-954B-BD35-1984E9213AA1}"/>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0" name="AutoShape 136">
                <a:extLst>
                  <a:ext uri="{FF2B5EF4-FFF2-40B4-BE49-F238E27FC236}">
                    <a16:creationId xmlns:a16="http://schemas.microsoft.com/office/drawing/2014/main" id="{47067A3E-2B26-F04B-A35D-FE7A4A41031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24" name="Freeform 137">
              <a:extLst>
                <a:ext uri="{FF2B5EF4-FFF2-40B4-BE49-F238E27FC236}">
                  <a16:creationId xmlns:a16="http://schemas.microsoft.com/office/drawing/2014/main" id="{D7735CF1-1F30-4F47-AC44-432430394B3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125" name="Group 138">
              <a:extLst>
                <a:ext uri="{FF2B5EF4-FFF2-40B4-BE49-F238E27FC236}">
                  <a16:creationId xmlns:a16="http://schemas.microsoft.com/office/drawing/2014/main" id="{FB78B141-B15E-674E-8F3F-8329CF49818C}"/>
                </a:ext>
              </a:extLst>
            </p:cNvPr>
            <p:cNvGrpSpPr>
              <a:grpSpLocks/>
            </p:cNvGrpSpPr>
            <p:nvPr/>
          </p:nvGrpSpPr>
          <p:grpSpPr bwMode="auto">
            <a:xfrm>
              <a:off x="4739" y="1327"/>
              <a:ext cx="582" cy="139"/>
              <a:chOff x="614" y="2568"/>
              <a:chExt cx="725" cy="139"/>
            </a:xfrm>
          </p:grpSpPr>
          <p:sp>
            <p:nvSpPr>
              <p:cNvPr id="137" name="AutoShape 139">
                <a:extLst>
                  <a:ext uri="{FF2B5EF4-FFF2-40B4-BE49-F238E27FC236}">
                    <a16:creationId xmlns:a16="http://schemas.microsoft.com/office/drawing/2014/main" id="{2FE8954C-766A-0743-AFEA-BE850F02F6A5}"/>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8" name="AutoShape 140">
                <a:extLst>
                  <a:ext uri="{FF2B5EF4-FFF2-40B4-BE49-F238E27FC236}">
                    <a16:creationId xmlns:a16="http://schemas.microsoft.com/office/drawing/2014/main" id="{B0838D8D-F17D-6642-84C3-0A7A06DB11E7}"/>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26" name="Rectangle 141">
              <a:extLst>
                <a:ext uri="{FF2B5EF4-FFF2-40B4-BE49-F238E27FC236}">
                  <a16:creationId xmlns:a16="http://schemas.microsoft.com/office/drawing/2014/main" id="{201450E4-426D-034A-898C-EA0F1878F2BD}"/>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27" name="Freeform 142">
              <a:extLst>
                <a:ext uri="{FF2B5EF4-FFF2-40B4-BE49-F238E27FC236}">
                  <a16:creationId xmlns:a16="http://schemas.microsoft.com/office/drawing/2014/main" id="{BEF832CC-F889-B740-96DA-EC8898E429EA}"/>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8" name="Freeform 143">
              <a:extLst>
                <a:ext uri="{FF2B5EF4-FFF2-40B4-BE49-F238E27FC236}">
                  <a16:creationId xmlns:a16="http://schemas.microsoft.com/office/drawing/2014/main" id="{62398C75-46A0-3745-982E-EFC495B4758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29" name="Oval 144">
              <a:extLst>
                <a:ext uri="{FF2B5EF4-FFF2-40B4-BE49-F238E27FC236}">
                  <a16:creationId xmlns:a16="http://schemas.microsoft.com/office/drawing/2014/main" id="{352FBF24-62B2-6F49-AC68-A67E46BEF583}"/>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0" name="Freeform 145">
              <a:extLst>
                <a:ext uri="{FF2B5EF4-FFF2-40B4-BE49-F238E27FC236}">
                  <a16:creationId xmlns:a16="http://schemas.microsoft.com/office/drawing/2014/main" id="{689E20C5-4EA8-8A4D-86CB-905743CC96A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131" name="AutoShape 146">
              <a:extLst>
                <a:ext uri="{FF2B5EF4-FFF2-40B4-BE49-F238E27FC236}">
                  <a16:creationId xmlns:a16="http://schemas.microsoft.com/office/drawing/2014/main" id="{EEA954D3-56B0-3541-93CF-131CC960367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2" name="AutoShape 147">
              <a:extLst>
                <a:ext uri="{FF2B5EF4-FFF2-40B4-BE49-F238E27FC236}">
                  <a16:creationId xmlns:a16="http://schemas.microsoft.com/office/drawing/2014/main" id="{D041028B-4F78-C84C-BFED-1142E17FC05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3" name="Oval 148">
              <a:extLst>
                <a:ext uri="{FF2B5EF4-FFF2-40B4-BE49-F238E27FC236}">
                  <a16:creationId xmlns:a16="http://schemas.microsoft.com/office/drawing/2014/main" id="{1DB124EA-65C6-2944-95EA-9CF5A05FD4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4" name="Oval 149">
              <a:extLst>
                <a:ext uri="{FF2B5EF4-FFF2-40B4-BE49-F238E27FC236}">
                  <a16:creationId xmlns:a16="http://schemas.microsoft.com/office/drawing/2014/main" id="{F9B231BC-3EE3-C645-A89F-95E350FAA4A6}"/>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135" name="Oval 150">
              <a:extLst>
                <a:ext uri="{FF2B5EF4-FFF2-40B4-BE49-F238E27FC236}">
                  <a16:creationId xmlns:a16="http://schemas.microsoft.com/office/drawing/2014/main" id="{01CC1925-74AE-594F-AD3D-173726AFBB10}"/>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36" name="Rectangle 151">
              <a:extLst>
                <a:ext uri="{FF2B5EF4-FFF2-40B4-BE49-F238E27FC236}">
                  <a16:creationId xmlns:a16="http://schemas.microsoft.com/office/drawing/2014/main" id="{92B6BE0B-71DF-9742-BE8C-BEF3D8A9EF2F}"/>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145" name="Line 105">
            <a:extLst>
              <a:ext uri="{FF2B5EF4-FFF2-40B4-BE49-F238E27FC236}">
                <a16:creationId xmlns:a16="http://schemas.microsoft.com/office/drawing/2014/main" id="{6EE235BA-E9E9-3149-AB4E-BB5E5B9184E9}"/>
              </a:ext>
            </a:extLst>
          </p:cNvPr>
          <p:cNvSpPr>
            <a:spLocks noChangeShapeType="1"/>
          </p:cNvSpPr>
          <p:nvPr/>
        </p:nvSpPr>
        <p:spPr bwMode="auto">
          <a:xfrm flipH="1">
            <a:off x="6714304" y="3946924"/>
            <a:ext cx="1180419" cy="41637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6" name="Line 104">
            <a:extLst>
              <a:ext uri="{FF2B5EF4-FFF2-40B4-BE49-F238E27FC236}">
                <a16:creationId xmlns:a16="http://schemas.microsoft.com/office/drawing/2014/main" id="{1CA9B668-6F05-1A48-9C2A-8D882F798CE6}"/>
              </a:ext>
            </a:extLst>
          </p:cNvPr>
          <p:cNvSpPr>
            <a:spLocks noChangeShapeType="1"/>
          </p:cNvSpPr>
          <p:nvPr/>
        </p:nvSpPr>
        <p:spPr bwMode="auto">
          <a:xfrm>
            <a:off x="6794043" y="2387094"/>
            <a:ext cx="1109661" cy="2369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47"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6571375" y="2351375"/>
            <a:ext cx="1531188"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ACK,</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=x+1.ACK=y+1</a:t>
            </a:r>
          </a:p>
        </p:txBody>
      </p:sp>
      <p:sp>
        <p:nvSpPr>
          <p:cNvPr id="148"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6775962" y="3950530"/>
            <a:ext cx="1335623"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SYNACK,</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a:t>
            </a:r>
            <a:r>
              <a:rPr lang="en-US" sz="1200" b="1" kern="0" dirty="0" err="1">
                <a:solidFill>
                  <a:srgbClr val="FF0000"/>
                </a:solidFill>
                <a:latin typeface="Avenir Book" panose="020B0503020203020204" pitchFamily="34" charset="-78"/>
                <a:cs typeface="Avenir Book" panose="020B0503020203020204" pitchFamily="34" charset="-78"/>
              </a:rPr>
              <a:t>z</a:t>
            </a:r>
            <a:r>
              <a:rPr lang="en-US" sz="1200" kern="0" dirty="0" err="1">
                <a:solidFill>
                  <a:srgbClr val="000000"/>
                </a:solidFill>
                <a:latin typeface="Avenir Book" panose="020B0503020203020204" pitchFamily="34" charset="-78"/>
                <a:cs typeface="Avenir Book" panose="020B0503020203020204" pitchFamily="34" charset="-78"/>
              </a:rPr>
              <a:t>,ACK</a:t>
            </a:r>
            <a:r>
              <a:rPr lang="en-US" sz="1200" kern="0" dirty="0">
                <a:solidFill>
                  <a:srgbClr val="000000"/>
                </a:solidFill>
                <a:latin typeface="Avenir Book" panose="020B0503020203020204" pitchFamily="34" charset="-78"/>
                <a:cs typeface="Avenir Book" panose="020B0503020203020204" pitchFamily="34" charset="-78"/>
              </a:rPr>
              <a:t>=x+1</a:t>
            </a:r>
          </a:p>
        </p:txBody>
      </p:sp>
      <p:sp>
        <p:nvSpPr>
          <p:cNvPr id="149" name="Line 104">
            <a:extLst>
              <a:ext uri="{FF2B5EF4-FFF2-40B4-BE49-F238E27FC236}">
                <a16:creationId xmlns:a16="http://schemas.microsoft.com/office/drawing/2014/main" id="{1CA9B668-6F05-1A48-9C2A-8D882F798CE6}"/>
              </a:ext>
            </a:extLst>
          </p:cNvPr>
          <p:cNvSpPr>
            <a:spLocks noChangeShapeType="1"/>
          </p:cNvSpPr>
          <p:nvPr/>
        </p:nvSpPr>
        <p:spPr bwMode="auto">
          <a:xfrm>
            <a:off x="6749582" y="4399554"/>
            <a:ext cx="1109661" cy="2369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150"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6694837" y="4447608"/>
            <a:ext cx="1173719" cy="27699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b="1" kern="0" dirty="0">
                <a:solidFill>
                  <a:srgbClr val="FF0000"/>
                </a:solidFill>
                <a:latin typeface="Avenir Book" panose="020B0503020203020204" pitchFamily="34" charset="-78"/>
                <a:cs typeface="Avenir Book" panose="020B0503020203020204" pitchFamily="34" charset="-78"/>
              </a:rPr>
              <a:t>RST</a:t>
            </a:r>
            <a:r>
              <a:rPr lang="en-US" sz="1200" kern="0" dirty="0">
                <a:solidFill>
                  <a:srgbClr val="000000"/>
                </a:solidFill>
                <a:latin typeface="Avenir Book" panose="020B0503020203020204" pitchFamily="34" charset="-78"/>
                <a:cs typeface="Avenir Book" panose="020B0503020203020204" pitchFamily="34" charset="-78"/>
              </a:rPr>
              <a:t>,ACK=z+1</a:t>
            </a:r>
          </a:p>
        </p:txBody>
      </p:sp>
      <p:sp>
        <p:nvSpPr>
          <p:cNvPr id="213" name="Rectangle 212"/>
          <p:cNvSpPr/>
          <p:nvPr/>
        </p:nvSpPr>
        <p:spPr>
          <a:xfrm>
            <a:off x="6263993" y="4252097"/>
            <a:ext cx="502061" cy="369332"/>
          </a:xfrm>
          <a:prstGeom prst="rect">
            <a:avLst/>
          </a:prstGeom>
        </p:spPr>
        <p:txBody>
          <a:bodyPr wrap="none">
            <a:spAutoFit/>
          </a:bodyPr>
          <a:lstStyle/>
          <a:p>
            <a:r>
              <a:rPr lang="en-IN" altLang="en-US" dirty="0">
                <a:solidFill>
                  <a:srgbClr val="C00000"/>
                </a:solidFill>
                <a:latin typeface="Segoe UI Emoji" panose="020B0502040204020203" pitchFamily="34" charset="0"/>
                <a:ea typeface="Segoe UI Emoji" panose="020B0502040204020203" pitchFamily="34" charset="0"/>
              </a:rPr>
              <a:t>🤔</a:t>
            </a:r>
            <a:endParaRPr lang="en-IN" dirty="0"/>
          </a:p>
        </p:txBody>
      </p:sp>
      <p:sp>
        <p:nvSpPr>
          <p:cNvPr id="214"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6869532" y="3414930"/>
            <a:ext cx="962122" cy="27699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SYN,Seq</a:t>
            </a:r>
            <a:r>
              <a:rPr lang="en-US" sz="1200" kern="0" dirty="0">
                <a:solidFill>
                  <a:srgbClr val="000000"/>
                </a:solidFill>
                <a:latin typeface="Avenir Book" panose="020B0503020203020204" pitchFamily="34" charset="-78"/>
                <a:cs typeface="Avenir Book" panose="020B0503020203020204" pitchFamily="34" charset="-78"/>
              </a:rPr>
              <a:t>=x</a:t>
            </a:r>
          </a:p>
        </p:txBody>
      </p:sp>
      <p:grpSp>
        <p:nvGrpSpPr>
          <p:cNvPr id="215" name="Group 152">
            <a:extLst>
              <a:ext uri="{FF2B5EF4-FFF2-40B4-BE49-F238E27FC236}">
                <a16:creationId xmlns:a16="http://schemas.microsoft.com/office/drawing/2014/main" id="{9C2006BA-AA2D-8544-A70F-118097C53265}"/>
              </a:ext>
            </a:extLst>
          </p:cNvPr>
          <p:cNvGrpSpPr>
            <a:grpSpLocks/>
          </p:cNvGrpSpPr>
          <p:nvPr/>
        </p:nvGrpSpPr>
        <p:grpSpPr bwMode="auto">
          <a:xfrm>
            <a:off x="9064443" y="828388"/>
            <a:ext cx="3011091" cy="4258866"/>
            <a:chOff x="3099" y="1107"/>
            <a:chExt cx="2529" cy="3577"/>
          </a:xfrm>
        </p:grpSpPr>
        <p:sp>
          <p:nvSpPr>
            <p:cNvPr id="231" name="Line 153">
              <a:extLst>
                <a:ext uri="{FF2B5EF4-FFF2-40B4-BE49-F238E27FC236}">
                  <a16:creationId xmlns:a16="http://schemas.microsoft.com/office/drawing/2014/main" id="{C056962F-C2E4-4D43-8591-63C2094689E9}"/>
                </a:ext>
              </a:extLst>
            </p:cNvPr>
            <p:cNvSpPr>
              <a:spLocks noChangeShapeType="1"/>
            </p:cNvSpPr>
            <p:nvPr/>
          </p:nvSpPr>
          <p:spPr bwMode="auto">
            <a:xfrm>
              <a:off x="4823" y="1490"/>
              <a:ext cx="24" cy="3194"/>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2" name="Text Box 154">
              <a:extLst>
                <a:ext uri="{FF2B5EF4-FFF2-40B4-BE49-F238E27FC236}">
                  <a16:creationId xmlns:a16="http://schemas.microsoft.com/office/drawing/2014/main" id="{CDA652F2-819F-6848-A5C9-8D9B66F9680B}"/>
                </a:ext>
              </a:extLst>
            </p:cNvPr>
            <p:cNvSpPr txBox="1">
              <a:spLocks noChangeArrowheads="1"/>
            </p:cNvSpPr>
            <p:nvPr/>
          </p:nvSpPr>
          <p:spPr bwMode="auto">
            <a:xfrm>
              <a:off x="3099" y="2983"/>
              <a:ext cx="789"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client terminates</a:t>
              </a:r>
            </a:p>
          </p:txBody>
        </p:sp>
        <p:sp>
          <p:nvSpPr>
            <p:cNvPr id="233" name="Line 155">
              <a:extLst>
                <a:ext uri="{FF2B5EF4-FFF2-40B4-BE49-F238E27FC236}">
                  <a16:creationId xmlns:a16="http://schemas.microsoft.com/office/drawing/2014/main" id="{666153C5-2212-0042-ABC5-919CF540FFF1}"/>
                </a:ext>
              </a:extLst>
            </p:cNvPr>
            <p:cNvSpPr>
              <a:spLocks noChangeShapeType="1"/>
            </p:cNvSpPr>
            <p:nvPr/>
          </p:nvSpPr>
          <p:spPr bwMode="auto">
            <a:xfrm>
              <a:off x="3860" y="1451"/>
              <a:ext cx="9" cy="3233"/>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4" name="Line 156">
              <a:extLst>
                <a:ext uri="{FF2B5EF4-FFF2-40B4-BE49-F238E27FC236}">
                  <a16:creationId xmlns:a16="http://schemas.microsoft.com/office/drawing/2014/main" id="{16ACB45E-8A1D-F74A-9C70-18C251DD28E3}"/>
                </a:ext>
              </a:extLst>
            </p:cNvPr>
            <p:cNvSpPr>
              <a:spLocks noChangeShapeType="1"/>
            </p:cNvSpPr>
            <p:nvPr/>
          </p:nvSpPr>
          <p:spPr bwMode="auto">
            <a:xfrm flipH="1">
              <a:off x="3850" y="1726"/>
              <a:ext cx="990" cy="60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5" name="Text Box 158">
              <a:extLst>
                <a:ext uri="{FF2B5EF4-FFF2-40B4-BE49-F238E27FC236}">
                  <a16:creationId xmlns:a16="http://schemas.microsoft.com/office/drawing/2014/main" id="{07E98DEC-15BD-8E44-8C66-72860ACC5678}"/>
                </a:ext>
              </a:extLst>
            </p:cNvPr>
            <p:cNvSpPr txBox="1">
              <a:spLocks noChangeArrowheads="1"/>
            </p:cNvSpPr>
            <p:nvPr/>
          </p:nvSpPr>
          <p:spPr bwMode="auto">
            <a:xfrm>
              <a:off x="3281" y="2221"/>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CC0000"/>
                  </a:solidFill>
                  <a:latin typeface="Avenir Book" panose="020B0503020203020204" pitchFamily="34" charset="-78"/>
                  <a:cs typeface="Avenir Book" panose="020B0503020203020204" pitchFamily="34" charset="-78"/>
                </a:rPr>
                <a:t>ESTAB</a:t>
              </a:r>
            </a:p>
          </p:txBody>
        </p:sp>
        <p:sp>
          <p:nvSpPr>
            <p:cNvPr id="236" name="Oval 159">
              <a:extLst>
                <a:ext uri="{FF2B5EF4-FFF2-40B4-BE49-F238E27FC236}">
                  <a16:creationId xmlns:a16="http://schemas.microsoft.com/office/drawing/2014/main" id="{C387CC00-D294-7442-8EAF-0E4792392432}"/>
                </a:ext>
              </a:extLst>
            </p:cNvPr>
            <p:cNvSpPr>
              <a:spLocks noChangeArrowheads="1"/>
            </p:cNvSpPr>
            <p:nvPr/>
          </p:nvSpPr>
          <p:spPr bwMode="auto">
            <a:xfrm>
              <a:off x="3817" y="2299"/>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237" name="Text Box 160">
              <a:extLst>
                <a:ext uri="{FF2B5EF4-FFF2-40B4-BE49-F238E27FC236}">
                  <a16:creationId xmlns:a16="http://schemas.microsoft.com/office/drawing/2014/main" id="{A3029202-6E45-6F46-B68F-696E31F63852}"/>
                </a:ext>
              </a:extLst>
            </p:cNvPr>
            <p:cNvSpPr txBox="1">
              <a:spLocks noChangeArrowheads="1"/>
            </p:cNvSpPr>
            <p:nvPr/>
          </p:nvSpPr>
          <p:spPr bwMode="auto">
            <a:xfrm>
              <a:off x="3159" y="1380"/>
              <a:ext cx="667" cy="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choose x</a:t>
              </a:r>
            </a:p>
            <a:p>
              <a:pPr algn="r" defTabSz="685800" eaLnBrk="0" fontAlgn="base" hangingPunct="0">
                <a:spcBef>
                  <a:spcPct val="0"/>
                </a:spcBef>
                <a:spcAft>
                  <a:spcPct val="0"/>
                </a:spcAft>
                <a:defRPr/>
              </a:pPr>
              <a:endParaRPr lang="en-US" sz="1200" kern="0">
                <a:solidFill>
                  <a:srgbClr val="000000"/>
                </a:solidFill>
                <a:latin typeface="Avenir Book" panose="020B0503020203020204" pitchFamily="34" charset="-78"/>
                <a:cs typeface="Avenir Book" panose="020B0503020203020204" pitchFamily="34" charset="-78"/>
              </a:endParaRPr>
            </a:p>
          </p:txBody>
        </p:sp>
        <p:sp>
          <p:nvSpPr>
            <p:cNvPr id="238" name="Line 161">
              <a:extLst>
                <a:ext uri="{FF2B5EF4-FFF2-40B4-BE49-F238E27FC236}">
                  <a16:creationId xmlns:a16="http://schemas.microsoft.com/office/drawing/2014/main" id="{0FC46209-BD0B-0445-AF05-C8310A8E862F}"/>
                </a:ext>
              </a:extLst>
            </p:cNvPr>
            <p:cNvSpPr>
              <a:spLocks noChangeShapeType="1"/>
            </p:cNvSpPr>
            <p:nvPr/>
          </p:nvSpPr>
          <p:spPr bwMode="auto">
            <a:xfrm>
              <a:off x="3888" y="1503"/>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39" name="Text Box 164">
              <a:extLst>
                <a:ext uri="{FF2B5EF4-FFF2-40B4-BE49-F238E27FC236}">
                  <a16:creationId xmlns:a16="http://schemas.microsoft.com/office/drawing/2014/main" id="{8AEE0E4A-F8B4-9A4D-85F5-6FF0942C65C4}"/>
                </a:ext>
              </a:extLst>
            </p:cNvPr>
            <p:cNvSpPr txBox="1">
              <a:spLocks noChangeArrowheads="1"/>
            </p:cNvSpPr>
            <p:nvPr/>
          </p:nvSpPr>
          <p:spPr bwMode="auto">
            <a:xfrm>
              <a:off x="4838" y="2224"/>
              <a:ext cx="54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ESTAB</a:t>
              </a:r>
            </a:p>
          </p:txBody>
        </p:sp>
        <p:sp>
          <p:nvSpPr>
            <p:cNvPr id="240" name="Oval 165">
              <a:extLst>
                <a:ext uri="{FF2B5EF4-FFF2-40B4-BE49-F238E27FC236}">
                  <a16:creationId xmlns:a16="http://schemas.microsoft.com/office/drawing/2014/main" id="{837C2516-1B6F-784E-B717-4861DCB88C9F}"/>
                </a:ext>
              </a:extLst>
            </p:cNvPr>
            <p:cNvSpPr>
              <a:spLocks noChangeArrowheads="1"/>
            </p:cNvSpPr>
            <p:nvPr/>
          </p:nvSpPr>
          <p:spPr bwMode="auto">
            <a:xfrm>
              <a:off x="4794" y="1710"/>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241" name="Line 169">
              <a:extLst>
                <a:ext uri="{FF2B5EF4-FFF2-40B4-BE49-F238E27FC236}">
                  <a16:creationId xmlns:a16="http://schemas.microsoft.com/office/drawing/2014/main" id="{73E51126-71B9-DA4D-B01B-7072D4E22BDC}"/>
                </a:ext>
              </a:extLst>
            </p:cNvPr>
            <p:cNvSpPr>
              <a:spLocks noChangeShapeType="1"/>
            </p:cNvSpPr>
            <p:nvPr/>
          </p:nvSpPr>
          <p:spPr bwMode="auto">
            <a:xfrm>
              <a:off x="3877" y="2345"/>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42" name="Oval 172">
              <a:extLst>
                <a:ext uri="{FF2B5EF4-FFF2-40B4-BE49-F238E27FC236}">
                  <a16:creationId xmlns:a16="http://schemas.microsoft.com/office/drawing/2014/main" id="{B63CF324-44AD-D941-BFE9-6823A7212A48}"/>
                </a:ext>
              </a:extLst>
            </p:cNvPr>
            <p:cNvSpPr>
              <a:spLocks noChangeArrowheads="1"/>
            </p:cNvSpPr>
            <p:nvPr/>
          </p:nvSpPr>
          <p:spPr bwMode="auto">
            <a:xfrm>
              <a:off x="4790" y="2524"/>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sp>
          <p:nvSpPr>
            <p:cNvPr id="243" name="Text Box 173">
              <a:extLst>
                <a:ext uri="{FF2B5EF4-FFF2-40B4-BE49-F238E27FC236}">
                  <a16:creationId xmlns:a16="http://schemas.microsoft.com/office/drawing/2014/main" id="{21C7DDF1-6000-FA4F-8259-FD106EBA0F67}"/>
                </a:ext>
              </a:extLst>
            </p:cNvPr>
            <p:cNvSpPr txBox="1">
              <a:spLocks noChangeArrowheads="1"/>
            </p:cNvSpPr>
            <p:nvPr/>
          </p:nvSpPr>
          <p:spPr bwMode="auto">
            <a:xfrm>
              <a:off x="4890" y="2373"/>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accept</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data(x+1)</a:t>
              </a:r>
            </a:p>
          </p:txBody>
        </p:sp>
        <p:grpSp>
          <p:nvGrpSpPr>
            <p:cNvPr id="244" name="Group 174">
              <a:extLst>
                <a:ext uri="{FF2B5EF4-FFF2-40B4-BE49-F238E27FC236}">
                  <a16:creationId xmlns:a16="http://schemas.microsoft.com/office/drawing/2014/main" id="{67E235CF-E2F0-4A4C-B6BE-CB6AC0D0B6B1}"/>
                </a:ext>
              </a:extLst>
            </p:cNvPr>
            <p:cNvGrpSpPr>
              <a:grpSpLocks/>
            </p:cNvGrpSpPr>
            <p:nvPr/>
          </p:nvGrpSpPr>
          <p:grpSpPr bwMode="auto">
            <a:xfrm>
              <a:off x="3826" y="2803"/>
              <a:ext cx="1515" cy="322"/>
              <a:chOff x="3818" y="2796"/>
              <a:chExt cx="1515" cy="322"/>
            </a:xfrm>
          </p:grpSpPr>
          <p:sp>
            <p:nvSpPr>
              <p:cNvPr id="282" name="Line 175">
                <a:extLst>
                  <a:ext uri="{FF2B5EF4-FFF2-40B4-BE49-F238E27FC236}">
                    <a16:creationId xmlns:a16="http://schemas.microsoft.com/office/drawing/2014/main" id="{BC5ADDF2-7CBC-484B-8D57-A55A75E1FA1C}"/>
                  </a:ext>
                </a:extLst>
              </p:cNvPr>
              <p:cNvSpPr>
                <a:spLocks noChangeShapeType="1"/>
              </p:cNvSpPr>
              <p:nvPr/>
            </p:nvSpPr>
            <p:spPr bwMode="auto">
              <a:xfrm>
                <a:off x="3818" y="2951"/>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83" name="Text Box 176">
                <a:extLst>
                  <a:ext uri="{FF2B5EF4-FFF2-40B4-BE49-F238E27FC236}">
                    <a16:creationId xmlns:a16="http://schemas.microsoft.com/office/drawing/2014/main" id="{4DB46F2E-E4BE-194B-8D43-E5E134B15493}"/>
                  </a:ext>
                </a:extLst>
              </p:cNvPr>
              <p:cNvSpPr txBox="1">
                <a:spLocks noChangeArrowheads="1"/>
              </p:cNvSpPr>
              <p:nvPr/>
            </p:nvSpPr>
            <p:spPr bwMode="auto">
              <a:xfrm>
                <a:off x="3959" y="2796"/>
                <a:ext cx="766" cy="32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connection </a:t>
                </a:r>
              </a:p>
              <a:p>
                <a:pPr algn="ctr" defTabSz="685800" eaLnBrk="0" fontAlgn="base" hangingPunct="0">
                  <a:lnSpc>
                    <a:spcPct val="90000"/>
                  </a:lnSpc>
                  <a:spcBef>
                    <a:spcPct val="0"/>
                  </a:spcBef>
                  <a:spcAft>
                    <a:spcPct val="0"/>
                  </a:spcAft>
                  <a:defRPr/>
                </a:pPr>
                <a:r>
                  <a:rPr lang="en-US" sz="1050" kern="0">
                    <a:solidFill>
                      <a:srgbClr val="000000"/>
                    </a:solidFill>
                    <a:latin typeface="Avenir Book" panose="020B0503020203020204" pitchFamily="34" charset="-78"/>
                    <a:cs typeface="Avenir Book" panose="020B0503020203020204" pitchFamily="34" charset="-78"/>
                  </a:rPr>
                  <a:t>x completes</a:t>
                </a:r>
              </a:p>
            </p:txBody>
          </p:sp>
        </p:grpSp>
        <p:sp>
          <p:nvSpPr>
            <p:cNvPr id="245" name="Text Box 177">
              <a:extLst>
                <a:ext uri="{FF2B5EF4-FFF2-40B4-BE49-F238E27FC236}">
                  <a16:creationId xmlns:a16="http://schemas.microsoft.com/office/drawing/2014/main" id="{1C719B44-FA92-594B-8E17-4A5C23A8F44E}"/>
                </a:ext>
              </a:extLst>
            </p:cNvPr>
            <p:cNvSpPr txBox="1">
              <a:spLocks noChangeArrowheads="1"/>
            </p:cNvSpPr>
            <p:nvPr/>
          </p:nvSpPr>
          <p:spPr bwMode="auto">
            <a:xfrm>
              <a:off x="4830" y="2962"/>
              <a:ext cx="738" cy="3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server</a:t>
              </a:r>
            </a:p>
            <a:p>
              <a:pPr defTabSz="685800" eaLnBrk="0" fontAlgn="base" hangingPunct="0">
                <a:lnSpc>
                  <a:spcPct val="85000"/>
                </a:lnSpc>
                <a:spcBef>
                  <a:spcPct val="0"/>
                </a:spcBef>
                <a:spcAft>
                  <a:spcPct val="0"/>
                </a:spcAft>
                <a:defRPr/>
              </a:pPr>
              <a:r>
                <a:rPr lang="en-US" sz="1200" kern="0">
                  <a:solidFill>
                    <a:srgbClr val="000000"/>
                  </a:solidFill>
                  <a:latin typeface="Avenir Book" panose="020B0503020203020204" pitchFamily="34" charset="-78"/>
                  <a:cs typeface="Avenir Book" panose="020B0503020203020204" pitchFamily="34" charset="-78"/>
                </a:rPr>
                <a:t>forgets x</a:t>
              </a:r>
            </a:p>
          </p:txBody>
        </p:sp>
        <p:grpSp>
          <p:nvGrpSpPr>
            <p:cNvPr id="246" name="Group 178">
              <a:extLst>
                <a:ext uri="{FF2B5EF4-FFF2-40B4-BE49-F238E27FC236}">
                  <a16:creationId xmlns:a16="http://schemas.microsoft.com/office/drawing/2014/main" id="{EC86099C-C8AD-6846-8AE7-34CA041B869C}"/>
                </a:ext>
              </a:extLst>
            </p:cNvPr>
            <p:cNvGrpSpPr>
              <a:grpSpLocks/>
            </p:cNvGrpSpPr>
            <p:nvPr/>
          </p:nvGrpSpPr>
          <p:grpSpPr bwMode="auto">
            <a:xfrm>
              <a:off x="3570" y="1119"/>
              <a:ext cx="391" cy="307"/>
              <a:chOff x="-44" y="1473"/>
              <a:chExt cx="981" cy="1105"/>
            </a:xfrm>
          </p:grpSpPr>
          <p:pic>
            <p:nvPicPr>
              <p:cNvPr id="280" name="Picture 179" descr="desktop_computer_stylized_medium">
                <a:extLst>
                  <a:ext uri="{FF2B5EF4-FFF2-40B4-BE49-F238E27FC236}">
                    <a16:creationId xmlns:a16="http://schemas.microsoft.com/office/drawing/2014/main" id="{F1C9C236-427D-834B-8DAC-99F53A437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 name="Freeform 180">
                <a:extLst>
                  <a:ext uri="{FF2B5EF4-FFF2-40B4-BE49-F238E27FC236}">
                    <a16:creationId xmlns:a16="http://schemas.microsoft.com/office/drawing/2014/main" id="{77EA5CD5-1868-AB46-B031-A7892A487F0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grpSp>
          <p:nvGrpSpPr>
            <p:cNvPr id="247" name="Group 181">
              <a:extLst>
                <a:ext uri="{FF2B5EF4-FFF2-40B4-BE49-F238E27FC236}">
                  <a16:creationId xmlns:a16="http://schemas.microsoft.com/office/drawing/2014/main" id="{D3F68FA6-F7DF-A146-A605-ABBDC8F8EFF8}"/>
                </a:ext>
              </a:extLst>
            </p:cNvPr>
            <p:cNvGrpSpPr>
              <a:grpSpLocks/>
            </p:cNvGrpSpPr>
            <p:nvPr/>
          </p:nvGrpSpPr>
          <p:grpSpPr bwMode="auto">
            <a:xfrm>
              <a:off x="4709" y="1107"/>
              <a:ext cx="212" cy="323"/>
              <a:chOff x="4140" y="429"/>
              <a:chExt cx="1425" cy="2396"/>
            </a:xfrm>
          </p:grpSpPr>
          <p:sp>
            <p:nvSpPr>
              <p:cNvPr id="248" name="Freeform 182">
                <a:extLst>
                  <a:ext uri="{FF2B5EF4-FFF2-40B4-BE49-F238E27FC236}">
                    <a16:creationId xmlns:a16="http://schemas.microsoft.com/office/drawing/2014/main" id="{1D2E36D3-F983-B54A-87F8-4B0FB1D0A97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49" name="Rectangle 183">
                <a:extLst>
                  <a:ext uri="{FF2B5EF4-FFF2-40B4-BE49-F238E27FC236}">
                    <a16:creationId xmlns:a16="http://schemas.microsoft.com/office/drawing/2014/main" id="{86762413-0C19-5E4F-AA7E-12F7BBEF4FE0}"/>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0" name="Freeform 184">
                <a:extLst>
                  <a:ext uri="{FF2B5EF4-FFF2-40B4-BE49-F238E27FC236}">
                    <a16:creationId xmlns:a16="http://schemas.microsoft.com/office/drawing/2014/main" id="{9ABD2B3D-5A73-0E4B-91D1-78596AD0A854}"/>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51" name="Freeform 185">
                <a:extLst>
                  <a:ext uri="{FF2B5EF4-FFF2-40B4-BE49-F238E27FC236}">
                    <a16:creationId xmlns:a16="http://schemas.microsoft.com/office/drawing/2014/main" id="{CAECD6F3-58BC-F24D-9434-643EDC4E7A8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52" name="Rectangle 186">
                <a:extLst>
                  <a:ext uri="{FF2B5EF4-FFF2-40B4-BE49-F238E27FC236}">
                    <a16:creationId xmlns:a16="http://schemas.microsoft.com/office/drawing/2014/main" id="{D640048A-92E5-F240-B20B-73B8FE8B2413}"/>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53" name="Group 187">
                <a:extLst>
                  <a:ext uri="{FF2B5EF4-FFF2-40B4-BE49-F238E27FC236}">
                    <a16:creationId xmlns:a16="http://schemas.microsoft.com/office/drawing/2014/main" id="{55FC97C6-B1FB-854D-94BE-E7BED8E1DC83}"/>
                  </a:ext>
                </a:extLst>
              </p:cNvPr>
              <p:cNvGrpSpPr>
                <a:grpSpLocks/>
              </p:cNvGrpSpPr>
              <p:nvPr/>
            </p:nvGrpSpPr>
            <p:grpSpPr bwMode="auto">
              <a:xfrm>
                <a:off x="4749" y="668"/>
                <a:ext cx="581" cy="145"/>
                <a:chOff x="614" y="2568"/>
                <a:chExt cx="725" cy="139"/>
              </a:xfrm>
            </p:grpSpPr>
            <p:sp>
              <p:nvSpPr>
                <p:cNvPr id="278" name="AutoShape 188">
                  <a:extLst>
                    <a:ext uri="{FF2B5EF4-FFF2-40B4-BE49-F238E27FC236}">
                      <a16:creationId xmlns:a16="http://schemas.microsoft.com/office/drawing/2014/main" id="{E2DCD474-0D76-1D47-938B-0347B4119D35}"/>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9" name="AutoShape 189">
                  <a:extLst>
                    <a:ext uri="{FF2B5EF4-FFF2-40B4-BE49-F238E27FC236}">
                      <a16:creationId xmlns:a16="http://schemas.microsoft.com/office/drawing/2014/main" id="{ADC0CDA4-3ACC-784D-AFDA-1C6EA9C5411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54" name="Rectangle 190">
                <a:extLst>
                  <a:ext uri="{FF2B5EF4-FFF2-40B4-BE49-F238E27FC236}">
                    <a16:creationId xmlns:a16="http://schemas.microsoft.com/office/drawing/2014/main" id="{AEEFE7D3-0B38-EE42-AA94-340CFCA0C0A3}"/>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55" name="Group 191">
                <a:extLst>
                  <a:ext uri="{FF2B5EF4-FFF2-40B4-BE49-F238E27FC236}">
                    <a16:creationId xmlns:a16="http://schemas.microsoft.com/office/drawing/2014/main" id="{3BFA70F3-4887-4A45-A0B0-300E77757667}"/>
                  </a:ext>
                </a:extLst>
              </p:cNvPr>
              <p:cNvGrpSpPr>
                <a:grpSpLocks/>
              </p:cNvGrpSpPr>
              <p:nvPr/>
            </p:nvGrpSpPr>
            <p:grpSpPr bwMode="auto">
              <a:xfrm>
                <a:off x="4747" y="994"/>
                <a:ext cx="581" cy="134"/>
                <a:chOff x="614" y="2568"/>
                <a:chExt cx="725" cy="139"/>
              </a:xfrm>
            </p:grpSpPr>
            <p:sp>
              <p:nvSpPr>
                <p:cNvPr id="276" name="AutoShape 192">
                  <a:extLst>
                    <a:ext uri="{FF2B5EF4-FFF2-40B4-BE49-F238E27FC236}">
                      <a16:creationId xmlns:a16="http://schemas.microsoft.com/office/drawing/2014/main" id="{14B933DF-A76C-E94B-9362-3D28B4CBFFB6}"/>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7" name="AutoShape 193">
                  <a:extLst>
                    <a:ext uri="{FF2B5EF4-FFF2-40B4-BE49-F238E27FC236}">
                      <a16:creationId xmlns:a16="http://schemas.microsoft.com/office/drawing/2014/main" id="{D1EC9173-2D5E-F641-9324-62AF5244C467}"/>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56" name="Rectangle 194">
                <a:extLst>
                  <a:ext uri="{FF2B5EF4-FFF2-40B4-BE49-F238E27FC236}">
                    <a16:creationId xmlns:a16="http://schemas.microsoft.com/office/drawing/2014/main" id="{B180E0D5-32AA-5A4A-92D4-28F216DC536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57" name="Rectangle 195">
                <a:extLst>
                  <a:ext uri="{FF2B5EF4-FFF2-40B4-BE49-F238E27FC236}">
                    <a16:creationId xmlns:a16="http://schemas.microsoft.com/office/drawing/2014/main" id="{A3E70690-FEFF-2446-B890-3315B37B0B0D}"/>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58" name="Group 196">
                <a:extLst>
                  <a:ext uri="{FF2B5EF4-FFF2-40B4-BE49-F238E27FC236}">
                    <a16:creationId xmlns:a16="http://schemas.microsoft.com/office/drawing/2014/main" id="{4184D53B-C370-5248-82BB-5D96E5BF521A}"/>
                  </a:ext>
                </a:extLst>
              </p:cNvPr>
              <p:cNvGrpSpPr>
                <a:grpSpLocks/>
              </p:cNvGrpSpPr>
              <p:nvPr/>
            </p:nvGrpSpPr>
            <p:grpSpPr bwMode="auto">
              <a:xfrm>
                <a:off x="4735" y="1627"/>
                <a:ext cx="582" cy="151"/>
                <a:chOff x="614" y="2568"/>
                <a:chExt cx="725" cy="139"/>
              </a:xfrm>
            </p:grpSpPr>
            <p:sp>
              <p:nvSpPr>
                <p:cNvPr id="274" name="AutoShape 197">
                  <a:extLst>
                    <a:ext uri="{FF2B5EF4-FFF2-40B4-BE49-F238E27FC236}">
                      <a16:creationId xmlns:a16="http://schemas.microsoft.com/office/drawing/2014/main" id="{66CD18C8-97C8-AD49-8806-45F2C3FA3A20}"/>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5" name="AutoShape 198">
                  <a:extLst>
                    <a:ext uri="{FF2B5EF4-FFF2-40B4-BE49-F238E27FC236}">
                      <a16:creationId xmlns:a16="http://schemas.microsoft.com/office/drawing/2014/main" id="{E4596270-7ACC-5941-82EB-426AAF88315D}"/>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59" name="Freeform 199">
                <a:extLst>
                  <a:ext uri="{FF2B5EF4-FFF2-40B4-BE49-F238E27FC236}">
                    <a16:creationId xmlns:a16="http://schemas.microsoft.com/office/drawing/2014/main" id="{8D520046-573E-1549-A1AD-345D7B8191C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nvGrpSpPr>
              <p:cNvPr id="260" name="Group 200">
                <a:extLst>
                  <a:ext uri="{FF2B5EF4-FFF2-40B4-BE49-F238E27FC236}">
                    <a16:creationId xmlns:a16="http://schemas.microsoft.com/office/drawing/2014/main" id="{CBDA9A7E-0A7F-D64B-867D-2FC72D58322A}"/>
                  </a:ext>
                </a:extLst>
              </p:cNvPr>
              <p:cNvGrpSpPr>
                <a:grpSpLocks/>
              </p:cNvGrpSpPr>
              <p:nvPr/>
            </p:nvGrpSpPr>
            <p:grpSpPr bwMode="auto">
              <a:xfrm>
                <a:off x="4739" y="1327"/>
                <a:ext cx="582" cy="139"/>
                <a:chOff x="614" y="2568"/>
                <a:chExt cx="725" cy="139"/>
              </a:xfrm>
            </p:grpSpPr>
            <p:sp>
              <p:nvSpPr>
                <p:cNvPr id="272" name="AutoShape 201">
                  <a:extLst>
                    <a:ext uri="{FF2B5EF4-FFF2-40B4-BE49-F238E27FC236}">
                      <a16:creationId xmlns:a16="http://schemas.microsoft.com/office/drawing/2014/main" id="{F7CB7A1E-7741-E24C-AFB5-5F057AFD0C52}"/>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3" name="AutoShape 202">
                  <a:extLst>
                    <a:ext uri="{FF2B5EF4-FFF2-40B4-BE49-F238E27FC236}">
                      <a16:creationId xmlns:a16="http://schemas.microsoft.com/office/drawing/2014/main" id="{93BC514D-19E5-DF47-87E9-7BF859D24356}"/>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sp>
            <p:nvSpPr>
              <p:cNvPr id="261" name="Rectangle 203">
                <a:extLst>
                  <a:ext uri="{FF2B5EF4-FFF2-40B4-BE49-F238E27FC236}">
                    <a16:creationId xmlns:a16="http://schemas.microsoft.com/office/drawing/2014/main" id="{992A2C09-2187-A749-9718-F045A2349EA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2" name="Freeform 204">
                <a:extLst>
                  <a:ext uri="{FF2B5EF4-FFF2-40B4-BE49-F238E27FC236}">
                    <a16:creationId xmlns:a16="http://schemas.microsoft.com/office/drawing/2014/main" id="{D473F289-DF79-1D4B-BA3A-57AFA552A24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3" name="Freeform 205">
                <a:extLst>
                  <a:ext uri="{FF2B5EF4-FFF2-40B4-BE49-F238E27FC236}">
                    <a16:creationId xmlns:a16="http://schemas.microsoft.com/office/drawing/2014/main" id="{55F98009-7662-6D40-889B-2D6F20DE3EA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4" name="Oval 206">
                <a:extLst>
                  <a:ext uri="{FF2B5EF4-FFF2-40B4-BE49-F238E27FC236}">
                    <a16:creationId xmlns:a16="http://schemas.microsoft.com/office/drawing/2014/main" id="{8C0E348C-3A61-F54D-B6E7-8EEC0C479961}"/>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5" name="Freeform 207">
                <a:extLst>
                  <a:ext uri="{FF2B5EF4-FFF2-40B4-BE49-F238E27FC236}">
                    <a16:creationId xmlns:a16="http://schemas.microsoft.com/office/drawing/2014/main" id="{06CDC36B-C766-0244-ABF7-3336A9C2E7B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66" name="AutoShape 208">
                <a:extLst>
                  <a:ext uri="{FF2B5EF4-FFF2-40B4-BE49-F238E27FC236}">
                    <a16:creationId xmlns:a16="http://schemas.microsoft.com/office/drawing/2014/main" id="{E47AE9BE-71F7-0C40-BB36-B6201EAE727F}"/>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7" name="AutoShape 209">
                <a:extLst>
                  <a:ext uri="{FF2B5EF4-FFF2-40B4-BE49-F238E27FC236}">
                    <a16:creationId xmlns:a16="http://schemas.microsoft.com/office/drawing/2014/main" id="{6DDF70D2-966F-0443-BFEC-34DC981AB2D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8" name="Oval 210">
                <a:extLst>
                  <a:ext uri="{FF2B5EF4-FFF2-40B4-BE49-F238E27FC236}">
                    <a16:creationId xmlns:a16="http://schemas.microsoft.com/office/drawing/2014/main" id="{DFF00D08-0F51-F044-8429-6F3D5CC28DB2}"/>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69" name="Oval 211">
                <a:extLst>
                  <a:ext uri="{FF2B5EF4-FFF2-40B4-BE49-F238E27FC236}">
                    <a16:creationId xmlns:a16="http://schemas.microsoft.com/office/drawing/2014/main" id="{BBFCC1D5-E5D6-FB46-9D8C-E8CE8BFE2270}"/>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venir Book" panose="020B0503020203020204" pitchFamily="34" charset="-78"/>
                  <a:ea typeface="ＭＳ Ｐゴシック" charset="0"/>
                  <a:cs typeface="Avenir Book" panose="020B0503020203020204" pitchFamily="34" charset="-78"/>
                </a:endParaRPr>
              </a:p>
            </p:txBody>
          </p:sp>
          <p:sp>
            <p:nvSpPr>
              <p:cNvPr id="270" name="Oval 212">
                <a:extLst>
                  <a:ext uri="{FF2B5EF4-FFF2-40B4-BE49-F238E27FC236}">
                    <a16:creationId xmlns:a16="http://schemas.microsoft.com/office/drawing/2014/main" id="{F4244C1D-3E80-C847-BD71-A4309DAB13CE}"/>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71" name="Rectangle 213">
                <a:extLst>
                  <a:ext uri="{FF2B5EF4-FFF2-40B4-BE49-F238E27FC236}">
                    <a16:creationId xmlns:a16="http://schemas.microsoft.com/office/drawing/2014/main" id="{F13C27D5-275D-5C47-9B76-D6F9DDED6AD3}"/>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grpSp>
      <p:grpSp>
        <p:nvGrpSpPr>
          <p:cNvPr id="284" name="Group 283">
            <a:extLst>
              <a:ext uri="{FF2B5EF4-FFF2-40B4-BE49-F238E27FC236}">
                <a16:creationId xmlns:a16="http://schemas.microsoft.com/office/drawing/2014/main" id="{FF4B12AC-451D-994B-8F10-E450C0737005}"/>
              </a:ext>
            </a:extLst>
          </p:cNvPr>
          <p:cNvGrpSpPr/>
          <p:nvPr/>
        </p:nvGrpSpPr>
        <p:grpSpPr>
          <a:xfrm>
            <a:off x="9063932" y="2583709"/>
            <a:ext cx="2060972" cy="1602582"/>
            <a:chOff x="3185703" y="3422010"/>
            <a:chExt cx="2747963" cy="2136775"/>
          </a:xfrm>
        </p:grpSpPr>
        <p:sp>
          <p:nvSpPr>
            <p:cNvPr id="285" name="Freeform 86">
              <a:extLst>
                <a:ext uri="{FF2B5EF4-FFF2-40B4-BE49-F238E27FC236}">
                  <a16:creationId xmlns:a16="http://schemas.microsoft.com/office/drawing/2014/main" id="{38A816A8-A2A7-7540-BCC4-F843FEC5A429}"/>
                </a:ext>
              </a:extLst>
            </p:cNvPr>
            <p:cNvSpPr>
              <a:spLocks/>
            </p:cNvSpPr>
            <p:nvPr/>
          </p:nvSpPr>
          <p:spPr bwMode="auto">
            <a:xfrm>
              <a:off x="4431891" y="3661722"/>
              <a:ext cx="1501775" cy="1897063"/>
            </a:xfrm>
            <a:custGeom>
              <a:avLst/>
              <a:gdLst>
                <a:gd name="T0" fmla="*/ 0 w 946"/>
                <a:gd name="T1" fmla="*/ 15 h 1195"/>
                <a:gd name="T2" fmla="*/ 199 w 946"/>
                <a:gd name="T3" fmla="*/ 164 h 1195"/>
                <a:gd name="T4" fmla="*/ 320 w 946"/>
                <a:gd name="T5" fmla="*/ 960 h 1195"/>
                <a:gd name="T6" fmla="*/ 946 w 946"/>
                <a:gd name="T7" fmla="*/ 1138 h 11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6" h="1195">
                  <a:moveTo>
                    <a:pt x="0" y="15"/>
                  </a:moveTo>
                  <a:cubicBezTo>
                    <a:pt x="32" y="40"/>
                    <a:pt x="114" y="0"/>
                    <a:pt x="199" y="164"/>
                  </a:cubicBezTo>
                  <a:cubicBezTo>
                    <a:pt x="284" y="328"/>
                    <a:pt x="195" y="798"/>
                    <a:pt x="320" y="960"/>
                  </a:cubicBezTo>
                  <a:cubicBezTo>
                    <a:pt x="477" y="1195"/>
                    <a:pt x="816" y="1101"/>
                    <a:pt x="946" y="1138"/>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sp>
          <p:nvSpPr>
            <p:cNvPr id="286" name="Text Box 89">
              <a:extLst>
                <a:ext uri="{FF2B5EF4-FFF2-40B4-BE49-F238E27FC236}">
                  <a16:creationId xmlns:a16="http://schemas.microsoft.com/office/drawing/2014/main" id="{5708E844-9ADD-5141-AEAF-930791B6807E}"/>
                </a:ext>
              </a:extLst>
            </p:cNvPr>
            <p:cNvSpPr txBox="1">
              <a:spLocks noChangeArrowheads="1"/>
            </p:cNvSpPr>
            <p:nvPr/>
          </p:nvSpPr>
          <p:spPr bwMode="auto">
            <a:xfrm>
              <a:off x="3185703" y="3422010"/>
              <a:ext cx="1273175"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data(x+1)</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grpSp>
      <p:grpSp>
        <p:nvGrpSpPr>
          <p:cNvPr id="287" name="Group 286">
            <a:extLst>
              <a:ext uri="{FF2B5EF4-FFF2-40B4-BE49-F238E27FC236}">
                <a16:creationId xmlns:a16="http://schemas.microsoft.com/office/drawing/2014/main" id="{6190F2C1-0C5D-3A42-A359-9CD3AF8C99E1}"/>
              </a:ext>
            </a:extLst>
          </p:cNvPr>
          <p:cNvGrpSpPr/>
          <p:nvPr/>
        </p:nvGrpSpPr>
        <p:grpSpPr>
          <a:xfrm>
            <a:off x="8952710" y="1801863"/>
            <a:ext cx="2221011" cy="2153841"/>
            <a:chOff x="3062807" y="2369497"/>
            <a:chExt cx="2961347" cy="2871788"/>
          </a:xfrm>
        </p:grpSpPr>
        <p:grpSp>
          <p:nvGrpSpPr>
            <p:cNvPr id="288" name="Group 287">
              <a:extLst>
                <a:ext uri="{FF2B5EF4-FFF2-40B4-BE49-F238E27FC236}">
                  <a16:creationId xmlns:a16="http://schemas.microsoft.com/office/drawing/2014/main" id="{56EB4120-1B3C-1046-99F5-B25161010680}"/>
                </a:ext>
              </a:extLst>
            </p:cNvPr>
            <p:cNvGrpSpPr/>
            <p:nvPr/>
          </p:nvGrpSpPr>
          <p:grpSpPr>
            <a:xfrm>
              <a:off x="3062807" y="2369497"/>
              <a:ext cx="2913721" cy="2860675"/>
              <a:chOff x="3062807" y="2369497"/>
              <a:chExt cx="2913721" cy="2860675"/>
            </a:xfrm>
          </p:grpSpPr>
          <p:sp>
            <p:nvSpPr>
              <p:cNvPr id="290" name="Text Box 69">
                <a:extLst>
                  <a:ext uri="{FF2B5EF4-FFF2-40B4-BE49-F238E27FC236}">
                    <a16:creationId xmlns:a16="http://schemas.microsoft.com/office/drawing/2014/main" id="{EE39D5A5-75E8-1642-A928-9D7249ADC116}"/>
                  </a:ext>
                </a:extLst>
              </p:cNvPr>
              <p:cNvSpPr txBox="1">
                <a:spLocks noChangeArrowheads="1"/>
              </p:cNvSpPr>
              <p:nvPr/>
            </p:nvSpPr>
            <p:spPr bwMode="auto">
              <a:xfrm>
                <a:off x="3062807" y="2369497"/>
                <a:ext cx="1345272"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retransmit</a:t>
                </a:r>
              </a:p>
              <a:p>
                <a:pPr algn="r" defTabSz="685800" eaLnBrk="0" fontAlgn="base" hangingPunct="0">
                  <a:lnSpc>
                    <a:spcPct val="85000"/>
                  </a:lnSpc>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req_conn</a:t>
                </a:r>
                <a:r>
                  <a:rPr lang="en-US" sz="1200" kern="0" dirty="0">
                    <a:solidFill>
                      <a:srgbClr val="000000"/>
                    </a:solidFill>
                    <a:latin typeface="Avenir Book" panose="020B0503020203020204" pitchFamily="34" charset="-78"/>
                    <a:cs typeface="Avenir Book" panose="020B0503020203020204" pitchFamily="34" charset="-78"/>
                  </a:rPr>
                  <a:t>(x)</a:t>
                </a:r>
              </a:p>
              <a:p>
                <a:pPr algn="r" defTabSz="685800" eaLnBrk="0" fontAlgn="base" hangingPunct="0">
                  <a:spcBef>
                    <a:spcPct val="0"/>
                  </a:spcBef>
                  <a:spcAft>
                    <a:spcPct val="0"/>
                  </a:spcAft>
                  <a:defRPr/>
                </a:pPr>
                <a:endParaRPr lang="en-US" sz="1200" kern="0" dirty="0">
                  <a:solidFill>
                    <a:srgbClr val="000000"/>
                  </a:solidFill>
                  <a:latin typeface="Avenir Book" panose="020B0503020203020204" pitchFamily="34" charset="-78"/>
                  <a:cs typeface="Avenir Book" panose="020B0503020203020204" pitchFamily="34" charset="-78"/>
                </a:endParaRPr>
              </a:p>
            </p:txBody>
          </p:sp>
          <p:sp>
            <p:nvSpPr>
              <p:cNvPr id="291" name="Freeform 70">
                <a:extLst>
                  <a:ext uri="{FF2B5EF4-FFF2-40B4-BE49-F238E27FC236}">
                    <a16:creationId xmlns:a16="http://schemas.microsoft.com/office/drawing/2014/main" id="{87666E37-BAB8-714B-BDF4-51ADC162FD6B}"/>
                  </a:ext>
                </a:extLst>
              </p:cNvPr>
              <p:cNvSpPr>
                <a:spLocks/>
              </p:cNvSpPr>
              <p:nvPr/>
            </p:nvSpPr>
            <p:spPr bwMode="auto">
              <a:xfrm>
                <a:off x="4449353" y="2671122"/>
                <a:ext cx="1527175" cy="2559050"/>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panose="020B0600070205080204" pitchFamily="34" charset="-128"/>
                  <a:cs typeface="Avenir Book" panose="020B0503020203020204" pitchFamily="34" charset="-78"/>
                </a:endParaRPr>
              </a:p>
            </p:txBody>
          </p:sp>
        </p:grpSp>
        <p:sp>
          <p:nvSpPr>
            <p:cNvPr id="289" name="Oval 72">
              <a:extLst>
                <a:ext uri="{FF2B5EF4-FFF2-40B4-BE49-F238E27FC236}">
                  <a16:creationId xmlns:a16="http://schemas.microsoft.com/office/drawing/2014/main" id="{64BE47B6-AB1B-DB4F-891D-6475A8808F8F}"/>
                </a:ext>
              </a:extLst>
            </p:cNvPr>
            <p:cNvSpPr>
              <a:spLocks noChangeArrowheads="1"/>
            </p:cNvSpPr>
            <p:nvPr/>
          </p:nvSpPr>
          <p:spPr bwMode="auto">
            <a:xfrm>
              <a:off x="5933666" y="5152385"/>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CC0000"/>
                </a:solidFill>
                <a:latin typeface="Avenir Book" panose="020B0503020203020204" pitchFamily="34" charset="-78"/>
                <a:ea typeface="ＭＳ Ｐゴシック" charset="0"/>
                <a:cs typeface="Avenir Book" panose="020B0503020203020204" pitchFamily="34" charset="-78"/>
              </a:endParaRPr>
            </a:p>
          </p:txBody>
        </p:sp>
      </p:grpSp>
      <p:grpSp>
        <p:nvGrpSpPr>
          <p:cNvPr id="293" name="Group 292">
            <a:extLst>
              <a:ext uri="{FF2B5EF4-FFF2-40B4-BE49-F238E27FC236}">
                <a16:creationId xmlns:a16="http://schemas.microsoft.com/office/drawing/2014/main" id="{09A60973-A80A-204A-B7D6-FB475901ED33}"/>
              </a:ext>
            </a:extLst>
          </p:cNvPr>
          <p:cNvGrpSpPr/>
          <p:nvPr/>
        </p:nvGrpSpPr>
        <p:grpSpPr>
          <a:xfrm>
            <a:off x="9966690" y="1264157"/>
            <a:ext cx="1344217" cy="908452"/>
            <a:chOff x="8866868" y="1750372"/>
            <a:chExt cx="1792291" cy="1211269"/>
          </a:xfrm>
        </p:grpSpPr>
        <p:sp>
          <p:nvSpPr>
            <p:cNvPr id="294" name="Rectangle 106">
              <a:extLst>
                <a:ext uri="{FF2B5EF4-FFF2-40B4-BE49-F238E27FC236}">
                  <a16:creationId xmlns:a16="http://schemas.microsoft.com/office/drawing/2014/main" id="{6E5822A0-BC34-8444-893D-1967BA1DAE48}"/>
                </a:ext>
              </a:extLst>
            </p:cNvPr>
            <p:cNvSpPr>
              <a:spLocks noChangeArrowheads="1"/>
            </p:cNvSpPr>
            <p:nvPr/>
          </p:nvSpPr>
          <p:spPr bwMode="auto">
            <a:xfrm>
              <a:off x="9254218" y="1783710"/>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95"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019201" y="1750372"/>
              <a:ext cx="1282831" cy="36933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SYN,Seq</a:t>
              </a:r>
              <a:r>
                <a:rPr lang="en-US" sz="1200" kern="0" dirty="0">
                  <a:solidFill>
                    <a:srgbClr val="000000"/>
                  </a:solidFill>
                  <a:latin typeface="Avenir Book" panose="020B0503020203020204" pitchFamily="34" charset="-78"/>
                  <a:cs typeface="Avenir Book" panose="020B0503020203020204" pitchFamily="34" charset="-78"/>
                </a:rPr>
                <a:t>=x</a:t>
              </a:r>
            </a:p>
          </p:txBody>
        </p:sp>
        <p:sp>
          <p:nvSpPr>
            <p:cNvPr id="296" name="Rectangle 108">
              <a:extLst>
                <a:ext uri="{FF2B5EF4-FFF2-40B4-BE49-F238E27FC236}">
                  <a16:creationId xmlns:a16="http://schemas.microsoft.com/office/drawing/2014/main" id="{0F092120-BA14-CA43-B320-651262EF6262}"/>
                </a:ext>
              </a:extLst>
            </p:cNvPr>
            <p:cNvSpPr>
              <a:spLocks noChangeArrowheads="1"/>
            </p:cNvSpPr>
            <p:nvPr/>
          </p:nvSpPr>
          <p:spPr bwMode="auto">
            <a:xfrm>
              <a:off x="9432018" y="2207572"/>
              <a:ext cx="439738"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grpSp>
          <p:nvGrpSpPr>
            <p:cNvPr id="297" name="Group 113">
              <a:extLst>
                <a:ext uri="{FF2B5EF4-FFF2-40B4-BE49-F238E27FC236}">
                  <a16:creationId xmlns:a16="http://schemas.microsoft.com/office/drawing/2014/main" id="{204BAA52-89B1-794F-88E6-9C5622E551C2}"/>
                </a:ext>
              </a:extLst>
            </p:cNvPr>
            <p:cNvGrpSpPr>
              <a:grpSpLocks/>
            </p:cNvGrpSpPr>
            <p:nvPr/>
          </p:nvGrpSpPr>
          <p:grpSpPr bwMode="auto">
            <a:xfrm>
              <a:off x="8866868" y="2345690"/>
              <a:ext cx="1792291" cy="615951"/>
              <a:chOff x="903" y="2085"/>
              <a:chExt cx="1129" cy="388"/>
            </a:xfrm>
          </p:grpSpPr>
          <p:sp>
            <p:nvSpPr>
              <p:cNvPr id="298" name="Rectangle 114">
                <a:extLst>
                  <a:ext uri="{FF2B5EF4-FFF2-40B4-BE49-F238E27FC236}">
                    <a16:creationId xmlns:a16="http://schemas.microsoft.com/office/drawing/2014/main" id="{C6D2B144-2FD8-974E-9CC8-AFFFEB74685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299"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903" y="2085"/>
                <a:ext cx="1129" cy="3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SYNACK,</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a:t>
                </a:r>
                <a:r>
                  <a:rPr lang="en-US" sz="1200" b="1" kern="0" dirty="0" err="1">
                    <a:solidFill>
                      <a:srgbClr val="FF0000"/>
                    </a:solidFill>
                    <a:latin typeface="Avenir Book" panose="020B0503020203020204" pitchFamily="34" charset="-78"/>
                    <a:cs typeface="Avenir Book" panose="020B0503020203020204" pitchFamily="34" charset="-78"/>
                  </a:rPr>
                  <a:t>y</a:t>
                </a:r>
                <a:r>
                  <a:rPr lang="en-US" sz="1200" kern="0" dirty="0" err="1">
                    <a:solidFill>
                      <a:srgbClr val="000000"/>
                    </a:solidFill>
                    <a:latin typeface="Avenir Book" panose="020B0503020203020204" pitchFamily="34" charset="-78"/>
                    <a:cs typeface="Avenir Book" panose="020B0503020203020204" pitchFamily="34" charset="-78"/>
                  </a:rPr>
                  <a:t>,ACK</a:t>
                </a:r>
                <a:r>
                  <a:rPr lang="en-US" sz="1200" kern="0" dirty="0">
                    <a:solidFill>
                      <a:srgbClr val="000000"/>
                    </a:solidFill>
                    <a:latin typeface="Avenir Book" panose="020B0503020203020204" pitchFamily="34" charset="-78"/>
                    <a:cs typeface="Avenir Book" panose="020B0503020203020204" pitchFamily="34" charset="-78"/>
                  </a:rPr>
                  <a:t>=x+1</a:t>
                </a:r>
              </a:p>
            </p:txBody>
          </p:sp>
        </p:grpSp>
      </p:grpSp>
      <p:sp>
        <p:nvSpPr>
          <p:cNvPr id="300"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867581" y="2221642"/>
            <a:ext cx="1316386"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ACK,Seq</a:t>
            </a:r>
            <a:r>
              <a:rPr lang="en-US" sz="1200" kern="0" dirty="0">
                <a:solidFill>
                  <a:srgbClr val="000000"/>
                </a:solidFill>
                <a:latin typeface="Avenir Book" panose="020B0503020203020204" pitchFamily="34" charset="-78"/>
                <a:cs typeface="Avenir Book" panose="020B0503020203020204" pitchFamily="34" charset="-78"/>
              </a:rPr>
              <a:t>=x+1,</a:t>
            </a:r>
          </a:p>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ACK=y+1,DATA</a:t>
            </a:r>
          </a:p>
        </p:txBody>
      </p:sp>
      <p:sp>
        <p:nvSpPr>
          <p:cNvPr id="301"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10129065" y="3290617"/>
            <a:ext cx="962122" cy="27699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SYN,Seq</a:t>
            </a:r>
            <a:r>
              <a:rPr lang="en-US" sz="1200" kern="0" dirty="0">
                <a:solidFill>
                  <a:srgbClr val="000000"/>
                </a:solidFill>
                <a:latin typeface="Avenir Book" panose="020B0503020203020204" pitchFamily="34" charset="-78"/>
                <a:cs typeface="Avenir Book" panose="020B0503020203020204" pitchFamily="34" charset="-78"/>
              </a:rPr>
              <a:t>=x</a:t>
            </a:r>
          </a:p>
        </p:txBody>
      </p:sp>
      <p:sp>
        <p:nvSpPr>
          <p:cNvPr id="302"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10018813" y="4124508"/>
            <a:ext cx="1335623"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SYNACK,</a:t>
            </a:r>
          </a:p>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Seq</a:t>
            </a:r>
            <a:r>
              <a:rPr lang="en-US" sz="1200" kern="0" dirty="0">
                <a:solidFill>
                  <a:srgbClr val="000000"/>
                </a:solidFill>
                <a:latin typeface="Avenir Book" panose="020B0503020203020204" pitchFamily="34" charset="-78"/>
                <a:cs typeface="Avenir Book" panose="020B0503020203020204" pitchFamily="34" charset="-78"/>
              </a:rPr>
              <a:t>=</a:t>
            </a:r>
            <a:r>
              <a:rPr lang="en-US" sz="1200" b="1" kern="0" dirty="0" err="1">
                <a:solidFill>
                  <a:srgbClr val="FF0000"/>
                </a:solidFill>
                <a:latin typeface="Avenir Book" panose="020B0503020203020204" pitchFamily="34" charset="-78"/>
                <a:cs typeface="Avenir Book" panose="020B0503020203020204" pitchFamily="34" charset="-78"/>
              </a:rPr>
              <a:t>z</a:t>
            </a:r>
            <a:r>
              <a:rPr lang="en-US" sz="1200" kern="0" dirty="0" err="1">
                <a:solidFill>
                  <a:srgbClr val="000000"/>
                </a:solidFill>
                <a:latin typeface="Avenir Book" panose="020B0503020203020204" pitchFamily="34" charset="-78"/>
                <a:cs typeface="Avenir Book" panose="020B0503020203020204" pitchFamily="34" charset="-78"/>
              </a:rPr>
              <a:t>,ACK</a:t>
            </a:r>
            <a:r>
              <a:rPr lang="en-US" sz="1200" kern="0" dirty="0">
                <a:solidFill>
                  <a:srgbClr val="000000"/>
                </a:solidFill>
                <a:latin typeface="Avenir Book" panose="020B0503020203020204" pitchFamily="34" charset="-78"/>
                <a:cs typeface="Avenir Book" panose="020B0503020203020204" pitchFamily="34" charset="-78"/>
              </a:rPr>
              <a:t>=x+1</a:t>
            </a:r>
          </a:p>
        </p:txBody>
      </p:sp>
      <p:sp>
        <p:nvSpPr>
          <p:cNvPr id="303" name="Line 156">
            <a:extLst>
              <a:ext uri="{FF2B5EF4-FFF2-40B4-BE49-F238E27FC236}">
                <a16:creationId xmlns:a16="http://schemas.microsoft.com/office/drawing/2014/main" id="{16ACB45E-8A1D-F74A-9C70-18C251DD28E3}"/>
              </a:ext>
            </a:extLst>
          </p:cNvPr>
          <p:cNvSpPr>
            <a:spLocks noChangeShapeType="1"/>
          </p:cNvSpPr>
          <p:nvPr/>
        </p:nvSpPr>
        <p:spPr bwMode="auto">
          <a:xfrm flipH="1">
            <a:off x="9985731" y="3943207"/>
            <a:ext cx="1178719" cy="716756"/>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04"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403969" y="3699350"/>
            <a:ext cx="1316386" cy="46166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err="1">
                <a:solidFill>
                  <a:srgbClr val="000000"/>
                </a:solidFill>
                <a:latin typeface="Avenir Book" panose="020B0503020203020204" pitchFamily="34" charset="-78"/>
                <a:cs typeface="Avenir Book" panose="020B0503020203020204" pitchFamily="34" charset="-78"/>
              </a:rPr>
              <a:t>ACK,Seq</a:t>
            </a:r>
            <a:r>
              <a:rPr lang="en-US" sz="1200" kern="0" dirty="0">
                <a:solidFill>
                  <a:srgbClr val="000000"/>
                </a:solidFill>
                <a:latin typeface="Avenir Book" panose="020B0503020203020204" pitchFamily="34" charset="-78"/>
                <a:cs typeface="Avenir Book" panose="020B0503020203020204" pitchFamily="34" charset="-78"/>
              </a:rPr>
              <a:t>=x+1,</a:t>
            </a:r>
          </a:p>
          <a:p>
            <a:pPr algn="ctr" defTabSz="685800" eaLnBrk="0" fontAlgn="base" hangingPunct="0">
              <a:spcBef>
                <a:spcPct val="0"/>
              </a:spcBef>
              <a:spcAft>
                <a:spcPct val="0"/>
              </a:spcAft>
              <a:defRPr/>
            </a:pPr>
            <a:r>
              <a:rPr lang="en-US" sz="1200" kern="0" dirty="0">
                <a:solidFill>
                  <a:srgbClr val="000000"/>
                </a:solidFill>
                <a:latin typeface="Avenir Book" panose="020B0503020203020204" pitchFamily="34" charset="-78"/>
                <a:cs typeface="Avenir Book" panose="020B0503020203020204" pitchFamily="34" charset="-78"/>
              </a:rPr>
              <a:t>ACK=y+1.DATA</a:t>
            </a:r>
          </a:p>
        </p:txBody>
      </p:sp>
      <p:sp>
        <p:nvSpPr>
          <p:cNvPr id="305" name="Line 104">
            <a:extLst>
              <a:ext uri="{FF2B5EF4-FFF2-40B4-BE49-F238E27FC236}">
                <a16:creationId xmlns:a16="http://schemas.microsoft.com/office/drawing/2014/main" id="{1CA9B668-6F05-1A48-9C2A-8D882F798CE6}"/>
              </a:ext>
            </a:extLst>
          </p:cNvPr>
          <p:cNvSpPr>
            <a:spLocks noChangeShapeType="1"/>
          </p:cNvSpPr>
          <p:nvPr/>
        </p:nvSpPr>
        <p:spPr bwMode="auto">
          <a:xfrm>
            <a:off x="9994438" y="4694909"/>
            <a:ext cx="1109661" cy="2369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Avenir Book" panose="020B0503020203020204" pitchFamily="34" charset="-78"/>
              <a:ea typeface="ＭＳ Ｐゴシック" charset="0"/>
              <a:cs typeface="Avenir Book" panose="020B0503020203020204" pitchFamily="34" charset="-78"/>
            </a:endParaRPr>
          </a:p>
        </p:txBody>
      </p:sp>
      <p:sp>
        <p:nvSpPr>
          <p:cNvPr id="306"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991360" y="4689629"/>
            <a:ext cx="1173719" cy="276999"/>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b="1" kern="0" dirty="0">
                <a:solidFill>
                  <a:srgbClr val="FF0000"/>
                </a:solidFill>
                <a:latin typeface="Avenir Book" panose="020B0503020203020204" pitchFamily="34" charset="-78"/>
                <a:cs typeface="Avenir Book" panose="020B0503020203020204" pitchFamily="34" charset="-78"/>
              </a:rPr>
              <a:t>RST</a:t>
            </a:r>
            <a:r>
              <a:rPr lang="en-US" sz="1200" kern="0" dirty="0">
                <a:solidFill>
                  <a:srgbClr val="000000"/>
                </a:solidFill>
                <a:latin typeface="Avenir Book" panose="020B0503020203020204" pitchFamily="34" charset="-78"/>
                <a:cs typeface="Avenir Book" panose="020B0503020203020204" pitchFamily="34" charset="-78"/>
              </a:rPr>
              <a:t>,ACK=z+1</a:t>
            </a:r>
          </a:p>
        </p:txBody>
      </p:sp>
      <p:sp>
        <p:nvSpPr>
          <p:cNvPr id="307" name="Rectangle 306"/>
          <p:cNvSpPr/>
          <p:nvPr/>
        </p:nvSpPr>
        <p:spPr>
          <a:xfrm>
            <a:off x="9495025" y="4501059"/>
            <a:ext cx="502061" cy="369332"/>
          </a:xfrm>
          <a:prstGeom prst="rect">
            <a:avLst/>
          </a:prstGeom>
        </p:spPr>
        <p:txBody>
          <a:bodyPr wrap="none">
            <a:spAutoFit/>
          </a:bodyPr>
          <a:lstStyle/>
          <a:p>
            <a:r>
              <a:rPr lang="en-IN" altLang="en-US" dirty="0">
                <a:solidFill>
                  <a:srgbClr val="C00000"/>
                </a:solidFill>
                <a:latin typeface="Segoe UI Emoji" panose="020B0502040204020203" pitchFamily="34" charset="0"/>
                <a:ea typeface="Segoe UI Emoji" panose="020B0502040204020203" pitchFamily="34" charset="0"/>
              </a:rPr>
              <a:t>🤔</a:t>
            </a:r>
            <a:endParaRPr lang="en-IN" dirty="0"/>
          </a:p>
        </p:txBody>
      </p:sp>
      <p:sp>
        <p:nvSpPr>
          <p:cNvPr id="308" name="Rectangle 307"/>
          <p:cNvSpPr/>
          <p:nvPr/>
        </p:nvSpPr>
        <p:spPr>
          <a:xfrm>
            <a:off x="11087811" y="3973824"/>
            <a:ext cx="502061" cy="369332"/>
          </a:xfrm>
          <a:prstGeom prst="rect">
            <a:avLst/>
          </a:prstGeom>
        </p:spPr>
        <p:txBody>
          <a:bodyPr wrap="none">
            <a:spAutoFit/>
          </a:bodyPr>
          <a:lstStyle/>
          <a:p>
            <a:r>
              <a:rPr lang="en-IN" altLang="en-US" dirty="0">
                <a:solidFill>
                  <a:srgbClr val="C00000"/>
                </a:solidFill>
                <a:latin typeface="Segoe UI Emoji" panose="020B0502040204020203" pitchFamily="34" charset="0"/>
                <a:ea typeface="Segoe UI Emoji" panose="020B0502040204020203" pitchFamily="34" charset="0"/>
              </a:rPr>
              <a:t>🤔</a:t>
            </a:r>
            <a:endParaRPr lang="en-IN" dirty="0"/>
          </a:p>
        </p:txBody>
      </p:sp>
      <p:sp>
        <p:nvSpPr>
          <p:cNvPr id="155"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1137321" y="1405684"/>
            <a:ext cx="59343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SYN </a:t>
            </a:r>
          </a:p>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RCVD</a:t>
            </a:r>
          </a:p>
        </p:txBody>
      </p:sp>
      <p:sp>
        <p:nvSpPr>
          <p:cNvPr id="156"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1145656" y="3590632"/>
            <a:ext cx="59343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SYN </a:t>
            </a:r>
          </a:p>
          <a:p>
            <a:pPr algn="ctr" defTabSz="685800" eaLnBrk="0" fontAlgn="base" hangingPunct="0">
              <a:spcBef>
                <a:spcPct val="0"/>
              </a:spcBef>
              <a:spcAft>
                <a:spcPct val="0"/>
              </a:spcAft>
              <a:defRPr/>
            </a:pPr>
            <a:r>
              <a:rPr lang="en-US" sz="1200" kern="0" dirty="0">
                <a:solidFill>
                  <a:srgbClr val="CC0000"/>
                </a:solidFill>
                <a:latin typeface="Avenir Book" panose="020B0503020203020204" pitchFamily="34" charset="-78"/>
                <a:cs typeface="Avenir Book" panose="020B0503020203020204" pitchFamily="34" charset="-78"/>
              </a:rPr>
              <a:t>RCVD</a:t>
            </a:r>
          </a:p>
        </p:txBody>
      </p:sp>
    </p:spTree>
    <p:extLst>
      <p:ext uri="{BB962C8B-B14F-4D97-AF65-F5344CB8AC3E}">
        <p14:creationId xmlns:p14="http://schemas.microsoft.com/office/powerpoint/2010/main" val="114907860"/>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247709" y="298186"/>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Closing a TCP Connection</a:t>
            </a:r>
            <a:endParaRPr lang="en-US" sz="3300" dirty="0">
              <a:latin typeface="Avenir Book" panose="020B0503020203020204" pitchFamily="34" charset="-78"/>
              <a:cs typeface="Avenir Book" panose="020B0503020203020204" pitchFamily="34" charset="-78"/>
            </a:endParaRPr>
          </a:p>
        </p:txBody>
      </p:sp>
      <p:sp>
        <p:nvSpPr>
          <p:cNvPr id="47" name="Rectangle 47">
            <a:extLst>
              <a:ext uri="{FF2B5EF4-FFF2-40B4-BE49-F238E27FC236}">
                <a16:creationId xmlns:a16="http://schemas.microsoft.com/office/drawing/2014/main" id="{B20BADCC-1032-9A48-BC43-B4E1275E4EDF}"/>
              </a:ext>
            </a:extLst>
          </p:cNvPr>
          <p:cNvSpPr txBox="1">
            <a:spLocks noChangeArrowheads="1"/>
          </p:cNvSpPr>
          <p:nvPr/>
        </p:nvSpPr>
        <p:spPr>
          <a:xfrm>
            <a:off x="610102" y="1273180"/>
            <a:ext cx="4667291" cy="4163344"/>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2100" dirty="0">
                <a:solidFill>
                  <a:prstClr val="black"/>
                </a:solidFill>
                <a:latin typeface="Avenir Book" panose="020B0503020203020204" pitchFamily="34" charset="-78"/>
                <a:cs typeface="Avenir Book" panose="020B0503020203020204" pitchFamily="34" charset="-78"/>
              </a:rPr>
              <a:t>Client, server each close their side of connection</a:t>
            </a:r>
          </a:p>
          <a:p>
            <a:pPr marL="521494" lvl="1" indent="-173831" defTabSz="685800">
              <a:spcBef>
                <a:spcPts val="375"/>
              </a:spcBef>
              <a:buFont typeface="Arial"/>
              <a:buChar char="•"/>
              <a:defRPr/>
            </a:pPr>
            <a:r>
              <a:rPr lang="en-US" sz="1800" dirty="0">
                <a:solidFill>
                  <a:prstClr val="black"/>
                </a:solidFill>
                <a:latin typeface="Avenir Book" panose="020B0503020203020204" pitchFamily="34" charset="-78"/>
                <a:cs typeface="Avenir Book" panose="020B0503020203020204" pitchFamily="34" charset="-78"/>
              </a:rPr>
              <a:t>Send TCP segment with FIN bit = 1</a:t>
            </a:r>
          </a:p>
          <a:p>
            <a:pPr marL="347663" lvl="1" indent="0" defTabSz="685800">
              <a:spcBef>
                <a:spcPts val="375"/>
              </a:spcBef>
              <a:buNone/>
              <a:defRPr/>
            </a:pPr>
            <a:endParaRPr lang="en-US" sz="1800" dirty="0">
              <a:solidFill>
                <a:prstClr val="black"/>
              </a:solidFill>
              <a:latin typeface="Avenir Book" panose="020B0503020203020204" pitchFamily="34" charset="-78"/>
              <a:cs typeface="Avenir Book" panose="020B0503020203020204" pitchFamily="34" charset="-78"/>
            </a:endParaRPr>
          </a:p>
          <a:p>
            <a:pPr marL="264319" indent="-166688" defTabSz="685800">
              <a:spcBef>
                <a:spcPts val="750"/>
              </a:spcBef>
              <a:buFont typeface="Wingdings" charset="2"/>
              <a:buChar char="§"/>
              <a:defRPr/>
            </a:pPr>
            <a:r>
              <a:rPr lang="en-US" sz="2100" dirty="0">
                <a:solidFill>
                  <a:prstClr val="black"/>
                </a:solidFill>
                <a:latin typeface="Avenir Book" panose="020B0503020203020204" pitchFamily="34" charset="-78"/>
                <a:cs typeface="Avenir Book" panose="020B0503020203020204" pitchFamily="34" charset="-78"/>
              </a:rPr>
              <a:t>Respond to received FIN with ACK</a:t>
            </a:r>
          </a:p>
          <a:p>
            <a:pPr marL="521494" lvl="1" indent="-173831" defTabSz="685800">
              <a:spcBef>
                <a:spcPts val="375"/>
              </a:spcBef>
              <a:buFont typeface="Arial"/>
              <a:buChar char="•"/>
              <a:defRPr/>
            </a:pPr>
            <a:r>
              <a:rPr lang="en-US" sz="1800" dirty="0">
                <a:solidFill>
                  <a:prstClr val="black"/>
                </a:solidFill>
                <a:latin typeface="Avenir Book" panose="020B0503020203020204" pitchFamily="34" charset="-78"/>
                <a:cs typeface="Avenir Book" panose="020B0503020203020204" pitchFamily="34" charset="-78"/>
              </a:rPr>
              <a:t>On receiving FIN, ACK can be combined with own FIN</a:t>
            </a:r>
          </a:p>
          <a:p>
            <a:pPr marL="347663" lvl="1" indent="0" defTabSz="685800">
              <a:spcBef>
                <a:spcPts val="375"/>
              </a:spcBef>
              <a:buNone/>
              <a:defRPr/>
            </a:pPr>
            <a:endParaRPr lang="en-US" sz="1800" dirty="0">
              <a:solidFill>
                <a:prstClr val="black"/>
              </a:solidFill>
              <a:latin typeface="Avenir Book" panose="020B0503020203020204" pitchFamily="34" charset="-78"/>
              <a:cs typeface="Avenir Book" panose="020B0503020203020204" pitchFamily="34" charset="-78"/>
            </a:endParaRPr>
          </a:p>
          <a:p>
            <a:pPr marL="264319" indent="-166688" defTabSz="685800">
              <a:spcBef>
                <a:spcPts val="750"/>
              </a:spcBef>
              <a:buFont typeface="Wingdings" charset="2"/>
              <a:buChar char="§"/>
              <a:defRPr/>
            </a:pPr>
            <a:r>
              <a:rPr lang="en-US" sz="2100" dirty="0">
                <a:solidFill>
                  <a:prstClr val="black"/>
                </a:solidFill>
                <a:latin typeface="Avenir Book" panose="020B0503020203020204" pitchFamily="34" charset="-78"/>
                <a:cs typeface="Avenir Book" panose="020B0503020203020204" pitchFamily="34" charset="-78"/>
              </a:rPr>
              <a:t>All resources on the client side (including port number) are released</a:t>
            </a:r>
          </a:p>
        </p:txBody>
      </p:sp>
      <p:pic>
        <p:nvPicPr>
          <p:cNvPr id="1026" name="Picture 2" descr="File:Tcp close.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222" y="1334914"/>
            <a:ext cx="6016248" cy="330141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B1658BD5-0EA4-1264-B5EB-9D73BC47134E}"/>
              </a:ext>
            </a:extLst>
          </p:cNvPr>
          <p:cNvSpPr txBox="1">
            <a:spLocks noChangeArrowheads="1"/>
          </p:cNvSpPr>
          <p:nvPr/>
        </p:nvSpPr>
        <p:spPr bwMode="auto">
          <a:xfrm>
            <a:off x="6837670" y="4833766"/>
            <a:ext cx="4162840" cy="33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5000"/>
              </a:lnSpc>
              <a:spcBef>
                <a:spcPct val="20000"/>
              </a:spcBef>
              <a:buClr>
                <a:srgbClr val="000099"/>
              </a:buClr>
              <a:buSzPct val="75000"/>
              <a:defRPr/>
            </a:pPr>
            <a:r>
              <a:rPr lang="en-US" altLang="en-US" sz="1200" dirty="0" err="1">
                <a:solidFill>
                  <a:prstClr val="black"/>
                </a:solidFill>
                <a:latin typeface="+mn-lt"/>
                <a:ea typeface="Arial" panose="020B0604020202020204" pitchFamily="34" charset="0"/>
              </a:rPr>
              <a:t>Src</a:t>
            </a:r>
            <a:r>
              <a:rPr lang="en-US" altLang="en-US" sz="1200" dirty="0">
                <a:solidFill>
                  <a:prstClr val="black"/>
                </a:solidFill>
                <a:latin typeface="+mn-lt"/>
                <a:ea typeface="Arial" panose="020B0604020202020204" pitchFamily="34" charset="0"/>
              </a:rPr>
              <a:t>: https://commons.wikimedia.org/wiki/File:Tcp_close.svg</a:t>
            </a:r>
            <a:endParaRPr lang="en-US" altLang="en-US" sz="1200" dirty="0">
              <a:solidFill>
                <a:prstClr val="black"/>
              </a:solidFill>
              <a:latin typeface="+mn-lt"/>
              <a:cs typeface="Calibri" panose="020F0502020204030204" pitchFamily="34" charset="0"/>
            </a:endParaRPr>
          </a:p>
        </p:txBody>
      </p:sp>
    </p:spTree>
    <p:extLst>
      <p:ext uri="{BB962C8B-B14F-4D97-AF65-F5344CB8AC3E}">
        <p14:creationId xmlns:p14="http://schemas.microsoft.com/office/powerpoint/2010/main" val="2823284942"/>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247709" y="211460"/>
            <a:ext cx="8544983" cy="670967"/>
          </a:xfrm>
        </p:spPr>
        <p:txBody>
          <a:bodyPr>
            <a:normAutofit/>
          </a:bodyPr>
          <a:lstStyle/>
          <a:p>
            <a:pPr algn="ctr"/>
            <a:r>
              <a:rPr lang="en-US" sz="3600" dirty="0">
                <a:latin typeface="Avenir Book" panose="020B0503020203020204" pitchFamily="34" charset="-78"/>
                <a:cs typeface="Avenir Book" panose="020B0503020203020204" pitchFamily="34" charset="-78"/>
              </a:rPr>
              <a:t>Closing a TCP Connection</a:t>
            </a:r>
            <a:endParaRPr lang="en-US" sz="3300" dirty="0">
              <a:latin typeface="Avenir Book" panose="020B0503020203020204" pitchFamily="34" charset="-78"/>
              <a:cs typeface="Avenir Book" panose="020B0503020203020204" pitchFamily="34" charset="-78"/>
            </a:endParaRPr>
          </a:p>
        </p:txBody>
      </p:sp>
      <p:sp>
        <p:nvSpPr>
          <p:cNvPr id="47" name="Rectangle 47">
            <a:extLst>
              <a:ext uri="{FF2B5EF4-FFF2-40B4-BE49-F238E27FC236}">
                <a16:creationId xmlns:a16="http://schemas.microsoft.com/office/drawing/2014/main" id="{B20BADCC-1032-9A48-BC43-B4E1275E4EDF}"/>
              </a:ext>
            </a:extLst>
          </p:cNvPr>
          <p:cNvSpPr txBox="1">
            <a:spLocks noChangeArrowheads="1"/>
          </p:cNvSpPr>
          <p:nvPr/>
        </p:nvSpPr>
        <p:spPr>
          <a:xfrm>
            <a:off x="182879" y="882427"/>
            <a:ext cx="5225143" cy="435666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2100" dirty="0">
                <a:solidFill>
                  <a:srgbClr val="0000FF"/>
                </a:solidFill>
                <a:latin typeface="Avenir Book" panose="020B0503020203020204" pitchFamily="34" charset="-78"/>
                <a:cs typeface="Avenir Book" panose="020B0503020203020204" pitchFamily="34" charset="-78"/>
              </a:rPr>
              <a:t>Symmetric</a:t>
            </a:r>
            <a:r>
              <a:rPr lang="en-US" sz="2100" dirty="0">
                <a:solidFill>
                  <a:prstClr val="black"/>
                </a:solidFill>
                <a:latin typeface="Avenir Book" panose="020B0503020203020204" pitchFamily="34" charset="-78"/>
                <a:cs typeface="Avenir Book" panose="020B0503020203020204" pitchFamily="34" charset="-78"/>
              </a:rPr>
              <a:t> connection termination</a:t>
            </a:r>
          </a:p>
          <a:p>
            <a:pPr marL="521494" lvl="1" indent="-173831" defTabSz="685800">
              <a:spcBef>
                <a:spcPts val="375"/>
              </a:spcBef>
              <a:buFont typeface="Arial"/>
              <a:buChar char="•"/>
              <a:defRPr/>
            </a:pPr>
            <a:r>
              <a:rPr lang="en-US" sz="1800" dirty="0">
                <a:solidFill>
                  <a:prstClr val="black"/>
                </a:solidFill>
                <a:latin typeface="Avenir Book" panose="020B0503020203020204" pitchFamily="34" charset="-78"/>
                <a:cs typeface="Avenir Book" panose="020B0503020203020204" pitchFamily="34" charset="-78"/>
              </a:rPr>
              <a:t>Both side should release separately</a:t>
            </a:r>
          </a:p>
          <a:p>
            <a:pPr marL="521494" lvl="1" indent="-173831" defTabSz="685800">
              <a:spcBef>
                <a:spcPts val="375"/>
              </a:spcBef>
              <a:buFont typeface="Arial"/>
              <a:buChar char="•"/>
              <a:defRPr/>
            </a:pPr>
            <a:r>
              <a:rPr lang="en-US" sz="1800" dirty="0">
                <a:solidFill>
                  <a:prstClr val="black"/>
                </a:solidFill>
                <a:latin typeface="Avenir Book" panose="020B0503020203020204" pitchFamily="34" charset="-78"/>
                <a:cs typeface="Avenir Book" panose="020B0503020203020204" pitchFamily="34" charset="-78"/>
              </a:rPr>
              <a:t>B may have some data to transmit</a:t>
            </a:r>
          </a:p>
          <a:p>
            <a:pPr marL="347663" lvl="1" indent="0" defTabSz="685800">
              <a:spcBef>
                <a:spcPts val="375"/>
              </a:spcBef>
              <a:buNone/>
              <a:defRPr/>
            </a:pPr>
            <a:endParaRPr lang="en-US" sz="1800" dirty="0">
              <a:solidFill>
                <a:prstClr val="black"/>
              </a:solidFill>
              <a:latin typeface="Avenir Book" panose="020B0503020203020204" pitchFamily="34" charset="-78"/>
              <a:cs typeface="Avenir Book" panose="020B0503020203020204" pitchFamily="34" charset="-78"/>
            </a:endParaRPr>
          </a:p>
          <a:p>
            <a:pPr marL="264319" indent="-166688" defTabSz="685800">
              <a:spcBef>
                <a:spcPts val="750"/>
              </a:spcBef>
              <a:buFont typeface="Wingdings" charset="2"/>
              <a:buChar char="§"/>
              <a:defRPr/>
            </a:pPr>
            <a:r>
              <a:rPr lang="en-US" sz="2100" dirty="0">
                <a:solidFill>
                  <a:prstClr val="black"/>
                </a:solidFill>
                <a:latin typeface="Avenir Book" panose="020B0503020203020204" pitchFamily="34" charset="-78"/>
                <a:cs typeface="Avenir Book" panose="020B0503020203020204" pitchFamily="34" charset="-78"/>
              </a:rPr>
              <a:t>TIME_WAIT varies from 30 secs - 2 </a:t>
            </a:r>
            <a:r>
              <a:rPr lang="en-US" sz="2100" dirty="0" err="1">
                <a:solidFill>
                  <a:prstClr val="black"/>
                </a:solidFill>
                <a:latin typeface="Avenir Book" panose="020B0503020203020204" pitchFamily="34" charset="-78"/>
                <a:cs typeface="Avenir Book" panose="020B0503020203020204" pitchFamily="34" charset="-78"/>
              </a:rPr>
              <a:t>mins</a:t>
            </a:r>
            <a:endParaRPr lang="en-US" sz="2100" dirty="0">
              <a:solidFill>
                <a:prstClr val="black"/>
              </a:solidFill>
              <a:latin typeface="Avenir Book" panose="020B0503020203020204" pitchFamily="34" charset="-78"/>
              <a:cs typeface="Avenir Book" panose="020B0503020203020204" pitchFamily="34" charset="-78"/>
            </a:endParaRPr>
          </a:p>
          <a:p>
            <a:pPr marL="521494" lvl="1" indent="-173831" defTabSz="685800">
              <a:spcBef>
                <a:spcPts val="375"/>
              </a:spcBef>
              <a:buFont typeface="Arial"/>
              <a:buChar char="•"/>
              <a:defRPr/>
            </a:pPr>
            <a:r>
              <a:rPr lang="en-US" sz="1800" dirty="0">
                <a:solidFill>
                  <a:prstClr val="black"/>
                </a:solidFill>
                <a:latin typeface="Avenir Book" panose="020B0503020203020204" pitchFamily="34" charset="-78"/>
                <a:cs typeface="Avenir Book" panose="020B0503020203020204" pitchFamily="34" charset="-78"/>
              </a:rPr>
              <a:t>Typically equal to </a:t>
            </a:r>
            <a:r>
              <a:rPr lang="en-US" sz="1800" dirty="0">
                <a:solidFill>
                  <a:srgbClr val="C00000"/>
                </a:solidFill>
                <a:latin typeface="Avenir Book" panose="020B0503020203020204" pitchFamily="34" charset="-78"/>
                <a:cs typeface="Avenir Book" panose="020B0503020203020204" pitchFamily="34" charset="-78"/>
              </a:rPr>
              <a:t>2 x Max time an IP datagram might live </a:t>
            </a:r>
            <a:r>
              <a:rPr lang="en-US" sz="1800" dirty="0">
                <a:solidFill>
                  <a:prstClr val="black"/>
                </a:solidFill>
                <a:latin typeface="Avenir Book" panose="020B0503020203020204" pitchFamily="34" charset="-78"/>
                <a:cs typeface="Avenir Book" panose="020B0503020203020204" pitchFamily="34" charset="-78"/>
              </a:rPr>
              <a:t>in the Internet</a:t>
            </a:r>
          </a:p>
          <a:p>
            <a:pPr marL="521494" lvl="1" indent="-173831" defTabSz="685800">
              <a:spcBef>
                <a:spcPts val="375"/>
              </a:spcBef>
              <a:buFont typeface="Arial"/>
              <a:buChar char="•"/>
              <a:defRPr/>
            </a:pPr>
            <a:r>
              <a:rPr lang="en-US" sz="1800" dirty="0">
                <a:solidFill>
                  <a:prstClr val="black"/>
                </a:solidFill>
                <a:latin typeface="Avenir Book" panose="020B0503020203020204" pitchFamily="34" charset="-78"/>
                <a:cs typeface="Avenir Book" panose="020B0503020203020204" pitchFamily="34" charset="-78"/>
              </a:rPr>
              <a:t>Final ACK may be lost</a:t>
            </a:r>
          </a:p>
          <a:p>
            <a:pPr marL="969169" lvl="2" indent="-173831" defTabSz="685800">
              <a:spcBef>
                <a:spcPts val="375"/>
              </a:spcBef>
              <a:buFont typeface="Arial"/>
              <a:buChar char="•"/>
              <a:defRPr/>
            </a:pPr>
            <a:r>
              <a:rPr lang="en-US" sz="1400" dirty="0">
                <a:solidFill>
                  <a:prstClr val="black"/>
                </a:solidFill>
                <a:latin typeface="Avenir Book" panose="020B0503020203020204" pitchFamily="34" charset="-78"/>
                <a:cs typeface="Avenir Book" panose="020B0503020203020204" pitchFamily="34" charset="-78"/>
              </a:rPr>
              <a:t>B may retransmit the FIN</a:t>
            </a:r>
          </a:p>
          <a:p>
            <a:pPr marL="969169" lvl="2" indent="-173831" defTabSz="685800">
              <a:spcBef>
                <a:spcPts val="375"/>
              </a:spcBef>
              <a:buFont typeface="Arial"/>
              <a:buChar char="•"/>
              <a:defRPr/>
            </a:pPr>
            <a:r>
              <a:rPr lang="en-US" sz="1400" dirty="0">
                <a:solidFill>
                  <a:prstClr val="black"/>
                </a:solidFill>
                <a:latin typeface="Avenir Book" panose="020B0503020203020204" pitchFamily="34" charset="-78"/>
                <a:cs typeface="Avenir Book" panose="020B0503020203020204" pitchFamily="34" charset="-78"/>
              </a:rPr>
              <a:t>A can resend </a:t>
            </a:r>
            <a:r>
              <a:rPr lang="en-US" sz="1400" dirty="0">
                <a:solidFill>
                  <a:srgbClr val="0000FF"/>
                </a:solidFill>
                <a:latin typeface="Avenir Book" panose="020B0503020203020204" pitchFamily="34" charset="-78"/>
                <a:cs typeface="Avenir Book" panose="020B0503020203020204" pitchFamily="34" charset="-78"/>
              </a:rPr>
              <a:t>final ACK</a:t>
            </a:r>
            <a:r>
              <a:rPr lang="en-US" sz="1400" dirty="0">
                <a:solidFill>
                  <a:prstClr val="black"/>
                </a:solidFill>
                <a:latin typeface="Avenir Book" panose="020B0503020203020204" pitchFamily="34" charset="-78"/>
                <a:cs typeface="Avenir Book" panose="020B0503020203020204" pitchFamily="34" charset="-78"/>
              </a:rPr>
              <a:t> in case it is lost</a:t>
            </a:r>
          </a:p>
          <a:p>
            <a:pPr marL="969169" lvl="2" indent="-173831" defTabSz="685800">
              <a:spcBef>
                <a:spcPts val="375"/>
              </a:spcBef>
              <a:buFont typeface="Arial"/>
              <a:buChar char="•"/>
              <a:defRPr/>
            </a:pPr>
            <a:endParaRPr lang="en-US" sz="1400" dirty="0">
              <a:solidFill>
                <a:prstClr val="black"/>
              </a:solidFill>
              <a:latin typeface="Avenir Book" panose="020B0503020203020204" pitchFamily="34" charset="-78"/>
              <a:cs typeface="Avenir Book" panose="020B0503020203020204" pitchFamily="34" charset="-78"/>
            </a:endParaRPr>
          </a:p>
          <a:p>
            <a:pPr marL="969169" lvl="2" indent="-173831" defTabSz="685800">
              <a:spcBef>
                <a:spcPts val="375"/>
              </a:spcBef>
              <a:buFont typeface="Arial"/>
              <a:buChar char="•"/>
              <a:defRPr/>
            </a:pPr>
            <a:r>
              <a:rPr lang="en-US" sz="1400" dirty="0">
                <a:solidFill>
                  <a:prstClr val="black"/>
                </a:solidFill>
                <a:latin typeface="Avenir Book" panose="020B0503020203020204" pitchFamily="34" charset="-78"/>
                <a:cs typeface="Avenir Book" panose="020B0503020203020204" pitchFamily="34" charset="-78"/>
              </a:rPr>
              <a:t>The second FIN may get delayed</a:t>
            </a:r>
          </a:p>
          <a:p>
            <a:pPr marL="969169" lvl="2" indent="-173831" defTabSz="685800">
              <a:spcBef>
                <a:spcPts val="375"/>
              </a:spcBef>
              <a:buFont typeface="Arial"/>
              <a:buChar char="•"/>
              <a:defRPr/>
            </a:pPr>
            <a:r>
              <a:rPr lang="en-US" sz="1400" dirty="0">
                <a:solidFill>
                  <a:prstClr val="black"/>
                </a:solidFill>
                <a:latin typeface="Avenir Book" panose="020B0503020203020204" pitchFamily="34" charset="-78"/>
                <a:cs typeface="Avenir Book" panose="020B0503020203020204" pitchFamily="34" charset="-78"/>
              </a:rPr>
              <a:t>Another pair of processes may </a:t>
            </a:r>
            <a:r>
              <a:rPr lang="en-US" sz="1400">
                <a:solidFill>
                  <a:prstClr val="black"/>
                </a:solidFill>
                <a:latin typeface="Avenir Book" panose="020B0503020203020204" pitchFamily="34" charset="-78"/>
                <a:cs typeface="Avenir Book" panose="020B0503020203020204" pitchFamily="34" charset="-78"/>
              </a:rPr>
              <a:t>open the </a:t>
            </a:r>
            <a:r>
              <a:rPr lang="en-US" sz="1400" dirty="0">
                <a:solidFill>
                  <a:prstClr val="black"/>
                </a:solidFill>
                <a:latin typeface="Avenir Book" panose="020B0503020203020204" pitchFamily="34" charset="-78"/>
                <a:cs typeface="Avenir Book" panose="020B0503020203020204" pitchFamily="34" charset="-78"/>
              </a:rPr>
              <a:t>connection (with same port numbers)</a:t>
            </a:r>
          </a:p>
          <a:p>
            <a:pPr marL="969169" lvl="2" indent="-173831" defTabSz="685800">
              <a:spcBef>
                <a:spcPts val="375"/>
              </a:spcBef>
              <a:buFont typeface="Arial"/>
              <a:buChar char="•"/>
              <a:defRPr/>
            </a:pPr>
            <a:r>
              <a:rPr lang="en-US" sz="1400" dirty="0">
                <a:solidFill>
                  <a:prstClr val="black"/>
                </a:solidFill>
                <a:latin typeface="Avenir Book" panose="020B0503020203020204" pitchFamily="34" charset="-78"/>
                <a:cs typeface="Avenir Book" panose="020B0503020203020204" pitchFamily="34" charset="-78"/>
              </a:rPr>
              <a:t>The delayed FIN may initiate an unwanted termination</a:t>
            </a:r>
          </a:p>
        </p:txBody>
      </p:sp>
      <p:pic>
        <p:nvPicPr>
          <p:cNvPr id="1026" name="Picture 2" descr="File:Tcp close.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222" y="1334914"/>
            <a:ext cx="6016248" cy="330141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B1658BD5-0EA4-1264-B5EB-9D73BC47134E}"/>
              </a:ext>
            </a:extLst>
          </p:cNvPr>
          <p:cNvSpPr txBox="1">
            <a:spLocks noChangeArrowheads="1"/>
          </p:cNvSpPr>
          <p:nvPr/>
        </p:nvSpPr>
        <p:spPr bwMode="auto">
          <a:xfrm>
            <a:off x="6837670" y="4833766"/>
            <a:ext cx="4162840" cy="33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5000"/>
              </a:lnSpc>
              <a:spcBef>
                <a:spcPct val="20000"/>
              </a:spcBef>
              <a:buClr>
                <a:srgbClr val="000099"/>
              </a:buClr>
              <a:buSzPct val="75000"/>
              <a:defRPr/>
            </a:pPr>
            <a:r>
              <a:rPr lang="en-US" altLang="en-US" sz="1200" dirty="0" err="1">
                <a:solidFill>
                  <a:prstClr val="black"/>
                </a:solidFill>
                <a:latin typeface="+mn-lt"/>
                <a:ea typeface="Arial" panose="020B0604020202020204" pitchFamily="34" charset="0"/>
              </a:rPr>
              <a:t>Src</a:t>
            </a:r>
            <a:r>
              <a:rPr lang="en-US" altLang="en-US" sz="1200" dirty="0">
                <a:solidFill>
                  <a:prstClr val="black"/>
                </a:solidFill>
                <a:latin typeface="+mn-lt"/>
                <a:ea typeface="Arial" panose="020B0604020202020204" pitchFamily="34" charset="0"/>
              </a:rPr>
              <a:t>: https://commons.wikimedia.org/wiki/File:Tcp_close.svg</a:t>
            </a:r>
            <a:endParaRPr lang="en-US" altLang="en-US" sz="1200" dirty="0">
              <a:solidFill>
                <a:prstClr val="black"/>
              </a:solidFill>
              <a:latin typeface="+mn-lt"/>
              <a:cs typeface="Calibri" panose="020F0502020204030204" pitchFamily="34" charset="0"/>
            </a:endParaRPr>
          </a:p>
        </p:txBody>
      </p:sp>
      <p:sp>
        <p:nvSpPr>
          <p:cNvPr id="6" name="TextBox 5"/>
          <p:cNvSpPr txBox="1"/>
          <p:nvPr/>
        </p:nvSpPr>
        <p:spPr>
          <a:xfrm>
            <a:off x="58190" y="3442508"/>
            <a:ext cx="908903" cy="338554"/>
          </a:xfrm>
          <a:prstGeom prst="rect">
            <a:avLst/>
          </a:prstGeom>
          <a:noFill/>
        </p:spPr>
        <p:txBody>
          <a:bodyPr wrap="square" rtlCol="0">
            <a:spAutoFit/>
          </a:bodyPr>
          <a:lstStyle/>
          <a:p>
            <a:r>
              <a:rPr lang="en-IN" sz="1600" b="1" dirty="0">
                <a:solidFill>
                  <a:srgbClr val="7030A0"/>
                </a:solidFill>
                <a:latin typeface="Avenir Book" panose="020B0503020203020204" pitchFamily="34" charset="-78"/>
                <a:cs typeface="Avenir Book" panose="020B0503020203020204" pitchFamily="34" charset="-78"/>
              </a:rPr>
              <a:t>Case-1:</a:t>
            </a:r>
          </a:p>
        </p:txBody>
      </p:sp>
      <p:sp>
        <p:nvSpPr>
          <p:cNvPr id="7" name="TextBox 6"/>
          <p:cNvSpPr txBox="1"/>
          <p:nvPr/>
        </p:nvSpPr>
        <p:spPr>
          <a:xfrm>
            <a:off x="58190" y="4352921"/>
            <a:ext cx="908903" cy="338554"/>
          </a:xfrm>
          <a:prstGeom prst="rect">
            <a:avLst/>
          </a:prstGeom>
          <a:noFill/>
        </p:spPr>
        <p:txBody>
          <a:bodyPr wrap="square" rtlCol="0">
            <a:spAutoFit/>
          </a:bodyPr>
          <a:lstStyle/>
          <a:p>
            <a:r>
              <a:rPr lang="en-IN" sz="1600" b="1" dirty="0">
                <a:solidFill>
                  <a:srgbClr val="7030A0"/>
                </a:solidFill>
                <a:latin typeface="Avenir Book" panose="020B0503020203020204" pitchFamily="34" charset="-78"/>
                <a:cs typeface="Avenir Book" panose="020B0503020203020204" pitchFamily="34" charset="-78"/>
              </a:rPr>
              <a:t>Case-2:</a:t>
            </a:r>
          </a:p>
        </p:txBody>
      </p:sp>
    </p:spTree>
    <p:extLst>
      <p:ext uri="{BB962C8B-B14F-4D97-AF65-F5344CB8AC3E}">
        <p14:creationId xmlns:p14="http://schemas.microsoft.com/office/powerpoint/2010/main" val="3476234981"/>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16475" y="194344"/>
            <a:ext cx="5084908" cy="639481"/>
          </a:xfrm>
        </p:spPr>
        <p:txBody>
          <a:bodyPr>
            <a:normAutofit/>
          </a:bodyPr>
          <a:lstStyle/>
          <a:p>
            <a:pPr algn="ctr"/>
            <a:r>
              <a:rPr lang="en-US" sz="3600" dirty="0">
                <a:latin typeface="Avenir Book" panose="020B0503020203020204" pitchFamily="34" charset="-78"/>
                <a:cs typeface="Avenir Book" panose="020B0503020203020204" pitchFamily="34" charset="-78"/>
              </a:rPr>
              <a:t>TCP State Diagram</a:t>
            </a:r>
            <a:endParaRPr lang="en-US" sz="3300" dirty="0">
              <a:latin typeface="Avenir Book" panose="020B0503020203020204" pitchFamily="34" charset="-78"/>
              <a:cs typeface="Avenir Book" panose="020B0503020203020204" pitchFamily="34" charset="-78"/>
            </a:endParaRPr>
          </a:p>
        </p:txBody>
      </p:sp>
      <p:sp>
        <p:nvSpPr>
          <p:cNvPr id="5" name="Rectangle 3">
            <a:extLst>
              <a:ext uri="{FF2B5EF4-FFF2-40B4-BE49-F238E27FC236}">
                <a16:creationId xmlns:a16="http://schemas.microsoft.com/office/drawing/2014/main" id="{B1658BD5-0EA4-1264-B5EB-9D73BC47134E}"/>
              </a:ext>
            </a:extLst>
          </p:cNvPr>
          <p:cNvSpPr txBox="1">
            <a:spLocks noChangeArrowheads="1"/>
          </p:cNvSpPr>
          <p:nvPr/>
        </p:nvSpPr>
        <p:spPr bwMode="auto">
          <a:xfrm>
            <a:off x="6771239" y="4934755"/>
            <a:ext cx="4162840" cy="33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5000"/>
              </a:lnSpc>
              <a:spcBef>
                <a:spcPct val="20000"/>
              </a:spcBef>
              <a:buClr>
                <a:srgbClr val="000099"/>
              </a:buClr>
              <a:buSzPct val="75000"/>
              <a:defRPr/>
            </a:pPr>
            <a:r>
              <a:rPr lang="en-US" altLang="en-US" sz="1200" dirty="0" err="1">
                <a:solidFill>
                  <a:prstClr val="black"/>
                </a:solidFill>
                <a:latin typeface="+mn-lt"/>
                <a:ea typeface="Arial" panose="020B0604020202020204" pitchFamily="34" charset="0"/>
              </a:rPr>
              <a:t>Src</a:t>
            </a:r>
            <a:r>
              <a:rPr lang="en-US" altLang="en-US" sz="1200" dirty="0">
                <a:solidFill>
                  <a:prstClr val="black"/>
                </a:solidFill>
                <a:latin typeface="+mn-lt"/>
                <a:ea typeface="Arial" panose="020B0604020202020204" pitchFamily="34" charset="0"/>
              </a:rPr>
              <a:t>: https://en.wikipedia.org/wiki/File:Tcp_state_diagram.png</a:t>
            </a:r>
            <a:endParaRPr lang="en-US" altLang="en-US" sz="1200" dirty="0">
              <a:solidFill>
                <a:prstClr val="black"/>
              </a:solidFill>
              <a:latin typeface="+mn-lt"/>
              <a:cs typeface="Calibri" panose="020F0502020204030204" pitchFamily="34" charset="0"/>
            </a:endParaRPr>
          </a:p>
        </p:txBody>
      </p:sp>
      <p:pic>
        <p:nvPicPr>
          <p:cNvPr id="6" name="Picture 5"/>
          <p:cNvPicPr>
            <a:picLocks noChangeAspect="1"/>
          </p:cNvPicPr>
          <p:nvPr/>
        </p:nvPicPr>
        <p:blipFill>
          <a:blip r:embed="rId3"/>
          <a:stretch>
            <a:fillRect/>
          </a:stretch>
        </p:blipFill>
        <p:spPr>
          <a:xfrm>
            <a:off x="5577131" y="185873"/>
            <a:ext cx="6021014" cy="4748882"/>
          </a:xfrm>
          <a:prstGeom prst="rect">
            <a:avLst/>
          </a:prstGeom>
        </p:spPr>
      </p:pic>
      <p:pic>
        <p:nvPicPr>
          <p:cNvPr id="75" name="Picture 2" descr="File:Tcp close.sv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966" y="1656339"/>
            <a:ext cx="4555822" cy="2500007"/>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3">
            <a:extLst>
              <a:ext uri="{FF2B5EF4-FFF2-40B4-BE49-F238E27FC236}">
                <a16:creationId xmlns:a16="http://schemas.microsoft.com/office/drawing/2014/main" id="{B1658BD5-0EA4-1264-B5EB-9D73BC47134E}"/>
              </a:ext>
            </a:extLst>
          </p:cNvPr>
          <p:cNvSpPr txBox="1">
            <a:spLocks noChangeArrowheads="1"/>
          </p:cNvSpPr>
          <p:nvPr/>
        </p:nvSpPr>
        <p:spPr bwMode="auto">
          <a:xfrm>
            <a:off x="677509" y="4307378"/>
            <a:ext cx="4162840" cy="33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5000"/>
              </a:lnSpc>
              <a:spcBef>
                <a:spcPct val="20000"/>
              </a:spcBef>
              <a:buClr>
                <a:srgbClr val="000099"/>
              </a:buClr>
              <a:buSzPct val="75000"/>
              <a:defRPr/>
            </a:pPr>
            <a:r>
              <a:rPr lang="en-US" altLang="en-US" sz="1200" dirty="0" err="1">
                <a:solidFill>
                  <a:prstClr val="black"/>
                </a:solidFill>
                <a:latin typeface="+mn-lt"/>
                <a:ea typeface="Arial" panose="020B0604020202020204" pitchFamily="34" charset="0"/>
              </a:rPr>
              <a:t>Src</a:t>
            </a:r>
            <a:r>
              <a:rPr lang="en-US" altLang="en-US" sz="1200" dirty="0">
                <a:solidFill>
                  <a:prstClr val="black"/>
                </a:solidFill>
                <a:latin typeface="+mn-lt"/>
                <a:ea typeface="Arial" panose="020B0604020202020204" pitchFamily="34" charset="0"/>
              </a:rPr>
              <a:t>: https://commons.wikimedia.org/wiki/File:Tcp_close.svg</a:t>
            </a:r>
            <a:endParaRPr lang="en-US" altLang="en-US" sz="1200" dirty="0">
              <a:solidFill>
                <a:prstClr val="black"/>
              </a:solidFill>
              <a:latin typeface="+mn-lt"/>
              <a:cs typeface="Calibri" panose="020F0502020204030204" pitchFamily="34" charset="0"/>
            </a:endParaRPr>
          </a:p>
        </p:txBody>
      </p:sp>
    </p:spTree>
    <p:extLst>
      <p:ext uri="{BB962C8B-B14F-4D97-AF65-F5344CB8AC3E}">
        <p14:creationId xmlns:p14="http://schemas.microsoft.com/office/powerpoint/2010/main" val="1566197575"/>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123019" y="371276"/>
            <a:ext cx="8325469" cy="904832"/>
          </a:xfrm>
        </p:spPr>
        <p:txBody>
          <a:bodyPr>
            <a:normAutofit/>
          </a:bodyPr>
          <a:lstStyle/>
          <a:p>
            <a:pPr algn="ctr"/>
            <a:r>
              <a:rPr lang="en-US" sz="4050" dirty="0">
                <a:latin typeface="Avenir Book" panose="020B0503020203020204" pitchFamily="34" charset="-78"/>
                <a:cs typeface="Avenir Book" panose="020B0503020203020204" pitchFamily="34" charset="-78"/>
              </a:rPr>
              <a:t>Summary</a:t>
            </a:r>
            <a:endParaRPr lang="en-US" sz="4500" dirty="0">
              <a:latin typeface="Avenir Book" panose="020B0503020203020204" pitchFamily="34" charset="-78"/>
              <a:cs typeface="Avenir Book" panose="020B0503020203020204" pitchFamily="34" charset="-78"/>
            </a:endParaRPr>
          </a:p>
        </p:txBody>
      </p:sp>
      <p:sp>
        <p:nvSpPr>
          <p:cNvPr id="128" name="Rectangle 3">
            <a:extLst>
              <a:ext uri="{FF2B5EF4-FFF2-40B4-BE49-F238E27FC236}">
                <a16:creationId xmlns:a16="http://schemas.microsoft.com/office/drawing/2014/main" id="{2C2F9B28-FDD9-B047-936F-1DE26AECFD6E}"/>
              </a:ext>
            </a:extLst>
          </p:cNvPr>
          <p:cNvSpPr txBox="1">
            <a:spLocks noChangeArrowheads="1"/>
          </p:cNvSpPr>
          <p:nvPr/>
        </p:nvSpPr>
        <p:spPr>
          <a:xfrm>
            <a:off x="1442800" y="1590613"/>
            <a:ext cx="10083338" cy="39359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7663" indent="-254794" defTabSz="685800">
              <a:spcBef>
                <a:spcPts val="750"/>
              </a:spcBef>
              <a:buFont typeface="Wingdings" charset="2"/>
              <a:buChar char="§"/>
              <a:defRPr/>
            </a:pPr>
            <a:r>
              <a:rPr lang="en-US" sz="2400" dirty="0">
                <a:solidFill>
                  <a:srgbClr val="0070C0"/>
                </a:solidFill>
                <a:latin typeface="Avenir Book" panose="020B0503020203020204" pitchFamily="34" charset="-78"/>
                <a:cs typeface="Avenir Book" panose="020B0503020203020204" pitchFamily="34" charset="-78"/>
              </a:rPr>
              <a:t>TCP connection management:</a:t>
            </a:r>
          </a:p>
          <a:p>
            <a:pPr marL="690563" lvl="1" indent="-254794" defTabSz="685800">
              <a:spcBef>
                <a:spcPts val="750"/>
              </a:spcBef>
              <a:buFont typeface="Wingdings" charset="2"/>
              <a:buChar char="§"/>
              <a:defRPr/>
            </a:pPr>
            <a:r>
              <a:rPr lang="en-US" sz="2000" dirty="0">
                <a:solidFill>
                  <a:prstClr val="black"/>
                </a:solidFill>
                <a:latin typeface="Avenir Book" panose="020B0503020203020204" pitchFamily="34" charset="-78"/>
                <a:cs typeface="Avenir Book" panose="020B0503020203020204" pitchFamily="34" charset="-78"/>
              </a:rPr>
              <a:t>Connection setup </a:t>
            </a: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 3-way handshake</a:t>
            </a:r>
            <a:endParaRPr lang="en-US" sz="2000" dirty="0">
              <a:solidFill>
                <a:prstClr val="black"/>
              </a:solidFill>
              <a:latin typeface="Avenir Book" panose="020B0503020203020204" pitchFamily="34" charset="-78"/>
              <a:cs typeface="Avenir Book" panose="020B0503020203020204" pitchFamily="34" charset="-78"/>
            </a:endParaRPr>
          </a:p>
          <a:p>
            <a:pPr marL="690563" lvl="1" indent="-254794" defTabSz="685800">
              <a:spcBef>
                <a:spcPts val="750"/>
              </a:spcBef>
              <a:buFont typeface="Wingdings" charset="2"/>
              <a:buChar char="§"/>
              <a:defRPr/>
            </a:pPr>
            <a:r>
              <a:rPr lang="en-US" sz="2000" dirty="0">
                <a:solidFill>
                  <a:prstClr val="black"/>
                </a:solidFill>
                <a:latin typeface="Avenir Book" panose="020B0503020203020204" pitchFamily="34" charset="-78"/>
                <a:cs typeface="Avenir Book" panose="020B0503020203020204" pitchFamily="34" charset="-78"/>
              </a:rPr>
              <a:t>Connection termination </a:t>
            </a:r>
            <a:r>
              <a:rPr lang="en-US" sz="2000" dirty="0">
                <a:solidFill>
                  <a:prstClr val="black"/>
                </a:solidFill>
                <a:latin typeface="Avenir Book" panose="020B0503020203020204" pitchFamily="34" charset="-78"/>
                <a:cs typeface="Avenir Book" panose="020B0503020203020204" pitchFamily="34" charset="-78"/>
                <a:sym typeface="Wingdings" panose="05000000000000000000" pitchFamily="2" charset="2"/>
              </a:rPr>
              <a:t> Symmetric release</a:t>
            </a:r>
            <a:endParaRPr lang="en-US" sz="2000" dirty="0">
              <a:solidFill>
                <a:prstClr val="black"/>
              </a:solidFill>
              <a:latin typeface="Avenir Book" panose="020B0503020203020204" pitchFamily="34" charset="-78"/>
              <a:cs typeface="Avenir Book" panose="020B0503020203020204" pitchFamily="34" charset="-78"/>
            </a:endParaRPr>
          </a:p>
          <a:p>
            <a:pPr marL="435769" lvl="1" indent="0" defTabSz="685800">
              <a:spcBef>
                <a:spcPts val="750"/>
              </a:spcBef>
              <a:buNone/>
              <a:defRPr/>
            </a:pPr>
            <a:endParaRPr lang="en-US" sz="2000" dirty="0">
              <a:solidFill>
                <a:prstClr val="black"/>
              </a:solidFill>
              <a:latin typeface="Avenir Book" panose="020B0503020203020204" pitchFamily="34" charset="-78"/>
              <a:cs typeface="Avenir Book" panose="020B0503020203020204" pitchFamily="34" charset="-78"/>
            </a:endParaRPr>
          </a:p>
        </p:txBody>
      </p:sp>
    </p:spTree>
    <p:extLst>
      <p:ext uri="{BB962C8B-B14F-4D97-AF65-F5344CB8AC3E}">
        <p14:creationId xmlns:p14="http://schemas.microsoft.com/office/powerpoint/2010/main" val="4183967960"/>
      </p:ext>
    </p:extLst>
  </p:cSld>
  <p:clrMapOvr>
    <a:masterClrMapping/>
  </p:clrMapOvr>
</p:sld>
</file>

<file path=ppt/theme/theme1.xml><?xml version="1.0" encoding="utf-8"?>
<a:theme xmlns:a="http://schemas.openxmlformats.org/drawingml/2006/main" name="Presentation Template 13_9_21">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45501</TotalTime>
  <Words>2190</Words>
  <Application>Microsoft Office PowerPoint</Application>
  <PresentationFormat>Widescreen</PresentationFormat>
  <Paragraphs>415</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Avenir Book</vt:lpstr>
      <vt:lpstr>Calibri</vt:lpstr>
      <vt:lpstr>Calibri Light</vt:lpstr>
      <vt:lpstr>Segoe UI Emoji</vt:lpstr>
      <vt:lpstr>Wingdings</vt:lpstr>
      <vt:lpstr>Presentation Template 13_9_21</vt:lpstr>
      <vt:lpstr> Computer Networks  TCP Connection Management</vt:lpstr>
      <vt:lpstr>TCP Segment Structure</vt:lpstr>
      <vt:lpstr>TCP Connection Management</vt:lpstr>
      <vt:lpstr>Agreeing to Establish a Connection</vt:lpstr>
      <vt:lpstr>2-way Handshake Scenarios</vt:lpstr>
      <vt:lpstr>TCP 3-way Handshake</vt:lpstr>
      <vt:lpstr>TCP State Diagram</vt:lpstr>
      <vt:lpstr>TCP 3-way Handshake</vt:lpstr>
      <vt:lpstr>TCP 3-way Handshake</vt:lpstr>
      <vt:lpstr>Initial Sequence Number</vt:lpstr>
      <vt:lpstr>Closing a TCP Connection</vt:lpstr>
      <vt:lpstr>Closing a TCP Connection</vt:lpstr>
      <vt:lpstr>TCP State Diagram</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Hewlett-Packard Company</dc:creator>
  <cp:lastModifiedBy>Chaitanya Vishnoi</cp:lastModifiedBy>
  <cp:revision>653</cp:revision>
  <cp:lastPrinted>2022-11-29T06:06:41Z</cp:lastPrinted>
  <dcterms:created xsi:type="dcterms:W3CDTF">2021-09-13T14:43:22Z</dcterms:created>
  <dcterms:modified xsi:type="dcterms:W3CDTF">2026-05-05T05:36:07Z</dcterms:modified>
</cp:coreProperties>
</file>