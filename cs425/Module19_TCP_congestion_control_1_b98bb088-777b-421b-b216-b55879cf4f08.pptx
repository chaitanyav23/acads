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30"/>
  </p:notesMasterIdLst>
  <p:handoutMasterIdLst>
    <p:handoutMasterId r:id="rId31"/>
  </p:handoutMasterIdLst>
  <p:sldIdLst>
    <p:sldId id="265" r:id="rId2"/>
    <p:sldId id="646" r:id="rId3"/>
    <p:sldId id="686" r:id="rId4"/>
    <p:sldId id="687" r:id="rId5"/>
    <p:sldId id="653" r:id="rId6"/>
    <p:sldId id="689" r:id="rId7"/>
    <p:sldId id="690" r:id="rId8"/>
    <p:sldId id="691" r:id="rId9"/>
    <p:sldId id="654" r:id="rId10"/>
    <p:sldId id="647" r:id="rId11"/>
    <p:sldId id="692" r:id="rId12"/>
    <p:sldId id="675" r:id="rId13"/>
    <p:sldId id="649" r:id="rId14"/>
    <p:sldId id="676" r:id="rId15"/>
    <p:sldId id="677" r:id="rId16"/>
    <p:sldId id="678" r:id="rId17"/>
    <p:sldId id="679" r:id="rId18"/>
    <p:sldId id="680" r:id="rId19"/>
    <p:sldId id="694" r:id="rId20"/>
    <p:sldId id="650" r:id="rId21"/>
    <p:sldId id="655" r:id="rId22"/>
    <p:sldId id="693" r:id="rId23"/>
    <p:sldId id="681" r:id="rId24"/>
    <p:sldId id="682" r:id="rId25"/>
    <p:sldId id="695" r:id="rId26"/>
    <p:sldId id="651" r:id="rId27"/>
    <p:sldId id="669" r:id="rId28"/>
    <p:sldId id="688" r:id="rId29"/>
  </p:sldIdLst>
  <p:sldSz cx="12192000" cy="6858000"/>
  <p:notesSz cx="9906000" cy="6794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99FF"/>
    <a:srgbClr val="FFFFFF"/>
    <a:srgbClr val="FFCCCC"/>
    <a:srgbClr val="FF99CC"/>
    <a:srgbClr val="36675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404" autoAdjust="0"/>
  </p:normalViewPr>
  <p:slideViewPr>
    <p:cSldViewPr snapToGrid="0" snapToObjects="1">
      <p:cViewPr varScale="1">
        <p:scale>
          <a:sx n="107" d="100"/>
          <a:sy n="107" d="100"/>
        </p:scale>
        <p:origin x="69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93679" cy="341083"/>
          </a:xfrm>
          <a:prstGeom prst="rect">
            <a:avLst/>
          </a:prstGeom>
        </p:spPr>
        <p:txBody>
          <a:bodyPr vert="horz" lIns="91285" tIns="45642" rIns="91285" bIns="45642" rtlCol="0"/>
          <a:lstStyle>
            <a:lvl1pPr algn="l">
              <a:defRPr sz="1200"/>
            </a:lvl1pPr>
          </a:lstStyle>
          <a:p>
            <a:endParaRPr lang="en-IN"/>
          </a:p>
        </p:txBody>
      </p:sp>
      <p:sp>
        <p:nvSpPr>
          <p:cNvPr id="3" name="Date Placeholder 2"/>
          <p:cNvSpPr>
            <a:spLocks noGrp="1"/>
          </p:cNvSpPr>
          <p:nvPr>
            <p:ph type="dt" sz="quarter" idx="1"/>
          </p:nvPr>
        </p:nvSpPr>
        <p:spPr>
          <a:xfrm>
            <a:off x="5610009" y="0"/>
            <a:ext cx="4293679" cy="341083"/>
          </a:xfrm>
          <a:prstGeom prst="rect">
            <a:avLst/>
          </a:prstGeom>
        </p:spPr>
        <p:txBody>
          <a:bodyPr vert="horz" lIns="91285" tIns="45642" rIns="91285" bIns="45642" rtlCol="0"/>
          <a:lstStyle>
            <a:lvl1pPr algn="r">
              <a:defRPr sz="1200"/>
            </a:lvl1pPr>
          </a:lstStyle>
          <a:p>
            <a:fld id="{ABC86ED3-83A1-415E-B018-B1E46DF31CFD}" type="datetimeFigureOut">
              <a:rPr lang="en-IN" smtClean="0"/>
              <a:t>24-03-2026</a:t>
            </a:fld>
            <a:endParaRPr lang="en-IN"/>
          </a:p>
        </p:txBody>
      </p:sp>
      <p:sp>
        <p:nvSpPr>
          <p:cNvPr id="4" name="Footer Placeholder 3"/>
          <p:cNvSpPr>
            <a:spLocks noGrp="1"/>
          </p:cNvSpPr>
          <p:nvPr>
            <p:ph type="ftr" sz="quarter" idx="2"/>
          </p:nvPr>
        </p:nvSpPr>
        <p:spPr>
          <a:xfrm>
            <a:off x="1" y="6453417"/>
            <a:ext cx="4293679" cy="341083"/>
          </a:xfrm>
          <a:prstGeom prst="rect">
            <a:avLst/>
          </a:prstGeom>
        </p:spPr>
        <p:txBody>
          <a:bodyPr vert="horz" lIns="91285" tIns="45642" rIns="91285" bIns="45642" rtlCol="0" anchor="b"/>
          <a:lstStyle>
            <a:lvl1pPr algn="l">
              <a:defRPr sz="1200"/>
            </a:lvl1pPr>
          </a:lstStyle>
          <a:p>
            <a:endParaRPr lang="en-IN"/>
          </a:p>
        </p:txBody>
      </p:sp>
      <p:sp>
        <p:nvSpPr>
          <p:cNvPr id="5" name="Slide Number Placeholder 4"/>
          <p:cNvSpPr>
            <a:spLocks noGrp="1"/>
          </p:cNvSpPr>
          <p:nvPr>
            <p:ph type="sldNum" sz="quarter" idx="3"/>
          </p:nvPr>
        </p:nvSpPr>
        <p:spPr>
          <a:xfrm>
            <a:off x="5610009" y="6453417"/>
            <a:ext cx="4293679" cy="341083"/>
          </a:xfrm>
          <a:prstGeom prst="rect">
            <a:avLst/>
          </a:prstGeom>
        </p:spPr>
        <p:txBody>
          <a:bodyPr vert="horz" lIns="91285" tIns="45642" rIns="91285" bIns="45642" rtlCol="0" anchor="b"/>
          <a:lstStyle>
            <a:lvl1pPr algn="r">
              <a:defRPr sz="1200"/>
            </a:lvl1pPr>
          </a:lstStyle>
          <a:p>
            <a:fld id="{A83670B8-C772-4CC6-AB05-AB1566C74071}" type="slidenum">
              <a:rPr lang="en-IN" smtClean="0"/>
              <a:t>‹#›</a:t>
            </a:fld>
            <a:endParaRPr lang="en-IN"/>
          </a:p>
        </p:txBody>
      </p:sp>
    </p:spTree>
    <p:extLst>
      <p:ext uri="{BB962C8B-B14F-4D97-AF65-F5344CB8AC3E}">
        <p14:creationId xmlns:p14="http://schemas.microsoft.com/office/powerpoint/2010/main" val="25940442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292600" cy="340905"/>
          </a:xfrm>
          <a:prstGeom prst="rect">
            <a:avLst/>
          </a:prstGeom>
        </p:spPr>
        <p:txBody>
          <a:bodyPr vert="horz" lIns="91285" tIns="45642" rIns="91285" bIns="45642" rtlCol="0"/>
          <a:lstStyle>
            <a:lvl1pPr algn="l">
              <a:defRPr sz="1200"/>
            </a:lvl1pPr>
          </a:lstStyle>
          <a:p>
            <a:endParaRPr lang="en-IN"/>
          </a:p>
        </p:txBody>
      </p:sp>
      <p:sp>
        <p:nvSpPr>
          <p:cNvPr id="3" name="Date Placeholder 2"/>
          <p:cNvSpPr>
            <a:spLocks noGrp="1"/>
          </p:cNvSpPr>
          <p:nvPr>
            <p:ph type="dt" idx="1"/>
          </p:nvPr>
        </p:nvSpPr>
        <p:spPr>
          <a:xfrm>
            <a:off x="5611109" y="0"/>
            <a:ext cx="4292600" cy="340905"/>
          </a:xfrm>
          <a:prstGeom prst="rect">
            <a:avLst/>
          </a:prstGeom>
        </p:spPr>
        <p:txBody>
          <a:bodyPr vert="horz" lIns="91285" tIns="45642" rIns="91285" bIns="45642" rtlCol="0"/>
          <a:lstStyle>
            <a:lvl1pPr algn="r">
              <a:defRPr sz="1200"/>
            </a:lvl1pPr>
          </a:lstStyle>
          <a:p>
            <a:fld id="{BDA1889E-C7EC-45CB-B713-9702810221D9}" type="datetimeFigureOut">
              <a:rPr lang="en-IN" smtClean="0"/>
              <a:t>24-03-2026</a:t>
            </a:fld>
            <a:endParaRPr lang="en-IN"/>
          </a:p>
        </p:txBody>
      </p:sp>
      <p:sp>
        <p:nvSpPr>
          <p:cNvPr id="4" name="Slide Image Placeholder 3"/>
          <p:cNvSpPr>
            <a:spLocks noGrp="1" noRot="1" noChangeAspect="1"/>
          </p:cNvSpPr>
          <p:nvPr>
            <p:ph type="sldImg" idx="2"/>
          </p:nvPr>
        </p:nvSpPr>
        <p:spPr>
          <a:xfrm>
            <a:off x="2916238" y="849313"/>
            <a:ext cx="4073525" cy="2292350"/>
          </a:xfrm>
          <a:prstGeom prst="rect">
            <a:avLst/>
          </a:prstGeom>
          <a:noFill/>
          <a:ln w="12700">
            <a:solidFill>
              <a:prstClr val="black"/>
            </a:solidFill>
          </a:ln>
        </p:spPr>
        <p:txBody>
          <a:bodyPr vert="horz" lIns="91285" tIns="45642" rIns="91285" bIns="45642" rtlCol="0" anchor="ctr"/>
          <a:lstStyle/>
          <a:p>
            <a:endParaRPr lang="en-IN"/>
          </a:p>
        </p:txBody>
      </p:sp>
      <p:sp>
        <p:nvSpPr>
          <p:cNvPr id="5" name="Notes Placeholder 4"/>
          <p:cNvSpPr>
            <a:spLocks noGrp="1"/>
          </p:cNvSpPr>
          <p:nvPr>
            <p:ph type="body" sz="quarter" idx="3"/>
          </p:nvPr>
        </p:nvSpPr>
        <p:spPr>
          <a:xfrm>
            <a:off x="990600" y="3269853"/>
            <a:ext cx="7924800" cy="2675335"/>
          </a:xfrm>
          <a:prstGeom prst="rect">
            <a:avLst/>
          </a:prstGeom>
        </p:spPr>
        <p:txBody>
          <a:bodyPr vert="horz" lIns="91285" tIns="45642" rIns="91285" bIns="4564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2" y="6453596"/>
            <a:ext cx="4292600" cy="340905"/>
          </a:xfrm>
          <a:prstGeom prst="rect">
            <a:avLst/>
          </a:prstGeom>
        </p:spPr>
        <p:txBody>
          <a:bodyPr vert="horz" lIns="91285" tIns="45642" rIns="91285" bIns="45642" rtlCol="0" anchor="b"/>
          <a:lstStyle>
            <a:lvl1pPr algn="l">
              <a:defRPr sz="1200"/>
            </a:lvl1pPr>
          </a:lstStyle>
          <a:p>
            <a:endParaRPr lang="en-IN"/>
          </a:p>
        </p:txBody>
      </p:sp>
      <p:sp>
        <p:nvSpPr>
          <p:cNvPr id="7" name="Slide Number Placeholder 6"/>
          <p:cNvSpPr>
            <a:spLocks noGrp="1"/>
          </p:cNvSpPr>
          <p:nvPr>
            <p:ph type="sldNum" sz="quarter" idx="5"/>
          </p:nvPr>
        </p:nvSpPr>
        <p:spPr>
          <a:xfrm>
            <a:off x="5611109" y="6453596"/>
            <a:ext cx="4292600" cy="340905"/>
          </a:xfrm>
          <a:prstGeom prst="rect">
            <a:avLst/>
          </a:prstGeom>
        </p:spPr>
        <p:txBody>
          <a:bodyPr vert="horz" lIns="91285" tIns="45642" rIns="91285" bIns="45642" rtlCol="0" anchor="b"/>
          <a:lstStyle>
            <a:lvl1pPr algn="r">
              <a:defRPr sz="1200"/>
            </a:lvl1pPr>
          </a:lstStyle>
          <a:p>
            <a:fld id="{BEC38954-55DA-4B58-B5A1-805DC88A142F}" type="slidenum">
              <a:rPr lang="en-IN" smtClean="0"/>
              <a:t>‹#›</a:t>
            </a:fld>
            <a:endParaRPr lang="en-IN"/>
          </a:p>
        </p:txBody>
      </p:sp>
    </p:spTree>
    <p:extLst>
      <p:ext uri="{BB962C8B-B14F-4D97-AF65-F5344CB8AC3E}">
        <p14:creationId xmlns:p14="http://schemas.microsoft.com/office/powerpoint/2010/main" val="252259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2916238" y="849313"/>
            <a:ext cx="4073525" cy="22923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dirty="0"/>
          </a:p>
        </p:txBody>
      </p:sp>
      <p:sp>
        <p:nvSpPr>
          <p:cNvPr id="6144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endParaRPr lang="en-US" sz="1200">
              <a:cs typeface="Arial" pitchFamily="34" charset="0"/>
            </a:endParaRPr>
          </a:p>
        </p:txBody>
      </p:sp>
      <p:sp>
        <p:nvSpPr>
          <p:cNvPr id="61445" name="Date Placeholder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ECC79330-1379-4D1A-A640-B153B418A841}" type="datetime8">
              <a:rPr lang="en-GB" sz="1200">
                <a:cs typeface="Arial" pitchFamily="34" charset="0"/>
              </a:rPr>
              <a:pPr/>
              <a:t>24/03/2026 15:02</a:t>
            </a:fld>
            <a:endParaRPr lang="en-GB" sz="1200">
              <a:cs typeface="Arial" pitchFamily="34" charset="0"/>
            </a:endParaRPr>
          </a:p>
        </p:txBody>
      </p:sp>
      <p:sp>
        <p:nvSpPr>
          <p:cNvPr id="61446" name="Footer Placeholder 5"/>
          <p:cNvSpPr>
            <a:spLocks noGrp="1"/>
          </p:cNvSpPr>
          <p:nvPr>
            <p:ph type="ftr" sz="quarter" idx="4"/>
          </p:nvPr>
        </p:nvSpPr>
        <p:spPr>
          <a:xfrm>
            <a:off x="1" y="6560940"/>
            <a:ext cx="9112603" cy="34562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r>
              <a:rPr lang="en-GB" sz="500">
                <a:solidFill>
                  <a:srgbClr val="000000"/>
                </a:solidFill>
                <a:cs typeface="Arial" pitchFamily="34" charset="0"/>
              </a:rPr>
              <a:t>© 2007 Microsoft Corporation. All rights reserved. Microsoft, Windows, Windows Vista and other product names are or may be registered trademarks and/or trademarks in the U.S. and/or other countries.</a:t>
            </a:r>
          </a:p>
          <a:p>
            <a:r>
              <a:rPr lang="en-GB" sz="500">
                <a:solidFill>
                  <a:srgbClr val="000000"/>
                </a:solidFill>
                <a:cs typeface="Arial"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GB" sz="500">
                <a:solidFill>
                  <a:srgbClr val="000000"/>
                </a:solidFill>
                <a:cs typeface="Arial" pitchFamily="34" charset="0"/>
              </a:rPr>
            </a:br>
            <a:r>
              <a:rPr lang="en-GB" sz="500">
                <a:solidFill>
                  <a:srgbClr val="000000"/>
                </a:solidFill>
                <a:cs typeface="Arial" pitchFamily="34" charset="0"/>
              </a:rPr>
              <a:t>MICROSOFT MAKES NO WARRANTIES, EXPRESS, IMPLIED OR STATUTORY, AS TO THE INFORMATION IN THIS PRESENTATION.</a:t>
            </a:r>
          </a:p>
          <a:p>
            <a:endParaRPr lang="en-GB" sz="500">
              <a:cs typeface="Arial" pitchFamily="34" charset="0"/>
            </a:endParaRPr>
          </a:p>
        </p:txBody>
      </p:sp>
      <p:sp>
        <p:nvSpPr>
          <p:cNvPr id="61447" name="Slide Number Placeholder 6"/>
          <p:cNvSpPr>
            <a:spLocks noGrp="1"/>
          </p:cNvSpPr>
          <p:nvPr>
            <p:ph type="sldNum" sz="quarter" idx="5"/>
          </p:nvPr>
        </p:nvSpPr>
        <p:spPr>
          <a:xfrm>
            <a:off x="9112603" y="6560940"/>
            <a:ext cx="1011238" cy="34562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3B000D14-7105-452D-9919-33C61B2ECE5D}" type="slidenum">
              <a:rPr lang="en-GB" sz="1200">
                <a:cs typeface="Arial" pitchFamily="34" charset="0"/>
              </a:rPr>
              <a:pPr/>
              <a:t>1</a:t>
            </a:fld>
            <a:endParaRPr lang="en-GB" sz="1200">
              <a:cs typeface="Arial" pitchFamily="34" charset="0"/>
            </a:endParaRPr>
          </a:p>
        </p:txBody>
      </p:sp>
    </p:spTree>
    <p:extLst>
      <p:ext uri="{BB962C8B-B14F-4D97-AF65-F5344CB8AC3E}">
        <p14:creationId xmlns:p14="http://schemas.microsoft.com/office/powerpoint/2010/main" val="12014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2</a:t>
            </a:fld>
            <a:endParaRPr lang="en-US">
              <a:solidFill>
                <a:prstClr val="black"/>
              </a:solidFill>
              <a:latin typeface="Calibri"/>
            </a:endParaRPr>
          </a:p>
        </p:txBody>
      </p:sp>
    </p:spTree>
    <p:extLst>
      <p:ext uri="{BB962C8B-B14F-4D97-AF65-F5344CB8AC3E}">
        <p14:creationId xmlns:p14="http://schemas.microsoft.com/office/powerpoint/2010/main" val="1916800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3</a:t>
            </a:fld>
            <a:endParaRPr lang="en-US">
              <a:solidFill>
                <a:prstClr val="black"/>
              </a:solidFill>
              <a:latin typeface="Calibri"/>
            </a:endParaRPr>
          </a:p>
        </p:txBody>
      </p:sp>
    </p:spTree>
    <p:extLst>
      <p:ext uri="{BB962C8B-B14F-4D97-AF65-F5344CB8AC3E}">
        <p14:creationId xmlns:p14="http://schemas.microsoft.com/office/powerpoint/2010/main" val="1752011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4</a:t>
            </a:fld>
            <a:endParaRPr lang="en-US">
              <a:solidFill>
                <a:prstClr val="black"/>
              </a:solidFill>
              <a:latin typeface="Calibri"/>
            </a:endParaRPr>
          </a:p>
        </p:txBody>
      </p:sp>
    </p:spTree>
    <p:extLst>
      <p:ext uri="{BB962C8B-B14F-4D97-AF65-F5344CB8AC3E}">
        <p14:creationId xmlns:p14="http://schemas.microsoft.com/office/powerpoint/2010/main" val="1254912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5</a:t>
            </a:fld>
            <a:endParaRPr lang="en-US">
              <a:solidFill>
                <a:prstClr val="black"/>
              </a:solidFill>
              <a:latin typeface="Calibri"/>
            </a:endParaRPr>
          </a:p>
        </p:txBody>
      </p:sp>
    </p:spTree>
    <p:extLst>
      <p:ext uri="{BB962C8B-B14F-4D97-AF65-F5344CB8AC3E}">
        <p14:creationId xmlns:p14="http://schemas.microsoft.com/office/powerpoint/2010/main" val="97879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6</a:t>
            </a:fld>
            <a:endParaRPr lang="en-US">
              <a:solidFill>
                <a:prstClr val="black"/>
              </a:solidFill>
              <a:latin typeface="Calibri"/>
            </a:endParaRPr>
          </a:p>
        </p:txBody>
      </p:sp>
    </p:spTree>
    <p:extLst>
      <p:ext uri="{BB962C8B-B14F-4D97-AF65-F5344CB8AC3E}">
        <p14:creationId xmlns:p14="http://schemas.microsoft.com/office/powerpoint/2010/main" val="2998170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7</a:t>
            </a:fld>
            <a:endParaRPr lang="en-US">
              <a:solidFill>
                <a:prstClr val="black"/>
              </a:solidFill>
              <a:latin typeface="Calibri"/>
            </a:endParaRPr>
          </a:p>
        </p:txBody>
      </p:sp>
    </p:spTree>
    <p:extLst>
      <p:ext uri="{BB962C8B-B14F-4D97-AF65-F5344CB8AC3E}">
        <p14:creationId xmlns:p14="http://schemas.microsoft.com/office/powerpoint/2010/main" val="2683310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27C85D20-FC40-294D-80D2-53640716ABA4}" type="slidenum">
              <a:rPr lang="en-US">
                <a:solidFill>
                  <a:prstClr val="black"/>
                </a:solidFill>
                <a:latin typeface="Calibri"/>
              </a:rPr>
              <a:pPr defTabSz="912846">
                <a:defRPr/>
              </a:pPr>
              <a:t>8</a:t>
            </a:fld>
            <a:endParaRPr lang="en-US">
              <a:solidFill>
                <a:prstClr val="black"/>
              </a:solidFill>
              <a:latin typeface="Calibri"/>
            </a:endParaRPr>
          </a:p>
        </p:txBody>
      </p:sp>
    </p:spTree>
    <p:extLst>
      <p:ext uri="{BB962C8B-B14F-4D97-AF65-F5344CB8AC3E}">
        <p14:creationId xmlns:p14="http://schemas.microsoft.com/office/powerpoint/2010/main" val="444233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9</a:t>
            </a:fld>
            <a:endParaRPr lang="en-US">
              <a:solidFill>
                <a:prstClr val="black"/>
              </a:solidFill>
              <a:latin typeface="Calibri" panose="020F0502020204030204"/>
            </a:endParaRPr>
          </a:p>
        </p:txBody>
      </p:sp>
    </p:spTree>
    <p:extLst>
      <p:ext uri="{BB962C8B-B14F-4D97-AF65-F5344CB8AC3E}">
        <p14:creationId xmlns:p14="http://schemas.microsoft.com/office/powerpoint/2010/main" val="3160745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3886818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F7C84C6D-8D0E-4858-8725-FE636D63653C}" type="slidenum">
              <a:rPr lang="en-US" sz="1200"/>
              <a:pPr/>
              <a:t>11</a:t>
            </a:fld>
            <a:endParaRPr lang="en-US" sz="1200"/>
          </a:p>
        </p:txBody>
      </p:sp>
    </p:spTree>
    <p:extLst>
      <p:ext uri="{BB962C8B-B14F-4D97-AF65-F5344CB8AC3E}">
        <p14:creationId xmlns:p14="http://schemas.microsoft.com/office/powerpoint/2010/main" val="445444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1111105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3505233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14</a:t>
            </a:fld>
            <a:endParaRPr lang="en-US">
              <a:solidFill>
                <a:prstClr val="black"/>
              </a:solidFill>
              <a:latin typeface="Calibri" panose="020F0502020204030204"/>
            </a:endParaRPr>
          </a:p>
        </p:txBody>
      </p:sp>
    </p:spTree>
    <p:extLst>
      <p:ext uri="{BB962C8B-B14F-4D97-AF65-F5344CB8AC3E}">
        <p14:creationId xmlns:p14="http://schemas.microsoft.com/office/powerpoint/2010/main" val="642504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15</a:t>
            </a:fld>
            <a:endParaRPr lang="en-US">
              <a:solidFill>
                <a:prstClr val="black"/>
              </a:solidFill>
              <a:latin typeface="Calibri" panose="020F0502020204030204"/>
            </a:endParaRPr>
          </a:p>
        </p:txBody>
      </p:sp>
    </p:spTree>
    <p:extLst>
      <p:ext uri="{BB962C8B-B14F-4D97-AF65-F5344CB8AC3E}">
        <p14:creationId xmlns:p14="http://schemas.microsoft.com/office/powerpoint/2010/main" val="1841663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16</a:t>
            </a:fld>
            <a:endParaRPr lang="en-US">
              <a:solidFill>
                <a:prstClr val="black"/>
              </a:solidFill>
              <a:latin typeface="Calibri" panose="020F0502020204030204"/>
            </a:endParaRPr>
          </a:p>
        </p:txBody>
      </p:sp>
    </p:spTree>
    <p:extLst>
      <p:ext uri="{BB962C8B-B14F-4D97-AF65-F5344CB8AC3E}">
        <p14:creationId xmlns:p14="http://schemas.microsoft.com/office/powerpoint/2010/main" val="2621554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17</a:t>
            </a:fld>
            <a:endParaRPr lang="en-US">
              <a:solidFill>
                <a:prstClr val="black"/>
              </a:solidFill>
              <a:latin typeface="Calibri" panose="020F0502020204030204"/>
            </a:endParaRPr>
          </a:p>
        </p:txBody>
      </p:sp>
    </p:spTree>
    <p:extLst>
      <p:ext uri="{BB962C8B-B14F-4D97-AF65-F5344CB8AC3E}">
        <p14:creationId xmlns:p14="http://schemas.microsoft.com/office/powerpoint/2010/main" val="1637884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3698106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19</a:t>
            </a:fld>
            <a:endParaRPr lang="en-US">
              <a:solidFill>
                <a:prstClr val="black"/>
              </a:solidFill>
              <a:latin typeface="Calibri" panose="020F0502020204030204"/>
            </a:endParaRPr>
          </a:p>
        </p:txBody>
      </p:sp>
    </p:spTree>
    <p:extLst>
      <p:ext uri="{BB962C8B-B14F-4D97-AF65-F5344CB8AC3E}">
        <p14:creationId xmlns:p14="http://schemas.microsoft.com/office/powerpoint/2010/main" val="1888180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20</a:t>
            </a:fld>
            <a:endParaRPr lang="en-US">
              <a:solidFill>
                <a:prstClr val="black"/>
              </a:solidFill>
              <a:latin typeface="Calibri" panose="020F0502020204030204"/>
            </a:endParaRPr>
          </a:p>
        </p:txBody>
      </p:sp>
    </p:spTree>
    <p:extLst>
      <p:ext uri="{BB962C8B-B14F-4D97-AF65-F5344CB8AC3E}">
        <p14:creationId xmlns:p14="http://schemas.microsoft.com/office/powerpoint/2010/main" val="3706838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21</a:t>
            </a:fld>
            <a:endParaRPr lang="en-US">
              <a:solidFill>
                <a:prstClr val="black"/>
              </a:solidFill>
              <a:latin typeface="Calibri" panose="020F0502020204030204"/>
            </a:endParaRPr>
          </a:p>
        </p:txBody>
      </p:sp>
    </p:spTree>
    <p:extLst>
      <p:ext uri="{BB962C8B-B14F-4D97-AF65-F5344CB8AC3E}">
        <p14:creationId xmlns:p14="http://schemas.microsoft.com/office/powerpoint/2010/main" val="1375320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F7C84C6D-8D0E-4858-8725-FE636D63653C}" type="slidenum">
              <a:rPr lang="en-US" sz="1200"/>
              <a:pPr/>
              <a:t>22</a:t>
            </a:fld>
            <a:endParaRPr lang="en-US" sz="1200"/>
          </a:p>
        </p:txBody>
      </p:sp>
    </p:spTree>
    <p:extLst>
      <p:ext uri="{BB962C8B-B14F-4D97-AF65-F5344CB8AC3E}">
        <p14:creationId xmlns:p14="http://schemas.microsoft.com/office/powerpoint/2010/main" val="1483212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23</a:t>
            </a:fld>
            <a:endParaRPr lang="en-US">
              <a:solidFill>
                <a:prstClr val="black"/>
              </a:solidFill>
              <a:latin typeface="Calibri" panose="020F0502020204030204"/>
            </a:endParaRPr>
          </a:p>
        </p:txBody>
      </p:sp>
    </p:spTree>
    <p:extLst>
      <p:ext uri="{BB962C8B-B14F-4D97-AF65-F5344CB8AC3E}">
        <p14:creationId xmlns:p14="http://schemas.microsoft.com/office/powerpoint/2010/main" val="37199897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24</a:t>
            </a:fld>
            <a:endParaRPr lang="en-US">
              <a:solidFill>
                <a:prstClr val="black"/>
              </a:solidFill>
              <a:latin typeface="Calibri" panose="020F0502020204030204"/>
            </a:endParaRPr>
          </a:p>
        </p:txBody>
      </p:sp>
    </p:spTree>
    <p:extLst>
      <p:ext uri="{BB962C8B-B14F-4D97-AF65-F5344CB8AC3E}">
        <p14:creationId xmlns:p14="http://schemas.microsoft.com/office/powerpoint/2010/main" val="3193425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E2475-3D6C-C937-C85E-336475933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F7C03-5C4E-B701-0B69-5B50C6D50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E6C5A-BC32-DFBD-E904-9E4B17ED0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874DE-9B32-0EB9-8E98-C3AF44EDE10C}"/>
              </a:ext>
            </a:extLst>
          </p:cNvPr>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25</a:t>
            </a:fld>
            <a:endParaRPr lang="en-US">
              <a:solidFill>
                <a:prstClr val="black"/>
              </a:solidFill>
              <a:latin typeface="Calibri" panose="020F0502020204030204"/>
            </a:endParaRPr>
          </a:p>
        </p:txBody>
      </p:sp>
    </p:spTree>
    <p:extLst>
      <p:ext uri="{BB962C8B-B14F-4D97-AF65-F5344CB8AC3E}">
        <p14:creationId xmlns:p14="http://schemas.microsoft.com/office/powerpoint/2010/main" val="32748967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12846">
              <a:defRPr/>
            </a:pPr>
            <a:fld id="{3D91EEAC-CFEF-9647-876F-EABC6B8338D7}" type="slidenum">
              <a:rPr lang="en-US">
                <a:solidFill>
                  <a:prstClr val="black"/>
                </a:solidFill>
                <a:latin typeface="Calibri" panose="020F0502020204030204"/>
              </a:rPr>
              <a:pPr defTabSz="912846">
                <a:defRPr/>
              </a:pPr>
              <a:t>26</a:t>
            </a:fld>
            <a:endParaRPr lang="en-US">
              <a:solidFill>
                <a:prstClr val="black"/>
              </a:solidFill>
              <a:latin typeface="Calibri" panose="020F0502020204030204"/>
            </a:endParaRPr>
          </a:p>
        </p:txBody>
      </p:sp>
    </p:spTree>
    <p:extLst>
      <p:ext uri="{BB962C8B-B14F-4D97-AF65-F5344CB8AC3E}">
        <p14:creationId xmlns:p14="http://schemas.microsoft.com/office/powerpoint/2010/main" val="1580281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62468"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endParaRPr lang="en-US" sz="1200">
              <a:cs typeface="Arial" pitchFamily="34" charset="0"/>
            </a:endParaRPr>
          </a:p>
        </p:txBody>
      </p:sp>
      <p:sp>
        <p:nvSpPr>
          <p:cNvPr id="62469" name="Date Placeholder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F1D4DC42-398E-450A-B40B-9238DDDFF2EF}" type="datetime8">
              <a:rPr lang="en-GB" sz="1200">
                <a:cs typeface="Arial" pitchFamily="34" charset="0"/>
              </a:rPr>
              <a:pPr/>
              <a:t>24/03/2026 15:02</a:t>
            </a:fld>
            <a:endParaRPr lang="en-GB" sz="1200">
              <a:cs typeface="Arial" pitchFamily="34" charset="0"/>
            </a:endParaRPr>
          </a:p>
        </p:txBody>
      </p:sp>
      <p:sp>
        <p:nvSpPr>
          <p:cNvPr id="62470" name="Footer Placeholder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r>
              <a:rPr lang="en-US" sz="1200">
                <a:solidFill>
                  <a:srgbClr val="000000"/>
                </a:solidFill>
                <a:cs typeface="Arial" pitchFamily="34" charset="0"/>
              </a:rPr>
              <a:t>IEEE SOUTHEASTCON 2010, CHARLOTTE, NC</a:t>
            </a:r>
            <a:endParaRPr lang="en-GB" sz="1200">
              <a:cs typeface="Arial" pitchFamily="34" charset="0"/>
            </a:endParaRPr>
          </a:p>
        </p:txBody>
      </p:sp>
      <p:sp>
        <p:nvSpPr>
          <p:cNvPr id="62471" name="Slide Number Placeholder 6"/>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76">
              <a:defRPr sz="2400">
                <a:solidFill>
                  <a:schemeClr val="tx1"/>
                </a:solidFill>
                <a:latin typeface="Times New Roman" pitchFamily="18" charset="0"/>
              </a:defRPr>
            </a:lvl1pPr>
            <a:lvl2pPr marL="741687" indent="-285264" defTabSz="909676">
              <a:defRPr sz="2400">
                <a:solidFill>
                  <a:schemeClr val="tx1"/>
                </a:solidFill>
                <a:latin typeface="Times New Roman" pitchFamily="18" charset="0"/>
              </a:defRPr>
            </a:lvl2pPr>
            <a:lvl3pPr marL="1141057" indent="-228211" defTabSz="909676">
              <a:defRPr sz="2400">
                <a:solidFill>
                  <a:schemeClr val="tx1"/>
                </a:solidFill>
                <a:latin typeface="Times New Roman" pitchFamily="18" charset="0"/>
              </a:defRPr>
            </a:lvl3pPr>
            <a:lvl4pPr marL="1597480" indent="-228211" defTabSz="909676">
              <a:defRPr sz="2400">
                <a:solidFill>
                  <a:schemeClr val="tx1"/>
                </a:solidFill>
                <a:latin typeface="Times New Roman" pitchFamily="18" charset="0"/>
              </a:defRPr>
            </a:lvl4pPr>
            <a:lvl5pPr marL="2053902" indent="-228211" defTabSz="909676">
              <a:defRPr sz="2400">
                <a:solidFill>
                  <a:schemeClr val="tx1"/>
                </a:solidFill>
                <a:latin typeface="Times New Roman" pitchFamily="18" charset="0"/>
              </a:defRPr>
            </a:lvl5pPr>
            <a:lvl6pPr marL="2510325" indent="-228211" defTabSz="909676" eaLnBrk="0" fontAlgn="base" hangingPunct="0">
              <a:spcBef>
                <a:spcPct val="0"/>
              </a:spcBef>
              <a:spcAft>
                <a:spcPct val="0"/>
              </a:spcAft>
              <a:defRPr sz="2400">
                <a:solidFill>
                  <a:schemeClr val="tx1"/>
                </a:solidFill>
                <a:latin typeface="Times New Roman" pitchFamily="18" charset="0"/>
              </a:defRPr>
            </a:lvl6pPr>
            <a:lvl7pPr marL="2966748" indent="-228211" defTabSz="909676" eaLnBrk="0" fontAlgn="base" hangingPunct="0">
              <a:spcBef>
                <a:spcPct val="0"/>
              </a:spcBef>
              <a:spcAft>
                <a:spcPct val="0"/>
              </a:spcAft>
              <a:defRPr sz="2400">
                <a:solidFill>
                  <a:schemeClr val="tx1"/>
                </a:solidFill>
                <a:latin typeface="Times New Roman" pitchFamily="18" charset="0"/>
              </a:defRPr>
            </a:lvl7pPr>
            <a:lvl8pPr marL="3423171" indent="-228211" defTabSz="909676" eaLnBrk="0" fontAlgn="base" hangingPunct="0">
              <a:spcBef>
                <a:spcPct val="0"/>
              </a:spcBef>
              <a:spcAft>
                <a:spcPct val="0"/>
              </a:spcAft>
              <a:defRPr sz="2400">
                <a:solidFill>
                  <a:schemeClr val="tx1"/>
                </a:solidFill>
                <a:latin typeface="Times New Roman" pitchFamily="18" charset="0"/>
              </a:defRPr>
            </a:lvl8pPr>
            <a:lvl9pPr marL="3879593" indent="-228211" defTabSz="909676" eaLnBrk="0" fontAlgn="base" hangingPunct="0">
              <a:spcBef>
                <a:spcPct val="0"/>
              </a:spcBef>
              <a:spcAft>
                <a:spcPct val="0"/>
              </a:spcAft>
              <a:defRPr sz="2400">
                <a:solidFill>
                  <a:schemeClr val="tx1"/>
                </a:solidFill>
                <a:latin typeface="Times New Roman" pitchFamily="18" charset="0"/>
              </a:defRPr>
            </a:lvl9pPr>
          </a:lstStyle>
          <a:p>
            <a:fld id="{FAB5836E-F8FA-4D16-A89D-78EAE727C29F}" type="slidenum">
              <a:rPr lang="en-GB" sz="1200">
                <a:cs typeface="Arial" pitchFamily="34" charset="0"/>
              </a:rPr>
              <a:pPr/>
              <a:t>28</a:t>
            </a:fld>
            <a:endParaRPr lang="en-GB" sz="1200">
              <a:cs typeface="Arial" pitchFamily="34" charset="0"/>
            </a:endParaRPr>
          </a:p>
        </p:txBody>
      </p:sp>
    </p:spTree>
    <p:extLst>
      <p:ext uri="{BB962C8B-B14F-4D97-AF65-F5344CB8AC3E}">
        <p14:creationId xmlns:p14="http://schemas.microsoft.com/office/powerpoint/2010/main" val="1323339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536962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cxnSp>
        <p:nvCxnSpPr>
          <p:cNvPr id="7" name="Straight Connector 6"/>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175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00850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cxnSp>
        <p:nvCxnSpPr>
          <p:cNvPr id="8" name="Straight Connector 7"/>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916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386599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527871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D945F5-5B7A-BE43-BE56-11CC737CC9DC}" type="slidenum">
              <a:rPr lang="en-US" smtClean="0"/>
              <a:pPr/>
              <a:t>‹#›</a:t>
            </a:fld>
            <a:endParaRPr lang="en-US" dirty="0"/>
          </a:p>
        </p:txBody>
      </p:sp>
      <p:cxnSp>
        <p:nvCxnSpPr>
          <p:cNvPr id="5" name="Straight Connector 4"/>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64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457167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616200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56578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3977484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11016" y="5257800"/>
            <a:ext cx="12192000" cy="158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38487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E2C89-3D21-5645-8D07-A6E26F08B175}" type="datetimeFigureOut">
              <a:rPr lang="en-US" smtClean="0"/>
              <a:pPr/>
              <a:t>3/24/2026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40126290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5.tiff"/></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5.tif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1981200" y="1687513"/>
            <a:ext cx="8382000" cy="1568450"/>
          </a:xfrm>
        </p:spPr>
        <p:txBody>
          <a:bodyPr>
            <a:normAutofit fontScale="90000"/>
          </a:bodyPr>
          <a:lstStyle/>
          <a:p>
            <a:br>
              <a:rPr lang="en-US" sz="3200" dirty="0">
                <a:latin typeface="Avenir Book" panose="020B0503020203020204" pitchFamily="34" charset="-78"/>
                <a:cs typeface="Avenir Book" panose="020B0503020203020204" pitchFamily="34" charset="-78"/>
              </a:rPr>
            </a:br>
            <a:r>
              <a:rPr lang="en-US" sz="3200" dirty="0">
                <a:latin typeface="Avenir Book" panose="020B0503020203020204" pitchFamily="34" charset="-78"/>
                <a:cs typeface="Avenir Book" panose="020B0503020203020204" pitchFamily="34" charset="-78"/>
              </a:rPr>
              <a:t>Computer Networks II</a:t>
            </a:r>
            <a:br>
              <a:rPr lang="en-US" sz="3200" dirty="0">
                <a:latin typeface="Avenir Book" panose="020B0503020203020204" pitchFamily="34" charset="-78"/>
                <a:cs typeface="Avenir Book" panose="020B0503020203020204" pitchFamily="34" charset="-78"/>
              </a:rPr>
            </a:br>
            <a:br>
              <a:rPr lang="en-US" sz="3200" dirty="0">
                <a:latin typeface="Avenir Book" panose="020B0503020203020204" pitchFamily="34" charset="-78"/>
                <a:cs typeface="Avenir Book" panose="020B0503020203020204" pitchFamily="34" charset="-78"/>
              </a:rPr>
            </a:br>
            <a:r>
              <a:rPr lang="en-US" sz="3200" dirty="0">
                <a:latin typeface="Avenir Book" panose="020B0503020203020204" pitchFamily="34" charset="-78"/>
                <a:cs typeface="Avenir Book" panose="020B0503020203020204" pitchFamily="34" charset="-78"/>
              </a:rPr>
              <a:t>TCP Congestion Control</a:t>
            </a:r>
            <a:br>
              <a:rPr lang="en-US" sz="3200" dirty="0">
                <a:latin typeface="Avenir Book" panose="020B0503020203020204" pitchFamily="34" charset="-78"/>
                <a:cs typeface="Avenir Book" panose="020B0503020203020204" pitchFamily="34" charset="-78"/>
              </a:rPr>
            </a:br>
            <a:r>
              <a:rPr lang="en-US" sz="2200" dirty="0">
                <a:latin typeface="Avenir Book" panose="020B0503020203020204" pitchFamily="34" charset="-78"/>
                <a:cs typeface="Avenir Book" panose="020B0503020203020204" pitchFamily="34" charset="-78"/>
              </a:rPr>
              <a:t>TCP Tahoe and TCP Reno</a:t>
            </a:r>
          </a:p>
        </p:txBody>
      </p:sp>
      <p:sp>
        <p:nvSpPr>
          <p:cNvPr id="8" name="Rounded Rectangle 4"/>
          <p:cNvSpPr/>
          <p:nvPr/>
        </p:nvSpPr>
        <p:spPr bwMode="auto">
          <a:xfrm>
            <a:off x="2084389" y="519113"/>
            <a:ext cx="8137525" cy="2563812"/>
          </a:xfrm>
          <a:prstGeom prst="rect">
            <a:avLst/>
          </a:prstGeom>
        </p:spPr>
        <p:style>
          <a:lnRef idx="0">
            <a:scrgbClr r="0" g="0" b="0"/>
          </a:lnRef>
          <a:fillRef idx="0">
            <a:scrgbClr r="0" g="0" b="0"/>
          </a:fillRef>
          <a:effectRef idx="0">
            <a:scrgbClr r="0" g="0" b="0"/>
          </a:effectRef>
          <a:fontRef idx="minor">
            <a:schemeClr val="dk1"/>
          </a:fontRef>
        </p:style>
        <p:txBody>
          <a:bodyPr lIns="148590" tIns="148590" rIns="148590" bIns="148590" spcCol="1270" anchor="ctr"/>
          <a:lstStyle/>
          <a:p>
            <a:pPr algn="ctr" defTabSz="1733550">
              <a:lnSpc>
                <a:spcPct val="90000"/>
              </a:lnSpc>
              <a:spcAft>
                <a:spcPct val="35000"/>
              </a:spcAft>
              <a:defRPr/>
            </a:pPr>
            <a:endParaRPr lang="en-US" sz="4400" dirty="0">
              <a:solidFill>
                <a:schemeClr val="accent2">
                  <a:lumMod val="75000"/>
                </a:schemeClr>
              </a:solidFill>
              <a:effectLst>
                <a:outerShdw blurRad="38100" dist="38100" dir="2700000" algn="tl">
                  <a:srgbClr val="000000">
                    <a:alpha val="43137"/>
                  </a:srgbClr>
                </a:outerShdw>
              </a:effectLst>
              <a:latin typeface="Avenir Book" panose="020B0503020203020204" pitchFamily="34" charset="-78"/>
              <a:cs typeface="Avenir Book" panose="020B0503020203020204" pitchFamily="34" charset="-78"/>
            </a:endParaRPr>
          </a:p>
        </p:txBody>
      </p:sp>
      <p:sp>
        <p:nvSpPr>
          <p:cNvPr id="6" name="Subtitle 3"/>
          <p:cNvSpPr txBox="1">
            <a:spLocks/>
          </p:cNvSpPr>
          <p:nvPr/>
        </p:nvSpPr>
        <p:spPr bwMode="auto">
          <a:xfrm>
            <a:off x="2952750" y="39624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chemeClr val="accent1"/>
              </a:buClr>
              <a:buSzPct val="65000"/>
              <a:buFont typeface="Wingdings" pitchFamily="2" charset="2"/>
              <a:buNone/>
              <a:defRPr sz="3000">
                <a:solidFill>
                  <a:schemeClr val="tx1"/>
                </a:solidFill>
                <a:latin typeface="+mn-lt"/>
                <a:ea typeface="+mn-ea"/>
                <a:cs typeface="+mn-cs"/>
              </a:defRPr>
            </a:lvl1pPr>
            <a:lvl2pPr marL="457200" indent="0" algn="ctr" rtl="0" eaLnBrk="0" fontAlgn="base" hangingPunct="0">
              <a:spcBef>
                <a:spcPct val="20000"/>
              </a:spcBef>
              <a:spcAft>
                <a:spcPct val="0"/>
              </a:spcAft>
              <a:buClr>
                <a:schemeClr val="accent2"/>
              </a:buClr>
              <a:buSzPct val="60000"/>
              <a:buFont typeface="Wingdings" pitchFamily="2" charset="2"/>
              <a:buNone/>
              <a:defRPr sz="2600">
                <a:solidFill>
                  <a:schemeClr val="tx1"/>
                </a:solidFill>
                <a:latin typeface="+mn-lt"/>
              </a:defRPr>
            </a:lvl2pPr>
            <a:lvl3pPr marL="914400" indent="0" algn="ctr" rtl="0" eaLnBrk="0" fontAlgn="base" hangingPunct="0">
              <a:spcBef>
                <a:spcPct val="20000"/>
              </a:spcBef>
              <a:spcAft>
                <a:spcPct val="0"/>
              </a:spcAft>
              <a:buClr>
                <a:schemeClr val="accent1"/>
              </a:buClr>
              <a:buSzPct val="65000"/>
              <a:buFont typeface="Wingdings" pitchFamily="2" charset="2"/>
              <a:buNone/>
              <a:defRPr sz="2200">
                <a:solidFill>
                  <a:schemeClr val="tx1"/>
                </a:solidFill>
                <a:latin typeface="+mn-lt"/>
              </a:defRPr>
            </a:lvl3pPr>
            <a:lvl4pPr marL="1371600" indent="0" algn="ctr" rtl="0" eaLnBrk="0" fontAlgn="base" hangingPunct="0">
              <a:spcBef>
                <a:spcPct val="20000"/>
              </a:spcBef>
              <a:spcAft>
                <a:spcPct val="0"/>
              </a:spcAft>
              <a:buClr>
                <a:schemeClr val="accent2"/>
              </a:buClr>
              <a:buSzPct val="70000"/>
              <a:buFont typeface="Wingdings" pitchFamily="2" charset="2"/>
              <a:buNone/>
              <a:defRPr sz="2000">
                <a:solidFill>
                  <a:schemeClr val="tx1"/>
                </a:solidFill>
                <a:latin typeface="+mn-lt"/>
              </a:defRPr>
            </a:lvl4pPr>
            <a:lvl5pPr marL="1828800" indent="0" algn="ctr" rtl="0" eaLnBrk="0" fontAlgn="base" hangingPunct="0">
              <a:spcBef>
                <a:spcPct val="20000"/>
              </a:spcBef>
              <a:spcAft>
                <a:spcPct val="0"/>
              </a:spcAft>
              <a:buClr>
                <a:schemeClr val="accent1"/>
              </a:buClr>
              <a:buSzPct val="75000"/>
              <a:buFont typeface="Wingdings" pitchFamily="2" charset="2"/>
              <a:buNone/>
              <a:defRPr sz="2000">
                <a:solidFill>
                  <a:schemeClr val="tx1"/>
                </a:solidFill>
                <a:latin typeface="+mn-lt"/>
              </a:defRPr>
            </a:lvl5pPr>
            <a:lvl6pPr marL="22860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6pPr>
            <a:lvl7pPr marL="27432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7pPr>
            <a:lvl8pPr marL="32004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8pPr>
            <a:lvl9pPr marL="36576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9pPr>
          </a:lstStyle>
          <a:p>
            <a:pPr eaLnBrk="1" hangingPunct="1"/>
            <a:r>
              <a:rPr lang="en-US" sz="2000" kern="0" dirty="0" err="1">
                <a:latin typeface="Avenir Book" panose="020B0503020203020204" pitchFamily="34" charset="-78"/>
                <a:cs typeface="Avenir Book" panose="020B0503020203020204" pitchFamily="34" charset="-78"/>
              </a:rPr>
              <a:t>Amitangshu</a:t>
            </a:r>
            <a:r>
              <a:rPr lang="en-US" sz="2000" kern="0" dirty="0">
                <a:latin typeface="Avenir Book" panose="020B0503020203020204" pitchFamily="34" charset="-78"/>
                <a:cs typeface="Avenir Book" panose="020B0503020203020204" pitchFamily="34" charset="-78"/>
              </a:rPr>
              <a:t> Pal</a:t>
            </a:r>
          </a:p>
          <a:p>
            <a:pPr eaLnBrk="1" hangingPunct="1"/>
            <a:r>
              <a:rPr lang="en-US" sz="2000" kern="0" dirty="0">
                <a:latin typeface="Avenir Book" panose="020B0503020203020204" pitchFamily="34" charset="-78"/>
                <a:cs typeface="Avenir Book" panose="020B0503020203020204" pitchFamily="34" charset="-78"/>
              </a:rPr>
              <a:t>Computer Science and Engineering</a:t>
            </a:r>
          </a:p>
          <a:p>
            <a:pPr eaLnBrk="1" hangingPunct="1"/>
            <a:r>
              <a:rPr lang="en-US" sz="2000" kern="0" dirty="0">
                <a:latin typeface="Avenir Book" panose="020B0503020203020204" pitchFamily="34" charset="-78"/>
                <a:cs typeface="Avenir Book" panose="020B0503020203020204" pitchFamily="34" charset="-78"/>
              </a:rPr>
              <a:t>IIT Kanpur</a:t>
            </a:r>
          </a:p>
        </p:txBody>
      </p:sp>
    </p:spTree>
    <p:extLst>
      <p:ext uri="{BB962C8B-B14F-4D97-AF65-F5344CB8AC3E}">
        <p14:creationId xmlns:p14="http://schemas.microsoft.com/office/powerpoint/2010/main" val="4257869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295518" y="924450"/>
            <a:ext cx="10319835" cy="3763701"/>
          </a:xfrm>
        </p:spPr>
        <p:txBody>
          <a:bodyPr>
            <a:normAutofit/>
          </a:bodyPr>
          <a:lstStyle/>
          <a:p>
            <a:pPr marL="350044" indent="-252413">
              <a:defRPr/>
            </a:pPr>
            <a:r>
              <a:rPr lang="en-US" sz="2400" dirty="0">
                <a:latin typeface="Avenir Book" panose="020B0503020203020204" pitchFamily="34" charset="-78"/>
                <a:cs typeface="Avenir Book" panose="020B0503020203020204" pitchFamily="34" charset="-78"/>
              </a:rPr>
              <a:t>Routers have input/output queue</a:t>
            </a:r>
          </a:p>
          <a:p>
            <a:pPr marL="807244" lvl="1" indent="-252413">
              <a:defRPr/>
            </a:pPr>
            <a:r>
              <a:rPr lang="en-US" sz="2000" dirty="0">
                <a:latin typeface="Avenir Book" panose="020B0503020203020204" pitchFamily="34" charset="-78"/>
                <a:cs typeface="Avenir Book" panose="020B0503020203020204" pitchFamily="34" charset="-78"/>
              </a:rPr>
              <a:t>These queues get filled up </a:t>
            </a:r>
            <a:r>
              <a:rPr lang="en-US" sz="2000" dirty="0">
                <a:latin typeface="Avenir Book" panose="020B0503020203020204" pitchFamily="34" charset="-78"/>
                <a:cs typeface="Avenir Book" panose="020B0503020203020204" pitchFamily="34" charset="-78"/>
                <a:sym typeface="Wingdings" panose="05000000000000000000" pitchFamily="2" charset="2"/>
              </a:rPr>
              <a:t> leads to congestion</a:t>
            </a:r>
            <a:endParaRPr lang="en-US" sz="2000" dirty="0">
              <a:latin typeface="Avenir Book" panose="020B0503020203020204" pitchFamily="34" charset="-78"/>
              <a:cs typeface="Avenir Book" panose="020B0503020203020204" pitchFamily="34" charset="-78"/>
            </a:endParaRP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2100539" y="166055"/>
            <a:ext cx="8354291" cy="642002"/>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Network Congestion</a:t>
            </a:r>
            <a:endParaRPr lang="en-US" sz="4050" dirty="0">
              <a:latin typeface="Avenir Book" panose="020B0503020203020204" pitchFamily="34" charset="-78"/>
              <a:cs typeface="Avenir Book" panose="020B0503020203020204" pitchFamily="34" charset="-78"/>
            </a:endParaRPr>
          </a:p>
        </p:txBody>
      </p:sp>
      <p:grpSp>
        <p:nvGrpSpPr>
          <p:cNvPr id="133" name="Group 79">
            <a:extLst>
              <a:ext uri="{FF2B5EF4-FFF2-40B4-BE49-F238E27FC236}">
                <a16:creationId xmlns:a16="http://schemas.microsoft.com/office/drawing/2014/main" id="{C5196E2D-6A1D-9849-8A2B-31C0EF009838}"/>
              </a:ext>
            </a:extLst>
          </p:cNvPr>
          <p:cNvGrpSpPr>
            <a:grpSpLocks/>
          </p:cNvGrpSpPr>
          <p:nvPr/>
        </p:nvGrpSpPr>
        <p:grpSpPr bwMode="auto">
          <a:xfrm>
            <a:off x="8344831" y="2847721"/>
            <a:ext cx="2270522" cy="1357313"/>
            <a:chOff x="3074" y="2047"/>
            <a:chExt cx="1907" cy="1140"/>
          </a:xfrm>
        </p:grpSpPr>
        <p:grpSp>
          <p:nvGrpSpPr>
            <p:cNvPr id="142" name="Group 31">
              <a:extLst>
                <a:ext uri="{FF2B5EF4-FFF2-40B4-BE49-F238E27FC236}">
                  <a16:creationId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52" name="Rectangle 32">
                <a:extLst>
                  <a:ext uri="{FF2B5EF4-FFF2-40B4-BE49-F238E27FC236}">
                    <a16:creationId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grpSp>
            <p:nvGrpSpPr>
              <p:cNvPr id="153" name="Group 33">
                <a:extLst>
                  <a:ext uri="{FF2B5EF4-FFF2-40B4-BE49-F238E27FC236}">
                    <a16:creationId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72" name="Rectangle 34">
                  <a:extLst>
                    <a:ext uri="{FF2B5EF4-FFF2-40B4-BE49-F238E27FC236}">
                      <a16:creationId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73" name="Rectangle 35">
                  <a:extLst>
                    <a:ext uri="{FF2B5EF4-FFF2-40B4-BE49-F238E27FC236}">
                      <a16:creationId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74" name="Rectangle 36">
                  <a:extLst>
                    <a:ext uri="{FF2B5EF4-FFF2-40B4-BE49-F238E27FC236}">
                      <a16:creationId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grpSp>
          <p:grpSp>
            <p:nvGrpSpPr>
              <p:cNvPr id="154" name="Group 37">
                <a:extLst>
                  <a:ext uri="{FF2B5EF4-FFF2-40B4-BE49-F238E27FC236}">
                    <a16:creationId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69" name="Rectangle 38">
                  <a:extLst>
                    <a:ext uri="{FF2B5EF4-FFF2-40B4-BE49-F238E27FC236}">
                      <a16:creationId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70" name="Rectangle 39">
                  <a:extLst>
                    <a:ext uri="{FF2B5EF4-FFF2-40B4-BE49-F238E27FC236}">
                      <a16:creationId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71" name="Rectangle 40">
                  <a:extLst>
                    <a:ext uri="{FF2B5EF4-FFF2-40B4-BE49-F238E27FC236}">
                      <a16:creationId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grpSp>
          <p:sp>
            <p:nvSpPr>
              <p:cNvPr id="155" name="Line 41">
                <a:extLst>
                  <a:ext uri="{FF2B5EF4-FFF2-40B4-BE49-F238E27FC236}">
                    <a16:creationId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56" name="Line 42">
                <a:extLst>
                  <a:ext uri="{FF2B5EF4-FFF2-40B4-BE49-F238E27FC236}">
                    <a16:creationId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57" name="Line 43">
                <a:extLst>
                  <a:ext uri="{FF2B5EF4-FFF2-40B4-BE49-F238E27FC236}">
                    <a16:creationId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58" name="Line 44">
                <a:extLst>
                  <a:ext uri="{FF2B5EF4-FFF2-40B4-BE49-F238E27FC236}">
                    <a16:creationId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59" name="Line 45">
                <a:extLst>
                  <a:ext uri="{FF2B5EF4-FFF2-40B4-BE49-F238E27FC236}">
                    <a16:creationId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0" name="Line 46">
                <a:extLst>
                  <a:ext uri="{FF2B5EF4-FFF2-40B4-BE49-F238E27FC236}">
                    <a16:creationId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61" name="Group 47">
                <a:extLst>
                  <a:ext uri="{FF2B5EF4-FFF2-40B4-BE49-F238E27FC236}">
                    <a16:creationId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66" name="Line 48">
                  <a:extLst>
                    <a:ext uri="{FF2B5EF4-FFF2-40B4-BE49-F238E27FC236}">
                      <a16:creationId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7" name="Line 49">
                  <a:extLst>
                    <a:ext uri="{FF2B5EF4-FFF2-40B4-BE49-F238E27FC236}">
                      <a16:creationId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8" name="Line 50">
                  <a:extLst>
                    <a:ext uri="{FF2B5EF4-FFF2-40B4-BE49-F238E27FC236}">
                      <a16:creationId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62" name="Group 51">
                <a:extLst>
                  <a:ext uri="{FF2B5EF4-FFF2-40B4-BE49-F238E27FC236}">
                    <a16:creationId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63" name="Line 52">
                  <a:extLst>
                    <a:ext uri="{FF2B5EF4-FFF2-40B4-BE49-F238E27FC236}">
                      <a16:creationId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4" name="Line 53">
                  <a:extLst>
                    <a:ext uri="{FF2B5EF4-FFF2-40B4-BE49-F238E27FC236}">
                      <a16:creationId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5" name="Line 54">
                  <a:extLst>
                    <a:ext uri="{FF2B5EF4-FFF2-40B4-BE49-F238E27FC236}">
                      <a16:creationId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sp>
          <p:nvSpPr>
            <p:cNvPr id="144" name="Text Box 65">
              <a:extLst>
                <a:ext uri="{FF2B5EF4-FFF2-40B4-BE49-F238E27FC236}">
                  <a16:creationId xmlns:a16="http://schemas.microsoft.com/office/drawing/2014/main" id="{07D40F57-D66B-F444-8FCA-AFEAF69F0D14}"/>
                </a:ext>
              </a:extLst>
            </p:cNvPr>
            <p:cNvSpPr txBox="1">
              <a:spLocks noChangeArrowheads="1"/>
            </p:cNvSpPr>
            <p:nvPr/>
          </p:nvSpPr>
          <p:spPr bwMode="auto">
            <a:xfrm>
              <a:off x="3753" y="2436"/>
              <a:ext cx="527"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venir Book" panose="020B0503020203020204" pitchFamily="34" charset="-78"/>
                  <a:cs typeface="Avenir Book" panose="020B0503020203020204" pitchFamily="34" charset="-78"/>
                </a:rPr>
                <a:t>Switch</a:t>
              </a:r>
            </a:p>
            <a:p>
              <a:pPr defTabSz="685800" eaLnBrk="0" fontAlgn="base" hangingPunct="0">
                <a:spcBef>
                  <a:spcPct val="0"/>
                </a:spcBef>
                <a:spcAft>
                  <a:spcPct val="0"/>
                </a:spcAft>
                <a:defRPr/>
              </a:pPr>
              <a:r>
                <a:rPr lang="en-US" altLang="en-US" sz="1200" kern="0" dirty="0">
                  <a:solidFill>
                    <a:srgbClr val="000000"/>
                  </a:solidFill>
                  <a:latin typeface="Avenir Book" panose="020B0503020203020204" pitchFamily="34" charset="-78"/>
                  <a:cs typeface="Avenir Book" panose="020B0503020203020204" pitchFamily="34" charset="-78"/>
                </a:rPr>
                <a:t>fabric</a:t>
              </a:r>
            </a:p>
          </p:txBody>
        </p:sp>
        <p:sp>
          <p:nvSpPr>
            <p:cNvPr id="145" name="Rectangle 66">
              <a:extLst>
                <a:ext uri="{FF2B5EF4-FFF2-40B4-BE49-F238E27FC236}">
                  <a16:creationId xmlns:a16="http://schemas.microsoft.com/office/drawing/2014/main" id="{CF7111F1-74EA-1F48-AF61-C3DDC0EAC0AE}"/>
                </a:ext>
              </a:extLst>
            </p:cNvPr>
            <p:cNvSpPr>
              <a:spLocks noChangeArrowheads="1"/>
            </p:cNvSpPr>
            <p:nvPr/>
          </p:nvSpPr>
          <p:spPr bwMode="auto">
            <a:xfrm>
              <a:off x="4542" y="2583"/>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46" name="Rectangle 69">
              <a:extLst>
                <a:ext uri="{FF2B5EF4-FFF2-40B4-BE49-F238E27FC236}">
                  <a16:creationId xmlns:a16="http://schemas.microsoft.com/office/drawing/2014/main" id="{C338CC7B-B194-3243-B60D-75BEFA01C177}"/>
                </a:ext>
              </a:extLst>
            </p:cNvPr>
            <p:cNvSpPr>
              <a:spLocks noChangeArrowheads="1"/>
            </p:cNvSpPr>
            <p:nvPr/>
          </p:nvSpPr>
          <p:spPr bwMode="auto">
            <a:xfrm>
              <a:off x="3369" y="2164"/>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47" name="Rectangle 70">
              <a:extLst>
                <a:ext uri="{FF2B5EF4-FFF2-40B4-BE49-F238E27FC236}">
                  <a16:creationId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48" name="Freeform 71">
              <a:extLst>
                <a:ext uri="{FF2B5EF4-FFF2-40B4-BE49-F238E27FC236}">
                  <a16:creationId xmlns:a16="http://schemas.microsoft.com/office/drawing/2014/main" id="{D86522CF-FBA5-EA4F-A7F3-97C45B0DB909}"/>
                </a:ext>
              </a:extLst>
            </p:cNvPr>
            <p:cNvSpPr>
              <a:spLocks/>
            </p:cNvSpPr>
            <p:nvPr/>
          </p:nvSpPr>
          <p:spPr bwMode="auto">
            <a:xfrm>
              <a:off x="3585" y="2630"/>
              <a:ext cx="848" cy="312"/>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49" name="Freeform 72">
              <a:extLst>
                <a:ext uri="{FF2B5EF4-FFF2-40B4-BE49-F238E27FC236}">
                  <a16:creationId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50" name="Rectangle 76">
              <a:extLst>
                <a:ext uri="{FF2B5EF4-FFF2-40B4-BE49-F238E27FC236}">
                  <a16:creationId xmlns:a16="http://schemas.microsoft.com/office/drawing/2014/main" id="{CC9EB8FA-449A-AD48-B0D0-F22B0CB1DCA2}"/>
                </a:ext>
              </a:extLst>
            </p:cNvPr>
            <p:cNvSpPr>
              <a:spLocks noChangeArrowheads="1"/>
            </p:cNvSpPr>
            <p:nvPr/>
          </p:nvSpPr>
          <p:spPr bwMode="auto">
            <a:xfrm>
              <a:off x="3363" y="2563"/>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sp>
          <p:nvSpPr>
            <p:cNvPr id="151" name="Rectangle 77">
              <a:extLst>
                <a:ext uri="{FF2B5EF4-FFF2-40B4-BE49-F238E27FC236}">
                  <a16:creationId xmlns:a16="http://schemas.microsoft.com/office/drawing/2014/main" id="{ED96AE20-CFC4-C449-96F2-A1836A8ADFC9}"/>
                </a:ext>
              </a:extLst>
            </p:cNvPr>
            <p:cNvSpPr>
              <a:spLocks noChangeArrowheads="1"/>
            </p:cNvSpPr>
            <p:nvPr/>
          </p:nvSpPr>
          <p:spPr bwMode="auto">
            <a:xfrm>
              <a:off x="4542" y="2490"/>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grpSp>
      <p:sp>
        <p:nvSpPr>
          <p:cNvPr id="185" name="Freeform 6">
            <a:extLst>
              <a:ext uri="{FF2B5EF4-FFF2-40B4-BE49-F238E27FC236}">
                <a16:creationId xmlns:a16="http://schemas.microsoft.com/office/drawing/2014/main" id="{48AC5632-6C88-9B4F-8AC4-BA566F7E218B}"/>
              </a:ext>
            </a:extLst>
          </p:cNvPr>
          <p:cNvSpPr>
            <a:spLocks/>
          </p:cNvSpPr>
          <p:nvPr/>
        </p:nvSpPr>
        <p:spPr bwMode="auto">
          <a:xfrm>
            <a:off x="5237882" y="3468274"/>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6" name="Freeform 3">
            <a:extLst>
              <a:ext uri="{FF2B5EF4-FFF2-40B4-BE49-F238E27FC236}">
                <a16:creationId xmlns:a16="http://schemas.microsoft.com/office/drawing/2014/main" id="{28E26305-1B9C-8A47-B034-2E9BCCD87DED}"/>
              </a:ext>
            </a:extLst>
          </p:cNvPr>
          <p:cNvSpPr>
            <a:spLocks/>
          </p:cNvSpPr>
          <p:nvPr/>
        </p:nvSpPr>
        <p:spPr bwMode="auto">
          <a:xfrm>
            <a:off x="6169468" y="346620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3138E679-7A6F-3F4C-9CD4-1BC53C242F2F}"/>
              </a:ext>
            </a:extLst>
          </p:cNvPr>
          <p:cNvGrpSpPr/>
          <p:nvPr/>
        </p:nvGrpSpPr>
        <p:grpSpPr>
          <a:xfrm>
            <a:off x="5588976" y="3440670"/>
            <a:ext cx="586768" cy="904023"/>
            <a:chOff x="10910965" y="2513124"/>
            <a:chExt cx="586768" cy="904023"/>
          </a:xfrm>
        </p:grpSpPr>
        <p:sp>
          <p:nvSpPr>
            <p:cNvPr id="188" name="Rectangle 187">
              <a:extLst>
                <a:ext uri="{FF2B5EF4-FFF2-40B4-BE49-F238E27FC236}">
                  <a16:creationId xmlns:a16="http://schemas.microsoft.com/office/drawing/2014/main"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9" name="Straight Connector 188">
              <a:extLst>
                <a:ext uri="{FF2B5EF4-FFF2-40B4-BE49-F238E27FC236}">
                  <a16:creationId xmlns:a16="http://schemas.microsoft.com/office/drawing/2014/main"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3" name="Freeform 9">
            <a:extLst>
              <a:ext uri="{FF2B5EF4-FFF2-40B4-BE49-F238E27FC236}">
                <a16:creationId xmlns:a16="http://schemas.microsoft.com/office/drawing/2014/main" id="{5547101E-4A79-584C-9989-5E85D28B6DAA}"/>
              </a:ext>
            </a:extLst>
          </p:cNvPr>
          <p:cNvSpPr>
            <a:spLocks/>
          </p:cNvSpPr>
          <p:nvPr/>
        </p:nvSpPr>
        <p:spPr bwMode="auto">
          <a:xfrm flipH="1">
            <a:off x="2015582" y="2324323"/>
            <a:ext cx="430143" cy="90046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4" name="Group 193">
            <a:extLst>
              <a:ext uri="{FF2B5EF4-FFF2-40B4-BE49-F238E27FC236}">
                <a16:creationId xmlns:a16="http://schemas.microsoft.com/office/drawing/2014/main" id="{B6427DD3-BCDC-1D47-B9EA-F052CBEE3779}"/>
              </a:ext>
            </a:extLst>
          </p:cNvPr>
          <p:cNvGrpSpPr/>
          <p:nvPr/>
        </p:nvGrpSpPr>
        <p:grpSpPr>
          <a:xfrm>
            <a:off x="1554750" y="3216982"/>
            <a:ext cx="586768" cy="904023"/>
            <a:chOff x="10910965" y="2513124"/>
            <a:chExt cx="586768" cy="904023"/>
          </a:xfrm>
        </p:grpSpPr>
        <p:sp>
          <p:nvSpPr>
            <p:cNvPr id="195" name="Rectangle 194">
              <a:extLst>
                <a:ext uri="{FF2B5EF4-FFF2-40B4-BE49-F238E27FC236}">
                  <a16:creationId xmlns:a16="http://schemas.microsoft.com/office/drawing/2014/main"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96" name="Straight Connector 195">
              <a:extLst>
                <a:ext uri="{FF2B5EF4-FFF2-40B4-BE49-F238E27FC236}">
                  <a16:creationId xmlns:a16="http://schemas.microsoft.com/office/drawing/2014/main"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 name="Group 199">
            <a:extLst>
              <a:ext uri="{FF2B5EF4-FFF2-40B4-BE49-F238E27FC236}">
                <a16:creationId xmlns:a16="http://schemas.microsoft.com/office/drawing/2014/main" id="{F01A9AD5-3D29-E044-89AB-2A8A2872A48C}"/>
              </a:ext>
            </a:extLst>
          </p:cNvPr>
          <p:cNvGrpSpPr/>
          <p:nvPr/>
        </p:nvGrpSpPr>
        <p:grpSpPr>
          <a:xfrm>
            <a:off x="2431050" y="2328490"/>
            <a:ext cx="586768" cy="904023"/>
            <a:chOff x="10910965" y="2513124"/>
            <a:chExt cx="586768" cy="904023"/>
          </a:xfrm>
        </p:grpSpPr>
        <p:sp>
          <p:nvSpPr>
            <p:cNvPr id="201" name="Rectangle 200">
              <a:extLst>
                <a:ext uri="{FF2B5EF4-FFF2-40B4-BE49-F238E27FC236}">
                  <a16:creationId xmlns:a16="http://schemas.microsoft.com/office/drawing/2014/main"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02" name="Straight Connector 201">
              <a:extLst>
                <a:ext uri="{FF2B5EF4-FFF2-40B4-BE49-F238E27FC236}">
                  <a16:creationId xmlns:a16="http://schemas.microsoft.com/office/drawing/2014/main"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6" name="Freeform 6">
            <a:extLst>
              <a:ext uri="{FF2B5EF4-FFF2-40B4-BE49-F238E27FC236}">
                <a16:creationId xmlns:a16="http://schemas.microsoft.com/office/drawing/2014/main" id="{48AC5632-6C88-9B4F-8AC4-BA566F7E218B}"/>
              </a:ext>
            </a:extLst>
          </p:cNvPr>
          <p:cNvSpPr>
            <a:spLocks/>
          </p:cNvSpPr>
          <p:nvPr/>
        </p:nvSpPr>
        <p:spPr bwMode="auto">
          <a:xfrm>
            <a:off x="6545706" y="2464811"/>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7" name="Group 206">
            <a:extLst>
              <a:ext uri="{FF2B5EF4-FFF2-40B4-BE49-F238E27FC236}">
                <a16:creationId xmlns:a16="http://schemas.microsoft.com/office/drawing/2014/main" id="{7395260E-0495-5549-B67B-D0932B2922A1}"/>
              </a:ext>
            </a:extLst>
          </p:cNvPr>
          <p:cNvGrpSpPr/>
          <p:nvPr/>
        </p:nvGrpSpPr>
        <p:grpSpPr>
          <a:xfrm>
            <a:off x="5967517" y="2440677"/>
            <a:ext cx="586768" cy="904023"/>
            <a:chOff x="10910965" y="2513124"/>
            <a:chExt cx="586768" cy="904023"/>
          </a:xfrm>
        </p:grpSpPr>
        <p:sp>
          <p:nvSpPr>
            <p:cNvPr id="208" name="Rectangle 207">
              <a:extLst>
                <a:ext uri="{FF2B5EF4-FFF2-40B4-BE49-F238E27FC236}">
                  <a16:creationId xmlns:a16="http://schemas.microsoft.com/office/drawing/2014/main"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09" name="Straight Connector 208">
              <a:extLst>
                <a:ext uri="{FF2B5EF4-FFF2-40B4-BE49-F238E27FC236}">
                  <a16:creationId xmlns:a16="http://schemas.microsoft.com/office/drawing/2014/main"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1" name="Group 124">
            <a:extLst>
              <a:ext uri="{FF2B5EF4-FFF2-40B4-BE49-F238E27FC236}">
                <a16:creationId xmlns:a16="http://schemas.microsoft.com/office/drawing/2014/main" id="{09EDE4D1-769E-664A-B492-F153D45C56DF}"/>
              </a:ext>
            </a:extLst>
          </p:cNvPr>
          <p:cNvGrpSpPr>
            <a:grpSpLocks/>
          </p:cNvGrpSpPr>
          <p:nvPr/>
        </p:nvGrpSpPr>
        <p:grpSpPr bwMode="auto">
          <a:xfrm>
            <a:off x="1586292" y="2600576"/>
            <a:ext cx="525463" cy="434975"/>
            <a:chOff x="-44" y="1473"/>
            <a:chExt cx="981" cy="1105"/>
          </a:xfrm>
        </p:grpSpPr>
        <p:pic>
          <p:nvPicPr>
            <p:cNvPr id="222" name="Picture 125" descr="desktop_computer_stylized_medium">
              <a:extLst>
                <a:ext uri="{FF2B5EF4-FFF2-40B4-BE49-F238E27FC236}">
                  <a16:creationId xmlns:a16="http://schemas.microsoft.com/office/drawing/2014/main" id="{BCF21B40-E1CC-014D-891D-609787EB1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 name="Freeform 126">
              <a:extLst>
                <a:ext uri="{FF2B5EF4-FFF2-40B4-BE49-F238E27FC236}">
                  <a16:creationId xmlns:a16="http://schemas.microsoft.com/office/drawing/2014/main"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24" name="Freeform 12">
            <a:extLst>
              <a:ext uri="{FF2B5EF4-FFF2-40B4-BE49-F238E27FC236}">
                <a16:creationId xmlns:a16="http://schemas.microsoft.com/office/drawing/2014/main" id="{AC913105-44C9-2F4B-B4CF-997DA724B11C}"/>
              </a:ext>
            </a:extLst>
          </p:cNvPr>
          <p:cNvSpPr>
            <a:spLocks/>
          </p:cNvSpPr>
          <p:nvPr/>
        </p:nvSpPr>
        <p:spPr bwMode="auto">
          <a:xfrm flipH="1">
            <a:off x="1310131" y="3215383"/>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5" name="Line 33">
            <a:extLst>
              <a:ext uri="{FF2B5EF4-FFF2-40B4-BE49-F238E27FC236}">
                <a16:creationId xmlns:a16="http://schemas.microsoft.com/office/drawing/2014/main" id="{A9B30674-B59F-1643-8F90-1D2641E2102B}"/>
              </a:ext>
            </a:extLst>
          </p:cNvPr>
          <p:cNvSpPr>
            <a:spLocks noChangeShapeType="1"/>
          </p:cNvSpPr>
          <p:nvPr/>
        </p:nvSpPr>
        <p:spPr bwMode="auto">
          <a:xfrm flipH="1">
            <a:off x="2472181" y="334873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Text Box 42">
            <a:extLst>
              <a:ext uri="{FF2B5EF4-FFF2-40B4-BE49-F238E27FC236}">
                <a16:creationId xmlns:a16="http://schemas.microsoft.com/office/drawing/2014/main" id="{45FD0EC2-A145-DC4A-9A60-DC5E453EC52B}"/>
              </a:ext>
            </a:extLst>
          </p:cNvPr>
          <p:cNvSpPr txBox="1">
            <a:spLocks noChangeArrowheads="1"/>
          </p:cNvSpPr>
          <p:nvPr/>
        </p:nvSpPr>
        <p:spPr bwMode="auto">
          <a:xfrm>
            <a:off x="1400016" y="2335159"/>
            <a:ext cx="913861"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227"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1395798" y="4263808"/>
            <a:ext cx="799129"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228" name="Line 53">
            <a:extLst>
              <a:ext uri="{FF2B5EF4-FFF2-40B4-BE49-F238E27FC236}">
                <a16:creationId xmlns:a16="http://schemas.microsoft.com/office/drawing/2014/main" id="{8E626A5E-7769-D34B-B652-6F3C2A3740FB}"/>
              </a:ext>
            </a:extLst>
          </p:cNvPr>
          <p:cNvSpPr>
            <a:spLocks noChangeShapeType="1"/>
          </p:cNvSpPr>
          <p:nvPr/>
        </p:nvSpPr>
        <p:spPr bwMode="auto">
          <a:xfrm flipH="1">
            <a:off x="2957956" y="374878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9" name="Line 54">
            <a:extLst>
              <a:ext uri="{FF2B5EF4-FFF2-40B4-BE49-F238E27FC236}">
                <a16:creationId xmlns:a16="http://schemas.microsoft.com/office/drawing/2014/main" id="{DFB6E6E2-8DA8-C549-8AC1-828F8F828431}"/>
              </a:ext>
            </a:extLst>
          </p:cNvPr>
          <p:cNvSpPr>
            <a:spLocks noChangeShapeType="1"/>
          </p:cNvSpPr>
          <p:nvPr/>
        </p:nvSpPr>
        <p:spPr bwMode="auto">
          <a:xfrm flipH="1">
            <a:off x="4577206" y="374878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0" name="Line 55">
            <a:extLst>
              <a:ext uri="{FF2B5EF4-FFF2-40B4-BE49-F238E27FC236}">
                <a16:creationId xmlns:a16="http://schemas.microsoft.com/office/drawing/2014/main" id="{66F3E5E4-6136-594F-B2C6-BF81A4932B2E}"/>
              </a:ext>
            </a:extLst>
          </p:cNvPr>
          <p:cNvSpPr>
            <a:spLocks noChangeShapeType="1"/>
          </p:cNvSpPr>
          <p:nvPr/>
        </p:nvSpPr>
        <p:spPr bwMode="auto">
          <a:xfrm flipH="1">
            <a:off x="4701031" y="334873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1" name="Line 57">
            <a:extLst>
              <a:ext uri="{FF2B5EF4-FFF2-40B4-BE49-F238E27FC236}">
                <a16:creationId xmlns:a16="http://schemas.microsoft.com/office/drawing/2014/main" id="{3D95A033-C14C-3448-9016-0C9E6C4CF3A2}"/>
              </a:ext>
            </a:extLst>
          </p:cNvPr>
          <p:cNvSpPr>
            <a:spLocks noChangeShapeType="1"/>
          </p:cNvSpPr>
          <p:nvPr/>
        </p:nvSpPr>
        <p:spPr bwMode="auto">
          <a:xfrm flipH="1">
            <a:off x="5622927" y="3348880"/>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2" name="Group 127">
            <a:extLst>
              <a:ext uri="{FF2B5EF4-FFF2-40B4-BE49-F238E27FC236}">
                <a16:creationId xmlns:a16="http://schemas.microsoft.com/office/drawing/2014/main" id="{879C5F16-9AAB-6840-B838-D482AFD339D0}"/>
              </a:ext>
            </a:extLst>
          </p:cNvPr>
          <p:cNvGrpSpPr>
            <a:grpSpLocks/>
          </p:cNvGrpSpPr>
          <p:nvPr/>
        </p:nvGrpSpPr>
        <p:grpSpPr bwMode="auto">
          <a:xfrm>
            <a:off x="6645718" y="3056633"/>
            <a:ext cx="231775" cy="441325"/>
            <a:chOff x="4140" y="429"/>
            <a:chExt cx="1425" cy="2396"/>
          </a:xfrm>
        </p:grpSpPr>
        <p:sp>
          <p:nvSpPr>
            <p:cNvPr id="233"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5"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6"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7"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8"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263"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4"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9"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0"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261"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2"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1"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3"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259"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4"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5"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257"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8"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6"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7"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9"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1"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3"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55"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6"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65" name="Group 160">
            <a:extLst>
              <a:ext uri="{FF2B5EF4-FFF2-40B4-BE49-F238E27FC236}">
                <a16:creationId xmlns:a16="http://schemas.microsoft.com/office/drawing/2014/main" id="{AD8E3A61-2C5A-CC41-9933-891EC27B5015}"/>
              </a:ext>
            </a:extLst>
          </p:cNvPr>
          <p:cNvGrpSpPr>
            <a:grpSpLocks/>
          </p:cNvGrpSpPr>
          <p:nvPr/>
        </p:nvGrpSpPr>
        <p:grpSpPr bwMode="auto">
          <a:xfrm>
            <a:off x="990249" y="3959485"/>
            <a:ext cx="525463" cy="434975"/>
            <a:chOff x="-44" y="1473"/>
            <a:chExt cx="981" cy="1105"/>
          </a:xfrm>
        </p:grpSpPr>
        <p:pic>
          <p:nvPicPr>
            <p:cNvPr id="266" name="Picture 161" descr="desktop_computer_stylized_medium">
              <a:extLst>
                <a:ext uri="{FF2B5EF4-FFF2-40B4-BE49-F238E27FC236}">
                  <a16:creationId xmlns:a16="http://schemas.microsoft.com/office/drawing/2014/main" id="{01E7AFB7-5DE3-CA4A-A50A-BEADA26B1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 name="Freeform 162">
              <a:extLst>
                <a:ext uri="{FF2B5EF4-FFF2-40B4-BE49-F238E27FC236}">
                  <a16:creationId xmlns:a16="http://schemas.microsoft.com/office/drawing/2014/main"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68" name="Group 163">
            <a:extLst>
              <a:ext uri="{FF2B5EF4-FFF2-40B4-BE49-F238E27FC236}">
                <a16:creationId xmlns:a16="http://schemas.microsoft.com/office/drawing/2014/main" id="{C476CE94-C91A-0846-B6B7-05E77113879F}"/>
              </a:ext>
            </a:extLst>
          </p:cNvPr>
          <p:cNvGrpSpPr>
            <a:grpSpLocks/>
          </p:cNvGrpSpPr>
          <p:nvPr/>
        </p:nvGrpSpPr>
        <p:grpSpPr bwMode="auto">
          <a:xfrm>
            <a:off x="6328218" y="4021833"/>
            <a:ext cx="231775" cy="441325"/>
            <a:chOff x="4140" y="429"/>
            <a:chExt cx="1425" cy="2396"/>
          </a:xfrm>
        </p:grpSpPr>
        <p:sp>
          <p:nvSpPr>
            <p:cNvPr id="269" name="Freeform 164">
              <a:extLst>
                <a:ext uri="{FF2B5EF4-FFF2-40B4-BE49-F238E27FC236}">
                  <a16:creationId xmlns:a16="http://schemas.microsoft.com/office/drawing/2014/main"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0" name="Rectangle 165">
              <a:extLst>
                <a:ext uri="{FF2B5EF4-FFF2-40B4-BE49-F238E27FC236}">
                  <a16:creationId xmlns:a16="http://schemas.microsoft.com/office/drawing/2014/main"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1" name="Freeform 166">
              <a:extLst>
                <a:ext uri="{FF2B5EF4-FFF2-40B4-BE49-F238E27FC236}">
                  <a16:creationId xmlns:a16="http://schemas.microsoft.com/office/drawing/2014/main"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Freeform 167">
              <a:extLst>
                <a:ext uri="{FF2B5EF4-FFF2-40B4-BE49-F238E27FC236}">
                  <a16:creationId xmlns:a16="http://schemas.microsoft.com/office/drawing/2014/main"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Rectangle 168">
              <a:extLst>
                <a:ext uri="{FF2B5EF4-FFF2-40B4-BE49-F238E27FC236}">
                  <a16:creationId xmlns:a16="http://schemas.microsoft.com/office/drawing/2014/main"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74" name="Group 169">
              <a:extLst>
                <a:ext uri="{FF2B5EF4-FFF2-40B4-BE49-F238E27FC236}">
                  <a16:creationId xmlns:a16="http://schemas.microsoft.com/office/drawing/2014/main" id="{0515312F-DE85-5641-B779-E8991ECBE8F8}"/>
                </a:ext>
              </a:extLst>
            </p:cNvPr>
            <p:cNvGrpSpPr>
              <a:grpSpLocks/>
            </p:cNvGrpSpPr>
            <p:nvPr/>
          </p:nvGrpSpPr>
          <p:grpSpPr bwMode="auto">
            <a:xfrm>
              <a:off x="4749" y="668"/>
              <a:ext cx="581" cy="145"/>
              <a:chOff x="614" y="2568"/>
              <a:chExt cx="725" cy="139"/>
            </a:xfrm>
          </p:grpSpPr>
          <p:sp>
            <p:nvSpPr>
              <p:cNvPr id="299" name="AutoShape 170">
                <a:extLst>
                  <a:ext uri="{FF2B5EF4-FFF2-40B4-BE49-F238E27FC236}">
                    <a16:creationId xmlns:a16="http://schemas.microsoft.com/office/drawing/2014/main"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0" name="AutoShape 171">
                <a:extLst>
                  <a:ext uri="{FF2B5EF4-FFF2-40B4-BE49-F238E27FC236}">
                    <a16:creationId xmlns:a16="http://schemas.microsoft.com/office/drawing/2014/main"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75" name="Rectangle 172">
              <a:extLst>
                <a:ext uri="{FF2B5EF4-FFF2-40B4-BE49-F238E27FC236}">
                  <a16:creationId xmlns:a16="http://schemas.microsoft.com/office/drawing/2014/main"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76" name="Group 173">
              <a:extLst>
                <a:ext uri="{FF2B5EF4-FFF2-40B4-BE49-F238E27FC236}">
                  <a16:creationId xmlns:a16="http://schemas.microsoft.com/office/drawing/2014/main" id="{BAB53084-6436-7444-ACD5-5E7D01263E2B}"/>
                </a:ext>
              </a:extLst>
            </p:cNvPr>
            <p:cNvGrpSpPr>
              <a:grpSpLocks/>
            </p:cNvGrpSpPr>
            <p:nvPr/>
          </p:nvGrpSpPr>
          <p:grpSpPr bwMode="auto">
            <a:xfrm>
              <a:off x="4747" y="994"/>
              <a:ext cx="581" cy="134"/>
              <a:chOff x="614" y="2568"/>
              <a:chExt cx="725" cy="139"/>
            </a:xfrm>
          </p:grpSpPr>
          <p:sp>
            <p:nvSpPr>
              <p:cNvPr id="297" name="AutoShape 174">
                <a:extLst>
                  <a:ext uri="{FF2B5EF4-FFF2-40B4-BE49-F238E27FC236}">
                    <a16:creationId xmlns:a16="http://schemas.microsoft.com/office/drawing/2014/main"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8" name="AutoShape 175">
                <a:extLst>
                  <a:ext uri="{FF2B5EF4-FFF2-40B4-BE49-F238E27FC236}">
                    <a16:creationId xmlns:a16="http://schemas.microsoft.com/office/drawing/2014/main"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77" name="Rectangle 176">
              <a:extLst>
                <a:ext uri="{FF2B5EF4-FFF2-40B4-BE49-F238E27FC236}">
                  <a16:creationId xmlns:a16="http://schemas.microsoft.com/office/drawing/2014/main"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Rectangle 177">
              <a:extLst>
                <a:ext uri="{FF2B5EF4-FFF2-40B4-BE49-F238E27FC236}">
                  <a16:creationId xmlns:a16="http://schemas.microsoft.com/office/drawing/2014/main"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79" name="Group 178">
              <a:extLst>
                <a:ext uri="{FF2B5EF4-FFF2-40B4-BE49-F238E27FC236}">
                  <a16:creationId xmlns:a16="http://schemas.microsoft.com/office/drawing/2014/main" id="{E30BEF1D-E99C-EF4F-A2DE-968E737192AA}"/>
                </a:ext>
              </a:extLst>
            </p:cNvPr>
            <p:cNvGrpSpPr>
              <a:grpSpLocks/>
            </p:cNvGrpSpPr>
            <p:nvPr/>
          </p:nvGrpSpPr>
          <p:grpSpPr bwMode="auto">
            <a:xfrm>
              <a:off x="4735" y="1627"/>
              <a:ext cx="582" cy="151"/>
              <a:chOff x="614" y="2568"/>
              <a:chExt cx="725" cy="139"/>
            </a:xfrm>
          </p:grpSpPr>
          <p:sp>
            <p:nvSpPr>
              <p:cNvPr id="295" name="AutoShape 179">
                <a:extLst>
                  <a:ext uri="{FF2B5EF4-FFF2-40B4-BE49-F238E27FC236}">
                    <a16:creationId xmlns:a16="http://schemas.microsoft.com/office/drawing/2014/main"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6" name="AutoShape 180">
                <a:extLst>
                  <a:ext uri="{FF2B5EF4-FFF2-40B4-BE49-F238E27FC236}">
                    <a16:creationId xmlns:a16="http://schemas.microsoft.com/office/drawing/2014/main"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80" name="Freeform 181">
              <a:extLst>
                <a:ext uri="{FF2B5EF4-FFF2-40B4-BE49-F238E27FC236}">
                  <a16:creationId xmlns:a16="http://schemas.microsoft.com/office/drawing/2014/main"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81" name="Group 182">
              <a:extLst>
                <a:ext uri="{FF2B5EF4-FFF2-40B4-BE49-F238E27FC236}">
                  <a16:creationId xmlns:a16="http://schemas.microsoft.com/office/drawing/2014/main" id="{6A155784-A945-0F47-A39B-31F367A22CCA}"/>
                </a:ext>
              </a:extLst>
            </p:cNvPr>
            <p:cNvGrpSpPr>
              <a:grpSpLocks/>
            </p:cNvGrpSpPr>
            <p:nvPr/>
          </p:nvGrpSpPr>
          <p:grpSpPr bwMode="auto">
            <a:xfrm>
              <a:off x="4739" y="1327"/>
              <a:ext cx="582" cy="139"/>
              <a:chOff x="614" y="2568"/>
              <a:chExt cx="725" cy="139"/>
            </a:xfrm>
          </p:grpSpPr>
          <p:sp>
            <p:nvSpPr>
              <p:cNvPr id="293" name="AutoShape 183">
                <a:extLst>
                  <a:ext uri="{FF2B5EF4-FFF2-40B4-BE49-F238E27FC236}">
                    <a16:creationId xmlns:a16="http://schemas.microsoft.com/office/drawing/2014/main"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4" name="AutoShape 184">
                <a:extLst>
                  <a:ext uri="{FF2B5EF4-FFF2-40B4-BE49-F238E27FC236}">
                    <a16:creationId xmlns:a16="http://schemas.microsoft.com/office/drawing/2014/main"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82" name="Rectangle 185">
              <a:extLst>
                <a:ext uri="{FF2B5EF4-FFF2-40B4-BE49-F238E27FC236}">
                  <a16:creationId xmlns:a16="http://schemas.microsoft.com/office/drawing/2014/main"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Freeform 186">
              <a:extLst>
                <a:ext uri="{FF2B5EF4-FFF2-40B4-BE49-F238E27FC236}">
                  <a16:creationId xmlns:a16="http://schemas.microsoft.com/office/drawing/2014/main"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Freeform 187">
              <a:extLst>
                <a:ext uri="{FF2B5EF4-FFF2-40B4-BE49-F238E27FC236}">
                  <a16:creationId xmlns:a16="http://schemas.microsoft.com/office/drawing/2014/main"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5" name="Oval 188">
              <a:extLst>
                <a:ext uri="{FF2B5EF4-FFF2-40B4-BE49-F238E27FC236}">
                  <a16:creationId xmlns:a16="http://schemas.microsoft.com/office/drawing/2014/main"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6" name="Freeform 189">
              <a:extLst>
                <a:ext uri="{FF2B5EF4-FFF2-40B4-BE49-F238E27FC236}">
                  <a16:creationId xmlns:a16="http://schemas.microsoft.com/office/drawing/2014/main"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7" name="AutoShape 190">
              <a:extLst>
                <a:ext uri="{FF2B5EF4-FFF2-40B4-BE49-F238E27FC236}">
                  <a16:creationId xmlns:a16="http://schemas.microsoft.com/office/drawing/2014/main"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8" name="AutoShape 191">
              <a:extLst>
                <a:ext uri="{FF2B5EF4-FFF2-40B4-BE49-F238E27FC236}">
                  <a16:creationId xmlns:a16="http://schemas.microsoft.com/office/drawing/2014/main"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9" name="Oval 192">
              <a:extLst>
                <a:ext uri="{FF2B5EF4-FFF2-40B4-BE49-F238E27FC236}">
                  <a16:creationId xmlns:a16="http://schemas.microsoft.com/office/drawing/2014/main"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0" name="Oval 193">
              <a:extLst>
                <a:ext uri="{FF2B5EF4-FFF2-40B4-BE49-F238E27FC236}">
                  <a16:creationId xmlns:a16="http://schemas.microsoft.com/office/drawing/2014/main"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91" name="Oval 194">
              <a:extLst>
                <a:ext uri="{FF2B5EF4-FFF2-40B4-BE49-F238E27FC236}">
                  <a16:creationId xmlns:a16="http://schemas.microsoft.com/office/drawing/2014/main"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2" name="Rectangle 195">
              <a:extLst>
                <a:ext uri="{FF2B5EF4-FFF2-40B4-BE49-F238E27FC236}">
                  <a16:creationId xmlns:a16="http://schemas.microsoft.com/office/drawing/2014/main"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1" name="Line 57">
            <a:extLst>
              <a:ext uri="{FF2B5EF4-FFF2-40B4-BE49-F238E27FC236}">
                <a16:creationId xmlns:a16="http://schemas.microsoft.com/office/drawing/2014/main" id="{198CECD8-AC19-4441-B07E-D812C1E4B022}"/>
              </a:ext>
            </a:extLst>
          </p:cNvPr>
          <p:cNvSpPr>
            <a:spLocks noChangeShapeType="1"/>
          </p:cNvSpPr>
          <p:nvPr/>
        </p:nvSpPr>
        <p:spPr bwMode="auto">
          <a:xfrm flipH="1">
            <a:off x="4710871" y="4214043"/>
            <a:ext cx="8222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2" name="Line 57">
            <a:extLst>
              <a:ext uri="{FF2B5EF4-FFF2-40B4-BE49-F238E27FC236}">
                <a16:creationId xmlns:a16="http://schemas.microsoft.com/office/drawing/2014/main" id="{E3F52AFD-CA05-E145-A13D-BB73559D50E0}"/>
              </a:ext>
            </a:extLst>
          </p:cNvPr>
          <p:cNvSpPr>
            <a:spLocks noChangeShapeType="1"/>
          </p:cNvSpPr>
          <p:nvPr/>
        </p:nvSpPr>
        <p:spPr bwMode="auto">
          <a:xfrm flipH="1">
            <a:off x="2957100" y="3346536"/>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3" name="Line 57">
            <a:extLst>
              <a:ext uri="{FF2B5EF4-FFF2-40B4-BE49-F238E27FC236}">
                <a16:creationId xmlns:a16="http://schemas.microsoft.com/office/drawing/2014/main" id="{1C06B2BF-A77D-004B-A9F1-4A7417598B7E}"/>
              </a:ext>
            </a:extLst>
          </p:cNvPr>
          <p:cNvSpPr>
            <a:spLocks noChangeShapeType="1"/>
          </p:cNvSpPr>
          <p:nvPr/>
        </p:nvSpPr>
        <p:spPr bwMode="auto">
          <a:xfrm flipH="1">
            <a:off x="2035666" y="4216388"/>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4" name="Freeform 91">
            <a:extLst>
              <a:ext uri="{FF2B5EF4-FFF2-40B4-BE49-F238E27FC236}">
                <a16:creationId xmlns:a16="http://schemas.microsoft.com/office/drawing/2014/main" id="{DCEE1836-E089-0E43-AA83-3C4D23A24812}"/>
              </a:ext>
            </a:extLst>
          </p:cNvPr>
          <p:cNvSpPr>
            <a:spLocks/>
          </p:cNvSpPr>
          <p:nvPr/>
        </p:nvSpPr>
        <p:spPr bwMode="auto">
          <a:xfrm>
            <a:off x="2796031" y="2434333"/>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5" name="Group 304">
            <a:extLst>
              <a:ext uri="{FF2B5EF4-FFF2-40B4-BE49-F238E27FC236}">
                <a16:creationId xmlns:a16="http://schemas.microsoft.com/office/drawing/2014/main" id="{07632497-C7A3-5D43-A16B-0B4F26B7ADF5}"/>
              </a:ext>
            </a:extLst>
          </p:cNvPr>
          <p:cNvGrpSpPr/>
          <p:nvPr/>
        </p:nvGrpSpPr>
        <p:grpSpPr>
          <a:xfrm>
            <a:off x="1805431" y="3263008"/>
            <a:ext cx="4000500" cy="1028700"/>
            <a:chOff x="5641439" y="2685215"/>
            <a:chExt cx="4000500" cy="1028700"/>
          </a:xfrm>
        </p:grpSpPr>
        <p:sp>
          <p:nvSpPr>
            <p:cNvPr id="306" name="Oval 73">
              <a:extLst>
                <a:ext uri="{FF2B5EF4-FFF2-40B4-BE49-F238E27FC236}">
                  <a16:creationId xmlns:a16="http://schemas.microsoft.com/office/drawing/2014/main"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Freeform 90">
              <a:extLst>
                <a:ext uri="{FF2B5EF4-FFF2-40B4-BE49-F238E27FC236}">
                  <a16:creationId xmlns:a16="http://schemas.microsoft.com/office/drawing/2014/main"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8" name="Group 307">
            <a:extLst>
              <a:ext uri="{FF2B5EF4-FFF2-40B4-BE49-F238E27FC236}">
                <a16:creationId xmlns:a16="http://schemas.microsoft.com/office/drawing/2014/main" id="{88E9FDF2-59AD-0849-94F0-90E7C39F4845}"/>
              </a:ext>
            </a:extLst>
          </p:cNvPr>
          <p:cNvGrpSpPr/>
          <p:nvPr/>
        </p:nvGrpSpPr>
        <p:grpSpPr>
          <a:xfrm>
            <a:off x="4232916" y="3560178"/>
            <a:ext cx="486450" cy="380335"/>
            <a:chOff x="7493876" y="2774731"/>
            <a:chExt cx="1481958" cy="894622"/>
          </a:xfrm>
        </p:grpSpPr>
        <p:sp>
          <p:nvSpPr>
            <p:cNvPr id="309" name="Freeform 308">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10" name="Oval 309">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1" name="Group 310">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312" name="Freeform 311">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3" name="Freeform 312">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4" name="Freeform 313">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5" name="Freeform 314">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8" name="Line 73">
            <a:extLst>
              <a:ext uri="{FF2B5EF4-FFF2-40B4-BE49-F238E27FC236}">
                <a16:creationId xmlns:a16="http://schemas.microsoft.com/office/drawing/2014/main" id="{5550252A-B930-0747-B713-DACF5B30A867}"/>
              </a:ext>
            </a:extLst>
          </p:cNvPr>
          <p:cNvSpPr>
            <a:spLocks noChangeShapeType="1"/>
          </p:cNvSpPr>
          <p:nvPr/>
        </p:nvSpPr>
        <p:spPr bwMode="auto">
          <a:xfrm>
            <a:off x="8903829" y="3513282"/>
            <a:ext cx="1094185" cy="14287"/>
          </a:xfrm>
          <a:prstGeom prst="line">
            <a:avLst/>
          </a:prstGeom>
          <a:noFill/>
          <a:ln w="28575">
            <a:solidFill>
              <a:srgbClr val="00B05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19" name="Rectangle 76">
            <a:extLst>
              <a:ext uri="{FF2B5EF4-FFF2-40B4-BE49-F238E27FC236}">
                <a16:creationId xmlns:a16="http://schemas.microsoft.com/office/drawing/2014/main" id="{CC9EB8FA-449A-AD48-B0D0-F22B0CB1DCA2}"/>
              </a:ext>
            </a:extLst>
          </p:cNvPr>
          <p:cNvSpPr>
            <a:spLocks noChangeArrowheads="1"/>
          </p:cNvSpPr>
          <p:nvPr/>
        </p:nvSpPr>
        <p:spPr bwMode="auto">
          <a:xfrm>
            <a:off x="10094502" y="3591178"/>
            <a:ext cx="189309" cy="98822"/>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a:solidFill>
                <a:srgbClr val="000000"/>
              </a:solidFill>
              <a:latin typeface="Avenir Book" panose="020B0503020203020204" pitchFamily="34" charset="-78"/>
              <a:cs typeface="Avenir Book" panose="020B0503020203020204" pitchFamily="34" charset="-78"/>
            </a:endParaRPr>
          </a:p>
        </p:txBody>
      </p:sp>
      <p:grpSp>
        <p:nvGrpSpPr>
          <p:cNvPr id="213" name="Group 212">
            <a:extLst>
              <a:ext uri="{FF2B5EF4-FFF2-40B4-BE49-F238E27FC236}">
                <a16:creationId xmlns:a16="http://schemas.microsoft.com/office/drawing/2014/main" id="{88E9FDF2-59AD-0849-94F0-90E7C39F4845}"/>
              </a:ext>
            </a:extLst>
          </p:cNvPr>
          <p:cNvGrpSpPr/>
          <p:nvPr/>
        </p:nvGrpSpPr>
        <p:grpSpPr>
          <a:xfrm>
            <a:off x="3433703" y="3582091"/>
            <a:ext cx="486450" cy="363840"/>
            <a:chOff x="7493876" y="2774731"/>
            <a:chExt cx="1481958" cy="894622"/>
          </a:xfrm>
        </p:grpSpPr>
        <p:sp>
          <p:nvSpPr>
            <p:cNvPr id="214" name="Freeform 213">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5" name="Oval 214">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6" name="Group 215">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217" name="Freeform 216">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8" name="Freeform 217">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Freeform 218">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Freeform 219">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319723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356609" y="3346039"/>
            <a:ext cx="8002957" cy="3763701"/>
          </a:xfrm>
        </p:spPr>
        <p:txBody>
          <a:bodyPr>
            <a:normAutofit/>
          </a:bodyPr>
          <a:lstStyle/>
          <a:p>
            <a:pPr marL="342900" lvl="0" indent="-342900">
              <a:lnSpc>
                <a:spcPct val="85000"/>
              </a:lnSpc>
              <a:spcBef>
                <a:spcPct val="20000"/>
              </a:spcBef>
              <a:buClr>
                <a:srgbClr val="000099"/>
              </a:buClr>
              <a:buSzPct val="100000"/>
              <a:buFont typeface="Wingdings" pitchFamily="2" charset="2"/>
              <a:buChar char="§"/>
              <a:defRPr/>
            </a:pPr>
            <a:r>
              <a:rPr lang="en-GB" altLang="en-US" sz="2000" dirty="0">
                <a:solidFill>
                  <a:srgbClr val="C00000"/>
                </a:solidFill>
                <a:latin typeface="Avenir Book" panose="020B0503020203020204" pitchFamily="34" charset="-78"/>
                <a:ea typeface="ＭＳ Ｐゴシック" panose="020B0600070205080204" pitchFamily="34" charset="-128"/>
                <a:cs typeface="Avenir Book" panose="020B0503020203020204" pitchFamily="34" charset="-78"/>
              </a:rPr>
              <a:t>Retransmitting undelivered packets: </a:t>
            </a:r>
            <a:r>
              <a:rPr lang="en-GB" altLang="en-US" sz="20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Packets can be lost, dropped at router due to full buffers</a:t>
            </a:r>
          </a:p>
          <a:p>
            <a:pPr marL="0" lvl="0" indent="0">
              <a:lnSpc>
                <a:spcPct val="85000"/>
              </a:lnSpc>
              <a:spcBef>
                <a:spcPct val="20000"/>
              </a:spcBef>
              <a:buClr>
                <a:srgbClr val="000099"/>
              </a:buClr>
              <a:buSzPct val="100000"/>
              <a:buNone/>
              <a:defRPr/>
            </a:pPr>
            <a:endParaRPr lang="en-GB" altLang="en-US" sz="20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endParaRPr>
          </a:p>
          <a:p>
            <a:pPr marL="342900" lvl="0" indent="-342900">
              <a:lnSpc>
                <a:spcPct val="85000"/>
              </a:lnSpc>
              <a:spcBef>
                <a:spcPct val="20000"/>
              </a:spcBef>
              <a:buClr>
                <a:srgbClr val="000099"/>
              </a:buClr>
              <a:buSzPct val="100000"/>
              <a:buFont typeface="Wingdings" pitchFamily="2" charset="2"/>
              <a:buChar char="§"/>
              <a:defRPr/>
            </a:pPr>
            <a:r>
              <a:rPr lang="en-GB" altLang="en-US" sz="2000" dirty="0">
                <a:solidFill>
                  <a:srgbClr val="C00000"/>
                </a:solidFill>
                <a:latin typeface="Avenir Book" panose="020B0503020203020204" pitchFamily="34" charset="-78"/>
                <a:ea typeface="ＭＳ Ｐゴシック" panose="020B0600070205080204" pitchFamily="34" charset="-128"/>
                <a:cs typeface="Avenir Book" panose="020B0503020203020204" pitchFamily="34" charset="-78"/>
              </a:rPr>
              <a:t>Retransmitting timeout packets: </a:t>
            </a:r>
            <a:r>
              <a:rPr lang="en-GB" altLang="en-US" sz="20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Sender timers can time out prematurely, sending two copies, both of which are delivered</a:t>
            </a:r>
          </a:p>
          <a:p>
            <a:pPr marL="800100" lvl="1" indent="-342900">
              <a:lnSpc>
                <a:spcPct val="85000"/>
              </a:lnSpc>
              <a:spcBef>
                <a:spcPct val="20000"/>
              </a:spcBef>
              <a:buClr>
                <a:srgbClr val="000099"/>
              </a:buClr>
              <a:buSzPct val="100000"/>
              <a:buFont typeface="Wingdings" pitchFamily="2" charset="2"/>
              <a:buChar char="§"/>
              <a:defRPr/>
            </a:pPr>
            <a:r>
              <a:rPr lang="en-US" altLang="en-US" sz="18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Decrease maximum achievable </a:t>
            </a:r>
            <a:r>
              <a:rPr lang="en-US" altLang="en-US" sz="1800" dirty="0" err="1">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rPr>
              <a:t>goodput</a:t>
            </a:r>
            <a:endParaRPr lang="en-US" altLang="en-US" sz="1800" dirty="0">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endParaRPr>
          </a:p>
          <a:p>
            <a:pPr marL="350044" indent="-252413">
              <a:defRPr/>
            </a:pPr>
            <a:endParaRPr lang="en-US" sz="2000" dirty="0">
              <a:latin typeface="Avenir Book" panose="020B0503020203020204" pitchFamily="34" charset="-78"/>
              <a:cs typeface="Avenir Book" panose="020B0503020203020204" pitchFamily="34" charset="-78"/>
            </a:endParaRP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41069" y="80644"/>
            <a:ext cx="7523911" cy="642002"/>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Effects of Congestion</a:t>
            </a:r>
            <a:endParaRPr lang="en-US" sz="4050" dirty="0">
              <a:latin typeface="Avenir Book" panose="020B0503020203020204" pitchFamily="34" charset="-78"/>
              <a:cs typeface="Avenir Book" panose="020B0503020203020204" pitchFamily="34" charset="-78"/>
            </a:endParaRPr>
          </a:p>
        </p:txBody>
      </p:sp>
      <p:grpSp>
        <p:nvGrpSpPr>
          <p:cNvPr id="185" name="Group 184"/>
          <p:cNvGrpSpPr>
            <a:grpSpLocks noGrp="1" noUngrp="1" noChangeAspect="1"/>
          </p:cNvGrpSpPr>
          <p:nvPr/>
        </p:nvGrpSpPr>
        <p:grpSpPr>
          <a:xfrm>
            <a:off x="4975830" y="2673194"/>
            <a:ext cx="6705879" cy="3172144"/>
            <a:chOff x="685800" y="1809750"/>
            <a:chExt cx="7772400" cy="3676650"/>
          </a:xfrm>
        </p:grpSpPr>
        <p:pic>
          <p:nvPicPr>
            <p:cNvPr id="186" name="Picture 185" descr="06_Page_16.tif"/>
            <p:cNvPicPr>
              <a:picLocks noRot="1" noChangeAspect="1" noMove="1" noResize="1"/>
            </p:cNvPicPr>
            <p:nvPr isPhoto="1"/>
          </p:nvPicPr>
          <p:blipFill rotWithShape="1">
            <a:blip r:embed="rId3" cstate="print">
              <a:lum/>
            </a:blip>
            <a:srcRect l="58879" b="8279"/>
            <a:stretch/>
          </p:blipFill>
          <p:spPr>
            <a:xfrm>
              <a:off x="5262085" y="1809750"/>
              <a:ext cx="3196115" cy="2970378"/>
            </a:xfrm>
            <a:prstGeom prst="rect">
              <a:avLst/>
            </a:prstGeom>
            <a:noFill/>
            <a:ln>
              <a:noFill/>
            </a:ln>
          </p:spPr>
        </p:pic>
        <p:sp>
          <p:nvSpPr>
            <p:cNvPr id="187" name="Rectangle 186"/>
            <p:cNvSpPr/>
            <p:nvPr/>
          </p:nvSpPr>
          <p:spPr>
            <a:xfrm>
              <a:off x="685800" y="5143500"/>
              <a:ext cx="7772400" cy="342900"/>
            </a:xfrm>
            <a:prstGeom prst="rect">
              <a:avLst/>
            </a:prstGeom>
            <a:noFill/>
            <a:ln>
              <a:noFill/>
            </a:ln>
          </p:spPr>
          <p:txBody>
            <a:bodyPr anchor="ctr">
              <a:noAutofit/>
            </a:bodyPr>
            <a:lstStyle/>
            <a:p>
              <a:pPr algn="ctr"/>
              <a:endParaRPr lang="en-US" sz="2000" dirty="0"/>
            </a:p>
          </p:txBody>
        </p:sp>
      </p:grpSp>
      <p:sp>
        <p:nvSpPr>
          <p:cNvPr id="208" name="Freeform 6">
            <a:extLst>
              <a:ext uri="{FF2B5EF4-FFF2-40B4-BE49-F238E27FC236}">
                <a16:creationId xmlns:a16="http://schemas.microsoft.com/office/drawing/2014/main" id="{48AC5632-6C88-9B4F-8AC4-BA566F7E218B}"/>
              </a:ext>
            </a:extLst>
          </p:cNvPr>
          <p:cNvSpPr>
            <a:spLocks/>
          </p:cNvSpPr>
          <p:nvPr/>
        </p:nvSpPr>
        <p:spPr bwMode="auto">
          <a:xfrm>
            <a:off x="5187429" y="1994154"/>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7" name="Freeform 3">
            <a:extLst>
              <a:ext uri="{FF2B5EF4-FFF2-40B4-BE49-F238E27FC236}">
                <a16:creationId xmlns:a16="http://schemas.microsoft.com/office/drawing/2014/main" id="{28E26305-1B9C-8A47-B034-2E9BCCD87DED}"/>
              </a:ext>
            </a:extLst>
          </p:cNvPr>
          <p:cNvSpPr>
            <a:spLocks/>
          </p:cNvSpPr>
          <p:nvPr/>
        </p:nvSpPr>
        <p:spPr bwMode="auto">
          <a:xfrm>
            <a:off x="6119015" y="199208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78" name="Group 377">
            <a:extLst>
              <a:ext uri="{FF2B5EF4-FFF2-40B4-BE49-F238E27FC236}">
                <a16:creationId xmlns:a16="http://schemas.microsoft.com/office/drawing/2014/main" id="{3138E679-7A6F-3F4C-9CD4-1BC53C242F2F}"/>
              </a:ext>
            </a:extLst>
          </p:cNvPr>
          <p:cNvGrpSpPr/>
          <p:nvPr/>
        </p:nvGrpSpPr>
        <p:grpSpPr>
          <a:xfrm>
            <a:off x="5538523" y="1966550"/>
            <a:ext cx="586768" cy="904023"/>
            <a:chOff x="10910965" y="2513124"/>
            <a:chExt cx="586768" cy="904023"/>
          </a:xfrm>
        </p:grpSpPr>
        <p:sp>
          <p:nvSpPr>
            <p:cNvPr id="379" name="Rectangle 378">
              <a:extLst>
                <a:ext uri="{FF2B5EF4-FFF2-40B4-BE49-F238E27FC236}">
                  <a16:creationId xmlns:a16="http://schemas.microsoft.com/office/drawing/2014/main"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0" name="Straight Connector 379">
              <a:extLst>
                <a:ext uri="{FF2B5EF4-FFF2-40B4-BE49-F238E27FC236}">
                  <a16:creationId xmlns:a16="http://schemas.microsoft.com/office/drawing/2014/main"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4" name="Freeform 9">
            <a:extLst>
              <a:ext uri="{FF2B5EF4-FFF2-40B4-BE49-F238E27FC236}">
                <a16:creationId xmlns:a16="http://schemas.microsoft.com/office/drawing/2014/main" id="{5547101E-4A79-584C-9989-5E85D28B6DAA}"/>
              </a:ext>
            </a:extLst>
          </p:cNvPr>
          <p:cNvSpPr>
            <a:spLocks/>
          </p:cNvSpPr>
          <p:nvPr/>
        </p:nvSpPr>
        <p:spPr bwMode="auto">
          <a:xfrm flipH="1">
            <a:off x="1965129" y="850203"/>
            <a:ext cx="430143" cy="90046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85" name="Group 384">
            <a:extLst>
              <a:ext uri="{FF2B5EF4-FFF2-40B4-BE49-F238E27FC236}">
                <a16:creationId xmlns:a16="http://schemas.microsoft.com/office/drawing/2014/main" id="{B6427DD3-BCDC-1D47-B9EA-F052CBEE3779}"/>
              </a:ext>
            </a:extLst>
          </p:cNvPr>
          <p:cNvGrpSpPr/>
          <p:nvPr/>
        </p:nvGrpSpPr>
        <p:grpSpPr>
          <a:xfrm>
            <a:off x="1504297" y="1742862"/>
            <a:ext cx="586768" cy="904023"/>
            <a:chOff x="10910965" y="2513124"/>
            <a:chExt cx="586768" cy="904023"/>
          </a:xfrm>
        </p:grpSpPr>
        <p:sp>
          <p:nvSpPr>
            <p:cNvPr id="386" name="Rectangle 385">
              <a:extLst>
                <a:ext uri="{FF2B5EF4-FFF2-40B4-BE49-F238E27FC236}">
                  <a16:creationId xmlns:a16="http://schemas.microsoft.com/office/drawing/2014/main"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7" name="Straight Connector 386">
              <a:extLst>
                <a:ext uri="{FF2B5EF4-FFF2-40B4-BE49-F238E27FC236}">
                  <a16:creationId xmlns:a16="http://schemas.microsoft.com/office/drawing/2014/main"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1" name="Group 390">
            <a:extLst>
              <a:ext uri="{FF2B5EF4-FFF2-40B4-BE49-F238E27FC236}">
                <a16:creationId xmlns:a16="http://schemas.microsoft.com/office/drawing/2014/main" id="{F01A9AD5-3D29-E044-89AB-2A8A2872A48C}"/>
              </a:ext>
            </a:extLst>
          </p:cNvPr>
          <p:cNvGrpSpPr/>
          <p:nvPr/>
        </p:nvGrpSpPr>
        <p:grpSpPr>
          <a:xfrm>
            <a:off x="2380597" y="854370"/>
            <a:ext cx="586768" cy="904023"/>
            <a:chOff x="10910965" y="2513124"/>
            <a:chExt cx="586768" cy="904023"/>
          </a:xfrm>
        </p:grpSpPr>
        <p:sp>
          <p:nvSpPr>
            <p:cNvPr id="392" name="Rectangle 391">
              <a:extLst>
                <a:ext uri="{FF2B5EF4-FFF2-40B4-BE49-F238E27FC236}">
                  <a16:creationId xmlns:a16="http://schemas.microsoft.com/office/drawing/2014/main"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93" name="Straight Connector 392">
              <a:extLst>
                <a:ext uri="{FF2B5EF4-FFF2-40B4-BE49-F238E27FC236}">
                  <a16:creationId xmlns:a16="http://schemas.microsoft.com/office/drawing/2014/main"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7" name="Freeform 6">
            <a:extLst>
              <a:ext uri="{FF2B5EF4-FFF2-40B4-BE49-F238E27FC236}">
                <a16:creationId xmlns:a16="http://schemas.microsoft.com/office/drawing/2014/main" id="{48AC5632-6C88-9B4F-8AC4-BA566F7E218B}"/>
              </a:ext>
            </a:extLst>
          </p:cNvPr>
          <p:cNvSpPr>
            <a:spLocks/>
          </p:cNvSpPr>
          <p:nvPr/>
        </p:nvSpPr>
        <p:spPr bwMode="auto">
          <a:xfrm>
            <a:off x="6495253" y="990691"/>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8" name="Group 397">
            <a:extLst>
              <a:ext uri="{FF2B5EF4-FFF2-40B4-BE49-F238E27FC236}">
                <a16:creationId xmlns:a16="http://schemas.microsoft.com/office/drawing/2014/main" id="{7395260E-0495-5549-B67B-D0932B2922A1}"/>
              </a:ext>
            </a:extLst>
          </p:cNvPr>
          <p:cNvGrpSpPr/>
          <p:nvPr/>
        </p:nvGrpSpPr>
        <p:grpSpPr>
          <a:xfrm>
            <a:off x="5917064" y="966557"/>
            <a:ext cx="586768" cy="904023"/>
            <a:chOff x="10910965" y="2513124"/>
            <a:chExt cx="586768" cy="904023"/>
          </a:xfrm>
        </p:grpSpPr>
        <p:sp>
          <p:nvSpPr>
            <p:cNvPr id="399" name="Rectangle 398">
              <a:extLst>
                <a:ext uri="{FF2B5EF4-FFF2-40B4-BE49-F238E27FC236}">
                  <a16:creationId xmlns:a16="http://schemas.microsoft.com/office/drawing/2014/main"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00" name="Straight Connector 399">
              <a:extLst>
                <a:ext uri="{FF2B5EF4-FFF2-40B4-BE49-F238E27FC236}">
                  <a16:creationId xmlns:a16="http://schemas.microsoft.com/office/drawing/2014/main"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2" name="Group 124">
            <a:extLst>
              <a:ext uri="{FF2B5EF4-FFF2-40B4-BE49-F238E27FC236}">
                <a16:creationId xmlns:a16="http://schemas.microsoft.com/office/drawing/2014/main" id="{09EDE4D1-769E-664A-B492-F153D45C56DF}"/>
              </a:ext>
            </a:extLst>
          </p:cNvPr>
          <p:cNvGrpSpPr>
            <a:grpSpLocks/>
          </p:cNvGrpSpPr>
          <p:nvPr/>
        </p:nvGrpSpPr>
        <p:grpSpPr bwMode="auto">
          <a:xfrm>
            <a:off x="1535839" y="1126456"/>
            <a:ext cx="525463" cy="434975"/>
            <a:chOff x="-44" y="1473"/>
            <a:chExt cx="981" cy="1105"/>
          </a:xfrm>
        </p:grpSpPr>
        <p:pic>
          <p:nvPicPr>
            <p:cNvPr id="413" name="Picture 125" descr="desktop_computer_stylized_medium">
              <a:extLst>
                <a:ext uri="{FF2B5EF4-FFF2-40B4-BE49-F238E27FC236}">
                  <a16:creationId xmlns:a16="http://schemas.microsoft.com/office/drawing/2014/main" id="{BCF21B40-E1CC-014D-891D-609787EB16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 name="Freeform 126">
              <a:extLst>
                <a:ext uri="{FF2B5EF4-FFF2-40B4-BE49-F238E27FC236}">
                  <a16:creationId xmlns:a16="http://schemas.microsoft.com/office/drawing/2014/main"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5" name="Freeform 12">
            <a:extLst>
              <a:ext uri="{FF2B5EF4-FFF2-40B4-BE49-F238E27FC236}">
                <a16:creationId xmlns:a16="http://schemas.microsoft.com/office/drawing/2014/main" id="{AC913105-44C9-2F4B-B4CF-997DA724B11C}"/>
              </a:ext>
            </a:extLst>
          </p:cNvPr>
          <p:cNvSpPr>
            <a:spLocks/>
          </p:cNvSpPr>
          <p:nvPr/>
        </p:nvSpPr>
        <p:spPr bwMode="auto">
          <a:xfrm flipH="1">
            <a:off x="1259678" y="1741263"/>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6" name="Line 33">
            <a:extLst>
              <a:ext uri="{FF2B5EF4-FFF2-40B4-BE49-F238E27FC236}">
                <a16:creationId xmlns:a16="http://schemas.microsoft.com/office/drawing/2014/main" id="{A9B30674-B59F-1643-8F90-1D2641E2102B}"/>
              </a:ext>
            </a:extLst>
          </p:cNvPr>
          <p:cNvSpPr>
            <a:spLocks noChangeShapeType="1"/>
          </p:cNvSpPr>
          <p:nvPr/>
        </p:nvSpPr>
        <p:spPr bwMode="auto">
          <a:xfrm flipH="1">
            <a:off x="2421728" y="187461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7" name="Text Box 42">
            <a:extLst>
              <a:ext uri="{FF2B5EF4-FFF2-40B4-BE49-F238E27FC236}">
                <a16:creationId xmlns:a16="http://schemas.microsoft.com/office/drawing/2014/main" id="{45FD0EC2-A145-DC4A-9A60-DC5E453EC52B}"/>
              </a:ext>
            </a:extLst>
          </p:cNvPr>
          <p:cNvSpPr txBox="1">
            <a:spLocks noChangeArrowheads="1"/>
          </p:cNvSpPr>
          <p:nvPr/>
        </p:nvSpPr>
        <p:spPr bwMode="auto">
          <a:xfrm>
            <a:off x="1349563" y="861039"/>
            <a:ext cx="913861"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418"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1345345" y="2789688"/>
            <a:ext cx="799129"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419" name="Line 53">
            <a:extLst>
              <a:ext uri="{FF2B5EF4-FFF2-40B4-BE49-F238E27FC236}">
                <a16:creationId xmlns:a16="http://schemas.microsoft.com/office/drawing/2014/main" id="{8E626A5E-7769-D34B-B652-6F3C2A3740FB}"/>
              </a:ext>
            </a:extLst>
          </p:cNvPr>
          <p:cNvSpPr>
            <a:spLocks noChangeShapeType="1"/>
          </p:cNvSpPr>
          <p:nvPr/>
        </p:nvSpPr>
        <p:spPr bwMode="auto">
          <a:xfrm flipH="1">
            <a:off x="2907503" y="227466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0" name="Line 54">
            <a:extLst>
              <a:ext uri="{FF2B5EF4-FFF2-40B4-BE49-F238E27FC236}">
                <a16:creationId xmlns:a16="http://schemas.microsoft.com/office/drawing/2014/main" id="{DFB6E6E2-8DA8-C549-8AC1-828F8F828431}"/>
              </a:ext>
            </a:extLst>
          </p:cNvPr>
          <p:cNvSpPr>
            <a:spLocks noChangeShapeType="1"/>
          </p:cNvSpPr>
          <p:nvPr/>
        </p:nvSpPr>
        <p:spPr bwMode="auto">
          <a:xfrm flipH="1">
            <a:off x="4526753" y="227466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1" name="Line 55">
            <a:extLst>
              <a:ext uri="{FF2B5EF4-FFF2-40B4-BE49-F238E27FC236}">
                <a16:creationId xmlns:a16="http://schemas.microsoft.com/office/drawing/2014/main" id="{66F3E5E4-6136-594F-B2C6-BF81A4932B2E}"/>
              </a:ext>
            </a:extLst>
          </p:cNvPr>
          <p:cNvSpPr>
            <a:spLocks noChangeShapeType="1"/>
          </p:cNvSpPr>
          <p:nvPr/>
        </p:nvSpPr>
        <p:spPr bwMode="auto">
          <a:xfrm flipH="1">
            <a:off x="4650578" y="187461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2" name="Line 57">
            <a:extLst>
              <a:ext uri="{FF2B5EF4-FFF2-40B4-BE49-F238E27FC236}">
                <a16:creationId xmlns:a16="http://schemas.microsoft.com/office/drawing/2014/main" id="{3D95A033-C14C-3448-9016-0C9E6C4CF3A2}"/>
              </a:ext>
            </a:extLst>
          </p:cNvPr>
          <p:cNvSpPr>
            <a:spLocks noChangeShapeType="1"/>
          </p:cNvSpPr>
          <p:nvPr/>
        </p:nvSpPr>
        <p:spPr bwMode="auto">
          <a:xfrm flipH="1">
            <a:off x="5572474" y="1874760"/>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26" name="Group 127">
            <a:extLst>
              <a:ext uri="{FF2B5EF4-FFF2-40B4-BE49-F238E27FC236}">
                <a16:creationId xmlns:a16="http://schemas.microsoft.com/office/drawing/2014/main" id="{879C5F16-9AAB-6840-B838-D482AFD339D0}"/>
              </a:ext>
            </a:extLst>
          </p:cNvPr>
          <p:cNvGrpSpPr>
            <a:grpSpLocks/>
          </p:cNvGrpSpPr>
          <p:nvPr/>
        </p:nvGrpSpPr>
        <p:grpSpPr bwMode="auto">
          <a:xfrm>
            <a:off x="6595265" y="1582513"/>
            <a:ext cx="231775" cy="441325"/>
            <a:chOff x="4140" y="429"/>
            <a:chExt cx="1425" cy="2396"/>
          </a:xfrm>
        </p:grpSpPr>
        <p:sp>
          <p:nvSpPr>
            <p:cNvPr id="427"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8"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9"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0"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1"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2"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457"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8"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3"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4"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455"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6"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5"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6"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7"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453"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4"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8"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39"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451"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2"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40"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1"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2"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3"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4"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5"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6"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7"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8"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49"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0"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459" name="Group 160">
            <a:extLst>
              <a:ext uri="{FF2B5EF4-FFF2-40B4-BE49-F238E27FC236}">
                <a16:creationId xmlns:a16="http://schemas.microsoft.com/office/drawing/2014/main" id="{AD8E3A61-2C5A-CC41-9933-891EC27B5015}"/>
              </a:ext>
            </a:extLst>
          </p:cNvPr>
          <p:cNvGrpSpPr>
            <a:grpSpLocks/>
          </p:cNvGrpSpPr>
          <p:nvPr/>
        </p:nvGrpSpPr>
        <p:grpSpPr bwMode="auto">
          <a:xfrm>
            <a:off x="939796" y="2485365"/>
            <a:ext cx="525463" cy="434975"/>
            <a:chOff x="-44" y="1473"/>
            <a:chExt cx="981" cy="1105"/>
          </a:xfrm>
        </p:grpSpPr>
        <p:pic>
          <p:nvPicPr>
            <p:cNvPr id="460" name="Picture 161" descr="desktop_computer_stylized_medium">
              <a:extLst>
                <a:ext uri="{FF2B5EF4-FFF2-40B4-BE49-F238E27FC236}">
                  <a16:creationId xmlns:a16="http://schemas.microsoft.com/office/drawing/2014/main" id="{01E7AFB7-5DE3-CA4A-A50A-BEADA26B11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 name="Freeform 162">
              <a:extLst>
                <a:ext uri="{FF2B5EF4-FFF2-40B4-BE49-F238E27FC236}">
                  <a16:creationId xmlns:a16="http://schemas.microsoft.com/office/drawing/2014/main"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62" name="Group 163">
            <a:extLst>
              <a:ext uri="{FF2B5EF4-FFF2-40B4-BE49-F238E27FC236}">
                <a16:creationId xmlns:a16="http://schemas.microsoft.com/office/drawing/2014/main" id="{C476CE94-C91A-0846-B6B7-05E77113879F}"/>
              </a:ext>
            </a:extLst>
          </p:cNvPr>
          <p:cNvGrpSpPr>
            <a:grpSpLocks/>
          </p:cNvGrpSpPr>
          <p:nvPr/>
        </p:nvGrpSpPr>
        <p:grpSpPr bwMode="auto">
          <a:xfrm>
            <a:off x="6277765" y="2547713"/>
            <a:ext cx="231775" cy="441325"/>
            <a:chOff x="4140" y="429"/>
            <a:chExt cx="1425" cy="2396"/>
          </a:xfrm>
        </p:grpSpPr>
        <p:sp>
          <p:nvSpPr>
            <p:cNvPr id="463" name="Freeform 164">
              <a:extLst>
                <a:ext uri="{FF2B5EF4-FFF2-40B4-BE49-F238E27FC236}">
                  <a16:creationId xmlns:a16="http://schemas.microsoft.com/office/drawing/2014/main"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4" name="Rectangle 165">
              <a:extLst>
                <a:ext uri="{FF2B5EF4-FFF2-40B4-BE49-F238E27FC236}">
                  <a16:creationId xmlns:a16="http://schemas.microsoft.com/office/drawing/2014/main"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65" name="Freeform 166">
              <a:extLst>
                <a:ext uri="{FF2B5EF4-FFF2-40B4-BE49-F238E27FC236}">
                  <a16:creationId xmlns:a16="http://schemas.microsoft.com/office/drawing/2014/main"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6" name="Freeform 167">
              <a:extLst>
                <a:ext uri="{FF2B5EF4-FFF2-40B4-BE49-F238E27FC236}">
                  <a16:creationId xmlns:a16="http://schemas.microsoft.com/office/drawing/2014/main"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7" name="Rectangle 168">
              <a:extLst>
                <a:ext uri="{FF2B5EF4-FFF2-40B4-BE49-F238E27FC236}">
                  <a16:creationId xmlns:a16="http://schemas.microsoft.com/office/drawing/2014/main"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68" name="Group 169">
              <a:extLst>
                <a:ext uri="{FF2B5EF4-FFF2-40B4-BE49-F238E27FC236}">
                  <a16:creationId xmlns:a16="http://schemas.microsoft.com/office/drawing/2014/main" id="{0515312F-DE85-5641-B779-E8991ECBE8F8}"/>
                </a:ext>
              </a:extLst>
            </p:cNvPr>
            <p:cNvGrpSpPr>
              <a:grpSpLocks/>
            </p:cNvGrpSpPr>
            <p:nvPr/>
          </p:nvGrpSpPr>
          <p:grpSpPr bwMode="auto">
            <a:xfrm>
              <a:off x="4749" y="668"/>
              <a:ext cx="581" cy="145"/>
              <a:chOff x="614" y="2568"/>
              <a:chExt cx="725" cy="139"/>
            </a:xfrm>
          </p:grpSpPr>
          <p:sp>
            <p:nvSpPr>
              <p:cNvPr id="493" name="AutoShape 170">
                <a:extLst>
                  <a:ext uri="{FF2B5EF4-FFF2-40B4-BE49-F238E27FC236}">
                    <a16:creationId xmlns:a16="http://schemas.microsoft.com/office/drawing/2014/main"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4" name="AutoShape 171">
                <a:extLst>
                  <a:ext uri="{FF2B5EF4-FFF2-40B4-BE49-F238E27FC236}">
                    <a16:creationId xmlns:a16="http://schemas.microsoft.com/office/drawing/2014/main"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69" name="Rectangle 172">
              <a:extLst>
                <a:ext uri="{FF2B5EF4-FFF2-40B4-BE49-F238E27FC236}">
                  <a16:creationId xmlns:a16="http://schemas.microsoft.com/office/drawing/2014/main"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70" name="Group 173">
              <a:extLst>
                <a:ext uri="{FF2B5EF4-FFF2-40B4-BE49-F238E27FC236}">
                  <a16:creationId xmlns:a16="http://schemas.microsoft.com/office/drawing/2014/main" id="{BAB53084-6436-7444-ACD5-5E7D01263E2B}"/>
                </a:ext>
              </a:extLst>
            </p:cNvPr>
            <p:cNvGrpSpPr>
              <a:grpSpLocks/>
            </p:cNvGrpSpPr>
            <p:nvPr/>
          </p:nvGrpSpPr>
          <p:grpSpPr bwMode="auto">
            <a:xfrm>
              <a:off x="4747" y="994"/>
              <a:ext cx="581" cy="134"/>
              <a:chOff x="614" y="2568"/>
              <a:chExt cx="725" cy="139"/>
            </a:xfrm>
          </p:grpSpPr>
          <p:sp>
            <p:nvSpPr>
              <p:cNvPr id="491" name="AutoShape 174">
                <a:extLst>
                  <a:ext uri="{FF2B5EF4-FFF2-40B4-BE49-F238E27FC236}">
                    <a16:creationId xmlns:a16="http://schemas.microsoft.com/office/drawing/2014/main"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2" name="AutoShape 175">
                <a:extLst>
                  <a:ext uri="{FF2B5EF4-FFF2-40B4-BE49-F238E27FC236}">
                    <a16:creationId xmlns:a16="http://schemas.microsoft.com/office/drawing/2014/main"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1" name="Rectangle 176">
              <a:extLst>
                <a:ext uri="{FF2B5EF4-FFF2-40B4-BE49-F238E27FC236}">
                  <a16:creationId xmlns:a16="http://schemas.microsoft.com/office/drawing/2014/main"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2" name="Rectangle 177">
              <a:extLst>
                <a:ext uri="{FF2B5EF4-FFF2-40B4-BE49-F238E27FC236}">
                  <a16:creationId xmlns:a16="http://schemas.microsoft.com/office/drawing/2014/main"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73" name="Group 178">
              <a:extLst>
                <a:ext uri="{FF2B5EF4-FFF2-40B4-BE49-F238E27FC236}">
                  <a16:creationId xmlns:a16="http://schemas.microsoft.com/office/drawing/2014/main" id="{E30BEF1D-E99C-EF4F-A2DE-968E737192AA}"/>
                </a:ext>
              </a:extLst>
            </p:cNvPr>
            <p:cNvGrpSpPr>
              <a:grpSpLocks/>
            </p:cNvGrpSpPr>
            <p:nvPr/>
          </p:nvGrpSpPr>
          <p:grpSpPr bwMode="auto">
            <a:xfrm>
              <a:off x="4735" y="1627"/>
              <a:ext cx="582" cy="151"/>
              <a:chOff x="614" y="2568"/>
              <a:chExt cx="725" cy="139"/>
            </a:xfrm>
          </p:grpSpPr>
          <p:sp>
            <p:nvSpPr>
              <p:cNvPr id="489" name="AutoShape 179">
                <a:extLst>
                  <a:ext uri="{FF2B5EF4-FFF2-40B4-BE49-F238E27FC236}">
                    <a16:creationId xmlns:a16="http://schemas.microsoft.com/office/drawing/2014/main"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0" name="AutoShape 180">
                <a:extLst>
                  <a:ext uri="{FF2B5EF4-FFF2-40B4-BE49-F238E27FC236}">
                    <a16:creationId xmlns:a16="http://schemas.microsoft.com/office/drawing/2014/main"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4" name="Freeform 181">
              <a:extLst>
                <a:ext uri="{FF2B5EF4-FFF2-40B4-BE49-F238E27FC236}">
                  <a16:creationId xmlns:a16="http://schemas.microsoft.com/office/drawing/2014/main"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75" name="Group 182">
              <a:extLst>
                <a:ext uri="{FF2B5EF4-FFF2-40B4-BE49-F238E27FC236}">
                  <a16:creationId xmlns:a16="http://schemas.microsoft.com/office/drawing/2014/main" id="{6A155784-A945-0F47-A39B-31F367A22CCA}"/>
                </a:ext>
              </a:extLst>
            </p:cNvPr>
            <p:cNvGrpSpPr>
              <a:grpSpLocks/>
            </p:cNvGrpSpPr>
            <p:nvPr/>
          </p:nvGrpSpPr>
          <p:grpSpPr bwMode="auto">
            <a:xfrm>
              <a:off x="4739" y="1327"/>
              <a:ext cx="582" cy="139"/>
              <a:chOff x="614" y="2568"/>
              <a:chExt cx="725" cy="139"/>
            </a:xfrm>
          </p:grpSpPr>
          <p:sp>
            <p:nvSpPr>
              <p:cNvPr id="487" name="AutoShape 183">
                <a:extLst>
                  <a:ext uri="{FF2B5EF4-FFF2-40B4-BE49-F238E27FC236}">
                    <a16:creationId xmlns:a16="http://schemas.microsoft.com/office/drawing/2014/main"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8" name="AutoShape 184">
                <a:extLst>
                  <a:ext uri="{FF2B5EF4-FFF2-40B4-BE49-F238E27FC236}">
                    <a16:creationId xmlns:a16="http://schemas.microsoft.com/office/drawing/2014/main"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6" name="Rectangle 185">
              <a:extLst>
                <a:ext uri="{FF2B5EF4-FFF2-40B4-BE49-F238E27FC236}">
                  <a16:creationId xmlns:a16="http://schemas.microsoft.com/office/drawing/2014/main"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7" name="Freeform 186">
              <a:extLst>
                <a:ext uri="{FF2B5EF4-FFF2-40B4-BE49-F238E27FC236}">
                  <a16:creationId xmlns:a16="http://schemas.microsoft.com/office/drawing/2014/main"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8" name="Freeform 187">
              <a:extLst>
                <a:ext uri="{FF2B5EF4-FFF2-40B4-BE49-F238E27FC236}">
                  <a16:creationId xmlns:a16="http://schemas.microsoft.com/office/drawing/2014/main"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9" name="Oval 188">
              <a:extLst>
                <a:ext uri="{FF2B5EF4-FFF2-40B4-BE49-F238E27FC236}">
                  <a16:creationId xmlns:a16="http://schemas.microsoft.com/office/drawing/2014/main"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0" name="Freeform 189">
              <a:extLst>
                <a:ext uri="{FF2B5EF4-FFF2-40B4-BE49-F238E27FC236}">
                  <a16:creationId xmlns:a16="http://schemas.microsoft.com/office/drawing/2014/main"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1" name="AutoShape 190">
              <a:extLst>
                <a:ext uri="{FF2B5EF4-FFF2-40B4-BE49-F238E27FC236}">
                  <a16:creationId xmlns:a16="http://schemas.microsoft.com/office/drawing/2014/main"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2" name="AutoShape 191">
              <a:extLst>
                <a:ext uri="{FF2B5EF4-FFF2-40B4-BE49-F238E27FC236}">
                  <a16:creationId xmlns:a16="http://schemas.microsoft.com/office/drawing/2014/main"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3" name="Oval 192">
              <a:extLst>
                <a:ext uri="{FF2B5EF4-FFF2-40B4-BE49-F238E27FC236}">
                  <a16:creationId xmlns:a16="http://schemas.microsoft.com/office/drawing/2014/main"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4" name="Oval 193">
              <a:extLst>
                <a:ext uri="{FF2B5EF4-FFF2-40B4-BE49-F238E27FC236}">
                  <a16:creationId xmlns:a16="http://schemas.microsoft.com/office/drawing/2014/main"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85" name="Oval 194">
              <a:extLst>
                <a:ext uri="{FF2B5EF4-FFF2-40B4-BE49-F238E27FC236}">
                  <a16:creationId xmlns:a16="http://schemas.microsoft.com/office/drawing/2014/main"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6" name="Rectangle 195">
              <a:extLst>
                <a:ext uri="{FF2B5EF4-FFF2-40B4-BE49-F238E27FC236}">
                  <a16:creationId xmlns:a16="http://schemas.microsoft.com/office/drawing/2014/main"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99" name="Line 57">
            <a:extLst>
              <a:ext uri="{FF2B5EF4-FFF2-40B4-BE49-F238E27FC236}">
                <a16:creationId xmlns:a16="http://schemas.microsoft.com/office/drawing/2014/main" id="{198CECD8-AC19-4441-B07E-D812C1E4B022}"/>
              </a:ext>
            </a:extLst>
          </p:cNvPr>
          <p:cNvSpPr>
            <a:spLocks noChangeShapeType="1"/>
          </p:cNvSpPr>
          <p:nvPr/>
        </p:nvSpPr>
        <p:spPr bwMode="auto">
          <a:xfrm flipH="1">
            <a:off x="4660418" y="2739923"/>
            <a:ext cx="8222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0" name="Line 57">
            <a:extLst>
              <a:ext uri="{FF2B5EF4-FFF2-40B4-BE49-F238E27FC236}">
                <a16:creationId xmlns:a16="http://schemas.microsoft.com/office/drawing/2014/main" id="{E3F52AFD-CA05-E145-A13D-BB73559D50E0}"/>
              </a:ext>
            </a:extLst>
          </p:cNvPr>
          <p:cNvSpPr>
            <a:spLocks noChangeShapeType="1"/>
          </p:cNvSpPr>
          <p:nvPr/>
        </p:nvSpPr>
        <p:spPr bwMode="auto">
          <a:xfrm flipH="1">
            <a:off x="2906647" y="1872416"/>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1" name="Line 57">
            <a:extLst>
              <a:ext uri="{FF2B5EF4-FFF2-40B4-BE49-F238E27FC236}">
                <a16:creationId xmlns:a16="http://schemas.microsoft.com/office/drawing/2014/main" id="{1C06B2BF-A77D-004B-A9F1-4A7417598B7E}"/>
              </a:ext>
            </a:extLst>
          </p:cNvPr>
          <p:cNvSpPr>
            <a:spLocks noChangeShapeType="1"/>
          </p:cNvSpPr>
          <p:nvPr/>
        </p:nvSpPr>
        <p:spPr bwMode="auto">
          <a:xfrm flipH="1">
            <a:off x="1985213" y="2742268"/>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5" name="Freeform 91">
            <a:extLst>
              <a:ext uri="{FF2B5EF4-FFF2-40B4-BE49-F238E27FC236}">
                <a16:creationId xmlns:a16="http://schemas.microsoft.com/office/drawing/2014/main" id="{DCEE1836-E089-0E43-AA83-3C4D23A24812}"/>
              </a:ext>
            </a:extLst>
          </p:cNvPr>
          <p:cNvSpPr>
            <a:spLocks/>
          </p:cNvSpPr>
          <p:nvPr/>
        </p:nvSpPr>
        <p:spPr bwMode="auto">
          <a:xfrm>
            <a:off x="2745578" y="960213"/>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26" name="Group 525">
            <a:extLst>
              <a:ext uri="{FF2B5EF4-FFF2-40B4-BE49-F238E27FC236}">
                <a16:creationId xmlns:a16="http://schemas.microsoft.com/office/drawing/2014/main" id="{07632497-C7A3-5D43-A16B-0B4F26B7ADF5}"/>
              </a:ext>
            </a:extLst>
          </p:cNvPr>
          <p:cNvGrpSpPr/>
          <p:nvPr/>
        </p:nvGrpSpPr>
        <p:grpSpPr>
          <a:xfrm>
            <a:off x="1754978" y="1788888"/>
            <a:ext cx="4000500" cy="1028700"/>
            <a:chOff x="5641439" y="2685215"/>
            <a:chExt cx="4000500" cy="1028700"/>
          </a:xfrm>
        </p:grpSpPr>
        <p:sp>
          <p:nvSpPr>
            <p:cNvPr id="527" name="Oval 73">
              <a:extLst>
                <a:ext uri="{FF2B5EF4-FFF2-40B4-BE49-F238E27FC236}">
                  <a16:creationId xmlns:a16="http://schemas.microsoft.com/office/drawing/2014/main"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8" name="Freeform 90">
              <a:extLst>
                <a:ext uri="{FF2B5EF4-FFF2-40B4-BE49-F238E27FC236}">
                  <a16:creationId xmlns:a16="http://schemas.microsoft.com/office/drawing/2014/main"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41" name="Group 340">
            <a:extLst>
              <a:ext uri="{FF2B5EF4-FFF2-40B4-BE49-F238E27FC236}">
                <a16:creationId xmlns:a16="http://schemas.microsoft.com/office/drawing/2014/main" id="{88E9FDF2-59AD-0849-94F0-90E7C39F4845}"/>
              </a:ext>
            </a:extLst>
          </p:cNvPr>
          <p:cNvGrpSpPr/>
          <p:nvPr/>
        </p:nvGrpSpPr>
        <p:grpSpPr>
          <a:xfrm>
            <a:off x="4182463" y="2086058"/>
            <a:ext cx="486450" cy="380335"/>
            <a:chOff x="7493876" y="2774731"/>
            <a:chExt cx="1481958" cy="894622"/>
          </a:xfrm>
        </p:grpSpPr>
        <p:sp>
          <p:nvSpPr>
            <p:cNvPr id="342" name="Freeform 341">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2" name="Oval 351">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3" name="Group 352">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354" name="Freeform 353">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4" name="Freeform 503">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5" name="Freeform 504">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07" name="Group 506"/>
          <p:cNvGrpSpPr>
            <a:grpSpLocks noGrp="1" noUngrp="1" noChangeAspect="1"/>
          </p:cNvGrpSpPr>
          <p:nvPr/>
        </p:nvGrpSpPr>
        <p:grpSpPr>
          <a:xfrm>
            <a:off x="8306963" y="188480"/>
            <a:ext cx="6079353" cy="2875772"/>
            <a:chOff x="685800" y="1809750"/>
            <a:chExt cx="7772400" cy="3676650"/>
          </a:xfrm>
        </p:grpSpPr>
        <p:pic>
          <p:nvPicPr>
            <p:cNvPr id="508" name="Picture 507" descr="06_Page_16.tif"/>
            <p:cNvPicPr>
              <a:picLocks noRot="1" noChangeAspect="1" noMove="1" noResize="1"/>
            </p:cNvPicPr>
            <p:nvPr isPhoto="1"/>
          </p:nvPicPr>
          <p:blipFill rotWithShape="1">
            <a:blip r:embed="rId3" cstate="print">
              <a:lum/>
            </a:blip>
            <a:srcRect r="43898" b="7809"/>
            <a:stretch/>
          </p:blipFill>
          <p:spPr>
            <a:xfrm>
              <a:off x="685800" y="1809750"/>
              <a:ext cx="4360497" cy="2985600"/>
            </a:xfrm>
            <a:prstGeom prst="rect">
              <a:avLst/>
            </a:prstGeom>
            <a:noFill/>
            <a:ln>
              <a:noFill/>
            </a:ln>
          </p:spPr>
        </p:pic>
        <p:sp>
          <p:nvSpPr>
            <p:cNvPr id="509" name="Rectangle 508"/>
            <p:cNvSpPr/>
            <p:nvPr/>
          </p:nvSpPr>
          <p:spPr>
            <a:xfrm>
              <a:off x="685800" y="5143500"/>
              <a:ext cx="7772400" cy="342900"/>
            </a:xfrm>
            <a:prstGeom prst="rect">
              <a:avLst/>
            </a:prstGeom>
            <a:noFill/>
            <a:ln>
              <a:noFill/>
            </a:ln>
          </p:spPr>
          <p:txBody>
            <a:bodyPr anchor="ctr">
              <a:noAutofit/>
            </a:bodyPr>
            <a:lstStyle/>
            <a:p>
              <a:pPr algn="ctr"/>
              <a:endParaRPr lang="en-US" sz="2000" dirty="0"/>
            </a:p>
          </p:txBody>
        </p:sp>
      </p:grpSp>
      <p:sp>
        <p:nvSpPr>
          <p:cNvPr id="510"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3625550" y="935285"/>
            <a:ext cx="1363262" cy="427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All link capacity = R</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511" name="Text Box 284">
            <a:extLst>
              <a:ext uri="{FF2B5EF4-FFF2-40B4-BE49-F238E27FC236}">
                <a16:creationId xmlns:a16="http://schemas.microsoft.com/office/drawing/2014/main" id="{100A63B1-F092-9049-BD5D-F838C3B7C4BE}"/>
              </a:ext>
            </a:extLst>
          </p:cNvPr>
          <p:cNvSpPr txBox="1">
            <a:spLocks noChangeArrowheads="1"/>
          </p:cNvSpPr>
          <p:nvPr/>
        </p:nvSpPr>
        <p:spPr bwMode="auto">
          <a:xfrm>
            <a:off x="8559721" y="296808"/>
            <a:ext cx="46358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Tahoma" charset="0"/>
                <a:ea typeface="ＭＳ Ｐゴシック" charset="0"/>
                <a:cs typeface="+mn-cs"/>
              </a:rPr>
              <a:t>R/2</a:t>
            </a:r>
          </a:p>
        </p:txBody>
      </p:sp>
      <p:grpSp>
        <p:nvGrpSpPr>
          <p:cNvPr id="404" name="Group 403">
            <a:extLst>
              <a:ext uri="{FF2B5EF4-FFF2-40B4-BE49-F238E27FC236}">
                <a16:creationId xmlns:a16="http://schemas.microsoft.com/office/drawing/2014/main" id="{88E9FDF2-59AD-0849-94F0-90E7C39F4845}"/>
              </a:ext>
            </a:extLst>
          </p:cNvPr>
          <p:cNvGrpSpPr/>
          <p:nvPr/>
        </p:nvGrpSpPr>
        <p:grpSpPr>
          <a:xfrm>
            <a:off x="3383250" y="2107971"/>
            <a:ext cx="486450" cy="363840"/>
            <a:chOff x="7493876" y="2774731"/>
            <a:chExt cx="1481958" cy="894622"/>
          </a:xfrm>
        </p:grpSpPr>
        <p:sp>
          <p:nvSpPr>
            <p:cNvPr id="405" name="Freeform 404">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06" name="Oval 405">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07" name="Group 406">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408" name="Freeform 407">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9" name="Freeform 408">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 name="Freeform 409">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1" name="Freeform 410">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 name="Rectangle 2"/>
          <p:cNvSpPr/>
          <p:nvPr/>
        </p:nvSpPr>
        <p:spPr>
          <a:xfrm>
            <a:off x="10659775" y="772172"/>
            <a:ext cx="1040912" cy="507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730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7289">
                                            <p:txEl>
                                              <p:pRg st="0" end="0"/>
                                            </p:txEl>
                                          </p:spTgt>
                                        </p:tgtEl>
                                        <p:attrNameLst>
                                          <p:attrName>style.visibility</p:attrName>
                                        </p:attrNameLst>
                                      </p:cBhvr>
                                      <p:to>
                                        <p:strVal val="visible"/>
                                      </p:to>
                                    </p:set>
                                    <p:anim calcmode="lin" valueType="num">
                                      <p:cBhvr>
                                        <p:cTn id="7" dur="500" fill="hold"/>
                                        <p:tgtEl>
                                          <p:spTgt spid="9728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728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728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5"/>
                                        </p:tgtEl>
                                        <p:attrNameLst>
                                          <p:attrName>style.visibility</p:attrName>
                                        </p:attrNameLst>
                                      </p:cBhvr>
                                      <p:to>
                                        <p:strVal val="visible"/>
                                      </p:to>
                                    </p:set>
                                    <p:anim calcmode="lin" valueType="num">
                                      <p:cBhvr>
                                        <p:cTn id="14" dur="500" fill="hold"/>
                                        <p:tgtEl>
                                          <p:spTgt spid="185"/>
                                        </p:tgtEl>
                                        <p:attrNameLst>
                                          <p:attrName>ppt_w</p:attrName>
                                        </p:attrNameLst>
                                      </p:cBhvr>
                                      <p:tavLst>
                                        <p:tav tm="0">
                                          <p:val>
                                            <p:fltVal val="0"/>
                                          </p:val>
                                        </p:tav>
                                        <p:tav tm="100000">
                                          <p:val>
                                            <p:strVal val="#ppt_w"/>
                                          </p:val>
                                        </p:tav>
                                      </p:tavLst>
                                    </p:anim>
                                    <p:anim calcmode="lin" valueType="num">
                                      <p:cBhvr>
                                        <p:cTn id="15" dur="500" fill="hold"/>
                                        <p:tgtEl>
                                          <p:spTgt spid="185"/>
                                        </p:tgtEl>
                                        <p:attrNameLst>
                                          <p:attrName>ppt_h</p:attrName>
                                        </p:attrNameLst>
                                      </p:cBhvr>
                                      <p:tavLst>
                                        <p:tav tm="0">
                                          <p:val>
                                            <p:fltVal val="0"/>
                                          </p:val>
                                        </p:tav>
                                        <p:tav tm="100000">
                                          <p:val>
                                            <p:strVal val="#ppt_h"/>
                                          </p:val>
                                        </p:tav>
                                      </p:tavLst>
                                    </p:anim>
                                    <p:animEffect transition="in" filter="fade">
                                      <p:cBhvr>
                                        <p:cTn id="16" dur="500"/>
                                        <p:tgtEl>
                                          <p:spTgt spid="18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7289">
                                            <p:txEl>
                                              <p:pRg st="2" end="2"/>
                                            </p:txEl>
                                          </p:spTgt>
                                        </p:tgtEl>
                                        <p:attrNameLst>
                                          <p:attrName>style.visibility</p:attrName>
                                        </p:attrNameLst>
                                      </p:cBhvr>
                                      <p:to>
                                        <p:strVal val="visible"/>
                                      </p:to>
                                    </p:set>
                                    <p:anim calcmode="lin" valueType="num">
                                      <p:cBhvr>
                                        <p:cTn id="21" dur="500" fill="hold"/>
                                        <p:tgtEl>
                                          <p:spTgt spid="9728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9728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97289">
                                            <p:txEl>
                                              <p:pRg st="2" end="2"/>
                                            </p:txEl>
                                          </p:spTgt>
                                        </p:tgtEl>
                                      </p:cBhvr>
                                    </p:animEffect>
                                  </p:childTnLst>
                                </p:cTn>
                              </p:par>
                              <p:par>
                                <p:cTn id="24" presetID="53" presetClass="entr" presetSubtype="16" fill="hold" nodeType="withEffect">
                                  <p:stCondLst>
                                    <p:cond delay="0"/>
                                  </p:stCondLst>
                                  <p:childTnLst>
                                    <p:set>
                                      <p:cBhvr>
                                        <p:cTn id="25" dur="1" fill="hold">
                                          <p:stCondLst>
                                            <p:cond delay="0"/>
                                          </p:stCondLst>
                                        </p:cTn>
                                        <p:tgtEl>
                                          <p:spTgt spid="97289">
                                            <p:txEl>
                                              <p:pRg st="3" end="3"/>
                                            </p:txEl>
                                          </p:spTgt>
                                        </p:tgtEl>
                                        <p:attrNameLst>
                                          <p:attrName>style.visibility</p:attrName>
                                        </p:attrNameLst>
                                      </p:cBhvr>
                                      <p:to>
                                        <p:strVal val="visible"/>
                                      </p:to>
                                    </p:set>
                                    <p:anim calcmode="lin" valueType="num">
                                      <p:cBhvr>
                                        <p:cTn id="26" dur="500" fill="hold"/>
                                        <p:tgtEl>
                                          <p:spTgt spid="97289">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97289">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9728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371762" y="3586219"/>
            <a:ext cx="8002957" cy="3467650"/>
          </a:xfrm>
        </p:spPr>
        <p:txBody>
          <a:bodyPr>
            <a:normAutofit/>
          </a:bodyPr>
          <a:lstStyle/>
          <a:p>
            <a:pPr marL="342900" lvl="0" indent="-342900">
              <a:lnSpc>
                <a:spcPct val="85000"/>
              </a:lnSpc>
              <a:spcBef>
                <a:spcPct val="20000"/>
              </a:spcBef>
              <a:buClr>
                <a:srgbClr val="000099"/>
              </a:buClr>
              <a:buSzPct val="100000"/>
              <a:buFont typeface="Wingdings" pitchFamily="2" charset="2"/>
              <a:buChar char="§"/>
              <a:defRPr/>
            </a:pPr>
            <a:r>
              <a:rPr lang="en-IN" altLang="en-US" sz="2000" dirty="0">
                <a:latin typeface="Avenir Book" panose="020B0503020203020204" pitchFamily="34" charset="-78"/>
                <a:ea typeface="ＭＳ Ｐゴシック" panose="020B0600070205080204" pitchFamily="34" charset="-128"/>
                <a:cs typeface="Avenir Book" panose="020B0503020203020204" pitchFamily="34" charset="-78"/>
              </a:rPr>
              <a:t>We want to operate just before the </a:t>
            </a:r>
            <a:r>
              <a:rPr lang="en-IN" altLang="en-US" sz="2000" dirty="0">
                <a:solidFill>
                  <a:srgbClr val="C00000"/>
                </a:solidFill>
                <a:latin typeface="Avenir Book" panose="020B0503020203020204" pitchFamily="34" charset="-78"/>
                <a:ea typeface="ＭＳ Ｐゴシック" panose="020B0600070205080204" pitchFamily="34" charset="-128"/>
                <a:cs typeface="Avenir Book" panose="020B0503020203020204" pitchFamily="34" charset="-78"/>
              </a:rPr>
              <a:t>onset of congestion</a:t>
            </a:r>
          </a:p>
          <a:p>
            <a:pPr marL="800100" lvl="1" indent="-342900">
              <a:lnSpc>
                <a:spcPct val="85000"/>
              </a:lnSpc>
              <a:spcBef>
                <a:spcPct val="20000"/>
              </a:spcBef>
              <a:buClr>
                <a:srgbClr val="000099"/>
              </a:buClr>
              <a:buSzPct val="100000"/>
              <a:buFont typeface="Wingdings" pitchFamily="2" charset="2"/>
              <a:buChar char="§"/>
              <a:defRPr/>
            </a:pPr>
            <a:r>
              <a:rPr lang="en-IN" altLang="en-US" sz="1800" dirty="0">
                <a:latin typeface="Avenir Book" panose="020B0503020203020204" pitchFamily="34" charset="-78"/>
                <a:ea typeface="ＭＳ Ｐゴシック" panose="020B0600070205080204" pitchFamily="34" charset="-128"/>
                <a:cs typeface="Avenir Book" panose="020B0503020203020204" pitchFamily="34" charset="-78"/>
              </a:rPr>
              <a:t>Avoid congestion</a:t>
            </a:r>
          </a:p>
          <a:p>
            <a:pPr marL="800100" lvl="1" indent="-342900">
              <a:lnSpc>
                <a:spcPct val="85000"/>
              </a:lnSpc>
              <a:spcBef>
                <a:spcPct val="20000"/>
              </a:spcBef>
              <a:buClr>
                <a:srgbClr val="000099"/>
              </a:buClr>
              <a:buSzPct val="100000"/>
              <a:buFont typeface="Wingdings" pitchFamily="2" charset="2"/>
              <a:buChar char="§"/>
              <a:defRPr/>
            </a:pPr>
            <a:r>
              <a:rPr lang="en-IN" altLang="en-US" sz="1800" dirty="0">
                <a:latin typeface="Avenir Book" panose="020B0503020203020204" pitchFamily="34" charset="-78"/>
                <a:ea typeface="ＭＳ Ｐゴシック" panose="020B0600070205080204" pitchFamily="34" charset="-128"/>
                <a:cs typeface="Avenir Book" panose="020B0503020203020204" pitchFamily="34" charset="-78"/>
              </a:rPr>
              <a:t>Most capacity is used</a:t>
            </a:r>
          </a:p>
          <a:p>
            <a:pPr marL="800100" lvl="1" indent="-342900">
              <a:lnSpc>
                <a:spcPct val="85000"/>
              </a:lnSpc>
              <a:spcBef>
                <a:spcPct val="20000"/>
              </a:spcBef>
              <a:buClr>
                <a:srgbClr val="000099"/>
              </a:buClr>
              <a:buSzPct val="100000"/>
              <a:buFont typeface="Wingdings" pitchFamily="2" charset="2"/>
              <a:buChar char="§"/>
              <a:defRPr/>
            </a:pPr>
            <a:r>
              <a:rPr lang="en-IN" altLang="en-US" sz="1800" dirty="0">
                <a:latin typeface="Avenir Book" panose="020B0503020203020204" pitchFamily="34" charset="-78"/>
                <a:ea typeface="ＭＳ Ｐゴシック" panose="020B0600070205080204" pitchFamily="34" charset="-128"/>
                <a:cs typeface="Avenir Book" panose="020B0503020203020204" pitchFamily="34" charset="-78"/>
              </a:rPr>
              <a:t>Needs to be fair across competitive flows</a:t>
            </a:r>
            <a:endParaRPr lang="en-US" altLang="en-US" sz="1800" dirty="0">
              <a:latin typeface="Avenir Book" panose="020B0503020203020204" pitchFamily="34" charset="-78"/>
              <a:ea typeface="ＭＳ Ｐゴシック" panose="020B0600070205080204" pitchFamily="34" charset="-128"/>
              <a:cs typeface="Avenir Book" panose="020B0503020203020204" pitchFamily="34" charset="-78"/>
            </a:endParaRPr>
          </a:p>
          <a:p>
            <a:pPr marL="350044" indent="-252413">
              <a:defRPr/>
            </a:pPr>
            <a:endParaRPr lang="en-US" sz="2000" dirty="0">
              <a:latin typeface="Avenir Book" panose="020B0503020203020204" pitchFamily="34" charset="-78"/>
              <a:cs typeface="Avenir Book" panose="020B0503020203020204" pitchFamily="34" charset="-78"/>
            </a:endParaRP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41069" y="80644"/>
            <a:ext cx="7523911" cy="642002"/>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Effects of Congestion</a:t>
            </a:r>
            <a:endParaRPr lang="en-US" sz="4050" dirty="0">
              <a:latin typeface="Avenir Book" panose="020B0503020203020204" pitchFamily="34" charset="-78"/>
              <a:cs typeface="Avenir Book" panose="020B0503020203020204" pitchFamily="34" charset="-78"/>
            </a:endParaRPr>
          </a:p>
        </p:txBody>
      </p:sp>
      <p:grpSp>
        <p:nvGrpSpPr>
          <p:cNvPr id="185" name="Group 184"/>
          <p:cNvGrpSpPr>
            <a:grpSpLocks noGrp="1" noUngrp="1" noChangeAspect="1"/>
          </p:cNvGrpSpPr>
          <p:nvPr/>
        </p:nvGrpSpPr>
        <p:grpSpPr>
          <a:xfrm>
            <a:off x="4975830" y="2673194"/>
            <a:ext cx="6705879" cy="3172144"/>
            <a:chOff x="685800" y="1809750"/>
            <a:chExt cx="7772400" cy="3676650"/>
          </a:xfrm>
        </p:grpSpPr>
        <p:pic>
          <p:nvPicPr>
            <p:cNvPr id="186" name="Picture 185" descr="06_Page_16.tif"/>
            <p:cNvPicPr>
              <a:picLocks noRot="1" noChangeAspect="1" noMove="1" noResize="1"/>
            </p:cNvPicPr>
            <p:nvPr isPhoto="1"/>
          </p:nvPicPr>
          <p:blipFill rotWithShape="1">
            <a:blip r:embed="rId3" cstate="print">
              <a:lum/>
            </a:blip>
            <a:srcRect l="58879" b="8279"/>
            <a:stretch/>
          </p:blipFill>
          <p:spPr>
            <a:xfrm>
              <a:off x="5262085" y="1809750"/>
              <a:ext cx="3196115" cy="2970378"/>
            </a:xfrm>
            <a:prstGeom prst="rect">
              <a:avLst/>
            </a:prstGeom>
            <a:noFill/>
            <a:ln>
              <a:noFill/>
            </a:ln>
          </p:spPr>
        </p:pic>
        <p:sp>
          <p:nvSpPr>
            <p:cNvPr id="187" name="Rectangle 186"/>
            <p:cNvSpPr/>
            <p:nvPr/>
          </p:nvSpPr>
          <p:spPr>
            <a:xfrm>
              <a:off x="685800" y="5143500"/>
              <a:ext cx="7772400" cy="342900"/>
            </a:xfrm>
            <a:prstGeom prst="rect">
              <a:avLst/>
            </a:prstGeom>
            <a:noFill/>
            <a:ln>
              <a:noFill/>
            </a:ln>
          </p:spPr>
          <p:txBody>
            <a:bodyPr anchor="ctr">
              <a:noAutofit/>
            </a:bodyPr>
            <a:lstStyle/>
            <a:p>
              <a:pPr algn="ctr"/>
              <a:endParaRPr lang="en-US" sz="2000" dirty="0"/>
            </a:p>
          </p:txBody>
        </p:sp>
      </p:grpSp>
      <p:sp>
        <p:nvSpPr>
          <p:cNvPr id="208" name="Freeform 6">
            <a:extLst>
              <a:ext uri="{FF2B5EF4-FFF2-40B4-BE49-F238E27FC236}">
                <a16:creationId xmlns:a16="http://schemas.microsoft.com/office/drawing/2014/main" id="{48AC5632-6C88-9B4F-8AC4-BA566F7E218B}"/>
              </a:ext>
            </a:extLst>
          </p:cNvPr>
          <p:cNvSpPr>
            <a:spLocks/>
          </p:cNvSpPr>
          <p:nvPr/>
        </p:nvSpPr>
        <p:spPr bwMode="auto">
          <a:xfrm>
            <a:off x="5187429" y="1994154"/>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7" name="Freeform 3">
            <a:extLst>
              <a:ext uri="{FF2B5EF4-FFF2-40B4-BE49-F238E27FC236}">
                <a16:creationId xmlns:a16="http://schemas.microsoft.com/office/drawing/2014/main" id="{28E26305-1B9C-8A47-B034-2E9BCCD87DED}"/>
              </a:ext>
            </a:extLst>
          </p:cNvPr>
          <p:cNvSpPr>
            <a:spLocks/>
          </p:cNvSpPr>
          <p:nvPr/>
        </p:nvSpPr>
        <p:spPr bwMode="auto">
          <a:xfrm>
            <a:off x="6119015" y="199208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78" name="Group 377">
            <a:extLst>
              <a:ext uri="{FF2B5EF4-FFF2-40B4-BE49-F238E27FC236}">
                <a16:creationId xmlns:a16="http://schemas.microsoft.com/office/drawing/2014/main" id="{3138E679-7A6F-3F4C-9CD4-1BC53C242F2F}"/>
              </a:ext>
            </a:extLst>
          </p:cNvPr>
          <p:cNvGrpSpPr/>
          <p:nvPr/>
        </p:nvGrpSpPr>
        <p:grpSpPr>
          <a:xfrm>
            <a:off x="5538523" y="1966550"/>
            <a:ext cx="586768" cy="904023"/>
            <a:chOff x="10910965" y="2513124"/>
            <a:chExt cx="586768" cy="904023"/>
          </a:xfrm>
        </p:grpSpPr>
        <p:sp>
          <p:nvSpPr>
            <p:cNvPr id="379" name="Rectangle 378">
              <a:extLst>
                <a:ext uri="{FF2B5EF4-FFF2-40B4-BE49-F238E27FC236}">
                  <a16:creationId xmlns:a16="http://schemas.microsoft.com/office/drawing/2014/main"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0" name="Straight Connector 379">
              <a:extLst>
                <a:ext uri="{FF2B5EF4-FFF2-40B4-BE49-F238E27FC236}">
                  <a16:creationId xmlns:a16="http://schemas.microsoft.com/office/drawing/2014/main"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4" name="Freeform 9">
            <a:extLst>
              <a:ext uri="{FF2B5EF4-FFF2-40B4-BE49-F238E27FC236}">
                <a16:creationId xmlns:a16="http://schemas.microsoft.com/office/drawing/2014/main" id="{5547101E-4A79-584C-9989-5E85D28B6DAA}"/>
              </a:ext>
            </a:extLst>
          </p:cNvPr>
          <p:cNvSpPr>
            <a:spLocks/>
          </p:cNvSpPr>
          <p:nvPr/>
        </p:nvSpPr>
        <p:spPr bwMode="auto">
          <a:xfrm flipH="1">
            <a:off x="1965129" y="850203"/>
            <a:ext cx="430143" cy="90046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85" name="Group 384">
            <a:extLst>
              <a:ext uri="{FF2B5EF4-FFF2-40B4-BE49-F238E27FC236}">
                <a16:creationId xmlns:a16="http://schemas.microsoft.com/office/drawing/2014/main" id="{B6427DD3-BCDC-1D47-B9EA-F052CBEE3779}"/>
              </a:ext>
            </a:extLst>
          </p:cNvPr>
          <p:cNvGrpSpPr/>
          <p:nvPr/>
        </p:nvGrpSpPr>
        <p:grpSpPr>
          <a:xfrm>
            <a:off x="1504297" y="1742862"/>
            <a:ext cx="586768" cy="904023"/>
            <a:chOff x="10910965" y="2513124"/>
            <a:chExt cx="586768" cy="904023"/>
          </a:xfrm>
        </p:grpSpPr>
        <p:sp>
          <p:nvSpPr>
            <p:cNvPr id="386" name="Rectangle 385">
              <a:extLst>
                <a:ext uri="{FF2B5EF4-FFF2-40B4-BE49-F238E27FC236}">
                  <a16:creationId xmlns:a16="http://schemas.microsoft.com/office/drawing/2014/main"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7" name="Straight Connector 386">
              <a:extLst>
                <a:ext uri="{FF2B5EF4-FFF2-40B4-BE49-F238E27FC236}">
                  <a16:creationId xmlns:a16="http://schemas.microsoft.com/office/drawing/2014/main"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1" name="Group 390">
            <a:extLst>
              <a:ext uri="{FF2B5EF4-FFF2-40B4-BE49-F238E27FC236}">
                <a16:creationId xmlns:a16="http://schemas.microsoft.com/office/drawing/2014/main" id="{F01A9AD5-3D29-E044-89AB-2A8A2872A48C}"/>
              </a:ext>
            </a:extLst>
          </p:cNvPr>
          <p:cNvGrpSpPr/>
          <p:nvPr/>
        </p:nvGrpSpPr>
        <p:grpSpPr>
          <a:xfrm>
            <a:off x="2380597" y="854370"/>
            <a:ext cx="586768" cy="904023"/>
            <a:chOff x="10910965" y="2513124"/>
            <a:chExt cx="586768" cy="904023"/>
          </a:xfrm>
        </p:grpSpPr>
        <p:sp>
          <p:nvSpPr>
            <p:cNvPr id="392" name="Rectangle 391">
              <a:extLst>
                <a:ext uri="{FF2B5EF4-FFF2-40B4-BE49-F238E27FC236}">
                  <a16:creationId xmlns:a16="http://schemas.microsoft.com/office/drawing/2014/main"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93" name="Straight Connector 392">
              <a:extLst>
                <a:ext uri="{FF2B5EF4-FFF2-40B4-BE49-F238E27FC236}">
                  <a16:creationId xmlns:a16="http://schemas.microsoft.com/office/drawing/2014/main"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7" name="Freeform 6">
            <a:extLst>
              <a:ext uri="{FF2B5EF4-FFF2-40B4-BE49-F238E27FC236}">
                <a16:creationId xmlns:a16="http://schemas.microsoft.com/office/drawing/2014/main" id="{48AC5632-6C88-9B4F-8AC4-BA566F7E218B}"/>
              </a:ext>
            </a:extLst>
          </p:cNvPr>
          <p:cNvSpPr>
            <a:spLocks/>
          </p:cNvSpPr>
          <p:nvPr/>
        </p:nvSpPr>
        <p:spPr bwMode="auto">
          <a:xfrm>
            <a:off x="6495253" y="990691"/>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8" name="Group 397">
            <a:extLst>
              <a:ext uri="{FF2B5EF4-FFF2-40B4-BE49-F238E27FC236}">
                <a16:creationId xmlns:a16="http://schemas.microsoft.com/office/drawing/2014/main" id="{7395260E-0495-5549-B67B-D0932B2922A1}"/>
              </a:ext>
            </a:extLst>
          </p:cNvPr>
          <p:cNvGrpSpPr/>
          <p:nvPr/>
        </p:nvGrpSpPr>
        <p:grpSpPr>
          <a:xfrm>
            <a:off x="5917064" y="966557"/>
            <a:ext cx="586768" cy="904023"/>
            <a:chOff x="10910965" y="2513124"/>
            <a:chExt cx="586768" cy="904023"/>
          </a:xfrm>
        </p:grpSpPr>
        <p:sp>
          <p:nvSpPr>
            <p:cNvPr id="399" name="Rectangle 398">
              <a:extLst>
                <a:ext uri="{FF2B5EF4-FFF2-40B4-BE49-F238E27FC236}">
                  <a16:creationId xmlns:a16="http://schemas.microsoft.com/office/drawing/2014/main"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400" name="Straight Connector 399">
              <a:extLst>
                <a:ext uri="{FF2B5EF4-FFF2-40B4-BE49-F238E27FC236}">
                  <a16:creationId xmlns:a16="http://schemas.microsoft.com/office/drawing/2014/main"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2" name="Group 124">
            <a:extLst>
              <a:ext uri="{FF2B5EF4-FFF2-40B4-BE49-F238E27FC236}">
                <a16:creationId xmlns:a16="http://schemas.microsoft.com/office/drawing/2014/main" id="{09EDE4D1-769E-664A-B492-F153D45C56DF}"/>
              </a:ext>
            </a:extLst>
          </p:cNvPr>
          <p:cNvGrpSpPr>
            <a:grpSpLocks/>
          </p:cNvGrpSpPr>
          <p:nvPr/>
        </p:nvGrpSpPr>
        <p:grpSpPr bwMode="auto">
          <a:xfrm>
            <a:off x="1535839" y="1126456"/>
            <a:ext cx="525463" cy="434975"/>
            <a:chOff x="-44" y="1473"/>
            <a:chExt cx="981" cy="1105"/>
          </a:xfrm>
        </p:grpSpPr>
        <p:pic>
          <p:nvPicPr>
            <p:cNvPr id="413" name="Picture 125" descr="desktop_computer_stylized_medium">
              <a:extLst>
                <a:ext uri="{FF2B5EF4-FFF2-40B4-BE49-F238E27FC236}">
                  <a16:creationId xmlns:a16="http://schemas.microsoft.com/office/drawing/2014/main" id="{BCF21B40-E1CC-014D-891D-609787EB16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 name="Freeform 126">
              <a:extLst>
                <a:ext uri="{FF2B5EF4-FFF2-40B4-BE49-F238E27FC236}">
                  <a16:creationId xmlns:a16="http://schemas.microsoft.com/office/drawing/2014/main"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5" name="Freeform 12">
            <a:extLst>
              <a:ext uri="{FF2B5EF4-FFF2-40B4-BE49-F238E27FC236}">
                <a16:creationId xmlns:a16="http://schemas.microsoft.com/office/drawing/2014/main" id="{AC913105-44C9-2F4B-B4CF-997DA724B11C}"/>
              </a:ext>
            </a:extLst>
          </p:cNvPr>
          <p:cNvSpPr>
            <a:spLocks/>
          </p:cNvSpPr>
          <p:nvPr/>
        </p:nvSpPr>
        <p:spPr bwMode="auto">
          <a:xfrm flipH="1">
            <a:off x="1259678" y="1741263"/>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6" name="Line 33">
            <a:extLst>
              <a:ext uri="{FF2B5EF4-FFF2-40B4-BE49-F238E27FC236}">
                <a16:creationId xmlns:a16="http://schemas.microsoft.com/office/drawing/2014/main" id="{A9B30674-B59F-1643-8F90-1D2641E2102B}"/>
              </a:ext>
            </a:extLst>
          </p:cNvPr>
          <p:cNvSpPr>
            <a:spLocks noChangeShapeType="1"/>
          </p:cNvSpPr>
          <p:nvPr/>
        </p:nvSpPr>
        <p:spPr bwMode="auto">
          <a:xfrm flipH="1">
            <a:off x="2421728" y="187461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7" name="Text Box 42">
            <a:extLst>
              <a:ext uri="{FF2B5EF4-FFF2-40B4-BE49-F238E27FC236}">
                <a16:creationId xmlns:a16="http://schemas.microsoft.com/office/drawing/2014/main" id="{45FD0EC2-A145-DC4A-9A60-DC5E453EC52B}"/>
              </a:ext>
            </a:extLst>
          </p:cNvPr>
          <p:cNvSpPr txBox="1">
            <a:spLocks noChangeArrowheads="1"/>
          </p:cNvSpPr>
          <p:nvPr/>
        </p:nvSpPr>
        <p:spPr bwMode="auto">
          <a:xfrm>
            <a:off x="1349563" y="861039"/>
            <a:ext cx="913861"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418"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1345345" y="2789688"/>
            <a:ext cx="799129"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419" name="Line 53">
            <a:extLst>
              <a:ext uri="{FF2B5EF4-FFF2-40B4-BE49-F238E27FC236}">
                <a16:creationId xmlns:a16="http://schemas.microsoft.com/office/drawing/2014/main" id="{8E626A5E-7769-D34B-B652-6F3C2A3740FB}"/>
              </a:ext>
            </a:extLst>
          </p:cNvPr>
          <p:cNvSpPr>
            <a:spLocks noChangeShapeType="1"/>
          </p:cNvSpPr>
          <p:nvPr/>
        </p:nvSpPr>
        <p:spPr bwMode="auto">
          <a:xfrm flipH="1">
            <a:off x="2907503" y="227466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0" name="Line 54">
            <a:extLst>
              <a:ext uri="{FF2B5EF4-FFF2-40B4-BE49-F238E27FC236}">
                <a16:creationId xmlns:a16="http://schemas.microsoft.com/office/drawing/2014/main" id="{DFB6E6E2-8DA8-C549-8AC1-828F8F828431}"/>
              </a:ext>
            </a:extLst>
          </p:cNvPr>
          <p:cNvSpPr>
            <a:spLocks noChangeShapeType="1"/>
          </p:cNvSpPr>
          <p:nvPr/>
        </p:nvSpPr>
        <p:spPr bwMode="auto">
          <a:xfrm flipH="1">
            <a:off x="4526753" y="227466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1" name="Line 55">
            <a:extLst>
              <a:ext uri="{FF2B5EF4-FFF2-40B4-BE49-F238E27FC236}">
                <a16:creationId xmlns:a16="http://schemas.microsoft.com/office/drawing/2014/main" id="{66F3E5E4-6136-594F-B2C6-BF81A4932B2E}"/>
              </a:ext>
            </a:extLst>
          </p:cNvPr>
          <p:cNvSpPr>
            <a:spLocks noChangeShapeType="1"/>
          </p:cNvSpPr>
          <p:nvPr/>
        </p:nvSpPr>
        <p:spPr bwMode="auto">
          <a:xfrm flipH="1">
            <a:off x="4650578" y="187461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2" name="Line 57">
            <a:extLst>
              <a:ext uri="{FF2B5EF4-FFF2-40B4-BE49-F238E27FC236}">
                <a16:creationId xmlns:a16="http://schemas.microsoft.com/office/drawing/2014/main" id="{3D95A033-C14C-3448-9016-0C9E6C4CF3A2}"/>
              </a:ext>
            </a:extLst>
          </p:cNvPr>
          <p:cNvSpPr>
            <a:spLocks noChangeShapeType="1"/>
          </p:cNvSpPr>
          <p:nvPr/>
        </p:nvSpPr>
        <p:spPr bwMode="auto">
          <a:xfrm flipH="1">
            <a:off x="5572474" y="1874760"/>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26" name="Group 127">
            <a:extLst>
              <a:ext uri="{FF2B5EF4-FFF2-40B4-BE49-F238E27FC236}">
                <a16:creationId xmlns:a16="http://schemas.microsoft.com/office/drawing/2014/main" id="{879C5F16-9AAB-6840-B838-D482AFD339D0}"/>
              </a:ext>
            </a:extLst>
          </p:cNvPr>
          <p:cNvGrpSpPr>
            <a:grpSpLocks/>
          </p:cNvGrpSpPr>
          <p:nvPr/>
        </p:nvGrpSpPr>
        <p:grpSpPr bwMode="auto">
          <a:xfrm>
            <a:off x="6595265" y="1582513"/>
            <a:ext cx="231775" cy="441325"/>
            <a:chOff x="4140" y="429"/>
            <a:chExt cx="1425" cy="2396"/>
          </a:xfrm>
        </p:grpSpPr>
        <p:sp>
          <p:nvSpPr>
            <p:cNvPr id="427"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8"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9"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0"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1"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2"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457"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8"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3"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4"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455"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6"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5"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6"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37"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453"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4"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38"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39"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451"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2"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40"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1"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2"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3"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4"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45"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6"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7"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8"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49"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0"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459" name="Group 160">
            <a:extLst>
              <a:ext uri="{FF2B5EF4-FFF2-40B4-BE49-F238E27FC236}">
                <a16:creationId xmlns:a16="http://schemas.microsoft.com/office/drawing/2014/main" id="{AD8E3A61-2C5A-CC41-9933-891EC27B5015}"/>
              </a:ext>
            </a:extLst>
          </p:cNvPr>
          <p:cNvGrpSpPr>
            <a:grpSpLocks/>
          </p:cNvGrpSpPr>
          <p:nvPr/>
        </p:nvGrpSpPr>
        <p:grpSpPr bwMode="auto">
          <a:xfrm>
            <a:off x="939796" y="2485365"/>
            <a:ext cx="525463" cy="434975"/>
            <a:chOff x="-44" y="1473"/>
            <a:chExt cx="981" cy="1105"/>
          </a:xfrm>
        </p:grpSpPr>
        <p:pic>
          <p:nvPicPr>
            <p:cNvPr id="460" name="Picture 161" descr="desktop_computer_stylized_medium">
              <a:extLst>
                <a:ext uri="{FF2B5EF4-FFF2-40B4-BE49-F238E27FC236}">
                  <a16:creationId xmlns:a16="http://schemas.microsoft.com/office/drawing/2014/main" id="{01E7AFB7-5DE3-CA4A-A50A-BEADA26B11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 name="Freeform 162">
              <a:extLst>
                <a:ext uri="{FF2B5EF4-FFF2-40B4-BE49-F238E27FC236}">
                  <a16:creationId xmlns:a16="http://schemas.microsoft.com/office/drawing/2014/main"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62" name="Group 163">
            <a:extLst>
              <a:ext uri="{FF2B5EF4-FFF2-40B4-BE49-F238E27FC236}">
                <a16:creationId xmlns:a16="http://schemas.microsoft.com/office/drawing/2014/main" id="{C476CE94-C91A-0846-B6B7-05E77113879F}"/>
              </a:ext>
            </a:extLst>
          </p:cNvPr>
          <p:cNvGrpSpPr>
            <a:grpSpLocks/>
          </p:cNvGrpSpPr>
          <p:nvPr/>
        </p:nvGrpSpPr>
        <p:grpSpPr bwMode="auto">
          <a:xfrm>
            <a:off x="6277765" y="2547713"/>
            <a:ext cx="231775" cy="441325"/>
            <a:chOff x="4140" y="429"/>
            <a:chExt cx="1425" cy="2396"/>
          </a:xfrm>
        </p:grpSpPr>
        <p:sp>
          <p:nvSpPr>
            <p:cNvPr id="463" name="Freeform 164">
              <a:extLst>
                <a:ext uri="{FF2B5EF4-FFF2-40B4-BE49-F238E27FC236}">
                  <a16:creationId xmlns:a16="http://schemas.microsoft.com/office/drawing/2014/main"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4" name="Rectangle 165">
              <a:extLst>
                <a:ext uri="{FF2B5EF4-FFF2-40B4-BE49-F238E27FC236}">
                  <a16:creationId xmlns:a16="http://schemas.microsoft.com/office/drawing/2014/main"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65" name="Freeform 166">
              <a:extLst>
                <a:ext uri="{FF2B5EF4-FFF2-40B4-BE49-F238E27FC236}">
                  <a16:creationId xmlns:a16="http://schemas.microsoft.com/office/drawing/2014/main"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6" name="Freeform 167">
              <a:extLst>
                <a:ext uri="{FF2B5EF4-FFF2-40B4-BE49-F238E27FC236}">
                  <a16:creationId xmlns:a16="http://schemas.microsoft.com/office/drawing/2014/main"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7" name="Rectangle 168">
              <a:extLst>
                <a:ext uri="{FF2B5EF4-FFF2-40B4-BE49-F238E27FC236}">
                  <a16:creationId xmlns:a16="http://schemas.microsoft.com/office/drawing/2014/main"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68" name="Group 169">
              <a:extLst>
                <a:ext uri="{FF2B5EF4-FFF2-40B4-BE49-F238E27FC236}">
                  <a16:creationId xmlns:a16="http://schemas.microsoft.com/office/drawing/2014/main" id="{0515312F-DE85-5641-B779-E8991ECBE8F8}"/>
                </a:ext>
              </a:extLst>
            </p:cNvPr>
            <p:cNvGrpSpPr>
              <a:grpSpLocks/>
            </p:cNvGrpSpPr>
            <p:nvPr/>
          </p:nvGrpSpPr>
          <p:grpSpPr bwMode="auto">
            <a:xfrm>
              <a:off x="4749" y="668"/>
              <a:ext cx="581" cy="145"/>
              <a:chOff x="614" y="2568"/>
              <a:chExt cx="725" cy="139"/>
            </a:xfrm>
          </p:grpSpPr>
          <p:sp>
            <p:nvSpPr>
              <p:cNvPr id="493" name="AutoShape 170">
                <a:extLst>
                  <a:ext uri="{FF2B5EF4-FFF2-40B4-BE49-F238E27FC236}">
                    <a16:creationId xmlns:a16="http://schemas.microsoft.com/office/drawing/2014/main"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4" name="AutoShape 171">
                <a:extLst>
                  <a:ext uri="{FF2B5EF4-FFF2-40B4-BE49-F238E27FC236}">
                    <a16:creationId xmlns:a16="http://schemas.microsoft.com/office/drawing/2014/main"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69" name="Rectangle 172">
              <a:extLst>
                <a:ext uri="{FF2B5EF4-FFF2-40B4-BE49-F238E27FC236}">
                  <a16:creationId xmlns:a16="http://schemas.microsoft.com/office/drawing/2014/main"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70" name="Group 173">
              <a:extLst>
                <a:ext uri="{FF2B5EF4-FFF2-40B4-BE49-F238E27FC236}">
                  <a16:creationId xmlns:a16="http://schemas.microsoft.com/office/drawing/2014/main" id="{BAB53084-6436-7444-ACD5-5E7D01263E2B}"/>
                </a:ext>
              </a:extLst>
            </p:cNvPr>
            <p:cNvGrpSpPr>
              <a:grpSpLocks/>
            </p:cNvGrpSpPr>
            <p:nvPr/>
          </p:nvGrpSpPr>
          <p:grpSpPr bwMode="auto">
            <a:xfrm>
              <a:off x="4747" y="994"/>
              <a:ext cx="581" cy="134"/>
              <a:chOff x="614" y="2568"/>
              <a:chExt cx="725" cy="139"/>
            </a:xfrm>
          </p:grpSpPr>
          <p:sp>
            <p:nvSpPr>
              <p:cNvPr id="491" name="AutoShape 174">
                <a:extLst>
                  <a:ext uri="{FF2B5EF4-FFF2-40B4-BE49-F238E27FC236}">
                    <a16:creationId xmlns:a16="http://schemas.microsoft.com/office/drawing/2014/main"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2" name="AutoShape 175">
                <a:extLst>
                  <a:ext uri="{FF2B5EF4-FFF2-40B4-BE49-F238E27FC236}">
                    <a16:creationId xmlns:a16="http://schemas.microsoft.com/office/drawing/2014/main"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1" name="Rectangle 176">
              <a:extLst>
                <a:ext uri="{FF2B5EF4-FFF2-40B4-BE49-F238E27FC236}">
                  <a16:creationId xmlns:a16="http://schemas.microsoft.com/office/drawing/2014/main"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2" name="Rectangle 177">
              <a:extLst>
                <a:ext uri="{FF2B5EF4-FFF2-40B4-BE49-F238E27FC236}">
                  <a16:creationId xmlns:a16="http://schemas.microsoft.com/office/drawing/2014/main"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73" name="Group 178">
              <a:extLst>
                <a:ext uri="{FF2B5EF4-FFF2-40B4-BE49-F238E27FC236}">
                  <a16:creationId xmlns:a16="http://schemas.microsoft.com/office/drawing/2014/main" id="{E30BEF1D-E99C-EF4F-A2DE-968E737192AA}"/>
                </a:ext>
              </a:extLst>
            </p:cNvPr>
            <p:cNvGrpSpPr>
              <a:grpSpLocks/>
            </p:cNvGrpSpPr>
            <p:nvPr/>
          </p:nvGrpSpPr>
          <p:grpSpPr bwMode="auto">
            <a:xfrm>
              <a:off x="4735" y="1627"/>
              <a:ext cx="582" cy="151"/>
              <a:chOff x="614" y="2568"/>
              <a:chExt cx="725" cy="139"/>
            </a:xfrm>
          </p:grpSpPr>
          <p:sp>
            <p:nvSpPr>
              <p:cNvPr id="489" name="AutoShape 179">
                <a:extLst>
                  <a:ext uri="{FF2B5EF4-FFF2-40B4-BE49-F238E27FC236}">
                    <a16:creationId xmlns:a16="http://schemas.microsoft.com/office/drawing/2014/main"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90" name="AutoShape 180">
                <a:extLst>
                  <a:ext uri="{FF2B5EF4-FFF2-40B4-BE49-F238E27FC236}">
                    <a16:creationId xmlns:a16="http://schemas.microsoft.com/office/drawing/2014/main"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4" name="Freeform 181">
              <a:extLst>
                <a:ext uri="{FF2B5EF4-FFF2-40B4-BE49-F238E27FC236}">
                  <a16:creationId xmlns:a16="http://schemas.microsoft.com/office/drawing/2014/main"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75" name="Group 182">
              <a:extLst>
                <a:ext uri="{FF2B5EF4-FFF2-40B4-BE49-F238E27FC236}">
                  <a16:creationId xmlns:a16="http://schemas.microsoft.com/office/drawing/2014/main" id="{6A155784-A945-0F47-A39B-31F367A22CCA}"/>
                </a:ext>
              </a:extLst>
            </p:cNvPr>
            <p:cNvGrpSpPr>
              <a:grpSpLocks/>
            </p:cNvGrpSpPr>
            <p:nvPr/>
          </p:nvGrpSpPr>
          <p:grpSpPr bwMode="auto">
            <a:xfrm>
              <a:off x="4739" y="1327"/>
              <a:ext cx="582" cy="139"/>
              <a:chOff x="614" y="2568"/>
              <a:chExt cx="725" cy="139"/>
            </a:xfrm>
          </p:grpSpPr>
          <p:sp>
            <p:nvSpPr>
              <p:cNvPr id="487" name="AutoShape 183">
                <a:extLst>
                  <a:ext uri="{FF2B5EF4-FFF2-40B4-BE49-F238E27FC236}">
                    <a16:creationId xmlns:a16="http://schemas.microsoft.com/office/drawing/2014/main"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8" name="AutoShape 184">
                <a:extLst>
                  <a:ext uri="{FF2B5EF4-FFF2-40B4-BE49-F238E27FC236}">
                    <a16:creationId xmlns:a16="http://schemas.microsoft.com/office/drawing/2014/main"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76" name="Rectangle 185">
              <a:extLst>
                <a:ext uri="{FF2B5EF4-FFF2-40B4-BE49-F238E27FC236}">
                  <a16:creationId xmlns:a16="http://schemas.microsoft.com/office/drawing/2014/main"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7" name="Freeform 186">
              <a:extLst>
                <a:ext uri="{FF2B5EF4-FFF2-40B4-BE49-F238E27FC236}">
                  <a16:creationId xmlns:a16="http://schemas.microsoft.com/office/drawing/2014/main"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8" name="Freeform 187">
              <a:extLst>
                <a:ext uri="{FF2B5EF4-FFF2-40B4-BE49-F238E27FC236}">
                  <a16:creationId xmlns:a16="http://schemas.microsoft.com/office/drawing/2014/main"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9" name="Oval 188">
              <a:extLst>
                <a:ext uri="{FF2B5EF4-FFF2-40B4-BE49-F238E27FC236}">
                  <a16:creationId xmlns:a16="http://schemas.microsoft.com/office/drawing/2014/main"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0" name="Freeform 189">
              <a:extLst>
                <a:ext uri="{FF2B5EF4-FFF2-40B4-BE49-F238E27FC236}">
                  <a16:creationId xmlns:a16="http://schemas.microsoft.com/office/drawing/2014/main"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1" name="AutoShape 190">
              <a:extLst>
                <a:ext uri="{FF2B5EF4-FFF2-40B4-BE49-F238E27FC236}">
                  <a16:creationId xmlns:a16="http://schemas.microsoft.com/office/drawing/2014/main"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2" name="AutoShape 191">
              <a:extLst>
                <a:ext uri="{FF2B5EF4-FFF2-40B4-BE49-F238E27FC236}">
                  <a16:creationId xmlns:a16="http://schemas.microsoft.com/office/drawing/2014/main"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3" name="Oval 192">
              <a:extLst>
                <a:ext uri="{FF2B5EF4-FFF2-40B4-BE49-F238E27FC236}">
                  <a16:creationId xmlns:a16="http://schemas.microsoft.com/office/drawing/2014/main"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4" name="Oval 193">
              <a:extLst>
                <a:ext uri="{FF2B5EF4-FFF2-40B4-BE49-F238E27FC236}">
                  <a16:creationId xmlns:a16="http://schemas.microsoft.com/office/drawing/2014/main"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85" name="Oval 194">
              <a:extLst>
                <a:ext uri="{FF2B5EF4-FFF2-40B4-BE49-F238E27FC236}">
                  <a16:creationId xmlns:a16="http://schemas.microsoft.com/office/drawing/2014/main"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6" name="Rectangle 195">
              <a:extLst>
                <a:ext uri="{FF2B5EF4-FFF2-40B4-BE49-F238E27FC236}">
                  <a16:creationId xmlns:a16="http://schemas.microsoft.com/office/drawing/2014/main"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99" name="Line 57">
            <a:extLst>
              <a:ext uri="{FF2B5EF4-FFF2-40B4-BE49-F238E27FC236}">
                <a16:creationId xmlns:a16="http://schemas.microsoft.com/office/drawing/2014/main" id="{198CECD8-AC19-4441-B07E-D812C1E4B022}"/>
              </a:ext>
            </a:extLst>
          </p:cNvPr>
          <p:cNvSpPr>
            <a:spLocks noChangeShapeType="1"/>
          </p:cNvSpPr>
          <p:nvPr/>
        </p:nvSpPr>
        <p:spPr bwMode="auto">
          <a:xfrm flipH="1">
            <a:off x="4660418" y="2739923"/>
            <a:ext cx="8222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0" name="Line 57">
            <a:extLst>
              <a:ext uri="{FF2B5EF4-FFF2-40B4-BE49-F238E27FC236}">
                <a16:creationId xmlns:a16="http://schemas.microsoft.com/office/drawing/2014/main" id="{E3F52AFD-CA05-E145-A13D-BB73559D50E0}"/>
              </a:ext>
            </a:extLst>
          </p:cNvPr>
          <p:cNvSpPr>
            <a:spLocks noChangeShapeType="1"/>
          </p:cNvSpPr>
          <p:nvPr/>
        </p:nvSpPr>
        <p:spPr bwMode="auto">
          <a:xfrm flipH="1">
            <a:off x="2906647" y="1872416"/>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1" name="Line 57">
            <a:extLst>
              <a:ext uri="{FF2B5EF4-FFF2-40B4-BE49-F238E27FC236}">
                <a16:creationId xmlns:a16="http://schemas.microsoft.com/office/drawing/2014/main" id="{1C06B2BF-A77D-004B-A9F1-4A7417598B7E}"/>
              </a:ext>
            </a:extLst>
          </p:cNvPr>
          <p:cNvSpPr>
            <a:spLocks noChangeShapeType="1"/>
          </p:cNvSpPr>
          <p:nvPr/>
        </p:nvSpPr>
        <p:spPr bwMode="auto">
          <a:xfrm flipH="1">
            <a:off x="1985213" y="2742268"/>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5" name="Freeform 91">
            <a:extLst>
              <a:ext uri="{FF2B5EF4-FFF2-40B4-BE49-F238E27FC236}">
                <a16:creationId xmlns:a16="http://schemas.microsoft.com/office/drawing/2014/main" id="{DCEE1836-E089-0E43-AA83-3C4D23A24812}"/>
              </a:ext>
            </a:extLst>
          </p:cNvPr>
          <p:cNvSpPr>
            <a:spLocks/>
          </p:cNvSpPr>
          <p:nvPr/>
        </p:nvSpPr>
        <p:spPr bwMode="auto">
          <a:xfrm>
            <a:off x="2745578" y="960213"/>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26" name="Group 525">
            <a:extLst>
              <a:ext uri="{FF2B5EF4-FFF2-40B4-BE49-F238E27FC236}">
                <a16:creationId xmlns:a16="http://schemas.microsoft.com/office/drawing/2014/main" id="{07632497-C7A3-5D43-A16B-0B4F26B7ADF5}"/>
              </a:ext>
            </a:extLst>
          </p:cNvPr>
          <p:cNvGrpSpPr/>
          <p:nvPr/>
        </p:nvGrpSpPr>
        <p:grpSpPr>
          <a:xfrm>
            <a:off x="1754978" y="1788888"/>
            <a:ext cx="4000500" cy="1028700"/>
            <a:chOff x="5641439" y="2685215"/>
            <a:chExt cx="4000500" cy="1028700"/>
          </a:xfrm>
        </p:grpSpPr>
        <p:sp>
          <p:nvSpPr>
            <p:cNvPr id="527" name="Oval 73">
              <a:extLst>
                <a:ext uri="{FF2B5EF4-FFF2-40B4-BE49-F238E27FC236}">
                  <a16:creationId xmlns:a16="http://schemas.microsoft.com/office/drawing/2014/main"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8" name="Freeform 90">
              <a:extLst>
                <a:ext uri="{FF2B5EF4-FFF2-40B4-BE49-F238E27FC236}">
                  <a16:creationId xmlns:a16="http://schemas.microsoft.com/office/drawing/2014/main"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41" name="Group 340">
            <a:extLst>
              <a:ext uri="{FF2B5EF4-FFF2-40B4-BE49-F238E27FC236}">
                <a16:creationId xmlns:a16="http://schemas.microsoft.com/office/drawing/2014/main" id="{88E9FDF2-59AD-0849-94F0-90E7C39F4845}"/>
              </a:ext>
            </a:extLst>
          </p:cNvPr>
          <p:cNvGrpSpPr/>
          <p:nvPr/>
        </p:nvGrpSpPr>
        <p:grpSpPr>
          <a:xfrm>
            <a:off x="4182463" y="2086058"/>
            <a:ext cx="486450" cy="380335"/>
            <a:chOff x="7493876" y="2774731"/>
            <a:chExt cx="1481958" cy="894622"/>
          </a:xfrm>
        </p:grpSpPr>
        <p:sp>
          <p:nvSpPr>
            <p:cNvPr id="342" name="Freeform 341">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2" name="Oval 351">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3" name="Group 352">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354" name="Freeform 353">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4" name="Freeform 503">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5" name="Freeform 504">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07" name="Group 506"/>
          <p:cNvGrpSpPr>
            <a:grpSpLocks noGrp="1" noUngrp="1" noChangeAspect="1"/>
          </p:cNvGrpSpPr>
          <p:nvPr/>
        </p:nvGrpSpPr>
        <p:grpSpPr>
          <a:xfrm>
            <a:off x="8306963" y="188480"/>
            <a:ext cx="6079353" cy="2875772"/>
            <a:chOff x="685800" y="1809750"/>
            <a:chExt cx="7772400" cy="3676650"/>
          </a:xfrm>
        </p:grpSpPr>
        <p:pic>
          <p:nvPicPr>
            <p:cNvPr id="508" name="Picture 507" descr="06_Page_16.tif"/>
            <p:cNvPicPr>
              <a:picLocks noRot="1" noChangeAspect="1" noMove="1" noResize="1"/>
            </p:cNvPicPr>
            <p:nvPr isPhoto="1"/>
          </p:nvPicPr>
          <p:blipFill rotWithShape="1">
            <a:blip r:embed="rId3" cstate="print">
              <a:lum/>
            </a:blip>
            <a:srcRect r="43898" b="7809"/>
            <a:stretch/>
          </p:blipFill>
          <p:spPr>
            <a:xfrm>
              <a:off x="685800" y="1809750"/>
              <a:ext cx="4360497" cy="2985600"/>
            </a:xfrm>
            <a:prstGeom prst="rect">
              <a:avLst/>
            </a:prstGeom>
            <a:noFill/>
            <a:ln>
              <a:noFill/>
            </a:ln>
          </p:spPr>
        </p:pic>
        <p:sp>
          <p:nvSpPr>
            <p:cNvPr id="509" name="Rectangle 508"/>
            <p:cNvSpPr/>
            <p:nvPr/>
          </p:nvSpPr>
          <p:spPr>
            <a:xfrm>
              <a:off x="685800" y="5143500"/>
              <a:ext cx="7772400" cy="342900"/>
            </a:xfrm>
            <a:prstGeom prst="rect">
              <a:avLst/>
            </a:prstGeom>
            <a:noFill/>
            <a:ln>
              <a:noFill/>
            </a:ln>
          </p:spPr>
          <p:txBody>
            <a:bodyPr anchor="ctr">
              <a:noAutofit/>
            </a:bodyPr>
            <a:lstStyle/>
            <a:p>
              <a:pPr algn="ctr"/>
              <a:endParaRPr lang="en-US" sz="2000" dirty="0"/>
            </a:p>
          </p:txBody>
        </p:sp>
      </p:grpSp>
      <p:sp>
        <p:nvSpPr>
          <p:cNvPr id="510"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3625550" y="935285"/>
            <a:ext cx="1363262" cy="427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All link capacity = R</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grpSp>
        <p:nvGrpSpPr>
          <p:cNvPr id="404" name="Group 403">
            <a:extLst>
              <a:ext uri="{FF2B5EF4-FFF2-40B4-BE49-F238E27FC236}">
                <a16:creationId xmlns:a16="http://schemas.microsoft.com/office/drawing/2014/main" id="{88E9FDF2-59AD-0849-94F0-90E7C39F4845}"/>
              </a:ext>
            </a:extLst>
          </p:cNvPr>
          <p:cNvGrpSpPr/>
          <p:nvPr/>
        </p:nvGrpSpPr>
        <p:grpSpPr>
          <a:xfrm>
            <a:off x="3383250" y="2107971"/>
            <a:ext cx="486450" cy="363840"/>
            <a:chOff x="7493876" y="2774731"/>
            <a:chExt cx="1481958" cy="894622"/>
          </a:xfrm>
        </p:grpSpPr>
        <p:sp>
          <p:nvSpPr>
            <p:cNvPr id="405" name="Freeform 404">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06" name="Oval 405">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07" name="Group 406">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408" name="Freeform 407">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9" name="Freeform 408">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 name="Freeform 409">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1" name="Freeform 410">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42" name="Text Box 284">
            <a:extLst>
              <a:ext uri="{FF2B5EF4-FFF2-40B4-BE49-F238E27FC236}">
                <a16:creationId xmlns:a16="http://schemas.microsoft.com/office/drawing/2014/main" id="{100A63B1-F092-9049-BD5D-F838C3B7C4BE}"/>
              </a:ext>
            </a:extLst>
          </p:cNvPr>
          <p:cNvSpPr txBox="1">
            <a:spLocks noChangeArrowheads="1"/>
          </p:cNvSpPr>
          <p:nvPr/>
        </p:nvSpPr>
        <p:spPr bwMode="auto">
          <a:xfrm>
            <a:off x="8559721" y="296808"/>
            <a:ext cx="46358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Tahoma" charset="0"/>
                <a:ea typeface="ＭＳ Ｐゴシック" charset="0"/>
                <a:cs typeface="+mn-cs"/>
              </a:rPr>
              <a:t>R/2</a:t>
            </a:r>
          </a:p>
        </p:txBody>
      </p:sp>
      <p:sp>
        <p:nvSpPr>
          <p:cNvPr id="143" name="Rectangle 142"/>
          <p:cNvSpPr/>
          <p:nvPr/>
        </p:nvSpPr>
        <p:spPr>
          <a:xfrm>
            <a:off x="10659775" y="772172"/>
            <a:ext cx="1040912" cy="507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0179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2089079" y="87439"/>
            <a:ext cx="8354291" cy="764674"/>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Challenges of Congestion Control</a:t>
            </a:r>
            <a:endParaRPr lang="en-US" sz="4050" dirty="0">
              <a:latin typeface="Avenir Book" panose="020B0503020203020204" pitchFamily="34" charset="-78"/>
              <a:cs typeface="Avenir Book" panose="020B0503020203020204" pitchFamily="34" charset="-78"/>
            </a:endParaRPr>
          </a:p>
        </p:txBody>
      </p:sp>
      <p:sp>
        <p:nvSpPr>
          <p:cNvPr id="128" name="Rectangle 3">
            <a:extLst>
              <a:ext uri="{FF2B5EF4-FFF2-40B4-BE49-F238E27FC236}">
                <a16:creationId xmlns:a16="http://schemas.microsoft.com/office/drawing/2014/main" id="{4AEA1865-8C28-134C-8B6C-07E3981D0325}"/>
              </a:ext>
            </a:extLst>
          </p:cNvPr>
          <p:cNvSpPr txBox="1">
            <a:spLocks noChangeArrowheads="1"/>
          </p:cNvSpPr>
          <p:nvPr/>
        </p:nvSpPr>
        <p:spPr>
          <a:xfrm>
            <a:off x="287706" y="3260147"/>
            <a:ext cx="5765025" cy="150339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defTabSz="685800">
              <a:spcBef>
                <a:spcPts val="750"/>
              </a:spcBef>
              <a:defRPr/>
            </a:pPr>
            <a:endParaRPr lang="en-US" sz="2700" dirty="0">
              <a:solidFill>
                <a:prstClr val="black"/>
              </a:solidFill>
              <a:latin typeface="Avenir Book" panose="020B0503020203020204" pitchFamily="34" charset="-78"/>
              <a:cs typeface="Avenir Book" panose="020B0503020203020204" pitchFamily="34" charset="-78"/>
            </a:endParaRPr>
          </a:p>
        </p:txBody>
      </p:sp>
      <p:sp>
        <p:nvSpPr>
          <p:cNvPr id="183" name="Rectangle 3">
            <a:extLst>
              <a:ext uri="{FF2B5EF4-FFF2-40B4-BE49-F238E27FC236}">
                <a16:creationId xmlns:a16="http://schemas.microsoft.com/office/drawing/2014/main" id="{D469BBE5-2D5E-1245-BE57-AED04CA89E18}"/>
              </a:ext>
            </a:extLst>
          </p:cNvPr>
          <p:cNvSpPr txBox="1">
            <a:spLocks noChangeArrowheads="1"/>
          </p:cNvSpPr>
          <p:nvPr/>
        </p:nvSpPr>
        <p:spPr>
          <a:xfrm>
            <a:off x="373419" y="828605"/>
            <a:ext cx="11214283" cy="21749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a:defRPr/>
            </a:pPr>
            <a:r>
              <a:rPr lang="en-US" sz="2400" dirty="0">
                <a:solidFill>
                  <a:srgbClr val="C00000"/>
                </a:solidFill>
                <a:latin typeface="Avenir Book" panose="020B0503020203020204" pitchFamily="34" charset="-78"/>
                <a:cs typeface="Avenir Book" panose="020B0503020203020204" pitchFamily="34" charset="-78"/>
              </a:rPr>
              <a:t>How the senders will know whether there is a congestion or not?</a:t>
            </a:r>
            <a:endParaRPr lang="en-US" sz="2400" dirty="0">
              <a:solidFill>
                <a:srgbClr val="0000FF"/>
              </a:solidFill>
              <a:latin typeface="Avenir Book" panose="020B0503020203020204" pitchFamily="34" charset="-78"/>
              <a:cs typeface="Avenir Book" panose="020B0503020203020204" pitchFamily="34" charset="-78"/>
            </a:endParaRPr>
          </a:p>
          <a:p>
            <a:pPr marL="350044" indent="-252413">
              <a:defRPr/>
            </a:pPr>
            <a:endParaRPr lang="en-US" sz="2400" dirty="0">
              <a:latin typeface="Avenir Book" panose="020B0503020203020204" pitchFamily="34" charset="-78"/>
              <a:cs typeface="Avenir Book" panose="020B0503020203020204" pitchFamily="34" charset="-78"/>
            </a:endParaRPr>
          </a:p>
          <a:p>
            <a:pPr marL="350044" indent="-252413">
              <a:defRPr/>
            </a:pPr>
            <a:r>
              <a:rPr lang="en-US" sz="2400" dirty="0">
                <a:latin typeface="Avenir Book" panose="020B0503020203020204" pitchFamily="34" charset="-78"/>
                <a:cs typeface="Avenir Book" panose="020B0503020203020204" pitchFamily="34" charset="-78"/>
              </a:rPr>
              <a:t>No explicit feedback from network</a:t>
            </a:r>
          </a:p>
          <a:p>
            <a:pPr marL="807244" lvl="1" indent="-252413">
              <a:defRPr/>
            </a:pPr>
            <a:r>
              <a:rPr lang="en-US" sz="2000" dirty="0">
                <a:latin typeface="Avenir Book" panose="020B0503020203020204" pitchFamily="34" charset="-78"/>
                <a:cs typeface="Avenir Book" panose="020B0503020203020204" pitchFamily="34" charset="-78"/>
              </a:rPr>
              <a:t>Congestion </a:t>
            </a:r>
            <a:r>
              <a:rPr lang="en-US" sz="2000" dirty="0">
                <a:solidFill>
                  <a:srgbClr val="C00000"/>
                </a:solidFill>
                <a:latin typeface="Avenir Book" panose="020B0503020203020204" pitchFamily="34" charset="-78"/>
                <a:cs typeface="Avenir Book" panose="020B0503020203020204" pitchFamily="34" charset="-78"/>
              </a:rPr>
              <a:t>inferred</a:t>
            </a:r>
            <a:r>
              <a:rPr lang="en-US" sz="2000" dirty="0">
                <a:latin typeface="Avenir Book" panose="020B0503020203020204" pitchFamily="34" charset="-78"/>
                <a:cs typeface="Avenir Book" panose="020B0503020203020204" pitchFamily="34" charset="-78"/>
              </a:rPr>
              <a:t> from observed loss, delay</a:t>
            </a:r>
          </a:p>
          <a:p>
            <a:pPr marL="350044" indent="-252413">
              <a:defRPr/>
            </a:pPr>
            <a:endParaRPr lang="en-US" sz="2400" dirty="0">
              <a:latin typeface="Avenir Book" panose="020B0503020203020204" pitchFamily="34" charset="-78"/>
              <a:cs typeface="Avenir Book" panose="020B0503020203020204" pitchFamily="34" charset="-78"/>
            </a:endParaRPr>
          </a:p>
          <a:p>
            <a:pPr marL="554831" lvl="1" indent="0">
              <a:buNone/>
              <a:defRPr/>
            </a:pPr>
            <a:endParaRPr lang="en-US" sz="2000" dirty="0">
              <a:solidFill>
                <a:srgbClr val="0000FF"/>
              </a:solidFill>
              <a:latin typeface="Avenir Book" panose="020B0503020203020204" pitchFamily="34" charset="-78"/>
              <a:cs typeface="Avenir Book" panose="020B0503020203020204" pitchFamily="34" charset="-78"/>
            </a:endParaRPr>
          </a:p>
          <a:p>
            <a:pPr marL="350044" indent="-252413">
              <a:defRPr/>
            </a:pPr>
            <a:endParaRPr lang="en-US" sz="2400" dirty="0">
              <a:latin typeface="Avenir Book" panose="020B0503020203020204" pitchFamily="34" charset="-78"/>
              <a:cs typeface="Avenir Book" panose="020B0503020203020204" pitchFamily="34" charset="-78"/>
            </a:endParaRPr>
          </a:p>
          <a:p>
            <a:pPr marL="350044" indent="-252413">
              <a:defRPr/>
            </a:pPr>
            <a:endParaRPr lang="en-US" sz="2400" dirty="0">
              <a:latin typeface="Avenir Book" panose="020B0503020203020204" pitchFamily="34" charset="-78"/>
              <a:cs typeface="Avenir Book" panose="020B0503020203020204" pitchFamily="34" charset="-78"/>
            </a:endParaRPr>
          </a:p>
        </p:txBody>
      </p:sp>
      <p:sp>
        <p:nvSpPr>
          <p:cNvPr id="133" name="Freeform 6">
            <a:extLst>
              <a:ext uri="{FF2B5EF4-FFF2-40B4-BE49-F238E27FC236}">
                <a16:creationId xmlns:a16="http://schemas.microsoft.com/office/drawing/2014/main" id="{48AC5632-6C88-9B4F-8AC4-BA566F7E218B}"/>
              </a:ext>
            </a:extLst>
          </p:cNvPr>
          <p:cNvSpPr>
            <a:spLocks/>
          </p:cNvSpPr>
          <p:nvPr/>
        </p:nvSpPr>
        <p:spPr bwMode="auto">
          <a:xfrm>
            <a:off x="10386276" y="4038514"/>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2" name="Freeform 3">
            <a:extLst>
              <a:ext uri="{FF2B5EF4-FFF2-40B4-BE49-F238E27FC236}">
                <a16:creationId xmlns:a16="http://schemas.microsoft.com/office/drawing/2014/main" id="{28E26305-1B9C-8A47-B034-2E9BCCD87DED}"/>
              </a:ext>
            </a:extLst>
          </p:cNvPr>
          <p:cNvSpPr>
            <a:spLocks/>
          </p:cNvSpPr>
          <p:nvPr/>
        </p:nvSpPr>
        <p:spPr bwMode="auto">
          <a:xfrm>
            <a:off x="11317862" y="403644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43" name="Group 142">
            <a:extLst>
              <a:ext uri="{FF2B5EF4-FFF2-40B4-BE49-F238E27FC236}">
                <a16:creationId xmlns:a16="http://schemas.microsoft.com/office/drawing/2014/main" id="{3138E679-7A6F-3F4C-9CD4-1BC53C242F2F}"/>
              </a:ext>
            </a:extLst>
          </p:cNvPr>
          <p:cNvGrpSpPr/>
          <p:nvPr/>
        </p:nvGrpSpPr>
        <p:grpSpPr>
          <a:xfrm>
            <a:off x="10737370" y="4010910"/>
            <a:ext cx="586768" cy="904023"/>
            <a:chOff x="10910965" y="2513124"/>
            <a:chExt cx="586768" cy="904023"/>
          </a:xfrm>
        </p:grpSpPr>
        <p:sp>
          <p:nvSpPr>
            <p:cNvPr id="144" name="Rectangle 143">
              <a:extLst>
                <a:ext uri="{FF2B5EF4-FFF2-40B4-BE49-F238E27FC236}">
                  <a16:creationId xmlns:a16="http://schemas.microsoft.com/office/drawing/2014/main"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5" name="Straight Connector 144">
              <a:extLst>
                <a:ext uri="{FF2B5EF4-FFF2-40B4-BE49-F238E27FC236}">
                  <a16:creationId xmlns:a16="http://schemas.microsoft.com/office/drawing/2014/main"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Freeform 9">
            <a:extLst>
              <a:ext uri="{FF2B5EF4-FFF2-40B4-BE49-F238E27FC236}">
                <a16:creationId xmlns:a16="http://schemas.microsoft.com/office/drawing/2014/main" id="{5547101E-4A79-584C-9989-5E85D28B6DAA}"/>
              </a:ext>
            </a:extLst>
          </p:cNvPr>
          <p:cNvSpPr>
            <a:spLocks/>
          </p:cNvSpPr>
          <p:nvPr/>
        </p:nvSpPr>
        <p:spPr bwMode="auto">
          <a:xfrm flipH="1">
            <a:off x="7163976" y="2894563"/>
            <a:ext cx="430143" cy="90046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0" name="Group 149">
            <a:extLst>
              <a:ext uri="{FF2B5EF4-FFF2-40B4-BE49-F238E27FC236}">
                <a16:creationId xmlns:a16="http://schemas.microsoft.com/office/drawing/2014/main" id="{B6427DD3-BCDC-1D47-B9EA-F052CBEE3779}"/>
              </a:ext>
            </a:extLst>
          </p:cNvPr>
          <p:cNvGrpSpPr/>
          <p:nvPr/>
        </p:nvGrpSpPr>
        <p:grpSpPr>
          <a:xfrm>
            <a:off x="6703144" y="3787222"/>
            <a:ext cx="586768" cy="904023"/>
            <a:chOff x="10910965" y="2513124"/>
            <a:chExt cx="586768" cy="904023"/>
          </a:xfrm>
        </p:grpSpPr>
        <p:sp>
          <p:nvSpPr>
            <p:cNvPr id="151" name="Rectangle 150">
              <a:extLst>
                <a:ext uri="{FF2B5EF4-FFF2-40B4-BE49-F238E27FC236}">
                  <a16:creationId xmlns:a16="http://schemas.microsoft.com/office/drawing/2014/main"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2" name="Straight Connector 151">
              <a:extLst>
                <a:ext uri="{FF2B5EF4-FFF2-40B4-BE49-F238E27FC236}">
                  <a16:creationId xmlns:a16="http://schemas.microsoft.com/office/drawing/2014/main"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F01A9AD5-3D29-E044-89AB-2A8A2872A48C}"/>
              </a:ext>
            </a:extLst>
          </p:cNvPr>
          <p:cNvGrpSpPr/>
          <p:nvPr/>
        </p:nvGrpSpPr>
        <p:grpSpPr>
          <a:xfrm>
            <a:off x="7579444" y="2898730"/>
            <a:ext cx="586768" cy="904023"/>
            <a:chOff x="10910965" y="2513124"/>
            <a:chExt cx="586768" cy="904023"/>
          </a:xfrm>
        </p:grpSpPr>
        <p:sp>
          <p:nvSpPr>
            <p:cNvPr id="157" name="Rectangle 156">
              <a:extLst>
                <a:ext uri="{FF2B5EF4-FFF2-40B4-BE49-F238E27FC236}">
                  <a16:creationId xmlns:a16="http://schemas.microsoft.com/office/drawing/2014/main"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8" name="Straight Connector 157">
              <a:extLst>
                <a:ext uri="{FF2B5EF4-FFF2-40B4-BE49-F238E27FC236}">
                  <a16:creationId xmlns:a16="http://schemas.microsoft.com/office/drawing/2014/main"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2" name="Freeform 6">
            <a:extLst>
              <a:ext uri="{FF2B5EF4-FFF2-40B4-BE49-F238E27FC236}">
                <a16:creationId xmlns:a16="http://schemas.microsoft.com/office/drawing/2014/main" id="{48AC5632-6C88-9B4F-8AC4-BA566F7E218B}"/>
              </a:ext>
            </a:extLst>
          </p:cNvPr>
          <p:cNvSpPr>
            <a:spLocks/>
          </p:cNvSpPr>
          <p:nvPr/>
        </p:nvSpPr>
        <p:spPr bwMode="auto">
          <a:xfrm>
            <a:off x="11694100" y="3035051"/>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3" name="Group 162">
            <a:extLst>
              <a:ext uri="{FF2B5EF4-FFF2-40B4-BE49-F238E27FC236}">
                <a16:creationId xmlns:a16="http://schemas.microsoft.com/office/drawing/2014/main" id="{7395260E-0495-5549-B67B-D0932B2922A1}"/>
              </a:ext>
            </a:extLst>
          </p:cNvPr>
          <p:cNvGrpSpPr/>
          <p:nvPr/>
        </p:nvGrpSpPr>
        <p:grpSpPr>
          <a:xfrm>
            <a:off x="11115911" y="3010917"/>
            <a:ext cx="586768" cy="904023"/>
            <a:chOff x="10910965" y="2513124"/>
            <a:chExt cx="586768" cy="904023"/>
          </a:xfrm>
        </p:grpSpPr>
        <p:sp>
          <p:nvSpPr>
            <p:cNvPr id="164" name="Rectangle 163">
              <a:extLst>
                <a:ext uri="{FF2B5EF4-FFF2-40B4-BE49-F238E27FC236}">
                  <a16:creationId xmlns:a16="http://schemas.microsoft.com/office/drawing/2014/main"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5" name="Straight Connector 164">
              <a:extLst>
                <a:ext uri="{FF2B5EF4-FFF2-40B4-BE49-F238E27FC236}">
                  <a16:creationId xmlns:a16="http://schemas.microsoft.com/office/drawing/2014/main"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7" name="Group 124">
            <a:extLst>
              <a:ext uri="{FF2B5EF4-FFF2-40B4-BE49-F238E27FC236}">
                <a16:creationId xmlns:a16="http://schemas.microsoft.com/office/drawing/2014/main" id="{09EDE4D1-769E-664A-B492-F153D45C56DF}"/>
              </a:ext>
            </a:extLst>
          </p:cNvPr>
          <p:cNvGrpSpPr>
            <a:grpSpLocks/>
          </p:cNvGrpSpPr>
          <p:nvPr/>
        </p:nvGrpSpPr>
        <p:grpSpPr bwMode="auto">
          <a:xfrm>
            <a:off x="6734686" y="3170816"/>
            <a:ext cx="525463" cy="434975"/>
            <a:chOff x="-44" y="1473"/>
            <a:chExt cx="981" cy="1105"/>
          </a:xfrm>
        </p:grpSpPr>
        <p:pic>
          <p:nvPicPr>
            <p:cNvPr id="192" name="Picture 125" descr="desktop_computer_stylized_medium">
              <a:extLst>
                <a:ext uri="{FF2B5EF4-FFF2-40B4-BE49-F238E27FC236}">
                  <a16:creationId xmlns:a16="http://schemas.microsoft.com/office/drawing/2014/main" id="{BCF21B40-E1CC-014D-891D-609787EB1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 name="Freeform 126">
              <a:extLst>
                <a:ext uri="{FF2B5EF4-FFF2-40B4-BE49-F238E27FC236}">
                  <a16:creationId xmlns:a16="http://schemas.microsoft.com/office/drawing/2014/main"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4" name="Freeform 12">
            <a:extLst>
              <a:ext uri="{FF2B5EF4-FFF2-40B4-BE49-F238E27FC236}">
                <a16:creationId xmlns:a16="http://schemas.microsoft.com/office/drawing/2014/main" id="{AC913105-44C9-2F4B-B4CF-997DA724B11C}"/>
              </a:ext>
            </a:extLst>
          </p:cNvPr>
          <p:cNvSpPr>
            <a:spLocks/>
          </p:cNvSpPr>
          <p:nvPr/>
        </p:nvSpPr>
        <p:spPr bwMode="auto">
          <a:xfrm flipH="1">
            <a:off x="6458525" y="3785623"/>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Line 33">
            <a:extLst>
              <a:ext uri="{FF2B5EF4-FFF2-40B4-BE49-F238E27FC236}">
                <a16:creationId xmlns:a16="http://schemas.microsoft.com/office/drawing/2014/main" id="{A9B30674-B59F-1643-8F90-1D2641E2102B}"/>
              </a:ext>
            </a:extLst>
          </p:cNvPr>
          <p:cNvSpPr>
            <a:spLocks noChangeShapeType="1"/>
          </p:cNvSpPr>
          <p:nvPr/>
        </p:nvSpPr>
        <p:spPr bwMode="auto">
          <a:xfrm flipH="1">
            <a:off x="7620575" y="391897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Text Box 42">
            <a:extLst>
              <a:ext uri="{FF2B5EF4-FFF2-40B4-BE49-F238E27FC236}">
                <a16:creationId xmlns:a16="http://schemas.microsoft.com/office/drawing/2014/main" id="{45FD0EC2-A145-DC4A-9A60-DC5E453EC52B}"/>
              </a:ext>
            </a:extLst>
          </p:cNvPr>
          <p:cNvSpPr txBox="1">
            <a:spLocks noChangeArrowheads="1"/>
          </p:cNvSpPr>
          <p:nvPr/>
        </p:nvSpPr>
        <p:spPr bwMode="auto">
          <a:xfrm>
            <a:off x="6548410" y="2905399"/>
            <a:ext cx="913861"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198"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6544192" y="4834048"/>
            <a:ext cx="799129"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199" name="Line 53">
            <a:extLst>
              <a:ext uri="{FF2B5EF4-FFF2-40B4-BE49-F238E27FC236}">
                <a16:creationId xmlns:a16="http://schemas.microsoft.com/office/drawing/2014/main" id="{8E626A5E-7769-D34B-B652-6F3C2A3740FB}"/>
              </a:ext>
            </a:extLst>
          </p:cNvPr>
          <p:cNvSpPr>
            <a:spLocks noChangeShapeType="1"/>
          </p:cNvSpPr>
          <p:nvPr/>
        </p:nvSpPr>
        <p:spPr bwMode="auto">
          <a:xfrm flipH="1">
            <a:off x="8106350" y="431902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0" name="Line 54">
            <a:extLst>
              <a:ext uri="{FF2B5EF4-FFF2-40B4-BE49-F238E27FC236}">
                <a16:creationId xmlns:a16="http://schemas.microsoft.com/office/drawing/2014/main" id="{DFB6E6E2-8DA8-C549-8AC1-828F8F828431}"/>
              </a:ext>
            </a:extLst>
          </p:cNvPr>
          <p:cNvSpPr>
            <a:spLocks noChangeShapeType="1"/>
          </p:cNvSpPr>
          <p:nvPr/>
        </p:nvSpPr>
        <p:spPr bwMode="auto">
          <a:xfrm flipH="1">
            <a:off x="9725600" y="4319023"/>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1" name="Line 55">
            <a:extLst>
              <a:ext uri="{FF2B5EF4-FFF2-40B4-BE49-F238E27FC236}">
                <a16:creationId xmlns:a16="http://schemas.microsoft.com/office/drawing/2014/main" id="{66F3E5E4-6136-594F-B2C6-BF81A4932B2E}"/>
              </a:ext>
            </a:extLst>
          </p:cNvPr>
          <p:cNvSpPr>
            <a:spLocks noChangeShapeType="1"/>
          </p:cNvSpPr>
          <p:nvPr/>
        </p:nvSpPr>
        <p:spPr bwMode="auto">
          <a:xfrm flipH="1">
            <a:off x="9849425" y="3918973"/>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Line 57">
            <a:extLst>
              <a:ext uri="{FF2B5EF4-FFF2-40B4-BE49-F238E27FC236}">
                <a16:creationId xmlns:a16="http://schemas.microsoft.com/office/drawing/2014/main" id="{3D95A033-C14C-3448-9016-0C9E6C4CF3A2}"/>
              </a:ext>
            </a:extLst>
          </p:cNvPr>
          <p:cNvSpPr>
            <a:spLocks noChangeShapeType="1"/>
          </p:cNvSpPr>
          <p:nvPr/>
        </p:nvSpPr>
        <p:spPr bwMode="auto">
          <a:xfrm flipH="1">
            <a:off x="10771321" y="3919120"/>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6" name="Group 127">
            <a:extLst>
              <a:ext uri="{FF2B5EF4-FFF2-40B4-BE49-F238E27FC236}">
                <a16:creationId xmlns:a16="http://schemas.microsoft.com/office/drawing/2014/main" id="{879C5F16-9AAB-6840-B838-D482AFD339D0}"/>
              </a:ext>
            </a:extLst>
          </p:cNvPr>
          <p:cNvGrpSpPr>
            <a:grpSpLocks/>
          </p:cNvGrpSpPr>
          <p:nvPr/>
        </p:nvGrpSpPr>
        <p:grpSpPr bwMode="auto">
          <a:xfrm>
            <a:off x="11794112" y="3626873"/>
            <a:ext cx="231775" cy="441325"/>
            <a:chOff x="4140" y="429"/>
            <a:chExt cx="1425" cy="2396"/>
          </a:xfrm>
        </p:grpSpPr>
        <p:sp>
          <p:nvSpPr>
            <p:cNvPr id="237"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0"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2"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267"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8"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3"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4"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265"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6"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5"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7"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263"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4"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8"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9"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261"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2"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50"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1"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3"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6"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7"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8"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59"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69" name="Group 160">
            <a:extLst>
              <a:ext uri="{FF2B5EF4-FFF2-40B4-BE49-F238E27FC236}">
                <a16:creationId xmlns:a16="http://schemas.microsoft.com/office/drawing/2014/main" id="{AD8E3A61-2C5A-CC41-9933-891EC27B5015}"/>
              </a:ext>
            </a:extLst>
          </p:cNvPr>
          <p:cNvGrpSpPr>
            <a:grpSpLocks/>
          </p:cNvGrpSpPr>
          <p:nvPr/>
        </p:nvGrpSpPr>
        <p:grpSpPr bwMode="auto">
          <a:xfrm>
            <a:off x="6138643" y="4529725"/>
            <a:ext cx="525463" cy="434975"/>
            <a:chOff x="-44" y="1473"/>
            <a:chExt cx="981" cy="1105"/>
          </a:xfrm>
        </p:grpSpPr>
        <p:pic>
          <p:nvPicPr>
            <p:cNvPr id="270" name="Picture 161" descr="desktop_computer_stylized_medium">
              <a:extLst>
                <a:ext uri="{FF2B5EF4-FFF2-40B4-BE49-F238E27FC236}">
                  <a16:creationId xmlns:a16="http://schemas.microsoft.com/office/drawing/2014/main" id="{01E7AFB7-5DE3-CA4A-A50A-BEADA26B1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Freeform 162">
              <a:extLst>
                <a:ext uri="{FF2B5EF4-FFF2-40B4-BE49-F238E27FC236}">
                  <a16:creationId xmlns:a16="http://schemas.microsoft.com/office/drawing/2014/main"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72" name="Group 163">
            <a:extLst>
              <a:ext uri="{FF2B5EF4-FFF2-40B4-BE49-F238E27FC236}">
                <a16:creationId xmlns:a16="http://schemas.microsoft.com/office/drawing/2014/main" id="{C476CE94-C91A-0846-B6B7-05E77113879F}"/>
              </a:ext>
            </a:extLst>
          </p:cNvPr>
          <p:cNvGrpSpPr>
            <a:grpSpLocks/>
          </p:cNvGrpSpPr>
          <p:nvPr/>
        </p:nvGrpSpPr>
        <p:grpSpPr bwMode="auto">
          <a:xfrm>
            <a:off x="11476612" y="4592073"/>
            <a:ext cx="231775" cy="441325"/>
            <a:chOff x="4140" y="429"/>
            <a:chExt cx="1425" cy="2396"/>
          </a:xfrm>
        </p:grpSpPr>
        <p:sp>
          <p:nvSpPr>
            <p:cNvPr id="273" name="Freeform 164">
              <a:extLst>
                <a:ext uri="{FF2B5EF4-FFF2-40B4-BE49-F238E27FC236}">
                  <a16:creationId xmlns:a16="http://schemas.microsoft.com/office/drawing/2014/main"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4" name="Rectangle 165">
              <a:extLst>
                <a:ext uri="{FF2B5EF4-FFF2-40B4-BE49-F238E27FC236}">
                  <a16:creationId xmlns:a16="http://schemas.microsoft.com/office/drawing/2014/main"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5" name="Freeform 166">
              <a:extLst>
                <a:ext uri="{FF2B5EF4-FFF2-40B4-BE49-F238E27FC236}">
                  <a16:creationId xmlns:a16="http://schemas.microsoft.com/office/drawing/2014/main"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6" name="Freeform 167">
              <a:extLst>
                <a:ext uri="{FF2B5EF4-FFF2-40B4-BE49-F238E27FC236}">
                  <a16:creationId xmlns:a16="http://schemas.microsoft.com/office/drawing/2014/main"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Rectangle 168">
              <a:extLst>
                <a:ext uri="{FF2B5EF4-FFF2-40B4-BE49-F238E27FC236}">
                  <a16:creationId xmlns:a16="http://schemas.microsoft.com/office/drawing/2014/main"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78" name="Group 169">
              <a:extLst>
                <a:ext uri="{FF2B5EF4-FFF2-40B4-BE49-F238E27FC236}">
                  <a16:creationId xmlns:a16="http://schemas.microsoft.com/office/drawing/2014/main" id="{0515312F-DE85-5641-B779-E8991ECBE8F8}"/>
                </a:ext>
              </a:extLst>
            </p:cNvPr>
            <p:cNvGrpSpPr>
              <a:grpSpLocks/>
            </p:cNvGrpSpPr>
            <p:nvPr/>
          </p:nvGrpSpPr>
          <p:grpSpPr bwMode="auto">
            <a:xfrm>
              <a:off x="4749" y="668"/>
              <a:ext cx="581" cy="145"/>
              <a:chOff x="614" y="2568"/>
              <a:chExt cx="725" cy="139"/>
            </a:xfrm>
          </p:grpSpPr>
          <p:sp>
            <p:nvSpPr>
              <p:cNvPr id="303" name="AutoShape 170">
                <a:extLst>
                  <a:ext uri="{FF2B5EF4-FFF2-40B4-BE49-F238E27FC236}">
                    <a16:creationId xmlns:a16="http://schemas.microsoft.com/office/drawing/2014/main"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4" name="AutoShape 171">
                <a:extLst>
                  <a:ext uri="{FF2B5EF4-FFF2-40B4-BE49-F238E27FC236}">
                    <a16:creationId xmlns:a16="http://schemas.microsoft.com/office/drawing/2014/main"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79" name="Rectangle 172">
              <a:extLst>
                <a:ext uri="{FF2B5EF4-FFF2-40B4-BE49-F238E27FC236}">
                  <a16:creationId xmlns:a16="http://schemas.microsoft.com/office/drawing/2014/main"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80" name="Group 173">
              <a:extLst>
                <a:ext uri="{FF2B5EF4-FFF2-40B4-BE49-F238E27FC236}">
                  <a16:creationId xmlns:a16="http://schemas.microsoft.com/office/drawing/2014/main" id="{BAB53084-6436-7444-ACD5-5E7D01263E2B}"/>
                </a:ext>
              </a:extLst>
            </p:cNvPr>
            <p:cNvGrpSpPr>
              <a:grpSpLocks/>
            </p:cNvGrpSpPr>
            <p:nvPr/>
          </p:nvGrpSpPr>
          <p:grpSpPr bwMode="auto">
            <a:xfrm>
              <a:off x="4747" y="994"/>
              <a:ext cx="581" cy="134"/>
              <a:chOff x="614" y="2568"/>
              <a:chExt cx="725" cy="139"/>
            </a:xfrm>
          </p:grpSpPr>
          <p:sp>
            <p:nvSpPr>
              <p:cNvPr id="301" name="AutoShape 174">
                <a:extLst>
                  <a:ext uri="{FF2B5EF4-FFF2-40B4-BE49-F238E27FC236}">
                    <a16:creationId xmlns:a16="http://schemas.microsoft.com/office/drawing/2014/main"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2" name="AutoShape 175">
                <a:extLst>
                  <a:ext uri="{FF2B5EF4-FFF2-40B4-BE49-F238E27FC236}">
                    <a16:creationId xmlns:a16="http://schemas.microsoft.com/office/drawing/2014/main"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81" name="Rectangle 176">
              <a:extLst>
                <a:ext uri="{FF2B5EF4-FFF2-40B4-BE49-F238E27FC236}">
                  <a16:creationId xmlns:a16="http://schemas.microsoft.com/office/drawing/2014/main"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Rectangle 177">
              <a:extLst>
                <a:ext uri="{FF2B5EF4-FFF2-40B4-BE49-F238E27FC236}">
                  <a16:creationId xmlns:a16="http://schemas.microsoft.com/office/drawing/2014/main"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83" name="Group 178">
              <a:extLst>
                <a:ext uri="{FF2B5EF4-FFF2-40B4-BE49-F238E27FC236}">
                  <a16:creationId xmlns:a16="http://schemas.microsoft.com/office/drawing/2014/main" id="{E30BEF1D-E99C-EF4F-A2DE-968E737192AA}"/>
                </a:ext>
              </a:extLst>
            </p:cNvPr>
            <p:cNvGrpSpPr>
              <a:grpSpLocks/>
            </p:cNvGrpSpPr>
            <p:nvPr/>
          </p:nvGrpSpPr>
          <p:grpSpPr bwMode="auto">
            <a:xfrm>
              <a:off x="4735" y="1627"/>
              <a:ext cx="582" cy="151"/>
              <a:chOff x="614" y="2568"/>
              <a:chExt cx="725" cy="139"/>
            </a:xfrm>
          </p:grpSpPr>
          <p:sp>
            <p:nvSpPr>
              <p:cNvPr id="299" name="AutoShape 179">
                <a:extLst>
                  <a:ext uri="{FF2B5EF4-FFF2-40B4-BE49-F238E27FC236}">
                    <a16:creationId xmlns:a16="http://schemas.microsoft.com/office/drawing/2014/main"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0" name="AutoShape 180">
                <a:extLst>
                  <a:ext uri="{FF2B5EF4-FFF2-40B4-BE49-F238E27FC236}">
                    <a16:creationId xmlns:a16="http://schemas.microsoft.com/office/drawing/2014/main"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84" name="Freeform 181">
              <a:extLst>
                <a:ext uri="{FF2B5EF4-FFF2-40B4-BE49-F238E27FC236}">
                  <a16:creationId xmlns:a16="http://schemas.microsoft.com/office/drawing/2014/main"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85" name="Group 182">
              <a:extLst>
                <a:ext uri="{FF2B5EF4-FFF2-40B4-BE49-F238E27FC236}">
                  <a16:creationId xmlns:a16="http://schemas.microsoft.com/office/drawing/2014/main" id="{6A155784-A945-0F47-A39B-31F367A22CCA}"/>
                </a:ext>
              </a:extLst>
            </p:cNvPr>
            <p:cNvGrpSpPr>
              <a:grpSpLocks/>
            </p:cNvGrpSpPr>
            <p:nvPr/>
          </p:nvGrpSpPr>
          <p:grpSpPr bwMode="auto">
            <a:xfrm>
              <a:off x="4739" y="1327"/>
              <a:ext cx="582" cy="139"/>
              <a:chOff x="614" y="2568"/>
              <a:chExt cx="725" cy="139"/>
            </a:xfrm>
          </p:grpSpPr>
          <p:sp>
            <p:nvSpPr>
              <p:cNvPr id="297" name="AutoShape 183">
                <a:extLst>
                  <a:ext uri="{FF2B5EF4-FFF2-40B4-BE49-F238E27FC236}">
                    <a16:creationId xmlns:a16="http://schemas.microsoft.com/office/drawing/2014/main"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8" name="AutoShape 184">
                <a:extLst>
                  <a:ext uri="{FF2B5EF4-FFF2-40B4-BE49-F238E27FC236}">
                    <a16:creationId xmlns:a16="http://schemas.microsoft.com/office/drawing/2014/main"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86" name="Rectangle 185">
              <a:extLst>
                <a:ext uri="{FF2B5EF4-FFF2-40B4-BE49-F238E27FC236}">
                  <a16:creationId xmlns:a16="http://schemas.microsoft.com/office/drawing/2014/main"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7" name="Freeform 186">
              <a:extLst>
                <a:ext uri="{FF2B5EF4-FFF2-40B4-BE49-F238E27FC236}">
                  <a16:creationId xmlns:a16="http://schemas.microsoft.com/office/drawing/2014/main"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8" name="Freeform 187">
              <a:extLst>
                <a:ext uri="{FF2B5EF4-FFF2-40B4-BE49-F238E27FC236}">
                  <a16:creationId xmlns:a16="http://schemas.microsoft.com/office/drawing/2014/main"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9" name="Oval 188">
              <a:extLst>
                <a:ext uri="{FF2B5EF4-FFF2-40B4-BE49-F238E27FC236}">
                  <a16:creationId xmlns:a16="http://schemas.microsoft.com/office/drawing/2014/main"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0" name="Freeform 189">
              <a:extLst>
                <a:ext uri="{FF2B5EF4-FFF2-40B4-BE49-F238E27FC236}">
                  <a16:creationId xmlns:a16="http://schemas.microsoft.com/office/drawing/2014/main"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1" name="AutoShape 190">
              <a:extLst>
                <a:ext uri="{FF2B5EF4-FFF2-40B4-BE49-F238E27FC236}">
                  <a16:creationId xmlns:a16="http://schemas.microsoft.com/office/drawing/2014/main"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2" name="AutoShape 191">
              <a:extLst>
                <a:ext uri="{FF2B5EF4-FFF2-40B4-BE49-F238E27FC236}">
                  <a16:creationId xmlns:a16="http://schemas.microsoft.com/office/drawing/2014/main"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3" name="Oval 192">
              <a:extLst>
                <a:ext uri="{FF2B5EF4-FFF2-40B4-BE49-F238E27FC236}">
                  <a16:creationId xmlns:a16="http://schemas.microsoft.com/office/drawing/2014/main"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4" name="Oval 193">
              <a:extLst>
                <a:ext uri="{FF2B5EF4-FFF2-40B4-BE49-F238E27FC236}">
                  <a16:creationId xmlns:a16="http://schemas.microsoft.com/office/drawing/2014/main"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95" name="Oval 194">
              <a:extLst>
                <a:ext uri="{FF2B5EF4-FFF2-40B4-BE49-F238E27FC236}">
                  <a16:creationId xmlns:a16="http://schemas.microsoft.com/office/drawing/2014/main"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6" name="Rectangle 195">
              <a:extLst>
                <a:ext uri="{FF2B5EF4-FFF2-40B4-BE49-F238E27FC236}">
                  <a16:creationId xmlns:a16="http://schemas.microsoft.com/office/drawing/2014/main"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5" name="Line 57">
            <a:extLst>
              <a:ext uri="{FF2B5EF4-FFF2-40B4-BE49-F238E27FC236}">
                <a16:creationId xmlns:a16="http://schemas.microsoft.com/office/drawing/2014/main" id="{198CECD8-AC19-4441-B07E-D812C1E4B022}"/>
              </a:ext>
            </a:extLst>
          </p:cNvPr>
          <p:cNvSpPr>
            <a:spLocks noChangeShapeType="1"/>
          </p:cNvSpPr>
          <p:nvPr/>
        </p:nvSpPr>
        <p:spPr bwMode="auto">
          <a:xfrm flipH="1">
            <a:off x="9859265" y="4784283"/>
            <a:ext cx="8222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6" name="Line 57">
            <a:extLst>
              <a:ext uri="{FF2B5EF4-FFF2-40B4-BE49-F238E27FC236}">
                <a16:creationId xmlns:a16="http://schemas.microsoft.com/office/drawing/2014/main" id="{E3F52AFD-CA05-E145-A13D-BB73559D50E0}"/>
              </a:ext>
            </a:extLst>
          </p:cNvPr>
          <p:cNvSpPr>
            <a:spLocks noChangeShapeType="1"/>
          </p:cNvSpPr>
          <p:nvPr/>
        </p:nvSpPr>
        <p:spPr bwMode="auto">
          <a:xfrm flipH="1">
            <a:off x="8105494" y="3916776"/>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Line 57">
            <a:extLst>
              <a:ext uri="{FF2B5EF4-FFF2-40B4-BE49-F238E27FC236}">
                <a16:creationId xmlns:a16="http://schemas.microsoft.com/office/drawing/2014/main" id="{1C06B2BF-A77D-004B-A9F1-4A7417598B7E}"/>
              </a:ext>
            </a:extLst>
          </p:cNvPr>
          <p:cNvSpPr>
            <a:spLocks noChangeShapeType="1"/>
          </p:cNvSpPr>
          <p:nvPr/>
        </p:nvSpPr>
        <p:spPr bwMode="auto">
          <a:xfrm flipH="1">
            <a:off x="7184060" y="4786628"/>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8" name="Freeform 91">
            <a:extLst>
              <a:ext uri="{FF2B5EF4-FFF2-40B4-BE49-F238E27FC236}">
                <a16:creationId xmlns:a16="http://schemas.microsoft.com/office/drawing/2014/main" id="{DCEE1836-E089-0E43-AA83-3C4D23A24812}"/>
              </a:ext>
            </a:extLst>
          </p:cNvPr>
          <p:cNvSpPr>
            <a:spLocks/>
          </p:cNvSpPr>
          <p:nvPr/>
        </p:nvSpPr>
        <p:spPr bwMode="auto">
          <a:xfrm>
            <a:off x="7944425" y="3004573"/>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9" name="Group 308">
            <a:extLst>
              <a:ext uri="{FF2B5EF4-FFF2-40B4-BE49-F238E27FC236}">
                <a16:creationId xmlns:a16="http://schemas.microsoft.com/office/drawing/2014/main" id="{07632497-C7A3-5D43-A16B-0B4F26B7ADF5}"/>
              </a:ext>
            </a:extLst>
          </p:cNvPr>
          <p:cNvGrpSpPr/>
          <p:nvPr/>
        </p:nvGrpSpPr>
        <p:grpSpPr>
          <a:xfrm>
            <a:off x="6953825" y="3833248"/>
            <a:ext cx="4000500" cy="1028700"/>
            <a:chOff x="5641439" y="2685215"/>
            <a:chExt cx="4000500" cy="1028700"/>
          </a:xfrm>
        </p:grpSpPr>
        <p:sp>
          <p:nvSpPr>
            <p:cNvPr id="310" name="Oval 73">
              <a:extLst>
                <a:ext uri="{FF2B5EF4-FFF2-40B4-BE49-F238E27FC236}">
                  <a16:creationId xmlns:a16="http://schemas.microsoft.com/office/drawing/2014/main"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1" name="Freeform 90">
              <a:extLst>
                <a:ext uri="{FF2B5EF4-FFF2-40B4-BE49-F238E27FC236}">
                  <a16:creationId xmlns:a16="http://schemas.microsoft.com/office/drawing/2014/main"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2" name="Group 311">
            <a:extLst>
              <a:ext uri="{FF2B5EF4-FFF2-40B4-BE49-F238E27FC236}">
                <a16:creationId xmlns:a16="http://schemas.microsoft.com/office/drawing/2014/main" id="{88E9FDF2-59AD-0849-94F0-90E7C39F4845}"/>
              </a:ext>
            </a:extLst>
          </p:cNvPr>
          <p:cNvGrpSpPr/>
          <p:nvPr/>
        </p:nvGrpSpPr>
        <p:grpSpPr>
          <a:xfrm>
            <a:off x="9381310" y="4130418"/>
            <a:ext cx="486450" cy="380335"/>
            <a:chOff x="7493876" y="2774731"/>
            <a:chExt cx="1481958" cy="894622"/>
          </a:xfrm>
        </p:grpSpPr>
        <p:sp>
          <p:nvSpPr>
            <p:cNvPr id="313" name="Freeform 312">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14" name="Oval 313">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5" name="Group 314">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316" name="Freeform 315">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7" name="Freeform 316">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8" name="Freeform 317">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9" name="Freeform 318">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88E9FDF2-59AD-0849-94F0-90E7C39F4845}"/>
              </a:ext>
            </a:extLst>
          </p:cNvPr>
          <p:cNvGrpSpPr/>
          <p:nvPr/>
        </p:nvGrpSpPr>
        <p:grpSpPr>
          <a:xfrm>
            <a:off x="8582097" y="4152331"/>
            <a:ext cx="486450" cy="363840"/>
            <a:chOff x="7493876" y="2774731"/>
            <a:chExt cx="1481958" cy="894622"/>
          </a:xfrm>
        </p:grpSpPr>
        <p:sp>
          <p:nvSpPr>
            <p:cNvPr id="170" name="Freeform 169">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Freeform 184">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 name="Freeform 185">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35112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3">
            <a:extLst>
              <a:ext uri="{FF2B5EF4-FFF2-40B4-BE49-F238E27FC236}">
                <a16:creationId xmlns:a16="http://schemas.microsoft.com/office/drawing/2014/main" id="{4AEA1865-8C28-134C-8B6C-07E3981D0325}"/>
              </a:ext>
            </a:extLst>
          </p:cNvPr>
          <p:cNvSpPr txBox="1">
            <a:spLocks noChangeArrowheads="1"/>
          </p:cNvSpPr>
          <p:nvPr/>
        </p:nvSpPr>
        <p:spPr>
          <a:xfrm>
            <a:off x="252804" y="755183"/>
            <a:ext cx="11209623" cy="296212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a:defRPr/>
            </a:pPr>
            <a:r>
              <a:rPr lang="en-US" sz="2400" dirty="0">
                <a:solidFill>
                  <a:srgbClr val="C00000"/>
                </a:solidFill>
                <a:latin typeface="Avenir Book" panose="020B0503020203020204" pitchFamily="34" charset="-78"/>
                <a:cs typeface="Avenir Book" panose="020B0503020203020204" pitchFamily="34" charset="-78"/>
              </a:rPr>
              <a:t>The senders need to adapt/tune the sending rates to match the </a:t>
            </a:r>
            <a:r>
              <a:rPr lang="en-US" sz="2400" dirty="0">
                <a:solidFill>
                  <a:srgbClr val="0000FF"/>
                </a:solidFill>
                <a:latin typeface="Avenir Book" panose="020B0503020203020204" pitchFamily="34" charset="-78"/>
                <a:cs typeface="Avenir Book" panose="020B0503020203020204" pitchFamily="34" charset="-78"/>
              </a:rPr>
              <a:t>available bandwidth </a:t>
            </a:r>
            <a:r>
              <a:rPr lang="en-US" sz="2400" dirty="0">
                <a:solidFill>
                  <a:srgbClr val="C00000"/>
                </a:solidFill>
                <a:latin typeface="Avenir Book" panose="020B0503020203020204" pitchFamily="34" charset="-78"/>
                <a:cs typeface="Avenir Book" panose="020B0503020203020204" pitchFamily="34" charset="-78"/>
              </a:rPr>
              <a:t>of the </a:t>
            </a:r>
            <a:r>
              <a:rPr lang="en-US" sz="2400" dirty="0">
                <a:solidFill>
                  <a:srgbClr val="0000FF"/>
                </a:solidFill>
                <a:latin typeface="Avenir Book" panose="020B0503020203020204" pitchFamily="34" charset="-78"/>
                <a:cs typeface="Avenir Book" panose="020B0503020203020204" pitchFamily="34" charset="-78"/>
              </a:rPr>
              <a:t>bottleneck link</a:t>
            </a:r>
          </a:p>
          <a:p>
            <a:pPr marL="807244" lvl="1" indent="-252413">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Sending rate= function (available bandwidth of the bottleneck link) </a:t>
            </a:r>
          </a:p>
          <a:p>
            <a:pPr marL="554831" lvl="1" indent="0">
              <a:buNone/>
              <a:defRPr/>
            </a:pPr>
            <a:endParaRPr lang="en-US" dirty="0">
              <a:solidFill>
                <a:prstClr val="black"/>
              </a:solidFill>
              <a:latin typeface="Avenir Book" panose="020B0503020203020204" pitchFamily="34" charset="-78"/>
              <a:cs typeface="Avenir Book" panose="020B0503020203020204" pitchFamily="34" charset="-78"/>
            </a:endParaRPr>
          </a:p>
        </p:txBody>
      </p:sp>
      <p:sp>
        <p:nvSpPr>
          <p:cNvPr id="142"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2089079" y="87439"/>
            <a:ext cx="8354291" cy="764674"/>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Challenges of Congestion Control</a:t>
            </a:r>
            <a:endParaRPr lang="en-US" sz="4050" dirty="0">
              <a:latin typeface="Avenir Book" panose="020B0503020203020204" pitchFamily="34" charset="-78"/>
              <a:cs typeface="Avenir Book" panose="020B0503020203020204" pitchFamily="34" charset="-78"/>
            </a:endParaRPr>
          </a:p>
        </p:txBody>
      </p:sp>
      <p:sp>
        <p:nvSpPr>
          <p:cNvPr id="322"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231234" y="2186347"/>
            <a:ext cx="7192250" cy="3763701"/>
          </a:xfrm>
        </p:spPr>
        <p:txBody>
          <a:bodyPr>
            <a:normAutofit/>
          </a:bodyPr>
          <a:lstStyle/>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Which link has the lowest available bandwidth?</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Sender does not have the global picture</a:t>
            </a:r>
          </a:p>
          <a:p>
            <a:pPr marL="431006" lvl="1" indent="0" defTabSz="685800">
              <a:spcBef>
                <a:spcPts val="750"/>
              </a:spcBef>
              <a:buNone/>
              <a:defRPr/>
            </a:pPr>
            <a:endPar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endParaRPr>
          </a:p>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Available bandwidth varies with time</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Number of flows and their offered load is dynamic</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Bottleneck link can also vary</a:t>
            </a:r>
            <a:endParaRPr lang="en-US" sz="2000" dirty="0">
              <a:solidFill>
                <a:prstClr val="black"/>
              </a:solidFill>
              <a:latin typeface="Avenir Book" panose="020B0503020203020204" pitchFamily="34" charset="-78"/>
              <a:cs typeface="Avenir Book" panose="020B0503020203020204" pitchFamily="34" charset="-78"/>
            </a:endParaRPr>
          </a:p>
        </p:txBody>
      </p:sp>
      <p:sp>
        <p:nvSpPr>
          <p:cNvPr id="2" name="Double Wave 1"/>
          <p:cNvSpPr/>
          <p:nvPr/>
        </p:nvSpPr>
        <p:spPr>
          <a:xfrm>
            <a:off x="7834818" y="3165729"/>
            <a:ext cx="3826042" cy="1443789"/>
          </a:xfrm>
          <a:prstGeom prst="doubleWave">
            <a:avLst/>
          </a:prstGeom>
          <a:solidFill>
            <a:srgbClr val="CC99FF"/>
          </a:solidFill>
          <a:ln>
            <a:solidFill>
              <a:srgbClr val="CC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p:cNvSpPr/>
          <p:nvPr/>
        </p:nvSpPr>
        <p:spPr>
          <a:xfrm>
            <a:off x="7834819" y="4188413"/>
            <a:ext cx="3826042" cy="649705"/>
          </a:xfrm>
          <a:prstGeom prst="rect">
            <a:avLst/>
          </a:prstGeom>
          <a:solidFill>
            <a:srgbClr val="CC99FF"/>
          </a:solidFill>
          <a:ln>
            <a:solidFill>
              <a:srgbClr val="CC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p:cNvCxnSpPr/>
          <p:nvPr/>
        </p:nvCxnSpPr>
        <p:spPr>
          <a:xfrm>
            <a:off x="7834818" y="4838118"/>
            <a:ext cx="4114800" cy="0"/>
          </a:xfrm>
          <a:prstGeom prst="straightConnector1">
            <a:avLst/>
          </a:prstGeom>
          <a:ln w="22225">
            <a:solidFill>
              <a:srgbClr val="0000FF"/>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7834818" y="2191171"/>
            <a:ext cx="1" cy="2646947"/>
          </a:xfrm>
          <a:prstGeom prst="straightConnector1">
            <a:avLst/>
          </a:prstGeom>
          <a:ln w="22225">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834818" y="2636340"/>
            <a:ext cx="3826043" cy="12031"/>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447050" y="4853796"/>
            <a:ext cx="1696453" cy="369332"/>
          </a:xfrm>
          <a:prstGeom prst="rect">
            <a:avLst/>
          </a:prstGeom>
          <a:noFill/>
        </p:spPr>
        <p:txBody>
          <a:bodyPr wrap="square" rtlCol="0">
            <a:spAutoFit/>
          </a:bodyPr>
          <a:lstStyle/>
          <a:p>
            <a:r>
              <a:rPr lang="en-IN" b="1" dirty="0">
                <a:solidFill>
                  <a:srgbClr val="C00000"/>
                </a:solidFill>
                <a:latin typeface="Avenir Book" panose="020B0503020203020204" pitchFamily="34" charset="-78"/>
                <a:cs typeface="Avenir Book" panose="020B0503020203020204" pitchFamily="34" charset="-78"/>
              </a:rPr>
              <a:t>Time</a:t>
            </a:r>
          </a:p>
        </p:txBody>
      </p:sp>
      <p:sp>
        <p:nvSpPr>
          <p:cNvPr id="175" name="TextBox 174"/>
          <p:cNvSpPr txBox="1"/>
          <p:nvPr/>
        </p:nvSpPr>
        <p:spPr>
          <a:xfrm rot="16200000">
            <a:off x="6723712" y="3227486"/>
            <a:ext cx="1696453" cy="369332"/>
          </a:xfrm>
          <a:prstGeom prst="rect">
            <a:avLst/>
          </a:prstGeom>
          <a:noFill/>
        </p:spPr>
        <p:txBody>
          <a:bodyPr wrap="square" rtlCol="0">
            <a:spAutoFit/>
          </a:bodyPr>
          <a:lstStyle/>
          <a:p>
            <a:r>
              <a:rPr lang="en-IN" b="1" dirty="0">
                <a:solidFill>
                  <a:srgbClr val="C00000"/>
                </a:solidFill>
                <a:latin typeface="Avenir Book" panose="020B0503020203020204" pitchFamily="34" charset="-78"/>
                <a:cs typeface="Avenir Book" panose="020B0503020203020204" pitchFamily="34" charset="-78"/>
              </a:rPr>
              <a:t>Bandwidth</a:t>
            </a:r>
          </a:p>
        </p:txBody>
      </p:sp>
      <p:sp>
        <p:nvSpPr>
          <p:cNvPr id="177" name="TextBox 176"/>
          <p:cNvSpPr txBox="1"/>
          <p:nvPr/>
        </p:nvSpPr>
        <p:spPr>
          <a:xfrm>
            <a:off x="9230400" y="2238935"/>
            <a:ext cx="1696453" cy="369332"/>
          </a:xfrm>
          <a:prstGeom prst="rect">
            <a:avLst/>
          </a:prstGeom>
          <a:noFill/>
        </p:spPr>
        <p:txBody>
          <a:bodyPr wrap="square" rtlCol="0">
            <a:spAutoFit/>
          </a:bodyPr>
          <a:lstStyle/>
          <a:p>
            <a:r>
              <a:rPr lang="en-IN" b="1" dirty="0">
                <a:solidFill>
                  <a:srgbClr val="C00000"/>
                </a:solidFill>
                <a:latin typeface="Avenir Book" panose="020B0503020203020204" pitchFamily="34" charset="-78"/>
                <a:cs typeface="Avenir Book" panose="020B0503020203020204" pitchFamily="34" charset="-78"/>
              </a:rPr>
              <a:t>Capacity</a:t>
            </a:r>
          </a:p>
        </p:txBody>
      </p:sp>
      <p:sp>
        <p:nvSpPr>
          <p:cNvPr id="11" name="Up-Down Arrow 10"/>
          <p:cNvSpPr/>
          <p:nvPr/>
        </p:nvSpPr>
        <p:spPr>
          <a:xfrm>
            <a:off x="9086102" y="2636340"/>
            <a:ext cx="144298" cy="708293"/>
          </a:xfrm>
          <a:prstGeom prst="upDownArrow">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8" name="Up-Down Arrow 177"/>
          <p:cNvSpPr/>
          <p:nvPr/>
        </p:nvSpPr>
        <p:spPr>
          <a:xfrm>
            <a:off x="10138025" y="2655048"/>
            <a:ext cx="144298" cy="510681"/>
          </a:xfrm>
          <a:prstGeom prst="upDownArrow">
            <a:avLst/>
          </a:prstGeom>
          <a:solidFill>
            <a:schemeClr val="accent4">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9" name="TextBox 178"/>
          <p:cNvSpPr txBox="1"/>
          <p:nvPr/>
        </p:nvSpPr>
        <p:spPr>
          <a:xfrm>
            <a:off x="1074882" y="1443560"/>
            <a:ext cx="7640493" cy="369332"/>
          </a:xfrm>
          <a:prstGeom prst="rect">
            <a:avLst/>
          </a:prstGeom>
          <a:solidFill>
            <a:srgbClr val="FF9999">
              <a:alpha val="13000"/>
            </a:srgbClr>
          </a:solidFill>
          <a:ln cap="rnd">
            <a:solidFill>
              <a:srgbClr val="C00000"/>
            </a:solidFill>
          </a:ln>
        </p:spPr>
        <p:txBody>
          <a:bodyPr wrap="square" rtlCol="0">
            <a:spAutoFit/>
          </a:bodyPr>
          <a:lstStyle/>
          <a:p>
            <a:pPr algn="ctr"/>
            <a:endParaRPr lang="en-IN" dirty="0">
              <a:solidFill>
                <a:srgbClr val="0000FF"/>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1716453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3">
            <a:extLst>
              <a:ext uri="{FF2B5EF4-FFF2-40B4-BE49-F238E27FC236}">
                <a16:creationId xmlns:a16="http://schemas.microsoft.com/office/drawing/2014/main" id="{4AEA1865-8C28-134C-8B6C-07E3981D0325}"/>
              </a:ext>
            </a:extLst>
          </p:cNvPr>
          <p:cNvSpPr txBox="1">
            <a:spLocks noChangeArrowheads="1"/>
          </p:cNvSpPr>
          <p:nvPr/>
        </p:nvSpPr>
        <p:spPr>
          <a:xfrm>
            <a:off x="252804" y="755183"/>
            <a:ext cx="11209623" cy="296212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a:defRPr/>
            </a:pPr>
            <a:r>
              <a:rPr lang="en-US" sz="2400" dirty="0">
                <a:solidFill>
                  <a:srgbClr val="C00000"/>
                </a:solidFill>
                <a:latin typeface="Avenir Book" panose="020B0503020203020204" pitchFamily="34" charset="-78"/>
                <a:cs typeface="Avenir Book" panose="020B0503020203020204" pitchFamily="34" charset="-78"/>
              </a:rPr>
              <a:t>The senders need to adapt/tune the sending rates to match the </a:t>
            </a:r>
            <a:r>
              <a:rPr lang="en-US" sz="2400" dirty="0">
                <a:solidFill>
                  <a:srgbClr val="0000FF"/>
                </a:solidFill>
                <a:latin typeface="Avenir Book" panose="020B0503020203020204" pitchFamily="34" charset="-78"/>
                <a:cs typeface="Avenir Book" panose="020B0503020203020204" pitchFamily="34" charset="-78"/>
              </a:rPr>
              <a:t>available bandwidth </a:t>
            </a:r>
            <a:r>
              <a:rPr lang="en-US" sz="2400" dirty="0">
                <a:solidFill>
                  <a:srgbClr val="C00000"/>
                </a:solidFill>
                <a:latin typeface="Avenir Book" panose="020B0503020203020204" pitchFamily="34" charset="-78"/>
                <a:cs typeface="Avenir Book" panose="020B0503020203020204" pitchFamily="34" charset="-78"/>
              </a:rPr>
              <a:t>of the </a:t>
            </a:r>
            <a:r>
              <a:rPr lang="en-US" sz="2400" dirty="0">
                <a:solidFill>
                  <a:srgbClr val="0000FF"/>
                </a:solidFill>
                <a:latin typeface="Avenir Book" panose="020B0503020203020204" pitchFamily="34" charset="-78"/>
                <a:cs typeface="Avenir Book" panose="020B0503020203020204" pitchFamily="34" charset="-78"/>
              </a:rPr>
              <a:t>bottleneck link</a:t>
            </a:r>
          </a:p>
          <a:p>
            <a:pPr marL="807244" lvl="1" indent="-252413">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Sending rate= function (available bandwidth of the bottleneck link) </a:t>
            </a:r>
          </a:p>
          <a:p>
            <a:pPr marL="554831" lvl="1" indent="0">
              <a:buNone/>
              <a:defRPr/>
            </a:pPr>
            <a:endParaRPr lang="en-US" dirty="0">
              <a:solidFill>
                <a:prstClr val="black"/>
              </a:solidFill>
              <a:latin typeface="Avenir Book" panose="020B0503020203020204" pitchFamily="34" charset="-78"/>
              <a:cs typeface="Avenir Book" panose="020B0503020203020204" pitchFamily="34" charset="-78"/>
            </a:endParaRPr>
          </a:p>
        </p:txBody>
      </p:sp>
      <p:sp>
        <p:nvSpPr>
          <p:cNvPr id="142"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2089079" y="87439"/>
            <a:ext cx="8354291" cy="764674"/>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Challenges of Congestion Control</a:t>
            </a:r>
            <a:endParaRPr lang="en-US" sz="4050" dirty="0">
              <a:latin typeface="Avenir Book" panose="020B0503020203020204" pitchFamily="34" charset="-78"/>
              <a:cs typeface="Avenir Book" panose="020B0503020203020204" pitchFamily="34" charset="-78"/>
            </a:endParaRPr>
          </a:p>
        </p:txBody>
      </p:sp>
      <p:sp>
        <p:nvSpPr>
          <p:cNvPr id="322"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231234" y="2186347"/>
            <a:ext cx="7121546" cy="3763701"/>
          </a:xfrm>
        </p:spPr>
        <p:txBody>
          <a:bodyPr>
            <a:normAutofit/>
          </a:bodyPr>
          <a:lstStyle/>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Which link has the lowest available bandwidth?</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Sender does not have the global picture</a:t>
            </a:r>
          </a:p>
          <a:p>
            <a:pPr marL="431006" lvl="1" indent="0" defTabSz="685800">
              <a:spcBef>
                <a:spcPts val="750"/>
              </a:spcBef>
              <a:buNone/>
              <a:defRPr/>
            </a:pPr>
            <a:endPar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endParaRPr>
          </a:p>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Available bandwidth varies with time</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Number of flows and their offered load is dynamic</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Bottleneck link can also vary</a:t>
            </a:r>
            <a:endParaRPr lang="en-US" sz="2000" dirty="0">
              <a:solidFill>
                <a:prstClr val="black"/>
              </a:solidFill>
              <a:latin typeface="Avenir Book" panose="020B0503020203020204" pitchFamily="34" charset="-78"/>
              <a:cs typeface="Avenir Book" panose="020B0503020203020204" pitchFamily="34" charset="-78"/>
            </a:endParaRPr>
          </a:p>
        </p:txBody>
      </p:sp>
      <p:grpSp>
        <p:nvGrpSpPr>
          <p:cNvPr id="15" name="Group 14">
            <a:extLst>
              <a:ext uri="{FF2B5EF4-FFF2-40B4-BE49-F238E27FC236}">
                <a16:creationId xmlns:a16="http://schemas.microsoft.com/office/drawing/2014/main" id="{30BDC7F4-E0CA-5441-8A92-F3458106F4EB}"/>
              </a:ext>
            </a:extLst>
          </p:cNvPr>
          <p:cNvGrpSpPr/>
          <p:nvPr/>
        </p:nvGrpSpPr>
        <p:grpSpPr>
          <a:xfrm>
            <a:off x="8012849" y="2024500"/>
            <a:ext cx="3471147" cy="3083250"/>
            <a:chOff x="6096000" y="1390614"/>
            <a:chExt cx="4718050" cy="4246563"/>
          </a:xfrm>
        </p:grpSpPr>
        <p:sp>
          <p:nvSpPr>
            <p:cNvPr id="17" name="Freeform 296">
              <a:extLst>
                <a:ext uri="{FF2B5EF4-FFF2-40B4-BE49-F238E27FC236}">
                  <a16:creationId xmlns:a16="http://schemas.microsoft.com/office/drawing/2014/main" id="{12223E81-DDE4-C440-BABA-D7BC48DB125E}"/>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9" name="Oval 40">
              <a:extLst>
                <a:ext uri="{FF2B5EF4-FFF2-40B4-BE49-F238E27FC236}">
                  <a16:creationId xmlns:a16="http://schemas.microsoft.com/office/drawing/2014/main" id="{8D4D9D6D-6FB5-AA4B-B509-A8973E6C8AC9}"/>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0" name="Rectangle 41">
              <a:extLst>
                <a:ext uri="{FF2B5EF4-FFF2-40B4-BE49-F238E27FC236}">
                  <a16:creationId xmlns:a16="http://schemas.microsoft.com/office/drawing/2014/main" id="{557406FF-659D-D646-B73D-12838ED2BD49}"/>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Oval 42">
              <a:extLst>
                <a:ext uri="{FF2B5EF4-FFF2-40B4-BE49-F238E27FC236}">
                  <a16:creationId xmlns:a16="http://schemas.microsoft.com/office/drawing/2014/main" id="{0A481A93-ECB7-E246-837A-F6BC6402D6BD}"/>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Rectangle 43">
              <a:extLst>
                <a:ext uri="{FF2B5EF4-FFF2-40B4-BE49-F238E27FC236}">
                  <a16:creationId xmlns:a16="http://schemas.microsoft.com/office/drawing/2014/main" id="{A6B95B4A-EADA-2646-8C69-44AD71FF2F13}"/>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Oval 31">
              <a:extLst>
                <a:ext uri="{FF2B5EF4-FFF2-40B4-BE49-F238E27FC236}">
                  <a16:creationId xmlns:a16="http://schemas.microsoft.com/office/drawing/2014/main" id="{D34D4E69-9BEB-E84C-9C95-F587DC39C7FA}"/>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Rectangle 32">
              <a:extLst>
                <a:ext uri="{FF2B5EF4-FFF2-40B4-BE49-F238E27FC236}">
                  <a16:creationId xmlns:a16="http://schemas.microsoft.com/office/drawing/2014/main" id="{AF4F01BC-E0BA-6145-9A94-C368A9DCD9FA}"/>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5" name="Oval 33">
              <a:extLst>
                <a:ext uri="{FF2B5EF4-FFF2-40B4-BE49-F238E27FC236}">
                  <a16:creationId xmlns:a16="http://schemas.microsoft.com/office/drawing/2014/main" id="{0FB3506E-741A-1449-B57D-DCE4E8B681A0}"/>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6" name="Rectangle 34">
              <a:extLst>
                <a:ext uri="{FF2B5EF4-FFF2-40B4-BE49-F238E27FC236}">
                  <a16:creationId xmlns:a16="http://schemas.microsoft.com/office/drawing/2014/main" id="{323C4318-B148-DC47-ABE2-1E709105E921}"/>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7" name="Line 456">
              <a:extLst>
                <a:ext uri="{FF2B5EF4-FFF2-40B4-BE49-F238E27FC236}">
                  <a16:creationId xmlns:a16="http://schemas.microsoft.com/office/drawing/2014/main" id="{8173438F-0B9B-B64F-A181-BAB4D0B2F0C7}"/>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8" name="Oval 469">
              <a:extLst>
                <a:ext uri="{FF2B5EF4-FFF2-40B4-BE49-F238E27FC236}">
                  <a16:creationId xmlns:a16="http://schemas.microsoft.com/office/drawing/2014/main" id="{7E85E8A1-86AF-324B-8460-F6A7D5EAC092}"/>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Rectangle 470">
              <a:extLst>
                <a:ext uri="{FF2B5EF4-FFF2-40B4-BE49-F238E27FC236}">
                  <a16:creationId xmlns:a16="http://schemas.microsoft.com/office/drawing/2014/main" id="{55557922-2CFC-1B45-B737-1FBBBEAE269A}"/>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0" name="Oval 471">
              <a:extLst>
                <a:ext uri="{FF2B5EF4-FFF2-40B4-BE49-F238E27FC236}">
                  <a16:creationId xmlns:a16="http://schemas.microsoft.com/office/drawing/2014/main" id="{5D3F57BE-8666-1D44-A006-F78419384E95}"/>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1" name="Rectangle 472">
              <a:extLst>
                <a:ext uri="{FF2B5EF4-FFF2-40B4-BE49-F238E27FC236}">
                  <a16:creationId xmlns:a16="http://schemas.microsoft.com/office/drawing/2014/main" id="{64C792DE-6968-B34C-9D1B-D2467DCDD720}"/>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2" name="Line 473">
              <a:extLst>
                <a:ext uri="{FF2B5EF4-FFF2-40B4-BE49-F238E27FC236}">
                  <a16:creationId xmlns:a16="http://schemas.microsoft.com/office/drawing/2014/main" id="{51F1769C-1A62-EC4E-B22E-FFF40B43E7CF}"/>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3" name="Oval 476">
              <a:extLst>
                <a:ext uri="{FF2B5EF4-FFF2-40B4-BE49-F238E27FC236}">
                  <a16:creationId xmlns:a16="http://schemas.microsoft.com/office/drawing/2014/main" id="{551553F9-6760-6E44-947E-2E2826C45546}"/>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Rectangle 477">
              <a:extLst>
                <a:ext uri="{FF2B5EF4-FFF2-40B4-BE49-F238E27FC236}">
                  <a16:creationId xmlns:a16="http://schemas.microsoft.com/office/drawing/2014/main" id="{424063E3-158A-984A-BFC8-01ECC771823D}"/>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5" name="Oval 478">
              <a:extLst>
                <a:ext uri="{FF2B5EF4-FFF2-40B4-BE49-F238E27FC236}">
                  <a16:creationId xmlns:a16="http://schemas.microsoft.com/office/drawing/2014/main" id="{E5AD8F86-97E2-7648-BE88-A4ABC6A350D0}"/>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6" name="Rectangle 479">
              <a:extLst>
                <a:ext uri="{FF2B5EF4-FFF2-40B4-BE49-F238E27FC236}">
                  <a16:creationId xmlns:a16="http://schemas.microsoft.com/office/drawing/2014/main" id="{598EC6E7-BD77-134B-A756-3D43B04CC7E1}"/>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7" name="Line 480">
              <a:extLst>
                <a:ext uri="{FF2B5EF4-FFF2-40B4-BE49-F238E27FC236}">
                  <a16:creationId xmlns:a16="http://schemas.microsoft.com/office/drawing/2014/main" id="{AFDCBA44-8593-C94C-9FA7-FED9DC63A55B}"/>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8" name="Oval 483">
              <a:extLst>
                <a:ext uri="{FF2B5EF4-FFF2-40B4-BE49-F238E27FC236}">
                  <a16:creationId xmlns:a16="http://schemas.microsoft.com/office/drawing/2014/main" id="{9B669AE7-0EE8-EC41-9DC1-37D185E64362}"/>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Rectangle 484">
              <a:extLst>
                <a:ext uri="{FF2B5EF4-FFF2-40B4-BE49-F238E27FC236}">
                  <a16:creationId xmlns:a16="http://schemas.microsoft.com/office/drawing/2014/main" id="{C65A0801-59C0-0744-8000-2F197C940E78}"/>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0" name="Oval 485">
              <a:extLst>
                <a:ext uri="{FF2B5EF4-FFF2-40B4-BE49-F238E27FC236}">
                  <a16:creationId xmlns:a16="http://schemas.microsoft.com/office/drawing/2014/main" id="{618A0B18-5A9F-C940-A80E-7B06B49B60F9}"/>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1" name="Rectangle 486">
              <a:extLst>
                <a:ext uri="{FF2B5EF4-FFF2-40B4-BE49-F238E27FC236}">
                  <a16:creationId xmlns:a16="http://schemas.microsoft.com/office/drawing/2014/main" id="{0EC6AAEC-D5EF-0B44-AE75-B5161067D347}"/>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2" name="Line 487">
              <a:extLst>
                <a:ext uri="{FF2B5EF4-FFF2-40B4-BE49-F238E27FC236}">
                  <a16:creationId xmlns:a16="http://schemas.microsoft.com/office/drawing/2014/main" id="{6C5A899D-7A45-874B-9EBC-4587CF6DE09E}"/>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Oval 500">
              <a:extLst>
                <a:ext uri="{FF2B5EF4-FFF2-40B4-BE49-F238E27FC236}">
                  <a16:creationId xmlns:a16="http://schemas.microsoft.com/office/drawing/2014/main" id="{2C1CCE43-DB7D-AE44-BC92-2EC22940EC4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4" name="Rectangle 501">
              <a:extLst>
                <a:ext uri="{FF2B5EF4-FFF2-40B4-BE49-F238E27FC236}">
                  <a16:creationId xmlns:a16="http://schemas.microsoft.com/office/drawing/2014/main" id="{40D89921-5710-C74C-85E3-E00C000E60C7}"/>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5" name="Oval 502">
              <a:extLst>
                <a:ext uri="{FF2B5EF4-FFF2-40B4-BE49-F238E27FC236}">
                  <a16:creationId xmlns:a16="http://schemas.microsoft.com/office/drawing/2014/main" id="{04ED2CB6-E629-0044-88FF-DD5D436E58BF}"/>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Rectangle 503">
              <a:extLst>
                <a:ext uri="{FF2B5EF4-FFF2-40B4-BE49-F238E27FC236}">
                  <a16:creationId xmlns:a16="http://schemas.microsoft.com/office/drawing/2014/main" id="{0D6041B8-7217-4F4F-92D9-8F4D04231EDF}"/>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7" name="Line 504">
              <a:extLst>
                <a:ext uri="{FF2B5EF4-FFF2-40B4-BE49-F238E27FC236}">
                  <a16:creationId xmlns:a16="http://schemas.microsoft.com/office/drawing/2014/main" id="{45C56574-1E78-FA49-9616-971A302E931F}"/>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Oval 507">
              <a:extLst>
                <a:ext uri="{FF2B5EF4-FFF2-40B4-BE49-F238E27FC236}">
                  <a16:creationId xmlns:a16="http://schemas.microsoft.com/office/drawing/2014/main" id="{9F9B82D5-4B1D-6043-BBA5-D051EBBBCAD8}"/>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9" name="Rectangle 508">
              <a:extLst>
                <a:ext uri="{FF2B5EF4-FFF2-40B4-BE49-F238E27FC236}">
                  <a16:creationId xmlns:a16="http://schemas.microsoft.com/office/drawing/2014/main" id="{0C717AD0-EA8E-2246-B4E3-6A0F4C1E9FA2}"/>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50" name="Oval 509">
              <a:extLst>
                <a:ext uri="{FF2B5EF4-FFF2-40B4-BE49-F238E27FC236}">
                  <a16:creationId xmlns:a16="http://schemas.microsoft.com/office/drawing/2014/main" id="{EE3B1AF8-64A0-EC47-B91B-48B11E36D82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1" name="Rectangle 510">
              <a:extLst>
                <a:ext uri="{FF2B5EF4-FFF2-40B4-BE49-F238E27FC236}">
                  <a16:creationId xmlns:a16="http://schemas.microsoft.com/office/drawing/2014/main" id="{860AFC74-9568-6A49-803C-0B2D793022B7}"/>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52" name="Line 511">
              <a:extLst>
                <a:ext uri="{FF2B5EF4-FFF2-40B4-BE49-F238E27FC236}">
                  <a16:creationId xmlns:a16="http://schemas.microsoft.com/office/drawing/2014/main" id="{2B4EDB9F-73F1-C34D-96D9-5CDCB88B2124}"/>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5" name="Freeform 515">
              <a:extLst>
                <a:ext uri="{FF2B5EF4-FFF2-40B4-BE49-F238E27FC236}">
                  <a16:creationId xmlns:a16="http://schemas.microsoft.com/office/drawing/2014/main" id="{F6112B49-DFF7-4442-8AE0-8CF8CFAA614D}"/>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7" name="Freeform 517">
              <a:extLst>
                <a:ext uri="{FF2B5EF4-FFF2-40B4-BE49-F238E27FC236}">
                  <a16:creationId xmlns:a16="http://schemas.microsoft.com/office/drawing/2014/main" id="{3FAF4BE0-D787-B34B-BA37-0770AC8BF2E1}"/>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8" name="Freeform 518">
              <a:extLst>
                <a:ext uri="{FF2B5EF4-FFF2-40B4-BE49-F238E27FC236}">
                  <a16:creationId xmlns:a16="http://schemas.microsoft.com/office/drawing/2014/main" id="{9EF6A7FC-B534-4346-A5DD-041A4F1C6C62}"/>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2" name="Group 81">
              <a:extLst>
                <a:ext uri="{FF2B5EF4-FFF2-40B4-BE49-F238E27FC236}">
                  <a16:creationId xmlns:a16="http://schemas.microsoft.com/office/drawing/2014/main" id="{6FDBF652-A395-234F-BA73-32CC54B4720C}"/>
                </a:ext>
              </a:extLst>
            </p:cNvPr>
            <p:cNvGrpSpPr>
              <a:grpSpLocks/>
            </p:cNvGrpSpPr>
            <p:nvPr/>
          </p:nvGrpSpPr>
          <p:grpSpPr bwMode="auto">
            <a:xfrm>
              <a:off x="6435725" y="1730339"/>
              <a:ext cx="352425" cy="660400"/>
              <a:chOff x="4140" y="429"/>
              <a:chExt cx="1425" cy="2396"/>
            </a:xfrm>
          </p:grpSpPr>
          <p:sp>
            <p:nvSpPr>
              <p:cNvPr id="139" name="Freeform 82">
                <a:extLst>
                  <a:ext uri="{FF2B5EF4-FFF2-40B4-BE49-F238E27FC236}">
                    <a16:creationId xmlns:a16="http://schemas.microsoft.com/office/drawing/2014/main" id="{11ED42DE-3E1B-9B40-9A14-016018BA3CF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0" name="Rectangle 83">
                <a:extLst>
                  <a:ext uri="{FF2B5EF4-FFF2-40B4-BE49-F238E27FC236}">
                    <a16:creationId xmlns:a16="http://schemas.microsoft.com/office/drawing/2014/main" id="{69066424-99FF-0247-8B01-B3EC332AA481}"/>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84">
                <a:extLst>
                  <a:ext uri="{FF2B5EF4-FFF2-40B4-BE49-F238E27FC236}">
                    <a16:creationId xmlns:a16="http://schemas.microsoft.com/office/drawing/2014/main" id="{024DB4DC-EB26-FF42-8E20-FFB6C8EFBD9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Freeform 85">
                <a:extLst>
                  <a:ext uri="{FF2B5EF4-FFF2-40B4-BE49-F238E27FC236}">
                    <a16:creationId xmlns:a16="http://schemas.microsoft.com/office/drawing/2014/main" id="{E2B0F75E-1C81-FF41-A3F5-E7ADC8B671EA}"/>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Rectangle 86">
                <a:extLst>
                  <a:ext uri="{FF2B5EF4-FFF2-40B4-BE49-F238E27FC236}">
                    <a16:creationId xmlns:a16="http://schemas.microsoft.com/office/drawing/2014/main" id="{223D30BF-8699-6A44-AEB2-35D0F31FABD6}"/>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45" name="Group 87">
                <a:extLst>
                  <a:ext uri="{FF2B5EF4-FFF2-40B4-BE49-F238E27FC236}">
                    <a16:creationId xmlns:a16="http://schemas.microsoft.com/office/drawing/2014/main" id="{2B7A3D5E-6156-0044-BF32-DFE6857F6F3A}"/>
                  </a:ext>
                </a:extLst>
              </p:cNvPr>
              <p:cNvGrpSpPr>
                <a:grpSpLocks/>
              </p:cNvGrpSpPr>
              <p:nvPr/>
            </p:nvGrpSpPr>
            <p:grpSpPr bwMode="auto">
              <a:xfrm>
                <a:off x="4749" y="668"/>
                <a:ext cx="581" cy="145"/>
                <a:chOff x="614" y="2568"/>
                <a:chExt cx="725" cy="139"/>
              </a:xfrm>
            </p:grpSpPr>
            <p:sp>
              <p:nvSpPr>
                <p:cNvPr id="170" name="AutoShape 88">
                  <a:extLst>
                    <a:ext uri="{FF2B5EF4-FFF2-40B4-BE49-F238E27FC236}">
                      <a16:creationId xmlns:a16="http://schemas.microsoft.com/office/drawing/2014/main" id="{CE04A0BE-092C-E54B-91D3-87501C8CF3D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1" name="AutoShape 89">
                  <a:extLst>
                    <a:ext uri="{FF2B5EF4-FFF2-40B4-BE49-F238E27FC236}">
                      <a16:creationId xmlns:a16="http://schemas.microsoft.com/office/drawing/2014/main" id="{F5E55A3E-082B-F842-9E07-78A2A995429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6" name="Rectangle 90">
                <a:extLst>
                  <a:ext uri="{FF2B5EF4-FFF2-40B4-BE49-F238E27FC236}">
                    <a16:creationId xmlns:a16="http://schemas.microsoft.com/office/drawing/2014/main" id="{3335A9A0-ABC5-1A45-A4DB-4B8E3B4F0D3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47" name="Group 91">
                <a:extLst>
                  <a:ext uri="{FF2B5EF4-FFF2-40B4-BE49-F238E27FC236}">
                    <a16:creationId xmlns:a16="http://schemas.microsoft.com/office/drawing/2014/main" id="{6C288698-9C54-614A-9160-55F71D5AEC28}"/>
                  </a:ext>
                </a:extLst>
              </p:cNvPr>
              <p:cNvGrpSpPr>
                <a:grpSpLocks/>
              </p:cNvGrpSpPr>
              <p:nvPr/>
            </p:nvGrpSpPr>
            <p:grpSpPr bwMode="auto">
              <a:xfrm>
                <a:off x="4747" y="994"/>
                <a:ext cx="581" cy="134"/>
                <a:chOff x="614" y="2568"/>
                <a:chExt cx="725" cy="139"/>
              </a:xfrm>
            </p:grpSpPr>
            <p:sp>
              <p:nvSpPr>
                <p:cNvPr id="168" name="AutoShape 92">
                  <a:extLst>
                    <a:ext uri="{FF2B5EF4-FFF2-40B4-BE49-F238E27FC236}">
                      <a16:creationId xmlns:a16="http://schemas.microsoft.com/office/drawing/2014/main" id="{6A0C18A4-1291-7E43-9345-2A91D6A4B36D}"/>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9" name="AutoShape 93">
                  <a:extLst>
                    <a:ext uri="{FF2B5EF4-FFF2-40B4-BE49-F238E27FC236}">
                      <a16:creationId xmlns:a16="http://schemas.microsoft.com/office/drawing/2014/main" id="{AC667623-4334-3148-A595-C268518DA61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8" name="Rectangle 94">
                <a:extLst>
                  <a:ext uri="{FF2B5EF4-FFF2-40B4-BE49-F238E27FC236}">
                    <a16:creationId xmlns:a16="http://schemas.microsoft.com/office/drawing/2014/main" id="{80DE7B80-C6BB-8A4D-BED5-F51D9888FD6E}"/>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9" name="Rectangle 95">
                <a:extLst>
                  <a:ext uri="{FF2B5EF4-FFF2-40B4-BE49-F238E27FC236}">
                    <a16:creationId xmlns:a16="http://schemas.microsoft.com/office/drawing/2014/main" id="{53B39C8C-A4C0-E44F-A049-598F76D03ED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50" name="Group 96">
                <a:extLst>
                  <a:ext uri="{FF2B5EF4-FFF2-40B4-BE49-F238E27FC236}">
                    <a16:creationId xmlns:a16="http://schemas.microsoft.com/office/drawing/2014/main" id="{8FAE680F-D5F2-F141-AF0E-EFEDC93174C5}"/>
                  </a:ext>
                </a:extLst>
              </p:cNvPr>
              <p:cNvGrpSpPr>
                <a:grpSpLocks/>
              </p:cNvGrpSpPr>
              <p:nvPr/>
            </p:nvGrpSpPr>
            <p:grpSpPr bwMode="auto">
              <a:xfrm>
                <a:off x="4735" y="1627"/>
                <a:ext cx="582" cy="151"/>
                <a:chOff x="614" y="2568"/>
                <a:chExt cx="725" cy="139"/>
              </a:xfrm>
            </p:grpSpPr>
            <p:sp>
              <p:nvSpPr>
                <p:cNvPr id="166" name="AutoShape 97">
                  <a:extLst>
                    <a:ext uri="{FF2B5EF4-FFF2-40B4-BE49-F238E27FC236}">
                      <a16:creationId xmlns:a16="http://schemas.microsoft.com/office/drawing/2014/main" id="{F6E6D6FE-5487-4B45-9CD9-034725C3419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7" name="AutoShape 98">
                  <a:extLst>
                    <a:ext uri="{FF2B5EF4-FFF2-40B4-BE49-F238E27FC236}">
                      <a16:creationId xmlns:a16="http://schemas.microsoft.com/office/drawing/2014/main" id="{17E4B9CD-9942-AB49-9DCF-EA4C278CAD0C}"/>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51" name="Freeform 99">
                <a:extLst>
                  <a:ext uri="{FF2B5EF4-FFF2-40B4-BE49-F238E27FC236}">
                    <a16:creationId xmlns:a16="http://schemas.microsoft.com/office/drawing/2014/main" id="{66DBC1AB-D3D3-D54A-97DB-61ACDA49892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52" name="Group 100">
                <a:extLst>
                  <a:ext uri="{FF2B5EF4-FFF2-40B4-BE49-F238E27FC236}">
                    <a16:creationId xmlns:a16="http://schemas.microsoft.com/office/drawing/2014/main" id="{0ACCF28A-C12F-C84F-B594-FD3A670B69E4}"/>
                  </a:ext>
                </a:extLst>
              </p:cNvPr>
              <p:cNvGrpSpPr>
                <a:grpSpLocks/>
              </p:cNvGrpSpPr>
              <p:nvPr/>
            </p:nvGrpSpPr>
            <p:grpSpPr bwMode="auto">
              <a:xfrm>
                <a:off x="4739" y="1327"/>
                <a:ext cx="582" cy="139"/>
                <a:chOff x="614" y="2568"/>
                <a:chExt cx="725" cy="139"/>
              </a:xfrm>
            </p:grpSpPr>
            <p:sp>
              <p:nvSpPr>
                <p:cNvPr id="164" name="AutoShape 101">
                  <a:extLst>
                    <a:ext uri="{FF2B5EF4-FFF2-40B4-BE49-F238E27FC236}">
                      <a16:creationId xmlns:a16="http://schemas.microsoft.com/office/drawing/2014/main" id="{279BBDF1-57E3-A241-8A44-3F0A3BA124F7}"/>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5" name="AutoShape 102">
                  <a:extLst>
                    <a:ext uri="{FF2B5EF4-FFF2-40B4-BE49-F238E27FC236}">
                      <a16:creationId xmlns:a16="http://schemas.microsoft.com/office/drawing/2014/main" id="{0D4E61D6-1AA1-2940-BBA5-24DFE246E50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53" name="Rectangle 103">
                <a:extLst>
                  <a:ext uri="{FF2B5EF4-FFF2-40B4-BE49-F238E27FC236}">
                    <a16:creationId xmlns:a16="http://schemas.microsoft.com/office/drawing/2014/main" id="{564FBD96-ADF5-5342-92F4-3395008B574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Freeform 104">
                <a:extLst>
                  <a:ext uri="{FF2B5EF4-FFF2-40B4-BE49-F238E27FC236}">
                    <a16:creationId xmlns:a16="http://schemas.microsoft.com/office/drawing/2014/main" id="{F15B27D1-B45C-7141-AB8B-599571DEF3A7}"/>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5" name="Freeform 105">
                <a:extLst>
                  <a:ext uri="{FF2B5EF4-FFF2-40B4-BE49-F238E27FC236}">
                    <a16:creationId xmlns:a16="http://schemas.microsoft.com/office/drawing/2014/main" id="{4DC70B30-DD3F-2740-89CC-C75EDB999D47}"/>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Oval 106">
                <a:extLst>
                  <a:ext uri="{FF2B5EF4-FFF2-40B4-BE49-F238E27FC236}">
                    <a16:creationId xmlns:a16="http://schemas.microsoft.com/office/drawing/2014/main" id="{A0C40071-87FF-864A-81D4-E4F739BF537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7" name="Freeform 107">
                <a:extLst>
                  <a:ext uri="{FF2B5EF4-FFF2-40B4-BE49-F238E27FC236}">
                    <a16:creationId xmlns:a16="http://schemas.microsoft.com/office/drawing/2014/main" id="{2F33C2FE-86C4-B34F-945A-3F9BDF777E58}"/>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108">
                <a:extLst>
                  <a:ext uri="{FF2B5EF4-FFF2-40B4-BE49-F238E27FC236}">
                    <a16:creationId xmlns:a16="http://schemas.microsoft.com/office/drawing/2014/main" id="{A771515B-1A0A-B646-9681-C95CE2F6663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9" name="AutoShape 109">
                <a:extLst>
                  <a:ext uri="{FF2B5EF4-FFF2-40B4-BE49-F238E27FC236}">
                    <a16:creationId xmlns:a16="http://schemas.microsoft.com/office/drawing/2014/main" id="{8DE21308-0063-2D44-A69A-52DF4BDDDF3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0" name="Oval 110">
                <a:extLst>
                  <a:ext uri="{FF2B5EF4-FFF2-40B4-BE49-F238E27FC236}">
                    <a16:creationId xmlns:a16="http://schemas.microsoft.com/office/drawing/2014/main" id="{4B5FBC97-4AE7-1140-B25E-7DBB15568DA9}"/>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1" name="Oval 111">
                <a:extLst>
                  <a:ext uri="{FF2B5EF4-FFF2-40B4-BE49-F238E27FC236}">
                    <a16:creationId xmlns:a16="http://schemas.microsoft.com/office/drawing/2014/main" id="{E22768CA-2A7E-3243-8775-0A66ECEBDAE1}"/>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62" name="Oval 112">
                <a:extLst>
                  <a:ext uri="{FF2B5EF4-FFF2-40B4-BE49-F238E27FC236}">
                    <a16:creationId xmlns:a16="http://schemas.microsoft.com/office/drawing/2014/main" id="{D28018C4-A680-2845-A99A-8AA0A8E021CE}"/>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3" name="Rectangle 113">
                <a:extLst>
                  <a:ext uri="{FF2B5EF4-FFF2-40B4-BE49-F238E27FC236}">
                    <a16:creationId xmlns:a16="http://schemas.microsoft.com/office/drawing/2014/main" id="{8FC5897C-9D21-3A46-90EF-445C7839A9D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3" name="Group 114">
              <a:extLst>
                <a:ext uri="{FF2B5EF4-FFF2-40B4-BE49-F238E27FC236}">
                  <a16:creationId xmlns:a16="http://schemas.microsoft.com/office/drawing/2014/main" id="{B83A96A8-659A-C14A-81F1-36FF3203AFE6}"/>
                </a:ext>
              </a:extLst>
            </p:cNvPr>
            <p:cNvGrpSpPr>
              <a:grpSpLocks/>
            </p:cNvGrpSpPr>
            <p:nvPr/>
          </p:nvGrpSpPr>
          <p:grpSpPr bwMode="auto">
            <a:xfrm>
              <a:off x="7010400" y="1390614"/>
              <a:ext cx="352425" cy="660400"/>
              <a:chOff x="4140" y="429"/>
              <a:chExt cx="1425" cy="2396"/>
            </a:xfrm>
          </p:grpSpPr>
          <p:sp>
            <p:nvSpPr>
              <p:cNvPr id="106" name="Freeform 115">
                <a:extLst>
                  <a:ext uri="{FF2B5EF4-FFF2-40B4-BE49-F238E27FC236}">
                    <a16:creationId xmlns:a16="http://schemas.microsoft.com/office/drawing/2014/main" id="{51E7F745-188F-2049-8F3D-A9F1E48EAE63}"/>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7" name="Rectangle 116">
                <a:extLst>
                  <a:ext uri="{FF2B5EF4-FFF2-40B4-BE49-F238E27FC236}">
                    <a16:creationId xmlns:a16="http://schemas.microsoft.com/office/drawing/2014/main" id="{3330E9B6-9A70-F341-BB07-3C7E5FBB6536}"/>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8" name="Freeform 117">
                <a:extLst>
                  <a:ext uri="{FF2B5EF4-FFF2-40B4-BE49-F238E27FC236}">
                    <a16:creationId xmlns:a16="http://schemas.microsoft.com/office/drawing/2014/main" id="{10DD9A9D-A76F-3641-9CE7-9F73150FB95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18">
                <a:extLst>
                  <a:ext uri="{FF2B5EF4-FFF2-40B4-BE49-F238E27FC236}">
                    <a16:creationId xmlns:a16="http://schemas.microsoft.com/office/drawing/2014/main" id="{1D744195-71CA-F84A-A0EC-B41BAA550BE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Rectangle 119">
                <a:extLst>
                  <a:ext uri="{FF2B5EF4-FFF2-40B4-BE49-F238E27FC236}">
                    <a16:creationId xmlns:a16="http://schemas.microsoft.com/office/drawing/2014/main" id="{08B258E9-429B-A04E-9B31-61FC9C0C903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1" name="Group 120">
                <a:extLst>
                  <a:ext uri="{FF2B5EF4-FFF2-40B4-BE49-F238E27FC236}">
                    <a16:creationId xmlns:a16="http://schemas.microsoft.com/office/drawing/2014/main" id="{052466FA-382D-B34A-B153-D2714C4495BA}"/>
                  </a:ext>
                </a:extLst>
              </p:cNvPr>
              <p:cNvGrpSpPr>
                <a:grpSpLocks/>
              </p:cNvGrpSpPr>
              <p:nvPr/>
            </p:nvGrpSpPr>
            <p:grpSpPr bwMode="auto">
              <a:xfrm>
                <a:off x="4749" y="668"/>
                <a:ext cx="581" cy="145"/>
                <a:chOff x="614" y="2568"/>
                <a:chExt cx="725" cy="139"/>
              </a:xfrm>
            </p:grpSpPr>
            <p:sp>
              <p:nvSpPr>
                <p:cNvPr id="137" name="AutoShape 121">
                  <a:extLst>
                    <a:ext uri="{FF2B5EF4-FFF2-40B4-BE49-F238E27FC236}">
                      <a16:creationId xmlns:a16="http://schemas.microsoft.com/office/drawing/2014/main" id="{A21CDD7A-2555-5B47-9078-A436ACA9B20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8" name="AutoShape 122">
                  <a:extLst>
                    <a:ext uri="{FF2B5EF4-FFF2-40B4-BE49-F238E27FC236}">
                      <a16:creationId xmlns:a16="http://schemas.microsoft.com/office/drawing/2014/main" id="{CBF9610B-13CA-D841-A288-8379AC7B45D4}"/>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2" name="Rectangle 123">
                <a:extLst>
                  <a:ext uri="{FF2B5EF4-FFF2-40B4-BE49-F238E27FC236}">
                    <a16:creationId xmlns:a16="http://schemas.microsoft.com/office/drawing/2014/main" id="{CBC048D4-7B3A-6F41-A02E-503359CF5C92}"/>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3" name="Group 124">
                <a:extLst>
                  <a:ext uri="{FF2B5EF4-FFF2-40B4-BE49-F238E27FC236}">
                    <a16:creationId xmlns:a16="http://schemas.microsoft.com/office/drawing/2014/main" id="{4D7B123C-FEF1-E041-894F-F31DD588C361}"/>
                  </a:ext>
                </a:extLst>
              </p:cNvPr>
              <p:cNvGrpSpPr>
                <a:grpSpLocks/>
              </p:cNvGrpSpPr>
              <p:nvPr/>
            </p:nvGrpSpPr>
            <p:grpSpPr bwMode="auto">
              <a:xfrm>
                <a:off x="4747" y="994"/>
                <a:ext cx="581" cy="134"/>
                <a:chOff x="614" y="2568"/>
                <a:chExt cx="725" cy="139"/>
              </a:xfrm>
            </p:grpSpPr>
            <p:sp>
              <p:nvSpPr>
                <p:cNvPr id="135" name="AutoShape 125">
                  <a:extLst>
                    <a:ext uri="{FF2B5EF4-FFF2-40B4-BE49-F238E27FC236}">
                      <a16:creationId xmlns:a16="http://schemas.microsoft.com/office/drawing/2014/main" id="{DAEC4BE7-B702-0848-BF3B-82C6FCF0AE7A}"/>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AutoShape 126">
                  <a:extLst>
                    <a:ext uri="{FF2B5EF4-FFF2-40B4-BE49-F238E27FC236}">
                      <a16:creationId xmlns:a16="http://schemas.microsoft.com/office/drawing/2014/main" id="{FBEAEEDC-D373-2043-9097-A4F8AEA4ED4B}"/>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4" name="Rectangle 127">
                <a:extLst>
                  <a:ext uri="{FF2B5EF4-FFF2-40B4-BE49-F238E27FC236}">
                    <a16:creationId xmlns:a16="http://schemas.microsoft.com/office/drawing/2014/main" id="{4DD8CBA3-5EC3-7B48-9BE0-6003CD8A0AA3}"/>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Rectangle 128">
                <a:extLst>
                  <a:ext uri="{FF2B5EF4-FFF2-40B4-BE49-F238E27FC236}">
                    <a16:creationId xmlns:a16="http://schemas.microsoft.com/office/drawing/2014/main" id="{BA5E53EA-3ECC-A847-B148-B8ED1636EA9D}"/>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6" name="Group 129">
                <a:extLst>
                  <a:ext uri="{FF2B5EF4-FFF2-40B4-BE49-F238E27FC236}">
                    <a16:creationId xmlns:a16="http://schemas.microsoft.com/office/drawing/2014/main" id="{C816273C-68D1-2045-8CE5-F2A266739EB5}"/>
                  </a:ext>
                </a:extLst>
              </p:cNvPr>
              <p:cNvGrpSpPr>
                <a:grpSpLocks/>
              </p:cNvGrpSpPr>
              <p:nvPr/>
            </p:nvGrpSpPr>
            <p:grpSpPr bwMode="auto">
              <a:xfrm>
                <a:off x="4735" y="1627"/>
                <a:ext cx="582" cy="151"/>
                <a:chOff x="614" y="2568"/>
                <a:chExt cx="725" cy="139"/>
              </a:xfrm>
            </p:grpSpPr>
            <p:sp>
              <p:nvSpPr>
                <p:cNvPr id="132" name="AutoShape 130">
                  <a:extLst>
                    <a:ext uri="{FF2B5EF4-FFF2-40B4-BE49-F238E27FC236}">
                      <a16:creationId xmlns:a16="http://schemas.microsoft.com/office/drawing/2014/main" id="{AE043AC3-A076-4449-9CD3-8DA37B0F0905}"/>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4" name="AutoShape 131">
                  <a:extLst>
                    <a:ext uri="{FF2B5EF4-FFF2-40B4-BE49-F238E27FC236}">
                      <a16:creationId xmlns:a16="http://schemas.microsoft.com/office/drawing/2014/main" id="{E346A75D-7CBE-8A47-B07E-5D39EAB4BEA6}"/>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7" name="Freeform 132">
                <a:extLst>
                  <a:ext uri="{FF2B5EF4-FFF2-40B4-BE49-F238E27FC236}">
                    <a16:creationId xmlns:a16="http://schemas.microsoft.com/office/drawing/2014/main" id="{F00AFCE9-BD33-D444-BA2F-95E3560637A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8" name="Group 133">
                <a:extLst>
                  <a:ext uri="{FF2B5EF4-FFF2-40B4-BE49-F238E27FC236}">
                    <a16:creationId xmlns:a16="http://schemas.microsoft.com/office/drawing/2014/main" id="{DF061EE0-DC00-D341-ACD4-2D438E4D7331}"/>
                  </a:ext>
                </a:extLst>
              </p:cNvPr>
              <p:cNvGrpSpPr>
                <a:grpSpLocks/>
              </p:cNvGrpSpPr>
              <p:nvPr/>
            </p:nvGrpSpPr>
            <p:grpSpPr bwMode="auto">
              <a:xfrm>
                <a:off x="4739" y="1327"/>
                <a:ext cx="582" cy="139"/>
                <a:chOff x="614" y="2568"/>
                <a:chExt cx="725" cy="139"/>
              </a:xfrm>
            </p:grpSpPr>
            <p:sp>
              <p:nvSpPr>
                <p:cNvPr id="130" name="AutoShape 134">
                  <a:extLst>
                    <a:ext uri="{FF2B5EF4-FFF2-40B4-BE49-F238E27FC236}">
                      <a16:creationId xmlns:a16="http://schemas.microsoft.com/office/drawing/2014/main" id="{8A5DEFF2-82FF-9C4B-B30F-DD02A99BAB51}"/>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AutoShape 135">
                  <a:extLst>
                    <a:ext uri="{FF2B5EF4-FFF2-40B4-BE49-F238E27FC236}">
                      <a16:creationId xmlns:a16="http://schemas.microsoft.com/office/drawing/2014/main" id="{9E0A6440-9A0A-834A-BE6A-CB243F8A046A}"/>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9" name="Rectangle 136">
                <a:extLst>
                  <a:ext uri="{FF2B5EF4-FFF2-40B4-BE49-F238E27FC236}">
                    <a16:creationId xmlns:a16="http://schemas.microsoft.com/office/drawing/2014/main" id="{C3E6428A-F3CA-6646-8504-7A4B8087301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Freeform 137">
                <a:extLst>
                  <a:ext uri="{FF2B5EF4-FFF2-40B4-BE49-F238E27FC236}">
                    <a16:creationId xmlns:a16="http://schemas.microsoft.com/office/drawing/2014/main" id="{36A1B92D-73B3-1E48-9DF6-56C52B1C0EF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1" name="Freeform 138">
                <a:extLst>
                  <a:ext uri="{FF2B5EF4-FFF2-40B4-BE49-F238E27FC236}">
                    <a16:creationId xmlns:a16="http://schemas.microsoft.com/office/drawing/2014/main" id="{BBCC47D2-9636-8645-A30A-A9FB9FEB7049}"/>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Oval 139">
                <a:extLst>
                  <a:ext uri="{FF2B5EF4-FFF2-40B4-BE49-F238E27FC236}">
                    <a16:creationId xmlns:a16="http://schemas.microsoft.com/office/drawing/2014/main" id="{538F95FE-99F4-114C-88F1-20DC65C7D98C}"/>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3" name="Freeform 140">
                <a:extLst>
                  <a:ext uri="{FF2B5EF4-FFF2-40B4-BE49-F238E27FC236}">
                    <a16:creationId xmlns:a16="http://schemas.microsoft.com/office/drawing/2014/main" id="{3A2D7A8F-740E-E44C-8A64-6BF5A90E8E2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41">
                <a:extLst>
                  <a:ext uri="{FF2B5EF4-FFF2-40B4-BE49-F238E27FC236}">
                    <a16:creationId xmlns:a16="http://schemas.microsoft.com/office/drawing/2014/main" id="{E95BA8FE-A8C5-0F4B-802A-0FFE3E9344D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5" name="AutoShape 142">
                <a:extLst>
                  <a:ext uri="{FF2B5EF4-FFF2-40B4-BE49-F238E27FC236}">
                    <a16:creationId xmlns:a16="http://schemas.microsoft.com/office/drawing/2014/main" id="{05E6F7D8-B8C8-534A-8606-ED15889043B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Oval 143">
                <a:extLst>
                  <a:ext uri="{FF2B5EF4-FFF2-40B4-BE49-F238E27FC236}">
                    <a16:creationId xmlns:a16="http://schemas.microsoft.com/office/drawing/2014/main" id="{D7668313-20A1-7840-BCF9-D2778D9E79AE}"/>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7" name="Oval 144">
                <a:extLst>
                  <a:ext uri="{FF2B5EF4-FFF2-40B4-BE49-F238E27FC236}">
                    <a16:creationId xmlns:a16="http://schemas.microsoft.com/office/drawing/2014/main" id="{3152B3AD-E2B7-A045-8DF7-86DF2FE62ACB}"/>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28" name="Oval 145">
                <a:extLst>
                  <a:ext uri="{FF2B5EF4-FFF2-40B4-BE49-F238E27FC236}">
                    <a16:creationId xmlns:a16="http://schemas.microsoft.com/office/drawing/2014/main" id="{7A3BC98F-1F3C-794E-BD03-4960366B4C92}"/>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Rectangle 146">
                <a:extLst>
                  <a:ext uri="{FF2B5EF4-FFF2-40B4-BE49-F238E27FC236}">
                    <a16:creationId xmlns:a16="http://schemas.microsoft.com/office/drawing/2014/main" id="{FD2E8B12-7E5B-534C-992F-CC974F01D2BD}"/>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4" name="Group 147">
              <a:extLst>
                <a:ext uri="{FF2B5EF4-FFF2-40B4-BE49-F238E27FC236}">
                  <a16:creationId xmlns:a16="http://schemas.microsoft.com/office/drawing/2014/main" id="{4942FA46-AAAE-D947-BF1A-4481A3448211}"/>
                </a:ext>
              </a:extLst>
            </p:cNvPr>
            <p:cNvGrpSpPr>
              <a:grpSpLocks/>
            </p:cNvGrpSpPr>
            <p:nvPr/>
          </p:nvGrpSpPr>
          <p:grpSpPr bwMode="auto">
            <a:xfrm>
              <a:off x="9861550" y="1646202"/>
              <a:ext cx="352425" cy="660400"/>
              <a:chOff x="4140" y="429"/>
              <a:chExt cx="1425" cy="2396"/>
            </a:xfrm>
          </p:grpSpPr>
          <p:sp>
            <p:nvSpPr>
              <p:cNvPr id="74" name="Freeform 148">
                <a:extLst>
                  <a:ext uri="{FF2B5EF4-FFF2-40B4-BE49-F238E27FC236}">
                    <a16:creationId xmlns:a16="http://schemas.microsoft.com/office/drawing/2014/main" id="{CC23ABEE-8791-714B-8A1A-4F7AD8EF3BF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5" name="Rectangle 149">
                <a:extLst>
                  <a:ext uri="{FF2B5EF4-FFF2-40B4-BE49-F238E27FC236}">
                    <a16:creationId xmlns:a16="http://schemas.microsoft.com/office/drawing/2014/main" id="{2B86FF99-00DB-934B-8BA7-48C64B644A45}"/>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6" name="Freeform 150">
                <a:extLst>
                  <a:ext uri="{FF2B5EF4-FFF2-40B4-BE49-F238E27FC236}">
                    <a16:creationId xmlns:a16="http://schemas.microsoft.com/office/drawing/2014/main" id="{956FBF0C-5170-794A-B33B-82657D57164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51">
                <a:extLst>
                  <a:ext uri="{FF2B5EF4-FFF2-40B4-BE49-F238E27FC236}">
                    <a16:creationId xmlns:a16="http://schemas.microsoft.com/office/drawing/2014/main" id="{445CE280-0D0A-6B4F-84F6-532AE192658F}"/>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Rectangle 152">
                <a:extLst>
                  <a:ext uri="{FF2B5EF4-FFF2-40B4-BE49-F238E27FC236}">
                    <a16:creationId xmlns:a16="http://schemas.microsoft.com/office/drawing/2014/main" id="{0D6EBFB3-4B17-8B4D-84D1-393E2919BF5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9" name="Group 153">
                <a:extLst>
                  <a:ext uri="{FF2B5EF4-FFF2-40B4-BE49-F238E27FC236}">
                    <a16:creationId xmlns:a16="http://schemas.microsoft.com/office/drawing/2014/main" id="{68337FBF-F76C-C544-8BA6-563723BD11B9}"/>
                  </a:ext>
                </a:extLst>
              </p:cNvPr>
              <p:cNvGrpSpPr>
                <a:grpSpLocks/>
              </p:cNvGrpSpPr>
              <p:nvPr/>
            </p:nvGrpSpPr>
            <p:grpSpPr bwMode="auto">
              <a:xfrm>
                <a:off x="4749" y="668"/>
                <a:ext cx="581" cy="145"/>
                <a:chOff x="614" y="2568"/>
                <a:chExt cx="725" cy="139"/>
              </a:xfrm>
            </p:grpSpPr>
            <p:sp>
              <p:nvSpPr>
                <p:cNvPr id="104" name="AutoShape 154">
                  <a:extLst>
                    <a:ext uri="{FF2B5EF4-FFF2-40B4-BE49-F238E27FC236}">
                      <a16:creationId xmlns:a16="http://schemas.microsoft.com/office/drawing/2014/main" id="{7983AE2B-9F40-7446-964A-C0D1EC25521C}"/>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5" name="AutoShape 155">
                  <a:extLst>
                    <a:ext uri="{FF2B5EF4-FFF2-40B4-BE49-F238E27FC236}">
                      <a16:creationId xmlns:a16="http://schemas.microsoft.com/office/drawing/2014/main" id="{ADC46602-CC63-8141-8BF1-5EC8D1824C61}"/>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0" name="Rectangle 156">
                <a:extLst>
                  <a:ext uri="{FF2B5EF4-FFF2-40B4-BE49-F238E27FC236}">
                    <a16:creationId xmlns:a16="http://schemas.microsoft.com/office/drawing/2014/main" id="{0B0E3BE7-5708-A949-85C0-8553CB933EF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1" name="Group 157">
                <a:extLst>
                  <a:ext uri="{FF2B5EF4-FFF2-40B4-BE49-F238E27FC236}">
                    <a16:creationId xmlns:a16="http://schemas.microsoft.com/office/drawing/2014/main" id="{59EFAC4A-A3D4-9E4D-84E2-5BD8A5D33E2C}"/>
                  </a:ext>
                </a:extLst>
              </p:cNvPr>
              <p:cNvGrpSpPr>
                <a:grpSpLocks/>
              </p:cNvGrpSpPr>
              <p:nvPr/>
            </p:nvGrpSpPr>
            <p:grpSpPr bwMode="auto">
              <a:xfrm>
                <a:off x="4747" y="994"/>
                <a:ext cx="581" cy="134"/>
                <a:chOff x="614" y="2568"/>
                <a:chExt cx="725" cy="139"/>
              </a:xfrm>
            </p:grpSpPr>
            <p:sp>
              <p:nvSpPr>
                <p:cNvPr id="102" name="AutoShape 158">
                  <a:extLst>
                    <a:ext uri="{FF2B5EF4-FFF2-40B4-BE49-F238E27FC236}">
                      <a16:creationId xmlns:a16="http://schemas.microsoft.com/office/drawing/2014/main" id="{B68D7D2F-A4EC-6343-AAA2-E27A5BE91747}"/>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3" name="AutoShape 159">
                  <a:extLst>
                    <a:ext uri="{FF2B5EF4-FFF2-40B4-BE49-F238E27FC236}">
                      <a16:creationId xmlns:a16="http://schemas.microsoft.com/office/drawing/2014/main" id="{5C8BE6BD-0D6C-BE4F-A7C1-CFA5A3A723F5}"/>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2" name="Rectangle 160">
                <a:extLst>
                  <a:ext uri="{FF2B5EF4-FFF2-40B4-BE49-F238E27FC236}">
                    <a16:creationId xmlns:a16="http://schemas.microsoft.com/office/drawing/2014/main" id="{584E618E-4A1F-8343-97FD-62858B78F5C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Rectangle 161">
                <a:extLst>
                  <a:ext uri="{FF2B5EF4-FFF2-40B4-BE49-F238E27FC236}">
                    <a16:creationId xmlns:a16="http://schemas.microsoft.com/office/drawing/2014/main" id="{12F0293A-C413-F449-BF89-9E1C83526B5A}"/>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4" name="Group 162">
                <a:extLst>
                  <a:ext uri="{FF2B5EF4-FFF2-40B4-BE49-F238E27FC236}">
                    <a16:creationId xmlns:a16="http://schemas.microsoft.com/office/drawing/2014/main" id="{1A6200EB-5E59-2B47-9B1A-EF30A5EAD25B}"/>
                  </a:ext>
                </a:extLst>
              </p:cNvPr>
              <p:cNvGrpSpPr>
                <a:grpSpLocks/>
              </p:cNvGrpSpPr>
              <p:nvPr/>
            </p:nvGrpSpPr>
            <p:grpSpPr bwMode="auto">
              <a:xfrm>
                <a:off x="4735" y="1627"/>
                <a:ext cx="582" cy="151"/>
                <a:chOff x="614" y="2568"/>
                <a:chExt cx="725" cy="139"/>
              </a:xfrm>
            </p:grpSpPr>
            <p:sp>
              <p:nvSpPr>
                <p:cNvPr id="100" name="AutoShape 163">
                  <a:extLst>
                    <a:ext uri="{FF2B5EF4-FFF2-40B4-BE49-F238E27FC236}">
                      <a16:creationId xmlns:a16="http://schemas.microsoft.com/office/drawing/2014/main" id="{B97E9310-11F5-E248-A0DF-E45AE8F9B84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1" name="AutoShape 164">
                  <a:extLst>
                    <a:ext uri="{FF2B5EF4-FFF2-40B4-BE49-F238E27FC236}">
                      <a16:creationId xmlns:a16="http://schemas.microsoft.com/office/drawing/2014/main" id="{968E1571-41AC-434C-B887-D8EBC7A3B079}"/>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5" name="Freeform 165">
                <a:extLst>
                  <a:ext uri="{FF2B5EF4-FFF2-40B4-BE49-F238E27FC236}">
                    <a16:creationId xmlns:a16="http://schemas.microsoft.com/office/drawing/2014/main" id="{BE30363C-DD3A-B943-9269-1BAD5BA36988}"/>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6" name="Group 166">
                <a:extLst>
                  <a:ext uri="{FF2B5EF4-FFF2-40B4-BE49-F238E27FC236}">
                    <a16:creationId xmlns:a16="http://schemas.microsoft.com/office/drawing/2014/main" id="{38788B69-339D-7F4E-B301-8175DEA9DEDF}"/>
                  </a:ext>
                </a:extLst>
              </p:cNvPr>
              <p:cNvGrpSpPr>
                <a:grpSpLocks/>
              </p:cNvGrpSpPr>
              <p:nvPr/>
            </p:nvGrpSpPr>
            <p:grpSpPr bwMode="auto">
              <a:xfrm>
                <a:off x="4739" y="1327"/>
                <a:ext cx="582" cy="139"/>
                <a:chOff x="614" y="2568"/>
                <a:chExt cx="725" cy="139"/>
              </a:xfrm>
            </p:grpSpPr>
            <p:sp>
              <p:nvSpPr>
                <p:cNvPr id="98" name="AutoShape 167">
                  <a:extLst>
                    <a:ext uri="{FF2B5EF4-FFF2-40B4-BE49-F238E27FC236}">
                      <a16:creationId xmlns:a16="http://schemas.microsoft.com/office/drawing/2014/main" id="{97B97885-9739-1F45-B789-FBABCFF92AA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AutoShape 168">
                  <a:extLst>
                    <a:ext uri="{FF2B5EF4-FFF2-40B4-BE49-F238E27FC236}">
                      <a16:creationId xmlns:a16="http://schemas.microsoft.com/office/drawing/2014/main" id="{84771018-17F5-D14A-8D8C-59EE601BC2C9}"/>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7" name="Rectangle 169">
                <a:extLst>
                  <a:ext uri="{FF2B5EF4-FFF2-40B4-BE49-F238E27FC236}">
                    <a16:creationId xmlns:a16="http://schemas.microsoft.com/office/drawing/2014/main" id="{7A058DA4-516B-7D41-BD30-6364FF15C960}"/>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Freeform 170">
                <a:extLst>
                  <a:ext uri="{FF2B5EF4-FFF2-40B4-BE49-F238E27FC236}">
                    <a16:creationId xmlns:a16="http://schemas.microsoft.com/office/drawing/2014/main" id="{856E246C-1591-CA4F-8ADE-8DDDDAA7793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9" name="Freeform 171">
                <a:extLst>
                  <a:ext uri="{FF2B5EF4-FFF2-40B4-BE49-F238E27FC236}">
                    <a16:creationId xmlns:a16="http://schemas.microsoft.com/office/drawing/2014/main" id="{31F0BA80-7560-4D47-A9F7-FD31AEA4344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Oval 172">
                <a:extLst>
                  <a:ext uri="{FF2B5EF4-FFF2-40B4-BE49-F238E27FC236}">
                    <a16:creationId xmlns:a16="http://schemas.microsoft.com/office/drawing/2014/main" id="{0250F674-2E69-7A49-BD4A-7A0B63C62F3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1" name="Freeform 173">
                <a:extLst>
                  <a:ext uri="{FF2B5EF4-FFF2-40B4-BE49-F238E27FC236}">
                    <a16:creationId xmlns:a16="http://schemas.microsoft.com/office/drawing/2014/main" id="{D9EA6536-474B-D64B-B205-1D6C9BA825C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74">
                <a:extLst>
                  <a:ext uri="{FF2B5EF4-FFF2-40B4-BE49-F238E27FC236}">
                    <a16:creationId xmlns:a16="http://schemas.microsoft.com/office/drawing/2014/main" id="{E488D72C-E2D7-A24F-8921-7455381C5E4D}"/>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3" name="AutoShape 175">
                <a:extLst>
                  <a:ext uri="{FF2B5EF4-FFF2-40B4-BE49-F238E27FC236}">
                    <a16:creationId xmlns:a16="http://schemas.microsoft.com/office/drawing/2014/main" id="{912439D6-774F-1547-AA0D-047E22092538}"/>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Oval 176">
                <a:extLst>
                  <a:ext uri="{FF2B5EF4-FFF2-40B4-BE49-F238E27FC236}">
                    <a16:creationId xmlns:a16="http://schemas.microsoft.com/office/drawing/2014/main" id="{A2D2898C-A040-C744-8B60-25B92A3EDD4A}"/>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5" name="Oval 177">
                <a:extLst>
                  <a:ext uri="{FF2B5EF4-FFF2-40B4-BE49-F238E27FC236}">
                    <a16:creationId xmlns:a16="http://schemas.microsoft.com/office/drawing/2014/main" id="{6D69F5EA-B0E7-DA4A-8B00-86E1B289A3A5}"/>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96" name="Oval 178">
                <a:extLst>
                  <a:ext uri="{FF2B5EF4-FFF2-40B4-BE49-F238E27FC236}">
                    <a16:creationId xmlns:a16="http://schemas.microsoft.com/office/drawing/2014/main" id="{CB13C9A5-3005-C744-AAF5-43F081367869}"/>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Rectangle 179">
                <a:extLst>
                  <a:ext uri="{FF2B5EF4-FFF2-40B4-BE49-F238E27FC236}">
                    <a16:creationId xmlns:a16="http://schemas.microsoft.com/office/drawing/2014/main" id="{5E9EBF99-398D-4346-9CCC-C08D38A90EF0}"/>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5" name="Group 180">
              <a:extLst>
                <a:ext uri="{FF2B5EF4-FFF2-40B4-BE49-F238E27FC236}">
                  <a16:creationId xmlns:a16="http://schemas.microsoft.com/office/drawing/2014/main" id="{68A8F3DD-C4CD-1A4A-A99E-EE08AE2B9ABE}"/>
                </a:ext>
              </a:extLst>
            </p:cNvPr>
            <p:cNvGrpSpPr>
              <a:grpSpLocks/>
            </p:cNvGrpSpPr>
            <p:nvPr/>
          </p:nvGrpSpPr>
          <p:grpSpPr bwMode="auto">
            <a:xfrm flipH="1">
              <a:off x="10010775" y="4435439"/>
              <a:ext cx="803275" cy="771525"/>
              <a:chOff x="-44" y="1473"/>
              <a:chExt cx="981" cy="1105"/>
            </a:xfrm>
          </p:grpSpPr>
          <p:pic>
            <p:nvPicPr>
              <p:cNvPr id="72" name="Picture 181" descr="desktop_computer_stylized_medium">
                <a:extLst>
                  <a:ext uri="{FF2B5EF4-FFF2-40B4-BE49-F238E27FC236}">
                    <a16:creationId xmlns:a16="http://schemas.microsoft.com/office/drawing/2014/main" id="{FB1222DE-2F29-E94E-BA2E-8430BD1F4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182">
                <a:extLst>
                  <a:ext uri="{FF2B5EF4-FFF2-40B4-BE49-F238E27FC236}">
                    <a16:creationId xmlns:a16="http://schemas.microsoft.com/office/drawing/2014/main" id="{25C576CA-310E-BF45-AEA0-47D91F2AB2B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6" name="Group 183">
              <a:extLst>
                <a:ext uri="{FF2B5EF4-FFF2-40B4-BE49-F238E27FC236}">
                  <a16:creationId xmlns:a16="http://schemas.microsoft.com/office/drawing/2014/main" id="{292C5560-DFC2-574D-8C62-B6F62F2DC84B}"/>
                </a:ext>
              </a:extLst>
            </p:cNvPr>
            <p:cNvGrpSpPr>
              <a:grpSpLocks/>
            </p:cNvGrpSpPr>
            <p:nvPr/>
          </p:nvGrpSpPr>
          <p:grpSpPr bwMode="auto">
            <a:xfrm>
              <a:off x="6096000" y="4416389"/>
              <a:ext cx="803275" cy="771525"/>
              <a:chOff x="-44" y="1473"/>
              <a:chExt cx="981" cy="1105"/>
            </a:xfrm>
          </p:grpSpPr>
          <p:pic>
            <p:nvPicPr>
              <p:cNvPr id="70" name="Picture 184" descr="desktop_computer_stylized_medium">
                <a:extLst>
                  <a:ext uri="{FF2B5EF4-FFF2-40B4-BE49-F238E27FC236}">
                    <a16:creationId xmlns:a16="http://schemas.microsoft.com/office/drawing/2014/main" id="{5ADBABA6-9549-8F45-9CC6-895C1B713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85">
                <a:extLst>
                  <a:ext uri="{FF2B5EF4-FFF2-40B4-BE49-F238E27FC236}">
                    <a16:creationId xmlns:a16="http://schemas.microsoft.com/office/drawing/2014/main" id="{175C8E0C-2E66-F847-85BF-1DF27F6E9D5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7" name="Group 186">
              <a:extLst>
                <a:ext uri="{FF2B5EF4-FFF2-40B4-BE49-F238E27FC236}">
                  <a16:creationId xmlns:a16="http://schemas.microsoft.com/office/drawing/2014/main" id="{BFA50ABA-EF43-8248-BFEE-B2185F9FF4CA}"/>
                </a:ext>
              </a:extLst>
            </p:cNvPr>
            <p:cNvGrpSpPr>
              <a:grpSpLocks/>
            </p:cNvGrpSpPr>
            <p:nvPr/>
          </p:nvGrpSpPr>
          <p:grpSpPr bwMode="auto">
            <a:xfrm>
              <a:off x="6718300" y="4865652"/>
              <a:ext cx="803275" cy="771525"/>
              <a:chOff x="-44" y="1473"/>
              <a:chExt cx="981" cy="1105"/>
            </a:xfrm>
          </p:grpSpPr>
          <p:pic>
            <p:nvPicPr>
              <p:cNvPr id="68" name="Picture 187" descr="desktop_computer_stylized_medium">
                <a:extLst>
                  <a:ext uri="{FF2B5EF4-FFF2-40B4-BE49-F238E27FC236}">
                    <a16:creationId xmlns:a16="http://schemas.microsoft.com/office/drawing/2014/main" id="{F7F3CEF1-4AEE-174D-A7EB-35D5923C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188">
                <a:extLst>
                  <a:ext uri="{FF2B5EF4-FFF2-40B4-BE49-F238E27FC236}">
                    <a16:creationId xmlns:a16="http://schemas.microsoft.com/office/drawing/2014/main" id="{092BEB98-510F-A54D-8396-7B8E24FE092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72" name="TextBox 171"/>
          <p:cNvSpPr txBox="1"/>
          <p:nvPr/>
        </p:nvSpPr>
        <p:spPr>
          <a:xfrm>
            <a:off x="1074882" y="1443560"/>
            <a:ext cx="7640493" cy="369332"/>
          </a:xfrm>
          <a:prstGeom prst="rect">
            <a:avLst/>
          </a:prstGeom>
          <a:solidFill>
            <a:srgbClr val="FF9999">
              <a:alpha val="13000"/>
            </a:srgbClr>
          </a:solidFill>
          <a:ln cap="rnd">
            <a:solidFill>
              <a:srgbClr val="C00000"/>
            </a:solidFill>
          </a:ln>
        </p:spPr>
        <p:txBody>
          <a:bodyPr wrap="square" rtlCol="0">
            <a:spAutoFit/>
          </a:bodyPr>
          <a:lstStyle/>
          <a:p>
            <a:pPr algn="ctr"/>
            <a:endParaRPr lang="en-IN" dirty="0">
              <a:solidFill>
                <a:srgbClr val="0000FF"/>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2407759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501">
            <a:extLst>
              <a:ext uri="{FF2B5EF4-FFF2-40B4-BE49-F238E27FC236}">
                <a16:creationId xmlns:a16="http://schemas.microsoft.com/office/drawing/2014/main" id="{40D89921-5710-C74C-85E3-E00C000E60C7}"/>
              </a:ext>
            </a:extLst>
          </p:cNvPr>
          <p:cNvSpPr>
            <a:spLocks noChangeArrowheads="1"/>
          </p:cNvSpPr>
          <p:nvPr/>
        </p:nvSpPr>
        <p:spPr bwMode="auto">
          <a:xfrm rot="19054292" flipH="1">
            <a:off x="9940035" y="2627164"/>
            <a:ext cx="537257" cy="1152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79" name="Rectangle 508">
            <a:extLst>
              <a:ext uri="{FF2B5EF4-FFF2-40B4-BE49-F238E27FC236}">
                <a16:creationId xmlns:a16="http://schemas.microsoft.com/office/drawing/2014/main" id="{0C717AD0-EA8E-2246-B4E3-6A0F4C1E9FA2}"/>
              </a:ext>
            </a:extLst>
          </p:cNvPr>
          <p:cNvSpPr>
            <a:spLocks noChangeArrowheads="1"/>
          </p:cNvSpPr>
          <p:nvPr/>
        </p:nvSpPr>
        <p:spPr bwMode="auto">
          <a:xfrm rot="2841169">
            <a:off x="10050961" y="4310166"/>
            <a:ext cx="538425" cy="1152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3" name="Rectangle 3">
            <a:extLst>
              <a:ext uri="{FF2B5EF4-FFF2-40B4-BE49-F238E27FC236}">
                <a16:creationId xmlns:a16="http://schemas.microsoft.com/office/drawing/2014/main" id="{4AEA1865-8C28-134C-8B6C-07E3981D0325}"/>
              </a:ext>
            </a:extLst>
          </p:cNvPr>
          <p:cNvSpPr txBox="1">
            <a:spLocks noChangeArrowheads="1"/>
          </p:cNvSpPr>
          <p:nvPr/>
        </p:nvSpPr>
        <p:spPr>
          <a:xfrm>
            <a:off x="252804" y="755183"/>
            <a:ext cx="11209623" cy="296212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a:defRPr/>
            </a:pPr>
            <a:r>
              <a:rPr lang="en-US" sz="2400" dirty="0">
                <a:solidFill>
                  <a:srgbClr val="C00000"/>
                </a:solidFill>
                <a:latin typeface="Avenir Book" panose="020B0503020203020204" pitchFamily="34" charset="-78"/>
                <a:cs typeface="Avenir Book" panose="020B0503020203020204" pitchFamily="34" charset="-78"/>
              </a:rPr>
              <a:t>The senders need to adapt/tune the sending rates to match the </a:t>
            </a:r>
            <a:r>
              <a:rPr lang="en-US" sz="2400" dirty="0">
                <a:solidFill>
                  <a:srgbClr val="0000FF"/>
                </a:solidFill>
                <a:latin typeface="Avenir Book" panose="020B0503020203020204" pitchFamily="34" charset="-78"/>
                <a:cs typeface="Avenir Book" panose="020B0503020203020204" pitchFamily="34" charset="-78"/>
              </a:rPr>
              <a:t>available bandwidth </a:t>
            </a:r>
            <a:r>
              <a:rPr lang="en-US" sz="2400" dirty="0">
                <a:solidFill>
                  <a:srgbClr val="C00000"/>
                </a:solidFill>
                <a:latin typeface="Avenir Book" panose="020B0503020203020204" pitchFamily="34" charset="-78"/>
                <a:cs typeface="Avenir Book" panose="020B0503020203020204" pitchFamily="34" charset="-78"/>
              </a:rPr>
              <a:t>of the </a:t>
            </a:r>
            <a:r>
              <a:rPr lang="en-US" sz="2400" dirty="0">
                <a:solidFill>
                  <a:srgbClr val="0000FF"/>
                </a:solidFill>
                <a:latin typeface="Avenir Book" panose="020B0503020203020204" pitchFamily="34" charset="-78"/>
                <a:cs typeface="Avenir Book" panose="020B0503020203020204" pitchFamily="34" charset="-78"/>
              </a:rPr>
              <a:t>bottleneck link</a:t>
            </a:r>
          </a:p>
          <a:p>
            <a:pPr marL="807244" lvl="1" indent="-252413">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Sending rate= function (available bandwidth of the bottleneck link) </a:t>
            </a:r>
          </a:p>
          <a:p>
            <a:pPr marL="554831" lvl="1" indent="0">
              <a:buNone/>
              <a:defRPr/>
            </a:pPr>
            <a:endParaRPr lang="en-US" dirty="0">
              <a:solidFill>
                <a:prstClr val="black"/>
              </a:solidFill>
              <a:latin typeface="Avenir Book" panose="020B0503020203020204" pitchFamily="34" charset="-78"/>
              <a:cs typeface="Avenir Book" panose="020B0503020203020204" pitchFamily="34" charset="-78"/>
            </a:endParaRPr>
          </a:p>
        </p:txBody>
      </p:sp>
      <p:sp>
        <p:nvSpPr>
          <p:cNvPr id="142"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a:xfrm>
            <a:off x="2089079" y="87439"/>
            <a:ext cx="8354291" cy="764674"/>
          </a:xfrm>
        </p:spPr>
        <p:txBody>
          <a:bodyPr>
            <a:normAutofit/>
          </a:bodyPr>
          <a:lstStyle/>
          <a:p>
            <a:pPr algn="ctr">
              <a:defRPr/>
            </a:pPr>
            <a:r>
              <a:rPr lang="en-US" sz="3600" dirty="0">
                <a:latin typeface="Avenir Book" panose="020B0503020203020204" pitchFamily="34" charset="-78"/>
                <a:cs typeface="Avenir Book" panose="020B0503020203020204" pitchFamily="34" charset="-78"/>
              </a:rPr>
              <a:t>Challenges of Congestion Control</a:t>
            </a:r>
            <a:endParaRPr lang="en-US" sz="4050" dirty="0">
              <a:latin typeface="Avenir Book" panose="020B0503020203020204" pitchFamily="34" charset="-78"/>
              <a:cs typeface="Avenir Book" panose="020B0503020203020204" pitchFamily="34" charset="-78"/>
            </a:endParaRPr>
          </a:p>
        </p:txBody>
      </p:sp>
      <p:sp>
        <p:nvSpPr>
          <p:cNvPr id="322"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231234" y="2186347"/>
            <a:ext cx="7121546" cy="3763701"/>
          </a:xfrm>
        </p:spPr>
        <p:txBody>
          <a:bodyPr>
            <a:normAutofit/>
          </a:bodyPr>
          <a:lstStyle/>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Which link has the lowest available bandwidth?</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Sender does not have the global picture</a:t>
            </a:r>
          </a:p>
          <a:p>
            <a:pPr marL="431006" lvl="1" indent="0" defTabSz="685800">
              <a:spcBef>
                <a:spcPts val="750"/>
              </a:spcBef>
              <a:buNone/>
              <a:defRPr/>
            </a:pPr>
            <a:endPar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endParaRPr>
          </a:p>
          <a:p>
            <a:pPr marL="235744" indent="-252413" defTabSz="685800">
              <a:spcBef>
                <a:spcPts val="750"/>
              </a:spcBef>
              <a:defRPr/>
            </a:pPr>
            <a:r>
              <a:rPr lang="en-US" sz="24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Available bandwidth varies with time</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Number of flows and their offered load is dynamic</a:t>
            </a:r>
          </a:p>
          <a:p>
            <a:pPr marL="683419" lvl="1" indent="-252413" defTabSz="685800">
              <a:spcBef>
                <a:spcPts val="750"/>
              </a:spcBef>
              <a:defRPr/>
            </a:pP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Bottleneck link can also vary</a:t>
            </a:r>
            <a:endParaRPr lang="en-US" sz="2000" dirty="0">
              <a:solidFill>
                <a:prstClr val="black"/>
              </a:solidFill>
              <a:latin typeface="Avenir Book" panose="020B0503020203020204" pitchFamily="34" charset="-78"/>
              <a:cs typeface="Avenir Book" panose="020B0503020203020204" pitchFamily="34" charset="-78"/>
            </a:endParaRPr>
          </a:p>
        </p:txBody>
      </p:sp>
      <p:grpSp>
        <p:nvGrpSpPr>
          <p:cNvPr id="15" name="Group 14">
            <a:extLst>
              <a:ext uri="{FF2B5EF4-FFF2-40B4-BE49-F238E27FC236}">
                <a16:creationId xmlns:a16="http://schemas.microsoft.com/office/drawing/2014/main" id="{30BDC7F4-E0CA-5441-8A92-F3458106F4EB}"/>
              </a:ext>
            </a:extLst>
          </p:cNvPr>
          <p:cNvGrpSpPr/>
          <p:nvPr/>
        </p:nvGrpSpPr>
        <p:grpSpPr>
          <a:xfrm>
            <a:off x="8012849" y="2024500"/>
            <a:ext cx="3471147" cy="3083250"/>
            <a:chOff x="6096000" y="1390614"/>
            <a:chExt cx="4718050" cy="4246563"/>
          </a:xfrm>
        </p:grpSpPr>
        <p:sp>
          <p:nvSpPr>
            <p:cNvPr id="17" name="Freeform 296">
              <a:extLst>
                <a:ext uri="{FF2B5EF4-FFF2-40B4-BE49-F238E27FC236}">
                  <a16:creationId xmlns:a16="http://schemas.microsoft.com/office/drawing/2014/main" id="{12223E81-DDE4-C440-BABA-D7BC48DB125E}"/>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9" name="Oval 40">
              <a:extLst>
                <a:ext uri="{FF2B5EF4-FFF2-40B4-BE49-F238E27FC236}">
                  <a16:creationId xmlns:a16="http://schemas.microsoft.com/office/drawing/2014/main" id="{8D4D9D6D-6FB5-AA4B-B509-A8973E6C8AC9}"/>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0" name="Rectangle 41">
              <a:extLst>
                <a:ext uri="{FF2B5EF4-FFF2-40B4-BE49-F238E27FC236}">
                  <a16:creationId xmlns:a16="http://schemas.microsoft.com/office/drawing/2014/main" id="{557406FF-659D-D646-B73D-12838ED2BD49}"/>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Oval 42">
              <a:extLst>
                <a:ext uri="{FF2B5EF4-FFF2-40B4-BE49-F238E27FC236}">
                  <a16:creationId xmlns:a16="http://schemas.microsoft.com/office/drawing/2014/main" id="{0A481A93-ECB7-E246-837A-F6BC6402D6BD}"/>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Rectangle 43">
              <a:extLst>
                <a:ext uri="{FF2B5EF4-FFF2-40B4-BE49-F238E27FC236}">
                  <a16:creationId xmlns:a16="http://schemas.microsoft.com/office/drawing/2014/main" id="{A6B95B4A-EADA-2646-8C69-44AD71FF2F13}"/>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Oval 31">
              <a:extLst>
                <a:ext uri="{FF2B5EF4-FFF2-40B4-BE49-F238E27FC236}">
                  <a16:creationId xmlns:a16="http://schemas.microsoft.com/office/drawing/2014/main" id="{D34D4E69-9BEB-E84C-9C95-F587DC39C7FA}"/>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Rectangle 32">
              <a:extLst>
                <a:ext uri="{FF2B5EF4-FFF2-40B4-BE49-F238E27FC236}">
                  <a16:creationId xmlns:a16="http://schemas.microsoft.com/office/drawing/2014/main" id="{AF4F01BC-E0BA-6145-9A94-C368A9DCD9FA}"/>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5" name="Oval 33">
              <a:extLst>
                <a:ext uri="{FF2B5EF4-FFF2-40B4-BE49-F238E27FC236}">
                  <a16:creationId xmlns:a16="http://schemas.microsoft.com/office/drawing/2014/main" id="{0FB3506E-741A-1449-B57D-DCE4E8B681A0}"/>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6" name="Rectangle 34">
              <a:extLst>
                <a:ext uri="{FF2B5EF4-FFF2-40B4-BE49-F238E27FC236}">
                  <a16:creationId xmlns:a16="http://schemas.microsoft.com/office/drawing/2014/main" id="{323C4318-B148-DC47-ABE2-1E709105E921}"/>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7" name="Line 456">
              <a:extLst>
                <a:ext uri="{FF2B5EF4-FFF2-40B4-BE49-F238E27FC236}">
                  <a16:creationId xmlns:a16="http://schemas.microsoft.com/office/drawing/2014/main" id="{8173438F-0B9B-B64F-A181-BAB4D0B2F0C7}"/>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8" name="Oval 469">
              <a:extLst>
                <a:ext uri="{FF2B5EF4-FFF2-40B4-BE49-F238E27FC236}">
                  <a16:creationId xmlns:a16="http://schemas.microsoft.com/office/drawing/2014/main" id="{7E85E8A1-86AF-324B-8460-F6A7D5EAC092}"/>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Rectangle 470">
              <a:extLst>
                <a:ext uri="{FF2B5EF4-FFF2-40B4-BE49-F238E27FC236}">
                  <a16:creationId xmlns:a16="http://schemas.microsoft.com/office/drawing/2014/main" id="{55557922-2CFC-1B45-B737-1FBBBEAE269A}"/>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0" name="Oval 471">
              <a:extLst>
                <a:ext uri="{FF2B5EF4-FFF2-40B4-BE49-F238E27FC236}">
                  <a16:creationId xmlns:a16="http://schemas.microsoft.com/office/drawing/2014/main" id="{5D3F57BE-8666-1D44-A006-F78419384E95}"/>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1" name="Rectangle 472">
              <a:extLst>
                <a:ext uri="{FF2B5EF4-FFF2-40B4-BE49-F238E27FC236}">
                  <a16:creationId xmlns:a16="http://schemas.microsoft.com/office/drawing/2014/main" id="{64C792DE-6968-B34C-9D1B-D2467DCDD720}"/>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2" name="Line 473">
              <a:extLst>
                <a:ext uri="{FF2B5EF4-FFF2-40B4-BE49-F238E27FC236}">
                  <a16:creationId xmlns:a16="http://schemas.microsoft.com/office/drawing/2014/main" id="{51F1769C-1A62-EC4E-B22E-FFF40B43E7CF}"/>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3" name="Oval 476">
              <a:extLst>
                <a:ext uri="{FF2B5EF4-FFF2-40B4-BE49-F238E27FC236}">
                  <a16:creationId xmlns:a16="http://schemas.microsoft.com/office/drawing/2014/main" id="{551553F9-6760-6E44-947E-2E2826C45546}"/>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Rectangle 477">
              <a:extLst>
                <a:ext uri="{FF2B5EF4-FFF2-40B4-BE49-F238E27FC236}">
                  <a16:creationId xmlns:a16="http://schemas.microsoft.com/office/drawing/2014/main" id="{424063E3-158A-984A-BFC8-01ECC771823D}"/>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5" name="Oval 478">
              <a:extLst>
                <a:ext uri="{FF2B5EF4-FFF2-40B4-BE49-F238E27FC236}">
                  <a16:creationId xmlns:a16="http://schemas.microsoft.com/office/drawing/2014/main" id="{E5AD8F86-97E2-7648-BE88-A4ABC6A350D0}"/>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6" name="Rectangle 479">
              <a:extLst>
                <a:ext uri="{FF2B5EF4-FFF2-40B4-BE49-F238E27FC236}">
                  <a16:creationId xmlns:a16="http://schemas.microsoft.com/office/drawing/2014/main" id="{598EC6E7-BD77-134B-A756-3D43B04CC7E1}"/>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7" name="Line 480">
              <a:extLst>
                <a:ext uri="{FF2B5EF4-FFF2-40B4-BE49-F238E27FC236}">
                  <a16:creationId xmlns:a16="http://schemas.microsoft.com/office/drawing/2014/main" id="{AFDCBA44-8593-C94C-9FA7-FED9DC63A55B}"/>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8" name="Oval 483">
              <a:extLst>
                <a:ext uri="{FF2B5EF4-FFF2-40B4-BE49-F238E27FC236}">
                  <a16:creationId xmlns:a16="http://schemas.microsoft.com/office/drawing/2014/main" id="{9B669AE7-0EE8-EC41-9DC1-37D185E64362}"/>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Rectangle 484">
              <a:extLst>
                <a:ext uri="{FF2B5EF4-FFF2-40B4-BE49-F238E27FC236}">
                  <a16:creationId xmlns:a16="http://schemas.microsoft.com/office/drawing/2014/main" id="{C65A0801-59C0-0744-8000-2F197C940E78}"/>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0" name="Oval 485">
              <a:extLst>
                <a:ext uri="{FF2B5EF4-FFF2-40B4-BE49-F238E27FC236}">
                  <a16:creationId xmlns:a16="http://schemas.microsoft.com/office/drawing/2014/main" id="{618A0B18-5A9F-C940-A80E-7B06B49B60F9}"/>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1" name="Rectangle 486">
              <a:extLst>
                <a:ext uri="{FF2B5EF4-FFF2-40B4-BE49-F238E27FC236}">
                  <a16:creationId xmlns:a16="http://schemas.microsoft.com/office/drawing/2014/main" id="{0EC6AAEC-D5EF-0B44-AE75-B5161067D347}"/>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2" name="Line 487">
              <a:extLst>
                <a:ext uri="{FF2B5EF4-FFF2-40B4-BE49-F238E27FC236}">
                  <a16:creationId xmlns:a16="http://schemas.microsoft.com/office/drawing/2014/main" id="{6C5A899D-7A45-874B-9EBC-4587CF6DE09E}"/>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Oval 500">
              <a:extLst>
                <a:ext uri="{FF2B5EF4-FFF2-40B4-BE49-F238E27FC236}">
                  <a16:creationId xmlns:a16="http://schemas.microsoft.com/office/drawing/2014/main" id="{2C1CCE43-DB7D-AE44-BC92-2EC22940EC4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4" name="Rectangle 501">
              <a:extLst>
                <a:ext uri="{FF2B5EF4-FFF2-40B4-BE49-F238E27FC236}">
                  <a16:creationId xmlns:a16="http://schemas.microsoft.com/office/drawing/2014/main" id="{40D89921-5710-C74C-85E3-E00C000E60C7}"/>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5" name="Oval 502">
              <a:extLst>
                <a:ext uri="{FF2B5EF4-FFF2-40B4-BE49-F238E27FC236}">
                  <a16:creationId xmlns:a16="http://schemas.microsoft.com/office/drawing/2014/main" id="{04ED2CB6-E629-0044-88FF-DD5D436E58BF}"/>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Rectangle 503">
              <a:extLst>
                <a:ext uri="{FF2B5EF4-FFF2-40B4-BE49-F238E27FC236}">
                  <a16:creationId xmlns:a16="http://schemas.microsoft.com/office/drawing/2014/main" id="{0D6041B8-7217-4F4F-92D9-8F4D04231EDF}"/>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7" name="Line 504">
              <a:extLst>
                <a:ext uri="{FF2B5EF4-FFF2-40B4-BE49-F238E27FC236}">
                  <a16:creationId xmlns:a16="http://schemas.microsoft.com/office/drawing/2014/main" id="{45C56574-1E78-FA49-9616-971A302E931F}"/>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Oval 507">
              <a:extLst>
                <a:ext uri="{FF2B5EF4-FFF2-40B4-BE49-F238E27FC236}">
                  <a16:creationId xmlns:a16="http://schemas.microsoft.com/office/drawing/2014/main" id="{9F9B82D5-4B1D-6043-BBA5-D051EBBBCAD8}"/>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9" name="Rectangle 508">
              <a:extLst>
                <a:ext uri="{FF2B5EF4-FFF2-40B4-BE49-F238E27FC236}">
                  <a16:creationId xmlns:a16="http://schemas.microsoft.com/office/drawing/2014/main" id="{0C717AD0-EA8E-2246-B4E3-6A0F4C1E9FA2}"/>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50" name="Oval 509">
              <a:extLst>
                <a:ext uri="{FF2B5EF4-FFF2-40B4-BE49-F238E27FC236}">
                  <a16:creationId xmlns:a16="http://schemas.microsoft.com/office/drawing/2014/main" id="{EE3B1AF8-64A0-EC47-B91B-48B11E36D82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1" name="Rectangle 510">
              <a:extLst>
                <a:ext uri="{FF2B5EF4-FFF2-40B4-BE49-F238E27FC236}">
                  <a16:creationId xmlns:a16="http://schemas.microsoft.com/office/drawing/2014/main" id="{860AFC74-9568-6A49-803C-0B2D793022B7}"/>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52" name="Line 511">
              <a:extLst>
                <a:ext uri="{FF2B5EF4-FFF2-40B4-BE49-F238E27FC236}">
                  <a16:creationId xmlns:a16="http://schemas.microsoft.com/office/drawing/2014/main" id="{2B4EDB9F-73F1-C34D-96D9-5CDCB88B2124}"/>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5" name="Freeform 515">
              <a:extLst>
                <a:ext uri="{FF2B5EF4-FFF2-40B4-BE49-F238E27FC236}">
                  <a16:creationId xmlns:a16="http://schemas.microsoft.com/office/drawing/2014/main" id="{F6112B49-DFF7-4442-8AE0-8CF8CFAA614D}"/>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7" name="Freeform 517">
              <a:extLst>
                <a:ext uri="{FF2B5EF4-FFF2-40B4-BE49-F238E27FC236}">
                  <a16:creationId xmlns:a16="http://schemas.microsoft.com/office/drawing/2014/main" id="{3FAF4BE0-D787-B34B-BA37-0770AC8BF2E1}"/>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8" name="Freeform 518">
              <a:extLst>
                <a:ext uri="{FF2B5EF4-FFF2-40B4-BE49-F238E27FC236}">
                  <a16:creationId xmlns:a16="http://schemas.microsoft.com/office/drawing/2014/main" id="{9EF6A7FC-B534-4346-A5DD-041A4F1C6C62}"/>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2" name="Group 81">
              <a:extLst>
                <a:ext uri="{FF2B5EF4-FFF2-40B4-BE49-F238E27FC236}">
                  <a16:creationId xmlns:a16="http://schemas.microsoft.com/office/drawing/2014/main" id="{6FDBF652-A395-234F-BA73-32CC54B4720C}"/>
                </a:ext>
              </a:extLst>
            </p:cNvPr>
            <p:cNvGrpSpPr>
              <a:grpSpLocks/>
            </p:cNvGrpSpPr>
            <p:nvPr/>
          </p:nvGrpSpPr>
          <p:grpSpPr bwMode="auto">
            <a:xfrm>
              <a:off x="6435725" y="1730339"/>
              <a:ext cx="352425" cy="660400"/>
              <a:chOff x="4140" y="429"/>
              <a:chExt cx="1425" cy="2396"/>
            </a:xfrm>
          </p:grpSpPr>
          <p:sp>
            <p:nvSpPr>
              <p:cNvPr id="139" name="Freeform 82">
                <a:extLst>
                  <a:ext uri="{FF2B5EF4-FFF2-40B4-BE49-F238E27FC236}">
                    <a16:creationId xmlns:a16="http://schemas.microsoft.com/office/drawing/2014/main" id="{11ED42DE-3E1B-9B40-9A14-016018BA3CF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0" name="Rectangle 83">
                <a:extLst>
                  <a:ext uri="{FF2B5EF4-FFF2-40B4-BE49-F238E27FC236}">
                    <a16:creationId xmlns:a16="http://schemas.microsoft.com/office/drawing/2014/main" id="{69066424-99FF-0247-8B01-B3EC332AA481}"/>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84">
                <a:extLst>
                  <a:ext uri="{FF2B5EF4-FFF2-40B4-BE49-F238E27FC236}">
                    <a16:creationId xmlns:a16="http://schemas.microsoft.com/office/drawing/2014/main" id="{024DB4DC-EB26-FF42-8E20-FFB6C8EFBD9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Freeform 85">
                <a:extLst>
                  <a:ext uri="{FF2B5EF4-FFF2-40B4-BE49-F238E27FC236}">
                    <a16:creationId xmlns:a16="http://schemas.microsoft.com/office/drawing/2014/main" id="{E2B0F75E-1C81-FF41-A3F5-E7ADC8B671EA}"/>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Rectangle 86">
                <a:extLst>
                  <a:ext uri="{FF2B5EF4-FFF2-40B4-BE49-F238E27FC236}">
                    <a16:creationId xmlns:a16="http://schemas.microsoft.com/office/drawing/2014/main" id="{223D30BF-8699-6A44-AEB2-35D0F31FABD6}"/>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45" name="Group 87">
                <a:extLst>
                  <a:ext uri="{FF2B5EF4-FFF2-40B4-BE49-F238E27FC236}">
                    <a16:creationId xmlns:a16="http://schemas.microsoft.com/office/drawing/2014/main" id="{2B7A3D5E-6156-0044-BF32-DFE6857F6F3A}"/>
                  </a:ext>
                </a:extLst>
              </p:cNvPr>
              <p:cNvGrpSpPr>
                <a:grpSpLocks/>
              </p:cNvGrpSpPr>
              <p:nvPr/>
            </p:nvGrpSpPr>
            <p:grpSpPr bwMode="auto">
              <a:xfrm>
                <a:off x="4749" y="668"/>
                <a:ext cx="581" cy="145"/>
                <a:chOff x="614" y="2568"/>
                <a:chExt cx="725" cy="139"/>
              </a:xfrm>
            </p:grpSpPr>
            <p:sp>
              <p:nvSpPr>
                <p:cNvPr id="170" name="AutoShape 88">
                  <a:extLst>
                    <a:ext uri="{FF2B5EF4-FFF2-40B4-BE49-F238E27FC236}">
                      <a16:creationId xmlns:a16="http://schemas.microsoft.com/office/drawing/2014/main" id="{CE04A0BE-092C-E54B-91D3-87501C8CF3D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1" name="AutoShape 89">
                  <a:extLst>
                    <a:ext uri="{FF2B5EF4-FFF2-40B4-BE49-F238E27FC236}">
                      <a16:creationId xmlns:a16="http://schemas.microsoft.com/office/drawing/2014/main" id="{F5E55A3E-082B-F842-9E07-78A2A995429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6" name="Rectangle 90">
                <a:extLst>
                  <a:ext uri="{FF2B5EF4-FFF2-40B4-BE49-F238E27FC236}">
                    <a16:creationId xmlns:a16="http://schemas.microsoft.com/office/drawing/2014/main" id="{3335A9A0-ABC5-1A45-A4DB-4B8E3B4F0D3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47" name="Group 91">
                <a:extLst>
                  <a:ext uri="{FF2B5EF4-FFF2-40B4-BE49-F238E27FC236}">
                    <a16:creationId xmlns:a16="http://schemas.microsoft.com/office/drawing/2014/main" id="{6C288698-9C54-614A-9160-55F71D5AEC28}"/>
                  </a:ext>
                </a:extLst>
              </p:cNvPr>
              <p:cNvGrpSpPr>
                <a:grpSpLocks/>
              </p:cNvGrpSpPr>
              <p:nvPr/>
            </p:nvGrpSpPr>
            <p:grpSpPr bwMode="auto">
              <a:xfrm>
                <a:off x="4747" y="994"/>
                <a:ext cx="581" cy="134"/>
                <a:chOff x="614" y="2568"/>
                <a:chExt cx="725" cy="139"/>
              </a:xfrm>
            </p:grpSpPr>
            <p:sp>
              <p:nvSpPr>
                <p:cNvPr id="168" name="AutoShape 92">
                  <a:extLst>
                    <a:ext uri="{FF2B5EF4-FFF2-40B4-BE49-F238E27FC236}">
                      <a16:creationId xmlns:a16="http://schemas.microsoft.com/office/drawing/2014/main" id="{6A0C18A4-1291-7E43-9345-2A91D6A4B36D}"/>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9" name="AutoShape 93">
                  <a:extLst>
                    <a:ext uri="{FF2B5EF4-FFF2-40B4-BE49-F238E27FC236}">
                      <a16:creationId xmlns:a16="http://schemas.microsoft.com/office/drawing/2014/main" id="{AC667623-4334-3148-A595-C268518DA61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8" name="Rectangle 94">
                <a:extLst>
                  <a:ext uri="{FF2B5EF4-FFF2-40B4-BE49-F238E27FC236}">
                    <a16:creationId xmlns:a16="http://schemas.microsoft.com/office/drawing/2014/main" id="{80DE7B80-C6BB-8A4D-BED5-F51D9888FD6E}"/>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9" name="Rectangle 95">
                <a:extLst>
                  <a:ext uri="{FF2B5EF4-FFF2-40B4-BE49-F238E27FC236}">
                    <a16:creationId xmlns:a16="http://schemas.microsoft.com/office/drawing/2014/main" id="{53B39C8C-A4C0-E44F-A049-598F76D03ED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50" name="Group 96">
                <a:extLst>
                  <a:ext uri="{FF2B5EF4-FFF2-40B4-BE49-F238E27FC236}">
                    <a16:creationId xmlns:a16="http://schemas.microsoft.com/office/drawing/2014/main" id="{8FAE680F-D5F2-F141-AF0E-EFEDC93174C5}"/>
                  </a:ext>
                </a:extLst>
              </p:cNvPr>
              <p:cNvGrpSpPr>
                <a:grpSpLocks/>
              </p:cNvGrpSpPr>
              <p:nvPr/>
            </p:nvGrpSpPr>
            <p:grpSpPr bwMode="auto">
              <a:xfrm>
                <a:off x="4735" y="1627"/>
                <a:ext cx="582" cy="151"/>
                <a:chOff x="614" y="2568"/>
                <a:chExt cx="725" cy="139"/>
              </a:xfrm>
            </p:grpSpPr>
            <p:sp>
              <p:nvSpPr>
                <p:cNvPr id="166" name="AutoShape 97">
                  <a:extLst>
                    <a:ext uri="{FF2B5EF4-FFF2-40B4-BE49-F238E27FC236}">
                      <a16:creationId xmlns:a16="http://schemas.microsoft.com/office/drawing/2014/main" id="{F6E6D6FE-5487-4B45-9CD9-034725C3419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7" name="AutoShape 98">
                  <a:extLst>
                    <a:ext uri="{FF2B5EF4-FFF2-40B4-BE49-F238E27FC236}">
                      <a16:creationId xmlns:a16="http://schemas.microsoft.com/office/drawing/2014/main" id="{17E4B9CD-9942-AB49-9DCF-EA4C278CAD0C}"/>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51" name="Freeform 99">
                <a:extLst>
                  <a:ext uri="{FF2B5EF4-FFF2-40B4-BE49-F238E27FC236}">
                    <a16:creationId xmlns:a16="http://schemas.microsoft.com/office/drawing/2014/main" id="{66DBC1AB-D3D3-D54A-97DB-61ACDA49892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52" name="Group 100">
                <a:extLst>
                  <a:ext uri="{FF2B5EF4-FFF2-40B4-BE49-F238E27FC236}">
                    <a16:creationId xmlns:a16="http://schemas.microsoft.com/office/drawing/2014/main" id="{0ACCF28A-C12F-C84F-B594-FD3A670B69E4}"/>
                  </a:ext>
                </a:extLst>
              </p:cNvPr>
              <p:cNvGrpSpPr>
                <a:grpSpLocks/>
              </p:cNvGrpSpPr>
              <p:nvPr/>
            </p:nvGrpSpPr>
            <p:grpSpPr bwMode="auto">
              <a:xfrm>
                <a:off x="4739" y="1327"/>
                <a:ext cx="582" cy="139"/>
                <a:chOff x="614" y="2568"/>
                <a:chExt cx="725" cy="139"/>
              </a:xfrm>
            </p:grpSpPr>
            <p:sp>
              <p:nvSpPr>
                <p:cNvPr id="164" name="AutoShape 101">
                  <a:extLst>
                    <a:ext uri="{FF2B5EF4-FFF2-40B4-BE49-F238E27FC236}">
                      <a16:creationId xmlns:a16="http://schemas.microsoft.com/office/drawing/2014/main" id="{279BBDF1-57E3-A241-8A44-3F0A3BA124F7}"/>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5" name="AutoShape 102">
                  <a:extLst>
                    <a:ext uri="{FF2B5EF4-FFF2-40B4-BE49-F238E27FC236}">
                      <a16:creationId xmlns:a16="http://schemas.microsoft.com/office/drawing/2014/main" id="{0D4E61D6-1AA1-2940-BBA5-24DFE246E50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53" name="Rectangle 103">
                <a:extLst>
                  <a:ext uri="{FF2B5EF4-FFF2-40B4-BE49-F238E27FC236}">
                    <a16:creationId xmlns:a16="http://schemas.microsoft.com/office/drawing/2014/main" id="{564FBD96-ADF5-5342-92F4-3395008B574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Freeform 104">
                <a:extLst>
                  <a:ext uri="{FF2B5EF4-FFF2-40B4-BE49-F238E27FC236}">
                    <a16:creationId xmlns:a16="http://schemas.microsoft.com/office/drawing/2014/main" id="{F15B27D1-B45C-7141-AB8B-599571DEF3A7}"/>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5" name="Freeform 105">
                <a:extLst>
                  <a:ext uri="{FF2B5EF4-FFF2-40B4-BE49-F238E27FC236}">
                    <a16:creationId xmlns:a16="http://schemas.microsoft.com/office/drawing/2014/main" id="{4DC70B30-DD3F-2740-89CC-C75EDB999D47}"/>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Oval 106">
                <a:extLst>
                  <a:ext uri="{FF2B5EF4-FFF2-40B4-BE49-F238E27FC236}">
                    <a16:creationId xmlns:a16="http://schemas.microsoft.com/office/drawing/2014/main" id="{A0C40071-87FF-864A-81D4-E4F739BF537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7" name="Freeform 107">
                <a:extLst>
                  <a:ext uri="{FF2B5EF4-FFF2-40B4-BE49-F238E27FC236}">
                    <a16:creationId xmlns:a16="http://schemas.microsoft.com/office/drawing/2014/main" id="{2F33C2FE-86C4-B34F-945A-3F9BDF777E58}"/>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108">
                <a:extLst>
                  <a:ext uri="{FF2B5EF4-FFF2-40B4-BE49-F238E27FC236}">
                    <a16:creationId xmlns:a16="http://schemas.microsoft.com/office/drawing/2014/main" id="{A771515B-1A0A-B646-9681-C95CE2F6663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9" name="AutoShape 109">
                <a:extLst>
                  <a:ext uri="{FF2B5EF4-FFF2-40B4-BE49-F238E27FC236}">
                    <a16:creationId xmlns:a16="http://schemas.microsoft.com/office/drawing/2014/main" id="{8DE21308-0063-2D44-A69A-52DF4BDDDF3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0" name="Oval 110">
                <a:extLst>
                  <a:ext uri="{FF2B5EF4-FFF2-40B4-BE49-F238E27FC236}">
                    <a16:creationId xmlns:a16="http://schemas.microsoft.com/office/drawing/2014/main" id="{4B5FBC97-4AE7-1140-B25E-7DBB15568DA9}"/>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1" name="Oval 111">
                <a:extLst>
                  <a:ext uri="{FF2B5EF4-FFF2-40B4-BE49-F238E27FC236}">
                    <a16:creationId xmlns:a16="http://schemas.microsoft.com/office/drawing/2014/main" id="{E22768CA-2A7E-3243-8775-0A66ECEBDAE1}"/>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62" name="Oval 112">
                <a:extLst>
                  <a:ext uri="{FF2B5EF4-FFF2-40B4-BE49-F238E27FC236}">
                    <a16:creationId xmlns:a16="http://schemas.microsoft.com/office/drawing/2014/main" id="{D28018C4-A680-2845-A99A-8AA0A8E021CE}"/>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3" name="Rectangle 113">
                <a:extLst>
                  <a:ext uri="{FF2B5EF4-FFF2-40B4-BE49-F238E27FC236}">
                    <a16:creationId xmlns:a16="http://schemas.microsoft.com/office/drawing/2014/main" id="{8FC5897C-9D21-3A46-90EF-445C7839A9D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3" name="Group 114">
              <a:extLst>
                <a:ext uri="{FF2B5EF4-FFF2-40B4-BE49-F238E27FC236}">
                  <a16:creationId xmlns:a16="http://schemas.microsoft.com/office/drawing/2014/main" id="{B83A96A8-659A-C14A-81F1-36FF3203AFE6}"/>
                </a:ext>
              </a:extLst>
            </p:cNvPr>
            <p:cNvGrpSpPr>
              <a:grpSpLocks/>
            </p:cNvGrpSpPr>
            <p:nvPr/>
          </p:nvGrpSpPr>
          <p:grpSpPr bwMode="auto">
            <a:xfrm>
              <a:off x="7010400" y="1390614"/>
              <a:ext cx="352425" cy="660400"/>
              <a:chOff x="4140" y="429"/>
              <a:chExt cx="1425" cy="2396"/>
            </a:xfrm>
          </p:grpSpPr>
          <p:sp>
            <p:nvSpPr>
              <p:cNvPr id="106" name="Freeform 115">
                <a:extLst>
                  <a:ext uri="{FF2B5EF4-FFF2-40B4-BE49-F238E27FC236}">
                    <a16:creationId xmlns:a16="http://schemas.microsoft.com/office/drawing/2014/main" id="{51E7F745-188F-2049-8F3D-A9F1E48EAE63}"/>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7" name="Rectangle 116">
                <a:extLst>
                  <a:ext uri="{FF2B5EF4-FFF2-40B4-BE49-F238E27FC236}">
                    <a16:creationId xmlns:a16="http://schemas.microsoft.com/office/drawing/2014/main" id="{3330E9B6-9A70-F341-BB07-3C7E5FBB6536}"/>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8" name="Freeform 117">
                <a:extLst>
                  <a:ext uri="{FF2B5EF4-FFF2-40B4-BE49-F238E27FC236}">
                    <a16:creationId xmlns:a16="http://schemas.microsoft.com/office/drawing/2014/main" id="{10DD9A9D-A76F-3641-9CE7-9F73150FB95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18">
                <a:extLst>
                  <a:ext uri="{FF2B5EF4-FFF2-40B4-BE49-F238E27FC236}">
                    <a16:creationId xmlns:a16="http://schemas.microsoft.com/office/drawing/2014/main" id="{1D744195-71CA-F84A-A0EC-B41BAA550BE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Rectangle 119">
                <a:extLst>
                  <a:ext uri="{FF2B5EF4-FFF2-40B4-BE49-F238E27FC236}">
                    <a16:creationId xmlns:a16="http://schemas.microsoft.com/office/drawing/2014/main" id="{08B258E9-429B-A04E-9B31-61FC9C0C903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1" name="Group 120">
                <a:extLst>
                  <a:ext uri="{FF2B5EF4-FFF2-40B4-BE49-F238E27FC236}">
                    <a16:creationId xmlns:a16="http://schemas.microsoft.com/office/drawing/2014/main" id="{052466FA-382D-B34A-B153-D2714C4495BA}"/>
                  </a:ext>
                </a:extLst>
              </p:cNvPr>
              <p:cNvGrpSpPr>
                <a:grpSpLocks/>
              </p:cNvGrpSpPr>
              <p:nvPr/>
            </p:nvGrpSpPr>
            <p:grpSpPr bwMode="auto">
              <a:xfrm>
                <a:off x="4749" y="668"/>
                <a:ext cx="581" cy="145"/>
                <a:chOff x="614" y="2568"/>
                <a:chExt cx="725" cy="139"/>
              </a:xfrm>
            </p:grpSpPr>
            <p:sp>
              <p:nvSpPr>
                <p:cNvPr id="137" name="AutoShape 121">
                  <a:extLst>
                    <a:ext uri="{FF2B5EF4-FFF2-40B4-BE49-F238E27FC236}">
                      <a16:creationId xmlns:a16="http://schemas.microsoft.com/office/drawing/2014/main" id="{A21CDD7A-2555-5B47-9078-A436ACA9B20D}"/>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8" name="AutoShape 122">
                  <a:extLst>
                    <a:ext uri="{FF2B5EF4-FFF2-40B4-BE49-F238E27FC236}">
                      <a16:creationId xmlns:a16="http://schemas.microsoft.com/office/drawing/2014/main" id="{CBF9610B-13CA-D841-A288-8379AC7B45D4}"/>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2" name="Rectangle 123">
                <a:extLst>
                  <a:ext uri="{FF2B5EF4-FFF2-40B4-BE49-F238E27FC236}">
                    <a16:creationId xmlns:a16="http://schemas.microsoft.com/office/drawing/2014/main" id="{CBC048D4-7B3A-6F41-A02E-503359CF5C92}"/>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3" name="Group 124">
                <a:extLst>
                  <a:ext uri="{FF2B5EF4-FFF2-40B4-BE49-F238E27FC236}">
                    <a16:creationId xmlns:a16="http://schemas.microsoft.com/office/drawing/2014/main" id="{4D7B123C-FEF1-E041-894F-F31DD588C361}"/>
                  </a:ext>
                </a:extLst>
              </p:cNvPr>
              <p:cNvGrpSpPr>
                <a:grpSpLocks/>
              </p:cNvGrpSpPr>
              <p:nvPr/>
            </p:nvGrpSpPr>
            <p:grpSpPr bwMode="auto">
              <a:xfrm>
                <a:off x="4747" y="994"/>
                <a:ext cx="581" cy="134"/>
                <a:chOff x="614" y="2568"/>
                <a:chExt cx="725" cy="139"/>
              </a:xfrm>
            </p:grpSpPr>
            <p:sp>
              <p:nvSpPr>
                <p:cNvPr id="135" name="AutoShape 125">
                  <a:extLst>
                    <a:ext uri="{FF2B5EF4-FFF2-40B4-BE49-F238E27FC236}">
                      <a16:creationId xmlns:a16="http://schemas.microsoft.com/office/drawing/2014/main" id="{DAEC4BE7-B702-0848-BF3B-82C6FCF0AE7A}"/>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AutoShape 126">
                  <a:extLst>
                    <a:ext uri="{FF2B5EF4-FFF2-40B4-BE49-F238E27FC236}">
                      <a16:creationId xmlns:a16="http://schemas.microsoft.com/office/drawing/2014/main" id="{FBEAEEDC-D373-2043-9097-A4F8AEA4ED4B}"/>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4" name="Rectangle 127">
                <a:extLst>
                  <a:ext uri="{FF2B5EF4-FFF2-40B4-BE49-F238E27FC236}">
                    <a16:creationId xmlns:a16="http://schemas.microsoft.com/office/drawing/2014/main" id="{4DD8CBA3-5EC3-7B48-9BE0-6003CD8A0AA3}"/>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Rectangle 128">
                <a:extLst>
                  <a:ext uri="{FF2B5EF4-FFF2-40B4-BE49-F238E27FC236}">
                    <a16:creationId xmlns:a16="http://schemas.microsoft.com/office/drawing/2014/main" id="{BA5E53EA-3ECC-A847-B148-B8ED1636EA9D}"/>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6" name="Group 129">
                <a:extLst>
                  <a:ext uri="{FF2B5EF4-FFF2-40B4-BE49-F238E27FC236}">
                    <a16:creationId xmlns:a16="http://schemas.microsoft.com/office/drawing/2014/main" id="{C816273C-68D1-2045-8CE5-F2A266739EB5}"/>
                  </a:ext>
                </a:extLst>
              </p:cNvPr>
              <p:cNvGrpSpPr>
                <a:grpSpLocks/>
              </p:cNvGrpSpPr>
              <p:nvPr/>
            </p:nvGrpSpPr>
            <p:grpSpPr bwMode="auto">
              <a:xfrm>
                <a:off x="4735" y="1627"/>
                <a:ext cx="582" cy="151"/>
                <a:chOff x="614" y="2568"/>
                <a:chExt cx="725" cy="139"/>
              </a:xfrm>
            </p:grpSpPr>
            <p:sp>
              <p:nvSpPr>
                <p:cNvPr id="132" name="AutoShape 130">
                  <a:extLst>
                    <a:ext uri="{FF2B5EF4-FFF2-40B4-BE49-F238E27FC236}">
                      <a16:creationId xmlns:a16="http://schemas.microsoft.com/office/drawing/2014/main" id="{AE043AC3-A076-4449-9CD3-8DA37B0F0905}"/>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4" name="AutoShape 131">
                  <a:extLst>
                    <a:ext uri="{FF2B5EF4-FFF2-40B4-BE49-F238E27FC236}">
                      <a16:creationId xmlns:a16="http://schemas.microsoft.com/office/drawing/2014/main" id="{E346A75D-7CBE-8A47-B07E-5D39EAB4BEA6}"/>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7" name="Freeform 132">
                <a:extLst>
                  <a:ext uri="{FF2B5EF4-FFF2-40B4-BE49-F238E27FC236}">
                    <a16:creationId xmlns:a16="http://schemas.microsoft.com/office/drawing/2014/main" id="{F00AFCE9-BD33-D444-BA2F-95E3560637A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18" name="Group 133">
                <a:extLst>
                  <a:ext uri="{FF2B5EF4-FFF2-40B4-BE49-F238E27FC236}">
                    <a16:creationId xmlns:a16="http://schemas.microsoft.com/office/drawing/2014/main" id="{DF061EE0-DC00-D341-ACD4-2D438E4D7331}"/>
                  </a:ext>
                </a:extLst>
              </p:cNvPr>
              <p:cNvGrpSpPr>
                <a:grpSpLocks/>
              </p:cNvGrpSpPr>
              <p:nvPr/>
            </p:nvGrpSpPr>
            <p:grpSpPr bwMode="auto">
              <a:xfrm>
                <a:off x="4739" y="1327"/>
                <a:ext cx="582" cy="139"/>
                <a:chOff x="614" y="2568"/>
                <a:chExt cx="725" cy="139"/>
              </a:xfrm>
            </p:grpSpPr>
            <p:sp>
              <p:nvSpPr>
                <p:cNvPr id="130" name="AutoShape 134">
                  <a:extLst>
                    <a:ext uri="{FF2B5EF4-FFF2-40B4-BE49-F238E27FC236}">
                      <a16:creationId xmlns:a16="http://schemas.microsoft.com/office/drawing/2014/main" id="{8A5DEFF2-82FF-9C4B-B30F-DD02A99BAB51}"/>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AutoShape 135">
                  <a:extLst>
                    <a:ext uri="{FF2B5EF4-FFF2-40B4-BE49-F238E27FC236}">
                      <a16:creationId xmlns:a16="http://schemas.microsoft.com/office/drawing/2014/main" id="{9E0A6440-9A0A-834A-BE6A-CB243F8A046A}"/>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19" name="Rectangle 136">
                <a:extLst>
                  <a:ext uri="{FF2B5EF4-FFF2-40B4-BE49-F238E27FC236}">
                    <a16:creationId xmlns:a16="http://schemas.microsoft.com/office/drawing/2014/main" id="{C3E6428A-F3CA-6646-8504-7A4B80873016}"/>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Freeform 137">
                <a:extLst>
                  <a:ext uri="{FF2B5EF4-FFF2-40B4-BE49-F238E27FC236}">
                    <a16:creationId xmlns:a16="http://schemas.microsoft.com/office/drawing/2014/main" id="{36A1B92D-73B3-1E48-9DF6-56C52B1C0EF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1" name="Freeform 138">
                <a:extLst>
                  <a:ext uri="{FF2B5EF4-FFF2-40B4-BE49-F238E27FC236}">
                    <a16:creationId xmlns:a16="http://schemas.microsoft.com/office/drawing/2014/main" id="{BBCC47D2-9636-8645-A30A-A9FB9FEB7049}"/>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Oval 139">
                <a:extLst>
                  <a:ext uri="{FF2B5EF4-FFF2-40B4-BE49-F238E27FC236}">
                    <a16:creationId xmlns:a16="http://schemas.microsoft.com/office/drawing/2014/main" id="{538F95FE-99F4-114C-88F1-20DC65C7D98C}"/>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3" name="Freeform 140">
                <a:extLst>
                  <a:ext uri="{FF2B5EF4-FFF2-40B4-BE49-F238E27FC236}">
                    <a16:creationId xmlns:a16="http://schemas.microsoft.com/office/drawing/2014/main" id="{3A2D7A8F-740E-E44C-8A64-6BF5A90E8E2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41">
                <a:extLst>
                  <a:ext uri="{FF2B5EF4-FFF2-40B4-BE49-F238E27FC236}">
                    <a16:creationId xmlns:a16="http://schemas.microsoft.com/office/drawing/2014/main" id="{E95BA8FE-A8C5-0F4B-802A-0FFE3E9344D0}"/>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5" name="AutoShape 142">
                <a:extLst>
                  <a:ext uri="{FF2B5EF4-FFF2-40B4-BE49-F238E27FC236}">
                    <a16:creationId xmlns:a16="http://schemas.microsoft.com/office/drawing/2014/main" id="{05E6F7D8-B8C8-534A-8606-ED15889043B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Oval 143">
                <a:extLst>
                  <a:ext uri="{FF2B5EF4-FFF2-40B4-BE49-F238E27FC236}">
                    <a16:creationId xmlns:a16="http://schemas.microsoft.com/office/drawing/2014/main" id="{D7668313-20A1-7840-BCF9-D2778D9E79AE}"/>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7" name="Oval 144">
                <a:extLst>
                  <a:ext uri="{FF2B5EF4-FFF2-40B4-BE49-F238E27FC236}">
                    <a16:creationId xmlns:a16="http://schemas.microsoft.com/office/drawing/2014/main" id="{3152B3AD-E2B7-A045-8DF7-86DF2FE62ACB}"/>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28" name="Oval 145">
                <a:extLst>
                  <a:ext uri="{FF2B5EF4-FFF2-40B4-BE49-F238E27FC236}">
                    <a16:creationId xmlns:a16="http://schemas.microsoft.com/office/drawing/2014/main" id="{7A3BC98F-1F3C-794E-BD03-4960366B4C92}"/>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Rectangle 146">
                <a:extLst>
                  <a:ext uri="{FF2B5EF4-FFF2-40B4-BE49-F238E27FC236}">
                    <a16:creationId xmlns:a16="http://schemas.microsoft.com/office/drawing/2014/main" id="{FD2E8B12-7E5B-534C-992F-CC974F01D2BD}"/>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4" name="Group 147">
              <a:extLst>
                <a:ext uri="{FF2B5EF4-FFF2-40B4-BE49-F238E27FC236}">
                  <a16:creationId xmlns:a16="http://schemas.microsoft.com/office/drawing/2014/main" id="{4942FA46-AAAE-D947-BF1A-4481A3448211}"/>
                </a:ext>
              </a:extLst>
            </p:cNvPr>
            <p:cNvGrpSpPr>
              <a:grpSpLocks/>
            </p:cNvGrpSpPr>
            <p:nvPr/>
          </p:nvGrpSpPr>
          <p:grpSpPr bwMode="auto">
            <a:xfrm>
              <a:off x="9861550" y="1646202"/>
              <a:ext cx="352425" cy="660400"/>
              <a:chOff x="4140" y="429"/>
              <a:chExt cx="1425" cy="2396"/>
            </a:xfrm>
          </p:grpSpPr>
          <p:sp>
            <p:nvSpPr>
              <p:cNvPr id="74" name="Freeform 148">
                <a:extLst>
                  <a:ext uri="{FF2B5EF4-FFF2-40B4-BE49-F238E27FC236}">
                    <a16:creationId xmlns:a16="http://schemas.microsoft.com/office/drawing/2014/main" id="{CC23ABEE-8791-714B-8A1A-4F7AD8EF3BF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5" name="Rectangle 149">
                <a:extLst>
                  <a:ext uri="{FF2B5EF4-FFF2-40B4-BE49-F238E27FC236}">
                    <a16:creationId xmlns:a16="http://schemas.microsoft.com/office/drawing/2014/main" id="{2B86FF99-00DB-934B-8BA7-48C64B644A45}"/>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6" name="Freeform 150">
                <a:extLst>
                  <a:ext uri="{FF2B5EF4-FFF2-40B4-BE49-F238E27FC236}">
                    <a16:creationId xmlns:a16="http://schemas.microsoft.com/office/drawing/2014/main" id="{956FBF0C-5170-794A-B33B-82657D57164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51">
                <a:extLst>
                  <a:ext uri="{FF2B5EF4-FFF2-40B4-BE49-F238E27FC236}">
                    <a16:creationId xmlns:a16="http://schemas.microsoft.com/office/drawing/2014/main" id="{445CE280-0D0A-6B4F-84F6-532AE192658F}"/>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Rectangle 152">
                <a:extLst>
                  <a:ext uri="{FF2B5EF4-FFF2-40B4-BE49-F238E27FC236}">
                    <a16:creationId xmlns:a16="http://schemas.microsoft.com/office/drawing/2014/main" id="{0D6EBFB3-4B17-8B4D-84D1-393E2919BF5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9" name="Group 153">
                <a:extLst>
                  <a:ext uri="{FF2B5EF4-FFF2-40B4-BE49-F238E27FC236}">
                    <a16:creationId xmlns:a16="http://schemas.microsoft.com/office/drawing/2014/main" id="{68337FBF-F76C-C544-8BA6-563723BD11B9}"/>
                  </a:ext>
                </a:extLst>
              </p:cNvPr>
              <p:cNvGrpSpPr>
                <a:grpSpLocks/>
              </p:cNvGrpSpPr>
              <p:nvPr/>
            </p:nvGrpSpPr>
            <p:grpSpPr bwMode="auto">
              <a:xfrm>
                <a:off x="4749" y="668"/>
                <a:ext cx="581" cy="145"/>
                <a:chOff x="614" y="2568"/>
                <a:chExt cx="725" cy="139"/>
              </a:xfrm>
            </p:grpSpPr>
            <p:sp>
              <p:nvSpPr>
                <p:cNvPr id="104" name="AutoShape 154">
                  <a:extLst>
                    <a:ext uri="{FF2B5EF4-FFF2-40B4-BE49-F238E27FC236}">
                      <a16:creationId xmlns:a16="http://schemas.microsoft.com/office/drawing/2014/main" id="{7983AE2B-9F40-7446-964A-C0D1EC25521C}"/>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5" name="AutoShape 155">
                  <a:extLst>
                    <a:ext uri="{FF2B5EF4-FFF2-40B4-BE49-F238E27FC236}">
                      <a16:creationId xmlns:a16="http://schemas.microsoft.com/office/drawing/2014/main" id="{ADC46602-CC63-8141-8BF1-5EC8D1824C61}"/>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0" name="Rectangle 156">
                <a:extLst>
                  <a:ext uri="{FF2B5EF4-FFF2-40B4-BE49-F238E27FC236}">
                    <a16:creationId xmlns:a16="http://schemas.microsoft.com/office/drawing/2014/main" id="{0B0E3BE7-5708-A949-85C0-8553CB933EFE}"/>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1" name="Group 157">
                <a:extLst>
                  <a:ext uri="{FF2B5EF4-FFF2-40B4-BE49-F238E27FC236}">
                    <a16:creationId xmlns:a16="http://schemas.microsoft.com/office/drawing/2014/main" id="{59EFAC4A-A3D4-9E4D-84E2-5BD8A5D33E2C}"/>
                  </a:ext>
                </a:extLst>
              </p:cNvPr>
              <p:cNvGrpSpPr>
                <a:grpSpLocks/>
              </p:cNvGrpSpPr>
              <p:nvPr/>
            </p:nvGrpSpPr>
            <p:grpSpPr bwMode="auto">
              <a:xfrm>
                <a:off x="4747" y="994"/>
                <a:ext cx="581" cy="134"/>
                <a:chOff x="614" y="2568"/>
                <a:chExt cx="725" cy="139"/>
              </a:xfrm>
            </p:grpSpPr>
            <p:sp>
              <p:nvSpPr>
                <p:cNvPr id="102" name="AutoShape 158">
                  <a:extLst>
                    <a:ext uri="{FF2B5EF4-FFF2-40B4-BE49-F238E27FC236}">
                      <a16:creationId xmlns:a16="http://schemas.microsoft.com/office/drawing/2014/main" id="{B68D7D2F-A4EC-6343-AAA2-E27A5BE91747}"/>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3" name="AutoShape 159">
                  <a:extLst>
                    <a:ext uri="{FF2B5EF4-FFF2-40B4-BE49-F238E27FC236}">
                      <a16:creationId xmlns:a16="http://schemas.microsoft.com/office/drawing/2014/main" id="{5C8BE6BD-0D6C-BE4F-A7C1-CFA5A3A723F5}"/>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2" name="Rectangle 160">
                <a:extLst>
                  <a:ext uri="{FF2B5EF4-FFF2-40B4-BE49-F238E27FC236}">
                    <a16:creationId xmlns:a16="http://schemas.microsoft.com/office/drawing/2014/main" id="{584E618E-4A1F-8343-97FD-62858B78F5C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Rectangle 161">
                <a:extLst>
                  <a:ext uri="{FF2B5EF4-FFF2-40B4-BE49-F238E27FC236}">
                    <a16:creationId xmlns:a16="http://schemas.microsoft.com/office/drawing/2014/main" id="{12F0293A-C413-F449-BF89-9E1C83526B5A}"/>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4" name="Group 162">
                <a:extLst>
                  <a:ext uri="{FF2B5EF4-FFF2-40B4-BE49-F238E27FC236}">
                    <a16:creationId xmlns:a16="http://schemas.microsoft.com/office/drawing/2014/main" id="{1A6200EB-5E59-2B47-9B1A-EF30A5EAD25B}"/>
                  </a:ext>
                </a:extLst>
              </p:cNvPr>
              <p:cNvGrpSpPr>
                <a:grpSpLocks/>
              </p:cNvGrpSpPr>
              <p:nvPr/>
            </p:nvGrpSpPr>
            <p:grpSpPr bwMode="auto">
              <a:xfrm>
                <a:off x="4735" y="1627"/>
                <a:ext cx="582" cy="151"/>
                <a:chOff x="614" y="2568"/>
                <a:chExt cx="725" cy="139"/>
              </a:xfrm>
            </p:grpSpPr>
            <p:sp>
              <p:nvSpPr>
                <p:cNvPr id="100" name="AutoShape 163">
                  <a:extLst>
                    <a:ext uri="{FF2B5EF4-FFF2-40B4-BE49-F238E27FC236}">
                      <a16:creationId xmlns:a16="http://schemas.microsoft.com/office/drawing/2014/main" id="{B97E9310-11F5-E248-A0DF-E45AE8F9B84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1" name="AutoShape 164">
                  <a:extLst>
                    <a:ext uri="{FF2B5EF4-FFF2-40B4-BE49-F238E27FC236}">
                      <a16:creationId xmlns:a16="http://schemas.microsoft.com/office/drawing/2014/main" id="{968E1571-41AC-434C-B887-D8EBC7A3B079}"/>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5" name="Freeform 165">
                <a:extLst>
                  <a:ext uri="{FF2B5EF4-FFF2-40B4-BE49-F238E27FC236}">
                    <a16:creationId xmlns:a16="http://schemas.microsoft.com/office/drawing/2014/main" id="{BE30363C-DD3A-B943-9269-1BAD5BA36988}"/>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86" name="Group 166">
                <a:extLst>
                  <a:ext uri="{FF2B5EF4-FFF2-40B4-BE49-F238E27FC236}">
                    <a16:creationId xmlns:a16="http://schemas.microsoft.com/office/drawing/2014/main" id="{38788B69-339D-7F4E-B301-8175DEA9DEDF}"/>
                  </a:ext>
                </a:extLst>
              </p:cNvPr>
              <p:cNvGrpSpPr>
                <a:grpSpLocks/>
              </p:cNvGrpSpPr>
              <p:nvPr/>
            </p:nvGrpSpPr>
            <p:grpSpPr bwMode="auto">
              <a:xfrm>
                <a:off x="4739" y="1327"/>
                <a:ext cx="582" cy="139"/>
                <a:chOff x="614" y="2568"/>
                <a:chExt cx="725" cy="139"/>
              </a:xfrm>
            </p:grpSpPr>
            <p:sp>
              <p:nvSpPr>
                <p:cNvPr id="98" name="AutoShape 167">
                  <a:extLst>
                    <a:ext uri="{FF2B5EF4-FFF2-40B4-BE49-F238E27FC236}">
                      <a16:creationId xmlns:a16="http://schemas.microsoft.com/office/drawing/2014/main" id="{97B97885-9739-1F45-B789-FBABCFF92AA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AutoShape 168">
                  <a:extLst>
                    <a:ext uri="{FF2B5EF4-FFF2-40B4-BE49-F238E27FC236}">
                      <a16:creationId xmlns:a16="http://schemas.microsoft.com/office/drawing/2014/main" id="{84771018-17F5-D14A-8D8C-59EE601BC2C9}"/>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87" name="Rectangle 169">
                <a:extLst>
                  <a:ext uri="{FF2B5EF4-FFF2-40B4-BE49-F238E27FC236}">
                    <a16:creationId xmlns:a16="http://schemas.microsoft.com/office/drawing/2014/main" id="{7A058DA4-516B-7D41-BD30-6364FF15C960}"/>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Freeform 170">
                <a:extLst>
                  <a:ext uri="{FF2B5EF4-FFF2-40B4-BE49-F238E27FC236}">
                    <a16:creationId xmlns:a16="http://schemas.microsoft.com/office/drawing/2014/main" id="{856E246C-1591-CA4F-8ADE-8DDDDAA7793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9" name="Freeform 171">
                <a:extLst>
                  <a:ext uri="{FF2B5EF4-FFF2-40B4-BE49-F238E27FC236}">
                    <a16:creationId xmlns:a16="http://schemas.microsoft.com/office/drawing/2014/main" id="{31F0BA80-7560-4D47-A9F7-FD31AEA4344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Oval 172">
                <a:extLst>
                  <a:ext uri="{FF2B5EF4-FFF2-40B4-BE49-F238E27FC236}">
                    <a16:creationId xmlns:a16="http://schemas.microsoft.com/office/drawing/2014/main" id="{0250F674-2E69-7A49-BD4A-7A0B63C62F3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1" name="Freeform 173">
                <a:extLst>
                  <a:ext uri="{FF2B5EF4-FFF2-40B4-BE49-F238E27FC236}">
                    <a16:creationId xmlns:a16="http://schemas.microsoft.com/office/drawing/2014/main" id="{D9EA6536-474B-D64B-B205-1D6C9BA825C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74">
                <a:extLst>
                  <a:ext uri="{FF2B5EF4-FFF2-40B4-BE49-F238E27FC236}">
                    <a16:creationId xmlns:a16="http://schemas.microsoft.com/office/drawing/2014/main" id="{E488D72C-E2D7-A24F-8921-7455381C5E4D}"/>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3" name="AutoShape 175">
                <a:extLst>
                  <a:ext uri="{FF2B5EF4-FFF2-40B4-BE49-F238E27FC236}">
                    <a16:creationId xmlns:a16="http://schemas.microsoft.com/office/drawing/2014/main" id="{912439D6-774F-1547-AA0D-047E22092538}"/>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Oval 176">
                <a:extLst>
                  <a:ext uri="{FF2B5EF4-FFF2-40B4-BE49-F238E27FC236}">
                    <a16:creationId xmlns:a16="http://schemas.microsoft.com/office/drawing/2014/main" id="{A2D2898C-A040-C744-8B60-25B92A3EDD4A}"/>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5" name="Oval 177">
                <a:extLst>
                  <a:ext uri="{FF2B5EF4-FFF2-40B4-BE49-F238E27FC236}">
                    <a16:creationId xmlns:a16="http://schemas.microsoft.com/office/drawing/2014/main" id="{6D69F5EA-B0E7-DA4A-8B00-86E1B289A3A5}"/>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96" name="Oval 178">
                <a:extLst>
                  <a:ext uri="{FF2B5EF4-FFF2-40B4-BE49-F238E27FC236}">
                    <a16:creationId xmlns:a16="http://schemas.microsoft.com/office/drawing/2014/main" id="{CB13C9A5-3005-C744-AAF5-43F081367869}"/>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Rectangle 179">
                <a:extLst>
                  <a:ext uri="{FF2B5EF4-FFF2-40B4-BE49-F238E27FC236}">
                    <a16:creationId xmlns:a16="http://schemas.microsoft.com/office/drawing/2014/main" id="{5E9EBF99-398D-4346-9CCC-C08D38A90EF0}"/>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5" name="Group 180">
              <a:extLst>
                <a:ext uri="{FF2B5EF4-FFF2-40B4-BE49-F238E27FC236}">
                  <a16:creationId xmlns:a16="http://schemas.microsoft.com/office/drawing/2014/main" id="{68A8F3DD-C4CD-1A4A-A99E-EE08AE2B9ABE}"/>
                </a:ext>
              </a:extLst>
            </p:cNvPr>
            <p:cNvGrpSpPr>
              <a:grpSpLocks/>
            </p:cNvGrpSpPr>
            <p:nvPr/>
          </p:nvGrpSpPr>
          <p:grpSpPr bwMode="auto">
            <a:xfrm flipH="1">
              <a:off x="10010775" y="4435439"/>
              <a:ext cx="803275" cy="771525"/>
              <a:chOff x="-44" y="1473"/>
              <a:chExt cx="981" cy="1105"/>
            </a:xfrm>
          </p:grpSpPr>
          <p:pic>
            <p:nvPicPr>
              <p:cNvPr id="72" name="Picture 181" descr="desktop_computer_stylized_medium">
                <a:extLst>
                  <a:ext uri="{FF2B5EF4-FFF2-40B4-BE49-F238E27FC236}">
                    <a16:creationId xmlns:a16="http://schemas.microsoft.com/office/drawing/2014/main" id="{FB1222DE-2F29-E94E-BA2E-8430BD1F4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182">
                <a:extLst>
                  <a:ext uri="{FF2B5EF4-FFF2-40B4-BE49-F238E27FC236}">
                    <a16:creationId xmlns:a16="http://schemas.microsoft.com/office/drawing/2014/main" id="{25C576CA-310E-BF45-AEA0-47D91F2AB2B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6" name="Group 183">
              <a:extLst>
                <a:ext uri="{FF2B5EF4-FFF2-40B4-BE49-F238E27FC236}">
                  <a16:creationId xmlns:a16="http://schemas.microsoft.com/office/drawing/2014/main" id="{292C5560-DFC2-574D-8C62-B6F62F2DC84B}"/>
                </a:ext>
              </a:extLst>
            </p:cNvPr>
            <p:cNvGrpSpPr>
              <a:grpSpLocks/>
            </p:cNvGrpSpPr>
            <p:nvPr/>
          </p:nvGrpSpPr>
          <p:grpSpPr bwMode="auto">
            <a:xfrm>
              <a:off x="6096000" y="4416389"/>
              <a:ext cx="803275" cy="771525"/>
              <a:chOff x="-44" y="1473"/>
              <a:chExt cx="981" cy="1105"/>
            </a:xfrm>
          </p:grpSpPr>
          <p:pic>
            <p:nvPicPr>
              <p:cNvPr id="70" name="Picture 184" descr="desktop_computer_stylized_medium">
                <a:extLst>
                  <a:ext uri="{FF2B5EF4-FFF2-40B4-BE49-F238E27FC236}">
                    <a16:creationId xmlns:a16="http://schemas.microsoft.com/office/drawing/2014/main" id="{5ADBABA6-9549-8F45-9CC6-895C1B713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85">
                <a:extLst>
                  <a:ext uri="{FF2B5EF4-FFF2-40B4-BE49-F238E27FC236}">
                    <a16:creationId xmlns:a16="http://schemas.microsoft.com/office/drawing/2014/main" id="{175C8E0C-2E66-F847-85BF-1DF27F6E9D5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67" name="Group 186">
              <a:extLst>
                <a:ext uri="{FF2B5EF4-FFF2-40B4-BE49-F238E27FC236}">
                  <a16:creationId xmlns:a16="http://schemas.microsoft.com/office/drawing/2014/main" id="{BFA50ABA-EF43-8248-BFEE-B2185F9FF4CA}"/>
                </a:ext>
              </a:extLst>
            </p:cNvPr>
            <p:cNvGrpSpPr>
              <a:grpSpLocks/>
            </p:cNvGrpSpPr>
            <p:nvPr/>
          </p:nvGrpSpPr>
          <p:grpSpPr bwMode="auto">
            <a:xfrm>
              <a:off x="6718300" y="4865652"/>
              <a:ext cx="803275" cy="771525"/>
              <a:chOff x="-44" y="1473"/>
              <a:chExt cx="981" cy="1105"/>
            </a:xfrm>
          </p:grpSpPr>
          <p:pic>
            <p:nvPicPr>
              <p:cNvPr id="68" name="Picture 187" descr="desktop_computer_stylized_medium">
                <a:extLst>
                  <a:ext uri="{FF2B5EF4-FFF2-40B4-BE49-F238E27FC236}">
                    <a16:creationId xmlns:a16="http://schemas.microsoft.com/office/drawing/2014/main" id="{F7F3CEF1-4AEE-174D-A7EB-35D5923C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188">
                <a:extLst>
                  <a:ext uri="{FF2B5EF4-FFF2-40B4-BE49-F238E27FC236}">
                    <a16:creationId xmlns:a16="http://schemas.microsoft.com/office/drawing/2014/main" id="{092BEB98-510F-A54D-8396-7B8E24FE092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77" name="Freeform 518">
            <a:extLst>
              <a:ext uri="{FF2B5EF4-FFF2-40B4-BE49-F238E27FC236}">
                <a16:creationId xmlns:a16="http://schemas.microsoft.com/office/drawing/2014/main" id="{9EF6A7FC-B534-4346-A5DD-041A4F1C6C62}"/>
              </a:ext>
            </a:extLst>
          </p:cNvPr>
          <p:cNvSpPr>
            <a:spLocks/>
          </p:cNvSpPr>
          <p:nvPr/>
        </p:nvSpPr>
        <p:spPr bwMode="auto">
          <a:xfrm>
            <a:off x="9814215" y="2806810"/>
            <a:ext cx="289264" cy="1329760"/>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8" name="Line 511">
            <a:extLst>
              <a:ext uri="{FF2B5EF4-FFF2-40B4-BE49-F238E27FC236}">
                <a16:creationId xmlns:a16="http://schemas.microsoft.com/office/drawing/2014/main" id="{2B4EDB9F-73F1-C34D-96D9-5CDCB88B2124}"/>
              </a:ext>
            </a:extLst>
          </p:cNvPr>
          <p:cNvSpPr>
            <a:spLocks noChangeShapeType="1"/>
          </p:cNvSpPr>
          <p:nvPr/>
        </p:nvSpPr>
        <p:spPr bwMode="auto">
          <a:xfrm rot="1792560">
            <a:off x="9942889" y="4252737"/>
            <a:ext cx="771096" cy="250204"/>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pic>
        <p:nvPicPr>
          <p:cNvPr id="180" name="Picture 181" descr="desktop_computer_stylized_medium">
            <a:extLst>
              <a:ext uri="{FF2B5EF4-FFF2-40B4-BE49-F238E27FC236}">
                <a16:creationId xmlns:a16="http://schemas.microsoft.com/office/drawing/2014/main" id="{FB1222DE-2F29-E94E-BA2E-8430BD1F4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5357" y="4534800"/>
            <a:ext cx="590983" cy="560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 name="Freeform 182">
            <a:extLst>
              <a:ext uri="{FF2B5EF4-FFF2-40B4-BE49-F238E27FC236}">
                <a16:creationId xmlns:a16="http://schemas.microsoft.com/office/drawing/2014/main" id="{25C576CA-310E-BF45-AEA0-47D91F2AB2BD}"/>
              </a:ext>
            </a:extLst>
          </p:cNvPr>
          <p:cNvSpPr>
            <a:spLocks/>
          </p:cNvSpPr>
          <p:nvPr/>
        </p:nvSpPr>
        <p:spPr bwMode="auto">
          <a:xfrm>
            <a:off x="10617166" y="4588536"/>
            <a:ext cx="287359" cy="256513"/>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95" name="Group 127">
            <a:extLst>
              <a:ext uri="{FF2B5EF4-FFF2-40B4-BE49-F238E27FC236}">
                <a16:creationId xmlns:a16="http://schemas.microsoft.com/office/drawing/2014/main" id="{879C5F16-9AAB-6840-B838-D482AFD339D0}"/>
              </a:ext>
            </a:extLst>
          </p:cNvPr>
          <p:cNvGrpSpPr>
            <a:grpSpLocks/>
          </p:cNvGrpSpPr>
          <p:nvPr/>
        </p:nvGrpSpPr>
        <p:grpSpPr bwMode="auto">
          <a:xfrm>
            <a:off x="10408528" y="2036995"/>
            <a:ext cx="231775" cy="441325"/>
            <a:chOff x="4140" y="429"/>
            <a:chExt cx="1425" cy="2396"/>
          </a:xfrm>
        </p:grpSpPr>
        <p:sp>
          <p:nvSpPr>
            <p:cNvPr id="196"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0"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01"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226"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7"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2"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03"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224"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4"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06"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222"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3"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7"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8"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220"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1"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9"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1"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2"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3"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4"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5"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6"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7"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18"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9"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8" name="Line 504">
            <a:extLst>
              <a:ext uri="{FF2B5EF4-FFF2-40B4-BE49-F238E27FC236}">
                <a16:creationId xmlns:a16="http://schemas.microsoft.com/office/drawing/2014/main" id="{45C56574-1E78-FA49-9616-971A302E931F}"/>
              </a:ext>
            </a:extLst>
          </p:cNvPr>
          <p:cNvSpPr>
            <a:spLocks noChangeShapeType="1"/>
          </p:cNvSpPr>
          <p:nvPr/>
        </p:nvSpPr>
        <p:spPr bwMode="auto">
          <a:xfrm rot="19807440" flipH="1">
            <a:off x="9953033" y="2581168"/>
            <a:ext cx="559080" cy="116987"/>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9" name="TextBox 228"/>
          <p:cNvSpPr txBox="1"/>
          <p:nvPr/>
        </p:nvSpPr>
        <p:spPr>
          <a:xfrm>
            <a:off x="1074882" y="1443560"/>
            <a:ext cx="7640493" cy="369332"/>
          </a:xfrm>
          <a:prstGeom prst="rect">
            <a:avLst/>
          </a:prstGeom>
          <a:solidFill>
            <a:srgbClr val="FF9999">
              <a:alpha val="13000"/>
            </a:srgbClr>
          </a:solidFill>
          <a:ln cap="rnd">
            <a:solidFill>
              <a:srgbClr val="C00000"/>
            </a:solidFill>
          </a:ln>
        </p:spPr>
        <p:txBody>
          <a:bodyPr wrap="square" rtlCol="0">
            <a:spAutoFit/>
          </a:bodyPr>
          <a:lstStyle/>
          <a:p>
            <a:pPr algn="ctr"/>
            <a:endParaRPr lang="en-IN" dirty="0">
              <a:solidFill>
                <a:srgbClr val="0000FF"/>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94213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943341" y="104260"/>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Congestion Control</a:t>
            </a:r>
            <a:endParaRPr lang="en-US" sz="3300" dirty="0">
              <a:latin typeface="Avenir Book" panose="020B0503020203020204" pitchFamily="34" charset="-78"/>
              <a:cs typeface="Avenir Book" panose="020B0503020203020204" pitchFamily="34" charset="-78"/>
            </a:endParaRPr>
          </a:p>
        </p:txBody>
      </p:sp>
      <p:grpSp>
        <p:nvGrpSpPr>
          <p:cNvPr id="6" name="Group 5">
            <a:extLst>
              <a:ext uri="{FF2B5EF4-FFF2-40B4-BE49-F238E27FC236}">
                <a16:creationId xmlns:a16="http://schemas.microsoft.com/office/drawing/2014/main" id="{E52FB642-7743-D04C-959D-0819117703FA}"/>
              </a:ext>
            </a:extLst>
          </p:cNvPr>
          <p:cNvGrpSpPr/>
          <p:nvPr/>
        </p:nvGrpSpPr>
        <p:grpSpPr>
          <a:xfrm>
            <a:off x="380207" y="1904616"/>
            <a:ext cx="9469145" cy="1271588"/>
            <a:chOff x="1212741" y="5149584"/>
            <a:chExt cx="12625528" cy="1695450"/>
          </a:xfrm>
        </p:grpSpPr>
        <p:sp>
          <p:nvSpPr>
            <p:cNvPr id="17" name="Rectangle 16">
              <a:extLst>
                <a:ext uri="{FF2B5EF4-FFF2-40B4-BE49-F238E27FC236}">
                  <a16:creationId xmlns:a16="http://schemas.microsoft.com/office/drawing/2014/main" id="{0C3AD1E1-01ED-504A-8B9E-72DE11AF70D1}"/>
                </a:ext>
              </a:extLst>
            </p:cNvPr>
            <p:cNvSpPr/>
            <p:nvPr/>
          </p:nvSpPr>
          <p:spPr>
            <a:xfrm>
              <a:off x="6576732" y="5160597"/>
              <a:ext cx="4607080" cy="4101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212741" y="5149584"/>
              <a:ext cx="12625528" cy="1695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lnSpc>
                  <a:spcPct val="90000"/>
                </a:lnSpc>
                <a:buFont typeface="Wingdings" charset="2"/>
                <a:buChar char="§"/>
                <a:defRPr/>
              </a:pPr>
              <a:r>
                <a:rPr lang="en-US" sz="2100" kern="0" dirty="0">
                  <a:solidFill>
                    <a:srgbClr val="000000"/>
                  </a:solidFill>
                  <a:latin typeface="Avenir Book" panose="020B0503020203020204" pitchFamily="34" charset="-78"/>
                  <a:cs typeface="Avenir Book" panose="020B0503020203020204" pitchFamily="34" charset="-78"/>
                </a:rPr>
                <a:t>TCP sender limits transmission:</a:t>
              </a:r>
            </a:p>
            <a:p>
              <a:pPr marL="0" indent="0" defTabSz="685800">
                <a:buNone/>
                <a:defRPr/>
              </a:pPr>
              <a:endParaRPr lang="en-US" sz="2100" kern="0" dirty="0">
                <a:solidFill>
                  <a:srgbClr val="000000"/>
                </a:solidFill>
                <a:latin typeface="Avenir Book" panose="020B0503020203020204" pitchFamily="34" charset="-78"/>
                <a:cs typeface="Avenir Book" panose="020B0503020203020204" pitchFamily="34" charset="-78"/>
              </a:endParaRPr>
            </a:p>
          </p:txBody>
        </p:sp>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6576732" y="5212159"/>
              <a:ext cx="4395788" cy="65975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169069" indent="-169069" defTabSz="685800" eaLnBrk="0" fontAlgn="base" hangingPunct="0">
                <a:lnSpc>
                  <a:spcPct val="85000"/>
                </a:lnSpc>
                <a:spcBef>
                  <a:spcPct val="20000"/>
                </a:spcBef>
                <a:spcAft>
                  <a:spcPct val="0"/>
                </a:spcAft>
                <a:buClr>
                  <a:srgbClr val="000099"/>
                </a:buClr>
                <a:buSzPct val="65000"/>
                <a:defRPr/>
              </a:pPr>
              <a:r>
                <a:rPr lang="en-US" sz="1350" b="1" dirty="0" err="1">
                  <a:solidFill>
                    <a:srgbClr val="000000"/>
                  </a:solidFill>
                  <a:latin typeface="Avenir Book" panose="020B0503020203020204" pitchFamily="34" charset="-78"/>
                  <a:cs typeface="Avenir Book" panose="020B0503020203020204" pitchFamily="34" charset="-78"/>
                </a:rPr>
                <a:t>LastByteSent</a:t>
              </a:r>
              <a:r>
                <a:rPr lang="en-US" sz="1350" b="1" dirty="0">
                  <a:solidFill>
                    <a:srgbClr val="000000"/>
                  </a:solidFill>
                  <a:latin typeface="Avenir Book" panose="020B0503020203020204" pitchFamily="34" charset="-78"/>
                  <a:cs typeface="Avenir Book" panose="020B0503020203020204" pitchFamily="34" charset="-78"/>
                </a:rPr>
                <a:t> - </a:t>
              </a:r>
              <a:r>
                <a:rPr lang="en-US" sz="1350" b="1" dirty="0" err="1">
                  <a:solidFill>
                    <a:srgbClr val="000000"/>
                  </a:solidFill>
                  <a:latin typeface="Avenir Book" panose="020B0503020203020204" pitchFamily="34" charset="-78"/>
                  <a:cs typeface="Avenir Book" panose="020B0503020203020204" pitchFamily="34" charset="-78"/>
                </a:rPr>
                <a:t>LastByteAcked</a:t>
              </a:r>
              <a:r>
                <a:rPr lang="en-US" sz="1350" b="1" dirty="0">
                  <a:solidFill>
                    <a:srgbClr val="000000"/>
                  </a:solidFill>
                  <a:latin typeface="Avenir Book" panose="020B0503020203020204" pitchFamily="34" charset="-78"/>
                  <a:cs typeface="Avenir Book" panose="020B0503020203020204" pitchFamily="34" charset="-78"/>
                </a:rPr>
                <a:t> </a:t>
              </a:r>
              <a:r>
                <a:rPr lang="en-US" sz="1350" b="1" dirty="0">
                  <a:solidFill>
                    <a:srgbClr val="000000"/>
                  </a:solidFill>
                  <a:latin typeface="Avenir Book" panose="020B0503020203020204" pitchFamily="34" charset="-78"/>
                  <a:cs typeface="Avenir Book" panose="020B0503020203020204" pitchFamily="34" charset="-78"/>
                  <a:sym typeface="Symbol" panose="05050102010706020507" pitchFamily="18" charset="2"/>
                </a:rPr>
                <a:t> </a:t>
              </a:r>
              <a:r>
                <a:rPr lang="en-US" sz="1350" b="1" dirty="0" err="1">
                  <a:solidFill>
                    <a:srgbClr val="000000"/>
                  </a:solidFill>
                  <a:latin typeface="Avenir Book" panose="020B0503020203020204" pitchFamily="34" charset="-78"/>
                  <a:cs typeface="Avenir Book" panose="020B0503020203020204" pitchFamily="34" charset="-78"/>
                </a:rPr>
                <a:t>cwnd</a:t>
              </a:r>
              <a:endParaRPr lang="en-US" sz="1350" b="1" dirty="0">
                <a:solidFill>
                  <a:srgbClr val="000000"/>
                </a:solidFill>
                <a:latin typeface="Avenir Book" panose="020B0503020203020204" pitchFamily="34" charset="-78"/>
                <a:cs typeface="Avenir Book" panose="020B0503020203020204" pitchFamily="34" charset="-78"/>
              </a:endParaRPr>
            </a:p>
            <a:p>
              <a:pPr marL="169069" indent="-169069" defTabSz="685800" eaLnBrk="0" fontAlgn="base" hangingPunct="0">
                <a:lnSpc>
                  <a:spcPct val="85000"/>
                </a:lnSpc>
                <a:spcBef>
                  <a:spcPct val="20000"/>
                </a:spcBef>
                <a:spcAft>
                  <a:spcPct val="0"/>
                </a:spcAft>
                <a:buClr>
                  <a:srgbClr val="000099"/>
                </a:buClr>
                <a:buSzPct val="65000"/>
                <a:defRPr/>
              </a:pPr>
              <a:endParaRPr lang="en-US" sz="1350" dirty="0">
                <a:solidFill>
                  <a:srgbClr val="000000"/>
                </a:solidFill>
                <a:latin typeface="Avenir Book" panose="020B0503020203020204" pitchFamily="34" charset="-78"/>
                <a:cs typeface="Avenir Book" panose="020B0503020203020204" pitchFamily="34" charset="-78"/>
              </a:endParaRPr>
            </a:p>
          </p:txBody>
        </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8314226" y="3080761"/>
            <a:ext cx="3377559" cy="806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8295349" y="3021711"/>
            <a:ext cx="950851" cy="669361"/>
            <a:chOff x="1289051" y="2849038"/>
            <a:chExt cx="1267801" cy="892480"/>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1118254" cy="6217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last byte</a:t>
              </a:r>
            </a:p>
            <a:p>
              <a:pPr defTabSz="685800" eaLnBrk="0" fontAlgn="base" hangingPunct="0">
                <a:lnSpc>
                  <a:spcPct val="90000"/>
                </a:lnSpc>
                <a:spcBef>
                  <a:spcPct val="0"/>
                </a:spcBef>
                <a:spcAft>
                  <a:spcPct val="0"/>
                </a:spcAft>
                <a:defRPr/>
              </a:pPr>
              <a:r>
                <a:rPr lang="en-US" sz="1350" kern="0" dirty="0" err="1">
                  <a:solidFill>
                    <a:srgbClr val="000000"/>
                  </a:solidFill>
                  <a:latin typeface="Avenir Book" panose="020B0503020203020204" pitchFamily="34" charset="-78"/>
                  <a:cs typeface="Avenir Book" panose="020B0503020203020204" pitchFamily="34" charset="-78"/>
                </a:rPr>
                <a:t>ACKed</a:t>
              </a:r>
              <a:endParaRPr lang="en-US" sz="1350" kern="0" dirty="0">
                <a:solidFill>
                  <a:srgbClr val="000000"/>
                </a:solidFill>
                <a:latin typeface="Avenir Book" panose="020B0503020203020204" pitchFamily="34" charset="-78"/>
                <a:cs typeface="Avenir Book" panose="020B0503020203020204" pitchFamily="34" charset="-78"/>
              </a:endParaRP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10196622" y="3096591"/>
            <a:ext cx="1319468" cy="985511"/>
            <a:chOff x="3824084" y="2948877"/>
            <a:chExt cx="1759290" cy="1314014"/>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724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8356701" y="1854180"/>
            <a:ext cx="3420035" cy="1122880"/>
            <a:chOff x="1370854" y="1292332"/>
            <a:chExt cx="4560046"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77147" y="1648799"/>
              <a:ext cx="692925" cy="3170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b="1">
                  <a:solidFill>
                    <a:srgbClr val="000000"/>
                  </a:solidFill>
                  <a:latin typeface="Avenir Book" panose="020B0503020203020204" pitchFamily="34" charset="-78"/>
                  <a:cs typeface="Avenir Book" panose="020B0503020203020204" pitchFamily="34" charset="-78"/>
                </a:rPr>
                <a:t>cwnd</a:t>
              </a: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866850" y="1292332"/>
              <a:ext cx="3593292" cy="400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10260205" y="3041597"/>
            <a:ext cx="525031"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10481686" y="3104645"/>
            <a:ext cx="1319374" cy="736019"/>
            <a:chOff x="4204169" y="2959619"/>
            <a:chExt cx="1759165" cy="981359"/>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6217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413916" y="2602494"/>
            <a:ext cx="6548469" cy="1595164"/>
            <a:chOff x="5629818" y="1776777"/>
            <a:chExt cx="8731293" cy="2126885"/>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5629818" y="1776777"/>
              <a:ext cx="8731293" cy="21268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Font typeface="Wingdings" charset="2"/>
                <a:buChar char="§"/>
                <a:defRPr/>
              </a:pPr>
              <a:r>
                <a:rPr lang="en-US" sz="2100" kern="0" dirty="0">
                  <a:solidFill>
                    <a:srgbClr val="000000"/>
                  </a:solidFill>
                  <a:latin typeface="Avenir Book" panose="020B0503020203020204" pitchFamily="34" charset="-78"/>
                  <a:cs typeface="Avenir Book" panose="020B0503020203020204" pitchFamily="34" charset="-78"/>
                </a:rPr>
                <a:t>TCP sending behavior : send </a:t>
              </a:r>
              <a:r>
                <a:rPr lang="en-US" sz="2100" kern="0" dirty="0" err="1">
                  <a:solidFill>
                    <a:srgbClr val="000000"/>
                  </a:solidFill>
                  <a:latin typeface="Avenir Book" panose="020B0503020203020204" pitchFamily="34" charset="-78"/>
                  <a:cs typeface="Avenir Book" panose="020B0503020203020204" pitchFamily="34" charset="-78"/>
                </a:rPr>
                <a:t>cwnd</a:t>
              </a:r>
              <a:r>
                <a:rPr lang="en-US" sz="2100" kern="0" dirty="0">
                  <a:solidFill>
                    <a:srgbClr val="000000"/>
                  </a:solidFill>
                  <a:latin typeface="Avenir Book" panose="020B0503020203020204" pitchFamily="34" charset="-78"/>
                  <a:cs typeface="Avenir Book" panose="020B0503020203020204" pitchFamily="34" charset="-78"/>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637575" y="2801472"/>
              <a:ext cx="3902668" cy="916407"/>
              <a:chOff x="6964099" y="2725803"/>
              <a:chExt cx="3902668" cy="916407"/>
            </a:xfrm>
          </p:grpSpPr>
          <p:sp>
            <p:nvSpPr>
              <p:cNvPr id="19" name="Rectangle 18">
                <a:extLst>
                  <a:ext uri="{FF2B5EF4-FFF2-40B4-BE49-F238E27FC236}">
                    <a16:creationId xmlns:a16="http://schemas.microsoft.com/office/drawing/2014/main" id="{C803E68F-787C-134C-96B7-EA9979048F4F}"/>
                  </a:ext>
                </a:extLst>
              </p:cNvPr>
              <p:cNvSpPr/>
              <p:nvPr/>
            </p:nvSpPr>
            <p:spPr>
              <a:xfrm>
                <a:off x="6964099" y="2725803"/>
                <a:ext cx="3902668"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971183" y="2729395"/>
                <a:ext cx="3895584" cy="912815"/>
                <a:chOff x="6796562" y="3236920"/>
                <a:chExt cx="3895584" cy="912815"/>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796562" y="3380926"/>
                  <a:ext cx="1633354" cy="553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2100" dirty="0">
                      <a:solidFill>
                        <a:srgbClr val="000000"/>
                      </a:solidFill>
                      <a:latin typeface="Avenir Book" panose="020B0503020203020204" pitchFamily="34" charset="-78"/>
                      <a:cs typeface="Avenir Book" panose="020B0503020203020204" pitchFamily="34" charset="-78"/>
                    </a:rPr>
                    <a:t>TCP rate</a:t>
                  </a:r>
                  <a:endParaRPr lang="en-US" sz="1800" dirty="0">
                    <a:solidFill>
                      <a:srgbClr val="000000"/>
                    </a:solidFill>
                    <a:latin typeface="Avenir Book" panose="020B0503020203020204" pitchFamily="34" charset="-78"/>
                    <a:cs typeface="Avenir Book" panose="020B0503020203020204" pitchFamily="34" charset="-78"/>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996238" y="3451229"/>
                  <a:ext cx="928688" cy="493713"/>
                  <a:chOff x="4370" y="2312"/>
                  <a:chExt cx="585" cy="311"/>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370" y="2371"/>
                    <a:ext cx="585"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370" y="2312"/>
                    <a:ext cx="585"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a:solidFill>
                          <a:srgbClr val="000000"/>
                        </a:solidFill>
                        <a:latin typeface="Avenir Book" panose="020B0503020203020204" pitchFamily="34" charset="-78"/>
                        <a:cs typeface="Avenir Book" panose="020B0503020203020204" pitchFamily="34" charset="-78"/>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528050" y="3236920"/>
                  <a:ext cx="981074" cy="912815"/>
                  <a:chOff x="4466" y="2271"/>
                  <a:chExt cx="618" cy="575"/>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466" y="2271"/>
                    <a:ext cx="618"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err="1">
                        <a:solidFill>
                          <a:srgbClr val="000000"/>
                        </a:solidFill>
                        <a:latin typeface="Avenir Book" panose="020B0503020203020204" pitchFamily="34" charset="-78"/>
                        <a:cs typeface="Avenir Book" panose="020B0503020203020204" pitchFamily="34" charset="-78"/>
                      </a:rPr>
                      <a:t>cwnd</a:t>
                    </a:r>
                    <a:endParaRPr lang="en-US" sz="1800" kern="0" dirty="0">
                      <a:solidFill>
                        <a:srgbClr val="000000"/>
                      </a:solidFill>
                      <a:latin typeface="Avenir Book" panose="020B0503020203020204" pitchFamily="34" charset="-78"/>
                      <a:cs typeface="Avenir Book" panose="020B0503020203020204" pitchFamily="34" charset="-78"/>
                    </a:endParaRP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525" y="2536"/>
                    <a:ext cx="501"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000000"/>
                        </a:solidFill>
                        <a:latin typeface="Avenir Book" panose="020B0503020203020204" pitchFamily="34" charset="-78"/>
                        <a:cs typeface="Avenir Book" panose="020B0503020203020204" pitchFamily="34" charset="-78"/>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583" y="2536"/>
                    <a:ext cx="384"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358019" y="3444301"/>
                  <a:ext cx="1334127" cy="430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latin typeface="Avenir Book" panose="020B0503020203020204" pitchFamily="34" charset="-78"/>
                      <a:cs typeface="Avenir Book" panose="020B0503020203020204" pitchFamily="34" charset="-78"/>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9073883" y="3040433"/>
            <a:ext cx="1245685" cy="1057469"/>
            <a:chOff x="2327097" y="2874002"/>
            <a:chExt cx="1660913" cy="1409958"/>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710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lnSpc>
                  <a:spcPct val="90000"/>
                </a:lnSpc>
                <a:spcBef>
                  <a:spcPct val="0"/>
                </a:spcBef>
                <a:spcAft>
                  <a:spcPct val="0"/>
                </a:spcAft>
                <a:defRPr/>
              </a:pPr>
              <a:r>
                <a:rPr lang="en-US" altLang="en-US" sz="1350" kern="0" dirty="0">
                  <a:solidFill>
                    <a:srgbClr val="000000"/>
                  </a:solidFill>
                  <a:latin typeface="Avenir Book" panose="020B0503020203020204" pitchFamily="34" charset="-78"/>
                  <a:cs typeface="Avenir Book" panose="020B0503020203020204" pitchFamily="34" charset="-78"/>
                </a:rPr>
                <a:t>sent, </a:t>
              </a:r>
              <a:r>
                <a:rPr lang="en-US" altLang="en-US" sz="1350" kern="0" dirty="0" err="1">
                  <a:solidFill>
                    <a:srgbClr val="000000"/>
                  </a:solidFill>
                  <a:latin typeface="Avenir Book" panose="020B0503020203020204" pitchFamily="34" charset="-78"/>
                  <a:cs typeface="Avenir Book" panose="020B0503020203020204" pitchFamily="34" charset="-78"/>
                </a:rPr>
                <a:t>bu</a:t>
              </a:r>
              <a:r>
                <a:rPr lang="en-US" altLang="en-US" sz="1350" kern="0" dirty="0">
                  <a:solidFill>
                    <a:srgbClr val="000000"/>
                  </a:solidFill>
                  <a:latin typeface="Avenir Book" panose="020B0503020203020204" pitchFamily="34" charset="-78"/>
                  <a:cs typeface="Avenir Book" panose="020B0503020203020204" pitchFamily="34" charset="-78"/>
                </a:rPr>
                <a:t>t not-yet </a:t>
              </a:r>
              <a:r>
                <a:rPr lang="en-US" altLang="en-US" sz="1350" kern="0" dirty="0" err="1">
                  <a:solidFill>
                    <a:srgbClr val="000000"/>
                  </a:solidFill>
                  <a:latin typeface="Avenir Book" panose="020B0503020203020204" pitchFamily="34" charset="-78"/>
                  <a:cs typeface="Avenir Book" panose="020B0503020203020204" pitchFamily="34" charset="-78"/>
                </a:rPr>
                <a:t>ACKed</a:t>
              </a:r>
              <a:r>
                <a:rPr lang="en-US" altLang="en-US" sz="1350" kern="0" dirty="0">
                  <a:solidFill>
                    <a:srgbClr val="000000"/>
                  </a:solidFill>
                  <a:latin typeface="Avenir Book" panose="020B0503020203020204" pitchFamily="34" charset="-78"/>
                  <a:cs typeface="Avenir Book" panose="020B0503020203020204" pitchFamily="34" charset="-78"/>
                </a:rPr>
                <a:t> </a:t>
              </a:r>
            </a:p>
            <a:p>
              <a:pPr defTabSz="685800" eaLnBrk="0" fontAlgn="base" hangingPunct="0">
                <a:lnSpc>
                  <a:spcPct val="90000"/>
                </a:lnSpc>
                <a:spcBef>
                  <a:spcPct val="0"/>
                </a:spcBef>
                <a:spcAft>
                  <a:spcPct val="0"/>
                </a:spcAft>
                <a:defRPr/>
              </a:pPr>
              <a:r>
                <a:rPr lang="en-US" altLang="en-US" sz="1350" kern="0" dirty="0">
                  <a:solidFill>
                    <a:srgbClr val="000000"/>
                  </a:solidFill>
                  <a:latin typeface="Avenir Book" panose="020B0503020203020204" pitchFamily="34" charset="-78"/>
                  <a:cs typeface="Avenir Book" panose="020B0503020203020204" pitchFamily="34" charset="-78"/>
                </a:rPr>
                <a:t>(“</a:t>
              </a:r>
              <a:r>
                <a:rPr lang="en-US" altLang="ja-JP" sz="1350" kern="0" dirty="0">
                  <a:solidFill>
                    <a:srgbClr val="000000"/>
                  </a:solidFill>
                  <a:latin typeface="Avenir Book" panose="020B0503020203020204" pitchFamily="34" charset="-78"/>
                  <a:cs typeface="Avenir Book" panose="020B0503020203020204" pitchFamily="34" charset="-78"/>
                </a:rPr>
                <a:t>in-flight”)</a:t>
              </a:r>
              <a:endParaRPr lang="en-US" altLang="en-US" sz="1200" kern="0" dirty="0">
                <a:solidFill>
                  <a:srgbClr val="000000"/>
                </a:solidFill>
                <a:latin typeface="Avenir Book" panose="020B0503020203020204" pitchFamily="34" charset="-78"/>
                <a:cs typeface="Avenir Book" panose="020B0503020203020204" pitchFamily="34" charset="-78"/>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223394" y="788784"/>
            <a:ext cx="10741093" cy="778430"/>
          </a:xfrm>
        </p:spPr>
        <p:txBody>
          <a:bodyPr>
            <a:normAutofit/>
          </a:bodyPr>
          <a:lstStyle/>
          <a:p>
            <a:pPr marL="350044" indent="-252413">
              <a:defRPr/>
            </a:pPr>
            <a:r>
              <a:rPr lang="en-US" sz="2100" dirty="0">
                <a:latin typeface="Avenir Book" panose="020B0503020203020204" pitchFamily="34" charset="-78"/>
                <a:cs typeface="Avenir Book" panose="020B0503020203020204" pitchFamily="34" charset="-78"/>
              </a:rPr>
              <a:t>Senders need to adapt/tune the sending rate </a:t>
            </a:r>
          </a:p>
          <a:p>
            <a:pPr marL="807244" lvl="1" indent="-252413">
              <a:defRPr/>
            </a:pPr>
            <a:r>
              <a:rPr lang="en-US" sz="1600" dirty="0">
                <a:latin typeface="Avenir Book" panose="020B0503020203020204" pitchFamily="34" charset="-78"/>
                <a:cs typeface="Avenir Book" panose="020B0503020203020204" pitchFamily="34" charset="-78"/>
                <a:sym typeface="Wingdings" panose="05000000000000000000" pitchFamily="2" charset="2"/>
              </a:rPr>
              <a:t>How many bytes are inside the network  called </a:t>
            </a:r>
            <a:r>
              <a:rPr lang="en-US" sz="1600" dirty="0">
                <a:solidFill>
                  <a:srgbClr val="C00000"/>
                </a:solidFill>
                <a:latin typeface="Avenir Book" panose="020B0503020203020204" pitchFamily="34" charset="-78"/>
                <a:cs typeface="Avenir Book" panose="020B0503020203020204" pitchFamily="34" charset="-78"/>
                <a:sym typeface="Wingdings" panose="05000000000000000000" pitchFamily="2" charset="2"/>
              </a:rPr>
              <a:t>congestion window </a:t>
            </a:r>
            <a:r>
              <a:rPr lang="en-US" sz="1600" dirty="0">
                <a:latin typeface="Avenir Book" panose="020B0503020203020204" pitchFamily="34" charset="-78"/>
                <a:cs typeface="Avenir Book" panose="020B0503020203020204" pitchFamily="34" charset="-78"/>
                <a:sym typeface="Wingdings" panose="05000000000000000000" pitchFamily="2" charset="2"/>
              </a:rPr>
              <a:t>or </a:t>
            </a:r>
            <a:r>
              <a:rPr lang="en-US" sz="1600" dirty="0" err="1">
                <a:solidFill>
                  <a:srgbClr val="C00000"/>
                </a:solidFill>
                <a:latin typeface="Avenir Book" panose="020B0503020203020204" pitchFamily="34" charset="-78"/>
                <a:cs typeface="Avenir Book" panose="020B0503020203020204" pitchFamily="34" charset="-78"/>
                <a:sym typeface="Wingdings" panose="05000000000000000000" pitchFamily="2" charset="2"/>
              </a:rPr>
              <a:t>cwnd</a:t>
            </a:r>
            <a:endParaRPr lang="en-US" sz="1600" dirty="0">
              <a:solidFill>
                <a:srgbClr val="C00000"/>
              </a:solidFill>
              <a:latin typeface="Avenir Book" panose="020B0503020203020204" pitchFamily="34" charset="-78"/>
              <a:cs typeface="Avenir Book" panose="020B0503020203020204" pitchFamily="34" charset="-78"/>
              <a:sym typeface="Wingdings" panose="05000000000000000000" pitchFamily="2" charset="2"/>
            </a:endParaRPr>
          </a:p>
          <a:p>
            <a:pPr marL="97631" indent="0">
              <a:buNone/>
              <a:defRPr/>
            </a:pPr>
            <a:endParaRPr lang="en-US" sz="2000" dirty="0">
              <a:latin typeface="Avenir Book" panose="020B0503020203020204" pitchFamily="34" charset="-78"/>
              <a:cs typeface="Avenir Book" panose="020B0503020203020204" pitchFamily="34" charset="-78"/>
            </a:endParaRPr>
          </a:p>
        </p:txBody>
      </p:sp>
      <p:sp>
        <p:nvSpPr>
          <p:cNvPr id="91"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492959" y="4442718"/>
            <a:ext cx="9469145" cy="9557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lnSpc>
                <a:spcPct val="90000"/>
              </a:lnSpc>
              <a:buFont typeface="Wingdings" charset="2"/>
              <a:buChar char="§"/>
              <a:defRPr/>
            </a:pPr>
            <a:r>
              <a:rPr lang="en-US" sz="2100" kern="0" dirty="0" err="1">
                <a:solidFill>
                  <a:srgbClr val="000000"/>
                </a:solidFill>
                <a:latin typeface="Avenir Book" panose="020B0503020203020204" pitchFamily="34" charset="-78"/>
                <a:cs typeface="Avenir Book" panose="020B0503020203020204" pitchFamily="34" charset="-78"/>
              </a:rPr>
              <a:t>cwnd</a:t>
            </a:r>
            <a:r>
              <a:rPr lang="en-US" sz="2100" kern="0" dirty="0">
                <a:solidFill>
                  <a:srgbClr val="000000"/>
                </a:solidFill>
                <a:latin typeface="Avenir Book" panose="020B0503020203020204" pitchFamily="34" charset="-78"/>
                <a:cs typeface="Avenir Book" panose="020B0503020203020204" pitchFamily="34" charset="-78"/>
              </a:rPr>
              <a:t> is dynamically adjusted in response to observed network congestion 	</a:t>
            </a:r>
            <a:r>
              <a:rPr lang="en-US" sz="2100" kern="0" dirty="0">
                <a:solidFill>
                  <a:srgbClr val="000000"/>
                </a:solidFill>
                <a:latin typeface="Avenir Book" panose="020B0503020203020204" pitchFamily="34" charset="-78"/>
                <a:cs typeface="Avenir Book" panose="020B0503020203020204" pitchFamily="34" charset="-78"/>
                <a:sym typeface="Wingdings" panose="05000000000000000000" pitchFamily="2" charset="2"/>
              </a:rPr>
              <a:t> I</a:t>
            </a:r>
            <a:r>
              <a:rPr lang="en-US" sz="2100" kern="0" dirty="0">
                <a:solidFill>
                  <a:srgbClr val="000000"/>
                </a:solidFill>
                <a:latin typeface="Avenir Book" panose="020B0503020203020204" pitchFamily="34" charset="-78"/>
                <a:cs typeface="Avenir Book" panose="020B0503020203020204" pitchFamily="34" charset="-78"/>
              </a:rPr>
              <a:t>mplementing </a:t>
            </a:r>
            <a:r>
              <a:rPr lang="en-US" sz="2100" kern="0" dirty="0">
                <a:solidFill>
                  <a:srgbClr val="C00000"/>
                </a:solidFill>
                <a:latin typeface="Avenir Book" panose="020B0503020203020204" pitchFamily="34" charset="-78"/>
                <a:cs typeface="Avenir Book" panose="020B0503020203020204" pitchFamily="34" charset="-78"/>
              </a:rPr>
              <a:t>TCP congestion control</a:t>
            </a:r>
          </a:p>
          <a:p>
            <a:pPr marL="213122" indent="-213122" defTabSz="685800">
              <a:buFont typeface="Wingdings" charset="2"/>
              <a:buChar char="§"/>
              <a:defRPr/>
            </a:pPr>
            <a:endParaRPr lang="en-US" sz="2100" kern="0" dirty="0">
              <a:solidFill>
                <a:srgbClr val="000000"/>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235759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962150" y="152497"/>
            <a:ext cx="8544983" cy="670967"/>
          </a:xfrm>
        </p:spPr>
        <p:txBody>
          <a:bodyPr>
            <a:normAutofit/>
          </a:bodyPr>
          <a:lstStyle/>
          <a:p>
            <a:r>
              <a:rPr lang="en-US" sz="3600" dirty="0">
                <a:latin typeface="Avenir Book" panose="020B0503020203020204" pitchFamily="34" charset="-78"/>
                <a:cs typeface="Avenir Book" panose="020B0503020203020204" pitchFamily="34" charset="-78"/>
              </a:rPr>
              <a:t>TCP Congestion Control: AIMD</a:t>
            </a:r>
            <a:endParaRPr lang="en-US" sz="3300" dirty="0">
              <a:latin typeface="Avenir Book" panose="020B0503020203020204" pitchFamily="34" charset="-78"/>
              <a:cs typeface="Avenir Book" panose="020B0503020203020204" pitchFamily="34" charset="-78"/>
            </a:endParaRPr>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573578" y="844852"/>
            <a:ext cx="11030989" cy="10858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19075" indent="-219075" defTabSz="685800">
              <a:lnSpc>
                <a:spcPct val="85000"/>
              </a:lnSpc>
              <a:spcBef>
                <a:spcPct val="20000"/>
              </a:spcBef>
              <a:buClr>
                <a:srgbClr val="000099"/>
              </a:buClr>
              <a:buSzPct val="100000"/>
              <a:buFont typeface="Wingdings" charset="2"/>
              <a:buChar char="§"/>
              <a:defRPr/>
            </a:pPr>
            <a:r>
              <a:rPr lang="en-US" sz="2100" dirty="0">
                <a:solidFill>
                  <a:srgbClr val="C00000"/>
                </a:solidFill>
                <a:latin typeface="Avenir Book" panose="020B0503020203020204" pitchFamily="34" charset="-78"/>
                <a:ea typeface="ＭＳ Ｐゴシック" charset="0"/>
                <a:cs typeface="Avenir Book" panose="020B0503020203020204" pitchFamily="34" charset="-78"/>
              </a:rPr>
              <a:t>Approach: </a:t>
            </a:r>
            <a:r>
              <a:rPr lang="en-US" sz="2100" dirty="0">
                <a:solidFill>
                  <a:prstClr val="black"/>
                </a:solidFill>
                <a:latin typeface="Avenir Book" panose="020B0503020203020204" pitchFamily="34" charset="-78"/>
                <a:ea typeface="ＭＳ Ｐゴシック" charset="0"/>
                <a:cs typeface="Avenir Book" panose="020B0503020203020204" pitchFamily="34" charset="-78"/>
              </a:rPr>
              <a:t>Senders can</a:t>
            </a:r>
            <a:r>
              <a:rPr lang="en-US" sz="2100" dirty="0">
                <a:solidFill>
                  <a:srgbClr val="FF0000"/>
                </a:solidFill>
                <a:latin typeface="Avenir Book" panose="020B0503020203020204" pitchFamily="34" charset="-78"/>
                <a:ea typeface="ＭＳ Ｐゴシック" charset="0"/>
                <a:cs typeface="Avenir Book" panose="020B0503020203020204" pitchFamily="34" charset="-78"/>
              </a:rPr>
              <a:t> </a:t>
            </a:r>
            <a:r>
              <a:rPr lang="en-US" sz="2100" dirty="0">
                <a:solidFill>
                  <a:prstClr val="black"/>
                </a:solidFill>
                <a:latin typeface="Avenir Book" panose="020B0503020203020204" pitchFamily="34" charset="-78"/>
                <a:ea typeface="ＭＳ Ｐゴシック" charset="0"/>
                <a:cs typeface="Avenir Book" panose="020B0503020203020204" pitchFamily="34" charset="-78"/>
              </a:rPr>
              <a:t>increase sending rate until packet loss (congestion) occurs, then decrease sending rate on loss event</a:t>
            </a: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7708098" y="3402997"/>
            <a:ext cx="2452098" cy="11541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a:defRPr/>
            </a:pPr>
            <a:r>
              <a:rPr lang="en-US" sz="2700" b="1" dirty="0">
                <a:solidFill>
                  <a:srgbClr val="0013A3"/>
                </a:solidFill>
                <a:latin typeface="Avenir Book" panose="020B0503020203020204" pitchFamily="34" charset="-78"/>
                <a:cs typeface="Avenir Book" panose="020B0503020203020204" pitchFamily="34" charset="-78"/>
              </a:rPr>
              <a:t>AIMD</a:t>
            </a:r>
            <a:r>
              <a:rPr lang="en-US" sz="2100" dirty="0">
                <a:solidFill>
                  <a:prstClr val="black"/>
                </a:solidFill>
                <a:latin typeface="Avenir Book" panose="020B0503020203020204" pitchFamily="34" charset="-78"/>
                <a:cs typeface="Avenir Book" panose="020B0503020203020204" pitchFamily="34" charset="-78"/>
              </a:rPr>
              <a:t> sawtooth</a:t>
            </a:r>
          </a:p>
          <a:p>
            <a:pPr algn="r" defTabSz="685800">
              <a:defRPr/>
            </a:pPr>
            <a:r>
              <a:rPr lang="en-US" sz="2100" dirty="0">
                <a:solidFill>
                  <a:prstClr val="black"/>
                </a:solidFill>
                <a:latin typeface="Avenir Book" panose="020B0503020203020204" pitchFamily="34" charset="-78"/>
                <a:cs typeface="Avenir Book" panose="020B0503020203020204" pitchFamily="34" charset="-78"/>
              </a:rPr>
              <a:t>behavior: </a:t>
            </a:r>
            <a:r>
              <a:rPr lang="en-US" sz="2100" dirty="0">
                <a:solidFill>
                  <a:srgbClr val="0013A3"/>
                </a:solidFill>
                <a:latin typeface="Avenir Book" panose="020B0503020203020204" pitchFamily="34" charset="-78"/>
                <a:cs typeface="Avenir Book" panose="020B0503020203020204" pitchFamily="34" charset="-78"/>
              </a:rPr>
              <a:t>probing</a:t>
            </a:r>
          </a:p>
          <a:p>
            <a:pPr algn="r" defTabSz="685800">
              <a:defRPr/>
            </a:pPr>
            <a:r>
              <a:rPr lang="en-US" sz="2100" dirty="0">
                <a:solidFill>
                  <a:prstClr val="black"/>
                </a:solidFill>
                <a:latin typeface="Avenir Book" panose="020B0503020203020204" pitchFamily="34" charset="-78"/>
                <a:cs typeface="Avenir Book" panose="020B0503020203020204" pitchFamily="34" charset="-78"/>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4882086" y="2913278"/>
            <a:ext cx="514350" cy="2286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4267725" y="3980078"/>
            <a:ext cx="127397" cy="127397"/>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4403455" y="3971743"/>
            <a:ext cx="0" cy="48220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dirty="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4395122" y="3734809"/>
            <a:ext cx="736997" cy="7358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5123784" y="3735999"/>
            <a:ext cx="0" cy="601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5117832" y="3958647"/>
            <a:ext cx="394097" cy="3929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5511927" y="3955076"/>
            <a:ext cx="0" cy="516731"/>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5520263" y="3719331"/>
            <a:ext cx="727472" cy="73580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6244163" y="3719332"/>
            <a:ext cx="8335" cy="626269"/>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6247734" y="3841966"/>
            <a:ext cx="500063" cy="500063"/>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6747796" y="3831249"/>
            <a:ext cx="0" cy="560784"/>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6740653" y="3641941"/>
            <a:ext cx="657225" cy="760809"/>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3912168" y="3120911"/>
            <a:ext cx="3463086" cy="2101758"/>
            <a:chOff x="4084516" y="3733803"/>
            <a:chExt cx="4617448" cy="2802345"/>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015545" y="4802774"/>
              <a:ext cx="2476497" cy="33855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050" dirty="0">
                  <a:solidFill>
                    <a:prstClr val="black"/>
                  </a:solidFill>
                  <a:latin typeface="Avenir Book" panose="020B0503020203020204" pitchFamily="34" charset="-78"/>
                  <a:cs typeface="Avenir Book" panose="020B0503020203020204" pitchFamily="34" charset="-78"/>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defTabSz="685800">
                <a:defRPr/>
              </a:pPr>
              <a:endParaRPr lang="en-US" sz="1350" dirty="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3" y="6166816"/>
              <a:ext cx="70147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Avenir Book" panose="020B0503020203020204" pitchFamily="34" charset="-78"/>
                  <a:cs typeface="Avenir Book" panose="020B0503020203020204" pitchFamily="34" charset="-78"/>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2067982" y="1692162"/>
            <a:ext cx="3790950" cy="142875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5" y="4737100"/>
              <a:ext cx="4334879" cy="127317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lvl="1" defTabSz="685800">
                <a:lnSpc>
                  <a:spcPct val="85000"/>
                </a:lnSpc>
                <a:spcBef>
                  <a:spcPct val="20000"/>
                </a:spcBef>
                <a:buClr>
                  <a:srgbClr val="000099"/>
                </a:buClr>
                <a:defRPr/>
              </a:pPr>
              <a:r>
                <a:rPr lang="en-US" sz="1950" dirty="0">
                  <a:solidFill>
                    <a:prstClr val="black"/>
                  </a:solidFill>
                  <a:latin typeface="Avenir Book" panose="020B0503020203020204" pitchFamily="34" charset="-78"/>
                  <a:ea typeface="ＭＳ Ｐゴシック" charset="0"/>
                  <a:cs typeface="Avenir Book" panose="020B0503020203020204" pitchFamily="34" charset="-78"/>
                </a:rPr>
                <a:t>Additively increase rate until network is not congested</a:t>
              </a: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7999" y="4533900"/>
              <a:ext cx="2939079"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defTabSz="685800">
                <a:lnSpc>
                  <a:spcPct val="85000"/>
                </a:lnSpc>
                <a:spcBef>
                  <a:spcPct val="20000"/>
                </a:spcBef>
                <a:buClr>
                  <a:srgbClr val="000099"/>
                </a:buClr>
                <a:defRPr/>
              </a:pPr>
              <a:r>
                <a:rPr lang="en-US" sz="2100" u="sng" dirty="0">
                  <a:solidFill>
                    <a:srgbClr val="00B050"/>
                  </a:solidFill>
                  <a:latin typeface="Avenir Book" panose="020B0503020203020204" pitchFamily="34" charset="-78"/>
                  <a:ea typeface="ＭＳ Ｐゴシック" charset="0"/>
                  <a:cs typeface="Avenir Book" panose="020B0503020203020204" pitchFamily="34" charset="-78"/>
                </a:rPr>
                <a:t>A</a:t>
              </a:r>
              <a:r>
                <a:rPr lang="en-US" sz="2100" dirty="0">
                  <a:solidFill>
                    <a:srgbClr val="00B050"/>
                  </a:solidFill>
                  <a:latin typeface="Avenir Book" panose="020B0503020203020204" pitchFamily="34" charset="-78"/>
                  <a:ea typeface="ＭＳ Ｐゴシック" charset="0"/>
                  <a:cs typeface="Avenir Book" panose="020B0503020203020204" pitchFamily="34" charset="-78"/>
                </a:rPr>
                <a:t>dditive </a:t>
              </a:r>
              <a:r>
                <a:rPr lang="en-US" sz="2100" u="sng" dirty="0">
                  <a:solidFill>
                    <a:srgbClr val="00B050"/>
                  </a:solidFill>
                  <a:latin typeface="Avenir Book" panose="020B0503020203020204" pitchFamily="34" charset="-78"/>
                  <a:ea typeface="ＭＳ Ｐゴシック" charset="0"/>
                  <a:cs typeface="Avenir Book" panose="020B0503020203020204" pitchFamily="34" charset="-78"/>
                </a:rPr>
                <a:t>I</a:t>
              </a:r>
              <a:r>
                <a:rPr lang="en-US" sz="2100" dirty="0">
                  <a:solidFill>
                    <a:srgbClr val="00B050"/>
                  </a:solidFill>
                  <a:latin typeface="Avenir Book" panose="020B0503020203020204" pitchFamily="34" charset="-78"/>
                  <a:ea typeface="ＭＳ Ｐゴシック" charset="0"/>
                  <a:cs typeface="Avenir Book" panose="020B0503020203020204" pitchFamily="34" charset="-78"/>
                </a:rPr>
                <a:t>ncrease</a:t>
              </a: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6321160" y="1730262"/>
            <a:ext cx="3770844" cy="1066800"/>
            <a:chOff x="38099" y="4533900"/>
            <a:chExt cx="5027792"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899" y="4686300"/>
              <a:ext cx="4722991"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099" y="4991100"/>
              <a:ext cx="5027792" cy="825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lvl="1" defTabSz="685800">
                <a:lnSpc>
                  <a:spcPct val="85000"/>
                </a:lnSpc>
                <a:spcBef>
                  <a:spcPct val="20000"/>
                </a:spcBef>
                <a:buClr>
                  <a:srgbClr val="000099"/>
                </a:buClr>
                <a:defRPr/>
              </a:pPr>
              <a:r>
                <a:rPr lang="en-US" sz="1950" dirty="0">
                  <a:solidFill>
                    <a:prstClr val="black"/>
                  </a:solidFill>
                  <a:latin typeface="Avenir Book" panose="020B0503020203020204" pitchFamily="34" charset="-78"/>
                  <a:ea typeface="ＭＳ Ｐゴシック" charset="0"/>
                  <a:cs typeface="Avenir Book" panose="020B0503020203020204" pitchFamily="34" charset="-78"/>
                </a:rPr>
                <a:t>Multiplicatively decrease rate when congestion occurs</a:t>
              </a:r>
            </a:p>
            <a:p>
              <a:pPr marL="257175" indent="-257175" defTabSz="685800">
                <a:lnSpc>
                  <a:spcPct val="85000"/>
                </a:lnSpc>
                <a:spcBef>
                  <a:spcPct val="20000"/>
                </a:spcBef>
                <a:buClr>
                  <a:srgbClr val="000099"/>
                </a:buClr>
                <a:buSzPct val="65000"/>
                <a:buFont typeface="Wingdings" charset="0"/>
                <a:buChar char="v"/>
                <a:defRPr/>
              </a:pPr>
              <a:endParaRPr lang="en-US" sz="2100" dirty="0">
                <a:solidFill>
                  <a:prstClr val="black"/>
                </a:solidFill>
                <a:latin typeface="Avenir Book" panose="020B0503020203020204" pitchFamily="34" charset="-78"/>
                <a:ea typeface="ＭＳ Ｐゴシック" charset="0"/>
                <a:cs typeface="Avenir Book" panose="020B0503020203020204" pitchFamily="34" charset="-78"/>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7999" y="4533900"/>
              <a:ext cx="4102100" cy="444500"/>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defTabSz="685800">
                <a:lnSpc>
                  <a:spcPct val="85000"/>
                </a:lnSpc>
                <a:spcBef>
                  <a:spcPct val="20000"/>
                </a:spcBef>
                <a:buClr>
                  <a:srgbClr val="000099"/>
                </a:buClr>
                <a:defRPr/>
              </a:pPr>
              <a:r>
                <a:rPr lang="en-US" sz="2100" u="sng" dirty="0">
                  <a:solidFill>
                    <a:srgbClr val="C00000"/>
                  </a:solidFill>
                  <a:latin typeface="Avenir Book" panose="020B0503020203020204" pitchFamily="34" charset="-78"/>
                  <a:ea typeface="ＭＳ Ｐゴシック" charset="0"/>
                  <a:cs typeface="Avenir Book" panose="020B0503020203020204" pitchFamily="34" charset="-78"/>
                </a:rPr>
                <a:t>M</a:t>
              </a:r>
              <a:r>
                <a:rPr lang="en-US" sz="2100" dirty="0">
                  <a:solidFill>
                    <a:srgbClr val="C00000"/>
                  </a:solidFill>
                  <a:latin typeface="Avenir Book" panose="020B0503020203020204" pitchFamily="34" charset="-78"/>
                  <a:ea typeface="ＭＳ Ｐゴシック" charset="0"/>
                  <a:cs typeface="Avenir Book" panose="020B0503020203020204" pitchFamily="34" charset="-78"/>
                </a:rPr>
                <a:t>ultiplicative </a:t>
              </a:r>
              <a:r>
                <a:rPr lang="en-US" sz="2100" u="sng" dirty="0">
                  <a:solidFill>
                    <a:srgbClr val="C00000"/>
                  </a:solidFill>
                  <a:latin typeface="Avenir Book" panose="020B0503020203020204" pitchFamily="34" charset="-78"/>
                  <a:ea typeface="ＭＳ Ｐゴシック" charset="0"/>
                  <a:cs typeface="Avenir Book" panose="020B0503020203020204" pitchFamily="34" charset="-78"/>
                </a:rPr>
                <a:t>D</a:t>
              </a:r>
              <a:r>
                <a:rPr lang="en-US" sz="2100" dirty="0">
                  <a:solidFill>
                    <a:srgbClr val="C00000"/>
                  </a:solidFill>
                  <a:latin typeface="Avenir Book" panose="020B0503020203020204" pitchFamily="34" charset="-78"/>
                  <a:ea typeface="ＭＳ Ｐゴシック" charset="0"/>
                  <a:cs typeface="Avenir Book" panose="020B0503020203020204" pitchFamily="34" charset="-78"/>
                </a:rPr>
                <a:t>ecrease</a:t>
              </a: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4308789" y="2799442"/>
            <a:ext cx="2699426" cy="1314907"/>
            <a:chOff x="3965643" y="3635373"/>
            <a:chExt cx="3599234" cy="1753210"/>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635373"/>
              <a:ext cx="0" cy="542927"/>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4425420" y="2799443"/>
            <a:ext cx="2864645" cy="1271588"/>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481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981201" y="2133600"/>
            <a:ext cx="8180387" cy="1066800"/>
          </a:xfrm>
        </p:spPr>
        <p:txBody>
          <a:bodyPr>
            <a:normAutofit/>
          </a:bodyPr>
          <a:lstStyle/>
          <a:p>
            <a:r>
              <a:rPr lang="en-US" dirty="0">
                <a:latin typeface="Avenir Book" panose="020B0503020203020204" pitchFamily="34" charset="-78"/>
                <a:cs typeface="Avenir Book" panose="020B0503020203020204" pitchFamily="34" charset="-78"/>
              </a:rPr>
              <a:t>TCP Tahoe</a:t>
            </a:r>
          </a:p>
        </p:txBody>
      </p:sp>
      <p:sp>
        <p:nvSpPr>
          <p:cNvPr id="59395" name="Text Placeholder 2"/>
          <p:cNvSpPr>
            <a:spLocks noGrp="1"/>
          </p:cNvSpPr>
          <p:nvPr>
            <p:ph type="body" sz="quarter" idx="10"/>
          </p:nvPr>
        </p:nvSpPr>
        <p:spPr>
          <a:xfrm>
            <a:off x="1892300" y="3087688"/>
            <a:ext cx="8382000" cy="1104900"/>
          </a:xfrm>
        </p:spPr>
        <p:txBody>
          <a:bodyPr/>
          <a:lstStyle/>
          <a:p>
            <a:pPr marL="0" indent="0">
              <a:buNone/>
            </a:pPr>
            <a:endParaRPr lang="en-US" sz="2600" dirty="0"/>
          </a:p>
          <a:p>
            <a:pPr marL="0" indent="0"/>
            <a:endParaRPr lang="en-US" sz="2200" dirty="0"/>
          </a:p>
          <a:p>
            <a:pPr lvl="1" eaLnBrk="1" hangingPunct="1"/>
            <a:endParaRPr lang="en-US" sz="2200" dirty="0"/>
          </a:p>
        </p:txBody>
      </p:sp>
    </p:spTree>
    <p:extLst>
      <p:ext uri="{BB962C8B-B14F-4D97-AF65-F5344CB8AC3E}">
        <p14:creationId xmlns:p14="http://schemas.microsoft.com/office/powerpoint/2010/main" val="375765949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489397" y="94925"/>
            <a:ext cx="4953164" cy="670967"/>
          </a:xfrm>
        </p:spPr>
        <p:txBody>
          <a:bodyPr>
            <a:normAutofit/>
          </a:bodyPr>
          <a:lstStyle/>
          <a:p>
            <a:r>
              <a:rPr lang="en-US" sz="3600" dirty="0">
                <a:latin typeface="Avenir Book" panose="020B0503020203020204" pitchFamily="34" charset="-78"/>
                <a:cs typeface="Avenir Book" panose="020B0503020203020204" pitchFamily="34" charset="-78"/>
              </a:rPr>
              <a:t>TCP slow start </a:t>
            </a:r>
            <a:endParaRPr lang="en-US" sz="3300" dirty="0">
              <a:latin typeface="Avenir Book" panose="020B0503020203020204" pitchFamily="34" charset="-78"/>
              <a:cs typeface="Avenir Book" panose="020B0503020203020204" pitchFamily="34" charset="-78"/>
            </a:endParaRP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1850780" y="2148941"/>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1510545" y="1320009"/>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2569594" y="2111279"/>
            <a:ext cx="978153"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one segment</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3350182" y="1284546"/>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1838385" y="2034386"/>
            <a:ext cx="12396" cy="2134228"/>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flipH="1">
            <a:off x="3732206" y="2038213"/>
            <a:ext cx="951" cy="2168270"/>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1581641" y="2146304"/>
            <a:ext cx="253916" cy="622697"/>
            <a:chOff x="7237995" y="2270077"/>
            <a:chExt cx="338555"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28137" y="2493708"/>
              <a:ext cx="558272"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venir Book" panose="020B0503020203020204" pitchFamily="34" charset="-78"/>
                  <a:cs typeface="Avenir Book" panose="020B0503020203020204" pitchFamily="34" charset="-78"/>
                </a:rPr>
                <a:t>RTT</a:t>
              </a:r>
              <a:endParaRPr lang="en-US" sz="750">
                <a:solidFill>
                  <a:srgbClr val="000000"/>
                </a:solidFill>
                <a:latin typeface="Avenir Book" panose="020B0503020203020204" pitchFamily="34" charset="-78"/>
                <a:cs typeface="Avenir Book" panose="020B0503020203020204" pitchFamily="34" charset="-78"/>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1832921" y="2452550"/>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5" name="Group 4">
            <a:extLst>
              <a:ext uri="{FF2B5EF4-FFF2-40B4-BE49-F238E27FC236}">
                <a16:creationId xmlns:a16="http://schemas.microsoft.com/office/drawing/2014/main" id="{4100408E-3418-754E-97D5-873085045522}"/>
              </a:ext>
            </a:extLst>
          </p:cNvPr>
          <p:cNvGrpSpPr/>
          <p:nvPr/>
        </p:nvGrpSpPr>
        <p:grpSpPr>
          <a:xfrm>
            <a:off x="1850780" y="2734728"/>
            <a:ext cx="1882379" cy="328613"/>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1848006" y="3191929"/>
            <a:ext cx="1899440" cy="356438"/>
            <a:chOff x="7581376" y="3697240"/>
            <a:chExt cx="2532587" cy="475251"/>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81376" y="3820065"/>
              <a:ext cx="2505075" cy="352426"/>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2569750" y="2700638"/>
            <a:ext cx="102784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two segments</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2643912" y="3461447"/>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four segments</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1854352" y="3471224"/>
            <a:ext cx="1889522" cy="489347"/>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1509772" y="1562898"/>
            <a:ext cx="490538" cy="451247"/>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3570043" y="1548866"/>
            <a:ext cx="286941" cy="410765"/>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489397" y="734465"/>
            <a:ext cx="5098771" cy="142875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srgbClr val="CC0000"/>
                </a:solidFill>
                <a:latin typeface="Avenir Book" panose="020B0503020203020204" pitchFamily="34" charset="-78"/>
                <a:cs typeface="Avenir Book" panose="020B0503020203020204" pitchFamily="34" charset="-78"/>
              </a:rPr>
              <a:t>Assumption: </a:t>
            </a:r>
            <a:r>
              <a:rPr lang="en-US" sz="2400" dirty="0">
                <a:solidFill>
                  <a:prstClr val="black"/>
                </a:solidFill>
                <a:latin typeface="Avenir Book" panose="020B0503020203020204" pitchFamily="34" charset="-78"/>
                <a:cs typeface="Avenir Book" panose="020B0503020203020204" pitchFamily="34" charset="-78"/>
              </a:rPr>
              <a:t>1 MSS = 1 Byte</a:t>
            </a:r>
          </a:p>
        </p:txBody>
      </p:sp>
      <p:sp>
        <p:nvSpPr>
          <p:cNvPr id="78" name="Line 14">
            <a:extLst>
              <a:ext uri="{FF2B5EF4-FFF2-40B4-BE49-F238E27FC236}">
                <a16:creationId xmlns:a16="http://schemas.microsoft.com/office/drawing/2014/main" id="{3E685DEE-2DB5-5740-BE6F-2C74E54E1F41}"/>
              </a:ext>
            </a:extLst>
          </p:cNvPr>
          <p:cNvSpPr>
            <a:spLocks noChangeShapeType="1"/>
          </p:cNvSpPr>
          <p:nvPr/>
        </p:nvSpPr>
        <p:spPr bwMode="auto">
          <a:xfrm>
            <a:off x="11350889" y="812869"/>
            <a:ext cx="794" cy="436546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80"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9206175" y="1304244"/>
            <a:ext cx="2132787" cy="7595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0" name="Line 24">
            <a:extLst>
              <a:ext uri="{FF2B5EF4-FFF2-40B4-BE49-F238E27FC236}">
                <a16:creationId xmlns:a16="http://schemas.microsoft.com/office/drawing/2014/main" id="{E42793DA-B54F-8A4A-B169-AADC48D8492B}"/>
              </a:ext>
            </a:extLst>
          </p:cNvPr>
          <p:cNvSpPr>
            <a:spLocks noChangeShapeType="1"/>
          </p:cNvSpPr>
          <p:nvPr/>
        </p:nvSpPr>
        <p:spPr bwMode="auto">
          <a:xfrm>
            <a:off x="9214137" y="2121761"/>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1" name="Line 25">
            <a:extLst>
              <a:ext uri="{FF2B5EF4-FFF2-40B4-BE49-F238E27FC236}">
                <a16:creationId xmlns:a16="http://schemas.microsoft.com/office/drawing/2014/main" id="{F496288B-3032-8C46-B36C-DC6EE518FC26}"/>
              </a:ext>
            </a:extLst>
          </p:cNvPr>
          <p:cNvSpPr>
            <a:spLocks noChangeShapeType="1"/>
          </p:cNvSpPr>
          <p:nvPr/>
        </p:nvSpPr>
        <p:spPr bwMode="auto">
          <a:xfrm>
            <a:off x="9191889" y="2440057"/>
            <a:ext cx="2161384" cy="52331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214137" y="2625297"/>
            <a:ext cx="2098914" cy="84151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00" name="Line 37">
            <a:extLst>
              <a:ext uri="{FF2B5EF4-FFF2-40B4-BE49-F238E27FC236}">
                <a16:creationId xmlns:a16="http://schemas.microsoft.com/office/drawing/2014/main" id="{87F3997F-AC6F-E94C-BDDA-D675458BE183}"/>
              </a:ext>
            </a:extLst>
          </p:cNvPr>
          <p:cNvSpPr>
            <a:spLocks noChangeShapeType="1"/>
          </p:cNvSpPr>
          <p:nvPr/>
        </p:nvSpPr>
        <p:spPr bwMode="auto">
          <a:xfrm>
            <a:off x="9229988" y="350542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nvGrpSpPr>
          <p:cNvPr id="103" name="Group 65">
            <a:extLst>
              <a:ext uri="{FF2B5EF4-FFF2-40B4-BE49-F238E27FC236}">
                <a16:creationId xmlns:a16="http://schemas.microsoft.com/office/drawing/2014/main" id="{931A5080-440D-784B-A586-03D399A7E982}"/>
              </a:ext>
            </a:extLst>
          </p:cNvPr>
          <p:cNvGrpSpPr>
            <a:grpSpLocks/>
          </p:cNvGrpSpPr>
          <p:nvPr/>
        </p:nvGrpSpPr>
        <p:grpSpPr bwMode="auto">
          <a:xfrm>
            <a:off x="7764474" y="664901"/>
            <a:ext cx="1427163" cy="307975"/>
            <a:chOff x="170" y="906"/>
            <a:chExt cx="899" cy="194"/>
          </a:xfrm>
        </p:grpSpPr>
        <p:sp>
          <p:nvSpPr>
            <p:cNvPr id="113"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02" y="911"/>
              <a:ext cx="124"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4"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0" y="906"/>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solidFill>
                    <a:srgbClr val="FFFFFF"/>
                  </a:solidFill>
                  <a:effectLst/>
                  <a:uLnTx/>
                  <a:uFillTx/>
                  <a:latin typeface="Avenir Book" panose="020B0503020203020204" pitchFamily="34" charset="-78"/>
                  <a:cs typeface="Avenir Book" panose="020B0503020203020204" pitchFamily="34" charset="-78"/>
                </a:rPr>
                <a:t>1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2 3 4 </a:t>
              </a:r>
              <a:r>
                <a:rPr kumimoji="0" lang="en-US" sz="1400" b="0" u="none" strike="noStrike" kern="1200" cap="none" spc="0" normalizeH="0" baseline="0" noProof="0" dirty="0">
                  <a:ln>
                    <a:noFill/>
                  </a:ln>
                  <a:solidFill>
                    <a:srgbClr val="000000"/>
                  </a:solidFill>
                  <a:effectLst/>
                  <a:uLnTx/>
                  <a:uFillTx/>
                  <a:latin typeface="Avenir Book" panose="020B0503020203020204" pitchFamily="34" charset="-78"/>
                  <a:cs typeface="Avenir Book" panose="020B0503020203020204" pitchFamily="34" charset="-78"/>
                </a:rPr>
                <a:t>5 6 7 8 </a:t>
              </a:r>
            </a:p>
          </p:txBody>
        </p:sp>
      </p:grpSp>
      <p:sp>
        <p:nvSpPr>
          <p:cNvPr id="142" name="Line 14">
            <a:extLst>
              <a:ext uri="{FF2B5EF4-FFF2-40B4-BE49-F238E27FC236}">
                <a16:creationId xmlns:a16="http://schemas.microsoft.com/office/drawing/2014/main" id="{7310A5FB-4554-E045-9214-7084F7E862DB}"/>
              </a:ext>
            </a:extLst>
          </p:cNvPr>
          <p:cNvSpPr>
            <a:spLocks noChangeShapeType="1"/>
          </p:cNvSpPr>
          <p:nvPr/>
        </p:nvSpPr>
        <p:spPr bwMode="auto">
          <a:xfrm>
            <a:off x="9191889" y="647769"/>
            <a:ext cx="7938" cy="429260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4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622074" y="658980"/>
            <a:ext cx="800220"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1</a:t>
            </a:r>
          </a:p>
        </p:txBody>
      </p:sp>
      <p:sp>
        <p:nvSpPr>
          <p:cNvPr id="149"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199827" y="3030372"/>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0" name="Line 24">
            <a:extLst>
              <a:ext uri="{FF2B5EF4-FFF2-40B4-BE49-F238E27FC236}">
                <a16:creationId xmlns:a16="http://schemas.microsoft.com/office/drawing/2014/main" id="{E42793DA-B54F-8A4A-B169-AADC48D8492B}"/>
              </a:ext>
            </a:extLst>
          </p:cNvPr>
          <p:cNvSpPr>
            <a:spLocks noChangeShapeType="1"/>
          </p:cNvSpPr>
          <p:nvPr/>
        </p:nvSpPr>
        <p:spPr bwMode="auto">
          <a:xfrm>
            <a:off x="9208124" y="778657"/>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1" name="Line 24">
            <a:extLst>
              <a:ext uri="{FF2B5EF4-FFF2-40B4-BE49-F238E27FC236}">
                <a16:creationId xmlns:a16="http://schemas.microsoft.com/office/drawing/2014/main" id="{E42793DA-B54F-8A4A-B169-AADC48D8492B}"/>
              </a:ext>
            </a:extLst>
          </p:cNvPr>
          <p:cNvSpPr>
            <a:spLocks noChangeShapeType="1"/>
          </p:cNvSpPr>
          <p:nvPr/>
        </p:nvSpPr>
        <p:spPr bwMode="auto">
          <a:xfrm>
            <a:off x="9223638" y="3776170"/>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2" name="Line 24">
            <a:extLst>
              <a:ext uri="{FF2B5EF4-FFF2-40B4-BE49-F238E27FC236}">
                <a16:creationId xmlns:a16="http://schemas.microsoft.com/office/drawing/2014/main" id="{E42793DA-B54F-8A4A-B169-AADC48D8492B}"/>
              </a:ext>
            </a:extLst>
          </p:cNvPr>
          <p:cNvSpPr>
            <a:spLocks noChangeShapeType="1"/>
          </p:cNvSpPr>
          <p:nvPr/>
        </p:nvSpPr>
        <p:spPr bwMode="auto">
          <a:xfrm>
            <a:off x="9215602" y="4198204"/>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3" name="Line 24">
            <a:extLst>
              <a:ext uri="{FF2B5EF4-FFF2-40B4-BE49-F238E27FC236}">
                <a16:creationId xmlns:a16="http://schemas.microsoft.com/office/drawing/2014/main" id="{E42793DA-B54F-8A4A-B169-AADC48D8492B}"/>
              </a:ext>
            </a:extLst>
          </p:cNvPr>
          <p:cNvSpPr>
            <a:spLocks noChangeShapeType="1"/>
          </p:cNvSpPr>
          <p:nvPr/>
        </p:nvSpPr>
        <p:spPr bwMode="auto">
          <a:xfrm>
            <a:off x="9199827" y="4491661"/>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nvGrpSpPr>
          <p:cNvPr id="163" name="Group 65">
            <a:extLst>
              <a:ext uri="{FF2B5EF4-FFF2-40B4-BE49-F238E27FC236}">
                <a16:creationId xmlns:a16="http://schemas.microsoft.com/office/drawing/2014/main" id="{931A5080-440D-784B-A586-03D399A7E982}"/>
              </a:ext>
            </a:extLst>
          </p:cNvPr>
          <p:cNvGrpSpPr>
            <a:grpSpLocks/>
          </p:cNvGrpSpPr>
          <p:nvPr/>
        </p:nvGrpSpPr>
        <p:grpSpPr bwMode="auto">
          <a:xfrm>
            <a:off x="7734189" y="1947625"/>
            <a:ext cx="1427163" cy="307976"/>
            <a:chOff x="-73" y="977"/>
            <a:chExt cx="899" cy="194"/>
          </a:xfrm>
        </p:grpSpPr>
        <p:sp>
          <p:nvSpPr>
            <p:cNvPr id="164" name="Rectangle 60">
              <a:extLst>
                <a:ext uri="{FF2B5EF4-FFF2-40B4-BE49-F238E27FC236}">
                  <a16:creationId xmlns:a16="http://schemas.microsoft.com/office/drawing/2014/main" id="{B26ABC90-7E5F-8A4E-8270-EAE554611A43}"/>
                </a:ext>
              </a:extLst>
            </p:cNvPr>
            <p:cNvSpPr>
              <a:spLocks noChangeArrowheads="1"/>
            </p:cNvSpPr>
            <p:nvPr/>
          </p:nvSpPr>
          <p:spPr bwMode="auto">
            <a:xfrm>
              <a:off x="66" y="992"/>
              <a:ext cx="20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5"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73" y="977"/>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a:t>
              </a:r>
              <a:r>
                <a:rPr kumimoji="0" lang="en-US" sz="1400" b="0" u="none" strike="noStrike" kern="1200" cap="none" spc="0" normalizeH="0" baseline="0" noProof="0" dirty="0">
                  <a:ln>
                    <a:noFill/>
                  </a:ln>
                  <a:solidFill>
                    <a:srgbClr val="FFFFFF"/>
                  </a:solidFill>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2 3</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4 </a:t>
              </a:r>
              <a:r>
                <a:rPr kumimoji="0" lang="en-US" sz="1400" b="0" u="none" strike="noStrike" kern="1200" cap="none" spc="0" normalizeH="0" baseline="0" noProof="0" dirty="0">
                  <a:ln>
                    <a:noFill/>
                  </a:ln>
                  <a:solidFill>
                    <a:srgbClr val="000000"/>
                  </a:solidFill>
                  <a:effectLst/>
                  <a:uLnTx/>
                  <a:uFillTx/>
                  <a:latin typeface="Avenir Book" panose="020B0503020203020204" pitchFamily="34" charset="-78"/>
                  <a:cs typeface="Avenir Book" panose="020B0503020203020204" pitchFamily="34" charset="-78"/>
                </a:rPr>
                <a:t>5 6 7 8 </a:t>
              </a:r>
            </a:p>
          </p:txBody>
        </p:sp>
      </p:grpSp>
      <p:sp>
        <p:nvSpPr>
          <p:cNvPr id="166"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821174" y="1989721"/>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2</a:t>
            </a:r>
          </a:p>
        </p:txBody>
      </p:sp>
      <p:grpSp>
        <p:nvGrpSpPr>
          <p:cNvPr id="167" name="Group 65">
            <a:extLst>
              <a:ext uri="{FF2B5EF4-FFF2-40B4-BE49-F238E27FC236}">
                <a16:creationId xmlns:a16="http://schemas.microsoft.com/office/drawing/2014/main" id="{931A5080-440D-784B-A586-03D399A7E982}"/>
              </a:ext>
            </a:extLst>
          </p:cNvPr>
          <p:cNvGrpSpPr>
            <a:grpSpLocks/>
          </p:cNvGrpSpPr>
          <p:nvPr/>
        </p:nvGrpSpPr>
        <p:grpSpPr bwMode="auto">
          <a:xfrm>
            <a:off x="7755325" y="3339635"/>
            <a:ext cx="1427163" cy="307976"/>
            <a:chOff x="-49" y="967"/>
            <a:chExt cx="899" cy="194"/>
          </a:xfrm>
        </p:grpSpPr>
        <p:sp>
          <p:nvSpPr>
            <p:cNvPr id="168"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11" y="986"/>
              <a:ext cx="27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9"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49" y="967"/>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3 4 5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6 7 8 </a:t>
              </a:r>
            </a:p>
          </p:txBody>
        </p:sp>
      </p:grpSp>
      <p:sp>
        <p:nvSpPr>
          <p:cNvPr id="170"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804210" y="3397605"/>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3</a:t>
            </a:r>
          </a:p>
        </p:txBody>
      </p:sp>
      <p:sp>
        <p:nvSpPr>
          <p:cNvPr id="17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067759" y="744433"/>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9951082" y="1461067"/>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013964" y="209773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9994182" y="245515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B3</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9984322" y="2863133"/>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A3</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484623" y="3584373"/>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468707" y="387920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8"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430409" y="426975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9"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395158" y="458195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8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20574" y="3309070"/>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A4</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181" name="Group 65">
            <a:extLst>
              <a:ext uri="{FF2B5EF4-FFF2-40B4-BE49-F238E27FC236}">
                <a16:creationId xmlns:a16="http://schemas.microsoft.com/office/drawing/2014/main" id="{931A5080-440D-784B-A586-03D399A7E982}"/>
              </a:ext>
            </a:extLst>
          </p:cNvPr>
          <p:cNvGrpSpPr>
            <a:grpSpLocks/>
          </p:cNvGrpSpPr>
          <p:nvPr/>
        </p:nvGrpSpPr>
        <p:grpSpPr bwMode="auto">
          <a:xfrm>
            <a:off x="7748851" y="4052101"/>
            <a:ext cx="1427163" cy="307976"/>
            <a:chOff x="-59" y="959"/>
            <a:chExt cx="899" cy="194"/>
          </a:xfrm>
        </p:grpSpPr>
        <p:sp>
          <p:nvSpPr>
            <p:cNvPr id="182"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81" y="980"/>
              <a:ext cx="389"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83"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59" y="959"/>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4 5 6 7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8 </a:t>
              </a:r>
            </a:p>
          </p:txBody>
        </p:sp>
      </p:grpSp>
      <p:sp>
        <p:nvSpPr>
          <p:cNvPr id="1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813611" y="4122770"/>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4</a:t>
            </a:r>
          </a:p>
        </p:txBody>
      </p:sp>
      <p:sp>
        <p:nvSpPr>
          <p:cNvPr id="18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8874762" y="-8165"/>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grpSp>
        <p:nvGrpSpPr>
          <p:cNvPr id="186" name="Group 43">
            <a:extLst>
              <a:ext uri="{FF2B5EF4-FFF2-40B4-BE49-F238E27FC236}">
                <a16:creationId xmlns:a16="http://schemas.microsoft.com/office/drawing/2014/main" id="{D0982D30-E871-F344-B80E-157861960777}"/>
              </a:ext>
            </a:extLst>
          </p:cNvPr>
          <p:cNvGrpSpPr>
            <a:grpSpLocks/>
          </p:cNvGrpSpPr>
          <p:nvPr/>
        </p:nvGrpSpPr>
        <p:grpSpPr bwMode="auto">
          <a:xfrm>
            <a:off x="8873989" y="234724"/>
            <a:ext cx="490538" cy="451247"/>
            <a:chOff x="-44" y="1473"/>
            <a:chExt cx="981" cy="1105"/>
          </a:xfrm>
        </p:grpSpPr>
        <p:pic>
          <p:nvPicPr>
            <p:cNvPr id="187"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189"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11002718" y="5654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grpSp>
        <p:nvGrpSpPr>
          <p:cNvPr id="190" name="Group 46">
            <a:extLst>
              <a:ext uri="{FF2B5EF4-FFF2-40B4-BE49-F238E27FC236}">
                <a16:creationId xmlns:a16="http://schemas.microsoft.com/office/drawing/2014/main" id="{514EF769-BED4-DE47-BE55-0913ABFB155D}"/>
              </a:ext>
            </a:extLst>
          </p:cNvPr>
          <p:cNvGrpSpPr>
            <a:grpSpLocks/>
          </p:cNvGrpSpPr>
          <p:nvPr/>
        </p:nvGrpSpPr>
        <p:grpSpPr bwMode="auto">
          <a:xfrm>
            <a:off x="11222579" y="320861"/>
            <a:ext cx="286941" cy="410765"/>
            <a:chOff x="4140" y="429"/>
            <a:chExt cx="1425" cy="2396"/>
          </a:xfrm>
        </p:grpSpPr>
        <p:sp>
          <p:nvSpPr>
            <p:cNvPr id="191"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2"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3"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4"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5"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6"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21"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2"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97"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8"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19"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0"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99"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01"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17"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8"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02"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03"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15"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6"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04"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5"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6"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7"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8"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9"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0"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1"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2"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13"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4"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23" name="Group 222">
            <a:extLst>
              <a:ext uri="{FF2B5EF4-FFF2-40B4-BE49-F238E27FC236}">
                <a16:creationId xmlns:a16="http://schemas.microsoft.com/office/drawing/2014/main" id="{E69B56F2-B7D2-5247-8C5B-11CDFE50D6C7}"/>
              </a:ext>
            </a:extLst>
          </p:cNvPr>
          <p:cNvGrpSpPr/>
          <p:nvPr/>
        </p:nvGrpSpPr>
        <p:grpSpPr>
          <a:xfrm>
            <a:off x="1585717" y="2827143"/>
            <a:ext cx="253916" cy="622697"/>
            <a:chOff x="7237995" y="2270077"/>
            <a:chExt cx="338555" cy="830263"/>
          </a:xfrm>
        </p:grpSpPr>
        <p:sp>
          <p:nvSpPr>
            <p:cNvPr id="289"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28137" y="2493708"/>
              <a:ext cx="558272"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venir Book" panose="020B0503020203020204" pitchFamily="34" charset="-78"/>
                  <a:cs typeface="Avenir Book" panose="020B0503020203020204" pitchFamily="34" charset="-78"/>
                </a:rPr>
                <a:t>RTT</a:t>
              </a:r>
              <a:endParaRPr lang="en-US" sz="750">
                <a:solidFill>
                  <a:srgbClr val="000000"/>
                </a:solidFill>
                <a:latin typeface="Avenir Book" panose="020B0503020203020204" pitchFamily="34" charset="-78"/>
                <a:cs typeface="Avenir Book" panose="020B0503020203020204" pitchFamily="34" charset="-78"/>
              </a:endParaRPr>
            </a:p>
          </p:txBody>
        </p:sp>
        <p:sp>
          <p:nvSpPr>
            <p:cNvPr id="290"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1"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92"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5600410" y="152586"/>
            <a:ext cx="255390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u="sng" strike="noStrike" kern="0" cap="none" spc="0" normalizeH="0" baseline="0" noProof="0" dirty="0">
                <a:ln>
                  <a:noFill/>
                </a:ln>
                <a:solidFill>
                  <a:srgbClr val="000099"/>
                </a:solidFill>
                <a:effectLst/>
                <a:uLnTx/>
                <a:uFillTx/>
                <a:latin typeface="Avenir Book" panose="020B0503020203020204" pitchFamily="34" charset="-78"/>
                <a:cs typeface="Avenir Book" panose="020B0503020203020204" pitchFamily="34" charset="-78"/>
              </a:rPr>
              <a:t>Slow start (</a:t>
            </a:r>
            <a:r>
              <a:rPr kumimoji="0" lang="en-US" sz="1600" b="0" u="sng" strike="noStrike" kern="0" cap="none" spc="0" normalizeH="0" baseline="0" noProof="0" dirty="0" err="1">
                <a:ln>
                  <a:noFill/>
                </a:ln>
                <a:solidFill>
                  <a:srgbClr val="000099"/>
                </a:solidFill>
                <a:effectLst/>
                <a:uLnTx/>
                <a:uFillTx/>
                <a:latin typeface="Avenir Book" panose="020B0503020203020204" pitchFamily="34" charset="-78"/>
                <a:cs typeface="Avenir Book" panose="020B0503020203020204" pitchFamily="34" charset="-78"/>
              </a:rPr>
              <a:t>cwnd</a:t>
            </a:r>
            <a:r>
              <a:rPr kumimoji="0" lang="en-US" sz="1600" b="0" u="sng" strike="noStrike" kern="0" cap="none" spc="0" normalizeH="0" baseline="0" noProof="0" dirty="0">
                <a:ln>
                  <a:noFill/>
                </a:ln>
                <a:solidFill>
                  <a:srgbClr val="000099"/>
                </a:solidFill>
                <a:effectLst/>
                <a:uLnTx/>
                <a:uFillTx/>
                <a:latin typeface="Avenir Book" panose="020B0503020203020204" pitchFamily="34" charset="-78"/>
                <a:cs typeface="Avenir Book" panose="020B0503020203020204" pitchFamily="34" charset="-78"/>
              </a:rPr>
              <a:t> = 1</a:t>
            </a:r>
            <a:r>
              <a:rPr kumimoji="0" lang="en-US" sz="1600" b="0" u="sng" strike="noStrike" kern="0" cap="none" spc="0" normalizeH="0" noProof="0" dirty="0">
                <a:ln>
                  <a:noFill/>
                </a:ln>
                <a:solidFill>
                  <a:srgbClr val="000099"/>
                </a:solidFill>
                <a:effectLst/>
                <a:uLnTx/>
                <a:uFillTx/>
                <a:latin typeface="Avenir Book" panose="020B0503020203020204" pitchFamily="34" charset="-78"/>
                <a:cs typeface="Avenir Book" panose="020B0503020203020204" pitchFamily="34" charset="-78"/>
              </a:rPr>
              <a:t> MSS</a:t>
            </a:r>
            <a:r>
              <a:rPr kumimoji="0" lang="en-US" sz="1600" b="0" u="sng" strike="noStrike" kern="0" cap="none" spc="0" normalizeH="0" baseline="0" noProof="0" dirty="0">
                <a:ln>
                  <a:noFill/>
                </a:ln>
                <a:solidFill>
                  <a:srgbClr val="000099"/>
                </a:solidFill>
                <a:effectLst/>
                <a:uLnTx/>
                <a:uFillTx/>
                <a:latin typeface="Avenir Book" panose="020B0503020203020204" pitchFamily="34" charset="-78"/>
                <a:cs typeface="Avenir Book" panose="020B0503020203020204" pitchFamily="34" charset="-78"/>
              </a:rPr>
              <a:t>)</a:t>
            </a:r>
          </a:p>
        </p:txBody>
      </p:sp>
      <p:sp>
        <p:nvSpPr>
          <p:cNvPr id="293" name="TextBox 292"/>
          <p:cNvSpPr txBox="1"/>
          <p:nvPr/>
        </p:nvSpPr>
        <p:spPr>
          <a:xfrm>
            <a:off x="503700" y="4673228"/>
            <a:ext cx="6382787" cy="369332"/>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CW is doubling in every RTT </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exponential increase of CW</a:t>
            </a:r>
            <a:endParaRPr lang="en-IN" dirty="0">
              <a:solidFill>
                <a:srgbClr val="0000FF"/>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85776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dissolve">
                                      <p:cBhvr>
                                        <p:cTn id="42" dur="500"/>
                                        <p:tgtEl>
                                          <p:spTgt spid="7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animEffect transition="in" filter="wipe(right)">
                                      <p:cBhvr>
                                        <p:cTn id="47" dur="500"/>
                                        <p:tgtEl>
                                          <p:spTgt spid="80"/>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92"/>
                                        </p:tgtEl>
                                        <p:attrNameLst>
                                          <p:attrName>style.visibility</p:attrName>
                                        </p:attrNameLst>
                                      </p:cBhvr>
                                      <p:to>
                                        <p:strVal val="visible"/>
                                      </p:to>
                                    </p:set>
                                    <p:animEffect transition="in" filter="wipe(right)">
                                      <p:cBhvr>
                                        <p:cTn id="50" dur="500"/>
                                        <p:tgtEl>
                                          <p:spTgt spid="92"/>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90"/>
                                        </p:tgtEl>
                                        <p:attrNameLst>
                                          <p:attrName>style.visibility</p:attrName>
                                        </p:attrNameLst>
                                      </p:cBhvr>
                                      <p:to>
                                        <p:strVal val="visible"/>
                                      </p:to>
                                    </p:set>
                                    <p:animEffect transition="in" filter="wipe(left)">
                                      <p:cBhvr>
                                        <p:cTn id="54" dur="500"/>
                                        <p:tgtEl>
                                          <p:spTgt spid="90"/>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wipe(left)">
                                      <p:cBhvr>
                                        <p:cTn id="58" dur="500"/>
                                        <p:tgtEl>
                                          <p:spTgt spid="91"/>
                                        </p:tgtEl>
                                      </p:cBhvr>
                                    </p:animEffect>
                                  </p:childTnLst>
                                </p:cTn>
                              </p:par>
                            </p:childTnLst>
                          </p:cTn>
                        </p:par>
                        <p:par>
                          <p:cTn id="59" fill="hold">
                            <p:stCondLst>
                              <p:cond delay="1500"/>
                            </p:stCondLst>
                            <p:childTnLst>
                              <p:par>
                                <p:cTn id="60" presetID="9" presetClass="entr" presetSubtype="0" fill="hold" grpId="0" nodeType="afterEffect">
                                  <p:stCondLst>
                                    <p:cond delay="0"/>
                                  </p:stCondLst>
                                  <p:childTnLst>
                                    <p:set>
                                      <p:cBhvr>
                                        <p:cTn id="61" dur="1" fill="hold">
                                          <p:stCondLst>
                                            <p:cond delay="0"/>
                                          </p:stCondLst>
                                        </p:cTn>
                                        <p:tgtEl>
                                          <p:spTgt spid="144"/>
                                        </p:tgtEl>
                                        <p:attrNameLst>
                                          <p:attrName>style.visibility</p:attrName>
                                        </p:attrNameLst>
                                      </p:cBhvr>
                                      <p:to>
                                        <p:strVal val="visible"/>
                                      </p:to>
                                    </p:set>
                                    <p:animEffect transition="in" filter="dissolve">
                                      <p:cBhvr>
                                        <p:cTn id="62" dur="500"/>
                                        <p:tgtEl>
                                          <p:spTgt spid="144"/>
                                        </p:tgtEl>
                                      </p:cBhvr>
                                    </p:animEffect>
                                  </p:childTnLst>
                                </p:cTn>
                              </p:par>
                            </p:childTnLst>
                          </p:cTn>
                        </p:par>
                        <p:par>
                          <p:cTn id="63" fill="hold">
                            <p:stCondLst>
                              <p:cond delay="2000"/>
                            </p:stCondLst>
                            <p:childTnLst>
                              <p:par>
                                <p:cTn id="64" presetID="22" presetClass="entr" presetSubtype="8" fill="hold" grpId="0" nodeType="afterEffect">
                                  <p:stCondLst>
                                    <p:cond delay="0"/>
                                  </p:stCondLst>
                                  <p:childTnLst>
                                    <p:set>
                                      <p:cBhvr>
                                        <p:cTn id="65" dur="1" fill="hold">
                                          <p:stCondLst>
                                            <p:cond delay="0"/>
                                          </p:stCondLst>
                                        </p:cTn>
                                        <p:tgtEl>
                                          <p:spTgt spid="100"/>
                                        </p:tgtEl>
                                        <p:attrNameLst>
                                          <p:attrName>style.visibility</p:attrName>
                                        </p:attrNameLst>
                                      </p:cBhvr>
                                      <p:to>
                                        <p:strVal val="visible"/>
                                      </p:to>
                                    </p:set>
                                    <p:animEffect transition="in" filter="wipe(left)">
                                      <p:cBhvr>
                                        <p:cTn id="66" dur="500"/>
                                        <p:tgtEl>
                                          <p:spTgt spid="100"/>
                                        </p:tgtEl>
                                      </p:cBhvr>
                                    </p:animEffect>
                                  </p:childTnLst>
                                </p:cTn>
                              </p:par>
                              <p:par>
                                <p:cTn id="67" presetID="22" presetClass="entr" presetSubtype="2" fill="hold" grpId="0" nodeType="withEffect">
                                  <p:stCondLst>
                                    <p:cond delay="0"/>
                                  </p:stCondLst>
                                  <p:childTnLst>
                                    <p:set>
                                      <p:cBhvr>
                                        <p:cTn id="68" dur="1" fill="hold">
                                          <p:stCondLst>
                                            <p:cond delay="0"/>
                                          </p:stCondLst>
                                        </p:cTn>
                                        <p:tgtEl>
                                          <p:spTgt spid="149"/>
                                        </p:tgtEl>
                                        <p:attrNameLst>
                                          <p:attrName>style.visibility</p:attrName>
                                        </p:attrNameLst>
                                      </p:cBhvr>
                                      <p:to>
                                        <p:strVal val="visible"/>
                                      </p:to>
                                    </p:set>
                                    <p:animEffect transition="in" filter="wipe(right)">
                                      <p:cBhvr>
                                        <p:cTn id="69" dur="500"/>
                                        <p:tgtEl>
                                          <p:spTgt spid="149"/>
                                        </p:tgtEl>
                                      </p:cBhvr>
                                    </p:animEffect>
                                  </p:childTnLst>
                                </p:cTn>
                              </p:par>
                            </p:childTnLst>
                          </p:cTn>
                        </p:par>
                        <p:par>
                          <p:cTn id="70" fill="hold">
                            <p:stCondLst>
                              <p:cond delay="2500"/>
                            </p:stCondLst>
                            <p:childTnLst>
                              <p:par>
                                <p:cTn id="71" presetID="22" presetClass="entr" presetSubtype="8" fill="hold" grpId="0" nodeType="afterEffect">
                                  <p:stCondLst>
                                    <p:cond delay="0"/>
                                  </p:stCondLst>
                                  <p:childTnLst>
                                    <p:set>
                                      <p:cBhvr>
                                        <p:cTn id="72" dur="1" fill="hold">
                                          <p:stCondLst>
                                            <p:cond delay="0"/>
                                          </p:stCondLst>
                                        </p:cTn>
                                        <p:tgtEl>
                                          <p:spTgt spid="150"/>
                                        </p:tgtEl>
                                        <p:attrNameLst>
                                          <p:attrName>style.visibility</p:attrName>
                                        </p:attrNameLst>
                                      </p:cBhvr>
                                      <p:to>
                                        <p:strVal val="visible"/>
                                      </p:to>
                                    </p:set>
                                    <p:animEffect transition="in" filter="wipe(left)">
                                      <p:cBhvr>
                                        <p:cTn id="73" dur="500"/>
                                        <p:tgtEl>
                                          <p:spTgt spid="150"/>
                                        </p:tgtEl>
                                      </p:cBhvr>
                                    </p:animEffect>
                                  </p:childTnLst>
                                </p:cTn>
                              </p:par>
                            </p:childTnLst>
                          </p:cTn>
                        </p:par>
                        <p:par>
                          <p:cTn id="74" fill="hold">
                            <p:stCondLst>
                              <p:cond delay="3000"/>
                            </p:stCondLst>
                            <p:childTnLst>
                              <p:par>
                                <p:cTn id="75" presetID="22" presetClass="entr" presetSubtype="8" fill="hold" grpId="0" nodeType="afterEffect">
                                  <p:stCondLst>
                                    <p:cond delay="0"/>
                                  </p:stCondLst>
                                  <p:childTnLst>
                                    <p:set>
                                      <p:cBhvr>
                                        <p:cTn id="76" dur="1" fill="hold">
                                          <p:stCondLst>
                                            <p:cond delay="0"/>
                                          </p:stCondLst>
                                        </p:cTn>
                                        <p:tgtEl>
                                          <p:spTgt spid="151"/>
                                        </p:tgtEl>
                                        <p:attrNameLst>
                                          <p:attrName>style.visibility</p:attrName>
                                        </p:attrNameLst>
                                      </p:cBhvr>
                                      <p:to>
                                        <p:strVal val="visible"/>
                                      </p:to>
                                    </p:set>
                                    <p:animEffect transition="in" filter="wipe(left)">
                                      <p:cBhvr>
                                        <p:cTn id="77" dur="500"/>
                                        <p:tgtEl>
                                          <p:spTgt spid="151"/>
                                        </p:tgtEl>
                                      </p:cBhvr>
                                    </p:animEffect>
                                  </p:childTnLst>
                                </p:cTn>
                              </p:par>
                            </p:childTnLst>
                          </p:cTn>
                        </p:par>
                        <p:par>
                          <p:cTn id="78" fill="hold">
                            <p:stCondLst>
                              <p:cond delay="3500"/>
                            </p:stCondLst>
                            <p:childTnLst>
                              <p:par>
                                <p:cTn id="79" presetID="22" presetClass="entr" presetSubtype="8" fill="hold" grpId="0" nodeType="afterEffect">
                                  <p:stCondLst>
                                    <p:cond delay="0"/>
                                  </p:stCondLst>
                                  <p:childTnLst>
                                    <p:set>
                                      <p:cBhvr>
                                        <p:cTn id="80" dur="1" fill="hold">
                                          <p:stCondLst>
                                            <p:cond delay="0"/>
                                          </p:stCondLst>
                                        </p:cTn>
                                        <p:tgtEl>
                                          <p:spTgt spid="152"/>
                                        </p:tgtEl>
                                        <p:attrNameLst>
                                          <p:attrName>style.visibility</p:attrName>
                                        </p:attrNameLst>
                                      </p:cBhvr>
                                      <p:to>
                                        <p:strVal val="visible"/>
                                      </p:to>
                                    </p:set>
                                    <p:animEffect transition="in" filter="wipe(left)">
                                      <p:cBhvr>
                                        <p:cTn id="81" dur="500"/>
                                        <p:tgtEl>
                                          <p:spTgt spid="152"/>
                                        </p:tgtEl>
                                      </p:cBhvr>
                                    </p:animEffect>
                                  </p:childTnLst>
                                </p:cTn>
                              </p:par>
                            </p:childTnLst>
                          </p:cTn>
                        </p:par>
                        <p:par>
                          <p:cTn id="82" fill="hold">
                            <p:stCondLst>
                              <p:cond delay="4000"/>
                            </p:stCondLst>
                            <p:childTnLst>
                              <p:par>
                                <p:cTn id="83" presetID="22" presetClass="entr" presetSubtype="8" fill="hold" grpId="0" nodeType="afterEffect">
                                  <p:stCondLst>
                                    <p:cond delay="0"/>
                                  </p:stCondLst>
                                  <p:childTnLst>
                                    <p:set>
                                      <p:cBhvr>
                                        <p:cTn id="84" dur="1" fill="hold">
                                          <p:stCondLst>
                                            <p:cond delay="0"/>
                                          </p:stCondLst>
                                        </p:cTn>
                                        <p:tgtEl>
                                          <p:spTgt spid="153"/>
                                        </p:tgtEl>
                                        <p:attrNameLst>
                                          <p:attrName>style.visibility</p:attrName>
                                        </p:attrNameLst>
                                      </p:cBhvr>
                                      <p:to>
                                        <p:strVal val="visible"/>
                                      </p:to>
                                    </p:set>
                                    <p:animEffect transition="in" filter="wipe(left)">
                                      <p:cBhvr>
                                        <p:cTn id="85" dur="500"/>
                                        <p:tgtEl>
                                          <p:spTgt spid="153"/>
                                        </p:tgtEl>
                                      </p:cBhvr>
                                    </p:animEffect>
                                  </p:childTnLst>
                                </p:cTn>
                              </p:par>
                            </p:childTnLst>
                          </p:cTn>
                        </p:par>
                        <p:par>
                          <p:cTn id="86" fill="hold">
                            <p:stCondLst>
                              <p:cond delay="4500"/>
                            </p:stCondLst>
                            <p:childTnLst>
                              <p:par>
                                <p:cTn id="87" presetID="9" presetClass="entr" presetSubtype="0" fill="hold" grpId="0" nodeType="afterEffect">
                                  <p:stCondLst>
                                    <p:cond delay="0"/>
                                  </p:stCondLst>
                                  <p:childTnLst>
                                    <p:set>
                                      <p:cBhvr>
                                        <p:cTn id="88" dur="1" fill="hold">
                                          <p:stCondLst>
                                            <p:cond delay="0"/>
                                          </p:stCondLst>
                                        </p:cTn>
                                        <p:tgtEl>
                                          <p:spTgt spid="166"/>
                                        </p:tgtEl>
                                        <p:attrNameLst>
                                          <p:attrName>style.visibility</p:attrName>
                                        </p:attrNameLst>
                                      </p:cBhvr>
                                      <p:to>
                                        <p:strVal val="visible"/>
                                      </p:to>
                                    </p:set>
                                    <p:animEffect transition="in" filter="dissolve">
                                      <p:cBhvr>
                                        <p:cTn id="89" dur="500"/>
                                        <p:tgtEl>
                                          <p:spTgt spid="166"/>
                                        </p:tgtEl>
                                      </p:cBhvr>
                                    </p:animEffect>
                                  </p:childTnLst>
                                </p:cTn>
                              </p:par>
                            </p:childTnLst>
                          </p:cTn>
                        </p:par>
                        <p:par>
                          <p:cTn id="90" fill="hold">
                            <p:stCondLst>
                              <p:cond delay="5000"/>
                            </p:stCondLst>
                            <p:childTnLst>
                              <p:par>
                                <p:cTn id="91" presetID="9" presetClass="entr" presetSubtype="0" fill="hold" grpId="0" nodeType="afterEffect">
                                  <p:stCondLst>
                                    <p:cond delay="0"/>
                                  </p:stCondLst>
                                  <p:childTnLst>
                                    <p:set>
                                      <p:cBhvr>
                                        <p:cTn id="92" dur="1" fill="hold">
                                          <p:stCondLst>
                                            <p:cond delay="0"/>
                                          </p:stCondLst>
                                        </p:cTn>
                                        <p:tgtEl>
                                          <p:spTgt spid="170"/>
                                        </p:tgtEl>
                                        <p:attrNameLst>
                                          <p:attrName>style.visibility</p:attrName>
                                        </p:attrNameLst>
                                      </p:cBhvr>
                                      <p:to>
                                        <p:strVal val="visible"/>
                                      </p:to>
                                    </p:set>
                                    <p:animEffect transition="in" filter="dissolve">
                                      <p:cBhvr>
                                        <p:cTn id="93" dur="500"/>
                                        <p:tgtEl>
                                          <p:spTgt spid="170"/>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171"/>
                                        </p:tgtEl>
                                        <p:attrNameLst>
                                          <p:attrName>style.visibility</p:attrName>
                                        </p:attrNameLst>
                                      </p:cBhvr>
                                      <p:to>
                                        <p:strVal val="visible"/>
                                      </p:to>
                                    </p:set>
                                    <p:animEffect transition="in" filter="dissolve">
                                      <p:cBhvr>
                                        <p:cTn id="96" dur="500"/>
                                        <p:tgtEl>
                                          <p:spTgt spid="171"/>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172"/>
                                        </p:tgtEl>
                                        <p:attrNameLst>
                                          <p:attrName>style.visibility</p:attrName>
                                        </p:attrNameLst>
                                      </p:cBhvr>
                                      <p:to>
                                        <p:strVal val="visible"/>
                                      </p:to>
                                    </p:set>
                                    <p:animEffect transition="in" filter="dissolve">
                                      <p:cBhvr>
                                        <p:cTn id="99" dur="500"/>
                                        <p:tgtEl>
                                          <p:spTgt spid="172"/>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173"/>
                                        </p:tgtEl>
                                        <p:attrNameLst>
                                          <p:attrName>style.visibility</p:attrName>
                                        </p:attrNameLst>
                                      </p:cBhvr>
                                      <p:to>
                                        <p:strVal val="visible"/>
                                      </p:to>
                                    </p:set>
                                    <p:animEffect transition="in" filter="dissolve">
                                      <p:cBhvr>
                                        <p:cTn id="102" dur="500"/>
                                        <p:tgtEl>
                                          <p:spTgt spid="173"/>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174"/>
                                        </p:tgtEl>
                                        <p:attrNameLst>
                                          <p:attrName>style.visibility</p:attrName>
                                        </p:attrNameLst>
                                      </p:cBhvr>
                                      <p:to>
                                        <p:strVal val="visible"/>
                                      </p:to>
                                    </p:set>
                                    <p:animEffect transition="in" filter="dissolve">
                                      <p:cBhvr>
                                        <p:cTn id="105" dur="500"/>
                                        <p:tgtEl>
                                          <p:spTgt spid="174"/>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175"/>
                                        </p:tgtEl>
                                        <p:attrNameLst>
                                          <p:attrName>style.visibility</p:attrName>
                                        </p:attrNameLst>
                                      </p:cBhvr>
                                      <p:to>
                                        <p:strVal val="visible"/>
                                      </p:to>
                                    </p:set>
                                    <p:animEffect transition="in" filter="dissolve">
                                      <p:cBhvr>
                                        <p:cTn id="108" dur="500"/>
                                        <p:tgtEl>
                                          <p:spTgt spid="175"/>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176"/>
                                        </p:tgtEl>
                                        <p:attrNameLst>
                                          <p:attrName>style.visibility</p:attrName>
                                        </p:attrNameLst>
                                      </p:cBhvr>
                                      <p:to>
                                        <p:strVal val="visible"/>
                                      </p:to>
                                    </p:set>
                                    <p:animEffect transition="in" filter="dissolve">
                                      <p:cBhvr>
                                        <p:cTn id="111" dur="500"/>
                                        <p:tgtEl>
                                          <p:spTgt spid="176"/>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177"/>
                                        </p:tgtEl>
                                        <p:attrNameLst>
                                          <p:attrName>style.visibility</p:attrName>
                                        </p:attrNameLst>
                                      </p:cBhvr>
                                      <p:to>
                                        <p:strVal val="visible"/>
                                      </p:to>
                                    </p:set>
                                    <p:animEffect transition="in" filter="dissolve">
                                      <p:cBhvr>
                                        <p:cTn id="114" dur="500"/>
                                        <p:tgtEl>
                                          <p:spTgt spid="177"/>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178"/>
                                        </p:tgtEl>
                                        <p:attrNameLst>
                                          <p:attrName>style.visibility</p:attrName>
                                        </p:attrNameLst>
                                      </p:cBhvr>
                                      <p:to>
                                        <p:strVal val="visible"/>
                                      </p:to>
                                    </p:set>
                                    <p:animEffect transition="in" filter="dissolve">
                                      <p:cBhvr>
                                        <p:cTn id="117" dur="500"/>
                                        <p:tgtEl>
                                          <p:spTgt spid="178"/>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179"/>
                                        </p:tgtEl>
                                        <p:attrNameLst>
                                          <p:attrName>style.visibility</p:attrName>
                                        </p:attrNameLst>
                                      </p:cBhvr>
                                      <p:to>
                                        <p:strVal val="visible"/>
                                      </p:to>
                                    </p:set>
                                    <p:animEffect transition="in" filter="dissolve">
                                      <p:cBhvr>
                                        <p:cTn id="120" dur="500"/>
                                        <p:tgtEl>
                                          <p:spTgt spid="179"/>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180"/>
                                        </p:tgtEl>
                                        <p:attrNameLst>
                                          <p:attrName>style.visibility</p:attrName>
                                        </p:attrNameLst>
                                      </p:cBhvr>
                                      <p:to>
                                        <p:strVal val="visible"/>
                                      </p:to>
                                    </p:set>
                                    <p:animEffect transition="in" filter="dissolve">
                                      <p:cBhvr>
                                        <p:cTn id="123" dur="500"/>
                                        <p:tgtEl>
                                          <p:spTgt spid="180"/>
                                        </p:tgtEl>
                                      </p:cBhvr>
                                    </p:animEffect>
                                  </p:childTnLst>
                                </p:cTn>
                              </p:par>
                            </p:childTnLst>
                          </p:cTn>
                        </p:par>
                        <p:par>
                          <p:cTn id="124" fill="hold">
                            <p:stCondLst>
                              <p:cond delay="5500"/>
                            </p:stCondLst>
                            <p:childTnLst>
                              <p:par>
                                <p:cTn id="125" presetID="9" presetClass="entr" presetSubtype="0" fill="hold" grpId="0" nodeType="afterEffect">
                                  <p:stCondLst>
                                    <p:cond delay="0"/>
                                  </p:stCondLst>
                                  <p:childTnLst>
                                    <p:set>
                                      <p:cBhvr>
                                        <p:cTn id="126" dur="1" fill="hold">
                                          <p:stCondLst>
                                            <p:cond delay="0"/>
                                          </p:stCondLst>
                                        </p:cTn>
                                        <p:tgtEl>
                                          <p:spTgt spid="184"/>
                                        </p:tgtEl>
                                        <p:attrNameLst>
                                          <p:attrName>style.visibility</p:attrName>
                                        </p:attrNameLst>
                                      </p:cBhvr>
                                      <p:to>
                                        <p:strVal val="visible"/>
                                      </p:to>
                                    </p:set>
                                    <p:animEffect transition="in" filter="dissolve">
                                      <p:cBhvr>
                                        <p:cTn id="127" dur="500"/>
                                        <p:tgtEl>
                                          <p:spTgt spid="184"/>
                                        </p:tgtEl>
                                      </p:cBhvr>
                                    </p:animEffect>
                                  </p:childTnLst>
                                </p:cTn>
                              </p:par>
                            </p:childTnLst>
                          </p:cTn>
                        </p:par>
                        <p:par>
                          <p:cTn id="128" fill="hold">
                            <p:stCondLst>
                              <p:cond delay="6000"/>
                            </p:stCondLst>
                            <p:childTnLst>
                              <p:par>
                                <p:cTn id="129" presetID="9" presetClass="entr" presetSubtype="0" fill="hold" nodeType="afterEffect">
                                  <p:stCondLst>
                                    <p:cond delay="0"/>
                                  </p:stCondLst>
                                  <p:childTnLst>
                                    <p:set>
                                      <p:cBhvr>
                                        <p:cTn id="130" dur="1" fill="hold">
                                          <p:stCondLst>
                                            <p:cond delay="0"/>
                                          </p:stCondLst>
                                        </p:cTn>
                                        <p:tgtEl>
                                          <p:spTgt spid="223"/>
                                        </p:tgtEl>
                                        <p:attrNameLst>
                                          <p:attrName>style.visibility</p:attrName>
                                        </p:attrNameLst>
                                      </p:cBhvr>
                                      <p:to>
                                        <p:strVal val="visible"/>
                                      </p:to>
                                    </p:set>
                                    <p:animEffect transition="in" filter="dissolve">
                                      <p:cBhvr>
                                        <p:cTn id="131"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P spid="80" grpId="0" animBg="1"/>
      <p:bldP spid="90" grpId="0" animBg="1"/>
      <p:bldP spid="91" grpId="0" animBg="1"/>
      <p:bldP spid="92" grpId="0" animBg="1"/>
      <p:bldP spid="100" grpId="0" animBg="1"/>
      <p:bldP spid="144" grpId="0"/>
      <p:bldP spid="149" grpId="0" animBg="1"/>
      <p:bldP spid="150" grpId="0" animBg="1"/>
      <p:bldP spid="151" grpId="0" animBg="1"/>
      <p:bldP spid="152" grpId="0" animBg="1"/>
      <p:bldP spid="153" grpId="0" animBg="1"/>
      <p:bldP spid="166" grpId="0"/>
      <p:bldP spid="170" grpId="0"/>
      <p:bldP spid="171" grpId="0"/>
      <p:bldP spid="172" grpId="0"/>
      <p:bldP spid="173" grpId="0"/>
      <p:bldP spid="174" grpId="0"/>
      <p:bldP spid="175" grpId="0"/>
      <p:bldP spid="176" grpId="0"/>
      <p:bldP spid="177" grpId="0"/>
      <p:bldP spid="178" grpId="0"/>
      <p:bldP spid="179" grpId="0"/>
      <p:bldP spid="180" grpId="0"/>
      <p:bldP spid="18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85140" y="254096"/>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Slow Start </a:t>
            </a:r>
            <a:endParaRPr lang="en-US" sz="3300" dirty="0">
              <a:latin typeface="Avenir Book" panose="020B0503020203020204" pitchFamily="34" charset="-78"/>
              <a:cs typeface="Avenir Book" panose="020B0503020203020204" pitchFamily="34" charset="-78"/>
            </a:endParaRPr>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673332" y="1157130"/>
            <a:ext cx="6342610" cy="3910693"/>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Avenir Book" panose="020B0503020203020204" pitchFamily="34" charset="-78"/>
                <a:cs typeface="Avenir Book" panose="020B0503020203020204" pitchFamily="34" charset="-78"/>
              </a:rPr>
              <a:t>When connection begins, increase rate exponentially until first loss event:</a:t>
            </a:r>
          </a:p>
          <a:p>
            <a:pPr marL="521494" lvl="1" indent="-173831" defTabSz="685800">
              <a:spcBef>
                <a:spcPts val="375"/>
              </a:spcBef>
              <a:buFont typeface="Arial"/>
              <a:buChar char="•"/>
              <a:defRPr/>
            </a:pPr>
            <a:r>
              <a:rPr lang="en-US" sz="2100" dirty="0">
                <a:solidFill>
                  <a:prstClr val="black"/>
                </a:solidFill>
                <a:latin typeface="Avenir Book" panose="020B0503020203020204" pitchFamily="34" charset="-78"/>
                <a:cs typeface="Avenir Book" panose="020B0503020203020204" pitchFamily="34" charset="-78"/>
              </a:rPr>
              <a:t>Initially </a:t>
            </a:r>
            <a:r>
              <a:rPr lang="en-US" sz="2100" b="1" dirty="0" err="1">
                <a:solidFill>
                  <a:prstClr val="black"/>
                </a:solidFill>
                <a:latin typeface="Avenir Book" panose="020B0503020203020204" pitchFamily="34" charset="-78"/>
                <a:cs typeface="Avenir Book" panose="020B0503020203020204" pitchFamily="34" charset="-78"/>
              </a:rPr>
              <a:t>cwnd</a:t>
            </a:r>
            <a:r>
              <a:rPr lang="en-US" sz="2100" dirty="0">
                <a:solidFill>
                  <a:prstClr val="black"/>
                </a:solidFill>
                <a:latin typeface="Avenir Book" panose="020B0503020203020204" pitchFamily="34" charset="-78"/>
                <a:cs typeface="Avenir Book" panose="020B0503020203020204" pitchFamily="34" charset="-78"/>
              </a:rPr>
              <a:t> = 1 MSS</a:t>
            </a:r>
          </a:p>
          <a:p>
            <a:pPr marL="521494" lvl="1" indent="-173831" defTabSz="685800">
              <a:spcBef>
                <a:spcPts val="375"/>
              </a:spcBef>
              <a:buFont typeface="Arial"/>
              <a:buChar char="•"/>
              <a:defRPr/>
            </a:pPr>
            <a:r>
              <a:rPr lang="en-US" sz="2100" dirty="0">
                <a:solidFill>
                  <a:prstClr val="black"/>
                </a:solidFill>
                <a:latin typeface="Avenir Book" panose="020B0503020203020204" pitchFamily="34" charset="-78"/>
                <a:cs typeface="Avenir Book" panose="020B0503020203020204" pitchFamily="34" charset="-78"/>
              </a:rPr>
              <a:t>Double </a:t>
            </a:r>
            <a:r>
              <a:rPr lang="en-US" sz="2100" b="1" dirty="0" err="1">
                <a:solidFill>
                  <a:prstClr val="black"/>
                </a:solidFill>
                <a:latin typeface="Avenir Book" panose="020B0503020203020204" pitchFamily="34" charset="-78"/>
                <a:cs typeface="Avenir Book" panose="020B0503020203020204" pitchFamily="34" charset="-78"/>
              </a:rPr>
              <a:t>cwnd</a:t>
            </a:r>
            <a:r>
              <a:rPr lang="en-US" sz="2100" dirty="0">
                <a:solidFill>
                  <a:prstClr val="black"/>
                </a:solidFill>
                <a:latin typeface="Avenir Book" panose="020B0503020203020204" pitchFamily="34" charset="-78"/>
                <a:cs typeface="Avenir Book" panose="020B0503020203020204" pitchFamily="34" charset="-78"/>
              </a:rPr>
              <a:t> every RTT</a:t>
            </a:r>
          </a:p>
          <a:p>
            <a:pPr marL="521494" lvl="1" indent="-173831" defTabSz="685800">
              <a:spcBef>
                <a:spcPts val="375"/>
              </a:spcBef>
              <a:buFont typeface="Arial"/>
              <a:buChar char="•"/>
              <a:defRPr/>
            </a:pPr>
            <a:r>
              <a:rPr lang="en-US" sz="2100" dirty="0">
                <a:solidFill>
                  <a:prstClr val="black"/>
                </a:solidFill>
                <a:latin typeface="Avenir Book" panose="020B0503020203020204" pitchFamily="34" charset="-78"/>
                <a:cs typeface="Avenir Book" panose="020B0503020203020204" pitchFamily="34" charset="-78"/>
              </a:rPr>
              <a:t>Done by incrementing </a:t>
            </a:r>
            <a:r>
              <a:rPr lang="en-US" sz="2100" b="1" dirty="0" err="1">
                <a:solidFill>
                  <a:prstClr val="black"/>
                </a:solidFill>
                <a:latin typeface="Avenir Book" panose="020B0503020203020204" pitchFamily="34" charset="-78"/>
                <a:cs typeface="Avenir Book" panose="020B0503020203020204" pitchFamily="34" charset="-78"/>
              </a:rPr>
              <a:t>cwnd</a:t>
            </a:r>
            <a:r>
              <a:rPr lang="en-US" sz="2100" dirty="0">
                <a:solidFill>
                  <a:prstClr val="black"/>
                </a:solidFill>
                <a:latin typeface="Avenir Book" panose="020B0503020203020204" pitchFamily="34" charset="-78"/>
                <a:cs typeface="Avenir Book" panose="020B0503020203020204" pitchFamily="34" charset="-78"/>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8526681" y="2048036"/>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8195269" y="1194356"/>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9245495" y="2010374"/>
            <a:ext cx="978153"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one segment</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10026083" y="118364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8523109" y="1908732"/>
            <a:ext cx="0" cy="2886075"/>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10409059" y="1937307"/>
            <a:ext cx="0" cy="2886075"/>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8266365" y="2020651"/>
            <a:ext cx="253916" cy="622697"/>
            <a:chOff x="7237995" y="2270077"/>
            <a:chExt cx="338555"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28137" y="2493708"/>
              <a:ext cx="558272"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venir Book" panose="020B0503020203020204" pitchFamily="34" charset="-78"/>
                  <a:cs typeface="Avenir Book" panose="020B0503020203020204" pitchFamily="34" charset="-78"/>
                </a:rPr>
                <a:t>RTT</a:t>
              </a:r>
              <a:endParaRPr lang="en-US" sz="750">
                <a:solidFill>
                  <a:srgbClr val="000000"/>
                </a:solidFill>
                <a:latin typeface="Avenir Book" panose="020B0503020203020204" pitchFamily="34" charset="-78"/>
                <a:cs typeface="Avenir Book" panose="020B0503020203020204" pitchFamily="34" charset="-78"/>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8508822" y="2351645"/>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10161406" y="4407849"/>
            <a:ext cx="527446" cy="300037"/>
            <a:chOff x="3289" y="3527"/>
            <a:chExt cx="443" cy="252"/>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289" y="3527"/>
              <a:ext cx="443" cy="2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a:solidFill>
                    <a:srgbClr val="000000"/>
                  </a:solidFill>
                  <a:latin typeface="Avenir Book" panose="020B0503020203020204" pitchFamily="34" charset="-78"/>
                  <a:cs typeface="Avenir Book" panose="020B0503020203020204" pitchFamily="34" charset="-78"/>
                </a:rPr>
                <a:t>time</a:t>
              </a:r>
              <a:endParaRPr lang="en-US" sz="750" kern="0">
                <a:solidFill>
                  <a:srgbClr val="000000"/>
                </a:solidFill>
                <a:latin typeface="Avenir Book" panose="020B0503020203020204" pitchFamily="34" charset="-78"/>
                <a:cs typeface="Avenir Book" panose="020B0503020203020204" pitchFamily="34" charset="-78"/>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8526681" y="2633823"/>
            <a:ext cx="1882379" cy="328613"/>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8506441" y="3091024"/>
            <a:ext cx="1916906" cy="459581"/>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9245651" y="2599733"/>
            <a:ext cx="102784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two segments</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9319813" y="3360542"/>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four segments</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8523112" y="3387489"/>
            <a:ext cx="1889522" cy="489347"/>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8737421" y="3673238"/>
            <a:ext cx="1671638" cy="453629"/>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8194496" y="1437245"/>
            <a:ext cx="490538" cy="451247"/>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10245944" y="1447961"/>
            <a:ext cx="286941" cy="410765"/>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594751" y="3974142"/>
            <a:ext cx="6111931" cy="142875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srgbClr val="CC0000"/>
                </a:solidFill>
                <a:latin typeface="Avenir Book" panose="020B0503020203020204" pitchFamily="34" charset="-78"/>
                <a:cs typeface="Avenir Book" panose="020B0503020203020204" pitchFamily="34" charset="-78"/>
              </a:rPr>
              <a:t>Summary: </a:t>
            </a:r>
            <a:r>
              <a:rPr lang="en-US" sz="2400" dirty="0">
                <a:solidFill>
                  <a:prstClr val="black"/>
                </a:solidFill>
                <a:latin typeface="Avenir Book" panose="020B0503020203020204" pitchFamily="34" charset="-78"/>
                <a:cs typeface="Avenir Book" panose="020B0503020203020204" pitchFamily="34" charset="-78"/>
              </a:rPr>
              <a:t>Initial rate is slow, but ramps up exponentially fast</a:t>
            </a:r>
          </a:p>
        </p:txBody>
      </p:sp>
    </p:spTree>
    <p:extLst>
      <p:ext uri="{BB962C8B-B14F-4D97-AF65-F5344CB8AC3E}">
        <p14:creationId xmlns:p14="http://schemas.microsoft.com/office/powerpoint/2010/main" val="271568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42222" y="94925"/>
            <a:ext cx="5200339" cy="670967"/>
          </a:xfrm>
        </p:spPr>
        <p:txBody>
          <a:bodyPr>
            <a:normAutofit fontScale="90000"/>
          </a:bodyPr>
          <a:lstStyle/>
          <a:p>
            <a:r>
              <a:rPr lang="en-US" sz="3600" dirty="0">
                <a:latin typeface="Avenir Book" panose="020B0503020203020204" pitchFamily="34" charset="-78"/>
                <a:cs typeface="Avenir Book" panose="020B0503020203020204" pitchFamily="34" charset="-78"/>
              </a:rPr>
              <a:t>TCP Congestion Avoidance</a:t>
            </a:r>
            <a:endParaRPr lang="en-US" sz="3300" dirty="0">
              <a:latin typeface="Avenir Book" panose="020B0503020203020204" pitchFamily="34" charset="-78"/>
              <a:cs typeface="Avenir Book" panose="020B0503020203020204" pitchFamily="34" charset="-78"/>
            </a:endParaRPr>
          </a:p>
        </p:txBody>
      </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92750" y="734465"/>
            <a:ext cx="5753821" cy="535745"/>
          </a:xfrm>
          <a:prstGeom prst="rect">
            <a:avLst/>
          </a:prstGeom>
        </p:spPr>
        <p:txBody>
          <a:bodyPr vert="horz" lIns="68580" tIns="34290" rIns="68580" bIns="34290" rtlCol="0">
            <a:normAutofit fontScale="850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Avenir Book" panose="020B0503020203020204" pitchFamily="34" charset="-78"/>
                <a:cs typeface="Avenir Book" panose="020B0503020203020204" pitchFamily="34" charset="-78"/>
              </a:rPr>
              <a:t>After </a:t>
            </a:r>
            <a:r>
              <a:rPr lang="en-US" sz="2400" dirty="0" err="1">
                <a:solidFill>
                  <a:prstClr val="black"/>
                </a:solidFill>
                <a:latin typeface="Avenir Book" panose="020B0503020203020204" pitchFamily="34" charset="-78"/>
                <a:cs typeface="Avenir Book" panose="020B0503020203020204" pitchFamily="34" charset="-78"/>
              </a:rPr>
              <a:t>ssthresh</a:t>
            </a:r>
            <a:r>
              <a:rPr lang="en-US" sz="2400" dirty="0">
                <a:solidFill>
                  <a:prstClr val="black"/>
                </a:solidFill>
                <a:latin typeface="Avenir Book" panose="020B0503020203020204" pitchFamily="34" charset="-78"/>
                <a:cs typeface="Avenir Book" panose="020B0503020203020204" pitchFamily="34" charset="-78"/>
              </a:rPr>
              <a:t>, reduce the rate of CW increase</a:t>
            </a:r>
          </a:p>
        </p:txBody>
      </p:sp>
      <p:sp>
        <p:nvSpPr>
          <p:cNvPr id="78" name="Line 14">
            <a:extLst>
              <a:ext uri="{FF2B5EF4-FFF2-40B4-BE49-F238E27FC236}">
                <a16:creationId xmlns:a16="http://schemas.microsoft.com/office/drawing/2014/main" id="{3E685DEE-2DB5-5740-BE6F-2C74E54E1F41}"/>
              </a:ext>
            </a:extLst>
          </p:cNvPr>
          <p:cNvSpPr>
            <a:spLocks noChangeShapeType="1"/>
          </p:cNvSpPr>
          <p:nvPr/>
        </p:nvSpPr>
        <p:spPr bwMode="auto">
          <a:xfrm flipH="1">
            <a:off x="5488455" y="1850794"/>
            <a:ext cx="21924" cy="3322125"/>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80"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3365665" y="2342169"/>
            <a:ext cx="2132787" cy="7595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0" name="Line 24">
            <a:extLst>
              <a:ext uri="{FF2B5EF4-FFF2-40B4-BE49-F238E27FC236}">
                <a16:creationId xmlns:a16="http://schemas.microsoft.com/office/drawing/2014/main" id="{E42793DA-B54F-8A4A-B169-AADC48D8492B}"/>
              </a:ext>
            </a:extLst>
          </p:cNvPr>
          <p:cNvSpPr>
            <a:spLocks noChangeShapeType="1"/>
          </p:cNvSpPr>
          <p:nvPr/>
        </p:nvSpPr>
        <p:spPr bwMode="auto">
          <a:xfrm>
            <a:off x="3373627" y="3159686"/>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1" name="Line 25">
            <a:extLst>
              <a:ext uri="{FF2B5EF4-FFF2-40B4-BE49-F238E27FC236}">
                <a16:creationId xmlns:a16="http://schemas.microsoft.com/office/drawing/2014/main" id="{F496288B-3032-8C46-B36C-DC6EE518FC26}"/>
              </a:ext>
            </a:extLst>
          </p:cNvPr>
          <p:cNvSpPr>
            <a:spLocks noChangeShapeType="1"/>
          </p:cNvSpPr>
          <p:nvPr/>
        </p:nvSpPr>
        <p:spPr bwMode="auto">
          <a:xfrm>
            <a:off x="3351379" y="3477982"/>
            <a:ext cx="2161384" cy="52331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3373627" y="3663222"/>
            <a:ext cx="2098914" cy="84151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00" name="Line 37">
            <a:extLst>
              <a:ext uri="{FF2B5EF4-FFF2-40B4-BE49-F238E27FC236}">
                <a16:creationId xmlns:a16="http://schemas.microsoft.com/office/drawing/2014/main" id="{87F3997F-AC6F-E94C-BDDA-D675458BE183}"/>
              </a:ext>
            </a:extLst>
          </p:cNvPr>
          <p:cNvSpPr>
            <a:spLocks noChangeShapeType="1"/>
          </p:cNvSpPr>
          <p:nvPr/>
        </p:nvSpPr>
        <p:spPr bwMode="auto">
          <a:xfrm>
            <a:off x="3389479" y="4543352"/>
            <a:ext cx="1475160" cy="3124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nvGrpSpPr>
          <p:cNvPr id="103" name="Group 65">
            <a:extLst>
              <a:ext uri="{FF2B5EF4-FFF2-40B4-BE49-F238E27FC236}">
                <a16:creationId xmlns:a16="http://schemas.microsoft.com/office/drawing/2014/main" id="{931A5080-440D-784B-A586-03D399A7E982}"/>
              </a:ext>
            </a:extLst>
          </p:cNvPr>
          <p:cNvGrpSpPr>
            <a:grpSpLocks/>
          </p:cNvGrpSpPr>
          <p:nvPr/>
        </p:nvGrpSpPr>
        <p:grpSpPr bwMode="auto">
          <a:xfrm>
            <a:off x="1923964" y="1702826"/>
            <a:ext cx="1427163" cy="307975"/>
            <a:chOff x="170" y="906"/>
            <a:chExt cx="899" cy="194"/>
          </a:xfrm>
        </p:grpSpPr>
        <p:sp>
          <p:nvSpPr>
            <p:cNvPr id="113"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02" y="911"/>
              <a:ext cx="124"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4"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0" y="906"/>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solidFill>
                    <a:srgbClr val="FFFFFF"/>
                  </a:solidFill>
                  <a:effectLst/>
                  <a:uLnTx/>
                  <a:uFillTx/>
                  <a:latin typeface="Avenir Book" panose="020B0503020203020204" pitchFamily="34" charset="-78"/>
                  <a:cs typeface="Avenir Book" panose="020B0503020203020204" pitchFamily="34" charset="-78"/>
                </a:rPr>
                <a:t>1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2 3 4 </a:t>
              </a:r>
              <a:r>
                <a:rPr kumimoji="0" lang="en-US" sz="1400" b="0" u="none" strike="noStrike" kern="1200" cap="none" spc="0" normalizeH="0" baseline="0" noProof="0" dirty="0">
                  <a:ln>
                    <a:noFill/>
                  </a:ln>
                  <a:solidFill>
                    <a:srgbClr val="000000"/>
                  </a:solidFill>
                  <a:effectLst/>
                  <a:uLnTx/>
                  <a:uFillTx/>
                  <a:latin typeface="Avenir Book" panose="020B0503020203020204" pitchFamily="34" charset="-78"/>
                  <a:cs typeface="Avenir Book" panose="020B0503020203020204" pitchFamily="34" charset="-78"/>
                </a:rPr>
                <a:t>5 6 7 8 </a:t>
              </a:r>
            </a:p>
          </p:txBody>
        </p:sp>
      </p:grpSp>
      <p:sp>
        <p:nvSpPr>
          <p:cNvPr id="142" name="Line 14">
            <a:extLst>
              <a:ext uri="{FF2B5EF4-FFF2-40B4-BE49-F238E27FC236}">
                <a16:creationId xmlns:a16="http://schemas.microsoft.com/office/drawing/2014/main" id="{7310A5FB-4554-E045-9214-7084F7E862DB}"/>
              </a:ext>
            </a:extLst>
          </p:cNvPr>
          <p:cNvSpPr>
            <a:spLocks noChangeShapeType="1"/>
          </p:cNvSpPr>
          <p:nvPr/>
        </p:nvSpPr>
        <p:spPr bwMode="auto">
          <a:xfrm>
            <a:off x="3351379" y="1685694"/>
            <a:ext cx="38100" cy="350783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4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781564" y="1696905"/>
            <a:ext cx="800220"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1</a:t>
            </a:r>
          </a:p>
        </p:txBody>
      </p:sp>
      <p:sp>
        <p:nvSpPr>
          <p:cNvPr id="149"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3359317" y="4068297"/>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0" name="Line 24">
            <a:extLst>
              <a:ext uri="{FF2B5EF4-FFF2-40B4-BE49-F238E27FC236}">
                <a16:creationId xmlns:a16="http://schemas.microsoft.com/office/drawing/2014/main" id="{E42793DA-B54F-8A4A-B169-AADC48D8492B}"/>
              </a:ext>
            </a:extLst>
          </p:cNvPr>
          <p:cNvSpPr>
            <a:spLocks noChangeShapeType="1"/>
          </p:cNvSpPr>
          <p:nvPr/>
        </p:nvSpPr>
        <p:spPr bwMode="auto">
          <a:xfrm>
            <a:off x="3367614" y="1816582"/>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1" name="Line 24">
            <a:extLst>
              <a:ext uri="{FF2B5EF4-FFF2-40B4-BE49-F238E27FC236}">
                <a16:creationId xmlns:a16="http://schemas.microsoft.com/office/drawing/2014/main" id="{E42793DA-B54F-8A4A-B169-AADC48D8492B}"/>
              </a:ext>
            </a:extLst>
          </p:cNvPr>
          <p:cNvSpPr>
            <a:spLocks noChangeShapeType="1"/>
          </p:cNvSpPr>
          <p:nvPr/>
        </p:nvSpPr>
        <p:spPr bwMode="auto">
          <a:xfrm>
            <a:off x="3383128" y="4814096"/>
            <a:ext cx="1393315" cy="294044"/>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nvGrpSpPr>
          <p:cNvPr id="163" name="Group 65">
            <a:extLst>
              <a:ext uri="{FF2B5EF4-FFF2-40B4-BE49-F238E27FC236}">
                <a16:creationId xmlns:a16="http://schemas.microsoft.com/office/drawing/2014/main" id="{931A5080-440D-784B-A586-03D399A7E982}"/>
              </a:ext>
            </a:extLst>
          </p:cNvPr>
          <p:cNvGrpSpPr>
            <a:grpSpLocks/>
          </p:cNvGrpSpPr>
          <p:nvPr/>
        </p:nvGrpSpPr>
        <p:grpSpPr bwMode="auto">
          <a:xfrm>
            <a:off x="1893679" y="2985550"/>
            <a:ext cx="1427163" cy="307976"/>
            <a:chOff x="-73" y="977"/>
            <a:chExt cx="899" cy="194"/>
          </a:xfrm>
        </p:grpSpPr>
        <p:sp>
          <p:nvSpPr>
            <p:cNvPr id="164" name="Rectangle 60">
              <a:extLst>
                <a:ext uri="{FF2B5EF4-FFF2-40B4-BE49-F238E27FC236}">
                  <a16:creationId xmlns:a16="http://schemas.microsoft.com/office/drawing/2014/main" id="{B26ABC90-7E5F-8A4E-8270-EAE554611A43}"/>
                </a:ext>
              </a:extLst>
            </p:cNvPr>
            <p:cNvSpPr>
              <a:spLocks noChangeArrowheads="1"/>
            </p:cNvSpPr>
            <p:nvPr/>
          </p:nvSpPr>
          <p:spPr bwMode="auto">
            <a:xfrm>
              <a:off x="66" y="992"/>
              <a:ext cx="20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5"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73" y="977"/>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a:t>
              </a:r>
              <a:r>
                <a:rPr kumimoji="0" lang="en-US" sz="1400" b="0" u="none" strike="noStrike" kern="1200" cap="none" spc="0" normalizeH="0" baseline="0" noProof="0" dirty="0">
                  <a:ln>
                    <a:noFill/>
                  </a:ln>
                  <a:solidFill>
                    <a:srgbClr val="FFFFFF"/>
                  </a:solidFill>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2 3</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4 </a:t>
              </a:r>
              <a:r>
                <a:rPr kumimoji="0" lang="en-US" sz="1400" b="0" u="none" strike="noStrike" kern="1200" cap="none" spc="0" normalizeH="0" baseline="0" noProof="0" dirty="0">
                  <a:ln>
                    <a:noFill/>
                  </a:ln>
                  <a:solidFill>
                    <a:srgbClr val="000000"/>
                  </a:solidFill>
                  <a:effectLst/>
                  <a:uLnTx/>
                  <a:uFillTx/>
                  <a:latin typeface="Avenir Book" panose="020B0503020203020204" pitchFamily="34" charset="-78"/>
                  <a:cs typeface="Avenir Book" panose="020B0503020203020204" pitchFamily="34" charset="-78"/>
                </a:rPr>
                <a:t>5 6 7 8 </a:t>
              </a:r>
            </a:p>
          </p:txBody>
        </p:sp>
      </p:grpSp>
      <p:sp>
        <p:nvSpPr>
          <p:cNvPr id="166"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19336" y="3027646"/>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2</a:t>
            </a:r>
          </a:p>
        </p:txBody>
      </p:sp>
      <p:grpSp>
        <p:nvGrpSpPr>
          <p:cNvPr id="167" name="Group 65">
            <a:extLst>
              <a:ext uri="{FF2B5EF4-FFF2-40B4-BE49-F238E27FC236}">
                <a16:creationId xmlns:a16="http://schemas.microsoft.com/office/drawing/2014/main" id="{931A5080-440D-784B-A586-03D399A7E982}"/>
              </a:ext>
            </a:extLst>
          </p:cNvPr>
          <p:cNvGrpSpPr>
            <a:grpSpLocks/>
          </p:cNvGrpSpPr>
          <p:nvPr/>
        </p:nvGrpSpPr>
        <p:grpSpPr bwMode="auto">
          <a:xfrm>
            <a:off x="1914815" y="4377560"/>
            <a:ext cx="1427163" cy="307976"/>
            <a:chOff x="-49" y="967"/>
            <a:chExt cx="899" cy="194"/>
          </a:xfrm>
        </p:grpSpPr>
        <p:sp>
          <p:nvSpPr>
            <p:cNvPr id="168"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11" y="986"/>
              <a:ext cx="27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9"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49" y="967"/>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3 4 5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6 7 8 </a:t>
              </a:r>
            </a:p>
          </p:txBody>
        </p:sp>
      </p:grpSp>
      <p:sp>
        <p:nvSpPr>
          <p:cNvPr id="170"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36300" y="4435530"/>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3</a:t>
            </a:r>
          </a:p>
        </p:txBody>
      </p:sp>
      <p:sp>
        <p:nvSpPr>
          <p:cNvPr id="17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4227249" y="1782358"/>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4110572" y="2498992"/>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4173454" y="313566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4153672" y="349308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B3</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4143812" y="3901058"/>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A3</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4575430" y="4590310"/>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7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4533038" y="4890949"/>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8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4280064" y="4346995"/>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8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3034252" y="1029760"/>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grpSp>
        <p:nvGrpSpPr>
          <p:cNvPr id="186" name="Group 43">
            <a:extLst>
              <a:ext uri="{FF2B5EF4-FFF2-40B4-BE49-F238E27FC236}">
                <a16:creationId xmlns:a16="http://schemas.microsoft.com/office/drawing/2014/main" id="{D0982D30-E871-F344-B80E-157861960777}"/>
              </a:ext>
            </a:extLst>
          </p:cNvPr>
          <p:cNvGrpSpPr>
            <a:grpSpLocks/>
          </p:cNvGrpSpPr>
          <p:nvPr/>
        </p:nvGrpSpPr>
        <p:grpSpPr bwMode="auto">
          <a:xfrm>
            <a:off x="3033479" y="1272649"/>
            <a:ext cx="490538" cy="451247"/>
            <a:chOff x="-44" y="1473"/>
            <a:chExt cx="981" cy="1105"/>
          </a:xfrm>
        </p:grpSpPr>
        <p:pic>
          <p:nvPicPr>
            <p:cNvPr id="187"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189"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5162208" y="1094466"/>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grpSp>
        <p:nvGrpSpPr>
          <p:cNvPr id="190" name="Group 46">
            <a:extLst>
              <a:ext uri="{FF2B5EF4-FFF2-40B4-BE49-F238E27FC236}">
                <a16:creationId xmlns:a16="http://schemas.microsoft.com/office/drawing/2014/main" id="{514EF769-BED4-DE47-BE55-0913ABFB155D}"/>
              </a:ext>
            </a:extLst>
          </p:cNvPr>
          <p:cNvGrpSpPr>
            <a:grpSpLocks/>
          </p:cNvGrpSpPr>
          <p:nvPr/>
        </p:nvGrpSpPr>
        <p:grpSpPr bwMode="auto">
          <a:xfrm>
            <a:off x="5382069" y="1358786"/>
            <a:ext cx="286941" cy="410765"/>
            <a:chOff x="4140" y="429"/>
            <a:chExt cx="1425" cy="2396"/>
          </a:xfrm>
        </p:grpSpPr>
        <p:sp>
          <p:nvSpPr>
            <p:cNvPr id="191"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2"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3"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4"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5"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6"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21"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2"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97"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8"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19"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0"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99"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01"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17"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8"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02"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03"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15"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6"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04"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5"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6"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7"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8"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09"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0"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1"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2"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13"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4"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mc:AlternateContent xmlns:mc="http://schemas.openxmlformats.org/markup-compatibility/2006">
        <mc:Choice xmlns:a14="http://schemas.microsoft.com/office/drawing/2010/main" Requires="a14">
          <p:sp>
            <p:nvSpPr>
              <p:cNvPr id="293" name="TextBox 292"/>
              <p:cNvSpPr txBox="1"/>
              <p:nvPr/>
            </p:nvSpPr>
            <p:spPr>
              <a:xfrm>
                <a:off x="6251468" y="302104"/>
                <a:ext cx="2733478" cy="1186094"/>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Upon every ACK</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 CW + MSS </a:t>
                </a:r>
                <a14:m>
                  <m:oMath xmlns:m="http://schemas.openxmlformats.org/officeDocument/2006/math">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t>
                    </m:r>
                    <m:f>
                      <m:fPr>
                        <m:ctrlPr>
                          <a:rPr lang="en-IN" altLang="en-US" b="0"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MSS</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cwnd</m:t>
                        </m:r>
                      </m:den>
                    </m:f>
                  </m:oMath>
                </a14:m>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CW + </a:t>
                </a:r>
                <a14:m>
                  <m:oMath xmlns:m="http://schemas.openxmlformats.org/officeDocument/2006/math">
                    <m:f>
                      <m:fPr>
                        <m:ctrlPr>
                          <a:rPr lang="en-US" altLang="en-US"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1</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m:t>
                        </m:r>
                      </m:den>
                    </m:f>
                  </m:oMath>
                </a14:m>
                <a:endParaRPr lang="en-IN" dirty="0">
                  <a:solidFill>
                    <a:srgbClr val="0000FF"/>
                  </a:solidFill>
                  <a:latin typeface="Avenir Book" panose="020B0503020203020204" pitchFamily="34" charset="-78"/>
                  <a:cs typeface="Avenir Book" panose="020B0503020203020204" pitchFamily="34" charset="-78"/>
                </a:endParaRPr>
              </a:p>
            </p:txBody>
          </p:sp>
        </mc:Choice>
        <mc:Fallback>
          <p:sp>
            <p:nvSpPr>
              <p:cNvPr id="293" name="TextBox 292"/>
              <p:cNvSpPr txBox="1">
                <a:spLocks noRot="1" noChangeAspect="1" noMove="1" noResize="1" noEditPoints="1" noAdjustHandles="1" noChangeArrowheads="1" noChangeShapeType="1" noTextEdit="1"/>
              </p:cNvSpPr>
              <p:nvPr/>
            </p:nvSpPr>
            <p:spPr>
              <a:xfrm>
                <a:off x="6251468" y="302104"/>
                <a:ext cx="2733478" cy="1186094"/>
              </a:xfrm>
              <a:prstGeom prst="rect">
                <a:avLst/>
              </a:prstGeom>
              <a:blipFill>
                <a:blip r:embed="rId4"/>
                <a:stretch>
                  <a:fillRect l="-889" t="-2551"/>
                </a:stretch>
              </a:blipFill>
              <a:ln cap="rnd">
                <a:solidFill>
                  <a:srgbClr val="C00000"/>
                </a:solidFill>
              </a:ln>
            </p:spPr>
            <p:txBody>
              <a:bodyPr/>
              <a:lstStyle/>
              <a:p>
                <a:r>
                  <a:rPr lang="en-IN">
                    <a:noFill/>
                  </a:rPr>
                  <a:t> </a:t>
                </a:r>
              </a:p>
            </p:txBody>
          </p:sp>
        </mc:Fallback>
      </mc:AlternateContent>
      <p:sp>
        <p:nvSpPr>
          <p:cNvPr id="146" name="Line 14">
            <a:extLst>
              <a:ext uri="{FF2B5EF4-FFF2-40B4-BE49-F238E27FC236}">
                <a16:creationId xmlns:a16="http://schemas.microsoft.com/office/drawing/2014/main" id="{3E685DEE-2DB5-5740-BE6F-2C74E54E1F41}"/>
              </a:ext>
            </a:extLst>
          </p:cNvPr>
          <p:cNvSpPr>
            <a:spLocks noChangeShapeType="1"/>
          </p:cNvSpPr>
          <p:nvPr/>
        </p:nvSpPr>
        <p:spPr bwMode="auto">
          <a:xfrm>
            <a:off x="11817931" y="875799"/>
            <a:ext cx="0" cy="423234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6" name="Line 37">
            <a:extLst>
              <a:ext uri="{FF2B5EF4-FFF2-40B4-BE49-F238E27FC236}">
                <a16:creationId xmlns:a16="http://schemas.microsoft.com/office/drawing/2014/main" id="{87F3997F-AC6F-E94C-BDDA-D675458BE183}"/>
              </a:ext>
            </a:extLst>
          </p:cNvPr>
          <p:cNvSpPr>
            <a:spLocks noChangeShapeType="1"/>
          </p:cNvSpPr>
          <p:nvPr/>
        </p:nvSpPr>
        <p:spPr bwMode="auto">
          <a:xfrm>
            <a:off x="9706431" y="1434499"/>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0" name="Line 14">
            <a:extLst>
              <a:ext uri="{FF2B5EF4-FFF2-40B4-BE49-F238E27FC236}">
                <a16:creationId xmlns:a16="http://schemas.microsoft.com/office/drawing/2014/main" id="{7310A5FB-4554-E045-9214-7084F7E862DB}"/>
              </a:ext>
            </a:extLst>
          </p:cNvPr>
          <p:cNvSpPr>
            <a:spLocks noChangeShapeType="1"/>
          </p:cNvSpPr>
          <p:nvPr/>
        </p:nvSpPr>
        <p:spPr bwMode="auto">
          <a:xfrm>
            <a:off x="9658931" y="710699"/>
            <a:ext cx="33850" cy="433829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70" y="959444"/>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35" name="Line 24">
            <a:extLst>
              <a:ext uri="{FF2B5EF4-FFF2-40B4-BE49-F238E27FC236}">
                <a16:creationId xmlns:a16="http://schemas.microsoft.com/office/drawing/2014/main" id="{E42793DA-B54F-8A4A-B169-AADC48D8492B}"/>
              </a:ext>
            </a:extLst>
          </p:cNvPr>
          <p:cNvSpPr>
            <a:spLocks noChangeShapeType="1"/>
          </p:cNvSpPr>
          <p:nvPr/>
        </p:nvSpPr>
        <p:spPr bwMode="auto">
          <a:xfrm>
            <a:off x="9700081" y="1705242"/>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36" name="Line 24">
            <a:extLst>
              <a:ext uri="{FF2B5EF4-FFF2-40B4-BE49-F238E27FC236}">
                <a16:creationId xmlns:a16="http://schemas.microsoft.com/office/drawing/2014/main" id="{E42793DA-B54F-8A4A-B169-AADC48D8492B}"/>
              </a:ext>
            </a:extLst>
          </p:cNvPr>
          <p:cNvSpPr>
            <a:spLocks noChangeShapeType="1"/>
          </p:cNvSpPr>
          <p:nvPr/>
        </p:nvSpPr>
        <p:spPr bwMode="auto">
          <a:xfrm>
            <a:off x="9692045" y="2127276"/>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48" name="Line 24">
            <a:extLst>
              <a:ext uri="{FF2B5EF4-FFF2-40B4-BE49-F238E27FC236}">
                <a16:creationId xmlns:a16="http://schemas.microsoft.com/office/drawing/2014/main" id="{E42793DA-B54F-8A4A-B169-AADC48D8492B}"/>
              </a:ext>
            </a:extLst>
          </p:cNvPr>
          <p:cNvSpPr>
            <a:spLocks noChangeShapeType="1"/>
          </p:cNvSpPr>
          <p:nvPr/>
        </p:nvSpPr>
        <p:spPr bwMode="auto">
          <a:xfrm>
            <a:off x="9676270" y="242073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0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61066" y="151344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45150" y="1808278"/>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06852" y="2198823"/>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871601" y="2511028"/>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597017" y="1238142"/>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A4</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308" name="Group 65">
            <a:extLst>
              <a:ext uri="{FF2B5EF4-FFF2-40B4-BE49-F238E27FC236}">
                <a16:creationId xmlns:a16="http://schemas.microsoft.com/office/drawing/2014/main" id="{931A5080-440D-784B-A586-03D399A7E982}"/>
              </a:ext>
            </a:extLst>
          </p:cNvPr>
          <p:cNvGrpSpPr>
            <a:grpSpLocks/>
          </p:cNvGrpSpPr>
          <p:nvPr/>
        </p:nvGrpSpPr>
        <p:grpSpPr bwMode="auto">
          <a:xfrm>
            <a:off x="7221410" y="2734549"/>
            <a:ext cx="2519295" cy="307975"/>
            <a:chOff x="-169" y="956"/>
            <a:chExt cx="1054" cy="194"/>
          </a:xfrm>
        </p:grpSpPr>
        <p:sp>
          <p:nvSpPr>
            <p:cNvPr id="309"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15" y="960"/>
              <a:ext cx="24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10"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69" y="956"/>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5 6 7 8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9 10 11 12 13 </a:t>
              </a:r>
            </a:p>
          </p:txBody>
        </p:sp>
      </p:grpSp>
      <p:sp>
        <p:nvSpPr>
          <p:cNvPr id="311"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02065" y="2727082"/>
            <a:ext cx="1284326"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+ 1/4</a:t>
            </a:r>
          </a:p>
        </p:txBody>
      </p:sp>
      <p:sp>
        <p:nvSpPr>
          <p:cNvPr id="312"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9341804" y="54765"/>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grpSp>
        <p:nvGrpSpPr>
          <p:cNvPr id="313" name="Group 43">
            <a:extLst>
              <a:ext uri="{FF2B5EF4-FFF2-40B4-BE49-F238E27FC236}">
                <a16:creationId xmlns:a16="http://schemas.microsoft.com/office/drawing/2014/main" id="{D0982D30-E871-F344-B80E-157861960777}"/>
              </a:ext>
            </a:extLst>
          </p:cNvPr>
          <p:cNvGrpSpPr>
            <a:grpSpLocks/>
          </p:cNvGrpSpPr>
          <p:nvPr/>
        </p:nvGrpSpPr>
        <p:grpSpPr bwMode="auto">
          <a:xfrm>
            <a:off x="9341031" y="297654"/>
            <a:ext cx="490538" cy="451247"/>
            <a:chOff x="-44" y="1473"/>
            <a:chExt cx="981" cy="1105"/>
          </a:xfrm>
        </p:grpSpPr>
        <p:pic>
          <p:nvPicPr>
            <p:cNvPr id="31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316"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11469760" y="11947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grpSp>
        <p:nvGrpSpPr>
          <p:cNvPr id="317" name="Group 46">
            <a:extLst>
              <a:ext uri="{FF2B5EF4-FFF2-40B4-BE49-F238E27FC236}">
                <a16:creationId xmlns:a16="http://schemas.microsoft.com/office/drawing/2014/main" id="{514EF769-BED4-DE47-BE55-0913ABFB155D}"/>
              </a:ext>
            </a:extLst>
          </p:cNvPr>
          <p:cNvGrpSpPr>
            <a:grpSpLocks/>
          </p:cNvGrpSpPr>
          <p:nvPr/>
        </p:nvGrpSpPr>
        <p:grpSpPr bwMode="auto">
          <a:xfrm>
            <a:off x="11689621" y="383791"/>
            <a:ext cx="286941" cy="410765"/>
            <a:chOff x="4140" y="429"/>
            <a:chExt cx="1425" cy="2396"/>
          </a:xfrm>
        </p:grpSpPr>
        <p:sp>
          <p:nvSpPr>
            <p:cNvPr id="318"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19"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20"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21"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22"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3"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348"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9"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4"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5"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346"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7"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6"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27"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8"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344"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5"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9"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330"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342"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3"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31"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2"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3"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4"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5"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6"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7"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8"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9"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340"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1"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50"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86418" y="1934175"/>
            <a:ext cx="2098914" cy="84151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1"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84009" y="2204607"/>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69" y="2652863"/>
            <a:ext cx="2117133"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3"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69" y="2966775"/>
            <a:ext cx="2125150" cy="1341537"/>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4" name="Line 24">
            <a:extLst>
              <a:ext uri="{FF2B5EF4-FFF2-40B4-BE49-F238E27FC236}">
                <a16:creationId xmlns:a16="http://schemas.microsoft.com/office/drawing/2014/main" id="{E42793DA-B54F-8A4A-B169-AADC48D8492B}"/>
              </a:ext>
            </a:extLst>
          </p:cNvPr>
          <p:cNvSpPr>
            <a:spLocks noChangeShapeType="1"/>
          </p:cNvSpPr>
          <p:nvPr/>
        </p:nvSpPr>
        <p:spPr bwMode="auto">
          <a:xfrm>
            <a:off x="9706431" y="284207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5" name="Line 24">
            <a:extLst>
              <a:ext uri="{FF2B5EF4-FFF2-40B4-BE49-F238E27FC236}">
                <a16:creationId xmlns:a16="http://schemas.microsoft.com/office/drawing/2014/main" id="{E42793DA-B54F-8A4A-B169-AADC48D8492B}"/>
              </a:ext>
            </a:extLst>
          </p:cNvPr>
          <p:cNvSpPr>
            <a:spLocks noChangeShapeType="1"/>
          </p:cNvSpPr>
          <p:nvPr/>
        </p:nvSpPr>
        <p:spPr bwMode="auto">
          <a:xfrm>
            <a:off x="9698700" y="3372417"/>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6" name="Line 24">
            <a:extLst>
              <a:ext uri="{FF2B5EF4-FFF2-40B4-BE49-F238E27FC236}">
                <a16:creationId xmlns:a16="http://schemas.microsoft.com/office/drawing/2014/main" id="{E42793DA-B54F-8A4A-B169-AADC48D8492B}"/>
              </a:ext>
            </a:extLst>
          </p:cNvPr>
          <p:cNvSpPr>
            <a:spLocks noChangeShapeType="1"/>
          </p:cNvSpPr>
          <p:nvPr/>
        </p:nvSpPr>
        <p:spPr bwMode="auto">
          <a:xfrm>
            <a:off x="9684009" y="381822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7" name="Line 24">
            <a:extLst>
              <a:ext uri="{FF2B5EF4-FFF2-40B4-BE49-F238E27FC236}">
                <a16:creationId xmlns:a16="http://schemas.microsoft.com/office/drawing/2014/main" id="{E42793DA-B54F-8A4A-B169-AADC48D8492B}"/>
              </a:ext>
            </a:extLst>
          </p:cNvPr>
          <p:cNvSpPr>
            <a:spLocks noChangeShapeType="1"/>
          </p:cNvSpPr>
          <p:nvPr/>
        </p:nvSpPr>
        <p:spPr bwMode="auto">
          <a:xfrm>
            <a:off x="9697735" y="4378935"/>
            <a:ext cx="1726384" cy="39945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8" name="Line 24">
            <a:extLst>
              <a:ext uri="{FF2B5EF4-FFF2-40B4-BE49-F238E27FC236}">
                <a16:creationId xmlns:a16="http://schemas.microsoft.com/office/drawing/2014/main" id="{E42793DA-B54F-8A4A-B169-AADC48D8492B}"/>
              </a:ext>
            </a:extLst>
          </p:cNvPr>
          <p:cNvSpPr>
            <a:spLocks noChangeShapeType="1"/>
          </p:cNvSpPr>
          <p:nvPr/>
        </p:nvSpPr>
        <p:spPr bwMode="auto">
          <a:xfrm>
            <a:off x="9680513" y="4679652"/>
            <a:ext cx="1737940" cy="376220"/>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9"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050839" y="2295260"/>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12182" y="2730148"/>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63717" y="3193437"/>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98403" y="3629536"/>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1085777" y="297096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1059023" y="347742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B9</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82319" y="3921591"/>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B10</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658570" y="4416394"/>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594850" y="4712188"/>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B12</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368" name="Group 65">
            <a:extLst>
              <a:ext uri="{FF2B5EF4-FFF2-40B4-BE49-F238E27FC236}">
                <a16:creationId xmlns:a16="http://schemas.microsoft.com/office/drawing/2014/main" id="{931A5080-440D-784B-A586-03D399A7E982}"/>
              </a:ext>
            </a:extLst>
          </p:cNvPr>
          <p:cNvGrpSpPr>
            <a:grpSpLocks/>
          </p:cNvGrpSpPr>
          <p:nvPr/>
        </p:nvGrpSpPr>
        <p:grpSpPr bwMode="auto">
          <a:xfrm>
            <a:off x="7215991" y="3261361"/>
            <a:ext cx="2519295" cy="307977"/>
            <a:chOff x="-173" y="951"/>
            <a:chExt cx="1054" cy="194"/>
          </a:xfrm>
        </p:grpSpPr>
        <p:sp>
          <p:nvSpPr>
            <p:cNvPr id="369"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75" y="960"/>
              <a:ext cx="24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70"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3" y="951"/>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6 7 8 9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10 11 12 13 </a:t>
              </a:r>
            </a:p>
          </p:txBody>
        </p:sp>
      </p:grpSp>
      <p:sp>
        <p:nvSpPr>
          <p:cNvPr id="371"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06207" y="3261823"/>
            <a:ext cx="1284326"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+ 2/4</a:t>
            </a:r>
          </a:p>
        </p:txBody>
      </p:sp>
      <p:grpSp>
        <p:nvGrpSpPr>
          <p:cNvPr id="372" name="Group 65">
            <a:extLst>
              <a:ext uri="{FF2B5EF4-FFF2-40B4-BE49-F238E27FC236}">
                <a16:creationId xmlns:a16="http://schemas.microsoft.com/office/drawing/2014/main" id="{931A5080-440D-784B-A586-03D399A7E982}"/>
              </a:ext>
            </a:extLst>
          </p:cNvPr>
          <p:cNvGrpSpPr>
            <a:grpSpLocks/>
          </p:cNvGrpSpPr>
          <p:nvPr/>
        </p:nvGrpSpPr>
        <p:grpSpPr bwMode="auto">
          <a:xfrm>
            <a:off x="7221410" y="3718824"/>
            <a:ext cx="2519295" cy="307976"/>
            <a:chOff x="-177" y="968"/>
            <a:chExt cx="1054" cy="194"/>
          </a:xfrm>
        </p:grpSpPr>
        <p:sp>
          <p:nvSpPr>
            <p:cNvPr id="373"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36" y="971"/>
              <a:ext cx="290"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74"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7" y="968"/>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1 2 3 4 5 6</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7 8 9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10</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11 12 13 </a:t>
              </a:r>
            </a:p>
          </p:txBody>
        </p:sp>
      </p:grpSp>
      <p:sp>
        <p:nvSpPr>
          <p:cNvPr id="375"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21187" y="3692303"/>
            <a:ext cx="128432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+ 3/4</a:t>
            </a:r>
          </a:p>
        </p:txBody>
      </p:sp>
      <p:grpSp>
        <p:nvGrpSpPr>
          <p:cNvPr id="380" name="Group 65">
            <a:extLst>
              <a:ext uri="{FF2B5EF4-FFF2-40B4-BE49-F238E27FC236}">
                <a16:creationId xmlns:a16="http://schemas.microsoft.com/office/drawing/2014/main" id="{931A5080-440D-784B-A586-03D399A7E982}"/>
              </a:ext>
            </a:extLst>
          </p:cNvPr>
          <p:cNvGrpSpPr>
            <a:grpSpLocks/>
          </p:cNvGrpSpPr>
          <p:nvPr/>
        </p:nvGrpSpPr>
        <p:grpSpPr bwMode="auto">
          <a:xfrm>
            <a:off x="7911077" y="2022371"/>
            <a:ext cx="1427163" cy="307976"/>
            <a:chOff x="-59" y="959"/>
            <a:chExt cx="899" cy="194"/>
          </a:xfrm>
        </p:grpSpPr>
        <p:sp>
          <p:nvSpPr>
            <p:cNvPr id="38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81" y="980"/>
              <a:ext cx="389"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8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59" y="959"/>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4 5 6 7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8 </a:t>
              </a:r>
            </a:p>
          </p:txBody>
        </p:sp>
      </p:grpSp>
      <p:sp>
        <p:nvSpPr>
          <p:cNvPr id="38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975837" y="2033319"/>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4</a:t>
            </a:r>
          </a:p>
        </p:txBody>
      </p:sp>
      <p:grpSp>
        <p:nvGrpSpPr>
          <p:cNvPr id="179" name="Group 65">
            <a:extLst>
              <a:ext uri="{FF2B5EF4-FFF2-40B4-BE49-F238E27FC236}">
                <a16:creationId xmlns:a16="http://schemas.microsoft.com/office/drawing/2014/main" id="{931A5080-440D-784B-A586-03D399A7E982}"/>
              </a:ext>
            </a:extLst>
          </p:cNvPr>
          <p:cNvGrpSpPr>
            <a:grpSpLocks/>
          </p:cNvGrpSpPr>
          <p:nvPr/>
        </p:nvGrpSpPr>
        <p:grpSpPr bwMode="auto">
          <a:xfrm>
            <a:off x="7198065" y="4208158"/>
            <a:ext cx="2519295" cy="307976"/>
            <a:chOff x="-191" y="928"/>
            <a:chExt cx="1054" cy="194"/>
          </a:xfrm>
        </p:grpSpPr>
        <p:sp>
          <p:nvSpPr>
            <p:cNvPr id="18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70" y="940"/>
              <a:ext cx="44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8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91" y="928"/>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1 2 3 4 5 6 7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8</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10 11 12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13</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a:t>
              </a:r>
            </a:p>
          </p:txBody>
        </p:sp>
      </p:grpSp>
      <p:sp>
        <p:nvSpPr>
          <p:cNvPr id="18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758027" y="4227044"/>
            <a:ext cx="160332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+ 4/4 = 5</a:t>
            </a:r>
          </a:p>
        </p:txBody>
      </p:sp>
    </p:spTree>
    <p:extLst>
      <p:ext uri="{BB962C8B-B14F-4D97-AF65-F5344CB8AC3E}">
        <p14:creationId xmlns:p14="http://schemas.microsoft.com/office/powerpoint/2010/main" val="227181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ssolv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wipe(right)">
                                      <p:cBhvr>
                                        <p:cTn id="12" dur="500"/>
                                        <p:tgtEl>
                                          <p:spTgt spid="80"/>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wipe(right)">
                                      <p:cBhvr>
                                        <p:cTn id="15" dur="500"/>
                                        <p:tgtEl>
                                          <p:spTgt spid="9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wipe(left)">
                                      <p:cBhvr>
                                        <p:cTn id="19" dur="500"/>
                                        <p:tgtEl>
                                          <p:spTgt spid="90"/>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91"/>
                                        </p:tgtEl>
                                        <p:attrNameLst>
                                          <p:attrName>style.visibility</p:attrName>
                                        </p:attrNameLst>
                                      </p:cBhvr>
                                      <p:to>
                                        <p:strVal val="visible"/>
                                      </p:to>
                                    </p:set>
                                    <p:animEffect transition="in" filter="wipe(left)">
                                      <p:cBhvr>
                                        <p:cTn id="23" dur="500"/>
                                        <p:tgtEl>
                                          <p:spTgt spid="91"/>
                                        </p:tgtEl>
                                      </p:cBhvr>
                                    </p:animEffect>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144"/>
                                        </p:tgtEl>
                                        <p:attrNameLst>
                                          <p:attrName>style.visibility</p:attrName>
                                        </p:attrNameLst>
                                      </p:cBhvr>
                                      <p:to>
                                        <p:strVal val="visible"/>
                                      </p:to>
                                    </p:set>
                                    <p:animEffect transition="in" filter="dissolve">
                                      <p:cBhvr>
                                        <p:cTn id="27" dur="500"/>
                                        <p:tgtEl>
                                          <p:spTgt spid="144"/>
                                        </p:tgtEl>
                                      </p:cBhvr>
                                    </p:animEffec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wipe(left)">
                                      <p:cBhvr>
                                        <p:cTn id="31" dur="500"/>
                                        <p:tgtEl>
                                          <p:spTgt spid="100"/>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149"/>
                                        </p:tgtEl>
                                        <p:attrNameLst>
                                          <p:attrName>style.visibility</p:attrName>
                                        </p:attrNameLst>
                                      </p:cBhvr>
                                      <p:to>
                                        <p:strVal val="visible"/>
                                      </p:to>
                                    </p:set>
                                    <p:animEffect transition="in" filter="wipe(right)">
                                      <p:cBhvr>
                                        <p:cTn id="34" dur="500"/>
                                        <p:tgtEl>
                                          <p:spTgt spid="149"/>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150"/>
                                        </p:tgtEl>
                                        <p:attrNameLst>
                                          <p:attrName>style.visibility</p:attrName>
                                        </p:attrNameLst>
                                      </p:cBhvr>
                                      <p:to>
                                        <p:strVal val="visible"/>
                                      </p:to>
                                    </p:set>
                                    <p:animEffect transition="in" filter="wipe(left)">
                                      <p:cBhvr>
                                        <p:cTn id="38" dur="500"/>
                                        <p:tgtEl>
                                          <p:spTgt spid="150"/>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151"/>
                                        </p:tgtEl>
                                        <p:attrNameLst>
                                          <p:attrName>style.visibility</p:attrName>
                                        </p:attrNameLst>
                                      </p:cBhvr>
                                      <p:to>
                                        <p:strVal val="visible"/>
                                      </p:to>
                                    </p:set>
                                    <p:animEffect transition="in" filter="wipe(left)">
                                      <p:cBhvr>
                                        <p:cTn id="42" dur="500"/>
                                        <p:tgtEl>
                                          <p:spTgt spid="151"/>
                                        </p:tgtEl>
                                      </p:cBhvr>
                                    </p:animEffect>
                                  </p:childTnLst>
                                </p:cTn>
                              </p:par>
                            </p:childTnLst>
                          </p:cTn>
                        </p:par>
                        <p:par>
                          <p:cTn id="43" fill="hold">
                            <p:stCondLst>
                              <p:cond delay="3500"/>
                            </p:stCondLst>
                            <p:childTnLst>
                              <p:par>
                                <p:cTn id="44" presetID="9" presetClass="entr" presetSubtype="0" fill="hold" grpId="0" nodeType="afterEffect">
                                  <p:stCondLst>
                                    <p:cond delay="0"/>
                                  </p:stCondLst>
                                  <p:childTnLst>
                                    <p:set>
                                      <p:cBhvr>
                                        <p:cTn id="45" dur="1" fill="hold">
                                          <p:stCondLst>
                                            <p:cond delay="0"/>
                                          </p:stCondLst>
                                        </p:cTn>
                                        <p:tgtEl>
                                          <p:spTgt spid="166"/>
                                        </p:tgtEl>
                                        <p:attrNameLst>
                                          <p:attrName>style.visibility</p:attrName>
                                        </p:attrNameLst>
                                      </p:cBhvr>
                                      <p:to>
                                        <p:strVal val="visible"/>
                                      </p:to>
                                    </p:set>
                                    <p:animEffect transition="in" filter="dissolve">
                                      <p:cBhvr>
                                        <p:cTn id="46" dur="500"/>
                                        <p:tgtEl>
                                          <p:spTgt spid="166"/>
                                        </p:tgtEl>
                                      </p:cBhvr>
                                    </p:animEffect>
                                  </p:childTnLst>
                                </p:cTn>
                              </p:par>
                            </p:childTnLst>
                          </p:cTn>
                        </p:par>
                        <p:par>
                          <p:cTn id="47" fill="hold">
                            <p:stCondLst>
                              <p:cond delay="4000"/>
                            </p:stCondLst>
                            <p:childTnLst>
                              <p:par>
                                <p:cTn id="48" presetID="9" presetClass="entr" presetSubtype="0" fill="hold" grpId="0" nodeType="afterEffect">
                                  <p:stCondLst>
                                    <p:cond delay="0"/>
                                  </p:stCondLst>
                                  <p:childTnLst>
                                    <p:set>
                                      <p:cBhvr>
                                        <p:cTn id="49" dur="1" fill="hold">
                                          <p:stCondLst>
                                            <p:cond delay="0"/>
                                          </p:stCondLst>
                                        </p:cTn>
                                        <p:tgtEl>
                                          <p:spTgt spid="170"/>
                                        </p:tgtEl>
                                        <p:attrNameLst>
                                          <p:attrName>style.visibility</p:attrName>
                                        </p:attrNameLst>
                                      </p:cBhvr>
                                      <p:to>
                                        <p:strVal val="visible"/>
                                      </p:to>
                                    </p:set>
                                    <p:animEffect transition="in" filter="dissolve">
                                      <p:cBhvr>
                                        <p:cTn id="50" dur="500"/>
                                        <p:tgtEl>
                                          <p:spTgt spid="170"/>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171"/>
                                        </p:tgtEl>
                                        <p:attrNameLst>
                                          <p:attrName>style.visibility</p:attrName>
                                        </p:attrNameLst>
                                      </p:cBhvr>
                                      <p:to>
                                        <p:strVal val="visible"/>
                                      </p:to>
                                    </p:set>
                                    <p:animEffect transition="in" filter="dissolve">
                                      <p:cBhvr>
                                        <p:cTn id="53" dur="500"/>
                                        <p:tgtEl>
                                          <p:spTgt spid="17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72"/>
                                        </p:tgtEl>
                                        <p:attrNameLst>
                                          <p:attrName>style.visibility</p:attrName>
                                        </p:attrNameLst>
                                      </p:cBhvr>
                                      <p:to>
                                        <p:strVal val="visible"/>
                                      </p:to>
                                    </p:set>
                                    <p:animEffect transition="in" filter="dissolve">
                                      <p:cBhvr>
                                        <p:cTn id="56" dur="500"/>
                                        <p:tgtEl>
                                          <p:spTgt spid="172"/>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73"/>
                                        </p:tgtEl>
                                        <p:attrNameLst>
                                          <p:attrName>style.visibility</p:attrName>
                                        </p:attrNameLst>
                                      </p:cBhvr>
                                      <p:to>
                                        <p:strVal val="visible"/>
                                      </p:to>
                                    </p:set>
                                    <p:animEffect transition="in" filter="dissolve">
                                      <p:cBhvr>
                                        <p:cTn id="59" dur="500"/>
                                        <p:tgtEl>
                                          <p:spTgt spid="173"/>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174"/>
                                        </p:tgtEl>
                                        <p:attrNameLst>
                                          <p:attrName>style.visibility</p:attrName>
                                        </p:attrNameLst>
                                      </p:cBhvr>
                                      <p:to>
                                        <p:strVal val="visible"/>
                                      </p:to>
                                    </p:set>
                                    <p:animEffect transition="in" filter="dissolve">
                                      <p:cBhvr>
                                        <p:cTn id="62" dur="500"/>
                                        <p:tgtEl>
                                          <p:spTgt spid="174"/>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175"/>
                                        </p:tgtEl>
                                        <p:attrNameLst>
                                          <p:attrName>style.visibility</p:attrName>
                                        </p:attrNameLst>
                                      </p:cBhvr>
                                      <p:to>
                                        <p:strVal val="visible"/>
                                      </p:to>
                                    </p:set>
                                    <p:animEffect transition="in" filter="dissolve">
                                      <p:cBhvr>
                                        <p:cTn id="65" dur="500"/>
                                        <p:tgtEl>
                                          <p:spTgt spid="175"/>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176"/>
                                        </p:tgtEl>
                                        <p:attrNameLst>
                                          <p:attrName>style.visibility</p:attrName>
                                        </p:attrNameLst>
                                      </p:cBhvr>
                                      <p:to>
                                        <p:strVal val="visible"/>
                                      </p:to>
                                    </p:set>
                                    <p:animEffect transition="in" filter="dissolve">
                                      <p:cBhvr>
                                        <p:cTn id="68" dur="500"/>
                                        <p:tgtEl>
                                          <p:spTgt spid="176"/>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177"/>
                                        </p:tgtEl>
                                        <p:attrNameLst>
                                          <p:attrName>style.visibility</p:attrName>
                                        </p:attrNameLst>
                                      </p:cBhvr>
                                      <p:to>
                                        <p:strVal val="visible"/>
                                      </p:to>
                                    </p:set>
                                    <p:animEffect transition="in" filter="dissolve">
                                      <p:cBhvr>
                                        <p:cTn id="71" dur="500"/>
                                        <p:tgtEl>
                                          <p:spTgt spid="177"/>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80"/>
                                        </p:tgtEl>
                                        <p:attrNameLst>
                                          <p:attrName>style.visibility</p:attrName>
                                        </p:attrNameLst>
                                      </p:cBhvr>
                                      <p:to>
                                        <p:strVal val="visible"/>
                                      </p:to>
                                    </p:set>
                                    <p:animEffect transition="in" filter="dissolve">
                                      <p:cBhvr>
                                        <p:cTn id="74" dur="500"/>
                                        <p:tgtEl>
                                          <p:spTgt spid="180"/>
                                        </p:tgtEl>
                                      </p:cBhvr>
                                    </p:animEffect>
                                  </p:childTnLst>
                                </p:cTn>
                              </p:par>
                            </p:childTnLst>
                          </p:cTn>
                        </p:par>
                        <p:par>
                          <p:cTn id="75" fill="hold">
                            <p:stCondLst>
                              <p:cond delay="4500"/>
                            </p:stCondLst>
                            <p:childTnLst>
                              <p:par>
                                <p:cTn id="76" presetID="22" presetClass="entr" presetSubtype="8" fill="hold" grpId="0" nodeType="afterEffect">
                                  <p:stCondLst>
                                    <p:cond delay="0"/>
                                  </p:stCondLst>
                                  <p:childTnLst>
                                    <p:set>
                                      <p:cBhvr>
                                        <p:cTn id="77" dur="1" fill="hold">
                                          <p:stCondLst>
                                            <p:cond delay="0"/>
                                          </p:stCondLst>
                                        </p:cTn>
                                        <p:tgtEl>
                                          <p:spTgt spid="156"/>
                                        </p:tgtEl>
                                        <p:attrNameLst>
                                          <p:attrName>style.visibility</p:attrName>
                                        </p:attrNameLst>
                                      </p:cBhvr>
                                      <p:to>
                                        <p:strVal val="visible"/>
                                      </p:to>
                                    </p:set>
                                    <p:animEffect transition="in" filter="wipe(left)">
                                      <p:cBhvr>
                                        <p:cTn id="78" dur="500"/>
                                        <p:tgtEl>
                                          <p:spTgt spid="156"/>
                                        </p:tgtEl>
                                      </p:cBhvr>
                                    </p:animEffect>
                                  </p:childTnLst>
                                </p:cTn>
                              </p:par>
                              <p:par>
                                <p:cTn id="79" presetID="22" presetClass="entr" presetSubtype="2"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right)">
                                      <p:cBhvr>
                                        <p:cTn id="81" dur="500"/>
                                        <p:tgtEl>
                                          <p:spTgt spid="162"/>
                                        </p:tgtEl>
                                      </p:cBhvr>
                                    </p:animEffect>
                                  </p:childTnLst>
                                </p:cTn>
                              </p:par>
                            </p:childTnLst>
                          </p:cTn>
                        </p:par>
                        <p:par>
                          <p:cTn id="82" fill="hold">
                            <p:stCondLst>
                              <p:cond delay="5000"/>
                            </p:stCondLst>
                            <p:childTnLst>
                              <p:par>
                                <p:cTn id="83" presetID="22" presetClass="entr" presetSubtype="8" fill="hold" grpId="0" nodeType="afterEffect">
                                  <p:stCondLst>
                                    <p:cond delay="0"/>
                                  </p:stCondLst>
                                  <p:childTnLst>
                                    <p:set>
                                      <p:cBhvr>
                                        <p:cTn id="84" dur="1" fill="hold">
                                          <p:stCondLst>
                                            <p:cond delay="0"/>
                                          </p:stCondLst>
                                        </p:cTn>
                                        <p:tgtEl>
                                          <p:spTgt spid="235"/>
                                        </p:tgtEl>
                                        <p:attrNameLst>
                                          <p:attrName>style.visibility</p:attrName>
                                        </p:attrNameLst>
                                      </p:cBhvr>
                                      <p:to>
                                        <p:strVal val="visible"/>
                                      </p:to>
                                    </p:set>
                                    <p:animEffect transition="in" filter="wipe(left)">
                                      <p:cBhvr>
                                        <p:cTn id="85" dur="500"/>
                                        <p:tgtEl>
                                          <p:spTgt spid="235"/>
                                        </p:tgtEl>
                                      </p:cBhvr>
                                    </p:animEffect>
                                  </p:childTnLst>
                                </p:cTn>
                              </p:par>
                            </p:childTnLst>
                          </p:cTn>
                        </p:par>
                        <p:par>
                          <p:cTn id="86" fill="hold">
                            <p:stCondLst>
                              <p:cond delay="5500"/>
                            </p:stCondLst>
                            <p:childTnLst>
                              <p:par>
                                <p:cTn id="87" presetID="22" presetClass="entr" presetSubtype="8" fill="hold" grpId="0" nodeType="afterEffect">
                                  <p:stCondLst>
                                    <p:cond delay="0"/>
                                  </p:stCondLst>
                                  <p:childTnLst>
                                    <p:set>
                                      <p:cBhvr>
                                        <p:cTn id="88" dur="1" fill="hold">
                                          <p:stCondLst>
                                            <p:cond delay="0"/>
                                          </p:stCondLst>
                                        </p:cTn>
                                        <p:tgtEl>
                                          <p:spTgt spid="236"/>
                                        </p:tgtEl>
                                        <p:attrNameLst>
                                          <p:attrName>style.visibility</p:attrName>
                                        </p:attrNameLst>
                                      </p:cBhvr>
                                      <p:to>
                                        <p:strVal val="visible"/>
                                      </p:to>
                                    </p:set>
                                    <p:animEffect transition="in" filter="wipe(left)">
                                      <p:cBhvr>
                                        <p:cTn id="89" dur="500"/>
                                        <p:tgtEl>
                                          <p:spTgt spid="236"/>
                                        </p:tgtEl>
                                      </p:cBhvr>
                                    </p:animEffect>
                                  </p:childTnLst>
                                </p:cTn>
                              </p:par>
                            </p:childTnLst>
                          </p:cTn>
                        </p:par>
                        <p:par>
                          <p:cTn id="90" fill="hold">
                            <p:stCondLst>
                              <p:cond delay="6000"/>
                            </p:stCondLst>
                            <p:childTnLst>
                              <p:par>
                                <p:cTn id="91" presetID="22" presetClass="entr" presetSubtype="8" fill="hold" grpId="0" nodeType="afterEffect">
                                  <p:stCondLst>
                                    <p:cond delay="0"/>
                                  </p:stCondLst>
                                  <p:childTnLst>
                                    <p:set>
                                      <p:cBhvr>
                                        <p:cTn id="92" dur="1" fill="hold">
                                          <p:stCondLst>
                                            <p:cond delay="0"/>
                                          </p:stCondLst>
                                        </p:cTn>
                                        <p:tgtEl>
                                          <p:spTgt spid="248"/>
                                        </p:tgtEl>
                                        <p:attrNameLst>
                                          <p:attrName>style.visibility</p:attrName>
                                        </p:attrNameLst>
                                      </p:cBhvr>
                                      <p:to>
                                        <p:strVal val="visible"/>
                                      </p:to>
                                    </p:set>
                                    <p:animEffect transition="in" filter="wipe(left)">
                                      <p:cBhvr>
                                        <p:cTn id="93" dur="500"/>
                                        <p:tgtEl>
                                          <p:spTgt spid="248"/>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303"/>
                                        </p:tgtEl>
                                        <p:attrNameLst>
                                          <p:attrName>style.visibility</p:attrName>
                                        </p:attrNameLst>
                                      </p:cBhvr>
                                      <p:to>
                                        <p:strVal val="visible"/>
                                      </p:to>
                                    </p:set>
                                    <p:animEffect transition="in" filter="dissolve">
                                      <p:cBhvr>
                                        <p:cTn id="96" dur="500"/>
                                        <p:tgtEl>
                                          <p:spTgt spid="303"/>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304"/>
                                        </p:tgtEl>
                                        <p:attrNameLst>
                                          <p:attrName>style.visibility</p:attrName>
                                        </p:attrNameLst>
                                      </p:cBhvr>
                                      <p:to>
                                        <p:strVal val="visible"/>
                                      </p:to>
                                    </p:set>
                                    <p:animEffect transition="in" filter="dissolve">
                                      <p:cBhvr>
                                        <p:cTn id="99" dur="500"/>
                                        <p:tgtEl>
                                          <p:spTgt spid="304"/>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305"/>
                                        </p:tgtEl>
                                        <p:attrNameLst>
                                          <p:attrName>style.visibility</p:attrName>
                                        </p:attrNameLst>
                                      </p:cBhvr>
                                      <p:to>
                                        <p:strVal val="visible"/>
                                      </p:to>
                                    </p:set>
                                    <p:animEffect transition="in" filter="dissolve">
                                      <p:cBhvr>
                                        <p:cTn id="102" dur="500"/>
                                        <p:tgtEl>
                                          <p:spTgt spid="305"/>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306"/>
                                        </p:tgtEl>
                                        <p:attrNameLst>
                                          <p:attrName>style.visibility</p:attrName>
                                        </p:attrNameLst>
                                      </p:cBhvr>
                                      <p:to>
                                        <p:strVal val="visible"/>
                                      </p:to>
                                    </p:set>
                                    <p:animEffect transition="in" filter="dissolve">
                                      <p:cBhvr>
                                        <p:cTn id="105" dur="500"/>
                                        <p:tgtEl>
                                          <p:spTgt spid="306"/>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307"/>
                                        </p:tgtEl>
                                        <p:attrNameLst>
                                          <p:attrName>style.visibility</p:attrName>
                                        </p:attrNameLst>
                                      </p:cBhvr>
                                      <p:to>
                                        <p:strVal val="visible"/>
                                      </p:to>
                                    </p:set>
                                    <p:animEffect transition="in" filter="dissolve">
                                      <p:cBhvr>
                                        <p:cTn id="108" dur="500"/>
                                        <p:tgtEl>
                                          <p:spTgt spid="307"/>
                                        </p:tgtEl>
                                      </p:cBhvr>
                                    </p:animEffect>
                                  </p:childTnLst>
                                </p:cTn>
                              </p:par>
                            </p:childTnLst>
                          </p:cTn>
                        </p:par>
                        <p:par>
                          <p:cTn id="109" fill="hold">
                            <p:stCondLst>
                              <p:cond delay="6500"/>
                            </p:stCondLst>
                            <p:childTnLst>
                              <p:par>
                                <p:cTn id="110" presetID="9" presetClass="entr" presetSubtype="0" fill="hold" grpId="0" nodeType="afterEffect">
                                  <p:stCondLst>
                                    <p:cond delay="0"/>
                                  </p:stCondLst>
                                  <p:childTnLst>
                                    <p:set>
                                      <p:cBhvr>
                                        <p:cTn id="111" dur="1" fill="hold">
                                          <p:stCondLst>
                                            <p:cond delay="0"/>
                                          </p:stCondLst>
                                        </p:cTn>
                                        <p:tgtEl>
                                          <p:spTgt spid="311"/>
                                        </p:tgtEl>
                                        <p:attrNameLst>
                                          <p:attrName>style.visibility</p:attrName>
                                        </p:attrNameLst>
                                      </p:cBhvr>
                                      <p:to>
                                        <p:strVal val="visible"/>
                                      </p:to>
                                    </p:set>
                                    <p:animEffect transition="in" filter="dissolve">
                                      <p:cBhvr>
                                        <p:cTn id="112" dur="500"/>
                                        <p:tgtEl>
                                          <p:spTgt spid="311"/>
                                        </p:tgtEl>
                                      </p:cBhvr>
                                    </p:animEffect>
                                  </p:childTnLst>
                                </p:cTn>
                              </p:par>
                              <p:par>
                                <p:cTn id="113" presetID="22" presetClass="entr" presetSubtype="2" fill="hold" grpId="0" nodeType="withEffect">
                                  <p:stCondLst>
                                    <p:cond delay="0"/>
                                  </p:stCondLst>
                                  <p:childTnLst>
                                    <p:set>
                                      <p:cBhvr>
                                        <p:cTn id="114" dur="1" fill="hold">
                                          <p:stCondLst>
                                            <p:cond delay="0"/>
                                          </p:stCondLst>
                                        </p:cTn>
                                        <p:tgtEl>
                                          <p:spTgt spid="350"/>
                                        </p:tgtEl>
                                        <p:attrNameLst>
                                          <p:attrName>style.visibility</p:attrName>
                                        </p:attrNameLst>
                                      </p:cBhvr>
                                      <p:to>
                                        <p:strVal val="visible"/>
                                      </p:to>
                                    </p:set>
                                    <p:animEffect transition="in" filter="wipe(right)">
                                      <p:cBhvr>
                                        <p:cTn id="115" dur="500"/>
                                        <p:tgtEl>
                                          <p:spTgt spid="350"/>
                                        </p:tgtEl>
                                      </p:cBhvr>
                                    </p:animEffect>
                                  </p:childTnLst>
                                </p:cTn>
                              </p:par>
                              <p:par>
                                <p:cTn id="116" presetID="22" presetClass="entr" presetSubtype="2" fill="hold" grpId="0" nodeType="withEffect">
                                  <p:stCondLst>
                                    <p:cond delay="0"/>
                                  </p:stCondLst>
                                  <p:childTnLst>
                                    <p:set>
                                      <p:cBhvr>
                                        <p:cTn id="117" dur="1" fill="hold">
                                          <p:stCondLst>
                                            <p:cond delay="0"/>
                                          </p:stCondLst>
                                        </p:cTn>
                                        <p:tgtEl>
                                          <p:spTgt spid="351"/>
                                        </p:tgtEl>
                                        <p:attrNameLst>
                                          <p:attrName>style.visibility</p:attrName>
                                        </p:attrNameLst>
                                      </p:cBhvr>
                                      <p:to>
                                        <p:strVal val="visible"/>
                                      </p:to>
                                    </p:set>
                                    <p:animEffect transition="in" filter="wipe(right)">
                                      <p:cBhvr>
                                        <p:cTn id="118" dur="500"/>
                                        <p:tgtEl>
                                          <p:spTgt spid="351"/>
                                        </p:tgtEl>
                                      </p:cBhvr>
                                    </p:animEffect>
                                  </p:childTnLst>
                                </p:cTn>
                              </p:par>
                              <p:par>
                                <p:cTn id="119" presetID="22" presetClass="entr" presetSubtype="2" fill="hold" grpId="0" nodeType="withEffect">
                                  <p:stCondLst>
                                    <p:cond delay="0"/>
                                  </p:stCondLst>
                                  <p:childTnLst>
                                    <p:set>
                                      <p:cBhvr>
                                        <p:cTn id="120" dur="1" fill="hold">
                                          <p:stCondLst>
                                            <p:cond delay="0"/>
                                          </p:stCondLst>
                                        </p:cTn>
                                        <p:tgtEl>
                                          <p:spTgt spid="352"/>
                                        </p:tgtEl>
                                        <p:attrNameLst>
                                          <p:attrName>style.visibility</p:attrName>
                                        </p:attrNameLst>
                                      </p:cBhvr>
                                      <p:to>
                                        <p:strVal val="visible"/>
                                      </p:to>
                                    </p:set>
                                    <p:animEffect transition="in" filter="wipe(right)">
                                      <p:cBhvr>
                                        <p:cTn id="121" dur="500"/>
                                        <p:tgtEl>
                                          <p:spTgt spid="352"/>
                                        </p:tgtEl>
                                      </p:cBhvr>
                                    </p:animEffect>
                                  </p:childTnLst>
                                </p:cTn>
                              </p:par>
                              <p:par>
                                <p:cTn id="122" presetID="22" presetClass="entr" presetSubtype="2" fill="hold" grpId="0" nodeType="withEffect">
                                  <p:stCondLst>
                                    <p:cond delay="0"/>
                                  </p:stCondLst>
                                  <p:childTnLst>
                                    <p:set>
                                      <p:cBhvr>
                                        <p:cTn id="123" dur="1" fill="hold">
                                          <p:stCondLst>
                                            <p:cond delay="0"/>
                                          </p:stCondLst>
                                        </p:cTn>
                                        <p:tgtEl>
                                          <p:spTgt spid="353"/>
                                        </p:tgtEl>
                                        <p:attrNameLst>
                                          <p:attrName>style.visibility</p:attrName>
                                        </p:attrNameLst>
                                      </p:cBhvr>
                                      <p:to>
                                        <p:strVal val="visible"/>
                                      </p:to>
                                    </p:set>
                                    <p:animEffect transition="in" filter="wipe(right)">
                                      <p:cBhvr>
                                        <p:cTn id="124" dur="500"/>
                                        <p:tgtEl>
                                          <p:spTgt spid="353"/>
                                        </p:tgtEl>
                                      </p:cBhvr>
                                    </p:animEffect>
                                  </p:childTnLst>
                                </p:cTn>
                              </p:par>
                            </p:childTnLst>
                          </p:cTn>
                        </p:par>
                        <p:par>
                          <p:cTn id="125" fill="hold">
                            <p:stCondLst>
                              <p:cond delay="7000"/>
                            </p:stCondLst>
                            <p:childTnLst>
                              <p:par>
                                <p:cTn id="126" presetID="22" presetClass="entr" presetSubtype="8" fill="hold" grpId="0" nodeType="afterEffect">
                                  <p:stCondLst>
                                    <p:cond delay="0"/>
                                  </p:stCondLst>
                                  <p:childTnLst>
                                    <p:set>
                                      <p:cBhvr>
                                        <p:cTn id="127" dur="1" fill="hold">
                                          <p:stCondLst>
                                            <p:cond delay="0"/>
                                          </p:stCondLst>
                                        </p:cTn>
                                        <p:tgtEl>
                                          <p:spTgt spid="354"/>
                                        </p:tgtEl>
                                        <p:attrNameLst>
                                          <p:attrName>style.visibility</p:attrName>
                                        </p:attrNameLst>
                                      </p:cBhvr>
                                      <p:to>
                                        <p:strVal val="visible"/>
                                      </p:to>
                                    </p:set>
                                    <p:animEffect transition="in" filter="wipe(left)">
                                      <p:cBhvr>
                                        <p:cTn id="128" dur="500"/>
                                        <p:tgtEl>
                                          <p:spTgt spid="354"/>
                                        </p:tgtEl>
                                      </p:cBhvr>
                                    </p:animEffect>
                                  </p:childTnLst>
                                </p:cTn>
                              </p:par>
                            </p:childTnLst>
                          </p:cTn>
                        </p:par>
                        <p:par>
                          <p:cTn id="129" fill="hold">
                            <p:stCondLst>
                              <p:cond delay="7500"/>
                            </p:stCondLst>
                            <p:childTnLst>
                              <p:par>
                                <p:cTn id="130" presetID="22" presetClass="entr" presetSubtype="8" fill="hold" grpId="0" nodeType="afterEffect">
                                  <p:stCondLst>
                                    <p:cond delay="0"/>
                                  </p:stCondLst>
                                  <p:childTnLst>
                                    <p:set>
                                      <p:cBhvr>
                                        <p:cTn id="131" dur="1" fill="hold">
                                          <p:stCondLst>
                                            <p:cond delay="0"/>
                                          </p:stCondLst>
                                        </p:cTn>
                                        <p:tgtEl>
                                          <p:spTgt spid="355"/>
                                        </p:tgtEl>
                                        <p:attrNameLst>
                                          <p:attrName>style.visibility</p:attrName>
                                        </p:attrNameLst>
                                      </p:cBhvr>
                                      <p:to>
                                        <p:strVal val="visible"/>
                                      </p:to>
                                    </p:set>
                                    <p:animEffect transition="in" filter="wipe(left)">
                                      <p:cBhvr>
                                        <p:cTn id="132" dur="500"/>
                                        <p:tgtEl>
                                          <p:spTgt spid="355"/>
                                        </p:tgtEl>
                                      </p:cBhvr>
                                    </p:animEffect>
                                  </p:childTnLst>
                                </p:cTn>
                              </p:par>
                            </p:childTnLst>
                          </p:cTn>
                        </p:par>
                        <p:par>
                          <p:cTn id="133" fill="hold">
                            <p:stCondLst>
                              <p:cond delay="8000"/>
                            </p:stCondLst>
                            <p:childTnLst>
                              <p:par>
                                <p:cTn id="134" presetID="22" presetClass="entr" presetSubtype="8" fill="hold" grpId="0" nodeType="afterEffect">
                                  <p:stCondLst>
                                    <p:cond delay="0"/>
                                  </p:stCondLst>
                                  <p:childTnLst>
                                    <p:set>
                                      <p:cBhvr>
                                        <p:cTn id="135" dur="1" fill="hold">
                                          <p:stCondLst>
                                            <p:cond delay="0"/>
                                          </p:stCondLst>
                                        </p:cTn>
                                        <p:tgtEl>
                                          <p:spTgt spid="356"/>
                                        </p:tgtEl>
                                        <p:attrNameLst>
                                          <p:attrName>style.visibility</p:attrName>
                                        </p:attrNameLst>
                                      </p:cBhvr>
                                      <p:to>
                                        <p:strVal val="visible"/>
                                      </p:to>
                                    </p:set>
                                    <p:animEffect transition="in" filter="wipe(left)">
                                      <p:cBhvr>
                                        <p:cTn id="136" dur="500"/>
                                        <p:tgtEl>
                                          <p:spTgt spid="356"/>
                                        </p:tgtEl>
                                      </p:cBhvr>
                                    </p:animEffect>
                                  </p:childTnLst>
                                </p:cTn>
                              </p:par>
                            </p:childTnLst>
                          </p:cTn>
                        </p:par>
                        <p:par>
                          <p:cTn id="137" fill="hold">
                            <p:stCondLst>
                              <p:cond delay="8500"/>
                            </p:stCondLst>
                            <p:childTnLst>
                              <p:par>
                                <p:cTn id="138" presetID="22" presetClass="entr" presetSubtype="8" fill="hold" grpId="0" nodeType="afterEffect">
                                  <p:stCondLst>
                                    <p:cond delay="0"/>
                                  </p:stCondLst>
                                  <p:childTnLst>
                                    <p:set>
                                      <p:cBhvr>
                                        <p:cTn id="139" dur="1" fill="hold">
                                          <p:stCondLst>
                                            <p:cond delay="0"/>
                                          </p:stCondLst>
                                        </p:cTn>
                                        <p:tgtEl>
                                          <p:spTgt spid="357"/>
                                        </p:tgtEl>
                                        <p:attrNameLst>
                                          <p:attrName>style.visibility</p:attrName>
                                        </p:attrNameLst>
                                      </p:cBhvr>
                                      <p:to>
                                        <p:strVal val="visible"/>
                                      </p:to>
                                    </p:set>
                                    <p:animEffect transition="in" filter="wipe(left)">
                                      <p:cBhvr>
                                        <p:cTn id="140" dur="500"/>
                                        <p:tgtEl>
                                          <p:spTgt spid="357"/>
                                        </p:tgtEl>
                                      </p:cBhvr>
                                    </p:animEffect>
                                  </p:childTnLst>
                                </p:cTn>
                              </p:par>
                            </p:childTnLst>
                          </p:cTn>
                        </p:par>
                        <p:par>
                          <p:cTn id="141" fill="hold">
                            <p:stCondLst>
                              <p:cond delay="9000"/>
                            </p:stCondLst>
                            <p:childTnLst>
                              <p:par>
                                <p:cTn id="142" presetID="22" presetClass="entr" presetSubtype="8" fill="hold" grpId="0" nodeType="afterEffect">
                                  <p:stCondLst>
                                    <p:cond delay="0"/>
                                  </p:stCondLst>
                                  <p:childTnLst>
                                    <p:set>
                                      <p:cBhvr>
                                        <p:cTn id="143" dur="1" fill="hold">
                                          <p:stCondLst>
                                            <p:cond delay="0"/>
                                          </p:stCondLst>
                                        </p:cTn>
                                        <p:tgtEl>
                                          <p:spTgt spid="358"/>
                                        </p:tgtEl>
                                        <p:attrNameLst>
                                          <p:attrName>style.visibility</p:attrName>
                                        </p:attrNameLst>
                                      </p:cBhvr>
                                      <p:to>
                                        <p:strVal val="visible"/>
                                      </p:to>
                                    </p:set>
                                    <p:animEffect transition="in" filter="wipe(left)">
                                      <p:cBhvr>
                                        <p:cTn id="144" dur="500"/>
                                        <p:tgtEl>
                                          <p:spTgt spid="358"/>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359"/>
                                        </p:tgtEl>
                                        <p:attrNameLst>
                                          <p:attrName>style.visibility</p:attrName>
                                        </p:attrNameLst>
                                      </p:cBhvr>
                                      <p:to>
                                        <p:strVal val="visible"/>
                                      </p:to>
                                    </p:set>
                                    <p:animEffect transition="in" filter="dissolve">
                                      <p:cBhvr>
                                        <p:cTn id="147" dur="500"/>
                                        <p:tgtEl>
                                          <p:spTgt spid="359"/>
                                        </p:tgtEl>
                                      </p:cBhvr>
                                    </p:animEffect>
                                  </p:childTnLst>
                                </p:cTn>
                              </p:par>
                              <p:par>
                                <p:cTn id="148" presetID="9" presetClass="entr" presetSubtype="0" fill="hold" grpId="0" nodeType="withEffect">
                                  <p:stCondLst>
                                    <p:cond delay="0"/>
                                  </p:stCondLst>
                                  <p:childTnLst>
                                    <p:set>
                                      <p:cBhvr>
                                        <p:cTn id="149" dur="1" fill="hold">
                                          <p:stCondLst>
                                            <p:cond delay="0"/>
                                          </p:stCondLst>
                                        </p:cTn>
                                        <p:tgtEl>
                                          <p:spTgt spid="360"/>
                                        </p:tgtEl>
                                        <p:attrNameLst>
                                          <p:attrName>style.visibility</p:attrName>
                                        </p:attrNameLst>
                                      </p:cBhvr>
                                      <p:to>
                                        <p:strVal val="visible"/>
                                      </p:to>
                                    </p:set>
                                    <p:animEffect transition="in" filter="dissolve">
                                      <p:cBhvr>
                                        <p:cTn id="150" dur="500"/>
                                        <p:tgtEl>
                                          <p:spTgt spid="360"/>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361"/>
                                        </p:tgtEl>
                                        <p:attrNameLst>
                                          <p:attrName>style.visibility</p:attrName>
                                        </p:attrNameLst>
                                      </p:cBhvr>
                                      <p:to>
                                        <p:strVal val="visible"/>
                                      </p:to>
                                    </p:set>
                                    <p:animEffect transition="in" filter="dissolve">
                                      <p:cBhvr>
                                        <p:cTn id="153" dur="500"/>
                                        <p:tgtEl>
                                          <p:spTgt spid="361"/>
                                        </p:tgtEl>
                                      </p:cBhvr>
                                    </p:animEffect>
                                  </p:childTnLst>
                                </p:cTn>
                              </p:par>
                              <p:par>
                                <p:cTn id="154" presetID="9" presetClass="entr" presetSubtype="0" fill="hold" grpId="0" nodeType="withEffect">
                                  <p:stCondLst>
                                    <p:cond delay="0"/>
                                  </p:stCondLst>
                                  <p:childTnLst>
                                    <p:set>
                                      <p:cBhvr>
                                        <p:cTn id="155" dur="1" fill="hold">
                                          <p:stCondLst>
                                            <p:cond delay="0"/>
                                          </p:stCondLst>
                                        </p:cTn>
                                        <p:tgtEl>
                                          <p:spTgt spid="362"/>
                                        </p:tgtEl>
                                        <p:attrNameLst>
                                          <p:attrName>style.visibility</p:attrName>
                                        </p:attrNameLst>
                                      </p:cBhvr>
                                      <p:to>
                                        <p:strVal val="visible"/>
                                      </p:to>
                                    </p:set>
                                    <p:animEffect transition="in" filter="dissolve">
                                      <p:cBhvr>
                                        <p:cTn id="156" dur="500"/>
                                        <p:tgtEl>
                                          <p:spTgt spid="362"/>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63"/>
                                        </p:tgtEl>
                                        <p:attrNameLst>
                                          <p:attrName>style.visibility</p:attrName>
                                        </p:attrNameLst>
                                      </p:cBhvr>
                                      <p:to>
                                        <p:strVal val="visible"/>
                                      </p:to>
                                    </p:set>
                                    <p:animEffect transition="in" filter="dissolve">
                                      <p:cBhvr>
                                        <p:cTn id="159" dur="500"/>
                                        <p:tgtEl>
                                          <p:spTgt spid="363"/>
                                        </p:tgtEl>
                                      </p:cBhvr>
                                    </p:animEffect>
                                  </p:childTnLst>
                                </p:cTn>
                              </p:par>
                              <p:par>
                                <p:cTn id="160" presetID="9" presetClass="entr" presetSubtype="0" fill="hold" grpId="0" nodeType="withEffect">
                                  <p:stCondLst>
                                    <p:cond delay="0"/>
                                  </p:stCondLst>
                                  <p:childTnLst>
                                    <p:set>
                                      <p:cBhvr>
                                        <p:cTn id="161" dur="1" fill="hold">
                                          <p:stCondLst>
                                            <p:cond delay="0"/>
                                          </p:stCondLst>
                                        </p:cTn>
                                        <p:tgtEl>
                                          <p:spTgt spid="364"/>
                                        </p:tgtEl>
                                        <p:attrNameLst>
                                          <p:attrName>style.visibility</p:attrName>
                                        </p:attrNameLst>
                                      </p:cBhvr>
                                      <p:to>
                                        <p:strVal val="visible"/>
                                      </p:to>
                                    </p:set>
                                    <p:animEffect transition="in" filter="dissolve">
                                      <p:cBhvr>
                                        <p:cTn id="162" dur="500"/>
                                        <p:tgtEl>
                                          <p:spTgt spid="364"/>
                                        </p:tgtEl>
                                      </p:cBhvr>
                                    </p:animEffect>
                                  </p:childTnLst>
                                </p:cTn>
                              </p:par>
                              <p:par>
                                <p:cTn id="163" presetID="9" presetClass="entr" presetSubtype="0" fill="hold" grpId="0" nodeType="withEffect">
                                  <p:stCondLst>
                                    <p:cond delay="0"/>
                                  </p:stCondLst>
                                  <p:childTnLst>
                                    <p:set>
                                      <p:cBhvr>
                                        <p:cTn id="164" dur="1" fill="hold">
                                          <p:stCondLst>
                                            <p:cond delay="0"/>
                                          </p:stCondLst>
                                        </p:cTn>
                                        <p:tgtEl>
                                          <p:spTgt spid="365"/>
                                        </p:tgtEl>
                                        <p:attrNameLst>
                                          <p:attrName>style.visibility</p:attrName>
                                        </p:attrNameLst>
                                      </p:cBhvr>
                                      <p:to>
                                        <p:strVal val="visible"/>
                                      </p:to>
                                    </p:set>
                                    <p:animEffect transition="in" filter="dissolve">
                                      <p:cBhvr>
                                        <p:cTn id="165" dur="500"/>
                                        <p:tgtEl>
                                          <p:spTgt spid="365"/>
                                        </p:tgtEl>
                                      </p:cBhvr>
                                    </p:animEffect>
                                  </p:childTnLst>
                                </p:cTn>
                              </p:par>
                              <p:par>
                                <p:cTn id="166" presetID="9" presetClass="entr" presetSubtype="0" fill="hold" grpId="0" nodeType="withEffect">
                                  <p:stCondLst>
                                    <p:cond delay="0"/>
                                  </p:stCondLst>
                                  <p:childTnLst>
                                    <p:set>
                                      <p:cBhvr>
                                        <p:cTn id="167" dur="1" fill="hold">
                                          <p:stCondLst>
                                            <p:cond delay="0"/>
                                          </p:stCondLst>
                                        </p:cTn>
                                        <p:tgtEl>
                                          <p:spTgt spid="366"/>
                                        </p:tgtEl>
                                        <p:attrNameLst>
                                          <p:attrName>style.visibility</p:attrName>
                                        </p:attrNameLst>
                                      </p:cBhvr>
                                      <p:to>
                                        <p:strVal val="visible"/>
                                      </p:to>
                                    </p:set>
                                    <p:animEffect transition="in" filter="dissolve">
                                      <p:cBhvr>
                                        <p:cTn id="168" dur="500"/>
                                        <p:tgtEl>
                                          <p:spTgt spid="366"/>
                                        </p:tgtEl>
                                      </p:cBhvr>
                                    </p:animEffect>
                                  </p:childTnLst>
                                </p:cTn>
                              </p:par>
                              <p:par>
                                <p:cTn id="169" presetID="9" presetClass="entr" presetSubtype="0" fill="hold" grpId="0" nodeType="withEffect">
                                  <p:stCondLst>
                                    <p:cond delay="0"/>
                                  </p:stCondLst>
                                  <p:childTnLst>
                                    <p:set>
                                      <p:cBhvr>
                                        <p:cTn id="170" dur="1" fill="hold">
                                          <p:stCondLst>
                                            <p:cond delay="0"/>
                                          </p:stCondLst>
                                        </p:cTn>
                                        <p:tgtEl>
                                          <p:spTgt spid="367"/>
                                        </p:tgtEl>
                                        <p:attrNameLst>
                                          <p:attrName>style.visibility</p:attrName>
                                        </p:attrNameLst>
                                      </p:cBhvr>
                                      <p:to>
                                        <p:strVal val="visible"/>
                                      </p:to>
                                    </p:set>
                                    <p:animEffect transition="in" filter="dissolve">
                                      <p:cBhvr>
                                        <p:cTn id="171" dur="500"/>
                                        <p:tgtEl>
                                          <p:spTgt spid="367"/>
                                        </p:tgtEl>
                                      </p:cBhvr>
                                    </p:animEffect>
                                  </p:childTnLst>
                                </p:cTn>
                              </p:par>
                            </p:childTnLst>
                          </p:cTn>
                        </p:par>
                        <p:par>
                          <p:cTn id="172" fill="hold">
                            <p:stCondLst>
                              <p:cond delay="9500"/>
                            </p:stCondLst>
                            <p:childTnLst>
                              <p:par>
                                <p:cTn id="173" presetID="9" presetClass="entr" presetSubtype="0" fill="hold" grpId="0" nodeType="afterEffect">
                                  <p:stCondLst>
                                    <p:cond delay="0"/>
                                  </p:stCondLst>
                                  <p:childTnLst>
                                    <p:set>
                                      <p:cBhvr>
                                        <p:cTn id="174" dur="1" fill="hold">
                                          <p:stCondLst>
                                            <p:cond delay="0"/>
                                          </p:stCondLst>
                                        </p:cTn>
                                        <p:tgtEl>
                                          <p:spTgt spid="371"/>
                                        </p:tgtEl>
                                        <p:attrNameLst>
                                          <p:attrName>style.visibility</p:attrName>
                                        </p:attrNameLst>
                                      </p:cBhvr>
                                      <p:to>
                                        <p:strVal val="visible"/>
                                      </p:to>
                                    </p:set>
                                    <p:animEffect transition="in" filter="dissolve">
                                      <p:cBhvr>
                                        <p:cTn id="175" dur="500"/>
                                        <p:tgtEl>
                                          <p:spTgt spid="371"/>
                                        </p:tgtEl>
                                      </p:cBhvr>
                                    </p:animEffect>
                                  </p:childTnLst>
                                </p:cTn>
                              </p:par>
                            </p:childTnLst>
                          </p:cTn>
                        </p:par>
                        <p:par>
                          <p:cTn id="176" fill="hold">
                            <p:stCondLst>
                              <p:cond delay="10000"/>
                            </p:stCondLst>
                            <p:childTnLst>
                              <p:par>
                                <p:cTn id="177" presetID="9" presetClass="entr" presetSubtype="0" fill="hold" grpId="0" nodeType="afterEffect">
                                  <p:stCondLst>
                                    <p:cond delay="0"/>
                                  </p:stCondLst>
                                  <p:childTnLst>
                                    <p:set>
                                      <p:cBhvr>
                                        <p:cTn id="178" dur="1" fill="hold">
                                          <p:stCondLst>
                                            <p:cond delay="0"/>
                                          </p:stCondLst>
                                        </p:cTn>
                                        <p:tgtEl>
                                          <p:spTgt spid="375"/>
                                        </p:tgtEl>
                                        <p:attrNameLst>
                                          <p:attrName>style.visibility</p:attrName>
                                        </p:attrNameLst>
                                      </p:cBhvr>
                                      <p:to>
                                        <p:strVal val="visible"/>
                                      </p:to>
                                    </p:set>
                                    <p:animEffect transition="in" filter="dissolve">
                                      <p:cBhvr>
                                        <p:cTn id="179" dur="500"/>
                                        <p:tgtEl>
                                          <p:spTgt spid="375"/>
                                        </p:tgtEl>
                                      </p:cBhvr>
                                    </p:animEffect>
                                  </p:childTnLst>
                                </p:cTn>
                              </p:par>
                            </p:childTnLst>
                          </p:cTn>
                        </p:par>
                        <p:par>
                          <p:cTn id="180" fill="hold">
                            <p:stCondLst>
                              <p:cond delay="10500"/>
                            </p:stCondLst>
                            <p:childTnLst>
                              <p:par>
                                <p:cTn id="181" presetID="9" presetClass="entr" presetSubtype="0" fill="hold" grpId="0" nodeType="afterEffect">
                                  <p:stCondLst>
                                    <p:cond delay="0"/>
                                  </p:stCondLst>
                                  <p:childTnLst>
                                    <p:set>
                                      <p:cBhvr>
                                        <p:cTn id="182" dur="1" fill="hold">
                                          <p:stCondLst>
                                            <p:cond delay="0"/>
                                          </p:stCondLst>
                                        </p:cTn>
                                        <p:tgtEl>
                                          <p:spTgt spid="383"/>
                                        </p:tgtEl>
                                        <p:attrNameLst>
                                          <p:attrName>style.visibility</p:attrName>
                                        </p:attrNameLst>
                                      </p:cBhvr>
                                      <p:to>
                                        <p:strVal val="visible"/>
                                      </p:to>
                                    </p:set>
                                    <p:animEffect transition="in" filter="dissolve">
                                      <p:cBhvr>
                                        <p:cTn id="183" dur="500"/>
                                        <p:tgtEl>
                                          <p:spTgt spid="383"/>
                                        </p:tgtEl>
                                      </p:cBhvr>
                                    </p:animEffect>
                                  </p:childTnLst>
                                </p:cTn>
                              </p:par>
                            </p:childTnLst>
                          </p:cTn>
                        </p:par>
                        <p:par>
                          <p:cTn id="184" fill="hold">
                            <p:stCondLst>
                              <p:cond delay="11000"/>
                            </p:stCondLst>
                            <p:childTnLst>
                              <p:par>
                                <p:cTn id="185" presetID="9" presetClass="entr" presetSubtype="0" fill="hold" grpId="0" nodeType="afterEffect">
                                  <p:stCondLst>
                                    <p:cond delay="0"/>
                                  </p:stCondLst>
                                  <p:childTnLst>
                                    <p:set>
                                      <p:cBhvr>
                                        <p:cTn id="186" dur="1" fill="hold">
                                          <p:stCondLst>
                                            <p:cond delay="0"/>
                                          </p:stCondLst>
                                        </p:cTn>
                                        <p:tgtEl>
                                          <p:spTgt spid="183"/>
                                        </p:tgtEl>
                                        <p:attrNameLst>
                                          <p:attrName>style.visibility</p:attrName>
                                        </p:attrNameLst>
                                      </p:cBhvr>
                                      <p:to>
                                        <p:strVal val="visible"/>
                                      </p:to>
                                    </p:set>
                                    <p:animEffect transition="in" filter="dissolve">
                                      <p:cBhvr>
                                        <p:cTn id="18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80" grpId="0" animBg="1"/>
      <p:bldP spid="90" grpId="0" animBg="1"/>
      <p:bldP spid="91" grpId="0" animBg="1"/>
      <p:bldP spid="92" grpId="0" animBg="1"/>
      <p:bldP spid="100" grpId="0" animBg="1"/>
      <p:bldP spid="144" grpId="0"/>
      <p:bldP spid="149" grpId="0" animBg="1"/>
      <p:bldP spid="150" grpId="0" animBg="1"/>
      <p:bldP spid="151" grpId="0" animBg="1"/>
      <p:bldP spid="166" grpId="0"/>
      <p:bldP spid="170" grpId="0"/>
      <p:bldP spid="171" grpId="0"/>
      <p:bldP spid="172" grpId="0"/>
      <p:bldP spid="173" grpId="0"/>
      <p:bldP spid="174" grpId="0"/>
      <p:bldP spid="175" grpId="0"/>
      <p:bldP spid="176" grpId="0"/>
      <p:bldP spid="177" grpId="0"/>
      <p:bldP spid="180" grpId="0"/>
      <p:bldP spid="156" grpId="0" animBg="1"/>
      <p:bldP spid="162" grpId="0" animBg="1"/>
      <p:bldP spid="235" grpId="0" animBg="1"/>
      <p:bldP spid="236" grpId="0" animBg="1"/>
      <p:bldP spid="248" grpId="0" animBg="1"/>
      <p:bldP spid="303" grpId="0"/>
      <p:bldP spid="304" grpId="0"/>
      <p:bldP spid="305" grpId="0"/>
      <p:bldP spid="306" grpId="0"/>
      <p:bldP spid="307" grpId="0"/>
      <p:bldP spid="311" grpId="0"/>
      <p:bldP spid="350" grpId="0" animBg="1"/>
      <p:bldP spid="351" grpId="0" animBg="1"/>
      <p:bldP spid="352" grpId="0" animBg="1"/>
      <p:bldP spid="353" grpId="0" animBg="1"/>
      <p:bldP spid="354" grpId="0" animBg="1"/>
      <p:bldP spid="355" grpId="0" animBg="1"/>
      <p:bldP spid="356" grpId="0" animBg="1"/>
      <p:bldP spid="357" grpId="0" animBg="1"/>
      <p:bldP spid="358" grpId="0" animBg="1"/>
      <p:bldP spid="359" grpId="0"/>
      <p:bldP spid="360" grpId="0"/>
      <p:bldP spid="361" grpId="0"/>
      <p:bldP spid="362" grpId="0"/>
      <p:bldP spid="363" grpId="0"/>
      <p:bldP spid="364" grpId="0"/>
      <p:bldP spid="365" grpId="0"/>
      <p:bldP spid="366" grpId="0"/>
      <p:bldP spid="367" grpId="0"/>
      <p:bldP spid="371" grpId="0"/>
      <p:bldP spid="375" grpId="0"/>
      <p:bldP spid="383" grpId="0"/>
      <p:bldP spid="18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42222" y="94925"/>
            <a:ext cx="5200339" cy="670967"/>
          </a:xfrm>
        </p:spPr>
        <p:txBody>
          <a:bodyPr>
            <a:normAutofit fontScale="90000"/>
          </a:bodyPr>
          <a:lstStyle/>
          <a:p>
            <a:r>
              <a:rPr lang="en-US" sz="3600" dirty="0">
                <a:latin typeface="Avenir Book" panose="020B0503020203020204" pitchFamily="34" charset="-78"/>
                <a:cs typeface="Avenir Book" panose="020B0503020203020204" pitchFamily="34" charset="-78"/>
              </a:rPr>
              <a:t>TCP Congestion Avoidance</a:t>
            </a:r>
            <a:endParaRPr lang="en-US" sz="3300" dirty="0">
              <a:latin typeface="Avenir Book" panose="020B0503020203020204" pitchFamily="34" charset="-78"/>
              <a:cs typeface="Avenir Book" panose="020B0503020203020204" pitchFamily="34" charset="-78"/>
            </a:endParaRPr>
          </a:p>
        </p:txBody>
      </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92750" y="734465"/>
            <a:ext cx="5753821" cy="535745"/>
          </a:xfrm>
          <a:prstGeom prst="rect">
            <a:avLst/>
          </a:prstGeom>
        </p:spPr>
        <p:txBody>
          <a:bodyPr vert="horz" lIns="68580" tIns="34290" rIns="68580" bIns="34290" rtlCol="0">
            <a:normAutofit fontScale="850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Avenir Book" panose="020B0503020203020204" pitchFamily="34" charset="-78"/>
                <a:cs typeface="Avenir Book" panose="020B0503020203020204" pitchFamily="34" charset="-78"/>
              </a:rPr>
              <a:t>After </a:t>
            </a:r>
            <a:r>
              <a:rPr lang="en-US" sz="2400" dirty="0" err="1">
                <a:solidFill>
                  <a:prstClr val="black"/>
                </a:solidFill>
                <a:latin typeface="Avenir Book" panose="020B0503020203020204" pitchFamily="34" charset="-78"/>
                <a:cs typeface="Avenir Book" panose="020B0503020203020204" pitchFamily="34" charset="-78"/>
              </a:rPr>
              <a:t>ssthresh</a:t>
            </a:r>
            <a:r>
              <a:rPr lang="en-US" sz="2400" dirty="0">
                <a:solidFill>
                  <a:prstClr val="black"/>
                </a:solidFill>
                <a:latin typeface="Avenir Book" panose="020B0503020203020204" pitchFamily="34" charset="-78"/>
                <a:cs typeface="Avenir Book" panose="020B0503020203020204" pitchFamily="34" charset="-78"/>
              </a:rPr>
              <a:t>, reduce the rate of CW increase</a:t>
            </a:r>
          </a:p>
        </p:txBody>
      </p:sp>
      <mc:AlternateContent xmlns:mc="http://schemas.openxmlformats.org/markup-compatibility/2006" xmlns:a14="http://schemas.microsoft.com/office/drawing/2010/main">
        <mc:Choice Requires="a14">
          <p:sp>
            <p:nvSpPr>
              <p:cNvPr id="293" name="TextBox 292"/>
              <p:cNvSpPr txBox="1"/>
              <p:nvPr/>
            </p:nvSpPr>
            <p:spPr>
              <a:xfrm>
                <a:off x="6251468" y="302104"/>
                <a:ext cx="2733478" cy="1186094"/>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Upon every ACK</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 CW + MSS </a:t>
                </a:r>
                <a14:m>
                  <m:oMath xmlns:m="http://schemas.openxmlformats.org/officeDocument/2006/math">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t>
                    </m:r>
                    <m:f>
                      <m:fPr>
                        <m:ctrlPr>
                          <a:rPr lang="en-IN" altLang="en-US" b="0"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MSS</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cwnd</m:t>
                        </m:r>
                      </m:den>
                    </m:f>
                  </m:oMath>
                </a14:m>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CW +</a:t>
                </a:r>
                <a14:m>
                  <m:oMath xmlns:m="http://schemas.openxmlformats.org/officeDocument/2006/math">
                    <m:f>
                      <m:fPr>
                        <m:ctrlPr>
                          <a:rPr lang="en-US" altLang="en-US"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1</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m:t>
                        </m:r>
                      </m:den>
                    </m:f>
                  </m:oMath>
                </a14:m>
                <a:endParaRPr lang="en-IN" dirty="0">
                  <a:solidFill>
                    <a:srgbClr val="0000FF"/>
                  </a:solidFill>
                  <a:latin typeface="Avenir Book" panose="020B0503020203020204" pitchFamily="34" charset="-78"/>
                  <a:cs typeface="Avenir Book" panose="020B0503020203020204" pitchFamily="34" charset="-78"/>
                </a:endParaRPr>
              </a:p>
            </p:txBody>
          </p:sp>
        </mc:Choice>
        <mc:Fallback xmlns="">
          <p:sp>
            <p:nvSpPr>
              <p:cNvPr id="293" name="TextBox 292"/>
              <p:cNvSpPr txBox="1">
                <a:spLocks noRot="1" noChangeAspect="1" noMove="1" noResize="1" noEditPoints="1" noAdjustHandles="1" noChangeArrowheads="1" noChangeShapeType="1" noTextEdit="1"/>
              </p:cNvSpPr>
              <p:nvPr/>
            </p:nvSpPr>
            <p:spPr>
              <a:xfrm>
                <a:off x="6251468" y="302104"/>
                <a:ext cx="2733478" cy="1186094"/>
              </a:xfrm>
              <a:prstGeom prst="rect">
                <a:avLst/>
              </a:prstGeom>
              <a:blipFill>
                <a:blip r:embed="rId3"/>
                <a:stretch>
                  <a:fillRect l="-667" t="-4082" b="-2041"/>
                </a:stretch>
              </a:blipFill>
              <a:ln cap="rnd">
                <a:solidFill>
                  <a:srgbClr val="C00000"/>
                </a:solidFill>
              </a:ln>
            </p:spPr>
            <p:txBody>
              <a:bodyPr/>
              <a:lstStyle/>
              <a:p>
                <a:r>
                  <a:rPr lang="en-IN">
                    <a:noFill/>
                  </a:rPr>
                  <a:t> </a:t>
                </a:r>
              </a:p>
            </p:txBody>
          </p:sp>
        </mc:Fallback>
      </mc:AlternateContent>
      <p:sp>
        <p:nvSpPr>
          <p:cNvPr id="146" name="Line 14">
            <a:extLst>
              <a:ext uri="{FF2B5EF4-FFF2-40B4-BE49-F238E27FC236}">
                <a16:creationId xmlns:a16="http://schemas.microsoft.com/office/drawing/2014/main" id="{3E685DEE-2DB5-5740-BE6F-2C74E54E1F41}"/>
              </a:ext>
            </a:extLst>
          </p:cNvPr>
          <p:cNvSpPr>
            <a:spLocks noChangeShapeType="1"/>
          </p:cNvSpPr>
          <p:nvPr/>
        </p:nvSpPr>
        <p:spPr bwMode="auto">
          <a:xfrm>
            <a:off x="11817931" y="875799"/>
            <a:ext cx="0" cy="423234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56" name="Line 37">
            <a:extLst>
              <a:ext uri="{FF2B5EF4-FFF2-40B4-BE49-F238E27FC236}">
                <a16:creationId xmlns:a16="http://schemas.microsoft.com/office/drawing/2014/main" id="{87F3997F-AC6F-E94C-BDDA-D675458BE183}"/>
              </a:ext>
            </a:extLst>
          </p:cNvPr>
          <p:cNvSpPr>
            <a:spLocks noChangeShapeType="1"/>
          </p:cNvSpPr>
          <p:nvPr/>
        </p:nvSpPr>
        <p:spPr bwMode="auto">
          <a:xfrm>
            <a:off x="9706431" y="1434499"/>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0" name="Line 14">
            <a:extLst>
              <a:ext uri="{FF2B5EF4-FFF2-40B4-BE49-F238E27FC236}">
                <a16:creationId xmlns:a16="http://schemas.microsoft.com/office/drawing/2014/main" id="{7310A5FB-4554-E045-9214-7084F7E862DB}"/>
              </a:ext>
            </a:extLst>
          </p:cNvPr>
          <p:cNvSpPr>
            <a:spLocks noChangeShapeType="1"/>
          </p:cNvSpPr>
          <p:nvPr/>
        </p:nvSpPr>
        <p:spPr bwMode="auto">
          <a:xfrm>
            <a:off x="9658931" y="710699"/>
            <a:ext cx="33850" cy="433829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6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70" y="959444"/>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35" name="Line 24">
            <a:extLst>
              <a:ext uri="{FF2B5EF4-FFF2-40B4-BE49-F238E27FC236}">
                <a16:creationId xmlns:a16="http://schemas.microsoft.com/office/drawing/2014/main" id="{E42793DA-B54F-8A4A-B169-AADC48D8492B}"/>
              </a:ext>
            </a:extLst>
          </p:cNvPr>
          <p:cNvSpPr>
            <a:spLocks noChangeShapeType="1"/>
          </p:cNvSpPr>
          <p:nvPr/>
        </p:nvSpPr>
        <p:spPr bwMode="auto">
          <a:xfrm>
            <a:off x="9700081" y="1705242"/>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36" name="Line 24">
            <a:extLst>
              <a:ext uri="{FF2B5EF4-FFF2-40B4-BE49-F238E27FC236}">
                <a16:creationId xmlns:a16="http://schemas.microsoft.com/office/drawing/2014/main" id="{E42793DA-B54F-8A4A-B169-AADC48D8492B}"/>
              </a:ext>
            </a:extLst>
          </p:cNvPr>
          <p:cNvSpPr>
            <a:spLocks noChangeShapeType="1"/>
          </p:cNvSpPr>
          <p:nvPr/>
        </p:nvSpPr>
        <p:spPr bwMode="auto">
          <a:xfrm>
            <a:off x="9692045" y="2127276"/>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48" name="Line 24">
            <a:extLst>
              <a:ext uri="{FF2B5EF4-FFF2-40B4-BE49-F238E27FC236}">
                <a16:creationId xmlns:a16="http://schemas.microsoft.com/office/drawing/2014/main" id="{E42793DA-B54F-8A4A-B169-AADC48D8492B}"/>
              </a:ext>
            </a:extLst>
          </p:cNvPr>
          <p:cNvSpPr>
            <a:spLocks noChangeShapeType="1"/>
          </p:cNvSpPr>
          <p:nvPr/>
        </p:nvSpPr>
        <p:spPr bwMode="auto">
          <a:xfrm>
            <a:off x="9676270" y="242073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0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61066" y="151344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45150" y="1808278"/>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06852" y="2198823"/>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871601" y="2511028"/>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0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597017" y="1238142"/>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A4</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12"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9341804" y="54765"/>
            <a:ext cx="710452"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A</a:t>
            </a:r>
          </a:p>
        </p:txBody>
      </p:sp>
      <p:grpSp>
        <p:nvGrpSpPr>
          <p:cNvPr id="313" name="Group 43">
            <a:extLst>
              <a:ext uri="{FF2B5EF4-FFF2-40B4-BE49-F238E27FC236}">
                <a16:creationId xmlns:a16="http://schemas.microsoft.com/office/drawing/2014/main" id="{D0982D30-E871-F344-B80E-157861960777}"/>
              </a:ext>
            </a:extLst>
          </p:cNvPr>
          <p:cNvGrpSpPr>
            <a:grpSpLocks/>
          </p:cNvGrpSpPr>
          <p:nvPr/>
        </p:nvGrpSpPr>
        <p:grpSpPr bwMode="auto">
          <a:xfrm>
            <a:off x="9341031" y="297654"/>
            <a:ext cx="490538" cy="451247"/>
            <a:chOff x="-44" y="1473"/>
            <a:chExt cx="981" cy="1105"/>
          </a:xfrm>
        </p:grpSpPr>
        <p:pic>
          <p:nvPicPr>
            <p:cNvPr id="31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316"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11469760" y="11947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Host B</a:t>
            </a:r>
          </a:p>
        </p:txBody>
      </p:sp>
      <p:grpSp>
        <p:nvGrpSpPr>
          <p:cNvPr id="317" name="Group 46">
            <a:extLst>
              <a:ext uri="{FF2B5EF4-FFF2-40B4-BE49-F238E27FC236}">
                <a16:creationId xmlns:a16="http://schemas.microsoft.com/office/drawing/2014/main" id="{514EF769-BED4-DE47-BE55-0913ABFB155D}"/>
              </a:ext>
            </a:extLst>
          </p:cNvPr>
          <p:cNvGrpSpPr>
            <a:grpSpLocks/>
          </p:cNvGrpSpPr>
          <p:nvPr/>
        </p:nvGrpSpPr>
        <p:grpSpPr bwMode="auto">
          <a:xfrm>
            <a:off x="11689621" y="383791"/>
            <a:ext cx="286941" cy="410765"/>
            <a:chOff x="4140" y="429"/>
            <a:chExt cx="1425" cy="2396"/>
          </a:xfrm>
        </p:grpSpPr>
        <p:sp>
          <p:nvSpPr>
            <p:cNvPr id="318"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19"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20"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21"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22"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3"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348"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9"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4"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5"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346"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7"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6"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27"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328"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344"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5"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29"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330"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342"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3"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31"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2"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3"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4"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5"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36"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7"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8"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39"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340"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41"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50"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86418" y="1934175"/>
            <a:ext cx="2098914" cy="84151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1"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84009" y="2204607"/>
            <a:ext cx="2139136"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2"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69" y="2652863"/>
            <a:ext cx="2117133" cy="110937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3"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9676269" y="2966775"/>
            <a:ext cx="2125150" cy="1341537"/>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4" name="Line 24">
            <a:extLst>
              <a:ext uri="{FF2B5EF4-FFF2-40B4-BE49-F238E27FC236}">
                <a16:creationId xmlns:a16="http://schemas.microsoft.com/office/drawing/2014/main" id="{E42793DA-B54F-8A4A-B169-AADC48D8492B}"/>
              </a:ext>
            </a:extLst>
          </p:cNvPr>
          <p:cNvSpPr>
            <a:spLocks noChangeShapeType="1"/>
          </p:cNvSpPr>
          <p:nvPr/>
        </p:nvSpPr>
        <p:spPr bwMode="auto">
          <a:xfrm>
            <a:off x="9706431" y="284207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5" name="Line 24">
            <a:extLst>
              <a:ext uri="{FF2B5EF4-FFF2-40B4-BE49-F238E27FC236}">
                <a16:creationId xmlns:a16="http://schemas.microsoft.com/office/drawing/2014/main" id="{E42793DA-B54F-8A4A-B169-AADC48D8492B}"/>
              </a:ext>
            </a:extLst>
          </p:cNvPr>
          <p:cNvSpPr>
            <a:spLocks noChangeShapeType="1"/>
          </p:cNvSpPr>
          <p:nvPr/>
        </p:nvSpPr>
        <p:spPr bwMode="auto">
          <a:xfrm>
            <a:off x="9698700" y="3372417"/>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6" name="Line 24">
            <a:extLst>
              <a:ext uri="{FF2B5EF4-FFF2-40B4-BE49-F238E27FC236}">
                <a16:creationId xmlns:a16="http://schemas.microsoft.com/office/drawing/2014/main" id="{E42793DA-B54F-8A4A-B169-AADC48D8492B}"/>
              </a:ext>
            </a:extLst>
          </p:cNvPr>
          <p:cNvSpPr>
            <a:spLocks noChangeShapeType="1"/>
          </p:cNvSpPr>
          <p:nvPr/>
        </p:nvSpPr>
        <p:spPr bwMode="auto">
          <a:xfrm>
            <a:off x="9684009" y="3818223"/>
            <a:ext cx="2139136" cy="48657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7" name="Line 24">
            <a:extLst>
              <a:ext uri="{FF2B5EF4-FFF2-40B4-BE49-F238E27FC236}">
                <a16:creationId xmlns:a16="http://schemas.microsoft.com/office/drawing/2014/main" id="{E42793DA-B54F-8A4A-B169-AADC48D8492B}"/>
              </a:ext>
            </a:extLst>
          </p:cNvPr>
          <p:cNvSpPr>
            <a:spLocks noChangeShapeType="1"/>
          </p:cNvSpPr>
          <p:nvPr/>
        </p:nvSpPr>
        <p:spPr bwMode="auto">
          <a:xfrm>
            <a:off x="9697735" y="4378935"/>
            <a:ext cx="1726384" cy="39945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58" name="Line 24">
            <a:extLst>
              <a:ext uri="{FF2B5EF4-FFF2-40B4-BE49-F238E27FC236}">
                <a16:creationId xmlns:a16="http://schemas.microsoft.com/office/drawing/2014/main" id="{E42793DA-B54F-8A4A-B169-AADC48D8492B}"/>
              </a:ext>
            </a:extLst>
          </p:cNvPr>
          <p:cNvSpPr>
            <a:spLocks noChangeShapeType="1"/>
          </p:cNvSpPr>
          <p:nvPr/>
        </p:nvSpPr>
        <p:spPr bwMode="auto">
          <a:xfrm>
            <a:off x="9680513" y="4679652"/>
            <a:ext cx="1737940" cy="376220"/>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36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12182" y="2730148"/>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63717" y="3193437"/>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19744017">
            <a:off x="10198403" y="3629536"/>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1085777" y="297096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1059023" y="347742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B9</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982319" y="3921591"/>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B10</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658570" y="4416394"/>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594850" y="4712188"/>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82" name="Line 6">
            <a:extLst>
              <a:ext uri="{FF2B5EF4-FFF2-40B4-BE49-F238E27FC236}">
                <a16:creationId xmlns:a16="http://schemas.microsoft.com/office/drawing/2014/main" id="{6A528287-EE91-2148-8BF9-9042AB1CFB64}"/>
              </a:ext>
            </a:extLst>
          </p:cNvPr>
          <p:cNvSpPr>
            <a:spLocks noChangeShapeType="1"/>
          </p:cNvSpPr>
          <p:nvPr/>
        </p:nvSpPr>
        <p:spPr bwMode="auto">
          <a:xfrm>
            <a:off x="2007350" y="2152286"/>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83"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1683921" y="1298606"/>
            <a:ext cx="694485"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A</a:t>
            </a:r>
          </a:p>
        </p:txBody>
      </p:sp>
      <p:sp>
        <p:nvSpPr>
          <p:cNvPr id="28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2732576" y="2114624"/>
            <a:ext cx="965329"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one segment</a:t>
            </a:r>
            <a:endParaRPr lang="en-US" sz="750" dirty="0">
              <a:solidFill>
                <a:srgbClr val="000000"/>
              </a:solidFill>
              <a:latin typeface="Times New Roman" charset="0"/>
            </a:endParaRPr>
          </a:p>
        </p:txBody>
      </p:sp>
      <p:sp>
        <p:nvSpPr>
          <p:cNvPr id="285"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3506752" y="128789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B</a:t>
            </a:r>
          </a:p>
        </p:txBody>
      </p:sp>
      <p:sp>
        <p:nvSpPr>
          <p:cNvPr id="286" name="Line 13">
            <a:extLst>
              <a:ext uri="{FF2B5EF4-FFF2-40B4-BE49-F238E27FC236}">
                <a16:creationId xmlns:a16="http://schemas.microsoft.com/office/drawing/2014/main" id="{A18AC8EC-DBD1-E34E-B3EA-D3876A530333}"/>
              </a:ext>
            </a:extLst>
          </p:cNvPr>
          <p:cNvSpPr>
            <a:spLocks noChangeShapeType="1"/>
          </p:cNvSpPr>
          <p:nvPr/>
        </p:nvSpPr>
        <p:spPr bwMode="auto">
          <a:xfrm>
            <a:off x="2003778" y="2012982"/>
            <a:ext cx="7144" cy="2466369"/>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87" name="Line 14">
            <a:extLst>
              <a:ext uri="{FF2B5EF4-FFF2-40B4-BE49-F238E27FC236}">
                <a16:creationId xmlns:a16="http://schemas.microsoft.com/office/drawing/2014/main" id="{77B3310E-1B60-414E-9423-328982307B1D}"/>
              </a:ext>
            </a:extLst>
          </p:cNvPr>
          <p:cNvSpPr>
            <a:spLocks noChangeShapeType="1"/>
          </p:cNvSpPr>
          <p:nvPr/>
        </p:nvSpPr>
        <p:spPr bwMode="auto">
          <a:xfrm>
            <a:off x="3889728" y="2041558"/>
            <a:ext cx="11314" cy="2283806"/>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288" name="Group 287">
            <a:extLst>
              <a:ext uri="{FF2B5EF4-FFF2-40B4-BE49-F238E27FC236}">
                <a16:creationId xmlns:a16="http://schemas.microsoft.com/office/drawing/2014/main" id="{E69B56F2-B7D2-5247-8C5B-11CDFE50D6C7}"/>
              </a:ext>
            </a:extLst>
          </p:cNvPr>
          <p:cNvGrpSpPr/>
          <p:nvPr/>
        </p:nvGrpSpPr>
        <p:grpSpPr>
          <a:xfrm>
            <a:off x="1747035" y="2124901"/>
            <a:ext cx="253916" cy="622697"/>
            <a:chOff x="7237996" y="2270077"/>
            <a:chExt cx="338555" cy="830263"/>
          </a:xfrm>
        </p:grpSpPr>
        <p:sp>
          <p:nvSpPr>
            <p:cNvPr id="289"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290"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1"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92"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1989491" y="2455895"/>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97" name="Group 296">
            <a:extLst>
              <a:ext uri="{FF2B5EF4-FFF2-40B4-BE49-F238E27FC236}">
                <a16:creationId xmlns:a16="http://schemas.microsoft.com/office/drawing/2014/main" id="{4100408E-3418-754E-97D5-873085045522}"/>
              </a:ext>
            </a:extLst>
          </p:cNvPr>
          <p:cNvGrpSpPr/>
          <p:nvPr/>
        </p:nvGrpSpPr>
        <p:grpSpPr>
          <a:xfrm>
            <a:off x="2007350" y="2738073"/>
            <a:ext cx="1882379" cy="328613"/>
            <a:chOff x="7585075" y="3087640"/>
            <a:chExt cx="2509838" cy="438150"/>
          </a:xfrm>
        </p:grpSpPr>
        <p:sp>
          <p:nvSpPr>
            <p:cNvPr id="298"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9"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00" name="Group 299">
            <a:extLst>
              <a:ext uri="{FF2B5EF4-FFF2-40B4-BE49-F238E27FC236}">
                <a16:creationId xmlns:a16="http://schemas.microsoft.com/office/drawing/2014/main" id="{C604703D-5DBE-F940-8D53-F844A095856D}"/>
              </a:ext>
            </a:extLst>
          </p:cNvPr>
          <p:cNvGrpSpPr/>
          <p:nvPr/>
        </p:nvGrpSpPr>
        <p:grpSpPr>
          <a:xfrm>
            <a:off x="1987110" y="3195272"/>
            <a:ext cx="1916906" cy="375046"/>
            <a:chOff x="7558088" y="3697240"/>
            <a:chExt cx="2555875" cy="500062"/>
          </a:xfrm>
        </p:grpSpPr>
        <p:sp>
          <p:nvSpPr>
            <p:cNvPr id="301"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02"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844876"/>
              <a:ext cx="2505075" cy="352426"/>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384"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2731930" y="2703983"/>
            <a:ext cx="101662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two segments</a:t>
            </a:r>
            <a:endParaRPr lang="en-US" sz="750" dirty="0">
              <a:solidFill>
                <a:srgbClr val="000000"/>
              </a:solidFill>
              <a:latin typeface="Times New Roman" charset="0"/>
            </a:endParaRPr>
          </a:p>
        </p:txBody>
      </p:sp>
      <p:sp>
        <p:nvSpPr>
          <p:cNvPr id="385"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2800482" y="3464792"/>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four segments</a:t>
            </a:r>
            <a:endParaRPr lang="en-US" sz="750" dirty="0">
              <a:solidFill>
                <a:srgbClr val="000000"/>
              </a:solidFill>
              <a:latin typeface="Times New Roman" charset="0"/>
            </a:endParaRPr>
          </a:p>
        </p:txBody>
      </p:sp>
      <p:grpSp>
        <p:nvGrpSpPr>
          <p:cNvPr id="386" name="Group 27">
            <a:extLst>
              <a:ext uri="{FF2B5EF4-FFF2-40B4-BE49-F238E27FC236}">
                <a16:creationId xmlns:a16="http://schemas.microsoft.com/office/drawing/2014/main" id="{B634F089-4244-B04A-8749-7ACF0E0264A8}"/>
              </a:ext>
            </a:extLst>
          </p:cNvPr>
          <p:cNvGrpSpPr>
            <a:grpSpLocks/>
          </p:cNvGrpSpPr>
          <p:nvPr/>
        </p:nvGrpSpPr>
        <p:grpSpPr bwMode="auto">
          <a:xfrm>
            <a:off x="2003781" y="3491739"/>
            <a:ext cx="1889522" cy="489347"/>
            <a:chOff x="3954" y="2214"/>
            <a:chExt cx="1587" cy="411"/>
          </a:xfrm>
        </p:grpSpPr>
        <p:sp>
          <p:nvSpPr>
            <p:cNvPr id="387"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8"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9"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0"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1" name="Group 32">
            <a:extLst>
              <a:ext uri="{FF2B5EF4-FFF2-40B4-BE49-F238E27FC236}">
                <a16:creationId xmlns:a16="http://schemas.microsoft.com/office/drawing/2014/main" id="{00C5C000-11E9-BE42-9849-B1B7B9E99FE0}"/>
              </a:ext>
            </a:extLst>
          </p:cNvPr>
          <p:cNvGrpSpPr>
            <a:grpSpLocks/>
          </p:cNvGrpSpPr>
          <p:nvPr/>
        </p:nvGrpSpPr>
        <p:grpSpPr bwMode="auto">
          <a:xfrm flipV="1">
            <a:off x="1986862" y="3777487"/>
            <a:ext cx="1902866" cy="453629"/>
            <a:chOff x="3954" y="2214"/>
            <a:chExt cx="1587" cy="411"/>
          </a:xfrm>
        </p:grpSpPr>
        <p:sp>
          <p:nvSpPr>
            <p:cNvPr id="392"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3"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4"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5"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6" name="Group 43">
            <a:extLst>
              <a:ext uri="{FF2B5EF4-FFF2-40B4-BE49-F238E27FC236}">
                <a16:creationId xmlns:a16="http://schemas.microsoft.com/office/drawing/2014/main" id="{D0982D30-E871-F344-B80E-157861960777}"/>
              </a:ext>
            </a:extLst>
          </p:cNvPr>
          <p:cNvGrpSpPr>
            <a:grpSpLocks/>
          </p:cNvGrpSpPr>
          <p:nvPr/>
        </p:nvGrpSpPr>
        <p:grpSpPr bwMode="auto">
          <a:xfrm>
            <a:off x="1675165" y="1541495"/>
            <a:ext cx="490538" cy="451247"/>
            <a:chOff x="-44" y="1473"/>
            <a:chExt cx="981" cy="1105"/>
          </a:xfrm>
        </p:grpSpPr>
        <p:pic>
          <p:nvPicPr>
            <p:cNvPr id="397"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399" name="Group 46">
            <a:extLst>
              <a:ext uri="{FF2B5EF4-FFF2-40B4-BE49-F238E27FC236}">
                <a16:creationId xmlns:a16="http://schemas.microsoft.com/office/drawing/2014/main" id="{514EF769-BED4-DE47-BE55-0913ABFB155D}"/>
              </a:ext>
            </a:extLst>
          </p:cNvPr>
          <p:cNvGrpSpPr>
            <a:grpSpLocks/>
          </p:cNvGrpSpPr>
          <p:nvPr/>
        </p:nvGrpSpPr>
        <p:grpSpPr bwMode="auto">
          <a:xfrm>
            <a:off x="3726613" y="1552211"/>
            <a:ext cx="286941" cy="410765"/>
            <a:chOff x="4140" y="429"/>
            <a:chExt cx="1425" cy="2396"/>
          </a:xfrm>
        </p:grpSpPr>
        <p:sp>
          <p:nvSpPr>
            <p:cNvPr id="400"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1"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2"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3"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4"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5"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430"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1"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6"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7"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428"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9"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8"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9"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10"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426"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7"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1"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412"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424"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5"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3"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4"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5"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6"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7"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8"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9"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0"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1"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422"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3"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2" name="Group 431">
            <a:extLst>
              <a:ext uri="{FF2B5EF4-FFF2-40B4-BE49-F238E27FC236}">
                <a16:creationId xmlns:a16="http://schemas.microsoft.com/office/drawing/2014/main" id="{E69B56F2-B7D2-5247-8C5B-11CDFE50D6C7}"/>
              </a:ext>
            </a:extLst>
          </p:cNvPr>
          <p:cNvGrpSpPr/>
          <p:nvPr/>
        </p:nvGrpSpPr>
        <p:grpSpPr>
          <a:xfrm>
            <a:off x="1768111" y="2897322"/>
            <a:ext cx="253916" cy="622697"/>
            <a:chOff x="7237996" y="2270077"/>
            <a:chExt cx="338555" cy="830263"/>
          </a:xfrm>
        </p:grpSpPr>
        <p:sp>
          <p:nvSpPr>
            <p:cNvPr id="433"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4"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5"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6" name="Group 435">
            <a:extLst>
              <a:ext uri="{FF2B5EF4-FFF2-40B4-BE49-F238E27FC236}">
                <a16:creationId xmlns:a16="http://schemas.microsoft.com/office/drawing/2014/main" id="{E69B56F2-B7D2-5247-8C5B-11CDFE50D6C7}"/>
              </a:ext>
            </a:extLst>
          </p:cNvPr>
          <p:cNvGrpSpPr/>
          <p:nvPr/>
        </p:nvGrpSpPr>
        <p:grpSpPr>
          <a:xfrm>
            <a:off x="1785916" y="3600032"/>
            <a:ext cx="253916" cy="622697"/>
            <a:chOff x="7237996" y="2270077"/>
            <a:chExt cx="338555" cy="830263"/>
          </a:xfrm>
        </p:grpSpPr>
        <p:sp>
          <p:nvSpPr>
            <p:cNvPr id="43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8"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9"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41"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93705" y="2041557"/>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1</a:t>
            </a:r>
          </a:p>
        </p:txBody>
      </p:sp>
      <p:sp>
        <p:nvSpPr>
          <p:cNvPr id="442"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70264" y="2594841"/>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2</a:t>
            </a:r>
          </a:p>
        </p:txBody>
      </p:sp>
      <p:sp>
        <p:nvSpPr>
          <p:cNvPr id="44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8650" y="3379328"/>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a:t>
            </a:r>
          </a:p>
        </p:txBody>
      </p:sp>
      <p:sp>
        <p:nvSpPr>
          <p:cNvPr id="44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1287" y="4048364"/>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5</a:t>
            </a:r>
          </a:p>
        </p:txBody>
      </p:sp>
      <p:sp>
        <p:nvSpPr>
          <p:cNvPr id="445" name="TextBox 444"/>
          <p:cNvSpPr txBox="1"/>
          <p:nvPr/>
        </p:nvSpPr>
        <p:spPr>
          <a:xfrm>
            <a:off x="458404" y="4760393"/>
            <a:ext cx="8274654" cy="369332"/>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After 1 RTT, the CW is approx. increasing by 1 MSS </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Congestion avoidance</a:t>
            </a:r>
            <a:endParaRPr lang="en-IN" dirty="0">
              <a:solidFill>
                <a:srgbClr val="0000FF"/>
              </a:solidFill>
              <a:latin typeface="Avenir Book" panose="020B0503020203020204" pitchFamily="34" charset="-78"/>
              <a:cs typeface="Avenir Book" panose="020B0503020203020204" pitchFamily="34" charset="-78"/>
            </a:endParaRPr>
          </a:p>
        </p:txBody>
      </p:sp>
      <p:grpSp>
        <p:nvGrpSpPr>
          <p:cNvPr id="193" name="Group 65">
            <a:extLst>
              <a:ext uri="{FF2B5EF4-FFF2-40B4-BE49-F238E27FC236}">
                <a16:creationId xmlns:a16="http://schemas.microsoft.com/office/drawing/2014/main" id="{931A5080-440D-784B-A586-03D399A7E982}"/>
              </a:ext>
            </a:extLst>
          </p:cNvPr>
          <p:cNvGrpSpPr>
            <a:grpSpLocks/>
          </p:cNvGrpSpPr>
          <p:nvPr/>
        </p:nvGrpSpPr>
        <p:grpSpPr bwMode="auto">
          <a:xfrm>
            <a:off x="7221410" y="2734549"/>
            <a:ext cx="2519295" cy="307975"/>
            <a:chOff x="-169" y="956"/>
            <a:chExt cx="1054" cy="194"/>
          </a:xfrm>
        </p:grpSpPr>
        <p:sp>
          <p:nvSpPr>
            <p:cNvPr id="194"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15" y="960"/>
              <a:ext cx="24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95"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69" y="956"/>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5 6 7 8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9 10 11 12 13 </a:t>
              </a:r>
            </a:p>
          </p:txBody>
        </p:sp>
      </p:grpSp>
      <p:sp>
        <p:nvSpPr>
          <p:cNvPr id="196"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02065" y="2727082"/>
            <a:ext cx="1284326"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+ 1/4</a:t>
            </a:r>
          </a:p>
        </p:txBody>
      </p:sp>
      <p:grpSp>
        <p:nvGrpSpPr>
          <p:cNvPr id="197" name="Group 65">
            <a:extLst>
              <a:ext uri="{FF2B5EF4-FFF2-40B4-BE49-F238E27FC236}">
                <a16:creationId xmlns:a16="http://schemas.microsoft.com/office/drawing/2014/main" id="{931A5080-440D-784B-A586-03D399A7E982}"/>
              </a:ext>
            </a:extLst>
          </p:cNvPr>
          <p:cNvGrpSpPr>
            <a:grpSpLocks/>
          </p:cNvGrpSpPr>
          <p:nvPr/>
        </p:nvGrpSpPr>
        <p:grpSpPr bwMode="auto">
          <a:xfrm>
            <a:off x="7215991" y="3261361"/>
            <a:ext cx="2519295" cy="307977"/>
            <a:chOff x="-173" y="951"/>
            <a:chExt cx="1054" cy="194"/>
          </a:xfrm>
        </p:grpSpPr>
        <p:sp>
          <p:nvSpPr>
            <p:cNvPr id="198"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75" y="960"/>
              <a:ext cx="243"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99"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3" y="951"/>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6 7 8 9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10 11 12 13 </a:t>
              </a:r>
            </a:p>
          </p:txBody>
        </p:sp>
      </p:grpSp>
      <p:sp>
        <p:nvSpPr>
          <p:cNvPr id="200"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06207" y="3261823"/>
            <a:ext cx="1284326"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+ 2/4</a:t>
            </a:r>
          </a:p>
        </p:txBody>
      </p:sp>
      <p:grpSp>
        <p:nvGrpSpPr>
          <p:cNvPr id="201" name="Group 65">
            <a:extLst>
              <a:ext uri="{FF2B5EF4-FFF2-40B4-BE49-F238E27FC236}">
                <a16:creationId xmlns:a16="http://schemas.microsoft.com/office/drawing/2014/main" id="{931A5080-440D-784B-A586-03D399A7E982}"/>
              </a:ext>
            </a:extLst>
          </p:cNvPr>
          <p:cNvGrpSpPr>
            <a:grpSpLocks/>
          </p:cNvGrpSpPr>
          <p:nvPr/>
        </p:nvGrpSpPr>
        <p:grpSpPr bwMode="auto">
          <a:xfrm>
            <a:off x="7221410" y="3718824"/>
            <a:ext cx="2519295" cy="307976"/>
            <a:chOff x="-177" y="968"/>
            <a:chExt cx="1054" cy="194"/>
          </a:xfrm>
        </p:grpSpPr>
        <p:sp>
          <p:nvSpPr>
            <p:cNvPr id="202"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36" y="971"/>
              <a:ext cx="290"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03"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77" y="968"/>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1 2 3 4 5 6</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7 8 9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10</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11 12 13 </a:t>
              </a:r>
            </a:p>
          </p:txBody>
        </p:sp>
      </p:grpSp>
      <p:sp>
        <p:nvSpPr>
          <p:cNvPr id="20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6021187" y="3692303"/>
            <a:ext cx="128432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+ 3/4</a:t>
            </a:r>
          </a:p>
        </p:txBody>
      </p:sp>
      <p:grpSp>
        <p:nvGrpSpPr>
          <p:cNvPr id="205" name="Group 65">
            <a:extLst>
              <a:ext uri="{FF2B5EF4-FFF2-40B4-BE49-F238E27FC236}">
                <a16:creationId xmlns:a16="http://schemas.microsoft.com/office/drawing/2014/main" id="{931A5080-440D-784B-A586-03D399A7E982}"/>
              </a:ext>
            </a:extLst>
          </p:cNvPr>
          <p:cNvGrpSpPr>
            <a:grpSpLocks/>
          </p:cNvGrpSpPr>
          <p:nvPr/>
        </p:nvGrpSpPr>
        <p:grpSpPr bwMode="auto">
          <a:xfrm>
            <a:off x="7198065" y="4208158"/>
            <a:ext cx="2519295" cy="307976"/>
            <a:chOff x="-191" y="928"/>
            <a:chExt cx="1054" cy="194"/>
          </a:xfrm>
        </p:grpSpPr>
        <p:sp>
          <p:nvSpPr>
            <p:cNvPr id="206"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70" y="940"/>
              <a:ext cx="44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07"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91" y="928"/>
              <a:ext cx="105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1 2 3 4 5 6 7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8</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9</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10 11 12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13</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 </a:t>
              </a:r>
            </a:p>
          </p:txBody>
        </p:sp>
      </p:grpSp>
      <p:sp>
        <p:nvSpPr>
          <p:cNvPr id="208"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758027" y="4227044"/>
            <a:ext cx="160332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 + 4/4 = 5</a:t>
            </a:r>
          </a:p>
        </p:txBody>
      </p:sp>
      <p:grpSp>
        <p:nvGrpSpPr>
          <p:cNvPr id="209" name="Group 65">
            <a:extLst>
              <a:ext uri="{FF2B5EF4-FFF2-40B4-BE49-F238E27FC236}">
                <a16:creationId xmlns:a16="http://schemas.microsoft.com/office/drawing/2014/main" id="{931A5080-440D-784B-A586-03D399A7E982}"/>
              </a:ext>
            </a:extLst>
          </p:cNvPr>
          <p:cNvGrpSpPr>
            <a:grpSpLocks/>
          </p:cNvGrpSpPr>
          <p:nvPr/>
        </p:nvGrpSpPr>
        <p:grpSpPr bwMode="auto">
          <a:xfrm>
            <a:off x="7911077" y="2022371"/>
            <a:ext cx="1427163" cy="307976"/>
            <a:chOff x="-59" y="959"/>
            <a:chExt cx="899" cy="194"/>
          </a:xfrm>
        </p:grpSpPr>
        <p:sp>
          <p:nvSpPr>
            <p:cNvPr id="210" name="Rectangle 60">
              <a:extLst>
                <a:ext uri="{FF2B5EF4-FFF2-40B4-BE49-F238E27FC236}">
                  <a16:creationId xmlns:a16="http://schemas.microsoft.com/office/drawing/2014/main" id="{B26ABC90-7E5F-8A4E-8270-EAE554611A43}"/>
                </a:ext>
              </a:extLst>
            </p:cNvPr>
            <p:cNvSpPr>
              <a:spLocks noChangeArrowheads="1"/>
            </p:cNvSpPr>
            <p:nvPr/>
          </p:nvSpPr>
          <p:spPr bwMode="auto">
            <a:xfrm>
              <a:off x="281" y="980"/>
              <a:ext cx="389"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11"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59" y="959"/>
              <a:ext cx="899"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1 2 3 </a:t>
              </a:r>
              <a:r>
                <a:rPr kumimoji="0" lang="en-US" sz="1400" b="0" u="none" strike="noStrike" kern="1200" cap="none" spc="0" normalizeH="0" baseline="0" noProof="0" dirty="0">
                  <a:ln>
                    <a:noFill/>
                  </a:ln>
                  <a:solidFill>
                    <a:schemeClr val="bg1"/>
                  </a:solidFill>
                  <a:effectLst/>
                  <a:uLnTx/>
                  <a:uFillTx/>
                  <a:latin typeface="Avenir Book" panose="020B0503020203020204" pitchFamily="34" charset="-78"/>
                  <a:cs typeface="Avenir Book" panose="020B0503020203020204" pitchFamily="34" charset="-78"/>
                </a:rPr>
                <a:t>4 5 6 7 </a:t>
              </a:r>
              <a:r>
                <a:rPr kumimoji="0" lang="en-US" sz="1400" b="0" u="none" strike="noStrike" kern="1200" cap="none" spc="0" normalizeH="0" baseline="0" noProof="0" dirty="0">
                  <a:ln>
                    <a:noFill/>
                  </a:ln>
                  <a:effectLst/>
                  <a:uLnTx/>
                  <a:uFillTx/>
                  <a:latin typeface="Avenir Book" panose="020B0503020203020204" pitchFamily="34" charset="-78"/>
                  <a:cs typeface="Avenir Book" panose="020B0503020203020204" pitchFamily="34" charset="-78"/>
                </a:rPr>
                <a:t>8 </a:t>
              </a:r>
            </a:p>
          </p:txBody>
        </p:sp>
      </p:grpSp>
      <p:sp>
        <p:nvSpPr>
          <p:cNvPr id="212"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5975837" y="2033319"/>
            <a:ext cx="16353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CW + 1 = 4</a:t>
            </a:r>
          </a:p>
        </p:txBody>
      </p:sp>
    </p:spTree>
    <p:extLst>
      <p:ext uri="{BB962C8B-B14F-4D97-AF65-F5344CB8AC3E}">
        <p14:creationId xmlns:p14="http://schemas.microsoft.com/office/powerpoint/2010/main" val="37307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ssolve">
                                      <p:cBhvr>
                                        <p:cTn id="7" dur="500"/>
                                        <p:tgtEl>
                                          <p:spTgt spid="7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6"/>
                                        </p:tgtEl>
                                        <p:attrNameLst>
                                          <p:attrName>style.visibility</p:attrName>
                                        </p:attrNameLst>
                                      </p:cBhvr>
                                      <p:to>
                                        <p:strVal val="visible"/>
                                      </p:to>
                                    </p:set>
                                    <p:animEffect transition="in" filter="wipe(left)">
                                      <p:cBhvr>
                                        <p:cTn id="11" dur="500"/>
                                        <p:tgtEl>
                                          <p:spTgt spid="156"/>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62"/>
                                        </p:tgtEl>
                                        <p:attrNameLst>
                                          <p:attrName>style.visibility</p:attrName>
                                        </p:attrNameLst>
                                      </p:cBhvr>
                                      <p:to>
                                        <p:strVal val="visible"/>
                                      </p:to>
                                    </p:set>
                                    <p:animEffect transition="in" filter="wipe(right)">
                                      <p:cBhvr>
                                        <p:cTn id="14" dur="500"/>
                                        <p:tgtEl>
                                          <p:spTgt spid="162"/>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35"/>
                                        </p:tgtEl>
                                        <p:attrNameLst>
                                          <p:attrName>style.visibility</p:attrName>
                                        </p:attrNameLst>
                                      </p:cBhvr>
                                      <p:to>
                                        <p:strVal val="visible"/>
                                      </p:to>
                                    </p:set>
                                    <p:animEffect transition="in" filter="wipe(left)">
                                      <p:cBhvr>
                                        <p:cTn id="18" dur="500"/>
                                        <p:tgtEl>
                                          <p:spTgt spid="23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36"/>
                                        </p:tgtEl>
                                        <p:attrNameLst>
                                          <p:attrName>style.visibility</p:attrName>
                                        </p:attrNameLst>
                                      </p:cBhvr>
                                      <p:to>
                                        <p:strVal val="visible"/>
                                      </p:to>
                                    </p:set>
                                    <p:animEffect transition="in" filter="wipe(left)">
                                      <p:cBhvr>
                                        <p:cTn id="22" dur="500"/>
                                        <p:tgtEl>
                                          <p:spTgt spid="236"/>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248"/>
                                        </p:tgtEl>
                                        <p:attrNameLst>
                                          <p:attrName>style.visibility</p:attrName>
                                        </p:attrNameLst>
                                      </p:cBhvr>
                                      <p:to>
                                        <p:strVal val="visible"/>
                                      </p:to>
                                    </p:set>
                                    <p:animEffect transition="in" filter="wipe(left)">
                                      <p:cBhvr>
                                        <p:cTn id="26" dur="500"/>
                                        <p:tgtEl>
                                          <p:spTgt spid="24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03"/>
                                        </p:tgtEl>
                                        <p:attrNameLst>
                                          <p:attrName>style.visibility</p:attrName>
                                        </p:attrNameLst>
                                      </p:cBhvr>
                                      <p:to>
                                        <p:strVal val="visible"/>
                                      </p:to>
                                    </p:set>
                                    <p:animEffect transition="in" filter="dissolve">
                                      <p:cBhvr>
                                        <p:cTn id="29" dur="500"/>
                                        <p:tgtEl>
                                          <p:spTgt spid="303"/>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04"/>
                                        </p:tgtEl>
                                        <p:attrNameLst>
                                          <p:attrName>style.visibility</p:attrName>
                                        </p:attrNameLst>
                                      </p:cBhvr>
                                      <p:to>
                                        <p:strVal val="visible"/>
                                      </p:to>
                                    </p:set>
                                    <p:animEffect transition="in" filter="dissolve">
                                      <p:cBhvr>
                                        <p:cTn id="32" dur="500"/>
                                        <p:tgtEl>
                                          <p:spTgt spid="30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05"/>
                                        </p:tgtEl>
                                        <p:attrNameLst>
                                          <p:attrName>style.visibility</p:attrName>
                                        </p:attrNameLst>
                                      </p:cBhvr>
                                      <p:to>
                                        <p:strVal val="visible"/>
                                      </p:to>
                                    </p:set>
                                    <p:animEffect transition="in" filter="dissolve">
                                      <p:cBhvr>
                                        <p:cTn id="35" dur="500"/>
                                        <p:tgtEl>
                                          <p:spTgt spid="30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306"/>
                                        </p:tgtEl>
                                        <p:attrNameLst>
                                          <p:attrName>style.visibility</p:attrName>
                                        </p:attrNameLst>
                                      </p:cBhvr>
                                      <p:to>
                                        <p:strVal val="visible"/>
                                      </p:to>
                                    </p:set>
                                    <p:animEffect transition="in" filter="dissolve">
                                      <p:cBhvr>
                                        <p:cTn id="38" dur="500"/>
                                        <p:tgtEl>
                                          <p:spTgt spid="306"/>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07"/>
                                        </p:tgtEl>
                                        <p:attrNameLst>
                                          <p:attrName>style.visibility</p:attrName>
                                        </p:attrNameLst>
                                      </p:cBhvr>
                                      <p:to>
                                        <p:strVal val="visible"/>
                                      </p:to>
                                    </p:set>
                                    <p:animEffect transition="in" filter="dissolve">
                                      <p:cBhvr>
                                        <p:cTn id="41" dur="500"/>
                                        <p:tgtEl>
                                          <p:spTgt spid="307"/>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350"/>
                                        </p:tgtEl>
                                        <p:attrNameLst>
                                          <p:attrName>style.visibility</p:attrName>
                                        </p:attrNameLst>
                                      </p:cBhvr>
                                      <p:to>
                                        <p:strVal val="visible"/>
                                      </p:to>
                                    </p:set>
                                    <p:animEffect transition="in" filter="wipe(right)">
                                      <p:cBhvr>
                                        <p:cTn id="44" dur="500"/>
                                        <p:tgtEl>
                                          <p:spTgt spid="350"/>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351"/>
                                        </p:tgtEl>
                                        <p:attrNameLst>
                                          <p:attrName>style.visibility</p:attrName>
                                        </p:attrNameLst>
                                      </p:cBhvr>
                                      <p:to>
                                        <p:strVal val="visible"/>
                                      </p:to>
                                    </p:set>
                                    <p:animEffect transition="in" filter="wipe(right)">
                                      <p:cBhvr>
                                        <p:cTn id="47" dur="500"/>
                                        <p:tgtEl>
                                          <p:spTgt spid="351"/>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352"/>
                                        </p:tgtEl>
                                        <p:attrNameLst>
                                          <p:attrName>style.visibility</p:attrName>
                                        </p:attrNameLst>
                                      </p:cBhvr>
                                      <p:to>
                                        <p:strVal val="visible"/>
                                      </p:to>
                                    </p:set>
                                    <p:animEffect transition="in" filter="wipe(right)">
                                      <p:cBhvr>
                                        <p:cTn id="50" dur="500"/>
                                        <p:tgtEl>
                                          <p:spTgt spid="352"/>
                                        </p:tgtEl>
                                      </p:cBhvr>
                                    </p:animEffect>
                                  </p:childTnLst>
                                </p:cTn>
                              </p:par>
                              <p:par>
                                <p:cTn id="51" presetID="22" presetClass="entr" presetSubtype="2" fill="hold" grpId="0" nodeType="withEffect">
                                  <p:stCondLst>
                                    <p:cond delay="0"/>
                                  </p:stCondLst>
                                  <p:childTnLst>
                                    <p:set>
                                      <p:cBhvr>
                                        <p:cTn id="52" dur="1" fill="hold">
                                          <p:stCondLst>
                                            <p:cond delay="0"/>
                                          </p:stCondLst>
                                        </p:cTn>
                                        <p:tgtEl>
                                          <p:spTgt spid="353"/>
                                        </p:tgtEl>
                                        <p:attrNameLst>
                                          <p:attrName>style.visibility</p:attrName>
                                        </p:attrNameLst>
                                      </p:cBhvr>
                                      <p:to>
                                        <p:strVal val="visible"/>
                                      </p:to>
                                    </p:set>
                                    <p:animEffect transition="in" filter="wipe(right)">
                                      <p:cBhvr>
                                        <p:cTn id="53" dur="500"/>
                                        <p:tgtEl>
                                          <p:spTgt spid="353"/>
                                        </p:tgtEl>
                                      </p:cBhvr>
                                    </p:animEffect>
                                  </p:childTnLst>
                                </p:cTn>
                              </p:par>
                            </p:childTnLst>
                          </p:cTn>
                        </p:par>
                        <p:par>
                          <p:cTn id="54" fill="hold">
                            <p:stCondLst>
                              <p:cond delay="2500"/>
                            </p:stCondLst>
                            <p:childTnLst>
                              <p:par>
                                <p:cTn id="55" presetID="22" presetClass="entr" presetSubtype="8" fill="hold" grpId="0" nodeType="afterEffect">
                                  <p:stCondLst>
                                    <p:cond delay="0"/>
                                  </p:stCondLst>
                                  <p:childTnLst>
                                    <p:set>
                                      <p:cBhvr>
                                        <p:cTn id="56" dur="1" fill="hold">
                                          <p:stCondLst>
                                            <p:cond delay="0"/>
                                          </p:stCondLst>
                                        </p:cTn>
                                        <p:tgtEl>
                                          <p:spTgt spid="354"/>
                                        </p:tgtEl>
                                        <p:attrNameLst>
                                          <p:attrName>style.visibility</p:attrName>
                                        </p:attrNameLst>
                                      </p:cBhvr>
                                      <p:to>
                                        <p:strVal val="visible"/>
                                      </p:to>
                                    </p:set>
                                    <p:animEffect transition="in" filter="wipe(left)">
                                      <p:cBhvr>
                                        <p:cTn id="57" dur="500"/>
                                        <p:tgtEl>
                                          <p:spTgt spid="354"/>
                                        </p:tgtEl>
                                      </p:cBhvr>
                                    </p:animEffect>
                                  </p:childTnLst>
                                </p:cTn>
                              </p:par>
                            </p:childTnLst>
                          </p:cTn>
                        </p:par>
                        <p:par>
                          <p:cTn id="58" fill="hold">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355"/>
                                        </p:tgtEl>
                                        <p:attrNameLst>
                                          <p:attrName>style.visibility</p:attrName>
                                        </p:attrNameLst>
                                      </p:cBhvr>
                                      <p:to>
                                        <p:strVal val="visible"/>
                                      </p:to>
                                    </p:set>
                                    <p:animEffect transition="in" filter="wipe(left)">
                                      <p:cBhvr>
                                        <p:cTn id="61" dur="500"/>
                                        <p:tgtEl>
                                          <p:spTgt spid="355"/>
                                        </p:tgtEl>
                                      </p:cBhvr>
                                    </p:animEffect>
                                  </p:childTnLst>
                                </p:cTn>
                              </p:par>
                            </p:childTnLst>
                          </p:cTn>
                        </p:par>
                        <p:par>
                          <p:cTn id="62" fill="hold">
                            <p:stCondLst>
                              <p:cond delay="3500"/>
                            </p:stCondLst>
                            <p:childTnLst>
                              <p:par>
                                <p:cTn id="63" presetID="22" presetClass="entr" presetSubtype="8" fill="hold" grpId="0" nodeType="afterEffect">
                                  <p:stCondLst>
                                    <p:cond delay="0"/>
                                  </p:stCondLst>
                                  <p:childTnLst>
                                    <p:set>
                                      <p:cBhvr>
                                        <p:cTn id="64" dur="1" fill="hold">
                                          <p:stCondLst>
                                            <p:cond delay="0"/>
                                          </p:stCondLst>
                                        </p:cTn>
                                        <p:tgtEl>
                                          <p:spTgt spid="356"/>
                                        </p:tgtEl>
                                        <p:attrNameLst>
                                          <p:attrName>style.visibility</p:attrName>
                                        </p:attrNameLst>
                                      </p:cBhvr>
                                      <p:to>
                                        <p:strVal val="visible"/>
                                      </p:to>
                                    </p:set>
                                    <p:animEffect transition="in" filter="wipe(left)">
                                      <p:cBhvr>
                                        <p:cTn id="65" dur="500"/>
                                        <p:tgtEl>
                                          <p:spTgt spid="356"/>
                                        </p:tgtEl>
                                      </p:cBhvr>
                                    </p:animEffect>
                                  </p:childTnLst>
                                </p:cTn>
                              </p:par>
                            </p:childTnLst>
                          </p:cTn>
                        </p:par>
                        <p:par>
                          <p:cTn id="66" fill="hold">
                            <p:stCondLst>
                              <p:cond delay="4000"/>
                            </p:stCondLst>
                            <p:childTnLst>
                              <p:par>
                                <p:cTn id="67" presetID="22" presetClass="entr" presetSubtype="8" fill="hold" grpId="0" nodeType="afterEffect">
                                  <p:stCondLst>
                                    <p:cond delay="0"/>
                                  </p:stCondLst>
                                  <p:childTnLst>
                                    <p:set>
                                      <p:cBhvr>
                                        <p:cTn id="68" dur="1" fill="hold">
                                          <p:stCondLst>
                                            <p:cond delay="0"/>
                                          </p:stCondLst>
                                        </p:cTn>
                                        <p:tgtEl>
                                          <p:spTgt spid="357"/>
                                        </p:tgtEl>
                                        <p:attrNameLst>
                                          <p:attrName>style.visibility</p:attrName>
                                        </p:attrNameLst>
                                      </p:cBhvr>
                                      <p:to>
                                        <p:strVal val="visible"/>
                                      </p:to>
                                    </p:set>
                                    <p:animEffect transition="in" filter="wipe(left)">
                                      <p:cBhvr>
                                        <p:cTn id="69" dur="500"/>
                                        <p:tgtEl>
                                          <p:spTgt spid="357"/>
                                        </p:tgtEl>
                                      </p:cBhvr>
                                    </p:animEffect>
                                  </p:childTnLst>
                                </p:cTn>
                              </p:par>
                            </p:childTnLst>
                          </p:cTn>
                        </p:par>
                        <p:par>
                          <p:cTn id="70" fill="hold">
                            <p:stCondLst>
                              <p:cond delay="4500"/>
                            </p:stCondLst>
                            <p:childTnLst>
                              <p:par>
                                <p:cTn id="71" presetID="22" presetClass="entr" presetSubtype="8" fill="hold" grpId="0" nodeType="afterEffect">
                                  <p:stCondLst>
                                    <p:cond delay="0"/>
                                  </p:stCondLst>
                                  <p:childTnLst>
                                    <p:set>
                                      <p:cBhvr>
                                        <p:cTn id="72" dur="1" fill="hold">
                                          <p:stCondLst>
                                            <p:cond delay="0"/>
                                          </p:stCondLst>
                                        </p:cTn>
                                        <p:tgtEl>
                                          <p:spTgt spid="358"/>
                                        </p:tgtEl>
                                        <p:attrNameLst>
                                          <p:attrName>style.visibility</p:attrName>
                                        </p:attrNameLst>
                                      </p:cBhvr>
                                      <p:to>
                                        <p:strVal val="visible"/>
                                      </p:to>
                                    </p:set>
                                    <p:animEffect transition="in" filter="wipe(left)">
                                      <p:cBhvr>
                                        <p:cTn id="73" dur="500"/>
                                        <p:tgtEl>
                                          <p:spTgt spid="358"/>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360"/>
                                        </p:tgtEl>
                                        <p:attrNameLst>
                                          <p:attrName>style.visibility</p:attrName>
                                        </p:attrNameLst>
                                      </p:cBhvr>
                                      <p:to>
                                        <p:strVal val="visible"/>
                                      </p:to>
                                    </p:set>
                                    <p:animEffect transition="in" filter="dissolve">
                                      <p:cBhvr>
                                        <p:cTn id="76" dur="500"/>
                                        <p:tgtEl>
                                          <p:spTgt spid="360"/>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361"/>
                                        </p:tgtEl>
                                        <p:attrNameLst>
                                          <p:attrName>style.visibility</p:attrName>
                                        </p:attrNameLst>
                                      </p:cBhvr>
                                      <p:to>
                                        <p:strVal val="visible"/>
                                      </p:to>
                                    </p:set>
                                    <p:animEffect transition="in" filter="dissolve">
                                      <p:cBhvr>
                                        <p:cTn id="79" dur="500"/>
                                        <p:tgtEl>
                                          <p:spTgt spid="361"/>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62"/>
                                        </p:tgtEl>
                                        <p:attrNameLst>
                                          <p:attrName>style.visibility</p:attrName>
                                        </p:attrNameLst>
                                      </p:cBhvr>
                                      <p:to>
                                        <p:strVal val="visible"/>
                                      </p:to>
                                    </p:set>
                                    <p:animEffect transition="in" filter="dissolve">
                                      <p:cBhvr>
                                        <p:cTn id="82" dur="500"/>
                                        <p:tgtEl>
                                          <p:spTgt spid="362"/>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63"/>
                                        </p:tgtEl>
                                        <p:attrNameLst>
                                          <p:attrName>style.visibility</p:attrName>
                                        </p:attrNameLst>
                                      </p:cBhvr>
                                      <p:to>
                                        <p:strVal val="visible"/>
                                      </p:to>
                                    </p:set>
                                    <p:animEffect transition="in" filter="dissolve">
                                      <p:cBhvr>
                                        <p:cTn id="85" dur="500"/>
                                        <p:tgtEl>
                                          <p:spTgt spid="36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64"/>
                                        </p:tgtEl>
                                        <p:attrNameLst>
                                          <p:attrName>style.visibility</p:attrName>
                                        </p:attrNameLst>
                                      </p:cBhvr>
                                      <p:to>
                                        <p:strVal val="visible"/>
                                      </p:to>
                                    </p:set>
                                    <p:animEffect transition="in" filter="dissolve">
                                      <p:cBhvr>
                                        <p:cTn id="88" dur="500"/>
                                        <p:tgtEl>
                                          <p:spTgt spid="364"/>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65"/>
                                        </p:tgtEl>
                                        <p:attrNameLst>
                                          <p:attrName>style.visibility</p:attrName>
                                        </p:attrNameLst>
                                      </p:cBhvr>
                                      <p:to>
                                        <p:strVal val="visible"/>
                                      </p:to>
                                    </p:set>
                                    <p:animEffect transition="in" filter="dissolve">
                                      <p:cBhvr>
                                        <p:cTn id="91" dur="500"/>
                                        <p:tgtEl>
                                          <p:spTgt spid="36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66"/>
                                        </p:tgtEl>
                                        <p:attrNameLst>
                                          <p:attrName>style.visibility</p:attrName>
                                        </p:attrNameLst>
                                      </p:cBhvr>
                                      <p:to>
                                        <p:strVal val="visible"/>
                                      </p:to>
                                    </p:set>
                                    <p:animEffect transition="in" filter="dissolve">
                                      <p:cBhvr>
                                        <p:cTn id="94" dur="500"/>
                                        <p:tgtEl>
                                          <p:spTgt spid="36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367"/>
                                        </p:tgtEl>
                                        <p:attrNameLst>
                                          <p:attrName>style.visibility</p:attrName>
                                        </p:attrNameLst>
                                      </p:cBhvr>
                                      <p:to>
                                        <p:strVal val="visible"/>
                                      </p:to>
                                    </p:set>
                                    <p:animEffect transition="in" filter="dissolve">
                                      <p:cBhvr>
                                        <p:cTn id="97" dur="500"/>
                                        <p:tgtEl>
                                          <p:spTgt spid="36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82"/>
                                        </p:tgtEl>
                                        <p:attrNameLst>
                                          <p:attrName>style.visibility</p:attrName>
                                        </p:attrNameLst>
                                      </p:cBhvr>
                                      <p:to>
                                        <p:strVal val="visible"/>
                                      </p:to>
                                    </p:set>
                                    <p:animEffect transition="in" filter="wipe(left)">
                                      <p:cBhvr>
                                        <p:cTn id="102" dur="500"/>
                                        <p:tgtEl>
                                          <p:spTgt spid="282"/>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284"/>
                                        </p:tgtEl>
                                        <p:attrNameLst>
                                          <p:attrName>style.visibility</p:attrName>
                                        </p:attrNameLst>
                                      </p:cBhvr>
                                      <p:to>
                                        <p:strVal val="visible"/>
                                      </p:to>
                                    </p:set>
                                    <p:animEffect transition="in" filter="dissolve">
                                      <p:cBhvr>
                                        <p:cTn id="105" dur="500"/>
                                        <p:tgtEl>
                                          <p:spTgt spid="284"/>
                                        </p:tgtEl>
                                      </p:cBhvr>
                                    </p:animEffect>
                                  </p:childTnLst>
                                </p:cTn>
                              </p:par>
                            </p:childTnLst>
                          </p:cTn>
                        </p:par>
                        <p:par>
                          <p:cTn id="106" fill="hold">
                            <p:stCondLst>
                              <p:cond delay="500"/>
                            </p:stCondLst>
                            <p:childTnLst>
                              <p:par>
                                <p:cTn id="107" presetID="22" presetClass="entr" presetSubtype="2" fill="hold" grpId="0" nodeType="afterEffect">
                                  <p:stCondLst>
                                    <p:cond delay="0"/>
                                  </p:stCondLst>
                                  <p:childTnLst>
                                    <p:set>
                                      <p:cBhvr>
                                        <p:cTn id="108" dur="1" fill="hold">
                                          <p:stCondLst>
                                            <p:cond delay="0"/>
                                          </p:stCondLst>
                                        </p:cTn>
                                        <p:tgtEl>
                                          <p:spTgt spid="292"/>
                                        </p:tgtEl>
                                        <p:attrNameLst>
                                          <p:attrName>style.visibility</p:attrName>
                                        </p:attrNameLst>
                                      </p:cBhvr>
                                      <p:to>
                                        <p:strVal val="visible"/>
                                      </p:to>
                                    </p:set>
                                    <p:animEffect transition="in" filter="wipe(right)">
                                      <p:cBhvr>
                                        <p:cTn id="109" dur="500"/>
                                        <p:tgtEl>
                                          <p:spTgt spid="292"/>
                                        </p:tgtEl>
                                      </p:cBhvr>
                                    </p:animEffect>
                                  </p:childTnLst>
                                </p:cTn>
                              </p:par>
                            </p:childTnLst>
                          </p:cTn>
                        </p:par>
                        <p:par>
                          <p:cTn id="110" fill="hold">
                            <p:stCondLst>
                              <p:cond delay="1000"/>
                            </p:stCondLst>
                            <p:childTnLst>
                              <p:par>
                                <p:cTn id="111" presetID="9" presetClass="entr" presetSubtype="0" fill="hold" nodeType="afterEffect">
                                  <p:stCondLst>
                                    <p:cond delay="0"/>
                                  </p:stCondLst>
                                  <p:childTnLst>
                                    <p:set>
                                      <p:cBhvr>
                                        <p:cTn id="112" dur="1" fill="hold">
                                          <p:stCondLst>
                                            <p:cond delay="0"/>
                                          </p:stCondLst>
                                        </p:cTn>
                                        <p:tgtEl>
                                          <p:spTgt spid="288"/>
                                        </p:tgtEl>
                                        <p:attrNameLst>
                                          <p:attrName>style.visibility</p:attrName>
                                        </p:attrNameLst>
                                      </p:cBhvr>
                                      <p:to>
                                        <p:strVal val="visible"/>
                                      </p:to>
                                    </p:set>
                                    <p:animEffect transition="in" filter="dissolve">
                                      <p:cBhvr>
                                        <p:cTn id="113" dur="500"/>
                                        <p:tgtEl>
                                          <p:spTgt spid="28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297"/>
                                        </p:tgtEl>
                                        <p:attrNameLst>
                                          <p:attrName>style.visibility</p:attrName>
                                        </p:attrNameLst>
                                      </p:cBhvr>
                                      <p:to>
                                        <p:strVal val="visible"/>
                                      </p:to>
                                    </p:set>
                                    <p:animEffect transition="in" filter="wipe(left)">
                                      <p:cBhvr>
                                        <p:cTn id="118" dur="500"/>
                                        <p:tgtEl>
                                          <p:spTgt spid="297"/>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384"/>
                                        </p:tgtEl>
                                        <p:attrNameLst>
                                          <p:attrName>style.visibility</p:attrName>
                                        </p:attrNameLst>
                                      </p:cBhvr>
                                      <p:to>
                                        <p:strVal val="visible"/>
                                      </p:to>
                                    </p:set>
                                    <p:animEffect transition="in" filter="dissolve">
                                      <p:cBhvr>
                                        <p:cTn id="121" dur="500"/>
                                        <p:tgtEl>
                                          <p:spTgt spid="384"/>
                                        </p:tgtEl>
                                      </p:cBhvr>
                                    </p:animEffect>
                                  </p:childTnLst>
                                </p:cTn>
                              </p:par>
                            </p:childTnLst>
                          </p:cTn>
                        </p:par>
                        <p:par>
                          <p:cTn id="122" fill="hold">
                            <p:stCondLst>
                              <p:cond delay="500"/>
                            </p:stCondLst>
                            <p:childTnLst>
                              <p:par>
                                <p:cTn id="123" presetID="22" presetClass="entr" presetSubtype="2" fill="hold" nodeType="afterEffect">
                                  <p:stCondLst>
                                    <p:cond delay="0"/>
                                  </p:stCondLst>
                                  <p:childTnLst>
                                    <p:set>
                                      <p:cBhvr>
                                        <p:cTn id="124" dur="1" fill="hold">
                                          <p:stCondLst>
                                            <p:cond delay="0"/>
                                          </p:stCondLst>
                                        </p:cTn>
                                        <p:tgtEl>
                                          <p:spTgt spid="300"/>
                                        </p:tgtEl>
                                        <p:attrNameLst>
                                          <p:attrName>style.visibility</p:attrName>
                                        </p:attrNameLst>
                                      </p:cBhvr>
                                      <p:to>
                                        <p:strVal val="visible"/>
                                      </p:to>
                                    </p:set>
                                    <p:animEffect transition="in" filter="wipe(right)">
                                      <p:cBhvr>
                                        <p:cTn id="125" dur="500"/>
                                        <p:tgtEl>
                                          <p:spTgt spid="300"/>
                                        </p:tgtEl>
                                      </p:cBhvr>
                                    </p:animEffect>
                                  </p:childTnLst>
                                </p:cTn>
                              </p:par>
                            </p:childTnLst>
                          </p:cTn>
                        </p:par>
                        <p:par>
                          <p:cTn id="126" fill="hold">
                            <p:stCondLst>
                              <p:cond delay="1000"/>
                            </p:stCondLst>
                            <p:childTnLst>
                              <p:par>
                                <p:cTn id="127" presetID="22" presetClass="entr" presetSubtype="8" fill="hold" nodeType="afterEffect">
                                  <p:stCondLst>
                                    <p:cond delay="0"/>
                                  </p:stCondLst>
                                  <p:childTnLst>
                                    <p:set>
                                      <p:cBhvr>
                                        <p:cTn id="128" dur="1" fill="hold">
                                          <p:stCondLst>
                                            <p:cond delay="0"/>
                                          </p:stCondLst>
                                        </p:cTn>
                                        <p:tgtEl>
                                          <p:spTgt spid="386"/>
                                        </p:tgtEl>
                                        <p:attrNameLst>
                                          <p:attrName>style.visibility</p:attrName>
                                        </p:attrNameLst>
                                      </p:cBhvr>
                                      <p:to>
                                        <p:strVal val="visible"/>
                                      </p:to>
                                    </p:set>
                                    <p:animEffect transition="in" filter="wipe(left)">
                                      <p:cBhvr>
                                        <p:cTn id="129" dur="500"/>
                                        <p:tgtEl>
                                          <p:spTgt spid="386"/>
                                        </p:tgtEl>
                                      </p:cBhvr>
                                    </p:animEffect>
                                  </p:childTnLst>
                                </p:cTn>
                              </p:par>
                              <p:par>
                                <p:cTn id="130" presetID="9" presetClass="entr" presetSubtype="0" fill="hold" grpId="0" nodeType="withEffect">
                                  <p:stCondLst>
                                    <p:cond delay="0"/>
                                  </p:stCondLst>
                                  <p:childTnLst>
                                    <p:set>
                                      <p:cBhvr>
                                        <p:cTn id="131" dur="1" fill="hold">
                                          <p:stCondLst>
                                            <p:cond delay="0"/>
                                          </p:stCondLst>
                                        </p:cTn>
                                        <p:tgtEl>
                                          <p:spTgt spid="385"/>
                                        </p:tgtEl>
                                        <p:attrNameLst>
                                          <p:attrName>style.visibility</p:attrName>
                                        </p:attrNameLst>
                                      </p:cBhvr>
                                      <p:to>
                                        <p:strVal val="visible"/>
                                      </p:to>
                                    </p:set>
                                    <p:animEffect transition="in" filter="dissolve">
                                      <p:cBhvr>
                                        <p:cTn id="132" dur="500"/>
                                        <p:tgtEl>
                                          <p:spTgt spid="385"/>
                                        </p:tgtEl>
                                      </p:cBhvr>
                                    </p:animEffect>
                                  </p:childTnLst>
                                </p:cTn>
                              </p:par>
                            </p:childTnLst>
                          </p:cTn>
                        </p:par>
                        <p:par>
                          <p:cTn id="133" fill="hold">
                            <p:stCondLst>
                              <p:cond delay="1500"/>
                            </p:stCondLst>
                            <p:childTnLst>
                              <p:par>
                                <p:cTn id="134" presetID="22" presetClass="entr" presetSubtype="2" fill="hold" nodeType="afterEffect">
                                  <p:stCondLst>
                                    <p:cond delay="0"/>
                                  </p:stCondLst>
                                  <p:childTnLst>
                                    <p:set>
                                      <p:cBhvr>
                                        <p:cTn id="135" dur="1" fill="hold">
                                          <p:stCondLst>
                                            <p:cond delay="0"/>
                                          </p:stCondLst>
                                        </p:cTn>
                                        <p:tgtEl>
                                          <p:spTgt spid="391"/>
                                        </p:tgtEl>
                                        <p:attrNameLst>
                                          <p:attrName>style.visibility</p:attrName>
                                        </p:attrNameLst>
                                      </p:cBhvr>
                                      <p:to>
                                        <p:strVal val="visible"/>
                                      </p:to>
                                    </p:set>
                                    <p:animEffect transition="in" filter="wipe(right)">
                                      <p:cBhvr>
                                        <p:cTn id="136" dur="500"/>
                                        <p:tgtEl>
                                          <p:spTgt spid="391"/>
                                        </p:tgtEl>
                                      </p:cBhvr>
                                    </p:animEffect>
                                  </p:childTnLst>
                                </p:cTn>
                              </p:par>
                            </p:childTnLst>
                          </p:cTn>
                        </p:par>
                        <p:par>
                          <p:cTn id="137" fill="hold">
                            <p:stCondLst>
                              <p:cond delay="2000"/>
                            </p:stCondLst>
                            <p:childTnLst>
                              <p:par>
                                <p:cTn id="138" presetID="9" presetClass="entr" presetSubtype="0" fill="hold" nodeType="afterEffect">
                                  <p:stCondLst>
                                    <p:cond delay="0"/>
                                  </p:stCondLst>
                                  <p:childTnLst>
                                    <p:set>
                                      <p:cBhvr>
                                        <p:cTn id="139" dur="1" fill="hold">
                                          <p:stCondLst>
                                            <p:cond delay="0"/>
                                          </p:stCondLst>
                                        </p:cTn>
                                        <p:tgtEl>
                                          <p:spTgt spid="432"/>
                                        </p:tgtEl>
                                        <p:attrNameLst>
                                          <p:attrName>style.visibility</p:attrName>
                                        </p:attrNameLst>
                                      </p:cBhvr>
                                      <p:to>
                                        <p:strVal val="visible"/>
                                      </p:to>
                                    </p:set>
                                    <p:animEffect transition="in" filter="dissolve">
                                      <p:cBhvr>
                                        <p:cTn id="140" dur="500"/>
                                        <p:tgtEl>
                                          <p:spTgt spid="432"/>
                                        </p:tgtEl>
                                      </p:cBhvr>
                                    </p:animEffect>
                                  </p:childTnLst>
                                </p:cTn>
                              </p:par>
                            </p:childTnLst>
                          </p:cTn>
                        </p:par>
                        <p:par>
                          <p:cTn id="141" fill="hold">
                            <p:stCondLst>
                              <p:cond delay="2500"/>
                            </p:stCondLst>
                            <p:childTnLst>
                              <p:par>
                                <p:cTn id="142" presetID="9" presetClass="entr" presetSubtype="0" fill="hold" nodeType="afterEffect">
                                  <p:stCondLst>
                                    <p:cond delay="0"/>
                                  </p:stCondLst>
                                  <p:childTnLst>
                                    <p:set>
                                      <p:cBhvr>
                                        <p:cTn id="143" dur="1" fill="hold">
                                          <p:stCondLst>
                                            <p:cond delay="0"/>
                                          </p:stCondLst>
                                        </p:cTn>
                                        <p:tgtEl>
                                          <p:spTgt spid="436"/>
                                        </p:tgtEl>
                                        <p:attrNameLst>
                                          <p:attrName>style.visibility</p:attrName>
                                        </p:attrNameLst>
                                      </p:cBhvr>
                                      <p:to>
                                        <p:strVal val="visible"/>
                                      </p:to>
                                    </p:set>
                                    <p:animEffect transition="in" filter="dissolve">
                                      <p:cBhvr>
                                        <p:cTn id="144" dur="500"/>
                                        <p:tgtEl>
                                          <p:spTgt spid="436"/>
                                        </p:tgtEl>
                                      </p:cBhvr>
                                    </p:animEffect>
                                  </p:childTnLst>
                                </p:cTn>
                              </p:par>
                            </p:childTnLst>
                          </p:cTn>
                        </p:par>
                        <p:par>
                          <p:cTn id="145" fill="hold">
                            <p:stCondLst>
                              <p:cond delay="3000"/>
                            </p:stCondLst>
                            <p:childTnLst>
                              <p:par>
                                <p:cTn id="146" presetID="9" presetClass="entr" presetSubtype="0" fill="hold" grpId="0" nodeType="afterEffect">
                                  <p:stCondLst>
                                    <p:cond delay="0"/>
                                  </p:stCondLst>
                                  <p:childTnLst>
                                    <p:set>
                                      <p:cBhvr>
                                        <p:cTn id="147" dur="1" fill="hold">
                                          <p:stCondLst>
                                            <p:cond delay="0"/>
                                          </p:stCondLst>
                                        </p:cTn>
                                        <p:tgtEl>
                                          <p:spTgt spid="441"/>
                                        </p:tgtEl>
                                        <p:attrNameLst>
                                          <p:attrName>style.visibility</p:attrName>
                                        </p:attrNameLst>
                                      </p:cBhvr>
                                      <p:to>
                                        <p:strVal val="visible"/>
                                      </p:to>
                                    </p:set>
                                    <p:animEffect transition="in" filter="dissolve">
                                      <p:cBhvr>
                                        <p:cTn id="148" dur="500"/>
                                        <p:tgtEl>
                                          <p:spTgt spid="441"/>
                                        </p:tgtEl>
                                      </p:cBhvr>
                                    </p:animEffect>
                                  </p:childTnLst>
                                </p:cTn>
                              </p:par>
                            </p:childTnLst>
                          </p:cTn>
                        </p:par>
                        <p:par>
                          <p:cTn id="149" fill="hold">
                            <p:stCondLst>
                              <p:cond delay="3500"/>
                            </p:stCondLst>
                            <p:childTnLst>
                              <p:par>
                                <p:cTn id="150" presetID="9" presetClass="entr" presetSubtype="0" fill="hold" grpId="0" nodeType="afterEffect">
                                  <p:stCondLst>
                                    <p:cond delay="0"/>
                                  </p:stCondLst>
                                  <p:childTnLst>
                                    <p:set>
                                      <p:cBhvr>
                                        <p:cTn id="151" dur="1" fill="hold">
                                          <p:stCondLst>
                                            <p:cond delay="0"/>
                                          </p:stCondLst>
                                        </p:cTn>
                                        <p:tgtEl>
                                          <p:spTgt spid="442"/>
                                        </p:tgtEl>
                                        <p:attrNameLst>
                                          <p:attrName>style.visibility</p:attrName>
                                        </p:attrNameLst>
                                      </p:cBhvr>
                                      <p:to>
                                        <p:strVal val="visible"/>
                                      </p:to>
                                    </p:set>
                                    <p:animEffect transition="in" filter="dissolve">
                                      <p:cBhvr>
                                        <p:cTn id="152" dur="500"/>
                                        <p:tgtEl>
                                          <p:spTgt spid="442"/>
                                        </p:tgtEl>
                                      </p:cBhvr>
                                    </p:animEffect>
                                  </p:childTnLst>
                                </p:cTn>
                              </p:par>
                            </p:childTnLst>
                          </p:cTn>
                        </p:par>
                        <p:par>
                          <p:cTn id="153" fill="hold">
                            <p:stCondLst>
                              <p:cond delay="4000"/>
                            </p:stCondLst>
                            <p:childTnLst>
                              <p:par>
                                <p:cTn id="154" presetID="9" presetClass="entr" presetSubtype="0" fill="hold" grpId="0" nodeType="afterEffect">
                                  <p:stCondLst>
                                    <p:cond delay="0"/>
                                  </p:stCondLst>
                                  <p:childTnLst>
                                    <p:set>
                                      <p:cBhvr>
                                        <p:cTn id="155" dur="1" fill="hold">
                                          <p:stCondLst>
                                            <p:cond delay="0"/>
                                          </p:stCondLst>
                                        </p:cTn>
                                        <p:tgtEl>
                                          <p:spTgt spid="443"/>
                                        </p:tgtEl>
                                        <p:attrNameLst>
                                          <p:attrName>style.visibility</p:attrName>
                                        </p:attrNameLst>
                                      </p:cBhvr>
                                      <p:to>
                                        <p:strVal val="visible"/>
                                      </p:to>
                                    </p:set>
                                    <p:animEffect transition="in" filter="dissolve">
                                      <p:cBhvr>
                                        <p:cTn id="156" dur="500"/>
                                        <p:tgtEl>
                                          <p:spTgt spid="443"/>
                                        </p:tgtEl>
                                      </p:cBhvr>
                                    </p:animEffect>
                                  </p:childTnLst>
                                </p:cTn>
                              </p:par>
                            </p:childTnLst>
                          </p:cTn>
                        </p:par>
                        <p:par>
                          <p:cTn id="157" fill="hold">
                            <p:stCondLst>
                              <p:cond delay="4500"/>
                            </p:stCondLst>
                            <p:childTnLst>
                              <p:par>
                                <p:cTn id="158" presetID="9" presetClass="entr" presetSubtype="0" fill="hold" grpId="0" nodeType="afterEffect">
                                  <p:stCondLst>
                                    <p:cond delay="0"/>
                                  </p:stCondLst>
                                  <p:childTnLst>
                                    <p:set>
                                      <p:cBhvr>
                                        <p:cTn id="159" dur="1" fill="hold">
                                          <p:stCondLst>
                                            <p:cond delay="0"/>
                                          </p:stCondLst>
                                        </p:cTn>
                                        <p:tgtEl>
                                          <p:spTgt spid="444"/>
                                        </p:tgtEl>
                                        <p:attrNameLst>
                                          <p:attrName>style.visibility</p:attrName>
                                        </p:attrNameLst>
                                      </p:cBhvr>
                                      <p:to>
                                        <p:strVal val="visible"/>
                                      </p:to>
                                    </p:set>
                                    <p:animEffect transition="in" filter="dissolve">
                                      <p:cBhvr>
                                        <p:cTn id="160" dur="500"/>
                                        <p:tgtEl>
                                          <p:spTgt spid="444"/>
                                        </p:tgtEl>
                                      </p:cBhvr>
                                    </p:animEffect>
                                  </p:childTnLst>
                                </p:cTn>
                              </p:par>
                            </p:childTnLst>
                          </p:cTn>
                        </p:par>
                        <p:par>
                          <p:cTn id="161" fill="hold">
                            <p:stCondLst>
                              <p:cond delay="5000"/>
                            </p:stCondLst>
                            <p:childTnLst>
                              <p:par>
                                <p:cTn id="162" presetID="9" presetClass="entr" presetSubtype="0" fill="hold" grpId="0" nodeType="afterEffect">
                                  <p:stCondLst>
                                    <p:cond delay="0"/>
                                  </p:stCondLst>
                                  <p:childTnLst>
                                    <p:set>
                                      <p:cBhvr>
                                        <p:cTn id="163" dur="1" fill="hold">
                                          <p:stCondLst>
                                            <p:cond delay="0"/>
                                          </p:stCondLst>
                                        </p:cTn>
                                        <p:tgtEl>
                                          <p:spTgt spid="196"/>
                                        </p:tgtEl>
                                        <p:attrNameLst>
                                          <p:attrName>style.visibility</p:attrName>
                                        </p:attrNameLst>
                                      </p:cBhvr>
                                      <p:to>
                                        <p:strVal val="visible"/>
                                      </p:to>
                                    </p:set>
                                    <p:animEffect transition="in" filter="dissolve">
                                      <p:cBhvr>
                                        <p:cTn id="164" dur="500"/>
                                        <p:tgtEl>
                                          <p:spTgt spid="196"/>
                                        </p:tgtEl>
                                      </p:cBhvr>
                                    </p:animEffect>
                                  </p:childTnLst>
                                </p:cTn>
                              </p:par>
                            </p:childTnLst>
                          </p:cTn>
                        </p:par>
                        <p:par>
                          <p:cTn id="165" fill="hold">
                            <p:stCondLst>
                              <p:cond delay="5500"/>
                            </p:stCondLst>
                            <p:childTnLst>
                              <p:par>
                                <p:cTn id="166" presetID="9" presetClass="entr" presetSubtype="0" fill="hold" grpId="0" nodeType="afterEffect">
                                  <p:stCondLst>
                                    <p:cond delay="0"/>
                                  </p:stCondLst>
                                  <p:childTnLst>
                                    <p:set>
                                      <p:cBhvr>
                                        <p:cTn id="167" dur="1" fill="hold">
                                          <p:stCondLst>
                                            <p:cond delay="0"/>
                                          </p:stCondLst>
                                        </p:cTn>
                                        <p:tgtEl>
                                          <p:spTgt spid="200"/>
                                        </p:tgtEl>
                                        <p:attrNameLst>
                                          <p:attrName>style.visibility</p:attrName>
                                        </p:attrNameLst>
                                      </p:cBhvr>
                                      <p:to>
                                        <p:strVal val="visible"/>
                                      </p:to>
                                    </p:set>
                                    <p:animEffect transition="in" filter="dissolve">
                                      <p:cBhvr>
                                        <p:cTn id="168" dur="500"/>
                                        <p:tgtEl>
                                          <p:spTgt spid="200"/>
                                        </p:tgtEl>
                                      </p:cBhvr>
                                    </p:animEffect>
                                  </p:childTnLst>
                                </p:cTn>
                              </p:par>
                            </p:childTnLst>
                          </p:cTn>
                        </p:par>
                        <p:par>
                          <p:cTn id="169" fill="hold">
                            <p:stCondLst>
                              <p:cond delay="6000"/>
                            </p:stCondLst>
                            <p:childTnLst>
                              <p:par>
                                <p:cTn id="170" presetID="9" presetClass="entr" presetSubtype="0" fill="hold" grpId="0" nodeType="afterEffect">
                                  <p:stCondLst>
                                    <p:cond delay="0"/>
                                  </p:stCondLst>
                                  <p:childTnLst>
                                    <p:set>
                                      <p:cBhvr>
                                        <p:cTn id="171" dur="1" fill="hold">
                                          <p:stCondLst>
                                            <p:cond delay="0"/>
                                          </p:stCondLst>
                                        </p:cTn>
                                        <p:tgtEl>
                                          <p:spTgt spid="204"/>
                                        </p:tgtEl>
                                        <p:attrNameLst>
                                          <p:attrName>style.visibility</p:attrName>
                                        </p:attrNameLst>
                                      </p:cBhvr>
                                      <p:to>
                                        <p:strVal val="visible"/>
                                      </p:to>
                                    </p:set>
                                    <p:animEffect transition="in" filter="dissolve">
                                      <p:cBhvr>
                                        <p:cTn id="172" dur="500"/>
                                        <p:tgtEl>
                                          <p:spTgt spid="204"/>
                                        </p:tgtEl>
                                      </p:cBhvr>
                                    </p:animEffect>
                                  </p:childTnLst>
                                </p:cTn>
                              </p:par>
                            </p:childTnLst>
                          </p:cTn>
                        </p:par>
                        <p:par>
                          <p:cTn id="173" fill="hold">
                            <p:stCondLst>
                              <p:cond delay="6500"/>
                            </p:stCondLst>
                            <p:childTnLst>
                              <p:par>
                                <p:cTn id="174" presetID="9" presetClass="entr" presetSubtype="0" fill="hold" grpId="0" nodeType="afterEffect">
                                  <p:stCondLst>
                                    <p:cond delay="0"/>
                                  </p:stCondLst>
                                  <p:childTnLst>
                                    <p:set>
                                      <p:cBhvr>
                                        <p:cTn id="175" dur="1" fill="hold">
                                          <p:stCondLst>
                                            <p:cond delay="0"/>
                                          </p:stCondLst>
                                        </p:cTn>
                                        <p:tgtEl>
                                          <p:spTgt spid="208"/>
                                        </p:tgtEl>
                                        <p:attrNameLst>
                                          <p:attrName>style.visibility</p:attrName>
                                        </p:attrNameLst>
                                      </p:cBhvr>
                                      <p:to>
                                        <p:strVal val="visible"/>
                                      </p:to>
                                    </p:set>
                                    <p:animEffect transition="in" filter="dissolve">
                                      <p:cBhvr>
                                        <p:cTn id="176" dur="500"/>
                                        <p:tgtEl>
                                          <p:spTgt spid="208"/>
                                        </p:tgtEl>
                                      </p:cBhvr>
                                    </p:animEffect>
                                  </p:childTnLst>
                                </p:cTn>
                              </p:par>
                            </p:childTnLst>
                          </p:cTn>
                        </p:par>
                        <p:par>
                          <p:cTn id="177" fill="hold">
                            <p:stCondLst>
                              <p:cond delay="7000"/>
                            </p:stCondLst>
                            <p:childTnLst>
                              <p:par>
                                <p:cTn id="178" presetID="9" presetClass="entr" presetSubtype="0" fill="hold" grpId="0" nodeType="afterEffect">
                                  <p:stCondLst>
                                    <p:cond delay="0"/>
                                  </p:stCondLst>
                                  <p:childTnLst>
                                    <p:set>
                                      <p:cBhvr>
                                        <p:cTn id="179" dur="1" fill="hold">
                                          <p:stCondLst>
                                            <p:cond delay="0"/>
                                          </p:stCondLst>
                                        </p:cTn>
                                        <p:tgtEl>
                                          <p:spTgt spid="212"/>
                                        </p:tgtEl>
                                        <p:attrNameLst>
                                          <p:attrName>style.visibility</p:attrName>
                                        </p:attrNameLst>
                                      </p:cBhvr>
                                      <p:to>
                                        <p:strVal val="visible"/>
                                      </p:to>
                                    </p:set>
                                    <p:animEffect transition="in" filter="dissolve">
                                      <p:cBhvr>
                                        <p:cTn id="180"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156" grpId="0" animBg="1"/>
      <p:bldP spid="162" grpId="0" animBg="1"/>
      <p:bldP spid="235" grpId="0" animBg="1"/>
      <p:bldP spid="236" grpId="0" animBg="1"/>
      <p:bldP spid="248" grpId="0" animBg="1"/>
      <p:bldP spid="303" grpId="0"/>
      <p:bldP spid="304" grpId="0"/>
      <p:bldP spid="305" grpId="0"/>
      <p:bldP spid="306" grpId="0"/>
      <p:bldP spid="307" grpId="0"/>
      <p:bldP spid="350" grpId="0" animBg="1"/>
      <p:bldP spid="351" grpId="0" animBg="1"/>
      <p:bldP spid="352" grpId="0" animBg="1"/>
      <p:bldP spid="353" grpId="0" animBg="1"/>
      <p:bldP spid="354" grpId="0" animBg="1"/>
      <p:bldP spid="355" grpId="0" animBg="1"/>
      <p:bldP spid="356" grpId="0" animBg="1"/>
      <p:bldP spid="357" grpId="0" animBg="1"/>
      <p:bldP spid="358" grpId="0" animBg="1"/>
      <p:bldP spid="360" grpId="0"/>
      <p:bldP spid="361" grpId="0"/>
      <p:bldP spid="362" grpId="0"/>
      <p:bldP spid="363" grpId="0"/>
      <p:bldP spid="364" grpId="0"/>
      <p:bldP spid="365" grpId="0"/>
      <p:bldP spid="366" grpId="0"/>
      <p:bldP spid="367" grpId="0"/>
      <p:bldP spid="282" grpId="0" animBg="1"/>
      <p:bldP spid="284" grpId="0"/>
      <p:bldP spid="292" grpId="0" animBg="1"/>
      <p:bldP spid="384" grpId="0"/>
      <p:bldP spid="385" grpId="0"/>
      <p:bldP spid="441" grpId="0"/>
      <p:bldP spid="442" grpId="0"/>
      <p:bldP spid="443" grpId="0"/>
      <p:bldP spid="444" grpId="0"/>
      <p:bldP spid="196" grpId="0"/>
      <p:bldP spid="200" grpId="0"/>
      <p:bldP spid="204" grpId="0"/>
      <p:bldP spid="208" grpId="0"/>
      <p:bldP spid="2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42222" y="94925"/>
            <a:ext cx="5200339" cy="670967"/>
          </a:xfrm>
        </p:spPr>
        <p:txBody>
          <a:bodyPr>
            <a:normAutofit fontScale="90000"/>
          </a:bodyPr>
          <a:lstStyle/>
          <a:p>
            <a:r>
              <a:rPr lang="en-US" sz="3600" dirty="0">
                <a:latin typeface="Avenir Book" panose="020B0503020203020204" pitchFamily="34" charset="-78"/>
                <a:cs typeface="Avenir Book" panose="020B0503020203020204" pitchFamily="34" charset="-78"/>
              </a:rPr>
              <a:t>TCP Congestion Avoidance</a:t>
            </a:r>
            <a:endParaRPr lang="en-US" sz="3300" dirty="0">
              <a:latin typeface="Avenir Book" panose="020B0503020203020204" pitchFamily="34" charset="-78"/>
              <a:cs typeface="Avenir Book" panose="020B0503020203020204" pitchFamily="34" charset="-78"/>
            </a:endParaRPr>
          </a:p>
        </p:txBody>
      </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92750" y="734465"/>
            <a:ext cx="5753821" cy="535745"/>
          </a:xfrm>
          <a:prstGeom prst="rect">
            <a:avLst/>
          </a:prstGeom>
        </p:spPr>
        <p:txBody>
          <a:bodyPr vert="horz" lIns="68580" tIns="34290" rIns="68580" bIns="34290" rtlCol="0">
            <a:normAutofit fontScale="850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Avenir Book" panose="020B0503020203020204" pitchFamily="34" charset="-78"/>
                <a:cs typeface="Avenir Book" panose="020B0503020203020204" pitchFamily="34" charset="-78"/>
              </a:rPr>
              <a:t>After </a:t>
            </a:r>
            <a:r>
              <a:rPr lang="en-US" sz="2400" dirty="0" err="1">
                <a:solidFill>
                  <a:prstClr val="black"/>
                </a:solidFill>
                <a:latin typeface="Avenir Book" panose="020B0503020203020204" pitchFamily="34" charset="-78"/>
                <a:cs typeface="Avenir Book" panose="020B0503020203020204" pitchFamily="34" charset="-78"/>
              </a:rPr>
              <a:t>ssthresh</a:t>
            </a:r>
            <a:r>
              <a:rPr lang="en-US" sz="2400" dirty="0">
                <a:solidFill>
                  <a:prstClr val="black"/>
                </a:solidFill>
                <a:latin typeface="Avenir Book" panose="020B0503020203020204" pitchFamily="34" charset="-78"/>
                <a:cs typeface="Avenir Book" panose="020B0503020203020204" pitchFamily="34" charset="-78"/>
              </a:rPr>
              <a:t>, reduce the rate of CW increase</a:t>
            </a:r>
          </a:p>
        </p:txBody>
      </p:sp>
      <mc:AlternateContent xmlns:mc="http://schemas.openxmlformats.org/markup-compatibility/2006">
        <mc:Choice xmlns:a14="http://schemas.microsoft.com/office/drawing/2010/main" Requires="a14">
          <p:sp>
            <p:nvSpPr>
              <p:cNvPr id="293" name="TextBox 292"/>
              <p:cNvSpPr txBox="1"/>
              <p:nvPr/>
            </p:nvSpPr>
            <p:spPr>
              <a:xfrm>
                <a:off x="7879971" y="326579"/>
                <a:ext cx="2733478" cy="1186094"/>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Upon every ACK</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 CW + MSS </a:t>
                </a:r>
                <a14:m>
                  <m:oMath xmlns:m="http://schemas.openxmlformats.org/officeDocument/2006/math">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t>
                    </m:r>
                    <m:f>
                      <m:fPr>
                        <m:ctrlPr>
                          <a:rPr lang="en-IN" altLang="en-US" b="0"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MSS</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cwnd</m:t>
                        </m:r>
                      </m:den>
                    </m:f>
                  </m:oMath>
                </a14:m>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CW + </a:t>
                </a:r>
                <a14:m>
                  <m:oMath xmlns:m="http://schemas.openxmlformats.org/officeDocument/2006/math">
                    <m:f>
                      <m:fPr>
                        <m:ctrlPr>
                          <a:rPr lang="en-US" altLang="en-US"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1</m:t>
                        </m:r>
                      </m:num>
                      <m:den>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m:t>
                        </m:r>
                      </m:den>
                    </m:f>
                  </m:oMath>
                </a14:m>
                <a:endParaRPr lang="en-IN" dirty="0">
                  <a:solidFill>
                    <a:srgbClr val="0000FF"/>
                  </a:solidFill>
                  <a:latin typeface="Avenir Book" panose="020B0503020203020204" pitchFamily="34" charset="-78"/>
                  <a:cs typeface="Avenir Book" panose="020B0503020203020204" pitchFamily="34" charset="-78"/>
                </a:endParaRPr>
              </a:p>
            </p:txBody>
          </p:sp>
        </mc:Choice>
        <mc:Fallback>
          <p:sp>
            <p:nvSpPr>
              <p:cNvPr id="293" name="TextBox 292"/>
              <p:cNvSpPr txBox="1">
                <a:spLocks noRot="1" noChangeAspect="1" noMove="1" noResize="1" noEditPoints="1" noAdjustHandles="1" noChangeArrowheads="1" noChangeShapeType="1" noTextEdit="1"/>
              </p:cNvSpPr>
              <p:nvPr/>
            </p:nvSpPr>
            <p:spPr>
              <a:xfrm>
                <a:off x="7879971" y="326579"/>
                <a:ext cx="2733478" cy="1186094"/>
              </a:xfrm>
              <a:prstGeom prst="rect">
                <a:avLst/>
              </a:prstGeom>
              <a:blipFill>
                <a:blip r:embed="rId3"/>
                <a:stretch>
                  <a:fillRect l="-889" t="-2551"/>
                </a:stretch>
              </a:blipFill>
              <a:ln cap="rnd">
                <a:solidFill>
                  <a:srgbClr val="C00000"/>
                </a:solidFill>
              </a:ln>
            </p:spPr>
            <p:txBody>
              <a:bodyPr/>
              <a:lstStyle/>
              <a:p>
                <a:r>
                  <a:rPr lang="en-IN">
                    <a:noFill/>
                  </a:rPr>
                  <a:t> </a:t>
                </a:r>
              </a:p>
            </p:txBody>
          </p:sp>
        </mc:Fallback>
      </mc:AlternateContent>
      <p:sp>
        <p:nvSpPr>
          <p:cNvPr id="282" name="Line 6">
            <a:extLst>
              <a:ext uri="{FF2B5EF4-FFF2-40B4-BE49-F238E27FC236}">
                <a16:creationId xmlns:a16="http://schemas.microsoft.com/office/drawing/2014/main" id="{6A528287-EE91-2148-8BF9-9042AB1CFB64}"/>
              </a:ext>
            </a:extLst>
          </p:cNvPr>
          <p:cNvSpPr>
            <a:spLocks noChangeShapeType="1"/>
          </p:cNvSpPr>
          <p:nvPr/>
        </p:nvSpPr>
        <p:spPr bwMode="auto">
          <a:xfrm>
            <a:off x="2007350" y="2152286"/>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83"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1683921" y="1298606"/>
            <a:ext cx="694485"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A</a:t>
            </a:r>
          </a:p>
        </p:txBody>
      </p:sp>
      <p:sp>
        <p:nvSpPr>
          <p:cNvPr id="28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2732576" y="2114624"/>
            <a:ext cx="965329"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one segment</a:t>
            </a:r>
            <a:endParaRPr lang="en-US" sz="750" dirty="0">
              <a:solidFill>
                <a:srgbClr val="000000"/>
              </a:solidFill>
              <a:latin typeface="Times New Roman" charset="0"/>
            </a:endParaRPr>
          </a:p>
        </p:txBody>
      </p:sp>
      <p:sp>
        <p:nvSpPr>
          <p:cNvPr id="285"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3506752" y="128789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B</a:t>
            </a:r>
          </a:p>
        </p:txBody>
      </p:sp>
      <p:sp>
        <p:nvSpPr>
          <p:cNvPr id="286" name="Line 13">
            <a:extLst>
              <a:ext uri="{FF2B5EF4-FFF2-40B4-BE49-F238E27FC236}">
                <a16:creationId xmlns:a16="http://schemas.microsoft.com/office/drawing/2014/main" id="{A18AC8EC-DBD1-E34E-B3EA-D3876A530333}"/>
              </a:ext>
            </a:extLst>
          </p:cNvPr>
          <p:cNvSpPr>
            <a:spLocks noChangeShapeType="1"/>
          </p:cNvSpPr>
          <p:nvPr/>
        </p:nvSpPr>
        <p:spPr bwMode="auto">
          <a:xfrm>
            <a:off x="2003778" y="2012982"/>
            <a:ext cx="7144" cy="2466369"/>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87" name="Line 14">
            <a:extLst>
              <a:ext uri="{FF2B5EF4-FFF2-40B4-BE49-F238E27FC236}">
                <a16:creationId xmlns:a16="http://schemas.microsoft.com/office/drawing/2014/main" id="{77B3310E-1B60-414E-9423-328982307B1D}"/>
              </a:ext>
            </a:extLst>
          </p:cNvPr>
          <p:cNvSpPr>
            <a:spLocks noChangeShapeType="1"/>
          </p:cNvSpPr>
          <p:nvPr/>
        </p:nvSpPr>
        <p:spPr bwMode="auto">
          <a:xfrm>
            <a:off x="3889728" y="2041558"/>
            <a:ext cx="11314" cy="2283806"/>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288" name="Group 287">
            <a:extLst>
              <a:ext uri="{FF2B5EF4-FFF2-40B4-BE49-F238E27FC236}">
                <a16:creationId xmlns:a16="http://schemas.microsoft.com/office/drawing/2014/main" id="{E69B56F2-B7D2-5247-8C5B-11CDFE50D6C7}"/>
              </a:ext>
            </a:extLst>
          </p:cNvPr>
          <p:cNvGrpSpPr/>
          <p:nvPr/>
        </p:nvGrpSpPr>
        <p:grpSpPr>
          <a:xfrm>
            <a:off x="1747035" y="2124901"/>
            <a:ext cx="253916" cy="622697"/>
            <a:chOff x="7237996" y="2270077"/>
            <a:chExt cx="338555" cy="830263"/>
          </a:xfrm>
        </p:grpSpPr>
        <p:sp>
          <p:nvSpPr>
            <p:cNvPr id="289"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290"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1"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92"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1989491" y="2455895"/>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97" name="Group 296">
            <a:extLst>
              <a:ext uri="{FF2B5EF4-FFF2-40B4-BE49-F238E27FC236}">
                <a16:creationId xmlns:a16="http://schemas.microsoft.com/office/drawing/2014/main" id="{4100408E-3418-754E-97D5-873085045522}"/>
              </a:ext>
            </a:extLst>
          </p:cNvPr>
          <p:cNvGrpSpPr/>
          <p:nvPr/>
        </p:nvGrpSpPr>
        <p:grpSpPr>
          <a:xfrm>
            <a:off x="2007350" y="2738073"/>
            <a:ext cx="1882379" cy="328613"/>
            <a:chOff x="7585075" y="3087640"/>
            <a:chExt cx="2509838" cy="438150"/>
          </a:xfrm>
        </p:grpSpPr>
        <p:sp>
          <p:nvSpPr>
            <p:cNvPr id="298"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9"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00" name="Group 299">
            <a:extLst>
              <a:ext uri="{FF2B5EF4-FFF2-40B4-BE49-F238E27FC236}">
                <a16:creationId xmlns:a16="http://schemas.microsoft.com/office/drawing/2014/main" id="{C604703D-5DBE-F940-8D53-F844A095856D}"/>
              </a:ext>
            </a:extLst>
          </p:cNvPr>
          <p:cNvGrpSpPr/>
          <p:nvPr/>
        </p:nvGrpSpPr>
        <p:grpSpPr>
          <a:xfrm>
            <a:off x="1987110" y="3195272"/>
            <a:ext cx="1916906" cy="375046"/>
            <a:chOff x="7558088" y="3697240"/>
            <a:chExt cx="2555875" cy="500062"/>
          </a:xfrm>
        </p:grpSpPr>
        <p:sp>
          <p:nvSpPr>
            <p:cNvPr id="301"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02"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844876"/>
              <a:ext cx="2505075" cy="352426"/>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384"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2731930" y="2703983"/>
            <a:ext cx="101662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two segments</a:t>
            </a:r>
            <a:endParaRPr lang="en-US" sz="750" dirty="0">
              <a:solidFill>
                <a:srgbClr val="000000"/>
              </a:solidFill>
              <a:latin typeface="Times New Roman" charset="0"/>
            </a:endParaRPr>
          </a:p>
        </p:txBody>
      </p:sp>
      <p:sp>
        <p:nvSpPr>
          <p:cNvPr id="385"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2800482" y="3464792"/>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four segments</a:t>
            </a:r>
            <a:endParaRPr lang="en-US" sz="750" dirty="0">
              <a:solidFill>
                <a:srgbClr val="000000"/>
              </a:solidFill>
              <a:latin typeface="Times New Roman" charset="0"/>
            </a:endParaRPr>
          </a:p>
        </p:txBody>
      </p:sp>
      <p:grpSp>
        <p:nvGrpSpPr>
          <p:cNvPr id="386" name="Group 27">
            <a:extLst>
              <a:ext uri="{FF2B5EF4-FFF2-40B4-BE49-F238E27FC236}">
                <a16:creationId xmlns:a16="http://schemas.microsoft.com/office/drawing/2014/main" id="{B634F089-4244-B04A-8749-7ACF0E0264A8}"/>
              </a:ext>
            </a:extLst>
          </p:cNvPr>
          <p:cNvGrpSpPr>
            <a:grpSpLocks/>
          </p:cNvGrpSpPr>
          <p:nvPr/>
        </p:nvGrpSpPr>
        <p:grpSpPr bwMode="auto">
          <a:xfrm>
            <a:off x="2003781" y="3491739"/>
            <a:ext cx="1889522" cy="489347"/>
            <a:chOff x="3954" y="2214"/>
            <a:chExt cx="1587" cy="411"/>
          </a:xfrm>
        </p:grpSpPr>
        <p:sp>
          <p:nvSpPr>
            <p:cNvPr id="387"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8"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9"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0"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1" name="Group 32">
            <a:extLst>
              <a:ext uri="{FF2B5EF4-FFF2-40B4-BE49-F238E27FC236}">
                <a16:creationId xmlns:a16="http://schemas.microsoft.com/office/drawing/2014/main" id="{00C5C000-11E9-BE42-9849-B1B7B9E99FE0}"/>
              </a:ext>
            </a:extLst>
          </p:cNvPr>
          <p:cNvGrpSpPr>
            <a:grpSpLocks/>
          </p:cNvGrpSpPr>
          <p:nvPr/>
        </p:nvGrpSpPr>
        <p:grpSpPr bwMode="auto">
          <a:xfrm flipV="1">
            <a:off x="1986862" y="3777487"/>
            <a:ext cx="1902866" cy="453629"/>
            <a:chOff x="3954" y="2214"/>
            <a:chExt cx="1587" cy="411"/>
          </a:xfrm>
        </p:grpSpPr>
        <p:sp>
          <p:nvSpPr>
            <p:cNvPr id="392"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3"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4"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5"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6" name="Group 43">
            <a:extLst>
              <a:ext uri="{FF2B5EF4-FFF2-40B4-BE49-F238E27FC236}">
                <a16:creationId xmlns:a16="http://schemas.microsoft.com/office/drawing/2014/main" id="{D0982D30-E871-F344-B80E-157861960777}"/>
              </a:ext>
            </a:extLst>
          </p:cNvPr>
          <p:cNvGrpSpPr>
            <a:grpSpLocks/>
          </p:cNvGrpSpPr>
          <p:nvPr/>
        </p:nvGrpSpPr>
        <p:grpSpPr bwMode="auto">
          <a:xfrm>
            <a:off x="1675165" y="1541495"/>
            <a:ext cx="490538" cy="451247"/>
            <a:chOff x="-44" y="1473"/>
            <a:chExt cx="981" cy="1105"/>
          </a:xfrm>
        </p:grpSpPr>
        <p:pic>
          <p:nvPicPr>
            <p:cNvPr id="397"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399" name="Group 46">
            <a:extLst>
              <a:ext uri="{FF2B5EF4-FFF2-40B4-BE49-F238E27FC236}">
                <a16:creationId xmlns:a16="http://schemas.microsoft.com/office/drawing/2014/main" id="{514EF769-BED4-DE47-BE55-0913ABFB155D}"/>
              </a:ext>
            </a:extLst>
          </p:cNvPr>
          <p:cNvGrpSpPr>
            <a:grpSpLocks/>
          </p:cNvGrpSpPr>
          <p:nvPr/>
        </p:nvGrpSpPr>
        <p:grpSpPr bwMode="auto">
          <a:xfrm>
            <a:off x="3726613" y="1552211"/>
            <a:ext cx="286941" cy="410765"/>
            <a:chOff x="4140" y="429"/>
            <a:chExt cx="1425" cy="2396"/>
          </a:xfrm>
        </p:grpSpPr>
        <p:sp>
          <p:nvSpPr>
            <p:cNvPr id="400"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1"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2"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3"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4"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5"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430"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1"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6"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7"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428"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9"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8"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9"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10"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426"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7"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1"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412"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424"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5"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3"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4"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5"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6"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7"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8"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9"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0"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1"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422"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3"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2" name="Group 431">
            <a:extLst>
              <a:ext uri="{FF2B5EF4-FFF2-40B4-BE49-F238E27FC236}">
                <a16:creationId xmlns:a16="http://schemas.microsoft.com/office/drawing/2014/main" id="{E69B56F2-B7D2-5247-8C5B-11CDFE50D6C7}"/>
              </a:ext>
            </a:extLst>
          </p:cNvPr>
          <p:cNvGrpSpPr/>
          <p:nvPr/>
        </p:nvGrpSpPr>
        <p:grpSpPr>
          <a:xfrm>
            <a:off x="1768111" y="2897322"/>
            <a:ext cx="253916" cy="622697"/>
            <a:chOff x="7237996" y="2270077"/>
            <a:chExt cx="338555" cy="830263"/>
          </a:xfrm>
        </p:grpSpPr>
        <p:sp>
          <p:nvSpPr>
            <p:cNvPr id="433"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4"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5"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6" name="Group 435">
            <a:extLst>
              <a:ext uri="{FF2B5EF4-FFF2-40B4-BE49-F238E27FC236}">
                <a16:creationId xmlns:a16="http://schemas.microsoft.com/office/drawing/2014/main" id="{E69B56F2-B7D2-5247-8C5B-11CDFE50D6C7}"/>
              </a:ext>
            </a:extLst>
          </p:cNvPr>
          <p:cNvGrpSpPr/>
          <p:nvPr/>
        </p:nvGrpSpPr>
        <p:grpSpPr>
          <a:xfrm>
            <a:off x="1785916" y="3600032"/>
            <a:ext cx="253916" cy="622697"/>
            <a:chOff x="7237996" y="2270077"/>
            <a:chExt cx="338555" cy="830263"/>
          </a:xfrm>
        </p:grpSpPr>
        <p:sp>
          <p:nvSpPr>
            <p:cNvPr id="43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8"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9"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41"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93705" y="2041557"/>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1</a:t>
            </a:r>
          </a:p>
        </p:txBody>
      </p:sp>
      <p:sp>
        <p:nvSpPr>
          <p:cNvPr id="442"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70264" y="2594841"/>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2</a:t>
            </a:r>
          </a:p>
        </p:txBody>
      </p:sp>
      <p:sp>
        <p:nvSpPr>
          <p:cNvPr id="44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8650" y="3379328"/>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a:t>
            </a:r>
          </a:p>
        </p:txBody>
      </p:sp>
      <p:sp>
        <p:nvSpPr>
          <p:cNvPr id="44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1287" y="4048364"/>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5</a:t>
            </a:r>
          </a:p>
        </p:txBody>
      </p:sp>
      <p:sp>
        <p:nvSpPr>
          <p:cNvPr id="445" name="TextBox 444"/>
          <p:cNvSpPr txBox="1"/>
          <p:nvPr/>
        </p:nvSpPr>
        <p:spPr>
          <a:xfrm>
            <a:off x="458404" y="4760393"/>
            <a:ext cx="8274654" cy="369332"/>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After 1 RTT, the CW is approx. increasing by 1 MSS </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Congestion avoidance</a:t>
            </a:r>
            <a:endParaRPr lang="en-IN" dirty="0">
              <a:solidFill>
                <a:srgbClr val="0000FF"/>
              </a:solidFill>
              <a:latin typeface="Avenir Book" panose="020B0503020203020204" pitchFamily="34" charset="-78"/>
              <a:cs typeface="Avenir Book" panose="020B0503020203020204" pitchFamily="34" charset="-78"/>
            </a:endParaRPr>
          </a:p>
        </p:txBody>
      </p:sp>
      <mc:AlternateContent xmlns:mc="http://schemas.openxmlformats.org/markup-compatibility/2006" xmlns:a14="http://schemas.microsoft.com/office/drawing/2010/main">
        <mc:Choice Requires="a14">
          <p:sp>
            <p:nvSpPr>
              <p:cNvPr id="171" name="TextBox 170"/>
              <p:cNvSpPr txBox="1"/>
              <p:nvPr/>
            </p:nvSpPr>
            <p:spPr>
              <a:xfrm>
                <a:off x="4746171" y="2254124"/>
                <a:ext cx="6651709" cy="1316194"/>
              </a:xfrm>
              <a:prstGeom prst="rect">
                <a:avLst/>
              </a:prstGeom>
              <a:solidFill>
                <a:schemeClr val="accent6">
                  <a:lumMod val="40000"/>
                  <a:lumOff val="60000"/>
                  <a:alpha val="32000"/>
                </a:scheme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If MSS = 1460 Bytes, CW = 14600 Bytes </a:t>
                </a:r>
              </a:p>
              <a:p>
                <a:pPr algn="ct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CW = CW + MSS </a:t>
                </a:r>
                <a14:m>
                  <m:oMath xmlns:m="http://schemas.openxmlformats.org/officeDocument/2006/math">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m:t>
                    </m:r>
                    <m:f>
                      <m:fPr>
                        <m:ctrlPr>
                          <a:rPr lang="en-IN" altLang="en-US" b="0"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1</m:t>
                        </m:r>
                      </m:num>
                      <m:den>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10</m:t>
                        </m:r>
                      </m:den>
                    </m:f>
                  </m:oMath>
                </a14:m>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a:t>
                </a:r>
              </a:p>
              <a:p>
                <a:pPr algn="ctr"/>
                <a:r>
                  <a:rPr lang="en-US" altLang="en-US" dirty="0">
                    <a:solidFill>
                      <a:srgbClr val="0000FF"/>
                    </a:solidFill>
                    <a:latin typeface="Avenir Book" panose="020B0503020203020204" pitchFamily="34" charset="-78"/>
                    <a:cs typeface="Avenir Book" panose="020B0503020203020204" pitchFamily="34" charset="-78"/>
                    <a:sym typeface="Symbol" panose="05050102010706020507" pitchFamily="18" charset="2"/>
                  </a:rPr>
                  <a:t></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a:t>
                </a:r>
                <a:r>
                  <a:rPr lang="en-IN"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will be increased by 1 MSS after all 10 segments will be received </a:t>
                </a:r>
                <a:r>
                  <a:rPr lang="en-IN" altLang="en-US" dirty="0">
                    <a:solidFill>
                      <a:srgbClr val="0000FF"/>
                    </a:solidFill>
                    <a:latin typeface="Avenir Book" panose="020B0503020203020204" pitchFamily="34" charset="-78"/>
                    <a:cs typeface="Avenir Book" panose="020B0503020203020204" pitchFamily="34" charset="-78"/>
                    <a:sym typeface="Symbol" panose="05050102010706020507" pitchFamily="18" charset="2"/>
                  </a:rPr>
                  <a:t> </a:t>
                </a:r>
                <a:r>
                  <a:rPr lang="en-IN"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after 1 RTT</a:t>
                </a:r>
                <a:endParaRPr lang="en-IN" dirty="0">
                  <a:solidFill>
                    <a:srgbClr val="0000FF"/>
                  </a:solidFill>
                  <a:latin typeface="Avenir Book" panose="020B0503020203020204" pitchFamily="34" charset="-78"/>
                  <a:cs typeface="Avenir Book" panose="020B0503020203020204" pitchFamily="34" charset="-78"/>
                </a:endParaRPr>
              </a:p>
            </p:txBody>
          </p:sp>
        </mc:Choice>
        <mc:Fallback xmlns="">
          <p:sp>
            <p:nvSpPr>
              <p:cNvPr id="171" name="TextBox 170"/>
              <p:cNvSpPr txBox="1">
                <a:spLocks noRot="1" noChangeAspect="1" noMove="1" noResize="1" noEditPoints="1" noAdjustHandles="1" noChangeArrowheads="1" noChangeShapeType="1" noTextEdit="1"/>
              </p:cNvSpPr>
              <p:nvPr/>
            </p:nvSpPr>
            <p:spPr>
              <a:xfrm>
                <a:off x="4746171" y="2254124"/>
                <a:ext cx="6651709" cy="1316194"/>
              </a:xfrm>
              <a:prstGeom prst="rect">
                <a:avLst/>
              </a:prstGeom>
              <a:blipFill>
                <a:blip r:embed="rId5"/>
                <a:stretch>
                  <a:fillRect t="-2294" r="-640" b="-6422"/>
                </a:stretch>
              </a:blipFill>
              <a:ln cap="rnd">
                <a:solidFill>
                  <a:srgbClr val="C00000"/>
                </a:solidFill>
              </a:ln>
            </p:spPr>
            <p:txBody>
              <a:bodyPr/>
              <a:lstStyle/>
              <a:p>
                <a:r>
                  <a:rPr lang="en-IN">
                    <a:noFill/>
                  </a:rPr>
                  <a:t> </a:t>
                </a:r>
              </a:p>
            </p:txBody>
          </p:sp>
        </mc:Fallback>
      </mc:AlternateContent>
    </p:spTree>
    <p:extLst>
      <p:ext uri="{BB962C8B-B14F-4D97-AF65-F5344CB8AC3E}">
        <p14:creationId xmlns:p14="http://schemas.microsoft.com/office/powerpoint/2010/main" val="378482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ssolv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2"/>
                                        </p:tgtEl>
                                        <p:attrNameLst>
                                          <p:attrName>style.visibility</p:attrName>
                                        </p:attrNameLst>
                                      </p:cBhvr>
                                      <p:to>
                                        <p:strVal val="visible"/>
                                      </p:to>
                                    </p:set>
                                    <p:animEffect transition="in" filter="wipe(left)">
                                      <p:cBhvr>
                                        <p:cTn id="12" dur="500"/>
                                        <p:tgtEl>
                                          <p:spTgt spid="28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84"/>
                                        </p:tgtEl>
                                        <p:attrNameLst>
                                          <p:attrName>style.visibility</p:attrName>
                                        </p:attrNameLst>
                                      </p:cBhvr>
                                      <p:to>
                                        <p:strVal val="visible"/>
                                      </p:to>
                                    </p:set>
                                    <p:animEffect transition="in" filter="dissolve">
                                      <p:cBhvr>
                                        <p:cTn id="15" dur="500"/>
                                        <p:tgtEl>
                                          <p:spTgt spid="284"/>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292"/>
                                        </p:tgtEl>
                                        <p:attrNameLst>
                                          <p:attrName>style.visibility</p:attrName>
                                        </p:attrNameLst>
                                      </p:cBhvr>
                                      <p:to>
                                        <p:strVal val="visible"/>
                                      </p:to>
                                    </p:set>
                                    <p:animEffect transition="in" filter="wipe(right)">
                                      <p:cBhvr>
                                        <p:cTn id="19" dur="500"/>
                                        <p:tgtEl>
                                          <p:spTgt spid="292"/>
                                        </p:tgtEl>
                                      </p:cBhvr>
                                    </p:animEffect>
                                  </p:childTnLst>
                                </p:cTn>
                              </p:par>
                            </p:childTnLst>
                          </p:cTn>
                        </p:par>
                        <p:par>
                          <p:cTn id="20" fill="hold">
                            <p:stCondLst>
                              <p:cond delay="1000"/>
                            </p:stCondLst>
                            <p:childTnLst>
                              <p:par>
                                <p:cTn id="21" presetID="9" presetClass="entr" presetSubtype="0" fill="hold" nodeType="afterEffect">
                                  <p:stCondLst>
                                    <p:cond delay="0"/>
                                  </p:stCondLst>
                                  <p:childTnLst>
                                    <p:set>
                                      <p:cBhvr>
                                        <p:cTn id="22" dur="1" fill="hold">
                                          <p:stCondLst>
                                            <p:cond delay="0"/>
                                          </p:stCondLst>
                                        </p:cTn>
                                        <p:tgtEl>
                                          <p:spTgt spid="288"/>
                                        </p:tgtEl>
                                        <p:attrNameLst>
                                          <p:attrName>style.visibility</p:attrName>
                                        </p:attrNameLst>
                                      </p:cBhvr>
                                      <p:to>
                                        <p:strVal val="visible"/>
                                      </p:to>
                                    </p:set>
                                    <p:animEffect transition="in" filter="dissolve">
                                      <p:cBhvr>
                                        <p:cTn id="23" dur="500"/>
                                        <p:tgtEl>
                                          <p:spTgt spid="28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wipe(left)">
                                      <p:cBhvr>
                                        <p:cTn id="28" dur="500"/>
                                        <p:tgtEl>
                                          <p:spTgt spid="29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84"/>
                                        </p:tgtEl>
                                        <p:attrNameLst>
                                          <p:attrName>style.visibility</p:attrName>
                                        </p:attrNameLst>
                                      </p:cBhvr>
                                      <p:to>
                                        <p:strVal val="visible"/>
                                      </p:to>
                                    </p:set>
                                    <p:animEffect transition="in" filter="dissolve">
                                      <p:cBhvr>
                                        <p:cTn id="31" dur="500"/>
                                        <p:tgtEl>
                                          <p:spTgt spid="384"/>
                                        </p:tgtEl>
                                      </p:cBhvr>
                                    </p:animEffect>
                                  </p:childTnLst>
                                </p:cTn>
                              </p:par>
                            </p:childTnLst>
                          </p:cTn>
                        </p:par>
                        <p:par>
                          <p:cTn id="32" fill="hold">
                            <p:stCondLst>
                              <p:cond delay="500"/>
                            </p:stCondLst>
                            <p:childTnLst>
                              <p:par>
                                <p:cTn id="33" presetID="22" presetClass="entr" presetSubtype="2" fill="hold" nodeType="afterEffect">
                                  <p:stCondLst>
                                    <p:cond delay="0"/>
                                  </p:stCondLst>
                                  <p:childTnLst>
                                    <p:set>
                                      <p:cBhvr>
                                        <p:cTn id="34" dur="1" fill="hold">
                                          <p:stCondLst>
                                            <p:cond delay="0"/>
                                          </p:stCondLst>
                                        </p:cTn>
                                        <p:tgtEl>
                                          <p:spTgt spid="300"/>
                                        </p:tgtEl>
                                        <p:attrNameLst>
                                          <p:attrName>style.visibility</p:attrName>
                                        </p:attrNameLst>
                                      </p:cBhvr>
                                      <p:to>
                                        <p:strVal val="visible"/>
                                      </p:to>
                                    </p:set>
                                    <p:animEffect transition="in" filter="wipe(right)">
                                      <p:cBhvr>
                                        <p:cTn id="35" dur="500"/>
                                        <p:tgtEl>
                                          <p:spTgt spid="300"/>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386"/>
                                        </p:tgtEl>
                                        <p:attrNameLst>
                                          <p:attrName>style.visibility</p:attrName>
                                        </p:attrNameLst>
                                      </p:cBhvr>
                                      <p:to>
                                        <p:strVal val="visible"/>
                                      </p:to>
                                    </p:set>
                                    <p:animEffect transition="in" filter="wipe(left)">
                                      <p:cBhvr>
                                        <p:cTn id="39" dur="500"/>
                                        <p:tgtEl>
                                          <p:spTgt spid="38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85"/>
                                        </p:tgtEl>
                                        <p:attrNameLst>
                                          <p:attrName>style.visibility</p:attrName>
                                        </p:attrNameLst>
                                      </p:cBhvr>
                                      <p:to>
                                        <p:strVal val="visible"/>
                                      </p:to>
                                    </p:set>
                                    <p:animEffect transition="in" filter="dissolve">
                                      <p:cBhvr>
                                        <p:cTn id="42" dur="500"/>
                                        <p:tgtEl>
                                          <p:spTgt spid="385"/>
                                        </p:tgtEl>
                                      </p:cBhvr>
                                    </p:animEffect>
                                  </p:childTnLst>
                                </p:cTn>
                              </p:par>
                            </p:childTnLst>
                          </p:cTn>
                        </p:par>
                        <p:par>
                          <p:cTn id="43" fill="hold">
                            <p:stCondLst>
                              <p:cond delay="1500"/>
                            </p:stCondLst>
                            <p:childTnLst>
                              <p:par>
                                <p:cTn id="44" presetID="22" presetClass="entr" presetSubtype="2" fill="hold" nodeType="afterEffect">
                                  <p:stCondLst>
                                    <p:cond delay="0"/>
                                  </p:stCondLst>
                                  <p:childTnLst>
                                    <p:set>
                                      <p:cBhvr>
                                        <p:cTn id="45" dur="1" fill="hold">
                                          <p:stCondLst>
                                            <p:cond delay="0"/>
                                          </p:stCondLst>
                                        </p:cTn>
                                        <p:tgtEl>
                                          <p:spTgt spid="391"/>
                                        </p:tgtEl>
                                        <p:attrNameLst>
                                          <p:attrName>style.visibility</p:attrName>
                                        </p:attrNameLst>
                                      </p:cBhvr>
                                      <p:to>
                                        <p:strVal val="visible"/>
                                      </p:to>
                                    </p:set>
                                    <p:animEffect transition="in" filter="wipe(right)">
                                      <p:cBhvr>
                                        <p:cTn id="46" dur="500"/>
                                        <p:tgtEl>
                                          <p:spTgt spid="391"/>
                                        </p:tgtEl>
                                      </p:cBhvr>
                                    </p:animEffect>
                                  </p:childTnLst>
                                </p:cTn>
                              </p:par>
                            </p:childTnLst>
                          </p:cTn>
                        </p:par>
                        <p:par>
                          <p:cTn id="47" fill="hold">
                            <p:stCondLst>
                              <p:cond delay="2000"/>
                            </p:stCondLst>
                            <p:childTnLst>
                              <p:par>
                                <p:cTn id="48" presetID="9" presetClass="entr" presetSubtype="0" fill="hold" nodeType="afterEffect">
                                  <p:stCondLst>
                                    <p:cond delay="0"/>
                                  </p:stCondLst>
                                  <p:childTnLst>
                                    <p:set>
                                      <p:cBhvr>
                                        <p:cTn id="49" dur="1" fill="hold">
                                          <p:stCondLst>
                                            <p:cond delay="0"/>
                                          </p:stCondLst>
                                        </p:cTn>
                                        <p:tgtEl>
                                          <p:spTgt spid="432"/>
                                        </p:tgtEl>
                                        <p:attrNameLst>
                                          <p:attrName>style.visibility</p:attrName>
                                        </p:attrNameLst>
                                      </p:cBhvr>
                                      <p:to>
                                        <p:strVal val="visible"/>
                                      </p:to>
                                    </p:set>
                                    <p:animEffect transition="in" filter="dissolve">
                                      <p:cBhvr>
                                        <p:cTn id="50" dur="500"/>
                                        <p:tgtEl>
                                          <p:spTgt spid="432"/>
                                        </p:tgtEl>
                                      </p:cBhvr>
                                    </p:animEffect>
                                  </p:childTnLst>
                                </p:cTn>
                              </p:par>
                            </p:childTnLst>
                          </p:cTn>
                        </p:par>
                        <p:par>
                          <p:cTn id="51" fill="hold">
                            <p:stCondLst>
                              <p:cond delay="2500"/>
                            </p:stCondLst>
                            <p:childTnLst>
                              <p:par>
                                <p:cTn id="52" presetID="9" presetClass="entr" presetSubtype="0" fill="hold" nodeType="afterEffect">
                                  <p:stCondLst>
                                    <p:cond delay="0"/>
                                  </p:stCondLst>
                                  <p:childTnLst>
                                    <p:set>
                                      <p:cBhvr>
                                        <p:cTn id="53" dur="1" fill="hold">
                                          <p:stCondLst>
                                            <p:cond delay="0"/>
                                          </p:stCondLst>
                                        </p:cTn>
                                        <p:tgtEl>
                                          <p:spTgt spid="436"/>
                                        </p:tgtEl>
                                        <p:attrNameLst>
                                          <p:attrName>style.visibility</p:attrName>
                                        </p:attrNameLst>
                                      </p:cBhvr>
                                      <p:to>
                                        <p:strVal val="visible"/>
                                      </p:to>
                                    </p:set>
                                    <p:animEffect transition="in" filter="dissolve">
                                      <p:cBhvr>
                                        <p:cTn id="54" dur="500"/>
                                        <p:tgtEl>
                                          <p:spTgt spid="436"/>
                                        </p:tgtEl>
                                      </p:cBhvr>
                                    </p:animEffect>
                                  </p:childTnLst>
                                </p:cTn>
                              </p:par>
                            </p:childTnLst>
                          </p:cTn>
                        </p:par>
                        <p:par>
                          <p:cTn id="55" fill="hold">
                            <p:stCondLst>
                              <p:cond delay="3000"/>
                            </p:stCondLst>
                            <p:childTnLst>
                              <p:par>
                                <p:cTn id="56" presetID="9" presetClass="entr" presetSubtype="0" fill="hold" grpId="0" nodeType="afterEffect">
                                  <p:stCondLst>
                                    <p:cond delay="0"/>
                                  </p:stCondLst>
                                  <p:childTnLst>
                                    <p:set>
                                      <p:cBhvr>
                                        <p:cTn id="57" dur="1" fill="hold">
                                          <p:stCondLst>
                                            <p:cond delay="0"/>
                                          </p:stCondLst>
                                        </p:cTn>
                                        <p:tgtEl>
                                          <p:spTgt spid="441"/>
                                        </p:tgtEl>
                                        <p:attrNameLst>
                                          <p:attrName>style.visibility</p:attrName>
                                        </p:attrNameLst>
                                      </p:cBhvr>
                                      <p:to>
                                        <p:strVal val="visible"/>
                                      </p:to>
                                    </p:set>
                                    <p:animEffect transition="in" filter="dissolve">
                                      <p:cBhvr>
                                        <p:cTn id="58" dur="500"/>
                                        <p:tgtEl>
                                          <p:spTgt spid="441"/>
                                        </p:tgtEl>
                                      </p:cBhvr>
                                    </p:animEffect>
                                  </p:childTnLst>
                                </p:cTn>
                              </p:par>
                            </p:childTnLst>
                          </p:cTn>
                        </p:par>
                        <p:par>
                          <p:cTn id="59" fill="hold">
                            <p:stCondLst>
                              <p:cond delay="3500"/>
                            </p:stCondLst>
                            <p:childTnLst>
                              <p:par>
                                <p:cTn id="60" presetID="9" presetClass="entr" presetSubtype="0" fill="hold" grpId="0" nodeType="afterEffect">
                                  <p:stCondLst>
                                    <p:cond delay="0"/>
                                  </p:stCondLst>
                                  <p:childTnLst>
                                    <p:set>
                                      <p:cBhvr>
                                        <p:cTn id="61" dur="1" fill="hold">
                                          <p:stCondLst>
                                            <p:cond delay="0"/>
                                          </p:stCondLst>
                                        </p:cTn>
                                        <p:tgtEl>
                                          <p:spTgt spid="442"/>
                                        </p:tgtEl>
                                        <p:attrNameLst>
                                          <p:attrName>style.visibility</p:attrName>
                                        </p:attrNameLst>
                                      </p:cBhvr>
                                      <p:to>
                                        <p:strVal val="visible"/>
                                      </p:to>
                                    </p:set>
                                    <p:animEffect transition="in" filter="dissolve">
                                      <p:cBhvr>
                                        <p:cTn id="62" dur="500"/>
                                        <p:tgtEl>
                                          <p:spTgt spid="442"/>
                                        </p:tgtEl>
                                      </p:cBhvr>
                                    </p:animEffect>
                                  </p:childTnLst>
                                </p:cTn>
                              </p:par>
                            </p:childTnLst>
                          </p:cTn>
                        </p:par>
                        <p:par>
                          <p:cTn id="63" fill="hold">
                            <p:stCondLst>
                              <p:cond delay="4000"/>
                            </p:stCondLst>
                            <p:childTnLst>
                              <p:par>
                                <p:cTn id="64" presetID="9" presetClass="entr" presetSubtype="0" fill="hold" grpId="0" nodeType="afterEffect">
                                  <p:stCondLst>
                                    <p:cond delay="0"/>
                                  </p:stCondLst>
                                  <p:childTnLst>
                                    <p:set>
                                      <p:cBhvr>
                                        <p:cTn id="65" dur="1" fill="hold">
                                          <p:stCondLst>
                                            <p:cond delay="0"/>
                                          </p:stCondLst>
                                        </p:cTn>
                                        <p:tgtEl>
                                          <p:spTgt spid="443"/>
                                        </p:tgtEl>
                                        <p:attrNameLst>
                                          <p:attrName>style.visibility</p:attrName>
                                        </p:attrNameLst>
                                      </p:cBhvr>
                                      <p:to>
                                        <p:strVal val="visible"/>
                                      </p:to>
                                    </p:set>
                                    <p:animEffect transition="in" filter="dissolve">
                                      <p:cBhvr>
                                        <p:cTn id="66" dur="500"/>
                                        <p:tgtEl>
                                          <p:spTgt spid="443"/>
                                        </p:tgtEl>
                                      </p:cBhvr>
                                    </p:animEffect>
                                  </p:childTnLst>
                                </p:cTn>
                              </p:par>
                            </p:childTnLst>
                          </p:cTn>
                        </p:par>
                        <p:par>
                          <p:cTn id="67" fill="hold">
                            <p:stCondLst>
                              <p:cond delay="4500"/>
                            </p:stCondLst>
                            <p:childTnLst>
                              <p:par>
                                <p:cTn id="68" presetID="9" presetClass="entr" presetSubtype="0" fill="hold" grpId="0" nodeType="afterEffect">
                                  <p:stCondLst>
                                    <p:cond delay="0"/>
                                  </p:stCondLst>
                                  <p:childTnLst>
                                    <p:set>
                                      <p:cBhvr>
                                        <p:cTn id="69" dur="1" fill="hold">
                                          <p:stCondLst>
                                            <p:cond delay="0"/>
                                          </p:stCondLst>
                                        </p:cTn>
                                        <p:tgtEl>
                                          <p:spTgt spid="444"/>
                                        </p:tgtEl>
                                        <p:attrNameLst>
                                          <p:attrName>style.visibility</p:attrName>
                                        </p:attrNameLst>
                                      </p:cBhvr>
                                      <p:to>
                                        <p:strVal val="visible"/>
                                      </p:to>
                                    </p:set>
                                    <p:animEffect transition="in" filter="dissolve">
                                      <p:cBhvr>
                                        <p:cTn id="70" dur="500"/>
                                        <p:tgtEl>
                                          <p:spTgt spid="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282" grpId="0" animBg="1"/>
      <p:bldP spid="284" grpId="0"/>
      <p:bldP spid="292" grpId="0" animBg="1"/>
      <p:bldP spid="384" grpId="0"/>
      <p:bldP spid="385" grpId="0"/>
      <p:bldP spid="441" grpId="0"/>
      <p:bldP spid="442" grpId="0"/>
      <p:bldP spid="443" grpId="0"/>
      <p:bldP spid="4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42222" y="94925"/>
            <a:ext cx="5200339" cy="670967"/>
          </a:xfrm>
        </p:spPr>
        <p:txBody>
          <a:bodyPr>
            <a:normAutofit fontScale="90000"/>
          </a:bodyPr>
          <a:lstStyle/>
          <a:p>
            <a:r>
              <a:rPr lang="en-US" sz="3600" dirty="0">
                <a:latin typeface="Avenir Book" panose="020B0503020203020204" pitchFamily="34" charset="-78"/>
                <a:cs typeface="Avenir Book" panose="020B0503020203020204" pitchFamily="34" charset="-78"/>
              </a:rPr>
              <a:t>TCP Congestion Avoidance</a:t>
            </a:r>
            <a:endParaRPr lang="en-US" sz="3300" dirty="0">
              <a:latin typeface="Avenir Book" panose="020B0503020203020204" pitchFamily="34" charset="-78"/>
              <a:cs typeface="Avenir Book" panose="020B0503020203020204" pitchFamily="34" charset="-78"/>
            </a:endParaRPr>
          </a:p>
        </p:txBody>
      </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92750" y="734465"/>
            <a:ext cx="5753821" cy="535745"/>
          </a:xfrm>
          <a:prstGeom prst="rect">
            <a:avLst/>
          </a:prstGeom>
        </p:spPr>
        <p:txBody>
          <a:bodyPr vert="horz" lIns="68580" tIns="34290" rIns="68580" bIns="34290" rtlCol="0">
            <a:normAutofit fontScale="850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Avenir Book" panose="020B0503020203020204" pitchFamily="34" charset="-78"/>
                <a:cs typeface="Avenir Book" panose="020B0503020203020204" pitchFamily="34" charset="-78"/>
              </a:rPr>
              <a:t>After </a:t>
            </a:r>
            <a:r>
              <a:rPr lang="en-US" sz="2400" dirty="0" err="1">
                <a:solidFill>
                  <a:prstClr val="black"/>
                </a:solidFill>
                <a:latin typeface="Avenir Book" panose="020B0503020203020204" pitchFamily="34" charset="-78"/>
                <a:cs typeface="Avenir Book" panose="020B0503020203020204" pitchFamily="34" charset="-78"/>
              </a:rPr>
              <a:t>ssthresh</a:t>
            </a:r>
            <a:r>
              <a:rPr lang="en-US" sz="2400" dirty="0">
                <a:solidFill>
                  <a:prstClr val="black"/>
                </a:solidFill>
                <a:latin typeface="Avenir Book" panose="020B0503020203020204" pitchFamily="34" charset="-78"/>
                <a:cs typeface="Avenir Book" panose="020B0503020203020204" pitchFamily="34" charset="-78"/>
              </a:rPr>
              <a:t>, reduce the rate of CW increase</a:t>
            </a:r>
          </a:p>
        </p:txBody>
      </p:sp>
      <p:sp>
        <p:nvSpPr>
          <p:cNvPr id="282" name="Line 6">
            <a:extLst>
              <a:ext uri="{FF2B5EF4-FFF2-40B4-BE49-F238E27FC236}">
                <a16:creationId xmlns:a16="http://schemas.microsoft.com/office/drawing/2014/main" id="{6A528287-EE91-2148-8BF9-9042AB1CFB64}"/>
              </a:ext>
            </a:extLst>
          </p:cNvPr>
          <p:cNvSpPr>
            <a:spLocks noChangeShapeType="1"/>
          </p:cNvSpPr>
          <p:nvPr/>
        </p:nvSpPr>
        <p:spPr bwMode="auto">
          <a:xfrm>
            <a:off x="2007350" y="2152286"/>
            <a:ext cx="1878806" cy="264319"/>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83"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1683921" y="1298606"/>
            <a:ext cx="694485"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A</a:t>
            </a:r>
          </a:p>
        </p:txBody>
      </p:sp>
      <p:sp>
        <p:nvSpPr>
          <p:cNvPr id="28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2732576" y="2114624"/>
            <a:ext cx="965329"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one segment</a:t>
            </a:r>
            <a:endParaRPr lang="en-US" sz="750" dirty="0">
              <a:solidFill>
                <a:srgbClr val="000000"/>
              </a:solidFill>
              <a:latin typeface="Times New Roman" charset="0"/>
            </a:endParaRPr>
          </a:p>
        </p:txBody>
      </p:sp>
      <p:sp>
        <p:nvSpPr>
          <p:cNvPr id="285"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3506752" y="1287891"/>
            <a:ext cx="704040" cy="3000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rial" charset="0"/>
              </a:rPr>
              <a:t>Host B</a:t>
            </a:r>
          </a:p>
        </p:txBody>
      </p:sp>
      <p:sp>
        <p:nvSpPr>
          <p:cNvPr id="286" name="Line 13">
            <a:extLst>
              <a:ext uri="{FF2B5EF4-FFF2-40B4-BE49-F238E27FC236}">
                <a16:creationId xmlns:a16="http://schemas.microsoft.com/office/drawing/2014/main" id="{A18AC8EC-DBD1-E34E-B3EA-D3876A530333}"/>
              </a:ext>
            </a:extLst>
          </p:cNvPr>
          <p:cNvSpPr>
            <a:spLocks noChangeShapeType="1"/>
          </p:cNvSpPr>
          <p:nvPr/>
        </p:nvSpPr>
        <p:spPr bwMode="auto">
          <a:xfrm>
            <a:off x="2003778" y="2012982"/>
            <a:ext cx="7144" cy="2466369"/>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87" name="Line 14">
            <a:extLst>
              <a:ext uri="{FF2B5EF4-FFF2-40B4-BE49-F238E27FC236}">
                <a16:creationId xmlns:a16="http://schemas.microsoft.com/office/drawing/2014/main" id="{77B3310E-1B60-414E-9423-328982307B1D}"/>
              </a:ext>
            </a:extLst>
          </p:cNvPr>
          <p:cNvSpPr>
            <a:spLocks noChangeShapeType="1"/>
          </p:cNvSpPr>
          <p:nvPr/>
        </p:nvSpPr>
        <p:spPr bwMode="auto">
          <a:xfrm>
            <a:off x="3889728" y="2041558"/>
            <a:ext cx="11314" cy="2283806"/>
          </a:xfrm>
          <a:prstGeom prst="line">
            <a:avLst/>
          </a:prstGeom>
          <a:noFill/>
          <a:ln w="19050">
            <a:solidFill>
              <a:srgbClr val="777777"/>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288" name="Group 287">
            <a:extLst>
              <a:ext uri="{FF2B5EF4-FFF2-40B4-BE49-F238E27FC236}">
                <a16:creationId xmlns:a16="http://schemas.microsoft.com/office/drawing/2014/main" id="{E69B56F2-B7D2-5247-8C5B-11CDFE50D6C7}"/>
              </a:ext>
            </a:extLst>
          </p:cNvPr>
          <p:cNvGrpSpPr/>
          <p:nvPr/>
        </p:nvGrpSpPr>
        <p:grpSpPr>
          <a:xfrm>
            <a:off x="1747035" y="2124901"/>
            <a:ext cx="253916" cy="622697"/>
            <a:chOff x="7237996" y="2270077"/>
            <a:chExt cx="338555" cy="830263"/>
          </a:xfrm>
        </p:grpSpPr>
        <p:sp>
          <p:nvSpPr>
            <p:cNvPr id="289"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290"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1"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92"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1989491" y="2455895"/>
            <a:ext cx="1878806" cy="264319"/>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97" name="Group 296">
            <a:extLst>
              <a:ext uri="{FF2B5EF4-FFF2-40B4-BE49-F238E27FC236}">
                <a16:creationId xmlns:a16="http://schemas.microsoft.com/office/drawing/2014/main" id="{4100408E-3418-754E-97D5-873085045522}"/>
              </a:ext>
            </a:extLst>
          </p:cNvPr>
          <p:cNvGrpSpPr/>
          <p:nvPr/>
        </p:nvGrpSpPr>
        <p:grpSpPr>
          <a:xfrm>
            <a:off x="2007350" y="2738073"/>
            <a:ext cx="1882379" cy="328613"/>
            <a:chOff x="7585075" y="3087640"/>
            <a:chExt cx="2509838" cy="438150"/>
          </a:xfrm>
        </p:grpSpPr>
        <p:sp>
          <p:nvSpPr>
            <p:cNvPr id="298"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99"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00" name="Group 299">
            <a:extLst>
              <a:ext uri="{FF2B5EF4-FFF2-40B4-BE49-F238E27FC236}">
                <a16:creationId xmlns:a16="http://schemas.microsoft.com/office/drawing/2014/main" id="{C604703D-5DBE-F940-8D53-F844A095856D}"/>
              </a:ext>
            </a:extLst>
          </p:cNvPr>
          <p:cNvGrpSpPr/>
          <p:nvPr/>
        </p:nvGrpSpPr>
        <p:grpSpPr>
          <a:xfrm>
            <a:off x="1987110" y="3195272"/>
            <a:ext cx="1916906" cy="375046"/>
            <a:chOff x="7558088" y="3697240"/>
            <a:chExt cx="2555875" cy="500062"/>
          </a:xfrm>
        </p:grpSpPr>
        <p:sp>
          <p:nvSpPr>
            <p:cNvPr id="301"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02"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844876"/>
              <a:ext cx="2505075" cy="352426"/>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384"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2731930" y="2703983"/>
            <a:ext cx="1016625"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two segments</a:t>
            </a:r>
            <a:endParaRPr lang="en-US" sz="750" dirty="0">
              <a:solidFill>
                <a:srgbClr val="000000"/>
              </a:solidFill>
              <a:latin typeface="Times New Roman" charset="0"/>
            </a:endParaRPr>
          </a:p>
        </p:txBody>
      </p:sp>
      <p:sp>
        <p:nvSpPr>
          <p:cNvPr id="385"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2800482" y="3464792"/>
            <a:ext cx="10390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four segments</a:t>
            </a:r>
            <a:endParaRPr lang="en-US" sz="750" dirty="0">
              <a:solidFill>
                <a:srgbClr val="000000"/>
              </a:solidFill>
              <a:latin typeface="Times New Roman" charset="0"/>
            </a:endParaRPr>
          </a:p>
        </p:txBody>
      </p:sp>
      <p:grpSp>
        <p:nvGrpSpPr>
          <p:cNvPr id="386" name="Group 27">
            <a:extLst>
              <a:ext uri="{FF2B5EF4-FFF2-40B4-BE49-F238E27FC236}">
                <a16:creationId xmlns:a16="http://schemas.microsoft.com/office/drawing/2014/main" id="{B634F089-4244-B04A-8749-7ACF0E0264A8}"/>
              </a:ext>
            </a:extLst>
          </p:cNvPr>
          <p:cNvGrpSpPr>
            <a:grpSpLocks/>
          </p:cNvGrpSpPr>
          <p:nvPr/>
        </p:nvGrpSpPr>
        <p:grpSpPr bwMode="auto">
          <a:xfrm>
            <a:off x="2003781" y="3491739"/>
            <a:ext cx="1889522" cy="489347"/>
            <a:chOff x="3954" y="2214"/>
            <a:chExt cx="1587" cy="411"/>
          </a:xfrm>
        </p:grpSpPr>
        <p:sp>
          <p:nvSpPr>
            <p:cNvPr id="387"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8"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89"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0"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1" name="Group 32">
            <a:extLst>
              <a:ext uri="{FF2B5EF4-FFF2-40B4-BE49-F238E27FC236}">
                <a16:creationId xmlns:a16="http://schemas.microsoft.com/office/drawing/2014/main" id="{00C5C000-11E9-BE42-9849-B1B7B9E99FE0}"/>
              </a:ext>
            </a:extLst>
          </p:cNvPr>
          <p:cNvGrpSpPr>
            <a:grpSpLocks/>
          </p:cNvGrpSpPr>
          <p:nvPr/>
        </p:nvGrpSpPr>
        <p:grpSpPr bwMode="auto">
          <a:xfrm flipV="1">
            <a:off x="1986862" y="3777487"/>
            <a:ext cx="1902866" cy="453629"/>
            <a:chOff x="3954" y="2214"/>
            <a:chExt cx="1587" cy="411"/>
          </a:xfrm>
        </p:grpSpPr>
        <p:sp>
          <p:nvSpPr>
            <p:cNvPr id="392"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3"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4"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395"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396" name="Group 43">
            <a:extLst>
              <a:ext uri="{FF2B5EF4-FFF2-40B4-BE49-F238E27FC236}">
                <a16:creationId xmlns:a16="http://schemas.microsoft.com/office/drawing/2014/main" id="{D0982D30-E871-F344-B80E-157861960777}"/>
              </a:ext>
            </a:extLst>
          </p:cNvPr>
          <p:cNvGrpSpPr>
            <a:grpSpLocks/>
          </p:cNvGrpSpPr>
          <p:nvPr/>
        </p:nvGrpSpPr>
        <p:grpSpPr bwMode="auto">
          <a:xfrm>
            <a:off x="1675165" y="1541495"/>
            <a:ext cx="490538" cy="451247"/>
            <a:chOff x="-44" y="1473"/>
            <a:chExt cx="981" cy="1105"/>
          </a:xfrm>
        </p:grpSpPr>
        <p:pic>
          <p:nvPicPr>
            <p:cNvPr id="397"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399" name="Group 46">
            <a:extLst>
              <a:ext uri="{FF2B5EF4-FFF2-40B4-BE49-F238E27FC236}">
                <a16:creationId xmlns:a16="http://schemas.microsoft.com/office/drawing/2014/main" id="{514EF769-BED4-DE47-BE55-0913ABFB155D}"/>
              </a:ext>
            </a:extLst>
          </p:cNvPr>
          <p:cNvGrpSpPr>
            <a:grpSpLocks/>
          </p:cNvGrpSpPr>
          <p:nvPr/>
        </p:nvGrpSpPr>
        <p:grpSpPr bwMode="auto">
          <a:xfrm>
            <a:off x="3726613" y="1552211"/>
            <a:ext cx="286941" cy="410765"/>
            <a:chOff x="4140" y="429"/>
            <a:chExt cx="1425" cy="2396"/>
          </a:xfrm>
        </p:grpSpPr>
        <p:sp>
          <p:nvSpPr>
            <p:cNvPr id="400"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1"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2"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3"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04"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5"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430"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1"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6"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07"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428"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9"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08"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09"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410"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426"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7"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1"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412"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424"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5"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13"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4"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5"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6"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7"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418"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19"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0"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1"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422"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23"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2" name="Group 431">
            <a:extLst>
              <a:ext uri="{FF2B5EF4-FFF2-40B4-BE49-F238E27FC236}">
                <a16:creationId xmlns:a16="http://schemas.microsoft.com/office/drawing/2014/main" id="{E69B56F2-B7D2-5247-8C5B-11CDFE50D6C7}"/>
              </a:ext>
            </a:extLst>
          </p:cNvPr>
          <p:cNvGrpSpPr/>
          <p:nvPr/>
        </p:nvGrpSpPr>
        <p:grpSpPr>
          <a:xfrm>
            <a:off x="1768111" y="2897322"/>
            <a:ext cx="253916" cy="622697"/>
            <a:chOff x="7237996" y="2270077"/>
            <a:chExt cx="338555" cy="830263"/>
          </a:xfrm>
        </p:grpSpPr>
        <p:sp>
          <p:nvSpPr>
            <p:cNvPr id="433"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4"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5"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436" name="Group 435">
            <a:extLst>
              <a:ext uri="{FF2B5EF4-FFF2-40B4-BE49-F238E27FC236}">
                <a16:creationId xmlns:a16="http://schemas.microsoft.com/office/drawing/2014/main" id="{E69B56F2-B7D2-5247-8C5B-11CDFE50D6C7}"/>
              </a:ext>
            </a:extLst>
          </p:cNvPr>
          <p:cNvGrpSpPr/>
          <p:nvPr/>
        </p:nvGrpSpPr>
        <p:grpSpPr>
          <a:xfrm>
            <a:off x="1785916" y="3600032"/>
            <a:ext cx="253916" cy="622697"/>
            <a:chOff x="7237996" y="2270077"/>
            <a:chExt cx="338555" cy="830263"/>
          </a:xfrm>
        </p:grpSpPr>
        <p:sp>
          <p:nvSpPr>
            <p:cNvPr id="43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RTT</a:t>
              </a:r>
              <a:endParaRPr lang="en-US" sz="750" dirty="0">
                <a:solidFill>
                  <a:srgbClr val="000000"/>
                </a:solidFill>
                <a:latin typeface="Arial" charset="0"/>
              </a:endParaRPr>
            </a:p>
          </p:txBody>
        </p:sp>
        <p:sp>
          <p:nvSpPr>
            <p:cNvPr id="438"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439"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441"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93705" y="2041557"/>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1</a:t>
            </a:r>
          </a:p>
        </p:txBody>
      </p:sp>
      <p:sp>
        <p:nvSpPr>
          <p:cNvPr id="442"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70264" y="2594841"/>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2</a:t>
            </a:r>
          </a:p>
        </p:txBody>
      </p:sp>
      <p:sp>
        <p:nvSpPr>
          <p:cNvPr id="44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8650" y="3379328"/>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a:t>
            </a:r>
          </a:p>
        </p:txBody>
      </p:sp>
      <p:sp>
        <p:nvSpPr>
          <p:cNvPr id="44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981287" y="4048364"/>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5</a:t>
            </a:r>
          </a:p>
        </p:txBody>
      </p:sp>
      <p:sp>
        <p:nvSpPr>
          <p:cNvPr id="445" name="TextBox 444"/>
          <p:cNvSpPr txBox="1"/>
          <p:nvPr/>
        </p:nvSpPr>
        <p:spPr>
          <a:xfrm>
            <a:off x="458404" y="4760393"/>
            <a:ext cx="8274654" cy="369332"/>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After 1 RTT, the CW is approx. increasing by 1 MSS </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Congestion avoidance</a:t>
            </a:r>
            <a:endParaRPr lang="en-IN" dirty="0">
              <a:solidFill>
                <a:srgbClr val="0000FF"/>
              </a:solidFill>
              <a:latin typeface="Avenir Book" panose="020B0503020203020204" pitchFamily="34" charset="-78"/>
              <a:cs typeface="Avenir Book" panose="020B0503020203020204" pitchFamily="34" charset="-78"/>
            </a:endParaRPr>
          </a:p>
        </p:txBody>
      </p:sp>
      <p:grpSp>
        <p:nvGrpSpPr>
          <p:cNvPr id="84" name="Group 83"/>
          <p:cNvGrpSpPr>
            <a:grpSpLocks noGrp="1" noUngrp="1" noChangeAspect="1"/>
          </p:cNvGrpSpPr>
          <p:nvPr/>
        </p:nvGrpSpPr>
        <p:grpSpPr>
          <a:xfrm>
            <a:off x="6829374" y="651529"/>
            <a:ext cx="7772400" cy="4111625"/>
            <a:chOff x="685800" y="1603375"/>
            <a:chExt cx="7772400" cy="4111625"/>
          </a:xfrm>
        </p:grpSpPr>
        <p:pic>
          <p:nvPicPr>
            <p:cNvPr id="85" name="Picture 84" descr="06_Page_40.tif"/>
            <p:cNvPicPr>
              <a:picLocks noRot="1" noChangeAspect="1" noMove="1" noResize="1"/>
            </p:cNvPicPr>
            <p:nvPr isPhoto="1"/>
          </p:nvPicPr>
          <p:blipFill rotWithShape="1">
            <a:blip r:embed="rId4" cstate="print">
              <a:lum/>
            </a:blip>
            <a:srcRect r="43598" b="5145"/>
            <a:stretch/>
          </p:blipFill>
          <p:spPr>
            <a:xfrm>
              <a:off x="685800" y="1603375"/>
              <a:ext cx="4383791" cy="3463402"/>
            </a:xfrm>
            <a:prstGeom prst="rect">
              <a:avLst/>
            </a:prstGeom>
            <a:noFill/>
            <a:ln>
              <a:noFill/>
            </a:ln>
          </p:spPr>
        </p:pic>
        <p:sp>
          <p:nvSpPr>
            <p:cNvPr id="86" name="Rectangle 85"/>
            <p:cNvSpPr/>
            <p:nvPr/>
          </p:nvSpPr>
          <p:spPr>
            <a:xfrm>
              <a:off x="685800" y="5372100"/>
              <a:ext cx="7772400" cy="342900"/>
            </a:xfrm>
            <a:prstGeom prst="rect">
              <a:avLst/>
            </a:prstGeom>
            <a:noFill/>
            <a:ln>
              <a:noFill/>
            </a:ln>
          </p:spPr>
          <p:txBody>
            <a:bodyPr anchor="ctr">
              <a:noAutofit/>
            </a:bodyPr>
            <a:lstStyle/>
            <a:p>
              <a:pPr algn="ctr"/>
              <a:endParaRPr lang="en-US" sz="2000" dirty="0"/>
            </a:p>
          </p:txBody>
        </p:sp>
      </p:grpSp>
      <p:grpSp>
        <p:nvGrpSpPr>
          <p:cNvPr id="88" name="Group 87"/>
          <p:cNvGrpSpPr>
            <a:grpSpLocks noGrp="1" noUngrp="1" noChangeAspect="1"/>
          </p:cNvGrpSpPr>
          <p:nvPr/>
        </p:nvGrpSpPr>
        <p:grpSpPr>
          <a:xfrm>
            <a:off x="5283553" y="4092047"/>
            <a:ext cx="7772400" cy="686675"/>
            <a:chOff x="685800" y="5028325"/>
            <a:chExt cx="7772400" cy="686675"/>
          </a:xfrm>
        </p:grpSpPr>
        <p:pic>
          <p:nvPicPr>
            <p:cNvPr id="89" name="Picture 88" descr="06_Page_40.tif"/>
            <p:cNvPicPr>
              <a:picLocks noRot="1" noChangeAspect="1" noMove="1" noResize="1"/>
            </p:cNvPicPr>
            <p:nvPr isPhoto="1"/>
          </p:nvPicPr>
          <p:blipFill rotWithShape="1">
            <a:blip r:embed="rId4" cstate="print">
              <a:lum/>
            </a:blip>
            <a:srcRect l="37900" t="93802" r="30237" b="-63"/>
            <a:stretch/>
          </p:blipFill>
          <p:spPr>
            <a:xfrm>
              <a:off x="3631572" y="5028325"/>
              <a:ext cx="2476500" cy="228600"/>
            </a:xfrm>
            <a:prstGeom prst="rect">
              <a:avLst/>
            </a:prstGeom>
            <a:noFill/>
            <a:ln>
              <a:noFill/>
            </a:ln>
          </p:spPr>
        </p:pic>
        <p:sp>
          <p:nvSpPr>
            <p:cNvPr id="90" name="Rectangle 89"/>
            <p:cNvSpPr/>
            <p:nvPr/>
          </p:nvSpPr>
          <p:spPr>
            <a:xfrm>
              <a:off x="685800" y="5372100"/>
              <a:ext cx="7772400" cy="342900"/>
            </a:xfrm>
            <a:prstGeom prst="rect">
              <a:avLst/>
            </a:prstGeom>
            <a:noFill/>
            <a:ln>
              <a:noFill/>
            </a:ln>
          </p:spPr>
          <p:txBody>
            <a:bodyPr anchor="ctr">
              <a:noAutofit/>
            </a:bodyPr>
            <a:lstStyle/>
            <a:p>
              <a:pPr algn="ctr"/>
              <a:endParaRPr lang="en-US" sz="2000" dirty="0"/>
            </a:p>
          </p:txBody>
        </p:sp>
      </p:grpSp>
    </p:spTree>
    <p:extLst>
      <p:ext uri="{BB962C8B-B14F-4D97-AF65-F5344CB8AC3E}">
        <p14:creationId xmlns:p14="http://schemas.microsoft.com/office/powerpoint/2010/main" val="172865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dissolv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2"/>
                                        </p:tgtEl>
                                        <p:attrNameLst>
                                          <p:attrName>style.visibility</p:attrName>
                                        </p:attrNameLst>
                                      </p:cBhvr>
                                      <p:to>
                                        <p:strVal val="visible"/>
                                      </p:to>
                                    </p:set>
                                    <p:animEffect transition="in" filter="wipe(left)">
                                      <p:cBhvr>
                                        <p:cTn id="12" dur="500"/>
                                        <p:tgtEl>
                                          <p:spTgt spid="28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84"/>
                                        </p:tgtEl>
                                        <p:attrNameLst>
                                          <p:attrName>style.visibility</p:attrName>
                                        </p:attrNameLst>
                                      </p:cBhvr>
                                      <p:to>
                                        <p:strVal val="visible"/>
                                      </p:to>
                                    </p:set>
                                    <p:animEffect transition="in" filter="dissolve">
                                      <p:cBhvr>
                                        <p:cTn id="15" dur="500"/>
                                        <p:tgtEl>
                                          <p:spTgt spid="284"/>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292"/>
                                        </p:tgtEl>
                                        <p:attrNameLst>
                                          <p:attrName>style.visibility</p:attrName>
                                        </p:attrNameLst>
                                      </p:cBhvr>
                                      <p:to>
                                        <p:strVal val="visible"/>
                                      </p:to>
                                    </p:set>
                                    <p:animEffect transition="in" filter="wipe(right)">
                                      <p:cBhvr>
                                        <p:cTn id="19" dur="500"/>
                                        <p:tgtEl>
                                          <p:spTgt spid="292"/>
                                        </p:tgtEl>
                                      </p:cBhvr>
                                    </p:animEffect>
                                  </p:childTnLst>
                                </p:cTn>
                              </p:par>
                            </p:childTnLst>
                          </p:cTn>
                        </p:par>
                        <p:par>
                          <p:cTn id="20" fill="hold">
                            <p:stCondLst>
                              <p:cond delay="1000"/>
                            </p:stCondLst>
                            <p:childTnLst>
                              <p:par>
                                <p:cTn id="21" presetID="9" presetClass="entr" presetSubtype="0" fill="hold" nodeType="afterEffect">
                                  <p:stCondLst>
                                    <p:cond delay="0"/>
                                  </p:stCondLst>
                                  <p:childTnLst>
                                    <p:set>
                                      <p:cBhvr>
                                        <p:cTn id="22" dur="1" fill="hold">
                                          <p:stCondLst>
                                            <p:cond delay="0"/>
                                          </p:stCondLst>
                                        </p:cTn>
                                        <p:tgtEl>
                                          <p:spTgt spid="288"/>
                                        </p:tgtEl>
                                        <p:attrNameLst>
                                          <p:attrName>style.visibility</p:attrName>
                                        </p:attrNameLst>
                                      </p:cBhvr>
                                      <p:to>
                                        <p:strVal val="visible"/>
                                      </p:to>
                                    </p:set>
                                    <p:animEffect transition="in" filter="dissolve">
                                      <p:cBhvr>
                                        <p:cTn id="23" dur="500"/>
                                        <p:tgtEl>
                                          <p:spTgt spid="28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97"/>
                                        </p:tgtEl>
                                        <p:attrNameLst>
                                          <p:attrName>style.visibility</p:attrName>
                                        </p:attrNameLst>
                                      </p:cBhvr>
                                      <p:to>
                                        <p:strVal val="visible"/>
                                      </p:to>
                                    </p:set>
                                    <p:animEffect transition="in" filter="wipe(left)">
                                      <p:cBhvr>
                                        <p:cTn id="28" dur="500"/>
                                        <p:tgtEl>
                                          <p:spTgt spid="29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84"/>
                                        </p:tgtEl>
                                        <p:attrNameLst>
                                          <p:attrName>style.visibility</p:attrName>
                                        </p:attrNameLst>
                                      </p:cBhvr>
                                      <p:to>
                                        <p:strVal val="visible"/>
                                      </p:to>
                                    </p:set>
                                    <p:animEffect transition="in" filter="dissolve">
                                      <p:cBhvr>
                                        <p:cTn id="31" dur="500"/>
                                        <p:tgtEl>
                                          <p:spTgt spid="384"/>
                                        </p:tgtEl>
                                      </p:cBhvr>
                                    </p:animEffect>
                                  </p:childTnLst>
                                </p:cTn>
                              </p:par>
                            </p:childTnLst>
                          </p:cTn>
                        </p:par>
                        <p:par>
                          <p:cTn id="32" fill="hold">
                            <p:stCondLst>
                              <p:cond delay="500"/>
                            </p:stCondLst>
                            <p:childTnLst>
                              <p:par>
                                <p:cTn id="33" presetID="22" presetClass="entr" presetSubtype="2" fill="hold" nodeType="afterEffect">
                                  <p:stCondLst>
                                    <p:cond delay="0"/>
                                  </p:stCondLst>
                                  <p:childTnLst>
                                    <p:set>
                                      <p:cBhvr>
                                        <p:cTn id="34" dur="1" fill="hold">
                                          <p:stCondLst>
                                            <p:cond delay="0"/>
                                          </p:stCondLst>
                                        </p:cTn>
                                        <p:tgtEl>
                                          <p:spTgt spid="300"/>
                                        </p:tgtEl>
                                        <p:attrNameLst>
                                          <p:attrName>style.visibility</p:attrName>
                                        </p:attrNameLst>
                                      </p:cBhvr>
                                      <p:to>
                                        <p:strVal val="visible"/>
                                      </p:to>
                                    </p:set>
                                    <p:animEffect transition="in" filter="wipe(right)">
                                      <p:cBhvr>
                                        <p:cTn id="35" dur="500"/>
                                        <p:tgtEl>
                                          <p:spTgt spid="300"/>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386"/>
                                        </p:tgtEl>
                                        <p:attrNameLst>
                                          <p:attrName>style.visibility</p:attrName>
                                        </p:attrNameLst>
                                      </p:cBhvr>
                                      <p:to>
                                        <p:strVal val="visible"/>
                                      </p:to>
                                    </p:set>
                                    <p:animEffect transition="in" filter="wipe(left)">
                                      <p:cBhvr>
                                        <p:cTn id="39" dur="500"/>
                                        <p:tgtEl>
                                          <p:spTgt spid="38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85"/>
                                        </p:tgtEl>
                                        <p:attrNameLst>
                                          <p:attrName>style.visibility</p:attrName>
                                        </p:attrNameLst>
                                      </p:cBhvr>
                                      <p:to>
                                        <p:strVal val="visible"/>
                                      </p:to>
                                    </p:set>
                                    <p:animEffect transition="in" filter="dissolve">
                                      <p:cBhvr>
                                        <p:cTn id="42" dur="500"/>
                                        <p:tgtEl>
                                          <p:spTgt spid="385"/>
                                        </p:tgtEl>
                                      </p:cBhvr>
                                    </p:animEffect>
                                  </p:childTnLst>
                                </p:cTn>
                              </p:par>
                            </p:childTnLst>
                          </p:cTn>
                        </p:par>
                        <p:par>
                          <p:cTn id="43" fill="hold">
                            <p:stCondLst>
                              <p:cond delay="1500"/>
                            </p:stCondLst>
                            <p:childTnLst>
                              <p:par>
                                <p:cTn id="44" presetID="22" presetClass="entr" presetSubtype="2" fill="hold" nodeType="afterEffect">
                                  <p:stCondLst>
                                    <p:cond delay="0"/>
                                  </p:stCondLst>
                                  <p:childTnLst>
                                    <p:set>
                                      <p:cBhvr>
                                        <p:cTn id="45" dur="1" fill="hold">
                                          <p:stCondLst>
                                            <p:cond delay="0"/>
                                          </p:stCondLst>
                                        </p:cTn>
                                        <p:tgtEl>
                                          <p:spTgt spid="391"/>
                                        </p:tgtEl>
                                        <p:attrNameLst>
                                          <p:attrName>style.visibility</p:attrName>
                                        </p:attrNameLst>
                                      </p:cBhvr>
                                      <p:to>
                                        <p:strVal val="visible"/>
                                      </p:to>
                                    </p:set>
                                    <p:animEffect transition="in" filter="wipe(right)">
                                      <p:cBhvr>
                                        <p:cTn id="46" dur="500"/>
                                        <p:tgtEl>
                                          <p:spTgt spid="391"/>
                                        </p:tgtEl>
                                      </p:cBhvr>
                                    </p:animEffect>
                                  </p:childTnLst>
                                </p:cTn>
                              </p:par>
                            </p:childTnLst>
                          </p:cTn>
                        </p:par>
                        <p:par>
                          <p:cTn id="47" fill="hold">
                            <p:stCondLst>
                              <p:cond delay="2000"/>
                            </p:stCondLst>
                            <p:childTnLst>
                              <p:par>
                                <p:cTn id="48" presetID="9" presetClass="entr" presetSubtype="0" fill="hold" nodeType="afterEffect">
                                  <p:stCondLst>
                                    <p:cond delay="0"/>
                                  </p:stCondLst>
                                  <p:childTnLst>
                                    <p:set>
                                      <p:cBhvr>
                                        <p:cTn id="49" dur="1" fill="hold">
                                          <p:stCondLst>
                                            <p:cond delay="0"/>
                                          </p:stCondLst>
                                        </p:cTn>
                                        <p:tgtEl>
                                          <p:spTgt spid="432"/>
                                        </p:tgtEl>
                                        <p:attrNameLst>
                                          <p:attrName>style.visibility</p:attrName>
                                        </p:attrNameLst>
                                      </p:cBhvr>
                                      <p:to>
                                        <p:strVal val="visible"/>
                                      </p:to>
                                    </p:set>
                                    <p:animEffect transition="in" filter="dissolve">
                                      <p:cBhvr>
                                        <p:cTn id="50" dur="500"/>
                                        <p:tgtEl>
                                          <p:spTgt spid="432"/>
                                        </p:tgtEl>
                                      </p:cBhvr>
                                    </p:animEffect>
                                  </p:childTnLst>
                                </p:cTn>
                              </p:par>
                            </p:childTnLst>
                          </p:cTn>
                        </p:par>
                        <p:par>
                          <p:cTn id="51" fill="hold">
                            <p:stCondLst>
                              <p:cond delay="2500"/>
                            </p:stCondLst>
                            <p:childTnLst>
                              <p:par>
                                <p:cTn id="52" presetID="9" presetClass="entr" presetSubtype="0" fill="hold" nodeType="afterEffect">
                                  <p:stCondLst>
                                    <p:cond delay="0"/>
                                  </p:stCondLst>
                                  <p:childTnLst>
                                    <p:set>
                                      <p:cBhvr>
                                        <p:cTn id="53" dur="1" fill="hold">
                                          <p:stCondLst>
                                            <p:cond delay="0"/>
                                          </p:stCondLst>
                                        </p:cTn>
                                        <p:tgtEl>
                                          <p:spTgt spid="436"/>
                                        </p:tgtEl>
                                        <p:attrNameLst>
                                          <p:attrName>style.visibility</p:attrName>
                                        </p:attrNameLst>
                                      </p:cBhvr>
                                      <p:to>
                                        <p:strVal val="visible"/>
                                      </p:to>
                                    </p:set>
                                    <p:animEffect transition="in" filter="dissolve">
                                      <p:cBhvr>
                                        <p:cTn id="54" dur="500"/>
                                        <p:tgtEl>
                                          <p:spTgt spid="436"/>
                                        </p:tgtEl>
                                      </p:cBhvr>
                                    </p:animEffect>
                                  </p:childTnLst>
                                </p:cTn>
                              </p:par>
                            </p:childTnLst>
                          </p:cTn>
                        </p:par>
                        <p:par>
                          <p:cTn id="55" fill="hold">
                            <p:stCondLst>
                              <p:cond delay="3000"/>
                            </p:stCondLst>
                            <p:childTnLst>
                              <p:par>
                                <p:cTn id="56" presetID="9" presetClass="entr" presetSubtype="0" fill="hold" grpId="0" nodeType="afterEffect">
                                  <p:stCondLst>
                                    <p:cond delay="0"/>
                                  </p:stCondLst>
                                  <p:childTnLst>
                                    <p:set>
                                      <p:cBhvr>
                                        <p:cTn id="57" dur="1" fill="hold">
                                          <p:stCondLst>
                                            <p:cond delay="0"/>
                                          </p:stCondLst>
                                        </p:cTn>
                                        <p:tgtEl>
                                          <p:spTgt spid="441"/>
                                        </p:tgtEl>
                                        <p:attrNameLst>
                                          <p:attrName>style.visibility</p:attrName>
                                        </p:attrNameLst>
                                      </p:cBhvr>
                                      <p:to>
                                        <p:strVal val="visible"/>
                                      </p:to>
                                    </p:set>
                                    <p:animEffect transition="in" filter="dissolve">
                                      <p:cBhvr>
                                        <p:cTn id="58" dur="500"/>
                                        <p:tgtEl>
                                          <p:spTgt spid="441"/>
                                        </p:tgtEl>
                                      </p:cBhvr>
                                    </p:animEffect>
                                  </p:childTnLst>
                                </p:cTn>
                              </p:par>
                            </p:childTnLst>
                          </p:cTn>
                        </p:par>
                        <p:par>
                          <p:cTn id="59" fill="hold">
                            <p:stCondLst>
                              <p:cond delay="3500"/>
                            </p:stCondLst>
                            <p:childTnLst>
                              <p:par>
                                <p:cTn id="60" presetID="9" presetClass="entr" presetSubtype="0" fill="hold" grpId="0" nodeType="afterEffect">
                                  <p:stCondLst>
                                    <p:cond delay="0"/>
                                  </p:stCondLst>
                                  <p:childTnLst>
                                    <p:set>
                                      <p:cBhvr>
                                        <p:cTn id="61" dur="1" fill="hold">
                                          <p:stCondLst>
                                            <p:cond delay="0"/>
                                          </p:stCondLst>
                                        </p:cTn>
                                        <p:tgtEl>
                                          <p:spTgt spid="442"/>
                                        </p:tgtEl>
                                        <p:attrNameLst>
                                          <p:attrName>style.visibility</p:attrName>
                                        </p:attrNameLst>
                                      </p:cBhvr>
                                      <p:to>
                                        <p:strVal val="visible"/>
                                      </p:to>
                                    </p:set>
                                    <p:animEffect transition="in" filter="dissolve">
                                      <p:cBhvr>
                                        <p:cTn id="62" dur="500"/>
                                        <p:tgtEl>
                                          <p:spTgt spid="442"/>
                                        </p:tgtEl>
                                      </p:cBhvr>
                                    </p:animEffect>
                                  </p:childTnLst>
                                </p:cTn>
                              </p:par>
                            </p:childTnLst>
                          </p:cTn>
                        </p:par>
                        <p:par>
                          <p:cTn id="63" fill="hold">
                            <p:stCondLst>
                              <p:cond delay="4000"/>
                            </p:stCondLst>
                            <p:childTnLst>
                              <p:par>
                                <p:cTn id="64" presetID="9" presetClass="entr" presetSubtype="0" fill="hold" grpId="0" nodeType="afterEffect">
                                  <p:stCondLst>
                                    <p:cond delay="0"/>
                                  </p:stCondLst>
                                  <p:childTnLst>
                                    <p:set>
                                      <p:cBhvr>
                                        <p:cTn id="65" dur="1" fill="hold">
                                          <p:stCondLst>
                                            <p:cond delay="0"/>
                                          </p:stCondLst>
                                        </p:cTn>
                                        <p:tgtEl>
                                          <p:spTgt spid="443"/>
                                        </p:tgtEl>
                                        <p:attrNameLst>
                                          <p:attrName>style.visibility</p:attrName>
                                        </p:attrNameLst>
                                      </p:cBhvr>
                                      <p:to>
                                        <p:strVal val="visible"/>
                                      </p:to>
                                    </p:set>
                                    <p:animEffect transition="in" filter="dissolve">
                                      <p:cBhvr>
                                        <p:cTn id="66" dur="500"/>
                                        <p:tgtEl>
                                          <p:spTgt spid="443"/>
                                        </p:tgtEl>
                                      </p:cBhvr>
                                    </p:animEffect>
                                  </p:childTnLst>
                                </p:cTn>
                              </p:par>
                            </p:childTnLst>
                          </p:cTn>
                        </p:par>
                        <p:par>
                          <p:cTn id="67" fill="hold">
                            <p:stCondLst>
                              <p:cond delay="4500"/>
                            </p:stCondLst>
                            <p:childTnLst>
                              <p:par>
                                <p:cTn id="68" presetID="9" presetClass="entr" presetSubtype="0" fill="hold" grpId="0" nodeType="afterEffect">
                                  <p:stCondLst>
                                    <p:cond delay="0"/>
                                  </p:stCondLst>
                                  <p:childTnLst>
                                    <p:set>
                                      <p:cBhvr>
                                        <p:cTn id="69" dur="1" fill="hold">
                                          <p:stCondLst>
                                            <p:cond delay="0"/>
                                          </p:stCondLst>
                                        </p:cTn>
                                        <p:tgtEl>
                                          <p:spTgt spid="444"/>
                                        </p:tgtEl>
                                        <p:attrNameLst>
                                          <p:attrName>style.visibility</p:attrName>
                                        </p:attrNameLst>
                                      </p:cBhvr>
                                      <p:to>
                                        <p:strVal val="visible"/>
                                      </p:to>
                                    </p:set>
                                    <p:animEffect transition="in" filter="dissolve">
                                      <p:cBhvr>
                                        <p:cTn id="70" dur="500"/>
                                        <p:tgtEl>
                                          <p:spTgt spid="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282" grpId="0" animBg="1"/>
      <p:bldP spid="284" grpId="0"/>
      <p:bldP spid="292" grpId="0" animBg="1"/>
      <p:bldP spid="384" grpId="0"/>
      <p:bldP spid="385" grpId="0"/>
      <p:bldP spid="441" grpId="0"/>
      <p:bldP spid="442" grpId="0"/>
      <p:bldP spid="443" grpId="0"/>
      <p:bldP spid="4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489397" y="94925"/>
            <a:ext cx="4953164" cy="670967"/>
          </a:xfrm>
        </p:spPr>
        <p:txBody>
          <a:bodyPr>
            <a:normAutofit/>
          </a:bodyPr>
          <a:lstStyle/>
          <a:p>
            <a:r>
              <a:rPr lang="en-US" sz="3600" dirty="0">
                <a:latin typeface="Avenir Book" panose="020B0503020203020204" pitchFamily="34" charset="-78"/>
                <a:cs typeface="Avenir Book" panose="020B0503020203020204" pitchFamily="34" charset="-78"/>
              </a:rPr>
              <a:t>Packet/ACK Drop</a:t>
            </a:r>
            <a:endParaRPr lang="en-US" sz="3300" dirty="0">
              <a:latin typeface="Avenir Book" panose="020B0503020203020204" pitchFamily="34" charset="-78"/>
              <a:cs typeface="Avenir Book" panose="020B0503020203020204" pitchFamily="34" charset="-78"/>
            </a:endParaRPr>
          </a:p>
        </p:txBody>
      </p:sp>
      <mc:AlternateContent xmlns:mc="http://schemas.openxmlformats.org/markup-compatibility/2006" xmlns:a14="http://schemas.microsoft.com/office/drawing/2010/main">
        <mc:Choice Requires="a14">
          <p:sp>
            <p:nvSpPr>
              <p:cNvPr id="293" name="TextBox 292"/>
              <p:cNvSpPr txBox="1"/>
              <p:nvPr/>
            </p:nvSpPr>
            <p:spPr>
              <a:xfrm>
                <a:off x="582910" y="4368693"/>
                <a:ext cx="7140203" cy="811761"/>
              </a:xfrm>
              <a:prstGeom prst="rect">
                <a:avLst/>
              </a:prstGeom>
              <a:solidFill>
                <a:srgbClr val="FF9999">
                  <a:alpha val="32000"/>
                </a:srgbClr>
              </a:solidFill>
              <a:ln cap="rnd">
                <a:solidFill>
                  <a:srgbClr val="C00000"/>
                </a:solidFill>
              </a:ln>
            </p:spPr>
            <p:txBody>
              <a:bodyPr wrap="square" rtlCol="0">
                <a:spAutoFit/>
              </a:bodyPr>
              <a:lstStyle/>
              <a:p>
                <a:pPr algn="ctr"/>
                <a:r>
                  <a:rPr lang="en-US" altLang="en-US" dirty="0">
                    <a:solidFill>
                      <a:srgbClr val="0000FF"/>
                    </a:solidFill>
                    <a:latin typeface="Avenir Book" panose="020B0503020203020204" pitchFamily="34" charset="-78"/>
                    <a:cs typeface="Avenir Book" panose="020B0503020203020204" pitchFamily="34" charset="-78"/>
                  </a:rPr>
                  <a:t>TX infers a packet loss </a:t>
                </a:r>
                <a:r>
                  <a:rPr lang="en-US" altLang="en-US"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goes to slow start  </a:t>
                </a:r>
                <a14:m>
                  <m:oMath xmlns:m="http://schemas.openxmlformats.org/officeDocument/2006/math">
                    <m:d>
                      <m:dPr>
                        <m:begChr m:val="{"/>
                        <m:endChr m:val=""/>
                        <m:ctrlPr>
                          <a:rPr lang="en-US" altLang="en-US"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dPr>
                      <m:e>
                        <m:eqArr>
                          <m:eqArrPr>
                            <m:ctrlPr>
                              <a:rPr lang="en-US" altLang="en-US"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eqArrPr>
                          <m:e>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ssthresh</m:t>
                            </m:r>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 </m:t>
                            </m:r>
                            <m:f>
                              <m:fPr>
                                <m:ctrlPr>
                                  <a:rPr lang="en-IN" altLang="en-US" b="0" i="1"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ctrlPr>
                              </m:fPr>
                              <m:num>
                                <m:r>
                                  <m:rPr>
                                    <m:sty m:val="p"/>
                                  </m:rP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CW</m:t>
                                </m:r>
                              </m:num>
                              <m:den>
                                <m:r>
                                  <a:rPr lang="en-IN" altLang="en-US" b="0" i="0" smtClean="0">
                                    <a:solidFill>
                                      <a:srgbClr val="0000FF"/>
                                    </a:solidFill>
                                    <a:latin typeface="Cambria Math" panose="02040503050406030204" pitchFamily="18" charset="0"/>
                                    <a:cs typeface="Avenir Book" panose="020B0503020203020204" pitchFamily="34" charset="-78"/>
                                    <a:sym typeface="Wingdings" panose="05000000000000000000" pitchFamily="2" charset="2"/>
                                  </a:rPr>
                                  <m:t>2</m:t>
                                </m:r>
                              </m:den>
                            </m:f>
                          </m:e>
                          <m:e>
                            <m:r>
                              <m:rPr>
                                <m:sty m:val="p"/>
                              </m:rPr>
                              <a:rPr lang="en-IN" b="0" i="0" smtClean="0">
                                <a:solidFill>
                                  <a:srgbClr val="0000FF"/>
                                </a:solidFill>
                                <a:latin typeface="Cambria Math" panose="02040503050406030204" pitchFamily="18" charset="0"/>
                              </a:rPr>
                              <m:t>CW</m:t>
                            </m:r>
                            <m:r>
                              <a:rPr lang="en-IN" b="0" i="0" smtClean="0">
                                <a:solidFill>
                                  <a:srgbClr val="0000FF"/>
                                </a:solidFill>
                                <a:latin typeface="Cambria Math" panose="02040503050406030204" pitchFamily="18" charset="0"/>
                              </a:rPr>
                              <m:t>=1</m:t>
                            </m:r>
                          </m:e>
                        </m:eqArr>
                      </m:e>
                    </m:d>
                  </m:oMath>
                </a14:m>
                <a:endParaRPr lang="en-IN" dirty="0">
                  <a:solidFill>
                    <a:srgbClr val="0000FF"/>
                  </a:solidFill>
                  <a:latin typeface="Avenir Book" panose="020B0503020203020204" pitchFamily="34" charset="-78"/>
                  <a:cs typeface="Avenir Book" panose="020B0503020203020204" pitchFamily="34" charset="-78"/>
                </a:endParaRPr>
              </a:p>
            </p:txBody>
          </p:sp>
        </mc:Choice>
        <mc:Fallback xmlns="">
          <p:sp>
            <p:nvSpPr>
              <p:cNvPr id="293" name="TextBox 292"/>
              <p:cNvSpPr txBox="1">
                <a:spLocks noRot="1" noChangeAspect="1" noMove="1" noResize="1" noEditPoints="1" noAdjustHandles="1" noChangeArrowheads="1" noChangeShapeType="1" noTextEdit="1"/>
              </p:cNvSpPr>
              <p:nvPr/>
            </p:nvSpPr>
            <p:spPr>
              <a:xfrm>
                <a:off x="582910" y="4368693"/>
                <a:ext cx="7140203" cy="811761"/>
              </a:xfrm>
              <a:prstGeom prst="rect">
                <a:avLst/>
              </a:prstGeom>
              <a:blipFill>
                <a:blip r:embed="rId3"/>
                <a:stretch>
                  <a:fillRect/>
                </a:stretch>
              </a:blipFill>
              <a:ln cap="rnd">
                <a:solidFill>
                  <a:srgbClr val="C00000"/>
                </a:solidFill>
              </a:ln>
            </p:spPr>
            <p:txBody>
              <a:bodyPr/>
              <a:lstStyle/>
              <a:p>
                <a:r>
                  <a:rPr lang="en-IN">
                    <a:noFill/>
                  </a:rPr>
                  <a:t> </a:t>
                </a:r>
              </a:p>
            </p:txBody>
          </p:sp>
        </mc:Fallback>
      </mc:AlternateContent>
      <p:sp>
        <p:nvSpPr>
          <p:cNvPr id="147"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2575645" y="814404"/>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48"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242020" y="831867"/>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155" name="Line 100">
            <a:extLst>
              <a:ext uri="{FF2B5EF4-FFF2-40B4-BE49-F238E27FC236}">
                <a16:creationId xmlns:a16="http://schemas.microsoft.com/office/drawing/2014/main" id="{9BCB851E-085B-9D4B-8A34-064757F2C932}"/>
              </a:ext>
            </a:extLst>
          </p:cNvPr>
          <p:cNvSpPr>
            <a:spLocks noChangeShapeType="1"/>
          </p:cNvSpPr>
          <p:nvPr/>
        </p:nvSpPr>
        <p:spPr bwMode="auto">
          <a:xfrm>
            <a:off x="637309" y="1973279"/>
            <a:ext cx="1563824" cy="419056"/>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8" name="Line 118">
            <a:extLst>
              <a:ext uri="{FF2B5EF4-FFF2-40B4-BE49-F238E27FC236}">
                <a16:creationId xmlns:a16="http://schemas.microsoft.com/office/drawing/2014/main" id="{5429E427-16E3-344A-A034-DAE0253AB97D}"/>
              </a:ext>
            </a:extLst>
          </p:cNvPr>
          <p:cNvSpPr>
            <a:spLocks noChangeShapeType="1"/>
          </p:cNvSpPr>
          <p:nvPr/>
        </p:nvSpPr>
        <p:spPr bwMode="auto">
          <a:xfrm flipH="1">
            <a:off x="606771" y="1731979"/>
            <a:ext cx="9899" cy="239013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119">
            <a:extLst>
              <a:ext uri="{FF2B5EF4-FFF2-40B4-BE49-F238E27FC236}">
                <a16:creationId xmlns:a16="http://schemas.microsoft.com/office/drawing/2014/main" id="{B685EEAE-4766-CE43-A2A6-32288A3FE5E9}"/>
              </a:ext>
            </a:extLst>
          </p:cNvPr>
          <p:cNvSpPr>
            <a:spLocks noChangeShapeType="1"/>
          </p:cNvSpPr>
          <p:nvPr/>
        </p:nvSpPr>
        <p:spPr bwMode="auto">
          <a:xfrm flipH="1">
            <a:off x="3032844" y="1727217"/>
            <a:ext cx="11113" cy="2394901"/>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96" name="Group 295">
            <a:extLst>
              <a:ext uri="{FF2B5EF4-FFF2-40B4-BE49-F238E27FC236}">
                <a16:creationId xmlns:a16="http://schemas.microsoft.com/office/drawing/2014/main" id="{9218D318-345A-1343-9E16-E2157D9EC9CA}"/>
              </a:ext>
            </a:extLst>
          </p:cNvPr>
          <p:cNvGrpSpPr/>
          <p:nvPr/>
        </p:nvGrpSpPr>
        <p:grpSpPr>
          <a:xfrm>
            <a:off x="243608" y="1978042"/>
            <a:ext cx="396875" cy="1751012"/>
            <a:chOff x="1638369" y="2347585"/>
            <a:chExt cx="396875" cy="1751012"/>
          </a:xfrm>
        </p:grpSpPr>
        <p:sp>
          <p:nvSpPr>
            <p:cNvPr id="297"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9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302"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3"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99"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300"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1"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304" name="Group 228">
            <a:extLst>
              <a:ext uri="{FF2B5EF4-FFF2-40B4-BE49-F238E27FC236}">
                <a16:creationId xmlns:a16="http://schemas.microsoft.com/office/drawing/2014/main" id="{F8939732-2442-144E-A5BB-23D63EE09D71}"/>
              </a:ext>
            </a:extLst>
          </p:cNvPr>
          <p:cNvGrpSpPr>
            <a:grpSpLocks/>
          </p:cNvGrpSpPr>
          <p:nvPr/>
        </p:nvGrpSpPr>
        <p:grpSpPr bwMode="auto">
          <a:xfrm>
            <a:off x="207095" y="1104917"/>
            <a:ext cx="630238" cy="533400"/>
            <a:chOff x="-44" y="1473"/>
            <a:chExt cx="981" cy="1105"/>
          </a:xfrm>
        </p:grpSpPr>
        <p:pic>
          <p:nvPicPr>
            <p:cNvPr id="305"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7" name="Group 231">
            <a:extLst>
              <a:ext uri="{FF2B5EF4-FFF2-40B4-BE49-F238E27FC236}">
                <a16:creationId xmlns:a16="http://schemas.microsoft.com/office/drawing/2014/main" id="{E145A84A-1570-9C46-A817-B68A25E966D9}"/>
              </a:ext>
            </a:extLst>
          </p:cNvPr>
          <p:cNvGrpSpPr>
            <a:grpSpLocks/>
          </p:cNvGrpSpPr>
          <p:nvPr/>
        </p:nvGrpSpPr>
        <p:grpSpPr bwMode="auto">
          <a:xfrm flipH="1">
            <a:off x="2785195" y="1089042"/>
            <a:ext cx="709613" cy="600075"/>
            <a:chOff x="-44" y="1473"/>
            <a:chExt cx="981" cy="1105"/>
          </a:xfrm>
        </p:grpSpPr>
        <p:pic>
          <p:nvPicPr>
            <p:cNvPr id="308"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0"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7050964" y="864435"/>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311"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4717339" y="881898"/>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312" name="Line 100">
            <a:extLst>
              <a:ext uri="{FF2B5EF4-FFF2-40B4-BE49-F238E27FC236}">
                <a16:creationId xmlns:a16="http://schemas.microsoft.com/office/drawing/2014/main" id="{9BCB851E-085B-9D4B-8A34-064757F2C932}"/>
              </a:ext>
            </a:extLst>
          </p:cNvPr>
          <p:cNvSpPr>
            <a:spLocks noChangeShapeType="1"/>
          </p:cNvSpPr>
          <p:nvPr/>
        </p:nvSpPr>
        <p:spPr bwMode="auto">
          <a:xfrm>
            <a:off x="5112627" y="2023310"/>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3" name="Line 118">
            <a:extLst>
              <a:ext uri="{FF2B5EF4-FFF2-40B4-BE49-F238E27FC236}">
                <a16:creationId xmlns:a16="http://schemas.microsoft.com/office/drawing/2014/main" id="{5429E427-16E3-344A-A034-DAE0253AB97D}"/>
              </a:ext>
            </a:extLst>
          </p:cNvPr>
          <p:cNvSpPr>
            <a:spLocks noChangeShapeType="1"/>
          </p:cNvSpPr>
          <p:nvPr/>
        </p:nvSpPr>
        <p:spPr bwMode="auto">
          <a:xfrm flipH="1">
            <a:off x="5082090" y="1782010"/>
            <a:ext cx="9899" cy="2390139"/>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4" name="Line 119">
            <a:extLst>
              <a:ext uri="{FF2B5EF4-FFF2-40B4-BE49-F238E27FC236}">
                <a16:creationId xmlns:a16="http://schemas.microsoft.com/office/drawing/2014/main" id="{B685EEAE-4766-CE43-A2A6-32288A3FE5E9}"/>
              </a:ext>
            </a:extLst>
          </p:cNvPr>
          <p:cNvSpPr>
            <a:spLocks noChangeShapeType="1"/>
          </p:cNvSpPr>
          <p:nvPr/>
        </p:nvSpPr>
        <p:spPr bwMode="auto">
          <a:xfrm flipH="1">
            <a:off x="7508163" y="1777248"/>
            <a:ext cx="11113" cy="2394901"/>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15" name="Group 314">
            <a:extLst>
              <a:ext uri="{FF2B5EF4-FFF2-40B4-BE49-F238E27FC236}">
                <a16:creationId xmlns:a16="http://schemas.microsoft.com/office/drawing/2014/main" id="{BDFBEB0F-AD33-9841-96A8-08332FBAA960}"/>
              </a:ext>
            </a:extLst>
          </p:cNvPr>
          <p:cNvGrpSpPr/>
          <p:nvPr/>
        </p:nvGrpSpPr>
        <p:grpSpPr>
          <a:xfrm>
            <a:off x="5938127" y="2685298"/>
            <a:ext cx="1484312" cy="628650"/>
            <a:chOff x="2857569" y="3004810"/>
            <a:chExt cx="1484312" cy="628650"/>
          </a:xfrm>
        </p:grpSpPr>
        <p:sp>
          <p:nvSpPr>
            <p:cNvPr id="316"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9"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320" name="Group 319">
            <a:extLst>
              <a:ext uri="{FF2B5EF4-FFF2-40B4-BE49-F238E27FC236}">
                <a16:creationId xmlns:a16="http://schemas.microsoft.com/office/drawing/2014/main" id="{9218D318-345A-1343-9E16-E2157D9EC9CA}"/>
              </a:ext>
            </a:extLst>
          </p:cNvPr>
          <p:cNvGrpSpPr/>
          <p:nvPr/>
        </p:nvGrpSpPr>
        <p:grpSpPr>
          <a:xfrm>
            <a:off x="4718927" y="2028073"/>
            <a:ext cx="396875" cy="1751012"/>
            <a:chOff x="1638369" y="2347585"/>
            <a:chExt cx="396875" cy="1751012"/>
          </a:xfrm>
        </p:grpSpPr>
        <p:sp>
          <p:nvSpPr>
            <p:cNvPr id="321"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322"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326"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7"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23"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324"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5"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328" name="Group 228">
            <a:extLst>
              <a:ext uri="{FF2B5EF4-FFF2-40B4-BE49-F238E27FC236}">
                <a16:creationId xmlns:a16="http://schemas.microsoft.com/office/drawing/2014/main" id="{F8939732-2442-144E-A5BB-23D63EE09D71}"/>
              </a:ext>
            </a:extLst>
          </p:cNvPr>
          <p:cNvGrpSpPr>
            <a:grpSpLocks/>
          </p:cNvGrpSpPr>
          <p:nvPr/>
        </p:nvGrpSpPr>
        <p:grpSpPr bwMode="auto">
          <a:xfrm>
            <a:off x="4682414" y="1154948"/>
            <a:ext cx="630238" cy="533400"/>
            <a:chOff x="-44" y="1473"/>
            <a:chExt cx="981" cy="1105"/>
          </a:xfrm>
        </p:grpSpPr>
        <p:pic>
          <p:nvPicPr>
            <p:cNvPr id="329"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0"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31" name="Group 231">
            <a:extLst>
              <a:ext uri="{FF2B5EF4-FFF2-40B4-BE49-F238E27FC236}">
                <a16:creationId xmlns:a16="http://schemas.microsoft.com/office/drawing/2014/main" id="{E145A84A-1570-9C46-A817-B68A25E966D9}"/>
              </a:ext>
            </a:extLst>
          </p:cNvPr>
          <p:cNvGrpSpPr>
            <a:grpSpLocks/>
          </p:cNvGrpSpPr>
          <p:nvPr/>
        </p:nvGrpSpPr>
        <p:grpSpPr bwMode="auto">
          <a:xfrm flipH="1">
            <a:off x="7260514" y="1139073"/>
            <a:ext cx="709613" cy="600075"/>
            <a:chOff x="-44" y="1473"/>
            <a:chExt cx="981" cy="1105"/>
          </a:xfrm>
        </p:grpSpPr>
        <p:pic>
          <p:nvPicPr>
            <p:cNvPr id="332"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3"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34"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084569" y="2174123"/>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6" name="Line 36">
            <a:extLst>
              <a:ext uri="{FF2B5EF4-FFF2-40B4-BE49-F238E27FC236}">
                <a16:creationId xmlns:a16="http://schemas.microsoft.com/office/drawing/2014/main" id="{CCBE06AD-8A86-F04F-8691-D7894B915278}"/>
              </a:ext>
            </a:extLst>
          </p:cNvPr>
          <p:cNvSpPr>
            <a:spLocks noChangeShapeType="1"/>
          </p:cNvSpPr>
          <p:nvPr/>
        </p:nvSpPr>
        <p:spPr bwMode="auto">
          <a:xfrm>
            <a:off x="9326769" y="1328754"/>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7"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11252406" y="157179"/>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338"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8931481" y="187342"/>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341" name="Line 49">
            <a:extLst>
              <a:ext uri="{FF2B5EF4-FFF2-40B4-BE49-F238E27FC236}">
                <a16:creationId xmlns:a16="http://schemas.microsoft.com/office/drawing/2014/main" id="{7554A1BA-7B17-9947-9957-0D23896F869A}"/>
              </a:ext>
            </a:extLst>
          </p:cNvPr>
          <p:cNvSpPr>
            <a:spLocks noChangeShapeType="1"/>
          </p:cNvSpPr>
          <p:nvPr/>
        </p:nvSpPr>
        <p:spPr bwMode="auto">
          <a:xfrm>
            <a:off x="9306131" y="1087454"/>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2" name="Line 50">
            <a:extLst>
              <a:ext uri="{FF2B5EF4-FFF2-40B4-BE49-F238E27FC236}">
                <a16:creationId xmlns:a16="http://schemas.microsoft.com/office/drawing/2014/main" id="{CBDA8AA8-732F-A344-BAE1-68752D7E6D4A}"/>
              </a:ext>
            </a:extLst>
          </p:cNvPr>
          <p:cNvSpPr>
            <a:spLocks noChangeShapeType="1"/>
          </p:cNvSpPr>
          <p:nvPr/>
        </p:nvSpPr>
        <p:spPr bwMode="auto">
          <a:xfrm>
            <a:off x="11711194" y="1082692"/>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43" name="Group 342">
            <a:extLst>
              <a:ext uri="{FF2B5EF4-FFF2-40B4-BE49-F238E27FC236}">
                <a16:creationId xmlns:a16="http://schemas.microsoft.com/office/drawing/2014/main" id="{15CBAF7E-F641-074E-A960-6453A9AD2BBF}"/>
              </a:ext>
            </a:extLst>
          </p:cNvPr>
          <p:cNvGrpSpPr/>
          <p:nvPr/>
        </p:nvGrpSpPr>
        <p:grpSpPr>
          <a:xfrm>
            <a:off x="9306131" y="3259973"/>
            <a:ext cx="2441575" cy="879475"/>
            <a:chOff x="2063612" y="4444549"/>
            <a:chExt cx="2441575" cy="879475"/>
          </a:xfrm>
        </p:grpSpPr>
        <p:sp>
          <p:nvSpPr>
            <p:cNvPr id="344"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7"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49" name="Line 64">
            <a:extLst>
              <a:ext uri="{FF2B5EF4-FFF2-40B4-BE49-F238E27FC236}">
                <a16:creationId xmlns:a16="http://schemas.microsoft.com/office/drawing/2014/main" id="{1530CC4E-B289-DB44-8685-B440E2B60DE1}"/>
              </a:ext>
            </a:extLst>
          </p:cNvPr>
          <p:cNvSpPr>
            <a:spLocks noChangeShapeType="1"/>
          </p:cNvSpPr>
          <p:nvPr/>
        </p:nvSpPr>
        <p:spPr bwMode="auto">
          <a:xfrm>
            <a:off x="9312481" y="1714517"/>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52" name="Group 351">
            <a:extLst>
              <a:ext uri="{FF2B5EF4-FFF2-40B4-BE49-F238E27FC236}">
                <a16:creationId xmlns:a16="http://schemas.microsoft.com/office/drawing/2014/main" id="{AEA8CEC7-4316-034E-9A10-D1758AB5C1E8}"/>
              </a:ext>
            </a:extLst>
          </p:cNvPr>
          <p:cNvGrpSpPr/>
          <p:nvPr/>
        </p:nvGrpSpPr>
        <p:grpSpPr>
          <a:xfrm>
            <a:off x="9306131" y="1990742"/>
            <a:ext cx="2335213" cy="1206501"/>
            <a:chOff x="2019162" y="3011037"/>
            <a:chExt cx="2335213" cy="1206501"/>
          </a:xfrm>
        </p:grpSpPr>
        <p:sp>
          <p:nvSpPr>
            <p:cNvPr id="353"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354"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6"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19162" y="3366638"/>
              <a:ext cx="2335213" cy="8509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62" name="Group 84">
            <a:extLst>
              <a:ext uri="{FF2B5EF4-FFF2-40B4-BE49-F238E27FC236}">
                <a16:creationId xmlns:a16="http://schemas.microsoft.com/office/drawing/2014/main" id="{A513F213-614E-9644-8CDB-349CE9C0E465}"/>
              </a:ext>
            </a:extLst>
          </p:cNvPr>
          <p:cNvGrpSpPr>
            <a:grpSpLocks/>
          </p:cNvGrpSpPr>
          <p:nvPr/>
        </p:nvGrpSpPr>
        <p:grpSpPr bwMode="auto">
          <a:xfrm>
            <a:off x="8885444" y="449279"/>
            <a:ext cx="630237" cy="533400"/>
            <a:chOff x="-44" y="1473"/>
            <a:chExt cx="981" cy="1105"/>
          </a:xfrm>
        </p:grpSpPr>
        <p:pic>
          <p:nvPicPr>
            <p:cNvPr id="363"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65" name="Group 87">
            <a:extLst>
              <a:ext uri="{FF2B5EF4-FFF2-40B4-BE49-F238E27FC236}">
                <a16:creationId xmlns:a16="http://schemas.microsoft.com/office/drawing/2014/main" id="{C16FC996-18F5-D44A-B06A-968A8827AE39}"/>
              </a:ext>
            </a:extLst>
          </p:cNvPr>
          <p:cNvGrpSpPr>
            <a:grpSpLocks/>
          </p:cNvGrpSpPr>
          <p:nvPr/>
        </p:nvGrpSpPr>
        <p:grpSpPr bwMode="auto">
          <a:xfrm flipH="1">
            <a:off x="11463544" y="444517"/>
            <a:ext cx="674687" cy="590550"/>
            <a:chOff x="-44" y="1473"/>
            <a:chExt cx="981" cy="1105"/>
          </a:xfrm>
        </p:grpSpPr>
        <p:pic>
          <p:nvPicPr>
            <p:cNvPr id="366"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8"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352315" y="194774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69"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6154636" y="2062130"/>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7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6386272" y="2701939"/>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7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397911" y="135527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7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0355877" y="2165453"/>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7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325567" y="178824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37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0425727" y="2505133"/>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A3</a:t>
            </a:r>
            <a:endParaRPr lang="en-US" sz="750" dirty="0">
              <a:solidFill>
                <a:srgbClr val="000000"/>
              </a:solidFill>
              <a:latin typeface="Avenir Book" panose="020B0503020203020204" pitchFamily="34" charset="-78"/>
              <a:cs typeface="Avenir Book" panose="020B0503020203020204" pitchFamily="34" charset="-78"/>
            </a:endParaRPr>
          </a:p>
        </p:txBody>
      </p:sp>
      <p:grpSp>
        <p:nvGrpSpPr>
          <p:cNvPr id="376" name="Group 375">
            <a:extLst>
              <a:ext uri="{FF2B5EF4-FFF2-40B4-BE49-F238E27FC236}">
                <a16:creationId xmlns:a16="http://schemas.microsoft.com/office/drawing/2014/main" id="{9218D318-345A-1343-9E16-E2157D9EC9CA}"/>
              </a:ext>
            </a:extLst>
          </p:cNvPr>
          <p:cNvGrpSpPr/>
          <p:nvPr/>
        </p:nvGrpSpPr>
        <p:grpSpPr>
          <a:xfrm>
            <a:off x="8952579" y="1755542"/>
            <a:ext cx="396875" cy="1751012"/>
            <a:chOff x="1638369" y="2347585"/>
            <a:chExt cx="396875" cy="1751012"/>
          </a:xfrm>
        </p:grpSpPr>
        <p:sp>
          <p:nvSpPr>
            <p:cNvPr id="377"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37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382"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3"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79"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380"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1"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384" name="Group 383">
            <a:extLst>
              <a:ext uri="{FF2B5EF4-FFF2-40B4-BE49-F238E27FC236}">
                <a16:creationId xmlns:a16="http://schemas.microsoft.com/office/drawing/2014/main" id="{15CBAF7E-F641-074E-A960-6453A9AD2BBF}"/>
              </a:ext>
            </a:extLst>
          </p:cNvPr>
          <p:cNvGrpSpPr/>
          <p:nvPr/>
        </p:nvGrpSpPr>
        <p:grpSpPr>
          <a:xfrm>
            <a:off x="9317706" y="3364740"/>
            <a:ext cx="2441575" cy="879475"/>
            <a:chOff x="2063612" y="4444549"/>
            <a:chExt cx="2441575" cy="879475"/>
          </a:xfrm>
        </p:grpSpPr>
        <p:sp>
          <p:nvSpPr>
            <p:cNvPr id="385"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6"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87" name="Group 386">
            <a:extLst>
              <a:ext uri="{FF2B5EF4-FFF2-40B4-BE49-F238E27FC236}">
                <a16:creationId xmlns:a16="http://schemas.microsoft.com/office/drawing/2014/main" id="{15CBAF7E-F641-074E-A960-6453A9AD2BBF}"/>
              </a:ext>
            </a:extLst>
          </p:cNvPr>
          <p:cNvGrpSpPr/>
          <p:nvPr/>
        </p:nvGrpSpPr>
        <p:grpSpPr>
          <a:xfrm>
            <a:off x="9306130" y="3483810"/>
            <a:ext cx="2441575" cy="879475"/>
            <a:chOff x="2063612" y="4444549"/>
            <a:chExt cx="2441575" cy="879475"/>
          </a:xfrm>
        </p:grpSpPr>
        <p:sp>
          <p:nvSpPr>
            <p:cNvPr id="388"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9"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90" name="Group 389">
            <a:extLst>
              <a:ext uri="{FF2B5EF4-FFF2-40B4-BE49-F238E27FC236}">
                <a16:creationId xmlns:a16="http://schemas.microsoft.com/office/drawing/2014/main" id="{15CBAF7E-F641-074E-A960-6453A9AD2BBF}"/>
              </a:ext>
            </a:extLst>
          </p:cNvPr>
          <p:cNvGrpSpPr/>
          <p:nvPr/>
        </p:nvGrpSpPr>
        <p:grpSpPr>
          <a:xfrm>
            <a:off x="9306131" y="3640436"/>
            <a:ext cx="2441575" cy="879475"/>
            <a:chOff x="2063612" y="4444549"/>
            <a:chExt cx="2441575" cy="879475"/>
          </a:xfrm>
        </p:grpSpPr>
        <p:sp>
          <p:nvSpPr>
            <p:cNvPr id="391"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2"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93"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8372268" y="1367822"/>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2</a:t>
            </a:r>
          </a:p>
        </p:txBody>
      </p:sp>
      <p:sp>
        <p:nvSpPr>
          <p:cNvPr id="39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8384974" y="3091090"/>
            <a:ext cx="713657"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u="none" strike="noStrike" kern="0" cap="none" spc="0" normalizeH="0" baseline="0" noProof="0" dirty="0">
                <a:ln>
                  <a:noFill/>
                </a:ln>
                <a:solidFill>
                  <a:srgbClr val="C00000"/>
                </a:solidFill>
                <a:effectLst/>
                <a:uLnTx/>
                <a:uFillTx/>
                <a:latin typeface="Avenir Book" panose="020B0503020203020204" pitchFamily="34" charset="-78"/>
                <a:cs typeface="Avenir Book" panose="020B0503020203020204" pitchFamily="34" charset="-78"/>
              </a:rPr>
              <a:t>CW = 4</a:t>
            </a:r>
          </a:p>
        </p:txBody>
      </p:sp>
    </p:spTree>
    <p:extLst>
      <p:ext uri="{BB962C8B-B14F-4D97-AF65-F5344CB8AC3E}">
        <p14:creationId xmlns:p14="http://schemas.microsoft.com/office/powerpoint/2010/main" val="403221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dissolve">
                                      <p:cBhvr>
                                        <p:cTn id="7" dur="500"/>
                                        <p:tgtEl>
                                          <p:spTgt spid="29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15"/>
                                        </p:tgtEl>
                                        <p:attrNameLst>
                                          <p:attrName>style.visibility</p:attrName>
                                        </p:attrNameLst>
                                      </p:cBhvr>
                                      <p:to>
                                        <p:strVal val="visible"/>
                                      </p:to>
                                    </p:set>
                                    <p:animEffect transition="in" filter="wipe(right)">
                                      <p:cBhvr>
                                        <p:cTn id="11" dur="500"/>
                                        <p:tgtEl>
                                          <p:spTgt spid="3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dissolve">
                                      <p:cBhvr>
                                        <p:cTn id="16" dur="500"/>
                                        <p:tgtEl>
                                          <p:spTgt spid="3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6"/>
                                        </p:tgtEl>
                                        <p:attrNameLst>
                                          <p:attrName>style.visibility</p:attrName>
                                        </p:attrNameLst>
                                      </p:cBhvr>
                                      <p:to>
                                        <p:strVal val="visible"/>
                                      </p:to>
                                    </p:set>
                                    <p:animEffect transition="in" filter="wipe(left)">
                                      <p:cBhvr>
                                        <p:cTn id="21" dur="500"/>
                                        <p:tgtEl>
                                          <p:spTgt spid="336"/>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352"/>
                                        </p:tgtEl>
                                        <p:attrNameLst>
                                          <p:attrName>style.visibility</p:attrName>
                                        </p:attrNameLst>
                                      </p:cBhvr>
                                      <p:to>
                                        <p:strVal val="visible"/>
                                      </p:to>
                                    </p:set>
                                    <p:animEffect transition="in" filter="wipe(right)">
                                      <p:cBhvr>
                                        <p:cTn id="25" dur="500"/>
                                        <p:tgtEl>
                                          <p:spTgt spid="3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43"/>
                                        </p:tgtEl>
                                        <p:attrNameLst>
                                          <p:attrName>style.visibility</p:attrName>
                                        </p:attrNameLst>
                                      </p:cBhvr>
                                      <p:to>
                                        <p:strVal val="visible"/>
                                      </p:to>
                                    </p:set>
                                    <p:animEffect transition="in" filter="wipe(left)">
                                      <p:cBhvr>
                                        <p:cTn id="30" dur="500"/>
                                        <p:tgtEl>
                                          <p:spTgt spid="34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68"/>
                                        </p:tgtEl>
                                        <p:attrNameLst>
                                          <p:attrName>style.visibility</p:attrName>
                                        </p:attrNameLst>
                                      </p:cBhvr>
                                      <p:to>
                                        <p:strVal val="visible"/>
                                      </p:to>
                                    </p:set>
                                    <p:animEffect transition="in" filter="dissolve">
                                      <p:cBhvr>
                                        <p:cTn id="33" dur="500"/>
                                        <p:tgtEl>
                                          <p:spTgt spid="36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69"/>
                                        </p:tgtEl>
                                        <p:attrNameLst>
                                          <p:attrName>style.visibility</p:attrName>
                                        </p:attrNameLst>
                                      </p:cBhvr>
                                      <p:to>
                                        <p:strVal val="visible"/>
                                      </p:to>
                                    </p:set>
                                    <p:animEffect transition="in" filter="dissolve">
                                      <p:cBhvr>
                                        <p:cTn id="36" dur="500"/>
                                        <p:tgtEl>
                                          <p:spTgt spid="36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71"/>
                                        </p:tgtEl>
                                        <p:attrNameLst>
                                          <p:attrName>style.visibility</p:attrName>
                                        </p:attrNameLst>
                                      </p:cBhvr>
                                      <p:to>
                                        <p:strVal val="visible"/>
                                      </p:to>
                                    </p:set>
                                    <p:animEffect transition="in" filter="dissolve">
                                      <p:cBhvr>
                                        <p:cTn id="39" dur="500"/>
                                        <p:tgtEl>
                                          <p:spTgt spid="37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72"/>
                                        </p:tgtEl>
                                        <p:attrNameLst>
                                          <p:attrName>style.visibility</p:attrName>
                                        </p:attrNameLst>
                                      </p:cBhvr>
                                      <p:to>
                                        <p:strVal val="visible"/>
                                      </p:to>
                                    </p:set>
                                    <p:animEffect transition="in" filter="dissolve">
                                      <p:cBhvr>
                                        <p:cTn id="42" dur="500"/>
                                        <p:tgtEl>
                                          <p:spTgt spid="372"/>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373"/>
                                        </p:tgtEl>
                                        <p:attrNameLst>
                                          <p:attrName>style.visibility</p:attrName>
                                        </p:attrNameLst>
                                      </p:cBhvr>
                                      <p:to>
                                        <p:strVal val="visible"/>
                                      </p:to>
                                    </p:set>
                                    <p:animEffect transition="in" filter="dissolve">
                                      <p:cBhvr>
                                        <p:cTn id="45" dur="500"/>
                                        <p:tgtEl>
                                          <p:spTgt spid="373"/>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374"/>
                                        </p:tgtEl>
                                        <p:attrNameLst>
                                          <p:attrName>style.visibility</p:attrName>
                                        </p:attrNameLst>
                                      </p:cBhvr>
                                      <p:to>
                                        <p:strVal val="visible"/>
                                      </p:to>
                                    </p:set>
                                    <p:animEffect transition="in" filter="dissolve">
                                      <p:cBhvr>
                                        <p:cTn id="48" dur="500"/>
                                        <p:tgtEl>
                                          <p:spTgt spid="374"/>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375"/>
                                        </p:tgtEl>
                                        <p:attrNameLst>
                                          <p:attrName>style.visibility</p:attrName>
                                        </p:attrNameLst>
                                      </p:cBhvr>
                                      <p:to>
                                        <p:strVal val="visible"/>
                                      </p:to>
                                    </p:set>
                                    <p:animEffect transition="in" filter="dissolve">
                                      <p:cBhvr>
                                        <p:cTn id="51" dur="500"/>
                                        <p:tgtEl>
                                          <p:spTgt spid="375"/>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376"/>
                                        </p:tgtEl>
                                        <p:attrNameLst>
                                          <p:attrName>style.visibility</p:attrName>
                                        </p:attrNameLst>
                                      </p:cBhvr>
                                      <p:to>
                                        <p:strVal val="visible"/>
                                      </p:to>
                                    </p:set>
                                    <p:animEffect transition="in" filter="dissolve">
                                      <p:cBhvr>
                                        <p:cTn id="56" dur="500"/>
                                        <p:tgtEl>
                                          <p:spTgt spid="37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84"/>
                                        </p:tgtEl>
                                        <p:attrNameLst>
                                          <p:attrName>style.visibility</p:attrName>
                                        </p:attrNameLst>
                                      </p:cBhvr>
                                      <p:to>
                                        <p:strVal val="visible"/>
                                      </p:to>
                                    </p:set>
                                    <p:animEffect transition="in" filter="wipe(left)">
                                      <p:cBhvr>
                                        <p:cTn id="61" dur="500"/>
                                        <p:tgtEl>
                                          <p:spTgt spid="38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87"/>
                                        </p:tgtEl>
                                        <p:attrNameLst>
                                          <p:attrName>style.visibility</p:attrName>
                                        </p:attrNameLst>
                                      </p:cBhvr>
                                      <p:to>
                                        <p:strVal val="visible"/>
                                      </p:to>
                                    </p:set>
                                    <p:animEffect transition="in" filter="wipe(left)">
                                      <p:cBhvr>
                                        <p:cTn id="66" dur="500"/>
                                        <p:tgtEl>
                                          <p:spTgt spid="38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90"/>
                                        </p:tgtEl>
                                        <p:attrNameLst>
                                          <p:attrName>style.visibility</p:attrName>
                                        </p:attrNameLst>
                                      </p:cBhvr>
                                      <p:to>
                                        <p:strVal val="visible"/>
                                      </p:to>
                                    </p:set>
                                    <p:animEffect transition="in" filter="wipe(left)">
                                      <p:cBhvr>
                                        <p:cTn id="71" dur="500"/>
                                        <p:tgtEl>
                                          <p:spTgt spid="390"/>
                                        </p:tgtEl>
                                      </p:cBhvr>
                                    </p:animEffect>
                                  </p:childTnLst>
                                </p:cTn>
                              </p:par>
                            </p:childTnLst>
                          </p:cTn>
                        </p:par>
                        <p:par>
                          <p:cTn id="72" fill="hold">
                            <p:stCondLst>
                              <p:cond delay="500"/>
                            </p:stCondLst>
                            <p:childTnLst>
                              <p:par>
                                <p:cTn id="73" presetID="9" presetClass="entr" presetSubtype="0" fill="hold" grpId="0" nodeType="afterEffect">
                                  <p:stCondLst>
                                    <p:cond delay="0"/>
                                  </p:stCondLst>
                                  <p:childTnLst>
                                    <p:set>
                                      <p:cBhvr>
                                        <p:cTn id="74" dur="1" fill="hold">
                                          <p:stCondLst>
                                            <p:cond delay="0"/>
                                          </p:stCondLst>
                                        </p:cTn>
                                        <p:tgtEl>
                                          <p:spTgt spid="393"/>
                                        </p:tgtEl>
                                        <p:attrNameLst>
                                          <p:attrName>style.visibility</p:attrName>
                                        </p:attrNameLst>
                                      </p:cBhvr>
                                      <p:to>
                                        <p:strVal val="visible"/>
                                      </p:to>
                                    </p:set>
                                    <p:animEffect transition="in" filter="dissolve">
                                      <p:cBhvr>
                                        <p:cTn id="75" dur="500"/>
                                        <p:tgtEl>
                                          <p:spTgt spid="393"/>
                                        </p:tgtEl>
                                      </p:cBhvr>
                                    </p:animEffect>
                                  </p:childTnLst>
                                </p:cTn>
                              </p:par>
                            </p:childTnLst>
                          </p:cTn>
                        </p:par>
                        <p:par>
                          <p:cTn id="76" fill="hold">
                            <p:stCondLst>
                              <p:cond delay="1000"/>
                            </p:stCondLst>
                            <p:childTnLst>
                              <p:par>
                                <p:cTn id="77" presetID="9" presetClass="entr" presetSubtype="0" fill="hold" grpId="0" nodeType="afterEffect">
                                  <p:stCondLst>
                                    <p:cond delay="0"/>
                                  </p:stCondLst>
                                  <p:childTnLst>
                                    <p:set>
                                      <p:cBhvr>
                                        <p:cTn id="78" dur="1" fill="hold">
                                          <p:stCondLst>
                                            <p:cond delay="0"/>
                                          </p:stCondLst>
                                        </p:cTn>
                                        <p:tgtEl>
                                          <p:spTgt spid="394"/>
                                        </p:tgtEl>
                                        <p:attrNameLst>
                                          <p:attrName>style.visibility</p:attrName>
                                        </p:attrNameLst>
                                      </p:cBhvr>
                                      <p:to>
                                        <p:strVal val="visible"/>
                                      </p:to>
                                    </p:set>
                                    <p:animEffect transition="in" filter="dissolve">
                                      <p:cBhvr>
                                        <p:cTn id="79"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 grpId="0" animBg="1"/>
      <p:bldP spid="368" grpId="0"/>
      <p:bldP spid="369" grpId="0"/>
      <p:bldP spid="371" grpId="0"/>
      <p:bldP spid="372" grpId="0"/>
      <p:bldP spid="373" grpId="0"/>
      <p:bldP spid="374" grpId="0"/>
      <p:bldP spid="375" grpId="0"/>
      <p:bldP spid="393" grpId="0"/>
      <p:bldP spid="39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latin typeface="Avenir Book" panose="020B0503020203020204" pitchFamily="34" charset="-78"/>
                <a:cs typeface="Avenir Book" panose="020B0503020203020204" pitchFamily="34" charset="-78"/>
              </a:rPr>
              <a:t>TCP Fast Retransmit</a:t>
            </a:r>
            <a:endParaRPr lang="en-US" sz="4400" b="0" dirty="0">
              <a:latin typeface="Avenir Book" panose="020B0503020203020204" pitchFamily="34" charset="-78"/>
              <a:cs typeface="Avenir Book" panose="020B0503020203020204" pitchFamily="34" charset="-78"/>
            </a:endParaRPr>
          </a:p>
        </p:txBody>
      </p:sp>
      <p:sp>
        <p:nvSpPr>
          <p:cNvPr id="54" name="Line 10">
            <a:extLst>
              <a:ext uri="{FF2B5EF4-FFF2-40B4-BE49-F238E27FC236}">
                <a16:creationId xmlns:a16="http://schemas.microsoft.com/office/drawing/2014/main" id="{D5DBB1B8-3A7B-2149-A7A5-727E44799BF4}"/>
              </a:ext>
            </a:extLst>
          </p:cNvPr>
          <p:cNvSpPr>
            <a:spLocks noChangeShapeType="1"/>
          </p:cNvSpPr>
          <p:nvPr/>
        </p:nvSpPr>
        <p:spPr bwMode="auto">
          <a:xfrm>
            <a:off x="8504114" y="984786"/>
            <a:ext cx="8780" cy="408303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55" name="Line 11">
            <a:extLst>
              <a:ext uri="{FF2B5EF4-FFF2-40B4-BE49-F238E27FC236}">
                <a16:creationId xmlns:a16="http://schemas.microsoft.com/office/drawing/2014/main" id="{689C7DF6-5B6C-F34C-B350-3B553A4C7C71}"/>
              </a:ext>
            </a:extLst>
          </p:cNvPr>
          <p:cNvSpPr>
            <a:spLocks noChangeShapeType="1"/>
          </p:cNvSpPr>
          <p:nvPr/>
        </p:nvSpPr>
        <p:spPr bwMode="auto">
          <a:xfrm>
            <a:off x="11372296" y="1040496"/>
            <a:ext cx="38377" cy="402732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56"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10854150" y="69186"/>
            <a:ext cx="79701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venir Book" panose="020B0503020203020204" pitchFamily="34" charset="-78"/>
                <a:cs typeface="Avenir Book" panose="020B0503020203020204" pitchFamily="34" charset="-78"/>
              </a:rPr>
              <a:t>Host B</a:t>
            </a:r>
          </a:p>
        </p:txBody>
      </p:sp>
      <p:sp>
        <p:nvSpPr>
          <p:cNvPr id="77"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8232809" y="122201"/>
            <a:ext cx="808235"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venir Book" panose="020B0503020203020204" pitchFamily="34" charset="-78"/>
                <a:cs typeface="Avenir Book" panose="020B0503020203020204" pitchFamily="34" charset="-78"/>
              </a:rPr>
              <a:t>Host A</a:t>
            </a:r>
          </a:p>
        </p:txBody>
      </p:sp>
      <p:grpSp>
        <p:nvGrpSpPr>
          <p:cNvPr id="78" name="Group 78">
            <a:extLst>
              <a:ext uri="{FF2B5EF4-FFF2-40B4-BE49-F238E27FC236}">
                <a16:creationId xmlns:a16="http://schemas.microsoft.com/office/drawing/2014/main" id="{BFB3AB37-E716-1346-A8BA-2EFF122E1DFB}"/>
              </a:ext>
            </a:extLst>
          </p:cNvPr>
          <p:cNvGrpSpPr>
            <a:grpSpLocks/>
          </p:cNvGrpSpPr>
          <p:nvPr/>
        </p:nvGrpSpPr>
        <p:grpSpPr bwMode="auto">
          <a:xfrm>
            <a:off x="8047503" y="1481133"/>
            <a:ext cx="399534" cy="3368061"/>
            <a:chOff x="431" y="868"/>
            <a:chExt cx="182" cy="2220"/>
          </a:xfrm>
        </p:grpSpPr>
        <p:sp>
          <p:nvSpPr>
            <p:cNvPr id="88"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431" y="1739"/>
              <a:ext cx="182" cy="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venir Book" panose="020B0503020203020204" pitchFamily="34" charset="-78"/>
                  <a:cs typeface="Avenir Book" panose="020B0503020203020204" pitchFamily="34" charset="-78"/>
                </a:rPr>
                <a:t>timeout</a:t>
              </a:r>
            </a:p>
          </p:txBody>
        </p:sp>
        <p:grpSp>
          <p:nvGrpSpPr>
            <p:cNvPr id="89"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95"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08"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grpSp>
          <p:nvGrpSpPr>
            <p:cNvPr id="91"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92"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94"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grpSp>
      <p:grpSp>
        <p:nvGrpSpPr>
          <p:cNvPr id="109" name="Group 108">
            <a:extLst>
              <a:ext uri="{FF2B5EF4-FFF2-40B4-BE49-F238E27FC236}">
                <a16:creationId xmlns:a16="http://schemas.microsoft.com/office/drawing/2014/main" id="{DFEC346A-D192-A745-962D-2F7187BE2EBA}"/>
              </a:ext>
            </a:extLst>
          </p:cNvPr>
          <p:cNvGrpSpPr/>
          <p:nvPr/>
        </p:nvGrpSpPr>
        <p:grpSpPr>
          <a:xfrm>
            <a:off x="8474643" y="2551902"/>
            <a:ext cx="2919646" cy="1600635"/>
            <a:chOff x="7126535" y="3495131"/>
            <a:chExt cx="3499219" cy="1600635"/>
          </a:xfrm>
        </p:grpSpPr>
        <p:sp>
          <p:nvSpPr>
            <p:cNvPr id="110"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1"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2"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sp>
        <p:nvSpPr>
          <p:cNvPr id="113" name="Rectangle 84">
            <a:extLst>
              <a:ext uri="{FF2B5EF4-FFF2-40B4-BE49-F238E27FC236}">
                <a16:creationId xmlns:a16="http://schemas.microsoft.com/office/drawing/2014/main" id="{DDC13008-E549-D946-9386-1DAF70895444}"/>
              </a:ext>
            </a:extLst>
          </p:cNvPr>
          <p:cNvSpPr>
            <a:spLocks noChangeArrowheads="1"/>
          </p:cNvSpPr>
          <p:nvPr/>
        </p:nvSpPr>
        <p:spPr bwMode="auto">
          <a:xfrm>
            <a:off x="8802668" y="1620547"/>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nvGrpSpPr>
          <p:cNvPr id="114" name="Group 113">
            <a:extLst>
              <a:ext uri="{FF2B5EF4-FFF2-40B4-BE49-F238E27FC236}">
                <a16:creationId xmlns:a16="http://schemas.microsoft.com/office/drawing/2014/main" id="{A410A887-ABC6-3C43-BE7B-AF0C2FBB6C93}"/>
              </a:ext>
            </a:extLst>
          </p:cNvPr>
          <p:cNvGrpSpPr/>
          <p:nvPr/>
        </p:nvGrpSpPr>
        <p:grpSpPr>
          <a:xfrm>
            <a:off x="8504116" y="1603962"/>
            <a:ext cx="2890174" cy="1481601"/>
            <a:chOff x="7137252" y="2547191"/>
            <a:chExt cx="3503609" cy="1481601"/>
          </a:xfrm>
        </p:grpSpPr>
        <p:sp>
          <p:nvSpPr>
            <p:cNvPr id="115"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1523642" cy="311082"/>
            </a:xfrm>
            <a:prstGeom prst="line">
              <a:avLst/>
            </a:prstGeom>
            <a:noFill/>
            <a:ln w="28575">
              <a:solidFill>
                <a:srgbClr val="3333CC"/>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6"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7"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18"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grpSp>
      <p:grpSp>
        <p:nvGrpSpPr>
          <p:cNvPr id="119" name="Group 93">
            <a:extLst>
              <a:ext uri="{FF2B5EF4-FFF2-40B4-BE49-F238E27FC236}">
                <a16:creationId xmlns:a16="http://schemas.microsoft.com/office/drawing/2014/main" id="{90980625-BCFD-F546-BD95-6CC80FC48859}"/>
              </a:ext>
            </a:extLst>
          </p:cNvPr>
          <p:cNvGrpSpPr>
            <a:grpSpLocks/>
          </p:cNvGrpSpPr>
          <p:nvPr/>
        </p:nvGrpSpPr>
        <p:grpSpPr bwMode="auto">
          <a:xfrm>
            <a:off x="7975061" y="400461"/>
            <a:ext cx="810044" cy="619176"/>
            <a:chOff x="-44" y="1473"/>
            <a:chExt cx="981" cy="1105"/>
          </a:xfrm>
        </p:grpSpPr>
        <p:pic>
          <p:nvPicPr>
            <p:cNvPr id="120"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22" name="Group 96">
            <a:extLst>
              <a:ext uri="{FF2B5EF4-FFF2-40B4-BE49-F238E27FC236}">
                <a16:creationId xmlns:a16="http://schemas.microsoft.com/office/drawing/2014/main" id="{30D13886-717C-5C49-84EB-DD7C28AC75E9}"/>
              </a:ext>
            </a:extLst>
          </p:cNvPr>
          <p:cNvGrpSpPr>
            <a:grpSpLocks/>
          </p:cNvGrpSpPr>
          <p:nvPr/>
        </p:nvGrpSpPr>
        <p:grpSpPr bwMode="auto">
          <a:xfrm flipH="1">
            <a:off x="11086399" y="399045"/>
            <a:ext cx="749093" cy="672617"/>
            <a:chOff x="-44" y="1473"/>
            <a:chExt cx="981" cy="1105"/>
          </a:xfrm>
        </p:grpSpPr>
        <p:pic>
          <p:nvPicPr>
            <p:cNvPr id="123"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125"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8504505" y="1040383"/>
            <a:ext cx="2724412" cy="52587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1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9471063" y="1086979"/>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2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9251086" y="3590753"/>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28"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9205643" y="3344845"/>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29"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9144672" y="2982187"/>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3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176086" y="2016652"/>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3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143831" y="235886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32"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10147866" y="2633216"/>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3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924268">
            <a:off x="9227644" y="1554169"/>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134"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9743519" y="1737161"/>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Avenir Book" panose="020B0503020203020204" pitchFamily="34" charset="-78"/>
                <a:cs typeface="Avenir Book" panose="020B0503020203020204" pitchFamily="34" charset="-78"/>
              </a:rPr>
              <a:t>X</a:t>
            </a:r>
          </a:p>
        </p:txBody>
      </p:sp>
      <p:sp>
        <p:nvSpPr>
          <p:cNvPr id="135" name="Rectangle 3">
            <a:extLst>
              <a:ext uri="{FF2B5EF4-FFF2-40B4-BE49-F238E27FC236}">
                <a16:creationId xmlns:a16="http://schemas.microsoft.com/office/drawing/2014/main" id="{8A57114D-913B-0446-AF23-3E8C1F4B81CA}"/>
              </a:ext>
            </a:extLst>
          </p:cNvPr>
          <p:cNvSpPr txBox="1">
            <a:spLocks noChangeArrowheads="1"/>
          </p:cNvSpPr>
          <p:nvPr/>
        </p:nvSpPr>
        <p:spPr>
          <a:xfrm>
            <a:off x="673332" y="1157130"/>
            <a:ext cx="6342610" cy="3910693"/>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lnSpc>
                <a:spcPct val="100000"/>
              </a:lnSpc>
              <a:spcBef>
                <a:spcPts val="750"/>
              </a:spcBef>
              <a:buFont typeface="Wingdings" charset="2"/>
              <a:buChar char="§"/>
              <a:defRPr/>
            </a:pPr>
            <a:r>
              <a:rPr lang="en-GB" sz="2400" dirty="0">
                <a:solidFill>
                  <a:prstClr val="black"/>
                </a:solidFill>
                <a:latin typeface="Avenir Book" panose="020B0503020203020204" pitchFamily="34" charset="-78"/>
                <a:cs typeface="Avenir Book" panose="020B0503020203020204" pitchFamily="34" charset="-78"/>
              </a:rPr>
              <a:t>If sender receives </a:t>
            </a:r>
            <a:r>
              <a:rPr lang="en-GB" sz="2400" dirty="0">
                <a:solidFill>
                  <a:srgbClr val="C00000"/>
                </a:solidFill>
                <a:latin typeface="Avenir Book" panose="020B0503020203020204" pitchFamily="34" charset="-78"/>
                <a:cs typeface="Avenir Book" panose="020B0503020203020204" pitchFamily="34" charset="-78"/>
              </a:rPr>
              <a:t>3 duplicate ACKs</a:t>
            </a:r>
            <a:r>
              <a:rPr lang="en-GB" sz="2400" dirty="0">
                <a:solidFill>
                  <a:prstClr val="black"/>
                </a:solidFill>
                <a:latin typeface="Avenir Book" panose="020B0503020203020204" pitchFamily="34" charset="-78"/>
                <a:cs typeface="Avenir Book" panose="020B0503020203020204" pitchFamily="34" charset="-78"/>
              </a:rPr>
              <a:t>:</a:t>
            </a:r>
          </a:p>
          <a:p>
            <a:pPr marL="521494" lvl="1" indent="-173831" defTabSz="685800">
              <a:lnSpc>
                <a:spcPct val="100000"/>
              </a:lnSpc>
              <a:spcBef>
                <a:spcPts val="375"/>
              </a:spcBef>
              <a:buFont typeface="Arial"/>
              <a:buChar char="•"/>
              <a:defRPr/>
            </a:pPr>
            <a:r>
              <a:rPr lang="en-GB" sz="2100" dirty="0">
                <a:solidFill>
                  <a:prstClr val="black"/>
                </a:solidFill>
                <a:latin typeface="Avenir Book" panose="020B0503020203020204" pitchFamily="34" charset="-78"/>
                <a:cs typeface="Avenir Book" panose="020B0503020203020204" pitchFamily="34" charset="-78"/>
              </a:rPr>
              <a:t>Likely that </a:t>
            </a:r>
            <a:r>
              <a:rPr lang="en-GB" sz="2100" dirty="0" err="1">
                <a:solidFill>
                  <a:prstClr val="black"/>
                </a:solidFill>
                <a:latin typeface="Avenir Book" panose="020B0503020203020204" pitchFamily="34" charset="-78"/>
                <a:cs typeface="Avenir Book" panose="020B0503020203020204" pitchFamily="34" charset="-78"/>
              </a:rPr>
              <a:t>unACKed</a:t>
            </a:r>
            <a:r>
              <a:rPr lang="en-GB" sz="2100" dirty="0">
                <a:solidFill>
                  <a:prstClr val="black"/>
                </a:solidFill>
                <a:latin typeface="Avenir Book" panose="020B0503020203020204" pitchFamily="34" charset="-78"/>
                <a:cs typeface="Avenir Book" panose="020B0503020203020204" pitchFamily="34" charset="-78"/>
              </a:rPr>
              <a:t> segment lost, so don’t wait for timeout</a:t>
            </a:r>
          </a:p>
          <a:p>
            <a:pPr marL="521494" lvl="1" indent="-173831" defTabSz="685800">
              <a:lnSpc>
                <a:spcPct val="100000"/>
              </a:lnSpc>
              <a:spcBef>
                <a:spcPts val="375"/>
              </a:spcBef>
              <a:buFont typeface="Arial"/>
              <a:buChar char="•"/>
              <a:defRPr/>
            </a:pPr>
            <a:r>
              <a:rPr lang="en-GB" sz="2100" dirty="0">
                <a:solidFill>
                  <a:prstClr val="black"/>
                </a:solidFill>
                <a:latin typeface="Avenir Book" panose="020B0503020203020204" pitchFamily="34" charset="-78"/>
                <a:cs typeface="Avenir Book" panose="020B0503020203020204" pitchFamily="34" charset="-78"/>
              </a:rPr>
              <a:t>Resend </a:t>
            </a:r>
            <a:r>
              <a:rPr lang="en-GB" sz="2100" dirty="0" err="1">
                <a:solidFill>
                  <a:prstClr val="black"/>
                </a:solidFill>
                <a:latin typeface="Avenir Book" panose="020B0503020203020204" pitchFamily="34" charset="-78"/>
                <a:cs typeface="Avenir Book" panose="020B0503020203020204" pitchFamily="34" charset="-78"/>
              </a:rPr>
              <a:t>unACKed</a:t>
            </a:r>
            <a:r>
              <a:rPr lang="en-GB" sz="2100" dirty="0">
                <a:solidFill>
                  <a:prstClr val="black"/>
                </a:solidFill>
                <a:latin typeface="Avenir Book" panose="020B0503020203020204" pitchFamily="34" charset="-78"/>
                <a:cs typeface="Avenir Book" panose="020B0503020203020204" pitchFamily="34" charset="-78"/>
              </a:rPr>
              <a:t> segment with smallest </a:t>
            </a:r>
            <a:r>
              <a:rPr lang="en-GB" sz="2100" dirty="0" err="1">
                <a:solidFill>
                  <a:prstClr val="black"/>
                </a:solidFill>
                <a:latin typeface="Avenir Book" panose="020B0503020203020204" pitchFamily="34" charset="-78"/>
                <a:cs typeface="Avenir Book" panose="020B0503020203020204" pitchFamily="34" charset="-78"/>
              </a:rPr>
              <a:t>seq</a:t>
            </a:r>
            <a:r>
              <a:rPr lang="en-GB" sz="2100" dirty="0">
                <a:solidFill>
                  <a:prstClr val="black"/>
                </a:solidFill>
                <a:latin typeface="Avenir Book" panose="020B0503020203020204" pitchFamily="34" charset="-78"/>
                <a:cs typeface="Avenir Book" panose="020B0503020203020204" pitchFamily="34" charset="-78"/>
              </a:rPr>
              <a:t> #</a:t>
            </a:r>
          </a:p>
        </p:txBody>
      </p:sp>
      <p:sp>
        <p:nvSpPr>
          <p:cNvPr id="136" name="Line 24">
            <a:extLst>
              <a:ext uri="{FF2B5EF4-FFF2-40B4-BE49-F238E27FC236}">
                <a16:creationId xmlns:a16="http://schemas.microsoft.com/office/drawing/2014/main" id="{A22F562A-B278-CF40-B0A2-08D7E895698A}"/>
              </a:ext>
            </a:extLst>
          </p:cNvPr>
          <p:cNvSpPr>
            <a:spLocks noChangeShapeType="1"/>
          </p:cNvSpPr>
          <p:nvPr/>
        </p:nvSpPr>
        <p:spPr bwMode="auto">
          <a:xfrm>
            <a:off x="8516838" y="4163678"/>
            <a:ext cx="2877452"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9651787" y="426606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281144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wipe(right)">
                                      <p:cBhvr>
                                        <p:cTn id="12" dur="500"/>
                                        <p:tgtEl>
                                          <p:spTgt spid="10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6"/>
                                        </p:tgtEl>
                                        <p:attrNameLst>
                                          <p:attrName>style.visibility</p:attrName>
                                        </p:attrNameLst>
                                      </p:cBhvr>
                                      <p:to>
                                        <p:strVal val="visible"/>
                                      </p:to>
                                    </p:set>
                                    <p:animEffect transition="in" filter="dissolve">
                                      <p:cBhvr>
                                        <p:cTn id="15" dur="500"/>
                                        <p:tgtEl>
                                          <p:spTgt spid="12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7"/>
                                        </p:tgtEl>
                                        <p:attrNameLst>
                                          <p:attrName>style.visibility</p:attrName>
                                        </p:attrNameLst>
                                      </p:cBhvr>
                                      <p:to>
                                        <p:strVal val="visible"/>
                                      </p:to>
                                    </p:set>
                                    <p:animEffect transition="in" filter="dissolve">
                                      <p:cBhvr>
                                        <p:cTn id="18" dur="500"/>
                                        <p:tgtEl>
                                          <p:spTgt spid="12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28"/>
                                        </p:tgtEl>
                                        <p:attrNameLst>
                                          <p:attrName>style.visibility</p:attrName>
                                        </p:attrNameLst>
                                      </p:cBhvr>
                                      <p:to>
                                        <p:strVal val="visible"/>
                                      </p:to>
                                    </p:set>
                                    <p:animEffect transition="in" filter="dissolve">
                                      <p:cBhvr>
                                        <p:cTn id="21" dur="500"/>
                                        <p:tgtEl>
                                          <p:spTgt spid="12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dissolve">
                                      <p:cBhvr>
                                        <p:cTn id="24" dur="500"/>
                                        <p:tgtEl>
                                          <p:spTgt spid="12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animEffect transition="in" filter="dissolve">
                                      <p:cBhvr>
                                        <p:cTn id="27" dur="500"/>
                                        <p:tgtEl>
                                          <p:spTgt spid="13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31"/>
                                        </p:tgtEl>
                                        <p:attrNameLst>
                                          <p:attrName>style.visibility</p:attrName>
                                        </p:attrNameLst>
                                      </p:cBhvr>
                                      <p:to>
                                        <p:strVal val="visible"/>
                                      </p:to>
                                    </p:set>
                                    <p:animEffect transition="in" filter="dissolve">
                                      <p:cBhvr>
                                        <p:cTn id="30" dur="500"/>
                                        <p:tgtEl>
                                          <p:spTgt spid="131"/>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32"/>
                                        </p:tgtEl>
                                        <p:attrNameLst>
                                          <p:attrName>style.visibility</p:attrName>
                                        </p:attrNameLst>
                                      </p:cBhvr>
                                      <p:to>
                                        <p:strVal val="visible"/>
                                      </p:to>
                                    </p:set>
                                    <p:animEffect transition="in" filter="dissolve">
                                      <p:cBhvr>
                                        <p:cTn id="33" dur="500"/>
                                        <p:tgtEl>
                                          <p:spTgt spid="132"/>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33"/>
                                        </p:tgtEl>
                                        <p:attrNameLst>
                                          <p:attrName>style.visibility</p:attrName>
                                        </p:attrNameLst>
                                      </p:cBhvr>
                                      <p:to>
                                        <p:strVal val="visible"/>
                                      </p:to>
                                    </p:set>
                                    <p:animEffect transition="in" filter="dissolve">
                                      <p:cBhvr>
                                        <p:cTn id="36" dur="500"/>
                                        <p:tgtEl>
                                          <p:spTgt spid="133"/>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37"/>
                                        </p:tgtEl>
                                        <p:attrNameLst>
                                          <p:attrName>style.visibility</p:attrName>
                                        </p:attrNameLst>
                                      </p:cBhvr>
                                      <p:to>
                                        <p:strVal val="visible"/>
                                      </p:to>
                                    </p:set>
                                    <p:animEffect transition="in" filter="dissolve">
                                      <p:cBhvr>
                                        <p:cTn id="39"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128" grpId="0"/>
      <p:bldP spid="129" grpId="0"/>
      <p:bldP spid="130" grpId="0"/>
      <p:bldP spid="131" grpId="0"/>
      <p:bldP spid="132" grpId="0"/>
      <p:bldP spid="133" grpId="0"/>
      <p:bldP spid="1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133475" y="175858"/>
            <a:ext cx="9991725" cy="670967"/>
          </a:xfrm>
        </p:spPr>
        <p:txBody>
          <a:bodyPr>
            <a:normAutofit fontScale="90000"/>
          </a:bodyPr>
          <a:lstStyle/>
          <a:p>
            <a:r>
              <a:rPr lang="en-US" sz="3600" dirty="0">
                <a:latin typeface="Avenir Book" panose="020B0503020203020204" pitchFamily="34" charset="-78"/>
                <a:cs typeface="Avenir Book" panose="020B0503020203020204" pitchFamily="34" charset="-78"/>
              </a:rPr>
              <a:t>TCP Tahoe: Slow start followed by additive increase </a:t>
            </a:r>
            <a:endParaRPr lang="en-US" sz="3300" dirty="0">
              <a:latin typeface="Avenir Book" panose="020B0503020203020204" pitchFamily="34" charset="-78"/>
              <a:cs typeface="Avenir Book" panose="020B0503020203020204" pitchFamily="34" charset="-78"/>
            </a:endParaRPr>
          </a:p>
        </p:txBody>
      </p:sp>
      <p:sp>
        <p:nvSpPr>
          <p:cNvPr id="7" name="Rectangle 6">
            <a:extLst>
              <a:ext uri="{FF2B5EF4-FFF2-40B4-BE49-F238E27FC236}">
                <a16:creationId xmlns:a16="http://schemas.microsoft.com/office/drawing/2014/main" id="{7E5A3F5F-F42B-F04E-BB6A-D57835C29067}"/>
              </a:ext>
            </a:extLst>
          </p:cNvPr>
          <p:cNvSpPr/>
          <p:nvPr/>
        </p:nvSpPr>
        <p:spPr>
          <a:xfrm>
            <a:off x="7402249" y="3464501"/>
            <a:ext cx="638175" cy="150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271281" y="3538320"/>
            <a:ext cx="638175"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3"/>
          <a:stretch>
            <a:fillRect/>
          </a:stretch>
        </p:blipFill>
        <p:spPr>
          <a:xfrm>
            <a:off x="9028643" y="3448467"/>
            <a:ext cx="752475" cy="175577"/>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8409517" y="2014318"/>
            <a:ext cx="1600200" cy="1866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8314267" y="2242918"/>
            <a:ext cx="298480" cy="300082"/>
          </a:xfrm>
          <a:prstGeom prst="rect">
            <a:avLst/>
          </a:prstGeom>
          <a:noFill/>
        </p:spPr>
        <p:txBody>
          <a:bodyPr wrap="none" rtlCol="0">
            <a:spAutoFit/>
          </a:bodyPr>
          <a:lstStyle/>
          <a:p>
            <a:pPr defTabSz="685800">
              <a:defRPr/>
            </a:pPr>
            <a:r>
              <a:rPr lang="en-US" sz="1350" b="1" dirty="0">
                <a:solidFill>
                  <a:srgbClr val="FF0000"/>
                </a:solidFill>
                <a:latin typeface="Avenir Book" panose="020B0503020203020204" pitchFamily="34" charset="-78"/>
                <a:cs typeface="Avenir Book" panose="020B0503020203020204" pitchFamily="34" charset="-78"/>
              </a:rPr>
              <a:t>X</a:t>
            </a:r>
          </a:p>
        </p:txBody>
      </p:sp>
      <p:grpSp>
        <p:nvGrpSpPr>
          <p:cNvPr id="11" name="Group 10"/>
          <p:cNvGrpSpPr>
            <a:grpSpLocks noGrp="1" noUngrp="1" noChangeAspect="1"/>
          </p:cNvGrpSpPr>
          <p:nvPr/>
        </p:nvGrpSpPr>
        <p:grpSpPr>
          <a:xfrm>
            <a:off x="2391104" y="1229323"/>
            <a:ext cx="7772400" cy="4111625"/>
            <a:chOff x="685800" y="1603375"/>
            <a:chExt cx="7772400" cy="4111625"/>
          </a:xfrm>
        </p:grpSpPr>
        <p:pic>
          <p:nvPicPr>
            <p:cNvPr id="13" name="Picture 12" descr="06_Page_40.tif"/>
            <p:cNvPicPr>
              <a:picLocks noRot="1" noChangeAspect="1" noMove="1" noResize="1"/>
            </p:cNvPicPr>
            <p:nvPr isPhoto="1"/>
          </p:nvPicPr>
          <p:blipFill>
            <a:blip r:embed="rId4" cstate="print">
              <a:lum/>
            </a:blip>
            <a:stretch>
              <a:fillRect/>
            </a:stretch>
          </p:blipFill>
          <p:spPr>
            <a:xfrm>
              <a:off x="685800" y="1603375"/>
              <a:ext cx="7772400" cy="3651250"/>
            </a:xfrm>
            <a:prstGeom prst="rect">
              <a:avLst/>
            </a:prstGeom>
            <a:noFill/>
            <a:ln>
              <a:noFill/>
            </a:ln>
          </p:spPr>
        </p:pic>
        <p:sp>
          <p:nvSpPr>
            <p:cNvPr id="14" name="Rectangle 13"/>
            <p:cNvSpPr/>
            <p:nvPr/>
          </p:nvSpPr>
          <p:spPr>
            <a:xfrm>
              <a:off x="685800" y="5372100"/>
              <a:ext cx="7772400" cy="342900"/>
            </a:xfrm>
            <a:prstGeom prst="rect">
              <a:avLst/>
            </a:prstGeom>
            <a:noFill/>
            <a:ln>
              <a:noFill/>
            </a:ln>
          </p:spPr>
          <p:txBody>
            <a:bodyPr anchor="ctr">
              <a:noAutofit/>
            </a:bodyPr>
            <a:lstStyle/>
            <a:p>
              <a:pPr algn="ctr"/>
              <a:endParaRPr lang="en-US" sz="2000" dirty="0">
                <a:latin typeface="Avenir Book" panose="020B0503020203020204" pitchFamily="34" charset="-78"/>
                <a:cs typeface="Avenir Book" panose="020B0503020203020204" pitchFamily="34" charset="-78"/>
              </a:endParaRPr>
            </a:p>
          </p:txBody>
        </p:sp>
      </p:grpSp>
    </p:spTree>
    <p:extLst>
      <p:ext uri="{BB962C8B-B14F-4D97-AF65-F5344CB8AC3E}">
        <p14:creationId xmlns:p14="http://schemas.microsoft.com/office/powerpoint/2010/main" val="281077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088967" y="418868"/>
            <a:ext cx="9875519"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Tahoe</a:t>
            </a:r>
            <a:endParaRPr lang="en-US" sz="3300" dirty="0">
              <a:latin typeface="Avenir Book" panose="020B0503020203020204" pitchFamily="34" charset="-78"/>
              <a:cs typeface="Avenir Book" panose="020B0503020203020204" pitchFamily="34" charset="-78"/>
            </a:endParaRPr>
          </a:p>
        </p:txBody>
      </p:sp>
      <p:grpSp>
        <p:nvGrpSpPr>
          <p:cNvPr id="120" name="Group 240">
            <a:extLst>
              <a:ext uri="{FF2B5EF4-FFF2-40B4-BE49-F238E27FC236}">
                <a16:creationId xmlns:a16="http://schemas.microsoft.com/office/drawing/2014/main" id="{B8318BC0-AA34-2B4C-984C-EDCF98015A80}"/>
              </a:ext>
            </a:extLst>
          </p:cNvPr>
          <p:cNvGrpSpPr>
            <a:grpSpLocks/>
          </p:cNvGrpSpPr>
          <p:nvPr/>
        </p:nvGrpSpPr>
        <p:grpSpPr bwMode="auto">
          <a:xfrm>
            <a:off x="5410369" y="3342836"/>
            <a:ext cx="1757364" cy="640558"/>
            <a:chOff x="2168" y="1734"/>
            <a:chExt cx="1476" cy="538"/>
          </a:xfrm>
        </p:grpSpPr>
        <p:grpSp>
          <p:nvGrpSpPr>
            <p:cNvPr id="121" name="Group 171">
              <a:extLst>
                <a:ext uri="{FF2B5EF4-FFF2-40B4-BE49-F238E27FC236}">
                  <a16:creationId xmlns:a16="http://schemas.microsoft.com/office/drawing/2014/main" id="{D4CA30E0-0C2B-AE49-9354-140DEA72FEEE}"/>
                </a:ext>
              </a:extLst>
            </p:cNvPr>
            <p:cNvGrpSpPr>
              <a:grpSpLocks/>
            </p:cNvGrpSpPr>
            <p:nvPr/>
          </p:nvGrpSpPr>
          <p:grpSpPr bwMode="auto">
            <a:xfrm>
              <a:off x="2186" y="1739"/>
              <a:ext cx="1458" cy="533"/>
              <a:chOff x="2186" y="1739"/>
              <a:chExt cx="1458" cy="533"/>
            </a:xfrm>
          </p:grpSpPr>
          <p:sp>
            <p:nvSpPr>
              <p:cNvPr id="123" name="Text Box 172">
                <a:extLst>
                  <a:ext uri="{FF2B5EF4-FFF2-40B4-BE49-F238E27FC236}">
                    <a16:creationId xmlns:a16="http://schemas.microsoft.com/office/drawing/2014/main" id="{FF8E7E11-C655-8C41-BFE2-A6DA1E48685D}"/>
                  </a:ext>
                </a:extLst>
              </p:cNvPr>
              <p:cNvSpPr txBox="1">
                <a:spLocks noChangeArrowheads="1"/>
              </p:cNvSpPr>
              <p:nvPr/>
            </p:nvSpPr>
            <p:spPr bwMode="auto">
              <a:xfrm>
                <a:off x="2270" y="1739"/>
                <a:ext cx="137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a:solidFill>
                      <a:srgbClr val="000000"/>
                    </a:solidFill>
                    <a:latin typeface="Avenir Book" panose="020B0503020203020204" pitchFamily="34" charset="-78"/>
                    <a:cs typeface="Avenir Book" panose="020B0503020203020204" pitchFamily="34" charset="-78"/>
                  </a:rPr>
                  <a:t>Timeout or 3 Duplicate ACK</a:t>
                </a:r>
              </a:p>
            </p:txBody>
          </p:sp>
          <p:sp>
            <p:nvSpPr>
              <p:cNvPr id="124" name="Text Box 173">
                <a:extLst>
                  <a:ext uri="{FF2B5EF4-FFF2-40B4-BE49-F238E27FC236}">
                    <a16:creationId xmlns:a16="http://schemas.microsoft.com/office/drawing/2014/main" id="{781154BA-9409-094D-BBC4-EE21CE699661}"/>
                  </a:ext>
                </a:extLst>
              </p:cNvPr>
              <p:cNvSpPr txBox="1">
                <a:spLocks noChangeArrowheads="1"/>
              </p:cNvSpPr>
              <p:nvPr/>
            </p:nvSpPr>
            <p:spPr bwMode="auto">
              <a:xfrm>
                <a:off x="2186" y="1898"/>
                <a:ext cx="1371" cy="3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5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/2</a:t>
                </a:r>
              </a:p>
              <a:p>
                <a:pPr algn="ctr" defTabSz="685800" fontAlgn="base">
                  <a:lnSpc>
                    <a:spcPct val="85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1 MSS</a:t>
                </a:r>
              </a:p>
              <a:p>
                <a:pPr algn="ctr" defTabSz="685800" fontAlgn="base">
                  <a:lnSpc>
                    <a:spcPct val="85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retransmit missing segment</a:t>
                </a:r>
                <a:r>
                  <a:rPr lang="en-US" sz="900" kern="0" dirty="0">
                    <a:solidFill>
                      <a:srgbClr val="000000"/>
                    </a:solidFill>
                    <a:latin typeface="Avenir Book" panose="020B0503020203020204" pitchFamily="34" charset="-78"/>
                    <a:cs typeface="Avenir Book" panose="020B0503020203020204" pitchFamily="34" charset="-78"/>
                  </a:rPr>
                  <a:t> </a:t>
                </a:r>
              </a:p>
            </p:txBody>
          </p:sp>
          <p:sp>
            <p:nvSpPr>
              <p:cNvPr id="125" name="Line 174">
                <a:extLst>
                  <a:ext uri="{FF2B5EF4-FFF2-40B4-BE49-F238E27FC236}">
                    <a16:creationId xmlns:a16="http://schemas.microsoft.com/office/drawing/2014/main" id="{23E8607A-0151-5141-A774-0AAB4333ECA7}"/>
                  </a:ext>
                </a:extLst>
              </p:cNvPr>
              <p:cNvSpPr>
                <a:spLocks noChangeShapeType="1"/>
              </p:cNvSpPr>
              <p:nvPr/>
            </p:nvSpPr>
            <p:spPr bwMode="auto">
              <a:xfrm>
                <a:off x="2491" y="1893"/>
                <a:ext cx="6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2" name="Line 175">
              <a:extLst>
                <a:ext uri="{FF2B5EF4-FFF2-40B4-BE49-F238E27FC236}">
                  <a16:creationId xmlns:a16="http://schemas.microsoft.com/office/drawing/2014/main" id="{480EB5CD-B8F2-AD46-B2D4-50FE6302F915}"/>
                </a:ext>
              </a:extLst>
            </p:cNvPr>
            <p:cNvSpPr>
              <a:spLocks noChangeShapeType="1"/>
            </p:cNvSpPr>
            <p:nvPr/>
          </p:nvSpPr>
          <p:spPr bwMode="auto">
            <a:xfrm flipH="1">
              <a:off x="2168" y="1734"/>
              <a:ext cx="1344"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26" name="Group 239">
            <a:extLst>
              <a:ext uri="{FF2B5EF4-FFF2-40B4-BE49-F238E27FC236}">
                <a16:creationId xmlns:a16="http://schemas.microsoft.com/office/drawing/2014/main" id="{BEAEB11D-18E7-8047-A552-B728B0628FCC}"/>
              </a:ext>
            </a:extLst>
          </p:cNvPr>
          <p:cNvGrpSpPr>
            <a:grpSpLocks/>
          </p:cNvGrpSpPr>
          <p:nvPr/>
        </p:nvGrpSpPr>
        <p:grpSpPr bwMode="auto">
          <a:xfrm>
            <a:off x="5427633" y="2823723"/>
            <a:ext cx="1600200" cy="371476"/>
            <a:chOff x="2187" y="1402"/>
            <a:chExt cx="1344" cy="312"/>
          </a:xfrm>
        </p:grpSpPr>
        <p:sp>
          <p:nvSpPr>
            <p:cNvPr id="127" name="Line 176">
              <a:extLst>
                <a:ext uri="{FF2B5EF4-FFF2-40B4-BE49-F238E27FC236}">
                  <a16:creationId xmlns:a16="http://schemas.microsoft.com/office/drawing/2014/main" id="{D84A4978-7B73-A04D-B0FB-C9ECAA3BFBCF}"/>
                </a:ext>
              </a:extLst>
            </p:cNvPr>
            <p:cNvSpPr>
              <a:spLocks noChangeShapeType="1"/>
            </p:cNvSpPr>
            <p:nvPr/>
          </p:nvSpPr>
          <p:spPr bwMode="auto">
            <a:xfrm flipH="1">
              <a:off x="2187" y="1673"/>
              <a:ext cx="1344" cy="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8" name="Text Box 181">
              <a:extLst>
                <a:ext uri="{FF2B5EF4-FFF2-40B4-BE49-F238E27FC236}">
                  <a16:creationId xmlns:a16="http://schemas.microsoft.com/office/drawing/2014/main" id="{67AF987A-C53D-534B-8C98-26557C3B4EEF}"/>
                </a:ext>
              </a:extLst>
            </p:cNvPr>
            <p:cNvSpPr txBox="1">
              <a:spLocks noChangeArrowheads="1"/>
            </p:cNvSpPr>
            <p:nvPr/>
          </p:nvSpPr>
          <p:spPr bwMode="auto">
            <a:xfrm>
              <a:off x="2724" y="1543"/>
              <a:ext cx="204" cy="1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L</a:t>
              </a:r>
            </a:p>
          </p:txBody>
        </p:sp>
        <p:sp>
          <p:nvSpPr>
            <p:cNvPr id="129" name="Line 182">
              <a:extLst>
                <a:ext uri="{FF2B5EF4-FFF2-40B4-BE49-F238E27FC236}">
                  <a16:creationId xmlns:a16="http://schemas.microsoft.com/office/drawing/2014/main" id="{0957FCBB-06D0-8E4D-B983-2F2597BDE03A}"/>
                </a:ext>
              </a:extLst>
            </p:cNvPr>
            <p:cNvSpPr>
              <a:spLocks noChangeShapeType="1"/>
            </p:cNvSpPr>
            <p:nvPr/>
          </p:nvSpPr>
          <p:spPr bwMode="auto">
            <a:xfrm>
              <a:off x="2572" y="15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30" name="Group 183">
              <a:extLst>
                <a:ext uri="{FF2B5EF4-FFF2-40B4-BE49-F238E27FC236}">
                  <a16:creationId xmlns:a16="http://schemas.microsoft.com/office/drawing/2014/main" id="{2A6AF175-C9C0-F044-9ECF-011972294E6E}"/>
                </a:ext>
              </a:extLst>
            </p:cNvPr>
            <p:cNvGrpSpPr>
              <a:grpSpLocks/>
            </p:cNvGrpSpPr>
            <p:nvPr/>
          </p:nvGrpSpPr>
          <p:grpSpPr bwMode="auto">
            <a:xfrm>
              <a:off x="2407" y="1402"/>
              <a:ext cx="855" cy="194"/>
              <a:chOff x="2379" y="1425"/>
              <a:chExt cx="855" cy="194"/>
            </a:xfrm>
          </p:grpSpPr>
          <p:sp>
            <p:nvSpPr>
              <p:cNvPr id="131" name="Text Box 184">
                <a:extLst>
                  <a:ext uri="{FF2B5EF4-FFF2-40B4-BE49-F238E27FC236}">
                    <a16:creationId xmlns:a16="http://schemas.microsoft.com/office/drawing/2014/main" id="{69E43EDF-5B05-364C-B439-379F8E8E5464}"/>
                  </a:ext>
                </a:extLst>
              </p:cNvPr>
              <p:cNvSpPr txBox="1">
                <a:spLocks noChangeArrowheads="1"/>
              </p:cNvSpPr>
              <p:nvPr/>
            </p:nvSpPr>
            <p:spPr bwMode="auto">
              <a:xfrm>
                <a:off x="2379" y="1425"/>
                <a:ext cx="8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&gt; </a:t>
                </a:r>
                <a:r>
                  <a:rPr lang="en-US" sz="900" kern="0" dirty="0" err="1">
                    <a:solidFill>
                      <a:srgbClr val="000000"/>
                    </a:solidFill>
                    <a:latin typeface="Avenir Book" panose="020B0503020203020204" pitchFamily="34" charset="-78"/>
                    <a:cs typeface="Avenir Book" panose="020B0503020203020204" pitchFamily="34" charset="-78"/>
                  </a:rPr>
                  <a:t>ssthresh</a:t>
                </a:r>
                <a:endParaRPr lang="en-US" sz="900" kern="0" dirty="0">
                  <a:solidFill>
                    <a:srgbClr val="000000"/>
                  </a:solidFill>
                  <a:latin typeface="Avenir Book" panose="020B0503020203020204" pitchFamily="34" charset="-78"/>
                  <a:cs typeface="Avenir Book" panose="020B0503020203020204" pitchFamily="34" charset="-78"/>
                </a:endParaRPr>
              </a:p>
            </p:txBody>
          </p:sp>
          <p:sp>
            <p:nvSpPr>
              <p:cNvPr id="132" name="Line 185">
                <a:extLst>
                  <a:ext uri="{FF2B5EF4-FFF2-40B4-BE49-F238E27FC236}">
                    <a16:creationId xmlns:a16="http://schemas.microsoft.com/office/drawing/2014/main" id="{A2D5E496-DCFA-5A4E-A6E2-D2DB456893C6}"/>
                  </a:ext>
                </a:extLst>
              </p:cNvPr>
              <p:cNvSpPr>
                <a:spLocks noChangeShapeType="1"/>
              </p:cNvSpPr>
              <p:nvPr/>
            </p:nvSpPr>
            <p:spPr bwMode="auto">
              <a:xfrm>
                <a:off x="2724" y="1557"/>
                <a:ext cx="4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133" name="Group 242">
            <a:extLst>
              <a:ext uri="{FF2B5EF4-FFF2-40B4-BE49-F238E27FC236}">
                <a16:creationId xmlns:a16="http://schemas.microsoft.com/office/drawing/2014/main" id="{47D1413D-A42B-8C4D-87CC-5C4E42849EFF}"/>
              </a:ext>
            </a:extLst>
          </p:cNvPr>
          <p:cNvGrpSpPr>
            <a:grpSpLocks/>
          </p:cNvGrpSpPr>
          <p:nvPr/>
        </p:nvGrpSpPr>
        <p:grpSpPr bwMode="auto">
          <a:xfrm>
            <a:off x="6833760" y="2056960"/>
            <a:ext cx="2039540" cy="1565672"/>
            <a:chOff x="3368" y="786"/>
            <a:chExt cx="1713" cy="1315"/>
          </a:xfrm>
        </p:grpSpPr>
        <p:grpSp>
          <p:nvGrpSpPr>
            <p:cNvPr id="134" name="Group 164">
              <a:extLst>
                <a:ext uri="{FF2B5EF4-FFF2-40B4-BE49-F238E27FC236}">
                  <a16:creationId xmlns:a16="http://schemas.microsoft.com/office/drawing/2014/main" id="{13A111CF-BAAF-8E4B-AD25-85FAC5339083}"/>
                </a:ext>
              </a:extLst>
            </p:cNvPr>
            <p:cNvGrpSpPr>
              <a:grpSpLocks/>
            </p:cNvGrpSpPr>
            <p:nvPr/>
          </p:nvGrpSpPr>
          <p:grpSpPr bwMode="auto">
            <a:xfrm>
              <a:off x="3559" y="1330"/>
              <a:ext cx="906" cy="771"/>
              <a:chOff x="2250" y="2021"/>
              <a:chExt cx="906" cy="771"/>
            </a:xfrm>
          </p:grpSpPr>
          <p:sp>
            <p:nvSpPr>
              <p:cNvPr id="146" name="Oval 165">
                <a:extLst>
                  <a:ext uri="{FF2B5EF4-FFF2-40B4-BE49-F238E27FC236}">
                    <a16:creationId xmlns:a16="http://schemas.microsoft.com/office/drawing/2014/main" id="{7F0D89BB-B178-8C49-9E72-934506A1B7F6}"/>
                  </a:ext>
                </a:extLst>
              </p:cNvPr>
              <p:cNvSpPr>
                <a:spLocks noChangeArrowheads="1"/>
              </p:cNvSpPr>
              <p:nvPr/>
            </p:nvSpPr>
            <p:spPr bwMode="auto">
              <a:xfrm>
                <a:off x="2293" y="2021"/>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7" name="Text Box 166">
                <a:extLst>
                  <a:ext uri="{FF2B5EF4-FFF2-40B4-BE49-F238E27FC236}">
                    <a16:creationId xmlns:a16="http://schemas.microsoft.com/office/drawing/2014/main" id="{F3628968-0539-164C-B861-FF5A02A982C1}"/>
                  </a:ext>
                </a:extLst>
              </p:cNvPr>
              <p:cNvSpPr txBox="1">
                <a:spLocks noChangeArrowheads="1"/>
              </p:cNvSpPr>
              <p:nvPr/>
            </p:nvSpPr>
            <p:spPr bwMode="auto">
              <a:xfrm>
                <a:off x="2250" y="2191"/>
                <a:ext cx="906" cy="6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Congestion</a:t>
                </a:r>
              </a:p>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avoidance </a:t>
                </a:r>
              </a:p>
              <a:p>
                <a:pPr algn="ctr" defTabSz="685800" fontAlgn="base">
                  <a:spcBef>
                    <a:spcPct val="0"/>
                  </a:spcBef>
                  <a:spcAft>
                    <a:spcPct val="0"/>
                  </a:spcAft>
                  <a:defRPr/>
                </a:pPr>
                <a:endParaRPr lang="en-US" sz="1350" kern="0" dirty="0">
                  <a:solidFill>
                    <a:srgbClr val="000000"/>
                  </a:solidFill>
                  <a:latin typeface="Avenir Book" panose="020B0503020203020204" pitchFamily="34" charset="-78"/>
                  <a:cs typeface="Avenir Book" panose="020B0503020203020204" pitchFamily="34" charset="-78"/>
                </a:endParaRPr>
              </a:p>
            </p:txBody>
          </p:sp>
        </p:grpSp>
        <p:grpSp>
          <p:nvGrpSpPr>
            <p:cNvPr id="135" name="Group 190">
              <a:extLst>
                <a:ext uri="{FF2B5EF4-FFF2-40B4-BE49-F238E27FC236}">
                  <a16:creationId xmlns:a16="http://schemas.microsoft.com/office/drawing/2014/main" id="{412FAE5F-D426-1A41-B7BF-9EE3E24BCCB0}"/>
                </a:ext>
              </a:extLst>
            </p:cNvPr>
            <p:cNvGrpSpPr>
              <a:grpSpLocks/>
            </p:cNvGrpSpPr>
            <p:nvPr/>
          </p:nvGrpSpPr>
          <p:grpSpPr bwMode="auto">
            <a:xfrm>
              <a:off x="3368" y="786"/>
              <a:ext cx="1713" cy="513"/>
              <a:chOff x="3391" y="904"/>
              <a:chExt cx="1713" cy="513"/>
            </a:xfrm>
          </p:grpSpPr>
          <p:sp>
            <p:nvSpPr>
              <p:cNvPr id="142" name="Text Box 191">
                <a:extLst>
                  <a:ext uri="{FF2B5EF4-FFF2-40B4-BE49-F238E27FC236}">
                    <a16:creationId xmlns:a16="http://schemas.microsoft.com/office/drawing/2014/main" id="{44318C88-BEF5-7146-AE72-3458C7D49FA3}"/>
                  </a:ext>
                </a:extLst>
              </p:cNvPr>
              <p:cNvSpPr txBox="1">
                <a:spLocks noChangeArrowheads="1"/>
              </p:cNvSpPr>
              <p:nvPr/>
            </p:nvSpPr>
            <p:spPr bwMode="auto">
              <a:xfrm>
                <a:off x="3391" y="1037"/>
                <a:ext cx="1713"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MSS    (MSS/</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a:t>
                </a:r>
              </a:p>
              <a:p>
                <a:pPr algn="ctr" defTabSz="685800" fontAlgn="base">
                  <a:lnSpc>
                    <a:spcPct val="9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transmit new segment(s), as allowed</a:t>
                </a:r>
              </a:p>
              <a:p>
                <a:pPr algn="ctr" defTabSz="685800" fontAlgn="base">
                  <a:lnSpc>
                    <a:spcPct val="80000"/>
                  </a:lnSpc>
                  <a:spcBef>
                    <a:spcPct val="0"/>
                  </a:spcBef>
                  <a:spcAft>
                    <a:spcPct val="0"/>
                  </a:spcAft>
                  <a:defRPr/>
                </a:pPr>
                <a:endParaRPr lang="en-US" sz="900" i="1" kern="0" dirty="0">
                  <a:solidFill>
                    <a:srgbClr val="000000"/>
                  </a:solidFill>
                  <a:latin typeface="Avenir Book" panose="020B0503020203020204" pitchFamily="34" charset="-78"/>
                  <a:cs typeface="Avenir Book" panose="020B0503020203020204" pitchFamily="34" charset="-78"/>
                </a:endParaRPr>
              </a:p>
            </p:txBody>
          </p:sp>
          <p:sp>
            <p:nvSpPr>
              <p:cNvPr id="143" name="Line 192">
                <a:extLst>
                  <a:ext uri="{FF2B5EF4-FFF2-40B4-BE49-F238E27FC236}">
                    <a16:creationId xmlns:a16="http://schemas.microsoft.com/office/drawing/2014/main" id="{EC5DE775-BD59-2247-B940-402844468A0E}"/>
                  </a:ext>
                </a:extLst>
              </p:cNvPr>
              <p:cNvSpPr>
                <a:spLocks noChangeShapeType="1"/>
              </p:cNvSpPr>
              <p:nvPr/>
            </p:nvSpPr>
            <p:spPr bwMode="auto">
              <a:xfrm>
                <a:off x="3976" y="10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4" name="Text Box 193">
                <a:extLst>
                  <a:ext uri="{FF2B5EF4-FFF2-40B4-BE49-F238E27FC236}">
                    <a16:creationId xmlns:a16="http://schemas.microsoft.com/office/drawing/2014/main" id="{1953AC16-16E8-A640-AE22-73DEDE1D319F}"/>
                  </a:ext>
                </a:extLst>
              </p:cNvPr>
              <p:cNvSpPr txBox="1">
                <a:spLocks noChangeArrowheads="1"/>
              </p:cNvSpPr>
              <p:nvPr/>
            </p:nvSpPr>
            <p:spPr bwMode="auto">
              <a:xfrm>
                <a:off x="3974" y="915"/>
                <a:ext cx="5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a:solidFill>
                      <a:srgbClr val="000000"/>
                    </a:solidFill>
                    <a:latin typeface="Avenir Book" panose="020B0503020203020204" pitchFamily="34" charset="-78"/>
                    <a:cs typeface="Avenir Book" panose="020B0503020203020204" pitchFamily="34" charset="-78"/>
                  </a:rPr>
                  <a:t>new ACK</a:t>
                </a:r>
              </a:p>
            </p:txBody>
          </p:sp>
          <p:sp>
            <p:nvSpPr>
              <p:cNvPr id="145" name="Text Box 194">
                <a:extLst>
                  <a:ext uri="{FF2B5EF4-FFF2-40B4-BE49-F238E27FC236}">
                    <a16:creationId xmlns:a16="http://schemas.microsoft.com/office/drawing/2014/main" id="{6D1C4C5E-4778-AF4F-812A-CF7A44F21F90}"/>
                  </a:ext>
                </a:extLst>
              </p:cNvPr>
              <p:cNvSpPr txBox="1">
                <a:spLocks noChangeArrowheads="1"/>
              </p:cNvSpPr>
              <p:nvPr/>
            </p:nvSpPr>
            <p:spPr bwMode="auto">
              <a:xfrm>
                <a:off x="4311" y="904"/>
                <a:ext cx="18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a:t>
                </a:r>
              </a:p>
            </p:txBody>
          </p:sp>
        </p:grpSp>
        <p:sp>
          <p:nvSpPr>
            <p:cNvPr id="136" name="Freeform 195">
              <a:extLst>
                <a:ext uri="{FF2B5EF4-FFF2-40B4-BE49-F238E27FC236}">
                  <a16:creationId xmlns:a16="http://schemas.microsoft.com/office/drawing/2014/main" id="{4555525A-5282-E944-A402-41F5363AC763}"/>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82" name="Group 241">
            <a:extLst>
              <a:ext uri="{FF2B5EF4-FFF2-40B4-BE49-F238E27FC236}">
                <a16:creationId xmlns:a16="http://schemas.microsoft.com/office/drawing/2014/main" id="{CDA92C42-F115-FC40-A5F8-C407673481F7}"/>
              </a:ext>
            </a:extLst>
          </p:cNvPr>
          <p:cNvGrpSpPr>
            <a:grpSpLocks/>
          </p:cNvGrpSpPr>
          <p:nvPr/>
        </p:nvGrpSpPr>
        <p:grpSpPr bwMode="auto">
          <a:xfrm>
            <a:off x="3304748" y="2264127"/>
            <a:ext cx="4145756" cy="1845471"/>
            <a:chOff x="404" y="960"/>
            <a:chExt cx="3482" cy="1550"/>
          </a:xfrm>
        </p:grpSpPr>
        <p:grpSp>
          <p:nvGrpSpPr>
            <p:cNvPr id="183" name="Group 161">
              <a:extLst>
                <a:ext uri="{FF2B5EF4-FFF2-40B4-BE49-F238E27FC236}">
                  <a16:creationId xmlns:a16="http://schemas.microsoft.com/office/drawing/2014/main" id="{7F0341B7-207C-3E40-8EC6-5911313C0608}"/>
                </a:ext>
              </a:extLst>
            </p:cNvPr>
            <p:cNvGrpSpPr>
              <a:grpSpLocks/>
            </p:cNvGrpSpPr>
            <p:nvPr/>
          </p:nvGrpSpPr>
          <p:grpSpPr bwMode="auto">
            <a:xfrm>
              <a:off x="1329" y="1320"/>
              <a:ext cx="800" cy="754"/>
              <a:chOff x="996" y="1773"/>
              <a:chExt cx="800" cy="754"/>
            </a:xfrm>
          </p:grpSpPr>
          <p:sp>
            <p:nvSpPr>
              <p:cNvPr id="204" name="Oval 162">
                <a:extLst>
                  <a:ext uri="{FF2B5EF4-FFF2-40B4-BE49-F238E27FC236}">
                    <a16:creationId xmlns:a16="http://schemas.microsoft.com/office/drawing/2014/main" id="{85E503DF-C6D4-9C4A-947F-F93B4C816434}"/>
                  </a:ext>
                </a:extLst>
              </p:cNvPr>
              <p:cNvSpPr>
                <a:spLocks noChangeArrowheads="1"/>
              </p:cNvSpPr>
              <p:nvPr/>
            </p:nvSpPr>
            <p:spPr bwMode="auto">
              <a:xfrm>
                <a:off x="996" y="1773"/>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5" name="Text Box 163">
                <a:extLst>
                  <a:ext uri="{FF2B5EF4-FFF2-40B4-BE49-F238E27FC236}">
                    <a16:creationId xmlns:a16="http://schemas.microsoft.com/office/drawing/2014/main" id="{30575E3B-F1CE-CF43-A7C5-219046488BC3}"/>
                  </a:ext>
                </a:extLst>
              </p:cNvPr>
              <p:cNvSpPr txBox="1">
                <a:spLocks noChangeArrowheads="1"/>
              </p:cNvSpPr>
              <p:nvPr/>
            </p:nvSpPr>
            <p:spPr bwMode="auto">
              <a:xfrm>
                <a:off x="1151" y="1946"/>
                <a:ext cx="502" cy="4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Slow </a:t>
                </a:r>
              </a:p>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start</a:t>
                </a:r>
              </a:p>
            </p:txBody>
          </p:sp>
        </p:grpSp>
        <p:grpSp>
          <p:nvGrpSpPr>
            <p:cNvPr id="184" name="Group 177">
              <a:extLst>
                <a:ext uri="{FF2B5EF4-FFF2-40B4-BE49-F238E27FC236}">
                  <a16:creationId xmlns:a16="http://schemas.microsoft.com/office/drawing/2014/main" id="{5836A4F2-D62D-B147-A532-A57E3C2474B2}"/>
                </a:ext>
              </a:extLst>
            </p:cNvPr>
            <p:cNvGrpSpPr>
              <a:grpSpLocks/>
            </p:cNvGrpSpPr>
            <p:nvPr/>
          </p:nvGrpSpPr>
          <p:grpSpPr bwMode="auto">
            <a:xfrm>
              <a:off x="404" y="2026"/>
              <a:ext cx="1371" cy="484"/>
              <a:chOff x="292" y="2713"/>
              <a:chExt cx="1371" cy="484"/>
            </a:xfrm>
          </p:grpSpPr>
          <p:sp>
            <p:nvSpPr>
              <p:cNvPr id="201" name="Text Box 178">
                <a:extLst>
                  <a:ext uri="{FF2B5EF4-FFF2-40B4-BE49-F238E27FC236}">
                    <a16:creationId xmlns:a16="http://schemas.microsoft.com/office/drawing/2014/main" id="{1852AE28-C2EC-5542-A261-91B127FC6EEC}"/>
                  </a:ext>
                </a:extLst>
              </p:cNvPr>
              <p:cNvSpPr txBox="1">
                <a:spLocks noChangeArrowheads="1"/>
              </p:cNvSpPr>
              <p:nvPr/>
            </p:nvSpPr>
            <p:spPr bwMode="auto">
              <a:xfrm>
                <a:off x="777" y="2713"/>
                <a:ext cx="49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timeout</a:t>
                </a:r>
              </a:p>
            </p:txBody>
          </p:sp>
          <p:sp>
            <p:nvSpPr>
              <p:cNvPr id="202" name="Text Box 179">
                <a:extLst>
                  <a:ext uri="{FF2B5EF4-FFF2-40B4-BE49-F238E27FC236}">
                    <a16:creationId xmlns:a16="http://schemas.microsoft.com/office/drawing/2014/main" id="{238E26A7-D428-7446-B0EA-57A95D6A24D0}"/>
                  </a:ext>
                </a:extLst>
              </p:cNvPr>
              <p:cNvSpPr txBox="1">
                <a:spLocks noChangeArrowheads="1"/>
              </p:cNvSpPr>
              <p:nvPr/>
            </p:nvSpPr>
            <p:spPr bwMode="auto">
              <a:xfrm>
                <a:off x="292" y="2840"/>
                <a:ext cx="1371" cy="3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/2 </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1 MSS</a:t>
                </a:r>
              </a:p>
              <a:p>
                <a:pPr algn="ctr" defTabSz="685800" fontAlgn="base">
                  <a:lnSpc>
                    <a:spcPct val="8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retransmit missing segment</a:t>
                </a:r>
                <a:r>
                  <a:rPr lang="en-US" sz="900" kern="0" dirty="0">
                    <a:solidFill>
                      <a:srgbClr val="000000"/>
                    </a:solidFill>
                    <a:latin typeface="Avenir Book" panose="020B0503020203020204" pitchFamily="34" charset="-78"/>
                    <a:cs typeface="Avenir Book" panose="020B0503020203020204" pitchFamily="34" charset="-78"/>
                  </a:rPr>
                  <a:t> </a:t>
                </a:r>
              </a:p>
            </p:txBody>
          </p:sp>
          <p:sp>
            <p:nvSpPr>
              <p:cNvPr id="203" name="Line 180">
                <a:extLst>
                  <a:ext uri="{FF2B5EF4-FFF2-40B4-BE49-F238E27FC236}">
                    <a16:creationId xmlns:a16="http://schemas.microsoft.com/office/drawing/2014/main" id="{4D339203-1563-3844-9642-20DAA4DBE4B3}"/>
                  </a:ext>
                </a:extLst>
              </p:cNvPr>
              <p:cNvSpPr>
                <a:spLocks noChangeShapeType="1"/>
              </p:cNvSpPr>
              <p:nvPr/>
            </p:nvSpPr>
            <p:spPr bwMode="auto">
              <a:xfrm>
                <a:off x="709" y="2855"/>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85" name="Group 186">
              <a:extLst>
                <a:ext uri="{FF2B5EF4-FFF2-40B4-BE49-F238E27FC236}">
                  <a16:creationId xmlns:a16="http://schemas.microsoft.com/office/drawing/2014/main" id="{F5B6412F-86EA-644E-B751-4756A58400F6}"/>
                </a:ext>
              </a:extLst>
            </p:cNvPr>
            <p:cNvGrpSpPr>
              <a:grpSpLocks/>
            </p:cNvGrpSpPr>
            <p:nvPr/>
          </p:nvGrpSpPr>
          <p:grpSpPr bwMode="auto">
            <a:xfrm>
              <a:off x="2173" y="960"/>
              <a:ext cx="1713" cy="499"/>
              <a:chOff x="2683" y="798"/>
              <a:chExt cx="1713" cy="499"/>
            </a:xfrm>
          </p:grpSpPr>
          <p:sp>
            <p:nvSpPr>
              <p:cNvPr id="198" name="Text Box 187">
                <a:extLst>
                  <a:ext uri="{FF2B5EF4-FFF2-40B4-BE49-F238E27FC236}">
                    <a16:creationId xmlns:a16="http://schemas.microsoft.com/office/drawing/2014/main" id="{33745650-56D6-E74A-A07A-E27A58809560}"/>
                  </a:ext>
                </a:extLst>
              </p:cNvPr>
              <p:cNvSpPr txBox="1">
                <a:spLocks noChangeArrowheads="1"/>
              </p:cNvSpPr>
              <p:nvPr/>
            </p:nvSpPr>
            <p:spPr bwMode="auto">
              <a:xfrm>
                <a:off x="2683" y="917"/>
                <a:ext cx="1713"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cwnd+MSS</a:t>
                </a:r>
                <a:endParaRPr lang="en-US" sz="900" kern="0" dirty="0">
                  <a:solidFill>
                    <a:srgbClr val="000000"/>
                  </a:solidFill>
                  <a:latin typeface="Avenir Book" panose="020B0503020203020204" pitchFamily="34" charset="-78"/>
                  <a:cs typeface="Avenir Book" panose="020B0503020203020204" pitchFamily="34" charset="-78"/>
                </a:endParaRPr>
              </a:p>
              <a:p>
                <a:pPr defTabSz="685800" fontAlgn="base">
                  <a:lnSpc>
                    <a:spcPct val="9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transmit new segment(s), as allowed</a:t>
                </a:r>
              </a:p>
              <a:p>
                <a:pPr defTabSz="685800" fontAlgn="base">
                  <a:lnSpc>
                    <a:spcPct val="80000"/>
                  </a:lnSpc>
                  <a:spcBef>
                    <a:spcPct val="0"/>
                  </a:spcBef>
                  <a:spcAft>
                    <a:spcPct val="0"/>
                  </a:spcAft>
                  <a:defRPr/>
                </a:pPr>
                <a:endParaRPr lang="en-US" sz="900" kern="0" dirty="0">
                  <a:solidFill>
                    <a:srgbClr val="000000"/>
                  </a:solidFill>
                  <a:latin typeface="Avenir Book" panose="020B0503020203020204" pitchFamily="34" charset="-78"/>
                  <a:cs typeface="Avenir Book" panose="020B0503020203020204" pitchFamily="34" charset="-78"/>
                </a:endParaRPr>
              </a:p>
            </p:txBody>
          </p:sp>
          <p:sp>
            <p:nvSpPr>
              <p:cNvPr id="199" name="Line 188">
                <a:extLst>
                  <a:ext uri="{FF2B5EF4-FFF2-40B4-BE49-F238E27FC236}">
                    <a16:creationId xmlns:a16="http://schemas.microsoft.com/office/drawing/2014/main" id="{77E99221-132E-174B-8CBE-C1A955C064C2}"/>
                  </a:ext>
                </a:extLst>
              </p:cNvPr>
              <p:cNvSpPr>
                <a:spLocks noChangeShapeType="1"/>
              </p:cNvSpPr>
              <p:nvPr/>
            </p:nvSpPr>
            <p:spPr bwMode="auto">
              <a:xfrm>
                <a:off x="2744" y="93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Text Box 189">
                <a:extLst>
                  <a:ext uri="{FF2B5EF4-FFF2-40B4-BE49-F238E27FC236}">
                    <a16:creationId xmlns:a16="http://schemas.microsoft.com/office/drawing/2014/main" id="{321F9ADE-2971-8D42-964D-F2D594BDE59B}"/>
                  </a:ext>
                </a:extLst>
              </p:cNvPr>
              <p:cNvSpPr txBox="1">
                <a:spLocks noChangeArrowheads="1"/>
              </p:cNvSpPr>
              <p:nvPr/>
            </p:nvSpPr>
            <p:spPr bwMode="auto">
              <a:xfrm>
                <a:off x="2697" y="798"/>
                <a:ext cx="5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new ACK</a:t>
                </a:r>
              </a:p>
            </p:txBody>
          </p:sp>
        </p:grpSp>
        <p:sp>
          <p:nvSpPr>
            <p:cNvPr id="187" name="Freeform 206">
              <a:extLst>
                <a:ext uri="{FF2B5EF4-FFF2-40B4-BE49-F238E27FC236}">
                  <a16:creationId xmlns:a16="http://schemas.microsoft.com/office/drawing/2014/main" id="{750DB278-39B5-E245-8F7C-23929FAC1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89" name="Freeform 211">
              <a:extLst>
                <a:ext uri="{FF2B5EF4-FFF2-40B4-BE49-F238E27FC236}">
                  <a16:creationId xmlns:a16="http://schemas.microsoft.com/office/drawing/2014/main" id="{3E6B1AA0-4286-9245-837B-6CBC21CE7E5B}"/>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0" name="Line 234">
              <a:extLst>
                <a:ext uri="{FF2B5EF4-FFF2-40B4-BE49-F238E27FC236}">
                  <a16:creationId xmlns:a16="http://schemas.microsoft.com/office/drawing/2014/main" id="{F4D43A0C-EE6E-EC4A-8B33-48E0CE84AD67}"/>
                </a:ext>
              </a:extLst>
            </p:cNvPr>
            <p:cNvSpPr>
              <a:spLocks noChangeShapeType="1"/>
            </p:cNvSpPr>
            <p:nvPr/>
          </p:nvSpPr>
          <p:spPr bwMode="auto">
            <a:xfrm>
              <a:off x="536" y="1649"/>
              <a:ext cx="752" cy="1"/>
            </a:xfrm>
            <a:prstGeom prst="line">
              <a:avLst/>
            </a:prstGeom>
            <a:noFill/>
            <a:ln w="9525">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1" name="Group 235">
              <a:extLst>
                <a:ext uri="{FF2B5EF4-FFF2-40B4-BE49-F238E27FC236}">
                  <a16:creationId xmlns:a16="http://schemas.microsoft.com/office/drawing/2014/main" id="{A04F248C-CB56-5341-9121-CD7548EA20D6}"/>
                </a:ext>
              </a:extLst>
            </p:cNvPr>
            <p:cNvGrpSpPr>
              <a:grpSpLocks/>
            </p:cNvGrpSpPr>
            <p:nvPr/>
          </p:nvGrpSpPr>
          <p:grpSpPr bwMode="auto">
            <a:xfrm>
              <a:off x="447" y="1255"/>
              <a:ext cx="881" cy="391"/>
              <a:chOff x="469" y="936"/>
              <a:chExt cx="881" cy="391"/>
            </a:xfrm>
          </p:grpSpPr>
          <p:sp>
            <p:nvSpPr>
              <p:cNvPr id="192" name="Text Box 236">
                <a:extLst>
                  <a:ext uri="{FF2B5EF4-FFF2-40B4-BE49-F238E27FC236}">
                    <a16:creationId xmlns:a16="http://schemas.microsoft.com/office/drawing/2014/main" id="{DFCAD05B-CECB-F74A-83C0-04809C56403D}"/>
                  </a:ext>
                </a:extLst>
              </p:cNvPr>
              <p:cNvSpPr txBox="1">
                <a:spLocks noChangeArrowheads="1"/>
              </p:cNvSpPr>
              <p:nvPr/>
            </p:nvSpPr>
            <p:spPr bwMode="auto">
              <a:xfrm>
                <a:off x="816" y="936"/>
                <a:ext cx="20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L</a:t>
                </a:r>
              </a:p>
            </p:txBody>
          </p:sp>
          <p:sp>
            <p:nvSpPr>
              <p:cNvPr id="193" name="Text Box 237">
                <a:extLst>
                  <a:ext uri="{FF2B5EF4-FFF2-40B4-BE49-F238E27FC236}">
                    <a16:creationId xmlns:a16="http://schemas.microsoft.com/office/drawing/2014/main" id="{74E71529-C1EB-3448-B321-63BB937B34FE}"/>
                  </a:ext>
                </a:extLst>
              </p:cNvPr>
              <p:cNvSpPr txBox="1">
                <a:spLocks noChangeArrowheads="1"/>
              </p:cNvSpPr>
              <p:nvPr/>
            </p:nvSpPr>
            <p:spPr bwMode="auto">
              <a:xfrm>
                <a:off x="469" y="1063"/>
                <a:ext cx="881" cy="2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1 MSS</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64 KB</a:t>
                </a:r>
              </a:p>
            </p:txBody>
          </p:sp>
          <p:sp>
            <p:nvSpPr>
              <p:cNvPr id="194" name="Line 238">
                <a:extLst>
                  <a:ext uri="{FF2B5EF4-FFF2-40B4-BE49-F238E27FC236}">
                    <a16:creationId xmlns:a16="http://schemas.microsoft.com/office/drawing/2014/main" id="{6EA26674-D5C9-9744-9287-ED272FC85120}"/>
                  </a:ext>
                </a:extLst>
              </p:cNvPr>
              <p:cNvSpPr>
                <a:spLocks noChangeShapeType="1"/>
              </p:cNvSpPr>
              <p:nvPr/>
            </p:nvSpPr>
            <p:spPr bwMode="auto">
              <a:xfrm>
                <a:off x="641" y="1078"/>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spTree>
    <p:extLst>
      <p:ext uri="{BB962C8B-B14F-4D97-AF65-F5344CB8AC3E}">
        <p14:creationId xmlns:p14="http://schemas.microsoft.com/office/powerpoint/2010/main" val="19082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dissolv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left)">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dissolv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right)">
                                      <p:cBhvr>
                                        <p:cTn id="22"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981201" y="2133600"/>
            <a:ext cx="8180387" cy="1066800"/>
          </a:xfrm>
        </p:spPr>
        <p:txBody>
          <a:bodyPr>
            <a:normAutofit/>
          </a:bodyPr>
          <a:lstStyle/>
          <a:p>
            <a:r>
              <a:rPr lang="en-US" dirty="0">
                <a:latin typeface="Avenir Book" panose="020B0503020203020204" pitchFamily="34" charset="-78"/>
                <a:cs typeface="Avenir Book" panose="020B0503020203020204" pitchFamily="34" charset="-78"/>
              </a:rPr>
              <a:t>TCP Reno</a:t>
            </a:r>
          </a:p>
        </p:txBody>
      </p:sp>
      <p:sp>
        <p:nvSpPr>
          <p:cNvPr id="59395" name="Text Placeholder 2"/>
          <p:cNvSpPr>
            <a:spLocks noGrp="1"/>
          </p:cNvSpPr>
          <p:nvPr>
            <p:ph type="body" sz="quarter" idx="10"/>
          </p:nvPr>
        </p:nvSpPr>
        <p:spPr>
          <a:xfrm>
            <a:off x="1892300" y="3087688"/>
            <a:ext cx="8382000" cy="1104900"/>
          </a:xfrm>
        </p:spPr>
        <p:txBody>
          <a:bodyPr/>
          <a:lstStyle/>
          <a:p>
            <a:pPr marL="0" indent="0">
              <a:buNone/>
            </a:pPr>
            <a:endParaRPr lang="en-US" sz="2600" dirty="0"/>
          </a:p>
          <a:p>
            <a:pPr marL="0" indent="0"/>
            <a:endParaRPr lang="en-US" sz="2200" dirty="0"/>
          </a:p>
          <a:p>
            <a:pPr lvl="1" eaLnBrk="1" hangingPunct="1"/>
            <a:endParaRPr lang="en-US" sz="2200" dirty="0"/>
          </a:p>
        </p:txBody>
      </p:sp>
    </p:spTree>
    <p:extLst>
      <p:ext uri="{BB962C8B-B14F-4D97-AF65-F5344CB8AC3E}">
        <p14:creationId xmlns:p14="http://schemas.microsoft.com/office/powerpoint/2010/main" val="35489198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25189" y="46164"/>
            <a:ext cx="5770019" cy="670967"/>
          </a:xfrm>
        </p:spPr>
        <p:txBody>
          <a:bodyPr>
            <a:normAutofit/>
          </a:bodyPr>
          <a:lstStyle/>
          <a:p>
            <a:r>
              <a:rPr lang="en-US" sz="3600" dirty="0">
                <a:latin typeface="Avenir Book" panose="020B0503020203020204" pitchFamily="34" charset="-78"/>
                <a:cs typeface="Avenir Book" panose="020B0503020203020204" pitchFamily="34" charset="-78"/>
              </a:rPr>
              <a:t>Fast Recovery</a:t>
            </a:r>
            <a:endParaRPr lang="en-US" sz="3300" dirty="0">
              <a:latin typeface="Avenir Book" panose="020B0503020203020204" pitchFamily="34" charset="-78"/>
              <a:cs typeface="Avenir Book" panose="020B0503020203020204" pitchFamily="34" charset="-78"/>
            </a:endParaRPr>
          </a:p>
        </p:txBody>
      </p:sp>
      <p:sp>
        <p:nvSpPr>
          <p:cNvPr id="293" name="TextBox 292"/>
          <p:cNvSpPr txBox="1"/>
          <p:nvPr/>
        </p:nvSpPr>
        <p:spPr>
          <a:xfrm>
            <a:off x="8111228" y="241374"/>
            <a:ext cx="3898780" cy="4524315"/>
          </a:xfrm>
          <a:prstGeom prst="rect">
            <a:avLst/>
          </a:prstGeom>
          <a:solidFill>
            <a:srgbClr val="FF9999">
              <a:alpha val="32000"/>
            </a:srgbClr>
          </a:solidFill>
          <a:ln cap="rnd">
            <a:solidFill>
              <a:srgbClr val="C00000"/>
            </a:solidFill>
          </a:ln>
        </p:spPr>
        <p:txBody>
          <a:bodyPr wrap="square" rtlCol="0">
            <a:spAutoFit/>
          </a:bodyPr>
          <a:lstStyle/>
          <a:p>
            <a:pPr algn="ctr"/>
            <a:r>
              <a:rPr lang="en-IN" altLang="en-US" dirty="0">
                <a:solidFill>
                  <a:srgbClr val="0000FF"/>
                </a:solidFill>
                <a:latin typeface="Avenir Book" panose="020B0503020203020204" pitchFamily="34" charset="-78"/>
                <a:cs typeface="Avenir Book" panose="020B0503020203020204" pitchFamily="34" charset="-78"/>
              </a:rPr>
              <a:t>3 </a:t>
            </a:r>
            <a:r>
              <a:rPr lang="en-IN" altLang="en-US" dirty="0" err="1">
                <a:solidFill>
                  <a:srgbClr val="0000FF"/>
                </a:solidFill>
                <a:latin typeface="Avenir Book" panose="020B0503020203020204" pitchFamily="34" charset="-78"/>
                <a:cs typeface="Avenir Book" panose="020B0503020203020204" pitchFamily="34" charset="-78"/>
              </a:rPr>
              <a:t>DupACks</a:t>
            </a:r>
            <a:endParaRPr lang="en-IN" altLang="en-US" dirty="0">
              <a:solidFill>
                <a:srgbClr val="0000FF"/>
              </a:solidFill>
              <a:latin typeface="Avenir Book" panose="020B0503020203020204" pitchFamily="34" charset="-78"/>
              <a:cs typeface="Avenir Book" panose="020B0503020203020204" pitchFamily="34" charset="-78"/>
            </a:endParaRPr>
          </a:p>
          <a:p>
            <a:pPr marL="285750" indent="-285750" algn="ctr">
              <a:buFont typeface="Wingdings" panose="05000000000000000000" pitchFamily="2" charset="2"/>
              <a:buChar char="à"/>
            </a:pP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Trigger Fast Retransmit</a:t>
            </a:r>
          </a:p>
          <a:p>
            <a:pPr algn="ctr"/>
            <a:endPar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endParaRP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1. </a:t>
            </a:r>
            <a:r>
              <a:rPr lang="en-IN" dirty="0" err="1">
                <a:solidFill>
                  <a:srgbClr val="0000FF"/>
                </a:solidFill>
                <a:latin typeface="Avenir Book" panose="020B0503020203020204" pitchFamily="34" charset="-78"/>
                <a:cs typeface="Avenir Book" panose="020B0503020203020204" pitchFamily="34" charset="-78"/>
                <a:sym typeface="Wingdings" panose="05000000000000000000" pitchFamily="2" charset="2"/>
              </a:rPr>
              <a:t>Ssthresh</a:t>
            </a: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 CW/2</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2. Transmit missing segment that is definitely causing </a:t>
            </a:r>
            <a:r>
              <a:rPr lang="en-IN" dirty="0" err="1">
                <a:solidFill>
                  <a:srgbClr val="0000FF"/>
                </a:solidFill>
                <a:latin typeface="Avenir Book" panose="020B0503020203020204" pitchFamily="34" charset="-78"/>
                <a:cs typeface="Avenir Book" panose="020B0503020203020204" pitchFamily="34" charset="-78"/>
                <a:sym typeface="Wingdings" panose="05000000000000000000" pitchFamily="2" charset="2"/>
              </a:rPr>
              <a:t>DupAcks</a:t>
            </a:r>
            <a:endPar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endParaRP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3. CW = </a:t>
            </a:r>
            <a:r>
              <a:rPr lang="en-IN" dirty="0" err="1">
                <a:solidFill>
                  <a:srgbClr val="0000FF"/>
                </a:solidFill>
                <a:latin typeface="Avenir Book" panose="020B0503020203020204" pitchFamily="34" charset="-78"/>
                <a:cs typeface="Avenir Book" panose="020B0503020203020204" pitchFamily="34" charset="-78"/>
                <a:sym typeface="Wingdings" panose="05000000000000000000" pitchFamily="2" charset="2"/>
              </a:rPr>
              <a:t>ssthresh</a:t>
            </a: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 + 3</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4. Transmit new segments of CW allows</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5. More </a:t>
            </a:r>
            <a:r>
              <a:rPr lang="en-IN" dirty="0" err="1">
                <a:solidFill>
                  <a:srgbClr val="0000FF"/>
                </a:solidFill>
                <a:latin typeface="Avenir Book" panose="020B0503020203020204" pitchFamily="34" charset="-78"/>
                <a:cs typeface="Avenir Book" panose="020B0503020203020204" pitchFamily="34" charset="-78"/>
                <a:sym typeface="Wingdings" panose="05000000000000000000" pitchFamily="2" charset="2"/>
              </a:rPr>
              <a:t>DupAcks</a:t>
            </a: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 CW + 1</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Transmit new segments if CW allows</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6. Normal ACK:</a:t>
            </a: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CW = </a:t>
            </a:r>
            <a:r>
              <a:rPr lang="en-IN" dirty="0" err="1">
                <a:solidFill>
                  <a:srgbClr val="0000FF"/>
                </a:solidFill>
                <a:latin typeface="Avenir Book" panose="020B0503020203020204" pitchFamily="34" charset="-78"/>
                <a:cs typeface="Avenir Book" panose="020B0503020203020204" pitchFamily="34" charset="-78"/>
                <a:sym typeface="Wingdings" panose="05000000000000000000" pitchFamily="2" charset="2"/>
              </a:rPr>
              <a:t>ssthresh</a:t>
            </a:r>
            <a:endPar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endParaRPr>
          </a:p>
          <a:p>
            <a:pPr algn="ctr"/>
            <a:r>
              <a:rPr lang="en-IN" dirty="0">
                <a:solidFill>
                  <a:srgbClr val="0000FF"/>
                </a:solidFill>
                <a:latin typeface="Avenir Book" panose="020B0503020203020204" pitchFamily="34" charset="-78"/>
                <a:cs typeface="Avenir Book" panose="020B0503020203020204" pitchFamily="34" charset="-78"/>
                <a:sym typeface="Wingdings" panose="05000000000000000000" pitchFamily="2" charset="2"/>
              </a:rPr>
              <a:t>Start congestion avoidance</a:t>
            </a:r>
            <a:endParaRPr lang="en-IN" dirty="0">
              <a:solidFill>
                <a:srgbClr val="0000FF"/>
              </a:solidFill>
              <a:latin typeface="Avenir Book" panose="020B0503020203020204" pitchFamily="34" charset="-78"/>
              <a:cs typeface="Avenir Book" panose="020B0503020203020204" pitchFamily="34" charset="-78"/>
            </a:endParaRPr>
          </a:p>
        </p:txBody>
      </p:sp>
      <p:sp>
        <p:nvSpPr>
          <p:cNvPr id="171"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592700" y="1482545"/>
            <a:ext cx="5664" cy="366095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2" name="Line 11">
            <a:extLst>
              <a:ext uri="{FF2B5EF4-FFF2-40B4-BE49-F238E27FC236}">
                <a16:creationId xmlns:a16="http://schemas.microsoft.com/office/drawing/2014/main" id="{689C7DF6-5B6C-F34C-B350-3B553A4C7C71}"/>
              </a:ext>
            </a:extLst>
          </p:cNvPr>
          <p:cNvSpPr>
            <a:spLocks noChangeShapeType="1"/>
          </p:cNvSpPr>
          <p:nvPr/>
        </p:nvSpPr>
        <p:spPr bwMode="auto">
          <a:xfrm>
            <a:off x="3466547" y="1538255"/>
            <a:ext cx="18444" cy="360524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2812365" y="566945"/>
            <a:ext cx="1069083"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74"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194440" y="619960"/>
            <a:ext cx="1073474"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175" name="Group 78">
            <a:extLst>
              <a:ext uri="{FF2B5EF4-FFF2-40B4-BE49-F238E27FC236}">
                <a16:creationId xmlns:a16="http://schemas.microsoft.com/office/drawing/2014/main" id="{BFB3AB37-E716-1346-A8BA-2EFF122E1DFB}"/>
              </a:ext>
            </a:extLst>
          </p:cNvPr>
          <p:cNvGrpSpPr>
            <a:grpSpLocks/>
          </p:cNvGrpSpPr>
          <p:nvPr/>
        </p:nvGrpSpPr>
        <p:grpSpPr bwMode="auto">
          <a:xfrm>
            <a:off x="67116" y="1978893"/>
            <a:ext cx="548811" cy="3078882"/>
            <a:chOff x="397" y="868"/>
            <a:chExt cx="250" cy="2220"/>
          </a:xfrm>
        </p:grpSpPr>
        <p:sp>
          <p:nvSpPr>
            <p:cNvPr id="176"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177"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181"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2"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78"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179"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0"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83" name="Group 182">
            <a:extLst>
              <a:ext uri="{FF2B5EF4-FFF2-40B4-BE49-F238E27FC236}">
                <a16:creationId xmlns:a16="http://schemas.microsoft.com/office/drawing/2014/main" id="{DFEC346A-D192-A745-962D-2F7187BE2EBA}"/>
              </a:ext>
            </a:extLst>
          </p:cNvPr>
          <p:cNvGrpSpPr/>
          <p:nvPr/>
        </p:nvGrpSpPr>
        <p:grpSpPr>
          <a:xfrm>
            <a:off x="568893" y="3049661"/>
            <a:ext cx="2919646" cy="1600635"/>
            <a:chOff x="7126535" y="3495131"/>
            <a:chExt cx="3499219" cy="1600635"/>
          </a:xfrm>
        </p:grpSpPr>
        <p:sp>
          <p:nvSpPr>
            <p:cNvPr id="185"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Rectangle 84">
            <a:extLst>
              <a:ext uri="{FF2B5EF4-FFF2-40B4-BE49-F238E27FC236}">
                <a16:creationId xmlns:a16="http://schemas.microsoft.com/office/drawing/2014/main" id="{DDC13008-E549-D946-9386-1DAF70895444}"/>
              </a:ext>
            </a:extLst>
          </p:cNvPr>
          <p:cNvSpPr>
            <a:spLocks noChangeArrowheads="1"/>
          </p:cNvSpPr>
          <p:nvPr/>
        </p:nvSpPr>
        <p:spPr bwMode="auto">
          <a:xfrm>
            <a:off x="896918" y="2118306"/>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3" name="Group 192">
            <a:extLst>
              <a:ext uri="{FF2B5EF4-FFF2-40B4-BE49-F238E27FC236}">
                <a16:creationId xmlns:a16="http://schemas.microsoft.com/office/drawing/2014/main" id="{A410A887-ABC6-3C43-BE7B-AF0C2FBB6C93}"/>
              </a:ext>
            </a:extLst>
          </p:cNvPr>
          <p:cNvGrpSpPr/>
          <p:nvPr/>
        </p:nvGrpSpPr>
        <p:grpSpPr>
          <a:xfrm>
            <a:off x="598366" y="2101721"/>
            <a:ext cx="2890174" cy="2133874"/>
            <a:chOff x="7137252" y="2547191"/>
            <a:chExt cx="3503609" cy="2133874"/>
          </a:xfrm>
        </p:grpSpPr>
        <p:sp>
          <p:nvSpPr>
            <p:cNvPr id="195"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3465598" cy="2133874"/>
            </a:xfrm>
            <a:prstGeom prst="line">
              <a:avLst/>
            </a:prstGeom>
            <a:noFill/>
            <a:ln w="28575">
              <a:solidFill>
                <a:srgbClr val="3333CC"/>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7"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06" name="Group 93">
            <a:extLst>
              <a:ext uri="{FF2B5EF4-FFF2-40B4-BE49-F238E27FC236}">
                <a16:creationId xmlns:a16="http://schemas.microsoft.com/office/drawing/2014/main" id="{90980625-BCFD-F546-BD95-6CC80FC48859}"/>
              </a:ext>
            </a:extLst>
          </p:cNvPr>
          <p:cNvGrpSpPr>
            <a:grpSpLocks/>
          </p:cNvGrpSpPr>
          <p:nvPr/>
        </p:nvGrpSpPr>
        <p:grpSpPr bwMode="auto">
          <a:xfrm>
            <a:off x="69311" y="898220"/>
            <a:ext cx="810044" cy="619176"/>
            <a:chOff x="-44" y="1473"/>
            <a:chExt cx="981" cy="1105"/>
          </a:xfrm>
        </p:grpSpPr>
        <p:pic>
          <p:nvPicPr>
            <p:cNvPr id="207"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09" name="Group 96">
            <a:extLst>
              <a:ext uri="{FF2B5EF4-FFF2-40B4-BE49-F238E27FC236}">
                <a16:creationId xmlns:a16="http://schemas.microsoft.com/office/drawing/2014/main" id="{30D13886-717C-5C49-84EB-DD7C28AC75E9}"/>
              </a:ext>
            </a:extLst>
          </p:cNvPr>
          <p:cNvGrpSpPr>
            <a:grpSpLocks/>
          </p:cNvGrpSpPr>
          <p:nvPr/>
        </p:nvGrpSpPr>
        <p:grpSpPr bwMode="auto">
          <a:xfrm flipH="1">
            <a:off x="3180649" y="896804"/>
            <a:ext cx="749093" cy="672617"/>
            <a:chOff x="-44" y="1473"/>
            <a:chExt cx="981" cy="1105"/>
          </a:xfrm>
        </p:grpSpPr>
        <p:pic>
          <p:nvPicPr>
            <p:cNvPr id="210"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1"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12" name="Line 10">
            <a:extLst>
              <a:ext uri="{FF2B5EF4-FFF2-40B4-BE49-F238E27FC236}">
                <a16:creationId xmlns:a16="http://schemas.microsoft.com/office/drawing/2014/main" id="{D5DBB1B8-3A7B-2149-A7A5-727E44799BF4}"/>
              </a:ext>
            </a:extLst>
          </p:cNvPr>
          <p:cNvSpPr>
            <a:spLocks noChangeShapeType="1"/>
          </p:cNvSpPr>
          <p:nvPr/>
        </p:nvSpPr>
        <p:spPr bwMode="auto">
          <a:xfrm>
            <a:off x="4760690" y="1010631"/>
            <a:ext cx="50558" cy="37173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3" name="Line 11">
            <a:extLst>
              <a:ext uri="{FF2B5EF4-FFF2-40B4-BE49-F238E27FC236}">
                <a16:creationId xmlns:a16="http://schemas.microsoft.com/office/drawing/2014/main" id="{689C7DF6-5B6C-F34C-B350-3B553A4C7C71}"/>
              </a:ext>
            </a:extLst>
          </p:cNvPr>
          <p:cNvSpPr>
            <a:spLocks noChangeShapeType="1"/>
          </p:cNvSpPr>
          <p:nvPr/>
        </p:nvSpPr>
        <p:spPr bwMode="auto">
          <a:xfrm>
            <a:off x="7579906" y="957616"/>
            <a:ext cx="0" cy="376253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4" name="Group 223">
            <a:extLst>
              <a:ext uri="{FF2B5EF4-FFF2-40B4-BE49-F238E27FC236}">
                <a16:creationId xmlns:a16="http://schemas.microsoft.com/office/drawing/2014/main" id="{DFEC346A-D192-A745-962D-2F7187BE2EBA}"/>
              </a:ext>
            </a:extLst>
          </p:cNvPr>
          <p:cNvGrpSpPr/>
          <p:nvPr/>
        </p:nvGrpSpPr>
        <p:grpSpPr>
          <a:xfrm>
            <a:off x="4759379" y="1015116"/>
            <a:ext cx="2820526" cy="1600635"/>
            <a:chOff x="7126535" y="3495131"/>
            <a:chExt cx="3499219" cy="1600635"/>
          </a:xfrm>
        </p:grpSpPr>
        <p:sp>
          <p:nvSpPr>
            <p:cNvPr id="226"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7"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8"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6" name="Line 24">
            <a:extLst>
              <a:ext uri="{FF2B5EF4-FFF2-40B4-BE49-F238E27FC236}">
                <a16:creationId xmlns:a16="http://schemas.microsoft.com/office/drawing/2014/main" id="{A22F562A-B278-CF40-B0A2-08D7E895698A}"/>
              </a:ext>
            </a:extLst>
          </p:cNvPr>
          <p:cNvSpPr>
            <a:spLocks noChangeShapeType="1"/>
          </p:cNvSpPr>
          <p:nvPr/>
        </p:nvSpPr>
        <p:spPr bwMode="auto">
          <a:xfrm>
            <a:off x="4810873" y="2623441"/>
            <a:ext cx="2817350"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6" name="Line 24">
            <a:extLst>
              <a:ext uri="{FF2B5EF4-FFF2-40B4-BE49-F238E27FC236}">
                <a16:creationId xmlns:a16="http://schemas.microsoft.com/office/drawing/2014/main" id="{A22F562A-B278-CF40-B0A2-08D7E895698A}"/>
              </a:ext>
            </a:extLst>
          </p:cNvPr>
          <p:cNvSpPr>
            <a:spLocks noChangeShapeType="1"/>
          </p:cNvSpPr>
          <p:nvPr/>
        </p:nvSpPr>
        <p:spPr bwMode="auto">
          <a:xfrm>
            <a:off x="4799573" y="2949447"/>
            <a:ext cx="2806678" cy="72775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7"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4837591" y="3709720"/>
            <a:ext cx="2724412" cy="52587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8" name="Line 24">
            <a:extLst>
              <a:ext uri="{FF2B5EF4-FFF2-40B4-BE49-F238E27FC236}">
                <a16:creationId xmlns:a16="http://schemas.microsoft.com/office/drawing/2014/main" id="{E42793DA-B54F-8A4A-B169-AADC48D8492B}"/>
              </a:ext>
            </a:extLst>
          </p:cNvPr>
          <p:cNvSpPr>
            <a:spLocks noChangeShapeType="1"/>
          </p:cNvSpPr>
          <p:nvPr/>
        </p:nvSpPr>
        <p:spPr bwMode="auto">
          <a:xfrm>
            <a:off x="4851573" y="4267333"/>
            <a:ext cx="1726384" cy="399457"/>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59" name="Line 24">
            <a:extLst>
              <a:ext uri="{FF2B5EF4-FFF2-40B4-BE49-F238E27FC236}">
                <a16:creationId xmlns:a16="http://schemas.microsoft.com/office/drawing/2014/main" id="{E42793DA-B54F-8A4A-B169-AADC48D8492B}"/>
              </a:ext>
            </a:extLst>
          </p:cNvPr>
          <p:cNvSpPr>
            <a:spLocks noChangeShapeType="1"/>
          </p:cNvSpPr>
          <p:nvPr/>
        </p:nvSpPr>
        <p:spPr bwMode="auto">
          <a:xfrm>
            <a:off x="4834351" y="4568050"/>
            <a:ext cx="1737940" cy="376220"/>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u="none" strike="noStrike" kern="1200" cap="none" spc="0" normalizeH="0" baseline="0" noProof="0">
              <a:ln>
                <a:noFill/>
              </a:ln>
              <a:solidFill>
                <a:srgbClr val="000000"/>
              </a:solidFill>
              <a:effectLst/>
              <a:uLnTx/>
              <a:uFillTx/>
              <a:latin typeface="Avenir Book" panose="020B0503020203020204" pitchFamily="34" charset="-78"/>
              <a:ea typeface="ＭＳ Ｐゴシック" charset="0"/>
              <a:cs typeface="Avenir Book" panose="020B0503020203020204" pitchFamily="34" charset="-78"/>
            </a:endParaRPr>
          </a:p>
        </p:txBody>
      </p:sp>
      <p:sp>
        <p:nvSpPr>
          <p:cNvPr id="26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5812408" y="4304792"/>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B11</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5748688" y="4600586"/>
            <a:ext cx="420308"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B12</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2"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598755" y="1538142"/>
            <a:ext cx="2724412" cy="52587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3"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565313" y="1584738"/>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345336" y="4088512"/>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299893" y="3842604"/>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1238922" y="3479946"/>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67"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6993851" y="-31359"/>
            <a:ext cx="1069083"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268"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4375926" y="21656"/>
            <a:ext cx="1073474"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269" name="Group 93">
            <a:extLst>
              <a:ext uri="{FF2B5EF4-FFF2-40B4-BE49-F238E27FC236}">
                <a16:creationId xmlns:a16="http://schemas.microsoft.com/office/drawing/2014/main" id="{90980625-BCFD-F546-BD95-6CC80FC48859}"/>
              </a:ext>
            </a:extLst>
          </p:cNvPr>
          <p:cNvGrpSpPr>
            <a:grpSpLocks/>
          </p:cNvGrpSpPr>
          <p:nvPr/>
        </p:nvGrpSpPr>
        <p:grpSpPr bwMode="auto">
          <a:xfrm>
            <a:off x="4250797" y="299916"/>
            <a:ext cx="810044" cy="619176"/>
            <a:chOff x="-44" y="1473"/>
            <a:chExt cx="981" cy="1105"/>
          </a:xfrm>
        </p:grpSpPr>
        <p:pic>
          <p:nvPicPr>
            <p:cNvPr id="270"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72" name="Group 96">
            <a:extLst>
              <a:ext uri="{FF2B5EF4-FFF2-40B4-BE49-F238E27FC236}">
                <a16:creationId xmlns:a16="http://schemas.microsoft.com/office/drawing/2014/main" id="{30D13886-717C-5C49-84EB-DD7C28AC75E9}"/>
              </a:ext>
            </a:extLst>
          </p:cNvPr>
          <p:cNvGrpSpPr>
            <a:grpSpLocks/>
          </p:cNvGrpSpPr>
          <p:nvPr/>
        </p:nvGrpSpPr>
        <p:grpSpPr bwMode="auto">
          <a:xfrm flipH="1">
            <a:off x="7362135" y="298500"/>
            <a:ext cx="749093" cy="672617"/>
            <a:chOff x="-44" y="1473"/>
            <a:chExt cx="981" cy="1105"/>
          </a:xfrm>
        </p:grpSpPr>
        <p:pic>
          <p:nvPicPr>
            <p:cNvPr id="273"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78"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5331198" y="2126124"/>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79"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5285755" y="1880216"/>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8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5224784" y="1517558"/>
            <a:ext cx="35298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81"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0445563">
            <a:off x="5279315" y="3842604"/>
            <a:ext cx="428322"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A10</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94"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5964462" y="2714220"/>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95"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5932207" y="3056434"/>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B9</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29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2270336" y="2514411"/>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B6</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440"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2238081" y="285662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B7</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44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706724">
            <a:off x="2242116" y="3130975"/>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B8</a:t>
            </a:r>
            <a:endParaRPr lang="en-US" sz="750" dirty="0">
              <a:solidFill>
                <a:srgbClr val="000000"/>
              </a:solidFill>
              <a:latin typeface="Avenir Book" panose="020B0503020203020204" pitchFamily="34" charset="-78"/>
              <a:cs typeface="Avenir Book" panose="020B0503020203020204" pitchFamily="34" charset="-78"/>
            </a:endParaRPr>
          </a:p>
        </p:txBody>
      </p:sp>
      <p:sp>
        <p:nvSpPr>
          <p:cNvPr id="447"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2143357">
            <a:off x="930858" y="2195459"/>
            <a:ext cx="344967" cy="253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venir Book" panose="020B0503020203020204" pitchFamily="34" charset="-78"/>
                <a:cs typeface="Avenir Book" panose="020B0503020203020204" pitchFamily="34" charset="-78"/>
              </a:rPr>
              <a:t>B5</a:t>
            </a:r>
            <a:endParaRPr lang="en-US" sz="750" dirty="0">
              <a:solidFill>
                <a:srgbClr val="000000"/>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69465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wipe(left)">
                                      <p:cBhvr>
                                        <p:cTn id="7" dur="500"/>
                                        <p:tgtEl>
                                          <p:spTgt spid="1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83"/>
                                        </p:tgtEl>
                                        <p:attrNameLst>
                                          <p:attrName>style.visibility</p:attrName>
                                        </p:attrNameLst>
                                      </p:cBhvr>
                                      <p:to>
                                        <p:strVal val="visible"/>
                                      </p:to>
                                    </p:set>
                                    <p:animEffect transition="in" filter="wipe(right)">
                                      <p:cBhvr>
                                        <p:cTn id="12" dur="500"/>
                                        <p:tgtEl>
                                          <p:spTgt spid="1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wipe(right)">
                                      <p:cBhvr>
                                        <p:cTn id="17" dur="500"/>
                                        <p:tgtEl>
                                          <p:spTgt spid="22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58"/>
                                        </p:tgtEl>
                                        <p:attrNameLst>
                                          <p:attrName>style.visibility</p:attrName>
                                        </p:attrNameLst>
                                      </p:cBhvr>
                                      <p:to>
                                        <p:strVal val="visible"/>
                                      </p:to>
                                    </p:set>
                                    <p:animEffect transition="in" filter="wipe(left)">
                                      <p:cBhvr>
                                        <p:cTn id="21" dur="500"/>
                                        <p:tgtEl>
                                          <p:spTgt spid="258"/>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59"/>
                                        </p:tgtEl>
                                        <p:attrNameLst>
                                          <p:attrName>style.visibility</p:attrName>
                                        </p:attrNameLst>
                                      </p:cBhvr>
                                      <p:to>
                                        <p:strVal val="visible"/>
                                      </p:to>
                                    </p:set>
                                    <p:animEffect transition="in" filter="wipe(left)">
                                      <p:cBhvr>
                                        <p:cTn id="25" dur="500"/>
                                        <p:tgtEl>
                                          <p:spTgt spid="25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60"/>
                                        </p:tgtEl>
                                        <p:attrNameLst>
                                          <p:attrName>style.visibility</p:attrName>
                                        </p:attrNameLst>
                                      </p:cBhvr>
                                      <p:to>
                                        <p:strVal val="visible"/>
                                      </p:to>
                                    </p:set>
                                    <p:animEffect transition="in" filter="dissolve">
                                      <p:cBhvr>
                                        <p:cTn id="28" dur="500"/>
                                        <p:tgtEl>
                                          <p:spTgt spid="26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1"/>
                                        </p:tgtEl>
                                        <p:attrNameLst>
                                          <p:attrName>style.visibility</p:attrName>
                                        </p:attrNameLst>
                                      </p:cBhvr>
                                      <p:to>
                                        <p:strVal val="visible"/>
                                      </p:to>
                                    </p:set>
                                    <p:animEffect transition="in" filter="dissolve">
                                      <p:cBhvr>
                                        <p:cTn id="31" dur="500"/>
                                        <p:tgtEl>
                                          <p:spTgt spid="26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63"/>
                                        </p:tgtEl>
                                        <p:attrNameLst>
                                          <p:attrName>style.visibility</p:attrName>
                                        </p:attrNameLst>
                                      </p:cBhvr>
                                      <p:to>
                                        <p:strVal val="visible"/>
                                      </p:to>
                                    </p:set>
                                    <p:animEffect transition="in" filter="dissolve">
                                      <p:cBhvr>
                                        <p:cTn id="34" dur="500"/>
                                        <p:tgtEl>
                                          <p:spTgt spid="26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64"/>
                                        </p:tgtEl>
                                        <p:attrNameLst>
                                          <p:attrName>style.visibility</p:attrName>
                                        </p:attrNameLst>
                                      </p:cBhvr>
                                      <p:to>
                                        <p:strVal val="visible"/>
                                      </p:to>
                                    </p:set>
                                    <p:animEffect transition="in" filter="dissolve">
                                      <p:cBhvr>
                                        <p:cTn id="37" dur="500"/>
                                        <p:tgtEl>
                                          <p:spTgt spid="26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65"/>
                                        </p:tgtEl>
                                        <p:attrNameLst>
                                          <p:attrName>style.visibility</p:attrName>
                                        </p:attrNameLst>
                                      </p:cBhvr>
                                      <p:to>
                                        <p:strVal val="visible"/>
                                      </p:to>
                                    </p:set>
                                    <p:animEffect transition="in" filter="dissolve">
                                      <p:cBhvr>
                                        <p:cTn id="40" dur="500"/>
                                        <p:tgtEl>
                                          <p:spTgt spid="26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66"/>
                                        </p:tgtEl>
                                        <p:attrNameLst>
                                          <p:attrName>style.visibility</p:attrName>
                                        </p:attrNameLst>
                                      </p:cBhvr>
                                      <p:to>
                                        <p:strVal val="visible"/>
                                      </p:to>
                                    </p:set>
                                    <p:animEffect transition="in" filter="dissolve">
                                      <p:cBhvr>
                                        <p:cTn id="43" dur="500"/>
                                        <p:tgtEl>
                                          <p:spTgt spid="266"/>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78"/>
                                        </p:tgtEl>
                                        <p:attrNameLst>
                                          <p:attrName>style.visibility</p:attrName>
                                        </p:attrNameLst>
                                      </p:cBhvr>
                                      <p:to>
                                        <p:strVal val="visible"/>
                                      </p:to>
                                    </p:set>
                                    <p:animEffect transition="in" filter="dissolve">
                                      <p:cBhvr>
                                        <p:cTn id="46" dur="500"/>
                                        <p:tgtEl>
                                          <p:spTgt spid="27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79"/>
                                        </p:tgtEl>
                                        <p:attrNameLst>
                                          <p:attrName>style.visibility</p:attrName>
                                        </p:attrNameLst>
                                      </p:cBhvr>
                                      <p:to>
                                        <p:strVal val="visible"/>
                                      </p:to>
                                    </p:set>
                                    <p:animEffect transition="in" filter="dissolve">
                                      <p:cBhvr>
                                        <p:cTn id="49" dur="500"/>
                                        <p:tgtEl>
                                          <p:spTgt spid="27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80"/>
                                        </p:tgtEl>
                                        <p:attrNameLst>
                                          <p:attrName>style.visibility</p:attrName>
                                        </p:attrNameLst>
                                      </p:cBhvr>
                                      <p:to>
                                        <p:strVal val="visible"/>
                                      </p:to>
                                    </p:set>
                                    <p:animEffect transition="in" filter="dissolve">
                                      <p:cBhvr>
                                        <p:cTn id="52" dur="500"/>
                                        <p:tgtEl>
                                          <p:spTgt spid="28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81"/>
                                        </p:tgtEl>
                                        <p:attrNameLst>
                                          <p:attrName>style.visibility</p:attrName>
                                        </p:attrNameLst>
                                      </p:cBhvr>
                                      <p:to>
                                        <p:strVal val="visible"/>
                                      </p:to>
                                    </p:set>
                                    <p:animEffect transition="in" filter="dissolve">
                                      <p:cBhvr>
                                        <p:cTn id="55" dur="500"/>
                                        <p:tgtEl>
                                          <p:spTgt spid="28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94"/>
                                        </p:tgtEl>
                                        <p:attrNameLst>
                                          <p:attrName>style.visibility</p:attrName>
                                        </p:attrNameLst>
                                      </p:cBhvr>
                                      <p:to>
                                        <p:strVal val="visible"/>
                                      </p:to>
                                    </p:set>
                                    <p:animEffect transition="in" filter="dissolve">
                                      <p:cBhvr>
                                        <p:cTn id="58" dur="500"/>
                                        <p:tgtEl>
                                          <p:spTgt spid="294"/>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95"/>
                                        </p:tgtEl>
                                        <p:attrNameLst>
                                          <p:attrName>style.visibility</p:attrName>
                                        </p:attrNameLst>
                                      </p:cBhvr>
                                      <p:to>
                                        <p:strVal val="visible"/>
                                      </p:to>
                                    </p:set>
                                    <p:animEffect transition="in" filter="dissolve">
                                      <p:cBhvr>
                                        <p:cTn id="61" dur="500"/>
                                        <p:tgtEl>
                                          <p:spTgt spid="29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96"/>
                                        </p:tgtEl>
                                        <p:attrNameLst>
                                          <p:attrName>style.visibility</p:attrName>
                                        </p:attrNameLst>
                                      </p:cBhvr>
                                      <p:to>
                                        <p:strVal val="visible"/>
                                      </p:to>
                                    </p:set>
                                    <p:animEffect transition="in" filter="dissolve">
                                      <p:cBhvr>
                                        <p:cTn id="64" dur="500"/>
                                        <p:tgtEl>
                                          <p:spTgt spid="296"/>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440"/>
                                        </p:tgtEl>
                                        <p:attrNameLst>
                                          <p:attrName>style.visibility</p:attrName>
                                        </p:attrNameLst>
                                      </p:cBhvr>
                                      <p:to>
                                        <p:strVal val="visible"/>
                                      </p:to>
                                    </p:set>
                                    <p:animEffect transition="in" filter="dissolve">
                                      <p:cBhvr>
                                        <p:cTn id="67" dur="500"/>
                                        <p:tgtEl>
                                          <p:spTgt spid="44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446"/>
                                        </p:tgtEl>
                                        <p:attrNameLst>
                                          <p:attrName>style.visibility</p:attrName>
                                        </p:attrNameLst>
                                      </p:cBhvr>
                                      <p:to>
                                        <p:strVal val="visible"/>
                                      </p:to>
                                    </p:set>
                                    <p:animEffect transition="in" filter="dissolve">
                                      <p:cBhvr>
                                        <p:cTn id="70" dur="500"/>
                                        <p:tgtEl>
                                          <p:spTgt spid="446"/>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447"/>
                                        </p:tgtEl>
                                        <p:attrNameLst>
                                          <p:attrName>style.visibility</p:attrName>
                                        </p:attrNameLst>
                                      </p:cBhvr>
                                      <p:to>
                                        <p:strVal val="visible"/>
                                      </p:to>
                                    </p:set>
                                    <p:animEffect transition="in" filter="dissolve">
                                      <p:cBhvr>
                                        <p:cTn id="73" dur="500"/>
                                        <p:tgtEl>
                                          <p:spTgt spid="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animBg="1"/>
      <p:bldP spid="259" grpId="0" animBg="1"/>
      <p:bldP spid="260" grpId="0"/>
      <p:bldP spid="261" grpId="0"/>
      <p:bldP spid="263" grpId="0"/>
      <p:bldP spid="264" grpId="0"/>
      <p:bldP spid="265" grpId="0"/>
      <p:bldP spid="266" grpId="0"/>
      <p:bldP spid="278" grpId="0"/>
      <p:bldP spid="279" grpId="0"/>
      <p:bldP spid="280" grpId="0"/>
      <p:bldP spid="281" grpId="0"/>
      <p:bldP spid="294" grpId="0"/>
      <p:bldP spid="295" grpId="0"/>
      <p:bldP spid="296" grpId="0"/>
      <p:bldP spid="440" grpId="0"/>
      <p:bldP spid="446" grpId="0"/>
      <p:bldP spid="4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855658" y="418868"/>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Reno vs TCP Tahoe</a:t>
            </a:r>
            <a:endParaRPr lang="en-US" sz="3300" dirty="0">
              <a:latin typeface="Avenir Book" panose="020B0503020203020204" pitchFamily="34" charset="-78"/>
              <a:cs typeface="Avenir Book" panose="020B0503020203020204" pitchFamily="34" charset="-78"/>
            </a:endParaRPr>
          </a:p>
        </p:txBody>
      </p:sp>
      <p:pic>
        <p:nvPicPr>
          <p:cNvPr id="3074" name="Picture 2" descr="File:CongWin in TCP Tahoe e Ren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819" y="1448493"/>
            <a:ext cx="7620000" cy="3105150"/>
          </a:xfrm>
          <a:prstGeom prst="rect">
            <a:avLst/>
          </a:prstGeom>
          <a:noFill/>
          <a:extLst>
            <a:ext uri="{909E8E84-426E-40DD-AFC4-6F175D3DCCD1}">
              <a14:hiddenFill xmlns:a14="http://schemas.microsoft.com/office/drawing/2010/main">
                <a:solidFill>
                  <a:srgbClr val="FFFFFF"/>
                </a:solidFill>
              </a14:hiddenFill>
            </a:ext>
          </a:extLst>
        </p:spPr>
      </p:pic>
      <p:sp>
        <p:nvSpPr>
          <p:cNvPr id="90" name="Rectangle 3">
            <a:extLst>
              <a:ext uri="{FF2B5EF4-FFF2-40B4-BE49-F238E27FC236}">
                <a16:creationId xmlns:a16="http://schemas.microsoft.com/office/drawing/2014/main" id="{883B8B7C-52E4-7C4B-8F8D-C53D3AF05B50}"/>
              </a:ext>
            </a:extLst>
          </p:cNvPr>
          <p:cNvSpPr txBox="1">
            <a:spLocks noChangeArrowheads="1"/>
          </p:cNvSpPr>
          <p:nvPr/>
        </p:nvSpPr>
        <p:spPr bwMode="auto">
          <a:xfrm>
            <a:off x="5070764" y="4611643"/>
            <a:ext cx="5012571"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000" dirty="0" err="1">
                <a:solidFill>
                  <a:prstClr val="black"/>
                </a:solidFill>
                <a:latin typeface="Avenir Book" panose="020B0503020203020204" pitchFamily="34" charset="-78"/>
                <a:ea typeface="Arial" panose="020B0604020202020204" pitchFamily="34" charset="0"/>
                <a:cs typeface="Avenir Book" panose="020B0503020203020204" pitchFamily="34" charset="-78"/>
              </a:rPr>
              <a:t>Src</a:t>
            </a:r>
            <a:r>
              <a:rPr lang="en-US" altLang="en-US" sz="1000" dirty="0">
                <a:solidFill>
                  <a:prstClr val="black"/>
                </a:solidFill>
                <a:latin typeface="Avenir Book" panose="020B0503020203020204" pitchFamily="34" charset="-78"/>
                <a:ea typeface="Arial" panose="020B0604020202020204" pitchFamily="34" charset="0"/>
                <a:cs typeface="Avenir Book" panose="020B0503020203020204" pitchFamily="34" charset="-78"/>
              </a:rPr>
              <a:t>: https://commons.wikimedia.org/wiki/File:CongWin_in_TCP_Tahoe_e_Reno.png</a:t>
            </a:r>
            <a:endParaRPr lang="en-US" altLang="en-US" sz="1000" dirty="0">
              <a:solidFill>
                <a:prstClr val="black"/>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4130362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0D61-3A60-B237-65E4-C546E69DD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D48A3-3A1C-AA68-7A7F-D2D76B943F4C}"/>
              </a:ext>
            </a:extLst>
          </p:cNvPr>
          <p:cNvSpPr>
            <a:spLocks noGrp="1"/>
          </p:cNvSpPr>
          <p:nvPr>
            <p:ph type="title"/>
          </p:nvPr>
        </p:nvSpPr>
        <p:spPr>
          <a:xfrm>
            <a:off x="1855658" y="418868"/>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Reno vs TCP Tahoe</a:t>
            </a:r>
            <a:endParaRPr lang="en-US" sz="3300" dirty="0">
              <a:latin typeface="Avenir Book" panose="020B0503020203020204" pitchFamily="34" charset="-78"/>
              <a:cs typeface="Avenir Book" panose="020B0503020203020204" pitchFamily="34" charset="-78"/>
            </a:endParaRPr>
          </a:p>
        </p:txBody>
      </p:sp>
      <p:sp>
        <p:nvSpPr>
          <p:cNvPr id="90" name="Rectangle 3">
            <a:extLst>
              <a:ext uri="{FF2B5EF4-FFF2-40B4-BE49-F238E27FC236}">
                <a16:creationId xmlns:a16="http://schemas.microsoft.com/office/drawing/2014/main" id="{288ADB08-340B-4146-58D5-ADA02DB2308B}"/>
              </a:ext>
            </a:extLst>
          </p:cNvPr>
          <p:cNvSpPr txBox="1">
            <a:spLocks noChangeArrowheads="1"/>
          </p:cNvSpPr>
          <p:nvPr/>
        </p:nvSpPr>
        <p:spPr bwMode="auto">
          <a:xfrm>
            <a:off x="7320906" y="4934373"/>
            <a:ext cx="5012571"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000" dirty="0" err="1">
                <a:solidFill>
                  <a:prstClr val="black"/>
                </a:solidFill>
                <a:latin typeface="Avenir Book" panose="020B0503020203020204" pitchFamily="34" charset="-78"/>
                <a:ea typeface="Arial" panose="020B0604020202020204" pitchFamily="34" charset="0"/>
                <a:cs typeface="Avenir Book" panose="020B0503020203020204" pitchFamily="34" charset="-78"/>
              </a:rPr>
              <a:t>Src</a:t>
            </a:r>
            <a:r>
              <a:rPr lang="en-US" altLang="en-US" sz="1000" dirty="0">
                <a:solidFill>
                  <a:prstClr val="black"/>
                </a:solidFill>
                <a:latin typeface="Avenir Book" panose="020B0503020203020204" pitchFamily="34" charset="-78"/>
                <a:ea typeface="Arial" panose="020B0604020202020204" pitchFamily="34" charset="0"/>
                <a:cs typeface="Avenir Book" panose="020B0503020203020204" pitchFamily="34" charset="-78"/>
              </a:rPr>
              <a:t>: https://www.sfu.ca/~ljilja/papers/WM-195.PacketControl_edited.pdf</a:t>
            </a:r>
            <a:endParaRPr lang="en-US" altLang="en-US" sz="1000" dirty="0">
              <a:solidFill>
                <a:prstClr val="black"/>
              </a:solidFill>
              <a:latin typeface="Avenir Book" panose="020B0503020203020204" pitchFamily="34" charset="-78"/>
              <a:cs typeface="Avenir Book" panose="020B0503020203020204" pitchFamily="34" charset="-78"/>
            </a:endParaRPr>
          </a:p>
        </p:txBody>
      </p:sp>
      <p:pic>
        <p:nvPicPr>
          <p:cNvPr id="4" name="Picture 3">
            <a:extLst>
              <a:ext uri="{FF2B5EF4-FFF2-40B4-BE49-F238E27FC236}">
                <a16:creationId xmlns:a16="http://schemas.microsoft.com/office/drawing/2014/main" id="{D3DFBA33-F393-4EE9-CF46-21F66CAAF2CC}"/>
              </a:ext>
            </a:extLst>
          </p:cNvPr>
          <p:cNvPicPr>
            <a:picLocks noChangeAspect="1"/>
          </p:cNvPicPr>
          <p:nvPr/>
        </p:nvPicPr>
        <p:blipFill>
          <a:blip r:embed="rId3"/>
          <a:srcRect l="25956" t="25770" r="21030" b="19931"/>
          <a:stretch>
            <a:fillRect/>
          </a:stretch>
        </p:blipFill>
        <p:spPr>
          <a:xfrm>
            <a:off x="2232212" y="1187786"/>
            <a:ext cx="6463554" cy="3585882"/>
          </a:xfrm>
          <a:prstGeom prst="rect">
            <a:avLst/>
          </a:prstGeom>
        </p:spPr>
      </p:pic>
    </p:spTree>
    <p:extLst>
      <p:ext uri="{BB962C8B-B14F-4D97-AF65-F5344CB8AC3E}">
        <p14:creationId xmlns:p14="http://schemas.microsoft.com/office/powerpoint/2010/main" val="1478467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846095" y="26859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Reno: TCP Tahoe + Fast recovery </a:t>
            </a:r>
            <a:endParaRPr lang="en-US" sz="3300" dirty="0">
              <a:latin typeface="Avenir Book" panose="020B0503020203020204" pitchFamily="34" charset="-78"/>
              <a:cs typeface="Avenir Book" panose="020B0503020203020204" pitchFamily="34" charset="-78"/>
            </a:endParaRPr>
          </a:p>
        </p:txBody>
      </p:sp>
      <p:grpSp>
        <p:nvGrpSpPr>
          <p:cNvPr id="120" name="Group 240">
            <a:extLst>
              <a:ext uri="{FF2B5EF4-FFF2-40B4-BE49-F238E27FC236}">
                <a16:creationId xmlns:a16="http://schemas.microsoft.com/office/drawing/2014/main" id="{B8318BC0-AA34-2B4C-984C-EDCF98015A80}"/>
              </a:ext>
            </a:extLst>
          </p:cNvPr>
          <p:cNvGrpSpPr>
            <a:grpSpLocks/>
          </p:cNvGrpSpPr>
          <p:nvPr/>
        </p:nvGrpSpPr>
        <p:grpSpPr bwMode="auto">
          <a:xfrm>
            <a:off x="5010813" y="2359971"/>
            <a:ext cx="1632347" cy="695326"/>
            <a:chOff x="2154" y="1727"/>
            <a:chExt cx="1371" cy="584"/>
          </a:xfrm>
        </p:grpSpPr>
        <p:grpSp>
          <p:nvGrpSpPr>
            <p:cNvPr id="121" name="Group 171">
              <a:extLst>
                <a:ext uri="{FF2B5EF4-FFF2-40B4-BE49-F238E27FC236}">
                  <a16:creationId xmlns:a16="http://schemas.microsoft.com/office/drawing/2014/main" id="{D4CA30E0-0C2B-AE49-9354-140DEA72FEEE}"/>
                </a:ext>
              </a:extLst>
            </p:cNvPr>
            <p:cNvGrpSpPr>
              <a:grpSpLocks/>
            </p:cNvGrpSpPr>
            <p:nvPr/>
          </p:nvGrpSpPr>
          <p:grpSpPr bwMode="auto">
            <a:xfrm>
              <a:off x="2154" y="1727"/>
              <a:ext cx="1371" cy="584"/>
              <a:chOff x="2154" y="1727"/>
              <a:chExt cx="1371" cy="584"/>
            </a:xfrm>
          </p:grpSpPr>
          <p:sp>
            <p:nvSpPr>
              <p:cNvPr id="123" name="Text Box 172">
                <a:extLst>
                  <a:ext uri="{FF2B5EF4-FFF2-40B4-BE49-F238E27FC236}">
                    <a16:creationId xmlns:a16="http://schemas.microsoft.com/office/drawing/2014/main" id="{FF8E7E11-C655-8C41-BFE2-A6DA1E48685D}"/>
                  </a:ext>
                </a:extLst>
              </p:cNvPr>
              <p:cNvSpPr txBox="1">
                <a:spLocks noChangeArrowheads="1"/>
              </p:cNvSpPr>
              <p:nvPr/>
            </p:nvSpPr>
            <p:spPr bwMode="auto">
              <a:xfrm>
                <a:off x="2640" y="1727"/>
                <a:ext cx="49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timeout</a:t>
                </a:r>
              </a:p>
            </p:txBody>
          </p:sp>
          <p:sp>
            <p:nvSpPr>
              <p:cNvPr id="124" name="Text Box 173">
                <a:extLst>
                  <a:ext uri="{FF2B5EF4-FFF2-40B4-BE49-F238E27FC236}">
                    <a16:creationId xmlns:a16="http://schemas.microsoft.com/office/drawing/2014/main" id="{781154BA-9409-094D-BBC4-EE21CE699661}"/>
                  </a:ext>
                </a:extLst>
              </p:cNvPr>
              <p:cNvSpPr txBox="1">
                <a:spLocks noChangeArrowheads="1"/>
              </p:cNvSpPr>
              <p:nvPr/>
            </p:nvSpPr>
            <p:spPr bwMode="auto">
              <a:xfrm>
                <a:off x="2154" y="1838"/>
                <a:ext cx="1371" cy="4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ssthresh = cwnd/2</a:t>
                </a:r>
              </a:p>
              <a:p>
                <a:pPr algn="ct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cwnd = 1 MSS</a:t>
                </a:r>
              </a:p>
              <a:p>
                <a:pPr algn="ct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dupACKcount = 0</a:t>
                </a:r>
              </a:p>
              <a:p>
                <a:pPr algn="ctr" defTabSz="685800" fontAlgn="base">
                  <a:lnSpc>
                    <a:spcPct val="85000"/>
                  </a:lnSpc>
                  <a:spcBef>
                    <a:spcPct val="0"/>
                  </a:spcBef>
                  <a:spcAft>
                    <a:spcPct val="0"/>
                  </a:spcAft>
                  <a:defRPr/>
                </a:pPr>
                <a:r>
                  <a:rPr lang="en-US" sz="900" i="1" kern="0">
                    <a:solidFill>
                      <a:srgbClr val="000099"/>
                    </a:solidFill>
                    <a:latin typeface="Avenir Book" panose="020B0503020203020204" pitchFamily="34" charset="-78"/>
                    <a:cs typeface="Avenir Book" panose="020B0503020203020204" pitchFamily="34" charset="-78"/>
                  </a:rPr>
                  <a:t>retransmit missing segment</a:t>
                </a:r>
                <a:r>
                  <a:rPr lang="en-US" sz="900" kern="0">
                    <a:solidFill>
                      <a:srgbClr val="000000"/>
                    </a:solidFill>
                    <a:latin typeface="Avenir Book" panose="020B0503020203020204" pitchFamily="34" charset="-78"/>
                    <a:cs typeface="Avenir Book" panose="020B0503020203020204" pitchFamily="34" charset="-78"/>
                  </a:rPr>
                  <a:t> </a:t>
                </a:r>
              </a:p>
            </p:txBody>
          </p:sp>
          <p:sp>
            <p:nvSpPr>
              <p:cNvPr id="125" name="Line 174">
                <a:extLst>
                  <a:ext uri="{FF2B5EF4-FFF2-40B4-BE49-F238E27FC236}">
                    <a16:creationId xmlns:a16="http://schemas.microsoft.com/office/drawing/2014/main" id="{23E8607A-0151-5141-A774-0AAB4333ECA7}"/>
                  </a:ext>
                </a:extLst>
              </p:cNvPr>
              <p:cNvSpPr>
                <a:spLocks noChangeShapeType="1"/>
              </p:cNvSpPr>
              <p:nvPr/>
            </p:nvSpPr>
            <p:spPr bwMode="auto">
              <a:xfrm>
                <a:off x="2491" y="1857"/>
                <a:ext cx="6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2" name="Line 175">
              <a:extLst>
                <a:ext uri="{FF2B5EF4-FFF2-40B4-BE49-F238E27FC236}">
                  <a16:creationId xmlns:a16="http://schemas.microsoft.com/office/drawing/2014/main" id="{480EB5CD-B8F2-AD46-B2D4-50FE6302F915}"/>
                </a:ext>
              </a:extLst>
            </p:cNvPr>
            <p:cNvSpPr>
              <a:spLocks noChangeShapeType="1"/>
            </p:cNvSpPr>
            <p:nvPr/>
          </p:nvSpPr>
          <p:spPr bwMode="auto">
            <a:xfrm flipH="1">
              <a:off x="2168" y="1734"/>
              <a:ext cx="1344"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26" name="Group 239">
            <a:extLst>
              <a:ext uri="{FF2B5EF4-FFF2-40B4-BE49-F238E27FC236}">
                <a16:creationId xmlns:a16="http://schemas.microsoft.com/office/drawing/2014/main" id="{BEAEB11D-18E7-8047-A552-B728B0628FCC}"/>
              </a:ext>
            </a:extLst>
          </p:cNvPr>
          <p:cNvGrpSpPr>
            <a:grpSpLocks/>
          </p:cNvGrpSpPr>
          <p:nvPr/>
        </p:nvGrpSpPr>
        <p:grpSpPr bwMode="auto">
          <a:xfrm>
            <a:off x="5050104" y="1971826"/>
            <a:ext cx="1600200" cy="372666"/>
            <a:chOff x="2187" y="1401"/>
            <a:chExt cx="1344" cy="313"/>
          </a:xfrm>
        </p:grpSpPr>
        <p:sp>
          <p:nvSpPr>
            <p:cNvPr id="127" name="Line 176">
              <a:extLst>
                <a:ext uri="{FF2B5EF4-FFF2-40B4-BE49-F238E27FC236}">
                  <a16:creationId xmlns:a16="http://schemas.microsoft.com/office/drawing/2014/main" id="{D84A4978-7B73-A04D-B0FB-C9ECAA3BFBCF}"/>
                </a:ext>
              </a:extLst>
            </p:cNvPr>
            <p:cNvSpPr>
              <a:spLocks noChangeShapeType="1"/>
            </p:cNvSpPr>
            <p:nvPr/>
          </p:nvSpPr>
          <p:spPr bwMode="auto">
            <a:xfrm flipH="1">
              <a:off x="2187" y="1673"/>
              <a:ext cx="1344" cy="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8" name="Text Box 181">
              <a:extLst>
                <a:ext uri="{FF2B5EF4-FFF2-40B4-BE49-F238E27FC236}">
                  <a16:creationId xmlns:a16="http://schemas.microsoft.com/office/drawing/2014/main" id="{67AF987A-C53D-534B-8C98-26557C3B4EEF}"/>
                </a:ext>
              </a:extLst>
            </p:cNvPr>
            <p:cNvSpPr txBox="1">
              <a:spLocks noChangeArrowheads="1"/>
            </p:cNvSpPr>
            <p:nvPr/>
          </p:nvSpPr>
          <p:spPr bwMode="auto">
            <a:xfrm>
              <a:off x="2724" y="1543"/>
              <a:ext cx="204" cy="1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L</a:t>
              </a:r>
            </a:p>
          </p:txBody>
        </p:sp>
        <p:sp>
          <p:nvSpPr>
            <p:cNvPr id="129" name="Line 182">
              <a:extLst>
                <a:ext uri="{FF2B5EF4-FFF2-40B4-BE49-F238E27FC236}">
                  <a16:creationId xmlns:a16="http://schemas.microsoft.com/office/drawing/2014/main" id="{0957FCBB-06D0-8E4D-B983-2F2597BDE03A}"/>
                </a:ext>
              </a:extLst>
            </p:cNvPr>
            <p:cNvSpPr>
              <a:spLocks noChangeShapeType="1"/>
            </p:cNvSpPr>
            <p:nvPr/>
          </p:nvSpPr>
          <p:spPr bwMode="auto">
            <a:xfrm>
              <a:off x="2572" y="15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30" name="Group 183">
              <a:extLst>
                <a:ext uri="{FF2B5EF4-FFF2-40B4-BE49-F238E27FC236}">
                  <a16:creationId xmlns:a16="http://schemas.microsoft.com/office/drawing/2014/main" id="{2A6AF175-C9C0-F044-9ECF-011972294E6E}"/>
                </a:ext>
              </a:extLst>
            </p:cNvPr>
            <p:cNvGrpSpPr>
              <a:grpSpLocks/>
            </p:cNvGrpSpPr>
            <p:nvPr/>
          </p:nvGrpSpPr>
          <p:grpSpPr bwMode="auto">
            <a:xfrm>
              <a:off x="2412" y="1401"/>
              <a:ext cx="855" cy="194"/>
              <a:chOff x="2384" y="1424"/>
              <a:chExt cx="855" cy="194"/>
            </a:xfrm>
          </p:grpSpPr>
          <p:sp>
            <p:nvSpPr>
              <p:cNvPr id="131" name="Text Box 184">
                <a:extLst>
                  <a:ext uri="{FF2B5EF4-FFF2-40B4-BE49-F238E27FC236}">
                    <a16:creationId xmlns:a16="http://schemas.microsoft.com/office/drawing/2014/main" id="{69E43EDF-5B05-364C-B439-379F8E8E5464}"/>
                  </a:ext>
                </a:extLst>
              </p:cNvPr>
              <p:cNvSpPr txBox="1">
                <a:spLocks noChangeArrowheads="1"/>
              </p:cNvSpPr>
              <p:nvPr/>
            </p:nvSpPr>
            <p:spPr bwMode="auto">
              <a:xfrm>
                <a:off x="2384" y="1424"/>
                <a:ext cx="8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&gt; </a:t>
                </a:r>
                <a:r>
                  <a:rPr lang="en-US" sz="900" kern="0" dirty="0" err="1">
                    <a:solidFill>
                      <a:srgbClr val="000000"/>
                    </a:solidFill>
                    <a:latin typeface="Avenir Book" panose="020B0503020203020204" pitchFamily="34" charset="-78"/>
                    <a:cs typeface="Avenir Book" panose="020B0503020203020204" pitchFamily="34" charset="-78"/>
                  </a:rPr>
                  <a:t>ssthresh</a:t>
                </a:r>
                <a:endParaRPr lang="en-US" sz="900" kern="0" dirty="0">
                  <a:solidFill>
                    <a:srgbClr val="000000"/>
                  </a:solidFill>
                  <a:latin typeface="Avenir Book" panose="020B0503020203020204" pitchFamily="34" charset="-78"/>
                  <a:cs typeface="Avenir Book" panose="020B0503020203020204" pitchFamily="34" charset="-78"/>
                </a:endParaRPr>
              </a:p>
            </p:txBody>
          </p:sp>
          <p:sp>
            <p:nvSpPr>
              <p:cNvPr id="132" name="Line 185">
                <a:extLst>
                  <a:ext uri="{FF2B5EF4-FFF2-40B4-BE49-F238E27FC236}">
                    <a16:creationId xmlns:a16="http://schemas.microsoft.com/office/drawing/2014/main" id="{A2D5E496-DCFA-5A4E-A6E2-D2DB456893C6}"/>
                  </a:ext>
                </a:extLst>
              </p:cNvPr>
              <p:cNvSpPr>
                <a:spLocks noChangeShapeType="1"/>
              </p:cNvSpPr>
              <p:nvPr/>
            </p:nvSpPr>
            <p:spPr bwMode="auto">
              <a:xfrm>
                <a:off x="2724" y="1557"/>
                <a:ext cx="4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133" name="Group 242">
            <a:extLst>
              <a:ext uri="{FF2B5EF4-FFF2-40B4-BE49-F238E27FC236}">
                <a16:creationId xmlns:a16="http://schemas.microsoft.com/office/drawing/2014/main" id="{47D1413D-A42B-8C4D-87CC-5C4E42849EFF}"/>
              </a:ext>
            </a:extLst>
          </p:cNvPr>
          <p:cNvGrpSpPr>
            <a:grpSpLocks/>
          </p:cNvGrpSpPr>
          <p:nvPr/>
        </p:nvGrpSpPr>
        <p:grpSpPr bwMode="auto">
          <a:xfrm>
            <a:off x="6456230" y="1206257"/>
            <a:ext cx="2311002" cy="1818084"/>
            <a:chOff x="3368" y="786"/>
            <a:chExt cx="1941" cy="1527"/>
          </a:xfrm>
        </p:grpSpPr>
        <p:grpSp>
          <p:nvGrpSpPr>
            <p:cNvPr id="134" name="Group 164">
              <a:extLst>
                <a:ext uri="{FF2B5EF4-FFF2-40B4-BE49-F238E27FC236}">
                  <a16:creationId xmlns:a16="http://schemas.microsoft.com/office/drawing/2014/main" id="{13A111CF-BAAF-8E4B-AD25-85FAC5339083}"/>
                </a:ext>
              </a:extLst>
            </p:cNvPr>
            <p:cNvGrpSpPr>
              <a:grpSpLocks/>
            </p:cNvGrpSpPr>
            <p:nvPr/>
          </p:nvGrpSpPr>
          <p:grpSpPr bwMode="auto">
            <a:xfrm>
              <a:off x="3560" y="1330"/>
              <a:ext cx="906" cy="771"/>
              <a:chOff x="2251" y="2021"/>
              <a:chExt cx="906" cy="771"/>
            </a:xfrm>
          </p:grpSpPr>
          <p:sp>
            <p:nvSpPr>
              <p:cNvPr id="146" name="Oval 165">
                <a:extLst>
                  <a:ext uri="{FF2B5EF4-FFF2-40B4-BE49-F238E27FC236}">
                    <a16:creationId xmlns:a16="http://schemas.microsoft.com/office/drawing/2014/main" id="{7F0D89BB-B178-8C49-9E72-934506A1B7F6}"/>
                  </a:ext>
                </a:extLst>
              </p:cNvPr>
              <p:cNvSpPr>
                <a:spLocks noChangeArrowheads="1"/>
              </p:cNvSpPr>
              <p:nvPr/>
            </p:nvSpPr>
            <p:spPr bwMode="auto">
              <a:xfrm>
                <a:off x="2293" y="2021"/>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7" name="Text Box 166">
                <a:extLst>
                  <a:ext uri="{FF2B5EF4-FFF2-40B4-BE49-F238E27FC236}">
                    <a16:creationId xmlns:a16="http://schemas.microsoft.com/office/drawing/2014/main" id="{F3628968-0539-164C-B861-FF5A02A982C1}"/>
                  </a:ext>
                </a:extLst>
              </p:cNvPr>
              <p:cNvSpPr txBox="1">
                <a:spLocks noChangeArrowheads="1"/>
              </p:cNvSpPr>
              <p:nvPr/>
            </p:nvSpPr>
            <p:spPr bwMode="auto">
              <a:xfrm>
                <a:off x="2251" y="2191"/>
                <a:ext cx="906" cy="6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Congestion</a:t>
                </a:r>
              </a:p>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avoidance </a:t>
                </a:r>
              </a:p>
              <a:p>
                <a:pPr algn="ctr" defTabSz="685800" fontAlgn="base">
                  <a:spcBef>
                    <a:spcPct val="0"/>
                  </a:spcBef>
                  <a:spcAft>
                    <a:spcPct val="0"/>
                  </a:spcAft>
                  <a:defRPr/>
                </a:pPr>
                <a:endParaRPr lang="en-US" sz="1350" kern="0" dirty="0">
                  <a:solidFill>
                    <a:srgbClr val="000000"/>
                  </a:solidFill>
                  <a:latin typeface="Avenir Book" panose="020B0503020203020204" pitchFamily="34" charset="-78"/>
                  <a:cs typeface="Avenir Book" panose="020B0503020203020204" pitchFamily="34" charset="-78"/>
                </a:endParaRPr>
              </a:p>
            </p:txBody>
          </p:sp>
        </p:grpSp>
        <p:grpSp>
          <p:nvGrpSpPr>
            <p:cNvPr id="135" name="Group 190">
              <a:extLst>
                <a:ext uri="{FF2B5EF4-FFF2-40B4-BE49-F238E27FC236}">
                  <a16:creationId xmlns:a16="http://schemas.microsoft.com/office/drawing/2014/main" id="{412FAE5F-D426-1A41-B7BF-9EE3E24BCCB0}"/>
                </a:ext>
              </a:extLst>
            </p:cNvPr>
            <p:cNvGrpSpPr>
              <a:grpSpLocks/>
            </p:cNvGrpSpPr>
            <p:nvPr/>
          </p:nvGrpSpPr>
          <p:grpSpPr bwMode="auto">
            <a:xfrm>
              <a:off x="3368" y="786"/>
              <a:ext cx="1713" cy="618"/>
              <a:chOff x="3391" y="904"/>
              <a:chExt cx="1713" cy="618"/>
            </a:xfrm>
          </p:grpSpPr>
          <p:sp>
            <p:nvSpPr>
              <p:cNvPr id="142" name="Text Box 191">
                <a:extLst>
                  <a:ext uri="{FF2B5EF4-FFF2-40B4-BE49-F238E27FC236}">
                    <a16:creationId xmlns:a16="http://schemas.microsoft.com/office/drawing/2014/main" id="{44318C88-BEF5-7146-AE72-3458C7D49FA3}"/>
                  </a:ext>
                </a:extLst>
              </p:cNvPr>
              <p:cNvSpPr txBox="1">
                <a:spLocks noChangeArrowheads="1"/>
              </p:cNvSpPr>
              <p:nvPr/>
            </p:nvSpPr>
            <p:spPr bwMode="auto">
              <a:xfrm>
                <a:off x="3391" y="1037"/>
                <a:ext cx="1713" cy="4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MSS </a:t>
                </a:r>
                <a:r>
                  <a:rPr lang="en-US" sz="900" kern="0" dirty="0">
                    <a:solidFill>
                      <a:srgbClr val="000000"/>
                    </a:solidFill>
                    <a:latin typeface="Avenir Book" panose="020B0503020203020204" pitchFamily="34" charset="-78"/>
                    <a:cs typeface="Avenir Book" panose="020B0503020203020204" pitchFamily="34" charset="-78"/>
                    <a:sym typeface="Symbol" panose="05050102010706020507" pitchFamily="18" charset="2"/>
                  </a:rPr>
                  <a:t></a:t>
                </a:r>
                <a:r>
                  <a:rPr lang="en-US" sz="900" kern="0" dirty="0">
                    <a:solidFill>
                      <a:srgbClr val="000000"/>
                    </a:solidFill>
                    <a:latin typeface="Avenir Book" panose="020B0503020203020204" pitchFamily="34" charset="-78"/>
                    <a:cs typeface="Avenir Book" panose="020B0503020203020204" pitchFamily="34" charset="-78"/>
                  </a:rPr>
                  <a:t> (MSS/</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a:t>
                </a:r>
              </a:p>
              <a:p>
                <a:pPr algn="ct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0</a:t>
                </a:r>
              </a:p>
              <a:p>
                <a:pPr algn="ctr" defTabSz="685800" fontAlgn="base">
                  <a:lnSpc>
                    <a:spcPct val="9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transmit new segment(s), as allowed</a:t>
                </a:r>
              </a:p>
              <a:p>
                <a:pPr algn="ctr" defTabSz="685800" fontAlgn="base">
                  <a:lnSpc>
                    <a:spcPct val="80000"/>
                  </a:lnSpc>
                  <a:spcBef>
                    <a:spcPct val="0"/>
                  </a:spcBef>
                  <a:spcAft>
                    <a:spcPct val="0"/>
                  </a:spcAft>
                  <a:defRPr/>
                </a:pPr>
                <a:endParaRPr lang="en-US" sz="900" i="1" kern="0" dirty="0">
                  <a:solidFill>
                    <a:srgbClr val="000000"/>
                  </a:solidFill>
                  <a:latin typeface="Avenir Book" panose="020B0503020203020204" pitchFamily="34" charset="-78"/>
                  <a:cs typeface="Avenir Book" panose="020B0503020203020204" pitchFamily="34" charset="-78"/>
                </a:endParaRPr>
              </a:p>
            </p:txBody>
          </p:sp>
          <p:sp>
            <p:nvSpPr>
              <p:cNvPr id="143" name="Line 192">
                <a:extLst>
                  <a:ext uri="{FF2B5EF4-FFF2-40B4-BE49-F238E27FC236}">
                    <a16:creationId xmlns:a16="http://schemas.microsoft.com/office/drawing/2014/main" id="{EC5DE775-BD59-2247-B940-402844468A0E}"/>
                  </a:ext>
                </a:extLst>
              </p:cNvPr>
              <p:cNvSpPr>
                <a:spLocks noChangeShapeType="1"/>
              </p:cNvSpPr>
              <p:nvPr/>
            </p:nvSpPr>
            <p:spPr bwMode="auto">
              <a:xfrm>
                <a:off x="3976" y="1054"/>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4" name="Text Box 193">
                <a:extLst>
                  <a:ext uri="{FF2B5EF4-FFF2-40B4-BE49-F238E27FC236}">
                    <a16:creationId xmlns:a16="http://schemas.microsoft.com/office/drawing/2014/main" id="{1953AC16-16E8-A640-AE22-73DEDE1D319F}"/>
                  </a:ext>
                </a:extLst>
              </p:cNvPr>
              <p:cNvSpPr txBox="1">
                <a:spLocks noChangeArrowheads="1"/>
              </p:cNvSpPr>
              <p:nvPr/>
            </p:nvSpPr>
            <p:spPr bwMode="auto">
              <a:xfrm>
                <a:off x="3974" y="915"/>
                <a:ext cx="5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a:solidFill>
                      <a:srgbClr val="000000"/>
                    </a:solidFill>
                    <a:latin typeface="Avenir Book" panose="020B0503020203020204" pitchFamily="34" charset="-78"/>
                    <a:cs typeface="Avenir Book" panose="020B0503020203020204" pitchFamily="34" charset="-78"/>
                  </a:rPr>
                  <a:t>new ACK</a:t>
                </a:r>
              </a:p>
            </p:txBody>
          </p:sp>
          <p:sp>
            <p:nvSpPr>
              <p:cNvPr id="145" name="Text Box 194">
                <a:extLst>
                  <a:ext uri="{FF2B5EF4-FFF2-40B4-BE49-F238E27FC236}">
                    <a16:creationId xmlns:a16="http://schemas.microsoft.com/office/drawing/2014/main" id="{6D1C4C5E-4778-AF4F-812A-CF7A44F21F90}"/>
                  </a:ext>
                </a:extLst>
              </p:cNvPr>
              <p:cNvSpPr txBox="1">
                <a:spLocks noChangeArrowheads="1"/>
              </p:cNvSpPr>
              <p:nvPr/>
            </p:nvSpPr>
            <p:spPr bwMode="auto">
              <a:xfrm>
                <a:off x="4311" y="904"/>
                <a:ext cx="18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a:t>
                </a:r>
              </a:p>
            </p:txBody>
          </p:sp>
        </p:grpSp>
        <p:sp>
          <p:nvSpPr>
            <p:cNvPr id="136" name="Freeform 195">
              <a:extLst>
                <a:ext uri="{FF2B5EF4-FFF2-40B4-BE49-F238E27FC236}">
                  <a16:creationId xmlns:a16="http://schemas.microsoft.com/office/drawing/2014/main" id="{4555525A-5282-E944-A402-41F5363AC763}"/>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37" name="Group 196">
              <a:extLst>
                <a:ext uri="{FF2B5EF4-FFF2-40B4-BE49-F238E27FC236}">
                  <a16:creationId xmlns:a16="http://schemas.microsoft.com/office/drawing/2014/main" id="{9CDBEBEA-0E7D-9247-8F24-8B50DDA32181}"/>
                </a:ext>
              </a:extLst>
            </p:cNvPr>
            <p:cNvGrpSpPr>
              <a:grpSpLocks/>
            </p:cNvGrpSpPr>
            <p:nvPr/>
          </p:nvGrpSpPr>
          <p:grpSpPr bwMode="auto">
            <a:xfrm>
              <a:off x="4412" y="1909"/>
              <a:ext cx="897" cy="404"/>
              <a:chOff x="4177" y="2922"/>
              <a:chExt cx="897" cy="404"/>
            </a:xfrm>
          </p:grpSpPr>
          <p:sp>
            <p:nvSpPr>
              <p:cNvPr id="139" name="Text Box 197">
                <a:extLst>
                  <a:ext uri="{FF2B5EF4-FFF2-40B4-BE49-F238E27FC236}">
                    <a16:creationId xmlns:a16="http://schemas.microsoft.com/office/drawing/2014/main" id="{F06A41AE-1F53-A747-A3E3-199BBEDFE503}"/>
                  </a:ext>
                </a:extLst>
              </p:cNvPr>
              <p:cNvSpPr txBox="1">
                <a:spLocks noChangeArrowheads="1"/>
              </p:cNvSpPr>
              <p:nvPr/>
            </p:nvSpPr>
            <p:spPr bwMode="auto">
              <a:xfrm>
                <a:off x="4177" y="3062"/>
                <a:ext cx="897" cy="2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dupACKcount++</a:t>
                </a:r>
              </a:p>
              <a:p>
                <a:pPr algn="ctr" defTabSz="685800" fontAlgn="base">
                  <a:lnSpc>
                    <a:spcPct val="80000"/>
                  </a:lnSpc>
                  <a:spcBef>
                    <a:spcPct val="0"/>
                  </a:spcBef>
                  <a:spcAft>
                    <a:spcPct val="0"/>
                  </a:spcAft>
                  <a:defRPr/>
                </a:pPr>
                <a:endParaRPr lang="en-US" sz="900" kern="0">
                  <a:solidFill>
                    <a:srgbClr val="000000"/>
                  </a:solidFill>
                  <a:latin typeface="Avenir Book" panose="020B0503020203020204" pitchFamily="34" charset="-78"/>
                  <a:cs typeface="Avenir Book" panose="020B0503020203020204" pitchFamily="34" charset="-78"/>
                </a:endParaRPr>
              </a:p>
            </p:txBody>
          </p:sp>
          <p:sp>
            <p:nvSpPr>
              <p:cNvPr id="140" name="Line 198">
                <a:extLst>
                  <a:ext uri="{FF2B5EF4-FFF2-40B4-BE49-F238E27FC236}">
                    <a16:creationId xmlns:a16="http://schemas.microsoft.com/office/drawing/2014/main" id="{115AC45A-332B-D742-9EEC-EB81F6D52D7E}"/>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1" name="Text Box 199">
                <a:extLst>
                  <a:ext uri="{FF2B5EF4-FFF2-40B4-BE49-F238E27FC236}">
                    <a16:creationId xmlns:a16="http://schemas.microsoft.com/office/drawing/2014/main" id="{6DB70069-D3EA-8747-8535-1CB6F40D1A8C}"/>
                  </a:ext>
                </a:extLst>
              </p:cNvPr>
              <p:cNvSpPr txBox="1">
                <a:spLocks noChangeArrowheads="1"/>
              </p:cNvSpPr>
              <p:nvPr/>
            </p:nvSpPr>
            <p:spPr bwMode="auto">
              <a:xfrm>
                <a:off x="4295" y="2922"/>
                <a:ext cx="77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duplicate ACK</a:t>
                </a:r>
              </a:p>
            </p:txBody>
          </p:sp>
        </p:grpSp>
        <p:sp>
          <p:nvSpPr>
            <p:cNvPr id="138" name="Freeform 200">
              <a:extLst>
                <a:ext uri="{FF2B5EF4-FFF2-40B4-BE49-F238E27FC236}">
                  <a16:creationId xmlns:a16="http://schemas.microsoft.com/office/drawing/2014/main" id="{0667830A-5A65-8243-809F-9599C40170E1}"/>
                </a:ext>
              </a:extLst>
            </p:cNvPr>
            <p:cNvSpPr>
              <a:spLocks/>
            </p:cNvSpPr>
            <p:nvPr/>
          </p:nvSpPr>
          <p:spPr bwMode="auto">
            <a:xfrm rot="-7516021">
              <a:off x="4290" y="1673"/>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48" name="Group 245">
            <a:extLst>
              <a:ext uri="{FF2B5EF4-FFF2-40B4-BE49-F238E27FC236}">
                <a16:creationId xmlns:a16="http://schemas.microsoft.com/office/drawing/2014/main" id="{A4501140-CDDA-3942-AE4A-E53AAAF4E371}"/>
              </a:ext>
            </a:extLst>
          </p:cNvPr>
          <p:cNvGrpSpPr>
            <a:grpSpLocks/>
          </p:cNvGrpSpPr>
          <p:nvPr/>
        </p:nvGrpSpPr>
        <p:grpSpPr bwMode="auto">
          <a:xfrm>
            <a:off x="5468015" y="3794676"/>
            <a:ext cx="2821783" cy="1352551"/>
            <a:chOff x="2538" y="2960"/>
            <a:chExt cx="2370" cy="1136"/>
          </a:xfrm>
        </p:grpSpPr>
        <p:grpSp>
          <p:nvGrpSpPr>
            <p:cNvPr id="149" name="Group 167">
              <a:extLst>
                <a:ext uri="{FF2B5EF4-FFF2-40B4-BE49-F238E27FC236}">
                  <a16:creationId xmlns:a16="http://schemas.microsoft.com/office/drawing/2014/main" id="{46D8A9BF-D4B3-C644-AE85-4535FBE08039}"/>
                </a:ext>
              </a:extLst>
            </p:cNvPr>
            <p:cNvGrpSpPr>
              <a:grpSpLocks/>
            </p:cNvGrpSpPr>
            <p:nvPr/>
          </p:nvGrpSpPr>
          <p:grpSpPr bwMode="auto">
            <a:xfrm>
              <a:off x="2538" y="2960"/>
              <a:ext cx="800" cy="754"/>
              <a:chOff x="2454" y="3045"/>
              <a:chExt cx="800" cy="754"/>
            </a:xfrm>
          </p:grpSpPr>
          <p:sp>
            <p:nvSpPr>
              <p:cNvPr id="155" name="Oval 168">
                <a:extLst>
                  <a:ext uri="{FF2B5EF4-FFF2-40B4-BE49-F238E27FC236}">
                    <a16:creationId xmlns:a16="http://schemas.microsoft.com/office/drawing/2014/main" id="{273F9850-79CE-154A-9851-2B7886F3C1C7}"/>
                  </a:ext>
                </a:extLst>
              </p:cNvPr>
              <p:cNvSpPr>
                <a:spLocks noChangeArrowheads="1"/>
              </p:cNvSpPr>
              <p:nvPr/>
            </p:nvSpPr>
            <p:spPr bwMode="auto">
              <a:xfrm>
                <a:off x="2454" y="3045"/>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6" name="Text Box 169">
                <a:extLst>
                  <a:ext uri="{FF2B5EF4-FFF2-40B4-BE49-F238E27FC236}">
                    <a16:creationId xmlns:a16="http://schemas.microsoft.com/office/drawing/2014/main" id="{65FE5AF3-8597-FF4E-9C17-4817547D4F5B}"/>
                  </a:ext>
                </a:extLst>
              </p:cNvPr>
              <p:cNvSpPr txBox="1">
                <a:spLocks noChangeArrowheads="1"/>
              </p:cNvSpPr>
              <p:nvPr/>
            </p:nvSpPr>
            <p:spPr bwMode="auto">
              <a:xfrm>
                <a:off x="2784" y="3212"/>
                <a:ext cx="182"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 </a:t>
                </a:r>
              </a:p>
              <a:p>
                <a:pPr algn="ctr" defTabSz="685800" fontAlgn="base">
                  <a:spcBef>
                    <a:spcPct val="0"/>
                  </a:spcBef>
                  <a:spcAft>
                    <a:spcPct val="0"/>
                  </a:spcAft>
                  <a:defRPr/>
                </a:pPr>
                <a:endParaRPr lang="en-US" sz="900" kern="0">
                  <a:solidFill>
                    <a:srgbClr val="000000"/>
                  </a:solidFill>
                  <a:latin typeface="Avenir Book" panose="020B0503020203020204" pitchFamily="34" charset="-78"/>
                  <a:cs typeface="Avenir Book" panose="020B0503020203020204" pitchFamily="34" charset="-78"/>
                </a:endParaRPr>
              </a:p>
            </p:txBody>
          </p:sp>
          <p:sp>
            <p:nvSpPr>
              <p:cNvPr id="157" name="Text Box 170">
                <a:extLst>
                  <a:ext uri="{FF2B5EF4-FFF2-40B4-BE49-F238E27FC236}">
                    <a16:creationId xmlns:a16="http://schemas.microsoft.com/office/drawing/2014/main" id="{8568651A-5DCC-2242-83C4-76AC890933BB}"/>
                  </a:ext>
                </a:extLst>
              </p:cNvPr>
              <p:cNvSpPr txBox="1">
                <a:spLocks noChangeArrowheads="1"/>
              </p:cNvSpPr>
              <p:nvPr/>
            </p:nvSpPr>
            <p:spPr bwMode="auto">
              <a:xfrm>
                <a:off x="2480" y="3172"/>
                <a:ext cx="750" cy="6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Fast</a:t>
                </a:r>
              </a:p>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recovery </a:t>
                </a:r>
              </a:p>
              <a:p>
                <a:pPr algn="ctr" defTabSz="685800" fontAlgn="base">
                  <a:spcBef>
                    <a:spcPct val="0"/>
                  </a:spcBef>
                  <a:spcAft>
                    <a:spcPct val="0"/>
                  </a:spcAft>
                  <a:defRPr/>
                </a:pPr>
                <a:endParaRPr lang="en-US" sz="1350" kern="0" dirty="0">
                  <a:solidFill>
                    <a:srgbClr val="000000"/>
                  </a:solidFill>
                  <a:latin typeface="Avenir Book" panose="020B0503020203020204" pitchFamily="34" charset="-78"/>
                  <a:cs typeface="Avenir Book" panose="020B0503020203020204" pitchFamily="34" charset="-78"/>
                </a:endParaRPr>
              </a:p>
            </p:txBody>
          </p:sp>
        </p:grpSp>
        <p:sp>
          <p:nvSpPr>
            <p:cNvPr id="150" name="Freeform 220">
              <a:extLst>
                <a:ext uri="{FF2B5EF4-FFF2-40B4-BE49-F238E27FC236}">
                  <a16:creationId xmlns:a16="http://schemas.microsoft.com/office/drawing/2014/main" id="{F8DEF746-89F6-DD47-9435-3FA8C98BF657}"/>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51" name="Group 221">
              <a:extLst>
                <a:ext uri="{FF2B5EF4-FFF2-40B4-BE49-F238E27FC236}">
                  <a16:creationId xmlns:a16="http://schemas.microsoft.com/office/drawing/2014/main" id="{08A0BDC4-47ED-4A4B-B585-919226219BA9}"/>
                </a:ext>
              </a:extLst>
            </p:cNvPr>
            <p:cNvGrpSpPr>
              <a:grpSpLocks/>
            </p:cNvGrpSpPr>
            <p:nvPr/>
          </p:nvGrpSpPr>
          <p:grpSpPr bwMode="auto">
            <a:xfrm>
              <a:off x="3191" y="3592"/>
              <a:ext cx="1717" cy="504"/>
              <a:chOff x="3542" y="3496"/>
              <a:chExt cx="1717" cy="504"/>
            </a:xfrm>
          </p:grpSpPr>
          <p:sp>
            <p:nvSpPr>
              <p:cNvPr id="152" name="Text Box 222">
                <a:extLst>
                  <a:ext uri="{FF2B5EF4-FFF2-40B4-BE49-F238E27FC236}">
                    <a16:creationId xmlns:a16="http://schemas.microsoft.com/office/drawing/2014/main" id="{762B1387-82BE-254E-BE6D-368525568202}"/>
                  </a:ext>
                </a:extLst>
              </p:cNvPr>
              <p:cNvSpPr txBox="1">
                <a:spLocks noChangeArrowheads="1"/>
              </p:cNvSpPr>
              <p:nvPr/>
            </p:nvSpPr>
            <p:spPr bwMode="auto">
              <a:xfrm>
                <a:off x="3546" y="3632"/>
                <a:ext cx="1713" cy="3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lnSpc>
                    <a:spcPct val="85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MSS</a:t>
                </a:r>
              </a:p>
              <a:p>
                <a:pPr defTabSz="685800" fontAlgn="base">
                  <a:lnSpc>
                    <a:spcPct val="85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transmit new segment(s), as allowed</a:t>
                </a:r>
              </a:p>
              <a:p>
                <a:pPr defTabSz="685800" fontAlgn="base">
                  <a:lnSpc>
                    <a:spcPct val="80000"/>
                  </a:lnSpc>
                  <a:spcBef>
                    <a:spcPct val="0"/>
                  </a:spcBef>
                  <a:spcAft>
                    <a:spcPct val="0"/>
                  </a:spcAft>
                  <a:defRPr/>
                </a:pPr>
                <a:endParaRPr lang="en-US" sz="900" i="1" kern="0" dirty="0">
                  <a:solidFill>
                    <a:srgbClr val="808080"/>
                  </a:solidFill>
                  <a:latin typeface="Avenir Book" panose="020B0503020203020204" pitchFamily="34" charset="-78"/>
                  <a:cs typeface="Avenir Book" panose="020B0503020203020204" pitchFamily="34" charset="-78"/>
                </a:endParaRPr>
              </a:p>
            </p:txBody>
          </p:sp>
          <p:sp>
            <p:nvSpPr>
              <p:cNvPr id="153" name="Line 223">
                <a:extLst>
                  <a:ext uri="{FF2B5EF4-FFF2-40B4-BE49-F238E27FC236}">
                    <a16:creationId xmlns:a16="http://schemas.microsoft.com/office/drawing/2014/main" id="{7058B91F-5545-B546-B726-F5E1D8BF2C19}"/>
                  </a:ext>
                </a:extLst>
              </p:cNvPr>
              <p:cNvSpPr>
                <a:spLocks noChangeShapeType="1"/>
              </p:cNvSpPr>
              <p:nvPr/>
            </p:nvSpPr>
            <p:spPr bwMode="auto">
              <a:xfrm>
                <a:off x="3600" y="3645"/>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4" name="Text Box 224">
                <a:extLst>
                  <a:ext uri="{FF2B5EF4-FFF2-40B4-BE49-F238E27FC236}">
                    <a16:creationId xmlns:a16="http://schemas.microsoft.com/office/drawing/2014/main" id="{873E83D9-4BDC-D54A-8707-136424BDB746}"/>
                  </a:ext>
                </a:extLst>
              </p:cNvPr>
              <p:cNvSpPr txBox="1">
                <a:spLocks noChangeArrowheads="1"/>
              </p:cNvSpPr>
              <p:nvPr/>
            </p:nvSpPr>
            <p:spPr bwMode="auto">
              <a:xfrm>
                <a:off x="3542" y="3496"/>
                <a:ext cx="77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duplicate ACK</a:t>
                </a:r>
              </a:p>
            </p:txBody>
          </p:sp>
        </p:grpSp>
      </p:grpSp>
      <p:grpSp>
        <p:nvGrpSpPr>
          <p:cNvPr id="158" name="Group 246">
            <a:extLst>
              <a:ext uri="{FF2B5EF4-FFF2-40B4-BE49-F238E27FC236}">
                <a16:creationId xmlns:a16="http://schemas.microsoft.com/office/drawing/2014/main" id="{B8412DA9-2D8B-1C4F-98FE-2059BE8959A7}"/>
              </a:ext>
            </a:extLst>
          </p:cNvPr>
          <p:cNvGrpSpPr>
            <a:grpSpLocks/>
          </p:cNvGrpSpPr>
          <p:nvPr/>
        </p:nvGrpSpPr>
        <p:grpSpPr bwMode="auto">
          <a:xfrm>
            <a:off x="2799823" y="2805269"/>
            <a:ext cx="3437336" cy="1539479"/>
            <a:chOff x="297" y="2129"/>
            <a:chExt cx="2887" cy="1293"/>
          </a:xfrm>
        </p:grpSpPr>
        <p:grpSp>
          <p:nvGrpSpPr>
            <p:cNvPr id="159" name="Group 212">
              <a:extLst>
                <a:ext uri="{FF2B5EF4-FFF2-40B4-BE49-F238E27FC236}">
                  <a16:creationId xmlns:a16="http://schemas.microsoft.com/office/drawing/2014/main" id="{27BF6FD0-68C2-FB4E-A15D-7CB02F36F01F}"/>
                </a:ext>
              </a:extLst>
            </p:cNvPr>
            <p:cNvGrpSpPr>
              <a:grpSpLocks/>
            </p:cNvGrpSpPr>
            <p:nvPr/>
          </p:nvGrpSpPr>
          <p:grpSpPr bwMode="auto">
            <a:xfrm>
              <a:off x="297" y="2808"/>
              <a:ext cx="1379" cy="614"/>
              <a:chOff x="156" y="2758"/>
              <a:chExt cx="1379" cy="614"/>
            </a:xfrm>
          </p:grpSpPr>
          <p:sp>
            <p:nvSpPr>
              <p:cNvPr id="166" name="Text Box 213">
                <a:extLst>
                  <a:ext uri="{FF2B5EF4-FFF2-40B4-BE49-F238E27FC236}">
                    <a16:creationId xmlns:a16="http://schemas.microsoft.com/office/drawing/2014/main" id="{835AEF52-2056-D649-96F2-661A3FFF1842}"/>
                  </a:ext>
                </a:extLst>
              </p:cNvPr>
              <p:cNvSpPr txBox="1">
                <a:spLocks noChangeArrowheads="1"/>
              </p:cNvSpPr>
              <p:nvPr/>
            </p:nvSpPr>
            <p:spPr bwMode="auto">
              <a:xfrm>
                <a:off x="156" y="2922"/>
                <a:ext cx="1344" cy="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/2</a:t>
                </a:r>
              </a:p>
              <a:p>
                <a:pPr algn="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+ 3</a:t>
                </a:r>
              </a:p>
              <a:p>
                <a:pPr algn="r" defTabSz="685800" fontAlgn="base">
                  <a:lnSpc>
                    <a:spcPct val="8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retransmit missing segment</a:t>
                </a:r>
              </a:p>
              <a:p>
                <a:pPr algn="r" defTabSz="685800" fontAlgn="base">
                  <a:lnSpc>
                    <a:spcPct val="80000"/>
                  </a:lnSpc>
                  <a:spcBef>
                    <a:spcPct val="0"/>
                  </a:spcBef>
                  <a:spcAft>
                    <a:spcPct val="0"/>
                  </a:spcAft>
                  <a:defRPr/>
                </a:pPr>
                <a:endParaRPr lang="en-US" sz="900" kern="0" dirty="0">
                  <a:solidFill>
                    <a:srgbClr val="808080"/>
                  </a:solidFill>
                  <a:latin typeface="Avenir Book" panose="020B0503020203020204" pitchFamily="34" charset="-78"/>
                  <a:cs typeface="Avenir Book" panose="020B0503020203020204" pitchFamily="34" charset="-78"/>
                </a:endParaRPr>
              </a:p>
            </p:txBody>
          </p:sp>
          <p:sp>
            <p:nvSpPr>
              <p:cNvPr id="167" name="Line 214">
                <a:extLst>
                  <a:ext uri="{FF2B5EF4-FFF2-40B4-BE49-F238E27FC236}">
                    <a16:creationId xmlns:a16="http://schemas.microsoft.com/office/drawing/2014/main" id="{B74A6245-A319-3040-A4FD-51070B302938}"/>
                  </a:ext>
                </a:extLst>
              </p:cNvPr>
              <p:cNvSpPr>
                <a:spLocks noChangeShapeType="1"/>
              </p:cNvSpPr>
              <p:nvPr/>
            </p:nvSpPr>
            <p:spPr bwMode="auto">
              <a:xfrm>
                <a:off x="563" y="2913"/>
                <a:ext cx="8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8" name="Text Box 215">
                <a:extLst>
                  <a:ext uri="{FF2B5EF4-FFF2-40B4-BE49-F238E27FC236}">
                    <a16:creationId xmlns:a16="http://schemas.microsoft.com/office/drawing/2014/main" id="{92605A3F-01AC-204D-8ED2-AD8024A64FEF}"/>
                  </a:ext>
                </a:extLst>
              </p:cNvPr>
              <p:cNvSpPr txBox="1">
                <a:spLocks noChangeArrowheads="1"/>
              </p:cNvSpPr>
              <p:nvPr/>
            </p:nvSpPr>
            <p:spPr bwMode="auto">
              <a:xfrm>
                <a:off x="530" y="2758"/>
                <a:ext cx="100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3</a:t>
                </a:r>
              </a:p>
            </p:txBody>
          </p:sp>
        </p:grpSp>
        <p:grpSp>
          <p:nvGrpSpPr>
            <p:cNvPr id="160" name="Group 216">
              <a:extLst>
                <a:ext uri="{FF2B5EF4-FFF2-40B4-BE49-F238E27FC236}">
                  <a16:creationId xmlns:a16="http://schemas.microsoft.com/office/drawing/2014/main" id="{88759198-6D7D-C744-9B7A-D82AAED1D6D1}"/>
                </a:ext>
              </a:extLst>
            </p:cNvPr>
            <p:cNvGrpSpPr>
              <a:grpSpLocks/>
            </p:cNvGrpSpPr>
            <p:nvPr/>
          </p:nvGrpSpPr>
          <p:grpSpPr bwMode="auto">
            <a:xfrm>
              <a:off x="1813" y="2454"/>
              <a:ext cx="1371" cy="590"/>
              <a:chOff x="419" y="2872"/>
              <a:chExt cx="1371" cy="590"/>
            </a:xfrm>
          </p:grpSpPr>
          <p:sp>
            <p:nvSpPr>
              <p:cNvPr id="163" name="Text Box 217">
                <a:extLst>
                  <a:ext uri="{FF2B5EF4-FFF2-40B4-BE49-F238E27FC236}">
                    <a16:creationId xmlns:a16="http://schemas.microsoft.com/office/drawing/2014/main" id="{D4ECB2B0-F2B3-8C4C-BF69-C3CF649CE91F}"/>
                  </a:ext>
                </a:extLst>
              </p:cNvPr>
              <p:cNvSpPr txBox="1">
                <a:spLocks noChangeArrowheads="1"/>
              </p:cNvSpPr>
              <p:nvPr/>
            </p:nvSpPr>
            <p:spPr bwMode="auto">
              <a:xfrm>
                <a:off x="439" y="2872"/>
                <a:ext cx="49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timeout</a:t>
                </a:r>
              </a:p>
            </p:txBody>
          </p:sp>
          <p:sp>
            <p:nvSpPr>
              <p:cNvPr id="164" name="Text Box 218">
                <a:extLst>
                  <a:ext uri="{FF2B5EF4-FFF2-40B4-BE49-F238E27FC236}">
                    <a16:creationId xmlns:a16="http://schemas.microsoft.com/office/drawing/2014/main" id="{2E4D69CF-352A-DC44-ABC3-90682BEB8316}"/>
                  </a:ext>
                </a:extLst>
              </p:cNvPr>
              <p:cNvSpPr txBox="1">
                <a:spLocks noChangeArrowheads="1"/>
              </p:cNvSpPr>
              <p:nvPr/>
            </p:nvSpPr>
            <p:spPr bwMode="auto">
              <a:xfrm>
                <a:off x="419" y="2989"/>
                <a:ext cx="1371" cy="4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ssthresh = cwnd/2</a:t>
                </a:r>
              </a:p>
              <a:p>
                <a:pP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cwnd = 1 </a:t>
                </a:r>
              </a:p>
              <a:p>
                <a:pPr defTabSz="685800" fontAlgn="base">
                  <a:lnSpc>
                    <a:spcPct val="85000"/>
                  </a:lnSpc>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dupACKcount = 0</a:t>
                </a:r>
              </a:p>
              <a:p>
                <a:pPr defTabSz="685800" fontAlgn="base">
                  <a:lnSpc>
                    <a:spcPct val="85000"/>
                  </a:lnSpc>
                  <a:spcBef>
                    <a:spcPct val="0"/>
                  </a:spcBef>
                  <a:spcAft>
                    <a:spcPct val="0"/>
                  </a:spcAft>
                  <a:defRPr/>
                </a:pPr>
                <a:r>
                  <a:rPr lang="en-US" sz="900" i="1" kern="0">
                    <a:solidFill>
                      <a:srgbClr val="000099"/>
                    </a:solidFill>
                    <a:latin typeface="Avenir Book" panose="020B0503020203020204" pitchFamily="34" charset="-78"/>
                    <a:cs typeface="Avenir Book" panose="020B0503020203020204" pitchFamily="34" charset="-78"/>
                  </a:rPr>
                  <a:t>retransmit missing segment</a:t>
                </a:r>
                <a:r>
                  <a:rPr lang="en-US" sz="900" kern="0">
                    <a:solidFill>
                      <a:srgbClr val="000000"/>
                    </a:solidFill>
                    <a:latin typeface="Avenir Book" panose="020B0503020203020204" pitchFamily="34" charset="-78"/>
                    <a:cs typeface="Avenir Book" panose="020B0503020203020204" pitchFamily="34" charset="-78"/>
                  </a:rPr>
                  <a:t> </a:t>
                </a:r>
              </a:p>
            </p:txBody>
          </p:sp>
          <p:sp>
            <p:nvSpPr>
              <p:cNvPr id="165" name="Line 219">
                <a:extLst>
                  <a:ext uri="{FF2B5EF4-FFF2-40B4-BE49-F238E27FC236}">
                    <a16:creationId xmlns:a16="http://schemas.microsoft.com/office/drawing/2014/main" id="{87674141-7331-B643-AD17-90663185B00F}"/>
                  </a:ext>
                </a:extLst>
              </p:cNvPr>
              <p:cNvSpPr>
                <a:spLocks noChangeShapeType="1"/>
              </p:cNvSpPr>
              <p:nvPr/>
            </p:nvSpPr>
            <p:spPr bwMode="auto">
              <a:xfrm>
                <a:off x="471" y="3014"/>
                <a:ext cx="697"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61" name="Freeform 225">
              <a:extLst>
                <a:ext uri="{FF2B5EF4-FFF2-40B4-BE49-F238E27FC236}">
                  <a16:creationId xmlns:a16="http://schemas.microsoft.com/office/drawing/2014/main" id="{D0DF1910-CE16-3F4D-82F2-6661A32D1366}"/>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2" name="Freeform 226">
              <a:extLst>
                <a:ext uri="{FF2B5EF4-FFF2-40B4-BE49-F238E27FC236}">
                  <a16:creationId xmlns:a16="http://schemas.microsoft.com/office/drawing/2014/main" id="{C17ADBE8-E774-7744-9627-8EAB27CA498D}"/>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69" name="Group 244">
            <a:extLst>
              <a:ext uri="{FF2B5EF4-FFF2-40B4-BE49-F238E27FC236}">
                <a16:creationId xmlns:a16="http://schemas.microsoft.com/office/drawing/2014/main" id="{E119EB29-C756-884C-BC38-0987621B3623}"/>
              </a:ext>
            </a:extLst>
          </p:cNvPr>
          <p:cNvGrpSpPr>
            <a:grpSpLocks/>
          </p:cNvGrpSpPr>
          <p:nvPr/>
        </p:nvGrpSpPr>
        <p:grpSpPr bwMode="auto">
          <a:xfrm>
            <a:off x="6459807" y="2799310"/>
            <a:ext cx="2491979" cy="1519236"/>
            <a:chOff x="3371" y="2124"/>
            <a:chExt cx="2093" cy="1276"/>
          </a:xfrm>
        </p:grpSpPr>
        <p:grpSp>
          <p:nvGrpSpPr>
            <p:cNvPr id="170" name="Group 201">
              <a:extLst>
                <a:ext uri="{FF2B5EF4-FFF2-40B4-BE49-F238E27FC236}">
                  <a16:creationId xmlns:a16="http://schemas.microsoft.com/office/drawing/2014/main" id="{4F04D146-2950-3743-B95A-4A10EFF81DB8}"/>
                </a:ext>
              </a:extLst>
            </p:cNvPr>
            <p:cNvGrpSpPr>
              <a:grpSpLocks/>
            </p:cNvGrpSpPr>
            <p:nvPr/>
          </p:nvGrpSpPr>
          <p:grpSpPr bwMode="auto">
            <a:xfrm>
              <a:off x="4120" y="2796"/>
              <a:ext cx="1344" cy="604"/>
              <a:chOff x="4142" y="2802"/>
              <a:chExt cx="1344" cy="604"/>
            </a:xfrm>
          </p:grpSpPr>
          <p:sp>
            <p:nvSpPr>
              <p:cNvPr id="172" name="Text Box 202">
                <a:extLst>
                  <a:ext uri="{FF2B5EF4-FFF2-40B4-BE49-F238E27FC236}">
                    <a16:creationId xmlns:a16="http://schemas.microsoft.com/office/drawing/2014/main" id="{9BFA3E4C-9614-6849-975F-C63A42B8182A}"/>
                  </a:ext>
                </a:extLst>
              </p:cNvPr>
              <p:cNvSpPr txBox="1">
                <a:spLocks noChangeArrowheads="1"/>
              </p:cNvSpPr>
              <p:nvPr/>
            </p:nvSpPr>
            <p:spPr bwMode="auto">
              <a:xfrm>
                <a:off x="4142" y="2956"/>
                <a:ext cx="1344" cy="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/2</a:t>
                </a:r>
              </a:p>
              <a:p>
                <a:pP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+ 3</a:t>
                </a:r>
              </a:p>
              <a:p>
                <a:pPr defTabSz="685800" fontAlgn="base">
                  <a:lnSpc>
                    <a:spcPct val="8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retransmit missing segment</a:t>
                </a:r>
              </a:p>
              <a:p>
                <a:pPr defTabSz="685800" fontAlgn="base">
                  <a:lnSpc>
                    <a:spcPct val="80000"/>
                  </a:lnSpc>
                  <a:spcBef>
                    <a:spcPct val="0"/>
                  </a:spcBef>
                  <a:spcAft>
                    <a:spcPct val="0"/>
                  </a:spcAft>
                  <a:defRPr/>
                </a:pPr>
                <a:endParaRPr lang="en-US" sz="900" i="1" kern="0" dirty="0">
                  <a:solidFill>
                    <a:srgbClr val="000000"/>
                  </a:solidFill>
                  <a:latin typeface="Avenir Book" panose="020B0503020203020204" pitchFamily="34" charset="-78"/>
                  <a:cs typeface="Avenir Book" panose="020B0503020203020204" pitchFamily="34" charset="-78"/>
                </a:endParaRPr>
              </a:p>
            </p:txBody>
          </p:sp>
          <p:sp>
            <p:nvSpPr>
              <p:cNvPr id="173" name="Line 203">
                <a:extLst>
                  <a:ext uri="{FF2B5EF4-FFF2-40B4-BE49-F238E27FC236}">
                    <a16:creationId xmlns:a16="http://schemas.microsoft.com/office/drawing/2014/main" id="{0526C70E-8831-7543-9A32-E54939C11F43}"/>
                  </a:ext>
                </a:extLst>
              </p:cNvPr>
              <p:cNvSpPr>
                <a:spLocks noChangeShapeType="1"/>
              </p:cNvSpPr>
              <p:nvPr/>
            </p:nvSpPr>
            <p:spPr bwMode="auto">
              <a:xfrm>
                <a:off x="4211" y="2950"/>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4" name="Text Box 204">
                <a:extLst>
                  <a:ext uri="{FF2B5EF4-FFF2-40B4-BE49-F238E27FC236}">
                    <a16:creationId xmlns:a16="http://schemas.microsoft.com/office/drawing/2014/main" id="{E38A96D7-56D5-4A41-8FD3-090F5E1651F2}"/>
                  </a:ext>
                </a:extLst>
              </p:cNvPr>
              <p:cNvSpPr txBox="1">
                <a:spLocks noChangeArrowheads="1"/>
              </p:cNvSpPr>
              <p:nvPr/>
            </p:nvSpPr>
            <p:spPr bwMode="auto">
              <a:xfrm>
                <a:off x="4154" y="2802"/>
                <a:ext cx="100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dupACKcount == 3</a:t>
                </a:r>
              </a:p>
            </p:txBody>
          </p:sp>
        </p:grpSp>
        <p:sp>
          <p:nvSpPr>
            <p:cNvPr id="171" name="Freeform 227">
              <a:extLst>
                <a:ext uri="{FF2B5EF4-FFF2-40B4-BE49-F238E27FC236}">
                  <a16:creationId xmlns:a16="http://schemas.microsoft.com/office/drawing/2014/main" id="{88695EF7-3EC6-874B-9CFA-5F89AE2AD674}"/>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75" name="Group 243">
            <a:extLst>
              <a:ext uri="{FF2B5EF4-FFF2-40B4-BE49-F238E27FC236}">
                <a16:creationId xmlns:a16="http://schemas.microsoft.com/office/drawing/2014/main" id="{0C2B747B-2F42-7146-A691-54156D653646}"/>
              </a:ext>
            </a:extLst>
          </p:cNvPr>
          <p:cNvGrpSpPr>
            <a:grpSpLocks/>
          </p:cNvGrpSpPr>
          <p:nvPr/>
        </p:nvGrpSpPr>
        <p:grpSpPr bwMode="auto">
          <a:xfrm>
            <a:off x="6099048" y="2818363"/>
            <a:ext cx="1141811" cy="1313260"/>
            <a:chOff x="3068" y="2140"/>
            <a:chExt cx="959" cy="1103"/>
          </a:xfrm>
        </p:grpSpPr>
        <p:sp>
          <p:nvSpPr>
            <p:cNvPr id="176" name="Freeform 228">
              <a:extLst>
                <a:ext uri="{FF2B5EF4-FFF2-40B4-BE49-F238E27FC236}">
                  <a16:creationId xmlns:a16="http://schemas.microsoft.com/office/drawing/2014/main" id="{BFB3D697-0B16-7148-BB51-FD8EA08C4A4A}"/>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77" name="Group 229">
              <a:extLst>
                <a:ext uri="{FF2B5EF4-FFF2-40B4-BE49-F238E27FC236}">
                  <a16:creationId xmlns:a16="http://schemas.microsoft.com/office/drawing/2014/main" id="{93E7F93E-B410-1B4A-BF61-0D2CB5DE5C53}"/>
                </a:ext>
              </a:extLst>
            </p:cNvPr>
            <p:cNvGrpSpPr>
              <a:grpSpLocks/>
            </p:cNvGrpSpPr>
            <p:nvPr/>
          </p:nvGrpSpPr>
          <p:grpSpPr bwMode="auto">
            <a:xfrm>
              <a:off x="3068" y="2649"/>
              <a:ext cx="940" cy="594"/>
              <a:chOff x="860" y="3496"/>
              <a:chExt cx="940" cy="594"/>
            </a:xfrm>
          </p:grpSpPr>
          <p:sp>
            <p:nvSpPr>
              <p:cNvPr id="178" name="Text Box 230">
                <a:extLst>
                  <a:ext uri="{FF2B5EF4-FFF2-40B4-BE49-F238E27FC236}">
                    <a16:creationId xmlns:a16="http://schemas.microsoft.com/office/drawing/2014/main" id="{FAD437E2-871A-9848-91F5-5E5990E0131E}"/>
                  </a:ext>
                </a:extLst>
              </p:cNvPr>
              <p:cNvSpPr txBox="1">
                <a:spLocks noChangeArrowheads="1"/>
              </p:cNvSpPr>
              <p:nvPr/>
            </p:nvSpPr>
            <p:spPr bwMode="auto">
              <a:xfrm>
                <a:off x="860" y="3640"/>
                <a:ext cx="940" cy="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ssthresh</a:t>
                </a:r>
                <a:endParaRPr lang="en-US" sz="900" kern="0" dirty="0">
                  <a:solidFill>
                    <a:srgbClr val="000000"/>
                  </a:solidFill>
                  <a:latin typeface="Avenir Book" panose="020B0503020203020204" pitchFamily="34" charset="-78"/>
                  <a:cs typeface="Avenir Book" panose="020B0503020203020204" pitchFamily="34" charset="-78"/>
                </a:endParaRPr>
              </a:p>
              <a:p>
                <a:pPr algn="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0</a:t>
                </a:r>
              </a:p>
              <a:p>
                <a:pPr algn="r" defTabSz="685800" fontAlgn="base">
                  <a:lnSpc>
                    <a:spcPct val="80000"/>
                  </a:lnSpc>
                  <a:spcBef>
                    <a:spcPct val="0"/>
                  </a:spcBef>
                  <a:spcAft>
                    <a:spcPct val="0"/>
                  </a:spcAft>
                  <a:defRPr/>
                </a:pPr>
                <a:endParaRPr lang="en-US" sz="900" kern="0" dirty="0">
                  <a:solidFill>
                    <a:srgbClr val="000000"/>
                  </a:solidFill>
                  <a:latin typeface="Avenir Book" panose="020B0503020203020204" pitchFamily="34" charset="-78"/>
                  <a:cs typeface="Avenir Book" panose="020B0503020203020204" pitchFamily="34" charset="-78"/>
                </a:endParaRPr>
              </a:p>
              <a:p>
                <a:pPr algn="r" defTabSz="685800" fontAlgn="base">
                  <a:lnSpc>
                    <a:spcPct val="80000"/>
                  </a:lnSpc>
                  <a:spcBef>
                    <a:spcPct val="0"/>
                  </a:spcBef>
                  <a:spcAft>
                    <a:spcPct val="0"/>
                  </a:spcAft>
                  <a:defRPr/>
                </a:pPr>
                <a:endParaRPr lang="en-US" sz="900" kern="0" dirty="0">
                  <a:solidFill>
                    <a:srgbClr val="000000"/>
                  </a:solidFill>
                  <a:latin typeface="Avenir Book" panose="020B0503020203020204" pitchFamily="34" charset="-78"/>
                  <a:cs typeface="Avenir Book" panose="020B0503020203020204" pitchFamily="34" charset="-78"/>
                </a:endParaRPr>
              </a:p>
            </p:txBody>
          </p:sp>
          <p:grpSp>
            <p:nvGrpSpPr>
              <p:cNvPr id="179" name="Group 231">
                <a:extLst>
                  <a:ext uri="{FF2B5EF4-FFF2-40B4-BE49-F238E27FC236}">
                    <a16:creationId xmlns:a16="http://schemas.microsoft.com/office/drawing/2014/main" id="{E00D3831-3686-434C-A9FB-CC62A89C2D35}"/>
                  </a:ext>
                </a:extLst>
              </p:cNvPr>
              <p:cNvGrpSpPr>
                <a:grpSpLocks/>
              </p:cNvGrpSpPr>
              <p:nvPr/>
            </p:nvGrpSpPr>
            <p:grpSpPr bwMode="auto">
              <a:xfrm>
                <a:off x="1190" y="3496"/>
                <a:ext cx="582" cy="194"/>
                <a:chOff x="1190" y="3496"/>
                <a:chExt cx="582" cy="194"/>
              </a:xfrm>
            </p:grpSpPr>
            <p:sp>
              <p:nvSpPr>
                <p:cNvPr id="180" name="Line 232">
                  <a:extLst>
                    <a:ext uri="{FF2B5EF4-FFF2-40B4-BE49-F238E27FC236}">
                      <a16:creationId xmlns:a16="http://schemas.microsoft.com/office/drawing/2014/main" id="{97E85298-2987-D742-8F32-C0FF7A3D4B93}"/>
                    </a:ext>
                  </a:extLst>
                </p:cNvPr>
                <p:cNvSpPr>
                  <a:spLocks noChangeShapeType="1"/>
                </p:cNvSpPr>
                <p:nvPr/>
              </p:nvSpPr>
              <p:spPr bwMode="auto">
                <a:xfrm>
                  <a:off x="1190" y="3641"/>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1" name="Text Box 233">
                  <a:extLst>
                    <a:ext uri="{FF2B5EF4-FFF2-40B4-BE49-F238E27FC236}">
                      <a16:creationId xmlns:a16="http://schemas.microsoft.com/office/drawing/2014/main" id="{3BF52C9D-20DA-2242-A28A-394E7476B8A1}"/>
                    </a:ext>
                  </a:extLst>
                </p:cNvPr>
                <p:cNvSpPr txBox="1">
                  <a:spLocks noChangeArrowheads="1"/>
                </p:cNvSpPr>
                <p:nvPr/>
              </p:nvSpPr>
              <p:spPr bwMode="auto">
                <a:xfrm>
                  <a:off x="1195" y="3496"/>
                  <a:ext cx="57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New ACK</a:t>
                  </a:r>
                </a:p>
              </p:txBody>
            </p:sp>
          </p:grpSp>
        </p:grpSp>
      </p:grpSp>
      <p:grpSp>
        <p:nvGrpSpPr>
          <p:cNvPr id="182" name="Group 241">
            <a:extLst>
              <a:ext uri="{FF2B5EF4-FFF2-40B4-BE49-F238E27FC236}">
                <a16:creationId xmlns:a16="http://schemas.microsoft.com/office/drawing/2014/main" id="{CDA92C42-F115-FC40-A5F8-C407673481F7}"/>
              </a:ext>
            </a:extLst>
          </p:cNvPr>
          <p:cNvGrpSpPr>
            <a:grpSpLocks/>
          </p:cNvGrpSpPr>
          <p:nvPr/>
        </p:nvGrpSpPr>
        <p:grpSpPr bwMode="auto">
          <a:xfrm>
            <a:off x="2946400" y="1226495"/>
            <a:ext cx="4144565" cy="2143127"/>
            <a:chOff x="404" y="803"/>
            <a:chExt cx="3481" cy="1800"/>
          </a:xfrm>
        </p:grpSpPr>
        <p:grpSp>
          <p:nvGrpSpPr>
            <p:cNvPr id="183" name="Group 161">
              <a:extLst>
                <a:ext uri="{FF2B5EF4-FFF2-40B4-BE49-F238E27FC236}">
                  <a16:creationId xmlns:a16="http://schemas.microsoft.com/office/drawing/2014/main" id="{7F0341B7-207C-3E40-8EC6-5911313C0608}"/>
                </a:ext>
              </a:extLst>
            </p:cNvPr>
            <p:cNvGrpSpPr>
              <a:grpSpLocks/>
            </p:cNvGrpSpPr>
            <p:nvPr/>
          </p:nvGrpSpPr>
          <p:grpSpPr bwMode="auto">
            <a:xfrm>
              <a:off x="1329" y="1320"/>
              <a:ext cx="800" cy="754"/>
              <a:chOff x="996" y="1773"/>
              <a:chExt cx="800" cy="754"/>
            </a:xfrm>
          </p:grpSpPr>
          <p:sp>
            <p:nvSpPr>
              <p:cNvPr id="204" name="Oval 162">
                <a:extLst>
                  <a:ext uri="{FF2B5EF4-FFF2-40B4-BE49-F238E27FC236}">
                    <a16:creationId xmlns:a16="http://schemas.microsoft.com/office/drawing/2014/main" id="{85E503DF-C6D4-9C4A-947F-F93B4C816434}"/>
                  </a:ext>
                </a:extLst>
              </p:cNvPr>
              <p:cNvSpPr>
                <a:spLocks noChangeArrowheads="1"/>
              </p:cNvSpPr>
              <p:nvPr/>
            </p:nvSpPr>
            <p:spPr bwMode="auto">
              <a:xfrm>
                <a:off x="996" y="1773"/>
                <a:ext cx="800" cy="754"/>
              </a:xfrm>
              <a:prstGeom prst="ellipse">
                <a:avLst/>
              </a:prstGeom>
              <a:solidFill>
                <a:srgbClr val="00CC99"/>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5" name="Text Box 163">
                <a:extLst>
                  <a:ext uri="{FF2B5EF4-FFF2-40B4-BE49-F238E27FC236}">
                    <a16:creationId xmlns:a16="http://schemas.microsoft.com/office/drawing/2014/main" id="{30575E3B-F1CE-CF43-A7C5-219046488BC3}"/>
                  </a:ext>
                </a:extLst>
              </p:cNvPr>
              <p:cNvSpPr txBox="1">
                <a:spLocks noChangeArrowheads="1"/>
              </p:cNvSpPr>
              <p:nvPr/>
            </p:nvSpPr>
            <p:spPr bwMode="auto">
              <a:xfrm>
                <a:off x="1152" y="1946"/>
                <a:ext cx="502" cy="4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Slow </a:t>
                </a:r>
              </a:p>
              <a:p>
                <a:pPr algn="ctr" defTabSz="685800" fontAlgn="base">
                  <a:spcBef>
                    <a:spcPct val="0"/>
                  </a:spcBef>
                  <a:spcAft>
                    <a:spcPct val="0"/>
                  </a:spcAft>
                  <a:defRPr/>
                </a:pPr>
                <a:r>
                  <a:rPr lang="en-US" sz="1350" kern="0" dirty="0">
                    <a:solidFill>
                      <a:srgbClr val="000000"/>
                    </a:solidFill>
                    <a:latin typeface="Avenir Book" panose="020B0503020203020204" pitchFamily="34" charset="-78"/>
                    <a:cs typeface="Avenir Book" panose="020B0503020203020204" pitchFamily="34" charset="-78"/>
                  </a:rPr>
                  <a:t>start</a:t>
                </a:r>
              </a:p>
            </p:txBody>
          </p:sp>
        </p:grpSp>
        <p:grpSp>
          <p:nvGrpSpPr>
            <p:cNvPr id="184" name="Group 177">
              <a:extLst>
                <a:ext uri="{FF2B5EF4-FFF2-40B4-BE49-F238E27FC236}">
                  <a16:creationId xmlns:a16="http://schemas.microsoft.com/office/drawing/2014/main" id="{5836A4F2-D62D-B147-A532-A57E3C2474B2}"/>
                </a:ext>
              </a:extLst>
            </p:cNvPr>
            <p:cNvGrpSpPr>
              <a:grpSpLocks/>
            </p:cNvGrpSpPr>
            <p:nvPr/>
          </p:nvGrpSpPr>
          <p:grpSpPr bwMode="auto">
            <a:xfrm>
              <a:off x="404" y="2026"/>
              <a:ext cx="1371" cy="577"/>
              <a:chOff x="292" y="2713"/>
              <a:chExt cx="1371" cy="577"/>
            </a:xfrm>
          </p:grpSpPr>
          <p:sp>
            <p:nvSpPr>
              <p:cNvPr id="201" name="Text Box 178">
                <a:extLst>
                  <a:ext uri="{FF2B5EF4-FFF2-40B4-BE49-F238E27FC236}">
                    <a16:creationId xmlns:a16="http://schemas.microsoft.com/office/drawing/2014/main" id="{1852AE28-C2EC-5542-A261-91B127FC6EEC}"/>
                  </a:ext>
                </a:extLst>
              </p:cNvPr>
              <p:cNvSpPr txBox="1">
                <a:spLocks noChangeArrowheads="1"/>
              </p:cNvSpPr>
              <p:nvPr/>
            </p:nvSpPr>
            <p:spPr bwMode="auto">
              <a:xfrm>
                <a:off x="777" y="2713"/>
                <a:ext cx="49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timeout</a:t>
                </a:r>
              </a:p>
            </p:txBody>
          </p:sp>
          <p:sp>
            <p:nvSpPr>
              <p:cNvPr id="202" name="Text Box 179">
                <a:extLst>
                  <a:ext uri="{FF2B5EF4-FFF2-40B4-BE49-F238E27FC236}">
                    <a16:creationId xmlns:a16="http://schemas.microsoft.com/office/drawing/2014/main" id="{238E26A7-D428-7446-B0EA-57A95D6A24D0}"/>
                  </a:ext>
                </a:extLst>
              </p:cNvPr>
              <p:cNvSpPr txBox="1">
                <a:spLocks noChangeArrowheads="1"/>
              </p:cNvSpPr>
              <p:nvPr/>
            </p:nvSpPr>
            <p:spPr bwMode="auto">
              <a:xfrm>
                <a:off x="292" y="2840"/>
                <a:ext cx="1371" cy="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/2 </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1 MSS</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0</a:t>
                </a:r>
              </a:p>
              <a:p>
                <a:pPr algn="ctr" defTabSz="685800" fontAlgn="base">
                  <a:lnSpc>
                    <a:spcPct val="8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retransmit missing segment</a:t>
                </a:r>
                <a:r>
                  <a:rPr lang="en-US" sz="900" kern="0" dirty="0">
                    <a:solidFill>
                      <a:srgbClr val="000000"/>
                    </a:solidFill>
                    <a:latin typeface="Avenir Book" panose="020B0503020203020204" pitchFamily="34" charset="-78"/>
                    <a:cs typeface="Avenir Book" panose="020B0503020203020204" pitchFamily="34" charset="-78"/>
                  </a:rPr>
                  <a:t> </a:t>
                </a:r>
              </a:p>
            </p:txBody>
          </p:sp>
          <p:sp>
            <p:nvSpPr>
              <p:cNvPr id="203" name="Line 180">
                <a:extLst>
                  <a:ext uri="{FF2B5EF4-FFF2-40B4-BE49-F238E27FC236}">
                    <a16:creationId xmlns:a16="http://schemas.microsoft.com/office/drawing/2014/main" id="{4D339203-1563-3844-9642-20DAA4DBE4B3}"/>
                  </a:ext>
                </a:extLst>
              </p:cNvPr>
              <p:cNvSpPr>
                <a:spLocks noChangeShapeType="1"/>
              </p:cNvSpPr>
              <p:nvPr/>
            </p:nvSpPr>
            <p:spPr bwMode="auto">
              <a:xfrm>
                <a:off x="709" y="2855"/>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85" name="Group 186">
              <a:extLst>
                <a:ext uri="{FF2B5EF4-FFF2-40B4-BE49-F238E27FC236}">
                  <a16:creationId xmlns:a16="http://schemas.microsoft.com/office/drawing/2014/main" id="{F5B6412F-86EA-644E-B751-4756A58400F6}"/>
                </a:ext>
              </a:extLst>
            </p:cNvPr>
            <p:cNvGrpSpPr>
              <a:grpSpLocks/>
            </p:cNvGrpSpPr>
            <p:nvPr/>
          </p:nvGrpSpPr>
          <p:grpSpPr bwMode="auto">
            <a:xfrm>
              <a:off x="2172" y="928"/>
              <a:ext cx="1713" cy="639"/>
              <a:chOff x="2682" y="766"/>
              <a:chExt cx="1713" cy="639"/>
            </a:xfrm>
          </p:grpSpPr>
          <p:sp>
            <p:nvSpPr>
              <p:cNvPr id="198" name="Text Box 187">
                <a:extLst>
                  <a:ext uri="{FF2B5EF4-FFF2-40B4-BE49-F238E27FC236}">
                    <a16:creationId xmlns:a16="http://schemas.microsoft.com/office/drawing/2014/main" id="{33745650-56D6-E74A-A07A-E27A58809560}"/>
                  </a:ext>
                </a:extLst>
              </p:cNvPr>
              <p:cNvSpPr txBox="1">
                <a:spLocks noChangeArrowheads="1"/>
              </p:cNvSpPr>
              <p:nvPr/>
            </p:nvSpPr>
            <p:spPr bwMode="auto">
              <a:xfrm>
                <a:off x="2682" y="920"/>
                <a:ext cx="1713" cy="4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a:t>
                </a:r>
                <a:r>
                  <a:rPr lang="en-US" sz="900" kern="0" dirty="0" err="1">
                    <a:solidFill>
                      <a:srgbClr val="000000"/>
                    </a:solidFill>
                    <a:latin typeface="Avenir Book" panose="020B0503020203020204" pitchFamily="34" charset="-78"/>
                    <a:cs typeface="Avenir Book" panose="020B0503020203020204" pitchFamily="34" charset="-78"/>
                  </a:rPr>
                  <a:t>cwnd+MSS</a:t>
                </a:r>
                <a:endParaRPr lang="en-US" sz="900" kern="0" dirty="0">
                  <a:solidFill>
                    <a:srgbClr val="000000"/>
                  </a:solidFill>
                  <a:latin typeface="Avenir Book" panose="020B0503020203020204" pitchFamily="34" charset="-78"/>
                  <a:cs typeface="Avenir Book" panose="020B0503020203020204" pitchFamily="34" charset="-78"/>
                </a:endParaRPr>
              </a:p>
              <a:p>
                <a:pPr defTabSz="685800" fontAlgn="base">
                  <a:lnSpc>
                    <a:spcPct val="9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0</a:t>
                </a:r>
              </a:p>
              <a:p>
                <a:pPr defTabSz="685800" fontAlgn="base">
                  <a:lnSpc>
                    <a:spcPct val="90000"/>
                  </a:lnSpc>
                  <a:spcBef>
                    <a:spcPct val="0"/>
                  </a:spcBef>
                  <a:spcAft>
                    <a:spcPct val="0"/>
                  </a:spcAft>
                  <a:defRPr/>
                </a:pPr>
                <a:r>
                  <a:rPr lang="en-US" sz="900" i="1" kern="0" dirty="0">
                    <a:solidFill>
                      <a:srgbClr val="000099"/>
                    </a:solidFill>
                    <a:latin typeface="Avenir Book" panose="020B0503020203020204" pitchFamily="34" charset="-78"/>
                    <a:cs typeface="Avenir Book" panose="020B0503020203020204" pitchFamily="34" charset="-78"/>
                  </a:rPr>
                  <a:t>transmit new segment(s), as allowed</a:t>
                </a:r>
              </a:p>
              <a:p>
                <a:pPr defTabSz="685800" fontAlgn="base">
                  <a:lnSpc>
                    <a:spcPct val="80000"/>
                  </a:lnSpc>
                  <a:spcBef>
                    <a:spcPct val="0"/>
                  </a:spcBef>
                  <a:spcAft>
                    <a:spcPct val="0"/>
                  </a:spcAft>
                  <a:defRPr/>
                </a:pPr>
                <a:endParaRPr lang="en-US" sz="900" kern="0" dirty="0">
                  <a:solidFill>
                    <a:srgbClr val="000000"/>
                  </a:solidFill>
                  <a:latin typeface="Avenir Book" panose="020B0503020203020204" pitchFamily="34" charset="-78"/>
                  <a:cs typeface="Avenir Book" panose="020B0503020203020204" pitchFamily="34" charset="-78"/>
                </a:endParaRPr>
              </a:p>
            </p:txBody>
          </p:sp>
          <p:sp>
            <p:nvSpPr>
              <p:cNvPr id="199" name="Line 188">
                <a:extLst>
                  <a:ext uri="{FF2B5EF4-FFF2-40B4-BE49-F238E27FC236}">
                    <a16:creationId xmlns:a16="http://schemas.microsoft.com/office/drawing/2014/main" id="{77E99221-132E-174B-8CBE-C1A955C064C2}"/>
                  </a:ext>
                </a:extLst>
              </p:cNvPr>
              <p:cNvSpPr>
                <a:spLocks noChangeShapeType="1"/>
              </p:cNvSpPr>
              <p:nvPr/>
            </p:nvSpPr>
            <p:spPr bwMode="auto">
              <a:xfrm>
                <a:off x="2744" y="934"/>
                <a:ext cx="773"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Text Box 189">
                <a:extLst>
                  <a:ext uri="{FF2B5EF4-FFF2-40B4-BE49-F238E27FC236}">
                    <a16:creationId xmlns:a16="http://schemas.microsoft.com/office/drawing/2014/main" id="{321F9ADE-2971-8D42-964D-F2D594BDE59B}"/>
                  </a:ext>
                </a:extLst>
              </p:cNvPr>
              <p:cNvSpPr txBox="1">
                <a:spLocks noChangeArrowheads="1"/>
              </p:cNvSpPr>
              <p:nvPr/>
            </p:nvSpPr>
            <p:spPr bwMode="auto">
              <a:xfrm>
                <a:off x="2815" y="766"/>
                <a:ext cx="55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a:solidFill>
                      <a:srgbClr val="000000"/>
                    </a:solidFill>
                    <a:latin typeface="Avenir Book" panose="020B0503020203020204" pitchFamily="34" charset="-78"/>
                    <a:cs typeface="Avenir Book" panose="020B0503020203020204" pitchFamily="34" charset="-78"/>
                  </a:rPr>
                  <a:t>new ACK</a:t>
                </a:r>
              </a:p>
            </p:txBody>
          </p:sp>
        </p:grpSp>
        <p:sp>
          <p:nvSpPr>
            <p:cNvPr id="186" name="Freeform 205">
              <a:extLst>
                <a:ext uri="{FF2B5EF4-FFF2-40B4-BE49-F238E27FC236}">
                  <a16:creationId xmlns:a16="http://schemas.microsoft.com/office/drawing/2014/main" id="{B9844AE8-814B-7A49-BCA7-110579E99E1F}"/>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87" name="Freeform 206">
              <a:extLst>
                <a:ext uri="{FF2B5EF4-FFF2-40B4-BE49-F238E27FC236}">
                  <a16:creationId xmlns:a16="http://schemas.microsoft.com/office/drawing/2014/main" id="{750DB278-39B5-E245-8F7C-23929FAC1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88" name="Group 207">
              <a:extLst>
                <a:ext uri="{FF2B5EF4-FFF2-40B4-BE49-F238E27FC236}">
                  <a16:creationId xmlns:a16="http://schemas.microsoft.com/office/drawing/2014/main" id="{4E427184-7EF7-C840-827D-A9660DD49F4A}"/>
                </a:ext>
              </a:extLst>
            </p:cNvPr>
            <p:cNvGrpSpPr>
              <a:grpSpLocks/>
            </p:cNvGrpSpPr>
            <p:nvPr/>
          </p:nvGrpSpPr>
          <p:grpSpPr bwMode="auto">
            <a:xfrm>
              <a:off x="1351" y="803"/>
              <a:ext cx="897" cy="443"/>
              <a:chOff x="4160" y="2866"/>
              <a:chExt cx="897" cy="443"/>
            </a:xfrm>
          </p:grpSpPr>
          <p:sp>
            <p:nvSpPr>
              <p:cNvPr id="195" name="Text Box 208">
                <a:extLst>
                  <a:ext uri="{FF2B5EF4-FFF2-40B4-BE49-F238E27FC236}">
                    <a16:creationId xmlns:a16="http://schemas.microsoft.com/office/drawing/2014/main" id="{7E5221C3-2422-AB42-AB8F-F98DF12DC473}"/>
                  </a:ext>
                </a:extLst>
              </p:cNvPr>
              <p:cNvSpPr txBox="1">
                <a:spLocks noChangeArrowheads="1"/>
              </p:cNvSpPr>
              <p:nvPr/>
            </p:nvSpPr>
            <p:spPr bwMode="auto">
              <a:xfrm>
                <a:off x="4160" y="3045"/>
                <a:ext cx="897" cy="2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a:t>
                </a:r>
              </a:p>
              <a:p>
                <a:pPr algn="ctr" defTabSz="685800" fontAlgn="base">
                  <a:lnSpc>
                    <a:spcPct val="80000"/>
                  </a:lnSpc>
                  <a:spcBef>
                    <a:spcPct val="0"/>
                  </a:spcBef>
                  <a:spcAft>
                    <a:spcPct val="0"/>
                  </a:spcAft>
                  <a:defRPr/>
                </a:pPr>
                <a:endParaRPr lang="en-US" sz="900" kern="0" dirty="0">
                  <a:solidFill>
                    <a:srgbClr val="000000"/>
                  </a:solidFill>
                  <a:latin typeface="Avenir Book" panose="020B0503020203020204" pitchFamily="34" charset="-78"/>
                  <a:cs typeface="Avenir Book" panose="020B0503020203020204" pitchFamily="34" charset="-78"/>
                </a:endParaRPr>
              </a:p>
            </p:txBody>
          </p:sp>
          <p:sp>
            <p:nvSpPr>
              <p:cNvPr id="196" name="Line 209">
                <a:extLst>
                  <a:ext uri="{FF2B5EF4-FFF2-40B4-BE49-F238E27FC236}">
                    <a16:creationId xmlns:a16="http://schemas.microsoft.com/office/drawing/2014/main" id="{0ED363ED-03C6-214E-BEF4-679C86095020}"/>
                  </a:ext>
                </a:extLst>
              </p:cNvPr>
              <p:cNvSpPr>
                <a:spLocks noChangeShapeType="1"/>
              </p:cNvSpPr>
              <p:nvPr/>
            </p:nvSpPr>
            <p:spPr bwMode="auto">
              <a:xfrm>
                <a:off x="4224" y="3046"/>
                <a:ext cx="64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7" name="Text Box 210">
                <a:extLst>
                  <a:ext uri="{FF2B5EF4-FFF2-40B4-BE49-F238E27FC236}">
                    <a16:creationId xmlns:a16="http://schemas.microsoft.com/office/drawing/2014/main" id="{2593DC72-BD77-FC4D-AA2D-CA14FF49E8C6}"/>
                  </a:ext>
                </a:extLst>
              </p:cNvPr>
              <p:cNvSpPr txBox="1">
                <a:spLocks noChangeArrowheads="1"/>
              </p:cNvSpPr>
              <p:nvPr/>
            </p:nvSpPr>
            <p:spPr bwMode="auto">
              <a:xfrm>
                <a:off x="4184" y="2866"/>
                <a:ext cx="77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dirty="0">
                    <a:solidFill>
                      <a:srgbClr val="000000"/>
                    </a:solidFill>
                    <a:latin typeface="Avenir Book" panose="020B0503020203020204" pitchFamily="34" charset="-78"/>
                    <a:cs typeface="Avenir Book" panose="020B0503020203020204" pitchFamily="34" charset="-78"/>
                  </a:rPr>
                  <a:t>duplicate ACK</a:t>
                </a:r>
              </a:p>
            </p:txBody>
          </p:sp>
        </p:grpSp>
        <p:sp>
          <p:nvSpPr>
            <p:cNvPr id="189" name="Freeform 211">
              <a:extLst>
                <a:ext uri="{FF2B5EF4-FFF2-40B4-BE49-F238E27FC236}">
                  <a16:creationId xmlns:a16="http://schemas.microsoft.com/office/drawing/2014/main" id="{3E6B1AA0-4286-9245-837B-6CBC21CE7E5B}"/>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0" name="Line 234">
              <a:extLst>
                <a:ext uri="{FF2B5EF4-FFF2-40B4-BE49-F238E27FC236}">
                  <a16:creationId xmlns:a16="http://schemas.microsoft.com/office/drawing/2014/main" id="{F4D43A0C-EE6E-EC4A-8B33-48E0CE84AD67}"/>
                </a:ext>
              </a:extLst>
            </p:cNvPr>
            <p:cNvSpPr>
              <a:spLocks noChangeShapeType="1"/>
            </p:cNvSpPr>
            <p:nvPr/>
          </p:nvSpPr>
          <p:spPr bwMode="auto">
            <a:xfrm>
              <a:off x="536" y="1649"/>
              <a:ext cx="752" cy="1"/>
            </a:xfrm>
            <a:prstGeom prst="line">
              <a:avLst/>
            </a:prstGeom>
            <a:noFill/>
            <a:ln w="9525">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91" name="Group 235">
              <a:extLst>
                <a:ext uri="{FF2B5EF4-FFF2-40B4-BE49-F238E27FC236}">
                  <a16:creationId xmlns:a16="http://schemas.microsoft.com/office/drawing/2014/main" id="{A04F248C-CB56-5341-9121-CD7548EA20D6}"/>
                </a:ext>
              </a:extLst>
            </p:cNvPr>
            <p:cNvGrpSpPr>
              <a:grpSpLocks/>
            </p:cNvGrpSpPr>
            <p:nvPr/>
          </p:nvGrpSpPr>
          <p:grpSpPr bwMode="auto">
            <a:xfrm>
              <a:off x="422" y="1149"/>
              <a:ext cx="940" cy="484"/>
              <a:chOff x="444" y="830"/>
              <a:chExt cx="940" cy="484"/>
            </a:xfrm>
          </p:grpSpPr>
          <p:sp>
            <p:nvSpPr>
              <p:cNvPr id="192" name="Text Box 236">
                <a:extLst>
                  <a:ext uri="{FF2B5EF4-FFF2-40B4-BE49-F238E27FC236}">
                    <a16:creationId xmlns:a16="http://schemas.microsoft.com/office/drawing/2014/main" id="{DFCAD05B-CECB-F74A-83C0-04809C56403D}"/>
                  </a:ext>
                </a:extLst>
              </p:cNvPr>
              <p:cNvSpPr txBox="1">
                <a:spLocks noChangeArrowheads="1"/>
              </p:cNvSpPr>
              <p:nvPr/>
            </p:nvSpPr>
            <p:spPr bwMode="auto">
              <a:xfrm>
                <a:off x="821" y="830"/>
                <a:ext cx="204"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fontAlgn="base">
                  <a:spcBef>
                    <a:spcPct val="0"/>
                  </a:spcBef>
                  <a:spcAft>
                    <a:spcPct val="0"/>
                  </a:spcAft>
                  <a:defRPr/>
                </a:pPr>
                <a:r>
                  <a:rPr lang="en-US" sz="900" kern="0">
                    <a:solidFill>
                      <a:srgbClr val="000000"/>
                    </a:solidFill>
                    <a:latin typeface="Avenir Book" panose="020B0503020203020204" pitchFamily="34" charset="-78"/>
                    <a:cs typeface="Avenir Book" panose="020B0503020203020204" pitchFamily="34" charset="-78"/>
                  </a:rPr>
                  <a:t>L</a:t>
                </a:r>
              </a:p>
            </p:txBody>
          </p:sp>
          <p:sp>
            <p:nvSpPr>
              <p:cNvPr id="193" name="Text Box 237">
                <a:extLst>
                  <a:ext uri="{FF2B5EF4-FFF2-40B4-BE49-F238E27FC236}">
                    <a16:creationId xmlns:a16="http://schemas.microsoft.com/office/drawing/2014/main" id="{74E71529-C1EB-3448-B321-63BB937B34FE}"/>
                  </a:ext>
                </a:extLst>
              </p:cNvPr>
              <p:cNvSpPr txBox="1">
                <a:spLocks noChangeArrowheads="1"/>
              </p:cNvSpPr>
              <p:nvPr/>
            </p:nvSpPr>
            <p:spPr bwMode="auto">
              <a:xfrm>
                <a:off x="444" y="957"/>
                <a:ext cx="940" cy="3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cwnd</a:t>
                </a:r>
                <a:r>
                  <a:rPr lang="en-US" sz="900" kern="0" dirty="0">
                    <a:solidFill>
                      <a:srgbClr val="000000"/>
                    </a:solidFill>
                    <a:latin typeface="Avenir Book" panose="020B0503020203020204" pitchFamily="34" charset="-78"/>
                    <a:cs typeface="Avenir Book" panose="020B0503020203020204" pitchFamily="34" charset="-78"/>
                  </a:rPr>
                  <a:t> = 1 MSS</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ssthresh</a:t>
                </a:r>
                <a:r>
                  <a:rPr lang="en-US" sz="900" kern="0" dirty="0">
                    <a:solidFill>
                      <a:srgbClr val="000000"/>
                    </a:solidFill>
                    <a:latin typeface="Avenir Book" panose="020B0503020203020204" pitchFamily="34" charset="-78"/>
                    <a:cs typeface="Avenir Book" panose="020B0503020203020204" pitchFamily="34" charset="-78"/>
                  </a:rPr>
                  <a:t> = 64 KB</a:t>
                </a:r>
              </a:p>
              <a:p>
                <a:pPr algn="ctr" defTabSz="685800" fontAlgn="base">
                  <a:lnSpc>
                    <a:spcPct val="80000"/>
                  </a:lnSpc>
                  <a:spcBef>
                    <a:spcPct val="0"/>
                  </a:spcBef>
                  <a:spcAft>
                    <a:spcPct val="0"/>
                  </a:spcAft>
                  <a:defRPr/>
                </a:pPr>
                <a:r>
                  <a:rPr lang="en-US" sz="900" kern="0" dirty="0" err="1">
                    <a:solidFill>
                      <a:srgbClr val="000000"/>
                    </a:solidFill>
                    <a:latin typeface="Avenir Book" panose="020B0503020203020204" pitchFamily="34" charset="-78"/>
                    <a:cs typeface="Avenir Book" panose="020B0503020203020204" pitchFamily="34" charset="-78"/>
                  </a:rPr>
                  <a:t>dupACKcount</a:t>
                </a:r>
                <a:r>
                  <a:rPr lang="en-US" sz="900" kern="0" dirty="0">
                    <a:solidFill>
                      <a:srgbClr val="000000"/>
                    </a:solidFill>
                    <a:latin typeface="Avenir Book" panose="020B0503020203020204" pitchFamily="34" charset="-78"/>
                    <a:cs typeface="Avenir Book" panose="020B0503020203020204" pitchFamily="34" charset="-78"/>
                  </a:rPr>
                  <a:t> = 0</a:t>
                </a:r>
              </a:p>
            </p:txBody>
          </p:sp>
          <p:sp>
            <p:nvSpPr>
              <p:cNvPr id="194" name="Line 238">
                <a:extLst>
                  <a:ext uri="{FF2B5EF4-FFF2-40B4-BE49-F238E27FC236}">
                    <a16:creationId xmlns:a16="http://schemas.microsoft.com/office/drawing/2014/main" id="{6EA26674-D5C9-9744-9287-ED272FC85120}"/>
                  </a:ext>
                </a:extLst>
              </p:cNvPr>
              <p:cNvSpPr>
                <a:spLocks noChangeShapeType="1"/>
              </p:cNvSpPr>
              <p:nvPr/>
            </p:nvSpPr>
            <p:spPr bwMode="auto">
              <a:xfrm>
                <a:off x="646" y="972"/>
                <a:ext cx="53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9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spTree>
    <p:extLst>
      <p:ext uri="{BB962C8B-B14F-4D97-AF65-F5344CB8AC3E}">
        <p14:creationId xmlns:p14="http://schemas.microsoft.com/office/powerpoint/2010/main" val="76148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dissolv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left)">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dissolv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right)">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9"/>
                                        </p:tgtEl>
                                        <p:attrNameLst>
                                          <p:attrName>style.visibility</p:attrName>
                                        </p:attrNameLst>
                                      </p:cBhvr>
                                      <p:to>
                                        <p:strVal val="visible"/>
                                      </p:to>
                                    </p:set>
                                    <p:animEffect transition="in" filter="wipe(up)">
                                      <p:cBhvr>
                                        <p:cTn id="27" dur="500"/>
                                        <p:tgtEl>
                                          <p:spTgt spid="16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5"/>
                                        </p:tgtEl>
                                        <p:attrNameLst>
                                          <p:attrName>style.visibility</p:attrName>
                                        </p:attrNameLst>
                                      </p:cBhvr>
                                      <p:to>
                                        <p:strVal val="visible"/>
                                      </p:to>
                                    </p:set>
                                    <p:animEffect transition="in" filter="wipe(left)">
                                      <p:cBhvr>
                                        <p:cTn id="36" dur="500"/>
                                        <p:tgtEl>
                                          <p:spTgt spid="17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dissolve">
                                      <p:cBhvr>
                                        <p:cTn id="41"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Rectangle 2"/>
          <p:cNvSpPr>
            <a:spLocks noGrp="1" noChangeArrowheads="1"/>
          </p:cNvSpPr>
          <p:nvPr>
            <p:ph type="title"/>
          </p:nvPr>
        </p:nvSpPr>
        <p:spPr>
          <a:xfrm>
            <a:off x="1978025" y="239714"/>
            <a:ext cx="7772400" cy="847363"/>
          </a:xfrm>
        </p:spPr>
        <p:txBody>
          <a:bodyPr/>
          <a:lstStyle/>
          <a:p>
            <a:pPr algn="ctr">
              <a:defRPr/>
            </a:pPr>
            <a:r>
              <a:rPr lang="en-US" dirty="0">
                <a:latin typeface="Avenir Book" panose="020B0503020203020204" pitchFamily="34" charset="-78"/>
                <a:ea typeface="ＭＳ Ｐゴシック" charset="0"/>
                <a:cs typeface="Avenir Book" panose="020B0503020203020204" pitchFamily="34" charset="-78"/>
              </a:rPr>
              <a:t>TCP Throughput</a:t>
            </a:r>
          </a:p>
        </p:txBody>
      </p:sp>
      <p:sp>
        <p:nvSpPr>
          <p:cNvPr id="107526" name="Rectangle 3"/>
          <p:cNvSpPr>
            <a:spLocks noGrp="1" noChangeArrowheads="1"/>
          </p:cNvSpPr>
          <p:nvPr>
            <p:ph type="body" idx="1"/>
          </p:nvPr>
        </p:nvSpPr>
        <p:spPr>
          <a:xfrm>
            <a:off x="212886" y="1177919"/>
            <a:ext cx="6885018" cy="4648200"/>
          </a:xfrm>
        </p:spPr>
        <p:txBody>
          <a:bodyPr>
            <a:normAutofit/>
          </a:bodyPr>
          <a:lstStyle/>
          <a:p>
            <a:r>
              <a:rPr lang="en-US" altLang="en-US" sz="2000" dirty="0">
                <a:latin typeface="Avenir Book" panose="020B0503020203020204" pitchFamily="34" charset="-78"/>
                <a:cs typeface="Avenir Book" panose="020B0503020203020204" pitchFamily="34" charset="-78"/>
              </a:rPr>
              <a:t>Avg. TCP throughput as function of window size, RTT?</a:t>
            </a:r>
          </a:p>
          <a:p>
            <a:pPr lvl="1"/>
            <a:r>
              <a:rPr lang="en-US" altLang="en-US" sz="2000" dirty="0">
                <a:latin typeface="Avenir Book" panose="020B0503020203020204" pitchFamily="34" charset="-78"/>
                <a:cs typeface="Avenir Book" panose="020B0503020203020204" pitchFamily="34" charset="-78"/>
              </a:rPr>
              <a:t>Ignore slow start, assume always data to send</a:t>
            </a:r>
          </a:p>
          <a:p>
            <a:pPr marL="457200" lvl="1" indent="0">
              <a:buNone/>
            </a:pPr>
            <a:endParaRPr lang="en-US" altLang="en-US" sz="2000" dirty="0">
              <a:latin typeface="Avenir Book" panose="020B0503020203020204" pitchFamily="34" charset="-78"/>
              <a:cs typeface="Avenir Book" panose="020B0503020203020204" pitchFamily="34" charset="-78"/>
            </a:endParaRPr>
          </a:p>
          <a:p>
            <a:r>
              <a:rPr lang="en-US" altLang="en-US" sz="2000" dirty="0">
                <a:latin typeface="Avenir Book" panose="020B0503020203020204" pitchFamily="34" charset="-78"/>
                <a:cs typeface="Avenir Book" panose="020B0503020203020204" pitchFamily="34" charset="-78"/>
              </a:rPr>
              <a:t>W: window size (measured in bytes) where loss occurs</a:t>
            </a:r>
          </a:p>
          <a:p>
            <a:pPr lvl="1"/>
            <a:r>
              <a:rPr lang="en-US" altLang="en-US" sz="2000" dirty="0">
                <a:latin typeface="Avenir Book" panose="020B0503020203020204" pitchFamily="34" charset="-78"/>
                <a:cs typeface="Avenir Book" panose="020B0503020203020204" pitchFamily="34" charset="-78"/>
              </a:rPr>
              <a:t>Avg. window size (# in-flight bytes) is ¾ W</a:t>
            </a:r>
          </a:p>
          <a:p>
            <a:pPr lvl="1"/>
            <a:r>
              <a:rPr lang="en-US" altLang="en-US" sz="2000" dirty="0">
                <a:latin typeface="Avenir Book" panose="020B0503020203020204" pitchFamily="34" charset="-78"/>
                <a:cs typeface="Avenir Book" panose="020B0503020203020204" pitchFamily="34" charset="-78"/>
              </a:rPr>
              <a:t>Avg. throughput is 3/4W per RTT</a:t>
            </a:r>
          </a:p>
        </p:txBody>
      </p:sp>
      <p:grpSp>
        <p:nvGrpSpPr>
          <p:cNvPr id="121862" name="Group 35"/>
          <p:cNvGrpSpPr>
            <a:grpSpLocks/>
          </p:cNvGrpSpPr>
          <p:nvPr/>
        </p:nvGrpSpPr>
        <p:grpSpPr bwMode="auto">
          <a:xfrm>
            <a:off x="7011284" y="1631472"/>
            <a:ext cx="4873625" cy="1998662"/>
            <a:chOff x="279" y="2432"/>
            <a:chExt cx="3070" cy="1259"/>
          </a:xfrm>
        </p:grpSpPr>
        <p:sp>
          <p:nvSpPr>
            <p:cNvPr id="121873" name="Freeform 26"/>
            <p:cNvSpPr>
              <a:spLocks/>
            </p:cNvSpPr>
            <p:nvPr/>
          </p:nvSpPr>
          <p:spPr bwMode="auto">
            <a:xfrm>
              <a:off x="678" y="2556"/>
              <a:ext cx="2481"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latin typeface="Avenir Book" panose="020B0503020203020204" pitchFamily="34" charset="-78"/>
                <a:cs typeface="Avenir Book" panose="020B0503020203020204" pitchFamily="34" charset="-78"/>
              </a:endParaRPr>
            </a:p>
          </p:txBody>
        </p:sp>
        <p:sp>
          <p:nvSpPr>
            <p:cNvPr id="107539" name="Line 28"/>
            <p:cNvSpPr>
              <a:spLocks noChangeShapeType="1"/>
            </p:cNvSpPr>
            <p:nvPr/>
          </p:nvSpPr>
          <p:spPr bwMode="auto">
            <a:xfrm>
              <a:off x="675" y="3685"/>
              <a:ext cx="267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40" name="Line 29"/>
            <p:cNvSpPr>
              <a:spLocks noChangeShapeType="1"/>
            </p:cNvSpPr>
            <p:nvPr/>
          </p:nvSpPr>
          <p:spPr bwMode="auto">
            <a:xfrm>
              <a:off x="682" y="2432"/>
              <a:ext cx="0" cy="1259"/>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41" name="Line 31"/>
            <p:cNvSpPr>
              <a:spLocks noChangeShapeType="1"/>
            </p:cNvSpPr>
            <p:nvPr/>
          </p:nvSpPr>
          <p:spPr bwMode="auto">
            <a:xfrm>
              <a:off x="606" y="2571"/>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42" name="Line 32"/>
            <p:cNvSpPr>
              <a:spLocks noChangeShapeType="1"/>
            </p:cNvSpPr>
            <p:nvPr/>
          </p:nvSpPr>
          <p:spPr bwMode="auto">
            <a:xfrm>
              <a:off x="606" y="3117"/>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43" name="Text Box 33"/>
            <p:cNvSpPr txBox="1">
              <a:spLocks noChangeArrowheads="1"/>
            </p:cNvSpPr>
            <p:nvPr/>
          </p:nvSpPr>
          <p:spPr bwMode="auto">
            <a:xfrm>
              <a:off x="380" y="2453"/>
              <a:ext cx="239"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Avenir Book" panose="020B0503020203020204" pitchFamily="34" charset="-78"/>
                  <a:cs typeface="Avenir Book" panose="020B0503020203020204" pitchFamily="34" charset="-78"/>
                </a:rPr>
                <a:t>W</a:t>
              </a:r>
            </a:p>
          </p:txBody>
        </p:sp>
        <p:sp>
          <p:nvSpPr>
            <p:cNvPr id="107544" name="Text Box 34"/>
            <p:cNvSpPr txBox="1">
              <a:spLocks noChangeArrowheads="1"/>
            </p:cNvSpPr>
            <p:nvPr/>
          </p:nvSpPr>
          <p:spPr bwMode="auto">
            <a:xfrm>
              <a:off x="279" y="3008"/>
              <a:ext cx="358"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Avenir Book" panose="020B0503020203020204" pitchFamily="34" charset="-78"/>
                  <a:cs typeface="Avenir Book" panose="020B0503020203020204" pitchFamily="34" charset="-78"/>
                </a:rPr>
                <a:t>W/2</a:t>
              </a:r>
            </a:p>
          </p:txBody>
        </p:sp>
      </p:grpSp>
      <p:grpSp>
        <p:nvGrpSpPr>
          <p:cNvPr id="121863" name="Group 45"/>
          <p:cNvGrpSpPr>
            <a:grpSpLocks/>
          </p:cNvGrpSpPr>
          <p:nvPr/>
        </p:nvGrpSpPr>
        <p:grpSpPr bwMode="auto">
          <a:xfrm>
            <a:off x="7580302" y="4121466"/>
            <a:ext cx="4194176" cy="623887"/>
            <a:chOff x="1486" y="2139"/>
            <a:chExt cx="2642" cy="393"/>
          </a:xfrm>
        </p:grpSpPr>
        <p:sp>
          <p:nvSpPr>
            <p:cNvPr id="107529" name="Text Box 36"/>
            <p:cNvSpPr txBox="1">
              <a:spLocks noChangeArrowheads="1"/>
            </p:cNvSpPr>
            <p:nvPr/>
          </p:nvSpPr>
          <p:spPr bwMode="auto">
            <a:xfrm>
              <a:off x="1486" y="2209"/>
              <a:ext cx="1635"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err="1">
                  <a:latin typeface="Avenir Book" panose="020B0503020203020204" pitchFamily="34" charset="-78"/>
                  <a:cs typeface="Avenir Book" panose="020B0503020203020204" pitchFamily="34" charset="-78"/>
                </a:rPr>
                <a:t>Avg</a:t>
              </a:r>
              <a:r>
                <a:rPr lang="en-US" sz="1800" dirty="0">
                  <a:latin typeface="Avenir Book" panose="020B0503020203020204" pitchFamily="34" charset="-78"/>
                  <a:cs typeface="Avenir Book" panose="020B0503020203020204" pitchFamily="34" charset="-78"/>
                </a:rPr>
                <a:t> TCP throughput = </a:t>
              </a:r>
            </a:p>
          </p:txBody>
        </p:sp>
        <p:grpSp>
          <p:nvGrpSpPr>
            <p:cNvPr id="121865" name="Group 44"/>
            <p:cNvGrpSpPr>
              <a:grpSpLocks/>
            </p:cNvGrpSpPr>
            <p:nvPr/>
          </p:nvGrpSpPr>
          <p:grpSpPr bwMode="auto">
            <a:xfrm>
              <a:off x="2986" y="2139"/>
              <a:ext cx="1142" cy="393"/>
              <a:chOff x="3498" y="2153"/>
              <a:chExt cx="1142" cy="393"/>
            </a:xfrm>
          </p:grpSpPr>
          <p:sp>
            <p:nvSpPr>
              <p:cNvPr id="107531" name="Text Box 37"/>
              <p:cNvSpPr txBox="1">
                <a:spLocks noChangeArrowheads="1"/>
              </p:cNvSpPr>
              <p:nvPr/>
            </p:nvSpPr>
            <p:spPr bwMode="auto">
              <a:xfrm>
                <a:off x="3501" y="2153"/>
                <a:ext cx="19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a:latin typeface="Avenir Book" panose="020B0503020203020204" pitchFamily="34" charset="-78"/>
                    <a:cs typeface="Avenir Book" panose="020B0503020203020204" pitchFamily="34" charset="-78"/>
                  </a:rPr>
                  <a:t>3</a:t>
                </a:r>
              </a:p>
            </p:txBody>
          </p:sp>
          <p:sp>
            <p:nvSpPr>
              <p:cNvPr id="107532" name="Text Box 38"/>
              <p:cNvSpPr txBox="1">
                <a:spLocks noChangeArrowheads="1"/>
              </p:cNvSpPr>
              <p:nvPr/>
            </p:nvSpPr>
            <p:spPr bwMode="auto">
              <a:xfrm>
                <a:off x="3498" y="2313"/>
                <a:ext cx="19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a:latin typeface="Avenir Book" panose="020B0503020203020204" pitchFamily="34" charset="-78"/>
                    <a:cs typeface="Avenir Book" panose="020B0503020203020204" pitchFamily="34" charset="-78"/>
                  </a:rPr>
                  <a:t>4</a:t>
                </a:r>
              </a:p>
            </p:txBody>
          </p:sp>
          <p:sp>
            <p:nvSpPr>
              <p:cNvPr id="107533" name="Line 39"/>
              <p:cNvSpPr>
                <a:spLocks noChangeShapeType="1"/>
              </p:cNvSpPr>
              <p:nvPr/>
            </p:nvSpPr>
            <p:spPr bwMode="auto">
              <a:xfrm>
                <a:off x="3550" y="2352"/>
                <a:ext cx="8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34" name="Text Box 40"/>
              <p:cNvSpPr txBox="1">
                <a:spLocks noChangeArrowheads="1"/>
              </p:cNvSpPr>
              <p:nvPr/>
            </p:nvSpPr>
            <p:spPr bwMode="auto">
              <a:xfrm>
                <a:off x="3702" y="2157"/>
                <a:ext cx="254"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a:latin typeface="Avenir Book" panose="020B0503020203020204" pitchFamily="34" charset="-78"/>
                    <a:cs typeface="Avenir Book" panose="020B0503020203020204" pitchFamily="34" charset="-78"/>
                  </a:rPr>
                  <a:t>W</a:t>
                </a:r>
              </a:p>
            </p:txBody>
          </p:sp>
          <p:sp>
            <p:nvSpPr>
              <p:cNvPr id="107535" name="Text Box 41"/>
              <p:cNvSpPr txBox="1">
                <a:spLocks noChangeArrowheads="1"/>
              </p:cNvSpPr>
              <p:nvPr/>
            </p:nvSpPr>
            <p:spPr bwMode="auto">
              <a:xfrm>
                <a:off x="3658" y="2309"/>
                <a:ext cx="373"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a:latin typeface="Avenir Book" panose="020B0503020203020204" pitchFamily="34" charset="-78"/>
                    <a:cs typeface="Avenir Book" panose="020B0503020203020204" pitchFamily="34" charset="-78"/>
                  </a:rPr>
                  <a:t>RTT</a:t>
                </a:r>
              </a:p>
            </p:txBody>
          </p:sp>
          <p:sp>
            <p:nvSpPr>
              <p:cNvPr id="107536" name="Line 42"/>
              <p:cNvSpPr>
                <a:spLocks noChangeShapeType="1"/>
              </p:cNvSpPr>
              <p:nvPr/>
            </p:nvSpPr>
            <p:spPr bwMode="auto">
              <a:xfrm>
                <a:off x="3726" y="2352"/>
                <a:ext cx="21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Avenir Book" panose="020B0503020203020204" pitchFamily="34" charset="-78"/>
                  <a:ea typeface="ＭＳ Ｐゴシック" charset="0"/>
                  <a:cs typeface="Avenir Book" panose="020B0503020203020204" pitchFamily="34" charset="-78"/>
                </a:endParaRPr>
              </a:p>
            </p:txBody>
          </p:sp>
          <p:sp>
            <p:nvSpPr>
              <p:cNvPr id="107537" name="Text Box 43"/>
              <p:cNvSpPr txBox="1">
                <a:spLocks noChangeArrowheads="1"/>
              </p:cNvSpPr>
              <p:nvPr/>
            </p:nvSpPr>
            <p:spPr bwMode="auto">
              <a:xfrm>
                <a:off x="3975" y="2243"/>
                <a:ext cx="665"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latin typeface="Avenir Book" panose="020B0503020203020204" pitchFamily="34" charset="-78"/>
                    <a:cs typeface="Avenir Book" panose="020B0503020203020204" pitchFamily="34" charset="-78"/>
                  </a:rPr>
                  <a:t>bytes/sec</a:t>
                </a:r>
              </a:p>
            </p:txBody>
          </p:sp>
        </p:grpSp>
      </p:grpSp>
    </p:spTree>
    <p:extLst>
      <p:ext uri="{BB962C8B-B14F-4D97-AF65-F5344CB8AC3E}">
        <p14:creationId xmlns:p14="http://schemas.microsoft.com/office/powerpoint/2010/main" val="385929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05000" y="287338"/>
            <a:ext cx="8382000" cy="665162"/>
          </a:xfrm>
        </p:spPr>
        <p:txBody>
          <a:bodyPr>
            <a:normAutofit fontScale="90000"/>
          </a:bodyPr>
          <a:lstStyle/>
          <a:p>
            <a:pPr defTabSz="912813"/>
            <a:r>
              <a:rPr lang="en-US" dirty="0">
                <a:latin typeface="Avenir Book" panose="020B0503020203020204" pitchFamily="34" charset="-78"/>
                <a:cs typeface="Avenir Book" panose="020B0503020203020204" pitchFamily="34" charset="-78"/>
              </a:rPr>
              <a:t>Summary</a:t>
            </a:r>
          </a:p>
        </p:txBody>
      </p:sp>
      <p:sp>
        <p:nvSpPr>
          <p:cNvPr id="10243" name="Text Placeholder 2"/>
          <p:cNvSpPr>
            <a:spLocks noGrp="1"/>
          </p:cNvSpPr>
          <p:nvPr>
            <p:ph type="body" sz="quarter" idx="10"/>
          </p:nvPr>
        </p:nvSpPr>
        <p:spPr>
          <a:xfrm>
            <a:off x="1714500" y="952500"/>
            <a:ext cx="8763000" cy="5207000"/>
          </a:xfrm>
        </p:spPr>
        <p:txBody>
          <a:bodyPr/>
          <a:lstStyle/>
          <a:p>
            <a:pPr>
              <a:buFont typeface="Wingdings" pitchFamily="2" charset="2"/>
              <a:buChar char="q"/>
            </a:pPr>
            <a:r>
              <a:rPr lang="en-US" sz="2400" dirty="0">
                <a:solidFill>
                  <a:srgbClr val="0070C0"/>
                </a:solidFill>
                <a:latin typeface="Avenir Book" panose="020B0503020203020204" pitchFamily="34" charset="-78"/>
                <a:cs typeface="Avenir Book" panose="020B0503020203020204" pitchFamily="34" charset="-78"/>
              </a:rPr>
              <a:t>Network congestion control:</a:t>
            </a:r>
          </a:p>
          <a:p>
            <a:pPr lvl="1" eaLnBrk="1" hangingPunct="1"/>
            <a:r>
              <a:rPr lang="en-US" sz="2000" dirty="0">
                <a:latin typeface="Avenir Book" panose="020B0503020203020204" pitchFamily="34" charset="-78"/>
                <a:cs typeface="Avenir Book" panose="020B0503020203020204" pitchFamily="34" charset="-78"/>
              </a:rPr>
              <a:t>Challenges of congestion</a:t>
            </a:r>
          </a:p>
          <a:p>
            <a:pPr lvl="1" eaLnBrk="1" hangingPunct="1"/>
            <a:r>
              <a:rPr lang="en-US" sz="2000" dirty="0">
                <a:latin typeface="Avenir Book" panose="020B0503020203020204" pitchFamily="34" charset="-78"/>
                <a:cs typeface="Avenir Book" panose="020B0503020203020204" pitchFamily="34" charset="-78"/>
              </a:rPr>
              <a:t>TCP congestion control</a:t>
            </a:r>
          </a:p>
          <a:p>
            <a:pPr lvl="2"/>
            <a:r>
              <a:rPr lang="en-US" sz="1600" dirty="0">
                <a:latin typeface="Avenir Book" panose="020B0503020203020204" pitchFamily="34" charset="-78"/>
                <a:cs typeface="Avenir Book" panose="020B0503020203020204" pitchFamily="34" charset="-78"/>
              </a:rPr>
              <a:t>TCP Tahoe and TCP Reno</a:t>
            </a:r>
          </a:p>
          <a:p>
            <a:pPr marL="457200" lvl="1" indent="0" eaLnBrk="1" hangingPunct="1">
              <a:buNone/>
            </a:pPr>
            <a:endParaRPr lang="en-US" sz="2000" dirty="0">
              <a:latin typeface="Avenir Book" panose="020B0503020203020204" pitchFamily="34" charset="-78"/>
              <a:cs typeface="Avenir Book" panose="020B0503020203020204" pitchFamily="34" charset="-78"/>
            </a:endParaRPr>
          </a:p>
          <a:p>
            <a:pPr marL="457200" lvl="1" indent="0" eaLnBrk="1" hangingPunct="1">
              <a:buNone/>
            </a:pPr>
            <a:endParaRPr lang="en-US" sz="2000" dirty="0">
              <a:latin typeface="Avenir Book" panose="020B0503020203020204" pitchFamily="34" charset="-78"/>
              <a:cs typeface="Avenir Book" panose="020B0503020203020204" pitchFamily="34" charset="-78"/>
            </a:endParaRPr>
          </a:p>
          <a:p>
            <a:pPr marL="457200" lvl="1" indent="0" eaLnBrk="1" hangingPunct="1">
              <a:buNone/>
            </a:pPr>
            <a:endParaRPr lang="en-IN" sz="2000" dirty="0">
              <a:latin typeface="Avenir Book" panose="020B0503020203020204" pitchFamily="34" charset="-78"/>
              <a:cs typeface="Avenir Book" panose="020B0503020203020204" pitchFamily="34" charset="-78"/>
            </a:endParaRPr>
          </a:p>
          <a:p>
            <a:pPr marL="914400" lvl="2" indent="0">
              <a:buNone/>
            </a:pPr>
            <a:endParaRPr lang="en-US" sz="1600" dirty="0">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695523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1000"/>
                                        <p:tgtEl>
                                          <p:spTgt spid="10243">
                                            <p:txEl>
                                              <p:pRg st="0" end="0"/>
                                            </p:txEl>
                                          </p:spTgt>
                                        </p:tgtEl>
                                      </p:cBhvr>
                                    </p:animEffect>
                                    <p:anim calcmode="lin" valueType="num">
                                      <p:cBhvr>
                                        <p:cTn id="8"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43">
                                            <p:txEl>
                                              <p:pRg st="1" end="1"/>
                                            </p:txEl>
                                          </p:spTgt>
                                        </p:tgtEl>
                                        <p:attrNameLst>
                                          <p:attrName>style.visibility</p:attrName>
                                        </p:attrNameLst>
                                      </p:cBhvr>
                                      <p:to>
                                        <p:strVal val="visible"/>
                                      </p:to>
                                    </p:set>
                                    <p:animEffect transition="in" filter="fade">
                                      <p:cBhvr>
                                        <p:cTn id="14" dur="1000"/>
                                        <p:tgtEl>
                                          <p:spTgt spid="10243">
                                            <p:txEl>
                                              <p:pRg st="1" end="1"/>
                                            </p:txEl>
                                          </p:spTgt>
                                        </p:tgtEl>
                                      </p:cBhvr>
                                    </p:animEffect>
                                    <p:anim calcmode="lin" valueType="num">
                                      <p:cBhvr>
                                        <p:cTn id="15"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43">
                                            <p:txEl>
                                              <p:pRg st="2" end="2"/>
                                            </p:txEl>
                                          </p:spTgt>
                                        </p:tgtEl>
                                        <p:attrNameLst>
                                          <p:attrName>style.visibility</p:attrName>
                                        </p:attrNameLst>
                                      </p:cBhvr>
                                      <p:to>
                                        <p:strVal val="visible"/>
                                      </p:to>
                                    </p:set>
                                    <p:animEffect transition="in" filter="fade">
                                      <p:cBhvr>
                                        <p:cTn id="21" dur="1000"/>
                                        <p:tgtEl>
                                          <p:spTgt spid="10243">
                                            <p:txEl>
                                              <p:pRg st="2" end="2"/>
                                            </p:txEl>
                                          </p:spTgt>
                                        </p:tgtEl>
                                      </p:cBhvr>
                                    </p:animEffect>
                                    <p:anim calcmode="lin" valueType="num">
                                      <p:cBhvr>
                                        <p:cTn id="22"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43">
                                            <p:txEl>
                                              <p:pRg st="3" end="3"/>
                                            </p:txEl>
                                          </p:spTgt>
                                        </p:tgtEl>
                                        <p:attrNameLst>
                                          <p:attrName>style.visibility</p:attrName>
                                        </p:attrNameLst>
                                      </p:cBhvr>
                                      <p:to>
                                        <p:strVal val="visible"/>
                                      </p:to>
                                    </p:set>
                                    <p:animEffect transition="in" filter="fade">
                                      <p:cBhvr>
                                        <p:cTn id="28" dur="1000"/>
                                        <p:tgtEl>
                                          <p:spTgt spid="10243">
                                            <p:txEl>
                                              <p:pRg st="3" end="3"/>
                                            </p:txEl>
                                          </p:spTgt>
                                        </p:tgtEl>
                                      </p:cBhvr>
                                    </p:animEffect>
                                    <p:anim calcmode="lin" valueType="num">
                                      <p:cBhvr>
                                        <p:cTn id="29"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Template 13_9_2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52596</TotalTime>
  <Words>2256</Words>
  <Application>Microsoft Office PowerPoint</Application>
  <PresentationFormat>Widescreen</PresentationFormat>
  <Paragraphs>516</Paragraphs>
  <Slides>28</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Avenir Book</vt:lpstr>
      <vt:lpstr>Calibri</vt:lpstr>
      <vt:lpstr>Calibri Light</vt:lpstr>
      <vt:lpstr>Cambria Math</vt:lpstr>
      <vt:lpstr>Comic Sans MS</vt:lpstr>
      <vt:lpstr>Tahoma</vt:lpstr>
      <vt:lpstr>Times New Roman</vt:lpstr>
      <vt:lpstr>Wingdings</vt:lpstr>
      <vt:lpstr>Presentation Template 13_9_21</vt:lpstr>
      <vt:lpstr> Computer Networks II  TCP Congestion Control TCP Tahoe and TCP Reno</vt:lpstr>
      <vt:lpstr>Network Congestion</vt:lpstr>
      <vt:lpstr>Effects of Congestion</vt:lpstr>
      <vt:lpstr>Effects of Congestion</vt:lpstr>
      <vt:lpstr>Challenges of Congestion Control</vt:lpstr>
      <vt:lpstr>Challenges of Congestion Control</vt:lpstr>
      <vt:lpstr>Challenges of Congestion Control</vt:lpstr>
      <vt:lpstr>Challenges of Congestion Control</vt:lpstr>
      <vt:lpstr>TCP Congestion Control</vt:lpstr>
      <vt:lpstr>TCP Congestion Control: AIMD</vt:lpstr>
      <vt:lpstr>TCP Tahoe</vt:lpstr>
      <vt:lpstr>TCP slow start </vt:lpstr>
      <vt:lpstr>TCP Slow Start </vt:lpstr>
      <vt:lpstr>TCP Congestion Avoidance</vt:lpstr>
      <vt:lpstr>TCP Congestion Avoidance</vt:lpstr>
      <vt:lpstr>TCP Congestion Avoidance</vt:lpstr>
      <vt:lpstr>TCP Congestion Avoidance</vt:lpstr>
      <vt:lpstr>Packet/ACK Drop</vt:lpstr>
      <vt:lpstr>TCP Fast Retransmit</vt:lpstr>
      <vt:lpstr>TCP Tahoe: Slow start followed by additive increase </vt:lpstr>
      <vt:lpstr>TCP Tahoe</vt:lpstr>
      <vt:lpstr>TCP Reno</vt:lpstr>
      <vt:lpstr>Fast Recovery</vt:lpstr>
      <vt:lpstr>TCP Reno vs TCP Tahoe</vt:lpstr>
      <vt:lpstr>TCP Reno vs TCP Tahoe</vt:lpstr>
      <vt:lpstr>TCP Reno: TCP Tahoe + Fast recovery </vt:lpstr>
      <vt:lpstr>TCP Throughput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Hewlett-Packard Company</dc:creator>
  <cp:lastModifiedBy>Amitangshu</cp:lastModifiedBy>
  <cp:revision>885</cp:revision>
  <cp:lastPrinted>2024-04-02T13:22:30Z</cp:lastPrinted>
  <dcterms:created xsi:type="dcterms:W3CDTF">2021-09-13T14:43:22Z</dcterms:created>
  <dcterms:modified xsi:type="dcterms:W3CDTF">2026-03-27T17:15:39Z</dcterms:modified>
</cp:coreProperties>
</file>