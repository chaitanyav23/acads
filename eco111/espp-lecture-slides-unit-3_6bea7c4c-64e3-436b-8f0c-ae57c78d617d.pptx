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60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9" r:id="rId19"/>
    <p:sldId id="278" r:id="rId20"/>
    <p:sldId id="280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</p:sldIdLst>
  <p:sldSz cx="12192000" cy="6858000"/>
  <p:notesSz cx="6858000" cy="9144000"/>
  <p:embeddedFontLst>
    <p:embeddedFont>
      <p:font typeface="Source Sans Pro" panose="020B0503030403020204" pitchFamily="34" charset="0"/>
      <p:regular r:id="rId36"/>
      <p:bold r:id="rId37"/>
      <p:italic r:id="rId38"/>
      <p:boldItalic r:id="rId39"/>
    </p:embeddedFont>
    <p:embeddedFont>
      <p:font typeface="Source Sans Pro ExtraLight" panose="020B0303030403020204" pitchFamily="34" charset="0"/>
      <p:regular r:id="rId40"/>
      <p:bold r:id="rId41"/>
      <p:italic r:id="rId42"/>
      <p:boldItalic r:id="rId43"/>
    </p:embeddedFont>
    <p:embeddedFont>
      <p:font typeface="Source Sans Pro Light" panose="020B0403030403020204" pitchFamily="34" charset="0"/>
      <p:regular r:id="rId44"/>
      <p:bold r:id="rId45"/>
      <p:italic r:id="rId46"/>
      <p:boldItalic r:id="rId47"/>
    </p:embeddedFont>
    <p:embeddedFont>
      <p:font typeface="Source Sans Pro SemiBold" panose="020B0603030403020204" pitchFamily="3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1" roundtripDataSignature="AMtx7mgHBR93M48lCQSF6OakXBdeQjLW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9875"/>
    <a:srgbClr val="414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C6C77E8-1413-4FDF-B5C8-ED12207F0A2C}">
  <a:tblStyle styleId="{FC6C77E8-1413-4FDF-B5C8-ED12207F0A2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CE9E9"/>
          </a:solidFill>
        </a:fill>
      </a:tcStyle>
    </a:wholeTbl>
    <a:band1H>
      <a:tcTxStyle/>
      <a:tcStyle>
        <a:tcBdr/>
        <a:fill>
          <a:solidFill>
            <a:srgbClr val="F9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9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971"/>
    <p:restoredTop sz="94586"/>
  </p:normalViewPr>
  <p:slideViewPr>
    <p:cSldViewPr snapToGrid="0" snapToObjects="1">
      <p:cViewPr varScale="1">
        <p:scale>
          <a:sx n="80" d="100"/>
          <a:sy n="80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4.xml"/><Relationship Id="rId61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6806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ogo Title">
  <p:cSld name="Logo 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9875"/>
          </a:solidFill>
          <a:ln w="12700" cap="flat" cmpd="sng">
            <a:solidFill>
              <a:srgbClr val="0C987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accent1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pic>
        <p:nvPicPr>
          <p:cNvPr id="13" name="Google Shape;13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02089" y="3081337"/>
            <a:ext cx="3651274" cy="100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 b="1" i="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solidFill>
                  <a:schemeClr val="dk1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Source Sans Pro SemiBold"/>
              <a:buNone/>
              <a:defRPr sz="6000" b="1" i="0"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0" i="0">
                <a:solidFill>
                  <a:schemeClr val="dk1"/>
                </a:solidFill>
                <a:latin typeface="Source Sans Pro ExtraLight"/>
                <a:ea typeface="Source Sans Pro ExtraLight"/>
                <a:cs typeface="Source Sans Pro ExtraLight"/>
                <a:sym typeface="Source Sans Pro ExtraLigh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191"/>
              </a:buClr>
              <a:buSzPts val="2000"/>
              <a:buNone/>
              <a:defRPr sz="2000">
                <a:solidFill>
                  <a:srgbClr val="91919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191"/>
              </a:buClr>
              <a:buSzPts val="1800"/>
              <a:buNone/>
              <a:defRPr sz="1800">
                <a:solidFill>
                  <a:srgbClr val="91919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191"/>
              </a:buClr>
              <a:buSzPts val="1600"/>
              <a:buNone/>
              <a:defRPr sz="1600">
                <a:solidFill>
                  <a:srgbClr val="91919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191"/>
              </a:buClr>
              <a:buSzPts val="1600"/>
              <a:buNone/>
              <a:defRPr sz="1600">
                <a:solidFill>
                  <a:srgbClr val="919191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191"/>
              </a:buClr>
              <a:buSzPts val="1600"/>
              <a:buNone/>
              <a:defRPr sz="1600">
                <a:solidFill>
                  <a:srgbClr val="919191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191"/>
              </a:buClr>
              <a:buSzPts val="1600"/>
              <a:buNone/>
              <a:defRPr sz="1600">
                <a:solidFill>
                  <a:srgbClr val="919191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191"/>
              </a:buClr>
              <a:buSzPts val="1600"/>
              <a:buNone/>
              <a:defRPr sz="1600">
                <a:solidFill>
                  <a:srgbClr val="919191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919191"/>
              </a:buClr>
              <a:buSzPts val="1600"/>
              <a:buNone/>
              <a:defRPr sz="1600">
                <a:solidFill>
                  <a:srgbClr val="919191"/>
                </a:solidFill>
              </a:defRPr>
            </a:lvl9pPr>
          </a:lstStyle>
          <a:p>
            <a:endParaRPr/>
          </a:p>
        </p:txBody>
      </p:sp>
      <p:cxnSp>
        <p:nvCxnSpPr>
          <p:cNvPr id="20" name="Google Shape;20;p41"/>
          <p:cNvCxnSpPr>
            <a:stCxn id="19" idx="1"/>
            <a:endCxn id="19" idx="3"/>
          </p:cNvCxnSpPr>
          <p:nvPr/>
        </p:nvCxnSpPr>
        <p:spPr>
          <a:xfrm>
            <a:off x="831850" y="5339556"/>
            <a:ext cx="10515600" cy="0"/>
          </a:xfrm>
          <a:prstGeom prst="straightConnector1">
            <a:avLst/>
          </a:prstGeom>
          <a:noFill/>
          <a:ln w="76200" cap="flat" cmpd="sng">
            <a:solidFill>
              <a:srgbClr val="0C9875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3" descr="drop-banner_1.jpg"/>
          <p:cNvPicPr preferRelativeResize="0"/>
          <p:nvPr/>
        </p:nvPicPr>
        <p:blipFill rotWithShape="1">
          <a:blip r:embed="rId2">
            <a:alphaModFix/>
          </a:blip>
          <a:srcRect t="99" b="99"/>
          <a:stretch/>
        </p:blipFill>
        <p:spPr>
          <a:xfrm>
            <a:off x="0" y="6398805"/>
            <a:ext cx="12192001" cy="465549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Source Sans Pro SemiBold"/>
              <a:buNone/>
              <a:defRPr b="1" i="0">
                <a:solidFill>
                  <a:schemeClr val="dk1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31" name="Google Shape;31;p43" descr="core-logo_bw_no-strapline_edit_2.png"/>
          <p:cNvPicPr preferRelativeResize="0"/>
          <p:nvPr/>
        </p:nvPicPr>
        <p:blipFill rotWithShape="1">
          <a:blip r:embed="rId3">
            <a:alphaModFix/>
          </a:blip>
          <a:srcRect t="1950" b="1950"/>
          <a:stretch/>
        </p:blipFill>
        <p:spPr>
          <a:xfrm>
            <a:off x="10524665" y="6533027"/>
            <a:ext cx="1324357" cy="244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46" descr="drop-banner_1.jpg"/>
          <p:cNvPicPr preferRelativeResize="0"/>
          <p:nvPr/>
        </p:nvPicPr>
        <p:blipFill rotWithShape="1">
          <a:blip r:embed="rId2">
            <a:alphaModFix/>
          </a:blip>
          <a:srcRect t="99" b="99"/>
          <a:stretch/>
        </p:blipFill>
        <p:spPr>
          <a:xfrm>
            <a:off x="0" y="6391867"/>
            <a:ext cx="12192001" cy="46554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Source Sans Pro SemiBold"/>
              <a:buNone/>
              <a:defRPr b="1" i="0">
                <a:solidFill>
                  <a:schemeClr val="dk1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9" name="Google Shape;49;p46" descr="core-logo_bw_no-strapline_edit_2.png"/>
          <p:cNvPicPr preferRelativeResize="0"/>
          <p:nvPr/>
        </p:nvPicPr>
        <p:blipFill rotWithShape="1">
          <a:blip r:embed="rId3">
            <a:alphaModFix/>
          </a:blip>
          <a:srcRect t="1950" b="1950"/>
          <a:stretch/>
        </p:blipFill>
        <p:spPr>
          <a:xfrm>
            <a:off x="10524665" y="6533027"/>
            <a:ext cx="1324357" cy="244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47" descr="drop-banner_1.jpg"/>
          <p:cNvPicPr preferRelativeResize="0"/>
          <p:nvPr/>
        </p:nvPicPr>
        <p:blipFill rotWithShape="1">
          <a:blip r:embed="rId2">
            <a:alphaModFix/>
          </a:blip>
          <a:srcRect t="99" b="99"/>
          <a:stretch/>
        </p:blipFill>
        <p:spPr>
          <a:xfrm>
            <a:off x="0" y="6398805"/>
            <a:ext cx="12192001" cy="46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47" descr="core-logo_bw_no-strapline_edit_2.png"/>
          <p:cNvPicPr preferRelativeResize="0"/>
          <p:nvPr/>
        </p:nvPicPr>
        <p:blipFill rotWithShape="1">
          <a:blip r:embed="rId3">
            <a:alphaModFix/>
          </a:blip>
          <a:srcRect t="1950" b="1950"/>
          <a:stretch/>
        </p:blipFill>
        <p:spPr>
          <a:xfrm>
            <a:off x="10524665" y="6533027"/>
            <a:ext cx="1324357" cy="244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48" descr="drop-banner_1.jpg"/>
          <p:cNvPicPr preferRelativeResize="0"/>
          <p:nvPr/>
        </p:nvPicPr>
        <p:blipFill rotWithShape="1">
          <a:blip r:embed="rId2">
            <a:alphaModFix/>
          </a:blip>
          <a:srcRect t="99" b="99"/>
          <a:stretch/>
        </p:blipFill>
        <p:spPr>
          <a:xfrm>
            <a:off x="0" y="6398805"/>
            <a:ext cx="12192001" cy="46554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4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Source Sans Pro SemiBold"/>
              <a:buNone/>
              <a:defRPr b="1" i="0">
                <a:solidFill>
                  <a:schemeClr val="dk1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 i="0">
                <a:solidFill>
                  <a:schemeClr val="dk1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4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4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 i="0">
                <a:solidFill>
                  <a:schemeClr val="dk1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9" name="Google Shape;59;p4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solidFill>
                  <a:schemeClr val="dk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0" name="Google Shape;60;p48" descr="core-logo_bw_no-strapline_edit_2.png"/>
          <p:cNvPicPr preferRelativeResize="0"/>
          <p:nvPr/>
        </p:nvPicPr>
        <p:blipFill rotWithShape="1">
          <a:blip r:embed="rId3">
            <a:alphaModFix/>
          </a:blip>
          <a:srcRect t="1950" b="1950"/>
          <a:stretch/>
        </p:blipFill>
        <p:spPr>
          <a:xfrm>
            <a:off x="10524665" y="6533027"/>
            <a:ext cx="1324357" cy="244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49" descr="drop-banner_1.jpg"/>
          <p:cNvPicPr preferRelativeResize="0"/>
          <p:nvPr/>
        </p:nvPicPr>
        <p:blipFill rotWithShape="1">
          <a:blip r:embed="rId2">
            <a:alphaModFix/>
          </a:blip>
          <a:srcRect t="99" b="99"/>
          <a:stretch/>
        </p:blipFill>
        <p:spPr>
          <a:xfrm>
            <a:off x="0" y="6398805"/>
            <a:ext cx="12192001" cy="465549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49"/>
          <p:cNvSpPr/>
          <p:nvPr/>
        </p:nvSpPr>
        <p:spPr>
          <a:xfrm rot="10800000" flipH="1">
            <a:off x="838201" y="979487"/>
            <a:ext cx="3933824" cy="4881563"/>
          </a:xfrm>
          <a:prstGeom prst="round1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>
              <a:solidFill>
                <a:schemeClr val="lt1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64" name="Google Shape;64;p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Source Sans Pro"/>
              <a:buNone/>
              <a:defRPr sz="3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solidFill>
                  <a:schemeClr val="dk1"/>
                </a:solidFill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>
                <a:solidFill>
                  <a:schemeClr val="dk1"/>
                </a:solidFill>
              </a:defRPr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>
                <a:solidFill>
                  <a:schemeClr val="dk1"/>
                </a:solidFill>
              </a:defRPr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</a:defRPr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solidFill>
                  <a:schemeClr val="dk1"/>
                </a:solidFill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6" name="Google Shape;66;p4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67" name="Google Shape;67;p49" descr="core-logo_bw_no-strapline_edit_2.png"/>
          <p:cNvPicPr preferRelativeResize="0"/>
          <p:nvPr/>
        </p:nvPicPr>
        <p:blipFill rotWithShape="1">
          <a:blip r:embed="rId3">
            <a:alphaModFix/>
          </a:blip>
          <a:srcRect t="1950" b="1950"/>
          <a:stretch/>
        </p:blipFill>
        <p:spPr>
          <a:xfrm>
            <a:off x="10524665" y="6533027"/>
            <a:ext cx="1324357" cy="244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9875"/>
              </a:buClr>
              <a:buSzPts val="4400"/>
              <a:buFont typeface="Source Sans Pro"/>
              <a:buNone/>
              <a:defRPr sz="4400" b="0" i="0" u="none" strike="noStrike" cap="none">
                <a:solidFill>
                  <a:srgbClr val="0C9875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5D5D5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D5D5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D5D5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D5D5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D5D5D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1919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91919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919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919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919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919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919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919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919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919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91919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6" r:id="rId5"/>
    <p:sldLayoutId id="2147483657" r:id="rId6"/>
    <p:sldLayoutId id="2147483658" r:id="rId7"/>
    <p:sldLayoutId id="214748365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Source Sans Pro"/>
              <a:buNone/>
            </a:pPr>
            <a:r>
              <a:rPr lang="en-US" dirty="0"/>
              <a:t>Unit 3</a:t>
            </a:r>
            <a:endParaRPr dirty="0"/>
          </a:p>
        </p:txBody>
      </p:sp>
      <p:sp>
        <p:nvSpPr>
          <p:cNvPr id="77" name="Google Shape;7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 dirty="0"/>
              <a:t>Public policy for fairness and efficiency</a:t>
            </a:r>
            <a:endParaRPr dirty="0"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Source Sans Pro SemiBold"/>
              <a:buNone/>
            </a:pPr>
            <a:r>
              <a:rPr lang="en-US" dirty="0"/>
              <a:t>Outline</a:t>
            </a:r>
            <a:endParaRPr dirty="0"/>
          </a:p>
        </p:txBody>
      </p:sp>
      <p:sp>
        <p:nvSpPr>
          <p:cNvPr id="83" name="Google Shape;83;p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Source Sans Pro SemiBold"/>
              <a:buNone/>
            </a:pPr>
            <a:r>
              <a:rPr lang="en-US" dirty="0"/>
              <a:t>Outline</a:t>
            </a:r>
            <a:endParaRPr dirty="0"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lphaUcPeriod"/>
            </a:pPr>
            <a:r>
              <a:rPr lang="en-GB" dirty="0"/>
              <a:t>Introduction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lphaUcPeriod"/>
            </a:pPr>
            <a:r>
              <a:rPr lang="en-GB" dirty="0"/>
              <a:t>Evaluating Allocations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lphaUcPeriod"/>
            </a:pPr>
            <a:r>
              <a:rPr lang="en-GB" dirty="0"/>
              <a:t>Efficiency: The Pareto Criterion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lphaUcPeriod"/>
            </a:pPr>
            <a:r>
              <a:rPr lang="en-GB" dirty="0"/>
              <a:t>Fairness and Inequality</a:t>
            </a: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lphaUcPeriod"/>
            </a:pPr>
            <a:r>
              <a:rPr lang="en-GB" dirty="0"/>
              <a:t>Public Policies, Unintended Consequences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E8C1E-13C2-1549-B763-78AF68B6A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Evaluating Allocations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C5A2C-D2CB-C44C-8F78-ADA1FC68E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SECTION B</a:t>
            </a:r>
          </a:p>
        </p:txBody>
      </p:sp>
    </p:spTree>
    <p:extLst>
      <p:ext uri="{BB962C8B-B14F-4D97-AF65-F5344CB8AC3E}">
        <p14:creationId xmlns:p14="http://schemas.microsoft.com/office/powerpoint/2010/main" val="2122216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95BC6-58F2-C245-A6FF-E185E8330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Public policy 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407F7-4E66-B143-9257-EB1F29A6B5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  <a:sym typeface="Wingdings" pitchFamily="2" charset="2"/>
              </a:rPr>
              <a:t>Allocation</a:t>
            </a:r>
            <a:r>
              <a:rPr lang="en-US" dirty="0">
                <a:sym typeface="Wingdings" pitchFamily="2" charset="2"/>
              </a:rPr>
              <a:t> = outcome of an economic interaction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dirty="0">
                <a:sym typeface="Wingdings" pitchFamily="2" charset="2"/>
              </a:rPr>
              <a:t>Two policy objectives: Efficiency and fairness</a:t>
            </a:r>
          </a:p>
          <a:p>
            <a:endParaRPr lang="en-US" dirty="0">
              <a:sym typeface="Wingdings" pitchFamily="2" charset="2"/>
            </a:endParaRPr>
          </a:p>
          <a:p>
            <a:pPr>
              <a:lnSpc>
                <a:spcPct val="110000"/>
              </a:lnSpc>
            </a:pPr>
            <a:r>
              <a:rPr lang="en-US" dirty="0">
                <a:sym typeface="Wingdings" pitchFamily="2" charset="2"/>
              </a:rPr>
              <a:t>Example: Tragedy of the Commons (Unit 2)</a:t>
            </a:r>
          </a:p>
          <a:p>
            <a:pPr>
              <a:lnSpc>
                <a:spcPct val="110000"/>
              </a:lnSpc>
            </a:pPr>
            <a:r>
              <a:rPr lang="en-US" dirty="0">
                <a:sym typeface="Wingdings" pitchFamily="2" charset="2"/>
              </a:rPr>
              <a:t>Without intervention, too many cows on the shared pasture, so it becomes overgrazed.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Possible policy interventions: </a:t>
            </a:r>
          </a:p>
          <a:p>
            <a:pPr marL="514350" indent="-514350">
              <a:buAutoNum type="arabicPeriod"/>
            </a:pPr>
            <a:r>
              <a:rPr lang="en-US" dirty="0">
                <a:sym typeface="Wingdings" pitchFamily="2" charset="2"/>
              </a:rPr>
              <a:t>Make cows common property – but who takes care of the cows?</a:t>
            </a:r>
          </a:p>
          <a:p>
            <a:pPr marL="514350" indent="-514350">
              <a:buAutoNum type="arabicPeriod"/>
            </a:pPr>
            <a:r>
              <a:rPr lang="en-US" dirty="0">
                <a:sym typeface="Wingdings" pitchFamily="2" charset="2"/>
              </a:rPr>
              <a:t>Give only one herder access to the pasture – efficient but unfair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817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BBE10-E960-F64C-9D46-DC8A5E5E0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The ultimatum game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1D2E6-B3B3-C042-B195-9E1729BBD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85000" lnSpcReduction="10000"/>
          </a:bodyPr>
          <a:lstStyle/>
          <a:p>
            <a:pPr indent="-457200">
              <a:buFont typeface="Arial" panose="020B0604020202020204" pitchFamily="34" charset="0"/>
              <a:buChar char="•"/>
            </a:pPr>
            <a:r>
              <a:rPr lang="en-GB" sz="3200" dirty="0"/>
              <a:t>A </a:t>
            </a:r>
            <a:r>
              <a:rPr lang="en-GB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sequential game </a:t>
            </a:r>
            <a:r>
              <a:rPr lang="en-GB" sz="3200" dirty="0"/>
              <a:t>where players choose how to divide up a cash prize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GB" sz="3200" dirty="0"/>
              <a:t>Proposer has $100 to split 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GB" sz="3200" dirty="0"/>
              <a:t>After observing the offer, the Responder accepts or rejects it</a:t>
            </a:r>
          </a:p>
          <a:p>
            <a:pPr lvl="1" indent="-457200">
              <a:buFont typeface="Arial" panose="020B0604020202020204" pitchFamily="34" charset="0"/>
              <a:buChar char="•"/>
            </a:pPr>
            <a:r>
              <a:rPr lang="en-GB" sz="3200" dirty="0"/>
              <a:t>If the offer is rejected, both individuals get nothing.</a:t>
            </a:r>
          </a:p>
          <a:p>
            <a:pPr lvl="1" indent="-457200">
              <a:buFont typeface="Arial" panose="020B0604020202020204" pitchFamily="34" charset="0"/>
              <a:buChar char="•"/>
            </a:pPr>
            <a:r>
              <a:rPr lang="en-GB" sz="3200" dirty="0"/>
              <a:t>If it is accepted, the split is implemented.</a:t>
            </a:r>
          </a:p>
          <a:p>
            <a:pPr marL="457200" lvl="1" indent="0">
              <a:buNone/>
            </a:pPr>
            <a:r>
              <a:rPr lang="en-GB" sz="3200" dirty="0"/>
              <a:t>	= Take-it-or-leave-it offer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0EC219-AE73-834F-BC4F-FB9FA005C8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787" r="25950"/>
          <a:stretch/>
        </p:blipFill>
        <p:spPr>
          <a:xfrm>
            <a:off x="5990493" y="2027867"/>
            <a:ext cx="5838092" cy="39468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CDB9233-D144-1C49-909C-9891E2C28C25}"/>
              </a:ext>
            </a:extLst>
          </p:cNvPr>
          <p:cNvSpPr txBox="1"/>
          <p:nvPr/>
        </p:nvSpPr>
        <p:spPr>
          <a:xfrm>
            <a:off x="8909539" y="1772858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41414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 game tree</a:t>
            </a:r>
          </a:p>
        </p:txBody>
      </p:sp>
    </p:spTree>
    <p:extLst>
      <p:ext uri="{BB962C8B-B14F-4D97-AF65-F5344CB8AC3E}">
        <p14:creationId xmlns:p14="http://schemas.microsoft.com/office/powerpoint/2010/main" val="1421210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29FE-9F02-D949-B0FD-0F2052DD2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Social preferences in the ultimatum game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BE0E1-B762-E24A-97D5-8B45E2BAC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A Responder who cares only about own payoffs would accept any positive offer, because something is better than nothing.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A Responder who thinks that the Proposer’s offer has violated a </a:t>
            </a:r>
            <a:r>
              <a:rPr lang="en-US" b="1" dirty="0"/>
              <a:t>social norm</a:t>
            </a:r>
            <a:r>
              <a:rPr lang="en-US" dirty="0"/>
              <a:t> of fairness, or that the offer is insultingly low for some other reason, might be willing to </a:t>
            </a:r>
            <a:r>
              <a:rPr lang="en-US" u="sng" dirty="0"/>
              <a:t>sacrifice the payoff to punish</a:t>
            </a:r>
            <a:r>
              <a:rPr lang="en-US" dirty="0"/>
              <a:t> the Proposer. </a:t>
            </a:r>
          </a:p>
          <a:p>
            <a:pPr marL="50800" indent="0">
              <a:buNone/>
            </a:pPr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7D6AE23-0382-764D-A88F-A108CDB735F2}"/>
              </a:ext>
            </a:extLst>
          </p:cNvPr>
          <p:cNvSpPr txBox="1">
            <a:spLocks/>
          </p:cNvSpPr>
          <p:nvPr/>
        </p:nvSpPr>
        <p:spPr>
          <a:xfrm>
            <a:off x="6096000" y="1825626"/>
            <a:ext cx="5257800" cy="4082806"/>
          </a:xfrm>
          <a:prstGeom prst="rect">
            <a:avLst/>
          </a:prstGeom>
          <a:solidFill>
            <a:srgbClr val="0C9875"/>
          </a:solidFill>
          <a:ln>
            <a:solidFill>
              <a:srgbClr val="0C9875"/>
            </a:solidFill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0800" indent="0">
              <a:buFont typeface="Arial"/>
              <a:buNone/>
            </a:pPr>
            <a:r>
              <a:rPr lang="en-GB" sz="2400" dirty="0">
                <a:solidFill>
                  <a:schemeClr val="bg1"/>
                </a:solidFill>
              </a:rPr>
              <a:t>Evaluating outcomes:</a:t>
            </a:r>
          </a:p>
          <a:p>
            <a:pPr marL="50800" indent="0">
              <a:buFont typeface="Arial"/>
              <a:buNone/>
            </a:pPr>
            <a:endParaRPr lang="en-GB" sz="2400" dirty="0">
              <a:solidFill>
                <a:schemeClr val="bg1"/>
              </a:solidFill>
            </a:endParaRPr>
          </a:p>
          <a:p>
            <a:pPr>
              <a:buClr>
                <a:schemeClr val="bg1"/>
              </a:buClr>
              <a:buSzPct val="100000"/>
            </a:pPr>
            <a:r>
              <a:rPr lang="en-GB" sz="2400" dirty="0">
                <a:solidFill>
                  <a:schemeClr val="bg1"/>
                </a:solidFill>
              </a:rPr>
              <a:t>If Responder rejects, the outcome – throwing away money!– cannot be efficient.</a:t>
            </a:r>
          </a:p>
          <a:p>
            <a:pPr>
              <a:buClr>
                <a:schemeClr val="bg1"/>
              </a:buClr>
              <a:buSzPct val="100000"/>
            </a:pPr>
            <a:r>
              <a:rPr lang="en-GB" sz="2400" b="1" dirty="0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Dictator game </a:t>
            </a:r>
            <a:r>
              <a:rPr lang="en-GB" sz="2400" dirty="0">
                <a:solidFill>
                  <a:schemeClr val="bg1"/>
                </a:solidFill>
              </a:rPr>
              <a:t>where Responder cannot reject offer eliminates this inefficiency, but is hardly fair!</a:t>
            </a:r>
          </a:p>
          <a:p>
            <a:pPr marL="50800" indent="0">
              <a:buNone/>
            </a:pPr>
            <a:r>
              <a:rPr lang="en-GB" sz="2400" dirty="0">
                <a:solidFill>
                  <a:schemeClr val="bg1"/>
                </a:solidFill>
              </a:rPr>
              <a:t>➔ There may be trade-offs between efficiency and fairness</a:t>
            </a:r>
          </a:p>
        </p:txBody>
      </p:sp>
    </p:spTree>
    <p:extLst>
      <p:ext uri="{BB962C8B-B14F-4D97-AF65-F5344CB8AC3E}">
        <p14:creationId xmlns:p14="http://schemas.microsoft.com/office/powerpoint/2010/main" val="30809795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0913-B5E2-C344-BE92-EBDD2F9FE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Playing the ultimatum game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1D5BF-BFD6-794B-BC2D-EE60FC4E5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914037"/>
          </a:xfrm>
        </p:spPr>
        <p:txBody>
          <a:bodyPr>
            <a:normAutofit/>
          </a:bodyPr>
          <a:lstStyle/>
          <a:p>
            <a:r>
              <a:rPr lang="en-GB" dirty="0"/>
              <a:t>Efficiency: The Responder should accept any offer from the Proposer (anything is better than nothing)</a:t>
            </a:r>
          </a:p>
          <a:p>
            <a:r>
              <a:rPr lang="en-GB" dirty="0"/>
              <a:t>Fairness: The Responder might reject offers he/she considers to be unfair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7D72037-0CDC-9140-9ABE-2F967FF4E154}"/>
              </a:ext>
            </a:extLst>
          </p:cNvPr>
          <p:cNvSpPr txBox="1">
            <a:spLocks/>
          </p:cNvSpPr>
          <p:nvPr/>
        </p:nvSpPr>
        <p:spPr>
          <a:xfrm>
            <a:off x="838200" y="3739662"/>
            <a:ext cx="5011615" cy="191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0800" indent="0">
              <a:buNone/>
            </a:pPr>
            <a:r>
              <a:rPr lang="en-GB" dirty="0"/>
              <a:t>Experimental evidence that people value fairness – nobody was willing to accept an offer of zero.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34EAE1-82DD-5041-9E4F-A5F6A6B46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146" y="3429000"/>
            <a:ext cx="5286654" cy="2754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3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E0EFC-8048-A243-A93E-7977C790F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Playing the ultimatum game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3F7CD-9939-5E49-87F1-7B08E0694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099537"/>
            <a:ext cx="10515600" cy="1077425"/>
          </a:xfrm>
        </p:spPr>
        <p:txBody>
          <a:bodyPr/>
          <a:lstStyle/>
          <a:p>
            <a:pPr marL="50800" indent="0">
              <a:buNone/>
            </a:pPr>
            <a:r>
              <a:rPr lang="en-GB" dirty="0"/>
              <a:t>Offers are consistent with social preferences, but also with expected payoff maximisation</a:t>
            </a:r>
          </a:p>
        </p:txBody>
      </p:sp>
      <p:pic>
        <p:nvPicPr>
          <p:cNvPr id="4" name="Picture 3" descr="figure-04-13-d.jpg">
            <a:extLst>
              <a:ext uri="{FF2B5EF4-FFF2-40B4-BE49-F238E27FC236}">
                <a16:creationId xmlns:a16="http://schemas.microsoft.com/office/drawing/2014/main" id="{B4C96CC2-14E9-AC44-B706-BE0CF7C4F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038" y="1330513"/>
            <a:ext cx="7067923" cy="3916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773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8F895-108A-5E47-8BB5-6D6E1B7E5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Efficiency: The Pareto Criterion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6076C4-B4FB-A14B-ADBF-8B1A7AA6D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SECTION C</a:t>
            </a:r>
          </a:p>
        </p:txBody>
      </p:sp>
    </p:spTree>
    <p:extLst>
      <p:ext uri="{BB962C8B-B14F-4D97-AF65-F5344CB8AC3E}">
        <p14:creationId xmlns:p14="http://schemas.microsoft.com/office/powerpoint/2010/main" val="17426330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F294C-20A3-AF4A-81A5-2D2729DCE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Evaluating economic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5250D8-1C70-DC4C-894D-909837359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486399"/>
            <a:ext cx="10515600" cy="690563"/>
          </a:xfrm>
        </p:spPr>
        <p:txBody>
          <a:bodyPr/>
          <a:lstStyle/>
          <a:p>
            <a:pPr marL="50800" indent="0" algn="ctr">
              <a:buNone/>
            </a:pPr>
            <a:r>
              <a:rPr lang="en-GB" dirty="0"/>
              <a:t>How can public policies improve observed outcomes?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E38735-0289-D344-8BA9-998C411A7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282" y="1799885"/>
            <a:ext cx="7727436" cy="387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127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38ED0-E5D5-FB41-861D-CC1CD84B7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Evaluating economic outcomes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F8B96-2925-1041-87CE-4DC8282E3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(Pareto) Efficiency </a:t>
            </a:r>
            <a:r>
              <a:rPr lang="en-US" dirty="0"/>
              <a:t>= There is no alternative technically feasible allocation in which at least one person would be better off, and nobody worse off.</a:t>
            </a: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Fairness</a:t>
            </a:r>
            <a:r>
              <a:rPr lang="en-US" b="1" dirty="0"/>
              <a:t> </a:t>
            </a:r>
            <a:r>
              <a:rPr lang="en-US" dirty="0"/>
              <a:t>= Evaluation based on one’s conception of justice</a:t>
            </a:r>
          </a:p>
          <a:p>
            <a:pPr indent="-457200">
              <a:lnSpc>
                <a:spcPct val="100000"/>
              </a:lnSpc>
              <a:buFontTx/>
              <a:buChar char="-"/>
            </a:pPr>
            <a:endParaRPr lang="en-US" dirty="0"/>
          </a:p>
          <a:p>
            <a:pPr marL="50800" indent="0">
              <a:lnSpc>
                <a:spcPct val="100000"/>
              </a:lnSpc>
              <a:buNone/>
            </a:pPr>
            <a:r>
              <a:rPr lang="en-US" dirty="0"/>
              <a:t>Many other values we might care about, such as:</a:t>
            </a: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Individual dignity and freedom</a:t>
            </a: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Diversity</a:t>
            </a: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Conformity to perceptions of one’s religion or other beliefs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060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7FBBF-CBD2-484E-952E-2155FDF07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Pareto efficiency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CCA3B-ECFE-A242-9223-0A055C2E2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96446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Pareto criterion </a:t>
            </a:r>
            <a:r>
              <a:rPr lang="en-GB" sz="2400" dirty="0"/>
              <a:t>= A desirable attribute of an allocation is that it be Pareto efficient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9A66F87-0BF5-0741-B871-DF659395A194}"/>
              </a:ext>
            </a:extLst>
          </p:cNvPr>
          <p:cNvSpPr txBox="1">
            <a:spLocks/>
          </p:cNvSpPr>
          <p:nvPr/>
        </p:nvSpPr>
        <p:spPr>
          <a:xfrm>
            <a:off x="838200" y="2784215"/>
            <a:ext cx="4472354" cy="312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0800" indent="0">
              <a:lnSpc>
                <a:spcPct val="110000"/>
              </a:lnSpc>
              <a:buNone/>
            </a:pPr>
            <a:r>
              <a:rPr lang="en-GB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May not be very helpful in comparing allocations (change in status quo is almost never a Pareto improvement).</a:t>
            </a:r>
          </a:p>
          <a:p>
            <a:pPr marL="50800" indent="0">
              <a:lnSpc>
                <a:spcPct val="110000"/>
              </a:lnSpc>
              <a:buNone/>
            </a:pPr>
            <a:endParaRPr lang="en-GB" dirty="0"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  <a:p>
            <a:pPr marL="50800" indent="0">
              <a:lnSpc>
                <a:spcPct val="110000"/>
              </a:lnSpc>
              <a:buNone/>
            </a:pPr>
            <a:r>
              <a:rPr lang="en-GB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E.g. the pest control game (Unit 2) has 3 Pareto efficient allocations.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EB648C-FFA3-3547-99BE-0B255B193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554" y="2828975"/>
            <a:ext cx="6330462" cy="324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290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7FBBF-CBD2-484E-952E-2155FDF07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Pareto efficiency with compensation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CCA3B-ECFE-A242-9223-0A055C2E2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96446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2400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Could introduce a second stage where players are compensated for their loss in the first stage, leaving everyone better off than in the status quo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9A66F87-0BF5-0741-B871-DF659395A194}"/>
              </a:ext>
            </a:extLst>
          </p:cNvPr>
          <p:cNvSpPr txBox="1">
            <a:spLocks/>
          </p:cNvSpPr>
          <p:nvPr/>
        </p:nvSpPr>
        <p:spPr>
          <a:xfrm>
            <a:off x="838200" y="2784215"/>
            <a:ext cx="4472354" cy="3124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0800" indent="0">
              <a:lnSpc>
                <a:spcPct val="110000"/>
              </a:lnSpc>
              <a:buNone/>
            </a:pPr>
            <a:r>
              <a:rPr lang="en-GB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E.g. Move from (T, T) to (T, I) with Anil paying </a:t>
            </a:r>
            <a:r>
              <a:rPr lang="en-GB" dirty="0" err="1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Bala</a:t>
            </a:r>
            <a:r>
              <a:rPr lang="en-GB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1.5.</a:t>
            </a:r>
          </a:p>
          <a:p>
            <a:pPr marL="50800" indent="0">
              <a:lnSpc>
                <a:spcPct val="110000"/>
              </a:lnSpc>
              <a:buNone/>
            </a:pPr>
            <a:r>
              <a:rPr lang="en-GB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Both receive 2.5, which is better for each than (T, T).</a:t>
            </a:r>
          </a:p>
          <a:p>
            <a:pPr marL="50800" indent="0">
              <a:lnSpc>
                <a:spcPct val="110000"/>
              </a:lnSpc>
              <a:buNone/>
            </a:pPr>
            <a:r>
              <a:rPr lang="en-GB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Public policies often use this principle.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EB648C-FFA3-3547-99BE-0B255B193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554" y="2828975"/>
            <a:ext cx="6330462" cy="324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005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3EE3D-D6A3-F049-B3AB-0F8FA7C8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Fairness and Inequality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4302B-EBE7-A74B-BB7E-36D5F8C9A1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SECTION D</a:t>
            </a:r>
          </a:p>
        </p:txBody>
      </p:sp>
    </p:spTree>
    <p:extLst>
      <p:ext uri="{BB962C8B-B14F-4D97-AF65-F5344CB8AC3E}">
        <p14:creationId xmlns:p14="http://schemas.microsoft.com/office/powerpoint/2010/main" val="4229511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55163-9E9D-4E4A-A42F-E6347B0AC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 much inequality?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09A1D-B61B-F447-B615-50C42ECF6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609" y="1825625"/>
            <a:ext cx="4448908" cy="436929"/>
          </a:xfrm>
        </p:spPr>
        <p:txBody>
          <a:bodyPr>
            <a:normAutofit fontScale="47500" lnSpcReduction="20000"/>
          </a:bodyPr>
          <a:lstStyle/>
          <a:p>
            <a:pPr marL="50800" indent="0" algn="ctr">
              <a:buNone/>
            </a:pPr>
            <a:r>
              <a:rPr lang="en-GB" dirty="0"/>
              <a:t>Americans’ ideal, estimated, and actual distribution of wealth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1AEE78-A7C8-0044-A567-7D286AFD40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62554"/>
            <a:ext cx="6964126" cy="3697006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E556927-0225-E94C-BA52-50315DB81605}"/>
              </a:ext>
            </a:extLst>
          </p:cNvPr>
          <p:cNvSpPr txBox="1">
            <a:spLocks/>
          </p:cNvSpPr>
          <p:nvPr/>
        </p:nvSpPr>
        <p:spPr>
          <a:xfrm>
            <a:off x="6964126" y="2978192"/>
            <a:ext cx="4873560" cy="2265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0800" indent="0">
              <a:buFont typeface="Arial"/>
              <a:buNone/>
            </a:pPr>
            <a:r>
              <a:rPr lang="en-GB" dirty="0"/>
              <a:t>The actual distribution is much more unequal than the public’s estimate – and </a:t>
            </a:r>
            <a:r>
              <a:rPr lang="en-GB" dirty="0" err="1"/>
              <a:t>contrats</a:t>
            </a:r>
            <a:r>
              <a:rPr lang="en-GB" dirty="0"/>
              <a:t> sharply with the even lower inequality they would find ideal.</a:t>
            </a:r>
          </a:p>
        </p:txBody>
      </p:sp>
    </p:spTree>
    <p:extLst>
      <p:ext uri="{BB962C8B-B14F-4D97-AF65-F5344CB8AC3E}">
        <p14:creationId xmlns:p14="http://schemas.microsoft.com/office/powerpoint/2010/main" val="11092425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55163-9E9D-4E4A-A42F-E6347B0AC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Too much inequality?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09A1D-B61B-F447-B615-50C42ECF6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609" y="1825625"/>
            <a:ext cx="4448908" cy="436929"/>
          </a:xfrm>
        </p:spPr>
        <p:txBody>
          <a:bodyPr>
            <a:normAutofit fontScale="55000" lnSpcReduction="20000"/>
          </a:bodyPr>
          <a:lstStyle/>
          <a:p>
            <a:pPr marL="50800" indent="0" algn="ctr">
              <a:buNone/>
            </a:pPr>
            <a:r>
              <a:rPr lang="en-GB" dirty="0"/>
              <a:t>Not all economic inequalities are considered unfair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E556927-0225-E94C-BA52-50315DB81605}"/>
              </a:ext>
            </a:extLst>
          </p:cNvPr>
          <p:cNvSpPr txBox="1">
            <a:spLocks/>
          </p:cNvSpPr>
          <p:nvPr/>
        </p:nvSpPr>
        <p:spPr>
          <a:xfrm>
            <a:off x="6964126" y="2978192"/>
            <a:ext cx="4873560" cy="2265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Source Sans Pro Light"/>
                <a:ea typeface="Source Sans Pro Light"/>
                <a:cs typeface="Source Sans Pro Light"/>
                <a:sym typeface="Source Sans Pro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50800" indent="0">
              <a:buFont typeface="Arial"/>
              <a:buNone/>
            </a:pPr>
            <a:r>
              <a:rPr lang="en-GB" dirty="0"/>
              <a:t>A person who thinks that hard work and risk-taking are essential to economic success is much less likely to support pro-poor redistribution.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070CEF-0FF5-9F4E-8C8C-1190C1C99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89" y="2244882"/>
            <a:ext cx="6644337" cy="407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3013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2936D-A24B-6A4C-9554-4A80D327D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Defining fairness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122A2C-316D-B34D-83D9-87FA74AB7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dirty="0"/>
              <a:t>Allocations can be judged unfair because of: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i="1" dirty="0"/>
              <a:t>How unequal they are: </a:t>
            </a:r>
            <a:r>
              <a:rPr lang="en-US" dirty="0"/>
              <a:t>In terms of income, for example, or subjective wellbeing or the distribution of wealth. These are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substantive judgements of fairness</a:t>
            </a:r>
            <a:r>
              <a:rPr lang="en-US" dirty="0"/>
              <a:t>, which are based on the characteristics of the allocation itself.</a:t>
            </a:r>
          </a:p>
          <a:p>
            <a:pPr indent="-457200">
              <a:buFont typeface="Arial" panose="020B0604020202020204" pitchFamily="34" charset="0"/>
              <a:buChar char="•"/>
            </a:pPr>
            <a:r>
              <a:rPr lang="en-US" i="1" dirty="0"/>
              <a:t>How the inequalities came about: </a:t>
            </a:r>
            <a:r>
              <a:rPr lang="en-US" dirty="0"/>
              <a:t>For example, by force or racial discrimination, by competition on a level playing field, or by hard work. These are 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procedural judgements of fairness</a:t>
            </a:r>
            <a:r>
              <a:rPr lang="en-US" dirty="0"/>
              <a:t>.</a:t>
            </a:r>
          </a:p>
          <a:p>
            <a:pPr marL="508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8471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8EB7A-A956-B041-89C2-9FA38242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Procedural judgments of fairness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55A1D-0131-6749-9A2A-0F21F43CB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50800" indent="0">
              <a:lnSpc>
                <a:spcPct val="110000"/>
              </a:lnSpc>
              <a:buNone/>
            </a:pPr>
            <a:r>
              <a:rPr lang="en-US" dirty="0"/>
              <a:t>Evaluate </a:t>
            </a:r>
            <a:r>
              <a:rPr lang="en-US" u="sng" dirty="0"/>
              <a:t>rules of the game</a:t>
            </a:r>
            <a:r>
              <a:rPr lang="en-US" dirty="0"/>
              <a:t> according to aspects such as:</a:t>
            </a:r>
          </a:p>
          <a:p>
            <a:pPr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Voluntary exchange of private property acquired by legitimate means</a:t>
            </a:r>
            <a:r>
              <a:rPr lang="en-US" dirty="0"/>
              <a:t>: Were the actions resulting in the allocation the result of free choices by the individuals involved? </a:t>
            </a:r>
          </a:p>
          <a:p>
            <a:pPr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Equal opportunity for economic advantage</a:t>
            </a:r>
            <a:r>
              <a:rPr lang="en-US" dirty="0"/>
              <a:t>: Or were they subjected to some kind of discrimination because of their race, sexual preference, gender, or who their parents were?</a:t>
            </a:r>
          </a:p>
          <a:p>
            <a:pPr indent="-4572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Deservingness</a:t>
            </a:r>
            <a:r>
              <a:rPr lang="en-US" dirty="0"/>
              <a:t>: Did the rules take account of the extent to which individuals need, or deserve, the amounts they get?</a:t>
            </a:r>
          </a:p>
          <a:p>
            <a:pPr marL="508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3032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E55A5-7486-8A46-96F4-11C3D1309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 of value in economics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192BD-9802-6C48-A460-6A9A958BB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50800" indent="0">
              <a:lnSpc>
                <a:spcPct val="100000"/>
              </a:lnSpc>
              <a:buNone/>
            </a:pPr>
            <a:r>
              <a:rPr lang="en-US" dirty="0"/>
              <a:t>No science can eliminate disagreements about questions of value. But economics can clarify:</a:t>
            </a: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How the dimensions of unfairness may be connected</a:t>
            </a: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trade-offs between fairness and efficiency - Are some kinds of unfairness essential for achieving efficient outcomes?</a:t>
            </a: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Public policies to address concerns about unfairness - How can governments or other entities reduce unfairness? </a:t>
            </a: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effects of the introduction of new policies - will the intended outcomes of a government policy result once we take account of government actions </a:t>
            </a:r>
            <a:r>
              <a:rPr lang="en-US" i="1" dirty="0"/>
              <a:t>and the reactions of private actors</a:t>
            </a:r>
            <a:r>
              <a:rPr lang="en-US" dirty="0"/>
              <a:t>? </a:t>
            </a:r>
          </a:p>
          <a:p>
            <a:pPr marL="508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41157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3BF6F-F210-EF42-8C6A-E1A37C4CB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Public Policies, Unintended Consequences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52C76-6E0E-054F-A462-0D44624744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SECTION E</a:t>
            </a:r>
          </a:p>
        </p:txBody>
      </p:sp>
    </p:spTree>
    <p:extLst>
      <p:ext uri="{BB962C8B-B14F-4D97-AF65-F5344CB8AC3E}">
        <p14:creationId xmlns:p14="http://schemas.microsoft.com/office/powerpoint/2010/main" val="1592059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3DF24-182D-7641-8165-941E6726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Implementing public policies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65A45-BD6F-C64C-A6FA-A659EBC94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 marL="325438" indent="-307975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cs-CZ" sz="3000" noProof="1"/>
              <a:t>Outcome of a public policy is the result of an interaction between the government’s actions and the privately chosen actions of those affected</a:t>
            </a:r>
          </a:p>
          <a:p>
            <a:pPr marL="325438" indent="-307975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cs-CZ" sz="3000" noProof="1"/>
          </a:p>
          <a:p>
            <a:pPr marL="325438" indent="-307975" fontAlgn="base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cs-CZ" sz="3000" noProof="1"/>
              <a:t>Policies can change economic outcomes by influencing what actions people decide to take. This is done through some combination of:</a:t>
            </a:r>
          </a:p>
          <a:p>
            <a:pPr marL="782638" lvl="1" indent="-307975" fontAlgn="base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cs-CZ" sz="3000" u="sng" noProof="1"/>
              <a:t>Prohibitions and directives</a:t>
            </a:r>
            <a:r>
              <a:rPr lang="cs-CZ" sz="3000" noProof="1"/>
              <a:t> e.g. mandatory education</a:t>
            </a:r>
            <a:endParaRPr lang="cs-CZ" sz="3000" u="sng" noProof="1"/>
          </a:p>
          <a:p>
            <a:pPr marL="782638" lvl="1" indent="-307975" fontAlgn="base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cs-CZ" sz="3000" u="sng" noProof="1"/>
              <a:t>Incentives</a:t>
            </a:r>
            <a:r>
              <a:rPr lang="cs-CZ" sz="3000" noProof="1"/>
              <a:t>: A policy changes the benefits or costs of alternative courses of action open to the individual.</a:t>
            </a:r>
          </a:p>
          <a:p>
            <a:pPr marL="782638" lvl="1" indent="-307975" fontAlgn="base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cs-CZ" sz="3000" u="sng" noProof="1"/>
              <a:t>The information available</a:t>
            </a:r>
            <a:r>
              <a:rPr lang="cs-CZ" sz="3000" noProof="1"/>
              <a:t>: People can use this information when they make decisions about which actions to take.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0123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508F6-EBD4-0445-8F65-7E1D23ECB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Pareto efficiency and Nash equilibrium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D5489-E4B4-2B48-AF22-E25155D4E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pPr marL="325438" indent="-307975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cs-CZ" noProof="1"/>
              <a:t>Remember: Nash equilibrium and Pareto efficiency refer to completely different aspects of a social interaction.</a:t>
            </a:r>
          </a:p>
          <a:p>
            <a:pPr marL="325438" indent="-307975" fontAlgn="base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cs-CZ" noProof="1"/>
              <a:t>A Nash equilibrium may not be Pareto efficient, and vice versa.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810870-A73E-8C46-8D68-F34A03B080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5221" y="3429000"/>
            <a:ext cx="8821558" cy="275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4390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DAAC-2500-5746-A292-7FBD397F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#1: The tragedy of the commons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4903D-FCD4-5949-B5ED-DAB9528EE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 lnSpcReduction="20000"/>
          </a:bodyPr>
          <a:lstStyle/>
          <a:p>
            <a:pPr marL="474663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cs-CZ" noProof="1"/>
              <a:t>A </a:t>
            </a:r>
            <a:r>
              <a:rPr lang="cs-CZ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prisoners’ dilemma </a:t>
            </a:r>
            <a:r>
              <a:rPr lang="cs-CZ" noProof="1"/>
              <a:t>in which overgrazing is the dominant strategy</a:t>
            </a:r>
          </a:p>
          <a:p>
            <a:pPr marL="474663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cs-CZ" sz="1800" noProof="1"/>
          </a:p>
          <a:p>
            <a:pPr marL="474663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cs-CZ" noProof="1"/>
              <a:t>Overgrazing is the </a:t>
            </a:r>
            <a:r>
              <a:rPr lang="cs-CZ" b="1" noProof="1">
                <a:latin typeface="Source Sans Pro" panose="020B0503030403020204" pitchFamily="34" charset="0"/>
                <a:ea typeface="Source Sans Pro" panose="020B0503030403020204" pitchFamily="34" charset="0"/>
              </a:rPr>
              <a:t>Nash equilibrium </a:t>
            </a:r>
            <a:r>
              <a:rPr lang="cs-CZ" noProof="1"/>
              <a:t>but restricting would support higher payoffs for both.</a:t>
            </a:r>
          </a:p>
          <a:p>
            <a:pPr marL="474663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cs-CZ" sz="1800" noProof="1"/>
          </a:p>
          <a:p>
            <a:pPr marL="474663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cs-CZ" noProof="1"/>
              <a:t>An effective government policy might alter this situation by </a:t>
            </a:r>
            <a:r>
              <a:rPr lang="cs-CZ" u="sng" noProof="1"/>
              <a:t>changing the Nash equilibrium.</a:t>
            </a:r>
            <a:endParaRPr lang="cs-CZ" noProof="1"/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BE041-A22C-6444-A0C6-BA63D4F08E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92" r="24598"/>
          <a:stretch/>
        </p:blipFill>
        <p:spPr>
          <a:xfrm>
            <a:off x="6718573" y="1470119"/>
            <a:ext cx="4635227" cy="453965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DC7E400F-B721-F347-9BEB-5A2C36A951A7}"/>
              </a:ext>
            </a:extLst>
          </p:cNvPr>
          <p:cNvSpPr/>
          <p:nvPr/>
        </p:nvSpPr>
        <p:spPr>
          <a:xfrm rot="2522453">
            <a:off x="9733110" y="4046880"/>
            <a:ext cx="1050012" cy="1849256"/>
          </a:xfrm>
          <a:prstGeom prst="ellips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4175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DAAC-2500-5746-A292-7FBD397F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tax on overgrazing the commons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4903D-FCD4-5949-B5ED-DAB9528EE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  <a:buSzPct val="100000"/>
            </a:pPr>
            <a:r>
              <a:rPr lang="en-GB" dirty="0"/>
              <a:t>Impose a tax of 0.4 for any cow beyond 10. </a:t>
            </a:r>
          </a:p>
          <a:p>
            <a:pPr indent="-457200">
              <a:lnSpc>
                <a:spcPct val="110000"/>
              </a:lnSpc>
              <a:buSzPct val="100000"/>
              <a:buFont typeface="Wingdings" pitchFamily="2" charset="2"/>
              <a:buChar char="à"/>
            </a:pPr>
            <a:r>
              <a:rPr lang="en-GB" dirty="0"/>
              <a:t>Reduces the payoffs for ‘Do not restrict’ </a:t>
            </a:r>
          </a:p>
          <a:p>
            <a:pPr indent="-457200">
              <a:lnSpc>
                <a:spcPct val="110000"/>
              </a:lnSpc>
              <a:buSzPct val="100000"/>
              <a:buFont typeface="Wingdings" pitchFamily="2" charset="2"/>
              <a:buChar char="à"/>
            </a:pPr>
            <a:r>
              <a:rPr lang="en-GB" dirty="0"/>
              <a:t>(Restrict, Restrict) is new Nash equilibrium</a:t>
            </a:r>
          </a:p>
          <a:p>
            <a:pPr>
              <a:lnSpc>
                <a:spcPct val="110000"/>
              </a:lnSpc>
              <a:buSzPct val="100000"/>
            </a:pPr>
            <a:endParaRPr lang="en-GB" dirty="0"/>
          </a:p>
          <a:p>
            <a:pPr marL="50800" indent="0">
              <a:lnSpc>
                <a:spcPct val="110000"/>
              </a:lnSpc>
              <a:buSzPct val="100000"/>
              <a:buNone/>
            </a:pPr>
            <a:r>
              <a:rPr lang="en-GB" dirty="0"/>
              <a:t>Features of the overgrazing tax:</a:t>
            </a:r>
          </a:p>
          <a:p>
            <a:pPr>
              <a:lnSpc>
                <a:spcPct val="110000"/>
              </a:lnSpc>
              <a:buSzPct val="100000"/>
            </a:pPr>
            <a:endParaRPr lang="en-GB" sz="1000" dirty="0"/>
          </a:p>
          <a:p>
            <a:pPr indent="-4572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It treats both herders equally.</a:t>
            </a:r>
          </a:p>
          <a:p>
            <a:pPr indent="-4572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Each herder must take account of the cost that their overgrazing imposes on the other.</a:t>
            </a:r>
          </a:p>
          <a:p>
            <a:pPr indent="-45720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GB" dirty="0"/>
              <a:t>Better herders find it more valuable to put their cows on the pasture: Those less skilled will not find it worth paying the tax. 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BE041-A22C-6444-A0C6-BA63D4F08E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92" r="24598"/>
          <a:stretch/>
        </p:blipFill>
        <p:spPr>
          <a:xfrm>
            <a:off x="6718573" y="1470119"/>
            <a:ext cx="4635227" cy="453965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DC7E400F-B721-F347-9BEB-5A2C36A951A7}"/>
              </a:ext>
            </a:extLst>
          </p:cNvPr>
          <p:cNvSpPr/>
          <p:nvPr/>
        </p:nvSpPr>
        <p:spPr>
          <a:xfrm rot="2522453">
            <a:off x="8091879" y="2335310"/>
            <a:ext cx="1050012" cy="1849256"/>
          </a:xfrm>
          <a:prstGeom prst="ellips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1881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DAAC-2500-5746-A292-7FBD397F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#2: Tax avoidance game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4903D-FCD4-5949-B5ED-DAB9528EE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77500" lnSpcReduction="20000"/>
          </a:bodyPr>
          <a:lstStyle/>
          <a:p>
            <a:pPr marL="284400" indent="-284400">
              <a:lnSpc>
                <a:spcPct val="110000"/>
              </a:lnSpc>
              <a:buSzPct val="100000"/>
            </a:pPr>
            <a:r>
              <a:rPr lang="en-GB" dirty="0"/>
              <a:t>Change in the tax regime may cause firms to change their strategies e.g. hire lawyers to exploit tax loopholes.</a:t>
            </a:r>
          </a:p>
          <a:p>
            <a:pPr marL="50800" indent="0">
              <a:lnSpc>
                <a:spcPct val="110000"/>
              </a:lnSpc>
              <a:buNone/>
            </a:pPr>
            <a:endParaRPr lang="en-GB" dirty="0"/>
          </a:p>
          <a:p>
            <a:pPr marL="50800" indent="0">
              <a:lnSpc>
                <a:spcPct val="110000"/>
              </a:lnSpc>
              <a:buNone/>
            </a:pPr>
            <a:r>
              <a:rPr lang="en-GB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Tax avoidance game:</a:t>
            </a:r>
          </a:p>
          <a:p>
            <a:pPr>
              <a:lnSpc>
                <a:spcPct val="110000"/>
              </a:lnSpc>
            </a:pPr>
            <a:endParaRPr lang="en-GB" sz="1000" b="1" dirty="0"/>
          </a:p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GB" i="1" dirty="0"/>
              <a:t>Government</a:t>
            </a:r>
            <a:r>
              <a:rPr lang="en-GB" dirty="0"/>
              <a:t> either levies moderate taxes or high taxes on the Firm owner’s profits.</a:t>
            </a:r>
          </a:p>
          <a:p>
            <a:pPr marL="285750" indent="-285750">
              <a:lnSpc>
                <a:spcPct val="11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GB" i="1" dirty="0"/>
              <a:t>Firm</a:t>
            </a:r>
            <a:r>
              <a:rPr lang="en-GB" dirty="0"/>
              <a:t> can either pay taxes at the statutory rate or hire tax lawyers to minimize tax obligations.</a:t>
            </a: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CBE041-A22C-6444-A0C6-BA63D4F08E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92" r="24598"/>
          <a:stretch/>
        </p:blipFill>
        <p:spPr>
          <a:xfrm>
            <a:off x="6718573" y="1470119"/>
            <a:ext cx="4635227" cy="453965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DC7E400F-B721-F347-9BEB-5A2C36A951A7}"/>
              </a:ext>
            </a:extLst>
          </p:cNvPr>
          <p:cNvSpPr/>
          <p:nvPr/>
        </p:nvSpPr>
        <p:spPr>
          <a:xfrm rot="2522453">
            <a:off x="8091879" y="2335310"/>
            <a:ext cx="1050012" cy="1849256"/>
          </a:xfrm>
          <a:prstGeom prst="ellipse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1452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08E44-C397-2A4F-BB09-A4A172EE9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Unintended consequences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C7174-DA6A-604F-8561-11F6FFAAE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78614" y="1825625"/>
            <a:ext cx="3675185" cy="4351338"/>
          </a:xfrm>
        </p:spPr>
        <p:txBody>
          <a:bodyPr/>
          <a:lstStyle/>
          <a:p>
            <a:pPr marL="50800" indent="0">
              <a:buNone/>
            </a:pPr>
            <a:r>
              <a:rPr lang="en-GB" dirty="0"/>
              <a:t>Tax rise will result in allocation D, which is Pareto-dominated by the initial situation at A.</a:t>
            </a:r>
          </a:p>
          <a:p>
            <a:pPr marL="50800" indent="0">
              <a:buNone/>
            </a:pPr>
            <a:endParaRPr lang="en-GB" dirty="0"/>
          </a:p>
          <a:p>
            <a:pPr marL="50800" indent="0">
              <a:buNone/>
            </a:pPr>
            <a:r>
              <a:rPr lang="en-GB" dirty="0"/>
              <a:t>Allocation at B (intended by government) is not a Nash equilibrium.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566DC6-4240-BC4B-B852-F2C9F0AA6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310" y="1825625"/>
            <a:ext cx="7007127" cy="43513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75505B-4185-CE41-B37D-D43CCD823C5C}"/>
              </a:ext>
            </a:extLst>
          </p:cNvPr>
          <p:cNvSpPr txBox="1"/>
          <p:nvPr/>
        </p:nvSpPr>
        <p:spPr>
          <a:xfrm>
            <a:off x="2172041" y="6023074"/>
            <a:ext cx="42627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A successful policy must therefore be a Nash equilibrium</a:t>
            </a:r>
          </a:p>
        </p:txBody>
      </p:sp>
    </p:spTree>
    <p:extLst>
      <p:ext uri="{BB962C8B-B14F-4D97-AF65-F5344CB8AC3E}">
        <p14:creationId xmlns:p14="http://schemas.microsoft.com/office/powerpoint/2010/main" val="2018936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08E44-C397-2A4F-BB09-A4A172EE9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Policies can affect preferences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C7174-DA6A-604F-8561-11F6FFAAEE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78614" y="1825625"/>
            <a:ext cx="3675185" cy="4351338"/>
          </a:xfrm>
        </p:spPr>
        <p:txBody>
          <a:bodyPr/>
          <a:lstStyle/>
          <a:p>
            <a:pPr marL="50800" indent="0">
              <a:buNone/>
            </a:pPr>
            <a:r>
              <a:rPr lang="en-GB" dirty="0"/>
              <a:t>The use of a market-based incentive (price of lateness) provided a new frame for the decision.</a:t>
            </a:r>
          </a:p>
          <a:p>
            <a:pPr marL="50800" indent="0">
              <a:buNone/>
            </a:pPr>
            <a:endParaRPr lang="en-GB" dirty="0"/>
          </a:p>
          <a:p>
            <a:pPr marL="50800" indent="0">
              <a:buNone/>
            </a:pPr>
            <a:r>
              <a:rPr lang="en-GB" dirty="0"/>
              <a:t>Economic incentives have </a:t>
            </a:r>
            <a:r>
              <a:rPr lang="en-GB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crowded out </a:t>
            </a:r>
            <a:r>
              <a:rPr lang="en-GB" dirty="0"/>
              <a:t>social preferences.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75505B-4185-CE41-B37D-D43CCD823C5C}"/>
              </a:ext>
            </a:extLst>
          </p:cNvPr>
          <p:cNvSpPr txBox="1"/>
          <p:nvPr/>
        </p:nvSpPr>
        <p:spPr>
          <a:xfrm>
            <a:off x="1251045" y="1536936"/>
            <a:ext cx="53190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Example: Introduction of ‘fine for lateness’ in </a:t>
            </a:r>
            <a:r>
              <a:rPr lang="en-GB" dirty="0" err="1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daycare</a:t>
            </a:r>
            <a:r>
              <a:rPr lang="en-GB" dirty="0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centres (about $3)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CE1D40-23B4-B548-A505-738F7C1A7D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12" y="2005103"/>
            <a:ext cx="6766953" cy="3809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2904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DAB69-DA32-5B4F-91AD-DFBCD43C9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have these two examples shown?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B10BD-DC7A-AB46-8181-029C84A72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dirty="0"/>
              <a:t>In order to avoid unintended consequences, a policymaker must make sure that:</a:t>
            </a:r>
          </a:p>
          <a:p>
            <a:pPr indent="-457200"/>
            <a:r>
              <a:rPr lang="en-US" u="sng" dirty="0"/>
              <a:t>The policy does not change people’s preferences in unintended ways</a:t>
            </a:r>
            <a:r>
              <a:rPr lang="en-US" dirty="0"/>
              <a:t>: A change in preferences might mean that </a:t>
            </a:r>
            <a:r>
              <a:rPr lang="en-US" dirty="0" err="1"/>
              <a:t>behaviour</a:t>
            </a:r>
            <a:r>
              <a:rPr lang="en-US" dirty="0"/>
              <a:t> changes too, which may mean the policy fails to hit its target. </a:t>
            </a:r>
          </a:p>
          <a:p>
            <a:pPr indent="-457200"/>
            <a:r>
              <a:rPr lang="en-US" u="sng" dirty="0"/>
              <a:t>The intended outcome is a Nash equilibrium</a:t>
            </a:r>
            <a:r>
              <a:rPr lang="en-US" dirty="0"/>
              <a:t>: Under the new policy, people must be motivated to act in ways that are consistent with the objective of the policymaker.</a:t>
            </a:r>
          </a:p>
          <a:p>
            <a:pPr marL="508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57563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CFF2-E604-3240-B836-DE7D0319D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Policy evaluation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6BC5E-7823-D241-9E9C-4DC94873C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dirty="0"/>
              <a:t>To evaluate a policy’s likely effect, economists face the difficult problem of identifying causes rather than simply finding correlations.</a:t>
            </a:r>
          </a:p>
          <a:p>
            <a:pPr marL="234950" indent="-234950">
              <a:buFont typeface="Arial" panose="020B0604020202020204" pitchFamily="34" charset="0"/>
              <a:buChar char="•"/>
            </a:pPr>
            <a:r>
              <a:rPr lang="en-US" dirty="0"/>
              <a:t>Sugar tax: Because detailed data on patterns of consumption is available, it is possible to design a well-targeted tax that would lead to a fall in obesity.</a:t>
            </a:r>
          </a:p>
          <a:p>
            <a:pPr marL="234950" indent="-234950">
              <a:buFont typeface="Arial" panose="020B0604020202020204" pitchFamily="34" charset="0"/>
              <a:buChar char="•"/>
            </a:pPr>
            <a:r>
              <a:rPr lang="en-US" dirty="0"/>
              <a:t>Intellectual property rights: Modern governments can use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natural experiments</a:t>
            </a:r>
            <a:r>
              <a:rPr lang="en-US" b="1" dirty="0"/>
              <a:t> </a:t>
            </a:r>
            <a:r>
              <a:rPr lang="en-US" dirty="0"/>
              <a:t>in history to find out whether patents and copyright encourage innovation, and how best to design these policies.</a:t>
            </a:r>
            <a:endParaRPr lang="en-US" sz="2400" dirty="0"/>
          </a:p>
          <a:p>
            <a:pPr marL="508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02410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2D798-54B8-B540-B458-047C1A744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9F617D-2136-9442-BE98-B1B1D712E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indent="-457200">
              <a:lnSpc>
                <a:spcPct val="100000"/>
              </a:lnSpc>
              <a:buSzPct val="100000"/>
              <a:buFont typeface="+mj-lt"/>
              <a:buAutoNum type="arabicPeriod"/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Rules of the game </a:t>
            </a:r>
            <a:r>
              <a:rPr lang="en-US" dirty="0"/>
              <a:t>and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social preferences </a:t>
            </a:r>
            <a:r>
              <a:rPr lang="en-US" dirty="0"/>
              <a:t>are key determinants of allocations. Evaluating outcomes involves looking at:</a:t>
            </a:r>
          </a:p>
          <a:p>
            <a:pPr indent="-457200">
              <a:lnSpc>
                <a:spcPct val="100000"/>
              </a:lnSpc>
              <a:buSzPct val="100000"/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Pareto efficiency</a:t>
            </a:r>
          </a:p>
          <a:p>
            <a:pPr indent="-457200">
              <a:lnSpc>
                <a:spcPct val="100000"/>
              </a:lnSpc>
              <a:buSzPct val="100000"/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Substantive </a:t>
            </a:r>
            <a:r>
              <a:rPr lang="en-US" dirty="0"/>
              <a:t>and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procedural fairness</a:t>
            </a:r>
          </a:p>
          <a:p>
            <a:pPr>
              <a:lnSpc>
                <a:spcPct val="100000"/>
              </a:lnSpc>
              <a:buSzPct val="100000"/>
            </a:pPr>
            <a:endParaRPr lang="en-US" sz="900" dirty="0"/>
          </a:p>
          <a:p>
            <a:pPr indent="-457200">
              <a:lnSpc>
                <a:spcPct val="110000"/>
              </a:lnSpc>
              <a:buSzPct val="100000"/>
              <a:buFont typeface="+mj-lt"/>
              <a:buAutoNum type="arabicPeriod" startAt="2"/>
            </a:pP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Public policies </a:t>
            </a:r>
            <a:r>
              <a:rPr lang="en-US" dirty="0"/>
              <a:t>can influence people’s </a:t>
            </a:r>
            <a:r>
              <a:rPr lang="en-US" dirty="0" err="1"/>
              <a:t>behaviour</a:t>
            </a:r>
            <a:r>
              <a:rPr lang="en-US" dirty="0"/>
              <a:t> by changing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incentives</a:t>
            </a:r>
            <a:r>
              <a:rPr lang="en-US" dirty="0"/>
              <a:t> and available information, but:</a:t>
            </a:r>
          </a:p>
          <a:p>
            <a:pPr indent="-457200">
              <a:lnSpc>
                <a:spcPct val="110000"/>
              </a:lnSpc>
              <a:buSzPct val="100000"/>
            </a:pPr>
            <a:r>
              <a:rPr lang="en-US" dirty="0"/>
              <a:t>Market-based incentives may adversely affect (social) preferences</a:t>
            </a:r>
          </a:p>
          <a:p>
            <a:pPr indent="-457200">
              <a:lnSpc>
                <a:spcPct val="110000"/>
              </a:lnSpc>
              <a:buSzPct val="100000"/>
            </a:pPr>
            <a:r>
              <a:rPr lang="en-US" dirty="0"/>
              <a:t>Intended outcome must be a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Nash equilibrium</a:t>
            </a:r>
          </a:p>
          <a:p>
            <a:pPr indent="-457200">
              <a:lnSpc>
                <a:spcPct val="110000"/>
              </a:lnSpc>
              <a:buSzPct val="100000"/>
            </a:pPr>
            <a:r>
              <a:rPr lang="en-US" dirty="0"/>
              <a:t>Establishing </a:t>
            </a:r>
            <a:r>
              <a:rPr lang="en-US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causal</a:t>
            </a:r>
            <a:r>
              <a:rPr lang="en-US" dirty="0"/>
              <a:t> links is not always straightforward</a:t>
            </a:r>
          </a:p>
          <a:p>
            <a:pPr marL="5080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01725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829A5-C3A8-CA47-97E0-4827914EB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 the next unit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71D21B-C9A7-3642-9343-E9F691062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How do people make choices? </a:t>
            </a:r>
          </a:p>
          <a:p>
            <a:pPr indent="-4572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Develop an economic model of </a:t>
            </a:r>
          </a:p>
          <a:p>
            <a:pPr lvl="1" indent="-457200">
              <a:lnSpc>
                <a:spcPct val="100000"/>
              </a:lnSpc>
              <a:buFont typeface="System Font Regular"/>
              <a:buChar char="-"/>
            </a:pPr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Optimal decision-making </a:t>
            </a:r>
            <a:r>
              <a:rPr lang="en-US" sz="3200" dirty="0"/>
              <a:t>under scarcity</a:t>
            </a:r>
          </a:p>
          <a:p>
            <a:pPr lvl="1" indent="-457200">
              <a:lnSpc>
                <a:spcPct val="100000"/>
              </a:lnSpc>
              <a:buFont typeface="System Font Regular"/>
              <a:buChar char="-"/>
            </a:pPr>
            <a:r>
              <a:rPr lang="en-US" sz="3200" dirty="0"/>
              <a:t>The impact of </a:t>
            </a:r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technological change</a:t>
            </a:r>
          </a:p>
          <a:p>
            <a:pPr>
              <a:lnSpc>
                <a:spcPct val="100000"/>
              </a:lnSpc>
            </a:pPr>
            <a:endParaRPr lang="en-US" sz="2000" dirty="0"/>
          </a:p>
          <a:p>
            <a:pPr indent="-457200">
              <a:lnSpc>
                <a:spcPct val="100000"/>
              </a:lnSpc>
            </a:pPr>
            <a:r>
              <a:rPr lang="en-US" sz="3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Consumption externalities </a:t>
            </a:r>
            <a:r>
              <a:rPr lang="en-US" sz="3200" dirty="0"/>
              <a:t>can cause social dilemmas</a:t>
            </a:r>
          </a:p>
          <a:p>
            <a:pPr indent="-457200">
              <a:lnSpc>
                <a:spcPct val="100000"/>
              </a:lnSpc>
            </a:pPr>
            <a:endParaRPr lang="en-US" sz="3200" b="1" dirty="0"/>
          </a:p>
          <a:p>
            <a:pPr indent="-457200">
              <a:lnSpc>
                <a:spcPct val="100000"/>
              </a:lnSpc>
              <a:buFont typeface="Wingdings" pitchFamily="2" charset="2"/>
              <a:buChar char="à"/>
            </a:pPr>
            <a:r>
              <a:rPr lang="en-US" sz="3200" dirty="0">
                <a:sym typeface="Wingdings" pitchFamily="2" charset="2"/>
              </a:rPr>
              <a:t>Use these concepts to explain differences in working hours across countries and over time</a:t>
            </a:r>
            <a:endParaRPr lang="en-US" sz="32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75150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RE 2">
      <a:dk1>
        <a:srgbClr val="414141"/>
      </a:dk1>
      <a:lt1>
        <a:srgbClr val="FFFFFF"/>
      </a:lt1>
      <a:dk2>
        <a:srgbClr val="51514D"/>
      </a:dk2>
      <a:lt2>
        <a:srgbClr val="E7E6E6"/>
      </a:lt2>
      <a:accent1>
        <a:srgbClr val="F0595B"/>
      </a:accent1>
      <a:accent2>
        <a:srgbClr val="6FC9C1"/>
      </a:accent2>
      <a:accent3>
        <a:srgbClr val="F58261"/>
      </a:accent3>
      <a:accent4>
        <a:srgbClr val="A0D187"/>
      </a:accent4>
      <a:accent5>
        <a:srgbClr val="0C9875"/>
      </a:accent5>
      <a:accent6>
        <a:srgbClr val="BC88AE"/>
      </a:accent6>
      <a:hlink>
        <a:srgbClr val="F0595B"/>
      </a:hlink>
      <a:folHlink>
        <a:srgbClr val="BC7E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1620</Words>
  <Application>Microsoft Office PowerPoint</Application>
  <PresentationFormat>Widescreen</PresentationFormat>
  <Paragraphs>160</Paragraphs>
  <Slides>33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Source Sans Pro Light</vt:lpstr>
      <vt:lpstr>System Font Regular</vt:lpstr>
      <vt:lpstr>Source Sans Pro</vt:lpstr>
      <vt:lpstr>Source Sans Pro SemiBold</vt:lpstr>
      <vt:lpstr>Wingdings</vt:lpstr>
      <vt:lpstr>Source Sans Pro ExtraLight</vt:lpstr>
      <vt:lpstr>Office Theme</vt:lpstr>
      <vt:lpstr>PowerPoint Presentation</vt:lpstr>
      <vt:lpstr>Unit 3</vt:lpstr>
      <vt:lpstr>Outline</vt:lpstr>
      <vt:lpstr>Outline</vt:lpstr>
      <vt:lpstr>Evaluating Allocations</vt:lpstr>
      <vt:lpstr>Public policy objectives</vt:lpstr>
      <vt:lpstr>Example: The ultimatum game</vt:lpstr>
      <vt:lpstr>Social preferences in the ultimatum game</vt:lpstr>
      <vt:lpstr>Playing the ultimatum game</vt:lpstr>
      <vt:lpstr>Playing the ultimatum game</vt:lpstr>
      <vt:lpstr>Efficiency: The Pareto Criterion</vt:lpstr>
      <vt:lpstr>Evaluating economic outcomes</vt:lpstr>
      <vt:lpstr>Evaluating economic outcomes</vt:lpstr>
      <vt:lpstr>Pareto efficiency</vt:lpstr>
      <vt:lpstr>Pareto efficiency with compensation</vt:lpstr>
      <vt:lpstr>Fairness and Inequality</vt:lpstr>
      <vt:lpstr>Too much inequality?</vt:lpstr>
      <vt:lpstr>Too much inequality?</vt:lpstr>
      <vt:lpstr>Defining fairness</vt:lpstr>
      <vt:lpstr>Procedural judgments of fairness</vt:lpstr>
      <vt:lpstr>Questions of value in economics</vt:lpstr>
      <vt:lpstr>Public Policies, Unintended Consequences</vt:lpstr>
      <vt:lpstr>Implementing public policies</vt:lpstr>
      <vt:lpstr>Pareto efficiency and Nash equilibrium</vt:lpstr>
      <vt:lpstr>Example #1: The tragedy of the commons</vt:lpstr>
      <vt:lpstr>A tax on overgrazing the commons</vt:lpstr>
      <vt:lpstr>Example #2: Tax avoidance game</vt:lpstr>
      <vt:lpstr>Unintended consequences</vt:lpstr>
      <vt:lpstr>Policies can affect preferences</vt:lpstr>
      <vt:lpstr>What have these two examples shown?</vt:lpstr>
      <vt:lpstr>Policy evaluation</vt:lpstr>
      <vt:lpstr>Summary</vt:lpstr>
      <vt:lpstr>In the next unit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Arthur Attwell</dc:creator>
  <cp:lastModifiedBy>Sounak Thakur</cp:lastModifiedBy>
  <cp:revision>9</cp:revision>
  <dcterms:created xsi:type="dcterms:W3CDTF">2017-10-09T10:02:31Z</dcterms:created>
  <dcterms:modified xsi:type="dcterms:W3CDTF">2025-01-30T06:03:08Z</dcterms:modified>
</cp:coreProperties>
</file>