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48"/>
  </p:notesMasterIdLst>
  <p:sldIdLst>
    <p:sldId id="256" r:id="rId2"/>
    <p:sldId id="257" r:id="rId3"/>
    <p:sldId id="258" r:id="rId4"/>
    <p:sldId id="260" r:id="rId5"/>
    <p:sldId id="261" r:id="rId6"/>
    <p:sldId id="262" r:id="rId7"/>
    <p:sldId id="302" r:id="rId8"/>
    <p:sldId id="30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embeddedFontLst>
    <p:embeddedFont>
      <p:font typeface="Merriweather" panose="00000500000000000000" pitchFamily="2" charset="0"/>
      <p:regular r:id="rId49"/>
      <p:bold r:id="rId50"/>
      <p:italic r:id="rId51"/>
      <p:boldItalic r:id="rId52"/>
    </p:embeddedFont>
    <p:embeddedFont>
      <p:font typeface="Source Sans Pro" panose="020B0503030403020204" pitchFamily="34" charset="0"/>
      <p:regular r:id="rId53"/>
      <p:bold r:id="rId54"/>
      <p:italic r:id="rId55"/>
      <p:boldItalic r:id="rId56"/>
    </p:embeddedFont>
    <p:embeddedFont>
      <p:font typeface="Source Sans Pro ExtraLight" panose="020B0303030403020204" pitchFamily="34" charset="0"/>
      <p:regular r:id="rId57"/>
      <p:italic r:id="rId58"/>
    </p:embeddedFont>
    <p:embeddedFont>
      <p:font typeface="Source Sans Pro Light" panose="020B0403030403020204" pitchFamily="34" charset="0"/>
      <p:regular r:id="rId59"/>
      <p:italic r:id="rId60"/>
    </p:embeddedFont>
    <p:embeddedFont>
      <p:font typeface="Source Sans Pro SemiBold" panose="020B0603030403020204" pitchFamily="34" charset="0"/>
      <p:regular r:id="rId61"/>
      <p:bold r:id="rId62"/>
      <p:italic r:id="rId63"/>
      <p:bold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5" roundtripDataSignature="AMtx7mgHBR93M48lCQSF6OakXBdeQjLW0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4141"/>
    <a:srgbClr val="0C9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6C77E8-1413-4FDF-B5C8-ED12207F0A2C}">
  <a:tblStyle styleId="{FC6C77E8-1413-4FDF-B5C8-ED12207F0A2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CE9E9"/>
          </a:solidFill>
        </a:fill>
      </a:tcStyle>
    </a:wholeTbl>
    <a:band1H>
      <a:tcTxStyle/>
      <a:tcStyle>
        <a:tcBdr/>
        <a:fill>
          <a:solidFill>
            <a:srgbClr val="F9D0D0"/>
          </a:solidFill>
        </a:fill>
      </a:tcStyle>
    </a:band1H>
    <a:band2H>
      <a:tcTxStyle/>
      <a:tcStyle>
        <a:tcBdr/>
      </a:tcStyle>
    </a:band2H>
    <a:band1V>
      <a:tcTxStyle/>
      <a:tcStyle>
        <a:tcBdr/>
        <a:fill>
          <a:solidFill>
            <a:srgbClr val="F9D0D0"/>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66"/>
    <p:restoredTop sz="94737"/>
  </p:normalViewPr>
  <p:slideViewPr>
    <p:cSldViewPr snapToGrid="0" snapToObjects="1">
      <p:cViewPr varScale="1">
        <p:scale>
          <a:sx n="81" d="100"/>
          <a:sy n="81" d="100"/>
        </p:scale>
        <p:origin x="83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5.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1.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62"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60" Type="http://schemas.openxmlformats.org/officeDocument/2006/relationships/font" Target="fonts/font12.fntdata"/><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gutenberg.org/files/19994/19994-h/19994-h.htm"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GB" dirty="0"/>
              <a:t>Image source: http://</a:t>
            </a:r>
            <a:r>
              <a:rPr lang="en-GB" dirty="0" err="1"/>
              <a:t>mythfolklore.net</a:t>
            </a:r>
            <a:r>
              <a:rPr lang="en-GB" dirty="0"/>
              <a:t>/</a:t>
            </a:r>
            <a:r>
              <a:rPr lang="en-GB" dirty="0" err="1"/>
              <a:t>aesopica</a:t>
            </a:r>
            <a:r>
              <a:rPr lang="en-GB" dirty="0"/>
              <a:t>/</a:t>
            </a:r>
            <a:r>
              <a:rPr lang="en-GB" dirty="0" err="1"/>
              <a:t>milowinter</a:t>
            </a:r>
            <a:r>
              <a:rPr lang="en-GB" dirty="0"/>
              <a:t>/6.htm</a:t>
            </a:r>
            <a:r>
              <a:rPr lang="en-HK" sz="1100" b="0" i="0" u="none" strike="noStrike" kern="1200" cap="none" dirty="0">
                <a:solidFill>
                  <a:schemeClr val="tx1"/>
                </a:solidFill>
                <a:effectLst/>
                <a:latin typeface="Arial"/>
                <a:ea typeface="Arial"/>
                <a:cs typeface="Arial"/>
                <a:sym typeface="Arial"/>
              </a:rPr>
              <a:t>I</a:t>
            </a:r>
          </a:p>
          <a:p>
            <a:r>
              <a:rPr lang="en-HK" sz="1100" b="0" i="0" u="none" strike="noStrike" kern="1200" cap="none" dirty="0" err="1">
                <a:solidFill>
                  <a:schemeClr val="tx1"/>
                </a:solidFill>
                <a:effectLst/>
                <a:latin typeface="Arial"/>
                <a:ea typeface="Arial"/>
                <a:cs typeface="Arial"/>
                <a:sym typeface="Arial"/>
              </a:rPr>
              <a:t>llustrations</a:t>
            </a:r>
            <a:r>
              <a:rPr lang="en-HK" sz="1100" b="0" i="0" u="none" strike="noStrike" kern="1200" cap="none" dirty="0">
                <a:solidFill>
                  <a:schemeClr val="tx1"/>
                </a:solidFill>
                <a:effectLst/>
                <a:latin typeface="Arial"/>
                <a:ea typeface="Arial"/>
                <a:cs typeface="Arial"/>
                <a:sym typeface="Arial"/>
              </a:rPr>
              <a:t> by Milo Winter (1886-1956). Available online at </a:t>
            </a:r>
            <a:r>
              <a:rPr lang="en-HK" sz="1100" b="0" i="0" u="none" strike="noStrike" kern="1200" cap="none" dirty="0">
                <a:solidFill>
                  <a:schemeClr val="tx1"/>
                </a:solidFill>
                <a:effectLst/>
                <a:latin typeface="Arial"/>
                <a:ea typeface="Arial"/>
                <a:cs typeface="Arial"/>
                <a:sym typeface="Arial"/>
                <a:hlinkClick r:id="rId3"/>
              </a:rPr>
              <a:t>Project Gutenberg</a:t>
            </a:r>
            <a:r>
              <a:rPr lang="en-HK" sz="1100" b="0" i="0" u="none" strike="noStrike" kern="1200" cap="none" dirty="0">
                <a:solidFill>
                  <a:schemeClr val="tx1"/>
                </a:solidFill>
                <a:effectLst/>
                <a:latin typeface="Arial"/>
                <a:ea typeface="Arial"/>
                <a:cs typeface="Arial"/>
                <a:sym typeface="Arial"/>
              </a:rPr>
              <a:t>.</a:t>
            </a:r>
            <a:endParaRPr lang="en-GB" dirty="0"/>
          </a:p>
        </p:txBody>
      </p:sp>
    </p:spTree>
    <p:extLst>
      <p:ext uri="{BB962C8B-B14F-4D97-AF65-F5344CB8AC3E}">
        <p14:creationId xmlns:p14="http://schemas.microsoft.com/office/powerpoint/2010/main" val="441094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GB" dirty="0"/>
              <a:t>Image source: http://</a:t>
            </a:r>
            <a:r>
              <a:rPr lang="en-GB" dirty="0" err="1"/>
              <a:t>www.naturphilosophie.co.uk</a:t>
            </a:r>
            <a:r>
              <a:rPr lang="en-GB" dirty="0"/>
              <a:t>/winning-rock-paper-scissors-lizard-</a:t>
            </a:r>
            <a:r>
              <a:rPr lang="en-GB" dirty="0" err="1"/>
              <a:t>spock</a:t>
            </a:r>
            <a:r>
              <a:rPr lang="en-GB" dirty="0"/>
              <a:t>/</a:t>
            </a:r>
          </a:p>
        </p:txBody>
      </p:sp>
    </p:spTree>
    <p:extLst>
      <p:ext uri="{BB962C8B-B14F-4D97-AF65-F5344CB8AC3E}">
        <p14:creationId xmlns:p14="http://schemas.microsoft.com/office/powerpoint/2010/main" val="408383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fontAlgn="base"/>
            <a:r>
              <a:rPr lang="cs-CZ" sz="1100" b="0" i="0" u="none" strike="noStrike" kern="1200" cap="none" dirty="0" err="1">
                <a:solidFill>
                  <a:schemeClr val="tx1"/>
                </a:solidFill>
                <a:effectLst/>
                <a:latin typeface="Arial"/>
                <a:ea typeface="Arial"/>
                <a:cs typeface="Arial"/>
                <a:sym typeface="Arial"/>
              </a:rPr>
              <a:t>Because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market </a:t>
            </a:r>
            <a:r>
              <a:rPr lang="cs-CZ" sz="1100" b="0" i="0" u="none" strike="noStrike" kern="1200" cap="none" dirty="0" err="1">
                <a:solidFill>
                  <a:schemeClr val="tx1"/>
                </a:solidFill>
                <a:effectLst/>
                <a:latin typeface="Arial"/>
                <a:ea typeface="Arial"/>
                <a:cs typeface="Arial"/>
                <a:sym typeface="Arial"/>
              </a:rPr>
              <a:t>price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falls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flooded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with</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one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crop</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can</a:t>
            </a:r>
            <a:r>
              <a:rPr lang="cs-CZ" sz="1100" b="0" i="0" u="none" strike="noStrike" kern="1200" cap="none" dirty="0">
                <a:solidFill>
                  <a:schemeClr val="tx1"/>
                </a:solidFill>
                <a:effectLst/>
                <a:latin typeface="Arial"/>
                <a:ea typeface="Arial"/>
                <a:cs typeface="Arial"/>
                <a:sym typeface="Arial"/>
              </a:rPr>
              <a:t> do </a:t>
            </a:r>
            <a:r>
              <a:rPr lang="cs-CZ" sz="1100" b="0" i="0" u="none" strike="noStrike" kern="1200" cap="none" dirty="0" err="1">
                <a:solidFill>
                  <a:schemeClr val="tx1"/>
                </a:solidFill>
                <a:effectLst/>
                <a:latin typeface="Arial"/>
                <a:ea typeface="Arial"/>
                <a:cs typeface="Arial"/>
                <a:sym typeface="Arial"/>
              </a:rPr>
              <a:t>better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if</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specialize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compared</a:t>
            </a:r>
            <a:r>
              <a:rPr lang="cs-CZ" sz="1100" b="0" i="0" u="none" strike="noStrike" kern="1200" cap="none" dirty="0">
                <a:solidFill>
                  <a:schemeClr val="tx1"/>
                </a:solidFill>
                <a:effectLst/>
                <a:latin typeface="Arial"/>
                <a:ea typeface="Arial"/>
                <a:cs typeface="Arial"/>
                <a:sym typeface="Arial"/>
              </a:rPr>
              <a:t> to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both</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produce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same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good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When</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produce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different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goods</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they</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would</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both</a:t>
            </a:r>
            <a:r>
              <a:rPr lang="cs-CZ" sz="1100" b="0" i="0" u="none" strike="noStrike" kern="1200" cap="none" dirty="0">
                <a:solidFill>
                  <a:schemeClr val="tx1"/>
                </a:solidFill>
                <a:effectLst/>
                <a:latin typeface="Arial"/>
                <a:ea typeface="Arial"/>
                <a:cs typeface="Arial"/>
                <a:sym typeface="Arial"/>
              </a:rPr>
              <a:t> do </a:t>
            </a:r>
            <a:r>
              <a:rPr lang="cs-CZ" sz="1100" b="0" i="0" u="none" strike="noStrike" kern="1200" cap="none" dirty="0" err="1">
                <a:solidFill>
                  <a:schemeClr val="tx1"/>
                </a:solidFill>
                <a:effectLst/>
                <a:latin typeface="Arial"/>
                <a:ea typeface="Arial"/>
                <a:cs typeface="Arial"/>
                <a:sym typeface="Arial"/>
              </a:rPr>
              <a:t>better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if</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each</a:t>
            </a:r>
            <a:r>
              <a:rPr lang="cs-CZ" sz="1100" b="0" i="0" u="none" strike="noStrike" kern="1200" cap="none" dirty="0">
                <a:solidFill>
                  <a:schemeClr val="tx1"/>
                </a:solidFill>
                <a:effectLst/>
                <a:latin typeface="Arial"/>
                <a:ea typeface="Arial"/>
                <a:cs typeface="Arial"/>
                <a:sym typeface="Arial"/>
              </a:rPr>
              <a:t> person </a:t>
            </a:r>
            <a:r>
              <a:rPr lang="cs-CZ" sz="1100" b="0" i="0" u="none" strike="noStrike" kern="1200" cap="none" dirty="0" err="1">
                <a:solidFill>
                  <a:schemeClr val="tx1"/>
                </a:solidFill>
                <a:effectLst/>
                <a:latin typeface="Arial"/>
                <a:ea typeface="Arial"/>
                <a:cs typeface="Arial"/>
                <a:sym typeface="Arial"/>
              </a:rPr>
              <a:t>specialized</a:t>
            </a:r>
            <a:r>
              <a:rPr lang="cs-CZ" sz="1100" b="0" i="0" u="none" strike="noStrike" kern="1200" cap="none" dirty="0">
                <a:solidFill>
                  <a:schemeClr val="tx1"/>
                </a:solidFill>
                <a:effectLst/>
                <a:latin typeface="Arial"/>
                <a:ea typeface="Arial"/>
                <a:cs typeface="Arial"/>
                <a:sym typeface="Arial"/>
              </a:rPr>
              <a:t> in </a:t>
            </a:r>
            <a:r>
              <a:rPr lang="cs-CZ" sz="1100" b="0" i="0" u="none" strike="noStrike" kern="1200" cap="none" dirty="0" err="1">
                <a:solidFill>
                  <a:schemeClr val="tx1"/>
                </a:solidFill>
                <a:effectLst/>
                <a:latin typeface="Arial"/>
                <a:ea typeface="Arial"/>
                <a:cs typeface="Arial"/>
                <a:sym typeface="Arial"/>
              </a:rPr>
              <a:t>the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crop</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that</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was</a:t>
            </a:r>
            <a:r>
              <a:rPr lang="cs-CZ" sz="1100" b="0" i="0" u="none" strike="noStrike" kern="1200" cap="none" dirty="0">
                <a:solidFill>
                  <a:schemeClr val="tx1"/>
                </a:solidFill>
                <a:effectLst/>
                <a:latin typeface="Arial"/>
                <a:ea typeface="Arial"/>
                <a:cs typeface="Arial"/>
                <a:sym typeface="Arial"/>
              </a:rPr>
              <a:t> most </a:t>
            </a:r>
            <a:r>
              <a:rPr lang="cs-CZ" sz="1100" b="0" i="0" u="none" strike="noStrike" kern="1200" cap="none" dirty="0" err="1">
                <a:solidFill>
                  <a:schemeClr val="tx1"/>
                </a:solidFill>
                <a:effectLst/>
                <a:latin typeface="Arial"/>
                <a:ea typeface="Arial"/>
                <a:cs typeface="Arial"/>
                <a:sym typeface="Arial"/>
              </a:rPr>
              <a:t>suitable</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for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their</a:t>
            </a:r>
            <a:r>
              <a:rPr lang="cs-CZ" sz="1100" b="0" i="0" u="none" strike="noStrike" kern="1200" cap="none" dirty="0">
                <a:solidFill>
                  <a:schemeClr val="tx1"/>
                </a:solidFill>
                <a:effectLst/>
                <a:latin typeface="Arial"/>
                <a:ea typeface="Arial"/>
                <a:cs typeface="Arial"/>
                <a:sym typeface="Arial"/>
              </a:rPr>
              <a:t> </a:t>
            </a:r>
            <a:r>
              <a:rPr lang="cs-CZ" sz="1100" b="0" i="0" u="none" strike="noStrike" kern="1200" cap="none" dirty="0" err="1">
                <a:solidFill>
                  <a:schemeClr val="tx1"/>
                </a:solidFill>
                <a:effectLst/>
                <a:latin typeface="Arial"/>
                <a:ea typeface="Arial"/>
                <a:cs typeface="Arial"/>
                <a:sym typeface="Arial"/>
              </a:rPr>
              <a:t>land</a:t>
            </a:r>
            <a:r>
              <a:rPr lang="cs-CZ" sz="1100" b="0" i="0" u="none" strike="noStrike" kern="1200" cap="none" dirty="0">
                <a:solidFill>
                  <a:schemeClr val="tx1"/>
                </a:solidFill>
                <a:effectLst/>
                <a:latin typeface="Arial"/>
                <a:ea typeface="Arial"/>
                <a:cs typeface="Arial"/>
                <a:sym typeface="Arial"/>
              </a:rPr>
              <a:t>.</a:t>
            </a:r>
          </a:p>
        </p:txBody>
      </p:sp>
    </p:spTree>
    <p:extLst>
      <p:ext uri="{BB962C8B-B14F-4D97-AF65-F5344CB8AC3E}">
        <p14:creationId xmlns:p14="http://schemas.microsoft.com/office/powerpoint/2010/main" val="2316271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ogo Title">
  <p:cSld name="Logo Title">
    <p:spTree>
      <p:nvGrpSpPr>
        <p:cNvPr id="1" name="Shape 11"/>
        <p:cNvGrpSpPr/>
        <p:nvPr/>
      </p:nvGrpSpPr>
      <p:grpSpPr>
        <a:xfrm>
          <a:off x="0" y="0"/>
          <a:ext cx="0" cy="0"/>
          <a:chOff x="0" y="0"/>
          <a:chExt cx="0" cy="0"/>
        </a:xfrm>
      </p:grpSpPr>
      <p:sp>
        <p:nvSpPr>
          <p:cNvPr id="12" name="Google Shape;12;p39"/>
          <p:cNvSpPr/>
          <p:nvPr/>
        </p:nvSpPr>
        <p:spPr>
          <a:xfrm>
            <a:off x="0" y="0"/>
            <a:ext cx="12192000" cy="6858000"/>
          </a:xfrm>
          <a:prstGeom prst="rect">
            <a:avLst/>
          </a:prstGeom>
          <a:solidFill>
            <a:srgbClr val="0C9875"/>
          </a:solidFill>
          <a:ln w="12700" cap="flat" cmpd="sng">
            <a:solidFill>
              <a:srgbClr val="0C987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Source Sans Pro Light"/>
              <a:ea typeface="Source Sans Pro Light"/>
              <a:cs typeface="Source Sans Pro Light"/>
              <a:sym typeface="Source Sans Pro Light"/>
            </a:endParaRPr>
          </a:p>
        </p:txBody>
      </p:sp>
      <p:pic>
        <p:nvPicPr>
          <p:cNvPr id="13" name="Google Shape;13;p39"/>
          <p:cNvPicPr preferRelativeResize="0"/>
          <p:nvPr/>
        </p:nvPicPr>
        <p:blipFill rotWithShape="1">
          <a:blip r:embed="rId2">
            <a:alphaModFix/>
          </a:blip>
          <a:srcRect/>
          <a:stretch/>
        </p:blipFill>
        <p:spPr>
          <a:xfrm>
            <a:off x="4202089" y="3081337"/>
            <a:ext cx="3651274" cy="10001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6000"/>
              <a:buFont typeface="Source Sans Pro"/>
              <a:buNone/>
              <a:defRPr sz="6000" b="1" i="0">
                <a:latin typeface="Source Sans Pro"/>
                <a:ea typeface="Source Sans Pro"/>
                <a:cs typeface="Source Sans Pro"/>
                <a:sym typeface="Source Sans Pr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b="0" i="0">
                <a:solidFill>
                  <a:schemeClr val="dk1"/>
                </a:solidFill>
                <a:latin typeface="Source Sans Pro ExtraLight"/>
                <a:ea typeface="Source Sans Pro ExtraLight"/>
                <a:cs typeface="Source Sans Pro ExtraLight"/>
                <a:sym typeface="Source Sans Pro ExtraLight"/>
              </a:defRPr>
            </a:lvl1pPr>
            <a:lvl2pPr lvl="1" algn="ctr">
              <a:lnSpc>
                <a:spcPct val="90000"/>
              </a:lnSpc>
              <a:spcBef>
                <a:spcPts val="500"/>
              </a:spcBef>
              <a:spcAft>
                <a:spcPts val="0"/>
              </a:spcAft>
              <a:buClr>
                <a:srgbClr val="5D5D5D"/>
              </a:buClr>
              <a:buSzPts val="2000"/>
              <a:buNone/>
              <a:defRPr sz="2000"/>
            </a:lvl2pPr>
            <a:lvl3pPr lvl="2" algn="ctr">
              <a:lnSpc>
                <a:spcPct val="90000"/>
              </a:lnSpc>
              <a:spcBef>
                <a:spcPts val="500"/>
              </a:spcBef>
              <a:spcAft>
                <a:spcPts val="0"/>
              </a:spcAft>
              <a:buClr>
                <a:srgbClr val="5D5D5D"/>
              </a:buClr>
              <a:buSzPts val="1800"/>
              <a:buNone/>
              <a:defRPr sz="1800"/>
            </a:lvl3pPr>
            <a:lvl4pPr lvl="3" algn="ctr">
              <a:lnSpc>
                <a:spcPct val="90000"/>
              </a:lnSpc>
              <a:spcBef>
                <a:spcPts val="500"/>
              </a:spcBef>
              <a:spcAft>
                <a:spcPts val="0"/>
              </a:spcAft>
              <a:buClr>
                <a:srgbClr val="5D5D5D"/>
              </a:buClr>
              <a:buSzPts val="1600"/>
              <a:buNone/>
              <a:defRPr sz="1600"/>
            </a:lvl4pPr>
            <a:lvl5pPr lvl="4" algn="ctr">
              <a:lnSpc>
                <a:spcPct val="90000"/>
              </a:lnSpc>
              <a:spcBef>
                <a:spcPts val="500"/>
              </a:spcBef>
              <a:spcAft>
                <a:spcPts val="0"/>
              </a:spcAft>
              <a:buClr>
                <a:srgbClr val="5D5D5D"/>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6000"/>
              <a:buFont typeface="Source Sans Pro SemiBold"/>
              <a:buNone/>
              <a:defRPr sz="6000" b="1" i="0">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b="0" i="0">
                <a:solidFill>
                  <a:schemeClr val="dk1"/>
                </a:solidFill>
                <a:latin typeface="Source Sans Pro ExtraLight"/>
                <a:ea typeface="Source Sans Pro ExtraLight"/>
                <a:cs typeface="Source Sans Pro ExtraLight"/>
                <a:sym typeface="Source Sans Pro ExtraLight"/>
              </a:defRPr>
            </a:lvl1pPr>
            <a:lvl2pPr marL="914400" lvl="1" indent="-228600" algn="l">
              <a:lnSpc>
                <a:spcPct val="90000"/>
              </a:lnSpc>
              <a:spcBef>
                <a:spcPts val="500"/>
              </a:spcBef>
              <a:spcAft>
                <a:spcPts val="0"/>
              </a:spcAft>
              <a:buClr>
                <a:srgbClr val="919191"/>
              </a:buClr>
              <a:buSzPts val="2000"/>
              <a:buNone/>
              <a:defRPr sz="2000">
                <a:solidFill>
                  <a:srgbClr val="919191"/>
                </a:solidFill>
              </a:defRPr>
            </a:lvl2pPr>
            <a:lvl3pPr marL="1371600" lvl="2" indent="-228600" algn="l">
              <a:lnSpc>
                <a:spcPct val="90000"/>
              </a:lnSpc>
              <a:spcBef>
                <a:spcPts val="500"/>
              </a:spcBef>
              <a:spcAft>
                <a:spcPts val="0"/>
              </a:spcAft>
              <a:buClr>
                <a:srgbClr val="919191"/>
              </a:buClr>
              <a:buSzPts val="1800"/>
              <a:buNone/>
              <a:defRPr sz="1800">
                <a:solidFill>
                  <a:srgbClr val="919191"/>
                </a:solidFill>
              </a:defRPr>
            </a:lvl3pPr>
            <a:lvl4pPr marL="1828800" lvl="3" indent="-228600" algn="l">
              <a:lnSpc>
                <a:spcPct val="90000"/>
              </a:lnSpc>
              <a:spcBef>
                <a:spcPts val="500"/>
              </a:spcBef>
              <a:spcAft>
                <a:spcPts val="0"/>
              </a:spcAft>
              <a:buClr>
                <a:srgbClr val="919191"/>
              </a:buClr>
              <a:buSzPts val="1600"/>
              <a:buNone/>
              <a:defRPr sz="1600">
                <a:solidFill>
                  <a:srgbClr val="919191"/>
                </a:solidFill>
              </a:defRPr>
            </a:lvl4pPr>
            <a:lvl5pPr marL="2286000" lvl="4" indent="-228600" algn="l">
              <a:lnSpc>
                <a:spcPct val="90000"/>
              </a:lnSpc>
              <a:spcBef>
                <a:spcPts val="500"/>
              </a:spcBef>
              <a:spcAft>
                <a:spcPts val="0"/>
              </a:spcAft>
              <a:buClr>
                <a:srgbClr val="919191"/>
              </a:buClr>
              <a:buSzPts val="1600"/>
              <a:buNone/>
              <a:defRPr sz="1600">
                <a:solidFill>
                  <a:srgbClr val="919191"/>
                </a:solidFill>
              </a:defRPr>
            </a:lvl5pPr>
            <a:lvl6pPr marL="2743200" lvl="5" indent="-228600" algn="l">
              <a:lnSpc>
                <a:spcPct val="90000"/>
              </a:lnSpc>
              <a:spcBef>
                <a:spcPts val="500"/>
              </a:spcBef>
              <a:spcAft>
                <a:spcPts val="0"/>
              </a:spcAft>
              <a:buClr>
                <a:srgbClr val="919191"/>
              </a:buClr>
              <a:buSzPts val="1600"/>
              <a:buNone/>
              <a:defRPr sz="1600">
                <a:solidFill>
                  <a:srgbClr val="919191"/>
                </a:solidFill>
              </a:defRPr>
            </a:lvl6pPr>
            <a:lvl7pPr marL="3200400" lvl="6" indent="-228600" algn="l">
              <a:lnSpc>
                <a:spcPct val="90000"/>
              </a:lnSpc>
              <a:spcBef>
                <a:spcPts val="500"/>
              </a:spcBef>
              <a:spcAft>
                <a:spcPts val="0"/>
              </a:spcAft>
              <a:buClr>
                <a:srgbClr val="919191"/>
              </a:buClr>
              <a:buSzPts val="1600"/>
              <a:buNone/>
              <a:defRPr sz="1600">
                <a:solidFill>
                  <a:srgbClr val="919191"/>
                </a:solidFill>
              </a:defRPr>
            </a:lvl7pPr>
            <a:lvl8pPr marL="3657600" lvl="7" indent="-228600" algn="l">
              <a:lnSpc>
                <a:spcPct val="90000"/>
              </a:lnSpc>
              <a:spcBef>
                <a:spcPts val="500"/>
              </a:spcBef>
              <a:spcAft>
                <a:spcPts val="0"/>
              </a:spcAft>
              <a:buClr>
                <a:srgbClr val="919191"/>
              </a:buClr>
              <a:buSzPts val="1600"/>
              <a:buNone/>
              <a:defRPr sz="1600">
                <a:solidFill>
                  <a:srgbClr val="919191"/>
                </a:solidFill>
              </a:defRPr>
            </a:lvl8pPr>
            <a:lvl9pPr marL="4114800" lvl="8" indent="-228600" algn="l">
              <a:lnSpc>
                <a:spcPct val="90000"/>
              </a:lnSpc>
              <a:spcBef>
                <a:spcPts val="500"/>
              </a:spcBef>
              <a:spcAft>
                <a:spcPts val="0"/>
              </a:spcAft>
              <a:buClr>
                <a:srgbClr val="919191"/>
              </a:buClr>
              <a:buSzPts val="1600"/>
              <a:buNone/>
              <a:defRPr sz="1600">
                <a:solidFill>
                  <a:srgbClr val="919191"/>
                </a:solidFill>
              </a:defRPr>
            </a:lvl9pPr>
          </a:lstStyle>
          <a:p>
            <a:endParaRPr/>
          </a:p>
        </p:txBody>
      </p:sp>
      <p:cxnSp>
        <p:nvCxnSpPr>
          <p:cNvPr id="20" name="Google Shape;20;p41"/>
          <p:cNvCxnSpPr>
            <a:stCxn id="19" idx="1"/>
            <a:endCxn id="19" idx="3"/>
          </p:cNvCxnSpPr>
          <p:nvPr/>
        </p:nvCxnSpPr>
        <p:spPr>
          <a:xfrm>
            <a:off x="831850" y="5339556"/>
            <a:ext cx="10515600" cy="0"/>
          </a:xfrm>
          <a:prstGeom prst="straightConnector1">
            <a:avLst/>
          </a:prstGeom>
          <a:noFill/>
          <a:ln w="76200" cap="flat" cmpd="sng">
            <a:solidFill>
              <a:srgbClr val="0C9875"/>
            </a:solidFill>
            <a:prstDash val="solid"/>
            <a:miter lim="800000"/>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pic>
        <p:nvPicPr>
          <p:cNvPr id="28" name="Google Shape;28;p43"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29" name="Google Shape;29;p4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1" name="Google Shape;31;p43"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pic>
        <p:nvPicPr>
          <p:cNvPr id="47" name="Google Shape;47;p46" descr="drop-banner_1.jpg"/>
          <p:cNvPicPr preferRelativeResize="0"/>
          <p:nvPr/>
        </p:nvPicPr>
        <p:blipFill rotWithShape="1">
          <a:blip r:embed="rId2">
            <a:alphaModFix/>
          </a:blip>
          <a:srcRect t="99" b="99"/>
          <a:stretch/>
        </p:blipFill>
        <p:spPr>
          <a:xfrm>
            <a:off x="0" y="6391867"/>
            <a:ext cx="12192001" cy="465549"/>
          </a:xfrm>
          <a:prstGeom prst="rect">
            <a:avLst/>
          </a:prstGeom>
          <a:noFill/>
          <a:ln>
            <a:noFill/>
          </a:ln>
        </p:spPr>
      </p:pic>
      <p:sp>
        <p:nvSpPr>
          <p:cNvPr id="48" name="Google Shape;48;p4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9" name="Google Shape;49;p46"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pic>
        <p:nvPicPr>
          <p:cNvPr id="51" name="Google Shape;51;p47"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pic>
        <p:nvPicPr>
          <p:cNvPr id="52" name="Google Shape;52;p47"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pic>
        <p:nvPicPr>
          <p:cNvPr id="54" name="Google Shape;54;p48"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55" name="Google Shape;55;p4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400"/>
              <a:buFont typeface="Source Sans Pro SemiBold"/>
              <a:buNone/>
              <a:defRPr b="1" i="0">
                <a:solidFill>
                  <a:schemeClr val="dk1"/>
                </a:solidFill>
                <a:latin typeface="Source Sans Pro SemiBold"/>
                <a:ea typeface="Source Sans Pro SemiBold"/>
                <a:cs typeface="Source Sans Pro SemiBold"/>
                <a:sym typeface="Source Sans Pro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3000"/>
              <a:buNone/>
              <a:defRPr sz="3000" b="1" i="0">
                <a:solidFill>
                  <a:schemeClr val="dk1"/>
                </a:solidFill>
                <a:latin typeface="Source Sans Pro SemiBold"/>
                <a:ea typeface="Source Sans Pro SemiBold"/>
                <a:cs typeface="Source Sans Pro SemiBold"/>
                <a:sym typeface="Source Sans Pro SemiBold"/>
              </a:defRPr>
            </a:lvl1pPr>
            <a:lvl2pPr marL="914400" lvl="1" indent="-228600" algn="l">
              <a:lnSpc>
                <a:spcPct val="90000"/>
              </a:lnSpc>
              <a:spcBef>
                <a:spcPts val="500"/>
              </a:spcBef>
              <a:spcAft>
                <a:spcPts val="0"/>
              </a:spcAft>
              <a:buClr>
                <a:srgbClr val="5D5D5D"/>
              </a:buClr>
              <a:buSzPts val="2000"/>
              <a:buNone/>
              <a:defRPr sz="2000" b="1"/>
            </a:lvl2pPr>
            <a:lvl3pPr marL="1371600" lvl="2" indent="-228600" algn="l">
              <a:lnSpc>
                <a:spcPct val="90000"/>
              </a:lnSpc>
              <a:spcBef>
                <a:spcPts val="500"/>
              </a:spcBef>
              <a:spcAft>
                <a:spcPts val="0"/>
              </a:spcAft>
              <a:buClr>
                <a:srgbClr val="5D5D5D"/>
              </a:buClr>
              <a:buSzPts val="1800"/>
              <a:buNone/>
              <a:defRPr sz="1800" b="1"/>
            </a:lvl3pPr>
            <a:lvl4pPr marL="1828800" lvl="3" indent="-228600" algn="l">
              <a:lnSpc>
                <a:spcPct val="90000"/>
              </a:lnSpc>
              <a:spcBef>
                <a:spcPts val="500"/>
              </a:spcBef>
              <a:spcAft>
                <a:spcPts val="0"/>
              </a:spcAft>
              <a:buClr>
                <a:srgbClr val="5D5D5D"/>
              </a:buClr>
              <a:buSzPts val="1600"/>
              <a:buNone/>
              <a:defRPr sz="1600" b="1"/>
            </a:lvl4pPr>
            <a:lvl5pPr marL="2286000" lvl="4" indent="-228600" algn="l">
              <a:lnSpc>
                <a:spcPct val="90000"/>
              </a:lnSpc>
              <a:spcBef>
                <a:spcPts val="500"/>
              </a:spcBef>
              <a:spcAft>
                <a:spcPts val="0"/>
              </a:spcAft>
              <a:buClr>
                <a:srgbClr val="5D5D5D"/>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4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3000"/>
              <a:buNone/>
              <a:defRPr sz="3000" b="1" i="0">
                <a:solidFill>
                  <a:schemeClr val="dk1"/>
                </a:solidFill>
                <a:latin typeface="Source Sans Pro SemiBold"/>
                <a:ea typeface="Source Sans Pro SemiBold"/>
                <a:cs typeface="Source Sans Pro SemiBold"/>
                <a:sym typeface="Source Sans Pro SemiBold"/>
              </a:defRPr>
            </a:lvl1pPr>
            <a:lvl2pPr marL="914400" lvl="1" indent="-228600" algn="l">
              <a:lnSpc>
                <a:spcPct val="90000"/>
              </a:lnSpc>
              <a:spcBef>
                <a:spcPts val="500"/>
              </a:spcBef>
              <a:spcAft>
                <a:spcPts val="0"/>
              </a:spcAft>
              <a:buClr>
                <a:srgbClr val="5D5D5D"/>
              </a:buClr>
              <a:buSzPts val="2000"/>
              <a:buNone/>
              <a:defRPr sz="2000" b="1"/>
            </a:lvl2pPr>
            <a:lvl3pPr marL="1371600" lvl="2" indent="-228600" algn="l">
              <a:lnSpc>
                <a:spcPct val="90000"/>
              </a:lnSpc>
              <a:spcBef>
                <a:spcPts val="500"/>
              </a:spcBef>
              <a:spcAft>
                <a:spcPts val="0"/>
              </a:spcAft>
              <a:buClr>
                <a:srgbClr val="5D5D5D"/>
              </a:buClr>
              <a:buSzPts val="1800"/>
              <a:buNone/>
              <a:defRPr sz="1800" b="1"/>
            </a:lvl3pPr>
            <a:lvl4pPr marL="1828800" lvl="3" indent="-228600" algn="l">
              <a:lnSpc>
                <a:spcPct val="90000"/>
              </a:lnSpc>
              <a:spcBef>
                <a:spcPts val="500"/>
              </a:spcBef>
              <a:spcAft>
                <a:spcPts val="0"/>
              </a:spcAft>
              <a:buClr>
                <a:srgbClr val="5D5D5D"/>
              </a:buClr>
              <a:buSzPts val="1600"/>
              <a:buNone/>
              <a:defRPr sz="1600" b="1"/>
            </a:lvl4pPr>
            <a:lvl5pPr marL="2286000" lvl="4" indent="-228600" algn="l">
              <a:lnSpc>
                <a:spcPct val="90000"/>
              </a:lnSpc>
              <a:spcBef>
                <a:spcPts val="500"/>
              </a:spcBef>
              <a:spcAft>
                <a:spcPts val="0"/>
              </a:spcAft>
              <a:buClr>
                <a:srgbClr val="5D5D5D"/>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4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solidFill>
                  <a:schemeClr val="dk1"/>
                </a:solidFill>
              </a:defRPr>
            </a:lvl1pPr>
            <a:lvl2pPr marL="914400" lvl="1" indent="-381000" algn="l">
              <a:lnSpc>
                <a:spcPct val="90000"/>
              </a:lnSpc>
              <a:spcBef>
                <a:spcPts val="500"/>
              </a:spcBef>
              <a:spcAft>
                <a:spcPts val="0"/>
              </a:spcAft>
              <a:buClr>
                <a:schemeClr val="dk1"/>
              </a:buClr>
              <a:buSzPts val="2400"/>
              <a:buChar char="•"/>
              <a:defRPr>
                <a:solidFill>
                  <a:schemeClr val="dk1"/>
                </a:solidFill>
              </a:defRPr>
            </a:lvl2pPr>
            <a:lvl3pPr marL="1371600" lvl="2" indent="-355600" algn="l">
              <a:lnSpc>
                <a:spcPct val="90000"/>
              </a:lnSpc>
              <a:spcBef>
                <a:spcPts val="500"/>
              </a:spcBef>
              <a:spcAft>
                <a:spcPts val="0"/>
              </a:spcAft>
              <a:buClr>
                <a:schemeClr val="dk1"/>
              </a:buClr>
              <a:buSzPts val="2000"/>
              <a:buChar char="•"/>
              <a:defRPr>
                <a:solidFill>
                  <a:schemeClr val="dk1"/>
                </a:solidFill>
              </a:defRPr>
            </a:lvl3pPr>
            <a:lvl4pPr marL="1828800" lvl="3" indent="-342900" algn="l">
              <a:lnSpc>
                <a:spcPct val="90000"/>
              </a:lnSpc>
              <a:spcBef>
                <a:spcPts val="500"/>
              </a:spcBef>
              <a:spcAft>
                <a:spcPts val="0"/>
              </a:spcAft>
              <a:buClr>
                <a:schemeClr val="dk1"/>
              </a:buClr>
              <a:buSzPts val="1800"/>
              <a:buChar char="•"/>
              <a:defRPr>
                <a:solidFill>
                  <a:schemeClr val="dk1"/>
                </a:solidFill>
              </a:defRPr>
            </a:lvl4pPr>
            <a:lvl5pPr marL="2286000" lvl="4" indent="-342900" algn="l">
              <a:lnSpc>
                <a:spcPct val="90000"/>
              </a:lnSpc>
              <a:spcBef>
                <a:spcPts val="500"/>
              </a:spcBef>
              <a:spcAft>
                <a:spcPts val="0"/>
              </a:spcAft>
              <a:buClr>
                <a:schemeClr val="dk1"/>
              </a:buClr>
              <a:buSzPts val="1800"/>
              <a:buChar char="•"/>
              <a:defRPr>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60" name="Google Shape;60;p48"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pic>
        <p:nvPicPr>
          <p:cNvPr id="62" name="Google Shape;62;p49" descr="drop-banner_1.jpg"/>
          <p:cNvPicPr preferRelativeResize="0"/>
          <p:nvPr/>
        </p:nvPicPr>
        <p:blipFill rotWithShape="1">
          <a:blip r:embed="rId2">
            <a:alphaModFix/>
          </a:blip>
          <a:srcRect t="99" b="99"/>
          <a:stretch/>
        </p:blipFill>
        <p:spPr>
          <a:xfrm>
            <a:off x="0" y="6398805"/>
            <a:ext cx="12192001" cy="465549"/>
          </a:xfrm>
          <a:prstGeom prst="rect">
            <a:avLst/>
          </a:prstGeom>
          <a:noFill/>
          <a:ln>
            <a:noFill/>
          </a:ln>
        </p:spPr>
      </p:pic>
      <p:sp>
        <p:nvSpPr>
          <p:cNvPr id="63" name="Google Shape;63;p49"/>
          <p:cNvSpPr/>
          <p:nvPr/>
        </p:nvSpPr>
        <p:spPr>
          <a:xfrm rot="10800000" flipH="1">
            <a:off x="838201" y="979487"/>
            <a:ext cx="3933824" cy="4881563"/>
          </a:xfrm>
          <a:prstGeom prst="round1Rect">
            <a:avLst>
              <a:gd name="adj" fmla="val 16667"/>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a:solidFill>
                <a:schemeClr val="lt1"/>
              </a:solidFill>
              <a:latin typeface="Source Sans Pro Light"/>
              <a:ea typeface="Source Sans Pro Light"/>
              <a:cs typeface="Source Sans Pro Light"/>
              <a:sym typeface="Source Sans Pro Light"/>
            </a:endParaRPr>
          </a:p>
        </p:txBody>
      </p:sp>
      <p:sp>
        <p:nvSpPr>
          <p:cNvPr id="64" name="Google Shape;64;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Source Sans Pro"/>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solidFill>
                  <a:schemeClr val="dk1"/>
                </a:solidFill>
              </a:defRPr>
            </a:lvl1pPr>
            <a:lvl2pPr marL="914400" lvl="1" indent="-406400" algn="l">
              <a:lnSpc>
                <a:spcPct val="90000"/>
              </a:lnSpc>
              <a:spcBef>
                <a:spcPts val="500"/>
              </a:spcBef>
              <a:spcAft>
                <a:spcPts val="0"/>
              </a:spcAft>
              <a:buClr>
                <a:schemeClr val="dk1"/>
              </a:buClr>
              <a:buSzPts val="2800"/>
              <a:buChar char="•"/>
              <a:defRPr sz="2800">
                <a:solidFill>
                  <a:schemeClr val="dk1"/>
                </a:solidFill>
              </a:defRPr>
            </a:lvl2pPr>
            <a:lvl3pPr marL="1371600" lvl="2" indent="-381000" algn="l">
              <a:lnSpc>
                <a:spcPct val="90000"/>
              </a:lnSpc>
              <a:spcBef>
                <a:spcPts val="500"/>
              </a:spcBef>
              <a:spcAft>
                <a:spcPts val="0"/>
              </a:spcAft>
              <a:buClr>
                <a:schemeClr val="dk1"/>
              </a:buClr>
              <a:buSzPts val="2400"/>
              <a:buChar char="•"/>
              <a:defRPr sz="2400">
                <a:solidFill>
                  <a:schemeClr val="dk1"/>
                </a:solidFill>
              </a:defRPr>
            </a:lvl3pPr>
            <a:lvl4pPr marL="1828800" lvl="3" indent="-355600" algn="l">
              <a:lnSpc>
                <a:spcPct val="90000"/>
              </a:lnSpc>
              <a:spcBef>
                <a:spcPts val="500"/>
              </a:spcBef>
              <a:spcAft>
                <a:spcPts val="0"/>
              </a:spcAft>
              <a:buClr>
                <a:schemeClr val="dk1"/>
              </a:buClr>
              <a:buSzPts val="2000"/>
              <a:buChar char="•"/>
              <a:defRPr sz="2000">
                <a:solidFill>
                  <a:schemeClr val="dk1"/>
                </a:solidFill>
              </a:defRPr>
            </a:lvl4pPr>
            <a:lvl5pPr marL="2286000" lvl="4" indent="-355600" algn="l">
              <a:lnSpc>
                <a:spcPct val="90000"/>
              </a:lnSpc>
              <a:spcBef>
                <a:spcPts val="500"/>
              </a:spcBef>
              <a:spcAft>
                <a:spcPts val="0"/>
              </a:spcAft>
              <a:buClr>
                <a:schemeClr val="dk1"/>
              </a:buClr>
              <a:buSzPts val="2000"/>
              <a:buChar char="•"/>
              <a:defRPr sz="2000">
                <a:solidFill>
                  <a:schemeClr val="dk1"/>
                </a:solidFill>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6" name="Google Shape;66;p4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rgbClr val="5D5D5D"/>
              </a:buClr>
              <a:buSzPts val="1400"/>
              <a:buNone/>
              <a:defRPr sz="1400"/>
            </a:lvl2pPr>
            <a:lvl3pPr marL="1371600" lvl="2" indent="-228600" algn="l">
              <a:lnSpc>
                <a:spcPct val="90000"/>
              </a:lnSpc>
              <a:spcBef>
                <a:spcPts val="500"/>
              </a:spcBef>
              <a:spcAft>
                <a:spcPts val="0"/>
              </a:spcAft>
              <a:buClr>
                <a:srgbClr val="5D5D5D"/>
              </a:buClr>
              <a:buSzPts val="1200"/>
              <a:buNone/>
              <a:defRPr sz="1200"/>
            </a:lvl3pPr>
            <a:lvl4pPr marL="1828800" lvl="3" indent="-228600" algn="l">
              <a:lnSpc>
                <a:spcPct val="90000"/>
              </a:lnSpc>
              <a:spcBef>
                <a:spcPts val="500"/>
              </a:spcBef>
              <a:spcAft>
                <a:spcPts val="0"/>
              </a:spcAft>
              <a:buClr>
                <a:srgbClr val="5D5D5D"/>
              </a:buClr>
              <a:buSzPts val="1000"/>
              <a:buNone/>
              <a:defRPr sz="1000"/>
            </a:lvl4pPr>
            <a:lvl5pPr marL="2286000" lvl="4" indent="-228600" algn="l">
              <a:lnSpc>
                <a:spcPct val="90000"/>
              </a:lnSpc>
              <a:spcBef>
                <a:spcPts val="500"/>
              </a:spcBef>
              <a:spcAft>
                <a:spcPts val="0"/>
              </a:spcAft>
              <a:buClr>
                <a:srgbClr val="5D5D5D"/>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7" name="Google Shape;67;p49" descr="core-logo_bw_no-strapline_edit_2.png"/>
          <p:cNvPicPr preferRelativeResize="0"/>
          <p:nvPr/>
        </p:nvPicPr>
        <p:blipFill rotWithShape="1">
          <a:blip r:embed="rId3">
            <a:alphaModFix/>
          </a:blip>
          <a:srcRect t="1950" b="1950"/>
          <a:stretch/>
        </p:blipFill>
        <p:spPr>
          <a:xfrm>
            <a:off x="10524665" y="6533027"/>
            <a:ext cx="1324357" cy="2443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C9875"/>
              </a:buClr>
              <a:buSzPts val="4400"/>
              <a:buFont typeface="Source Sans Pro"/>
              <a:buNone/>
              <a:defRPr sz="4400" b="0" i="0" u="none" strike="noStrike" cap="none">
                <a:solidFill>
                  <a:srgbClr val="0C9875"/>
                </a:solidFill>
                <a:latin typeface="Source Sans Pro"/>
                <a:ea typeface="Source Sans Pro"/>
                <a:cs typeface="Source Sans Pro"/>
                <a:sym typeface="Source Sans Pr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5D5D5D"/>
              </a:buClr>
              <a:buSzPts val="2800"/>
              <a:buFont typeface="Arial"/>
              <a:buChar char="•"/>
              <a:defRPr sz="2800" b="0" i="0" u="none" strike="noStrike" cap="none">
                <a:solidFill>
                  <a:srgbClr val="5D5D5D"/>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rgbClr val="5D5D5D"/>
              </a:buClr>
              <a:buSzPts val="2400"/>
              <a:buFont typeface="Arial"/>
              <a:buChar char="•"/>
              <a:defRPr sz="2400" b="0" i="0" u="none" strike="noStrike" cap="none">
                <a:solidFill>
                  <a:srgbClr val="5D5D5D"/>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rgbClr val="5D5D5D"/>
              </a:buClr>
              <a:buSzPts val="2000"/>
              <a:buFont typeface="Arial"/>
              <a:buChar char="•"/>
              <a:defRPr sz="2000" b="0" i="0" u="none" strike="noStrike" cap="none">
                <a:solidFill>
                  <a:srgbClr val="5D5D5D"/>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rgbClr val="5D5D5D"/>
              </a:buClr>
              <a:buSzPts val="1800"/>
              <a:buFont typeface="Arial"/>
              <a:buChar char="•"/>
              <a:defRPr sz="1800" b="0" i="0" u="none" strike="noStrike" cap="none">
                <a:solidFill>
                  <a:srgbClr val="5D5D5D"/>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rgbClr val="5D5D5D"/>
              </a:buClr>
              <a:buSzPts val="1800"/>
              <a:buFont typeface="Arial"/>
              <a:buChar char="•"/>
              <a:defRPr sz="1800" b="0" i="0" u="none" strike="noStrike" cap="none">
                <a:solidFill>
                  <a:srgbClr val="5D5D5D"/>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919191"/>
                </a:solidFill>
                <a:latin typeface="Source Sans Pro"/>
                <a:ea typeface="Source Sans Pro"/>
                <a:cs typeface="Source Sans Pro"/>
                <a:sym typeface="Source Sans Pr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919191"/>
                </a:solidFill>
                <a:latin typeface="Source Sans Pro"/>
                <a:ea typeface="Source Sans Pro"/>
                <a:cs typeface="Source Sans Pro"/>
                <a:sym typeface="Source Sans Pr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919191"/>
                </a:solidFill>
                <a:latin typeface="Source Sans Pro"/>
                <a:ea typeface="Source Sans Pro"/>
                <a:cs typeface="Source Sans Pro"/>
                <a:sym typeface="Source Sans Pro"/>
              </a:defRPr>
            </a:lvl1pPr>
            <a:lvl2pPr marL="0" marR="0" lvl="1" indent="0" algn="r" rtl="0">
              <a:spcBef>
                <a:spcPts val="0"/>
              </a:spcBef>
              <a:buNone/>
              <a:defRPr sz="1200" b="0" i="0" u="none" strike="noStrike" cap="none">
                <a:solidFill>
                  <a:srgbClr val="919191"/>
                </a:solidFill>
                <a:latin typeface="Source Sans Pro"/>
                <a:ea typeface="Source Sans Pro"/>
                <a:cs typeface="Source Sans Pro"/>
                <a:sym typeface="Source Sans Pro"/>
              </a:defRPr>
            </a:lvl2pPr>
            <a:lvl3pPr marL="0" marR="0" lvl="2" indent="0" algn="r" rtl="0">
              <a:spcBef>
                <a:spcPts val="0"/>
              </a:spcBef>
              <a:buNone/>
              <a:defRPr sz="1200" b="0" i="0" u="none" strike="noStrike" cap="none">
                <a:solidFill>
                  <a:srgbClr val="919191"/>
                </a:solidFill>
                <a:latin typeface="Source Sans Pro"/>
                <a:ea typeface="Source Sans Pro"/>
                <a:cs typeface="Source Sans Pro"/>
                <a:sym typeface="Source Sans Pro"/>
              </a:defRPr>
            </a:lvl3pPr>
            <a:lvl4pPr marL="0" marR="0" lvl="3" indent="0" algn="r" rtl="0">
              <a:spcBef>
                <a:spcPts val="0"/>
              </a:spcBef>
              <a:buNone/>
              <a:defRPr sz="1200" b="0" i="0" u="none" strike="noStrike" cap="none">
                <a:solidFill>
                  <a:srgbClr val="919191"/>
                </a:solidFill>
                <a:latin typeface="Source Sans Pro"/>
                <a:ea typeface="Source Sans Pro"/>
                <a:cs typeface="Source Sans Pro"/>
                <a:sym typeface="Source Sans Pro"/>
              </a:defRPr>
            </a:lvl4pPr>
            <a:lvl5pPr marL="0" marR="0" lvl="4" indent="0" algn="r" rtl="0">
              <a:spcBef>
                <a:spcPts val="0"/>
              </a:spcBef>
              <a:buNone/>
              <a:defRPr sz="1200" b="0" i="0" u="none" strike="noStrike" cap="none">
                <a:solidFill>
                  <a:srgbClr val="919191"/>
                </a:solidFill>
                <a:latin typeface="Source Sans Pro"/>
                <a:ea typeface="Source Sans Pro"/>
                <a:cs typeface="Source Sans Pro"/>
                <a:sym typeface="Source Sans Pro"/>
              </a:defRPr>
            </a:lvl5pPr>
            <a:lvl6pPr marL="0" marR="0" lvl="5" indent="0" algn="r" rtl="0">
              <a:spcBef>
                <a:spcPts val="0"/>
              </a:spcBef>
              <a:buNone/>
              <a:defRPr sz="1200" b="0" i="0" u="none" strike="noStrike" cap="none">
                <a:solidFill>
                  <a:srgbClr val="919191"/>
                </a:solidFill>
                <a:latin typeface="Source Sans Pro"/>
                <a:ea typeface="Source Sans Pro"/>
                <a:cs typeface="Source Sans Pro"/>
                <a:sym typeface="Source Sans Pro"/>
              </a:defRPr>
            </a:lvl6pPr>
            <a:lvl7pPr marL="0" marR="0" lvl="6" indent="0" algn="r" rtl="0">
              <a:spcBef>
                <a:spcPts val="0"/>
              </a:spcBef>
              <a:buNone/>
              <a:defRPr sz="1200" b="0" i="0" u="none" strike="noStrike" cap="none">
                <a:solidFill>
                  <a:srgbClr val="919191"/>
                </a:solidFill>
                <a:latin typeface="Source Sans Pro"/>
                <a:ea typeface="Source Sans Pro"/>
                <a:cs typeface="Source Sans Pro"/>
                <a:sym typeface="Source Sans Pro"/>
              </a:defRPr>
            </a:lvl7pPr>
            <a:lvl8pPr marL="0" marR="0" lvl="7" indent="0" algn="r" rtl="0">
              <a:spcBef>
                <a:spcPts val="0"/>
              </a:spcBef>
              <a:buNone/>
              <a:defRPr sz="1200" b="0" i="0" u="none" strike="noStrike" cap="none">
                <a:solidFill>
                  <a:srgbClr val="919191"/>
                </a:solidFill>
                <a:latin typeface="Source Sans Pro"/>
                <a:ea typeface="Source Sans Pro"/>
                <a:cs typeface="Source Sans Pro"/>
                <a:sym typeface="Source Sans Pro"/>
              </a:defRPr>
            </a:lvl8pPr>
            <a:lvl9pPr marL="0" marR="0" lvl="8" indent="0" algn="r" rtl="0">
              <a:spcBef>
                <a:spcPts val="0"/>
              </a:spcBef>
              <a:buNone/>
              <a:defRPr sz="1200" b="0" i="0" u="none" strike="noStrike" cap="none">
                <a:solidFill>
                  <a:srgbClr val="91919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jpg"/></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accent1"/>
              </a:buClr>
              <a:buSzPts val="6000"/>
              <a:buFont typeface="Source Sans Pro"/>
              <a:buNone/>
            </a:pPr>
            <a:r>
              <a:rPr lang="en-US" dirty="0"/>
              <a:t>Unit 2</a:t>
            </a:r>
            <a:endParaRPr dirty="0"/>
          </a:p>
        </p:txBody>
      </p:sp>
      <p:sp>
        <p:nvSpPr>
          <p:cNvPr id="77" name="Google Shape;7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GB" dirty="0"/>
              <a:t>Social interactions and economic outcomes</a:t>
            </a:r>
            <a:endParaRPr dirty="0"/>
          </a:p>
          <a:p>
            <a:pPr marL="0" lvl="0" indent="0" algn="ctr" rtl="0">
              <a:lnSpc>
                <a:spcPct val="90000"/>
              </a:lnSpc>
              <a:spcBef>
                <a:spcPts val="1000"/>
              </a:spcBef>
              <a:spcAft>
                <a:spcPts val="0"/>
              </a:spcAft>
              <a:buClr>
                <a:schemeClr val="dk1"/>
              </a:buClr>
              <a:buSzPts val="24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1"/>
              </a:buClr>
              <a:buSzPts val="6000"/>
              <a:buFont typeface="Source Sans Pro SemiBold"/>
              <a:buNone/>
            </a:pPr>
            <a:r>
              <a:rPr lang="en-US" dirty="0"/>
              <a:t>Outline</a:t>
            </a:r>
            <a:endParaRPr dirty="0"/>
          </a:p>
        </p:txBody>
      </p:sp>
      <p:sp>
        <p:nvSpPr>
          <p:cNvPr id="83" name="Google Shape;83;p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Source Sans Pro SemiBold"/>
              <a:buNone/>
            </a:pPr>
            <a:r>
              <a:rPr lang="en-US" dirty="0"/>
              <a:t>Outline</a:t>
            </a:r>
            <a:endParaRPr dirty="0"/>
          </a:p>
        </p:txBody>
      </p:sp>
      <p:sp>
        <p:nvSpPr>
          <p:cNvPr id="96" name="Google Shape;96;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92150" lvl="0" indent="-514350" algn="l" rtl="0">
              <a:lnSpc>
                <a:spcPct val="90000"/>
              </a:lnSpc>
              <a:spcBef>
                <a:spcPts val="1000"/>
              </a:spcBef>
              <a:spcAft>
                <a:spcPts val="0"/>
              </a:spcAft>
              <a:buClr>
                <a:schemeClr val="dk1"/>
              </a:buClr>
              <a:buSzPts val="2800"/>
              <a:buFont typeface="+mj-lt"/>
              <a:buAutoNum type="alphaUcPeriod"/>
            </a:pPr>
            <a:r>
              <a:rPr lang="en-GB" dirty="0"/>
              <a:t>Introduction</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Social Dilemmas</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Self-interest and Economic Outcomes</a:t>
            </a:r>
          </a:p>
          <a:p>
            <a:pPr marL="692150" lvl="0" indent="-514350" algn="l" rtl="0">
              <a:lnSpc>
                <a:spcPct val="90000"/>
              </a:lnSpc>
              <a:spcBef>
                <a:spcPts val="1000"/>
              </a:spcBef>
              <a:spcAft>
                <a:spcPts val="0"/>
              </a:spcAft>
              <a:buClr>
                <a:schemeClr val="dk1"/>
              </a:buClr>
              <a:buSzPts val="2800"/>
              <a:buFont typeface="+mj-lt"/>
              <a:buAutoNum type="alphaUcPeriod"/>
            </a:pPr>
            <a:r>
              <a:rPr lang="en-GB" dirty="0"/>
              <a:t>Social Preferences and Free Riding</a:t>
            </a:r>
          </a:p>
          <a:p>
            <a:pPr marL="692150" lvl="0" indent="-514350" algn="l" rtl="0">
              <a:lnSpc>
                <a:spcPct val="90000"/>
              </a:lnSpc>
              <a:spcBef>
                <a:spcPts val="1000"/>
              </a:spcBef>
              <a:spcAft>
                <a:spcPts val="0"/>
              </a:spcAft>
              <a:buClr>
                <a:schemeClr val="dk1"/>
              </a:buClr>
              <a:buSzPts val="2800"/>
              <a:buFont typeface="+mj-lt"/>
              <a:buAutoNum type="alphaUcPeriod"/>
            </a:pPr>
            <a:r>
              <a:rPr lang="en-GB" dirty="0"/>
              <a:t>Conflicts of Interest and Bargaining</a:t>
            </a:r>
          </a:p>
          <a:p>
            <a:pPr marL="692150" lvl="0" indent="-514350" algn="l" rtl="0">
              <a:lnSpc>
                <a:spcPct val="90000"/>
              </a:lnSpc>
              <a:spcBef>
                <a:spcPts val="1000"/>
              </a:spcBef>
              <a:spcAft>
                <a:spcPts val="0"/>
              </a:spcAft>
              <a:buClr>
                <a:schemeClr val="dk1"/>
              </a:buClr>
              <a:buSzPts val="2800"/>
              <a:buFont typeface="+mj-lt"/>
              <a:buAutoNum type="alphaUcPeriod"/>
            </a:pPr>
            <a:r>
              <a:rPr lang="en-GB" dirty="0"/>
              <a:t>Application: Global Climate Change Problem</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1"/>
              </a:buClr>
              <a:buSzPts val="6000"/>
              <a:buFont typeface="Source Sans Pro SemiBold"/>
              <a:buNone/>
            </a:pPr>
            <a:r>
              <a:rPr lang="en-US" dirty="0"/>
              <a:t>Introduction</a:t>
            </a:r>
            <a:endParaRPr dirty="0"/>
          </a:p>
        </p:txBody>
      </p:sp>
      <p:sp>
        <p:nvSpPr>
          <p:cNvPr id="102" name="Google Shape;10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dirty="0"/>
              <a:t>SECTION A</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Source Sans Pro SemiBold"/>
              <a:buNone/>
            </a:pPr>
            <a:r>
              <a:rPr lang="en-US" dirty="0"/>
              <a:t>The context for this Unit</a:t>
            </a:r>
            <a:endParaRPr dirty="0"/>
          </a:p>
        </p:txBody>
      </p:sp>
      <p:sp>
        <p:nvSpPr>
          <p:cNvPr id="3" name="Text Placeholder 2">
            <a:extLst>
              <a:ext uri="{FF2B5EF4-FFF2-40B4-BE49-F238E27FC236}">
                <a16:creationId xmlns:a16="http://schemas.microsoft.com/office/drawing/2014/main" id="{FA85F99B-EBCF-6B44-A4D3-6FE3242023A2}"/>
              </a:ext>
            </a:extLst>
          </p:cNvPr>
          <p:cNvSpPr>
            <a:spLocks noGrp="1"/>
          </p:cNvSpPr>
          <p:nvPr>
            <p:ph type="body" idx="1"/>
          </p:nvPr>
        </p:nvSpPr>
        <p:spPr/>
        <p:txBody>
          <a:bodyPr>
            <a:normAutofit fontScale="85000" lnSpcReduction="20000"/>
          </a:bodyPr>
          <a:lstStyle/>
          <a:p>
            <a:pPr indent="-457200">
              <a:lnSpc>
                <a:spcPct val="100000"/>
              </a:lnSpc>
            </a:pPr>
            <a:r>
              <a:rPr lang="en-US" sz="3200" b="1" dirty="0">
                <a:latin typeface="Source Sans Pro" panose="020B0503030403020204" pitchFamily="34" charset="0"/>
                <a:ea typeface="Source Sans Pro" panose="020B0503030403020204" pitchFamily="34" charset="0"/>
              </a:rPr>
              <a:t>Institutions</a:t>
            </a:r>
            <a:r>
              <a:rPr lang="en-US" sz="3200" dirty="0"/>
              <a:t> play a key role in determining economic outcomes, including inequality and growth (Unit 1)</a:t>
            </a:r>
          </a:p>
          <a:p>
            <a:pPr indent="-457200">
              <a:lnSpc>
                <a:spcPct val="100000"/>
              </a:lnSpc>
            </a:pPr>
            <a:r>
              <a:rPr lang="en-US" sz="3200" dirty="0"/>
              <a:t>Individuals motivated by </a:t>
            </a:r>
            <a:r>
              <a:rPr lang="en-US" sz="3200" b="1" dirty="0">
                <a:latin typeface="Source Sans Pro" panose="020B0503030403020204" pitchFamily="34" charset="0"/>
                <a:ea typeface="Source Sans Pro" panose="020B0503030403020204" pitchFamily="34" charset="0"/>
              </a:rPr>
              <a:t>self-interest</a:t>
            </a:r>
            <a:r>
              <a:rPr lang="en-US" sz="3200" dirty="0"/>
              <a:t> can produce outcomes that are beneficial for society e.g. entrepreneurship, innovation (Unit 1)</a:t>
            </a:r>
          </a:p>
          <a:p>
            <a:pPr indent="-457200">
              <a:lnSpc>
                <a:spcPct val="100000"/>
              </a:lnSpc>
              <a:buFont typeface="Arial" panose="020B0604020202020204" pitchFamily="34" charset="0"/>
              <a:buChar char="•"/>
            </a:pPr>
            <a:r>
              <a:rPr lang="en-US" sz="3200" b="1" dirty="0">
                <a:latin typeface="Source Sans Pro" panose="020B0503030403020204" pitchFamily="34" charset="0"/>
                <a:ea typeface="Source Sans Pro" panose="020B0503030403020204" pitchFamily="34" charset="0"/>
              </a:rPr>
              <a:t>External effects</a:t>
            </a:r>
            <a:r>
              <a:rPr lang="en-US" sz="3200" b="1" dirty="0"/>
              <a:t> </a:t>
            </a:r>
            <a:r>
              <a:rPr lang="en-US" sz="3200" dirty="0"/>
              <a:t>arise when actions taken by a person have consequences—benefits or costs—that are felt by others (Unit 1)</a:t>
            </a:r>
          </a:p>
          <a:p>
            <a:pPr indent="-457200">
              <a:lnSpc>
                <a:spcPct val="100000"/>
              </a:lnSpc>
              <a:buFont typeface="Arial" panose="020B0604020202020204" pitchFamily="34" charset="0"/>
              <a:buChar char="•"/>
            </a:pPr>
            <a:endParaRPr lang="en-US" sz="1600" dirty="0"/>
          </a:p>
          <a:p>
            <a:pPr indent="-457200">
              <a:lnSpc>
                <a:spcPct val="100000"/>
              </a:lnSpc>
            </a:pPr>
            <a:r>
              <a:rPr lang="en-US" sz="3200" dirty="0"/>
              <a:t>But self-interest can also be harmful to society.</a:t>
            </a:r>
          </a:p>
          <a:p>
            <a:pPr lvl="1" indent="-457200">
              <a:lnSpc>
                <a:spcPct val="100000"/>
              </a:lnSpc>
              <a:spcBef>
                <a:spcPts val="1000"/>
              </a:spcBef>
            </a:pPr>
            <a:r>
              <a:rPr lang="en-US" sz="3200" dirty="0"/>
              <a:t>Why do these problems arise?</a:t>
            </a:r>
          </a:p>
          <a:p>
            <a:pPr lvl="1" indent="-457200">
              <a:lnSpc>
                <a:spcPct val="100000"/>
              </a:lnSpc>
              <a:spcBef>
                <a:spcPts val="1000"/>
              </a:spcBef>
            </a:pPr>
            <a:r>
              <a:rPr lang="en-US" sz="3200" dirty="0"/>
              <a:t>What can we do about it?</a:t>
            </a:r>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1723B-73B1-9CE6-0555-A67377D9E403}"/>
              </a:ext>
            </a:extLst>
          </p:cNvPr>
          <p:cNvSpPr>
            <a:spLocks noGrp="1"/>
          </p:cNvSpPr>
          <p:nvPr>
            <p:ph type="title"/>
          </p:nvPr>
        </p:nvSpPr>
        <p:spPr/>
        <p:txBody>
          <a:bodyPr/>
          <a:lstStyle/>
          <a:p>
            <a:r>
              <a:rPr lang="en-US" dirty="0"/>
              <a:t>Self-Interested Individuals</a:t>
            </a:r>
            <a:endParaRPr lang="en-IN" dirty="0"/>
          </a:p>
        </p:txBody>
      </p:sp>
      <p:sp>
        <p:nvSpPr>
          <p:cNvPr id="3" name="Text Placeholder 2">
            <a:extLst>
              <a:ext uri="{FF2B5EF4-FFF2-40B4-BE49-F238E27FC236}">
                <a16:creationId xmlns:a16="http://schemas.microsoft.com/office/drawing/2014/main" id="{39DB11BC-DC5E-6218-5285-FF0818436439}"/>
              </a:ext>
            </a:extLst>
          </p:cNvPr>
          <p:cNvSpPr>
            <a:spLocks noGrp="1"/>
          </p:cNvSpPr>
          <p:nvPr>
            <p:ph type="body" idx="1"/>
          </p:nvPr>
        </p:nvSpPr>
        <p:spPr/>
        <p:txBody>
          <a:bodyPr/>
          <a:lstStyle/>
          <a:p>
            <a:pPr marL="50800" indent="0">
              <a:buNone/>
            </a:pPr>
            <a:r>
              <a:rPr lang="en-US" b="0" i="0" dirty="0">
                <a:solidFill>
                  <a:srgbClr val="181818"/>
                </a:solidFill>
                <a:effectLst/>
                <a:latin typeface="Merriweather" panose="00000500000000000000" pitchFamily="2" charset="0"/>
              </a:rPr>
              <a:t> “It is not from the benevolence of the butcher, the   brewer, or the baker that we expect our dinner, but from their regard to their own self-interest. We address ourselves not to their humanity but to their self-love, and never talk to them of our own necessities, but of their advantages.”</a:t>
            </a:r>
          </a:p>
          <a:p>
            <a:pPr marL="50800" indent="0">
              <a:buNone/>
            </a:pPr>
            <a:r>
              <a:rPr lang="en-US" dirty="0">
                <a:solidFill>
                  <a:srgbClr val="181818"/>
                </a:solidFill>
                <a:latin typeface="Merriweather" panose="00000500000000000000" pitchFamily="2" charset="0"/>
              </a:rPr>
              <a:t>		--- Adam Smith, Wealth of Nations (1776)</a:t>
            </a:r>
            <a:endParaRPr lang="en-US" b="0" i="0" dirty="0">
              <a:solidFill>
                <a:srgbClr val="181818"/>
              </a:solidFill>
              <a:effectLst/>
              <a:latin typeface="Merriweather" panose="00000500000000000000" pitchFamily="2" charset="0"/>
            </a:endParaRPr>
          </a:p>
          <a:p>
            <a:endParaRPr lang="en-IN" dirty="0"/>
          </a:p>
        </p:txBody>
      </p:sp>
    </p:spTree>
    <p:extLst>
      <p:ext uri="{BB962C8B-B14F-4D97-AF65-F5344CB8AC3E}">
        <p14:creationId xmlns:p14="http://schemas.microsoft.com/office/powerpoint/2010/main" val="23237011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092C-29AC-C956-99D4-86ED350A0FC8}"/>
              </a:ext>
            </a:extLst>
          </p:cNvPr>
          <p:cNvSpPr>
            <a:spLocks noGrp="1"/>
          </p:cNvSpPr>
          <p:nvPr>
            <p:ph type="title"/>
          </p:nvPr>
        </p:nvSpPr>
        <p:spPr/>
        <p:txBody>
          <a:bodyPr/>
          <a:lstStyle/>
          <a:p>
            <a:r>
              <a:rPr lang="en-US" dirty="0"/>
              <a:t>The “Invisible Hand”</a:t>
            </a:r>
            <a:endParaRPr lang="en-IN" dirty="0"/>
          </a:p>
        </p:txBody>
      </p:sp>
      <p:sp>
        <p:nvSpPr>
          <p:cNvPr id="3" name="Text Placeholder 2">
            <a:extLst>
              <a:ext uri="{FF2B5EF4-FFF2-40B4-BE49-F238E27FC236}">
                <a16:creationId xmlns:a16="http://schemas.microsoft.com/office/drawing/2014/main" id="{0EE2E779-A929-9043-56B5-FDBBE8A293DE}"/>
              </a:ext>
            </a:extLst>
          </p:cNvPr>
          <p:cNvSpPr>
            <a:spLocks noGrp="1"/>
          </p:cNvSpPr>
          <p:nvPr>
            <p:ph type="body" idx="1"/>
          </p:nvPr>
        </p:nvSpPr>
        <p:spPr/>
        <p:txBody>
          <a:bodyPr/>
          <a:lstStyle/>
          <a:p>
            <a:pPr marL="50800" indent="0">
              <a:buNone/>
            </a:pPr>
            <a:r>
              <a:rPr lang="en-US" dirty="0">
                <a:latin typeface="Merriweather" panose="00000500000000000000" pitchFamily="2" charset="0"/>
              </a:rPr>
              <a:t>“</a:t>
            </a:r>
            <a:r>
              <a:rPr lang="en-US" b="0" i="0" dirty="0">
                <a:solidFill>
                  <a:srgbClr val="202122"/>
                </a:solidFill>
                <a:effectLst/>
                <a:latin typeface="Merriweather" panose="00000500000000000000" pitchFamily="2" charset="0"/>
              </a:rPr>
              <a:t>Every individual necessarily </a:t>
            </a:r>
            <a:r>
              <a:rPr lang="en-US" b="0" i="0" dirty="0" err="1">
                <a:solidFill>
                  <a:srgbClr val="202122"/>
                </a:solidFill>
                <a:effectLst/>
                <a:latin typeface="Merriweather" panose="00000500000000000000" pitchFamily="2" charset="0"/>
              </a:rPr>
              <a:t>labours</a:t>
            </a:r>
            <a:r>
              <a:rPr lang="en-US" b="0" i="0" dirty="0">
                <a:solidFill>
                  <a:srgbClr val="202122"/>
                </a:solidFill>
                <a:effectLst/>
                <a:latin typeface="Merriweather" panose="00000500000000000000" pitchFamily="2" charset="0"/>
              </a:rPr>
              <a:t> to render the annual revenue of the society as great as he can... He is in this, as in many other ways, led by an </a:t>
            </a:r>
            <a:r>
              <a:rPr lang="en-US" b="0" i="1" dirty="0">
                <a:solidFill>
                  <a:srgbClr val="202122"/>
                </a:solidFill>
                <a:effectLst/>
                <a:latin typeface="Merriweather" panose="00000500000000000000" pitchFamily="2" charset="0"/>
              </a:rPr>
              <a:t>invisible hand </a:t>
            </a:r>
            <a:r>
              <a:rPr lang="en-US" b="0" i="0" dirty="0">
                <a:solidFill>
                  <a:srgbClr val="202122"/>
                </a:solidFill>
                <a:effectLst/>
                <a:latin typeface="Merriweather" panose="00000500000000000000" pitchFamily="2" charset="0"/>
              </a:rPr>
              <a:t>to promote an end which was no part of his intention... By pursuing his own interest he frequently promotes that of the society more effectually than when he really intends to promote it.”</a:t>
            </a:r>
          </a:p>
          <a:p>
            <a:pPr marL="50800" indent="0">
              <a:buNone/>
            </a:pPr>
            <a:r>
              <a:rPr lang="en-US" dirty="0">
                <a:solidFill>
                  <a:srgbClr val="181818"/>
                </a:solidFill>
                <a:latin typeface="Merriweather" panose="00000500000000000000" pitchFamily="2" charset="0"/>
              </a:rPr>
              <a:t>		--- Adam Smith, Wealth of Nations (1776)</a:t>
            </a:r>
            <a:endParaRPr lang="en-US" b="0" i="0" dirty="0">
              <a:solidFill>
                <a:srgbClr val="181818"/>
              </a:solidFill>
              <a:effectLst/>
              <a:latin typeface="Merriweather" panose="00000500000000000000" pitchFamily="2" charset="0"/>
            </a:endParaRPr>
          </a:p>
          <a:p>
            <a:pPr marL="50800" indent="0">
              <a:buNone/>
            </a:pPr>
            <a:endParaRPr lang="en-IN" dirty="0"/>
          </a:p>
        </p:txBody>
      </p:sp>
    </p:spTree>
    <p:extLst>
      <p:ext uri="{BB962C8B-B14F-4D97-AF65-F5344CB8AC3E}">
        <p14:creationId xmlns:p14="http://schemas.microsoft.com/office/powerpoint/2010/main" val="59459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6A8D-7704-5A4A-86C1-9DFC51A5B3CD}"/>
              </a:ext>
            </a:extLst>
          </p:cNvPr>
          <p:cNvSpPr>
            <a:spLocks noGrp="1"/>
          </p:cNvSpPr>
          <p:nvPr>
            <p:ph type="title"/>
          </p:nvPr>
        </p:nvSpPr>
        <p:spPr/>
        <p:txBody>
          <a:bodyPr/>
          <a:lstStyle/>
          <a:p>
            <a:r>
              <a:rPr lang="en-GB" dirty="0"/>
              <a:t>This Unit</a:t>
            </a:r>
          </a:p>
        </p:txBody>
      </p:sp>
      <p:sp>
        <p:nvSpPr>
          <p:cNvPr id="3" name="Text Placeholder 2">
            <a:extLst>
              <a:ext uri="{FF2B5EF4-FFF2-40B4-BE49-F238E27FC236}">
                <a16:creationId xmlns:a16="http://schemas.microsoft.com/office/drawing/2014/main" id="{8F1C17BA-A452-6A47-9C7C-F91243DBCFD6}"/>
              </a:ext>
            </a:extLst>
          </p:cNvPr>
          <p:cNvSpPr>
            <a:spLocks noGrp="1"/>
          </p:cNvSpPr>
          <p:nvPr>
            <p:ph type="body" idx="1"/>
          </p:nvPr>
        </p:nvSpPr>
        <p:spPr/>
        <p:txBody>
          <a:bodyPr>
            <a:normAutofit lnSpcReduction="10000"/>
          </a:bodyPr>
          <a:lstStyle/>
          <a:p>
            <a:pPr indent="-457200"/>
            <a:r>
              <a:rPr lang="en-US" dirty="0"/>
              <a:t>When self-interest works and when it doesn’t</a:t>
            </a:r>
            <a:endParaRPr lang="en-US" sz="900" dirty="0"/>
          </a:p>
          <a:p>
            <a:pPr indent="-457200"/>
            <a:r>
              <a:rPr lang="en-US" b="1" dirty="0">
                <a:latin typeface="Source Sans Pro" panose="020B0503030403020204" pitchFamily="34" charset="0"/>
                <a:ea typeface="Source Sans Pro" panose="020B0503030403020204" pitchFamily="34" charset="0"/>
              </a:rPr>
              <a:t>Public goods </a:t>
            </a:r>
            <a:r>
              <a:rPr lang="en-US" dirty="0"/>
              <a:t>and the problem of </a:t>
            </a:r>
            <a:r>
              <a:rPr lang="en-US" b="1" dirty="0">
                <a:latin typeface="Source Sans Pro" panose="020B0503030403020204" pitchFamily="34" charset="0"/>
                <a:ea typeface="Source Sans Pro" panose="020B0503030403020204" pitchFamily="34" charset="0"/>
              </a:rPr>
              <a:t>free riding</a:t>
            </a:r>
          </a:p>
          <a:p>
            <a:pPr indent="-457200"/>
            <a:r>
              <a:rPr lang="en-US" b="1" dirty="0">
                <a:latin typeface="Source Sans Pro" panose="020B0503030403020204" pitchFamily="34" charset="0"/>
                <a:ea typeface="Source Sans Pro" panose="020B0503030403020204" pitchFamily="34" charset="0"/>
              </a:rPr>
              <a:t>Conflicts of interest </a:t>
            </a:r>
            <a:r>
              <a:rPr lang="en-US" dirty="0"/>
              <a:t>and </a:t>
            </a:r>
            <a:r>
              <a:rPr lang="en-US" b="1" dirty="0">
                <a:latin typeface="Source Sans Pro" panose="020B0503030403020204" pitchFamily="34" charset="0"/>
                <a:ea typeface="Source Sans Pro" panose="020B0503030403020204" pitchFamily="34" charset="0"/>
              </a:rPr>
              <a:t>bargaining</a:t>
            </a:r>
            <a:endParaRPr lang="en-US" sz="900" dirty="0"/>
          </a:p>
          <a:p>
            <a:pPr indent="-457200"/>
            <a:r>
              <a:rPr lang="en-US" dirty="0"/>
              <a:t>Application: The global climate change problem</a:t>
            </a:r>
          </a:p>
          <a:p>
            <a:pPr indent="-457200"/>
            <a:endParaRPr lang="en-US" dirty="0"/>
          </a:p>
          <a:p>
            <a:pPr marL="0" indent="0">
              <a:buNone/>
            </a:pPr>
            <a:r>
              <a:rPr lang="en-US" dirty="0"/>
              <a:t>Economic tools:</a:t>
            </a:r>
          </a:p>
          <a:p>
            <a:pPr indent="-457200">
              <a:buFont typeface="System Font Regular"/>
              <a:buChar char="-"/>
            </a:pPr>
            <a:r>
              <a:rPr lang="en-US" b="1" dirty="0">
                <a:latin typeface="Source Sans Pro" panose="020B0503030403020204" pitchFamily="34" charset="0"/>
                <a:ea typeface="Source Sans Pro" panose="020B0503030403020204" pitchFamily="34" charset="0"/>
              </a:rPr>
              <a:t>Game theory</a:t>
            </a:r>
            <a:r>
              <a:rPr lang="en-US" dirty="0"/>
              <a:t>: players, strategies, payoffs</a:t>
            </a:r>
          </a:p>
          <a:p>
            <a:pPr indent="-457200">
              <a:buFont typeface="System Font Regular"/>
              <a:buChar char="-"/>
            </a:pPr>
            <a:r>
              <a:rPr lang="en-US" dirty="0"/>
              <a:t>Predicting outcomes: </a:t>
            </a:r>
            <a:r>
              <a:rPr lang="en-US" b="1" dirty="0">
                <a:latin typeface="Source Sans Pro" panose="020B0503030403020204" pitchFamily="34" charset="0"/>
                <a:ea typeface="Source Sans Pro" panose="020B0503030403020204" pitchFamily="34" charset="0"/>
              </a:rPr>
              <a:t>Nash equilibria</a:t>
            </a:r>
          </a:p>
          <a:p>
            <a:pPr indent="-457200">
              <a:buFont typeface="System Font Regular"/>
              <a:buChar char="-"/>
            </a:pPr>
            <a:r>
              <a:rPr lang="en-US" dirty="0" err="1"/>
              <a:t>Analyising</a:t>
            </a:r>
            <a:r>
              <a:rPr lang="en-US" dirty="0"/>
              <a:t> preferences through </a:t>
            </a:r>
            <a:r>
              <a:rPr lang="en-US" b="1" dirty="0" err="1">
                <a:latin typeface="Source Sans Pro" panose="020B0503030403020204" pitchFamily="34" charset="0"/>
                <a:ea typeface="Source Sans Pro" panose="020B0503030403020204" pitchFamily="34" charset="0"/>
              </a:rPr>
              <a:t>behavioural</a:t>
            </a:r>
            <a:r>
              <a:rPr lang="en-US" b="1" dirty="0">
                <a:latin typeface="Source Sans Pro" panose="020B0503030403020204" pitchFamily="34" charset="0"/>
                <a:ea typeface="Source Sans Pro" panose="020B0503030403020204" pitchFamily="34" charset="0"/>
              </a:rPr>
              <a:t> experiments</a:t>
            </a:r>
          </a:p>
          <a:p>
            <a:endParaRPr lang="en-GB" dirty="0"/>
          </a:p>
        </p:txBody>
      </p:sp>
    </p:spTree>
    <p:extLst>
      <p:ext uri="{BB962C8B-B14F-4D97-AF65-F5344CB8AC3E}">
        <p14:creationId xmlns:p14="http://schemas.microsoft.com/office/powerpoint/2010/main" val="2753842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C815B-4505-6944-A514-0F2D8DABDE71}"/>
              </a:ext>
            </a:extLst>
          </p:cNvPr>
          <p:cNvSpPr>
            <a:spLocks noGrp="1"/>
          </p:cNvSpPr>
          <p:nvPr>
            <p:ph type="title"/>
          </p:nvPr>
        </p:nvSpPr>
        <p:spPr/>
        <p:txBody>
          <a:bodyPr/>
          <a:lstStyle/>
          <a:p>
            <a:r>
              <a:rPr lang="en-GB" dirty="0"/>
              <a:t>Social Dilemmas</a:t>
            </a:r>
          </a:p>
        </p:txBody>
      </p:sp>
      <p:sp>
        <p:nvSpPr>
          <p:cNvPr id="3" name="Text Placeholder 2">
            <a:extLst>
              <a:ext uri="{FF2B5EF4-FFF2-40B4-BE49-F238E27FC236}">
                <a16:creationId xmlns:a16="http://schemas.microsoft.com/office/drawing/2014/main" id="{3A2F247D-249A-D444-B23D-DCF3ED87A2E7}"/>
              </a:ext>
            </a:extLst>
          </p:cNvPr>
          <p:cNvSpPr>
            <a:spLocks noGrp="1"/>
          </p:cNvSpPr>
          <p:nvPr>
            <p:ph type="body" idx="1"/>
          </p:nvPr>
        </p:nvSpPr>
        <p:spPr/>
        <p:txBody>
          <a:bodyPr/>
          <a:lstStyle/>
          <a:p>
            <a:r>
              <a:rPr lang="en-GB" dirty="0"/>
              <a:t>SECTION B</a:t>
            </a:r>
          </a:p>
        </p:txBody>
      </p:sp>
    </p:spTree>
    <p:extLst>
      <p:ext uri="{BB962C8B-B14F-4D97-AF65-F5344CB8AC3E}">
        <p14:creationId xmlns:p14="http://schemas.microsoft.com/office/powerpoint/2010/main" val="3366571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246FD-7B63-0B41-91D2-BD51C994813D}"/>
              </a:ext>
            </a:extLst>
          </p:cNvPr>
          <p:cNvSpPr>
            <a:spLocks noGrp="1"/>
          </p:cNvSpPr>
          <p:nvPr>
            <p:ph type="title"/>
          </p:nvPr>
        </p:nvSpPr>
        <p:spPr/>
        <p:txBody>
          <a:bodyPr/>
          <a:lstStyle/>
          <a:p>
            <a:r>
              <a:rPr lang="en-GB" dirty="0"/>
              <a:t>Social dilemma</a:t>
            </a:r>
          </a:p>
        </p:txBody>
      </p:sp>
      <p:sp>
        <p:nvSpPr>
          <p:cNvPr id="3" name="Text Placeholder 2">
            <a:extLst>
              <a:ext uri="{FF2B5EF4-FFF2-40B4-BE49-F238E27FC236}">
                <a16:creationId xmlns:a16="http://schemas.microsoft.com/office/drawing/2014/main" id="{F4CD4E29-83CD-EA4F-95AC-89D5790EC6DD}"/>
              </a:ext>
            </a:extLst>
          </p:cNvPr>
          <p:cNvSpPr>
            <a:spLocks noGrp="1"/>
          </p:cNvSpPr>
          <p:nvPr>
            <p:ph type="body" idx="1"/>
          </p:nvPr>
        </p:nvSpPr>
        <p:spPr>
          <a:xfrm>
            <a:off x="838200" y="1825625"/>
            <a:ext cx="10515600" cy="1445113"/>
          </a:xfrm>
        </p:spPr>
        <p:txBody>
          <a:bodyPr/>
          <a:lstStyle/>
          <a:p>
            <a:pPr marL="50800" indent="0">
              <a:buNone/>
            </a:pPr>
            <a:r>
              <a:rPr lang="en-GB" dirty="0"/>
              <a:t>Social dilemma = a situation in which actions taken independently by self-interested individuals result in a </a:t>
            </a:r>
            <a:r>
              <a:rPr lang="en-GB" u="sng" dirty="0"/>
              <a:t>socially suboptimal outcome</a:t>
            </a:r>
            <a:r>
              <a:rPr lang="en-GB" dirty="0"/>
              <a:t> e.g. traffic jams, climate change.</a:t>
            </a:r>
          </a:p>
        </p:txBody>
      </p:sp>
      <p:sp>
        <p:nvSpPr>
          <p:cNvPr id="4" name="Text Placeholder 2">
            <a:extLst>
              <a:ext uri="{FF2B5EF4-FFF2-40B4-BE49-F238E27FC236}">
                <a16:creationId xmlns:a16="http://schemas.microsoft.com/office/drawing/2014/main" id="{BCD3C8C1-F279-D64B-9855-DB817BFC3B2D}"/>
              </a:ext>
            </a:extLst>
          </p:cNvPr>
          <p:cNvSpPr txBox="1">
            <a:spLocks/>
          </p:cNvSpPr>
          <p:nvPr/>
        </p:nvSpPr>
        <p:spPr>
          <a:xfrm>
            <a:off x="838200" y="5494948"/>
            <a:ext cx="10515600" cy="71828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GB" dirty="0"/>
              <a:t>One of the tasks of public policies is to address social dilemmas</a:t>
            </a:r>
          </a:p>
        </p:txBody>
      </p:sp>
      <p:pic>
        <p:nvPicPr>
          <p:cNvPr id="5" name="Picture 4">
            <a:extLst>
              <a:ext uri="{FF2B5EF4-FFF2-40B4-BE49-F238E27FC236}">
                <a16:creationId xmlns:a16="http://schemas.microsoft.com/office/drawing/2014/main" id="{E45C927F-2BAD-234E-BC94-5629C141D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5714" y="3270738"/>
            <a:ext cx="6640571" cy="2331177"/>
          </a:xfrm>
          <a:prstGeom prst="rect">
            <a:avLst/>
          </a:prstGeom>
        </p:spPr>
      </p:pic>
    </p:spTree>
    <p:extLst>
      <p:ext uri="{BB962C8B-B14F-4D97-AF65-F5344CB8AC3E}">
        <p14:creationId xmlns:p14="http://schemas.microsoft.com/office/powerpoint/2010/main" val="1683016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DAABE-1474-9B49-AC06-B19608152182}"/>
              </a:ext>
            </a:extLst>
          </p:cNvPr>
          <p:cNvSpPr>
            <a:spLocks noGrp="1"/>
          </p:cNvSpPr>
          <p:nvPr>
            <p:ph type="title"/>
          </p:nvPr>
        </p:nvSpPr>
        <p:spPr/>
        <p:txBody>
          <a:bodyPr/>
          <a:lstStyle/>
          <a:p>
            <a:r>
              <a:rPr lang="en-GB" dirty="0"/>
              <a:t>The tragedy of the commons</a:t>
            </a:r>
          </a:p>
        </p:txBody>
      </p:sp>
      <p:sp>
        <p:nvSpPr>
          <p:cNvPr id="3" name="Text Placeholder 2">
            <a:extLst>
              <a:ext uri="{FF2B5EF4-FFF2-40B4-BE49-F238E27FC236}">
                <a16:creationId xmlns:a16="http://schemas.microsoft.com/office/drawing/2014/main" id="{18582A91-C221-DB46-8C3F-178950B3E0C6}"/>
              </a:ext>
            </a:extLst>
          </p:cNvPr>
          <p:cNvSpPr>
            <a:spLocks noGrp="1"/>
          </p:cNvSpPr>
          <p:nvPr>
            <p:ph type="body" idx="1"/>
          </p:nvPr>
        </p:nvSpPr>
        <p:spPr/>
        <p:txBody>
          <a:bodyPr>
            <a:normAutofit fontScale="85000" lnSpcReduction="10000"/>
          </a:bodyPr>
          <a:lstStyle/>
          <a:p>
            <a:pPr indent="-457200">
              <a:lnSpc>
                <a:spcPct val="100000"/>
              </a:lnSpc>
              <a:buFont typeface="Arial" panose="020B0604020202020204" pitchFamily="34" charset="0"/>
              <a:buChar char="•"/>
            </a:pPr>
            <a:r>
              <a:rPr lang="en-GB" dirty="0"/>
              <a:t>Hardin‘s example: Cattle herders each raise ever-larger herds, eventually overgrazing their pastureland.</a:t>
            </a:r>
            <a:endParaRPr lang="en-GB" sz="1000" dirty="0"/>
          </a:p>
          <a:p>
            <a:pPr indent="-457200">
              <a:lnSpc>
                <a:spcPct val="100000"/>
              </a:lnSpc>
              <a:buFont typeface="Arial" panose="020B0604020202020204" pitchFamily="34" charset="0"/>
              <a:buChar char="•"/>
            </a:pPr>
            <a:r>
              <a:rPr lang="en-GB" b="1" dirty="0"/>
              <a:t>Common-pool resources </a:t>
            </a:r>
            <a:r>
              <a:rPr lang="en-GB" dirty="0"/>
              <a:t>= resources that are shared, not owned by anyone</a:t>
            </a:r>
            <a:endParaRPr lang="en-GB" sz="1000" dirty="0"/>
          </a:p>
          <a:p>
            <a:pPr indent="-457200">
              <a:lnSpc>
                <a:spcPct val="100000"/>
              </a:lnSpc>
              <a:spcAft>
                <a:spcPts val="600"/>
              </a:spcAft>
              <a:buFont typeface="Arial" panose="020B0604020202020204" pitchFamily="34" charset="0"/>
              <a:buChar char="•"/>
            </a:pPr>
            <a:r>
              <a:rPr lang="en-GB" dirty="0"/>
              <a:t>Resources of this type (e.g. the earth’s atmosphere or fish stocks) are easily overexploited unless we control access in some way</a:t>
            </a:r>
            <a:endParaRPr lang="en-GB" sz="3200" dirty="0"/>
          </a:p>
          <a:p>
            <a:pPr indent="-457200">
              <a:lnSpc>
                <a:spcPct val="100000"/>
              </a:lnSpc>
              <a:spcAft>
                <a:spcPts val="600"/>
              </a:spcAft>
              <a:buFont typeface="Arial" panose="020B0604020202020204" pitchFamily="34" charset="0"/>
              <a:buChar char="•"/>
            </a:pPr>
            <a:r>
              <a:rPr lang="en-GB" dirty="0"/>
              <a:t>But if </a:t>
            </a:r>
            <a:r>
              <a:rPr lang="en-GB" i="1" dirty="0"/>
              <a:t>you</a:t>
            </a:r>
            <a:r>
              <a:rPr lang="en-GB" dirty="0"/>
              <a:t> reduce your carbon footprint, or limit the number of tuna you catch, </a:t>
            </a:r>
            <a:r>
              <a:rPr lang="en-GB" i="1" dirty="0"/>
              <a:t>you</a:t>
            </a:r>
            <a:r>
              <a:rPr lang="en-GB" dirty="0"/>
              <a:t> will bear the costs, while </a:t>
            </a:r>
            <a:r>
              <a:rPr lang="en-GB" i="1" dirty="0"/>
              <a:t>others</a:t>
            </a:r>
            <a:r>
              <a:rPr lang="en-GB" dirty="0"/>
              <a:t> will enjoy the benefits</a:t>
            </a:r>
            <a:endParaRPr lang="en-GB" sz="1200" dirty="0"/>
          </a:p>
          <a:p>
            <a:pPr indent="-457200">
              <a:lnSpc>
                <a:spcPct val="100000"/>
              </a:lnSpc>
              <a:buFont typeface="Arial" panose="020B0604020202020204" pitchFamily="34" charset="0"/>
              <a:buChar char="•"/>
            </a:pPr>
            <a:r>
              <a:rPr lang="en-GB" b="1" dirty="0"/>
              <a:t>Free riding </a:t>
            </a:r>
            <a:r>
              <a:rPr lang="en-GB" dirty="0"/>
              <a:t>= Benefiting from the contributions of others to some cooperative project without contributing oneself (e.g. group assignments at college)</a:t>
            </a:r>
          </a:p>
          <a:p>
            <a:endParaRPr lang="en-GB" dirty="0"/>
          </a:p>
        </p:txBody>
      </p:sp>
    </p:spTree>
    <p:extLst>
      <p:ext uri="{BB962C8B-B14F-4D97-AF65-F5344CB8AC3E}">
        <p14:creationId xmlns:p14="http://schemas.microsoft.com/office/powerpoint/2010/main" val="2441907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3C81-A8FF-D648-8BC1-5E250748A540}"/>
              </a:ext>
            </a:extLst>
          </p:cNvPr>
          <p:cNvSpPr>
            <a:spLocks noGrp="1"/>
          </p:cNvSpPr>
          <p:nvPr>
            <p:ph type="title"/>
          </p:nvPr>
        </p:nvSpPr>
        <p:spPr/>
        <p:txBody>
          <a:bodyPr/>
          <a:lstStyle/>
          <a:p>
            <a:r>
              <a:rPr lang="en-GB" dirty="0"/>
              <a:t>Resolving social dilemmas: Preferences</a:t>
            </a:r>
          </a:p>
        </p:txBody>
      </p:sp>
      <p:sp>
        <p:nvSpPr>
          <p:cNvPr id="3" name="Text Placeholder 2">
            <a:extLst>
              <a:ext uri="{FF2B5EF4-FFF2-40B4-BE49-F238E27FC236}">
                <a16:creationId xmlns:a16="http://schemas.microsoft.com/office/drawing/2014/main" id="{3868DAC7-43CE-A84B-B145-276271E3A396}"/>
              </a:ext>
            </a:extLst>
          </p:cNvPr>
          <p:cNvSpPr>
            <a:spLocks noGrp="1"/>
          </p:cNvSpPr>
          <p:nvPr>
            <p:ph type="body" idx="1"/>
          </p:nvPr>
        </p:nvSpPr>
        <p:spPr>
          <a:xfrm>
            <a:off x="838200" y="1825625"/>
            <a:ext cx="5515708" cy="4351338"/>
          </a:xfrm>
        </p:spPr>
        <p:txBody>
          <a:bodyPr>
            <a:noAutofit/>
          </a:bodyPr>
          <a:lstStyle/>
          <a:p>
            <a:pPr marL="508000" indent="-457200">
              <a:lnSpc>
                <a:spcPct val="110000"/>
              </a:lnSpc>
              <a:buSzPct val="100000"/>
              <a:buAutoNum type="arabicPeriod"/>
            </a:pPr>
            <a:r>
              <a:rPr lang="en-GB" sz="2200" b="1" dirty="0">
                <a:latin typeface="Source Sans Pro" panose="020B0503030403020204" pitchFamily="34" charset="0"/>
                <a:ea typeface="Source Sans Pro" panose="020B0503030403020204" pitchFamily="34" charset="0"/>
              </a:rPr>
              <a:t>Social preferences</a:t>
            </a:r>
          </a:p>
          <a:p>
            <a:pPr marL="50800" indent="0">
              <a:lnSpc>
                <a:spcPct val="110000"/>
              </a:lnSpc>
              <a:buNone/>
            </a:pPr>
            <a:r>
              <a:rPr lang="en-GB" sz="2200" dirty="0"/>
              <a:t>A person with these preferences cares about the implications for other people. Given the chance he would prefer to help some other person, even if it cost something to do so.</a:t>
            </a:r>
          </a:p>
          <a:p>
            <a:pPr marL="50800" indent="0">
              <a:lnSpc>
                <a:spcPct val="110000"/>
              </a:lnSpc>
              <a:buNone/>
            </a:pPr>
            <a:endParaRPr lang="en-GB" sz="2200" dirty="0"/>
          </a:p>
          <a:p>
            <a:pPr marL="50800" indent="0">
              <a:lnSpc>
                <a:spcPct val="110000"/>
              </a:lnSpc>
              <a:buNone/>
            </a:pPr>
            <a:r>
              <a:rPr lang="en-GB" sz="2200" dirty="0"/>
              <a:t>Countless examples of willingness, or even desire, to help others, even at cost to oneself – for example during wars, natural catastrophes.</a:t>
            </a:r>
          </a:p>
        </p:txBody>
      </p:sp>
      <p:pic>
        <p:nvPicPr>
          <p:cNvPr id="4" name="Picture 3">
            <a:extLst>
              <a:ext uri="{FF2B5EF4-FFF2-40B4-BE49-F238E27FC236}">
                <a16:creationId xmlns:a16="http://schemas.microsoft.com/office/drawing/2014/main" id="{DEEBFE36-1CC2-AE43-9B2B-B9A9F57859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6550" y="2166831"/>
            <a:ext cx="5114924" cy="3270198"/>
          </a:xfrm>
          <a:prstGeom prst="rect">
            <a:avLst/>
          </a:prstGeom>
        </p:spPr>
      </p:pic>
      <p:sp>
        <p:nvSpPr>
          <p:cNvPr id="5" name="TextBox 4">
            <a:extLst>
              <a:ext uri="{FF2B5EF4-FFF2-40B4-BE49-F238E27FC236}">
                <a16:creationId xmlns:a16="http://schemas.microsoft.com/office/drawing/2014/main" id="{716D2637-8C26-834E-93E9-19F0E8641853}"/>
              </a:ext>
            </a:extLst>
          </p:cNvPr>
          <p:cNvSpPr txBox="1"/>
          <p:nvPr/>
        </p:nvSpPr>
        <p:spPr>
          <a:xfrm>
            <a:off x="8406282" y="1859054"/>
            <a:ext cx="1675459"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Who will be the cat?</a:t>
            </a:r>
          </a:p>
        </p:txBody>
      </p:sp>
    </p:spTree>
    <p:extLst>
      <p:ext uri="{BB962C8B-B14F-4D97-AF65-F5344CB8AC3E}">
        <p14:creationId xmlns:p14="http://schemas.microsoft.com/office/powerpoint/2010/main" val="3371067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DDC6-728D-8F49-804E-FC29F7FED605}"/>
              </a:ext>
            </a:extLst>
          </p:cNvPr>
          <p:cNvSpPr>
            <a:spLocks noGrp="1"/>
          </p:cNvSpPr>
          <p:nvPr>
            <p:ph type="title"/>
          </p:nvPr>
        </p:nvSpPr>
        <p:spPr/>
        <p:txBody>
          <a:bodyPr/>
          <a:lstStyle/>
          <a:p>
            <a:r>
              <a:rPr lang="en-GB" dirty="0"/>
              <a:t>Resolving social dilemmas: Policies</a:t>
            </a:r>
          </a:p>
        </p:txBody>
      </p:sp>
      <p:sp>
        <p:nvSpPr>
          <p:cNvPr id="3" name="Text Placeholder 2">
            <a:extLst>
              <a:ext uri="{FF2B5EF4-FFF2-40B4-BE49-F238E27FC236}">
                <a16:creationId xmlns:a16="http://schemas.microsoft.com/office/drawing/2014/main" id="{5593E15F-BB01-3C49-9077-EB9FB8AD0A22}"/>
              </a:ext>
            </a:extLst>
          </p:cNvPr>
          <p:cNvSpPr>
            <a:spLocks noGrp="1"/>
          </p:cNvSpPr>
          <p:nvPr>
            <p:ph type="body" idx="1"/>
          </p:nvPr>
        </p:nvSpPr>
        <p:spPr/>
        <p:txBody>
          <a:bodyPr>
            <a:normAutofit lnSpcReduction="10000"/>
          </a:bodyPr>
          <a:lstStyle/>
          <a:p>
            <a:pPr marL="565150" indent="-514350">
              <a:buFont typeface="+mj-lt"/>
              <a:buAutoNum type="arabicPeriod" startAt="2"/>
            </a:pPr>
            <a:r>
              <a:rPr lang="en-GB" b="1" dirty="0">
                <a:latin typeface="Source Sans Pro" panose="020B0503030403020204" pitchFamily="34" charset="0"/>
                <a:ea typeface="Source Sans Pro" panose="020B0503030403020204" pitchFamily="34" charset="0"/>
              </a:rPr>
              <a:t>Public policies </a:t>
            </a:r>
            <a:r>
              <a:rPr lang="en-GB" dirty="0"/>
              <a:t>in the form of quotas and taxes:</a:t>
            </a:r>
          </a:p>
          <a:p>
            <a:pPr>
              <a:buFont typeface="System Font Regular"/>
              <a:buChar char="-"/>
            </a:pPr>
            <a:r>
              <a:rPr lang="en-GB" dirty="0"/>
              <a:t>Quotas to prevent the over-exploitation of stocks of cod in the North Atlantic</a:t>
            </a:r>
          </a:p>
          <a:p>
            <a:pPr>
              <a:buFont typeface="System Font Regular"/>
              <a:buChar char="-"/>
            </a:pPr>
            <a:r>
              <a:rPr lang="en-GB" dirty="0"/>
              <a:t>Landfill tax in the UK has reduced the amount of waste that is dumped in landfills</a:t>
            </a:r>
          </a:p>
          <a:p>
            <a:pPr>
              <a:buFont typeface="System Font Regular"/>
              <a:buChar char="-"/>
            </a:pPr>
            <a:endParaRPr lang="en-GB" dirty="0"/>
          </a:p>
          <a:p>
            <a:pPr marL="565150" indent="-514350">
              <a:buFont typeface="+mj-lt"/>
              <a:buAutoNum type="arabicPeriod" startAt="3"/>
            </a:pPr>
            <a:r>
              <a:rPr lang="en-GB" dirty="0"/>
              <a:t>Local communities can create their own </a:t>
            </a:r>
            <a:r>
              <a:rPr lang="en-GB" b="1" dirty="0">
                <a:latin typeface="Source Sans Pro" panose="020B0503030403020204" pitchFamily="34" charset="0"/>
                <a:ea typeface="Source Sans Pro" panose="020B0503030403020204" pitchFamily="34" charset="0"/>
              </a:rPr>
              <a:t>institutions</a:t>
            </a:r>
            <a:r>
              <a:rPr lang="en-GB" dirty="0"/>
              <a:t> to regulate behaviour, for example:</a:t>
            </a:r>
          </a:p>
          <a:p>
            <a:pPr marL="508000" lvl="1" indent="0">
              <a:buNone/>
            </a:pPr>
            <a:r>
              <a:rPr lang="en-GB" sz="2800" dirty="0"/>
              <a:t>Customary rules designed by farmers in Valencia, Spain, and the </a:t>
            </a:r>
            <a:r>
              <a:rPr lang="en-GB" sz="2800" i="1" dirty="0"/>
              <a:t>Tribunal de las </a:t>
            </a:r>
            <a:r>
              <a:rPr lang="en-GB" sz="2800" i="1" dirty="0" err="1"/>
              <a:t>Aguas</a:t>
            </a:r>
            <a:r>
              <a:rPr lang="en-GB" sz="2800" dirty="0"/>
              <a:t> (Water Court) to resolve conflicts</a:t>
            </a:r>
          </a:p>
        </p:txBody>
      </p:sp>
    </p:spTree>
    <p:extLst>
      <p:ext uri="{BB962C8B-B14F-4D97-AF65-F5344CB8AC3E}">
        <p14:creationId xmlns:p14="http://schemas.microsoft.com/office/powerpoint/2010/main" val="2922956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E5BA3-1BF8-EA44-AFA2-0A9A22DD4196}"/>
              </a:ext>
            </a:extLst>
          </p:cNvPr>
          <p:cNvSpPr>
            <a:spLocks noGrp="1"/>
          </p:cNvSpPr>
          <p:nvPr>
            <p:ph type="title"/>
          </p:nvPr>
        </p:nvSpPr>
        <p:spPr/>
        <p:txBody>
          <a:bodyPr/>
          <a:lstStyle/>
          <a:p>
            <a:r>
              <a:rPr lang="en-GB" dirty="0"/>
              <a:t>Self-interest and Economic Outcomes</a:t>
            </a:r>
          </a:p>
        </p:txBody>
      </p:sp>
      <p:sp>
        <p:nvSpPr>
          <p:cNvPr id="3" name="Text Placeholder 2">
            <a:extLst>
              <a:ext uri="{FF2B5EF4-FFF2-40B4-BE49-F238E27FC236}">
                <a16:creationId xmlns:a16="http://schemas.microsoft.com/office/drawing/2014/main" id="{BD642028-999B-A341-964F-A3337BBD0916}"/>
              </a:ext>
            </a:extLst>
          </p:cNvPr>
          <p:cNvSpPr>
            <a:spLocks noGrp="1"/>
          </p:cNvSpPr>
          <p:nvPr>
            <p:ph type="body" idx="1"/>
          </p:nvPr>
        </p:nvSpPr>
        <p:spPr/>
        <p:txBody>
          <a:bodyPr/>
          <a:lstStyle/>
          <a:p>
            <a:r>
              <a:rPr lang="en-GB" dirty="0"/>
              <a:t>SECTION C</a:t>
            </a:r>
          </a:p>
        </p:txBody>
      </p:sp>
    </p:spTree>
    <p:extLst>
      <p:ext uri="{BB962C8B-B14F-4D97-AF65-F5344CB8AC3E}">
        <p14:creationId xmlns:p14="http://schemas.microsoft.com/office/powerpoint/2010/main" val="2008074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8F317-2BC1-114D-B843-8860BA7343A5}"/>
              </a:ext>
            </a:extLst>
          </p:cNvPr>
          <p:cNvSpPr>
            <a:spLocks noGrp="1"/>
          </p:cNvSpPr>
          <p:nvPr>
            <p:ph type="title"/>
          </p:nvPr>
        </p:nvSpPr>
        <p:spPr/>
        <p:txBody>
          <a:bodyPr/>
          <a:lstStyle/>
          <a:p>
            <a:r>
              <a:rPr lang="en-GB" dirty="0"/>
              <a:t>Game theory: Key concepts</a:t>
            </a:r>
          </a:p>
        </p:txBody>
      </p:sp>
      <p:sp>
        <p:nvSpPr>
          <p:cNvPr id="3" name="Text Placeholder 2">
            <a:extLst>
              <a:ext uri="{FF2B5EF4-FFF2-40B4-BE49-F238E27FC236}">
                <a16:creationId xmlns:a16="http://schemas.microsoft.com/office/drawing/2014/main" id="{AE4230BE-15DC-BC46-BE6C-10F5F73CE084}"/>
              </a:ext>
            </a:extLst>
          </p:cNvPr>
          <p:cNvSpPr>
            <a:spLocks noGrp="1"/>
          </p:cNvSpPr>
          <p:nvPr>
            <p:ph type="body" idx="1"/>
          </p:nvPr>
        </p:nvSpPr>
        <p:spPr/>
        <p:txBody>
          <a:bodyPr/>
          <a:lstStyle/>
          <a:p>
            <a:pPr indent="-457200"/>
            <a:r>
              <a:rPr lang="en-US" b="1" dirty="0">
                <a:latin typeface="Source Sans Pro" panose="020B0503030403020204" pitchFamily="34" charset="0"/>
                <a:ea typeface="Source Sans Pro" panose="020B0503030403020204" pitchFamily="34" charset="0"/>
              </a:rPr>
              <a:t>Social interaction: </a:t>
            </a:r>
            <a:r>
              <a:rPr lang="en-US" dirty="0"/>
              <a:t>A</a:t>
            </a:r>
            <a:r>
              <a:rPr lang="cs-CZ" dirty="0"/>
              <a:t> </a:t>
            </a:r>
            <a:r>
              <a:rPr lang="cs-CZ" dirty="0" err="1"/>
              <a:t>situation</a:t>
            </a:r>
            <a:r>
              <a:rPr lang="cs-CZ" dirty="0"/>
              <a:t> in </a:t>
            </a:r>
            <a:r>
              <a:rPr lang="cs-CZ" dirty="0" err="1"/>
              <a:t>which</a:t>
            </a:r>
            <a:r>
              <a:rPr lang="cs-CZ" dirty="0"/>
              <a:t> </a:t>
            </a:r>
            <a:r>
              <a:rPr lang="cs-CZ" dirty="0" err="1"/>
              <a:t>the</a:t>
            </a:r>
            <a:r>
              <a:rPr lang="cs-CZ" dirty="0"/>
              <a:t> </a:t>
            </a:r>
            <a:r>
              <a:rPr lang="cs-CZ" dirty="0" err="1"/>
              <a:t>actions</a:t>
            </a:r>
            <a:r>
              <a:rPr lang="cs-CZ" dirty="0"/>
              <a:t> </a:t>
            </a:r>
            <a:r>
              <a:rPr lang="cs-CZ" dirty="0" err="1"/>
              <a:t>taken</a:t>
            </a:r>
            <a:r>
              <a:rPr lang="cs-CZ" dirty="0"/>
              <a:t> by </a:t>
            </a:r>
            <a:r>
              <a:rPr lang="cs-CZ" dirty="0" err="1"/>
              <a:t>each</a:t>
            </a:r>
            <a:r>
              <a:rPr lang="cs-CZ" dirty="0"/>
              <a:t> person </a:t>
            </a:r>
            <a:r>
              <a:rPr lang="cs-CZ" dirty="0" err="1"/>
              <a:t>affect</a:t>
            </a:r>
            <a:r>
              <a:rPr lang="cs-CZ" dirty="0"/>
              <a:t> </a:t>
            </a:r>
            <a:r>
              <a:rPr lang="cs-CZ" dirty="0" err="1"/>
              <a:t>other</a:t>
            </a:r>
            <a:r>
              <a:rPr lang="cs-CZ" dirty="0"/>
              <a:t> </a:t>
            </a:r>
            <a:r>
              <a:rPr lang="cs-CZ" dirty="0" err="1"/>
              <a:t>people’s</a:t>
            </a:r>
            <a:r>
              <a:rPr lang="cs-CZ" dirty="0"/>
              <a:t> </a:t>
            </a:r>
            <a:r>
              <a:rPr lang="cs-CZ" dirty="0" err="1"/>
              <a:t>outcomes</a:t>
            </a:r>
            <a:r>
              <a:rPr lang="cs-CZ" dirty="0"/>
              <a:t> as </a:t>
            </a:r>
            <a:r>
              <a:rPr lang="cs-CZ" dirty="0" err="1"/>
              <a:t>well</a:t>
            </a:r>
            <a:r>
              <a:rPr lang="cs-CZ" dirty="0"/>
              <a:t> as </a:t>
            </a:r>
            <a:r>
              <a:rPr lang="cs-CZ" dirty="0" err="1"/>
              <a:t>their</a:t>
            </a:r>
            <a:r>
              <a:rPr lang="cs-CZ" dirty="0"/>
              <a:t> </a:t>
            </a:r>
            <a:r>
              <a:rPr lang="cs-CZ" dirty="0" err="1"/>
              <a:t>own</a:t>
            </a:r>
            <a:r>
              <a:rPr lang="cs-CZ" dirty="0"/>
              <a:t>.</a:t>
            </a:r>
          </a:p>
          <a:p>
            <a:pPr indent="-457200"/>
            <a:r>
              <a:rPr lang="en-US" b="1" dirty="0">
                <a:latin typeface="Source Sans Pro" panose="020B0503030403020204" pitchFamily="34" charset="0"/>
                <a:ea typeface="Source Sans Pro" panose="020B0503030403020204" pitchFamily="34" charset="0"/>
              </a:rPr>
              <a:t>Strategic interaction: </a:t>
            </a:r>
            <a:r>
              <a:rPr lang="en-US" dirty="0"/>
              <a:t>A social interaction in which the participants are aware of the ways that their actions affect others (and the ways that the actions of others affect them).</a:t>
            </a:r>
          </a:p>
          <a:p>
            <a:pPr indent="-457200"/>
            <a:r>
              <a:rPr lang="en-US" b="1" dirty="0">
                <a:latin typeface="Source Sans Pro" panose="020B0503030403020204" pitchFamily="34" charset="0"/>
                <a:ea typeface="Source Sans Pro" panose="020B0503030403020204" pitchFamily="34" charset="0"/>
              </a:rPr>
              <a:t>Strategy:</a:t>
            </a:r>
            <a:r>
              <a:rPr lang="en-US" dirty="0"/>
              <a:t> </a:t>
            </a:r>
            <a:r>
              <a:rPr lang="cs-CZ" dirty="0" err="1"/>
              <a:t>An</a:t>
            </a:r>
            <a:r>
              <a:rPr lang="cs-CZ" dirty="0"/>
              <a:t> </a:t>
            </a:r>
            <a:r>
              <a:rPr lang="cs-CZ" dirty="0" err="1"/>
              <a:t>action</a:t>
            </a:r>
            <a:r>
              <a:rPr lang="cs-CZ" dirty="0"/>
              <a:t> (</a:t>
            </a:r>
            <a:r>
              <a:rPr lang="cs-CZ" dirty="0" err="1"/>
              <a:t>or</a:t>
            </a:r>
            <a:r>
              <a:rPr lang="cs-CZ" dirty="0"/>
              <a:t> a </a:t>
            </a:r>
            <a:r>
              <a:rPr lang="cs-CZ" dirty="0" err="1"/>
              <a:t>course</a:t>
            </a:r>
            <a:r>
              <a:rPr lang="cs-CZ" dirty="0"/>
              <a:t> </a:t>
            </a:r>
            <a:r>
              <a:rPr lang="cs-CZ" dirty="0" err="1"/>
              <a:t>of</a:t>
            </a:r>
            <a:r>
              <a:rPr lang="cs-CZ" dirty="0"/>
              <a:t> </a:t>
            </a:r>
            <a:r>
              <a:rPr lang="cs-CZ" dirty="0" err="1"/>
              <a:t>action</a:t>
            </a:r>
            <a:r>
              <a:rPr lang="cs-CZ" dirty="0"/>
              <a:t>) </a:t>
            </a:r>
            <a:r>
              <a:rPr lang="cs-CZ" dirty="0" err="1"/>
              <a:t>that</a:t>
            </a:r>
            <a:r>
              <a:rPr lang="cs-CZ" dirty="0"/>
              <a:t> a person </a:t>
            </a:r>
            <a:r>
              <a:rPr lang="cs-CZ" dirty="0" err="1"/>
              <a:t>may</a:t>
            </a:r>
            <a:r>
              <a:rPr lang="cs-CZ" dirty="0"/>
              <a:t> </a:t>
            </a:r>
            <a:r>
              <a:rPr lang="cs-CZ" dirty="0" err="1"/>
              <a:t>take</a:t>
            </a:r>
            <a:r>
              <a:rPr lang="cs-CZ" dirty="0"/>
              <a:t> </a:t>
            </a:r>
            <a:r>
              <a:rPr lang="cs-CZ" dirty="0" err="1"/>
              <a:t>when</a:t>
            </a:r>
            <a:r>
              <a:rPr lang="cs-CZ" dirty="0"/>
              <a:t> </a:t>
            </a:r>
            <a:r>
              <a:rPr lang="cs-CZ" dirty="0" err="1"/>
              <a:t>that</a:t>
            </a:r>
            <a:r>
              <a:rPr lang="cs-CZ" dirty="0"/>
              <a:t> person </a:t>
            </a:r>
            <a:r>
              <a:rPr lang="cs-CZ" dirty="0" err="1"/>
              <a:t>is</a:t>
            </a:r>
            <a:r>
              <a:rPr lang="cs-CZ" dirty="0"/>
              <a:t> </a:t>
            </a:r>
            <a:r>
              <a:rPr lang="cs-CZ" dirty="0" err="1"/>
              <a:t>aware</a:t>
            </a:r>
            <a:r>
              <a:rPr lang="cs-CZ" dirty="0"/>
              <a:t> </a:t>
            </a:r>
            <a:r>
              <a:rPr lang="cs-CZ" dirty="0" err="1"/>
              <a:t>of</a:t>
            </a:r>
            <a:r>
              <a:rPr lang="cs-CZ" dirty="0"/>
              <a:t> </a:t>
            </a:r>
            <a:r>
              <a:rPr lang="cs-CZ" dirty="0" err="1"/>
              <a:t>the</a:t>
            </a:r>
            <a:r>
              <a:rPr lang="cs-CZ" dirty="0"/>
              <a:t> </a:t>
            </a:r>
            <a:r>
              <a:rPr lang="cs-CZ" dirty="0" err="1"/>
              <a:t>mutual</a:t>
            </a:r>
            <a:r>
              <a:rPr lang="cs-CZ" dirty="0"/>
              <a:t> dependence </a:t>
            </a:r>
            <a:r>
              <a:rPr lang="cs-CZ" dirty="0" err="1"/>
              <a:t>of</a:t>
            </a:r>
            <a:r>
              <a:rPr lang="cs-CZ" dirty="0"/>
              <a:t> </a:t>
            </a:r>
            <a:r>
              <a:rPr lang="cs-CZ" dirty="0" err="1"/>
              <a:t>the</a:t>
            </a:r>
            <a:r>
              <a:rPr lang="cs-CZ" dirty="0"/>
              <a:t> </a:t>
            </a:r>
            <a:r>
              <a:rPr lang="cs-CZ" dirty="0" err="1"/>
              <a:t>results</a:t>
            </a:r>
            <a:r>
              <a:rPr lang="cs-CZ" dirty="0"/>
              <a:t> </a:t>
            </a:r>
            <a:r>
              <a:rPr lang="cs-CZ" dirty="0" err="1"/>
              <a:t>for</a:t>
            </a:r>
            <a:r>
              <a:rPr lang="cs-CZ" dirty="0"/>
              <a:t> </a:t>
            </a:r>
            <a:r>
              <a:rPr lang="cs-CZ" dirty="0" err="1"/>
              <a:t>herself</a:t>
            </a:r>
            <a:r>
              <a:rPr lang="cs-CZ" dirty="0"/>
              <a:t> and </a:t>
            </a:r>
            <a:r>
              <a:rPr lang="cs-CZ" dirty="0" err="1"/>
              <a:t>for</a:t>
            </a:r>
            <a:r>
              <a:rPr lang="cs-CZ" dirty="0"/>
              <a:t> </a:t>
            </a:r>
            <a:r>
              <a:rPr lang="cs-CZ" dirty="0" err="1"/>
              <a:t>others</a:t>
            </a:r>
            <a:r>
              <a:rPr lang="cs-CZ" dirty="0"/>
              <a:t>. </a:t>
            </a:r>
            <a:endParaRPr lang="en-US" dirty="0"/>
          </a:p>
          <a:p>
            <a:endParaRPr lang="en-GB" dirty="0"/>
          </a:p>
        </p:txBody>
      </p:sp>
    </p:spTree>
    <p:extLst>
      <p:ext uri="{BB962C8B-B14F-4D97-AF65-F5344CB8AC3E}">
        <p14:creationId xmlns:p14="http://schemas.microsoft.com/office/powerpoint/2010/main" val="3709564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B2E09-AD5B-644E-80FF-6CEB817A7C80}"/>
              </a:ext>
            </a:extLst>
          </p:cNvPr>
          <p:cNvSpPr>
            <a:spLocks noGrp="1"/>
          </p:cNvSpPr>
          <p:nvPr>
            <p:ph type="title"/>
          </p:nvPr>
        </p:nvSpPr>
        <p:spPr/>
        <p:txBody>
          <a:bodyPr/>
          <a:lstStyle/>
          <a:p>
            <a:r>
              <a:rPr lang="en-GB" dirty="0"/>
              <a:t>Game</a:t>
            </a:r>
          </a:p>
        </p:txBody>
      </p:sp>
      <p:sp>
        <p:nvSpPr>
          <p:cNvPr id="3" name="Text Placeholder 2">
            <a:extLst>
              <a:ext uri="{FF2B5EF4-FFF2-40B4-BE49-F238E27FC236}">
                <a16:creationId xmlns:a16="http://schemas.microsoft.com/office/drawing/2014/main" id="{C05BD5B5-499D-8749-85B9-F080E6620D63}"/>
              </a:ext>
            </a:extLst>
          </p:cNvPr>
          <p:cNvSpPr>
            <a:spLocks noGrp="1"/>
          </p:cNvSpPr>
          <p:nvPr>
            <p:ph type="body" idx="1"/>
          </p:nvPr>
        </p:nvSpPr>
        <p:spPr>
          <a:xfrm>
            <a:off x="838200" y="1825625"/>
            <a:ext cx="5562600" cy="4351338"/>
          </a:xfrm>
        </p:spPr>
        <p:txBody>
          <a:bodyPr>
            <a:normAutofit fontScale="92500" lnSpcReduction="10000"/>
          </a:bodyPr>
          <a:lstStyle/>
          <a:p>
            <a:pPr marL="50800" indent="0">
              <a:buNone/>
            </a:pPr>
            <a:r>
              <a:rPr lang="en-GB" dirty="0"/>
              <a:t>A game describes a social interaction:</a:t>
            </a:r>
          </a:p>
          <a:p>
            <a:pPr marL="50800" indent="0">
              <a:buNone/>
            </a:pPr>
            <a:endParaRPr lang="en-GB" dirty="0"/>
          </a:p>
          <a:p>
            <a:pPr marL="565150" indent="-514350">
              <a:buFont typeface="+mj-lt"/>
              <a:buAutoNum type="arabicPeriod"/>
            </a:pPr>
            <a:r>
              <a:rPr lang="en-GB" dirty="0"/>
              <a:t>Players – who is involved in the interaction</a:t>
            </a:r>
          </a:p>
          <a:p>
            <a:pPr marL="565150" indent="-514350">
              <a:buFont typeface="+mj-lt"/>
              <a:buAutoNum type="arabicPeriod"/>
            </a:pPr>
            <a:r>
              <a:rPr lang="en-GB" dirty="0"/>
              <a:t>Feasible strategies - actions each player can take</a:t>
            </a:r>
          </a:p>
          <a:p>
            <a:pPr marL="565150" indent="-514350">
              <a:buFont typeface="+mj-lt"/>
              <a:buAutoNum type="arabicPeriod"/>
            </a:pPr>
            <a:r>
              <a:rPr lang="en-GB" dirty="0"/>
              <a:t>Information – what each player knows when choosing their action</a:t>
            </a:r>
          </a:p>
          <a:p>
            <a:pPr marL="565150" indent="-514350">
              <a:buFont typeface="+mj-lt"/>
              <a:buAutoNum type="arabicPeriod"/>
            </a:pPr>
            <a:r>
              <a:rPr lang="en-GB" dirty="0"/>
              <a:t>Payoffs – outcomes for every possible combination of actions</a:t>
            </a:r>
          </a:p>
        </p:txBody>
      </p:sp>
      <p:pic>
        <p:nvPicPr>
          <p:cNvPr id="4" name="Picture 3">
            <a:extLst>
              <a:ext uri="{FF2B5EF4-FFF2-40B4-BE49-F238E27FC236}">
                <a16:creationId xmlns:a16="http://schemas.microsoft.com/office/drawing/2014/main" id="{DB7FC3C1-D36B-2E49-92D5-E7DE968F2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731" y="1825625"/>
            <a:ext cx="4033941" cy="4017063"/>
          </a:xfrm>
          <a:prstGeom prst="rect">
            <a:avLst/>
          </a:prstGeom>
        </p:spPr>
      </p:pic>
    </p:spTree>
    <p:extLst>
      <p:ext uri="{BB962C8B-B14F-4D97-AF65-F5344CB8AC3E}">
        <p14:creationId xmlns:p14="http://schemas.microsoft.com/office/powerpoint/2010/main" val="665725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3454-E2F9-BB41-8B9D-BB5F8B7552C9}"/>
              </a:ext>
            </a:extLst>
          </p:cNvPr>
          <p:cNvSpPr>
            <a:spLocks noGrp="1"/>
          </p:cNvSpPr>
          <p:nvPr>
            <p:ph type="title"/>
          </p:nvPr>
        </p:nvSpPr>
        <p:spPr/>
        <p:txBody>
          <a:bodyPr/>
          <a:lstStyle/>
          <a:p>
            <a:r>
              <a:rPr lang="en-GB" dirty="0"/>
              <a:t>Example: Crop choice</a:t>
            </a:r>
          </a:p>
        </p:txBody>
      </p:sp>
      <p:sp>
        <p:nvSpPr>
          <p:cNvPr id="3" name="Text Placeholder 2">
            <a:extLst>
              <a:ext uri="{FF2B5EF4-FFF2-40B4-BE49-F238E27FC236}">
                <a16:creationId xmlns:a16="http://schemas.microsoft.com/office/drawing/2014/main" id="{254D5C84-D3EA-3346-A44D-50F47EA30AF6}"/>
              </a:ext>
            </a:extLst>
          </p:cNvPr>
          <p:cNvSpPr>
            <a:spLocks noGrp="1"/>
          </p:cNvSpPr>
          <p:nvPr>
            <p:ph type="body" idx="1"/>
          </p:nvPr>
        </p:nvSpPr>
        <p:spPr>
          <a:xfrm>
            <a:off x="838200" y="1825625"/>
            <a:ext cx="5105400" cy="4351338"/>
          </a:xfrm>
        </p:spPr>
        <p:txBody>
          <a:bodyPr>
            <a:normAutofit fontScale="85000" lnSpcReduction="20000"/>
          </a:bodyPr>
          <a:lstStyle/>
          <a:p>
            <a:pPr indent="-457200"/>
            <a:r>
              <a:rPr lang="en-US" sz="3200" dirty="0"/>
              <a:t>Two farmers decide which crop to specialize in.</a:t>
            </a:r>
          </a:p>
          <a:p>
            <a:pPr indent="-457200">
              <a:spcAft>
                <a:spcPts val="1200"/>
              </a:spcAft>
            </a:pPr>
            <a:r>
              <a:rPr lang="en-US" sz="3200" dirty="0"/>
              <a:t>They interact only once (</a:t>
            </a:r>
            <a:r>
              <a:rPr lang="en-US" sz="3200" b="1" dirty="0"/>
              <a:t>one-shot game</a:t>
            </a:r>
            <a:r>
              <a:rPr lang="en-US" sz="3200" dirty="0"/>
              <a:t>).</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Players</a:t>
            </a:r>
            <a:r>
              <a:rPr lang="en-US" sz="3200" dirty="0"/>
              <a:t> – Anil and </a:t>
            </a:r>
            <a:r>
              <a:rPr lang="en-US" sz="3200" dirty="0" err="1"/>
              <a:t>Bala</a:t>
            </a:r>
            <a:endParaRPr lang="en-US" sz="3200" dirty="0"/>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Feasible strategies </a:t>
            </a:r>
            <a:r>
              <a:rPr lang="en-US" sz="3200" dirty="0"/>
              <a:t>– Rice or Cassava</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Information</a:t>
            </a:r>
            <a:r>
              <a:rPr lang="en-US" sz="3200" dirty="0"/>
              <a:t> – each farmer does not know what the other chooses</a:t>
            </a:r>
          </a:p>
          <a:p>
            <a:pPr marL="755650" lvl="1" indent="-514350">
              <a:buSzPct val="100000"/>
              <a:buAutoNum type="arabicPeriod"/>
            </a:pPr>
            <a:r>
              <a:rPr lang="en-US" sz="3200" b="1" dirty="0">
                <a:latin typeface="Source Sans Pro" panose="020B0503030403020204" pitchFamily="34" charset="0"/>
                <a:ea typeface="Source Sans Pro" panose="020B0503030403020204" pitchFamily="34" charset="0"/>
              </a:rPr>
              <a:t>Payoffs </a:t>
            </a:r>
            <a:r>
              <a:rPr lang="en-US" sz="3200" dirty="0"/>
              <a:t>– depend on market prices and quality of land</a:t>
            </a:r>
          </a:p>
          <a:p>
            <a:endParaRPr lang="en-GB" dirty="0"/>
          </a:p>
        </p:txBody>
      </p:sp>
      <p:pic>
        <p:nvPicPr>
          <p:cNvPr id="4" name="Picture 3">
            <a:extLst>
              <a:ext uri="{FF2B5EF4-FFF2-40B4-BE49-F238E27FC236}">
                <a16:creationId xmlns:a16="http://schemas.microsoft.com/office/drawing/2014/main" id="{4A25B639-CA7B-274F-802F-7DB28D8CC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1306" y="1626630"/>
            <a:ext cx="4862494" cy="4550333"/>
          </a:xfrm>
          <a:prstGeom prst="rect">
            <a:avLst/>
          </a:prstGeom>
        </p:spPr>
      </p:pic>
    </p:spTree>
    <p:extLst>
      <p:ext uri="{BB962C8B-B14F-4D97-AF65-F5344CB8AC3E}">
        <p14:creationId xmlns:p14="http://schemas.microsoft.com/office/powerpoint/2010/main" val="4261100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92CE-28A2-0549-BD30-30F4541DF7DB}"/>
              </a:ext>
            </a:extLst>
          </p:cNvPr>
          <p:cNvSpPr>
            <a:spLocks noGrp="1"/>
          </p:cNvSpPr>
          <p:nvPr>
            <p:ph type="title"/>
          </p:nvPr>
        </p:nvSpPr>
        <p:spPr/>
        <p:txBody>
          <a:bodyPr/>
          <a:lstStyle/>
          <a:p>
            <a:r>
              <a:rPr lang="en-GB" dirty="0"/>
              <a:t>Interpreting the payoff matrix</a:t>
            </a:r>
          </a:p>
        </p:txBody>
      </p:sp>
      <p:sp>
        <p:nvSpPr>
          <p:cNvPr id="3" name="Text Placeholder 2">
            <a:extLst>
              <a:ext uri="{FF2B5EF4-FFF2-40B4-BE49-F238E27FC236}">
                <a16:creationId xmlns:a16="http://schemas.microsoft.com/office/drawing/2014/main" id="{83FE3522-126F-D440-82D9-A8ADB0D5ABA5}"/>
              </a:ext>
            </a:extLst>
          </p:cNvPr>
          <p:cNvSpPr>
            <a:spLocks noGrp="1"/>
          </p:cNvSpPr>
          <p:nvPr>
            <p:ph type="body" idx="1"/>
          </p:nvPr>
        </p:nvSpPr>
        <p:spPr>
          <a:xfrm>
            <a:off x="838200" y="5040923"/>
            <a:ext cx="10515600" cy="1136040"/>
          </a:xfrm>
        </p:spPr>
        <p:txBody>
          <a:bodyPr/>
          <a:lstStyle/>
          <a:p>
            <a:pPr marL="50800" indent="0">
              <a:buNone/>
            </a:pPr>
            <a:r>
              <a:rPr lang="en-GB" b="1" dirty="0">
                <a:latin typeface="Source Sans Pro" panose="020B0503030403020204" pitchFamily="34" charset="0"/>
                <a:ea typeface="Source Sans Pro" panose="020B0503030403020204" pitchFamily="34" charset="0"/>
              </a:rPr>
              <a:t>Payoff matrix </a:t>
            </a:r>
            <a:r>
              <a:rPr lang="en-GB" dirty="0"/>
              <a:t>= A table of the payoffs associated with every possible combination of strategies chosen by two or more players in a game</a:t>
            </a:r>
          </a:p>
        </p:txBody>
      </p:sp>
      <p:pic>
        <p:nvPicPr>
          <p:cNvPr id="4" name="Picture 3">
            <a:extLst>
              <a:ext uri="{FF2B5EF4-FFF2-40B4-BE49-F238E27FC236}">
                <a16:creationId xmlns:a16="http://schemas.microsoft.com/office/drawing/2014/main" id="{B17AA153-2A29-3E45-933E-E5053A4A9FCC}"/>
              </a:ext>
            </a:extLst>
          </p:cNvPr>
          <p:cNvPicPr>
            <a:picLocks noChangeAspect="1"/>
          </p:cNvPicPr>
          <p:nvPr/>
        </p:nvPicPr>
        <p:blipFill rotWithShape="1">
          <a:blip r:embed="rId3">
            <a:extLst>
              <a:ext uri="{28A0092B-C50C-407E-A947-70E740481C1C}">
                <a14:useLocalDpi xmlns:a14="http://schemas.microsoft.com/office/drawing/2010/main" val="0"/>
              </a:ext>
            </a:extLst>
          </a:blip>
          <a:srcRect r="16982"/>
          <a:stretch/>
        </p:blipFill>
        <p:spPr>
          <a:xfrm>
            <a:off x="4608854" y="1357644"/>
            <a:ext cx="6243115" cy="3815804"/>
          </a:xfrm>
          <a:prstGeom prst="rect">
            <a:avLst/>
          </a:prstGeom>
        </p:spPr>
      </p:pic>
      <p:pic>
        <p:nvPicPr>
          <p:cNvPr id="5" name="Picture 4">
            <a:extLst>
              <a:ext uri="{FF2B5EF4-FFF2-40B4-BE49-F238E27FC236}">
                <a16:creationId xmlns:a16="http://schemas.microsoft.com/office/drawing/2014/main" id="{DB47FB2D-739C-E542-AC19-D6FD3ACE1E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0031" y="1445006"/>
            <a:ext cx="3761831" cy="3641081"/>
          </a:xfrm>
          <a:prstGeom prst="rect">
            <a:avLst/>
          </a:prstGeom>
        </p:spPr>
      </p:pic>
    </p:spTree>
    <p:extLst>
      <p:ext uri="{BB962C8B-B14F-4D97-AF65-F5344CB8AC3E}">
        <p14:creationId xmlns:p14="http://schemas.microsoft.com/office/powerpoint/2010/main" val="3660150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Understanding best responses</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1128590"/>
          </a:xfrm>
        </p:spPr>
        <p:txBody>
          <a:bodyPr>
            <a:normAutofit lnSpcReduction="10000"/>
          </a:bodyPr>
          <a:lstStyle/>
          <a:p>
            <a:pPr marL="50800" indent="0">
              <a:buNone/>
            </a:pPr>
            <a:r>
              <a:rPr lang="en-US" sz="2400" dirty="0"/>
              <a:t>We can use the payoff matrix to </a:t>
            </a:r>
            <a:r>
              <a:rPr lang="en-US" sz="2400" dirty="0" err="1"/>
              <a:t>analyse</a:t>
            </a:r>
            <a:r>
              <a:rPr lang="en-US" sz="2400" dirty="0"/>
              <a:t> what action a player would choose if he knew what the other player will do.</a:t>
            </a:r>
          </a:p>
          <a:p>
            <a:pPr marL="50800" indent="0">
              <a:buNone/>
            </a:pPr>
            <a:endParaRPr lang="en-GB" dirty="0"/>
          </a:p>
        </p:txBody>
      </p:sp>
      <p:sp>
        <p:nvSpPr>
          <p:cNvPr id="4" name="Text Placeholder 2">
            <a:extLst>
              <a:ext uri="{FF2B5EF4-FFF2-40B4-BE49-F238E27FC236}">
                <a16:creationId xmlns:a16="http://schemas.microsoft.com/office/drawing/2014/main" id="{8F788247-DCCB-994F-B762-3BA32BE66B58}"/>
              </a:ext>
            </a:extLst>
          </p:cNvPr>
          <p:cNvSpPr txBox="1">
            <a:spLocks/>
          </p:cNvSpPr>
          <p:nvPr/>
        </p:nvSpPr>
        <p:spPr>
          <a:xfrm>
            <a:off x="838200" y="2954214"/>
            <a:ext cx="5515708" cy="2965939"/>
          </a:xfrm>
          <a:prstGeom prst="rect">
            <a:avLst/>
          </a:prstGeom>
          <a:noFill/>
          <a:ln>
            <a:noFill/>
          </a:ln>
        </p:spPr>
        <p:txBody>
          <a:bodyPr spcFirstLastPara="1" wrap="square" lIns="91425" tIns="45700" rIns="91425" bIns="45700" anchor="t" anchorCtr="0">
            <a:normAutofit fontScale="85000" lnSpcReduction="2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b="1" dirty="0">
                <a:latin typeface="Source Sans Pro" panose="020B0503030403020204" pitchFamily="34" charset="0"/>
                <a:ea typeface="Source Sans Pro" panose="020B0503030403020204" pitchFamily="34" charset="0"/>
              </a:rPr>
              <a:t>Best response</a:t>
            </a:r>
            <a:r>
              <a:rPr lang="en-GB" dirty="0"/>
              <a:t>: The strategy that will give a player the highest payoff, </a:t>
            </a:r>
            <a:r>
              <a:rPr lang="en-GB" u="sng" dirty="0"/>
              <a:t>given the strategies that the other players select</a:t>
            </a:r>
            <a:r>
              <a:rPr lang="en-GB" dirty="0"/>
              <a:t>.</a:t>
            </a:r>
          </a:p>
          <a:p>
            <a:pPr marL="50800" indent="0">
              <a:lnSpc>
                <a:spcPct val="110000"/>
              </a:lnSpc>
              <a:buNone/>
            </a:pPr>
            <a:endParaRPr lang="en-GB" dirty="0"/>
          </a:p>
          <a:p>
            <a:pPr marL="50800" indent="0">
              <a:lnSpc>
                <a:spcPct val="110000"/>
              </a:lnSpc>
              <a:buNone/>
            </a:pPr>
            <a:r>
              <a:rPr lang="en-GB" dirty="0"/>
              <a:t>If </a:t>
            </a:r>
            <a:r>
              <a:rPr lang="en-GB" dirty="0" err="1"/>
              <a:t>Bala</a:t>
            </a:r>
            <a:r>
              <a:rPr lang="en-GB" dirty="0"/>
              <a:t> chooses Rice, Anil’s best response is to choose Cassava—that gives him 4, rather than 1.</a:t>
            </a:r>
          </a:p>
          <a:p>
            <a:pPr marL="50800" indent="0">
              <a:buFont typeface="Arial"/>
              <a:buNone/>
            </a:pPr>
            <a:endParaRPr lang="en-GB" dirty="0"/>
          </a:p>
        </p:txBody>
      </p:sp>
    </p:spTree>
    <p:extLst>
      <p:ext uri="{BB962C8B-B14F-4D97-AF65-F5344CB8AC3E}">
        <p14:creationId xmlns:p14="http://schemas.microsoft.com/office/powerpoint/2010/main" val="1072249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Understanding dominant strategies</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4176590"/>
          </a:xfrm>
        </p:spPr>
        <p:txBody>
          <a:bodyPr>
            <a:normAutofit fontScale="77500" lnSpcReduction="20000"/>
          </a:bodyPr>
          <a:lstStyle/>
          <a:p>
            <a:pPr marL="50800" indent="0">
              <a:lnSpc>
                <a:spcPct val="110000"/>
              </a:lnSpc>
              <a:buNone/>
            </a:pPr>
            <a:r>
              <a:rPr lang="en-GB" dirty="0"/>
              <a:t>If </a:t>
            </a:r>
            <a:r>
              <a:rPr lang="en-GB" dirty="0" err="1"/>
              <a:t>Bala</a:t>
            </a:r>
            <a:r>
              <a:rPr lang="en-GB" dirty="0"/>
              <a:t> chooses Cassava, Anil’s best response is to choose Cassava—that gives him 3, rather than 2.</a:t>
            </a:r>
          </a:p>
          <a:p>
            <a:pPr>
              <a:lnSpc>
                <a:spcPct val="110000"/>
              </a:lnSpc>
            </a:pPr>
            <a:endParaRPr lang="en-GB" dirty="0"/>
          </a:p>
          <a:p>
            <a:pPr marL="50800" indent="0">
              <a:lnSpc>
                <a:spcPct val="110000"/>
              </a:lnSpc>
              <a:buNone/>
            </a:pPr>
            <a:r>
              <a:rPr lang="en-GB" dirty="0"/>
              <a:t>Regardless of what </a:t>
            </a:r>
            <a:r>
              <a:rPr lang="en-GB" dirty="0" err="1"/>
              <a:t>Bala</a:t>
            </a:r>
            <a:r>
              <a:rPr lang="en-GB" dirty="0"/>
              <a:t> chooses, it is therefore optimal for Anil to grow Cassava – this is his </a:t>
            </a:r>
            <a:r>
              <a:rPr lang="en-GB" b="1" dirty="0">
                <a:latin typeface="Source Sans Pro" panose="020B0503030403020204" pitchFamily="34" charset="0"/>
                <a:ea typeface="Source Sans Pro" panose="020B0503030403020204" pitchFamily="34" charset="0"/>
              </a:rPr>
              <a:t>dominant strategy</a:t>
            </a:r>
            <a:r>
              <a:rPr lang="en-GB" dirty="0"/>
              <a:t>.</a:t>
            </a:r>
          </a:p>
          <a:p>
            <a:pPr>
              <a:lnSpc>
                <a:spcPct val="110000"/>
              </a:lnSpc>
            </a:pPr>
            <a:endParaRPr lang="en-GB" b="1" dirty="0"/>
          </a:p>
          <a:p>
            <a:pPr marL="50800" indent="0">
              <a:lnSpc>
                <a:spcPct val="110000"/>
              </a:lnSpc>
              <a:buNone/>
            </a:pPr>
            <a:r>
              <a:rPr lang="en-GB" b="1" dirty="0">
                <a:latin typeface="Source Sans Pro" panose="020B0503030403020204" pitchFamily="34" charset="0"/>
                <a:ea typeface="Source Sans Pro" panose="020B0503030403020204" pitchFamily="34" charset="0"/>
              </a:rPr>
              <a:t>Dominant strategy: </a:t>
            </a:r>
            <a:r>
              <a:rPr lang="en-GB" dirty="0"/>
              <a:t>Action that yields the highest payoff for a player, no matter what the other players do.</a:t>
            </a:r>
          </a:p>
          <a:p>
            <a:pPr marL="50800" indent="0">
              <a:buNone/>
            </a:pPr>
            <a:endParaRPr lang="en-GB" dirty="0"/>
          </a:p>
        </p:txBody>
      </p:sp>
      <p:sp>
        <p:nvSpPr>
          <p:cNvPr id="7" name="Donut 5">
            <a:extLst>
              <a:ext uri="{FF2B5EF4-FFF2-40B4-BE49-F238E27FC236}">
                <a16:creationId xmlns:a16="http://schemas.microsoft.com/office/drawing/2014/main" id="{B94579E9-985D-F149-9932-5F11D5841A7A}"/>
              </a:ext>
            </a:extLst>
          </p:cNvPr>
          <p:cNvSpPr/>
          <p:nvPr/>
        </p:nvSpPr>
        <p:spPr>
          <a:xfrm>
            <a:off x="9518734"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a:extLst>
              <a:ext uri="{FF2B5EF4-FFF2-40B4-BE49-F238E27FC236}">
                <a16:creationId xmlns:a16="http://schemas.microsoft.com/office/drawing/2014/main" id="{204BA2A6-074D-064E-B705-13919E89E1F4}"/>
              </a:ext>
            </a:extLst>
          </p:cNvPr>
          <p:cNvSpPr txBox="1"/>
          <p:nvPr/>
        </p:nvSpPr>
        <p:spPr>
          <a:xfrm>
            <a:off x="6951784" y="5722605"/>
            <a:ext cx="4076757"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Note that a dominant strategy need not always exist</a:t>
            </a:r>
          </a:p>
        </p:txBody>
      </p:sp>
    </p:spTree>
    <p:extLst>
      <p:ext uri="{BB962C8B-B14F-4D97-AF65-F5344CB8AC3E}">
        <p14:creationId xmlns:p14="http://schemas.microsoft.com/office/powerpoint/2010/main" val="2648237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D7BF48-E979-364D-BDFC-02CEFF3024E6}"/>
              </a:ext>
            </a:extLst>
          </p:cNvPr>
          <p:cNvPicPr>
            <a:picLocks noChangeAspect="1"/>
          </p:cNvPicPr>
          <p:nvPr/>
        </p:nvPicPr>
        <p:blipFill rotWithShape="1">
          <a:blip r:embed="rId2">
            <a:extLst>
              <a:ext uri="{28A0092B-C50C-407E-A947-70E740481C1C}">
                <a14:useLocalDpi xmlns:a14="http://schemas.microsoft.com/office/drawing/2010/main" val="0"/>
              </a:ext>
            </a:extLst>
          </a:blip>
          <a:srcRect r="17882"/>
          <a:stretch/>
        </p:blipFill>
        <p:spPr>
          <a:xfrm>
            <a:off x="5396862" y="1991446"/>
            <a:ext cx="5956938" cy="3680770"/>
          </a:xfrm>
          <a:prstGeom prst="rect">
            <a:avLst/>
          </a:prstGeom>
        </p:spPr>
      </p:pic>
      <p:sp>
        <p:nvSpPr>
          <p:cNvPr id="6" name="Donut 5">
            <a:extLst>
              <a:ext uri="{FF2B5EF4-FFF2-40B4-BE49-F238E27FC236}">
                <a16:creationId xmlns:a16="http://schemas.microsoft.com/office/drawing/2014/main" id="{8E09970C-D4A8-2F41-BDE3-A987BD36931D}"/>
              </a:ext>
            </a:extLst>
          </p:cNvPr>
          <p:cNvSpPr/>
          <p:nvPr/>
        </p:nvSpPr>
        <p:spPr>
          <a:xfrm>
            <a:off x="8129146"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2" name="Title 1">
            <a:extLst>
              <a:ext uri="{FF2B5EF4-FFF2-40B4-BE49-F238E27FC236}">
                <a16:creationId xmlns:a16="http://schemas.microsoft.com/office/drawing/2014/main" id="{2B8971A3-0835-1443-8C96-977D8A8DA318}"/>
              </a:ext>
            </a:extLst>
          </p:cNvPr>
          <p:cNvSpPr>
            <a:spLocks noGrp="1"/>
          </p:cNvSpPr>
          <p:nvPr>
            <p:ph type="title"/>
          </p:nvPr>
        </p:nvSpPr>
        <p:spPr/>
        <p:txBody>
          <a:bodyPr/>
          <a:lstStyle/>
          <a:p>
            <a:r>
              <a:rPr lang="en-GB" dirty="0"/>
              <a:t>Dominant strategy equilibrium</a:t>
            </a:r>
          </a:p>
        </p:txBody>
      </p:sp>
      <p:sp>
        <p:nvSpPr>
          <p:cNvPr id="3" name="Text Placeholder 2">
            <a:extLst>
              <a:ext uri="{FF2B5EF4-FFF2-40B4-BE49-F238E27FC236}">
                <a16:creationId xmlns:a16="http://schemas.microsoft.com/office/drawing/2014/main" id="{3088C3ED-2048-7D47-8736-DC9EDDFB071B}"/>
              </a:ext>
            </a:extLst>
          </p:cNvPr>
          <p:cNvSpPr>
            <a:spLocks noGrp="1"/>
          </p:cNvSpPr>
          <p:nvPr>
            <p:ph type="body" idx="1"/>
          </p:nvPr>
        </p:nvSpPr>
        <p:spPr>
          <a:xfrm>
            <a:off x="838200" y="1825625"/>
            <a:ext cx="5257800" cy="4176590"/>
          </a:xfrm>
        </p:spPr>
        <p:txBody>
          <a:bodyPr>
            <a:normAutofit fontScale="85000" lnSpcReduction="20000"/>
          </a:bodyPr>
          <a:lstStyle/>
          <a:p>
            <a:pPr marL="50800" indent="0">
              <a:lnSpc>
                <a:spcPct val="110000"/>
              </a:lnSpc>
              <a:buNone/>
            </a:pPr>
            <a:r>
              <a:rPr lang="en-GB" dirty="0"/>
              <a:t>Similarly, </a:t>
            </a:r>
            <a:r>
              <a:rPr lang="en-GB" dirty="0" err="1"/>
              <a:t>Bala’s</a:t>
            </a:r>
            <a:r>
              <a:rPr lang="en-GB" dirty="0"/>
              <a:t> dominant strategy is to grow Rice.</a:t>
            </a:r>
          </a:p>
          <a:p>
            <a:pPr marL="50800" indent="0">
              <a:lnSpc>
                <a:spcPct val="110000"/>
              </a:lnSpc>
              <a:buNone/>
            </a:pPr>
            <a:endParaRPr lang="en-GB" dirty="0"/>
          </a:p>
          <a:p>
            <a:pPr marL="50800" indent="0">
              <a:lnSpc>
                <a:spcPct val="110000"/>
              </a:lnSpc>
              <a:buNone/>
            </a:pPr>
            <a:r>
              <a:rPr lang="en-GB" dirty="0"/>
              <a:t>When Anil and </a:t>
            </a:r>
            <a:r>
              <a:rPr lang="en-GB" dirty="0" err="1"/>
              <a:t>Bala</a:t>
            </a:r>
            <a:r>
              <a:rPr lang="en-GB" dirty="0"/>
              <a:t> each play their dominant strategy, the outcome is (Cassava, Rice).</a:t>
            </a:r>
          </a:p>
          <a:p>
            <a:pPr marL="50800" indent="0">
              <a:lnSpc>
                <a:spcPct val="110000"/>
              </a:lnSpc>
              <a:buNone/>
            </a:pPr>
            <a:endParaRPr lang="en-GB" b="1" dirty="0">
              <a:latin typeface="Source Sans Pro" panose="020B0503030403020204" pitchFamily="34" charset="0"/>
              <a:ea typeface="Source Sans Pro" panose="020B0503030403020204" pitchFamily="34" charset="0"/>
            </a:endParaRPr>
          </a:p>
          <a:p>
            <a:pPr marL="50800" indent="0">
              <a:lnSpc>
                <a:spcPct val="110000"/>
              </a:lnSpc>
              <a:buNone/>
            </a:pPr>
            <a:r>
              <a:rPr lang="en-GB" b="1" dirty="0">
                <a:latin typeface="Source Sans Pro" panose="020B0503030403020204" pitchFamily="34" charset="0"/>
                <a:ea typeface="Source Sans Pro" panose="020B0503030403020204" pitchFamily="34" charset="0"/>
              </a:rPr>
              <a:t>Dominant strategy equilibrium</a:t>
            </a:r>
            <a:r>
              <a:rPr lang="en-GB" dirty="0"/>
              <a:t>: An outcome of a game in which every player plays his or her dominant strategy.</a:t>
            </a:r>
          </a:p>
          <a:p>
            <a:pPr marL="50800" indent="0">
              <a:buNone/>
            </a:pPr>
            <a:endParaRPr lang="en-GB" dirty="0"/>
          </a:p>
        </p:txBody>
      </p:sp>
      <p:sp>
        <p:nvSpPr>
          <p:cNvPr id="7" name="Donut 5">
            <a:extLst>
              <a:ext uri="{FF2B5EF4-FFF2-40B4-BE49-F238E27FC236}">
                <a16:creationId xmlns:a16="http://schemas.microsoft.com/office/drawing/2014/main" id="{B94579E9-985D-F149-9932-5F11D5841A7A}"/>
              </a:ext>
            </a:extLst>
          </p:cNvPr>
          <p:cNvSpPr/>
          <p:nvPr/>
        </p:nvSpPr>
        <p:spPr>
          <a:xfrm>
            <a:off x="9518734" y="4861572"/>
            <a:ext cx="398585" cy="402088"/>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TextBox 7">
            <a:extLst>
              <a:ext uri="{FF2B5EF4-FFF2-40B4-BE49-F238E27FC236}">
                <a16:creationId xmlns:a16="http://schemas.microsoft.com/office/drawing/2014/main" id="{204BA2A6-074D-064E-B705-13919E89E1F4}"/>
              </a:ext>
            </a:extLst>
          </p:cNvPr>
          <p:cNvSpPr txBox="1"/>
          <p:nvPr/>
        </p:nvSpPr>
        <p:spPr>
          <a:xfrm>
            <a:off x="6951784" y="5722605"/>
            <a:ext cx="4076757" cy="307777"/>
          </a:xfrm>
          <a:prstGeom prst="rect">
            <a:avLst/>
          </a:prstGeom>
          <a:noFill/>
        </p:spPr>
        <p:txBody>
          <a:bodyPr wrap="none" rtlCol="0">
            <a:spAutoFit/>
          </a:bodyPr>
          <a:lstStyle/>
          <a:p>
            <a:r>
              <a:rPr lang="en-GB" dirty="0">
                <a:solidFill>
                  <a:srgbClr val="414141"/>
                </a:solidFill>
                <a:latin typeface="Source Sans Pro" panose="020B0503030403020204" pitchFamily="34" charset="0"/>
                <a:ea typeface="Source Sans Pro" panose="020B0503030403020204" pitchFamily="34" charset="0"/>
              </a:rPr>
              <a:t>Note that a dominant strategy need not always exist</a:t>
            </a:r>
          </a:p>
        </p:txBody>
      </p:sp>
      <p:sp>
        <p:nvSpPr>
          <p:cNvPr id="9" name="Donut 5">
            <a:extLst>
              <a:ext uri="{FF2B5EF4-FFF2-40B4-BE49-F238E27FC236}">
                <a16:creationId xmlns:a16="http://schemas.microsoft.com/office/drawing/2014/main" id="{8233C939-93B6-484F-B6C2-0AEF0D535043}"/>
              </a:ext>
            </a:extLst>
          </p:cNvPr>
          <p:cNvSpPr/>
          <p:nvPr/>
        </p:nvSpPr>
        <p:spPr>
          <a:xfrm>
            <a:off x="8650192" y="4310588"/>
            <a:ext cx="398585" cy="402088"/>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0" name="Donut 5">
            <a:extLst>
              <a:ext uri="{FF2B5EF4-FFF2-40B4-BE49-F238E27FC236}">
                <a16:creationId xmlns:a16="http://schemas.microsoft.com/office/drawing/2014/main" id="{60D4B28C-A14A-C145-A803-5481844F757D}"/>
              </a:ext>
            </a:extLst>
          </p:cNvPr>
          <p:cNvSpPr/>
          <p:nvPr/>
        </p:nvSpPr>
        <p:spPr>
          <a:xfrm>
            <a:off x="8650192" y="2949973"/>
            <a:ext cx="398585" cy="402088"/>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Oval 10">
            <a:extLst>
              <a:ext uri="{FF2B5EF4-FFF2-40B4-BE49-F238E27FC236}">
                <a16:creationId xmlns:a16="http://schemas.microsoft.com/office/drawing/2014/main" id="{B23FFDCB-D03E-5B49-9346-570FDAA46BC8}"/>
              </a:ext>
            </a:extLst>
          </p:cNvPr>
          <p:cNvSpPr/>
          <p:nvPr/>
        </p:nvSpPr>
        <p:spPr>
          <a:xfrm rot="2522453">
            <a:off x="8145351" y="3896531"/>
            <a:ext cx="869176" cy="190300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48136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C11F1-EB49-9741-984A-6DCAD1DD254D}"/>
              </a:ext>
            </a:extLst>
          </p:cNvPr>
          <p:cNvSpPr>
            <a:spLocks noGrp="1"/>
          </p:cNvSpPr>
          <p:nvPr>
            <p:ph type="title"/>
          </p:nvPr>
        </p:nvSpPr>
        <p:spPr/>
        <p:txBody>
          <a:bodyPr/>
          <a:lstStyle/>
          <a:p>
            <a:r>
              <a:rPr lang="en-GB" dirty="0"/>
              <a:t>The invisible hand</a:t>
            </a:r>
          </a:p>
        </p:txBody>
      </p:sp>
      <p:sp>
        <p:nvSpPr>
          <p:cNvPr id="3" name="Text Placeholder 2">
            <a:extLst>
              <a:ext uri="{FF2B5EF4-FFF2-40B4-BE49-F238E27FC236}">
                <a16:creationId xmlns:a16="http://schemas.microsoft.com/office/drawing/2014/main" id="{9CA09840-BF76-724F-8C67-17E6E628BDA7}"/>
              </a:ext>
            </a:extLst>
          </p:cNvPr>
          <p:cNvSpPr>
            <a:spLocks noGrp="1"/>
          </p:cNvSpPr>
          <p:nvPr>
            <p:ph type="body" idx="1"/>
          </p:nvPr>
        </p:nvSpPr>
        <p:spPr>
          <a:xfrm>
            <a:off x="838200" y="1825625"/>
            <a:ext cx="10515600" cy="1152037"/>
          </a:xfrm>
        </p:spPr>
        <p:txBody>
          <a:bodyPr>
            <a:normAutofit fontScale="92500" lnSpcReduction="20000"/>
          </a:bodyPr>
          <a:lstStyle/>
          <a:p>
            <a:pPr marL="50800" indent="0">
              <a:lnSpc>
                <a:spcPct val="100000"/>
              </a:lnSpc>
              <a:buNone/>
            </a:pPr>
            <a:r>
              <a:rPr lang="en-GB" sz="2600" dirty="0"/>
              <a:t>The pursuit of self-interest without regard for others is sometimes considered to be morally bad, but the study of economics has identified cases in which it can lead to outcomes that are </a:t>
            </a:r>
            <a:r>
              <a:rPr lang="en-GB" sz="2600" u="sng" dirty="0"/>
              <a:t>socially desirable</a:t>
            </a:r>
            <a:r>
              <a:rPr lang="en-GB" sz="2600" dirty="0"/>
              <a:t>.</a:t>
            </a:r>
          </a:p>
          <a:p>
            <a:pPr marL="50800" indent="0">
              <a:buNone/>
            </a:pPr>
            <a:endParaRPr lang="en-GB" dirty="0"/>
          </a:p>
        </p:txBody>
      </p:sp>
      <p:sp>
        <p:nvSpPr>
          <p:cNvPr id="4" name="Text Placeholder 2">
            <a:extLst>
              <a:ext uri="{FF2B5EF4-FFF2-40B4-BE49-F238E27FC236}">
                <a16:creationId xmlns:a16="http://schemas.microsoft.com/office/drawing/2014/main" id="{9A6C227E-6ABF-F544-ACDD-F58F20DB3383}"/>
              </a:ext>
            </a:extLst>
          </p:cNvPr>
          <p:cNvSpPr txBox="1">
            <a:spLocks/>
          </p:cNvSpPr>
          <p:nvPr/>
        </p:nvSpPr>
        <p:spPr>
          <a:xfrm>
            <a:off x="6096000" y="2977662"/>
            <a:ext cx="5257800" cy="3305907"/>
          </a:xfrm>
          <a:prstGeom prst="rect">
            <a:avLst/>
          </a:prstGeom>
          <a:no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00000"/>
              </a:lnSpc>
              <a:buNone/>
            </a:pPr>
            <a:r>
              <a:rPr lang="en-GB" sz="2400" dirty="0"/>
              <a:t>Simply pursuing their self-interest—choosing the strategy for which they got the highest payoff—resulted in an equilibrium outcome that was:</a:t>
            </a:r>
          </a:p>
          <a:p>
            <a:pPr indent="-457200">
              <a:lnSpc>
                <a:spcPct val="100000"/>
              </a:lnSpc>
              <a:buFont typeface="Arial" panose="020B0604020202020204" pitchFamily="34" charset="0"/>
              <a:buChar char="•"/>
            </a:pPr>
            <a:r>
              <a:rPr lang="en-GB" sz="2400" dirty="0"/>
              <a:t>the best of the four possible outcomes for each player</a:t>
            </a:r>
          </a:p>
          <a:p>
            <a:pPr indent="-457200">
              <a:lnSpc>
                <a:spcPct val="100000"/>
              </a:lnSpc>
              <a:buFont typeface="Arial" panose="020B0604020202020204" pitchFamily="34" charset="0"/>
              <a:buChar char="•"/>
            </a:pPr>
            <a:r>
              <a:rPr lang="en-GB" sz="2400" dirty="0"/>
              <a:t>the strategy that yielded the </a:t>
            </a:r>
            <a:r>
              <a:rPr lang="en-GB" sz="2400" u="sng" dirty="0"/>
              <a:t>largest total payoffs</a:t>
            </a:r>
            <a:r>
              <a:rPr lang="en-GB" sz="2400" dirty="0"/>
              <a:t> for the two farmers combined.</a:t>
            </a:r>
          </a:p>
          <a:p>
            <a:pPr marL="50800" indent="0">
              <a:buFont typeface="Arial"/>
              <a:buNone/>
            </a:pPr>
            <a:endParaRPr lang="en-GB" dirty="0"/>
          </a:p>
        </p:txBody>
      </p:sp>
      <p:pic>
        <p:nvPicPr>
          <p:cNvPr id="5" name="Picture 4">
            <a:extLst>
              <a:ext uri="{FF2B5EF4-FFF2-40B4-BE49-F238E27FC236}">
                <a16:creationId xmlns:a16="http://schemas.microsoft.com/office/drawing/2014/main" id="{9BB7BDA6-2F17-724B-932B-701C2C085496}"/>
              </a:ext>
            </a:extLst>
          </p:cNvPr>
          <p:cNvPicPr>
            <a:picLocks noChangeAspect="1"/>
          </p:cNvPicPr>
          <p:nvPr/>
        </p:nvPicPr>
        <p:blipFill rotWithShape="1">
          <a:blip r:embed="rId2">
            <a:extLst>
              <a:ext uri="{28A0092B-C50C-407E-A947-70E740481C1C}">
                <a14:useLocalDpi xmlns:a14="http://schemas.microsoft.com/office/drawing/2010/main" val="0"/>
              </a:ext>
            </a:extLst>
          </a:blip>
          <a:srcRect l="21933" r="17882"/>
          <a:stretch/>
        </p:blipFill>
        <p:spPr>
          <a:xfrm>
            <a:off x="1688123" y="2812105"/>
            <a:ext cx="4117644" cy="3471464"/>
          </a:xfrm>
          <a:prstGeom prst="rect">
            <a:avLst/>
          </a:prstGeom>
        </p:spPr>
      </p:pic>
      <p:sp>
        <p:nvSpPr>
          <p:cNvPr id="6" name="Donut 5">
            <a:extLst>
              <a:ext uri="{FF2B5EF4-FFF2-40B4-BE49-F238E27FC236}">
                <a16:creationId xmlns:a16="http://schemas.microsoft.com/office/drawing/2014/main" id="{E74E84D9-5167-CC4D-BB60-59D505756FA5}"/>
              </a:ext>
            </a:extLst>
          </p:cNvPr>
          <p:cNvSpPr/>
          <p:nvPr/>
        </p:nvSpPr>
        <p:spPr>
          <a:xfrm>
            <a:off x="2762537" y="5540135"/>
            <a:ext cx="369954" cy="379223"/>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Donut 5">
            <a:extLst>
              <a:ext uri="{FF2B5EF4-FFF2-40B4-BE49-F238E27FC236}">
                <a16:creationId xmlns:a16="http://schemas.microsoft.com/office/drawing/2014/main" id="{98DE3F89-AB9E-3046-8AE1-B87251AC0CCC}"/>
              </a:ext>
            </a:extLst>
          </p:cNvPr>
          <p:cNvSpPr/>
          <p:nvPr/>
        </p:nvSpPr>
        <p:spPr>
          <a:xfrm>
            <a:off x="4075729" y="5540134"/>
            <a:ext cx="369954" cy="379223"/>
          </a:xfrm>
          <a:prstGeom prst="donut">
            <a:avLst>
              <a:gd name="adj" fmla="val 5574"/>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Donut 5">
            <a:extLst>
              <a:ext uri="{FF2B5EF4-FFF2-40B4-BE49-F238E27FC236}">
                <a16:creationId xmlns:a16="http://schemas.microsoft.com/office/drawing/2014/main" id="{C35FC616-4D7B-B648-9DBC-89E1D8D537C2}"/>
              </a:ext>
            </a:extLst>
          </p:cNvPr>
          <p:cNvSpPr/>
          <p:nvPr/>
        </p:nvSpPr>
        <p:spPr>
          <a:xfrm>
            <a:off x="3253331" y="5005338"/>
            <a:ext cx="369954" cy="379223"/>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Donut 5">
            <a:extLst>
              <a:ext uri="{FF2B5EF4-FFF2-40B4-BE49-F238E27FC236}">
                <a16:creationId xmlns:a16="http://schemas.microsoft.com/office/drawing/2014/main" id="{9C39E3B6-0BB7-FF47-8632-0901B3556D49}"/>
              </a:ext>
            </a:extLst>
          </p:cNvPr>
          <p:cNvSpPr/>
          <p:nvPr/>
        </p:nvSpPr>
        <p:spPr>
          <a:xfrm>
            <a:off x="3253331" y="3747186"/>
            <a:ext cx="369954" cy="379223"/>
          </a:xfrm>
          <a:prstGeom prst="donut">
            <a:avLst>
              <a:gd name="adj" fmla="val 5574"/>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540985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40B98-E8C9-F04A-85C7-9E87759AF887}"/>
              </a:ext>
            </a:extLst>
          </p:cNvPr>
          <p:cNvSpPr>
            <a:spLocks noGrp="1"/>
          </p:cNvSpPr>
          <p:nvPr>
            <p:ph type="title"/>
          </p:nvPr>
        </p:nvSpPr>
        <p:spPr/>
        <p:txBody>
          <a:bodyPr/>
          <a:lstStyle/>
          <a:p>
            <a:r>
              <a:rPr lang="en-GB" dirty="0"/>
              <a:t>The prisoner’s dilemma</a:t>
            </a:r>
          </a:p>
        </p:txBody>
      </p:sp>
      <p:sp>
        <p:nvSpPr>
          <p:cNvPr id="3" name="Text Placeholder 2">
            <a:extLst>
              <a:ext uri="{FF2B5EF4-FFF2-40B4-BE49-F238E27FC236}">
                <a16:creationId xmlns:a16="http://schemas.microsoft.com/office/drawing/2014/main" id="{61F7F3B9-DD24-414A-82FD-52E039946ED9}"/>
              </a:ext>
            </a:extLst>
          </p:cNvPr>
          <p:cNvSpPr>
            <a:spLocks noGrp="1"/>
          </p:cNvSpPr>
          <p:nvPr>
            <p:ph type="body" idx="1"/>
          </p:nvPr>
        </p:nvSpPr>
        <p:spPr/>
        <p:txBody>
          <a:bodyPr>
            <a:normAutofit fontScale="92500" lnSpcReduction="10000"/>
          </a:bodyPr>
          <a:lstStyle/>
          <a:p>
            <a:pPr marL="50800" indent="0">
              <a:buNone/>
            </a:pPr>
            <a:r>
              <a:rPr lang="en-GB" sz="3200" dirty="0"/>
              <a:t>There are other cases, however, in which the pursuit of self-interest leads to results that are not in the self-interest of any of the players.</a:t>
            </a:r>
          </a:p>
          <a:p>
            <a:pPr marL="50800" indent="0">
              <a:buNone/>
            </a:pPr>
            <a:endParaRPr lang="en-GB" sz="3200" dirty="0"/>
          </a:p>
          <a:p>
            <a:pPr marL="50800" indent="0">
              <a:buNone/>
            </a:pPr>
            <a:r>
              <a:rPr lang="en-US" sz="3200" b="1" dirty="0">
                <a:latin typeface="Source Sans Pro" panose="020B0503030403020204" pitchFamily="34" charset="0"/>
                <a:ea typeface="Source Sans Pro" panose="020B0503030403020204" pitchFamily="34" charset="0"/>
              </a:rPr>
              <a:t>Prisoners’ dilemma </a:t>
            </a:r>
            <a:r>
              <a:rPr lang="en-US" sz="3200" dirty="0"/>
              <a:t>= A game in which the payoffs in the dominant strategy equilibrium are </a:t>
            </a:r>
            <a:r>
              <a:rPr lang="en-US" sz="3200" u="sng" dirty="0"/>
              <a:t>lower for each player</a:t>
            </a:r>
            <a:r>
              <a:rPr lang="en-US" sz="3200" dirty="0"/>
              <a:t>, and also </a:t>
            </a:r>
            <a:r>
              <a:rPr lang="en-US" sz="3200" u="sng" dirty="0"/>
              <a:t>lower in total</a:t>
            </a:r>
            <a:r>
              <a:rPr lang="en-US" sz="3200" dirty="0"/>
              <a:t>, than if neither player played the dominant strategy.</a:t>
            </a:r>
          </a:p>
          <a:p>
            <a:pPr marL="50800" indent="0">
              <a:buNone/>
            </a:pPr>
            <a:endParaRPr lang="en-US" sz="3200" dirty="0"/>
          </a:p>
          <a:p>
            <a:pPr marL="50800" indent="0">
              <a:buNone/>
            </a:pPr>
            <a:r>
              <a:rPr lang="en-US" sz="3200" dirty="0"/>
              <a:t>In this case, the socially optimal outcome is </a:t>
            </a:r>
            <a:r>
              <a:rPr lang="en-US" sz="3200" i="1" dirty="0"/>
              <a:t>not</a:t>
            </a:r>
            <a:r>
              <a:rPr lang="en-US" sz="3200" dirty="0"/>
              <a:t> achieved by people individually pursuing their own self-interest.</a:t>
            </a:r>
          </a:p>
          <a:p>
            <a:pPr marL="50800" indent="0">
              <a:buNone/>
            </a:pPr>
            <a:endParaRPr lang="en-GB" dirty="0"/>
          </a:p>
          <a:p>
            <a:pPr marL="50800" indent="0">
              <a:buNone/>
            </a:pPr>
            <a:endParaRPr lang="en-GB" dirty="0"/>
          </a:p>
        </p:txBody>
      </p:sp>
    </p:spTree>
    <p:extLst>
      <p:ext uri="{BB962C8B-B14F-4D97-AF65-F5344CB8AC3E}">
        <p14:creationId xmlns:p14="http://schemas.microsoft.com/office/powerpoint/2010/main" val="3524384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5091-D4AC-064F-9DC9-EC0A453C0A98}"/>
              </a:ext>
            </a:extLst>
          </p:cNvPr>
          <p:cNvSpPr>
            <a:spLocks noGrp="1"/>
          </p:cNvSpPr>
          <p:nvPr>
            <p:ph type="title"/>
          </p:nvPr>
        </p:nvSpPr>
        <p:spPr/>
        <p:txBody>
          <a:bodyPr/>
          <a:lstStyle/>
          <a:p>
            <a:r>
              <a:rPr lang="en-GB" dirty="0"/>
              <a:t>Example: Pesticide choice</a:t>
            </a:r>
          </a:p>
        </p:txBody>
      </p:sp>
      <p:sp>
        <p:nvSpPr>
          <p:cNvPr id="3" name="Text Placeholder 2">
            <a:extLst>
              <a:ext uri="{FF2B5EF4-FFF2-40B4-BE49-F238E27FC236}">
                <a16:creationId xmlns:a16="http://schemas.microsoft.com/office/drawing/2014/main" id="{A1634EC0-B034-1241-A19F-649C73FB13A7}"/>
              </a:ext>
            </a:extLst>
          </p:cNvPr>
          <p:cNvSpPr>
            <a:spLocks noGrp="1"/>
          </p:cNvSpPr>
          <p:nvPr>
            <p:ph type="body" idx="1"/>
          </p:nvPr>
        </p:nvSpPr>
        <p:spPr>
          <a:xfrm>
            <a:off x="838200" y="1825625"/>
            <a:ext cx="5257800" cy="4351338"/>
          </a:xfrm>
        </p:spPr>
        <p:txBody>
          <a:bodyPr>
            <a:normAutofit fontScale="92500" lnSpcReduction="10000"/>
          </a:bodyPr>
          <a:lstStyle/>
          <a:p>
            <a:r>
              <a:rPr lang="en-GB" dirty="0"/>
              <a:t>Two farmers decide how to deal with pest insects</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Players</a:t>
            </a:r>
            <a:r>
              <a:rPr lang="en-GB" dirty="0"/>
              <a:t> – Anil and </a:t>
            </a:r>
            <a:r>
              <a:rPr lang="en-GB" dirty="0" err="1"/>
              <a:t>Bala</a:t>
            </a:r>
            <a:endParaRPr lang="en-GB" dirty="0"/>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Feasible strategies </a:t>
            </a:r>
            <a:r>
              <a:rPr lang="en-GB" dirty="0"/>
              <a:t>– Terminator or Integrated Pest Control (IPC)</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Information</a:t>
            </a:r>
            <a:r>
              <a:rPr lang="en-GB" dirty="0"/>
              <a:t> – each farmer does not know what the other chooses</a:t>
            </a:r>
          </a:p>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Payoffs</a:t>
            </a:r>
            <a:r>
              <a:rPr lang="en-GB" dirty="0"/>
              <a:t> - depend on the resulting combination of pest control instruments</a:t>
            </a:r>
          </a:p>
        </p:txBody>
      </p:sp>
      <p:pic>
        <p:nvPicPr>
          <p:cNvPr id="4" name="Picture 3">
            <a:extLst>
              <a:ext uri="{FF2B5EF4-FFF2-40B4-BE49-F238E27FC236}">
                <a16:creationId xmlns:a16="http://schemas.microsoft.com/office/drawing/2014/main" id="{A05FFAC6-B4BA-DF48-9ABD-216415963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2525" y="1447362"/>
            <a:ext cx="5001275" cy="4729601"/>
          </a:xfrm>
          <a:prstGeom prst="rect">
            <a:avLst/>
          </a:prstGeom>
        </p:spPr>
      </p:pic>
    </p:spTree>
    <p:extLst>
      <p:ext uri="{BB962C8B-B14F-4D97-AF65-F5344CB8AC3E}">
        <p14:creationId xmlns:p14="http://schemas.microsoft.com/office/powerpoint/2010/main" val="1345076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5091-D4AC-064F-9DC9-EC0A453C0A98}"/>
              </a:ext>
            </a:extLst>
          </p:cNvPr>
          <p:cNvSpPr>
            <a:spLocks noGrp="1"/>
          </p:cNvSpPr>
          <p:nvPr>
            <p:ph type="title"/>
          </p:nvPr>
        </p:nvSpPr>
        <p:spPr/>
        <p:txBody>
          <a:bodyPr/>
          <a:lstStyle/>
          <a:p>
            <a:r>
              <a:rPr lang="en-GB" dirty="0"/>
              <a:t>Equilibrium in the pesticide game</a:t>
            </a:r>
          </a:p>
        </p:txBody>
      </p:sp>
      <p:sp>
        <p:nvSpPr>
          <p:cNvPr id="3" name="Text Placeholder 2">
            <a:extLst>
              <a:ext uri="{FF2B5EF4-FFF2-40B4-BE49-F238E27FC236}">
                <a16:creationId xmlns:a16="http://schemas.microsoft.com/office/drawing/2014/main" id="{A1634EC0-B034-1241-A19F-649C73FB13A7}"/>
              </a:ext>
            </a:extLst>
          </p:cNvPr>
          <p:cNvSpPr>
            <a:spLocks noGrp="1"/>
          </p:cNvSpPr>
          <p:nvPr>
            <p:ph type="body" idx="1"/>
          </p:nvPr>
        </p:nvSpPr>
        <p:spPr>
          <a:xfrm>
            <a:off x="838200" y="1825625"/>
            <a:ext cx="5257800" cy="4351338"/>
          </a:xfrm>
        </p:spPr>
        <p:txBody>
          <a:bodyPr>
            <a:normAutofit fontScale="92500" lnSpcReduction="10000"/>
          </a:bodyPr>
          <a:lstStyle/>
          <a:p>
            <a:pPr marL="50800" indent="0">
              <a:lnSpc>
                <a:spcPct val="100000"/>
              </a:lnSpc>
              <a:buNone/>
            </a:pPr>
            <a:r>
              <a:rPr lang="en-GB" dirty="0"/>
              <a:t>When Anil and </a:t>
            </a:r>
            <a:r>
              <a:rPr lang="en-GB" dirty="0" err="1"/>
              <a:t>Bala</a:t>
            </a:r>
            <a:r>
              <a:rPr lang="en-GB" dirty="0"/>
              <a:t> each play their dominant strategy, the outcome is (Terminator, Terminator). This is the dominant strategy equilibrium.</a:t>
            </a:r>
          </a:p>
          <a:p>
            <a:pPr>
              <a:lnSpc>
                <a:spcPct val="100000"/>
              </a:lnSpc>
            </a:pPr>
            <a:endParaRPr lang="en-GB" b="1" dirty="0"/>
          </a:p>
          <a:p>
            <a:pPr marL="50800" indent="0">
              <a:lnSpc>
                <a:spcPct val="100000"/>
              </a:lnSpc>
              <a:buNone/>
            </a:pPr>
            <a:r>
              <a:rPr lang="en-GB" dirty="0"/>
              <a:t>Anil and </a:t>
            </a:r>
            <a:r>
              <a:rPr lang="en-GB" dirty="0" err="1"/>
              <a:t>Bala</a:t>
            </a:r>
            <a:r>
              <a:rPr lang="en-GB" dirty="0"/>
              <a:t> each receive payoffs of 2, but both would be better off if they both used IPC instead. The predicted outcome is therefore not the best feasible outcome. </a:t>
            </a:r>
          </a:p>
          <a:p>
            <a:pPr marL="50800" indent="0">
              <a:buNone/>
            </a:pPr>
            <a:endParaRPr lang="en-GB" dirty="0"/>
          </a:p>
        </p:txBody>
      </p:sp>
      <p:pic>
        <p:nvPicPr>
          <p:cNvPr id="5" name="Picture 4">
            <a:extLst>
              <a:ext uri="{FF2B5EF4-FFF2-40B4-BE49-F238E27FC236}">
                <a16:creationId xmlns:a16="http://schemas.microsoft.com/office/drawing/2014/main" id="{4C7E5D89-57B0-D846-9007-5BB33C99404F}"/>
              </a:ext>
            </a:extLst>
          </p:cNvPr>
          <p:cNvPicPr>
            <a:picLocks noChangeAspect="1"/>
          </p:cNvPicPr>
          <p:nvPr/>
        </p:nvPicPr>
        <p:blipFill rotWithShape="1">
          <a:blip r:embed="rId2">
            <a:extLst>
              <a:ext uri="{28A0092B-C50C-407E-A947-70E740481C1C}">
                <a14:useLocalDpi xmlns:a14="http://schemas.microsoft.com/office/drawing/2010/main" val="0"/>
              </a:ext>
            </a:extLst>
          </a:blip>
          <a:srcRect l="22302" r="19345"/>
          <a:stretch/>
        </p:blipFill>
        <p:spPr>
          <a:xfrm>
            <a:off x="6358180" y="1825625"/>
            <a:ext cx="4995620" cy="4343913"/>
          </a:xfrm>
          <a:prstGeom prst="rect">
            <a:avLst/>
          </a:prstGeom>
        </p:spPr>
      </p:pic>
      <p:sp>
        <p:nvSpPr>
          <p:cNvPr id="8" name="Oval 7">
            <a:extLst>
              <a:ext uri="{FF2B5EF4-FFF2-40B4-BE49-F238E27FC236}">
                <a16:creationId xmlns:a16="http://schemas.microsoft.com/office/drawing/2014/main" id="{A0FFBC72-8541-8243-9E56-B1C81AA60B2E}"/>
              </a:ext>
            </a:extLst>
          </p:cNvPr>
          <p:cNvSpPr/>
          <p:nvPr/>
        </p:nvSpPr>
        <p:spPr>
          <a:xfrm rot="2522453">
            <a:off x="9306623" y="4207570"/>
            <a:ext cx="1006990" cy="19060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onut 9">
            <a:extLst>
              <a:ext uri="{FF2B5EF4-FFF2-40B4-BE49-F238E27FC236}">
                <a16:creationId xmlns:a16="http://schemas.microsoft.com/office/drawing/2014/main" id="{AB1E6CB4-7C62-914E-9789-248836C7030D}"/>
              </a:ext>
            </a:extLst>
          </p:cNvPr>
          <p:cNvSpPr/>
          <p:nvPr/>
        </p:nvSpPr>
        <p:spPr>
          <a:xfrm>
            <a:off x="9901838" y="2917705"/>
            <a:ext cx="557213" cy="571500"/>
          </a:xfrm>
          <a:prstGeom prst="donut">
            <a:avLst>
              <a:gd name="adj" fmla="val 3256"/>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Donut 9">
            <a:extLst>
              <a:ext uri="{FF2B5EF4-FFF2-40B4-BE49-F238E27FC236}">
                <a16:creationId xmlns:a16="http://schemas.microsoft.com/office/drawing/2014/main" id="{713BD63D-59C2-B249-865F-1D98A7879FEF}"/>
              </a:ext>
            </a:extLst>
          </p:cNvPr>
          <p:cNvSpPr/>
          <p:nvPr/>
        </p:nvSpPr>
        <p:spPr>
          <a:xfrm>
            <a:off x="9901837" y="4511351"/>
            <a:ext cx="557213" cy="571500"/>
          </a:xfrm>
          <a:prstGeom prst="donut">
            <a:avLst>
              <a:gd name="adj" fmla="val 3256"/>
            </a:avLst>
          </a:prstGeom>
          <a:solidFill>
            <a:srgbClr val="7030A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2" name="Donut 9">
            <a:extLst>
              <a:ext uri="{FF2B5EF4-FFF2-40B4-BE49-F238E27FC236}">
                <a16:creationId xmlns:a16="http://schemas.microsoft.com/office/drawing/2014/main" id="{3DB71795-4795-DA47-A981-80E4CD8BF4D2}"/>
              </a:ext>
            </a:extLst>
          </p:cNvPr>
          <p:cNvSpPr/>
          <p:nvPr/>
        </p:nvSpPr>
        <p:spPr>
          <a:xfrm>
            <a:off x="9252906" y="5160619"/>
            <a:ext cx="557213" cy="571500"/>
          </a:xfrm>
          <a:prstGeom prst="donut">
            <a:avLst>
              <a:gd name="adj" fmla="val 3256"/>
            </a:avLst>
          </a:prstGeom>
          <a:solidFill>
            <a:srgbClr val="7030A0"/>
          </a:solidFill>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Donut 9">
            <a:extLst>
              <a:ext uri="{FF2B5EF4-FFF2-40B4-BE49-F238E27FC236}">
                <a16:creationId xmlns:a16="http://schemas.microsoft.com/office/drawing/2014/main" id="{5B26B934-ED27-B145-8278-1C321E3E65B2}"/>
              </a:ext>
            </a:extLst>
          </p:cNvPr>
          <p:cNvSpPr/>
          <p:nvPr/>
        </p:nvSpPr>
        <p:spPr>
          <a:xfrm>
            <a:off x="7634724" y="5160619"/>
            <a:ext cx="557213" cy="571500"/>
          </a:xfrm>
          <a:prstGeom prst="donut">
            <a:avLst>
              <a:gd name="adj" fmla="val 3256"/>
            </a:avLst>
          </a:prstGeom>
          <a:solidFill>
            <a:srgbClr val="7030A0"/>
          </a:solidFill>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827693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B783F-5460-E045-9F84-31564D73277C}"/>
              </a:ext>
            </a:extLst>
          </p:cNvPr>
          <p:cNvSpPr>
            <a:spLocks noGrp="1"/>
          </p:cNvSpPr>
          <p:nvPr>
            <p:ph type="title"/>
          </p:nvPr>
        </p:nvSpPr>
        <p:spPr/>
        <p:txBody>
          <a:bodyPr/>
          <a:lstStyle/>
          <a:p>
            <a:r>
              <a:rPr lang="en-GB" dirty="0"/>
              <a:t>Why did we predict this outcome?</a:t>
            </a:r>
          </a:p>
        </p:txBody>
      </p:sp>
      <p:sp>
        <p:nvSpPr>
          <p:cNvPr id="3" name="Text Placeholder 2">
            <a:extLst>
              <a:ext uri="{FF2B5EF4-FFF2-40B4-BE49-F238E27FC236}">
                <a16:creationId xmlns:a16="http://schemas.microsoft.com/office/drawing/2014/main" id="{6C48319A-E559-2145-8161-A2E5708E70FE}"/>
              </a:ext>
            </a:extLst>
          </p:cNvPr>
          <p:cNvSpPr>
            <a:spLocks noGrp="1"/>
          </p:cNvSpPr>
          <p:nvPr>
            <p:ph type="body" idx="1"/>
          </p:nvPr>
        </p:nvSpPr>
        <p:spPr/>
        <p:txBody>
          <a:bodyPr/>
          <a:lstStyle/>
          <a:p>
            <a:pPr marL="565150" indent="-514350">
              <a:buFont typeface="+mj-lt"/>
              <a:buAutoNum type="arabicPeriod"/>
            </a:pPr>
            <a:r>
              <a:rPr lang="en-GB" dirty="0"/>
              <a:t>Players only care about their own payoffs.</a:t>
            </a:r>
          </a:p>
          <a:p>
            <a:r>
              <a:rPr lang="en-GB" dirty="0"/>
              <a:t>Introduce </a:t>
            </a:r>
            <a:r>
              <a:rPr lang="en-GB" b="1" dirty="0">
                <a:latin typeface="Source Sans Pro" panose="020B0503030403020204" pitchFamily="34" charset="0"/>
                <a:ea typeface="Source Sans Pro" panose="020B0503030403020204" pitchFamily="34" charset="0"/>
              </a:rPr>
              <a:t>social preferences</a:t>
            </a:r>
          </a:p>
          <a:p>
            <a:pPr marL="565150" indent="-514350">
              <a:buFont typeface="+mj-lt"/>
              <a:buAutoNum type="arabicPeriod" startAt="2"/>
            </a:pPr>
            <a:r>
              <a:rPr lang="en-GB" dirty="0">
                <a:latin typeface="Source Sans Pro Light" panose="020B0403030403020204" pitchFamily="34" charset="0"/>
                <a:ea typeface="Source Sans Pro Light" panose="020B0403030403020204" pitchFamily="34" charset="0"/>
              </a:rPr>
              <a:t>Nobody could make players pay for the consequences of their actions on others.</a:t>
            </a:r>
          </a:p>
          <a:p>
            <a:r>
              <a:rPr lang="en-GB" dirty="0">
                <a:latin typeface="Source Sans Pro Light" panose="020B0403030403020204" pitchFamily="34" charset="0"/>
                <a:ea typeface="Source Sans Pro Light" panose="020B0403030403020204" pitchFamily="34" charset="0"/>
              </a:rPr>
              <a:t>Introduce </a:t>
            </a:r>
            <a:r>
              <a:rPr lang="en-GB" b="1" dirty="0">
                <a:latin typeface="Source Sans Pro" panose="020B0503030403020204" pitchFamily="34" charset="0"/>
                <a:ea typeface="Source Sans Pro" panose="020B0503030403020204" pitchFamily="34" charset="0"/>
              </a:rPr>
              <a:t>repeated games</a:t>
            </a:r>
            <a:r>
              <a:rPr lang="en-GB" dirty="0">
                <a:latin typeface="Source Sans Pro Light" panose="020B0403030403020204" pitchFamily="34" charset="0"/>
                <a:ea typeface="Source Sans Pro Light" panose="020B0403030403020204" pitchFamily="34" charset="0"/>
              </a:rPr>
              <a:t>, </a:t>
            </a:r>
            <a:r>
              <a:rPr lang="en-GB" b="1" dirty="0">
                <a:latin typeface="Source Sans Pro" panose="020B0503030403020204" pitchFamily="34" charset="0"/>
                <a:ea typeface="Source Sans Pro" panose="020B0503030403020204" pitchFamily="34" charset="0"/>
              </a:rPr>
              <a:t>social norms</a:t>
            </a:r>
            <a:r>
              <a:rPr lang="en-GB" dirty="0">
                <a:latin typeface="Source Sans Pro Light" panose="020B0403030403020204" pitchFamily="34" charset="0"/>
                <a:ea typeface="Source Sans Pro Light" panose="020B0403030403020204" pitchFamily="34" charset="0"/>
              </a:rPr>
              <a:t>, and </a:t>
            </a:r>
            <a:r>
              <a:rPr lang="en-GB" b="1" dirty="0">
                <a:latin typeface="Source Sans Pro" panose="020B0503030403020204" pitchFamily="34" charset="0"/>
                <a:ea typeface="Source Sans Pro" panose="020B0503030403020204" pitchFamily="34" charset="0"/>
              </a:rPr>
              <a:t>peer punishment</a:t>
            </a:r>
          </a:p>
          <a:p>
            <a:pPr marL="565150" indent="-514350">
              <a:buFont typeface="+mj-lt"/>
              <a:buAutoNum type="arabicPeriod" startAt="3"/>
            </a:pPr>
            <a:r>
              <a:rPr lang="en-GB" dirty="0">
                <a:latin typeface="Source Sans Pro Light" panose="020B0403030403020204" pitchFamily="34" charset="0"/>
                <a:ea typeface="Source Sans Pro Light" panose="020B0403030403020204" pitchFamily="34" charset="0"/>
              </a:rPr>
              <a:t>Players could not coordinate their actions beforehand.</a:t>
            </a:r>
          </a:p>
          <a:p>
            <a:r>
              <a:rPr lang="en-GB" dirty="0">
                <a:latin typeface="Source Sans Pro Light" panose="020B0403030403020204" pitchFamily="34" charset="0"/>
                <a:ea typeface="Source Sans Pro Light" panose="020B0403030403020204" pitchFamily="34" charset="0"/>
              </a:rPr>
              <a:t>Change the rules of the game (</a:t>
            </a:r>
            <a:r>
              <a:rPr lang="en-GB" b="1" dirty="0">
                <a:latin typeface="Source Sans Pro" panose="020B0503030403020204" pitchFamily="34" charset="0"/>
                <a:ea typeface="Source Sans Pro" panose="020B0503030403020204" pitchFamily="34" charset="0"/>
              </a:rPr>
              <a:t>institutions</a:t>
            </a:r>
            <a:r>
              <a:rPr lang="en-GB" dirty="0">
                <a:latin typeface="Source Sans Pro Light" panose="020B0403030403020204" pitchFamily="34" charset="0"/>
                <a:ea typeface="Source Sans Pro Light" panose="020B0403030403020204" pitchFamily="34" charset="0"/>
              </a:rPr>
              <a:t> and </a:t>
            </a:r>
            <a:r>
              <a:rPr lang="en-GB" b="1" dirty="0">
                <a:latin typeface="Source Sans Pro" panose="020B0503030403020204" pitchFamily="34" charset="0"/>
                <a:ea typeface="Source Sans Pro" panose="020B0503030403020204" pitchFamily="34" charset="0"/>
              </a:rPr>
              <a:t>policies</a:t>
            </a:r>
            <a:r>
              <a:rPr lang="en-GB" dirty="0">
                <a:latin typeface="Source Sans Pro Light" panose="020B0403030403020204" pitchFamily="34" charset="0"/>
                <a:ea typeface="Source Sans Pro Light" panose="020B0403030403020204" pitchFamily="34" charset="0"/>
              </a:rPr>
              <a:t>)</a:t>
            </a:r>
          </a:p>
        </p:txBody>
      </p:sp>
    </p:spTree>
    <p:extLst>
      <p:ext uri="{BB962C8B-B14F-4D97-AF65-F5344CB8AC3E}">
        <p14:creationId xmlns:p14="http://schemas.microsoft.com/office/powerpoint/2010/main" val="2258930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1BF4-D5FC-3146-ACE2-0354A718E904}"/>
              </a:ext>
            </a:extLst>
          </p:cNvPr>
          <p:cNvSpPr>
            <a:spLocks noGrp="1"/>
          </p:cNvSpPr>
          <p:nvPr>
            <p:ph type="title"/>
          </p:nvPr>
        </p:nvSpPr>
        <p:spPr/>
        <p:txBody>
          <a:bodyPr/>
          <a:lstStyle/>
          <a:p>
            <a:r>
              <a:rPr lang="en-GB" dirty="0"/>
              <a:t>Social Preferences and Free Riding</a:t>
            </a:r>
          </a:p>
        </p:txBody>
      </p:sp>
      <p:sp>
        <p:nvSpPr>
          <p:cNvPr id="3" name="Text Placeholder 2">
            <a:extLst>
              <a:ext uri="{FF2B5EF4-FFF2-40B4-BE49-F238E27FC236}">
                <a16:creationId xmlns:a16="http://schemas.microsoft.com/office/drawing/2014/main" id="{6C010BC2-1421-CD4C-8BD6-45781AC14EB7}"/>
              </a:ext>
            </a:extLst>
          </p:cNvPr>
          <p:cNvSpPr>
            <a:spLocks noGrp="1"/>
          </p:cNvSpPr>
          <p:nvPr>
            <p:ph type="body" idx="1"/>
          </p:nvPr>
        </p:nvSpPr>
        <p:spPr/>
        <p:txBody>
          <a:bodyPr/>
          <a:lstStyle/>
          <a:p>
            <a:r>
              <a:rPr lang="en-GB" dirty="0"/>
              <a:t>SECTION D</a:t>
            </a:r>
          </a:p>
        </p:txBody>
      </p:sp>
    </p:spTree>
    <p:extLst>
      <p:ext uri="{BB962C8B-B14F-4D97-AF65-F5344CB8AC3E}">
        <p14:creationId xmlns:p14="http://schemas.microsoft.com/office/powerpoint/2010/main" val="3594114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7823-1ECA-2B4A-833F-DC2019C0895E}"/>
              </a:ext>
            </a:extLst>
          </p:cNvPr>
          <p:cNvSpPr>
            <a:spLocks noGrp="1"/>
          </p:cNvSpPr>
          <p:nvPr>
            <p:ph type="title"/>
          </p:nvPr>
        </p:nvSpPr>
        <p:spPr/>
        <p:txBody>
          <a:bodyPr/>
          <a:lstStyle/>
          <a:p>
            <a:r>
              <a:rPr lang="en-GB" dirty="0"/>
              <a:t>Social preferences</a:t>
            </a:r>
          </a:p>
        </p:txBody>
      </p:sp>
      <p:sp>
        <p:nvSpPr>
          <p:cNvPr id="3" name="Text Placeholder 2">
            <a:extLst>
              <a:ext uri="{FF2B5EF4-FFF2-40B4-BE49-F238E27FC236}">
                <a16:creationId xmlns:a16="http://schemas.microsoft.com/office/drawing/2014/main" id="{0A38C9C6-803F-DD40-9CCD-261921C58338}"/>
              </a:ext>
            </a:extLst>
          </p:cNvPr>
          <p:cNvSpPr>
            <a:spLocks noGrp="1"/>
          </p:cNvSpPr>
          <p:nvPr>
            <p:ph type="body" idx="1"/>
          </p:nvPr>
        </p:nvSpPr>
        <p:spPr/>
        <p:txBody>
          <a:bodyPr>
            <a:normAutofit fontScale="92500" lnSpcReduction="20000"/>
          </a:bodyPr>
          <a:lstStyle/>
          <a:p>
            <a:pPr marL="50800" indent="0">
              <a:lnSpc>
                <a:spcPct val="100000"/>
              </a:lnSpc>
              <a:buNone/>
            </a:pPr>
            <a:r>
              <a:rPr lang="en-US" dirty="0"/>
              <a:t>People generally care, not only about what happens to themselves, but also what happens to others. Then we say that the individual has social preferences.</a:t>
            </a:r>
          </a:p>
          <a:p>
            <a:pPr>
              <a:lnSpc>
                <a:spcPct val="100000"/>
              </a:lnSpc>
            </a:pPr>
            <a:endParaRPr lang="en-US" dirty="0"/>
          </a:p>
          <a:p>
            <a:pPr marL="50800" indent="0">
              <a:lnSpc>
                <a:spcPct val="100000"/>
              </a:lnSpc>
              <a:buNone/>
            </a:pPr>
            <a:r>
              <a:rPr lang="en-US" b="1" dirty="0"/>
              <a:t>Social preferences</a:t>
            </a:r>
            <a:r>
              <a:rPr lang="en-US" dirty="0"/>
              <a:t>: Preferences that </a:t>
            </a:r>
            <a:r>
              <a:rPr lang="en-US" u="sng" dirty="0"/>
              <a:t>place a value on how your actions affect other people</a:t>
            </a:r>
            <a:r>
              <a:rPr lang="en-US" dirty="0"/>
              <a:t> as well as yourself.</a:t>
            </a:r>
          </a:p>
          <a:p>
            <a:pPr>
              <a:lnSpc>
                <a:spcPct val="100000"/>
              </a:lnSpc>
            </a:pPr>
            <a:endParaRPr lang="en-US" dirty="0"/>
          </a:p>
          <a:p>
            <a:pPr marL="50800" indent="0">
              <a:lnSpc>
                <a:spcPct val="100000"/>
              </a:lnSpc>
              <a:buNone/>
            </a:pPr>
            <a:r>
              <a:rPr lang="en-US" dirty="0"/>
              <a:t>Social preferences are not necessarily a good thing. </a:t>
            </a:r>
          </a:p>
          <a:p>
            <a:pPr marL="50800" indent="0">
              <a:lnSpc>
                <a:spcPct val="100000"/>
              </a:lnSpc>
              <a:buNone/>
            </a:pPr>
            <a:r>
              <a:rPr lang="en-US" dirty="0"/>
              <a:t>For example, they can take the form of hatred of people of a different race or religion.</a:t>
            </a:r>
          </a:p>
          <a:p>
            <a:pPr marL="50800" indent="0">
              <a:buNone/>
            </a:pPr>
            <a:endParaRPr lang="en-GB" dirty="0"/>
          </a:p>
        </p:txBody>
      </p:sp>
    </p:spTree>
    <p:extLst>
      <p:ext uri="{BB962C8B-B14F-4D97-AF65-F5344CB8AC3E}">
        <p14:creationId xmlns:p14="http://schemas.microsoft.com/office/powerpoint/2010/main" val="12980803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8C7DE-2628-1049-941E-3ED91AA25758}"/>
              </a:ext>
            </a:extLst>
          </p:cNvPr>
          <p:cNvSpPr>
            <a:spLocks noGrp="1"/>
          </p:cNvSpPr>
          <p:nvPr>
            <p:ph type="title"/>
          </p:nvPr>
        </p:nvSpPr>
        <p:spPr/>
        <p:txBody>
          <a:bodyPr/>
          <a:lstStyle/>
          <a:p>
            <a:r>
              <a:rPr lang="en-GB" dirty="0"/>
              <a:t>Learning about preferences</a:t>
            </a:r>
          </a:p>
        </p:txBody>
      </p:sp>
      <p:sp>
        <p:nvSpPr>
          <p:cNvPr id="3" name="Text Placeholder 2">
            <a:extLst>
              <a:ext uri="{FF2B5EF4-FFF2-40B4-BE49-F238E27FC236}">
                <a16:creationId xmlns:a16="http://schemas.microsoft.com/office/drawing/2014/main" id="{F9A61487-4D1E-CD4E-8929-57C59553E6A4}"/>
              </a:ext>
            </a:extLst>
          </p:cNvPr>
          <p:cNvSpPr>
            <a:spLocks noGrp="1"/>
          </p:cNvSpPr>
          <p:nvPr>
            <p:ph type="body" idx="1"/>
          </p:nvPr>
        </p:nvSpPr>
        <p:spPr/>
        <p:txBody>
          <a:bodyPr>
            <a:normAutofit fontScale="92500"/>
          </a:bodyPr>
          <a:lstStyle/>
          <a:p>
            <a:pPr marL="565150" indent="-514350">
              <a:buFont typeface="+mj-lt"/>
              <a:buAutoNum type="arabicPeriod"/>
            </a:pPr>
            <a:r>
              <a:rPr lang="en-GB" dirty="0"/>
              <a:t>Survey questions (problem: subjective answers)</a:t>
            </a:r>
          </a:p>
          <a:p>
            <a:pPr marL="565150" indent="-514350">
              <a:buFont typeface="+mj-lt"/>
              <a:buAutoNum type="arabicPeriod"/>
            </a:pPr>
            <a:r>
              <a:rPr lang="en-GB" dirty="0"/>
              <a:t>Statistical studies of economic behaviour (problem: cannot control the decision-making environment in which preferences were revealed)</a:t>
            </a:r>
          </a:p>
          <a:p>
            <a:pPr marL="565150" indent="-514350">
              <a:buFont typeface="+mj-lt"/>
              <a:buAutoNum type="arabicPeriod"/>
            </a:pPr>
            <a:r>
              <a:rPr lang="en-GB" dirty="0"/>
              <a:t>Lab experiments:</a:t>
            </a:r>
          </a:p>
          <a:p>
            <a:r>
              <a:rPr lang="en-GB" dirty="0"/>
              <a:t>Can create a control/treatment group for comparison</a:t>
            </a:r>
          </a:p>
          <a:p>
            <a:r>
              <a:rPr lang="en-GB" dirty="0"/>
              <a:t>Results can be replicated</a:t>
            </a:r>
          </a:p>
          <a:p>
            <a:pPr marL="565150" indent="-514350">
              <a:buFont typeface="+mj-lt"/>
              <a:buAutoNum type="arabicPeriod" startAt="4"/>
            </a:pPr>
            <a:r>
              <a:rPr lang="en-GB" dirty="0"/>
              <a:t>Field experiments:</a:t>
            </a:r>
          </a:p>
          <a:p>
            <a:r>
              <a:rPr lang="en-GB" dirty="0"/>
              <a:t>Lab experiments may not predict real-world decision making</a:t>
            </a:r>
          </a:p>
          <a:p>
            <a:r>
              <a:rPr lang="en-GB" dirty="0"/>
              <a:t>More realistic context in which people make decisions</a:t>
            </a:r>
          </a:p>
        </p:txBody>
      </p:sp>
    </p:spTree>
    <p:extLst>
      <p:ext uri="{BB962C8B-B14F-4D97-AF65-F5344CB8AC3E}">
        <p14:creationId xmlns:p14="http://schemas.microsoft.com/office/powerpoint/2010/main" val="3722706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1514-E748-7343-9D81-5F722F6C3DDD}"/>
              </a:ext>
            </a:extLst>
          </p:cNvPr>
          <p:cNvSpPr>
            <a:spLocks noGrp="1"/>
          </p:cNvSpPr>
          <p:nvPr>
            <p:ph type="title"/>
          </p:nvPr>
        </p:nvSpPr>
        <p:spPr/>
        <p:txBody>
          <a:bodyPr/>
          <a:lstStyle/>
          <a:p>
            <a:r>
              <a:rPr lang="en-GB" dirty="0"/>
              <a:t>Example: Public goods game</a:t>
            </a:r>
          </a:p>
        </p:txBody>
      </p:sp>
      <p:sp>
        <p:nvSpPr>
          <p:cNvPr id="3" name="Text Placeholder 2">
            <a:extLst>
              <a:ext uri="{FF2B5EF4-FFF2-40B4-BE49-F238E27FC236}">
                <a16:creationId xmlns:a16="http://schemas.microsoft.com/office/drawing/2014/main" id="{469903B5-380F-6F49-941D-765353CD7A10}"/>
              </a:ext>
            </a:extLst>
          </p:cNvPr>
          <p:cNvSpPr>
            <a:spLocks noGrp="1"/>
          </p:cNvSpPr>
          <p:nvPr>
            <p:ph type="body" idx="1"/>
          </p:nvPr>
        </p:nvSpPr>
        <p:spPr>
          <a:xfrm>
            <a:off x="838200" y="1825625"/>
            <a:ext cx="10515600" cy="964467"/>
          </a:xfrm>
        </p:spPr>
        <p:txBody>
          <a:bodyPr>
            <a:normAutofit/>
          </a:bodyPr>
          <a:lstStyle/>
          <a:p>
            <a:pPr marL="50800" indent="0">
              <a:buNone/>
            </a:pPr>
            <a:r>
              <a:rPr lang="en-GB" sz="2400" b="1" dirty="0">
                <a:latin typeface="Source Sans Pro" panose="020B0503030403020204" pitchFamily="34" charset="0"/>
                <a:ea typeface="Source Sans Pro" panose="020B0503030403020204" pitchFamily="34" charset="0"/>
              </a:rPr>
              <a:t>Public good </a:t>
            </a:r>
            <a:r>
              <a:rPr lang="en-GB" sz="2400" dirty="0"/>
              <a:t>= A good for which use by one person does not reduce its availability to others (also called a </a:t>
            </a:r>
            <a:r>
              <a:rPr lang="en-GB" sz="2400" i="1" dirty="0"/>
              <a:t>non-rival</a:t>
            </a:r>
            <a:r>
              <a:rPr lang="en-GB" sz="2400" dirty="0"/>
              <a:t> good)</a:t>
            </a:r>
          </a:p>
        </p:txBody>
      </p:sp>
      <p:sp>
        <p:nvSpPr>
          <p:cNvPr id="4" name="Text Placeholder 2">
            <a:extLst>
              <a:ext uri="{FF2B5EF4-FFF2-40B4-BE49-F238E27FC236}">
                <a16:creationId xmlns:a16="http://schemas.microsoft.com/office/drawing/2014/main" id="{69D32B4A-5CD9-6843-AC51-AB51891163EA}"/>
              </a:ext>
            </a:extLst>
          </p:cNvPr>
          <p:cNvSpPr txBox="1">
            <a:spLocks/>
          </p:cNvSpPr>
          <p:nvPr/>
        </p:nvSpPr>
        <p:spPr>
          <a:xfrm>
            <a:off x="838200" y="2790092"/>
            <a:ext cx="4413738" cy="2391508"/>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GB" dirty="0">
                <a:latin typeface="Source Sans Pro Light" panose="020B0403030403020204" pitchFamily="34" charset="0"/>
                <a:ea typeface="Source Sans Pro Light" panose="020B0403030403020204" pitchFamily="34" charset="0"/>
              </a:rPr>
              <a:t>Each farmer decides whether to contribute to the public good (e.g. irrigation project)</a:t>
            </a:r>
          </a:p>
          <a:p>
            <a:r>
              <a:rPr lang="en-GB" dirty="0">
                <a:latin typeface="Source Sans Pro Light" panose="020B0403030403020204" pitchFamily="34" charset="0"/>
                <a:ea typeface="Source Sans Pro Light" panose="020B0403030403020204" pitchFamily="34" charset="0"/>
              </a:rPr>
              <a:t>Contributing has a </a:t>
            </a:r>
            <a:r>
              <a:rPr lang="en-GB" u="sng" dirty="0">
                <a:latin typeface="Source Sans Pro Light" panose="020B0403030403020204" pitchFamily="34" charset="0"/>
                <a:ea typeface="Source Sans Pro Light" panose="020B0403030403020204" pitchFamily="34" charset="0"/>
              </a:rPr>
              <a:t>personal cost</a:t>
            </a:r>
            <a:r>
              <a:rPr lang="en-GB" dirty="0">
                <a:latin typeface="Source Sans Pro Light" panose="020B0403030403020204" pitchFamily="34" charset="0"/>
                <a:ea typeface="Source Sans Pro Light" panose="020B0403030403020204" pitchFamily="34" charset="0"/>
              </a:rPr>
              <a:t> of $10, but </a:t>
            </a:r>
            <a:r>
              <a:rPr lang="en-GB" u="sng" dirty="0">
                <a:latin typeface="Source Sans Pro Light" panose="020B0403030403020204" pitchFamily="34" charset="0"/>
                <a:ea typeface="Source Sans Pro Light" panose="020B0403030403020204" pitchFamily="34" charset="0"/>
              </a:rPr>
              <a:t>everyone benefits</a:t>
            </a:r>
            <a:r>
              <a:rPr lang="en-GB" dirty="0">
                <a:latin typeface="Source Sans Pro Light" panose="020B0403030403020204" pitchFamily="34" charset="0"/>
                <a:ea typeface="Source Sans Pro Light" panose="020B0403030403020204" pitchFamily="34" charset="0"/>
              </a:rPr>
              <a:t> from this (by $8 each)</a:t>
            </a:r>
          </a:p>
        </p:txBody>
      </p:sp>
      <p:sp>
        <p:nvSpPr>
          <p:cNvPr id="5" name="Text Placeholder 2">
            <a:extLst>
              <a:ext uri="{FF2B5EF4-FFF2-40B4-BE49-F238E27FC236}">
                <a16:creationId xmlns:a16="http://schemas.microsoft.com/office/drawing/2014/main" id="{F2632E4C-797A-9F47-87D0-5E1D48B66D84}"/>
              </a:ext>
            </a:extLst>
          </p:cNvPr>
          <p:cNvSpPr txBox="1">
            <a:spLocks/>
          </p:cNvSpPr>
          <p:nvPr/>
        </p:nvSpPr>
        <p:spPr>
          <a:xfrm>
            <a:off x="838200" y="5181600"/>
            <a:ext cx="10515600" cy="964467"/>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Font typeface="Arial"/>
              <a:buNone/>
            </a:pPr>
            <a:r>
              <a:rPr lang="en-GB" sz="2400" dirty="0">
                <a:latin typeface="Source Sans Pro Light" panose="020B0403030403020204" pitchFamily="34" charset="0"/>
                <a:ea typeface="Source Sans Pro Light" panose="020B0403030403020204" pitchFamily="34" charset="0"/>
              </a:rPr>
              <a:t>Not contributing is a dominant strategy.</a:t>
            </a:r>
          </a:p>
          <a:p>
            <a:pPr marL="50800" indent="0">
              <a:buFont typeface="Arial"/>
              <a:buNone/>
            </a:pPr>
            <a:r>
              <a:rPr lang="en-GB" sz="2400" dirty="0">
                <a:latin typeface="Source Sans Pro Light" panose="020B0403030403020204" pitchFamily="34" charset="0"/>
                <a:ea typeface="Source Sans Pro Light" panose="020B0403030403020204" pitchFamily="34" charset="0"/>
              </a:rPr>
              <a:t>Here, Kim (one farmer) can </a:t>
            </a:r>
            <a:r>
              <a:rPr lang="en-GB" sz="2400" b="1" dirty="0">
                <a:latin typeface="Source Sans Pro" panose="020B0503030403020204" pitchFamily="34" charset="0"/>
                <a:ea typeface="Source Sans Pro" panose="020B0503030403020204" pitchFamily="34" charset="0"/>
              </a:rPr>
              <a:t>free ride </a:t>
            </a:r>
            <a:r>
              <a:rPr lang="en-GB" sz="2400" dirty="0">
                <a:latin typeface="Source Sans Pro Light" panose="020B0403030403020204" pitchFamily="34" charset="0"/>
                <a:ea typeface="Source Sans Pro Light" panose="020B0403030403020204" pitchFamily="34" charset="0"/>
              </a:rPr>
              <a:t>on others’ contributions.</a:t>
            </a:r>
          </a:p>
        </p:txBody>
      </p:sp>
      <p:pic>
        <p:nvPicPr>
          <p:cNvPr id="6" name="Picture 5">
            <a:extLst>
              <a:ext uri="{FF2B5EF4-FFF2-40B4-BE49-F238E27FC236}">
                <a16:creationId xmlns:a16="http://schemas.microsoft.com/office/drawing/2014/main" id="{6E7DA434-AA06-784B-AB75-AE26AA1D55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4414" y="2637246"/>
            <a:ext cx="4999386" cy="2697200"/>
          </a:xfrm>
          <a:prstGeom prst="rect">
            <a:avLst/>
          </a:prstGeom>
        </p:spPr>
      </p:pic>
    </p:spTree>
    <p:extLst>
      <p:ext uri="{BB962C8B-B14F-4D97-AF65-F5344CB8AC3E}">
        <p14:creationId xmlns:p14="http://schemas.microsoft.com/office/powerpoint/2010/main" val="4679820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3E538-07C4-0246-BD3F-CF4950D2E133}"/>
              </a:ext>
            </a:extLst>
          </p:cNvPr>
          <p:cNvSpPr>
            <a:spLocks noGrp="1"/>
          </p:cNvSpPr>
          <p:nvPr>
            <p:ph type="title"/>
          </p:nvPr>
        </p:nvSpPr>
        <p:spPr/>
        <p:txBody>
          <a:bodyPr/>
          <a:lstStyle/>
          <a:p>
            <a:r>
              <a:rPr lang="en-GB" dirty="0"/>
              <a:t>Repeated games</a:t>
            </a:r>
          </a:p>
        </p:txBody>
      </p:sp>
      <p:sp>
        <p:nvSpPr>
          <p:cNvPr id="3" name="Text Placeholder 2">
            <a:extLst>
              <a:ext uri="{FF2B5EF4-FFF2-40B4-BE49-F238E27FC236}">
                <a16:creationId xmlns:a16="http://schemas.microsoft.com/office/drawing/2014/main" id="{2377FEA8-81D2-3442-82EA-3CDC6A2875E0}"/>
              </a:ext>
            </a:extLst>
          </p:cNvPr>
          <p:cNvSpPr>
            <a:spLocks noGrp="1"/>
          </p:cNvSpPr>
          <p:nvPr>
            <p:ph type="body" idx="1"/>
          </p:nvPr>
        </p:nvSpPr>
        <p:spPr/>
        <p:txBody>
          <a:bodyPr/>
          <a:lstStyle/>
          <a:p>
            <a:pPr indent="-457200"/>
            <a:r>
              <a:rPr lang="en-US" dirty="0"/>
              <a:t>We have so far looked at </a:t>
            </a:r>
            <a:r>
              <a:rPr lang="en-US" b="1" dirty="0">
                <a:latin typeface="Source Sans Pro" panose="020B0503030403020204" pitchFamily="34" charset="0"/>
                <a:ea typeface="Source Sans Pro" panose="020B0503030403020204" pitchFamily="34" charset="0"/>
              </a:rPr>
              <a:t>one-shot games</a:t>
            </a:r>
            <a:r>
              <a:rPr lang="en-US" dirty="0"/>
              <a:t>.</a:t>
            </a:r>
          </a:p>
          <a:p>
            <a:endParaRPr lang="en-US" dirty="0"/>
          </a:p>
          <a:p>
            <a:pPr indent="-457200"/>
            <a:r>
              <a:rPr lang="en-US" dirty="0"/>
              <a:t>Better outcomes can arise in </a:t>
            </a:r>
            <a:r>
              <a:rPr lang="en-US" b="1" dirty="0">
                <a:latin typeface="Source Sans Pro" panose="020B0503030403020204" pitchFamily="34" charset="0"/>
                <a:ea typeface="Source Sans Pro" panose="020B0503030403020204" pitchFamily="34" charset="0"/>
              </a:rPr>
              <a:t>repeated interactions </a:t>
            </a:r>
            <a:r>
              <a:rPr lang="en-US" dirty="0"/>
              <a:t>due to social norms, reciprocity, and peer punishment.</a:t>
            </a:r>
          </a:p>
          <a:p>
            <a:endParaRPr lang="en-US" dirty="0"/>
          </a:p>
          <a:p>
            <a:pPr indent="-457200"/>
            <a:r>
              <a:rPr lang="en-US" dirty="0"/>
              <a:t>Behaving selfishly in one period has </a:t>
            </a:r>
            <a:r>
              <a:rPr lang="en-US" u="sng" dirty="0"/>
              <a:t>consequences in future periods</a:t>
            </a:r>
            <a:r>
              <a:rPr lang="en-US" dirty="0"/>
              <a:t>, so it may no longer be a dominant strategy.</a:t>
            </a:r>
          </a:p>
          <a:p>
            <a:endParaRPr lang="en-GB" dirty="0"/>
          </a:p>
        </p:txBody>
      </p:sp>
    </p:spTree>
    <p:extLst>
      <p:ext uri="{BB962C8B-B14F-4D97-AF65-F5344CB8AC3E}">
        <p14:creationId xmlns:p14="http://schemas.microsoft.com/office/powerpoint/2010/main" val="3527652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216C0-88A5-C04F-AED0-4EEB9CF55C48}"/>
              </a:ext>
            </a:extLst>
          </p:cNvPr>
          <p:cNvSpPr>
            <a:spLocks noGrp="1"/>
          </p:cNvSpPr>
          <p:nvPr>
            <p:ph type="title"/>
          </p:nvPr>
        </p:nvSpPr>
        <p:spPr/>
        <p:txBody>
          <a:bodyPr/>
          <a:lstStyle/>
          <a:p>
            <a:r>
              <a:rPr lang="en-GB" dirty="0"/>
              <a:t>Reciprocity and social norms</a:t>
            </a:r>
          </a:p>
        </p:txBody>
      </p:sp>
      <p:sp>
        <p:nvSpPr>
          <p:cNvPr id="3" name="Text Placeholder 2">
            <a:extLst>
              <a:ext uri="{FF2B5EF4-FFF2-40B4-BE49-F238E27FC236}">
                <a16:creationId xmlns:a16="http://schemas.microsoft.com/office/drawing/2014/main" id="{80F8FFF4-234F-5B40-92EC-23207683E3DB}"/>
              </a:ext>
            </a:extLst>
          </p:cNvPr>
          <p:cNvSpPr>
            <a:spLocks noGrp="1"/>
          </p:cNvSpPr>
          <p:nvPr>
            <p:ph type="body" idx="1"/>
          </p:nvPr>
        </p:nvSpPr>
        <p:spPr>
          <a:xfrm>
            <a:off x="838200" y="1825625"/>
            <a:ext cx="4859215" cy="4351338"/>
          </a:xfrm>
        </p:spPr>
        <p:txBody>
          <a:bodyPr>
            <a:normAutofit fontScale="92500" lnSpcReduction="10000"/>
          </a:bodyPr>
          <a:lstStyle/>
          <a:p>
            <a:r>
              <a:rPr lang="en-GB" dirty="0"/>
              <a:t>In each round, the people in the experiment are given $20.</a:t>
            </a:r>
          </a:p>
          <a:p>
            <a:r>
              <a:rPr lang="en-GB" dirty="0"/>
              <a:t>They are randomly sorted into small groups.</a:t>
            </a:r>
          </a:p>
          <a:p>
            <a:r>
              <a:rPr lang="en-GB" dirty="0"/>
              <a:t>They are asked to decide on a contribution from their $20 to a common pool of money.</a:t>
            </a:r>
          </a:p>
          <a:p>
            <a:r>
              <a:rPr lang="en-GB" dirty="0"/>
              <a:t>For every dollar contributed, each person in the group receives $0.40, including the contributor.</a:t>
            </a:r>
          </a:p>
        </p:txBody>
      </p:sp>
      <p:sp>
        <p:nvSpPr>
          <p:cNvPr id="4" name="Text Placeholder 2">
            <a:extLst>
              <a:ext uri="{FF2B5EF4-FFF2-40B4-BE49-F238E27FC236}">
                <a16:creationId xmlns:a16="http://schemas.microsoft.com/office/drawing/2014/main" id="{054427C7-DED4-AA43-ACD2-F09BEB91BB7C}"/>
              </a:ext>
            </a:extLst>
          </p:cNvPr>
          <p:cNvSpPr txBox="1">
            <a:spLocks/>
          </p:cNvSpPr>
          <p:nvPr/>
        </p:nvSpPr>
        <p:spPr>
          <a:xfrm>
            <a:off x="5697415" y="4722309"/>
            <a:ext cx="6342185" cy="1325700"/>
          </a:xfrm>
          <a:prstGeom prst="rect">
            <a:avLst/>
          </a:prstGeom>
          <a:no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dirty="0"/>
              <a:t>A disappointed expectation of reciprocity is the most convincing explanation of why contributions fell in later rounds.</a:t>
            </a:r>
          </a:p>
        </p:txBody>
      </p:sp>
      <p:pic>
        <p:nvPicPr>
          <p:cNvPr id="5" name="Picture 4">
            <a:extLst>
              <a:ext uri="{FF2B5EF4-FFF2-40B4-BE49-F238E27FC236}">
                <a16:creationId xmlns:a16="http://schemas.microsoft.com/office/drawing/2014/main" id="{47CA7241-75DD-F940-9266-B21D4239A7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7415" y="1690825"/>
            <a:ext cx="6035668" cy="3155856"/>
          </a:xfrm>
          <a:prstGeom prst="rect">
            <a:avLst/>
          </a:prstGeom>
        </p:spPr>
      </p:pic>
      <p:sp>
        <p:nvSpPr>
          <p:cNvPr id="6" name="TextBox 5">
            <a:extLst>
              <a:ext uri="{FF2B5EF4-FFF2-40B4-BE49-F238E27FC236}">
                <a16:creationId xmlns:a16="http://schemas.microsoft.com/office/drawing/2014/main" id="{3DA4F8D1-E887-164F-A32C-5EDF34591035}"/>
              </a:ext>
            </a:extLst>
          </p:cNvPr>
          <p:cNvSpPr txBox="1"/>
          <p:nvPr/>
        </p:nvSpPr>
        <p:spPr>
          <a:xfrm>
            <a:off x="6189784" y="1412844"/>
            <a:ext cx="4403770" cy="276999"/>
          </a:xfrm>
          <a:prstGeom prst="rect">
            <a:avLst/>
          </a:prstGeom>
          <a:noFill/>
        </p:spPr>
        <p:txBody>
          <a:bodyPr wrap="none" rtlCol="0">
            <a:spAutoFit/>
          </a:bodyPr>
          <a:lstStyle/>
          <a:p>
            <a:r>
              <a:rPr lang="en-GB" sz="1200" dirty="0">
                <a:solidFill>
                  <a:srgbClr val="414141"/>
                </a:solidFill>
                <a:latin typeface="Source Sans Pro Light" panose="020B0403030403020204" pitchFamily="34" charset="0"/>
                <a:ea typeface="Source Sans Pro Light" panose="020B0403030403020204" pitchFamily="34" charset="0"/>
              </a:rPr>
              <a:t>Lab experiment: Participants play ten rounds of a public good game.</a:t>
            </a:r>
          </a:p>
        </p:txBody>
      </p:sp>
    </p:spTree>
    <p:extLst>
      <p:ext uri="{BB962C8B-B14F-4D97-AF65-F5344CB8AC3E}">
        <p14:creationId xmlns:p14="http://schemas.microsoft.com/office/powerpoint/2010/main" val="1650178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216C0-88A5-C04F-AED0-4EEB9CF55C48}"/>
              </a:ext>
            </a:extLst>
          </p:cNvPr>
          <p:cNvSpPr>
            <a:spLocks noGrp="1"/>
          </p:cNvSpPr>
          <p:nvPr>
            <p:ph type="title"/>
          </p:nvPr>
        </p:nvSpPr>
        <p:spPr/>
        <p:txBody>
          <a:bodyPr/>
          <a:lstStyle/>
          <a:p>
            <a:r>
              <a:rPr lang="en-GB" dirty="0"/>
              <a:t>Peer punishment</a:t>
            </a:r>
          </a:p>
        </p:txBody>
      </p:sp>
      <p:sp>
        <p:nvSpPr>
          <p:cNvPr id="3" name="Text Placeholder 2">
            <a:extLst>
              <a:ext uri="{FF2B5EF4-FFF2-40B4-BE49-F238E27FC236}">
                <a16:creationId xmlns:a16="http://schemas.microsoft.com/office/drawing/2014/main" id="{80F8FFF4-234F-5B40-92EC-23207683E3DB}"/>
              </a:ext>
            </a:extLst>
          </p:cNvPr>
          <p:cNvSpPr>
            <a:spLocks noGrp="1"/>
          </p:cNvSpPr>
          <p:nvPr>
            <p:ph type="body" idx="1"/>
          </p:nvPr>
        </p:nvSpPr>
        <p:spPr>
          <a:xfrm>
            <a:off x="838200" y="1825625"/>
            <a:ext cx="4859215" cy="3341550"/>
          </a:xfrm>
        </p:spPr>
        <p:txBody>
          <a:bodyPr>
            <a:normAutofit lnSpcReduction="10000"/>
          </a:bodyPr>
          <a:lstStyle/>
          <a:p>
            <a:r>
              <a:rPr lang="en-GB" dirty="0"/>
              <a:t>After observing the contributions of their group, individual players could pay to punish other players by making them pay a $3 fine.</a:t>
            </a:r>
          </a:p>
          <a:p>
            <a:r>
              <a:rPr lang="en-GB" dirty="0"/>
              <a:t>The punisher remained anonymous but had to pay $1 per player punished.</a:t>
            </a:r>
          </a:p>
        </p:txBody>
      </p:sp>
      <p:sp>
        <p:nvSpPr>
          <p:cNvPr id="4" name="Text Placeholder 2">
            <a:extLst>
              <a:ext uri="{FF2B5EF4-FFF2-40B4-BE49-F238E27FC236}">
                <a16:creationId xmlns:a16="http://schemas.microsoft.com/office/drawing/2014/main" id="{054427C7-DED4-AA43-ACD2-F09BEB91BB7C}"/>
              </a:ext>
            </a:extLst>
          </p:cNvPr>
          <p:cNvSpPr txBox="1">
            <a:spLocks/>
          </p:cNvSpPr>
          <p:nvPr/>
        </p:nvSpPr>
        <p:spPr>
          <a:xfrm>
            <a:off x="838200" y="4846681"/>
            <a:ext cx="10744200" cy="132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None/>
            </a:pPr>
            <a:r>
              <a:rPr lang="en-GB" dirty="0"/>
              <a:t>Experiment shows that even in large groups of people, a combination of repeated interactions and social preferences can support high levels of contribution to the public good.</a:t>
            </a:r>
          </a:p>
        </p:txBody>
      </p:sp>
      <p:pic>
        <p:nvPicPr>
          <p:cNvPr id="7" name="Picture 6">
            <a:extLst>
              <a:ext uri="{FF2B5EF4-FFF2-40B4-BE49-F238E27FC236}">
                <a16:creationId xmlns:a16="http://schemas.microsoft.com/office/drawing/2014/main" id="{501DAF1C-981F-BB43-982F-DA597661F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4547" y="1736495"/>
            <a:ext cx="6190722" cy="3164147"/>
          </a:xfrm>
          <a:prstGeom prst="rect">
            <a:avLst/>
          </a:prstGeom>
        </p:spPr>
      </p:pic>
    </p:spTree>
    <p:extLst>
      <p:ext uri="{BB962C8B-B14F-4D97-AF65-F5344CB8AC3E}">
        <p14:creationId xmlns:p14="http://schemas.microsoft.com/office/powerpoint/2010/main" val="949485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53BC-6D46-4A4F-B9E7-21B77C19C6E2}"/>
              </a:ext>
            </a:extLst>
          </p:cNvPr>
          <p:cNvSpPr>
            <a:spLocks noGrp="1"/>
          </p:cNvSpPr>
          <p:nvPr>
            <p:ph type="title"/>
          </p:nvPr>
        </p:nvSpPr>
        <p:spPr/>
        <p:txBody>
          <a:bodyPr/>
          <a:lstStyle/>
          <a:p>
            <a:r>
              <a:rPr lang="en-GB" dirty="0"/>
              <a:t>Social preferences and social dilemmas</a:t>
            </a:r>
          </a:p>
        </p:txBody>
      </p:sp>
      <p:sp>
        <p:nvSpPr>
          <p:cNvPr id="3" name="Text Placeholder 2">
            <a:extLst>
              <a:ext uri="{FF2B5EF4-FFF2-40B4-BE49-F238E27FC236}">
                <a16:creationId xmlns:a16="http://schemas.microsoft.com/office/drawing/2014/main" id="{B19A0CC3-FB41-D341-8524-1AEC687E9E31}"/>
              </a:ext>
            </a:extLst>
          </p:cNvPr>
          <p:cNvSpPr>
            <a:spLocks noGrp="1"/>
          </p:cNvSpPr>
          <p:nvPr>
            <p:ph type="body" idx="1"/>
          </p:nvPr>
        </p:nvSpPr>
        <p:spPr/>
        <p:txBody>
          <a:bodyPr>
            <a:normAutofit/>
          </a:bodyPr>
          <a:lstStyle/>
          <a:p>
            <a:pPr marL="50800" indent="0">
              <a:lnSpc>
                <a:spcPct val="100000"/>
              </a:lnSpc>
              <a:buNone/>
            </a:pPr>
            <a:r>
              <a:rPr lang="en-US" dirty="0"/>
              <a:t>3 kinds of social preference can explain how people play the public goods game with punishment:</a:t>
            </a:r>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Altruism</a:t>
            </a:r>
            <a:r>
              <a:rPr lang="en-US" dirty="0"/>
              <a:t>: A willingness to help someone else at a cost to yourself.</a:t>
            </a:r>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Reciprocity</a:t>
            </a:r>
            <a:r>
              <a:rPr lang="en-US" dirty="0"/>
              <a:t>: A desire to help those who have (in your opinion) acted well, and to harm those who have acted poorly.</a:t>
            </a:r>
            <a:endParaRPr lang="en-US" b="1" dirty="0"/>
          </a:p>
          <a:p>
            <a:pPr indent="-457200">
              <a:lnSpc>
                <a:spcPct val="100000"/>
              </a:lnSpc>
              <a:buFont typeface="Arial" panose="020B0604020202020204" pitchFamily="34" charset="0"/>
              <a:buChar char="•"/>
            </a:pPr>
            <a:r>
              <a:rPr lang="en-US" b="1" dirty="0">
                <a:latin typeface="Source Sans Pro" panose="020B0503030403020204" pitchFamily="34" charset="0"/>
                <a:ea typeface="Source Sans Pro" panose="020B0503030403020204" pitchFamily="34" charset="0"/>
              </a:rPr>
              <a:t>Inequality aversion</a:t>
            </a:r>
            <a:r>
              <a:rPr lang="en-US" dirty="0"/>
              <a:t>: Disliking outcomes in which some individuals receive more than others (especially if others are doing better than you).</a:t>
            </a:r>
          </a:p>
          <a:p>
            <a:pPr marL="50800" indent="0">
              <a:buNone/>
            </a:pPr>
            <a:endParaRPr lang="en-GB" dirty="0"/>
          </a:p>
        </p:txBody>
      </p:sp>
    </p:spTree>
    <p:extLst>
      <p:ext uri="{BB962C8B-B14F-4D97-AF65-F5344CB8AC3E}">
        <p14:creationId xmlns:p14="http://schemas.microsoft.com/office/powerpoint/2010/main" val="2141718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67072-5A1B-2248-8BBC-DD2ED9F02A83}"/>
              </a:ext>
            </a:extLst>
          </p:cNvPr>
          <p:cNvSpPr>
            <a:spLocks noGrp="1"/>
          </p:cNvSpPr>
          <p:nvPr>
            <p:ph type="title"/>
          </p:nvPr>
        </p:nvSpPr>
        <p:spPr/>
        <p:txBody>
          <a:bodyPr/>
          <a:lstStyle/>
          <a:p>
            <a:r>
              <a:rPr lang="en-GB" dirty="0"/>
              <a:t>Conflicts of interest and Bargaining</a:t>
            </a:r>
          </a:p>
        </p:txBody>
      </p:sp>
      <p:sp>
        <p:nvSpPr>
          <p:cNvPr id="3" name="Text Placeholder 2">
            <a:extLst>
              <a:ext uri="{FF2B5EF4-FFF2-40B4-BE49-F238E27FC236}">
                <a16:creationId xmlns:a16="http://schemas.microsoft.com/office/drawing/2014/main" id="{F329A19A-2937-A84A-897E-20AAD56C269B}"/>
              </a:ext>
            </a:extLst>
          </p:cNvPr>
          <p:cNvSpPr>
            <a:spLocks noGrp="1"/>
          </p:cNvSpPr>
          <p:nvPr>
            <p:ph type="body" idx="1"/>
          </p:nvPr>
        </p:nvSpPr>
        <p:spPr/>
        <p:txBody>
          <a:bodyPr/>
          <a:lstStyle/>
          <a:p>
            <a:r>
              <a:rPr lang="en-GB" dirty="0"/>
              <a:t>SECTION E</a:t>
            </a:r>
          </a:p>
        </p:txBody>
      </p:sp>
    </p:spTree>
    <p:extLst>
      <p:ext uri="{BB962C8B-B14F-4D97-AF65-F5344CB8AC3E}">
        <p14:creationId xmlns:p14="http://schemas.microsoft.com/office/powerpoint/2010/main" val="778976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7C10B-094B-E04A-8BC1-A142E2676DCB}"/>
              </a:ext>
            </a:extLst>
          </p:cNvPr>
          <p:cNvSpPr>
            <a:spLocks noGrp="1"/>
          </p:cNvSpPr>
          <p:nvPr>
            <p:ph type="title"/>
          </p:nvPr>
        </p:nvSpPr>
        <p:spPr/>
        <p:txBody>
          <a:bodyPr/>
          <a:lstStyle/>
          <a:p>
            <a:r>
              <a:rPr lang="en-GB" dirty="0"/>
              <a:t>Introducing Nash equilibria</a:t>
            </a:r>
          </a:p>
        </p:txBody>
      </p:sp>
      <p:sp>
        <p:nvSpPr>
          <p:cNvPr id="3" name="Text Placeholder 2">
            <a:extLst>
              <a:ext uri="{FF2B5EF4-FFF2-40B4-BE49-F238E27FC236}">
                <a16:creationId xmlns:a16="http://schemas.microsoft.com/office/drawing/2014/main" id="{94CA0155-F57D-F542-8299-ADD0A06D0F3B}"/>
              </a:ext>
            </a:extLst>
          </p:cNvPr>
          <p:cNvSpPr>
            <a:spLocks noGrp="1"/>
          </p:cNvSpPr>
          <p:nvPr>
            <p:ph type="body" idx="1"/>
          </p:nvPr>
        </p:nvSpPr>
        <p:spPr>
          <a:xfrm>
            <a:off x="838200" y="1825625"/>
            <a:ext cx="5257800" cy="4351338"/>
          </a:xfrm>
        </p:spPr>
        <p:txBody>
          <a:bodyPr>
            <a:normAutofit fontScale="77500" lnSpcReduction="20000"/>
          </a:bodyPr>
          <a:lstStyle/>
          <a:p>
            <a:pPr marL="325438" indent="-307975" fontAlgn="base">
              <a:lnSpc>
                <a:spcPct val="110000"/>
              </a:lnSpc>
              <a:buFont typeface="Arial" panose="020B0604020202020204" pitchFamily="34" charset="0"/>
              <a:buChar char="•"/>
            </a:pPr>
            <a:r>
              <a:rPr lang="cs-CZ" noProof="1"/>
              <a:t>In many other games, players do not have dominant strategies.</a:t>
            </a:r>
          </a:p>
          <a:p>
            <a:pPr marL="325438" indent="-307975" fontAlgn="base">
              <a:lnSpc>
                <a:spcPct val="110000"/>
              </a:lnSpc>
              <a:buFont typeface="Arial" panose="020B0604020202020204" pitchFamily="34" charset="0"/>
              <a:buChar char="•"/>
            </a:pPr>
            <a:r>
              <a:rPr lang="cs-CZ" noProof="1"/>
              <a:t>For exmple, your best response of  which side to drive will depend on what the others choose to do.</a:t>
            </a:r>
          </a:p>
          <a:p>
            <a:pPr marL="325438" indent="-307975" fontAlgn="base">
              <a:lnSpc>
                <a:spcPct val="110000"/>
              </a:lnSpc>
              <a:buFont typeface="Arial" panose="020B0604020202020204" pitchFamily="34" charset="0"/>
              <a:buChar char="•"/>
            </a:pPr>
            <a:r>
              <a:rPr lang="cs-CZ" b="1" noProof="1"/>
              <a:t>Nash equilibrium</a:t>
            </a:r>
            <a:r>
              <a:rPr lang="cs-CZ" noProof="1"/>
              <a:t>: a set of strategies, one for each player in the game, such that each player’s strategy is a best response to the strategies chosen by everyone else.</a:t>
            </a:r>
          </a:p>
          <a:p>
            <a:pPr marL="325438" indent="-307975" fontAlgn="base">
              <a:lnSpc>
                <a:spcPct val="110000"/>
              </a:lnSpc>
              <a:buFont typeface="Arial" panose="020B0604020202020204" pitchFamily="34" charset="0"/>
              <a:buChar char="•"/>
            </a:pPr>
            <a:r>
              <a:rPr lang="cs-CZ" noProof="1"/>
              <a:t>In the driving game, and in this new crop game, there are </a:t>
            </a:r>
            <a:r>
              <a:rPr lang="cs-CZ" u="sng" noProof="1"/>
              <a:t>two </a:t>
            </a:r>
            <a:r>
              <a:rPr lang="cs-CZ" noProof="1"/>
              <a:t>Nash equilibria!</a:t>
            </a:r>
          </a:p>
          <a:p>
            <a:pPr marL="50800" indent="0">
              <a:buNone/>
            </a:pPr>
            <a:endParaRPr lang="en-GB" dirty="0"/>
          </a:p>
        </p:txBody>
      </p:sp>
      <p:pic>
        <p:nvPicPr>
          <p:cNvPr id="4" name="Picture 3">
            <a:extLst>
              <a:ext uri="{FF2B5EF4-FFF2-40B4-BE49-F238E27FC236}">
                <a16:creationId xmlns:a16="http://schemas.microsoft.com/office/drawing/2014/main" id="{A6926973-F79C-104E-94F2-6690BC214675}"/>
              </a:ext>
            </a:extLst>
          </p:cNvPr>
          <p:cNvPicPr>
            <a:picLocks noChangeAspect="1"/>
          </p:cNvPicPr>
          <p:nvPr/>
        </p:nvPicPr>
        <p:blipFill rotWithShape="1">
          <a:blip r:embed="rId2">
            <a:extLst>
              <a:ext uri="{28A0092B-C50C-407E-A947-70E740481C1C}">
                <a14:useLocalDpi xmlns:a14="http://schemas.microsoft.com/office/drawing/2010/main" val="0"/>
              </a:ext>
            </a:extLst>
          </a:blip>
          <a:srcRect l="24605" r="23516"/>
          <a:stretch/>
        </p:blipFill>
        <p:spPr>
          <a:xfrm>
            <a:off x="6854252" y="1544946"/>
            <a:ext cx="4499548" cy="4400802"/>
          </a:xfrm>
          <a:prstGeom prst="rect">
            <a:avLst/>
          </a:prstGeom>
        </p:spPr>
      </p:pic>
      <p:sp>
        <p:nvSpPr>
          <p:cNvPr id="5" name="Donut 10">
            <a:extLst>
              <a:ext uri="{FF2B5EF4-FFF2-40B4-BE49-F238E27FC236}">
                <a16:creationId xmlns:a16="http://schemas.microsoft.com/office/drawing/2014/main" id="{8F2C36D5-A51F-E042-90E1-83B488B3B8C1}"/>
              </a:ext>
            </a:extLst>
          </p:cNvPr>
          <p:cNvSpPr/>
          <p:nvPr/>
        </p:nvSpPr>
        <p:spPr>
          <a:xfrm>
            <a:off x="7993394" y="4977696"/>
            <a:ext cx="480623" cy="487406"/>
          </a:xfrm>
          <a:prstGeom prst="donut">
            <a:avLst>
              <a:gd name="adj" fmla="val 4149"/>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Oval 8">
            <a:extLst>
              <a:ext uri="{FF2B5EF4-FFF2-40B4-BE49-F238E27FC236}">
                <a16:creationId xmlns:a16="http://schemas.microsoft.com/office/drawing/2014/main" id="{9A5FE5D9-9C06-BE42-8137-60F645C2E4C2}"/>
              </a:ext>
            </a:extLst>
          </p:cNvPr>
          <p:cNvSpPr/>
          <p:nvPr/>
        </p:nvSpPr>
        <p:spPr>
          <a:xfrm rot="2522453">
            <a:off x="9682352" y="2384703"/>
            <a:ext cx="1041138" cy="1798833"/>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Donut 10">
            <a:extLst>
              <a:ext uri="{FF2B5EF4-FFF2-40B4-BE49-F238E27FC236}">
                <a16:creationId xmlns:a16="http://schemas.microsoft.com/office/drawing/2014/main" id="{1E78F492-8B56-DC4D-9D92-1220425F6298}"/>
              </a:ext>
            </a:extLst>
          </p:cNvPr>
          <p:cNvSpPr/>
          <p:nvPr/>
        </p:nvSpPr>
        <p:spPr>
          <a:xfrm>
            <a:off x="8623403" y="4300692"/>
            <a:ext cx="480623" cy="487406"/>
          </a:xfrm>
          <a:prstGeom prst="donut">
            <a:avLst>
              <a:gd name="adj" fmla="val 4149"/>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2060"/>
              </a:solidFill>
            </a:endParaRPr>
          </a:p>
        </p:txBody>
      </p:sp>
      <p:sp>
        <p:nvSpPr>
          <p:cNvPr id="11" name="Donut 10">
            <a:extLst>
              <a:ext uri="{FF2B5EF4-FFF2-40B4-BE49-F238E27FC236}">
                <a16:creationId xmlns:a16="http://schemas.microsoft.com/office/drawing/2014/main" id="{7762D2AA-C8FE-1543-864A-45BB9133A706}"/>
              </a:ext>
            </a:extLst>
          </p:cNvPr>
          <p:cNvSpPr/>
          <p:nvPr/>
        </p:nvSpPr>
        <p:spPr>
          <a:xfrm>
            <a:off x="10276357" y="2719734"/>
            <a:ext cx="480623" cy="487406"/>
          </a:xfrm>
          <a:prstGeom prst="donut">
            <a:avLst>
              <a:gd name="adj" fmla="val 4149"/>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2060"/>
              </a:solidFill>
            </a:endParaRPr>
          </a:p>
        </p:txBody>
      </p:sp>
      <p:sp>
        <p:nvSpPr>
          <p:cNvPr id="12" name="Donut 10">
            <a:extLst>
              <a:ext uri="{FF2B5EF4-FFF2-40B4-BE49-F238E27FC236}">
                <a16:creationId xmlns:a16="http://schemas.microsoft.com/office/drawing/2014/main" id="{7461B6AF-F59D-B04A-A547-D8C53458AA12}"/>
              </a:ext>
            </a:extLst>
          </p:cNvPr>
          <p:cNvSpPr/>
          <p:nvPr/>
        </p:nvSpPr>
        <p:spPr>
          <a:xfrm>
            <a:off x="9587732" y="3380876"/>
            <a:ext cx="480623" cy="487406"/>
          </a:xfrm>
          <a:prstGeom prst="donut">
            <a:avLst>
              <a:gd name="adj" fmla="val 4149"/>
            </a:avLst>
          </a:prstGeom>
          <a:ln>
            <a:solidFill>
              <a:srgbClr val="0C98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TextBox 12">
            <a:extLst>
              <a:ext uri="{FF2B5EF4-FFF2-40B4-BE49-F238E27FC236}">
                <a16:creationId xmlns:a16="http://schemas.microsoft.com/office/drawing/2014/main" id="{6D4D75CB-E8EC-3640-A73A-CBB4DFEEFA81}"/>
              </a:ext>
            </a:extLst>
          </p:cNvPr>
          <p:cNvSpPr txBox="1"/>
          <p:nvPr/>
        </p:nvSpPr>
        <p:spPr>
          <a:xfrm>
            <a:off x="8188916" y="1403105"/>
            <a:ext cx="2544286" cy="307777"/>
          </a:xfrm>
          <a:prstGeom prst="rect">
            <a:avLst/>
          </a:prstGeom>
          <a:noFill/>
        </p:spPr>
        <p:txBody>
          <a:bodyPr wrap="none" rtlCol="0">
            <a:spAutoFit/>
          </a:bodyPr>
          <a:lstStyle/>
          <a:p>
            <a:r>
              <a:rPr lang="en-GB" dirty="0">
                <a:solidFill>
                  <a:srgbClr val="414141"/>
                </a:solidFill>
                <a:latin typeface="Source Sans Pro Light" panose="020B0403030403020204" pitchFamily="34" charset="0"/>
                <a:ea typeface="Source Sans Pro Light" panose="020B0403030403020204" pitchFamily="34" charset="0"/>
              </a:rPr>
              <a:t>Crop game with different payoffs</a:t>
            </a:r>
          </a:p>
        </p:txBody>
      </p:sp>
    </p:spTree>
    <p:extLst>
      <p:ext uri="{BB962C8B-B14F-4D97-AF65-F5344CB8AC3E}">
        <p14:creationId xmlns:p14="http://schemas.microsoft.com/office/powerpoint/2010/main" val="19818682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C2648-83B8-EB4A-B228-20A70C5D6D43}"/>
              </a:ext>
            </a:extLst>
          </p:cNvPr>
          <p:cNvSpPr>
            <a:spLocks noGrp="1"/>
          </p:cNvSpPr>
          <p:nvPr>
            <p:ph type="title"/>
          </p:nvPr>
        </p:nvSpPr>
        <p:spPr/>
        <p:txBody>
          <a:bodyPr/>
          <a:lstStyle/>
          <a:p>
            <a:r>
              <a:rPr lang="en-GB" dirty="0"/>
              <a:t>Bargaining to resolve problems</a:t>
            </a:r>
          </a:p>
        </p:txBody>
      </p:sp>
      <p:sp>
        <p:nvSpPr>
          <p:cNvPr id="3" name="Text Placeholder 2">
            <a:extLst>
              <a:ext uri="{FF2B5EF4-FFF2-40B4-BE49-F238E27FC236}">
                <a16:creationId xmlns:a16="http://schemas.microsoft.com/office/drawing/2014/main" id="{4AD1CDA4-C10B-EA48-9E68-E0DC1FB5B65E}"/>
              </a:ext>
            </a:extLst>
          </p:cNvPr>
          <p:cNvSpPr>
            <a:spLocks noGrp="1"/>
          </p:cNvSpPr>
          <p:nvPr>
            <p:ph type="body" idx="1"/>
          </p:nvPr>
        </p:nvSpPr>
        <p:spPr/>
        <p:txBody>
          <a:bodyPr>
            <a:normAutofit fontScale="92500" lnSpcReduction="20000"/>
          </a:bodyPr>
          <a:lstStyle/>
          <a:p>
            <a:pPr marL="325438" indent="-307975" fontAlgn="base">
              <a:lnSpc>
                <a:spcPct val="100000"/>
              </a:lnSpc>
              <a:buFont typeface="Arial" panose="020B0604020202020204" pitchFamily="34" charset="0"/>
              <a:buChar char="•"/>
            </a:pPr>
            <a:r>
              <a:rPr lang="cs-CZ" noProof="1"/>
              <a:t>People commonly resort to </a:t>
            </a:r>
            <a:r>
              <a:rPr lang="cs-CZ" b="1" noProof="1"/>
              <a:t>negotiation</a:t>
            </a:r>
            <a:r>
              <a:rPr lang="cs-CZ" noProof="1"/>
              <a:t> to solve their economic and social problems. For example, international negotiation resulted in the Montreal Protocol, which eliminated the use of CFCs.</a:t>
            </a:r>
          </a:p>
          <a:p>
            <a:pPr marL="325438" indent="-307975" fontAlgn="base">
              <a:lnSpc>
                <a:spcPct val="100000"/>
              </a:lnSpc>
              <a:buFont typeface="Arial" panose="020B0604020202020204" pitchFamily="34" charset="0"/>
              <a:buChar char="•"/>
            </a:pPr>
            <a:r>
              <a:rPr lang="cs-CZ" noProof="1"/>
              <a:t>But we know negotiations can fail. The economy may end up ‘stuck’ in a Nash equilibrium in which all players are worse off.</a:t>
            </a:r>
          </a:p>
          <a:p>
            <a:pPr marL="325438" indent="-307975" fontAlgn="base">
              <a:lnSpc>
                <a:spcPct val="100000"/>
              </a:lnSpc>
              <a:buFont typeface="Arial" panose="020B0604020202020204" pitchFamily="34" charset="0"/>
              <a:buChar char="•"/>
            </a:pPr>
            <a:endParaRPr lang="cs-CZ" noProof="1"/>
          </a:p>
          <a:p>
            <a:pPr marL="325438" indent="-307975" fontAlgn="base">
              <a:lnSpc>
                <a:spcPct val="100000"/>
              </a:lnSpc>
              <a:buFont typeface="Arial" panose="020B0604020202020204" pitchFamily="34" charset="0"/>
              <a:buChar char="•"/>
            </a:pPr>
            <a:r>
              <a:rPr lang="cs-CZ" noProof="1"/>
              <a:t>Situations with two Nash equilibria prompt us to ask two questions:</a:t>
            </a:r>
          </a:p>
          <a:p>
            <a:pPr marL="531813" indent="-514350" fontAlgn="base">
              <a:lnSpc>
                <a:spcPct val="100000"/>
              </a:lnSpc>
              <a:buSzPct val="100000"/>
              <a:buFont typeface="+mj-lt"/>
              <a:buAutoNum type="arabicPeriod"/>
            </a:pPr>
            <a:r>
              <a:rPr lang="cs-CZ" noProof="1"/>
              <a:t>Which equilibrium would we expect to observe in the world?</a:t>
            </a:r>
          </a:p>
          <a:p>
            <a:pPr marL="531813" indent="-514350" fontAlgn="base">
              <a:lnSpc>
                <a:spcPct val="100000"/>
              </a:lnSpc>
              <a:buSzPct val="100000"/>
              <a:buFont typeface="+mj-lt"/>
              <a:buAutoNum type="arabicPeriod"/>
            </a:pPr>
            <a:r>
              <a:rPr lang="cs-CZ" noProof="1"/>
              <a:t>Is there a </a:t>
            </a:r>
            <a:r>
              <a:rPr lang="cs-CZ" b="1" noProof="1">
                <a:latin typeface="Source Sans Pro" panose="020B0503030403020204" pitchFamily="34" charset="0"/>
                <a:ea typeface="Source Sans Pro" panose="020B0503030403020204" pitchFamily="34" charset="0"/>
              </a:rPr>
              <a:t>conflict of interest </a:t>
            </a:r>
            <a:r>
              <a:rPr lang="cs-CZ" noProof="1"/>
              <a:t>because one equilibrium is preferable to some players, but not to others?</a:t>
            </a:r>
          </a:p>
          <a:p>
            <a:endParaRPr lang="en-GB" dirty="0"/>
          </a:p>
        </p:txBody>
      </p:sp>
    </p:spTree>
    <p:extLst>
      <p:ext uri="{BB962C8B-B14F-4D97-AF65-F5344CB8AC3E}">
        <p14:creationId xmlns:p14="http://schemas.microsoft.com/office/powerpoint/2010/main" val="3299636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8583-FABA-E949-A9A8-1A5EE90F7B71}"/>
              </a:ext>
            </a:extLst>
          </p:cNvPr>
          <p:cNvSpPr>
            <a:spLocks noGrp="1"/>
          </p:cNvSpPr>
          <p:nvPr>
            <p:ph type="title"/>
          </p:nvPr>
        </p:nvSpPr>
        <p:spPr/>
        <p:txBody>
          <a:bodyPr/>
          <a:lstStyle/>
          <a:p>
            <a:r>
              <a:rPr lang="en-GB" dirty="0"/>
              <a:t>Conflicts over which equilibrium will occur</a:t>
            </a:r>
          </a:p>
        </p:txBody>
      </p:sp>
      <p:sp>
        <p:nvSpPr>
          <p:cNvPr id="3" name="Text Placeholder 2">
            <a:extLst>
              <a:ext uri="{FF2B5EF4-FFF2-40B4-BE49-F238E27FC236}">
                <a16:creationId xmlns:a16="http://schemas.microsoft.com/office/drawing/2014/main" id="{80A272BF-E0F8-6C47-833F-8E2C7EEEC102}"/>
              </a:ext>
            </a:extLst>
          </p:cNvPr>
          <p:cNvSpPr>
            <a:spLocks noGrp="1"/>
          </p:cNvSpPr>
          <p:nvPr>
            <p:ph type="body" idx="1"/>
          </p:nvPr>
        </p:nvSpPr>
        <p:spPr>
          <a:xfrm>
            <a:off x="838200" y="1825625"/>
            <a:ext cx="10515600" cy="741729"/>
          </a:xfrm>
        </p:spPr>
        <p:txBody>
          <a:bodyPr>
            <a:normAutofit/>
          </a:bodyPr>
          <a:lstStyle/>
          <a:p>
            <a:pPr marL="50800" indent="0">
              <a:buNone/>
            </a:pPr>
            <a:r>
              <a:rPr lang="en-GB" sz="1900" dirty="0"/>
              <a:t>There may be mutual gains to getting to one or the other of these equilibria, but who gets the lion’s share of these gains may differ among the outcomes.</a:t>
            </a:r>
          </a:p>
        </p:txBody>
      </p:sp>
      <p:sp>
        <p:nvSpPr>
          <p:cNvPr id="4" name="Text Placeholder 2">
            <a:extLst>
              <a:ext uri="{FF2B5EF4-FFF2-40B4-BE49-F238E27FC236}">
                <a16:creationId xmlns:a16="http://schemas.microsoft.com/office/drawing/2014/main" id="{0937BA04-A9C0-3747-89AC-CCB198431CE2}"/>
              </a:ext>
            </a:extLst>
          </p:cNvPr>
          <p:cNvSpPr txBox="1">
            <a:spLocks/>
          </p:cNvSpPr>
          <p:nvPr/>
        </p:nvSpPr>
        <p:spPr>
          <a:xfrm>
            <a:off x="838200" y="2567354"/>
            <a:ext cx="5257800" cy="33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buNone/>
            </a:pPr>
            <a:r>
              <a:rPr lang="en-GB" sz="1900" dirty="0"/>
              <a:t>Example:</a:t>
            </a:r>
          </a:p>
          <a:p>
            <a:r>
              <a:rPr lang="en-GB" sz="1900" dirty="0"/>
              <a:t>Two software engineers both do better if they work in the same language.</a:t>
            </a:r>
          </a:p>
          <a:p>
            <a:r>
              <a:rPr lang="en-GB" sz="1900" dirty="0"/>
              <a:t>Astrid does better if the language is Java, while the reverse is true for Bettina.</a:t>
            </a:r>
          </a:p>
          <a:p>
            <a:r>
              <a:rPr lang="en-GB" sz="1900" dirty="0"/>
              <a:t>Two Nash equilibria: both choose Java or both choose C++.</a:t>
            </a:r>
          </a:p>
          <a:p>
            <a:r>
              <a:rPr lang="en-GB" sz="1900" dirty="0"/>
              <a:t>The outcome might be determined by:</a:t>
            </a:r>
          </a:p>
          <a:p>
            <a:pPr lvl="1">
              <a:buFont typeface="System Font Regular"/>
              <a:buChar char="-"/>
            </a:pPr>
            <a:r>
              <a:rPr lang="en-GB" sz="1900" dirty="0"/>
              <a:t>Which of the two has more power?</a:t>
            </a:r>
          </a:p>
          <a:p>
            <a:pPr lvl="1">
              <a:buFont typeface="System Font Regular"/>
              <a:buChar char="-"/>
            </a:pPr>
            <a:r>
              <a:rPr lang="en-GB" sz="1900" dirty="0"/>
              <a:t>Who started work on the project first?</a:t>
            </a:r>
          </a:p>
        </p:txBody>
      </p:sp>
      <p:pic>
        <p:nvPicPr>
          <p:cNvPr id="5" name="Picture 4">
            <a:extLst>
              <a:ext uri="{FF2B5EF4-FFF2-40B4-BE49-F238E27FC236}">
                <a16:creationId xmlns:a16="http://schemas.microsoft.com/office/drawing/2014/main" id="{E794852F-87EB-9B48-8864-C85F62A7B77D}"/>
              </a:ext>
            </a:extLst>
          </p:cNvPr>
          <p:cNvPicPr>
            <a:picLocks noChangeAspect="1"/>
          </p:cNvPicPr>
          <p:nvPr/>
        </p:nvPicPr>
        <p:blipFill rotWithShape="1">
          <a:blip r:embed="rId2">
            <a:extLst>
              <a:ext uri="{28A0092B-C50C-407E-A947-70E740481C1C}">
                <a14:useLocalDpi xmlns:a14="http://schemas.microsoft.com/office/drawing/2010/main" val="0"/>
              </a:ext>
            </a:extLst>
          </a:blip>
          <a:srcRect l="24717" r="21913"/>
          <a:stretch/>
        </p:blipFill>
        <p:spPr>
          <a:xfrm>
            <a:off x="6836106" y="2322568"/>
            <a:ext cx="4140195" cy="3936157"/>
          </a:xfrm>
          <a:prstGeom prst="rect">
            <a:avLst/>
          </a:prstGeom>
        </p:spPr>
      </p:pic>
      <p:sp>
        <p:nvSpPr>
          <p:cNvPr id="6" name="Oval 5">
            <a:extLst>
              <a:ext uri="{FF2B5EF4-FFF2-40B4-BE49-F238E27FC236}">
                <a16:creationId xmlns:a16="http://schemas.microsoft.com/office/drawing/2014/main" id="{CAC80D36-CF57-7E44-AB85-6FE259E6BFC8}"/>
              </a:ext>
            </a:extLst>
          </p:cNvPr>
          <p:cNvSpPr/>
          <p:nvPr/>
        </p:nvSpPr>
        <p:spPr>
          <a:xfrm rot="2522453">
            <a:off x="9369998" y="4415009"/>
            <a:ext cx="977313" cy="18208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7609E562-0794-0F4D-9FE6-6CFBD265AB14}"/>
              </a:ext>
            </a:extLst>
          </p:cNvPr>
          <p:cNvSpPr/>
          <p:nvPr/>
        </p:nvSpPr>
        <p:spPr>
          <a:xfrm rot="2522453">
            <a:off x="7858724" y="2994372"/>
            <a:ext cx="977313" cy="1820899"/>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97683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F3D3-E55F-6643-BBD0-CA89B1658F3E}"/>
              </a:ext>
            </a:extLst>
          </p:cNvPr>
          <p:cNvSpPr>
            <a:spLocks noGrp="1"/>
          </p:cNvSpPr>
          <p:nvPr>
            <p:ph type="title"/>
          </p:nvPr>
        </p:nvSpPr>
        <p:spPr/>
        <p:txBody>
          <a:bodyPr/>
          <a:lstStyle/>
          <a:p>
            <a:r>
              <a:rPr lang="en-GB" dirty="0"/>
              <a:t>Application: Global Climate Change Problem</a:t>
            </a:r>
          </a:p>
        </p:txBody>
      </p:sp>
      <p:sp>
        <p:nvSpPr>
          <p:cNvPr id="3" name="Text Placeholder 2">
            <a:extLst>
              <a:ext uri="{FF2B5EF4-FFF2-40B4-BE49-F238E27FC236}">
                <a16:creationId xmlns:a16="http://schemas.microsoft.com/office/drawing/2014/main" id="{94956C59-5ADC-4B45-BF52-70B39A7508E1}"/>
              </a:ext>
            </a:extLst>
          </p:cNvPr>
          <p:cNvSpPr>
            <a:spLocks noGrp="1"/>
          </p:cNvSpPr>
          <p:nvPr>
            <p:ph type="body" idx="1"/>
          </p:nvPr>
        </p:nvSpPr>
        <p:spPr/>
        <p:txBody>
          <a:bodyPr/>
          <a:lstStyle/>
          <a:p>
            <a:r>
              <a:rPr lang="en-GB" dirty="0"/>
              <a:t>SECTION F</a:t>
            </a:r>
          </a:p>
        </p:txBody>
      </p:sp>
    </p:spTree>
    <p:extLst>
      <p:ext uri="{BB962C8B-B14F-4D97-AF65-F5344CB8AC3E}">
        <p14:creationId xmlns:p14="http://schemas.microsoft.com/office/powerpoint/2010/main" val="2167416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B68C7-9194-734D-A0D2-C01C35F9BF84}"/>
              </a:ext>
            </a:extLst>
          </p:cNvPr>
          <p:cNvSpPr>
            <a:spLocks noGrp="1"/>
          </p:cNvSpPr>
          <p:nvPr>
            <p:ph type="title"/>
          </p:nvPr>
        </p:nvSpPr>
        <p:spPr/>
        <p:txBody>
          <a:bodyPr/>
          <a:lstStyle/>
          <a:p>
            <a:r>
              <a:rPr lang="en-GB" dirty="0"/>
              <a:t>The climate change game…</a:t>
            </a:r>
          </a:p>
        </p:txBody>
      </p:sp>
      <p:sp>
        <p:nvSpPr>
          <p:cNvPr id="3" name="Text Placeholder 2">
            <a:extLst>
              <a:ext uri="{FF2B5EF4-FFF2-40B4-BE49-F238E27FC236}">
                <a16:creationId xmlns:a16="http://schemas.microsoft.com/office/drawing/2014/main" id="{AF3A639A-1E4E-0243-9E1B-BD1201A0F553}"/>
              </a:ext>
            </a:extLst>
          </p:cNvPr>
          <p:cNvSpPr>
            <a:spLocks noGrp="1"/>
          </p:cNvSpPr>
          <p:nvPr>
            <p:ph type="body" idx="1"/>
          </p:nvPr>
        </p:nvSpPr>
        <p:spPr>
          <a:xfrm>
            <a:off x="838200" y="1825625"/>
            <a:ext cx="5257800" cy="4351338"/>
          </a:xfrm>
        </p:spPr>
        <p:txBody>
          <a:bodyPr/>
          <a:lstStyle/>
          <a:p>
            <a:r>
              <a:rPr lang="en-GB" dirty="0"/>
              <a:t>The worst outcome for both countries is that both persist with BAU, running a significant risk of human extinction.</a:t>
            </a:r>
          </a:p>
          <a:p>
            <a:r>
              <a:rPr lang="en-GB" dirty="0"/>
              <a:t>The best for each is to continue with BAU and let the other one Restrict.</a:t>
            </a:r>
          </a:p>
          <a:p>
            <a:r>
              <a:rPr lang="en-GB" dirty="0"/>
              <a:t>The only way to moderate climate change significantly is for both to Restrict.</a:t>
            </a:r>
          </a:p>
        </p:txBody>
      </p:sp>
      <p:pic>
        <p:nvPicPr>
          <p:cNvPr id="4" name="Picture 3">
            <a:extLst>
              <a:ext uri="{FF2B5EF4-FFF2-40B4-BE49-F238E27FC236}">
                <a16:creationId xmlns:a16="http://schemas.microsoft.com/office/drawing/2014/main" id="{27054DA0-A452-4849-8582-5046C617EAE1}"/>
              </a:ext>
            </a:extLst>
          </p:cNvPr>
          <p:cNvPicPr>
            <a:picLocks noChangeAspect="1"/>
          </p:cNvPicPr>
          <p:nvPr/>
        </p:nvPicPr>
        <p:blipFill rotWithShape="1">
          <a:blip r:embed="rId2">
            <a:extLst>
              <a:ext uri="{28A0092B-C50C-407E-A947-70E740481C1C}">
                <a14:useLocalDpi xmlns:a14="http://schemas.microsoft.com/office/drawing/2010/main" val="0"/>
              </a:ext>
            </a:extLst>
          </a:blip>
          <a:srcRect l="16002"/>
          <a:stretch/>
        </p:blipFill>
        <p:spPr>
          <a:xfrm>
            <a:off x="6096000" y="1492236"/>
            <a:ext cx="6036766" cy="4684727"/>
          </a:xfrm>
          <a:prstGeom prst="rect">
            <a:avLst/>
          </a:prstGeom>
        </p:spPr>
      </p:pic>
    </p:spTree>
    <p:extLst>
      <p:ext uri="{BB962C8B-B14F-4D97-AF65-F5344CB8AC3E}">
        <p14:creationId xmlns:p14="http://schemas.microsoft.com/office/powerpoint/2010/main" val="3276687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2DFD8-29F6-174E-AB2B-CFE21FA941A9}"/>
              </a:ext>
            </a:extLst>
          </p:cNvPr>
          <p:cNvSpPr>
            <a:spLocks noGrp="1"/>
          </p:cNvSpPr>
          <p:nvPr>
            <p:ph type="title"/>
          </p:nvPr>
        </p:nvSpPr>
        <p:spPr/>
        <p:txBody>
          <a:bodyPr/>
          <a:lstStyle/>
          <a:p>
            <a:r>
              <a:rPr lang="en-GB" dirty="0"/>
              <a:t>…as an example of a hawk-dove game</a:t>
            </a:r>
          </a:p>
        </p:txBody>
      </p:sp>
      <p:sp>
        <p:nvSpPr>
          <p:cNvPr id="3" name="Text Placeholder 2">
            <a:extLst>
              <a:ext uri="{FF2B5EF4-FFF2-40B4-BE49-F238E27FC236}">
                <a16:creationId xmlns:a16="http://schemas.microsoft.com/office/drawing/2014/main" id="{56F48D57-0022-6545-B812-3F70EB396E32}"/>
              </a:ext>
            </a:extLst>
          </p:cNvPr>
          <p:cNvSpPr>
            <a:spLocks noGrp="1"/>
          </p:cNvSpPr>
          <p:nvPr>
            <p:ph type="body" idx="1"/>
          </p:nvPr>
        </p:nvSpPr>
        <p:spPr>
          <a:xfrm>
            <a:off x="838200" y="1825624"/>
            <a:ext cx="5257800" cy="3719391"/>
          </a:xfrm>
        </p:spPr>
        <p:txBody>
          <a:bodyPr>
            <a:noAutofit/>
          </a:bodyPr>
          <a:lstStyle/>
          <a:p>
            <a:pPr>
              <a:lnSpc>
                <a:spcPct val="110000"/>
              </a:lnSpc>
            </a:pPr>
            <a:r>
              <a:rPr lang="en-GB" sz="2100" dirty="0"/>
              <a:t>There are two Nash equilibria: They differ on which country bears the cost of restricting emissions.</a:t>
            </a:r>
          </a:p>
          <a:p>
            <a:pPr>
              <a:lnSpc>
                <a:spcPct val="110000"/>
              </a:lnSpc>
            </a:pPr>
            <a:r>
              <a:rPr lang="en-GB" sz="2100" dirty="0"/>
              <a:t>These two Nash equilibria are such that the two players adopt </a:t>
            </a:r>
            <a:r>
              <a:rPr lang="en-GB" sz="2100" i="1" dirty="0"/>
              <a:t>different</a:t>
            </a:r>
            <a:r>
              <a:rPr lang="en-GB" sz="2100" dirty="0"/>
              <a:t> strategies.</a:t>
            </a:r>
          </a:p>
          <a:p>
            <a:pPr>
              <a:lnSpc>
                <a:spcPct val="110000"/>
              </a:lnSpc>
            </a:pPr>
            <a:r>
              <a:rPr lang="en-GB" sz="2100" dirty="0"/>
              <a:t>Negotiations are bound to be difficult, since each country would prefer the other to take the lead on restricting carbon emissions. </a:t>
            </a:r>
          </a:p>
        </p:txBody>
      </p:sp>
      <p:sp>
        <p:nvSpPr>
          <p:cNvPr id="4" name="Text Placeholder 2">
            <a:extLst>
              <a:ext uri="{FF2B5EF4-FFF2-40B4-BE49-F238E27FC236}">
                <a16:creationId xmlns:a16="http://schemas.microsoft.com/office/drawing/2014/main" id="{6B9FE22E-7E8D-E640-96CD-2387E4BBEBCA}"/>
              </a:ext>
            </a:extLst>
          </p:cNvPr>
          <p:cNvSpPr txBox="1">
            <a:spLocks/>
          </p:cNvSpPr>
          <p:nvPr/>
        </p:nvSpPr>
        <p:spPr>
          <a:xfrm>
            <a:off x="838200" y="5292968"/>
            <a:ext cx="10814538" cy="5040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None/>
            </a:pPr>
            <a:r>
              <a:rPr lang="en-GB" sz="2100" dirty="0"/>
              <a:t>The game represents the idea that no one wants to see catastrophic climate change, but each is waiting in order to see if others will move first.</a:t>
            </a:r>
          </a:p>
        </p:txBody>
      </p:sp>
      <p:pic>
        <p:nvPicPr>
          <p:cNvPr id="5" name="Picture 4">
            <a:extLst>
              <a:ext uri="{FF2B5EF4-FFF2-40B4-BE49-F238E27FC236}">
                <a16:creationId xmlns:a16="http://schemas.microsoft.com/office/drawing/2014/main" id="{7653B321-B50C-DA44-B4B4-226362874EB7}"/>
              </a:ext>
            </a:extLst>
          </p:cNvPr>
          <p:cNvPicPr>
            <a:picLocks noChangeAspect="1"/>
          </p:cNvPicPr>
          <p:nvPr/>
        </p:nvPicPr>
        <p:blipFill rotWithShape="1">
          <a:blip r:embed="rId2">
            <a:extLst>
              <a:ext uri="{28A0092B-C50C-407E-A947-70E740481C1C}">
                <a14:useLocalDpi xmlns:a14="http://schemas.microsoft.com/office/drawing/2010/main" val="0"/>
              </a:ext>
            </a:extLst>
          </a:blip>
          <a:srcRect l="24429" r="24984"/>
          <a:stretch/>
        </p:blipFill>
        <p:spPr>
          <a:xfrm>
            <a:off x="6891670" y="1395597"/>
            <a:ext cx="4054480" cy="4066806"/>
          </a:xfrm>
          <a:prstGeom prst="rect">
            <a:avLst/>
          </a:prstGeom>
        </p:spPr>
      </p:pic>
      <p:sp>
        <p:nvSpPr>
          <p:cNvPr id="6" name="Oval 5">
            <a:extLst>
              <a:ext uri="{FF2B5EF4-FFF2-40B4-BE49-F238E27FC236}">
                <a16:creationId xmlns:a16="http://schemas.microsoft.com/office/drawing/2014/main" id="{FE804136-7D12-7442-A4D6-2DF9207603AF}"/>
              </a:ext>
            </a:extLst>
          </p:cNvPr>
          <p:cNvSpPr/>
          <p:nvPr/>
        </p:nvSpPr>
        <p:spPr>
          <a:xfrm rot="2522453">
            <a:off x="7977814" y="3618067"/>
            <a:ext cx="953880" cy="1770884"/>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14E0A6B7-5199-834C-B1C3-25DBCC94250E}"/>
              </a:ext>
            </a:extLst>
          </p:cNvPr>
          <p:cNvSpPr/>
          <p:nvPr/>
        </p:nvSpPr>
        <p:spPr>
          <a:xfrm rot="2522453">
            <a:off x="9514869" y="2043839"/>
            <a:ext cx="1005938" cy="1906581"/>
          </a:xfrm>
          <a:prstGeom prst="ellipse">
            <a:avLst/>
          </a:prstGeom>
          <a:noFill/>
          <a:ln w="381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332764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5E4D-75C1-B046-B578-EC05B4A27226}"/>
              </a:ext>
            </a:extLst>
          </p:cNvPr>
          <p:cNvSpPr>
            <a:spLocks noGrp="1"/>
          </p:cNvSpPr>
          <p:nvPr>
            <p:ph type="title"/>
          </p:nvPr>
        </p:nvSpPr>
        <p:spPr/>
        <p:txBody>
          <a:bodyPr/>
          <a:lstStyle/>
          <a:p>
            <a:r>
              <a:rPr lang="en-GB" dirty="0"/>
              <a:t>Using public policy to change the game</a:t>
            </a:r>
          </a:p>
        </p:txBody>
      </p:sp>
      <p:sp>
        <p:nvSpPr>
          <p:cNvPr id="3" name="Text Placeholder 2">
            <a:extLst>
              <a:ext uri="{FF2B5EF4-FFF2-40B4-BE49-F238E27FC236}">
                <a16:creationId xmlns:a16="http://schemas.microsoft.com/office/drawing/2014/main" id="{702BBEBE-9064-D44A-8E98-76FF78C62403}"/>
              </a:ext>
            </a:extLst>
          </p:cNvPr>
          <p:cNvSpPr>
            <a:spLocks noGrp="1"/>
          </p:cNvSpPr>
          <p:nvPr>
            <p:ph type="body" idx="1"/>
          </p:nvPr>
        </p:nvSpPr>
        <p:spPr/>
        <p:txBody>
          <a:bodyPr>
            <a:normAutofit fontScale="85000" lnSpcReduction="20000"/>
          </a:bodyPr>
          <a:lstStyle/>
          <a:p>
            <a:pPr marL="50800" indent="0">
              <a:lnSpc>
                <a:spcPct val="110000"/>
              </a:lnSpc>
              <a:buNone/>
            </a:pPr>
            <a:r>
              <a:rPr lang="en-US" u="sng" dirty="0"/>
              <a:t>Goal</a:t>
            </a:r>
            <a:r>
              <a:rPr lang="en-US" dirty="0"/>
              <a:t>: Change the game so that (Restrict, Restrict) becomes a Nash equilibrium.</a:t>
            </a:r>
          </a:p>
          <a:p>
            <a:pPr marL="234950" indent="-234950">
              <a:lnSpc>
                <a:spcPct val="110000"/>
              </a:lnSpc>
              <a:buFont typeface="Arial" panose="020B0604020202020204" pitchFamily="34" charset="0"/>
              <a:buChar char="•"/>
            </a:pPr>
            <a:r>
              <a:rPr lang="en-US" i="1" dirty="0"/>
              <a:t>Sustainable consumer lifestyles </a:t>
            </a:r>
            <a:r>
              <a:rPr lang="en-US" dirty="0"/>
              <a:t>using fewer goods and services of the kind that result in environmental degradation.</a:t>
            </a:r>
          </a:p>
          <a:p>
            <a:pPr marL="234950" indent="-234950">
              <a:lnSpc>
                <a:spcPct val="110000"/>
              </a:lnSpc>
              <a:buFont typeface="Arial" panose="020B0604020202020204" pitchFamily="34" charset="0"/>
              <a:buChar char="•"/>
            </a:pPr>
            <a:r>
              <a:rPr lang="en-US" i="1" dirty="0"/>
              <a:t>Governments could stimulate innovation and the diffusion of cleaner technologies: </a:t>
            </a:r>
            <a:r>
              <a:rPr lang="en-US" dirty="0"/>
              <a:t>They might do this by, for example, raising the price of goods and services that result in carbon and other emissions through taxes.</a:t>
            </a:r>
          </a:p>
          <a:p>
            <a:pPr marL="234950" indent="-234950">
              <a:lnSpc>
                <a:spcPct val="110000"/>
              </a:lnSpc>
              <a:buFont typeface="Arial" panose="020B0604020202020204" pitchFamily="34" charset="0"/>
              <a:buChar char="•"/>
            </a:pPr>
            <a:r>
              <a:rPr lang="en-US" i="1" dirty="0"/>
              <a:t>A change in norms: </a:t>
            </a:r>
            <a:r>
              <a:rPr lang="en-US" dirty="0"/>
              <a:t>Citizens, non-governmental organizations (NGOs), and governments can promote a norm of climate protection and sanction or shame countries that do nothing to limit climate change. </a:t>
            </a:r>
          </a:p>
          <a:p>
            <a:pPr marL="234950" indent="-234950">
              <a:lnSpc>
                <a:spcPct val="110000"/>
              </a:lnSpc>
              <a:buFont typeface="Arial" panose="020B0604020202020204" pitchFamily="34" charset="0"/>
              <a:buChar char="•"/>
            </a:pPr>
            <a:r>
              <a:rPr lang="en-US" i="1" dirty="0"/>
              <a:t>Countries can share the costs of Restrict more evenly. </a:t>
            </a:r>
            <a:r>
              <a:rPr lang="en-US" dirty="0"/>
              <a:t>An example would be paying countries in the Amazon basin to conserve the rainforest.</a:t>
            </a:r>
          </a:p>
          <a:p>
            <a:endParaRPr lang="en-GB" dirty="0"/>
          </a:p>
        </p:txBody>
      </p:sp>
    </p:spTree>
    <p:extLst>
      <p:ext uri="{BB962C8B-B14F-4D97-AF65-F5344CB8AC3E}">
        <p14:creationId xmlns:p14="http://schemas.microsoft.com/office/powerpoint/2010/main" val="2277535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644A0-AFC8-7D46-8EC0-808398285F88}"/>
              </a:ext>
            </a:extLst>
          </p:cNvPr>
          <p:cNvSpPr>
            <a:spLocks noGrp="1"/>
          </p:cNvSpPr>
          <p:nvPr>
            <p:ph type="title"/>
          </p:nvPr>
        </p:nvSpPr>
        <p:spPr/>
        <p:txBody>
          <a:bodyPr/>
          <a:lstStyle/>
          <a:p>
            <a:r>
              <a:rPr lang="en-GB" dirty="0"/>
              <a:t>The economy and economics</a:t>
            </a:r>
          </a:p>
        </p:txBody>
      </p:sp>
      <p:sp>
        <p:nvSpPr>
          <p:cNvPr id="3" name="Text Placeholder 2">
            <a:extLst>
              <a:ext uri="{FF2B5EF4-FFF2-40B4-BE49-F238E27FC236}">
                <a16:creationId xmlns:a16="http://schemas.microsoft.com/office/drawing/2014/main" id="{ECE486A3-F627-A34C-935A-77E6EED8134B}"/>
              </a:ext>
            </a:extLst>
          </p:cNvPr>
          <p:cNvSpPr>
            <a:spLocks noGrp="1"/>
          </p:cNvSpPr>
          <p:nvPr>
            <p:ph type="body" idx="1"/>
          </p:nvPr>
        </p:nvSpPr>
        <p:spPr>
          <a:xfrm>
            <a:off x="838200" y="1825625"/>
            <a:ext cx="10515600" cy="987913"/>
          </a:xfrm>
        </p:spPr>
        <p:txBody>
          <a:bodyPr>
            <a:normAutofit/>
          </a:bodyPr>
          <a:lstStyle/>
          <a:p>
            <a:pPr marL="50800" indent="0">
              <a:buNone/>
            </a:pPr>
            <a:r>
              <a:rPr lang="en-GB" sz="2600" dirty="0"/>
              <a:t>Our social nature poses an enormous challenge: how can we organise our interactions in such a way that the outcomes are acceptable?</a:t>
            </a:r>
          </a:p>
        </p:txBody>
      </p:sp>
      <p:sp>
        <p:nvSpPr>
          <p:cNvPr id="4" name="Text Placeholder 2">
            <a:extLst>
              <a:ext uri="{FF2B5EF4-FFF2-40B4-BE49-F238E27FC236}">
                <a16:creationId xmlns:a16="http://schemas.microsoft.com/office/drawing/2014/main" id="{199B76D1-1927-AF42-AA45-60C91C7D5D7F}"/>
              </a:ext>
            </a:extLst>
          </p:cNvPr>
          <p:cNvSpPr txBox="1">
            <a:spLocks/>
          </p:cNvSpPr>
          <p:nvPr/>
        </p:nvSpPr>
        <p:spPr>
          <a:xfrm>
            <a:off x="838200" y="5364285"/>
            <a:ext cx="10515600" cy="1116867"/>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Source Sans Pro Light"/>
                <a:ea typeface="Source Sans Pro Light"/>
                <a:cs typeface="Source Sans Pro Light"/>
                <a:sym typeface="Source Sans Pro Ligh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Source Sans Pro Light"/>
                <a:ea typeface="Source Sans Pro Light"/>
                <a:cs typeface="Source Sans Pro Light"/>
                <a:sym typeface="Source Sans Pro Ligh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Source Sans Pro Light"/>
                <a:ea typeface="Source Sans Pro Light"/>
                <a:cs typeface="Source Sans Pro Light"/>
                <a:sym typeface="Source Sans Pro Ligh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Source Sans Pro Light"/>
                <a:ea typeface="Source Sans Pro Light"/>
                <a:cs typeface="Source Sans Pro Light"/>
                <a:sym typeface="Source Sans Pro Ligh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50800" indent="0">
              <a:lnSpc>
                <a:spcPct val="110000"/>
              </a:lnSpc>
              <a:buFont typeface="Arial"/>
              <a:buNone/>
            </a:pPr>
            <a:r>
              <a:rPr lang="en-GB" dirty="0"/>
              <a:t>Economics studies how people interact with each other and with their natural surroundings in providing their livelihoods, and how this changes over time.</a:t>
            </a:r>
          </a:p>
        </p:txBody>
      </p:sp>
      <p:pic>
        <p:nvPicPr>
          <p:cNvPr id="5" name="Picture 4">
            <a:extLst>
              <a:ext uri="{FF2B5EF4-FFF2-40B4-BE49-F238E27FC236}">
                <a16:creationId xmlns:a16="http://schemas.microsoft.com/office/drawing/2014/main" id="{D0562624-2A3B-9E4E-AD91-455CA6DB5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5910" y="2701878"/>
            <a:ext cx="6720180" cy="2824303"/>
          </a:xfrm>
          <a:prstGeom prst="rect">
            <a:avLst/>
          </a:prstGeom>
        </p:spPr>
      </p:pic>
    </p:spTree>
    <p:extLst>
      <p:ext uri="{BB962C8B-B14F-4D97-AF65-F5344CB8AC3E}">
        <p14:creationId xmlns:p14="http://schemas.microsoft.com/office/powerpoint/2010/main" val="494984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05E1-C1E0-F54F-B3F5-556FB808F559}"/>
              </a:ext>
            </a:extLst>
          </p:cNvPr>
          <p:cNvSpPr>
            <a:spLocks noGrp="1"/>
          </p:cNvSpPr>
          <p:nvPr>
            <p:ph type="title"/>
          </p:nvPr>
        </p:nvSpPr>
        <p:spPr/>
        <p:txBody>
          <a:bodyPr/>
          <a:lstStyle/>
          <a:p>
            <a:r>
              <a:rPr lang="en-GB" dirty="0"/>
              <a:t>Summary</a:t>
            </a:r>
          </a:p>
        </p:txBody>
      </p:sp>
      <p:sp>
        <p:nvSpPr>
          <p:cNvPr id="3" name="Text Placeholder 2">
            <a:extLst>
              <a:ext uri="{FF2B5EF4-FFF2-40B4-BE49-F238E27FC236}">
                <a16:creationId xmlns:a16="http://schemas.microsoft.com/office/drawing/2014/main" id="{441FABA8-864E-684A-9534-28DAF903C26F}"/>
              </a:ext>
            </a:extLst>
          </p:cNvPr>
          <p:cNvSpPr>
            <a:spLocks noGrp="1"/>
          </p:cNvSpPr>
          <p:nvPr>
            <p:ph type="body" idx="1"/>
          </p:nvPr>
        </p:nvSpPr>
        <p:spPr/>
        <p:txBody>
          <a:bodyPr>
            <a:normAutofit lnSpcReduction="10000"/>
          </a:bodyPr>
          <a:lstStyle/>
          <a:p>
            <a:pPr marL="565150" indent="-514350">
              <a:buFont typeface="+mj-lt"/>
              <a:buAutoNum type="arabicPeriod"/>
            </a:pPr>
            <a:r>
              <a:rPr lang="en-GB" b="1" dirty="0">
                <a:latin typeface="Source Sans Pro" panose="020B0503030403020204" pitchFamily="34" charset="0"/>
                <a:ea typeface="Source Sans Pro" panose="020B0503030403020204" pitchFamily="34" charset="0"/>
              </a:rPr>
              <a:t>Social interactions </a:t>
            </a:r>
            <a:r>
              <a:rPr lang="en-GB" dirty="0"/>
              <a:t>offer opportunities for mutual gains, but conflicts arise over how these gains should be distributed.</a:t>
            </a:r>
          </a:p>
          <a:p>
            <a:r>
              <a:rPr lang="en-GB" b="1" dirty="0">
                <a:latin typeface="Source Sans Pro" panose="020B0503030403020204" pitchFamily="34" charset="0"/>
                <a:ea typeface="Source Sans Pro" panose="020B0503030403020204" pitchFamily="34" charset="0"/>
              </a:rPr>
              <a:t>Preferences</a:t>
            </a:r>
            <a:r>
              <a:rPr lang="en-GB" dirty="0"/>
              <a:t> and policies to address </a:t>
            </a:r>
            <a:r>
              <a:rPr lang="en-GB" b="1" dirty="0">
                <a:latin typeface="Source Sans Pro" panose="020B0503030403020204" pitchFamily="34" charset="0"/>
                <a:ea typeface="Source Sans Pro" panose="020B0503030403020204" pitchFamily="34" charset="0"/>
              </a:rPr>
              <a:t>social dilemmas</a:t>
            </a:r>
          </a:p>
          <a:p>
            <a:r>
              <a:rPr lang="en-GB" dirty="0"/>
              <a:t>The individual pursuit of </a:t>
            </a:r>
            <a:r>
              <a:rPr lang="en-GB" b="1" dirty="0">
                <a:latin typeface="Source Sans Pro" panose="020B0503030403020204" pitchFamily="34" charset="0"/>
                <a:ea typeface="Source Sans Pro" panose="020B0503030403020204" pitchFamily="34" charset="0"/>
              </a:rPr>
              <a:t>self-interest</a:t>
            </a:r>
            <a:r>
              <a:rPr lang="en-GB" dirty="0"/>
              <a:t> can lead to socially beneficial outcomes, but can also produce undesirable outcomes</a:t>
            </a:r>
          </a:p>
          <a:p>
            <a:pPr marL="565150" indent="-514350">
              <a:buFont typeface="+mj-lt"/>
              <a:buAutoNum type="arabicPeriod" startAt="2"/>
            </a:pPr>
            <a:r>
              <a:rPr lang="en-GB" b="1" dirty="0">
                <a:latin typeface="Source Sans Pro" panose="020B0503030403020204" pitchFamily="34" charset="0"/>
                <a:ea typeface="Source Sans Pro" panose="020B0503030403020204" pitchFamily="34" charset="0"/>
              </a:rPr>
              <a:t>Game theory </a:t>
            </a:r>
            <a:r>
              <a:rPr lang="en-GB" dirty="0"/>
              <a:t>has helped us model strategic interactions</a:t>
            </a:r>
          </a:p>
          <a:p>
            <a:r>
              <a:rPr lang="en-GB" dirty="0"/>
              <a:t>Players choose </a:t>
            </a:r>
            <a:r>
              <a:rPr lang="en-GB" b="1" dirty="0">
                <a:latin typeface="Source Sans Pro" panose="020B0503030403020204" pitchFamily="34" charset="0"/>
                <a:ea typeface="Source Sans Pro" panose="020B0503030403020204" pitchFamily="34" charset="0"/>
              </a:rPr>
              <a:t>best responses </a:t>
            </a:r>
            <a:r>
              <a:rPr lang="en-GB" dirty="0"/>
              <a:t>to others’ </a:t>
            </a:r>
            <a:r>
              <a:rPr lang="en-GB" b="1" dirty="0">
                <a:latin typeface="Source Sans Pro" panose="020B0503030403020204" pitchFamily="34" charset="0"/>
                <a:ea typeface="Source Sans Pro" panose="020B0503030403020204" pitchFamily="34" charset="0"/>
              </a:rPr>
              <a:t>strategies</a:t>
            </a:r>
          </a:p>
          <a:p>
            <a:r>
              <a:rPr lang="en-GB" dirty="0"/>
              <a:t>The </a:t>
            </a:r>
            <a:r>
              <a:rPr lang="en-GB" b="1" dirty="0">
                <a:latin typeface="Source Sans Pro" panose="020B0503030403020204" pitchFamily="34" charset="0"/>
                <a:ea typeface="Source Sans Pro" panose="020B0503030403020204" pitchFamily="34" charset="0"/>
              </a:rPr>
              <a:t>rules of the game </a:t>
            </a:r>
            <a:r>
              <a:rPr lang="en-GB" dirty="0"/>
              <a:t>matter for outcomes</a:t>
            </a:r>
          </a:p>
          <a:p>
            <a:r>
              <a:rPr lang="en-GB" dirty="0"/>
              <a:t>Multiple Nash equilibria can cause coordination problems</a:t>
            </a:r>
          </a:p>
          <a:p>
            <a:endParaRPr lang="en-GB" dirty="0"/>
          </a:p>
        </p:txBody>
      </p:sp>
    </p:spTree>
    <p:extLst>
      <p:ext uri="{BB962C8B-B14F-4D97-AF65-F5344CB8AC3E}">
        <p14:creationId xmlns:p14="http://schemas.microsoft.com/office/powerpoint/2010/main" val="2324713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A539A-6624-644A-A57B-2B843B9C25AD}"/>
              </a:ext>
            </a:extLst>
          </p:cNvPr>
          <p:cNvSpPr>
            <a:spLocks noGrp="1"/>
          </p:cNvSpPr>
          <p:nvPr>
            <p:ph type="title"/>
          </p:nvPr>
        </p:nvSpPr>
        <p:spPr/>
        <p:txBody>
          <a:bodyPr/>
          <a:lstStyle/>
          <a:p>
            <a:r>
              <a:rPr lang="en-GB" dirty="0"/>
              <a:t>In the next unit</a:t>
            </a:r>
          </a:p>
        </p:txBody>
      </p:sp>
      <p:sp>
        <p:nvSpPr>
          <p:cNvPr id="3" name="Text Placeholder 2">
            <a:extLst>
              <a:ext uri="{FF2B5EF4-FFF2-40B4-BE49-F238E27FC236}">
                <a16:creationId xmlns:a16="http://schemas.microsoft.com/office/drawing/2014/main" id="{45E4045C-E871-944C-8948-D0BCF834CE06}"/>
              </a:ext>
            </a:extLst>
          </p:cNvPr>
          <p:cNvSpPr>
            <a:spLocks noGrp="1"/>
          </p:cNvSpPr>
          <p:nvPr>
            <p:ph type="body" idx="1"/>
          </p:nvPr>
        </p:nvSpPr>
        <p:spPr/>
        <p:txBody>
          <a:bodyPr/>
          <a:lstStyle/>
          <a:p>
            <a:r>
              <a:rPr lang="en-GB" dirty="0"/>
              <a:t>Evaluating outcomes of social interactions: </a:t>
            </a:r>
            <a:r>
              <a:rPr lang="en-GB" b="1" dirty="0">
                <a:latin typeface="Source Sans Pro" panose="020B0503030403020204" pitchFamily="34" charset="0"/>
                <a:ea typeface="Source Sans Pro" panose="020B0503030403020204" pitchFamily="34" charset="0"/>
              </a:rPr>
              <a:t>efficiency</a:t>
            </a:r>
            <a:r>
              <a:rPr lang="en-GB" dirty="0"/>
              <a:t> and </a:t>
            </a:r>
            <a:r>
              <a:rPr lang="en-GB" b="1" dirty="0">
                <a:latin typeface="Source Sans Pro" panose="020B0503030403020204" pitchFamily="34" charset="0"/>
                <a:ea typeface="Source Sans Pro" panose="020B0503030403020204" pitchFamily="34" charset="0"/>
              </a:rPr>
              <a:t>fairness</a:t>
            </a:r>
          </a:p>
          <a:p>
            <a:endParaRPr lang="en-GB" dirty="0"/>
          </a:p>
          <a:p>
            <a:r>
              <a:rPr lang="en-GB" dirty="0"/>
              <a:t>Analysing the </a:t>
            </a:r>
            <a:r>
              <a:rPr lang="en-GB" b="1" dirty="0">
                <a:latin typeface="Source Sans Pro" panose="020B0503030403020204" pitchFamily="34" charset="0"/>
                <a:ea typeface="Source Sans Pro" panose="020B0503030403020204" pitchFamily="34" charset="0"/>
              </a:rPr>
              <a:t>causal effect </a:t>
            </a:r>
            <a:r>
              <a:rPr lang="en-GB" dirty="0"/>
              <a:t>of public policies such as:</a:t>
            </a:r>
          </a:p>
          <a:p>
            <a:pPr>
              <a:buFont typeface="System Font Regular"/>
              <a:buChar char="-"/>
            </a:pPr>
            <a:r>
              <a:rPr lang="en-GB" dirty="0"/>
              <a:t>Child health programs</a:t>
            </a:r>
          </a:p>
          <a:p>
            <a:pPr>
              <a:buFont typeface="System Font Regular"/>
              <a:buChar char="-"/>
            </a:pPr>
            <a:r>
              <a:rPr lang="en-GB" dirty="0"/>
              <a:t>Anti-obesity taxes</a:t>
            </a:r>
          </a:p>
          <a:p>
            <a:pPr>
              <a:buFont typeface="System Font Regular"/>
              <a:buChar char="-"/>
            </a:pPr>
            <a:r>
              <a:rPr lang="en-GB" dirty="0"/>
              <a:t>Intellectual property rights</a:t>
            </a:r>
          </a:p>
          <a:p>
            <a:pPr>
              <a:buFont typeface="System Font Regular"/>
              <a:buChar char="-"/>
            </a:pPr>
            <a:endParaRPr lang="en-GB" dirty="0"/>
          </a:p>
          <a:p>
            <a:r>
              <a:rPr lang="en-GB" dirty="0"/>
              <a:t>New type of games: </a:t>
            </a:r>
            <a:r>
              <a:rPr lang="en-GB" b="1" dirty="0">
                <a:latin typeface="Source Sans Pro" panose="020B0503030403020204" pitchFamily="34" charset="0"/>
                <a:ea typeface="Source Sans Pro" panose="020B0503030403020204" pitchFamily="34" charset="0"/>
              </a:rPr>
              <a:t>sequential games </a:t>
            </a:r>
            <a:r>
              <a:rPr lang="en-GB" dirty="0"/>
              <a:t>and the use of game trees</a:t>
            </a:r>
          </a:p>
        </p:txBody>
      </p:sp>
    </p:spTree>
    <p:extLst>
      <p:ext uri="{BB962C8B-B14F-4D97-AF65-F5344CB8AC3E}">
        <p14:creationId xmlns:p14="http://schemas.microsoft.com/office/powerpoint/2010/main" val="2116597454"/>
      </p:ext>
    </p:extLst>
  </p:cSld>
  <p:clrMapOvr>
    <a:masterClrMapping/>
  </p:clrMapOvr>
</p:sld>
</file>

<file path=ppt/theme/theme1.xml><?xml version="1.0" encoding="utf-8"?>
<a:theme xmlns:a="http://schemas.openxmlformats.org/drawingml/2006/main" name="Office Theme">
  <a:themeElements>
    <a:clrScheme name="CORE 2">
      <a:dk1>
        <a:srgbClr val="414141"/>
      </a:dk1>
      <a:lt1>
        <a:srgbClr val="FFFFFF"/>
      </a:lt1>
      <a:dk2>
        <a:srgbClr val="51514D"/>
      </a:dk2>
      <a:lt2>
        <a:srgbClr val="E7E6E6"/>
      </a:lt2>
      <a:accent1>
        <a:srgbClr val="F0595B"/>
      </a:accent1>
      <a:accent2>
        <a:srgbClr val="6FC9C1"/>
      </a:accent2>
      <a:accent3>
        <a:srgbClr val="F58261"/>
      </a:accent3>
      <a:accent4>
        <a:srgbClr val="A0D187"/>
      </a:accent4>
      <a:accent5>
        <a:srgbClr val="0C9875"/>
      </a:accent5>
      <a:accent6>
        <a:srgbClr val="BC88AE"/>
      </a:accent6>
      <a:hlink>
        <a:srgbClr val="F0595B"/>
      </a:hlink>
      <a:folHlink>
        <a:srgbClr val="BC7E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TotalTime>
  <Words>2853</Words>
  <Application>Microsoft Office PowerPoint</Application>
  <PresentationFormat>Widescreen</PresentationFormat>
  <Paragraphs>240</Paragraphs>
  <Slides>46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Source Sans Pro</vt:lpstr>
      <vt:lpstr>Arial</vt:lpstr>
      <vt:lpstr>Source Sans Pro ExtraLight</vt:lpstr>
      <vt:lpstr>Merriweather</vt:lpstr>
      <vt:lpstr>Source Sans Pro SemiBold</vt:lpstr>
      <vt:lpstr>System Font Regular</vt:lpstr>
      <vt:lpstr>Source Sans Pro Light</vt:lpstr>
      <vt:lpstr>Office Theme</vt:lpstr>
      <vt:lpstr>PowerPoint Presentation</vt:lpstr>
      <vt:lpstr>Unit 2</vt:lpstr>
      <vt:lpstr>Outline</vt:lpstr>
      <vt:lpstr>Outline</vt:lpstr>
      <vt:lpstr>Introduction</vt:lpstr>
      <vt:lpstr>The context for this Unit</vt:lpstr>
      <vt:lpstr>Self-Interested Individuals</vt:lpstr>
      <vt:lpstr>The “Invisible Hand”</vt:lpstr>
      <vt:lpstr>This Unit</vt:lpstr>
      <vt:lpstr>Social Dilemmas</vt:lpstr>
      <vt:lpstr>Social dilemma</vt:lpstr>
      <vt:lpstr>The tragedy of the commons</vt:lpstr>
      <vt:lpstr>Resolving social dilemmas: Preferences</vt:lpstr>
      <vt:lpstr>Resolving social dilemmas: Policies</vt:lpstr>
      <vt:lpstr>Self-interest and Economic Outcomes</vt:lpstr>
      <vt:lpstr>Game theory: Key concepts</vt:lpstr>
      <vt:lpstr>Game</vt:lpstr>
      <vt:lpstr>Example: Crop choice</vt:lpstr>
      <vt:lpstr>Interpreting the payoff matrix</vt:lpstr>
      <vt:lpstr>Understanding best responses</vt:lpstr>
      <vt:lpstr>Understanding dominant strategies</vt:lpstr>
      <vt:lpstr>Dominant strategy equilibrium</vt:lpstr>
      <vt:lpstr>The invisible hand</vt:lpstr>
      <vt:lpstr>The prisoner’s dilemma</vt:lpstr>
      <vt:lpstr>Example: Pesticide choice</vt:lpstr>
      <vt:lpstr>Equilibrium in the pesticide game</vt:lpstr>
      <vt:lpstr>Why did we predict this outcome?</vt:lpstr>
      <vt:lpstr>Social Preferences and Free Riding</vt:lpstr>
      <vt:lpstr>Social preferences</vt:lpstr>
      <vt:lpstr>Learning about preferences</vt:lpstr>
      <vt:lpstr>Example: Public goods game</vt:lpstr>
      <vt:lpstr>Repeated games</vt:lpstr>
      <vt:lpstr>Reciprocity and social norms</vt:lpstr>
      <vt:lpstr>Peer punishment</vt:lpstr>
      <vt:lpstr>Social preferences and social dilemmas</vt:lpstr>
      <vt:lpstr>Conflicts of interest and Bargaining</vt:lpstr>
      <vt:lpstr>Introducing Nash equilibria</vt:lpstr>
      <vt:lpstr>Bargaining to resolve problems</vt:lpstr>
      <vt:lpstr>Conflicts over which equilibrium will occur</vt:lpstr>
      <vt:lpstr>Application: Global Climate Change Problem</vt:lpstr>
      <vt:lpstr>The climate change game…</vt:lpstr>
      <vt:lpstr>…as an example of a hawk-dove game</vt:lpstr>
      <vt:lpstr>Using public policy to change the game</vt:lpstr>
      <vt:lpstr>The economy and economics</vt:lpstr>
      <vt:lpstr>Summary</vt:lpstr>
      <vt:lpstr>In the next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Arthur Attwell</dc:creator>
  <cp:lastModifiedBy>Sounak Thakur</cp:lastModifiedBy>
  <cp:revision>17</cp:revision>
  <dcterms:created xsi:type="dcterms:W3CDTF">2017-10-09T10:02:31Z</dcterms:created>
  <dcterms:modified xsi:type="dcterms:W3CDTF">2025-01-21T07:26:31Z</dcterms:modified>
</cp:coreProperties>
</file>