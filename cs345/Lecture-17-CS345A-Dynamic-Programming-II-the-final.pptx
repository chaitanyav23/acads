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45"/>
  </p:notesMasterIdLst>
  <p:sldIdLst>
    <p:sldId id="539" r:id="rId2"/>
    <p:sldId id="527" r:id="rId3"/>
    <p:sldId id="506" r:id="rId4"/>
    <p:sldId id="565" r:id="rId5"/>
    <p:sldId id="507" r:id="rId6"/>
    <p:sldId id="501" r:id="rId7"/>
    <p:sldId id="485" r:id="rId8"/>
    <p:sldId id="548" r:id="rId9"/>
    <p:sldId id="549" r:id="rId10"/>
    <p:sldId id="502" r:id="rId11"/>
    <p:sldId id="508" r:id="rId12"/>
    <p:sldId id="566" r:id="rId13"/>
    <p:sldId id="550" r:id="rId14"/>
    <p:sldId id="551" r:id="rId15"/>
    <p:sldId id="552" r:id="rId16"/>
    <p:sldId id="557" r:id="rId17"/>
    <p:sldId id="558" r:id="rId18"/>
    <p:sldId id="559" r:id="rId19"/>
    <p:sldId id="560" r:id="rId20"/>
    <p:sldId id="495" r:id="rId21"/>
    <p:sldId id="562" r:id="rId22"/>
    <p:sldId id="564" r:id="rId23"/>
    <p:sldId id="567" r:id="rId24"/>
    <p:sldId id="561" r:id="rId25"/>
    <p:sldId id="509" r:id="rId26"/>
    <p:sldId id="510" r:id="rId27"/>
    <p:sldId id="511" r:id="rId28"/>
    <p:sldId id="512" r:id="rId29"/>
    <p:sldId id="568" r:id="rId30"/>
    <p:sldId id="517" r:id="rId31"/>
    <p:sldId id="518" r:id="rId32"/>
    <p:sldId id="569" r:id="rId33"/>
    <p:sldId id="519" r:id="rId34"/>
    <p:sldId id="546" r:id="rId35"/>
    <p:sldId id="532" r:id="rId36"/>
    <p:sldId id="545" r:id="rId37"/>
    <p:sldId id="544" r:id="rId38"/>
    <p:sldId id="580" r:id="rId39"/>
    <p:sldId id="536" r:id="rId40"/>
    <p:sldId id="665" r:id="rId41"/>
    <p:sldId id="666" r:id="rId42"/>
    <p:sldId id="667" r:id="rId43"/>
    <p:sldId id="668" r:id="rId4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56" autoAdjust="0"/>
    <p:restoredTop sz="94703" autoAdjust="0"/>
  </p:normalViewPr>
  <p:slideViewPr>
    <p:cSldViewPr>
      <p:cViewPr varScale="1">
        <p:scale>
          <a:sx n="106" d="100"/>
          <a:sy n="106" d="100"/>
        </p:scale>
        <p:origin x="175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9/10/2025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9/10/2025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9/10/2025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9/10/2025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9/10/2025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9/10/2025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.png"/><Relationship Id="rId8" Type="http://schemas.openxmlformats.org/officeDocument/2006/relationships/image" Target="../media/image70.png"/><Relationship Id="rId12" Type="http://schemas.openxmlformats.org/officeDocument/2006/relationships/image" Target="../media/image3.png"/><Relationship Id="rId7" Type="http://schemas.openxmlformats.org/officeDocument/2006/relationships/image" Target="../media/image60.png"/><Relationship Id="rId17" Type="http://schemas.openxmlformats.org/officeDocument/2006/relationships/image" Target="../media/image10.png"/><Relationship Id="rId2" Type="http://schemas.openxmlformats.org/officeDocument/2006/relationships/image" Target="../media/image111.png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11.png"/><Relationship Id="rId15" Type="http://schemas.openxmlformats.org/officeDocument/2006/relationships/image" Target="../media/image6.png"/><Relationship Id="rId10" Type="http://schemas.openxmlformats.org/officeDocument/2006/relationships/image" Target="../media/image9.png"/><Relationship Id="rId9" Type="http://schemas.openxmlformats.org/officeDocument/2006/relationships/image" Target="../media/image8.png"/><Relationship Id="rId1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210.png"/><Relationship Id="rId7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7.png"/><Relationship Id="rId4" Type="http://schemas.openxmlformats.org/officeDocument/2006/relationships/image" Target="../media/image3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210.png"/><Relationship Id="rId7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7.png"/><Relationship Id="rId4" Type="http://schemas.openxmlformats.org/officeDocument/2006/relationships/image" Target="../media/image3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210.png"/><Relationship Id="rId7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7.png"/><Relationship Id="rId10" Type="http://schemas.openxmlformats.org/officeDocument/2006/relationships/image" Target="../media/image12.png"/><Relationship Id="rId4" Type="http://schemas.openxmlformats.org/officeDocument/2006/relationships/image" Target="../media/image310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210.png"/><Relationship Id="rId7" Type="http://schemas.openxmlformats.org/officeDocument/2006/relationships/image" Target="../media/image6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47.png"/><Relationship Id="rId4" Type="http://schemas.openxmlformats.org/officeDocument/2006/relationships/image" Target="../media/image3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0.png"/><Relationship Id="rId7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7" Type="http://schemas.openxmlformats.org/officeDocument/2006/relationships/image" Target="../media/image18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7" Type="http://schemas.openxmlformats.org/officeDocument/2006/relationships/image" Target="../media/image18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7" Type="http://schemas.openxmlformats.org/officeDocument/2006/relationships/image" Target="../media/image18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7" Type="http://schemas.openxmlformats.org/officeDocument/2006/relationships/image" Target="../media/image18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7" Type="http://schemas.openxmlformats.org/officeDocument/2006/relationships/image" Target="../media/image18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0.png"/><Relationship Id="rId7" Type="http://schemas.openxmlformats.org/officeDocument/2006/relationships/image" Target="../media/image18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0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0.png"/><Relationship Id="rId9" Type="http://schemas.openxmlformats.org/officeDocument/2006/relationships/image" Target="../media/image19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0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0.png"/><Relationship Id="rId5" Type="http://schemas.openxmlformats.org/officeDocument/2006/relationships/image" Target="../media/image15.png"/><Relationship Id="rId10" Type="http://schemas.openxmlformats.org/officeDocument/2006/relationships/image" Target="../media/image21.png"/><Relationship Id="rId4" Type="http://schemas.openxmlformats.org/officeDocument/2006/relationships/image" Target="../media/image140.png"/><Relationship Id="rId9" Type="http://schemas.openxmlformats.org/officeDocument/2006/relationships/image" Target="../media/image19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image" Target="../media/image130.png"/><Relationship Id="rId21" Type="http://schemas.openxmlformats.org/officeDocument/2006/relationships/image" Target="../media/image20.png"/><Relationship Id="rId7" Type="http://schemas.openxmlformats.org/officeDocument/2006/relationships/image" Target="../media/image17.png"/><Relationship Id="rId12" Type="http://schemas.openxmlformats.org/officeDocument/2006/relationships/image" Target="../media/image21.png"/><Relationship Id="rId17" Type="http://schemas.openxmlformats.org/officeDocument/2006/relationships/image" Target="../media/image28.png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3.png"/><Relationship Id="rId5" Type="http://schemas.openxmlformats.org/officeDocument/2006/relationships/image" Target="../media/image15.png"/><Relationship Id="rId15" Type="http://schemas.openxmlformats.org/officeDocument/2006/relationships/image" Target="../media/image26.png"/><Relationship Id="rId23" Type="http://schemas.openxmlformats.org/officeDocument/2006/relationships/image" Target="../media/image33.png"/><Relationship Id="rId10" Type="http://schemas.openxmlformats.org/officeDocument/2006/relationships/image" Target="../media/image221.png"/><Relationship Id="rId19" Type="http://schemas.openxmlformats.org/officeDocument/2006/relationships/image" Target="../media/image30.png"/><Relationship Id="rId4" Type="http://schemas.openxmlformats.org/officeDocument/2006/relationships/image" Target="../media/image140.png"/><Relationship Id="rId9" Type="http://schemas.openxmlformats.org/officeDocument/2006/relationships/image" Target="../media/image191.png"/><Relationship Id="rId14" Type="http://schemas.openxmlformats.org/officeDocument/2006/relationships/image" Target="../media/image25.png"/><Relationship Id="rId22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0.png"/><Relationship Id="rId7" Type="http://schemas.openxmlformats.org/officeDocument/2006/relationships/image" Target="../media/image1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png"/><Relationship Id="rId13" Type="http://schemas.openxmlformats.org/officeDocument/2006/relationships/image" Target="../media/image360.png"/><Relationship Id="rId3" Type="http://schemas.openxmlformats.org/officeDocument/2006/relationships/image" Target="../media/image260.png"/><Relationship Id="rId7" Type="http://schemas.openxmlformats.org/officeDocument/2006/relationships/image" Target="../media/image300.png"/><Relationship Id="rId12" Type="http://schemas.openxmlformats.org/officeDocument/2006/relationships/image" Target="../media/image3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11" Type="http://schemas.openxmlformats.org/officeDocument/2006/relationships/image" Target="../media/image340.png"/><Relationship Id="rId5" Type="http://schemas.openxmlformats.org/officeDocument/2006/relationships/image" Target="../media/image280.png"/><Relationship Id="rId10" Type="http://schemas.openxmlformats.org/officeDocument/2006/relationships/image" Target="../media/image330.png"/><Relationship Id="rId4" Type="http://schemas.openxmlformats.org/officeDocument/2006/relationships/image" Target="../media/image270.png"/><Relationship Id="rId9" Type="http://schemas.openxmlformats.org/officeDocument/2006/relationships/image" Target="../media/image32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png"/><Relationship Id="rId13" Type="http://schemas.openxmlformats.org/officeDocument/2006/relationships/image" Target="../media/image360.png"/><Relationship Id="rId3" Type="http://schemas.openxmlformats.org/officeDocument/2006/relationships/image" Target="../media/image260.png"/><Relationship Id="rId7" Type="http://schemas.openxmlformats.org/officeDocument/2006/relationships/image" Target="../media/image300.png"/><Relationship Id="rId12" Type="http://schemas.openxmlformats.org/officeDocument/2006/relationships/image" Target="../media/image35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11" Type="http://schemas.openxmlformats.org/officeDocument/2006/relationships/image" Target="../media/image340.png"/><Relationship Id="rId5" Type="http://schemas.openxmlformats.org/officeDocument/2006/relationships/image" Target="../media/image280.png"/><Relationship Id="rId10" Type="http://schemas.openxmlformats.org/officeDocument/2006/relationships/image" Target="../media/image330.png"/><Relationship Id="rId4" Type="http://schemas.openxmlformats.org/officeDocument/2006/relationships/image" Target="../media/image270.png"/><Relationship Id="rId9" Type="http://schemas.openxmlformats.org/officeDocument/2006/relationships/image" Target="../media/image32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png"/><Relationship Id="rId13" Type="http://schemas.openxmlformats.org/officeDocument/2006/relationships/image" Target="../media/image360.png"/><Relationship Id="rId3" Type="http://schemas.openxmlformats.org/officeDocument/2006/relationships/image" Target="../media/image260.png"/><Relationship Id="rId7" Type="http://schemas.openxmlformats.org/officeDocument/2006/relationships/image" Target="../media/image300.png"/><Relationship Id="rId12" Type="http://schemas.openxmlformats.org/officeDocument/2006/relationships/image" Target="../media/image3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11" Type="http://schemas.openxmlformats.org/officeDocument/2006/relationships/image" Target="../media/image340.png"/><Relationship Id="rId5" Type="http://schemas.openxmlformats.org/officeDocument/2006/relationships/image" Target="../media/image280.png"/><Relationship Id="rId10" Type="http://schemas.openxmlformats.org/officeDocument/2006/relationships/image" Target="../media/image330.png"/><Relationship Id="rId4" Type="http://schemas.openxmlformats.org/officeDocument/2006/relationships/image" Target="../media/image270.png"/><Relationship Id="rId9" Type="http://schemas.openxmlformats.org/officeDocument/2006/relationships/image" Target="../media/image32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png"/><Relationship Id="rId13" Type="http://schemas.openxmlformats.org/officeDocument/2006/relationships/image" Target="../media/image360.png"/><Relationship Id="rId3" Type="http://schemas.openxmlformats.org/officeDocument/2006/relationships/image" Target="../media/image260.png"/><Relationship Id="rId7" Type="http://schemas.openxmlformats.org/officeDocument/2006/relationships/image" Target="../media/image300.png"/><Relationship Id="rId12" Type="http://schemas.openxmlformats.org/officeDocument/2006/relationships/image" Target="../media/image35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11" Type="http://schemas.openxmlformats.org/officeDocument/2006/relationships/image" Target="../media/image340.png"/><Relationship Id="rId5" Type="http://schemas.openxmlformats.org/officeDocument/2006/relationships/image" Target="../media/image280.png"/><Relationship Id="rId10" Type="http://schemas.openxmlformats.org/officeDocument/2006/relationships/image" Target="../media/image330.png"/><Relationship Id="rId4" Type="http://schemas.openxmlformats.org/officeDocument/2006/relationships/image" Target="../media/image270.png"/><Relationship Id="rId9" Type="http://schemas.openxmlformats.org/officeDocument/2006/relationships/image" Target="../media/image32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png"/><Relationship Id="rId13" Type="http://schemas.openxmlformats.org/officeDocument/2006/relationships/image" Target="../media/image390.png"/><Relationship Id="rId3" Type="http://schemas.openxmlformats.org/officeDocument/2006/relationships/image" Target="../media/image260.png"/><Relationship Id="rId7" Type="http://schemas.openxmlformats.org/officeDocument/2006/relationships/image" Target="../media/image300.png"/><Relationship Id="rId12" Type="http://schemas.openxmlformats.org/officeDocument/2006/relationships/image" Target="../media/image35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11" Type="http://schemas.openxmlformats.org/officeDocument/2006/relationships/image" Target="../media/image340.png"/><Relationship Id="rId5" Type="http://schemas.openxmlformats.org/officeDocument/2006/relationships/image" Target="../media/image280.png"/><Relationship Id="rId15" Type="http://schemas.openxmlformats.org/officeDocument/2006/relationships/image" Target="../media/image41.png"/><Relationship Id="rId10" Type="http://schemas.openxmlformats.org/officeDocument/2006/relationships/image" Target="../media/image330.png"/><Relationship Id="rId4" Type="http://schemas.openxmlformats.org/officeDocument/2006/relationships/image" Target="../media/image270.png"/><Relationship Id="rId9" Type="http://schemas.openxmlformats.org/officeDocument/2006/relationships/image" Target="../media/image320.png"/><Relationship Id="rId1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png"/><Relationship Id="rId13" Type="http://schemas.openxmlformats.org/officeDocument/2006/relationships/image" Target="../media/image380.png"/><Relationship Id="rId3" Type="http://schemas.openxmlformats.org/officeDocument/2006/relationships/image" Target="../media/image260.png"/><Relationship Id="rId7" Type="http://schemas.openxmlformats.org/officeDocument/2006/relationships/image" Target="../media/image300.png"/><Relationship Id="rId12" Type="http://schemas.openxmlformats.org/officeDocument/2006/relationships/image" Target="../media/image3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11" Type="http://schemas.openxmlformats.org/officeDocument/2006/relationships/image" Target="../media/image340.png"/><Relationship Id="rId5" Type="http://schemas.openxmlformats.org/officeDocument/2006/relationships/image" Target="../media/image280.png"/><Relationship Id="rId10" Type="http://schemas.openxmlformats.org/officeDocument/2006/relationships/image" Target="../media/image330.png"/><Relationship Id="rId4" Type="http://schemas.openxmlformats.org/officeDocument/2006/relationships/image" Target="../media/image270.png"/><Relationship Id="rId9" Type="http://schemas.openxmlformats.org/officeDocument/2006/relationships/image" Target="../media/image320.png"/><Relationship Id="rId14" Type="http://schemas.openxmlformats.org/officeDocument/2006/relationships/image" Target="../media/image37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png"/><Relationship Id="rId13" Type="http://schemas.openxmlformats.org/officeDocument/2006/relationships/image" Target="../media/image410.png"/><Relationship Id="rId3" Type="http://schemas.openxmlformats.org/officeDocument/2006/relationships/image" Target="../media/image260.png"/><Relationship Id="rId7" Type="http://schemas.openxmlformats.org/officeDocument/2006/relationships/image" Target="../media/image300.png"/><Relationship Id="rId12" Type="http://schemas.openxmlformats.org/officeDocument/2006/relationships/image" Target="../media/image3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11" Type="http://schemas.openxmlformats.org/officeDocument/2006/relationships/image" Target="../media/image340.png"/><Relationship Id="rId5" Type="http://schemas.openxmlformats.org/officeDocument/2006/relationships/image" Target="../media/image280.png"/><Relationship Id="rId10" Type="http://schemas.openxmlformats.org/officeDocument/2006/relationships/image" Target="../media/image330.png"/><Relationship Id="rId4" Type="http://schemas.openxmlformats.org/officeDocument/2006/relationships/image" Target="../media/image270.png"/><Relationship Id="rId9" Type="http://schemas.openxmlformats.org/officeDocument/2006/relationships/image" Target="../media/image320.png"/><Relationship Id="rId14" Type="http://schemas.openxmlformats.org/officeDocument/2006/relationships/image" Target="../media/image37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png"/><Relationship Id="rId13" Type="http://schemas.openxmlformats.org/officeDocument/2006/relationships/image" Target="../media/image380.png"/><Relationship Id="rId3" Type="http://schemas.openxmlformats.org/officeDocument/2006/relationships/image" Target="../media/image260.png"/><Relationship Id="rId7" Type="http://schemas.openxmlformats.org/officeDocument/2006/relationships/image" Target="../media/image300.png"/><Relationship Id="rId12" Type="http://schemas.openxmlformats.org/officeDocument/2006/relationships/image" Target="../media/image35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11" Type="http://schemas.openxmlformats.org/officeDocument/2006/relationships/image" Target="../media/image340.png"/><Relationship Id="rId5" Type="http://schemas.openxmlformats.org/officeDocument/2006/relationships/image" Target="../media/image280.png"/><Relationship Id="rId15" Type="http://schemas.openxmlformats.org/officeDocument/2006/relationships/image" Target="../media/image42.png"/><Relationship Id="rId10" Type="http://schemas.openxmlformats.org/officeDocument/2006/relationships/image" Target="../media/image330.png"/><Relationship Id="rId4" Type="http://schemas.openxmlformats.org/officeDocument/2006/relationships/image" Target="../media/image270.png"/><Relationship Id="rId9" Type="http://schemas.openxmlformats.org/officeDocument/2006/relationships/image" Target="../media/image320.png"/><Relationship Id="rId14" Type="http://schemas.openxmlformats.org/officeDocument/2006/relationships/image" Target="../media/image37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251.png"/><Relationship Id="rId3" Type="http://schemas.openxmlformats.org/officeDocument/2006/relationships/image" Target="../media/image213.png"/><Relationship Id="rId7" Type="http://schemas.openxmlformats.org/officeDocument/2006/relationships/image" Target="../media/image61.png"/><Relationship Id="rId12" Type="http://schemas.openxmlformats.org/officeDocument/2006/relationships/image" Target="../media/image241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.png"/><Relationship Id="rId11" Type="http://schemas.openxmlformats.org/officeDocument/2006/relationships/image" Target="../media/image231.png"/><Relationship Id="rId5" Type="http://schemas.openxmlformats.org/officeDocument/2006/relationships/image" Target="../media/image400.png"/><Relationship Id="rId10" Type="http://schemas.openxmlformats.org/officeDocument/2006/relationships/image" Target="../media/image222.png"/><Relationship Id="rId4" Type="http://schemas.openxmlformats.org/officeDocument/2006/relationships/image" Target="../media/image3000.png"/><Relationship Id="rId9" Type="http://schemas.openxmlformats.org/officeDocument/2006/relationships/image" Target="../media/image200.png"/><Relationship Id="rId14" Type="http://schemas.openxmlformats.org/officeDocument/2006/relationships/image" Target="../media/image262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2.png"/><Relationship Id="rId13" Type="http://schemas.openxmlformats.org/officeDocument/2006/relationships/image" Target="../media/image251.png"/><Relationship Id="rId3" Type="http://schemas.openxmlformats.org/officeDocument/2006/relationships/image" Target="../media/image3000.png"/><Relationship Id="rId7" Type="http://schemas.openxmlformats.org/officeDocument/2006/relationships/image" Target="../media/image71.png"/><Relationship Id="rId12" Type="http://schemas.openxmlformats.org/officeDocument/2006/relationships/image" Target="../media/image241.png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231.png"/><Relationship Id="rId5" Type="http://schemas.openxmlformats.org/officeDocument/2006/relationships/image" Target="../media/image500.png"/><Relationship Id="rId10" Type="http://schemas.openxmlformats.org/officeDocument/2006/relationships/image" Target="../media/image222.png"/><Relationship Id="rId4" Type="http://schemas.openxmlformats.org/officeDocument/2006/relationships/image" Target="../media/image400.png"/><Relationship Id="rId9" Type="http://schemas.openxmlformats.org/officeDocument/2006/relationships/image" Target="../media/image20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13" Type="http://schemas.openxmlformats.org/officeDocument/2006/relationships/image" Target="../media/image2100.png"/><Relationship Id="rId18" Type="http://schemas.openxmlformats.org/officeDocument/2006/relationships/image" Target="../media/image80.png"/><Relationship Id="rId3" Type="http://schemas.openxmlformats.org/officeDocument/2006/relationships/image" Target="../media/image90.png"/><Relationship Id="rId21" Type="http://schemas.openxmlformats.org/officeDocument/2006/relationships/image" Target="../media/image113.png"/><Relationship Id="rId7" Type="http://schemas.openxmlformats.org/officeDocument/2006/relationships/image" Target="../media/image213.png"/><Relationship Id="rId12" Type="http://schemas.openxmlformats.org/officeDocument/2006/relationships/image" Target="../media/image170.png"/><Relationship Id="rId17" Type="http://schemas.openxmlformats.org/officeDocument/2006/relationships/image" Target="../media/image72.png"/><Relationship Id="rId2" Type="http://schemas.openxmlformats.org/officeDocument/2006/relationships/image" Target="../media/image313.png"/><Relationship Id="rId16" Type="http://schemas.openxmlformats.org/officeDocument/2006/relationships/image" Target="../media/image62.png"/><Relationship Id="rId20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60.png"/><Relationship Id="rId6" Type="http://schemas.openxmlformats.org/officeDocument/2006/relationships/image" Target="../media/image1200.png"/><Relationship Id="rId24" Type="http://schemas.openxmlformats.org/officeDocument/2006/relationships/image" Target="../media/image142.png"/><Relationship Id="rId5" Type="http://schemas.openxmlformats.org/officeDocument/2006/relationships/image" Target="../media/image110.png"/><Relationship Id="rId15" Type="http://schemas.openxmlformats.org/officeDocument/2006/relationships/image" Target="../media/image51.png"/><Relationship Id="rId23" Type="http://schemas.openxmlformats.org/officeDocument/2006/relationships/image" Target="../media/image133.png"/><Relationship Id="rId10" Type="http://schemas.openxmlformats.org/officeDocument/2006/relationships/image" Target="../media/image150.png"/><Relationship Id="rId19" Type="http://schemas.openxmlformats.org/officeDocument/2006/relationships/image" Target="../media/image91.png"/><Relationship Id="rId9" Type="http://schemas.openxmlformats.org/officeDocument/2006/relationships/image" Target="../media/image141.png"/><Relationship Id="rId4" Type="http://schemas.openxmlformats.org/officeDocument/2006/relationships/image" Target="../media/image100.png"/><Relationship Id="rId14" Type="http://schemas.openxmlformats.org/officeDocument/2006/relationships/image" Target="../media/image43.png"/><Relationship Id="rId22" Type="http://schemas.openxmlformats.org/officeDocument/2006/relationships/image" Target="../media/image121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13" Type="http://schemas.openxmlformats.org/officeDocument/2006/relationships/image" Target="../media/image2100.png"/><Relationship Id="rId7" Type="http://schemas.openxmlformats.org/officeDocument/2006/relationships/image" Target="../media/image213.png"/><Relationship Id="rId12" Type="http://schemas.openxmlformats.org/officeDocument/2006/relationships/image" Target="../media/image17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60.png"/><Relationship Id="rId10" Type="http://schemas.openxmlformats.org/officeDocument/2006/relationships/image" Target="../media/image150.png"/><Relationship Id="rId9" Type="http://schemas.openxmlformats.org/officeDocument/2006/relationships/image" Target="../media/image14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13" Type="http://schemas.openxmlformats.org/officeDocument/2006/relationships/image" Target="../media/image2100.png"/><Relationship Id="rId3" Type="http://schemas.openxmlformats.org/officeDocument/2006/relationships/image" Target="../media/image90.png"/><Relationship Id="rId7" Type="http://schemas.openxmlformats.org/officeDocument/2006/relationships/image" Target="../media/image213.png"/><Relationship Id="rId12" Type="http://schemas.openxmlformats.org/officeDocument/2006/relationships/image" Target="../media/image170.png"/><Relationship Id="rId2" Type="http://schemas.openxmlformats.org/officeDocument/2006/relationships/image" Target="../media/image4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0.png"/><Relationship Id="rId11" Type="http://schemas.openxmlformats.org/officeDocument/2006/relationships/image" Target="../media/image160.png"/><Relationship Id="rId5" Type="http://schemas.openxmlformats.org/officeDocument/2006/relationships/image" Target="../media/image110.png"/><Relationship Id="rId10" Type="http://schemas.openxmlformats.org/officeDocument/2006/relationships/image" Target="../media/image150.png"/><Relationship Id="rId4" Type="http://schemas.openxmlformats.org/officeDocument/2006/relationships/image" Target="../media/image100.png"/><Relationship Id="rId9" Type="http://schemas.openxmlformats.org/officeDocument/2006/relationships/image" Target="../media/image141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13" Type="http://schemas.openxmlformats.org/officeDocument/2006/relationships/image" Target="../media/image2100.png"/><Relationship Id="rId3" Type="http://schemas.openxmlformats.org/officeDocument/2006/relationships/image" Target="../media/image90.png"/><Relationship Id="rId7" Type="http://schemas.openxmlformats.org/officeDocument/2006/relationships/image" Target="../media/image213.png"/><Relationship Id="rId12" Type="http://schemas.openxmlformats.org/officeDocument/2006/relationships/image" Target="../media/image170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0.png"/><Relationship Id="rId11" Type="http://schemas.openxmlformats.org/officeDocument/2006/relationships/image" Target="../media/image160.png"/><Relationship Id="rId5" Type="http://schemas.openxmlformats.org/officeDocument/2006/relationships/image" Target="../media/image110.png"/><Relationship Id="rId10" Type="http://schemas.openxmlformats.org/officeDocument/2006/relationships/image" Target="../media/image150.png"/><Relationship Id="rId4" Type="http://schemas.openxmlformats.org/officeDocument/2006/relationships/image" Target="../media/image100.png"/><Relationship Id="rId9" Type="http://schemas.openxmlformats.org/officeDocument/2006/relationships/image" Target="../media/image1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and Analysis of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499848"/>
            <a:ext cx="7239000" cy="16002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b="1" dirty="0">
                <a:solidFill>
                  <a:srgbClr val="C00000"/>
                </a:solidFill>
              </a:rPr>
              <a:t>Lecture 17</a:t>
            </a:r>
            <a:endParaRPr lang="en-US" sz="2400" b="1" dirty="0">
              <a:solidFill>
                <a:srgbClr val="0070C0"/>
              </a:solidFill>
            </a:endParaRPr>
          </a:p>
          <a:p>
            <a:pPr algn="l" fontAlgn="auto">
              <a:spcAft>
                <a:spcPts val="0"/>
              </a:spcAft>
              <a:defRPr/>
            </a:pPr>
            <a:r>
              <a:rPr lang="en-US" sz="1200" b="1" dirty="0">
                <a:solidFill>
                  <a:srgbClr val="0070C0"/>
                </a:solidFill>
              </a:rPr>
              <a:t>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7030A0"/>
                </a:solidFill>
              </a:rPr>
              <a:t>Dynamic Programming - II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F4FD3-5535-4BD2-8147-A67FFD5F22D1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438400" y="3062734"/>
            <a:ext cx="4267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002060"/>
                </a:solidFill>
              </a:rPr>
              <a:t>                 CS345</a:t>
            </a:r>
            <a:endParaRPr lang="en-US" sz="28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9127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FBA22F-6FC8-5D42-8AC5-A912A180A4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Recap</a:t>
            </a:r>
            <a:r>
              <a:rPr lang="en-US" b="1" dirty="0"/>
              <a:t> of the last lecture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48C61D0-144A-944F-BA18-148FCC6642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9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DBDB6FF-FCCE-BD70-FE05-3467B22CF98E}"/>
              </a:ext>
            </a:extLst>
          </p:cNvPr>
          <p:cNvSpPr/>
          <p:nvPr/>
        </p:nvSpPr>
        <p:spPr>
          <a:xfrm>
            <a:off x="3177225" y="1454064"/>
            <a:ext cx="2820649" cy="68493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0070C0"/>
                </a:solidFill>
              </a:rPr>
              <a:t>Overview </a:t>
            </a:r>
            <a:r>
              <a:rPr lang="en-US" sz="2800" b="1" dirty="0"/>
              <a:t>of </a:t>
            </a:r>
            <a:r>
              <a:rPr lang="en-US" sz="2800" b="1" dirty="0">
                <a:solidFill>
                  <a:srgbClr val="7030A0"/>
                </a:solidFill>
              </a:rPr>
              <a:t>Dynamic </a:t>
            </a:r>
            <a:r>
              <a:rPr lang="en-US" sz="2800" b="1" dirty="0" err="1">
                <a:solidFill>
                  <a:srgbClr val="7030A0"/>
                </a:solidFill>
              </a:rPr>
              <a:t>Progrmming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dirty="0"/>
              <a:t>Paradigm.</a:t>
            </a:r>
            <a:br>
              <a:rPr lang="en-US" sz="2800" b="1" dirty="0"/>
            </a:br>
            <a:endParaRPr lang="en-US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429000" y="1600200"/>
            <a:ext cx="2317814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Recursive Formulation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6301" y="2450459"/>
            <a:ext cx="2102499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Recursive 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3909" y="3276600"/>
            <a:ext cx="1807995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Exponential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90659" y="3163669"/>
            <a:ext cx="2179828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Polynomial no. </a:t>
            </a:r>
            <a:r>
              <a:rPr lang="en-US" b="1" dirty="0"/>
              <a:t>of </a:t>
            </a:r>
          </a:p>
          <a:p>
            <a:r>
              <a:rPr lang="en-US" b="1" dirty="0"/>
              <a:t>distinct </a:t>
            </a:r>
            <a:r>
              <a:rPr lang="en-US" b="1" dirty="0" err="1"/>
              <a:t>subproblems</a:t>
            </a:r>
            <a:endParaRPr lang="en-US" b="1" dirty="0"/>
          </a:p>
        </p:txBody>
      </p:sp>
      <p:sp>
        <p:nvSpPr>
          <p:cNvPr id="10" name="Line Callout 2 9"/>
          <p:cNvSpPr/>
          <p:nvPr/>
        </p:nvSpPr>
        <p:spPr>
          <a:xfrm>
            <a:off x="3124200" y="3895213"/>
            <a:ext cx="2895600" cy="644523"/>
          </a:xfrm>
          <a:prstGeom prst="borderCallout2">
            <a:avLst>
              <a:gd name="adj1" fmla="val 49151"/>
              <a:gd name="adj2" fmla="val -1501"/>
              <a:gd name="adj3" fmla="val 48840"/>
              <a:gd name="adj4" fmla="val -52"/>
              <a:gd name="adj5" fmla="val 43121"/>
              <a:gd name="adj6" fmla="val 11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Cause of exponential time:</a:t>
            </a:r>
          </a:p>
          <a:p>
            <a:pPr algn="ctr"/>
            <a:r>
              <a:rPr lang="en-US" sz="1600" dirty="0">
                <a:solidFill>
                  <a:srgbClr val="C00000"/>
                </a:solidFill>
              </a:rPr>
              <a:t>Overlap </a:t>
            </a:r>
            <a:r>
              <a:rPr lang="en-US" sz="1600" dirty="0">
                <a:solidFill>
                  <a:schemeClr val="tx1"/>
                </a:solidFill>
              </a:rPr>
              <a:t>in</a:t>
            </a:r>
            <a:r>
              <a:rPr lang="en-US" sz="1600" dirty="0">
                <a:solidFill>
                  <a:srgbClr val="C00000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subProblems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61590" y="5193268"/>
            <a:ext cx="2153410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Bottom up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4200" y="6031468"/>
            <a:ext cx="303525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A Polynomial time algorithm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411655" y="1969532"/>
            <a:ext cx="315659" cy="48092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/>
          <p:cNvSpPr/>
          <p:nvPr/>
        </p:nvSpPr>
        <p:spPr>
          <a:xfrm>
            <a:off x="4419600" y="2819401"/>
            <a:ext cx="315659" cy="457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/>
          <p:cNvSpPr/>
          <p:nvPr/>
        </p:nvSpPr>
        <p:spPr>
          <a:xfrm rot="16200000">
            <a:off x="6017123" y="2816720"/>
            <a:ext cx="315660" cy="13660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own Arrow 16"/>
          <p:cNvSpPr/>
          <p:nvPr/>
        </p:nvSpPr>
        <p:spPr>
          <a:xfrm>
            <a:off x="4408741" y="4539734"/>
            <a:ext cx="315659" cy="6418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/>
          <p:cNvSpPr/>
          <p:nvPr/>
        </p:nvSpPr>
        <p:spPr>
          <a:xfrm>
            <a:off x="4419600" y="5562600"/>
            <a:ext cx="315659" cy="46886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Bent-Up Arrow 18"/>
          <p:cNvSpPr/>
          <p:nvPr/>
        </p:nvSpPr>
        <p:spPr>
          <a:xfrm rot="16200000" flipH="1">
            <a:off x="6683635" y="3146168"/>
            <a:ext cx="729736" cy="205740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590800" y="990600"/>
            <a:ext cx="451008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From </a:t>
            </a:r>
            <a:r>
              <a:rPr lang="en-US" b="1" dirty="0">
                <a:solidFill>
                  <a:srgbClr val="C00000"/>
                </a:solidFill>
              </a:rPr>
              <a:t>Longest common subsequence </a:t>
            </a:r>
            <a:r>
              <a:rPr lang="en-US" dirty="0"/>
              <a:t>problem</a:t>
            </a:r>
          </a:p>
        </p:txBody>
      </p:sp>
      <p:sp>
        <p:nvSpPr>
          <p:cNvPr id="21" name="Cloud Callout 2">
            <a:extLst>
              <a:ext uri="{FF2B5EF4-FFF2-40B4-BE49-F238E27FC236}">
                <a16:creationId xmlns:a16="http://schemas.microsoft.com/office/drawing/2014/main" id="{EC3C981B-F512-2858-EFC2-A7CACDF93936}"/>
              </a:ext>
            </a:extLst>
          </p:cNvPr>
          <p:cNvSpPr/>
          <p:nvPr/>
        </p:nvSpPr>
        <p:spPr>
          <a:xfrm>
            <a:off x="-152399" y="2819402"/>
            <a:ext cx="3713990" cy="1075812"/>
          </a:xfrm>
          <a:prstGeom prst="cloudCallout">
            <a:avLst>
              <a:gd name="adj1" fmla="val -29690"/>
              <a:gd name="adj2" fmla="val 85901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is the most </a:t>
            </a:r>
            <a:r>
              <a:rPr lang="en-US" b="1" u="sng" dirty="0">
                <a:solidFill>
                  <a:schemeClr val="tx1"/>
                </a:solidFill>
              </a:rPr>
              <a:t>nontrivial step </a:t>
            </a:r>
            <a:r>
              <a:rPr lang="en-US" dirty="0">
                <a:solidFill>
                  <a:schemeClr val="tx1"/>
                </a:solidFill>
              </a:rPr>
              <a:t>among these ?</a:t>
            </a:r>
          </a:p>
        </p:txBody>
      </p:sp>
    </p:spTree>
    <p:extLst>
      <p:ext uri="{BB962C8B-B14F-4D97-AF65-F5344CB8AC3E}">
        <p14:creationId xmlns:p14="http://schemas.microsoft.com/office/powerpoint/2010/main" val="594371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5" grpId="0" animBg="1"/>
      <p:bldP spid="21" grpId="0" animBg="1"/>
      <p:bldP spid="21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AE576-E1CF-E26C-8A53-2FE2AC097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1F2196-CFB9-5A2F-81E8-F4FEDF55F6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6868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/>
                  <a:t>Recursive term</a:t>
                </a:r>
                <a:endParaRPr lang="en-IN" sz="2400" b="1" dirty="0"/>
              </a:p>
              <a:p>
                <a:pPr marL="0" indent="0">
                  <a:buNone/>
                </a:pPr>
                <a:r>
                  <a:rPr lang="en-US" sz="2400" i="1" dirty="0">
                    <a:solidFill>
                      <a:srgbClr val="C00000"/>
                    </a:solidFill>
                    <a:latin typeface="Cambria Math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,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/>
                  <a:t>) 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000" dirty="0"/>
                  <a:t>It was easy to come up with this </a:t>
                </a:r>
                <a:r>
                  <a:rPr lang="en-US" sz="2000" b="1" dirty="0"/>
                  <a:t>term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However, it is not always so easy to come up with the </a:t>
                </a:r>
                <a:r>
                  <a:rPr lang="en-US" sz="2000" b="1" dirty="0"/>
                  <a:t>recursive term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So you need to be </a:t>
                </a:r>
                <a:r>
                  <a:rPr lang="en-US" sz="2000" u="sng" dirty="0"/>
                  <a:t>creative</a:t>
                </a:r>
                <a:r>
                  <a:rPr lang="en-US" sz="2000" dirty="0"/>
                  <a:t> and use your </a:t>
                </a:r>
                <a:r>
                  <a:rPr lang="en-US" sz="2000" u="sng" dirty="0"/>
                  <a:t>analytic skills</a:t>
                </a:r>
                <a:r>
                  <a:rPr lang="en-US" sz="2000" dirty="0"/>
                  <a:t> to design </a:t>
                </a:r>
                <a:r>
                  <a:rPr lang="en-US" sz="2000" b="1" dirty="0"/>
                  <a:t>recursive term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Today’s lecture will address two such problems. </a:t>
                </a:r>
                <a:r>
                  <a:rPr lang="en-US" sz="2000" dirty="0">
                    <a:sym typeface="Wingdings" panose="05000000000000000000" pitchFamily="2" charset="2"/>
                  </a:rPr>
                  <a:t>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1F2196-CFB9-5A2F-81E8-F4FEDF55F6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686800" cy="4525963"/>
              </a:xfrm>
              <a:blipFill>
                <a:blip r:embed="rId2"/>
                <a:stretch>
                  <a:fillRect l="-1053" t="-10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53797-BB1D-CD19-12DD-D887C80F2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439AC7-FCA8-4B6D-4BF1-921CC6198794}"/>
              </a:ext>
            </a:extLst>
          </p:cNvPr>
          <p:cNvSpPr txBox="1"/>
          <p:nvPr/>
        </p:nvSpPr>
        <p:spPr>
          <a:xfrm>
            <a:off x="2590800" y="990600"/>
            <a:ext cx="451008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From </a:t>
            </a:r>
            <a:r>
              <a:rPr lang="en-US" b="1" dirty="0">
                <a:solidFill>
                  <a:srgbClr val="C00000"/>
                </a:solidFill>
              </a:rPr>
              <a:t>Longest common subsequence </a:t>
            </a:r>
            <a:r>
              <a:rPr lang="en-US" dirty="0"/>
              <a:t>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643FC75-35BC-B25F-E79F-265EB78AB975}"/>
                  </a:ext>
                </a:extLst>
              </p:cNvPr>
              <p:cNvSpPr txBox="1"/>
              <p:nvPr/>
            </p:nvSpPr>
            <p:spPr>
              <a:xfrm>
                <a:off x="2093061" y="2075894"/>
                <a:ext cx="482593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 : The length of LCS of </a:t>
                </a:r>
                <a:r>
                  <a:rPr lang="en-US" sz="2000" b="1" dirty="0"/>
                  <a:t>A</a:t>
                </a:r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1..</m:t>
                    </m:r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 and </a:t>
                </a:r>
                <a:r>
                  <a:rPr lang="en-US" sz="2000" b="1" dirty="0"/>
                  <a:t>B</a:t>
                </a:r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1..</m:t>
                    </m:r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643FC75-35BC-B25F-E79F-265EB78AB9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3061" y="2075894"/>
                <a:ext cx="4825937" cy="400110"/>
              </a:xfrm>
              <a:prstGeom prst="rect">
                <a:avLst/>
              </a:prstGeom>
              <a:blipFill>
                <a:blip r:embed="rId3"/>
                <a:stretch>
                  <a:fillRect l="-126" t="-9231" b="-276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E01894D-ECF5-6E1B-977C-CC608911600E}"/>
              </a:ext>
            </a:extLst>
          </p:cNvPr>
          <p:cNvSpPr txBox="1"/>
          <p:nvPr/>
        </p:nvSpPr>
        <p:spPr>
          <a:xfrm>
            <a:off x="4413373" y="2895600"/>
            <a:ext cx="44258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sz="2000" dirty="0"/>
              <a:t>because of </a:t>
            </a:r>
            <a:r>
              <a:rPr lang="en-US" sz="2000" u="sng" dirty="0"/>
              <a:t>linear structure </a:t>
            </a:r>
            <a:r>
              <a:rPr lang="en-US" sz="2000" dirty="0"/>
              <a:t>of sequence. </a:t>
            </a:r>
          </a:p>
        </p:txBody>
      </p:sp>
    </p:spTree>
    <p:extLst>
      <p:ext uri="{BB962C8B-B14F-4D97-AF65-F5344CB8AC3E}">
        <p14:creationId xmlns:p14="http://schemas.microsoft.com/office/powerpoint/2010/main" val="625616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1828800"/>
            <a:ext cx="7772400" cy="1362075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rgbClr val="7030A0"/>
                </a:solidFill>
              </a:rPr>
              <a:t>OPTMAL Triangulation </a:t>
            </a:r>
            <a:r>
              <a:rPr lang="en-US" sz="3200" dirty="0"/>
              <a:t>of</a:t>
            </a:r>
            <a:r>
              <a:rPr lang="en-US" sz="3200" dirty="0">
                <a:solidFill>
                  <a:srgbClr val="7030A0"/>
                </a:solidFill>
              </a:rPr>
              <a:t> </a:t>
            </a:r>
            <a:br>
              <a:rPr lang="en-US" sz="3200" dirty="0">
                <a:solidFill>
                  <a:srgbClr val="7030A0"/>
                </a:solidFill>
              </a:rPr>
            </a:br>
            <a:r>
              <a:rPr lang="en-US" sz="3200" dirty="0">
                <a:solidFill>
                  <a:srgbClr val="0070C0"/>
                </a:solidFill>
              </a:rPr>
              <a:t>a CONVEX POLYGON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046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</a:rPr>
              <a:t>Convex polygon</a:t>
            </a:r>
            <a:br>
              <a:rPr lang="en-US" sz="3200" b="1" dirty="0">
                <a:solidFill>
                  <a:srgbClr val="0070C0"/>
                </a:solidFill>
              </a:rPr>
            </a:br>
            <a:endParaRPr lang="en-US" sz="32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229600" cy="55626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Representation: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  <a:r>
                  <a:rPr lang="en-US" sz="2000" dirty="0"/>
                  <a:t>  </a:t>
                </a:r>
              </a:p>
              <a:p>
                <a:pPr marL="0" indent="0">
                  <a:buNone/>
                </a:pPr>
                <a:r>
                  <a:rPr lang="en-US" sz="2000" dirty="0"/>
                  <a:t>How to store: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&lt;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&gt; :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229600" cy="5562600"/>
              </a:xfrm>
              <a:blipFill rotWithShape="1">
                <a:blip r:embed="rId2"/>
                <a:stretch>
                  <a:fillRect l="-741" t="-548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2438400" y="2057400"/>
            <a:ext cx="3962400" cy="3581400"/>
            <a:chOff x="2362200" y="2057400"/>
            <a:chExt cx="3962400" cy="3581400"/>
          </a:xfrm>
        </p:grpSpPr>
        <p:cxnSp>
          <p:nvCxnSpPr>
            <p:cNvPr id="34" name="Straight Connector 33"/>
            <p:cNvCxnSpPr/>
            <p:nvPr/>
          </p:nvCxnSpPr>
          <p:spPr>
            <a:xfrm flipH="1" flipV="1">
              <a:off x="2362200" y="3562350"/>
              <a:ext cx="457200" cy="13906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Group 45"/>
            <p:cNvGrpSpPr/>
            <p:nvPr/>
          </p:nvGrpSpPr>
          <p:grpSpPr>
            <a:xfrm>
              <a:off x="2362200" y="2057400"/>
              <a:ext cx="3962400" cy="3581400"/>
              <a:chOff x="2362200" y="2057400"/>
              <a:chExt cx="3962400" cy="3581400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3733800" y="5638800"/>
                <a:ext cx="16002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 flipH="1">
                <a:off x="5334000" y="4876800"/>
                <a:ext cx="762000" cy="76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H="1">
                <a:off x="6096000" y="3886200"/>
                <a:ext cx="228600" cy="990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5867400" y="2514600"/>
                <a:ext cx="457200" cy="1371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4953000" y="2057400"/>
                <a:ext cx="914400" cy="4572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flipV="1">
                <a:off x="2895600" y="2057400"/>
                <a:ext cx="2057400" cy="5334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flipV="1">
                <a:off x="2362200" y="2590800"/>
                <a:ext cx="533400" cy="990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 flipH="1" flipV="1">
                <a:off x="2819400" y="4953000"/>
                <a:ext cx="914400" cy="6858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3" name="Straight Connector 12"/>
          <p:cNvCxnSpPr/>
          <p:nvPr/>
        </p:nvCxnSpPr>
        <p:spPr>
          <a:xfrm>
            <a:off x="3718787" y="3352800"/>
            <a:ext cx="2224813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3509174" y="3276600"/>
            <a:ext cx="2510626" cy="1131332"/>
            <a:chOff x="3509174" y="3276600"/>
            <a:chExt cx="2510626" cy="1131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ctangle 37"/>
                <p:cNvSpPr/>
                <p:nvPr/>
              </p:nvSpPr>
              <p:spPr>
                <a:xfrm>
                  <a:off x="3509174" y="3276600"/>
                  <a:ext cx="37702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𝒒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Rectangle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9174" y="3276600"/>
                  <a:ext cx="377026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8333" r="-20968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39"/>
                <p:cNvSpPr/>
                <p:nvPr/>
              </p:nvSpPr>
              <p:spPr>
                <a:xfrm>
                  <a:off x="5658804" y="4038600"/>
                  <a:ext cx="36099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0" name="Rectangle 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8804" y="4038600"/>
                  <a:ext cx="360996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8333" r="-21667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Oval 14"/>
            <p:cNvSpPr/>
            <p:nvPr/>
          </p:nvSpPr>
          <p:spPr>
            <a:xfrm>
              <a:off x="3657600" y="330708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5943600" y="406908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800600" y="1611868"/>
            <a:ext cx="2014775" cy="4320064"/>
            <a:chOff x="4800600" y="1611868"/>
            <a:chExt cx="2014775" cy="43200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angle 31"/>
                <p:cNvSpPr/>
                <p:nvPr/>
              </p:nvSpPr>
              <p:spPr>
                <a:xfrm>
                  <a:off x="5224225" y="5562600"/>
                  <a:ext cx="49077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𝒑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Rectangle 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4225" y="5562600"/>
                  <a:ext cx="490775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t="-8333" r="-1481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/>
                <p:cNvSpPr/>
                <p:nvPr/>
              </p:nvSpPr>
              <p:spPr>
                <a:xfrm>
                  <a:off x="6096000" y="4648200"/>
                  <a:ext cx="49077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𝒑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Rectangle 3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4648200"/>
                  <a:ext cx="490775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8333" r="-1481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/>
                <p:cNvSpPr/>
                <p:nvPr/>
              </p:nvSpPr>
              <p:spPr>
                <a:xfrm>
                  <a:off x="6324600" y="3657600"/>
                  <a:ext cx="49077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𝒑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Rectangle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4600" y="3657600"/>
                  <a:ext cx="490775" cy="36933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t="-8197" r="-1625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/>
                <p:cNvSpPr/>
                <p:nvPr/>
              </p:nvSpPr>
              <p:spPr>
                <a:xfrm>
                  <a:off x="4800600" y="1611868"/>
                  <a:ext cx="45230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𝒑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Rectangle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0600" y="1611868"/>
                  <a:ext cx="452303" cy="36933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t="-8197" r="-175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Freeform 38"/>
            <p:cNvSpPr/>
            <p:nvPr/>
          </p:nvSpPr>
          <p:spPr>
            <a:xfrm>
              <a:off x="5791200" y="2133600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981200" y="6157579"/>
                <a:ext cx="3706592" cy="395621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Polygon consisting of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6157579"/>
                <a:ext cx="3706592" cy="395621"/>
              </a:xfrm>
              <a:prstGeom prst="rect">
                <a:avLst/>
              </a:prstGeom>
              <a:blipFill rotWithShape="1">
                <a:blip r:embed="rId15"/>
                <a:stretch>
                  <a:fillRect l="-1316" t="-6154" r="-1809"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209800" y="990600"/>
                <a:ext cx="1412438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&lt;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&gt;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990600"/>
                <a:ext cx="1412438" cy="369332"/>
              </a:xfrm>
              <a:prstGeom prst="rect">
                <a:avLst/>
              </a:prstGeom>
              <a:blipFill rotWithShape="1">
                <a:blip r:embed="rId16"/>
                <a:stretch>
                  <a:fillRect l="-3896" t="-8333" r="-6494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1981200" y="1359932"/>
            <a:ext cx="683777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Array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1828800" y="2167054"/>
            <a:ext cx="2139383" cy="3764878"/>
            <a:chOff x="1828800" y="2167054"/>
            <a:chExt cx="2139383" cy="3764878"/>
          </a:xfrm>
        </p:grpSpPr>
        <p:grpSp>
          <p:nvGrpSpPr>
            <p:cNvPr id="9" name="Group 8"/>
            <p:cNvGrpSpPr/>
            <p:nvPr/>
          </p:nvGrpSpPr>
          <p:grpSpPr>
            <a:xfrm>
              <a:off x="2326392" y="2167054"/>
              <a:ext cx="1641791" cy="3764878"/>
              <a:chOff x="2326392" y="2167054"/>
              <a:chExt cx="1641791" cy="3764878"/>
            </a:xfrm>
          </p:grpSpPr>
          <p:grpSp>
            <p:nvGrpSpPr>
              <p:cNvPr id="3" name="Group 2"/>
              <p:cNvGrpSpPr/>
              <p:nvPr/>
            </p:nvGrpSpPr>
            <p:grpSpPr>
              <a:xfrm>
                <a:off x="2326392" y="4888468"/>
                <a:ext cx="1641791" cy="1043464"/>
                <a:chOff x="2326392" y="4888468"/>
                <a:chExt cx="1641791" cy="104346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Rectangle 21"/>
                    <p:cNvSpPr/>
                    <p:nvPr/>
                  </p:nvSpPr>
                  <p:spPr>
                    <a:xfrm>
                      <a:off x="2326392" y="4888468"/>
                      <a:ext cx="721608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𝒑</m:t>
                                </m:r>
                              </m:e>
                              <m:sub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𝒏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2" name="Rectangle 21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26392" y="4888468"/>
                      <a:ext cx="721608" cy="369332"/>
                    </a:xfrm>
                    <a:prstGeom prst="rect">
                      <a:avLst/>
                    </a:prstGeom>
                    <a:blipFill rotWithShape="1">
                      <a:blip r:embed="rId7"/>
                      <a:stretch>
                        <a:fillRect t="-8197" r="-11017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Rectangle 23"/>
                    <p:cNvSpPr/>
                    <p:nvPr/>
                  </p:nvSpPr>
                  <p:spPr>
                    <a:xfrm>
                      <a:off x="3469392" y="5562600"/>
                      <a:ext cx="498791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𝒑</m:t>
                                </m:r>
                              </m:e>
                              <m:sub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𝒏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4" name="Rectangle 23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69392" y="5562600"/>
                      <a:ext cx="498791" cy="369332"/>
                    </a:xfrm>
                    <a:prstGeom prst="rect">
                      <a:avLst/>
                    </a:prstGeom>
                    <a:blipFill rotWithShape="1">
                      <a:blip r:embed="rId8"/>
                      <a:stretch>
                        <a:fillRect t="-8333" r="-15854" b="-2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25" name="Freeform 24"/>
              <p:cNvSpPr/>
              <p:nvPr/>
            </p:nvSpPr>
            <p:spPr>
              <a:xfrm rot="16200000">
                <a:off x="2559011" y="2118068"/>
                <a:ext cx="642257" cy="740229"/>
              </a:xfrm>
              <a:custGeom>
                <a:avLst/>
                <a:gdLst>
                  <a:gd name="connsiteX0" fmla="*/ 0 w 642257"/>
                  <a:gd name="connsiteY0" fmla="*/ 0 h 740229"/>
                  <a:gd name="connsiteX1" fmla="*/ 348343 w 642257"/>
                  <a:gd name="connsiteY1" fmla="*/ 228600 h 740229"/>
                  <a:gd name="connsiteX2" fmla="*/ 642257 w 642257"/>
                  <a:gd name="connsiteY2" fmla="*/ 740229 h 740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2257" h="740229">
                    <a:moveTo>
                      <a:pt x="0" y="0"/>
                    </a:moveTo>
                    <a:cubicBezTo>
                      <a:pt x="120650" y="52614"/>
                      <a:pt x="241300" y="105229"/>
                      <a:pt x="348343" y="228600"/>
                    </a:cubicBezTo>
                    <a:cubicBezTo>
                      <a:pt x="455386" y="351971"/>
                      <a:pt x="548821" y="546100"/>
                      <a:pt x="642257" y="740229"/>
                    </a:cubicBezTo>
                  </a:path>
                </a:pathLst>
              </a:custGeom>
              <a:ln w="38100">
                <a:solidFill>
                  <a:srgbClr val="0070C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41"/>
                <p:cNvSpPr/>
                <p:nvPr/>
              </p:nvSpPr>
              <p:spPr>
                <a:xfrm>
                  <a:off x="1828800" y="3429000"/>
                  <a:ext cx="72160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𝒑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𝒏</m:t>
                            </m:r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Rectangle 4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8800" y="3429000"/>
                  <a:ext cx="721608" cy="369332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 t="-8333" r="-11017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9330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uiExpand="1" build="p"/>
      <p:bldP spid="12" grpId="0" animBg="1"/>
      <p:bldP spid="14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Triangulation </a:t>
            </a:r>
            <a:r>
              <a:rPr lang="en-US" sz="3200" b="1" dirty="0"/>
              <a:t>of</a:t>
            </a:r>
            <a:r>
              <a:rPr lang="en-US" sz="3200" b="1" dirty="0">
                <a:solidFill>
                  <a:srgbClr val="7030A0"/>
                </a:solidFill>
              </a:rPr>
              <a:t> </a:t>
            </a:r>
            <a:br>
              <a:rPr lang="en-US" sz="3200" b="1" dirty="0">
                <a:solidFill>
                  <a:srgbClr val="7030A0"/>
                </a:solidFill>
              </a:rPr>
            </a:br>
            <a:r>
              <a:rPr lang="en-US" sz="3200" b="1" dirty="0">
                <a:solidFill>
                  <a:srgbClr val="0070C0"/>
                </a:solidFill>
              </a:rPr>
              <a:t>a CONVEX POLYGON</a:t>
            </a:r>
            <a:br>
              <a:rPr lang="en-US" sz="3200" b="1" dirty="0">
                <a:solidFill>
                  <a:srgbClr val="0070C0"/>
                </a:solidFill>
              </a:rPr>
            </a:br>
            <a:endParaRPr lang="en-US" sz="32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0" y="1600200"/>
            <a:ext cx="8915400" cy="4525963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Partitioning the polygon into </a:t>
            </a:r>
            <a:r>
              <a:rPr lang="en-US" sz="2000" u="sng" dirty="0"/>
              <a:t>disjoint</a:t>
            </a:r>
            <a:r>
              <a:rPr lang="en-US" sz="2000" dirty="0"/>
              <a:t> triangles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2438400" y="2057400"/>
            <a:ext cx="3962400" cy="3581400"/>
            <a:chOff x="2362200" y="2057400"/>
            <a:chExt cx="3962400" cy="3581400"/>
          </a:xfrm>
        </p:grpSpPr>
        <p:cxnSp>
          <p:nvCxnSpPr>
            <p:cNvPr id="34" name="Straight Connector 33"/>
            <p:cNvCxnSpPr/>
            <p:nvPr/>
          </p:nvCxnSpPr>
          <p:spPr>
            <a:xfrm flipH="1" flipV="1">
              <a:off x="2362200" y="3562350"/>
              <a:ext cx="457200" cy="13906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Group 45"/>
            <p:cNvGrpSpPr/>
            <p:nvPr/>
          </p:nvGrpSpPr>
          <p:grpSpPr>
            <a:xfrm>
              <a:off x="2362200" y="2057400"/>
              <a:ext cx="3962400" cy="3581400"/>
              <a:chOff x="2362200" y="2057400"/>
              <a:chExt cx="3962400" cy="3581400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3733800" y="5638800"/>
                <a:ext cx="16002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 flipH="1">
                <a:off x="5334000" y="4876800"/>
                <a:ext cx="762000" cy="76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H="1">
                <a:off x="6096000" y="3886200"/>
                <a:ext cx="228600" cy="990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5867400" y="2514600"/>
                <a:ext cx="457200" cy="1371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4953000" y="2057400"/>
                <a:ext cx="914400" cy="4572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flipV="1">
                <a:off x="2895600" y="2057400"/>
                <a:ext cx="2057400" cy="5334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flipV="1">
                <a:off x="2362200" y="2590800"/>
                <a:ext cx="533400" cy="990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 flipH="1" flipV="1">
                <a:off x="2819400" y="4953000"/>
                <a:ext cx="914400" cy="6858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Group 8"/>
          <p:cNvGrpSpPr/>
          <p:nvPr/>
        </p:nvGrpSpPr>
        <p:grpSpPr>
          <a:xfrm>
            <a:off x="2326392" y="1611868"/>
            <a:ext cx="4488983" cy="4320064"/>
            <a:chOff x="2326392" y="1611868"/>
            <a:chExt cx="4488983" cy="4320064"/>
          </a:xfrm>
        </p:grpSpPr>
        <p:grpSp>
          <p:nvGrpSpPr>
            <p:cNvPr id="3" name="Group 2"/>
            <p:cNvGrpSpPr/>
            <p:nvPr/>
          </p:nvGrpSpPr>
          <p:grpSpPr>
            <a:xfrm>
              <a:off x="2326392" y="1611868"/>
              <a:ext cx="4488983" cy="4320064"/>
              <a:chOff x="2326392" y="1611868"/>
              <a:chExt cx="4488983" cy="432006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Rectangle 1"/>
                  <p:cNvSpPr/>
                  <p:nvPr/>
                </p:nvSpPr>
                <p:spPr>
                  <a:xfrm>
                    <a:off x="5224225" y="55626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" name="Rectangle 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4225" y="55626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333" r="-14815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Rectangle 17"/>
                  <p:cNvSpPr/>
                  <p:nvPr/>
                </p:nvSpPr>
                <p:spPr>
                  <a:xfrm>
                    <a:off x="6096000" y="46482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Rectangle 1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6000" y="46482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333" r="-14815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Rectangle 18"/>
                  <p:cNvSpPr/>
                  <p:nvPr/>
                </p:nvSpPr>
                <p:spPr>
                  <a:xfrm>
                    <a:off x="6324600" y="36576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Rectangle 1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24600" y="36576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Rectangle 20"/>
                  <p:cNvSpPr/>
                  <p:nvPr/>
                </p:nvSpPr>
                <p:spPr>
                  <a:xfrm>
                    <a:off x="4800600" y="1611868"/>
                    <a:ext cx="45230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" name="Rectangle 2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00600" y="1611868"/>
                    <a:ext cx="452303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175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ctangle 21"/>
                  <p:cNvSpPr/>
                  <p:nvPr/>
                </p:nvSpPr>
                <p:spPr>
                  <a:xfrm>
                    <a:off x="2326392" y="4888468"/>
                    <a:ext cx="72160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Rectangle 2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26392" y="4888468"/>
                    <a:ext cx="721608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101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/>
                  <p:cNvSpPr/>
                  <p:nvPr/>
                </p:nvSpPr>
                <p:spPr>
                  <a:xfrm>
                    <a:off x="3469392" y="5562600"/>
                    <a:ext cx="49879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Rectangle 2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69392" y="5562600"/>
                    <a:ext cx="498791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15854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" name="Freeform 6"/>
            <p:cNvSpPr/>
            <p:nvPr/>
          </p:nvSpPr>
          <p:spPr>
            <a:xfrm>
              <a:off x="5791200" y="2133600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 rot="16200000">
              <a:off x="2559011" y="2118068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/>
          <p:cNvCxnSpPr/>
          <p:nvPr/>
        </p:nvCxnSpPr>
        <p:spPr>
          <a:xfrm>
            <a:off x="2438400" y="3562350"/>
            <a:ext cx="396240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2895600" y="3886200"/>
            <a:ext cx="3505200" cy="1066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3810000" y="4876800"/>
            <a:ext cx="2362200" cy="762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2895600" y="4876800"/>
            <a:ext cx="3276600" cy="76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2971800" y="2590800"/>
            <a:ext cx="3429000" cy="1295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2971800" y="2514600"/>
            <a:ext cx="2971800" cy="76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24400" y="6000690"/>
            <a:ext cx="44762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, each defined by 3 points on the polygon</a:t>
            </a:r>
          </a:p>
        </p:txBody>
      </p:sp>
    </p:spTree>
    <p:extLst>
      <p:ext uri="{BB962C8B-B14F-4D97-AF65-F5344CB8AC3E}">
        <p14:creationId xmlns:p14="http://schemas.microsoft.com/office/powerpoint/2010/main" val="50390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Triangulation </a:t>
            </a:r>
            <a:r>
              <a:rPr lang="en-US" sz="3200" b="1" dirty="0"/>
              <a:t>of</a:t>
            </a:r>
            <a:r>
              <a:rPr lang="en-US" sz="3200" b="1" dirty="0">
                <a:solidFill>
                  <a:srgbClr val="7030A0"/>
                </a:solidFill>
              </a:rPr>
              <a:t> </a:t>
            </a:r>
            <a:br>
              <a:rPr lang="en-US" sz="3200" b="1" dirty="0">
                <a:solidFill>
                  <a:srgbClr val="7030A0"/>
                </a:solidFill>
              </a:rPr>
            </a:br>
            <a:r>
              <a:rPr lang="en-US" sz="3200" b="1" dirty="0">
                <a:solidFill>
                  <a:srgbClr val="0070C0"/>
                </a:solidFill>
              </a:rPr>
              <a:t>a CONVEX POLYGON</a:t>
            </a:r>
            <a:br>
              <a:rPr lang="en-US" sz="3200" b="1" dirty="0">
                <a:solidFill>
                  <a:srgbClr val="0070C0"/>
                </a:solidFill>
              </a:rPr>
            </a:br>
            <a:endParaRPr lang="en-US" sz="32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0" y="1600200"/>
            <a:ext cx="8915400" cy="4525963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Partitioning the polygon into </a:t>
            </a:r>
            <a:r>
              <a:rPr lang="en-US" sz="2000" u="sng" dirty="0"/>
              <a:t>disjoint</a:t>
            </a:r>
            <a:r>
              <a:rPr lang="en-US" sz="2000" dirty="0"/>
              <a:t> triangles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2438400" y="2057400"/>
            <a:ext cx="3962400" cy="3581400"/>
            <a:chOff x="2362200" y="2057400"/>
            <a:chExt cx="3962400" cy="3581400"/>
          </a:xfrm>
        </p:grpSpPr>
        <p:cxnSp>
          <p:nvCxnSpPr>
            <p:cNvPr id="34" name="Straight Connector 33"/>
            <p:cNvCxnSpPr/>
            <p:nvPr/>
          </p:nvCxnSpPr>
          <p:spPr>
            <a:xfrm flipH="1" flipV="1">
              <a:off x="2362200" y="3562350"/>
              <a:ext cx="457200" cy="13906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Group 45"/>
            <p:cNvGrpSpPr/>
            <p:nvPr/>
          </p:nvGrpSpPr>
          <p:grpSpPr>
            <a:xfrm>
              <a:off x="2362200" y="2057400"/>
              <a:ext cx="3962400" cy="3581400"/>
              <a:chOff x="2362200" y="2057400"/>
              <a:chExt cx="3962400" cy="3581400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3733800" y="5638800"/>
                <a:ext cx="16002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 flipH="1">
                <a:off x="5334000" y="4876800"/>
                <a:ext cx="762000" cy="76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H="1">
                <a:off x="6096000" y="3886200"/>
                <a:ext cx="228600" cy="990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5867400" y="2514600"/>
                <a:ext cx="457200" cy="1371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4953000" y="2057400"/>
                <a:ext cx="914400" cy="4572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flipV="1">
                <a:off x="2895600" y="2057400"/>
                <a:ext cx="2057400" cy="5334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flipV="1">
                <a:off x="2362200" y="2590800"/>
                <a:ext cx="533400" cy="990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 flipH="1" flipV="1">
                <a:off x="2819400" y="4953000"/>
                <a:ext cx="914400" cy="6858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Group 8"/>
          <p:cNvGrpSpPr/>
          <p:nvPr/>
        </p:nvGrpSpPr>
        <p:grpSpPr>
          <a:xfrm>
            <a:off x="2326392" y="1611868"/>
            <a:ext cx="4488983" cy="4320064"/>
            <a:chOff x="2326392" y="1611868"/>
            <a:chExt cx="4488983" cy="4320064"/>
          </a:xfrm>
        </p:grpSpPr>
        <p:grpSp>
          <p:nvGrpSpPr>
            <p:cNvPr id="3" name="Group 2"/>
            <p:cNvGrpSpPr/>
            <p:nvPr/>
          </p:nvGrpSpPr>
          <p:grpSpPr>
            <a:xfrm>
              <a:off x="2326392" y="1611868"/>
              <a:ext cx="4488983" cy="4320064"/>
              <a:chOff x="2326392" y="1611868"/>
              <a:chExt cx="4488983" cy="432006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Rectangle 1"/>
                  <p:cNvSpPr/>
                  <p:nvPr/>
                </p:nvSpPr>
                <p:spPr>
                  <a:xfrm>
                    <a:off x="5224225" y="55626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" name="Rectangle 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4225" y="55626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333" r="-14815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Rectangle 17"/>
                  <p:cNvSpPr/>
                  <p:nvPr/>
                </p:nvSpPr>
                <p:spPr>
                  <a:xfrm>
                    <a:off x="6096000" y="46482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Rectangle 1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6000" y="46482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333" r="-14815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Rectangle 18"/>
                  <p:cNvSpPr/>
                  <p:nvPr/>
                </p:nvSpPr>
                <p:spPr>
                  <a:xfrm>
                    <a:off x="6324600" y="36576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Rectangle 1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24600" y="36576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Rectangle 20"/>
                  <p:cNvSpPr/>
                  <p:nvPr/>
                </p:nvSpPr>
                <p:spPr>
                  <a:xfrm>
                    <a:off x="4800600" y="1611868"/>
                    <a:ext cx="45230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" name="Rectangle 2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00600" y="1611868"/>
                    <a:ext cx="452303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175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ctangle 21"/>
                  <p:cNvSpPr/>
                  <p:nvPr/>
                </p:nvSpPr>
                <p:spPr>
                  <a:xfrm>
                    <a:off x="2326392" y="4888468"/>
                    <a:ext cx="72160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Rectangle 2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26392" y="4888468"/>
                    <a:ext cx="721608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101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/>
                  <p:cNvSpPr/>
                  <p:nvPr/>
                </p:nvSpPr>
                <p:spPr>
                  <a:xfrm>
                    <a:off x="3469392" y="5562600"/>
                    <a:ext cx="49879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Rectangle 2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69392" y="5562600"/>
                    <a:ext cx="498791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15854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" name="Freeform 6"/>
            <p:cNvSpPr/>
            <p:nvPr/>
          </p:nvSpPr>
          <p:spPr>
            <a:xfrm>
              <a:off x="5791200" y="2133600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 rot="16200000">
              <a:off x="2559011" y="2118068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/>
          <p:cNvCxnSpPr/>
          <p:nvPr/>
        </p:nvCxnSpPr>
        <p:spPr>
          <a:xfrm>
            <a:off x="2438400" y="3562350"/>
            <a:ext cx="3962400" cy="323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cxnSpLocks/>
          </p:cNvCxnSpPr>
          <p:nvPr/>
        </p:nvCxnSpPr>
        <p:spPr>
          <a:xfrm>
            <a:off x="2438400" y="3562350"/>
            <a:ext cx="3733800" cy="13261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cxnSpLocks/>
          </p:cNvCxnSpPr>
          <p:nvPr/>
        </p:nvCxnSpPr>
        <p:spPr>
          <a:xfrm>
            <a:off x="2438400" y="3562350"/>
            <a:ext cx="1371600" cy="2076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cxnSpLocks/>
          </p:cNvCxnSpPr>
          <p:nvPr/>
        </p:nvCxnSpPr>
        <p:spPr>
          <a:xfrm>
            <a:off x="2438400" y="3562350"/>
            <a:ext cx="2971800" cy="2076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cxnSpLocks/>
          </p:cNvCxnSpPr>
          <p:nvPr/>
        </p:nvCxnSpPr>
        <p:spPr>
          <a:xfrm flipV="1">
            <a:off x="2438400" y="2514600"/>
            <a:ext cx="3505200" cy="10477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cxnSpLocks/>
          </p:cNvCxnSpPr>
          <p:nvPr/>
        </p:nvCxnSpPr>
        <p:spPr>
          <a:xfrm flipV="1">
            <a:off x="2438400" y="2057400"/>
            <a:ext cx="2590800" cy="15049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24400" y="6000690"/>
            <a:ext cx="44762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, each defined by 3 points on the polygon</a:t>
            </a:r>
          </a:p>
        </p:txBody>
      </p:sp>
    </p:spTree>
    <p:extLst>
      <p:ext uri="{BB962C8B-B14F-4D97-AF65-F5344CB8AC3E}">
        <p14:creationId xmlns:p14="http://schemas.microsoft.com/office/powerpoint/2010/main" val="382178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A54061F0-F862-E991-5311-7A8EBCC3ECCF}"/>
              </a:ext>
            </a:extLst>
          </p:cNvPr>
          <p:cNvSpPr/>
          <p:nvPr/>
        </p:nvSpPr>
        <p:spPr>
          <a:xfrm>
            <a:off x="5015883" y="2059619"/>
            <a:ext cx="1384917" cy="1828800"/>
          </a:xfrm>
          <a:custGeom>
            <a:avLst/>
            <a:gdLst>
              <a:gd name="connsiteX0" fmla="*/ 1384917 w 1384917"/>
              <a:gd name="connsiteY0" fmla="*/ 1828800 h 1828800"/>
              <a:gd name="connsiteX1" fmla="*/ 0 w 1384917"/>
              <a:gd name="connsiteY1" fmla="*/ 0 h 1828800"/>
              <a:gd name="connsiteX2" fmla="*/ 932156 w 1384917"/>
              <a:gd name="connsiteY2" fmla="*/ 461639 h 1828800"/>
              <a:gd name="connsiteX3" fmla="*/ 1384917 w 1384917"/>
              <a:gd name="connsiteY3" fmla="*/ 182880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4917" h="1828800">
                <a:moveTo>
                  <a:pt x="1384917" y="1828800"/>
                </a:moveTo>
                <a:lnTo>
                  <a:pt x="0" y="0"/>
                </a:lnTo>
                <a:lnTo>
                  <a:pt x="932156" y="461639"/>
                </a:lnTo>
                <a:lnTo>
                  <a:pt x="1384917" y="182880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075FBE02-C247-0FA8-4DE0-FC2CBA946F7B}"/>
              </a:ext>
            </a:extLst>
          </p:cNvPr>
          <p:cNvSpPr/>
          <p:nvPr/>
        </p:nvSpPr>
        <p:spPr>
          <a:xfrm>
            <a:off x="2991775" y="2068497"/>
            <a:ext cx="3409025" cy="1811045"/>
          </a:xfrm>
          <a:custGeom>
            <a:avLst/>
            <a:gdLst>
              <a:gd name="connsiteX0" fmla="*/ 0 w 3409025"/>
              <a:gd name="connsiteY0" fmla="*/ 514905 h 1811045"/>
              <a:gd name="connsiteX1" fmla="*/ 2050742 w 3409025"/>
              <a:gd name="connsiteY1" fmla="*/ 0 h 1811045"/>
              <a:gd name="connsiteX2" fmla="*/ 3409025 w 3409025"/>
              <a:gd name="connsiteY2" fmla="*/ 1811045 h 1811045"/>
              <a:gd name="connsiteX3" fmla="*/ 0 w 3409025"/>
              <a:gd name="connsiteY3" fmla="*/ 514905 h 1811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09025" h="1811045">
                <a:moveTo>
                  <a:pt x="0" y="514905"/>
                </a:moveTo>
                <a:lnTo>
                  <a:pt x="2050742" y="0"/>
                </a:lnTo>
                <a:lnTo>
                  <a:pt x="3409025" y="1811045"/>
                </a:lnTo>
                <a:lnTo>
                  <a:pt x="0" y="514905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0" y="1600200"/>
            <a:ext cx="8915400" cy="4525963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9899B37-46C5-84E4-374A-B2FD1F71102A}"/>
              </a:ext>
            </a:extLst>
          </p:cNvPr>
          <p:cNvSpPr/>
          <p:nvPr/>
        </p:nvSpPr>
        <p:spPr>
          <a:xfrm>
            <a:off x="2470667" y="3581400"/>
            <a:ext cx="2971223" cy="2054437"/>
          </a:xfrm>
          <a:custGeom>
            <a:avLst/>
            <a:gdLst>
              <a:gd name="connsiteX0" fmla="*/ 0 w 2334828"/>
              <a:gd name="connsiteY0" fmla="*/ 736847 h 745724"/>
              <a:gd name="connsiteX1" fmla="*/ 2334828 w 2334828"/>
              <a:gd name="connsiteY1" fmla="*/ 0 h 745724"/>
              <a:gd name="connsiteX2" fmla="*/ 1606859 w 2334828"/>
              <a:gd name="connsiteY2" fmla="*/ 745724 h 745724"/>
              <a:gd name="connsiteX3" fmla="*/ 0 w 2334828"/>
              <a:gd name="connsiteY3" fmla="*/ 736847 h 745724"/>
              <a:gd name="connsiteX0" fmla="*/ 0 w 2334828"/>
              <a:gd name="connsiteY0" fmla="*/ 736847 h 741918"/>
              <a:gd name="connsiteX1" fmla="*/ 2334828 w 2334828"/>
              <a:gd name="connsiteY1" fmla="*/ 0 h 741918"/>
              <a:gd name="connsiteX2" fmla="*/ 1454310 w 2334828"/>
              <a:gd name="connsiteY2" fmla="*/ 741918 h 741918"/>
              <a:gd name="connsiteX3" fmla="*/ 0 w 2334828"/>
              <a:gd name="connsiteY3" fmla="*/ 736847 h 741918"/>
              <a:gd name="connsiteX0" fmla="*/ 0 w 2334828"/>
              <a:gd name="connsiteY0" fmla="*/ 736847 h 748264"/>
              <a:gd name="connsiteX1" fmla="*/ 2334828 w 2334828"/>
              <a:gd name="connsiteY1" fmla="*/ 0 h 748264"/>
              <a:gd name="connsiteX2" fmla="*/ 1737258 w 2334828"/>
              <a:gd name="connsiteY2" fmla="*/ 748264 h 748264"/>
              <a:gd name="connsiteX3" fmla="*/ 0 w 2334828"/>
              <a:gd name="connsiteY3" fmla="*/ 736847 h 748264"/>
              <a:gd name="connsiteX0" fmla="*/ 0 w 2334828"/>
              <a:gd name="connsiteY0" fmla="*/ 743193 h 748264"/>
              <a:gd name="connsiteX1" fmla="*/ 2334828 w 2334828"/>
              <a:gd name="connsiteY1" fmla="*/ 0 h 748264"/>
              <a:gd name="connsiteX2" fmla="*/ 1737258 w 2334828"/>
              <a:gd name="connsiteY2" fmla="*/ 748264 h 748264"/>
              <a:gd name="connsiteX3" fmla="*/ 0 w 2334828"/>
              <a:gd name="connsiteY3" fmla="*/ 743193 h 748264"/>
              <a:gd name="connsiteX0" fmla="*/ 0 w 2334828"/>
              <a:gd name="connsiteY0" fmla="*/ 743193 h 743193"/>
              <a:gd name="connsiteX1" fmla="*/ 2334828 w 2334828"/>
              <a:gd name="connsiteY1" fmla="*/ 0 h 743193"/>
              <a:gd name="connsiteX2" fmla="*/ 1747014 w 2334828"/>
              <a:gd name="connsiteY2" fmla="*/ 739803 h 743193"/>
              <a:gd name="connsiteX3" fmla="*/ 0 w 2334828"/>
              <a:gd name="connsiteY3" fmla="*/ 743193 h 743193"/>
              <a:gd name="connsiteX0" fmla="*/ 0 w 3048886"/>
              <a:gd name="connsiteY0" fmla="*/ 743193 h 743193"/>
              <a:gd name="connsiteX1" fmla="*/ 2334828 w 3048886"/>
              <a:gd name="connsiteY1" fmla="*/ 0 h 743193"/>
              <a:gd name="connsiteX2" fmla="*/ 3048886 w 3048886"/>
              <a:gd name="connsiteY2" fmla="*/ 737961 h 743193"/>
              <a:gd name="connsiteX3" fmla="*/ 0 w 3048886"/>
              <a:gd name="connsiteY3" fmla="*/ 743193 h 743193"/>
              <a:gd name="connsiteX0" fmla="*/ 1639307 w 4688193"/>
              <a:gd name="connsiteY0" fmla="*/ 634500 h 634500"/>
              <a:gd name="connsiteX1" fmla="*/ 0 w 4688193"/>
              <a:gd name="connsiteY1" fmla="*/ 0 h 634500"/>
              <a:gd name="connsiteX2" fmla="*/ 4688193 w 4688193"/>
              <a:gd name="connsiteY2" fmla="*/ 629268 h 634500"/>
              <a:gd name="connsiteX3" fmla="*/ 1639307 w 4688193"/>
              <a:gd name="connsiteY3" fmla="*/ 634500 h 634500"/>
              <a:gd name="connsiteX0" fmla="*/ 2684230 w 5733116"/>
              <a:gd name="connsiteY0" fmla="*/ 426326 h 426326"/>
              <a:gd name="connsiteX1" fmla="*/ 0 w 5733116"/>
              <a:gd name="connsiteY1" fmla="*/ 0 h 426326"/>
              <a:gd name="connsiteX2" fmla="*/ 5733116 w 5733116"/>
              <a:gd name="connsiteY2" fmla="*/ 421094 h 426326"/>
              <a:gd name="connsiteX3" fmla="*/ 2684230 w 5733116"/>
              <a:gd name="connsiteY3" fmla="*/ 426326 h 426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33116" h="426326">
                <a:moveTo>
                  <a:pt x="2684230" y="426326"/>
                </a:moveTo>
                <a:lnTo>
                  <a:pt x="0" y="0"/>
                </a:lnTo>
                <a:lnTo>
                  <a:pt x="5733116" y="421094"/>
                </a:lnTo>
                <a:lnTo>
                  <a:pt x="2684230" y="426326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Triangulation </a:t>
            </a:r>
            <a:r>
              <a:rPr lang="en-US" sz="3200" b="1" dirty="0"/>
              <a:t>of</a:t>
            </a:r>
            <a:r>
              <a:rPr lang="en-US" sz="3200" b="1" dirty="0">
                <a:solidFill>
                  <a:srgbClr val="7030A0"/>
                </a:solidFill>
              </a:rPr>
              <a:t> </a:t>
            </a:r>
            <a:br>
              <a:rPr lang="en-US" sz="3200" b="1" dirty="0">
                <a:solidFill>
                  <a:srgbClr val="7030A0"/>
                </a:solidFill>
              </a:rPr>
            </a:br>
            <a:r>
              <a:rPr lang="en-US" sz="3200" b="1" dirty="0">
                <a:solidFill>
                  <a:srgbClr val="0070C0"/>
                </a:solidFill>
              </a:rPr>
              <a:t>a CONVEX POLYGON</a:t>
            </a:r>
            <a:br>
              <a:rPr lang="en-US" sz="3200" b="1" dirty="0">
                <a:solidFill>
                  <a:srgbClr val="0070C0"/>
                </a:solidFill>
              </a:rPr>
            </a:br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2438400" y="2057400"/>
            <a:ext cx="3962400" cy="3581400"/>
            <a:chOff x="2362200" y="2057400"/>
            <a:chExt cx="3962400" cy="3581400"/>
          </a:xfrm>
        </p:grpSpPr>
        <p:cxnSp>
          <p:nvCxnSpPr>
            <p:cNvPr id="34" name="Straight Connector 33"/>
            <p:cNvCxnSpPr/>
            <p:nvPr/>
          </p:nvCxnSpPr>
          <p:spPr>
            <a:xfrm flipH="1" flipV="1">
              <a:off x="2362200" y="3562350"/>
              <a:ext cx="457200" cy="13906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Group 45"/>
            <p:cNvGrpSpPr/>
            <p:nvPr/>
          </p:nvGrpSpPr>
          <p:grpSpPr>
            <a:xfrm>
              <a:off x="2362200" y="2057400"/>
              <a:ext cx="3962400" cy="3581400"/>
              <a:chOff x="2362200" y="2057400"/>
              <a:chExt cx="3962400" cy="3581400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3733800" y="5638800"/>
                <a:ext cx="16002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 flipH="1">
                <a:off x="5334000" y="4876800"/>
                <a:ext cx="762000" cy="76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H="1">
                <a:off x="6096000" y="3886200"/>
                <a:ext cx="228600" cy="990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5867400" y="2514600"/>
                <a:ext cx="457200" cy="1371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4953000" y="2057400"/>
                <a:ext cx="914400" cy="4572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flipV="1">
                <a:off x="2895600" y="2057400"/>
                <a:ext cx="2057400" cy="5334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flipV="1">
                <a:off x="2362200" y="2590800"/>
                <a:ext cx="533400" cy="990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 flipH="1" flipV="1">
                <a:off x="2819400" y="4953000"/>
                <a:ext cx="914400" cy="6858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Group 8"/>
          <p:cNvGrpSpPr/>
          <p:nvPr/>
        </p:nvGrpSpPr>
        <p:grpSpPr>
          <a:xfrm>
            <a:off x="2326392" y="1611868"/>
            <a:ext cx="4488983" cy="4320064"/>
            <a:chOff x="2326392" y="1611868"/>
            <a:chExt cx="4488983" cy="4320064"/>
          </a:xfrm>
        </p:grpSpPr>
        <p:grpSp>
          <p:nvGrpSpPr>
            <p:cNvPr id="3" name="Group 2"/>
            <p:cNvGrpSpPr/>
            <p:nvPr/>
          </p:nvGrpSpPr>
          <p:grpSpPr>
            <a:xfrm>
              <a:off x="2326392" y="1611868"/>
              <a:ext cx="4488983" cy="4320064"/>
              <a:chOff x="2326392" y="1611868"/>
              <a:chExt cx="4488983" cy="432006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Rectangle 1"/>
                  <p:cNvSpPr/>
                  <p:nvPr/>
                </p:nvSpPr>
                <p:spPr>
                  <a:xfrm>
                    <a:off x="5224225" y="55626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" name="Rectangle 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4225" y="55626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333" r="-14815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Rectangle 17"/>
                  <p:cNvSpPr/>
                  <p:nvPr/>
                </p:nvSpPr>
                <p:spPr>
                  <a:xfrm>
                    <a:off x="6096000" y="46482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Rectangle 1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6000" y="46482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333" r="-14815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Rectangle 18"/>
                  <p:cNvSpPr/>
                  <p:nvPr/>
                </p:nvSpPr>
                <p:spPr>
                  <a:xfrm>
                    <a:off x="6324600" y="36576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Rectangle 1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24600" y="36576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Rectangle 20"/>
                  <p:cNvSpPr/>
                  <p:nvPr/>
                </p:nvSpPr>
                <p:spPr>
                  <a:xfrm>
                    <a:off x="4800600" y="1611868"/>
                    <a:ext cx="45230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" name="Rectangle 2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00600" y="1611868"/>
                    <a:ext cx="452303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175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ctangle 21"/>
                  <p:cNvSpPr/>
                  <p:nvPr/>
                </p:nvSpPr>
                <p:spPr>
                  <a:xfrm>
                    <a:off x="2326392" y="4888468"/>
                    <a:ext cx="72160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Rectangle 2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26392" y="4888468"/>
                    <a:ext cx="721608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101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/>
                  <p:cNvSpPr/>
                  <p:nvPr/>
                </p:nvSpPr>
                <p:spPr>
                  <a:xfrm>
                    <a:off x="3469392" y="5562600"/>
                    <a:ext cx="49879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Rectangle 2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69392" y="5562600"/>
                    <a:ext cx="498791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15854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" name="Freeform 6"/>
            <p:cNvSpPr/>
            <p:nvPr/>
          </p:nvSpPr>
          <p:spPr>
            <a:xfrm>
              <a:off x="5791200" y="2133600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 rot="16200000">
              <a:off x="2559011" y="2118068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/>
          <p:cNvCxnSpPr>
            <a:cxnSpLocks/>
          </p:cNvCxnSpPr>
          <p:nvPr/>
        </p:nvCxnSpPr>
        <p:spPr>
          <a:xfrm>
            <a:off x="2971800" y="2590800"/>
            <a:ext cx="3200400" cy="22976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cxnSpLocks/>
          </p:cNvCxnSpPr>
          <p:nvPr/>
        </p:nvCxnSpPr>
        <p:spPr>
          <a:xfrm>
            <a:off x="2971800" y="2590800"/>
            <a:ext cx="2438400" cy="3048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cxnSpLocks/>
          </p:cNvCxnSpPr>
          <p:nvPr/>
        </p:nvCxnSpPr>
        <p:spPr>
          <a:xfrm>
            <a:off x="2438400" y="3562350"/>
            <a:ext cx="1371600" cy="2076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cxnSpLocks/>
          </p:cNvCxnSpPr>
          <p:nvPr/>
        </p:nvCxnSpPr>
        <p:spPr>
          <a:xfrm>
            <a:off x="2438400" y="3562350"/>
            <a:ext cx="2971800" cy="2076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cxnSpLocks/>
          </p:cNvCxnSpPr>
          <p:nvPr/>
        </p:nvCxnSpPr>
        <p:spPr>
          <a:xfrm>
            <a:off x="2971800" y="2590800"/>
            <a:ext cx="3429000" cy="1295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cxnSpLocks/>
          </p:cNvCxnSpPr>
          <p:nvPr/>
        </p:nvCxnSpPr>
        <p:spPr>
          <a:xfrm flipH="1" flipV="1">
            <a:off x="5029200" y="2057400"/>
            <a:ext cx="1371600" cy="1828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F854061-5F33-82DF-ED32-B3C1F43E7F73}"/>
                  </a:ext>
                </a:extLst>
              </p:cNvPr>
              <p:cNvSpPr txBox="1"/>
              <p:nvPr/>
            </p:nvSpPr>
            <p:spPr>
              <a:xfrm>
                <a:off x="6484487" y="990600"/>
                <a:ext cx="1667444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sz="1800" dirty="0"/>
                  <a:t> triangles.</a:t>
                </a:r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F854061-5F33-82DF-ED32-B3C1F43E7F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4487" y="990600"/>
                <a:ext cx="1667444" cy="369332"/>
              </a:xfrm>
              <a:prstGeom prst="rect">
                <a:avLst/>
              </a:prstGeom>
              <a:blipFill>
                <a:blip r:embed="rId9"/>
                <a:stretch>
                  <a:fillRect t="-10000" r="-2930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506BB6AD-5B43-2AB4-ED5D-492AF029B697}"/>
              </a:ext>
            </a:extLst>
          </p:cNvPr>
          <p:cNvSpPr txBox="1"/>
          <p:nvPr/>
        </p:nvSpPr>
        <p:spPr>
          <a:xfrm>
            <a:off x="381000" y="999399"/>
            <a:ext cx="4221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Though there may be </a:t>
            </a:r>
            <a:r>
              <a:rPr lang="en-US" u="sng" dirty="0"/>
              <a:t>many</a:t>
            </a:r>
            <a:r>
              <a:rPr lang="en-US" dirty="0"/>
              <a:t> triangulations, </a:t>
            </a:r>
            <a:endParaRPr lang="en-IN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409FDD-3325-EEEB-2AC9-5E631F44459D}"/>
              </a:ext>
            </a:extLst>
          </p:cNvPr>
          <p:cNvSpPr txBox="1"/>
          <p:nvPr/>
        </p:nvSpPr>
        <p:spPr>
          <a:xfrm>
            <a:off x="4403083" y="990600"/>
            <a:ext cx="2081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but each has </a:t>
            </a:r>
            <a:r>
              <a:rPr lang="en-US" u="sng" dirty="0"/>
              <a:t>exactly</a:t>
            </a:r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3B9CCAB-DD64-568B-B897-A7DF566D211C}"/>
              </a:ext>
            </a:extLst>
          </p:cNvPr>
          <p:cNvCxnSpPr/>
          <p:nvPr/>
        </p:nvCxnSpPr>
        <p:spPr>
          <a:xfrm>
            <a:off x="3802633" y="5632882"/>
            <a:ext cx="1600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48ACDCA-CE7B-E39C-04F8-E54BDCC3C8D7}"/>
              </a:ext>
            </a:extLst>
          </p:cNvPr>
          <p:cNvSpPr txBox="1"/>
          <p:nvPr/>
        </p:nvSpPr>
        <p:spPr>
          <a:xfrm>
            <a:off x="381000" y="1443853"/>
            <a:ext cx="2470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Each side of the polygon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3C441B5-D021-CB09-5E24-83321E602320}"/>
                  </a:ext>
                </a:extLst>
              </p:cNvPr>
              <p:cNvSpPr txBox="1"/>
              <p:nvPr/>
            </p:nvSpPr>
            <p:spPr>
              <a:xfrm>
                <a:off x="2706580" y="1448112"/>
                <a:ext cx="45328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belongs to </a:t>
                </a:r>
                <a:r>
                  <a:rPr lang="en-US" u="sng" dirty="0"/>
                  <a:t>exactly </a:t>
                </a:r>
                <a14:m>
                  <m:oMath xmlns:m="http://schemas.openxmlformats.org/officeDocument/2006/math">
                    <m:r>
                      <a:rPr lang="en-US" i="1" u="sng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u="sng" dirty="0"/>
                  <a:t> triangle</a:t>
                </a:r>
                <a:r>
                  <a:rPr lang="en-US" dirty="0"/>
                  <a:t> in a triangulation.</a:t>
                </a:r>
                <a:endParaRPr lang="en-IN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3C441B5-D021-CB09-5E24-83321E602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580" y="1448112"/>
                <a:ext cx="4532844" cy="369332"/>
              </a:xfrm>
              <a:prstGeom prst="rect">
                <a:avLst/>
              </a:prstGeom>
              <a:blipFill>
                <a:blip r:embed="rId10"/>
                <a:stretch>
                  <a:fillRect l="-1210" t="-10000" r="-538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C202B76F-4073-39C4-5C6E-7F878DA18F17}"/>
              </a:ext>
            </a:extLst>
          </p:cNvPr>
          <p:cNvGrpSpPr/>
          <p:nvPr/>
        </p:nvGrpSpPr>
        <p:grpSpPr>
          <a:xfrm>
            <a:off x="2481025" y="3581399"/>
            <a:ext cx="2962639" cy="2057396"/>
            <a:chOff x="2137304" y="4480810"/>
            <a:chExt cx="3613002" cy="1157988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26EF3E8-BF8E-E392-44FB-30CFCF0538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37304" y="4480810"/>
              <a:ext cx="1620714" cy="115465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106585E-C3BC-4758-4CCF-F4D2097E19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37304" y="4480810"/>
              <a:ext cx="3613002" cy="1157988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23C3ECD-6102-1737-D5A4-49B8FC434609}"/>
              </a:ext>
            </a:extLst>
          </p:cNvPr>
          <p:cNvCxnSpPr/>
          <p:nvPr/>
        </p:nvCxnSpPr>
        <p:spPr>
          <a:xfrm flipV="1">
            <a:off x="2971800" y="2064109"/>
            <a:ext cx="2057400" cy="5334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50B2F2-7EF0-0833-6B95-2700E4EBF647}"/>
              </a:ext>
            </a:extLst>
          </p:cNvPr>
          <p:cNvCxnSpPr>
            <a:cxnSpLocks/>
            <a:endCxn id="49" idx="0"/>
          </p:cNvCxnSpPr>
          <p:nvPr/>
        </p:nvCxnSpPr>
        <p:spPr>
          <a:xfrm flipH="1" flipV="1">
            <a:off x="2991775" y="2583402"/>
            <a:ext cx="3419383" cy="131159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DEBB632-0914-1888-BF8A-6A49E487D3B2}"/>
              </a:ext>
            </a:extLst>
          </p:cNvPr>
          <p:cNvCxnSpPr>
            <a:cxnSpLocks/>
          </p:cNvCxnSpPr>
          <p:nvPr/>
        </p:nvCxnSpPr>
        <p:spPr>
          <a:xfrm flipH="1" flipV="1">
            <a:off x="5038361" y="2078004"/>
            <a:ext cx="1372797" cy="183463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F5A4515-EBAB-3B05-1DD0-2AAD46089255}"/>
              </a:ext>
            </a:extLst>
          </p:cNvPr>
          <p:cNvCxnSpPr>
            <a:cxnSpLocks/>
          </p:cNvCxnSpPr>
          <p:nvPr/>
        </p:nvCxnSpPr>
        <p:spPr>
          <a:xfrm>
            <a:off x="5029200" y="2068497"/>
            <a:ext cx="1358283" cy="181104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D1F3AF8-D4C3-DFA2-891D-398351FF2375}"/>
              </a:ext>
            </a:extLst>
          </p:cNvPr>
          <p:cNvCxnSpPr>
            <a:cxnSpLocks/>
            <a:stCxn id="49" idx="1"/>
          </p:cNvCxnSpPr>
          <p:nvPr/>
        </p:nvCxnSpPr>
        <p:spPr>
          <a:xfrm>
            <a:off x="5042517" y="2068497"/>
            <a:ext cx="896152" cy="45276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D3553B3-2636-A35F-3911-4B26C7DD58FD}"/>
              </a:ext>
            </a:extLst>
          </p:cNvPr>
          <p:cNvCxnSpPr>
            <a:cxnSpLocks/>
            <a:stCxn id="49" idx="2"/>
          </p:cNvCxnSpPr>
          <p:nvPr/>
        </p:nvCxnSpPr>
        <p:spPr>
          <a:xfrm flipH="1" flipV="1">
            <a:off x="5941826" y="2521258"/>
            <a:ext cx="458974" cy="1358284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1001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49" grpId="0" animBg="1"/>
      <p:bldP spid="49" grpId="1" animBg="1"/>
      <p:bldP spid="31" grpId="0" animBg="1"/>
      <p:bldP spid="31" grpId="1" animBg="1"/>
      <p:bldP spid="13" grpId="0" animBg="1"/>
      <p:bldP spid="15" grpId="0"/>
      <p:bldP spid="27" grpId="0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1828800"/>
            <a:ext cx="7772400" cy="1362075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rgbClr val="7030A0"/>
                </a:solidFill>
              </a:rPr>
              <a:t>OPTMAL Triangulation </a:t>
            </a:r>
            <a:r>
              <a:rPr lang="en-US" sz="3200" dirty="0"/>
              <a:t>of</a:t>
            </a:r>
            <a:r>
              <a:rPr lang="en-US" sz="3200" dirty="0">
                <a:solidFill>
                  <a:srgbClr val="7030A0"/>
                </a:solidFill>
              </a:rPr>
              <a:t> </a:t>
            </a:r>
            <a:br>
              <a:rPr lang="en-US" sz="3200" dirty="0">
                <a:solidFill>
                  <a:srgbClr val="7030A0"/>
                </a:solidFill>
              </a:rPr>
            </a:br>
            <a:r>
              <a:rPr lang="en-US" sz="3200" dirty="0">
                <a:solidFill>
                  <a:srgbClr val="0070C0"/>
                </a:solidFill>
              </a:rPr>
              <a:t>a CONVEX POLYGON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546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229600" cy="5867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B050"/>
                        </a:solidFill>
                        <a:latin typeface="Cambria Math"/>
                      </a:rPr>
                      <m:t>𝝎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</m:oMath>
                </a14:m>
                <a:r>
                  <a:rPr lang="en-US" sz="2000" dirty="0"/>
                  <a:t>) : weight of triangle formed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Assumption</a:t>
                </a:r>
                <a:r>
                  <a:rPr lang="en-US" sz="2000" dirty="0"/>
                  <a:t>: It takes </a:t>
                </a:r>
                <a:r>
                  <a:rPr lang="en-US" sz="2000" b="1" dirty="0"/>
                  <a:t>O</a:t>
                </a:r>
                <a:r>
                  <a:rPr lang="en-US" sz="2000" dirty="0"/>
                  <a:t>(1) time to compute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B050"/>
                        </a:solidFill>
                        <a:latin typeface="Cambria Math"/>
                      </a:rPr>
                      <m:t>𝝎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FF0000"/>
                    </a:solidFill>
                  </a:rPr>
                  <a:t>Cost</a:t>
                </a:r>
                <a:r>
                  <a:rPr lang="en-US" sz="2000" b="1" dirty="0"/>
                  <a:t> of a triangulation </a:t>
                </a:r>
                <a:r>
                  <a:rPr lang="en-US" sz="2000" dirty="0"/>
                  <a:t>: sum of the weight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sz="2000" dirty="0"/>
                  <a:t> triangles formed.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Aim</a:t>
                </a:r>
                <a:r>
                  <a:rPr lang="en-US" sz="2000" dirty="0"/>
                  <a:t>: Compute triangulation of minimum cost.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229600" cy="5867400"/>
              </a:xfrm>
              <a:blipFill>
                <a:blip r:embed="rId2"/>
                <a:stretch>
                  <a:fillRect l="-741" t="-520" b="-25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2438400" y="2057400"/>
            <a:ext cx="3962400" cy="3581400"/>
            <a:chOff x="2362200" y="2057400"/>
            <a:chExt cx="3962400" cy="3581400"/>
          </a:xfrm>
        </p:grpSpPr>
        <p:cxnSp>
          <p:nvCxnSpPr>
            <p:cNvPr id="34" name="Straight Connector 33"/>
            <p:cNvCxnSpPr/>
            <p:nvPr/>
          </p:nvCxnSpPr>
          <p:spPr>
            <a:xfrm flipH="1" flipV="1">
              <a:off x="2362200" y="3562350"/>
              <a:ext cx="457200" cy="13906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Group 45"/>
            <p:cNvGrpSpPr/>
            <p:nvPr/>
          </p:nvGrpSpPr>
          <p:grpSpPr>
            <a:xfrm>
              <a:off x="2362200" y="2057400"/>
              <a:ext cx="3962400" cy="3581400"/>
              <a:chOff x="2362200" y="2057400"/>
              <a:chExt cx="3962400" cy="3581400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3733800" y="5638800"/>
                <a:ext cx="16002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 flipH="1">
                <a:off x="5334000" y="4876800"/>
                <a:ext cx="762000" cy="76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H="1">
                <a:off x="6096000" y="3886200"/>
                <a:ext cx="228600" cy="990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5867400" y="2514600"/>
                <a:ext cx="457200" cy="1371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4953000" y="2057400"/>
                <a:ext cx="914400" cy="4572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flipV="1">
                <a:off x="2895600" y="2057400"/>
                <a:ext cx="2057400" cy="5334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flipV="1">
                <a:off x="2362200" y="2590800"/>
                <a:ext cx="533400" cy="990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 flipH="1" flipV="1">
                <a:off x="2819400" y="4953000"/>
                <a:ext cx="914400" cy="6858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Group 8"/>
          <p:cNvGrpSpPr/>
          <p:nvPr/>
        </p:nvGrpSpPr>
        <p:grpSpPr>
          <a:xfrm>
            <a:off x="2326392" y="1688068"/>
            <a:ext cx="4488983" cy="4243864"/>
            <a:chOff x="2326392" y="1688068"/>
            <a:chExt cx="4488983" cy="4243864"/>
          </a:xfrm>
        </p:grpSpPr>
        <p:grpSp>
          <p:nvGrpSpPr>
            <p:cNvPr id="3" name="Group 2"/>
            <p:cNvGrpSpPr/>
            <p:nvPr/>
          </p:nvGrpSpPr>
          <p:grpSpPr>
            <a:xfrm>
              <a:off x="2326392" y="1688068"/>
              <a:ext cx="4488983" cy="4243864"/>
              <a:chOff x="2326392" y="1688068"/>
              <a:chExt cx="4488983" cy="424386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Rectangle 1"/>
                  <p:cNvSpPr/>
                  <p:nvPr/>
                </p:nvSpPr>
                <p:spPr>
                  <a:xfrm>
                    <a:off x="5224225" y="55626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" name="Rectangle 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4225" y="55626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333" r="-14815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Rectangle 17"/>
                  <p:cNvSpPr/>
                  <p:nvPr/>
                </p:nvSpPr>
                <p:spPr>
                  <a:xfrm>
                    <a:off x="6096000" y="46482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Rectangle 1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6000" y="46482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333" r="-14815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Rectangle 18"/>
                  <p:cNvSpPr/>
                  <p:nvPr/>
                </p:nvSpPr>
                <p:spPr>
                  <a:xfrm>
                    <a:off x="6324600" y="36576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Rectangle 1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24600" y="36576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Rectangle 20"/>
                  <p:cNvSpPr/>
                  <p:nvPr/>
                </p:nvSpPr>
                <p:spPr>
                  <a:xfrm>
                    <a:off x="4800600" y="1688068"/>
                    <a:ext cx="45230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" name="Rectangle 2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00600" y="1688068"/>
                    <a:ext cx="452303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175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ctangle 21"/>
                  <p:cNvSpPr/>
                  <p:nvPr/>
                </p:nvSpPr>
                <p:spPr>
                  <a:xfrm>
                    <a:off x="2326392" y="4888468"/>
                    <a:ext cx="72160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Rectangle 2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26392" y="4888468"/>
                    <a:ext cx="721608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101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/>
                  <p:cNvSpPr/>
                  <p:nvPr/>
                </p:nvSpPr>
                <p:spPr>
                  <a:xfrm>
                    <a:off x="3469392" y="5562600"/>
                    <a:ext cx="49879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Rectangle 2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69392" y="5562600"/>
                    <a:ext cx="498791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15854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" name="Freeform 6"/>
            <p:cNvSpPr/>
            <p:nvPr/>
          </p:nvSpPr>
          <p:spPr>
            <a:xfrm>
              <a:off x="5791200" y="2133600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 rot="16200000">
              <a:off x="2559011" y="2118068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2438400" y="2514600"/>
            <a:ext cx="3962400" cy="3124200"/>
            <a:chOff x="2438400" y="2514600"/>
            <a:chExt cx="3962400" cy="3124200"/>
          </a:xfrm>
        </p:grpSpPr>
        <p:cxnSp>
          <p:nvCxnSpPr>
            <p:cNvPr id="12" name="Straight Connector 11"/>
            <p:cNvCxnSpPr/>
            <p:nvPr/>
          </p:nvCxnSpPr>
          <p:spPr>
            <a:xfrm>
              <a:off x="2438400" y="3562350"/>
              <a:ext cx="3962400" cy="3238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V="1">
              <a:off x="2895600" y="3886200"/>
              <a:ext cx="3505200" cy="10668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V="1">
              <a:off x="3810000" y="4876800"/>
              <a:ext cx="2362200" cy="762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flipV="1">
              <a:off x="2895600" y="4876800"/>
              <a:ext cx="3276600" cy="762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2971800" y="2590800"/>
              <a:ext cx="3429000" cy="1295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V="1">
              <a:off x="2971800" y="2514600"/>
              <a:ext cx="2971800" cy="762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9"/>
          <p:cNvSpPr/>
          <p:nvPr/>
        </p:nvSpPr>
        <p:spPr>
          <a:xfrm>
            <a:off x="1447800" y="914400"/>
            <a:ext cx="4267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2895600" y="6096000"/>
            <a:ext cx="5029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1905000" y="1371600"/>
            <a:ext cx="4207328" cy="4249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26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9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1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8" dur="1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10" grpId="0" animBg="1"/>
      <p:bldP spid="35" grpId="0" animBg="1"/>
      <p:bldP spid="3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6E922-E6DF-1E9C-E23E-BCD8EBF75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7030A0"/>
                </a:solidFill>
              </a:rPr>
              <a:t>Attempt </a:t>
            </a:r>
            <a:r>
              <a:rPr lang="en-US" sz="4400" b="1" dirty="0">
                <a:solidFill>
                  <a:srgbClr val="0070C0"/>
                </a:solidFill>
              </a:rPr>
              <a:t>1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F6127-1023-F4F1-DA3A-F096FD1C5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Let us count the </a:t>
            </a:r>
            <a:r>
              <a:rPr lang="en-US" sz="2000" u="sng" dirty="0"/>
              <a:t>number of all possible triangulations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If it is </a:t>
            </a:r>
            <a:r>
              <a:rPr lang="en-US" sz="2000" u="sng" dirty="0"/>
              <a:t>polynomial</a:t>
            </a:r>
            <a:r>
              <a:rPr lang="en-US" sz="2000" dirty="0"/>
              <a:t>, </a:t>
            </a:r>
          </a:p>
          <a:p>
            <a:pPr marL="0" indent="0">
              <a:buNone/>
            </a:pPr>
            <a:r>
              <a:rPr lang="en-US" sz="2000" dirty="0"/>
              <a:t>                  we have </a:t>
            </a:r>
            <a:r>
              <a:rPr lang="en-US" sz="2000" u="sng" dirty="0"/>
              <a:t>a polynomial time algorithm</a:t>
            </a: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45E38-690E-773A-C68C-B1C2B31A1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9FD1E9-6FCF-9A9F-0F15-F793602EDDAC}"/>
              </a:ext>
            </a:extLst>
          </p:cNvPr>
          <p:cNvSpPr txBox="1"/>
          <p:nvPr/>
        </p:nvSpPr>
        <p:spPr>
          <a:xfrm>
            <a:off x="5020374" y="3810000"/>
            <a:ext cx="3361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to compute optimal triangulation.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2221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7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7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5" name="Content Placeholder 84"/>
              <p:cNvSpPr>
                <a:spLocks noGrp="1"/>
              </p:cNvSpPr>
              <p:nvPr>
                <p:ph idx="1"/>
              </p:nvPr>
            </p:nvSpPr>
            <p:spPr>
              <a:xfrm>
                <a:off x="0" y="1600200"/>
                <a:ext cx="8686800" cy="52578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Let us explore the triangles to which side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000" dirty="0"/>
                  <a:t>) may belong in any triangulation.</a:t>
                </a:r>
              </a:p>
            </p:txBody>
          </p:sp>
        </mc:Choice>
        <mc:Fallback xmlns="">
          <p:sp>
            <p:nvSpPr>
              <p:cNvPr id="85" name="Content Placeholder 8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600200"/>
                <a:ext cx="8686800" cy="5257800"/>
              </a:xfrm>
              <a:blipFill>
                <a:blip r:embed="rId2"/>
                <a:stretch>
                  <a:fillRect l="-702" r="-7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CA2E4D-26D0-23F4-AFB1-AE0AC76F494D}"/>
              </a:ext>
            </a:extLst>
          </p:cNvPr>
          <p:cNvSpPr/>
          <p:nvPr/>
        </p:nvSpPr>
        <p:spPr>
          <a:xfrm>
            <a:off x="3861786" y="4891596"/>
            <a:ext cx="2334828" cy="745724"/>
          </a:xfrm>
          <a:custGeom>
            <a:avLst/>
            <a:gdLst>
              <a:gd name="connsiteX0" fmla="*/ 0 w 2334828"/>
              <a:gd name="connsiteY0" fmla="*/ 736847 h 745724"/>
              <a:gd name="connsiteX1" fmla="*/ 2334828 w 2334828"/>
              <a:gd name="connsiteY1" fmla="*/ 0 h 745724"/>
              <a:gd name="connsiteX2" fmla="*/ 1606859 w 2334828"/>
              <a:gd name="connsiteY2" fmla="*/ 745724 h 745724"/>
              <a:gd name="connsiteX3" fmla="*/ 0 w 2334828"/>
              <a:gd name="connsiteY3" fmla="*/ 736847 h 745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4828" h="745724">
                <a:moveTo>
                  <a:pt x="0" y="736847"/>
                </a:moveTo>
                <a:lnTo>
                  <a:pt x="2334828" y="0"/>
                </a:lnTo>
                <a:lnTo>
                  <a:pt x="1606859" y="745724"/>
                </a:lnTo>
                <a:lnTo>
                  <a:pt x="0" y="736847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How </a:t>
            </a:r>
            <a:r>
              <a:rPr lang="en-US" sz="3200" b="1" dirty="0">
                <a:solidFill>
                  <a:srgbClr val="0070C0"/>
                </a:solidFill>
              </a:rPr>
              <a:t>many </a:t>
            </a:r>
            <a:r>
              <a:rPr lang="en-US" sz="3200" b="1" dirty="0"/>
              <a:t>possible triangulations ?</a:t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2481025" y="2057400"/>
            <a:ext cx="3962400" cy="3581400"/>
            <a:chOff x="2362200" y="2057400"/>
            <a:chExt cx="3962400" cy="3581400"/>
          </a:xfrm>
        </p:grpSpPr>
        <p:cxnSp>
          <p:nvCxnSpPr>
            <p:cNvPr id="34" name="Straight Connector 33"/>
            <p:cNvCxnSpPr/>
            <p:nvPr/>
          </p:nvCxnSpPr>
          <p:spPr>
            <a:xfrm flipH="1" flipV="1">
              <a:off x="2362200" y="3562350"/>
              <a:ext cx="457200" cy="13906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Group 45"/>
            <p:cNvGrpSpPr/>
            <p:nvPr/>
          </p:nvGrpSpPr>
          <p:grpSpPr>
            <a:xfrm>
              <a:off x="2362200" y="2057400"/>
              <a:ext cx="3962400" cy="3581400"/>
              <a:chOff x="2362200" y="2057400"/>
              <a:chExt cx="3962400" cy="3581400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3733800" y="5638800"/>
                <a:ext cx="16002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 flipH="1">
                <a:off x="5334000" y="4876800"/>
                <a:ext cx="762000" cy="76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H="1">
                <a:off x="6096000" y="3886200"/>
                <a:ext cx="228600" cy="990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5867400" y="2514600"/>
                <a:ext cx="457200" cy="1371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4953000" y="2057400"/>
                <a:ext cx="914400" cy="4572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flipV="1">
                <a:off x="2895600" y="2057400"/>
                <a:ext cx="2057400" cy="5334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flipV="1">
                <a:off x="2362200" y="2590800"/>
                <a:ext cx="533400" cy="990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 flipH="1" flipV="1">
                <a:off x="2819400" y="4953000"/>
                <a:ext cx="914400" cy="6858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Group 8"/>
          <p:cNvGrpSpPr/>
          <p:nvPr/>
        </p:nvGrpSpPr>
        <p:grpSpPr>
          <a:xfrm>
            <a:off x="2369017" y="1611868"/>
            <a:ext cx="4488983" cy="4484132"/>
            <a:chOff x="2326392" y="1611868"/>
            <a:chExt cx="4488983" cy="4484132"/>
          </a:xfrm>
        </p:grpSpPr>
        <p:grpSp>
          <p:nvGrpSpPr>
            <p:cNvPr id="3" name="Group 2"/>
            <p:cNvGrpSpPr/>
            <p:nvPr/>
          </p:nvGrpSpPr>
          <p:grpSpPr>
            <a:xfrm>
              <a:off x="2326392" y="1611868"/>
              <a:ext cx="4488983" cy="4484132"/>
              <a:chOff x="2326392" y="1611868"/>
              <a:chExt cx="4488983" cy="44841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Rectangle 1"/>
                  <p:cNvSpPr/>
                  <p:nvPr/>
                </p:nvSpPr>
                <p:spPr>
                  <a:xfrm>
                    <a:off x="5224225" y="5726668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" name="Rectangle 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4225" y="57266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Rectangle 17"/>
                  <p:cNvSpPr/>
                  <p:nvPr/>
                </p:nvSpPr>
                <p:spPr>
                  <a:xfrm>
                    <a:off x="6096000" y="46482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Rectangle 1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6000" y="46482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333" r="-14815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Rectangle 18"/>
                  <p:cNvSpPr/>
                  <p:nvPr/>
                </p:nvSpPr>
                <p:spPr>
                  <a:xfrm>
                    <a:off x="6324600" y="36576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Rectangle 1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24600" y="36576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Rectangle 20"/>
                  <p:cNvSpPr/>
                  <p:nvPr/>
                </p:nvSpPr>
                <p:spPr>
                  <a:xfrm>
                    <a:off x="4800600" y="1611868"/>
                    <a:ext cx="49237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" name="Rectangle 2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00600" y="1611868"/>
                    <a:ext cx="492379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ctangle 21"/>
                  <p:cNvSpPr/>
                  <p:nvPr/>
                </p:nvSpPr>
                <p:spPr>
                  <a:xfrm>
                    <a:off x="2326392" y="4888468"/>
                    <a:ext cx="72160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Rectangle 2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26392" y="4888468"/>
                    <a:ext cx="721608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101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/>
                  <p:cNvSpPr/>
                  <p:nvPr/>
                </p:nvSpPr>
                <p:spPr>
                  <a:xfrm>
                    <a:off x="3469392" y="5650468"/>
                    <a:ext cx="49879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Rectangle 2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69392" y="5650468"/>
                    <a:ext cx="498791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197" r="-15854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" name="Freeform 6"/>
            <p:cNvSpPr/>
            <p:nvPr/>
          </p:nvSpPr>
          <p:spPr>
            <a:xfrm>
              <a:off x="5791200" y="2133600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 rot="16200000">
              <a:off x="2559011" y="2118068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3852625" y="4876800"/>
            <a:ext cx="2362200" cy="762000"/>
            <a:chOff x="3810000" y="4876800"/>
            <a:chExt cx="2362200" cy="762000"/>
          </a:xfrm>
        </p:grpSpPr>
        <p:cxnSp>
          <p:nvCxnSpPr>
            <p:cNvPr id="13" name="Straight Connector 12"/>
            <p:cNvCxnSpPr/>
            <p:nvPr/>
          </p:nvCxnSpPr>
          <p:spPr>
            <a:xfrm flipV="1">
              <a:off x="3810000" y="4876800"/>
              <a:ext cx="2362200" cy="76200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V="1">
              <a:off x="5410200" y="4876800"/>
              <a:ext cx="762000" cy="76200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Straight Connector 38"/>
          <p:cNvCxnSpPr/>
          <p:nvPr/>
        </p:nvCxnSpPr>
        <p:spPr>
          <a:xfrm>
            <a:off x="3852625" y="5638800"/>
            <a:ext cx="1600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BB6F22BE-42AE-2F3E-33AD-C0CCC78FA30C}"/>
              </a:ext>
            </a:extLst>
          </p:cNvPr>
          <p:cNvSpPr/>
          <p:nvPr/>
        </p:nvSpPr>
        <p:spPr>
          <a:xfrm>
            <a:off x="3869412" y="6281456"/>
            <a:ext cx="5029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608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500"/>
                                        <p:tgtEl>
                                          <p:spTgt spid="8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5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build="p"/>
      <p:bldP spid="14" grpId="0" animBg="1"/>
      <p:bldP spid="5" grpId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ontent Placeholder 8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CA2E4D-26D0-23F4-AFB1-AE0AC76F494D}"/>
              </a:ext>
            </a:extLst>
          </p:cNvPr>
          <p:cNvSpPr/>
          <p:nvPr/>
        </p:nvSpPr>
        <p:spPr>
          <a:xfrm>
            <a:off x="3861785" y="3897867"/>
            <a:ext cx="2581639" cy="1730575"/>
          </a:xfrm>
          <a:custGeom>
            <a:avLst/>
            <a:gdLst>
              <a:gd name="connsiteX0" fmla="*/ 0 w 2334828"/>
              <a:gd name="connsiteY0" fmla="*/ 736847 h 745724"/>
              <a:gd name="connsiteX1" fmla="*/ 2334828 w 2334828"/>
              <a:gd name="connsiteY1" fmla="*/ 0 h 745724"/>
              <a:gd name="connsiteX2" fmla="*/ 1606859 w 2334828"/>
              <a:gd name="connsiteY2" fmla="*/ 745724 h 745724"/>
              <a:gd name="connsiteX3" fmla="*/ 0 w 2334828"/>
              <a:gd name="connsiteY3" fmla="*/ 736847 h 745724"/>
              <a:gd name="connsiteX0" fmla="*/ 0 w 2334828"/>
              <a:gd name="connsiteY0" fmla="*/ 736847 h 741918"/>
              <a:gd name="connsiteX1" fmla="*/ 2334828 w 2334828"/>
              <a:gd name="connsiteY1" fmla="*/ 0 h 741918"/>
              <a:gd name="connsiteX2" fmla="*/ 1454310 w 2334828"/>
              <a:gd name="connsiteY2" fmla="*/ 741918 h 741918"/>
              <a:gd name="connsiteX3" fmla="*/ 0 w 2334828"/>
              <a:gd name="connsiteY3" fmla="*/ 736847 h 741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4828" h="741918">
                <a:moveTo>
                  <a:pt x="0" y="736847"/>
                </a:moveTo>
                <a:lnTo>
                  <a:pt x="2334828" y="0"/>
                </a:lnTo>
                <a:lnTo>
                  <a:pt x="1454310" y="741918"/>
                </a:lnTo>
                <a:lnTo>
                  <a:pt x="0" y="736847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How </a:t>
            </a:r>
            <a:r>
              <a:rPr lang="en-US" sz="3200" b="1" dirty="0">
                <a:solidFill>
                  <a:srgbClr val="0070C0"/>
                </a:solidFill>
              </a:rPr>
              <a:t>many </a:t>
            </a:r>
            <a:r>
              <a:rPr lang="en-US" sz="3200" b="1" dirty="0"/>
              <a:t>possible triangulations ?</a:t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2481025" y="2057400"/>
            <a:ext cx="3962400" cy="3581400"/>
            <a:chOff x="2362200" y="2057400"/>
            <a:chExt cx="3962400" cy="3581400"/>
          </a:xfrm>
        </p:grpSpPr>
        <p:cxnSp>
          <p:nvCxnSpPr>
            <p:cNvPr id="34" name="Straight Connector 33"/>
            <p:cNvCxnSpPr/>
            <p:nvPr/>
          </p:nvCxnSpPr>
          <p:spPr>
            <a:xfrm flipH="1" flipV="1">
              <a:off x="2362200" y="3562350"/>
              <a:ext cx="457200" cy="13906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Group 45"/>
            <p:cNvGrpSpPr/>
            <p:nvPr/>
          </p:nvGrpSpPr>
          <p:grpSpPr>
            <a:xfrm>
              <a:off x="2362200" y="2057400"/>
              <a:ext cx="3962400" cy="3581400"/>
              <a:chOff x="2362200" y="2057400"/>
              <a:chExt cx="3962400" cy="3581400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3733800" y="5638800"/>
                <a:ext cx="16002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 flipH="1">
                <a:off x="5334000" y="4876800"/>
                <a:ext cx="762000" cy="76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H="1">
                <a:off x="6096000" y="3886200"/>
                <a:ext cx="228600" cy="990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5867400" y="2514600"/>
                <a:ext cx="457200" cy="1371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4953000" y="2057400"/>
                <a:ext cx="914400" cy="4572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flipV="1">
                <a:off x="2895600" y="2057400"/>
                <a:ext cx="2057400" cy="5334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flipV="1">
                <a:off x="2362200" y="2590800"/>
                <a:ext cx="533400" cy="990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 flipH="1" flipV="1">
                <a:off x="2819400" y="4953000"/>
                <a:ext cx="914400" cy="6858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Group 8"/>
          <p:cNvGrpSpPr/>
          <p:nvPr/>
        </p:nvGrpSpPr>
        <p:grpSpPr>
          <a:xfrm>
            <a:off x="2369017" y="1611868"/>
            <a:ext cx="4488983" cy="4484132"/>
            <a:chOff x="2326392" y="1611868"/>
            <a:chExt cx="4488983" cy="4484132"/>
          </a:xfrm>
        </p:grpSpPr>
        <p:grpSp>
          <p:nvGrpSpPr>
            <p:cNvPr id="3" name="Group 2"/>
            <p:cNvGrpSpPr/>
            <p:nvPr/>
          </p:nvGrpSpPr>
          <p:grpSpPr>
            <a:xfrm>
              <a:off x="2326392" y="1611868"/>
              <a:ext cx="4488983" cy="4484132"/>
              <a:chOff x="2326392" y="1611868"/>
              <a:chExt cx="4488983" cy="44841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Rectangle 1"/>
                  <p:cNvSpPr/>
                  <p:nvPr/>
                </p:nvSpPr>
                <p:spPr>
                  <a:xfrm>
                    <a:off x="5224225" y="5726668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" name="Rectangle 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4225" y="57266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2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Rectangle 17"/>
                  <p:cNvSpPr/>
                  <p:nvPr/>
                </p:nvSpPr>
                <p:spPr>
                  <a:xfrm>
                    <a:off x="6096000" y="46482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Rectangle 1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6000" y="46482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333" r="-14815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Rectangle 18"/>
                  <p:cNvSpPr/>
                  <p:nvPr/>
                </p:nvSpPr>
                <p:spPr>
                  <a:xfrm>
                    <a:off x="6324600" y="36576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Rectangle 1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24600" y="36576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Rectangle 20"/>
                  <p:cNvSpPr/>
                  <p:nvPr/>
                </p:nvSpPr>
                <p:spPr>
                  <a:xfrm>
                    <a:off x="4800600" y="1611868"/>
                    <a:ext cx="49237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" name="Rectangle 2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00600" y="1611868"/>
                    <a:ext cx="492379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ctangle 21"/>
                  <p:cNvSpPr/>
                  <p:nvPr/>
                </p:nvSpPr>
                <p:spPr>
                  <a:xfrm>
                    <a:off x="2326392" y="4888468"/>
                    <a:ext cx="72160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Rectangle 2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26392" y="4888468"/>
                    <a:ext cx="721608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1101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/>
                  <p:cNvSpPr/>
                  <p:nvPr/>
                </p:nvSpPr>
                <p:spPr>
                  <a:xfrm>
                    <a:off x="3469392" y="5650468"/>
                    <a:ext cx="49879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Rectangle 2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69392" y="5650468"/>
                    <a:ext cx="498791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5854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" name="Freeform 6"/>
            <p:cNvSpPr/>
            <p:nvPr/>
          </p:nvSpPr>
          <p:spPr>
            <a:xfrm>
              <a:off x="5791200" y="2133600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 rot="16200000">
              <a:off x="2559011" y="2118068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3852625" y="3886200"/>
            <a:ext cx="2590800" cy="1752600"/>
            <a:chOff x="3810000" y="3886200"/>
            <a:chExt cx="2590800" cy="1752600"/>
          </a:xfrm>
        </p:grpSpPr>
        <p:cxnSp>
          <p:nvCxnSpPr>
            <p:cNvPr id="13" name="Straight Connector 12"/>
            <p:cNvCxnSpPr>
              <a:cxnSpLocks/>
            </p:cNvCxnSpPr>
            <p:nvPr/>
          </p:nvCxnSpPr>
          <p:spPr>
            <a:xfrm flipV="1">
              <a:off x="3810000" y="3886200"/>
              <a:ext cx="2590800" cy="175260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>
              <a:cxnSpLocks/>
            </p:cNvCxnSpPr>
            <p:nvPr/>
          </p:nvCxnSpPr>
          <p:spPr>
            <a:xfrm flipV="1">
              <a:off x="5410200" y="3886200"/>
              <a:ext cx="990600" cy="175260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Straight Connector 38"/>
          <p:cNvCxnSpPr/>
          <p:nvPr/>
        </p:nvCxnSpPr>
        <p:spPr>
          <a:xfrm>
            <a:off x="3852625" y="5638800"/>
            <a:ext cx="1600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1441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">
        <p:fade/>
      </p:transition>
    </mc:Choice>
    <mc:Fallback xmlns="">
      <p:transition spd="med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ontent Placeholder 8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CA2E4D-26D0-23F4-AFB1-AE0AC76F494D}"/>
              </a:ext>
            </a:extLst>
          </p:cNvPr>
          <p:cNvSpPr/>
          <p:nvPr/>
        </p:nvSpPr>
        <p:spPr>
          <a:xfrm>
            <a:off x="3861786" y="2514599"/>
            <a:ext cx="2124440" cy="3119194"/>
          </a:xfrm>
          <a:custGeom>
            <a:avLst/>
            <a:gdLst>
              <a:gd name="connsiteX0" fmla="*/ 0 w 2334828"/>
              <a:gd name="connsiteY0" fmla="*/ 736847 h 745724"/>
              <a:gd name="connsiteX1" fmla="*/ 2334828 w 2334828"/>
              <a:gd name="connsiteY1" fmla="*/ 0 h 745724"/>
              <a:gd name="connsiteX2" fmla="*/ 1606859 w 2334828"/>
              <a:gd name="connsiteY2" fmla="*/ 745724 h 745724"/>
              <a:gd name="connsiteX3" fmla="*/ 0 w 2334828"/>
              <a:gd name="connsiteY3" fmla="*/ 736847 h 745724"/>
              <a:gd name="connsiteX0" fmla="*/ 0 w 2334828"/>
              <a:gd name="connsiteY0" fmla="*/ 736847 h 741918"/>
              <a:gd name="connsiteX1" fmla="*/ 2334828 w 2334828"/>
              <a:gd name="connsiteY1" fmla="*/ 0 h 741918"/>
              <a:gd name="connsiteX2" fmla="*/ 1454310 w 2334828"/>
              <a:gd name="connsiteY2" fmla="*/ 741918 h 741918"/>
              <a:gd name="connsiteX3" fmla="*/ 0 w 2334828"/>
              <a:gd name="connsiteY3" fmla="*/ 736847 h 741918"/>
              <a:gd name="connsiteX0" fmla="*/ 0 w 2334828"/>
              <a:gd name="connsiteY0" fmla="*/ 736847 h 748264"/>
              <a:gd name="connsiteX1" fmla="*/ 2334828 w 2334828"/>
              <a:gd name="connsiteY1" fmla="*/ 0 h 748264"/>
              <a:gd name="connsiteX2" fmla="*/ 1737258 w 2334828"/>
              <a:gd name="connsiteY2" fmla="*/ 748264 h 748264"/>
              <a:gd name="connsiteX3" fmla="*/ 0 w 2334828"/>
              <a:gd name="connsiteY3" fmla="*/ 736847 h 748264"/>
              <a:gd name="connsiteX0" fmla="*/ 0 w 2334828"/>
              <a:gd name="connsiteY0" fmla="*/ 743193 h 748264"/>
              <a:gd name="connsiteX1" fmla="*/ 2334828 w 2334828"/>
              <a:gd name="connsiteY1" fmla="*/ 0 h 748264"/>
              <a:gd name="connsiteX2" fmla="*/ 1737258 w 2334828"/>
              <a:gd name="connsiteY2" fmla="*/ 748264 h 748264"/>
              <a:gd name="connsiteX3" fmla="*/ 0 w 2334828"/>
              <a:gd name="connsiteY3" fmla="*/ 743193 h 748264"/>
              <a:gd name="connsiteX0" fmla="*/ 0 w 2334828"/>
              <a:gd name="connsiteY0" fmla="*/ 743193 h 743193"/>
              <a:gd name="connsiteX1" fmla="*/ 2334828 w 2334828"/>
              <a:gd name="connsiteY1" fmla="*/ 0 h 743193"/>
              <a:gd name="connsiteX2" fmla="*/ 1747014 w 2334828"/>
              <a:gd name="connsiteY2" fmla="*/ 739803 h 743193"/>
              <a:gd name="connsiteX3" fmla="*/ 0 w 2334828"/>
              <a:gd name="connsiteY3" fmla="*/ 743193 h 74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4828" h="743193">
                <a:moveTo>
                  <a:pt x="0" y="743193"/>
                </a:moveTo>
                <a:lnTo>
                  <a:pt x="2334828" y="0"/>
                </a:lnTo>
                <a:lnTo>
                  <a:pt x="1747014" y="739803"/>
                </a:lnTo>
                <a:lnTo>
                  <a:pt x="0" y="743193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How </a:t>
            </a:r>
            <a:r>
              <a:rPr lang="en-US" sz="3200" b="1" dirty="0">
                <a:solidFill>
                  <a:srgbClr val="0070C0"/>
                </a:solidFill>
              </a:rPr>
              <a:t>many </a:t>
            </a:r>
            <a:r>
              <a:rPr lang="en-US" sz="3200" b="1" dirty="0"/>
              <a:t>possible triangulations ?</a:t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2481025" y="2057400"/>
            <a:ext cx="3962400" cy="3581400"/>
            <a:chOff x="2362200" y="2057400"/>
            <a:chExt cx="3962400" cy="3581400"/>
          </a:xfrm>
        </p:grpSpPr>
        <p:cxnSp>
          <p:nvCxnSpPr>
            <p:cNvPr id="34" name="Straight Connector 33"/>
            <p:cNvCxnSpPr/>
            <p:nvPr/>
          </p:nvCxnSpPr>
          <p:spPr>
            <a:xfrm flipH="1" flipV="1">
              <a:off x="2362200" y="3562350"/>
              <a:ext cx="457200" cy="13906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Group 45"/>
            <p:cNvGrpSpPr/>
            <p:nvPr/>
          </p:nvGrpSpPr>
          <p:grpSpPr>
            <a:xfrm>
              <a:off x="2362200" y="2057400"/>
              <a:ext cx="3962400" cy="3581400"/>
              <a:chOff x="2362200" y="2057400"/>
              <a:chExt cx="3962400" cy="3581400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3733800" y="5638800"/>
                <a:ext cx="16002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 flipH="1">
                <a:off x="5334000" y="4876800"/>
                <a:ext cx="762000" cy="76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H="1">
                <a:off x="6096000" y="3886200"/>
                <a:ext cx="228600" cy="990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5867400" y="2514600"/>
                <a:ext cx="457200" cy="1371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4953000" y="2057400"/>
                <a:ext cx="914400" cy="4572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flipV="1">
                <a:off x="2895600" y="2057400"/>
                <a:ext cx="2057400" cy="5334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flipV="1">
                <a:off x="2362200" y="2590800"/>
                <a:ext cx="533400" cy="990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 flipH="1" flipV="1">
                <a:off x="2819400" y="4953000"/>
                <a:ext cx="914400" cy="6858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Group 8"/>
          <p:cNvGrpSpPr/>
          <p:nvPr/>
        </p:nvGrpSpPr>
        <p:grpSpPr>
          <a:xfrm>
            <a:off x="2369017" y="1611868"/>
            <a:ext cx="4488983" cy="4484132"/>
            <a:chOff x="2326392" y="1611868"/>
            <a:chExt cx="4488983" cy="4484132"/>
          </a:xfrm>
        </p:grpSpPr>
        <p:grpSp>
          <p:nvGrpSpPr>
            <p:cNvPr id="3" name="Group 2"/>
            <p:cNvGrpSpPr/>
            <p:nvPr/>
          </p:nvGrpSpPr>
          <p:grpSpPr>
            <a:xfrm>
              <a:off x="2326392" y="1611868"/>
              <a:ext cx="4488983" cy="4484132"/>
              <a:chOff x="2326392" y="1611868"/>
              <a:chExt cx="4488983" cy="44841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Rectangle 1"/>
                  <p:cNvSpPr/>
                  <p:nvPr/>
                </p:nvSpPr>
                <p:spPr>
                  <a:xfrm>
                    <a:off x="5224225" y="5726668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" name="Rectangle 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4225" y="57266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2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Rectangle 17"/>
                  <p:cNvSpPr/>
                  <p:nvPr/>
                </p:nvSpPr>
                <p:spPr>
                  <a:xfrm>
                    <a:off x="6096000" y="46482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Rectangle 1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6000" y="46482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333" r="-14815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Rectangle 18"/>
                  <p:cNvSpPr/>
                  <p:nvPr/>
                </p:nvSpPr>
                <p:spPr>
                  <a:xfrm>
                    <a:off x="6324600" y="36576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Rectangle 1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24600" y="36576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Rectangle 20"/>
                  <p:cNvSpPr/>
                  <p:nvPr/>
                </p:nvSpPr>
                <p:spPr>
                  <a:xfrm>
                    <a:off x="4800600" y="1611868"/>
                    <a:ext cx="49237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" name="Rectangle 2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00600" y="1611868"/>
                    <a:ext cx="492379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ctangle 21"/>
                  <p:cNvSpPr/>
                  <p:nvPr/>
                </p:nvSpPr>
                <p:spPr>
                  <a:xfrm>
                    <a:off x="2326392" y="4888468"/>
                    <a:ext cx="72160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Rectangle 2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26392" y="4888468"/>
                    <a:ext cx="721608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1101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/>
                  <p:cNvSpPr/>
                  <p:nvPr/>
                </p:nvSpPr>
                <p:spPr>
                  <a:xfrm>
                    <a:off x="3469392" y="5650468"/>
                    <a:ext cx="49879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Rectangle 2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69392" y="5650468"/>
                    <a:ext cx="498791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5854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" name="Freeform 6"/>
            <p:cNvSpPr/>
            <p:nvPr/>
          </p:nvSpPr>
          <p:spPr>
            <a:xfrm>
              <a:off x="5791200" y="2133600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 rot="16200000">
              <a:off x="2559011" y="2118068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3852625" y="2524957"/>
            <a:ext cx="2124440" cy="3113843"/>
            <a:chOff x="3810000" y="3886200"/>
            <a:chExt cx="2590800" cy="1752600"/>
          </a:xfrm>
        </p:grpSpPr>
        <p:cxnSp>
          <p:nvCxnSpPr>
            <p:cNvPr id="13" name="Straight Connector 12"/>
            <p:cNvCxnSpPr>
              <a:cxnSpLocks/>
            </p:cNvCxnSpPr>
            <p:nvPr/>
          </p:nvCxnSpPr>
          <p:spPr>
            <a:xfrm flipV="1">
              <a:off x="3810000" y="3886200"/>
              <a:ext cx="2590800" cy="175260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>
              <a:cxnSpLocks/>
            </p:cNvCxnSpPr>
            <p:nvPr/>
          </p:nvCxnSpPr>
          <p:spPr>
            <a:xfrm flipV="1">
              <a:off x="5750306" y="3886200"/>
              <a:ext cx="650494" cy="175259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Straight Connector 38"/>
          <p:cNvCxnSpPr/>
          <p:nvPr/>
        </p:nvCxnSpPr>
        <p:spPr>
          <a:xfrm>
            <a:off x="3852625" y="5638800"/>
            <a:ext cx="1600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5673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">
        <p:fade/>
      </p:transition>
    </mc:Choice>
    <mc:Fallback xmlns="">
      <p:transition spd="med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ontent Placeholder 8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CA2E4D-26D0-23F4-AFB1-AE0AC76F494D}"/>
              </a:ext>
            </a:extLst>
          </p:cNvPr>
          <p:cNvSpPr/>
          <p:nvPr/>
        </p:nvSpPr>
        <p:spPr>
          <a:xfrm>
            <a:off x="3861787" y="2052394"/>
            <a:ext cx="1580104" cy="3581399"/>
          </a:xfrm>
          <a:custGeom>
            <a:avLst/>
            <a:gdLst>
              <a:gd name="connsiteX0" fmla="*/ 0 w 2334828"/>
              <a:gd name="connsiteY0" fmla="*/ 736847 h 745724"/>
              <a:gd name="connsiteX1" fmla="*/ 2334828 w 2334828"/>
              <a:gd name="connsiteY1" fmla="*/ 0 h 745724"/>
              <a:gd name="connsiteX2" fmla="*/ 1606859 w 2334828"/>
              <a:gd name="connsiteY2" fmla="*/ 745724 h 745724"/>
              <a:gd name="connsiteX3" fmla="*/ 0 w 2334828"/>
              <a:gd name="connsiteY3" fmla="*/ 736847 h 745724"/>
              <a:gd name="connsiteX0" fmla="*/ 0 w 2334828"/>
              <a:gd name="connsiteY0" fmla="*/ 736847 h 741918"/>
              <a:gd name="connsiteX1" fmla="*/ 2334828 w 2334828"/>
              <a:gd name="connsiteY1" fmla="*/ 0 h 741918"/>
              <a:gd name="connsiteX2" fmla="*/ 1454310 w 2334828"/>
              <a:gd name="connsiteY2" fmla="*/ 741918 h 741918"/>
              <a:gd name="connsiteX3" fmla="*/ 0 w 2334828"/>
              <a:gd name="connsiteY3" fmla="*/ 736847 h 741918"/>
              <a:gd name="connsiteX0" fmla="*/ 0 w 2334828"/>
              <a:gd name="connsiteY0" fmla="*/ 736847 h 748264"/>
              <a:gd name="connsiteX1" fmla="*/ 2334828 w 2334828"/>
              <a:gd name="connsiteY1" fmla="*/ 0 h 748264"/>
              <a:gd name="connsiteX2" fmla="*/ 1737258 w 2334828"/>
              <a:gd name="connsiteY2" fmla="*/ 748264 h 748264"/>
              <a:gd name="connsiteX3" fmla="*/ 0 w 2334828"/>
              <a:gd name="connsiteY3" fmla="*/ 736847 h 748264"/>
              <a:gd name="connsiteX0" fmla="*/ 0 w 2334828"/>
              <a:gd name="connsiteY0" fmla="*/ 743193 h 748264"/>
              <a:gd name="connsiteX1" fmla="*/ 2334828 w 2334828"/>
              <a:gd name="connsiteY1" fmla="*/ 0 h 748264"/>
              <a:gd name="connsiteX2" fmla="*/ 1737258 w 2334828"/>
              <a:gd name="connsiteY2" fmla="*/ 748264 h 748264"/>
              <a:gd name="connsiteX3" fmla="*/ 0 w 2334828"/>
              <a:gd name="connsiteY3" fmla="*/ 743193 h 748264"/>
              <a:gd name="connsiteX0" fmla="*/ 0 w 2334828"/>
              <a:gd name="connsiteY0" fmla="*/ 743193 h 743193"/>
              <a:gd name="connsiteX1" fmla="*/ 2334828 w 2334828"/>
              <a:gd name="connsiteY1" fmla="*/ 0 h 743193"/>
              <a:gd name="connsiteX2" fmla="*/ 1747014 w 2334828"/>
              <a:gd name="connsiteY2" fmla="*/ 739803 h 743193"/>
              <a:gd name="connsiteX3" fmla="*/ 0 w 2334828"/>
              <a:gd name="connsiteY3" fmla="*/ 743193 h 743193"/>
              <a:gd name="connsiteX0" fmla="*/ 0 w 3048886"/>
              <a:gd name="connsiteY0" fmla="*/ 743193 h 743193"/>
              <a:gd name="connsiteX1" fmla="*/ 2334828 w 3048886"/>
              <a:gd name="connsiteY1" fmla="*/ 0 h 743193"/>
              <a:gd name="connsiteX2" fmla="*/ 3048886 w 3048886"/>
              <a:gd name="connsiteY2" fmla="*/ 737961 h 743193"/>
              <a:gd name="connsiteX3" fmla="*/ 0 w 3048886"/>
              <a:gd name="connsiteY3" fmla="*/ 743193 h 74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886" h="743193">
                <a:moveTo>
                  <a:pt x="0" y="743193"/>
                </a:moveTo>
                <a:lnTo>
                  <a:pt x="2334828" y="0"/>
                </a:lnTo>
                <a:lnTo>
                  <a:pt x="3048886" y="737961"/>
                </a:lnTo>
                <a:lnTo>
                  <a:pt x="0" y="743193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How </a:t>
            </a:r>
            <a:r>
              <a:rPr lang="en-US" sz="3200" b="1" dirty="0">
                <a:solidFill>
                  <a:srgbClr val="0070C0"/>
                </a:solidFill>
              </a:rPr>
              <a:t>many </a:t>
            </a:r>
            <a:r>
              <a:rPr lang="en-US" sz="3200" b="1" dirty="0"/>
              <a:t>possible triangulations ?</a:t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2481025" y="2057400"/>
            <a:ext cx="3962400" cy="3581400"/>
            <a:chOff x="2362200" y="2057400"/>
            <a:chExt cx="3962400" cy="3581400"/>
          </a:xfrm>
        </p:grpSpPr>
        <p:cxnSp>
          <p:nvCxnSpPr>
            <p:cNvPr id="34" name="Straight Connector 33"/>
            <p:cNvCxnSpPr/>
            <p:nvPr/>
          </p:nvCxnSpPr>
          <p:spPr>
            <a:xfrm flipH="1" flipV="1">
              <a:off x="2362200" y="3562350"/>
              <a:ext cx="457200" cy="13906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Group 45"/>
            <p:cNvGrpSpPr/>
            <p:nvPr/>
          </p:nvGrpSpPr>
          <p:grpSpPr>
            <a:xfrm>
              <a:off x="2362200" y="2057400"/>
              <a:ext cx="3962400" cy="3581400"/>
              <a:chOff x="2362200" y="2057400"/>
              <a:chExt cx="3962400" cy="3581400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3733800" y="5638800"/>
                <a:ext cx="16002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 flipH="1">
                <a:off x="5334000" y="4876800"/>
                <a:ext cx="762000" cy="76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H="1">
                <a:off x="6096000" y="3886200"/>
                <a:ext cx="228600" cy="990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5867400" y="2514600"/>
                <a:ext cx="457200" cy="1371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4953000" y="2057400"/>
                <a:ext cx="914400" cy="4572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flipV="1">
                <a:off x="2895600" y="2057400"/>
                <a:ext cx="2057400" cy="5334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flipV="1">
                <a:off x="2362200" y="2590800"/>
                <a:ext cx="533400" cy="990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 flipH="1" flipV="1">
                <a:off x="2819400" y="4953000"/>
                <a:ext cx="914400" cy="6858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Group 8"/>
          <p:cNvGrpSpPr/>
          <p:nvPr/>
        </p:nvGrpSpPr>
        <p:grpSpPr>
          <a:xfrm>
            <a:off x="2369017" y="1611868"/>
            <a:ext cx="4488983" cy="4484132"/>
            <a:chOff x="2326392" y="1611868"/>
            <a:chExt cx="4488983" cy="4484132"/>
          </a:xfrm>
        </p:grpSpPr>
        <p:grpSp>
          <p:nvGrpSpPr>
            <p:cNvPr id="3" name="Group 2"/>
            <p:cNvGrpSpPr/>
            <p:nvPr/>
          </p:nvGrpSpPr>
          <p:grpSpPr>
            <a:xfrm>
              <a:off x="2326392" y="1611868"/>
              <a:ext cx="4488983" cy="4484132"/>
              <a:chOff x="2326392" y="1611868"/>
              <a:chExt cx="4488983" cy="44841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Rectangle 1"/>
                  <p:cNvSpPr/>
                  <p:nvPr/>
                </p:nvSpPr>
                <p:spPr>
                  <a:xfrm>
                    <a:off x="5224225" y="5726668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" name="Rectangle 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4225" y="57266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2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Rectangle 17"/>
                  <p:cNvSpPr/>
                  <p:nvPr/>
                </p:nvSpPr>
                <p:spPr>
                  <a:xfrm>
                    <a:off x="6096000" y="46482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Rectangle 1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6000" y="46482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333" r="-14815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Rectangle 18"/>
                  <p:cNvSpPr/>
                  <p:nvPr/>
                </p:nvSpPr>
                <p:spPr>
                  <a:xfrm>
                    <a:off x="6324600" y="36576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Rectangle 1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24600" y="36576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Rectangle 20"/>
                  <p:cNvSpPr/>
                  <p:nvPr/>
                </p:nvSpPr>
                <p:spPr>
                  <a:xfrm>
                    <a:off x="4800600" y="1611868"/>
                    <a:ext cx="49237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" name="Rectangle 2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00600" y="1611868"/>
                    <a:ext cx="492379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ctangle 21"/>
                  <p:cNvSpPr/>
                  <p:nvPr/>
                </p:nvSpPr>
                <p:spPr>
                  <a:xfrm>
                    <a:off x="2326392" y="4888468"/>
                    <a:ext cx="72160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Rectangle 2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26392" y="4888468"/>
                    <a:ext cx="721608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1101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/>
                  <p:cNvSpPr/>
                  <p:nvPr/>
                </p:nvSpPr>
                <p:spPr>
                  <a:xfrm>
                    <a:off x="3469392" y="5650468"/>
                    <a:ext cx="49879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Rectangle 2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69392" y="5650468"/>
                    <a:ext cx="498791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5854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" name="Freeform 6"/>
            <p:cNvSpPr/>
            <p:nvPr/>
          </p:nvSpPr>
          <p:spPr>
            <a:xfrm>
              <a:off x="5791200" y="2133600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 rot="16200000">
              <a:off x="2559011" y="2118068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3852625" y="2057400"/>
            <a:ext cx="1591039" cy="3581401"/>
            <a:chOff x="3810000" y="3623039"/>
            <a:chExt cx="1940306" cy="2015761"/>
          </a:xfrm>
        </p:grpSpPr>
        <p:cxnSp>
          <p:nvCxnSpPr>
            <p:cNvPr id="13" name="Straight Connector 12"/>
            <p:cNvCxnSpPr>
              <a:cxnSpLocks/>
            </p:cNvCxnSpPr>
            <p:nvPr/>
          </p:nvCxnSpPr>
          <p:spPr>
            <a:xfrm flipV="1">
              <a:off x="3810000" y="3623040"/>
              <a:ext cx="1486840" cy="201576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>
              <a:cxnSpLocks/>
            </p:cNvCxnSpPr>
            <p:nvPr/>
          </p:nvCxnSpPr>
          <p:spPr>
            <a:xfrm flipH="1" flipV="1">
              <a:off x="5296840" y="3623039"/>
              <a:ext cx="453466" cy="201575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Straight Connector 38"/>
          <p:cNvCxnSpPr/>
          <p:nvPr/>
        </p:nvCxnSpPr>
        <p:spPr>
          <a:xfrm>
            <a:off x="3852625" y="5638800"/>
            <a:ext cx="1600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946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">
        <p:fade/>
      </p:transition>
    </mc:Choice>
    <mc:Fallback xmlns="">
      <p:transition spd="med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ontent Placeholder 8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CA2E4D-26D0-23F4-AFB1-AE0AC76F494D}"/>
              </a:ext>
            </a:extLst>
          </p:cNvPr>
          <p:cNvSpPr/>
          <p:nvPr/>
        </p:nvSpPr>
        <p:spPr>
          <a:xfrm>
            <a:off x="3012205" y="2576180"/>
            <a:ext cx="2429685" cy="3057614"/>
          </a:xfrm>
          <a:custGeom>
            <a:avLst/>
            <a:gdLst>
              <a:gd name="connsiteX0" fmla="*/ 0 w 2334828"/>
              <a:gd name="connsiteY0" fmla="*/ 736847 h 745724"/>
              <a:gd name="connsiteX1" fmla="*/ 2334828 w 2334828"/>
              <a:gd name="connsiteY1" fmla="*/ 0 h 745724"/>
              <a:gd name="connsiteX2" fmla="*/ 1606859 w 2334828"/>
              <a:gd name="connsiteY2" fmla="*/ 745724 h 745724"/>
              <a:gd name="connsiteX3" fmla="*/ 0 w 2334828"/>
              <a:gd name="connsiteY3" fmla="*/ 736847 h 745724"/>
              <a:gd name="connsiteX0" fmla="*/ 0 w 2334828"/>
              <a:gd name="connsiteY0" fmla="*/ 736847 h 741918"/>
              <a:gd name="connsiteX1" fmla="*/ 2334828 w 2334828"/>
              <a:gd name="connsiteY1" fmla="*/ 0 h 741918"/>
              <a:gd name="connsiteX2" fmla="*/ 1454310 w 2334828"/>
              <a:gd name="connsiteY2" fmla="*/ 741918 h 741918"/>
              <a:gd name="connsiteX3" fmla="*/ 0 w 2334828"/>
              <a:gd name="connsiteY3" fmla="*/ 736847 h 741918"/>
              <a:gd name="connsiteX0" fmla="*/ 0 w 2334828"/>
              <a:gd name="connsiteY0" fmla="*/ 736847 h 748264"/>
              <a:gd name="connsiteX1" fmla="*/ 2334828 w 2334828"/>
              <a:gd name="connsiteY1" fmla="*/ 0 h 748264"/>
              <a:gd name="connsiteX2" fmla="*/ 1737258 w 2334828"/>
              <a:gd name="connsiteY2" fmla="*/ 748264 h 748264"/>
              <a:gd name="connsiteX3" fmla="*/ 0 w 2334828"/>
              <a:gd name="connsiteY3" fmla="*/ 736847 h 748264"/>
              <a:gd name="connsiteX0" fmla="*/ 0 w 2334828"/>
              <a:gd name="connsiteY0" fmla="*/ 743193 h 748264"/>
              <a:gd name="connsiteX1" fmla="*/ 2334828 w 2334828"/>
              <a:gd name="connsiteY1" fmla="*/ 0 h 748264"/>
              <a:gd name="connsiteX2" fmla="*/ 1737258 w 2334828"/>
              <a:gd name="connsiteY2" fmla="*/ 748264 h 748264"/>
              <a:gd name="connsiteX3" fmla="*/ 0 w 2334828"/>
              <a:gd name="connsiteY3" fmla="*/ 743193 h 748264"/>
              <a:gd name="connsiteX0" fmla="*/ 0 w 2334828"/>
              <a:gd name="connsiteY0" fmla="*/ 743193 h 743193"/>
              <a:gd name="connsiteX1" fmla="*/ 2334828 w 2334828"/>
              <a:gd name="connsiteY1" fmla="*/ 0 h 743193"/>
              <a:gd name="connsiteX2" fmla="*/ 1747014 w 2334828"/>
              <a:gd name="connsiteY2" fmla="*/ 739803 h 743193"/>
              <a:gd name="connsiteX3" fmla="*/ 0 w 2334828"/>
              <a:gd name="connsiteY3" fmla="*/ 743193 h 743193"/>
              <a:gd name="connsiteX0" fmla="*/ 0 w 3048886"/>
              <a:gd name="connsiteY0" fmla="*/ 743193 h 743193"/>
              <a:gd name="connsiteX1" fmla="*/ 2334828 w 3048886"/>
              <a:gd name="connsiteY1" fmla="*/ 0 h 743193"/>
              <a:gd name="connsiteX2" fmla="*/ 3048886 w 3048886"/>
              <a:gd name="connsiteY2" fmla="*/ 737961 h 743193"/>
              <a:gd name="connsiteX3" fmla="*/ 0 w 3048886"/>
              <a:gd name="connsiteY3" fmla="*/ 743193 h 743193"/>
              <a:gd name="connsiteX0" fmla="*/ 1639307 w 4688193"/>
              <a:gd name="connsiteY0" fmla="*/ 634500 h 634500"/>
              <a:gd name="connsiteX1" fmla="*/ 0 w 4688193"/>
              <a:gd name="connsiteY1" fmla="*/ 0 h 634500"/>
              <a:gd name="connsiteX2" fmla="*/ 4688193 w 4688193"/>
              <a:gd name="connsiteY2" fmla="*/ 629268 h 634500"/>
              <a:gd name="connsiteX3" fmla="*/ 1639307 w 4688193"/>
              <a:gd name="connsiteY3" fmla="*/ 634500 h 63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88193" h="634500">
                <a:moveTo>
                  <a:pt x="1639307" y="634500"/>
                </a:moveTo>
                <a:lnTo>
                  <a:pt x="0" y="0"/>
                </a:lnTo>
                <a:lnTo>
                  <a:pt x="4688193" y="629268"/>
                </a:lnTo>
                <a:lnTo>
                  <a:pt x="1639307" y="63450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How </a:t>
            </a:r>
            <a:r>
              <a:rPr lang="en-US" sz="3200" b="1" dirty="0">
                <a:solidFill>
                  <a:srgbClr val="0070C0"/>
                </a:solidFill>
              </a:rPr>
              <a:t>many </a:t>
            </a:r>
            <a:r>
              <a:rPr lang="en-US" sz="3200" b="1" dirty="0"/>
              <a:t>possible triangulations ?</a:t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2481025" y="2057400"/>
            <a:ext cx="3962400" cy="3581400"/>
            <a:chOff x="2362200" y="2057400"/>
            <a:chExt cx="3962400" cy="3581400"/>
          </a:xfrm>
        </p:grpSpPr>
        <p:cxnSp>
          <p:nvCxnSpPr>
            <p:cNvPr id="34" name="Straight Connector 33"/>
            <p:cNvCxnSpPr/>
            <p:nvPr/>
          </p:nvCxnSpPr>
          <p:spPr>
            <a:xfrm flipH="1" flipV="1">
              <a:off x="2362200" y="3562350"/>
              <a:ext cx="457200" cy="13906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Group 45"/>
            <p:cNvGrpSpPr/>
            <p:nvPr/>
          </p:nvGrpSpPr>
          <p:grpSpPr>
            <a:xfrm>
              <a:off x="2362200" y="2057400"/>
              <a:ext cx="3962400" cy="3581400"/>
              <a:chOff x="2362200" y="2057400"/>
              <a:chExt cx="3962400" cy="3581400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3733800" y="5638800"/>
                <a:ext cx="16002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 flipH="1">
                <a:off x="5334000" y="4876800"/>
                <a:ext cx="762000" cy="76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H="1">
                <a:off x="6096000" y="3886200"/>
                <a:ext cx="228600" cy="990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5867400" y="2514600"/>
                <a:ext cx="457200" cy="1371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4953000" y="2057400"/>
                <a:ext cx="914400" cy="4572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flipV="1">
                <a:off x="2895600" y="2057400"/>
                <a:ext cx="2057400" cy="5334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flipV="1">
                <a:off x="2362200" y="2590800"/>
                <a:ext cx="533400" cy="990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 flipH="1" flipV="1">
                <a:off x="2819400" y="4953000"/>
                <a:ext cx="914400" cy="6858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Group 8"/>
          <p:cNvGrpSpPr/>
          <p:nvPr/>
        </p:nvGrpSpPr>
        <p:grpSpPr>
          <a:xfrm>
            <a:off x="2369017" y="1611868"/>
            <a:ext cx="4488983" cy="4484132"/>
            <a:chOff x="2326392" y="1611868"/>
            <a:chExt cx="4488983" cy="4484132"/>
          </a:xfrm>
        </p:grpSpPr>
        <p:grpSp>
          <p:nvGrpSpPr>
            <p:cNvPr id="3" name="Group 2"/>
            <p:cNvGrpSpPr/>
            <p:nvPr/>
          </p:nvGrpSpPr>
          <p:grpSpPr>
            <a:xfrm>
              <a:off x="2326392" y="1611868"/>
              <a:ext cx="4488983" cy="4484132"/>
              <a:chOff x="2326392" y="1611868"/>
              <a:chExt cx="4488983" cy="44841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Rectangle 1"/>
                  <p:cNvSpPr/>
                  <p:nvPr/>
                </p:nvSpPr>
                <p:spPr>
                  <a:xfrm>
                    <a:off x="5224225" y="5726668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" name="Rectangle 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4225" y="57266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2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Rectangle 17"/>
                  <p:cNvSpPr/>
                  <p:nvPr/>
                </p:nvSpPr>
                <p:spPr>
                  <a:xfrm>
                    <a:off x="6096000" y="46482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Rectangle 1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6000" y="46482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333" r="-14815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Rectangle 18"/>
                  <p:cNvSpPr/>
                  <p:nvPr/>
                </p:nvSpPr>
                <p:spPr>
                  <a:xfrm>
                    <a:off x="6324600" y="36576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Rectangle 1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24600" y="36576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Rectangle 20"/>
                  <p:cNvSpPr/>
                  <p:nvPr/>
                </p:nvSpPr>
                <p:spPr>
                  <a:xfrm>
                    <a:off x="4800600" y="1611868"/>
                    <a:ext cx="49237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" name="Rectangle 2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00600" y="1611868"/>
                    <a:ext cx="492379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ctangle 21"/>
                  <p:cNvSpPr/>
                  <p:nvPr/>
                </p:nvSpPr>
                <p:spPr>
                  <a:xfrm>
                    <a:off x="2326392" y="4888468"/>
                    <a:ext cx="72160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Rectangle 2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26392" y="4888468"/>
                    <a:ext cx="721608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1101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/>
                  <p:cNvSpPr/>
                  <p:nvPr/>
                </p:nvSpPr>
                <p:spPr>
                  <a:xfrm>
                    <a:off x="3469392" y="5650468"/>
                    <a:ext cx="49879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Rectangle 2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69392" y="5650468"/>
                    <a:ext cx="498791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5854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" name="Freeform 6"/>
            <p:cNvSpPr/>
            <p:nvPr/>
          </p:nvSpPr>
          <p:spPr>
            <a:xfrm>
              <a:off x="5791200" y="2133600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 rot="16200000">
              <a:off x="2559011" y="2118068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3014425" y="2590799"/>
            <a:ext cx="2429239" cy="3048000"/>
            <a:chOff x="2787797" y="3923259"/>
            <a:chExt cx="2962509" cy="1715541"/>
          </a:xfrm>
        </p:grpSpPr>
        <p:cxnSp>
          <p:nvCxnSpPr>
            <p:cNvPr id="13" name="Straight Connector 12"/>
            <p:cNvCxnSpPr>
              <a:cxnSpLocks/>
            </p:cNvCxnSpPr>
            <p:nvPr/>
          </p:nvCxnSpPr>
          <p:spPr>
            <a:xfrm flipH="1" flipV="1">
              <a:off x="2787797" y="3923259"/>
              <a:ext cx="1022203" cy="1715541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>
              <a:cxnSpLocks/>
            </p:cNvCxnSpPr>
            <p:nvPr/>
          </p:nvCxnSpPr>
          <p:spPr>
            <a:xfrm flipH="1" flipV="1">
              <a:off x="2787797" y="3923259"/>
              <a:ext cx="2962509" cy="171553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Straight Connector 38"/>
          <p:cNvCxnSpPr/>
          <p:nvPr/>
        </p:nvCxnSpPr>
        <p:spPr>
          <a:xfrm>
            <a:off x="3852625" y="5638800"/>
            <a:ext cx="1600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601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">
        <p:fade/>
      </p:transition>
    </mc:Choice>
    <mc:Fallback xmlns="">
      <p:transition spd="med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ontent Placeholder 8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CA2E4D-26D0-23F4-AFB1-AE0AC76F494D}"/>
              </a:ext>
            </a:extLst>
          </p:cNvPr>
          <p:cNvSpPr/>
          <p:nvPr/>
        </p:nvSpPr>
        <p:spPr>
          <a:xfrm>
            <a:off x="2470667" y="3579357"/>
            <a:ext cx="2971223" cy="2054437"/>
          </a:xfrm>
          <a:custGeom>
            <a:avLst/>
            <a:gdLst>
              <a:gd name="connsiteX0" fmla="*/ 0 w 2334828"/>
              <a:gd name="connsiteY0" fmla="*/ 736847 h 745724"/>
              <a:gd name="connsiteX1" fmla="*/ 2334828 w 2334828"/>
              <a:gd name="connsiteY1" fmla="*/ 0 h 745724"/>
              <a:gd name="connsiteX2" fmla="*/ 1606859 w 2334828"/>
              <a:gd name="connsiteY2" fmla="*/ 745724 h 745724"/>
              <a:gd name="connsiteX3" fmla="*/ 0 w 2334828"/>
              <a:gd name="connsiteY3" fmla="*/ 736847 h 745724"/>
              <a:gd name="connsiteX0" fmla="*/ 0 w 2334828"/>
              <a:gd name="connsiteY0" fmla="*/ 736847 h 741918"/>
              <a:gd name="connsiteX1" fmla="*/ 2334828 w 2334828"/>
              <a:gd name="connsiteY1" fmla="*/ 0 h 741918"/>
              <a:gd name="connsiteX2" fmla="*/ 1454310 w 2334828"/>
              <a:gd name="connsiteY2" fmla="*/ 741918 h 741918"/>
              <a:gd name="connsiteX3" fmla="*/ 0 w 2334828"/>
              <a:gd name="connsiteY3" fmla="*/ 736847 h 741918"/>
              <a:gd name="connsiteX0" fmla="*/ 0 w 2334828"/>
              <a:gd name="connsiteY0" fmla="*/ 736847 h 748264"/>
              <a:gd name="connsiteX1" fmla="*/ 2334828 w 2334828"/>
              <a:gd name="connsiteY1" fmla="*/ 0 h 748264"/>
              <a:gd name="connsiteX2" fmla="*/ 1737258 w 2334828"/>
              <a:gd name="connsiteY2" fmla="*/ 748264 h 748264"/>
              <a:gd name="connsiteX3" fmla="*/ 0 w 2334828"/>
              <a:gd name="connsiteY3" fmla="*/ 736847 h 748264"/>
              <a:gd name="connsiteX0" fmla="*/ 0 w 2334828"/>
              <a:gd name="connsiteY0" fmla="*/ 743193 h 748264"/>
              <a:gd name="connsiteX1" fmla="*/ 2334828 w 2334828"/>
              <a:gd name="connsiteY1" fmla="*/ 0 h 748264"/>
              <a:gd name="connsiteX2" fmla="*/ 1737258 w 2334828"/>
              <a:gd name="connsiteY2" fmla="*/ 748264 h 748264"/>
              <a:gd name="connsiteX3" fmla="*/ 0 w 2334828"/>
              <a:gd name="connsiteY3" fmla="*/ 743193 h 748264"/>
              <a:gd name="connsiteX0" fmla="*/ 0 w 2334828"/>
              <a:gd name="connsiteY0" fmla="*/ 743193 h 743193"/>
              <a:gd name="connsiteX1" fmla="*/ 2334828 w 2334828"/>
              <a:gd name="connsiteY1" fmla="*/ 0 h 743193"/>
              <a:gd name="connsiteX2" fmla="*/ 1747014 w 2334828"/>
              <a:gd name="connsiteY2" fmla="*/ 739803 h 743193"/>
              <a:gd name="connsiteX3" fmla="*/ 0 w 2334828"/>
              <a:gd name="connsiteY3" fmla="*/ 743193 h 743193"/>
              <a:gd name="connsiteX0" fmla="*/ 0 w 3048886"/>
              <a:gd name="connsiteY0" fmla="*/ 743193 h 743193"/>
              <a:gd name="connsiteX1" fmla="*/ 2334828 w 3048886"/>
              <a:gd name="connsiteY1" fmla="*/ 0 h 743193"/>
              <a:gd name="connsiteX2" fmla="*/ 3048886 w 3048886"/>
              <a:gd name="connsiteY2" fmla="*/ 737961 h 743193"/>
              <a:gd name="connsiteX3" fmla="*/ 0 w 3048886"/>
              <a:gd name="connsiteY3" fmla="*/ 743193 h 743193"/>
              <a:gd name="connsiteX0" fmla="*/ 1639307 w 4688193"/>
              <a:gd name="connsiteY0" fmla="*/ 634500 h 634500"/>
              <a:gd name="connsiteX1" fmla="*/ 0 w 4688193"/>
              <a:gd name="connsiteY1" fmla="*/ 0 h 634500"/>
              <a:gd name="connsiteX2" fmla="*/ 4688193 w 4688193"/>
              <a:gd name="connsiteY2" fmla="*/ 629268 h 634500"/>
              <a:gd name="connsiteX3" fmla="*/ 1639307 w 4688193"/>
              <a:gd name="connsiteY3" fmla="*/ 634500 h 634500"/>
              <a:gd name="connsiteX0" fmla="*/ 2684230 w 5733116"/>
              <a:gd name="connsiteY0" fmla="*/ 426326 h 426326"/>
              <a:gd name="connsiteX1" fmla="*/ 0 w 5733116"/>
              <a:gd name="connsiteY1" fmla="*/ 0 h 426326"/>
              <a:gd name="connsiteX2" fmla="*/ 5733116 w 5733116"/>
              <a:gd name="connsiteY2" fmla="*/ 421094 h 426326"/>
              <a:gd name="connsiteX3" fmla="*/ 2684230 w 5733116"/>
              <a:gd name="connsiteY3" fmla="*/ 426326 h 426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33116" h="426326">
                <a:moveTo>
                  <a:pt x="2684230" y="426326"/>
                </a:moveTo>
                <a:lnTo>
                  <a:pt x="0" y="0"/>
                </a:lnTo>
                <a:lnTo>
                  <a:pt x="5733116" y="421094"/>
                </a:lnTo>
                <a:lnTo>
                  <a:pt x="2684230" y="426326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How </a:t>
            </a:r>
            <a:r>
              <a:rPr lang="en-US" sz="3200" b="1" dirty="0">
                <a:solidFill>
                  <a:srgbClr val="0070C0"/>
                </a:solidFill>
              </a:rPr>
              <a:t>many </a:t>
            </a:r>
            <a:r>
              <a:rPr lang="en-US" sz="3200" b="1" dirty="0"/>
              <a:t>possible triangulations ?</a:t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2481025" y="2057400"/>
            <a:ext cx="3962400" cy="3581400"/>
            <a:chOff x="2362200" y="2057400"/>
            <a:chExt cx="3962400" cy="3581400"/>
          </a:xfrm>
        </p:grpSpPr>
        <p:cxnSp>
          <p:nvCxnSpPr>
            <p:cNvPr id="34" name="Straight Connector 33"/>
            <p:cNvCxnSpPr/>
            <p:nvPr/>
          </p:nvCxnSpPr>
          <p:spPr>
            <a:xfrm flipH="1" flipV="1">
              <a:off x="2362200" y="3562350"/>
              <a:ext cx="457200" cy="13906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Group 45"/>
            <p:cNvGrpSpPr/>
            <p:nvPr/>
          </p:nvGrpSpPr>
          <p:grpSpPr>
            <a:xfrm>
              <a:off x="2362200" y="2057400"/>
              <a:ext cx="3962400" cy="3581400"/>
              <a:chOff x="2362200" y="2057400"/>
              <a:chExt cx="3962400" cy="3581400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3733800" y="5638800"/>
                <a:ext cx="16002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 flipH="1">
                <a:off x="5334000" y="4876800"/>
                <a:ext cx="762000" cy="76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H="1">
                <a:off x="6096000" y="3886200"/>
                <a:ext cx="228600" cy="990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5867400" y="2514600"/>
                <a:ext cx="457200" cy="1371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4953000" y="2057400"/>
                <a:ext cx="914400" cy="4572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flipV="1">
                <a:off x="2895600" y="2057400"/>
                <a:ext cx="2057400" cy="5334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flipV="1">
                <a:off x="2362200" y="2590800"/>
                <a:ext cx="533400" cy="990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 flipH="1" flipV="1">
                <a:off x="2819400" y="4953000"/>
                <a:ext cx="914400" cy="6858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Group 8"/>
          <p:cNvGrpSpPr/>
          <p:nvPr/>
        </p:nvGrpSpPr>
        <p:grpSpPr>
          <a:xfrm>
            <a:off x="2369017" y="1611868"/>
            <a:ext cx="4488983" cy="4484132"/>
            <a:chOff x="2326392" y="1611868"/>
            <a:chExt cx="4488983" cy="4484132"/>
          </a:xfrm>
        </p:grpSpPr>
        <p:grpSp>
          <p:nvGrpSpPr>
            <p:cNvPr id="3" name="Group 2"/>
            <p:cNvGrpSpPr/>
            <p:nvPr/>
          </p:nvGrpSpPr>
          <p:grpSpPr>
            <a:xfrm>
              <a:off x="2326392" y="1611868"/>
              <a:ext cx="4488983" cy="4484132"/>
              <a:chOff x="2326392" y="1611868"/>
              <a:chExt cx="4488983" cy="44841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Rectangle 1"/>
                  <p:cNvSpPr/>
                  <p:nvPr/>
                </p:nvSpPr>
                <p:spPr>
                  <a:xfrm>
                    <a:off x="5224225" y="5726668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" name="Rectangle 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4225" y="57266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2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Rectangle 17"/>
                  <p:cNvSpPr/>
                  <p:nvPr/>
                </p:nvSpPr>
                <p:spPr>
                  <a:xfrm>
                    <a:off x="6096000" y="46482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Rectangle 1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6000" y="46482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333" r="-14815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Rectangle 18"/>
                  <p:cNvSpPr/>
                  <p:nvPr/>
                </p:nvSpPr>
                <p:spPr>
                  <a:xfrm>
                    <a:off x="6324600" y="36576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Rectangle 1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24600" y="36576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Rectangle 20"/>
                  <p:cNvSpPr/>
                  <p:nvPr/>
                </p:nvSpPr>
                <p:spPr>
                  <a:xfrm>
                    <a:off x="4800600" y="1611868"/>
                    <a:ext cx="49237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" name="Rectangle 2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00600" y="1611868"/>
                    <a:ext cx="492379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ctangle 21"/>
                  <p:cNvSpPr/>
                  <p:nvPr/>
                </p:nvSpPr>
                <p:spPr>
                  <a:xfrm>
                    <a:off x="2326392" y="4888468"/>
                    <a:ext cx="72160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Rectangle 2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26392" y="4888468"/>
                    <a:ext cx="721608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1101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/>
                  <p:cNvSpPr/>
                  <p:nvPr/>
                </p:nvSpPr>
                <p:spPr>
                  <a:xfrm>
                    <a:off x="3469392" y="5650468"/>
                    <a:ext cx="49879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Rectangle 2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69392" y="5650468"/>
                    <a:ext cx="498791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5854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" name="Freeform 6"/>
            <p:cNvSpPr/>
            <p:nvPr/>
          </p:nvSpPr>
          <p:spPr>
            <a:xfrm>
              <a:off x="5791200" y="2133600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 rot="16200000">
              <a:off x="2559011" y="2118068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2481025" y="3581401"/>
            <a:ext cx="2962639" cy="2057400"/>
            <a:chOff x="2137304" y="4480810"/>
            <a:chExt cx="3613002" cy="1157990"/>
          </a:xfrm>
        </p:grpSpPr>
        <p:cxnSp>
          <p:nvCxnSpPr>
            <p:cNvPr id="13" name="Straight Connector 12"/>
            <p:cNvCxnSpPr>
              <a:cxnSpLocks/>
            </p:cNvCxnSpPr>
            <p:nvPr/>
          </p:nvCxnSpPr>
          <p:spPr>
            <a:xfrm flipH="1" flipV="1">
              <a:off x="2137304" y="4480810"/>
              <a:ext cx="1672696" cy="115799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>
              <a:cxnSpLocks/>
            </p:cNvCxnSpPr>
            <p:nvPr/>
          </p:nvCxnSpPr>
          <p:spPr>
            <a:xfrm flipH="1" flipV="1">
              <a:off x="2137304" y="4480810"/>
              <a:ext cx="3613002" cy="1157988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Straight Connector 38"/>
          <p:cNvCxnSpPr/>
          <p:nvPr/>
        </p:nvCxnSpPr>
        <p:spPr>
          <a:xfrm>
            <a:off x="3852625" y="5638800"/>
            <a:ext cx="1600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7033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">
        <p:fade/>
      </p:transition>
    </mc:Choice>
    <mc:Fallback xmlns="">
      <p:transition spd="med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ontent Placeholder 8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CA2E4D-26D0-23F4-AFB1-AE0AC76F494D}"/>
              </a:ext>
            </a:extLst>
          </p:cNvPr>
          <p:cNvSpPr/>
          <p:nvPr/>
        </p:nvSpPr>
        <p:spPr>
          <a:xfrm>
            <a:off x="2958939" y="4946519"/>
            <a:ext cx="2438563" cy="687276"/>
          </a:xfrm>
          <a:custGeom>
            <a:avLst/>
            <a:gdLst>
              <a:gd name="connsiteX0" fmla="*/ 0 w 2334828"/>
              <a:gd name="connsiteY0" fmla="*/ 736847 h 745724"/>
              <a:gd name="connsiteX1" fmla="*/ 2334828 w 2334828"/>
              <a:gd name="connsiteY1" fmla="*/ 0 h 745724"/>
              <a:gd name="connsiteX2" fmla="*/ 1606859 w 2334828"/>
              <a:gd name="connsiteY2" fmla="*/ 745724 h 745724"/>
              <a:gd name="connsiteX3" fmla="*/ 0 w 2334828"/>
              <a:gd name="connsiteY3" fmla="*/ 736847 h 745724"/>
              <a:gd name="connsiteX0" fmla="*/ 0 w 2334828"/>
              <a:gd name="connsiteY0" fmla="*/ 736847 h 741918"/>
              <a:gd name="connsiteX1" fmla="*/ 2334828 w 2334828"/>
              <a:gd name="connsiteY1" fmla="*/ 0 h 741918"/>
              <a:gd name="connsiteX2" fmla="*/ 1454310 w 2334828"/>
              <a:gd name="connsiteY2" fmla="*/ 741918 h 741918"/>
              <a:gd name="connsiteX3" fmla="*/ 0 w 2334828"/>
              <a:gd name="connsiteY3" fmla="*/ 736847 h 741918"/>
              <a:gd name="connsiteX0" fmla="*/ 0 w 2334828"/>
              <a:gd name="connsiteY0" fmla="*/ 736847 h 748264"/>
              <a:gd name="connsiteX1" fmla="*/ 2334828 w 2334828"/>
              <a:gd name="connsiteY1" fmla="*/ 0 h 748264"/>
              <a:gd name="connsiteX2" fmla="*/ 1737258 w 2334828"/>
              <a:gd name="connsiteY2" fmla="*/ 748264 h 748264"/>
              <a:gd name="connsiteX3" fmla="*/ 0 w 2334828"/>
              <a:gd name="connsiteY3" fmla="*/ 736847 h 748264"/>
              <a:gd name="connsiteX0" fmla="*/ 0 w 2334828"/>
              <a:gd name="connsiteY0" fmla="*/ 743193 h 748264"/>
              <a:gd name="connsiteX1" fmla="*/ 2334828 w 2334828"/>
              <a:gd name="connsiteY1" fmla="*/ 0 h 748264"/>
              <a:gd name="connsiteX2" fmla="*/ 1737258 w 2334828"/>
              <a:gd name="connsiteY2" fmla="*/ 748264 h 748264"/>
              <a:gd name="connsiteX3" fmla="*/ 0 w 2334828"/>
              <a:gd name="connsiteY3" fmla="*/ 743193 h 748264"/>
              <a:gd name="connsiteX0" fmla="*/ 0 w 2334828"/>
              <a:gd name="connsiteY0" fmla="*/ 743193 h 743193"/>
              <a:gd name="connsiteX1" fmla="*/ 2334828 w 2334828"/>
              <a:gd name="connsiteY1" fmla="*/ 0 h 743193"/>
              <a:gd name="connsiteX2" fmla="*/ 1747014 w 2334828"/>
              <a:gd name="connsiteY2" fmla="*/ 739803 h 743193"/>
              <a:gd name="connsiteX3" fmla="*/ 0 w 2334828"/>
              <a:gd name="connsiteY3" fmla="*/ 743193 h 743193"/>
              <a:gd name="connsiteX0" fmla="*/ 0 w 3048886"/>
              <a:gd name="connsiteY0" fmla="*/ 743193 h 743193"/>
              <a:gd name="connsiteX1" fmla="*/ 2334828 w 3048886"/>
              <a:gd name="connsiteY1" fmla="*/ 0 h 743193"/>
              <a:gd name="connsiteX2" fmla="*/ 3048886 w 3048886"/>
              <a:gd name="connsiteY2" fmla="*/ 737961 h 743193"/>
              <a:gd name="connsiteX3" fmla="*/ 0 w 3048886"/>
              <a:gd name="connsiteY3" fmla="*/ 743193 h 743193"/>
              <a:gd name="connsiteX0" fmla="*/ 1639307 w 4688193"/>
              <a:gd name="connsiteY0" fmla="*/ 634500 h 634500"/>
              <a:gd name="connsiteX1" fmla="*/ 0 w 4688193"/>
              <a:gd name="connsiteY1" fmla="*/ 0 h 634500"/>
              <a:gd name="connsiteX2" fmla="*/ 4688193 w 4688193"/>
              <a:gd name="connsiteY2" fmla="*/ 629268 h 634500"/>
              <a:gd name="connsiteX3" fmla="*/ 1639307 w 4688193"/>
              <a:gd name="connsiteY3" fmla="*/ 634500 h 634500"/>
              <a:gd name="connsiteX0" fmla="*/ 2684230 w 5733116"/>
              <a:gd name="connsiteY0" fmla="*/ 426326 h 426326"/>
              <a:gd name="connsiteX1" fmla="*/ 0 w 5733116"/>
              <a:gd name="connsiteY1" fmla="*/ 0 h 426326"/>
              <a:gd name="connsiteX2" fmla="*/ 5733116 w 5733116"/>
              <a:gd name="connsiteY2" fmla="*/ 421094 h 426326"/>
              <a:gd name="connsiteX3" fmla="*/ 2684230 w 5733116"/>
              <a:gd name="connsiteY3" fmla="*/ 426326 h 426326"/>
              <a:gd name="connsiteX0" fmla="*/ 1742086 w 4790972"/>
              <a:gd name="connsiteY0" fmla="*/ 142620 h 142620"/>
              <a:gd name="connsiteX1" fmla="*/ 0 w 4790972"/>
              <a:gd name="connsiteY1" fmla="*/ 0 h 142620"/>
              <a:gd name="connsiteX2" fmla="*/ 4790972 w 4790972"/>
              <a:gd name="connsiteY2" fmla="*/ 137388 h 142620"/>
              <a:gd name="connsiteX3" fmla="*/ 1742086 w 4790972"/>
              <a:gd name="connsiteY3" fmla="*/ 142620 h 142620"/>
              <a:gd name="connsiteX0" fmla="*/ 1742086 w 4705323"/>
              <a:gd name="connsiteY0" fmla="*/ 142620 h 142620"/>
              <a:gd name="connsiteX1" fmla="*/ 0 w 4705323"/>
              <a:gd name="connsiteY1" fmla="*/ 0 h 142620"/>
              <a:gd name="connsiteX2" fmla="*/ 4705323 w 4705323"/>
              <a:gd name="connsiteY2" fmla="*/ 141072 h 142620"/>
              <a:gd name="connsiteX3" fmla="*/ 1742086 w 4705323"/>
              <a:gd name="connsiteY3" fmla="*/ 142620 h 142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5323" h="142620">
                <a:moveTo>
                  <a:pt x="1742086" y="142620"/>
                </a:moveTo>
                <a:lnTo>
                  <a:pt x="0" y="0"/>
                </a:lnTo>
                <a:lnTo>
                  <a:pt x="4705323" y="141072"/>
                </a:lnTo>
                <a:lnTo>
                  <a:pt x="1742086" y="14262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How </a:t>
            </a:r>
            <a:r>
              <a:rPr lang="en-US" sz="3200" b="1" dirty="0">
                <a:solidFill>
                  <a:srgbClr val="0070C0"/>
                </a:solidFill>
              </a:rPr>
              <a:t>many </a:t>
            </a:r>
            <a:r>
              <a:rPr lang="en-US" sz="3200" b="1" dirty="0"/>
              <a:t>possible triangulations ?</a:t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2481025" y="2057400"/>
            <a:ext cx="3962400" cy="3581400"/>
            <a:chOff x="2362200" y="2057400"/>
            <a:chExt cx="3962400" cy="3581400"/>
          </a:xfrm>
        </p:grpSpPr>
        <p:cxnSp>
          <p:nvCxnSpPr>
            <p:cNvPr id="34" name="Straight Connector 33"/>
            <p:cNvCxnSpPr/>
            <p:nvPr/>
          </p:nvCxnSpPr>
          <p:spPr>
            <a:xfrm flipH="1" flipV="1">
              <a:off x="2362200" y="3562350"/>
              <a:ext cx="457200" cy="13906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Group 45"/>
            <p:cNvGrpSpPr/>
            <p:nvPr/>
          </p:nvGrpSpPr>
          <p:grpSpPr>
            <a:xfrm>
              <a:off x="2362200" y="2057400"/>
              <a:ext cx="3962400" cy="3581400"/>
              <a:chOff x="2362200" y="2057400"/>
              <a:chExt cx="3962400" cy="3581400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3733800" y="5638800"/>
                <a:ext cx="16002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 flipH="1">
                <a:off x="5334000" y="4876800"/>
                <a:ext cx="762000" cy="76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H="1">
                <a:off x="6096000" y="3886200"/>
                <a:ext cx="228600" cy="990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5867400" y="2514600"/>
                <a:ext cx="457200" cy="1371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4953000" y="2057400"/>
                <a:ext cx="914400" cy="4572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flipV="1">
                <a:off x="2895600" y="2057400"/>
                <a:ext cx="2057400" cy="5334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flipV="1">
                <a:off x="2362200" y="2590800"/>
                <a:ext cx="533400" cy="990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 flipH="1" flipV="1">
                <a:off x="2819400" y="4953000"/>
                <a:ext cx="914400" cy="6858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Group 8"/>
          <p:cNvGrpSpPr/>
          <p:nvPr/>
        </p:nvGrpSpPr>
        <p:grpSpPr>
          <a:xfrm>
            <a:off x="2369017" y="1611868"/>
            <a:ext cx="4488983" cy="4484132"/>
            <a:chOff x="2326392" y="1611868"/>
            <a:chExt cx="4488983" cy="4484132"/>
          </a:xfrm>
        </p:grpSpPr>
        <p:grpSp>
          <p:nvGrpSpPr>
            <p:cNvPr id="3" name="Group 2"/>
            <p:cNvGrpSpPr/>
            <p:nvPr/>
          </p:nvGrpSpPr>
          <p:grpSpPr>
            <a:xfrm>
              <a:off x="2326392" y="1611868"/>
              <a:ext cx="4488983" cy="4484132"/>
              <a:chOff x="2326392" y="1611868"/>
              <a:chExt cx="4488983" cy="44841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Rectangle 1"/>
                  <p:cNvSpPr/>
                  <p:nvPr/>
                </p:nvSpPr>
                <p:spPr>
                  <a:xfrm>
                    <a:off x="5224225" y="5726668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" name="Rectangle 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4225" y="57266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2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Rectangle 17"/>
                  <p:cNvSpPr/>
                  <p:nvPr/>
                </p:nvSpPr>
                <p:spPr>
                  <a:xfrm>
                    <a:off x="6096000" y="46482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Rectangle 1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6000" y="46482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333" r="-14815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Rectangle 18"/>
                  <p:cNvSpPr/>
                  <p:nvPr/>
                </p:nvSpPr>
                <p:spPr>
                  <a:xfrm>
                    <a:off x="6324600" y="36576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Rectangle 1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24600" y="36576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Rectangle 20"/>
                  <p:cNvSpPr/>
                  <p:nvPr/>
                </p:nvSpPr>
                <p:spPr>
                  <a:xfrm>
                    <a:off x="4800600" y="1611868"/>
                    <a:ext cx="49237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" name="Rectangle 2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00600" y="1611868"/>
                    <a:ext cx="492379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ctangle 21"/>
                  <p:cNvSpPr/>
                  <p:nvPr/>
                </p:nvSpPr>
                <p:spPr>
                  <a:xfrm>
                    <a:off x="2326392" y="4888468"/>
                    <a:ext cx="72160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Rectangle 2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26392" y="4888468"/>
                    <a:ext cx="721608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1101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/>
                  <p:cNvSpPr/>
                  <p:nvPr/>
                </p:nvSpPr>
                <p:spPr>
                  <a:xfrm>
                    <a:off x="3469392" y="5650468"/>
                    <a:ext cx="49879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Rectangle 2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69392" y="5650468"/>
                    <a:ext cx="498791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5854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" name="Freeform 6"/>
            <p:cNvSpPr/>
            <p:nvPr/>
          </p:nvSpPr>
          <p:spPr>
            <a:xfrm>
              <a:off x="5791200" y="2133600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 rot="16200000">
              <a:off x="2559011" y="2118068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2929176" y="4941330"/>
            <a:ext cx="2514488" cy="697468"/>
            <a:chOff x="2683834" y="5246236"/>
            <a:chExt cx="3066472" cy="392564"/>
          </a:xfrm>
        </p:grpSpPr>
        <p:cxnSp>
          <p:nvCxnSpPr>
            <p:cNvPr id="13" name="Straight Connector 12"/>
            <p:cNvCxnSpPr>
              <a:cxnSpLocks/>
            </p:cNvCxnSpPr>
            <p:nvPr/>
          </p:nvCxnSpPr>
          <p:spPr>
            <a:xfrm flipH="1" flipV="1">
              <a:off x="2746851" y="5259369"/>
              <a:ext cx="1063148" cy="379431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>
              <a:cxnSpLocks/>
            </p:cNvCxnSpPr>
            <p:nvPr/>
          </p:nvCxnSpPr>
          <p:spPr>
            <a:xfrm flipH="1" flipV="1">
              <a:off x="2683834" y="5246236"/>
              <a:ext cx="3066472" cy="39256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Straight Connector 38"/>
          <p:cNvCxnSpPr/>
          <p:nvPr/>
        </p:nvCxnSpPr>
        <p:spPr>
          <a:xfrm>
            <a:off x="3852625" y="5638800"/>
            <a:ext cx="1600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CC4095-9351-6E03-1596-41E1F709CFD9}"/>
                  </a:ext>
                </a:extLst>
              </p:cNvPr>
              <p:cNvSpPr txBox="1"/>
              <p:nvPr/>
            </p:nvSpPr>
            <p:spPr>
              <a:xfrm>
                <a:off x="3608789" y="6308725"/>
                <a:ext cx="2390013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Exactly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sz="1800" dirty="0"/>
                  <a:t> triangles.</a:t>
                </a:r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CC4095-9351-6E03-1596-41E1F709C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89" y="6308725"/>
                <a:ext cx="2390013" cy="369332"/>
              </a:xfrm>
              <a:prstGeom prst="rect">
                <a:avLst/>
              </a:prstGeom>
              <a:blipFill>
                <a:blip r:embed="rId8"/>
                <a:stretch>
                  <a:fillRect l="-2296" t="-10000" r="-102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9492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How </a:t>
            </a:r>
            <a:r>
              <a:rPr lang="en-US" sz="3200" b="1" dirty="0">
                <a:solidFill>
                  <a:srgbClr val="0070C0"/>
                </a:solidFill>
              </a:rPr>
              <a:t>many </a:t>
            </a:r>
            <a:r>
              <a:rPr lang="en-US" sz="3200" b="1" dirty="0"/>
              <a:t>possible triangulations ?</a:t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85" name="Content Placeholder 84"/>
          <p:cNvSpPr>
            <a:spLocks noGrp="1"/>
          </p:cNvSpPr>
          <p:nvPr>
            <p:ph idx="1"/>
          </p:nvPr>
        </p:nvSpPr>
        <p:spPr>
          <a:xfrm>
            <a:off x="457200" y="1143000"/>
            <a:ext cx="8534400" cy="5486400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602BD1B0-B6AC-7518-EF5B-62B8E5575885}"/>
              </a:ext>
            </a:extLst>
          </p:cNvPr>
          <p:cNvSpPr/>
          <p:nvPr/>
        </p:nvSpPr>
        <p:spPr>
          <a:xfrm>
            <a:off x="3861787" y="2061275"/>
            <a:ext cx="1562349" cy="3572520"/>
          </a:xfrm>
          <a:custGeom>
            <a:avLst/>
            <a:gdLst>
              <a:gd name="connsiteX0" fmla="*/ 0 w 2334828"/>
              <a:gd name="connsiteY0" fmla="*/ 736847 h 745724"/>
              <a:gd name="connsiteX1" fmla="*/ 2334828 w 2334828"/>
              <a:gd name="connsiteY1" fmla="*/ 0 h 745724"/>
              <a:gd name="connsiteX2" fmla="*/ 1606859 w 2334828"/>
              <a:gd name="connsiteY2" fmla="*/ 745724 h 745724"/>
              <a:gd name="connsiteX3" fmla="*/ 0 w 2334828"/>
              <a:gd name="connsiteY3" fmla="*/ 736847 h 745724"/>
              <a:gd name="connsiteX0" fmla="*/ 0 w 2334828"/>
              <a:gd name="connsiteY0" fmla="*/ 736847 h 741918"/>
              <a:gd name="connsiteX1" fmla="*/ 2334828 w 2334828"/>
              <a:gd name="connsiteY1" fmla="*/ 0 h 741918"/>
              <a:gd name="connsiteX2" fmla="*/ 1454310 w 2334828"/>
              <a:gd name="connsiteY2" fmla="*/ 741918 h 741918"/>
              <a:gd name="connsiteX3" fmla="*/ 0 w 2334828"/>
              <a:gd name="connsiteY3" fmla="*/ 736847 h 741918"/>
              <a:gd name="connsiteX0" fmla="*/ 0 w 2334828"/>
              <a:gd name="connsiteY0" fmla="*/ 736847 h 748264"/>
              <a:gd name="connsiteX1" fmla="*/ 2334828 w 2334828"/>
              <a:gd name="connsiteY1" fmla="*/ 0 h 748264"/>
              <a:gd name="connsiteX2" fmla="*/ 1737258 w 2334828"/>
              <a:gd name="connsiteY2" fmla="*/ 748264 h 748264"/>
              <a:gd name="connsiteX3" fmla="*/ 0 w 2334828"/>
              <a:gd name="connsiteY3" fmla="*/ 736847 h 748264"/>
              <a:gd name="connsiteX0" fmla="*/ 0 w 2334828"/>
              <a:gd name="connsiteY0" fmla="*/ 743193 h 748264"/>
              <a:gd name="connsiteX1" fmla="*/ 2334828 w 2334828"/>
              <a:gd name="connsiteY1" fmla="*/ 0 h 748264"/>
              <a:gd name="connsiteX2" fmla="*/ 1737258 w 2334828"/>
              <a:gd name="connsiteY2" fmla="*/ 748264 h 748264"/>
              <a:gd name="connsiteX3" fmla="*/ 0 w 2334828"/>
              <a:gd name="connsiteY3" fmla="*/ 743193 h 748264"/>
              <a:gd name="connsiteX0" fmla="*/ 0 w 2334828"/>
              <a:gd name="connsiteY0" fmla="*/ 743193 h 743193"/>
              <a:gd name="connsiteX1" fmla="*/ 2334828 w 2334828"/>
              <a:gd name="connsiteY1" fmla="*/ 0 h 743193"/>
              <a:gd name="connsiteX2" fmla="*/ 1747014 w 2334828"/>
              <a:gd name="connsiteY2" fmla="*/ 739803 h 743193"/>
              <a:gd name="connsiteX3" fmla="*/ 0 w 2334828"/>
              <a:gd name="connsiteY3" fmla="*/ 743193 h 743193"/>
              <a:gd name="connsiteX0" fmla="*/ 0 w 3048886"/>
              <a:gd name="connsiteY0" fmla="*/ 743193 h 743193"/>
              <a:gd name="connsiteX1" fmla="*/ 2334828 w 3048886"/>
              <a:gd name="connsiteY1" fmla="*/ 0 h 743193"/>
              <a:gd name="connsiteX2" fmla="*/ 3048886 w 3048886"/>
              <a:gd name="connsiteY2" fmla="*/ 737961 h 743193"/>
              <a:gd name="connsiteX3" fmla="*/ 0 w 3048886"/>
              <a:gd name="connsiteY3" fmla="*/ 743193 h 743193"/>
              <a:gd name="connsiteX0" fmla="*/ 1639307 w 4688193"/>
              <a:gd name="connsiteY0" fmla="*/ 634500 h 634500"/>
              <a:gd name="connsiteX1" fmla="*/ 0 w 4688193"/>
              <a:gd name="connsiteY1" fmla="*/ 0 h 634500"/>
              <a:gd name="connsiteX2" fmla="*/ 4688193 w 4688193"/>
              <a:gd name="connsiteY2" fmla="*/ 629268 h 634500"/>
              <a:gd name="connsiteX3" fmla="*/ 1639307 w 4688193"/>
              <a:gd name="connsiteY3" fmla="*/ 634500 h 634500"/>
              <a:gd name="connsiteX0" fmla="*/ 2684230 w 5733116"/>
              <a:gd name="connsiteY0" fmla="*/ 426326 h 426326"/>
              <a:gd name="connsiteX1" fmla="*/ 0 w 5733116"/>
              <a:gd name="connsiteY1" fmla="*/ 0 h 426326"/>
              <a:gd name="connsiteX2" fmla="*/ 5733116 w 5733116"/>
              <a:gd name="connsiteY2" fmla="*/ 421094 h 426326"/>
              <a:gd name="connsiteX3" fmla="*/ 2684230 w 5733116"/>
              <a:gd name="connsiteY3" fmla="*/ 426326 h 426326"/>
              <a:gd name="connsiteX0" fmla="*/ 1742086 w 4790972"/>
              <a:gd name="connsiteY0" fmla="*/ 142620 h 142620"/>
              <a:gd name="connsiteX1" fmla="*/ 0 w 4790972"/>
              <a:gd name="connsiteY1" fmla="*/ 0 h 142620"/>
              <a:gd name="connsiteX2" fmla="*/ 4790972 w 4790972"/>
              <a:gd name="connsiteY2" fmla="*/ 137388 h 142620"/>
              <a:gd name="connsiteX3" fmla="*/ 1742086 w 4790972"/>
              <a:gd name="connsiteY3" fmla="*/ 142620 h 142620"/>
              <a:gd name="connsiteX0" fmla="*/ 1742086 w 4705323"/>
              <a:gd name="connsiteY0" fmla="*/ 142620 h 142620"/>
              <a:gd name="connsiteX1" fmla="*/ 0 w 4705323"/>
              <a:gd name="connsiteY1" fmla="*/ 0 h 142620"/>
              <a:gd name="connsiteX2" fmla="*/ 4705323 w 4705323"/>
              <a:gd name="connsiteY2" fmla="*/ 141072 h 142620"/>
              <a:gd name="connsiteX3" fmla="*/ 1742086 w 4705323"/>
              <a:gd name="connsiteY3" fmla="*/ 142620 h 142620"/>
              <a:gd name="connsiteX0" fmla="*/ 0 w 2963237"/>
              <a:gd name="connsiteY0" fmla="*/ 741351 h 741351"/>
              <a:gd name="connsiteX1" fmla="*/ 2386217 w 2963237"/>
              <a:gd name="connsiteY1" fmla="*/ 0 h 741351"/>
              <a:gd name="connsiteX2" fmla="*/ 2963237 w 2963237"/>
              <a:gd name="connsiteY2" fmla="*/ 739803 h 741351"/>
              <a:gd name="connsiteX3" fmla="*/ 0 w 2963237"/>
              <a:gd name="connsiteY3" fmla="*/ 741351 h 741351"/>
              <a:gd name="connsiteX0" fmla="*/ 0 w 3014627"/>
              <a:gd name="connsiteY0" fmla="*/ 741351 h 741351"/>
              <a:gd name="connsiteX1" fmla="*/ 2386217 w 3014627"/>
              <a:gd name="connsiteY1" fmla="*/ 0 h 741351"/>
              <a:gd name="connsiteX2" fmla="*/ 3014627 w 3014627"/>
              <a:gd name="connsiteY2" fmla="*/ 739803 h 741351"/>
              <a:gd name="connsiteX3" fmla="*/ 0 w 3014627"/>
              <a:gd name="connsiteY3" fmla="*/ 741351 h 741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4627" h="741351">
                <a:moveTo>
                  <a:pt x="0" y="741351"/>
                </a:moveTo>
                <a:lnTo>
                  <a:pt x="2386217" y="0"/>
                </a:lnTo>
                <a:lnTo>
                  <a:pt x="3014627" y="739803"/>
                </a:lnTo>
                <a:lnTo>
                  <a:pt x="0" y="741351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2481025" y="2057400"/>
            <a:ext cx="3962400" cy="3581400"/>
            <a:chOff x="2362200" y="2057400"/>
            <a:chExt cx="3962400" cy="3581400"/>
          </a:xfrm>
        </p:grpSpPr>
        <p:cxnSp>
          <p:nvCxnSpPr>
            <p:cNvPr id="34" name="Straight Connector 33"/>
            <p:cNvCxnSpPr/>
            <p:nvPr/>
          </p:nvCxnSpPr>
          <p:spPr>
            <a:xfrm flipH="1" flipV="1">
              <a:off x="2362200" y="3562350"/>
              <a:ext cx="457200" cy="13906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Group 45"/>
            <p:cNvGrpSpPr/>
            <p:nvPr/>
          </p:nvGrpSpPr>
          <p:grpSpPr>
            <a:xfrm>
              <a:off x="2362200" y="2057400"/>
              <a:ext cx="3962400" cy="3581400"/>
              <a:chOff x="2362200" y="2057400"/>
              <a:chExt cx="3962400" cy="3581400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3733800" y="5638800"/>
                <a:ext cx="16002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 flipH="1">
                <a:off x="5334000" y="4876800"/>
                <a:ext cx="762000" cy="76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H="1">
                <a:off x="6096000" y="3886200"/>
                <a:ext cx="228600" cy="990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5867400" y="2514600"/>
                <a:ext cx="457200" cy="1371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4953000" y="2057400"/>
                <a:ext cx="914400" cy="4572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flipV="1">
                <a:off x="2895600" y="2057400"/>
                <a:ext cx="2057400" cy="5334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flipV="1">
                <a:off x="2362200" y="2590800"/>
                <a:ext cx="533400" cy="990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 flipH="1" flipV="1">
                <a:off x="2819400" y="4953000"/>
                <a:ext cx="914400" cy="6858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Group 8"/>
          <p:cNvGrpSpPr/>
          <p:nvPr/>
        </p:nvGrpSpPr>
        <p:grpSpPr>
          <a:xfrm>
            <a:off x="2369017" y="1611868"/>
            <a:ext cx="4488983" cy="4484132"/>
            <a:chOff x="2326392" y="1611868"/>
            <a:chExt cx="4488983" cy="4484132"/>
          </a:xfrm>
        </p:grpSpPr>
        <p:grpSp>
          <p:nvGrpSpPr>
            <p:cNvPr id="3" name="Group 2"/>
            <p:cNvGrpSpPr/>
            <p:nvPr/>
          </p:nvGrpSpPr>
          <p:grpSpPr>
            <a:xfrm>
              <a:off x="2326392" y="1611868"/>
              <a:ext cx="4488983" cy="4484132"/>
              <a:chOff x="2326392" y="1611868"/>
              <a:chExt cx="4488983" cy="44841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Rectangle 1"/>
                  <p:cNvSpPr/>
                  <p:nvPr/>
                </p:nvSpPr>
                <p:spPr>
                  <a:xfrm>
                    <a:off x="5224225" y="5726668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" name="Rectangle 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4225" y="57266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Rectangle 17"/>
                  <p:cNvSpPr/>
                  <p:nvPr/>
                </p:nvSpPr>
                <p:spPr>
                  <a:xfrm>
                    <a:off x="6096000" y="46482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Rectangle 1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6000" y="46482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333" r="-14815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Rectangle 18"/>
                  <p:cNvSpPr/>
                  <p:nvPr/>
                </p:nvSpPr>
                <p:spPr>
                  <a:xfrm>
                    <a:off x="6324600" y="36576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Rectangle 1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24600" y="36576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Rectangle 20"/>
                  <p:cNvSpPr/>
                  <p:nvPr/>
                </p:nvSpPr>
                <p:spPr>
                  <a:xfrm>
                    <a:off x="4800600" y="1611868"/>
                    <a:ext cx="49237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" name="Rectangle 2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00600" y="1611868"/>
                    <a:ext cx="492379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ctangle 21"/>
                  <p:cNvSpPr/>
                  <p:nvPr/>
                </p:nvSpPr>
                <p:spPr>
                  <a:xfrm>
                    <a:off x="2326392" y="4888468"/>
                    <a:ext cx="72160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Rectangle 2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26392" y="4888468"/>
                    <a:ext cx="721608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101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/>
                  <p:cNvSpPr/>
                  <p:nvPr/>
                </p:nvSpPr>
                <p:spPr>
                  <a:xfrm>
                    <a:off x="3469392" y="5650468"/>
                    <a:ext cx="49879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Rectangle 2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69392" y="5650468"/>
                    <a:ext cx="498791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197" r="-15854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" name="Freeform 6"/>
            <p:cNvSpPr/>
            <p:nvPr/>
          </p:nvSpPr>
          <p:spPr>
            <a:xfrm>
              <a:off x="5791200" y="2133600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 rot="16200000">
              <a:off x="2559011" y="2118068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9" name="Straight Connector 38"/>
          <p:cNvCxnSpPr/>
          <p:nvPr/>
        </p:nvCxnSpPr>
        <p:spPr>
          <a:xfrm>
            <a:off x="3852625" y="5638800"/>
            <a:ext cx="1600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7B1D664-F0F3-B8C2-64CD-E89052662CF7}"/>
              </a:ext>
            </a:extLst>
          </p:cNvPr>
          <p:cNvGrpSpPr/>
          <p:nvPr/>
        </p:nvGrpSpPr>
        <p:grpSpPr>
          <a:xfrm>
            <a:off x="3852623" y="2069067"/>
            <a:ext cx="1591039" cy="3569731"/>
            <a:chOff x="3809999" y="3629607"/>
            <a:chExt cx="1940307" cy="2009193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DB372BE-3DEE-FF24-D2E6-69F919C651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09999" y="3629607"/>
              <a:ext cx="1508291" cy="2009193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BFC96C9-FFC0-296F-1A5E-B617CAB608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18291" y="3629607"/>
              <a:ext cx="432015" cy="200919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D5B8E8-75CF-D062-B1FD-08B7555205CF}"/>
                  </a:ext>
                </a:extLst>
              </p:cNvPr>
              <p:cNvSpPr txBox="1"/>
              <p:nvPr/>
            </p:nvSpPr>
            <p:spPr>
              <a:xfrm>
                <a:off x="449887" y="1143000"/>
                <a:ext cx="76931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D5B8E8-75CF-D062-B1FD-08B7555205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887" y="1143000"/>
                <a:ext cx="769313" cy="400110"/>
              </a:xfrm>
              <a:prstGeom prst="rect">
                <a:avLst/>
              </a:prstGeom>
              <a:blipFill>
                <a:blip r:embed="rId9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4B056660-3354-F562-570E-0D4FA67FD452}"/>
              </a:ext>
            </a:extLst>
          </p:cNvPr>
          <p:cNvSpPr txBox="1"/>
          <p:nvPr/>
        </p:nvSpPr>
        <p:spPr>
          <a:xfrm>
            <a:off x="9743607" y="3747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CF0451C-3412-6AB4-1249-B4D5937DC508}"/>
                  </a:ext>
                </a:extLst>
              </p:cNvPr>
              <p:cNvSpPr txBox="1"/>
              <p:nvPr/>
            </p:nvSpPr>
            <p:spPr>
              <a:xfrm>
                <a:off x="1089501" y="1176199"/>
                <a:ext cx="666579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 : The number of possible triangulations of polygon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sides.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CF0451C-3412-6AB4-1249-B4D5937DC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501" y="1176199"/>
                <a:ext cx="6665799" cy="400110"/>
              </a:xfrm>
              <a:prstGeom prst="rect">
                <a:avLst/>
              </a:prstGeom>
              <a:blipFill>
                <a:blip r:embed="rId10"/>
                <a:stretch>
                  <a:fillRect l="-183" t="-9091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0730C63-CB73-2509-EC01-B6B390F48376}"/>
                  </a:ext>
                </a:extLst>
              </p:cNvPr>
              <p:cNvSpPr txBox="1"/>
              <p:nvPr/>
            </p:nvSpPr>
            <p:spPr>
              <a:xfrm>
                <a:off x="446538" y="2190690"/>
                <a:ext cx="125015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d>
                        <m:dPr>
                          <m:ctrlPr>
                            <a:rPr lang="en-US" sz="2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0730C63-CB73-2509-EC01-B6B390F48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38" y="2190690"/>
                <a:ext cx="1250150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0475A02-004C-8349-56C6-11A5537618E5}"/>
                  </a:ext>
                </a:extLst>
              </p:cNvPr>
              <p:cNvSpPr txBox="1"/>
              <p:nvPr/>
            </p:nvSpPr>
            <p:spPr>
              <a:xfrm>
                <a:off x="3608789" y="6308725"/>
                <a:ext cx="2390013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Exactly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sz="1800" dirty="0"/>
                  <a:t> triangles.</a:t>
                </a:r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0475A02-004C-8349-56C6-11A553761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89" y="6308725"/>
                <a:ext cx="2390013" cy="369332"/>
              </a:xfrm>
              <a:prstGeom prst="rect">
                <a:avLst/>
              </a:prstGeom>
              <a:blipFill>
                <a:blip r:embed="rId9"/>
                <a:stretch>
                  <a:fillRect l="-2296" t="-10000" r="-102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loud Callout 2">
                <a:extLst>
                  <a:ext uri="{FF2B5EF4-FFF2-40B4-BE49-F238E27FC236}">
                    <a16:creationId xmlns:a16="http://schemas.microsoft.com/office/drawing/2014/main" id="{30CF1DC6-3A6C-8003-8CAA-C860D0139131}"/>
                  </a:ext>
                </a:extLst>
              </p:cNvPr>
              <p:cNvSpPr/>
              <p:nvPr/>
            </p:nvSpPr>
            <p:spPr>
              <a:xfrm>
                <a:off x="5592365" y="4976037"/>
                <a:ext cx="3713990" cy="1075812"/>
              </a:xfrm>
              <a:prstGeom prst="cloudCallout">
                <a:avLst>
                  <a:gd name="adj1" fmla="val -29690"/>
                  <a:gd name="adj2" fmla="val 85901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How many triangulations are there in which triangle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,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) appears ?</a:t>
                </a:r>
              </a:p>
            </p:txBody>
          </p:sp>
        </mc:Choice>
        <mc:Fallback xmlns="">
          <p:sp>
            <p:nvSpPr>
              <p:cNvPr id="12" name="Cloud Callout 2">
                <a:extLst>
                  <a:ext uri="{FF2B5EF4-FFF2-40B4-BE49-F238E27FC236}">
                    <a16:creationId xmlns:a16="http://schemas.microsoft.com/office/drawing/2014/main" id="{30CF1DC6-3A6C-8003-8CAA-C860D01391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2365" y="4976037"/>
                <a:ext cx="3713990" cy="1075812"/>
              </a:xfrm>
              <a:prstGeom prst="cloudCallout">
                <a:avLst>
                  <a:gd name="adj1" fmla="val -29690"/>
                  <a:gd name="adj2" fmla="val 85901"/>
                </a:avLst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0535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1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15" grpId="0"/>
      <p:bldP spid="27" grpId="0"/>
      <p:bldP spid="28" grpId="0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How </a:t>
            </a:r>
            <a:r>
              <a:rPr lang="en-US" sz="3200" b="1" dirty="0">
                <a:solidFill>
                  <a:srgbClr val="0070C0"/>
                </a:solidFill>
              </a:rPr>
              <a:t>many </a:t>
            </a:r>
            <a:r>
              <a:rPr lang="en-US" sz="3200" b="1" dirty="0"/>
              <a:t>possible triangulations ?</a:t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602BD1B0-B6AC-7518-EF5B-62B8E5575885}"/>
              </a:ext>
            </a:extLst>
          </p:cNvPr>
          <p:cNvSpPr/>
          <p:nvPr/>
        </p:nvSpPr>
        <p:spPr>
          <a:xfrm>
            <a:off x="3861787" y="2061275"/>
            <a:ext cx="1562349" cy="3572520"/>
          </a:xfrm>
          <a:custGeom>
            <a:avLst/>
            <a:gdLst>
              <a:gd name="connsiteX0" fmla="*/ 0 w 2334828"/>
              <a:gd name="connsiteY0" fmla="*/ 736847 h 745724"/>
              <a:gd name="connsiteX1" fmla="*/ 2334828 w 2334828"/>
              <a:gd name="connsiteY1" fmla="*/ 0 h 745724"/>
              <a:gd name="connsiteX2" fmla="*/ 1606859 w 2334828"/>
              <a:gd name="connsiteY2" fmla="*/ 745724 h 745724"/>
              <a:gd name="connsiteX3" fmla="*/ 0 w 2334828"/>
              <a:gd name="connsiteY3" fmla="*/ 736847 h 745724"/>
              <a:gd name="connsiteX0" fmla="*/ 0 w 2334828"/>
              <a:gd name="connsiteY0" fmla="*/ 736847 h 741918"/>
              <a:gd name="connsiteX1" fmla="*/ 2334828 w 2334828"/>
              <a:gd name="connsiteY1" fmla="*/ 0 h 741918"/>
              <a:gd name="connsiteX2" fmla="*/ 1454310 w 2334828"/>
              <a:gd name="connsiteY2" fmla="*/ 741918 h 741918"/>
              <a:gd name="connsiteX3" fmla="*/ 0 w 2334828"/>
              <a:gd name="connsiteY3" fmla="*/ 736847 h 741918"/>
              <a:gd name="connsiteX0" fmla="*/ 0 w 2334828"/>
              <a:gd name="connsiteY0" fmla="*/ 736847 h 748264"/>
              <a:gd name="connsiteX1" fmla="*/ 2334828 w 2334828"/>
              <a:gd name="connsiteY1" fmla="*/ 0 h 748264"/>
              <a:gd name="connsiteX2" fmla="*/ 1737258 w 2334828"/>
              <a:gd name="connsiteY2" fmla="*/ 748264 h 748264"/>
              <a:gd name="connsiteX3" fmla="*/ 0 w 2334828"/>
              <a:gd name="connsiteY3" fmla="*/ 736847 h 748264"/>
              <a:gd name="connsiteX0" fmla="*/ 0 w 2334828"/>
              <a:gd name="connsiteY0" fmla="*/ 743193 h 748264"/>
              <a:gd name="connsiteX1" fmla="*/ 2334828 w 2334828"/>
              <a:gd name="connsiteY1" fmla="*/ 0 h 748264"/>
              <a:gd name="connsiteX2" fmla="*/ 1737258 w 2334828"/>
              <a:gd name="connsiteY2" fmla="*/ 748264 h 748264"/>
              <a:gd name="connsiteX3" fmla="*/ 0 w 2334828"/>
              <a:gd name="connsiteY3" fmla="*/ 743193 h 748264"/>
              <a:gd name="connsiteX0" fmla="*/ 0 w 2334828"/>
              <a:gd name="connsiteY0" fmla="*/ 743193 h 743193"/>
              <a:gd name="connsiteX1" fmla="*/ 2334828 w 2334828"/>
              <a:gd name="connsiteY1" fmla="*/ 0 h 743193"/>
              <a:gd name="connsiteX2" fmla="*/ 1747014 w 2334828"/>
              <a:gd name="connsiteY2" fmla="*/ 739803 h 743193"/>
              <a:gd name="connsiteX3" fmla="*/ 0 w 2334828"/>
              <a:gd name="connsiteY3" fmla="*/ 743193 h 743193"/>
              <a:gd name="connsiteX0" fmla="*/ 0 w 3048886"/>
              <a:gd name="connsiteY0" fmla="*/ 743193 h 743193"/>
              <a:gd name="connsiteX1" fmla="*/ 2334828 w 3048886"/>
              <a:gd name="connsiteY1" fmla="*/ 0 h 743193"/>
              <a:gd name="connsiteX2" fmla="*/ 3048886 w 3048886"/>
              <a:gd name="connsiteY2" fmla="*/ 737961 h 743193"/>
              <a:gd name="connsiteX3" fmla="*/ 0 w 3048886"/>
              <a:gd name="connsiteY3" fmla="*/ 743193 h 743193"/>
              <a:gd name="connsiteX0" fmla="*/ 1639307 w 4688193"/>
              <a:gd name="connsiteY0" fmla="*/ 634500 h 634500"/>
              <a:gd name="connsiteX1" fmla="*/ 0 w 4688193"/>
              <a:gd name="connsiteY1" fmla="*/ 0 h 634500"/>
              <a:gd name="connsiteX2" fmla="*/ 4688193 w 4688193"/>
              <a:gd name="connsiteY2" fmla="*/ 629268 h 634500"/>
              <a:gd name="connsiteX3" fmla="*/ 1639307 w 4688193"/>
              <a:gd name="connsiteY3" fmla="*/ 634500 h 634500"/>
              <a:gd name="connsiteX0" fmla="*/ 2684230 w 5733116"/>
              <a:gd name="connsiteY0" fmla="*/ 426326 h 426326"/>
              <a:gd name="connsiteX1" fmla="*/ 0 w 5733116"/>
              <a:gd name="connsiteY1" fmla="*/ 0 h 426326"/>
              <a:gd name="connsiteX2" fmla="*/ 5733116 w 5733116"/>
              <a:gd name="connsiteY2" fmla="*/ 421094 h 426326"/>
              <a:gd name="connsiteX3" fmla="*/ 2684230 w 5733116"/>
              <a:gd name="connsiteY3" fmla="*/ 426326 h 426326"/>
              <a:gd name="connsiteX0" fmla="*/ 1742086 w 4790972"/>
              <a:gd name="connsiteY0" fmla="*/ 142620 h 142620"/>
              <a:gd name="connsiteX1" fmla="*/ 0 w 4790972"/>
              <a:gd name="connsiteY1" fmla="*/ 0 h 142620"/>
              <a:gd name="connsiteX2" fmla="*/ 4790972 w 4790972"/>
              <a:gd name="connsiteY2" fmla="*/ 137388 h 142620"/>
              <a:gd name="connsiteX3" fmla="*/ 1742086 w 4790972"/>
              <a:gd name="connsiteY3" fmla="*/ 142620 h 142620"/>
              <a:gd name="connsiteX0" fmla="*/ 1742086 w 4705323"/>
              <a:gd name="connsiteY0" fmla="*/ 142620 h 142620"/>
              <a:gd name="connsiteX1" fmla="*/ 0 w 4705323"/>
              <a:gd name="connsiteY1" fmla="*/ 0 h 142620"/>
              <a:gd name="connsiteX2" fmla="*/ 4705323 w 4705323"/>
              <a:gd name="connsiteY2" fmla="*/ 141072 h 142620"/>
              <a:gd name="connsiteX3" fmla="*/ 1742086 w 4705323"/>
              <a:gd name="connsiteY3" fmla="*/ 142620 h 142620"/>
              <a:gd name="connsiteX0" fmla="*/ 0 w 2963237"/>
              <a:gd name="connsiteY0" fmla="*/ 741351 h 741351"/>
              <a:gd name="connsiteX1" fmla="*/ 2386217 w 2963237"/>
              <a:gd name="connsiteY1" fmla="*/ 0 h 741351"/>
              <a:gd name="connsiteX2" fmla="*/ 2963237 w 2963237"/>
              <a:gd name="connsiteY2" fmla="*/ 739803 h 741351"/>
              <a:gd name="connsiteX3" fmla="*/ 0 w 2963237"/>
              <a:gd name="connsiteY3" fmla="*/ 741351 h 741351"/>
              <a:gd name="connsiteX0" fmla="*/ 0 w 3014627"/>
              <a:gd name="connsiteY0" fmla="*/ 741351 h 741351"/>
              <a:gd name="connsiteX1" fmla="*/ 2386217 w 3014627"/>
              <a:gd name="connsiteY1" fmla="*/ 0 h 741351"/>
              <a:gd name="connsiteX2" fmla="*/ 3014627 w 3014627"/>
              <a:gd name="connsiteY2" fmla="*/ 739803 h 741351"/>
              <a:gd name="connsiteX3" fmla="*/ 0 w 3014627"/>
              <a:gd name="connsiteY3" fmla="*/ 741351 h 741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4627" h="741351">
                <a:moveTo>
                  <a:pt x="0" y="741351"/>
                </a:moveTo>
                <a:lnTo>
                  <a:pt x="2386217" y="0"/>
                </a:lnTo>
                <a:lnTo>
                  <a:pt x="3014627" y="739803"/>
                </a:lnTo>
                <a:lnTo>
                  <a:pt x="0" y="741351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47" name="Group 46"/>
          <p:cNvGrpSpPr/>
          <p:nvPr/>
        </p:nvGrpSpPr>
        <p:grpSpPr>
          <a:xfrm>
            <a:off x="2481025" y="2057400"/>
            <a:ext cx="3962400" cy="3581400"/>
            <a:chOff x="2362200" y="2057400"/>
            <a:chExt cx="3962400" cy="3581400"/>
          </a:xfrm>
        </p:grpSpPr>
        <p:cxnSp>
          <p:nvCxnSpPr>
            <p:cNvPr id="34" name="Straight Connector 33"/>
            <p:cNvCxnSpPr/>
            <p:nvPr/>
          </p:nvCxnSpPr>
          <p:spPr>
            <a:xfrm flipH="1" flipV="1">
              <a:off x="2362200" y="3562350"/>
              <a:ext cx="457200" cy="13906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Group 45"/>
            <p:cNvGrpSpPr/>
            <p:nvPr/>
          </p:nvGrpSpPr>
          <p:grpSpPr>
            <a:xfrm>
              <a:off x="2362200" y="2057400"/>
              <a:ext cx="3962400" cy="3581400"/>
              <a:chOff x="2362200" y="2057400"/>
              <a:chExt cx="3962400" cy="3581400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3733800" y="5638800"/>
                <a:ext cx="16002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 flipH="1">
                <a:off x="5334000" y="4876800"/>
                <a:ext cx="762000" cy="76200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H="1">
                <a:off x="6096000" y="3886200"/>
                <a:ext cx="228600" cy="99060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5867400" y="2514600"/>
                <a:ext cx="457200" cy="137160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4953000" y="2057400"/>
                <a:ext cx="914400" cy="45720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flipV="1">
                <a:off x="2895600" y="2057400"/>
                <a:ext cx="2057400" cy="5334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flipV="1">
                <a:off x="2362200" y="2590800"/>
                <a:ext cx="533400" cy="990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 flipH="1" flipV="1">
                <a:off x="2819400" y="4953000"/>
                <a:ext cx="914400" cy="6858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Group 8"/>
          <p:cNvGrpSpPr/>
          <p:nvPr/>
        </p:nvGrpSpPr>
        <p:grpSpPr>
          <a:xfrm>
            <a:off x="2369017" y="1611868"/>
            <a:ext cx="4488983" cy="4484132"/>
            <a:chOff x="2326392" y="1611868"/>
            <a:chExt cx="4488983" cy="4484132"/>
          </a:xfrm>
        </p:grpSpPr>
        <p:grpSp>
          <p:nvGrpSpPr>
            <p:cNvPr id="3" name="Group 2"/>
            <p:cNvGrpSpPr/>
            <p:nvPr/>
          </p:nvGrpSpPr>
          <p:grpSpPr>
            <a:xfrm>
              <a:off x="2326392" y="1611868"/>
              <a:ext cx="4488983" cy="4484132"/>
              <a:chOff x="2326392" y="1611868"/>
              <a:chExt cx="4488983" cy="44841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Rectangle 1"/>
                  <p:cNvSpPr/>
                  <p:nvPr/>
                </p:nvSpPr>
                <p:spPr>
                  <a:xfrm>
                    <a:off x="5224225" y="5726668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" name="Rectangle 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4225" y="57266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Rectangle 17"/>
                  <p:cNvSpPr/>
                  <p:nvPr/>
                </p:nvSpPr>
                <p:spPr>
                  <a:xfrm>
                    <a:off x="6096000" y="46482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Rectangle 1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6000" y="46482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333" r="-14815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Rectangle 18"/>
                  <p:cNvSpPr/>
                  <p:nvPr/>
                </p:nvSpPr>
                <p:spPr>
                  <a:xfrm>
                    <a:off x="6324600" y="36576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Rectangle 1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24600" y="36576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Rectangle 20"/>
                  <p:cNvSpPr/>
                  <p:nvPr/>
                </p:nvSpPr>
                <p:spPr>
                  <a:xfrm>
                    <a:off x="4800600" y="1611868"/>
                    <a:ext cx="49237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" name="Rectangle 2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00600" y="1611868"/>
                    <a:ext cx="492379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ctangle 21"/>
                  <p:cNvSpPr/>
                  <p:nvPr/>
                </p:nvSpPr>
                <p:spPr>
                  <a:xfrm>
                    <a:off x="2326392" y="4888468"/>
                    <a:ext cx="72160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Rectangle 2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26392" y="4888468"/>
                    <a:ext cx="721608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101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/>
                  <p:cNvSpPr/>
                  <p:nvPr/>
                </p:nvSpPr>
                <p:spPr>
                  <a:xfrm>
                    <a:off x="3469392" y="5650468"/>
                    <a:ext cx="49879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Rectangle 2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69392" y="5650468"/>
                    <a:ext cx="498791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197" r="-15854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" name="Freeform 6"/>
            <p:cNvSpPr/>
            <p:nvPr/>
          </p:nvSpPr>
          <p:spPr>
            <a:xfrm>
              <a:off x="5791200" y="2133600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 rot="16200000">
              <a:off x="2559011" y="2118068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/>
          <p:cNvSpPr/>
          <p:nvPr/>
        </p:nvSpPr>
        <p:spPr>
          <a:xfrm>
            <a:off x="6705600" y="1139439"/>
            <a:ext cx="2545571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>
            <a:off x="3852625" y="5638800"/>
            <a:ext cx="1600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7B1D664-F0F3-B8C2-64CD-E89052662CF7}"/>
              </a:ext>
            </a:extLst>
          </p:cNvPr>
          <p:cNvGrpSpPr/>
          <p:nvPr/>
        </p:nvGrpSpPr>
        <p:grpSpPr>
          <a:xfrm>
            <a:off x="3852623" y="2069067"/>
            <a:ext cx="1591039" cy="3569731"/>
            <a:chOff x="3809999" y="3629607"/>
            <a:chExt cx="1940307" cy="2009193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DB372BE-3DEE-FF24-D2E6-69F919C651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09999" y="3629607"/>
              <a:ext cx="1508291" cy="2009193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BFC96C9-FFC0-296F-1A5E-B617CAB608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18291" y="3629607"/>
              <a:ext cx="432015" cy="200919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A17EF7-A008-0FAC-53AF-869767849C44}"/>
                  </a:ext>
                </a:extLst>
              </p:cNvPr>
              <p:cNvSpPr txBox="1"/>
              <p:nvPr/>
            </p:nvSpPr>
            <p:spPr>
              <a:xfrm>
                <a:off x="449887" y="1143000"/>
                <a:ext cx="76931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A17EF7-A008-0FAC-53AF-869767849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887" y="1143000"/>
                <a:ext cx="769313" cy="400110"/>
              </a:xfrm>
              <a:prstGeom prst="rect">
                <a:avLst/>
              </a:prstGeom>
              <a:blipFill>
                <a:blip r:embed="rId9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1BDB8B9-3B5F-699F-D69A-5DBD0F80C36E}"/>
                  </a:ext>
                </a:extLst>
              </p:cNvPr>
              <p:cNvSpPr txBox="1"/>
              <p:nvPr/>
            </p:nvSpPr>
            <p:spPr>
              <a:xfrm>
                <a:off x="446538" y="2190690"/>
                <a:ext cx="125015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d>
                        <m:dPr>
                          <m:ctrlPr>
                            <a:rPr lang="en-US" sz="2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1BDB8B9-3B5F-699F-D69A-5DBD0F80C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38" y="2190690"/>
                <a:ext cx="1250150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0143C9E-619E-0E65-FD1D-29802E617D3B}"/>
                  </a:ext>
                </a:extLst>
              </p:cNvPr>
              <p:cNvSpPr txBox="1"/>
              <p:nvPr/>
            </p:nvSpPr>
            <p:spPr>
              <a:xfrm>
                <a:off x="1089501" y="1176199"/>
                <a:ext cx="666579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 : The number of possible triangulations of polygon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sides.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0143C9E-619E-0E65-FD1D-29802E617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501" y="1176199"/>
                <a:ext cx="6665799" cy="400110"/>
              </a:xfrm>
              <a:prstGeom prst="rect">
                <a:avLst/>
              </a:prstGeom>
              <a:blipFill>
                <a:blip r:embed="rId11"/>
                <a:stretch>
                  <a:fillRect l="-183" t="-9091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loud Callout 2">
                <a:extLst>
                  <a:ext uri="{FF2B5EF4-FFF2-40B4-BE49-F238E27FC236}">
                    <a16:creationId xmlns:a16="http://schemas.microsoft.com/office/drawing/2014/main" id="{17D4381D-8E96-DC73-818D-C5AC4E8A6800}"/>
                  </a:ext>
                </a:extLst>
              </p:cNvPr>
              <p:cNvSpPr/>
              <p:nvPr/>
            </p:nvSpPr>
            <p:spPr>
              <a:xfrm>
                <a:off x="5592365" y="4976037"/>
                <a:ext cx="3713990" cy="1075812"/>
              </a:xfrm>
              <a:prstGeom prst="cloudCallout">
                <a:avLst>
                  <a:gd name="adj1" fmla="val -29690"/>
                  <a:gd name="adj2" fmla="val 85901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How many triangulations are there in which triangle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,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) appears ?</a:t>
                </a:r>
              </a:p>
            </p:txBody>
          </p:sp>
        </mc:Choice>
        <mc:Fallback xmlns="">
          <p:sp>
            <p:nvSpPr>
              <p:cNvPr id="14" name="Cloud Callout 2">
                <a:extLst>
                  <a:ext uri="{FF2B5EF4-FFF2-40B4-BE49-F238E27FC236}">
                    <a16:creationId xmlns:a16="http://schemas.microsoft.com/office/drawing/2014/main" id="{17D4381D-8E96-DC73-818D-C5AC4E8A68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2365" y="4976037"/>
                <a:ext cx="3713990" cy="1075812"/>
              </a:xfrm>
              <a:prstGeom prst="cloudCallout">
                <a:avLst>
                  <a:gd name="adj1" fmla="val -29690"/>
                  <a:gd name="adj2" fmla="val 85901"/>
                </a:avLst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1639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ontent Placeholder 84"/>
          <p:cNvSpPr>
            <a:spLocks noGrp="1"/>
          </p:cNvSpPr>
          <p:nvPr>
            <p:ph idx="1"/>
          </p:nvPr>
        </p:nvSpPr>
        <p:spPr>
          <a:xfrm>
            <a:off x="457200" y="1143000"/>
            <a:ext cx="8534400" cy="5486400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602BD1B0-B6AC-7518-EF5B-62B8E5575885}"/>
              </a:ext>
            </a:extLst>
          </p:cNvPr>
          <p:cNvSpPr/>
          <p:nvPr/>
        </p:nvSpPr>
        <p:spPr>
          <a:xfrm>
            <a:off x="3861787" y="2061275"/>
            <a:ext cx="1562349" cy="3572520"/>
          </a:xfrm>
          <a:custGeom>
            <a:avLst/>
            <a:gdLst>
              <a:gd name="connsiteX0" fmla="*/ 0 w 2334828"/>
              <a:gd name="connsiteY0" fmla="*/ 736847 h 745724"/>
              <a:gd name="connsiteX1" fmla="*/ 2334828 w 2334828"/>
              <a:gd name="connsiteY1" fmla="*/ 0 h 745724"/>
              <a:gd name="connsiteX2" fmla="*/ 1606859 w 2334828"/>
              <a:gd name="connsiteY2" fmla="*/ 745724 h 745724"/>
              <a:gd name="connsiteX3" fmla="*/ 0 w 2334828"/>
              <a:gd name="connsiteY3" fmla="*/ 736847 h 745724"/>
              <a:gd name="connsiteX0" fmla="*/ 0 w 2334828"/>
              <a:gd name="connsiteY0" fmla="*/ 736847 h 741918"/>
              <a:gd name="connsiteX1" fmla="*/ 2334828 w 2334828"/>
              <a:gd name="connsiteY1" fmla="*/ 0 h 741918"/>
              <a:gd name="connsiteX2" fmla="*/ 1454310 w 2334828"/>
              <a:gd name="connsiteY2" fmla="*/ 741918 h 741918"/>
              <a:gd name="connsiteX3" fmla="*/ 0 w 2334828"/>
              <a:gd name="connsiteY3" fmla="*/ 736847 h 741918"/>
              <a:gd name="connsiteX0" fmla="*/ 0 w 2334828"/>
              <a:gd name="connsiteY0" fmla="*/ 736847 h 748264"/>
              <a:gd name="connsiteX1" fmla="*/ 2334828 w 2334828"/>
              <a:gd name="connsiteY1" fmla="*/ 0 h 748264"/>
              <a:gd name="connsiteX2" fmla="*/ 1737258 w 2334828"/>
              <a:gd name="connsiteY2" fmla="*/ 748264 h 748264"/>
              <a:gd name="connsiteX3" fmla="*/ 0 w 2334828"/>
              <a:gd name="connsiteY3" fmla="*/ 736847 h 748264"/>
              <a:gd name="connsiteX0" fmla="*/ 0 w 2334828"/>
              <a:gd name="connsiteY0" fmla="*/ 743193 h 748264"/>
              <a:gd name="connsiteX1" fmla="*/ 2334828 w 2334828"/>
              <a:gd name="connsiteY1" fmla="*/ 0 h 748264"/>
              <a:gd name="connsiteX2" fmla="*/ 1737258 w 2334828"/>
              <a:gd name="connsiteY2" fmla="*/ 748264 h 748264"/>
              <a:gd name="connsiteX3" fmla="*/ 0 w 2334828"/>
              <a:gd name="connsiteY3" fmla="*/ 743193 h 748264"/>
              <a:gd name="connsiteX0" fmla="*/ 0 w 2334828"/>
              <a:gd name="connsiteY0" fmla="*/ 743193 h 743193"/>
              <a:gd name="connsiteX1" fmla="*/ 2334828 w 2334828"/>
              <a:gd name="connsiteY1" fmla="*/ 0 h 743193"/>
              <a:gd name="connsiteX2" fmla="*/ 1747014 w 2334828"/>
              <a:gd name="connsiteY2" fmla="*/ 739803 h 743193"/>
              <a:gd name="connsiteX3" fmla="*/ 0 w 2334828"/>
              <a:gd name="connsiteY3" fmla="*/ 743193 h 743193"/>
              <a:gd name="connsiteX0" fmla="*/ 0 w 3048886"/>
              <a:gd name="connsiteY0" fmla="*/ 743193 h 743193"/>
              <a:gd name="connsiteX1" fmla="*/ 2334828 w 3048886"/>
              <a:gd name="connsiteY1" fmla="*/ 0 h 743193"/>
              <a:gd name="connsiteX2" fmla="*/ 3048886 w 3048886"/>
              <a:gd name="connsiteY2" fmla="*/ 737961 h 743193"/>
              <a:gd name="connsiteX3" fmla="*/ 0 w 3048886"/>
              <a:gd name="connsiteY3" fmla="*/ 743193 h 743193"/>
              <a:gd name="connsiteX0" fmla="*/ 1639307 w 4688193"/>
              <a:gd name="connsiteY0" fmla="*/ 634500 h 634500"/>
              <a:gd name="connsiteX1" fmla="*/ 0 w 4688193"/>
              <a:gd name="connsiteY1" fmla="*/ 0 h 634500"/>
              <a:gd name="connsiteX2" fmla="*/ 4688193 w 4688193"/>
              <a:gd name="connsiteY2" fmla="*/ 629268 h 634500"/>
              <a:gd name="connsiteX3" fmla="*/ 1639307 w 4688193"/>
              <a:gd name="connsiteY3" fmla="*/ 634500 h 634500"/>
              <a:gd name="connsiteX0" fmla="*/ 2684230 w 5733116"/>
              <a:gd name="connsiteY0" fmla="*/ 426326 h 426326"/>
              <a:gd name="connsiteX1" fmla="*/ 0 w 5733116"/>
              <a:gd name="connsiteY1" fmla="*/ 0 h 426326"/>
              <a:gd name="connsiteX2" fmla="*/ 5733116 w 5733116"/>
              <a:gd name="connsiteY2" fmla="*/ 421094 h 426326"/>
              <a:gd name="connsiteX3" fmla="*/ 2684230 w 5733116"/>
              <a:gd name="connsiteY3" fmla="*/ 426326 h 426326"/>
              <a:gd name="connsiteX0" fmla="*/ 1742086 w 4790972"/>
              <a:gd name="connsiteY0" fmla="*/ 142620 h 142620"/>
              <a:gd name="connsiteX1" fmla="*/ 0 w 4790972"/>
              <a:gd name="connsiteY1" fmla="*/ 0 h 142620"/>
              <a:gd name="connsiteX2" fmla="*/ 4790972 w 4790972"/>
              <a:gd name="connsiteY2" fmla="*/ 137388 h 142620"/>
              <a:gd name="connsiteX3" fmla="*/ 1742086 w 4790972"/>
              <a:gd name="connsiteY3" fmla="*/ 142620 h 142620"/>
              <a:gd name="connsiteX0" fmla="*/ 1742086 w 4705323"/>
              <a:gd name="connsiteY0" fmla="*/ 142620 h 142620"/>
              <a:gd name="connsiteX1" fmla="*/ 0 w 4705323"/>
              <a:gd name="connsiteY1" fmla="*/ 0 h 142620"/>
              <a:gd name="connsiteX2" fmla="*/ 4705323 w 4705323"/>
              <a:gd name="connsiteY2" fmla="*/ 141072 h 142620"/>
              <a:gd name="connsiteX3" fmla="*/ 1742086 w 4705323"/>
              <a:gd name="connsiteY3" fmla="*/ 142620 h 142620"/>
              <a:gd name="connsiteX0" fmla="*/ 0 w 2963237"/>
              <a:gd name="connsiteY0" fmla="*/ 741351 h 741351"/>
              <a:gd name="connsiteX1" fmla="*/ 2386217 w 2963237"/>
              <a:gd name="connsiteY1" fmla="*/ 0 h 741351"/>
              <a:gd name="connsiteX2" fmla="*/ 2963237 w 2963237"/>
              <a:gd name="connsiteY2" fmla="*/ 739803 h 741351"/>
              <a:gd name="connsiteX3" fmla="*/ 0 w 2963237"/>
              <a:gd name="connsiteY3" fmla="*/ 741351 h 741351"/>
              <a:gd name="connsiteX0" fmla="*/ 0 w 3014627"/>
              <a:gd name="connsiteY0" fmla="*/ 741351 h 741351"/>
              <a:gd name="connsiteX1" fmla="*/ 2386217 w 3014627"/>
              <a:gd name="connsiteY1" fmla="*/ 0 h 741351"/>
              <a:gd name="connsiteX2" fmla="*/ 3014627 w 3014627"/>
              <a:gd name="connsiteY2" fmla="*/ 739803 h 741351"/>
              <a:gd name="connsiteX3" fmla="*/ 0 w 3014627"/>
              <a:gd name="connsiteY3" fmla="*/ 741351 h 741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4627" h="741351">
                <a:moveTo>
                  <a:pt x="0" y="741351"/>
                </a:moveTo>
                <a:lnTo>
                  <a:pt x="2386217" y="0"/>
                </a:lnTo>
                <a:lnTo>
                  <a:pt x="3014627" y="739803"/>
                </a:lnTo>
                <a:lnTo>
                  <a:pt x="0" y="741351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How </a:t>
            </a:r>
            <a:r>
              <a:rPr lang="en-US" sz="3200" b="1" dirty="0">
                <a:solidFill>
                  <a:srgbClr val="0070C0"/>
                </a:solidFill>
              </a:rPr>
              <a:t>many </a:t>
            </a:r>
            <a:r>
              <a:rPr lang="en-US" sz="3200" b="1" dirty="0"/>
              <a:t>possible triangulations ?</a:t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2481025" y="2057400"/>
            <a:ext cx="3962400" cy="3581400"/>
            <a:chOff x="2362200" y="2057400"/>
            <a:chExt cx="3962400" cy="3581400"/>
          </a:xfrm>
        </p:grpSpPr>
        <p:cxnSp>
          <p:nvCxnSpPr>
            <p:cNvPr id="34" name="Straight Connector 33"/>
            <p:cNvCxnSpPr/>
            <p:nvPr/>
          </p:nvCxnSpPr>
          <p:spPr>
            <a:xfrm flipH="1" flipV="1">
              <a:off x="2362200" y="3562350"/>
              <a:ext cx="457200" cy="139065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Group 45"/>
            <p:cNvGrpSpPr/>
            <p:nvPr/>
          </p:nvGrpSpPr>
          <p:grpSpPr>
            <a:xfrm>
              <a:off x="2362200" y="2057400"/>
              <a:ext cx="3962400" cy="3581400"/>
              <a:chOff x="2362200" y="2057400"/>
              <a:chExt cx="3962400" cy="3581400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3733800" y="5638800"/>
                <a:ext cx="16002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 flipH="1">
                <a:off x="5334000" y="4876800"/>
                <a:ext cx="762000" cy="76200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H="1">
                <a:off x="6096000" y="3886200"/>
                <a:ext cx="228600" cy="99060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5867400" y="2514600"/>
                <a:ext cx="457200" cy="137160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4953000" y="2057400"/>
                <a:ext cx="914400" cy="45720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flipV="1">
                <a:off x="2895600" y="2057400"/>
                <a:ext cx="2057400" cy="53340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flipV="1">
                <a:off x="2362200" y="2590800"/>
                <a:ext cx="533400" cy="99060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 flipH="1" flipV="1">
                <a:off x="2819400" y="4953000"/>
                <a:ext cx="914400" cy="68580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Group 8"/>
          <p:cNvGrpSpPr/>
          <p:nvPr/>
        </p:nvGrpSpPr>
        <p:grpSpPr>
          <a:xfrm>
            <a:off x="2369017" y="1611868"/>
            <a:ext cx="4488983" cy="4484132"/>
            <a:chOff x="2326392" y="1611868"/>
            <a:chExt cx="4488983" cy="4484132"/>
          </a:xfrm>
        </p:grpSpPr>
        <p:grpSp>
          <p:nvGrpSpPr>
            <p:cNvPr id="3" name="Group 2"/>
            <p:cNvGrpSpPr/>
            <p:nvPr/>
          </p:nvGrpSpPr>
          <p:grpSpPr>
            <a:xfrm>
              <a:off x="2326392" y="1611868"/>
              <a:ext cx="4488983" cy="4484132"/>
              <a:chOff x="2326392" y="1611868"/>
              <a:chExt cx="4488983" cy="44841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Rectangle 1"/>
                  <p:cNvSpPr/>
                  <p:nvPr/>
                </p:nvSpPr>
                <p:spPr>
                  <a:xfrm>
                    <a:off x="5224225" y="5726668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" name="Rectangle 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4225" y="57266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Rectangle 17"/>
                  <p:cNvSpPr/>
                  <p:nvPr/>
                </p:nvSpPr>
                <p:spPr>
                  <a:xfrm>
                    <a:off x="6096000" y="46482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Rectangle 1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6000" y="46482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333" r="-14815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Rectangle 18"/>
                  <p:cNvSpPr/>
                  <p:nvPr/>
                </p:nvSpPr>
                <p:spPr>
                  <a:xfrm>
                    <a:off x="6324600" y="36576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Rectangle 1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24600" y="36576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Rectangle 20"/>
                  <p:cNvSpPr/>
                  <p:nvPr/>
                </p:nvSpPr>
                <p:spPr>
                  <a:xfrm>
                    <a:off x="4800600" y="1611868"/>
                    <a:ext cx="49237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" name="Rectangle 2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00600" y="1611868"/>
                    <a:ext cx="492379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ctangle 21"/>
                  <p:cNvSpPr/>
                  <p:nvPr/>
                </p:nvSpPr>
                <p:spPr>
                  <a:xfrm>
                    <a:off x="2326392" y="4888468"/>
                    <a:ext cx="72160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Rectangle 2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26392" y="4888468"/>
                    <a:ext cx="721608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101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/>
                  <p:cNvSpPr/>
                  <p:nvPr/>
                </p:nvSpPr>
                <p:spPr>
                  <a:xfrm>
                    <a:off x="3469392" y="5650468"/>
                    <a:ext cx="49879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Rectangle 2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69392" y="5650468"/>
                    <a:ext cx="498791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197" r="-15854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" name="Freeform 6"/>
            <p:cNvSpPr/>
            <p:nvPr/>
          </p:nvSpPr>
          <p:spPr>
            <a:xfrm>
              <a:off x="5791200" y="2133600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 rot="16200000">
              <a:off x="2559011" y="2118068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9" name="Straight Connector 38"/>
          <p:cNvCxnSpPr/>
          <p:nvPr/>
        </p:nvCxnSpPr>
        <p:spPr>
          <a:xfrm>
            <a:off x="3852625" y="5638800"/>
            <a:ext cx="1600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7B1D664-F0F3-B8C2-64CD-E89052662CF7}"/>
              </a:ext>
            </a:extLst>
          </p:cNvPr>
          <p:cNvGrpSpPr/>
          <p:nvPr/>
        </p:nvGrpSpPr>
        <p:grpSpPr>
          <a:xfrm>
            <a:off x="3852623" y="2069067"/>
            <a:ext cx="1591039" cy="3569731"/>
            <a:chOff x="3809999" y="3629607"/>
            <a:chExt cx="1940307" cy="2009193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DB372BE-3DEE-FF24-D2E6-69F919C651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09999" y="3629607"/>
              <a:ext cx="1508291" cy="200919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BFC96C9-FFC0-296F-1A5E-B617CAB608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18291" y="3629607"/>
              <a:ext cx="432015" cy="200919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4B0DDE-40DE-10F2-1B9B-9BDB1EC56AFF}"/>
                  </a:ext>
                </a:extLst>
              </p:cNvPr>
              <p:cNvSpPr txBox="1"/>
              <p:nvPr/>
            </p:nvSpPr>
            <p:spPr>
              <a:xfrm>
                <a:off x="449887" y="1143000"/>
                <a:ext cx="76931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4B0DDE-40DE-10F2-1B9B-9BDB1EC56A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887" y="1143000"/>
                <a:ext cx="769313" cy="400110"/>
              </a:xfrm>
              <a:prstGeom prst="rect">
                <a:avLst/>
              </a:prstGeom>
              <a:blipFill>
                <a:blip r:embed="rId9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F1926D0-E904-D175-98F1-9167697959F0}"/>
                  </a:ext>
                </a:extLst>
              </p:cNvPr>
              <p:cNvSpPr txBox="1"/>
              <p:nvPr/>
            </p:nvSpPr>
            <p:spPr>
              <a:xfrm>
                <a:off x="5494503" y="3530024"/>
                <a:ext cx="76604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F1926D0-E904-D175-98F1-916769795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4503" y="3530024"/>
                <a:ext cx="766044" cy="400110"/>
              </a:xfrm>
              <a:prstGeom prst="rect">
                <a:avLst/>
              </a:prstGeom>
              <a:blipFill>
                <a:blip r:embed="rId10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533D4B7-D5BB-EE2F-886A-70D6EA9764B7}"/>
                  </a:ext>
                </a:extLst>
              </p:cNvPr>
              <p:cNvSpPr txBox="1"/>
              <p:nvPr/>
            </p:nvSpPr>
            <p:spPr>
              <a:xfrm>
                <a:off x="2743200" y="3576656"/>
                <a:ext cx="167327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533D4B7-D5BB-EE2F-886A-70D6EA976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3576656"/>
                <a:ext cx="1673279" cy="400110"/>
              </a:xfrm>
              <a:prstGeom prst="rect">
                <a:avLst/>
              </a:prstGeom>
              <a:blipFill>
                <a:blip r:embed="rId11"/>
                <a:stretch>
                  <a:fillRect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3440914-689F-A283-547E-34D5BF5155BC}"/>
                  </a:ext>
                </a:extLst>
              </p:cNvPr>
              <p:cNvSpPr txBox="1"/>
              <p:nvPr/>
            </p:nvSpPr>
            <p:spPr>
              <a:xfrm>
                <a:off x="446538" y="2190690"/>
                <a:ext cx="125015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d>
                        <m:dPr>
                          <m:ctrlPr>
                            <a:rPr lang="en-US" sz="2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3440914-689F-A283-547E-34D5BF5155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38" y="2190690"/>
                <a:ext cx="1250150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0BE0009-629A-816E-0709-CF718585C2A3}"/>
                  </a:ext>
                </a:extLst>
              </p:cNvPr>
              <p:cNvSpPr txBox="1"/>
              <p:nvPr/>
            </p:nvSpPr>
            <p:spPr>
              <a:xfrm>
                <a:off x="990600" y="5433065"/>
                <a:ext cx="76604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0BE0009-629A-816E-0709-CF718585C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5433065"/>
                <a:ext cx="766044" cy="400110"/>
              </a:xfrm>
              <a:prstGeom prst="rect">
                <a:avLst/>
              </a:prstGeom>
              <a:blipFill>
                <a:blip r:embed="rId13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52233A0-0AAB-2361-6737-F2B3C990DEA2}"/>
                  </a:ext>
                </a:extLst>
              </p:cNvPr>
              <p:cNvSpPr txBox="1"/>
              <p:nvPr/>
            </p:nvSpPr>
            <p:spPr>
              <a:xfrm>
                <a:off x="1755721" y="5440735"/>
                <a:ext cx="168450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52233A0-0AAB-2361-6737-F2B3C990D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721" y="5440735"/>
                <a:ext cx="1684500" cy="400110"/>
              </a:xfrm>
              <a:prstGeom prst="rect">
                <a:avLst/>
              </a:prstGeom>
              <a:blipFill>
                <a:blip r:embed="rId14"/>
                <a:stretch>
                  <a:fillRect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1E85F38-D379-ADBD-5B68-2FD9B976484A}"/>
                  </a:ext>
                </a:extLst>
              </p:cNvPr>
              <p:cNvSpPr txBox="1"/>
              <p:nvPr/>
            </p:nvSpPr>
            <p:spPr>
              <a:xfrm>
                <a:off x="1540042" y="5424752"/>
                <a:ext cx="42511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1E85F38-D379-ADBD-5B68-2FD9B9764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042" y="5424752"/>
                <a:ext cx="425116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FEEE2B8-B567-5BBF-5CB0-DEE8BFB019C1}"/>
                  </a:ext>
                </a:extLst>
              </p:cNvPr>
              <p:cNvSpPr txBox="1"/>
              <p:nvPr/>
            </p:nvSpPr>
            <p:spPr>
              <a:xfrm>
                <a:off x="102992" y="5181600"/>
                <a:ext cx="1313116" cy="8865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2800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FEEE2B8-B567-5BBF-5CB0-DEE8BFB01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92" y="5181600"/>
                <a:ext cx="1313116" cy="886525"/>
              </a:xfrm>
              <a:prstGeom prst="rect">
                <a:avLst/>
              </a:prstGeom>
              <a:blipFill>
                <a:blip r:embed="rId16"/>
                <a:stretch>
                  <a:fillRect l="-92308" t="-178571" r="-13462" b="-25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F8E559C-691C-2486-83E0-FF71D23A20A0}"/>
                  </a:ext>
                </a:extLst>
              </p:cNvPr>
              <p:cNvSpPr txBox="1"/>
              <p:nvPr/>
            </p:nvSpPr>
            <p:spPr>
              <a:xfrm>
                <a:off x="-82129" y="5996409"/>
                <a:ext cx="16428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F8E559C-691C-2486-83E0-FF71D23A20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2129" y="5996409"/>
                <a:ext cx="1642886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61C15E5-8B07-E09D-2154-21E2530EA6A0}"/>
                  </a:ext>
                </a:extLst>
              </p:cNvPr>
              <p:cNvSpPr txBox="1"/>
              <p:nvPr/>
            </p:nvSpPr>
            <p:spPr>
              <a:xfrm>
                <a:off x="457200" y="1828800"/>
                <a:ext cx="125015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d>
                        <m:dPr>
                          <m:ctrlPr>
                            <a:rPr lang="en-US" sz="2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61C15E5-8B07-E09D-2154-21E2530EA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828800"/>
                <a:ext cx="1250150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99890E2-1CF8-6349-4BF3-0F6759C3C66E}"/>
                  </a:ext>
                </a:extLst>
              </p:cNvPr>
              <p:cNvSpPr txBox="1"/>
              <p:nvPr/>
            </p:nvSpPr>
            <p:spPr>
              <a:xfrm>
                <a:off x="140467" y="6406143"/>
                <a:ext cx="3893117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= # rooted binary trees on</a:t>
                </a:r>
                <a:r>
                  <a:rPr lang="en-US" sz="1800" b="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dirty="0"/>
                  <a:t> nodes 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99890E2-1CF8-6349-4BF3-0F6759C3C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67" y="6406143"/>
                <a:ext cx="3893117" cy="369332"/>
              </a:xfrm>
              <a:prstGeom prst="rect">
                <a:avLst/>
              </a:prstGeom>
              <a:blipFill>
                <a:blip r:embed="rId19"/>
                <a:stretch>
                  <a:fillRect l="-1252" t="-10000" r="-469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82FB441-C896-189E-26C5-0858C6CCAF02}"/>
                  </a:ext>
                </a:extLst>
              </p:cNvPr>
              <p:cNvSpPr txBox="1"/>
              <p:nvPr/>
            </p:nvSpPr>
            <p:spPr>
              <a:xfrm>
                <a:off x="207964" y="4568401"/>
                <a:ext cx="2007537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Exponential in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Wingdings" pitchFamily="2" charset="2"/>
                  </a:rPr>
                  <a:t>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82FB441-C896-189E-26C5-0858C6CCA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964" y="4568401"/>
                <a:ext cx="2007537" cy="369332"/>
              </a:xfrm>
              <a:prstGeom prst="rect">
                <a:avLst/>
              </a:prstGeom>
              <a:blipFill>
                <a:blip r:embed="rId20"/>
                <a:stretch>
                  <a:fillRect l="-2516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17AB48C-5DEA-21B5-8DF2-B1CE9ACF6163}"/>
                  </a:ext>
                </a:extLst>
              </p:cNvPr>
              <p:cNvSpPr txBox="1"/>
              <p:nvPr/>
            </p:nvSpPr>
            <p:spPr>
              <a:xfrm>
                <a:off x="1089501" y="1176199"/>
                <a:ext cx="666579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 : The number of possible triangulations of polygon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sides. 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17AB48C-5DEA-21B5-8DF2-B1CE9ACF6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501" y="1176199"/>
                <a:ext cx="6665799" cy="400110"/>
              </a:xfrm>
              <a:prstGeom prst="rect">
                <a:avLst/>
              </a:prstGeom>
              <a:blipFill>
                <a:blip r:embed="rId21"/>
                <a:stretch>
                  <a:fillRect l="-183" t="-9091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DA7371F-0659-1A0A-7E89-4D4CB27B521A}"/>
                  </a:ext>
                </a:extLst>
              </p:cNvPr>
              <p:cNvSpPr txBox="1"/>
              <p:nvPr/>
            </p:nvSpPr>
            <p:spPr>
              <a:xfrm>
                <a:off x="4123824" y="6392269"/>
                <a:ext cx="2839880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800" b="0" dirty="0">
                    <a:solidFill>
                      <a:srgbClr val="0070C0"/>
                    </a:solidFill>
                  </a:rPr>
                  <a:t> </a:t>
                </a:r>
                <a:r>
                  <a:rPr lang="en-US" sz="1800" b="0" dirty="0"/>
                  <a:t>=</a:t>
                </a:r>
                <a:r>
                  <a:rPr lang="en-US" sz="1800" b="0" dirty="0">
                    <a:solidFill>
                      <a:srgbClr val="0070C0"/>
                    </a:solidFill>
                  </a:rPr>
                  <a:t> </a:t>
                </a:r>
                <a:r>
                  <a:rPr lang="en-US" sz="1800" b="0" dirty="0"/>
                  <a:t>(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dirty="0"/>
                  <a:t>)</a:t>
                </a:r>
                <a:r>
                  <a:rPr lang="en-US" dirty="0" err="1"/>
                  <a:t>th</a:t>
                </a:r>
                <a:r>
                  <a:rPr lang="en-US" dirty="0"/>
                  <a:t> Catalan number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DA7371F-0659-1A0A-7E89-4D4CB27B5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824" y="6392269"/>
                <a:ext cx="2839880" cy="369332"/>
              </a:xfrm>
              <a:prstGeom prst="rect">
                <a:avLst/>
              </a:prstGeom>
              <a:blipFill>
                <a:blip r:embed="rId22"/>
                <a:stretch>
                  <a:fillRect t="-10000" r="-1073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loud Callout 2">
            <a:extLst>
              <a:ext uri="{FF2B5EF4-FFF2-40B4-BE49-F238E27FC236}">
                <a16:creationId xmlns:a16="http://schemas.microsoft.com/office/drawing/2014/main" id="{3DA09238-B514-AD90-BF9B-C5019D4D2763}"/>
              </a:ext>
            </a:extLst>
          </p:cNvPr>
          <p:cNvSpPr/>
          <p:nvPr/>
        </p:nvSpPr>
        <p:spPr>
          <a:xfrm>
            <a:off x="5648872" y="5026714"/>
            <a:ext cx="3713990" cy="1075812"/>
          </a:xfrm>
          <a:prstGeom prst="cloudCallout">
            <a:avLst>
              <a:gd name="adj1" fmla="val -29690"/>
              <a:gd name="adj2" fmla="val 85901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Can you write a recurrence for this count 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loud Callout 2">
                <a:extLst>
                  <a:ext uri="{FF2B5EF4-FFF2-40B4-BE49-F238E27FC236}">
                    <a16:creationId xmlns:a16="http://schemas.microsoft.com/office/drawing/2014/main" id="{7A27238F-5B13-51B2-097E-2D44727574B8}"/>
                  </a:ext>
                </a:extLst>
              </p:cNvPr>
              <p:cNvSpPr/>
              <p:nvPr/>
            </p:nvSpPr>
            <p:spPr>
              <a:xfrm>
                <a:off x="102992" y="3175563"/>
                <a:ext cx="2132344" cy="801203"/>
              </a:xfrm>
              <a:prstGeom prst="cloudCallout">
                <a:avLst>
                  <a:gd name="adj1" fmla="val -29690"/>
                  <a:gd name="adj2" fmla="val 85901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What about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16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? </a:t>
                </a:r>
              </a:p>
            </p:txBody>
          </p:sp>
        </mc:Choice>
        <mc:Fallback xmlns="">
          <p:sp>
            <p:nvSpPr>
              <p:cNvPr id="43" name="Cloud Callout 2">
                <a:extLst>
                  <a:ext uri="{FF2B5EF4-FFF2-40B4-BE49-F238E27FC236}">
                    <a16:creationId xmlns:a16="http://schemas.microsoft.com/office/drawing/2014/main" id="{7A27238F-5B13-51B2-097E-2D44727574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92" y="3175563"/>
                <a:ext cx="2132344" cy="801203"/>
              </a:xfrm>
              <a:prstGeom prst="cloudCallout">
                <a:avLst>
                  <a:gd name="adj1" fmla="val -29690"/>
                  <a:gd name="adj2" fmla="val 85901"/>
                </a:avLst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1944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75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6" dur="1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  <p:bldP spid="17" grpId="0"/>
      <p:bldP spid="27" grpId="0"/>
      <p:bldP spid="28" grpId="0"/>
      <p:bldP spid="30" grpId="0"/>
      <p:bldP spid="31" grpId="0"/>
      <p:bldP spid="32" grpId="0" animBg="1"/>
      <p:bldP spid="33" grpId="0" animBg="1"/>
      <p:bldP spid="41" grpId="0" animBg="1"/>
      <p:bldP spid="10" grpId="1" animBg="1"/>
      <p:bldP spid="10" grpId="2" animBg="1"/>
      <p:bldP spid="43" grpId="0" animBg="1"/>
      <p:bldP spid="43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755BD-E1E4-22E7-FDB7-1520DA287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78283-F633-759C-AA17-01D2FF6D0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86868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There are exponential number of triangulations.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So we cannot afford to enumerate them to compute least cost triangulation.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IN" sz="2000" dirty="0"/>
              <a:t>But, ..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the insight we developed from the exercise of counting the no. of  triangulations </a:t>
            </a:r>
          </a:p>
          <a:p>
            <a:pPr marL="0" indent="0">
              <a:buNone/>
            </a:pPr>
            <a:r>
              <a:rPr lang="en-US" sz="2000" dirty="0"/>
              <a:t>will help us design the recursive formulation for the least cost triangulation.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Spend some time working on your own before proceeding further. </a:t>
            </a:r>
            <a:r>
              <a:rPr lang="en-US" sz="2000" dirty="0">
                <a:sym typeface="Wingdings" panose="05000000000000000000" pitchFamily="2" charset="2"/>
              </a:rPr>
              <a:t></a:t>
            </a: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54801-5C20-F489-16F4-8AA8D7312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058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5" name="Content Placeholder 84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534400" cy="5486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If the opt. triangulation has triangle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000" dirty="0"/>
                  <a:t>), what can we infer ?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85" name="Content Placeholder 8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534400" cy="5486400"/>
              </a:xfrm>
              <a:blipFill>
                <a:blip r:embed="rId2"/>
                <a:stretch>
                  <a:fillRect l="-714" t="-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32E91FD-EF15-A92A-7CCC-AA5112E21A02}"/>
              </a:ext>
            </a:extLst>
          </p:cNvPr>
          <p:cNvSpPr/>
          <p:nvPr/>
        </p:nvSpPr>
        <p:spPr>
          <a:xfrm>
            <a:off x="2476870" y="2050742"/>
            <a:ext cx="2592280" cy="3595456"/>
          </a:xfrm>
          <a:custGeom>
            <a:avLst/>
            <a:gdLst>
              <a:gd name="connsiteX0" fmla="*/ 2592280 w 2592280"/>
              <a:gd name="connsiteY0" fmla="*/ 0 h 3595456"/>
              <a:gd name="connsiteX1" fmla="*/ 1376039 w 2592280"/>
              <a:gd name="connsiteY1" fmla="*/ 3595456 h 3595456"/>
              <a:gd name="connsiteX2" fmla="*/ 452761 w 2592280"/>
              <a:gd name="connsiteY2" fmla="*/ 2885242 h 3595456"/>
              <a:gd name="connsiteX3" fmla="*/ 0 w 2592280"/>
              <a:gd name="connsiteY3" fmla="*/ 1509204 h 3595456"/>
              <a:gd name="connsiteX4" fmla="*/ 532660 w 2592280"/>
              <a:gd name="connsiteY4" fmla="*/ 523782 h 3595456"/>
              <a:gd name="connsiteX5" fmla="*/ 2592280 w 2592280"/>
              <a:gd name="connsiteY5" fmla="*/ 0 h 3595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92280" h="3595456">
                <a:moveTo>
                  <a:pt x="2592280" y="0"/>
                </a:moveTo>
                <a:lnTo>
                  <a:pt x="1376039" y="3595456"/>
                </a:lnTo>
                <a:lnTo>
                  <a:pt x="452761" y="2885242"/>
                </a:lnTo>
                <a:lnTo>
                  <a:pt x="0" y="1509204"/>
                </a:lnTo>
                <a:lnTo>
                  <a:pt x="532660" y="523782"/>
                </a:lnTo>
                <a:lnTo>
                  <a:pt x="259228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6DDD897-AE8D-E574-9416-D4DC3A08C416}"/>
              </a:ext>
            </a:extLst>
          </p:cNvPr>
          <p:cNvSpPr/>
          <p:nvPr/>
        </p:nvSpPr>
        <p:spPr>
          <a:xfrm>
            <a:off x="5086905" y="2068497"/>
            <a:ext cx="1349406" cy="3568823"/>
          </a:xfrm>
          <a:custGeom>
            <a:avLst/>
            <a:gdLst>
              <a:gd name="connsiteX0" fmla="*/ 0 w 1349406"/>
              <a:gd name="connsiteY0" fmla="*/ 0 h 3568823"/>
              <a:gd name="connsiteX1" fmla="*/ 896645 w 1349406"/>
              <a:gd name="connsiteY1" fmla="*/ 452761 h 3568823"/>
              <a:gd name="connsiteX2" fmla="*/ 1349406 w 1349406"/>
              <a:gd name="connsiteY2" fmla="*/ 1811045 h 3568823"/>
              <a:gd name="connsiteX3" fmla="*/ 1127464 w 1349406"/>
              <a:gd name="connsiteY3" fmla="*/ 2805344 h 3568823"/>
              <a:gd name="connsiteX4" fmla="*/ 346229 w 1349406"/>
              <a:gd name="connsiteY4" fmla="*/ 3568823 h 3568823"/>
              <a:gd name="connsiteX5" fmla="*/ 0 w 1349406"/>
              <a:gd name="connsiteY5" fmla="*/ 0 h 3568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49406" h="3568823">
                <a:moveTo>
                  <a:pt x="0" y="0"/>
                </a:moveTo>
                <a:lnTo>
                  <a:pt x="896645" y="452761"/>
                </a:lnTo>
                <a:lnTo>
                  <a:pt x="1349406" y="1811045"/>
                </a:lnTo>
                <a:lnTo>
                  <a:pt x="1127464" y="2805344"/>
                </a:lnTo>
                <a:lnTo>
                  <a:pt x="346229" y="356882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602BD1B0-B6AC-7518-EF5B-62B8E5575885}"/>
              </a:ext>
            </a:extLst>
          </p:cNvPr>
          <p:cNvSpPr/>
          <p:nvPr/>
        </p:nvSpPr>
        <p:spPr>
          <a:xfrm>
            <a:off x="3861787" y="2061275"/>
            <a:ext cx="1562349" cy="3572520"/>
          </a:xfrm>
          <a:custGeom>
            <a:avLst/>
            <a:gdLst>
              <a:gd name="connsiteX0" fmla="*/ 0 w 2334828"/>
              <a:gd name="connsiteY0" fmla="*/ 736847 h 745724"/>
              <a:gd name="connsiteX1" fmla="*/ 2334828 w 2334828"/>
              <a:gd name="connsiteY1" fmla="*/ 0 h 745724"/>
              <a:gd name="connsiteX2" fmla="*/ 1606859 w 2334828"/>
              <a:gd name="connsiteY2" fmla="*/ 745724 h 745724"/>
              <a:gd name="connsiteX3" fmla="*/ 0 w 2334828"/>
              <a:gd name="connsiteY3" fmla="*/ 736847 h 745724"/>
              <a:gd name="connsiteX0" fmla="*/ 0 w 2334828"/>
              <a:gd name="connsiteY0" fmla="*/ 736847 h 741918"/>
              <a:gd name="connsiteX1" fmla="*/ 2334828 w 2334828"/>
              <a:gd name="connsiteY1" fmla="*/ 0 h 741918"/>
              <a:gd name="connsiteX2" fmla="*/ 1454310 w 2334828"/>
              <a:gd name="connsiteY2" fmla="*/ 741918 h 741918"/>
              <a:gd name="connsiteX3" fmla="*/ 0 w 2334828"/>
              <a:gd name="connsiteY3" fmla="*/ 736847 h 741918"/>
              <a:gd name="connsiteX0" fmla="*/ 0 w 2334828"/>
              <a:gd name="connsiteY0" fmla="*/ 736847 h 748264"/>
              <a:gd name="connsiteX1" fmla="*/ 2334828 w 2334828"/>
              <a:gd name="connsiteY1" fmla="*/ 0 h 748264"/>
              <a:gd name="connsiteX2" fmla="*/ 1737258 w 2334828"/>
              <a:gd name="connsiteY2" fmla="*/ 748264 h 748264"/>
              <a:gd name="connsiteX3" fmla="*/ 0 w 2334828"/>
              <a:gd name="connsiteY3" fmla="*/ 736847 h 748264"/>
              <a:gd name="connsiteX0" fmla="*/ 0 w 2334828"/>
              <a:gd name="connsiteY0" fmla="*/ 743193 h 748264"/>
              <a:gd name="connsiteX1" fmla="*/ 2334828 w 2334828"/>
              <a:gd name="connsiteY1" fmla="*/ 0 h 748264"/>
              <a:gd name="connsiteX2" fmla="*/ 1737258 w 2334828"/>
              <a:gd name="connsiteY2" fmla="*/ 748264 h 748264"/>
              <a:gd name="connsiteX3" fmla="*/ 0 w 2334828"/>
              <a:gd name="connsiteY3" fmla="*/ 743193 h 748264"/>
              <a:gd name="connsiteX0" fmla="*/ 0 w 2334828"/>
              <a:gd name="connsiteY0" fmla="*/ 743193 h 743193"/>
              <a:gd name="connsiteX1" fmla="*/ 2334828 w 2334828"/>
              <a:gd name="connsiteY1" fmla="*/ 0 h 743193"/>
              <a:gd name="connsiteX2" fmla="*/ 1747014 w 2334828"/>
              <a:gd name="connsiteY2" fmla="*/ 739803 h 743193"/>
              <a:gd name="connsiteX3" fmla="*/ 0 w 2334828"/>
              <a:gd name="connsiteY3" fmla="*/ 743193 h 743193"/>
              <a:gd name="connsiteX0" fmla="*/ 0 w 3048886"/>
              <a:gd name="connsiteY0" fmla="*/ 743193 h 743193"/>
              <a:gd name="connsiteX1" fmla="*/ 2334828 w 3048886"/>
              <a:gd name="connsiteY1" fmla="*/ 0 h 743193"/>
              <a:gd name="connsiteX2" fmla="*/ 3048886 w 3048886"/>
              <a:gd name="connsiteY2" fmla="*/ 737961 h 743193"/>
              <a:gd name="connsiteX3" fmla="*/ 0 w 3048886"/>
              <a:gd name="connsiteY3" fmla="*/ 743193 h 743193"/>
              <a:gd name="connsiteX0" fmla="*/ 1639307 w 4688193"/>
              <a:gd name="connsiteY0" fmla="*/ 634500 h 634500"/>
              <a:gd name="connsiteX1" fmla="*/ 0 w 4688193"/>
              <a:gd name="connsiteY1" fmla="*/ 0 h 634500"/>
              <a:gd name="connsiteX2" fmla="*/ 4688193 w 4688193"/>
              <a:gd name="connsiteY2" fmla="*/ 629268 h 634500"/>
              <a:gd name="connsiteX3" fmla="*/ 1639307 w 4688193"/>
              <a:gd name="connsiteY3" fmla="*/ 634500 h 634500"/>
              <a:gd name="connsiteX0" fmla="*/ 2684230 w 5733116"/>
              <a:gd name="connsiteY0" fmla="*/ 426326 h 426326"/>
              <a:gd name="connsiteX1" fmla="*/ 0 w 5733116"/>
              <a:gd name="connsiteY1" fmla="*/ 0 h 426326"/>
              <a:gd name="connsiteX2" fmla="*/ 5733116 w 5733116"/>
              <a:gd name="connsiteY2" fmla="*/ 421094 h 426326"/>
              <a:gd name="connsiteX3" fmla="*/ 2684230 w 5733116"/>
              <a:gd name="connsiteY3" fmla="*/ 426326 h 426326"/>
              <a:gd name="connsiteX0" fmla="*/ 1742086 w 4790972"/>
              <a:gd name="connsiteY0" fmla="*/ 142620 h 142620"/>
              <a:gd name="connsiteX1" fmla="*/ 0 w 4790972"/>
              <a:gd name="connsiteY1" fmla="*/ 0 h 142620"/>
              <a:gd name="connsiteX2" fmla="*/ 4790972 w 4790972"/>
              <a:gd name="connsiteY2" fmla="*/ 137388 h 142620"/>
              <a:gd name="connsiteX3" fmla="*/ 1742086 w 4790972"/>
              <a:gd name="connsiteY3" fmla="*/ 142620 h 142620"/>
              <a:gd name="connsiteX0" fmla="*/ 1742086 w 4705323"/>
              <a:gd name="connsiteY0" fmla="*/ 142620 h 142620"/>
              <a:gd name="connsiteX1" fmla="*/ 0 w 4705323"/>
              <a:gd name="connsiteY1" fmla="*/ 0 h 142620"/>
              <a:gd name="connsiteX2" fmla="*/ 4705323 w 4705323"/>
              <a:gd name="connsiteY2" fmla="*/ 141072 h 142620"/>
              <a:gd name="connsiteX3" fmla="*/ 1742086 w 4705323"/>
              <a:gd name="connsiteY3" fmla="*/ 142620 h 142620"/>
              <a:gd name="connsiteX0" fmla="*/ 0 w 2963237"/>
              <a:gd name="connsiteY0" fmla="*/ 741351 h 741351"/>
              <a:gd name="connsiteX1" fmla="*/ 2386217 w 2963237"/>
              <a:gd name="connsiteY1" fmla="*/ 0 h 741351"/>
              <a:gd name="connsiteX2" fmla="*/ 2963237 w 2963237"/>
              <a:gd name="connsiteY2" fmla="*/ 739803 h 741351"/>
              <a:gd name="connsiteX3" fmla="*/ 0 w 2963237"/>
              <a:gd name="connsiteY3" fmla="*/ 741351 h 741351"/>
              <a:gd name="connsiteX0" fmla="*/ 0 w 3014627"/>
              <a:gd name="connsiteY0" fmla="*/ 741351 h 741351"/>
              <a:gd name="connsiteX1" fmla="*/ 2386217 w 3014627"/>
              <a:gd name="connsiteY1" fmla="*/ 0 h 741351"/>
              <a:gd name="connsiteX2" fmla="*/ 3014627 w 3014627"/>
              <a:gd name="connsiteY2" fmla="*/ 739803 h 741351"/>
              <a:gd name="connsiteX3" fmla="*/ 0 w 3014627"/>
              <a:gd name="connsiteY3" fmla="*/ 741351 h 741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4627" h="741351">
                <a:moveTo>
                  <a:pt x="0" y="741351"/>
                </a:moveTo>
                <a:lnTo>
                  <a:pt x="2386217" y="0"/>
                </a:lnTo>
                <a:lnTo>
                  <a:pt x="3014627" y="739803"/>
                </a:lnTo>
                <a:lnTo>
                  <a:pt x="0" y="741351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How to compute </a:t>
            </a:r>
            <a:r>
              <a:rPr lang="en-US" sz="3200" b="1" dirty="0">
                <a:solidFill>
                  <a:srgbClr val="7030A0"/>
                </a:solidFill>
              </a:rPr>
              <a:t>optimal</a:t>
            </a:r>
            <a:r>
              <a:rPr lang="en-US" sz="3200" b="1" dirty="0"/>
              <a:t> triangulation ?</a:t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2481025" y="2057400"/>
            <a:ext cx="3962400" cy="3581400"/>
            <a:chOff x="2362200" y="2057400"/>
            <a:chExt cx="3962400" cy="3581400"/>
          </a:xfrm>
        </p:grpSpPr>
        <p:cxnSp>
          <p:nvCxnSpPr>
            <p:cNvPr id="34" name="Straight Connector 33"/>
            <p:cNvCxnSpPr/>
            <p:nvPr/>
          </p:nvCxnSpPr>
          <p:spPr>
            <a:xfrm flipH="1" flipV="1">
              <a:off x="2362200" y="3562350"/>
              <a:ext cx="457200" cy="13906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Group 45"/>
            <p:cNvGrpSpPr/>
            <p:nvPr/>
          </p:nvGrpSpPr>
          <p:grpSpPr>
            <a:xfrm>
              <a:off x="2362200" y="2057400"/>
              <a:ext cx="3962400" cy="3581400"/>
              <a:chOff x="2362200" y="2057400"/>
              <a:chExt cx="3962400" cy="3581400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3733800" y="5638800"/>
                <a:ext cx="16002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 flipH="1">
                <a:off x="5334000" y="4876800"/>
                <a:ext cx="762000" cy="76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H="1">
                <a:off x="6096000" y="3886200"/>
                <a:ext cx="228600" cy="990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5867400" y="2514600"/>
                <a:ext cx="457200" cy="1371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4953000" y="2057400"/>
                <a:ext cx="914400" cy="4572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flipV="1">
                <a:off x="2895600" y="2057400"/>
                <a:ext cx="2057400" cy="5334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flipV="1">
                <a:off x="2362200" y="2590800"/>
                <a:ext cx="533400" cy="990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 flipH="1" flipV="1">
                <a:off x="2819400" y="4953000"/>
                <a:ext cx="914400" cy="6858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Group 8"/>
          <p:cNvGrpSpPr/>
          <p:nvPr/>
        </p:nvGrpSpPr>
        <p:grpSpPr>
          <a:xfrm>
            <a:off x="2369017" y="1611868"/>
            <a:ext cx="4488983" cy="4484132"/>
            <a:chOff x="2326392" y="1611868"/>
            <a:chExt cx="4488983" cy="4484132"/>
          </a:xfrm>
        </p:grpSpPr>
        <p:grpSp>
          <p:nvGrpSpPr>
            <p:cNvPr id="3" name="Group 2"/>
            <p:cNvGrpSpPr/>
            <p:nvPr/>
          </p:nvGrpSpPr>
          <p:grpSpPr>
            <a:xfrm>
              <a:off x="2326392" y="1611868"/>
              <a:ext cx="4488983" cy="4484132"/>
              <a:chOff x="2326392" y="1611868"/>
              <a:chExt cx="4488983" cy="44841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Rectangle 1"/>
                  <p:cNvSpPr/>
                  <p:nvPr/>
                </p:nvSpPr>
                <p:spPr>
                  <a:xfrm>
                    <a:off x="5224225" y="5726668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" name="Rectangle 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4225" y="57266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Rectangle 17"/>
                  <p:cNvSpPr/>
                  <p:nvPr/>
                </p:nvSpPr>
                <p:spPr>
                  <a:xfrm>
                    <a:off x="6096000" y="46482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Rectangle 1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6000" y="46482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333" r="-14815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Rectangle 18"/>
                  <p:cNvSpPr/>
                  <p:nvPr/>
                </p:nvSpPr>
                <p:spPr>
                  <a:xfrm>
                    <a:off x="6324600" y="36576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Rectangle 1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24600" y="36576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Rectangle 20"/>
                  <p:cNvSpPr/>
                  <p:nvPr/>
                </p:nvSpPr>
                <p:spPr>
                  <a:xfrm>
                    <a:off x="4800600" y="1611868"/>
                    <a:ext cx="49237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" name="Rectangle 2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00600" y="1611868"/>
                    <a:ext cx="492379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ctangle 21"/>
                  <p:cNvSpPr/>
                  <p:nvPr/>
                </p:nvSpPr>
                <p:spPr>
                  <a:xfrm>
                    <a:off x="2326392" y="4888468"/>
                    <a:ext cx="72160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Rectangle 2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26392" y="4888468"/>
                    <a:ext cx="721608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101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/>
                  <p:cNvSpPr/>
                  <p:nvPr/>
                </p:nvSpPr>
                <p:spPr>
                  <a:xfrm>
                    <a:off x="3469392" y="5650468"/>
                    <a:ext cx="49879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Rectangle 2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69392" y="5650468"/>
                    <a:ext cx="498791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197" r="-15854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" name="Freeform 6"/>
            <p:cNvSpPr/>
            <p:nvPr/>
          </p:nvSpPr>
          <p:spPr>
            <a:xfrm>
              <a:off x="5791200" y="2133600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 rot="16200000">
              <a:off x="2559011" y="2118068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/>
          <p:cNvSpPr/>
          <p:nvPr/>
        </p:nvSpPr>
        <p:spPr>
          <a:xfrm>
            <a:off x="1600200" y="1143000"/>
            <a:ext cx="2438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6705600" y="1139439"/>
            <a:ext cx="2545571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038600" y="1143000"/>
            <a:ext cx="2743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>
            <a:off x="3852625" y="5638800"/>
            <a:ext cx="1600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7B1D664-F0F3-B8C2-64CD-E89052662CF7}"/>
              </a:ext>
            </a:extLst>
          </p:cNvPr>
          <p:cNvGrpSpPr/>
          <p:nvPr/>
        </p:nvGrpSpPr>
        <p:grpSpPr>
          <a:xfrm>
            <a:off x="3852623" y="2069067"/>
            <a:ext cx="1591039" cy="3569731"/>
            <a:chOff x="3809999" y="3629607"/>
            <a:chExt cx="1940307" cy="2009193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DB372BE-3DEE-FF24-D2E6-69F919C651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09999" y="3629607"/>
              <a:ext cx="1508291" cy="2009193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BFC96C9-FFC0-296F-1A5E-B617CAB608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18291" y="3629607"/>
              <a:ext cx="432015" cy="200919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Cloud Callout 2">
            <a:extLst>
              <a:ext uri="{FF2B5EF4-FFF2-40B4-BE49-F238E27FC236}">
                <a16:creationId xmlns:a16="http://schemas.microsoft.com/office/drawing/2014/main" id="{38E4C523-B048-F291-C434-DDED6C45634F}"/>
              </a:ext>
            </a:extLst>
          </p:cNvPr>
          <p:cNvSpPr/>
          <p:nvPr/>
        </p:nvSpPr>
        <p:spPr>
          <a:xfrm>
            <a:off x="-62289" y="5211584"/>
            <a:ext cx="3713990" cy="1075812"/>
          </a:xfrm>
          <a:prstGeom prst="cloudCallout">
            <a:avLst>
              <a:gd name="adj1" fmla="val -29690"/>
              <a:gd name="adj2" fmla="val 85901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Can you give a recursive formulation for the problem ?</a:t>
            </a:r>
          </a:p>
        </p:txBody>
      </p:sp>
      <p:sp>
        <p:nvSpPr>
          <p:cNvPr id="27" name="Cloud Callout 2">
            <a:extLst>
              <a:ext uri="{FF2B5EF4-FFF2-40B4-BE49-F238E27FC236}">
                <a16:creationId xmlns:a16="http://schemas.microsoft.com/office/drawing/2014/main" id="{7CF07EC1-70F0-9A69-BA91-D928F79E8D62}"/>
              </a:ext>
            </a:extLst>
          </p:cNvPr>
          <p:cNvSpPr/>
          <p:nvPr/>
        </p:nvSpPr>
        <p:spPr>
          <a:xfrm>
            <a:off x="4699987" y="5310164"/>
            <a:ext cx="4497539" cy="1008795"/>
          </a:xfrm>
          <a:prstGeom prst="cloudCallout">
            <a:avLst>
              <a:gd name="adj1" fmla="val -29690"/>
              <a:gd name="adj2" fmla="val 85901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What will be the recursive term ?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How many parameters 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0027A3-0471-C9D4-AD3C-8C270FE1C1D8}"/>
              </a:ext>
            </a:extLst>
          </p:cNvPr>
          <p:cNvSpPr txBox="1"/>
          <p:nvPr/>
        </p:nvSpPr>
        <p:spPr>
          <a:xfrm>
            <a:off x="990600" y="6391832"/>
            <a:ext cx="6840206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Homework: Ponder over these questions before coming to next class 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5047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0" dur="1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5" dur="1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0" dur="1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build="p"/>
      <p:bldP spid="15" grpId="0" animBg="1"/>
      <p:bldP spid="14" grpId="0" animBg="1"/>
      <p:bldP spid="54" grpId="0" animBg="1"/>
      <p:bldP spid="5" grpId="0"/>
      <p:bldP spid="38" grpId="0" animBg="1"/>
      <p:bldP spid="40" grpId="0" animBg="1"/>
      <p:bldP spid="50" grpId="0" animBg="1"/>
      <p:bldP spid="17" grpId="1" animBg="1"/>
      <p:bldP spid="27" grpId="1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1828800"/>
            <a:ext cx="7772400" cy="1362075"/>
          </a:xfrm>
        </p:spPr>
        <p:txBody>
          <a:bodyPr/>
          <a:lstStyle/>
          <a:p>
            <a:pPr algn="ctr"/>
            <a:r>
              <a:rPr lang="en-US" sz="3200" dirty="0" err="1">
                <a:solidFill>
                  <a:srgbClr val="7030A0"/>
                </a:solidFill>
              </a:rPr>
              <a:t>Bitonic</a:t>
            </a:r>
            <a:r>
              <a:rPr lang="en-US" sz="3200" dirty="0">
                <a:solidFill>
                  <a:srgbClr val="7030A0"/>
                </a:solidFill>
              </a:rPr>
              <a:t> tour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573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err="1">
                <a:solidFill>
                  <a:srgbClr val="7030A0"/>
                </a:solidFill>
              </a:rPr>
              <a:t>Bitonic</a:t>
            </a:r>
            <a:r>
              <a:rPr lang="en-US" sz="3600" b="1" dirty="0">
                <a:solidFill>
                  <a:srgbClr val="7030A0"/>
                </a:solidFill>
              </a:rPr>
              <a:t> tour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229600" cy="48307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There are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points in a plane.</a:t>
                </a:r>
                <a:endParaRPr lang="en-US" sz="2000" b="1" i="1" dirty="0">
                  <a:solidFill>
                    <a:srgbClr val="7030A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: distance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Cost</a:t>
                </a:r>
                <a:r>
                  <a:rPr lang="en-US" sz="2000" b="1" dirty="0"/>
                  <a:t> of a tour</a:t>
                </a:r>
                <a:r>
                  <a:rPr lang="en-US" sz="2000" dirty="0"/>
                  <a:t>: Total distance traveled.  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229600" cy="4830763"/>
              </a:xfrm>
              <a:blipFill rotWithShape="1">
                <a:blip r:embed="rId2"/>
                <a:stretch>
                  <a:fillRect l="-741" t="-8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2057400" y="2286000"/>
            <a:ext cx="6159262" cy="2438400"/>
            <a:chOff x="2057400" y="2286000"/>
            <a:chExt cx="6159262" cy="2438400"/>
          </a:xfrm>
        </p:grpSpPr>
        <p:grpSp>
          <p:nvGrpSpPr>
            <p:cNvPr id="10" name="Group 9"/>
            <p:cNvGrpSpPr/>
            <p:nvPr/>
          </p:nvGrpSpPr>
          <p:grpSpPr>
            <a:xfrm>
              <a:off x="2057400" y="3349823"/>
              <a:ext cx="490775" cy="460177"/>
              <a:chOff x="2667000" y="2740223"/>
              <a:chExt cx="490775" cy="460177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/>
            <p:cNvGrpSpPr/>
            <p:nvPr/>
          </p:nvGrpSpPr>
          <p:grpSpPr>
            <a:xfrm>
              <a:off x="5262697" y="2892623"/>
              <a:ext cx="490775" cy="460177"/>
              <a:chOff x="2667000" y="2740223"/>
              <a:chExt cx="490775" cy="460177"/>
            </a:xfrm>
          </p:grpSpPr>
          <p:sp>
            <p:nvSpPr>
              <p:cNvPr id="12" name="Oval 11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𝟕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/>
            <p:cNvGrpSpPr/>
            <p:nvPr/>
          </p:nvGrpSpPr>
          <p:grpSpPr>
            <a:xfrm>
              <a:off x="3814897" y="2819400"/>
              <a:ext cx="490775" cy="460177"/>
              <a:chOff x="2667000" y="2740223"/>
              <a:chExt cx="490775" cy="460177"/>
            </a:xfrm>
          </p:grpSpPr>
          <p:sp>
            <p:nvSpPr>
              <p:cNvPr id="15" name="Oval 14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/>
            <p:cNvGrpSpPr/>
            <p:nvPr/>
          </p:nvGrpSpPr>
          <p:grpSpPr>
            <a:xfrm>
              <a:off x="3124200" y="3962400"/>
              <a:ext cx="490775" cy="460177"/>
              <a:chOff x="2667000" y="2740223"/>
              <a:chExt cx="490775" cy="460177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" name="Group 19"/>
            <p:cNvGrpSpPr/>
            <p:nvPr/>
          </p:nvGrpSpPr>
          <p:grpSpPr>
            <a:xfrm>
              <a:off x="4119697" y="4264223"/>
              <a:ext cx="490775" cy="460177"/>
              <a:chOff x="2667000" y="2740223"/>
              <a:chExt cx="490775" cy="460177"/>
            </a:xfrm>
          </p:grpSpPr>
          <p:sp>
            <p:nvSpPr>
              <p:cNvPr id="21" name="Oval 20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𝟓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" name="Group 22"/>
            <p:cNvGrpSpPr/>
            <p:nvPr/>
          </p:nvGrpSpPr>
          <p:grpSpPr>
            <a:xfrm>
              <a:off x="2748097" y="2895600"/>
              <a:ext cx="490775" cy="460177"/>
              <a:chOff x="2667000" y="2740223"/>
              <a:chExt cx="490775" cy="460177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5" name="TextBox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Group 25"/>
            <p:cNvGrpSpPr/>
            <p:nvPr/>
          </p:nvGrpSpPr>
          <p:grpSpPr>
            <a:xfrm>
              <a:off x="4729297" y="2286000"/>
              <a:ext cx="490775" cy="460177"/>
              <a:chOff x="2667000" y="2740223"/>
              <a:chExt cx="490775" cy="460177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𝟔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8" name="TextBox 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9" name="Group 28"/>
            <p:cNvGrpSpPr/>
            <p:nvPr/>
          </p:nvGrpSpPr>
          <p:grpSpPr>
            <a:xfrm>
              <a:off x="6100897" y="3578423"/>
              <a:ext cx="490775" cy="460177"/>
              <a:chOff x="2667000" y="2740223"/>
              <a:chExt cx="490775" cy="460177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𝟗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TextBox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2" name="Group 31"/>
            <p:cNvGrpSpPr/>
            <p:nvPr/>
          </p:nvGrpSpPr>
          <p:grpSpPr>
            <a:xfrm>
              <a:off x="5567497" y="4188023"/>
              <a:ext cx="490775" cy="460177"/>
              <a:chOff x="2667000" y="2740223"/>
              <a:chExt cx="490775" cy="460177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𝟖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4" name="TextBox 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5" name="Group 34"/>
            <p:cNvGrpSpPr/>
            <p:nvPr/>
          </p:nvGrpSpPr>
          <p:grpSpPr>
            <a:xfrm>
              <a:off x="6858000" y="3124200"/>
              <a:ext cx="591765" cy="460177"/>
              <a:chOff x="2667000" y="2740223"/>
              <a:chExt cx="591765" cy="460177"/>
            </a:xfrm>
          </p:grpSpPr>
          <p:sp>
            <p:nvSpPr>
              <p:cNvPr id="36" name="Oval 35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𝟏𝟎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7" name="TextBox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t="-8197" r="-13402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Group 37"/>
            <p:cNvGrpSpPr/>
            <p:nvPr/>
          </p:nvGrpSpPr>
          <p:grpSpPr>
            <a:xfrm>
              <a:off x="7624897" y="3730823"/>
              <a:ext cx="591765" cy="460177"/>
              <a:chOff x="2667000" y="2740223"/>
              <a:chExt cx="591765" cy="460177"/>
            </a:xfrm>
          </p:grpSpPr>
          <p:sp>
            <p:nvSpPr>
              <p:cNvPr id="39" name="Oval 38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/>
                  <p:cNvSpPr txBox="1"/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0" name="TextBox 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t="-8197" r="-13402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43" name="Straight Connector 42"/>
          <p:cNvCxnSpPr>
            <a:stCxn id="36" idx="4"/>
            <a:endCxn id="39" idx="2"/>
          </p:cNvCxnSpPr>
          <p:nvPr/>
        </p:nvCxnSpPr>
        <p:spPr>
          <a:xfrm>
            <a:off x="7048500" y="3200400"/>
            <a:ext cx="728797" cy="56852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5491297" y="2968823"/>
            <a:ext cx="1519103" cy="20228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27" idx="5"/>
            <a:endCxn id="12" idx="2"/>
          </p:cNvCxnSpPr>
          <p:nvPr/>
        </p:nvCxnSpPr>
        <p:spPr>
          <a:xfrm>
            <a:off x="4946738" y="2351041"/>
            <a:ext cx="468359" cy="57968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endCxn id="21" idx="7"/>
          </p:cNvCxnSpPr>
          <p:nvPr/>
        </p:nvCxnSpPr>
        <p:spPr>
          <a:xfrm flipH="1">
            <a:off x="4337138" y="2351041"/>
            <a:ext cx="544559" cy="19243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21" idx="3"/>
            <a:endCxn id="24" idx="7"/>
          </p:cNvCxnSpPr>
          <p:nvPr/>
        </p:nvCxnSpPr>
        <p:spPr>
          <a:xfrm flipH="1" flipV="1">
            <a:off x="2965538" y="2906759"/>
            <a:ext cx="1317718" cy="142250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24" idx="3"/>
            <a:endCxn id="7" idx="7"/>
          </p:cNvCxnSpPr>
          <p:nvPr/>
        </p:nvCxnSpPr>
        <p:spPr>
          <a:xfrm flipH="1">
            <a:off x="2274841" y="2960641"/>
            <a:ext cx="636815" cy="4003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8" idx="2"/>
            <a:endCxn id="7" idx="5"/>
          </p:cNvCxnSpPr>
          <p:nvPr/>
        </p:nvCxnSpPr>
        <p:spPr>
          <a:xfrm flipH="1" flipV="1">
            <a:off x="2274841" y="3414864"/>
            <a:ext cx="1001759" cy="585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18" idx="7"/>
            <a:endCxn id="15" idx="3"/>
          </p:cNvCxnSpPr>
          <p:nvPr/>
        </p:nvCxnSpPr>
        <p:spPr>
          <a:xfrm flipV="1">
            <a:off x="3341641" y="2884441"/>
            <a:ext cx="636815" cy="10891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33" idx="0"/>
            <a:endCxn id="15" idx="5"/>
          </p:cNvCxnSpPr>
          <p:nvPr/>
        </p:nvCxnSpPr>
        <p:spPr>
          <a:xfrm flipH="1" flipV="1">
            <a:off x="4032338" y="2884441"/>
            <a:ext cx="1725659" cy="13035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endCxn id="30" idx="3"/>
          </p:cNvCxnSpPr>
          <p:nvPr/>
        </p:nvCxnSpPr>
        <p:spPr>
          <a:xfrm flipV="1">
            <a:off x="5796097" y="3643464"/>
            <a:ext cx="468359" cy="5475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30" idx="6"/>
            <a:endCxn id="39" idx="3"/>
          </p:cNvCxnSpPr>
          <p:nvPr/>
        </p:nvCxnSpPr>
        <p:spPr>
          <a:xfrm>
            <a:off x="6329497" y="3616523"/>
            <a:ext cx="1458959" cy="1793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Left Arrow 1"/>
          <p:cNvSpPr/>
          <p:nvPr/>
        </p:nvSpPr>
        <p:spPr>
          <a:xfrm>
            <a:off x="5486400" y="2133600"/>
            <a:ext cx="561396" cy="484632"/>
          </a:xfrm>
          <a:prstGeom prst="leftArrow">
            <a:avLst/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Left Arrow 51"/>
          <p:cNvSpPr/>
          <p:nvPr/>
        </p:nvSpPr>
        <p:spPr>
          <a:xfrm rot="10800000">
            <a:off x="3773874" y="4725309"/>
            <a:ext cx="561396" cy="484632"/>
          </a:xfrm>
          <a:prstGeom prst="leftArrow">
            <a:avLst/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549577" y="1676400"/>
            <a:ext cx="305984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125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000"/>
                            </p:stCondLst>
                            <p:childTnLst>
                              <p:par>
                                <p:cTn id="7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000"/>
                            </p:stCondLst>
                            <p:childTnLst>
                              <p:par>
                                <p:cTn id="7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0"/>
                            </p:stCondLst>
                            <p:childTnLst>
                              <p:par>
                                <p:cTn id="8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2" grpId="0" uiExpand="1" animBg="1"/>
      <p:bldP spid="2" grpId="1" uiExpand="1" animBg="1"/>
      <p:bldP spid="52" grpId="0" uiExpand="1" animBg="1"/>
      <p:bldP spid="52" grpId="1" animBg="1"/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err="1">
                <a:solidFill>
                  <a:srgbClr val="7030A0"/>
                </a:solidFill>
              </a:rPr>
              <a:t>Bitonic</a:t>
            </a:r>
            <a:r>
              <a:rPr lang="en-US" sz="3600" b="1" dirty="0">
                <a:solidFill>
                  <a:srgbClr val="7030A0"/>
                </a:solidFill>
              </a:rPr>
              <a:t> tour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229600" cy="51816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There are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points in a plane.</a:t>
                </a:r>
                <a:endParaRPr lang="en-US" sz="2000" b="1" i="1" dirty="0">
                  <a:solidFill>
                    <a:srgbClr val="7030A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7030A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en-US" sz="2000" b="1" i="1" dirty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: distance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Cost </a:t>
                </a:r>
                <a:r>
                  <a:rPr lang="en-US" sz="2000" b="1" dirty="0"/>
                  <a:t>of a tour</a:t>
                </a:r>
                <a:r>
                  <a:rPr lang="en-US" sz="2000" dirty="0"/>
                  <a:t>: Total distance traveled.  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229600" cy="5181600"/>
              </a:xfrm>
              <a:blipFill rotWithShape="1">
                <a:blip r:embed="rId2"/>
                <a:stretch>
                  <a:fillRect l="-741" t="-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2057400" y="2286000"/>
            <a:ext cx="6159262" cy="2438400"/>
            <a:chOff x="2057400" y="2286000"/>
            <a:chExt cx="6159262" cy="2438400"/>
          </a:xfrm>
        </p:grpSpPr>
        <p:grpSp>
          <p:nvGrpSpPr>
            <p:cNvPr id="10" name="Group 9"/>
            <p:cNvGrpSpPr/>
            <p:nvPr/>
          </p:nvGrpSpPr>
          <p:grpSpPr>
            <a:xfrm>
              <a:off x="2057400" y="3349823"/>
              <a:ext cx="490775" cy="460177"/>
              <a:chOff x="2667000" y="2740223"/>
              <a:chExt cx="490775" cy="460177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/>
            <p:cNvGrpSpPr/>
            <p:nvPr/>
          </p:nvGrpSpPr>
          <p:grpSpPr>
            <a:xfrm>
              <a:off x="5262697" y="2892623"/>
              <a:ext cx="490775" cy="460177"/>
              <a:chOff x="2667000" y="2740223"/>
              <a:chExt cx="490775" cy="460177"/>
            </a:xfrm>
          </p:grpSpPr>
          <p:sp>
            <p:nvSpPr>
              <p:cNvPr id="12" name="Oval 11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𝟕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/>
            <p:cNvGrpSpPr/>
            <p:nvPr/>
          </p:nvGrpSpPr>
          <p:grpSpPr>
            <a:xfrm>
              <a:off x="3814897" y="2819400"/>
              <a:ext cx="490775" cy="460177"/>
              <a:chOff x="2667000" y="2740223"/>
              <a:chExt cx="490775" cy="460177"/>
            </a:xfrm>
          </p:grpSpPr>
          <p:sp>
            <p:nvSpPr>
              <p:cNvPr id="15" name="Oval 14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/>
            <p:cNvGrpSpPr/>
            <p:nvPr/>
          </p:nvGrpSpPr>
          <p:grpSpPr>
            <a:xfrm>
              <a:off x="3124200" y="3962400"/>
              <a:ext cx="490775" cy="460177"/>
              <a:chOff x="2667000" y="2740223"/>
              <a:chExt cx="490775" cy="460177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" name="Group 19"/>
            <p:cNvGrpSpPr/>
            <p:nvPr/>
          </p:nvGrpSpPr>
          <p:grpSpPr>
            <a:xfrm>
              <a:off x="4119697" y="4264223"/>
              <a:ext cx="490775" cy="460177"/>
              <a:chOff x="2667000" y="2740223"/>
              <a:chExt cx="490775" cy="460177"/>
            </a:xfrm>
          </p:grpSpPr>
          <p:sp>
            <p:nvSpPr>
              <p:cNvPr id="21" name="Oval 20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𝟓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" name="Group 22"/>
            <p:cNvGrpSpPr/>
            <p:nvPr/>
          </p:nvGrpSpPr>
          <p:grpSpPr>
            <a:xfrm>
              <a:off x="2748097" y="2895600"/>
              <a:ext cx="490775" cy="460177"/>
              <a:chOff x="2667000" y="2740223"/>
              <a:chExt cx="490775" cy="460177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5" name="TextBox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Group 25"/>
            <p:cNvGrpSpPr/>
            <p:nvPr/>
          </p:nvGrpSpPr>
          <p:grpSpPr>
            <a:xfrm>
              <a:off x="4729297" y="2286000"/>
              <a:ext cx="490775" cy="460177"/>
              <a:chOff x="2667000" y="2740223"/>
              <a:chExt cx="490775" cy="460177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𝟔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8" name="TextBox 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9" name="Group 28"/>
            <p:cNvGrpSpPr/>
            <p:nvPr/>
          </p:nvGrpSpPr>
          <p:grpSpPr>
            <a:xfrm>
              <a:off x="6100897" y="3578423"/>
              <a:ext cx="490775" cy="460177"/>
              <a:chOff x="2667000" y="2740223"/>
              <a:chExt cx="490775" cy="460177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𝟗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TextBox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2" name="Group 31"/>
            <p:cNvGrpSpPr/>
            <p:nvPr/>
          </p:nvGrpSpPr>
          <p:grpSpPr>
            <a:xfrm>
              <a:off x="5567497" y="4188023"/>
              <a:ext cx="490775" cy="460177"/>
              <a:chOff x="2667000" y="2740223"/>
              <a:chExt cx="490775" cy="460177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𝟖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4" name="TextBox 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5" name="Group 34"/>
            <p:cNvGrpSpPr/>
            <p:nvPr/>
          </p:nvGrpSpPr>
          <p:grpSpPr>
            <a:xfrm>
              <a:off x="6858000" y="3124200"/>
              <a:ext cx="591765" cy="460177"/>
              <a:chOff x="2667000" y="2740223"/>
              <a:chExt cx="591765" cy="460177"/>
            </a:xfrm>
          </p:grpSpPr>
          <p:sp>
            <p:nvSpPr>
              <p:cNvPr id="36" name="Oval 35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𝟏𝟎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7" name="TextBox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t="-8197" r="-13402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Group 37"/>
            <p:cNvGrpSpPr/>
            <p:nvPr/>
          </p:nvGrpSpPr>
          <p:grpSpPr>
            <a:xfrm>
              <a:off x="7624897" y="3730823"/>
              <a:ext cx="591765" cy="460177"/>
              <a:chOff x="2667000" y="2740223"/>
              <a:chExt cx="591765" cy="460177"/>
            </a:xfrm>
          </p:grpSpPr>
          <p:sp>
            <p:nvSpPr>
              <p:cNvPr id="39" name="Oval 38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/>
                  <p:cNvSpPr txBox="1"/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0" name="TextBox 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t="-8197" r="-13402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43" name="Straight Connector 42"/>
          <p:cNvCxnSpPr>
            <a:stCxn id="36" idx="4"/>
            <a:endCxn id="39" idx="2"/>
          </p:cNvCxnSpPr>
          <p:nvPr/>
        </p:nvCxnSpPr>
        <p:spPr>
          <a:xfrm>
            <a:off x="7048500" y="3200400"/>
            <a:ext cx="728797" cy="56852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28" idx="0"/>
          </p:cNvCxnSpPr>
          <p:nvPr/>
        </p:nvCxnSpPr>
        <p:spPr>
          <a:xfrm>
            <a:off x="4974685" y="2376845"/>
            <a:ext cx="2035715" cy="794267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27" idx="5"/>
            <a:endCxn id="12" idx="2"/>
          </p:cNvCxnSpPr>
          <p:nvPr/>
        </p:nvCxnSpPr>
        <p:spPr>
          <a:xfrm>
            <a:off x="4946738" y="2351041"/>
            <a:ext cx="468359" cy="57968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12" idx="2"/>
            <a:endCxn id="15" idx="7"/>
          </p:cNvCxnSpPr>
          <p:nvPr/>
        </p:nvCxnSpPr>
        <p:spPr>
          <a:xfrm flipH="1" flipV="1">
            <a:off x="4032338" y="2830559"/>
            <a:ext cx="1382759" cy="10016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15" idx="1"/>
            <a:endCxn id="24" idx="7"/>
          </p:cNvCxnSpPr>
          <p:nvPr/>
        </p:nvCxnSpPr>
        <p:spPr>
          <a:xfrm flipH="1">
            <a:off x="2965538" y="2830559"/>
            <a:ext cx="1012918" cy="7620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24" idx="3"/>
            <a:endCxn id="7" idx="7"/>
          </p:cNvCxnSpPr>
          <p:nvPr/>
        </p:nvCxnSpPr>
        <p:spPr>
          <a:xfrm flipH="1">
            <a:off x="2274841" y="2960641"/>
            <a:ext cx="636815" cy="4003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8" idx="2"/>
            <a:endCxn id="7" idx="5"/>
          </p:cNvCxnSpPr>
          <p:nvPr/>
        </p:nvCxnSpPr>
        <p:spPr>
          <a:xfrm flipH="1" flipV="1">
            <a:off x="2274841" y="3414864"/>
            <a:ext cx="1001759" cy="585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18" idx="6"/>
            <a:endCxn id="21" idx="1"/>
          </p:cNvCxnSpPr>
          <p:nvPr/>
        </p:nvCxnSpPr>
        <p:spPr>
          <a:xfrm>
            <a:off x="3352800" y="4000500"/>
            <a:ext cx="930456" cy="2748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33" idx="0"/>
            <a:endCxn id="21" idx="6"/>
          </p:cNvCxnSpPr>
          <p:nvPr/>
        </p:nvCxnSpPr>
        <p:spPr>
          <a:xfrm flipH="1">
            <a:off x="4348297" y="4188023"/>
            <a:ext cx="1409700" cy="1143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33" idx="7"/>
            <a:endCxn id="30" idx="3"/>
          </p:cNvCxnSpPr>
          <p:nvPr/>
        </p:nvCxnSpPr>
        <p:spPr>
          <a:xfrm flipV="1">
            <a:off x="5784938" y="3643464"/>
            <a:ext cx="479518" cy="5557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30" idx="6"/>
            <a:endCxn id="39" idx="3"/>
          </p:cNvCxnSpPr>
          <p:nvPr/>
        </p:nvCxnSpPr>
        <p:spPr>
          <a:xfrm>
            <a:off x="6329497" y="3616523"/>
            <a:ext cx="1458959" cy="1793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Line Callout 1 45"/>
          <p:cNvSpPr/>
          <p:nvPr/>
        </p:nvSpPr>
        <p:spPr>
          <a:xfrm>
            <a:off x="7010400" y="2057400"/>
            <a:ext cx="1828800" cy="612648"/>
          </a:xfrm>
          <a:prstGeom prst="borderCallout1">
            <a:avLst>
              <a:gd name="adj1" fmla="val 52510"/>
              <a:gd name="adj2" fmla="val 0"/>
              <a:gd name="adj3" fmla="val 146260"/>
              <a:gd name="adj4" fmla="val -32381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Not </a:t>
            </a:r>
            <a:r>
              <a:rPr lang="en-US" dirty="0" err="1">
                <a:solidFill>
                  <a:srgbClr val="C00000"/>
                </a:solidFill>
              </a:rPr>
              <a:t>bitonic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569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6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err="1">
                <a:solidFill>
                  <a:srgbClr val="7030A0"/>
                </a:solidFill>
              </a:rPr>
              <a:t>Bitonic</a:t>
            </a:r>
            <a:r>
              <a:rPr lang="en-US" sz="3600" b="1" dirty="0">
                <a:solidFill>
                  <a:srgbClr val="7030A0"/>
                </a:solidFill>
              </a:rPr>
              <a:t> tour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229600" cy="51816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There are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points in a plane.</a:t>
                </a:r>
                <a:endParaRPr lang="en-US" sz="2000" b="1" i="1" dirty="0">
                  <a:solidFill>
                    <a:srgbClr val="7030A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7030A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en-US" sz="2000" b="1" i="1" dirty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: distance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Cost</a:t>
                </a:r>
                <a:r>
                  <a:rPr lang="en-US" sz="2000" b="1" dirty="0"/>
                  <a:t> of a tour</a:t>
                </a:r>
                <a:r>
                  <a:rPr lang="en-US" sz="2000" dirty="0"/>
                  <a:t>: Total distance traveled.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Problem</a:t>
                </a:r>
                <a:r>
                  <a:rPr lang="en-US" sz="2000" dirty="0"/>
                  <a:t>: Given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points 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/>
                  <a:t>,…,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000" dirty="0"/>
                  <a:t>&gt; in increasing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-coordinates, </a:t>
                </a:r>
              </a:p>
              <a:p>
                <a:pPr marL="0" indent="0">
                  <a:buNone/>
                </a:pPr>
                <a:r>
                  <a:rPr lang="en-US" sz="2000" dirty="0"/>
                  <a:t>compute their least cost </a:t>
                </a:r>
                <a:r>
                  <a:rPr lang="en-US" sz="2000" b="1" dirty="0" err="1"/>
                  <a:t>Bitonic</a:t>
                </a:r>
                <a:r>
                  <a:rPr lang="en-US" sz="2000" dirty="0"/>
                  <a:t> tour. 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229600" cy="5181600"/>
              </a:xfrm>
              <a:blipFill rotWithShape="1">
                <a:blip r:embed="rId2"/>
                <a:stretch>
                  <a:fillRect l="-741" t="-824" b="-2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2057400" y="2286000"/>
            <a:ext cx="6159262" cy="2438400"/>
            <a:chOff x="2057400" y="2286000"/>
            <a:chExt cx="6159262" cy="2438400"/>
          </a:xfrm>
        </p:grpSpPr>
        <p:grpSp>
          <p:nvGrpSpPr>
            <p:cNvPr id="10" name="Group 9"/>
            <p:cNvGrpSpPr/>
            <p:nvPr/>
          </p:nvGrpSpPr>
          <p:grpSpPr>
            <a:xfrm>
              <a:off x="2057400" y="3349823"/>
              <a:ext cx="490775" cy="460177"/>
              <a:chOff x="2667000" y="2740223"/>
              <a:chExt cx="490775" cy="460177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/>
            <p:cNvGrpSpPr/>
            <p:nvPr/>
          </p:nvGrpSpPr>
          <p:grpSpPr>
            <a:xfrm>
              <a:off x="5262697" y="2892623"/>
              <a:ext cx="490775" cy="460177"/>
              <a:chOff x="2667000" y="2740223"/>
              <a:chExt cx="490775" cy="460177"/>
            </a:xfrm>
          </p:grpSpPr>
          <p:sp>
            <p:nvSpPr>
              <p:cNvPr id="12" name="Oval 11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𝟕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/>
            <p:cNvGrpSpPr/>
            <p:nvPr/>
          </p:nvGrpSpPr>
          <p:grpSpPr>
            <a:xfrm>
              <a:off x="3814897" y="2819400"/>
              <a:ext cx="490775" cy="460177"/>
              <a:chOff x="2667000" y="2740223"/>
              <a:chExt cx="490775" cy="460177"/>
            </a:xfrm>
          </p:grpSpPr>
          <p:sp>
            <p:nvSpPr>
              <p:cNvPr id="15" name="Oval 14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/>
            <p:cNvGrpSpPr/>
            <p:nvPr/>
          </p:nvGrpSpPr>
          <p:grpSpPr>
            <a:xfrm>
              <a:off x="3124200" y="3962400"/>
              <a:ext cx="490775" cy="460177"/>
              <a:chOff x="2667000" y="2740223"/>
              <a:chExt cx="490775" cy="460177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" name="Group 19"/>
            <p:cNvGrpSpPr/>
            <p:nvPr/>
          </p:nvGrpSpPr>
          <p:grpSpPr>
            <a:xfrm>
              <a:off x="4119697" y="4264223"/>
              <a:ext cx="490775" cy="460177"/>
              <a:chOff x="2667000" y="2740223"/>
              <a:chExt cx="490775" cy="460177"/>
            </a:xfrm>
          </p:grpSpPr>
          <p:sp>
            <p:nvSpPr>
              <p:cNvPr id="21" name="Oval 20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𝟓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" name="Group 22"/>
            <p:cNvGrpSpPr/>
            <p:nvPr/>
          </p:nvGrpSpPr>
          <p:grpSpPr>
            <a:xfrm>
              <a:off x="2748097" y="2895600"/>
              <a:ext cx="490775" cy="460177"/>
              <a:chOff x="2667000" y="2740223"/>
              <a:chExt cx="490775" cy="460177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5" name="TextBox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Group 25"/>
            <p:cNvGrpSpPr/>
            <p:nvPr/>
          </p:nvGrpSpPr>
          <p:grpSpPr>
            <a:xfrm>
              <a:off x="4729297" y="2286000"/>
              <a:ext cx="490775" cy="460177"/>
              <a:chOff x="2667000" y="2740223"/>
              <a:chExt cx="490775" cy="460177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𝟔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8" name="TextBox 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9" name="Group 28"/>
            <p:cNvGrpSpPr/>
            <p:nvPr/>
          </p:nvGrpSpPr>
          <p:grpSpPr>
            <a:xfrm>
              <a:off x="6100897" y="3578423"/>
              <a:ext cx="490775" cy="460177"/>
              <a:chOff x="2667000" y="2740223"/>
              <a:chExt cx="490775" cy="460177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𝟗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TextBox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2" name="Group 31"/>
            <p:cNvGrpSpPr/>
            <p:nvPr/>
          </p:nvGrpSpPr>
          <p:grpSpPr>
            <a:xfrm>
              <a:off x="5567497" y="4188023"/>
              <a:ext cx="490775" cy="460177"/>
              <a:chOff x="2667000" y="2740223"/>
              <a:chExt cx="490775" cy="460177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𝟖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4" name="TextBox 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5" name="Group 34"/>
            <p:cNvGrpSpPr/>
            <p:nvPr/>
          </p:nvGrpSpPr>
          <p:grpSpPr>
            <a:xfrm>
              <a:off x="6858000" y="3124200"/>
              <a:ext cx="591765" cy="460177"/>
              <a:chOff x="2667000" y="2740223"/>
              <a:chExt cx="591765" cy="460177"/>
            </a:xfrm>
          </p:grpSpPr>
          <p:sp>
            <p:nvSpPr>
              <p:cNvPr id="36" name="Oval 35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𝟏𝟎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7" name="TextBox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t="-8197" r="-13402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Group 37"/>
            <p:cNvGrpSpPr/>
            <p:nvPr/>
          </p:nvGrpSpPr>
          <p:grpSpPr>
            <a:xfrm>
              <a:off x="7624897" y="3730823"/>
              <a:ext cx="591765" cy="460177"/>
              <a:chOff x="2667000" y="2740223"/>
              <a:chExt cx="591765" cy="460177"/>
            </a:xfrm>
          </p:grpSpPr>
          <p:sp>
            <p:nvSpPr>
              <p:cNvPr id="39" name="Oval 38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/>
                  <p:cNvSpPr txBox="1"/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0" name="TextBox 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t="-8197" r="-13402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43" name="Straight Connector 42"/>
          <p:cNvCxnSpPr>
            <a:stCxn id="36" idx="4"/>
            <a:endCxn id="39" idx="2"/>
          </p:cNvCxnSpPr>
          <p:nvPr/>
        </p:nvCxnSpPr>
        <p:spPr>
          <a:xfrm>
            <a:off x="7048500" y="3200400"/>
            <a:ext cx="728797" cy="56852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30" idx="7"/>
          </p:cNvCxnSpPr>
          <p:nvPr/>
        </p:nvCxnSpPr>
        <p:spPr>
          <a:xfrm flipV="1">
            <a:off x="6318338" y="3171111"/>
            <a:ext cx="692062" cy="41847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27" idx="5"/>
            <a:endCxn id="12" idx="2"/>
          </p:cNvCxnSpPr>
          <p:nvPr/>
        </p:nvCxnSpPr>
        <p:spPr>
          <a:xfrm>
            <a:off x="4946738" y="2351041"/>
            <a:ext cx="468359" cy="57968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endCxn id="15" idx="7"/>
          </p:cNvCxnSpPr>
          <p:nvPr/>
        </p:nvCxnSpPr>
        <p:spPr>
          <a:xfrm flipH="1">
            <a:off x="4032338" y="2351041"/>
            <a:ext cx="849360" cy="47951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15" idx="1"/>
            <a:endCxn id="24" idx="7"/>
          </p:cNvCxnSpPr>
          <p:nvPr/>
        </p:nvCxnSpPr>
        <p:spPr>
          <a:xfrm flipH="1">
            <a:off x="2965538" y="2830559"/>
            <a:ext cx="1012918" cy="7620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24" idx="3"/>
            <a:endCxn id="7" idx="7"/>
          </p:cNvCxnSpPr>
          <p:nvPr/>
        </p:nvCxnSpPr>
        <p:spPr>
          <a:xfrm flipH="1">
            <a:off x="2274841" y="2960641"/>
            <a:ext cx="636815" cy="4003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8" idx="2"/>
            <a:endCxn id="7" idx="5"/>
          </p:cNvCxnSpPr>
          <p:nvPr/>
        </p:nvCxnSpPr>
        <p:spPr>
          <a:xfrm flipH="1" flipV="1">
            <a:off x="2274841" y="3414864"/>
            <a:ext cx="1001759" cy="585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18" idx="6"/>
            <a:endCxn id="21" idx="1"/>
          </p:cNvCxnSpPr>
          <p:nvPr/>
        </p:nvCxnSpPr>
        <p:spPr>
          <a:xfrm>
            <a:off x="3352800" y="4000500"/>
            <a:ext cx="930456" cy="2748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33" idx="0"/>
            <a:endCxn id="21" idx="6"/>
          </p:cNvCxnSpPr>
          <p:nvPr/>
        </p:nvCxnSpPr>
        <p:spPr>
          <a:xfrm flipH="1">
            <a:off x="4348297" y="4188023"/>
            <a:ext cx="1409700" cy="1143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12" idx="5"/>
            <a:endCxn id="30" idx="1"/>
          </p:cNvCxnSpPr>
          <p:nvPr/>
        </p:nvCxnSpPr>
        <p:spPr>
          <a:xfrm>
            <a:off x="5480138" y="2957664"/>
            <a:ext cx="784318" cy="63191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33" idx="7"/>
            <a:endCxn id="39" idx="3"/>
          </p:cNvCxnSpPr>
          <p:nvPr/>
        </p:nvCxnSpPr>
        <p:spPr>
          <a:xfrm flipV="1">
            <a:off x="5784938" y="3795864"/>
            <a:ext cx="2003518" cy="4033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Line Callout 1 49"/>
          <p:cNvSpPr/>
          <p:nvPr/>
        </p:nvSpPr>
        <p:spPr>
          <a:xfrm>
            <a:off x="7010400" y="2057400"/>
            <a:ext cx="1828800" cy="612648"/>
          </a:xfrm>
          <a:prstGeom prst="borderCallout1">
            <a:avLst>
              <a:gd name="adj1" fmla="val 52510"/>
              <a:gd name="adj2" fmla="val 1190"/>
              <a:gd name="adj3" fmla="val 203119"/>
              <a:gd name="adj4" fmla="val -63929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C00000"/>
                </a:solidFill>
              </a:rPr>
              <a:t>Bitonic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524000" y="5715000"/>
            <a:ext cx="3086472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4648200" y="5638800"/>
            <a:ext cx="3022112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533400" y="6172200"/>
            <a:ext cx="4686672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228600" y="5715000"/>
            <a:ext cx="1295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63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1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0" grpId="1" animBg="1"/>
      <p:bldP spid="52" grpId="0" animBg="1"/>
      <p:bldP spid="53" grpId="0" animBg="1"/>
      <p:bldP spid="55" grpId="0" animBg="1"/>
      <p:bldP spid="5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err="1">
                <a:solidFill>
                  <a:srgbClr val="7030A0"/>
                </a:solidFill>
              </a:rPr>
              <a:t>Bitonic</a:t>
            </a:r>
            <a:r>
              <a:rPr lang="en-US" sz="3600" b="1" dirty="0">
                <a:solidFill>
                  <a:srgbClr val="7030A0"/>
                </a:solidFill>
              </a:rPr>
              <a:t> tour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229600" cy="5638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There are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points in a plane.</a:t>
                </a:r>
                <a:endParaRPr lang="en-US" sz="2000" b="1" i="1" dirty="0">
                  <a:solidFill>
                    <a:srgbClr val="7030A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: distance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Problem</a:t>
                </a:r>
                <a:r>
                  <a:rPr lang="en-US" sz="2000" dirty="0"/>
                  <a:t>: Given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points 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,…,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000" dirty="0"/>
                  <a:t>&gt; in increasing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-coordinates, </a:t>
                </a:r>
              </a:p>
              <a:p>
                <a:pPr marL="0" indent="0">
                  <a:buNone/>
                </a:pPr>
                <a:r>
                  <a:rPr lang="en-US" sz="2000" dirty="0"/>
                  <a:t>We need to travel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u="sng" dirty="0"/>
                  <a:t>twice</a:t>
                </a:r>
                <a:r>
                  <a:rPr lang="en-US" sz="2000" dirty="0"/>
                  <a:t>, each time from </a:t>
                </a:r>
                <a:r>
                  <a:rPr lang="en-US" sz="2000" u="sng" dirty="0"/>
                  <a:t>right to left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We need to ensure that each intermediate point is visited </a:t>
                </a:r>
                <a:r>
                  <a:rPr lang="en-US" sz="2000" u="sng" dirty="0"/>
                  <a:t>exactly once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What is the least distance that needs to be traveled ? </a:t>
                </a:r>
              </a:p>
              <a:p>
                <a:pPr marL="0" indent="0">
                  <a:buNone/>
                </a:pPr>
                <a:r>
                  <a:rPr lang="en-US" sz="2000" dirty="0"/>
                  <a:t>  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229600" cy="5638800"/>
              </a:xfrm>
              <a:blipFill>
                <a:blip r:embed="rId2"/>
                <a:stretch>
                  <a:fillRect l="-741" t="-649" b="-3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2057400" y="2286000"/>
            <a:ext cx="6159262" cy="2438400"/>
            <a:chOff x="2057400" y="2286000"/>
            <a:chExt cx="6159262" cy="2438400"/>
          </a:xfrm>
        </p:grpSpPr>
        <p:grpSp>
          <p:nvGrpSpPr>
            <p:cNvPr id="10" name="Group 9"/>
            <p:cNvGrpSpPr/>
            <p:nvPr/>
          </p:nvGrpSpPr>
          <p:grpSpPr>
            <a:xfrm>
              <a:off x="2057400" y="3349823"/>
              <a:ext cx="490775" cy="460177"/>
              <a:chOff x="2667000" y="2740223"/>
              <a:chExt cx="490775" cy="460177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/>
            <p:cNvGrpSpPr/>
            <p:nvPr/>
          </p:nvGrpSpPr>
          <p:grpSpPr>
            <a:xfrm>
              <a:off x="5262697" y="2892623"/>
              <a:ext cx="490775" cy="460177"/>
              <a:chOff x="2667000" y="2740223"/>
              <a:chExt cx="490775" cy="460177"/>
            </a:xfrm>
          </p:grpSpPr>
          <p:sp>
            <p:nvSpPr>
              <p:cNvPr id="12" name="Oval 11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𝟕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/>
            <p:cNvGrpSpPr/>
            <p:nvPr/>
          </p:nvGrpSpPr>
          <p:grpSpPr>
            <a:xfrm>
              <a:off x="3814897" y="2819400"/>
              <a:ext cx="490775" cy="460177"/>
              <a:chOff x="2667000" y="2740223"/>
              <a:chExt cx="490775" cy="460177"/>
            </a:xfrm>
          </p:grpSpPr>
          <p:sp>
            <p:nvSpPr>
              <p:cNvPr id="15" name="Oval 14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/>
            <p:cNvGrpSpPr/>
            <p:nvPr/>
          </p:nvGrpSpPr>
          <p:grpSpPr>
            <a:xfrm>
              <a:off x="3124200" y="3962400"/>
              <a:ext cx="490775" cy="460177"/>
              <a:chOff x="2667000" y="2740223"/>
              <a:chExt cx="490775" cy="460177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" name="Group 19"/>
            <p:cNvGrpSpPr/>
            <p:nvPr/>
          </p:nvGrpSpPr>
          <p:grpSpPr>
            <a:xfrm>
              <a:off x="4119697" y="4264223"/>
              <a:ext cx="490775" cy="460177"/>
              <a:chOff x="2667000" y="2740223"/>
              <a:chExt cx="490775" cy="460177"/>
            </a:xfrm>
          </p:grpSpPr>
          <p:sp>
            <p:nvSpPr>
              <p:cNvPr id="21" name="Oval 20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𝟓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" name="Group 22"/>
            <p:cNvGrpSpPr/>
            <p:nvPr/>
          </p:nvGrpSpPr>
          <p:grpSpPr>
            <a:xfrm>
              <a:off x="2748097" y="2895600"/>
              <a:ext cx="490775" cy="460177"/>
              <a:chOff x="2667000" y="2740223"/>
              <a:chExt cx="490775" cy="460177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5" name="TextBox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Group 25"/>
            <p:cNvGrpSpPr/>
            <p:nvPr/>
          </p:nvGrpSpPr>
          <p:grpSpPr>
            <a:xfrm>
              <a:off x="4729297" y="2286000"/>
              <a:ext cx="490775" cy="460177"/>
              <a:chOff x="2667000" y="2740223"/>
              <a:chExt cx="490775" cy="460177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𝟔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8" name="TextBox 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9" name="Group 28"/>
            <p:cNvGrpSpPr/>
            <p:nvPr/>
          </p:nvGrpSpPr>
          <p:grpSpPr>
            <a:xfrm>
              <a:off x="6100897" y="3578423"/>
              <a:ext cx="490775" cy="460177"/>
              <a:chOff x="2667000" y="2740223"/>
              <a:chExt cx="490775" cy="460177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𝟗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TextBox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2" name="Group 31"/>
            <p:cNvGrpSpPr/>
            <p:nvPr/>
          </p:nvGrpSpPr>
          <p:grpSpPr>
            <a:xfrm>
              <a:off x="5567497" y="4188023"/>
              <a:ext cx="490775" cy="460177"/>
              <a:chOff x="2667000" y="2740223"/>
              <a:chExt cx="490775" cy="460177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𝟖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4" name="TextBox 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5" name="Group 34"/>
            <p:cNvGrpSpPr/>
            <p:nvPr/>
          </p:nvGrpSpPr>
          <p:grpSpPr>
            <a:xfrm>
              <a:off x="6858000" y="3124200"/>
              <a:ext cx="591765" cy="460177"/>
              <a:chOff x="2667000" y="2740223"/>
              <a:chExt cx="591765" cy="460177"/>
            </a:xfrm>
          </p:grpSpPr>
          <p:sp>
            <p:nvSpPr>
              <p:cNvPr id="36" name="Oval 35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𝟏𝟎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7" name="TextBox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t="-8197" r="-13402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Group 37"/>
            <p:cNvGrpSpPr/>
            <p:nvPr/>
          </p:nvGrpSpPr>
          <p:grpSpPr>
            <a:xfrm>
              <a:off x="7624897" y="3730823"/>
              <a:ext cx="591765" cy="460177"/>
              <a:chOff x="2667000" y="2740223"/>
              <a:chExt cx="591765" cy="460177"/>
            </a:xfrm>
          </p:grpSpPr>
          <p:sp>
            <p:nvSpPr>
              <p:cNvPr id="39" name="Oval 38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/>
                  <p:cNvSpPr txBox="1"/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0" name="TextBox 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t="-8197" r="-13402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43" name="Straight Connector 42"/>
          <p:cNvCxnSpPr>
            <a:stCxn id="36" idx="4"/>
            <a:endCxn id="39" idx="2"/>
          </p:cNvCxnSpPr>
          <p:nvPr/>
        </p:nvCxnSpPr>
        <p:spPr>
          <a:xfrm>
            <a:off x="7048500" y="3200400"/>
            <a:ext cx="728797" cy="56852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5491297" y="2968823"/>
            <a:ext cx="1519103" cy="20228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27" idx="5"/>
            <a:endCxn id="12" idx="2"/>
          </p:cNvCxnSpPr>
          <p:nvPr/>
        </p:nvCxnSpPr>
        <p:spPr>
          <a:xfrm>
            <a:off x="4946738" y="2351041"/>
            <a:ext cx="468359" cy="57968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endCxn id="21" idx="7"/>
          </p:cNvCxnSpPr>
          <p:nvPr/>
        </p:nvCxnSpPr>
        <p:spPr>
          <a:xfrm flipH="1">
            <a:off x="4337138" y="2351041"/>
            <a:ext cx="544559" cy="19243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21" idx="3"/>
            <a:endCxn id="24" idx="7"/>
          </p:cNvCxnSpPr>
          <p:nvPr/>
        </p:nvCxnSpPr>
        <p:spPr>
          <a:xfrm flipH="1" flipV="1">
            <a:off x="2965538" y="2906759"/>
            <a:ext cx="1317718" cy="142250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24" idx="3"/>
            <a:endCxn id="7" idx="7"/>
          </p:cNvCxnSpPr>
          <p:nvPr/>
        </p:nvCxnSpPr>
        <p:spPr>
          <a:xfrm flipH="1">
            <a:off x="2274841" y="2960641"/>
            <a:ext cx="636815" cy="4003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8" idx="2"/>
            <a:endCxn id="7" idx="5"/>
          </p:cNvCxnSpPr>
          <p:nvPr/>
        </p:nvCxnSpPr>
        <p:spPr>
          <a:xfrm flipH="1" flipV="1">
            <a:off x="2274841" y="3414864"/>
            <a:ext cx="1001759" cy="585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18" idx="7"/>
            <a:endCxn id="15" idx="3"/>
          </p:cNvCxnSpPr>
          <p:nvPr/>
        </p:nvCxnSpPr>
        <p:spPr>
          <a:xfrm flipV="1">
            <a:off x="3341641" y="2884441"/>
            <a:ext cx="636815" cy="10891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33" idx="0"/>
            <a:endCxn id="15" idx="5"/>
          </p:cNvCxnSpPr>
          <p:nvPr/>
        </p:nvCxnSpPr>
        <p:spPr>
          <a:xfrm flipH="1" flipV="1">
            <a:off x="4032338" y="2884441"/>
            <a:ext cx="1725659" cy="13035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endCxn id="30" idx="3"/>
          </p:cNvCxnSpPr>
          <p:nvPr/>
        </p:nvCxnSpPr>
        <p:spPr>
          <a:xfrm flipV="1">
            <a:off x="5796097" y="3643464"/>
            <a:ext cx="468359" cy="5475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30" idx="6"/>
            <a:endCxn id="39" idx="3"/>
          </p:cNvCxnSpPr>
          <p:nvPr/>
        </p:nvCxnSpPr>
        <p:spPr>
          <a:xfrm>
            <a:off x="6329497" y="3616523"/>
            <a:ext cx="1458959" cy="1793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Left Arrow 1"/>
          <p:cNvSpPr/>
          <p:nvPr/>
        </p:nvSpPr>
        <p:spPr>
          <a:xfrm>
            <a:off x="5486400" y="2133600"/>
            <a:ext cx="561396" cy="484632"/>
          </a:xfrm>
          <a:prstGeom prst="leftArrow">
            <a:avLst/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Left Arrow 51"/>
          <p:cNvSpPr/>
          <p:nvPr/>
        </p:nvSpPr>
        <p:spPr>
          <a:xfrm rot="10800000" flipH="1">
            <a:off x="4627666" y="4734403"/>
            <a:ext cx="535002" cy="561741"/>
          </a:xfrm>
          <a:prstGeom prst="leftArrow">
            <a:avLst/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loud Callout 2">
            <a:extLst>
              <a:ext uri="{FF2B5EF4-FFF2-40B4-BE49-F238E27FC236}">
                <a16:creationId xmlns:a16="http://schemas.microsoft.com/office/drawing/2014/main" id="{7A23EDDA-8700-01F8-963C-F6E41F680044}"/>
              </a:ext>
            </a:extLst>
          </p:cNvPr>
          <p:cNvSpPr/>
          <p:nvPr/>
        </p:nvSpPr>
        <p:spPr>
          <a:xfrm>
            <a:off x="5567498" y="554143"/>
            <a:ext cx="3913874" cy="969858"/>
          </a:xfrm>
          <a:prstGeom prst="cloudCallout">
            <a:avLst>
              <a:gd name="adj1" fmla="val -29690"/>
              <a:gd name="adj2" fmla="val 85901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Let us reformulate the problem to make it 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uni</a:t>
            </a:r>
            <a:r>
              <a:rPr lang="en-US" dirty="0">
                <a:solidFill>
                  <a:schemeClr val="tx1"/>
                </a:solidFill>
              </a:rPr>
              <a:t>-directional.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2A6C323-16CA-AF30-6FA0-A2A7573069B7}"/>
              </a:ext>
            </a:extLst>
          </p:cNvPr>
          <p:cNvSpPr/>
          <p:nvPr/>
        </p:nvSpPr>
        <p:spPr>
          <a:xfrm>
            <a:off x="4571999" y="5334000"/>
            <a:ext cx="3205297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2B25406-7DD7-9F12-BF40-6938AB89B438}"/>
              </a:ext>
            </a:extLst>
          </p:cNvPr>
          <p:cNvSpPr/>
          <p:nvPr/>
        </p:nvSpPr>
        <p:spPr>
          <a:xfrm>
            <a:off x="4572000" y="5743773"/>
            <a:ext cx="3205297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0434CDE-6CEC-39FE-B17D-96049B2532E4}"/>
              </a:ext>
            </a:extLst>
          </p:cNvPr>
          <p:cNvSpPr/>
          <p:nvPr/>
        </p:nvSpPr>
        <p:spPr>
          <a:xfrm>
            <a:off x="3045551" y="6138714"/>
            <a:ext cx="4879249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433B79-72B8-569C-07FC-BB239B79F7F4}"/>
              </a:ext>
            </a:extLst>
          </p:cNvPr>
          <p:cNvSpPr/>
          <p:nvPr/>
        </p:nvSpPr>
        <p:spPr>
          <a:xfrm>
            <a:off x="1522945" y="5257800"/>
            <a:ext cx="3086472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Cloud Callout 2">
            <a:extLst>
              <a:ext uri="{FF2B5EF4-FFF2-40B4-BE49-F238E27FC236}">
                <a16:creationId xmlns:a16="http://schemas.microsoft.com/office/drawing/2014/main" id="{41594944-11B3-194C-5009-D823AC871D7D}"/>
              </a:ext>
            </a:extLst>
          </p:cNvPr>
          <p:cNvSpPr/>
          <p:nvPr/>
        </p:nvSpPr>
        <p:spPr>
          <a:xfrm>
            <a:off x="112785" y="0"/>
            <a:ext cx="3713990" cy="1075812"/>
          </a:xfrm>
          <a:prstGeom prst="cloudCallout">
            <a:avLst>
              <a:gd name="adj1" fmla="val -29690"/>
              <a:gd name="adj2" fmla="val 85901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Can you give a recursive formulation for the problem ?</a:t>
            </a:r>
          </a:p>
        </p:txBody>
      </p:sp>
      <p:sp>
        <p:nvSpPr>
          <p:cNvPr id="48" name="Cloud Callout 2">
            <a:extLst>
              <a:ext uri="{FF2B5EF4-FFF2-40B4-BE49-F238E27FC236}">
                <a16:creationId xmlns:a16="http://schemas.microsoft.com/office/drawing/2014/main" id="{C468C6B3-D318-C8B9-CDD8-1461A84F4A71}"/>
              </a:ext>
            </a:extLst>
          </p:cNvPr>
          <p:cNvSpPr/>
          <p:nvPr/>
        </p:nvSpPr>
        <p:spPr>
          <a:xfrm>
            <a:off x="4875061" y="98580"/>
            <a:ext cx="4497539" cy="1008795"/>
          </a:xfrm>
          <a:prstGeom prst="cloudCallout">
            <a:avLst>
              <a:gd name="adj1" fmla="val -29690"/>
              <a:gd name="adj2" fmla="val 85901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What will be the recursive term ?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How many parameters 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E98DD51-DA6C-CD4E-FAED-9EE71DE1128B}"/>
              </a:ext>
            </a:extLst>
          </p:cNvPr>
          <p:cNvSpPr txBox="1"/>
          <p:nvPr/>
        </p:nvSpPr>
        <p:spPr>
          <a:xfrm>
            <a:off x="1783864" y="948513"/>
            <a:ext cx="6874831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Spend some time pondering over these questions before moving on…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6394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00"/>
                            </p:stCondLst>
                            <p:childTnLst>
                              <p:par>
                                <p:cTn id="5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0"/>
                            </p:stCondLst>
                            <p:childTnLst>
                              <p:par>
                                <p:cTn id="5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9" dur="1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2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9" dur="1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2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9" dur="1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2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2" grpId="0" uiExpand="1" animBg="1"/>
      <p:bldP spid="52" grpId="0" animBg="1"/>
      <p:bldP spid="8" grpId="0" animBg="1"/>
      <p:bldP spid="8" grpId="1" animBg="1"/>
      <p:bldP spid="42" grpId="0" animBg="1"/>
      <p:bldP spid="44" grpId="0" animBg="1"/>
      <p:bldP spid="45" grpId="0" animBg="1"/>
      <p:bldP spid="3" grpId="0" animBg="1"/>
      <p:bldP spid="46" grpId="1" animBg="1"/>
      <p:bldP spid="48" grpId="1" animBg="1"/>
      <p:bldP spid="4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Attempt </a:t>
            </a:r>
            <a:r>
              <a:rPr lang="en-US" sz="3600" b="1" dirty="0">
                <a:solidFill>
                  <a:srgbClr val="0070C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/>
                  <a:t>: The least cost of reaching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 by two paths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while traversing each intermediate point exclusively once.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Aim</a:t>
                </a:r>
                <a:r>
                  <a:rPr lang="en-US" sz="2000" dirty="0"/>
                  <a:t>: To compute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b="-485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2057400" y="2286000"/>
            <a:ext cx="6159261" cy="2438400"/>
            <a:chOff x="2057400" y="2286000"/>
            <a:chExt cx="6159261" cy="2438400"/>
          </a:xfrm>
        </p:grpSpPr>
        <p:grpSp>
          <p:nvGrpSpPr>
            <p:cNvPr id="10" name="Group 9"/>
            <p:cNvGrpSpPr/>
            <p:nvPr/>
          </p:nvGrpSpPr>
          <p:grpSpPr>
            <a:xfrm>
              <a:off x="2057400" y="3349823"/>
              <a:ext cx="490775" cy="460177"/>
              <a:chOff x="2667000" y="2740223"/>
              <a:chExt cx="490775" cy="460177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/>
            <p:cNvGrpSpPr/>
            <p:nvPr/>
          </p:nvGrpSpPr>
          <p:grpSpPr>
            <a:xfrm>
              <a:off x="5262697" y="2892623"/>
              <a:ext cx="490775" cy="460177"/>
              <a:chOff x="2667000" y="2740223"/>
              <a:chExt cx="490775" cy="460177"/>
            </a:xfrm>
          </p:grpSpPr>
          <p:sp>
            <p:nvSpPr>
              <p:cNvPr id="12" name="Oval 11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𝟕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/>
            <p:cNvGrpSpPr/>
            <p:nvPr/>
          </p:nvGrpSpPr>
          <p:grpSpPr>
            <a:xfrm>
              <a:off x="3814897" y="2819400"/>
              <a:ext cx="490775" cy="460177"/>
              <a:chOff x="2667000" y="2740223"/>
              <a:chExt cx="490775" cy="460177"/>
            </a:xfrm>
          </p:grpSpPr>
          <p:sp>
            <p:nvSpPr>
              <p:cNvPr id="15" name="Oval 14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/>
            <p:cNvGrpSpPr/>
            <p:nvPr/>
          </p:nvGrpSpPr>
          <p:grpSpPr>
            <a:xfrm>
              <a:off x="3124200" y="3962400"/>
              <a:ext cx="490775" cy="460177"/>
              <a:chOff x="2667000" y="2740223"/>
              <a:chExt cx="490775" cy="460177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" name="Group 19"/>
            <p:cNvGrpSpPr/>
            <p:nvPr/>
          </p:nvGrpSpPr>
          <p:grpSpPr>
            <a:xfrm>
              <a:off x="4119697" y="4264223"/>
              <a:ext cx="490775" cy="460177"/>
              <a:chOff x="2667000" y="2740223"/>
              <a:chExt cx="490775" cy="460177"/>
            </a:xfrm>
          </p:grpSpPr>
          <p:sp>
            <p:nvSpPr>
              <p:cNvPr id="21" name="Oval 20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𝟓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" name="Group 22"/>
            <p:cNvGrpSpPr/>
            <p:nvPr/>
          </p:nvGrpSpPr>
          <p:grpSpPr>
            <a:xfrm>
              <a:off x="2748097" y="2895600"/>
              <a:ext cx="490775" cy="460177"/>
              <a:chOff x="2667000" y="2740223"/>
              <a:chExt cx="490775" cy="460177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5" name="TextBox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Group 25"/>
            <p:cNvGrpSpPr/>
            <p:nvPr/>
          </p:nvGrpSpPr>
          <p:grpSpPr>
            <a:xfrm>
              <a:off x="4729297" y="2286000"/>
              <a:ext cx="490775" cy="460177"/>
              <a:chOff x="2667000" y="2740223"/>
              <a:chExt cx="490775" cy="460177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𝟔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8" name="TextBox 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9" name="Group 28"/>
            <p:cNvGrpSpPr/>
            <p:nvPr/>
          </p:nvGrpSpPr>
          <p:grpSpPr>
            <a:xfrm>
              <a:off x="6100897" y="3578423"/>
              <a:ext cx="490775" cy="460177"/>
              <a:chOff x="2667000" y="2740223"/>
              <a:chExt cx="490775" cy="460177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𝟗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TextBox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2" name="Group 31"/>
            <p:cNvGrpSpPr/>
            <p:nvPr/>
          </p:nvGrpSpPr>
          <p:grpSpPr>
            <a:xfrm>
              <a:off x="5567497" y="4188023"/>
              <a:ext cx="490775" cy="460177"/>
              <a:chOff x="2667000" y="2740223"/>
              <a:chExt cx="490775" cy="460177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𝟖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4" name="TextBox 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5" name="Group 34"/>
            <p:cNvGrpSpPr/>
            <p:nvPr/>
          </p:nvGrpSpPr>
          <p:grpSpPr>
            <a:xfrm>
              <a:off x="6858000" y="3124200"/>
              <a:ext cx="591765" cy="460177"/>
              <a:chOff x="2667000" y="2740223"/>
              <a:chExt cx="591765" cy="460177"/>
            </a:xfrm>
          </p:grpSpPr>
          <p:sp>
            <p:nvSpPr>
              <p:cNvPr id="36" name="Oval 35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𝟏𝟎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7" name="TextBox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t="-8197" r="-13402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Group 37"/>
            <p:cNvGrpSpPr/>
            <p:nvPr/>
          </p:nvGrpSpPr>
          <p:grpSpPr>
            <a:xfrm>
              <a:off x="7624897" y="3730823"/>
              <a:ext cx="591764" cy="460177"/>
              <a:chOff x="2667000" y="2740223"/>
              <a:chExt cx="591764" cy="460177"/>
            </a:xfrm>
          </p:grpSpPr>
          <p:sp>
            <p:nvSpPr>
              <p:cNvPr id="39" name="Oval 38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/>
                  <p:cNvSpPr txBox="1"/>
                  <p:nvPr/>
                </p:nvSpPr>
                <p:spPr>
                  <a:xfrm>
                    <a:off x="2667000" y="2831068"/>
                    <a:ext cx="59176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0" name="TextBox 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591764" cy="369332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t="-8197" r="-13402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43" name="Straight Connector 42"/>
          <p:cNvCxnSpPr>
            <a:stCxn id="36" idx="4"/>
            <a:endCxn id="39" idx="2"/>
          </p:cNvCxnSpPr>
          <p:nvPr/>
        </p:nvCxnSpPr>
        <p:spPr>
          <a:xfrm>
            <a:off x="7048500" y="3200400"/>
            <a:ext cx="728797" cy="56852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7048500" y="3200400"/>
            <a:ext cx="728797" cy="5685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2274841" y="2351041"/>
            <a:ext cx="4746718" cy="1978223"/>
            <a:chOff x="2274841" y="2351041"/>
            <a:chExt cx="4746718" cy="1978223"/>
          </a:xfrm>
        </p:grpSpPr>
        <p:cxnSp>
          <p:nvCxnSpPr>
            <p:cNvPr id="42" name="Straight Connector 41"/>
            <p:cNvCxnSpPr/>
            <p:nvPr/>
          </p:nvCxnSpPr>
          <p:spPr>
            <a:xfrm>
              <a:off x="5491297" y="2968823"/>
              <a:ext cx="1519103" cy="202288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4946738" y="2351041"/>
              <a:ext cx="468359" cy="579682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H="1">
              <a:off x="4337138" y="2351041"/>
              <a:ext cx="544559" cy="192434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H="1" flipV="1">
              <a:off x="2965538" y="2906759"/>
              <a:ext cx="1317718" cy="1422505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H="1">
              <a:off x="2274841" y="2960641"/>
              <a:ext cx="636815" cy="40034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H="1" flipV="1">
              <a:off x="2274841" y="3414864"/>
              <a:ext cx="1001759" cy="58563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flipV="1">
              <a:off x="3341641" y="2884441"/>
              <a:ext cx="636815" cy="108911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H="1" flipV="1">
              <a:off x="4032338" y="2884441"/>
              <a:ext cx="1725659" cy="130358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flipV="1">
              <a:off x="5796097" y="3643464"/>
              <a:ext cx="468359" cy="54753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>
              <a:stCxn id="30" idx="7"/>
              <a:endCxn id="36" idx="3"/>
            </p:cNvCxnSpPr>
            <p:nvPr/>
          </p:nvCxnSpPr>
          <p:spPr>
            <a:xfrm flipV="1">
              <a:off x="6318338" y="3189241"/>
              <a:ext cx="703221" cy="40034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/>
          <p:cNvSpPr/>
          <p:nvPr/>
        </p:nvSpPr>
        <p:spPr>
          <a:xfrm>
            <a:off x="1113090" y="1524000"/>
            <a:ext cx="5338897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loud Callout 2"/>
              <p:cNvSpPr/>
              <p:nvPr/>
            </p:nvSpPr>
            <p:spPr>
              <a:xfrm>
                <a:off x="5823770" y="676989"/>
                <a:ext cx="3657601" cy="847011"/>
              </a:xfrm>
              <a:prstGeom prst="cloudCallout">
                <a:avLst>
                  <a:gd name="adj1" fmla="val -29690"/>
                  <a:gd name="adj2" fmla="val 85901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Try to relate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b="1" dirty="0" smtClean="0">
                        <a:solidFill>
                          <a:schemeClr val="tx1"/>
                        </a:solidFill>
                        <a:latin typeface="Cambria Math"/>
                      </a:rPr>
                      <m:t>[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and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b="1" dirty="0" smtClean="0">
                        <a:solidFill>
                          <a:schemeClr val="tx1"/>
                        </a:solidFill>
                        <a:latin typeface="Cambria Math"/>
                      </a:rPr>
                      <m:t>[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]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loud Callou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3770" y="676989"/>
                <a:ext cx="3657601" cy="847011"/>
              </a:xfrm>
              <a:prstGeom prst="cloudCallout">
                <a:avLst>
                  <a:gd name="adj1" fmla="val -29690"/>
                  <a:gd name="adj2" fmla="val 85901"/>
                </a:avLst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Group 55"/>
          <p:cNvGrpSpPr/>
          <p:nvPr/>
        </p:nvGrpSpPr>
        <p:grpSpPr>
          <a:xfrm>
            <a:off x="6669948" y="4539734"/>
            <a:ext cx="1795684" cy="1000703"/>
            <a:chOff x="5165327" y="5105400"/>
            <a:chExt cx="1795684" cy="1000703"/>
          </a:xfrm>
        </p:grpSpPr>
        <p:sp>
          <p:nvSpPr>
            <p:cNvPr id="54" name="Smiley Face 53"/>
            <p:cNvSpPr/>
            <p:nvPr/>
          </p:nvSpPr>
          <p:spPr>
            <a:xfrm>
              <a:off x="5719897" y="5105400"/>
              <a:ext cx="609600" cy="609600"/>
            </a:xfrm>
            <a:prstGeom prst="smileyFace">
              <a:avLst>
                <a:gd name="adj" fmla="val -4653"/>
              </a:avLst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165327" y="5736771"/>
              <a:ext cx="17956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 obvious way !</a:t>
              </a:r>
            </a:p>
          </p:txBody>
        </p:sp>
      </p:grpSp>
      <p:sp>
        <p:nvSpPr>
          <p:cNvPr id="58" name="Rectangle 57"/>
          <p:cNvSpPr/>
          <p:nvPr/>
        </p:nvSpPr>
        <p:spPr>
          <a:xfrm>
            <a:off x="1072364" y="1981200"/>
            <a:ext cx="6081518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1066800" y="4876800"/>
            <a:ext cx="22479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7D8393D-D79F-B35E-8DA1-47BCC372AD35}"/>
                  </a:ext>
                </a:extLst>
              </p:cNvPr>
              <p:cNvSpPr txBox="1"/>
              <p:nvPr/>
            </p:nvSpPr>
            <p:spPr>
              <a:xfrm>
                <a:off x="2274841" y="6014222"/>
                <a:ext cx="4376967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Is there any way to have </a:t>
                </a:r>
                <a:r>
                  <a:rPr lang="en-US" b="1" dirty="0">
                    <a:solidFill>
                      <a:srgbClr val="0070C0"/>
                    </a:solidFill>
                  </a:rPr>
                  <a:t>2</a:t>
                </a:r>
                <a:r>
                  <a:rPr lang="en-US" dirty="0"/>
                  <a:t> paths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𝟏𝟏</m:t>
                        </m:r>
                      </m:sub>
                    </m:sSub>
                  </m:oMath>
                </a14:m>
                <a:r>
                  <a:rPr lang="en-US" dirty="0"/>
                  <a:t> ? </a:t>
                </a:r>
                <a:endParaRPr lang="en-IN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7D8393D-D79F-B35E-8DA1-47BCC372A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4841" y="6014222"/>
                <a:ext cx="4376967" cy="369332"/>
              </a:xfrm>
              <a:prstGeom prst="rect">
                <a:avLst/>
              </a:prstGeom>
              <a:blipFill>
                <a:blip r:embed="rId15"/>
                <a:stretch>
                  <a:fillRect l="-972" t="-8065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224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1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7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  <p:bldP spid="2" grpId="0" animBg="1"/>
      <p:bldP spid="3" grpId="0" animBg="1"/>
      <p:bldP spid="58" grpId="0" animBg="1"/>
      <p:bldP spid="59" grpId="0" animBg="1"/>
      <p:bldP spid="5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New Idea</a:t>
            </a:r>
            <a:r>
              <a:rPr lang="en-US" sz="3600" b="1" dirty="0"/>
              <a:t>: </a:t>
            </a:r>
            <a:br>
              <a:rPr lang="en-US" sz="3600" b="1" dirty="0"/>
            </a:br>
            <a:r>
              <a:rPr lang="en-US" sz="3600" b="1" dirty="0"/>
              <a:t>Generalize the problem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2400" y="1600200"/>
            <a:ext cx="8915400" cy="4525963"/>
          </a:xfrm>
        </p:spPr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2057400" y="2286000"/>
            <a:ext cx="5392365" cy="2438400"/>
            <a:chOff x="2057400" y="2286000"/>
            <a:chExt cx="5392365" cy="2438400"/>
          </a:xfrm>
        </p:grpSpPr>
        <p:grpSp>
          <p:nvGrpSpPr>
            <p:cNvPr id="10" name="Group 9"/>
            <p:cNvGrpSpPr/>
            <p:nvPr/>
          </p:nvGrpSpPr>
          <p:grpSpPr>
            <a:xfrm>
              <a:off x="2057400" y="3349823"/>
              <a:ext cx="490775" cy="460177"/>
              <a:chOff x="2667000" y="2740223"/>
              <a:chExt cx="490775" cy="460177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/>
            <p:cNvGrpSpPr/>
            <p:nvPr/>
          </p:nvGrpSpPr>
          <p:grpSpPr>
            <a:xfrm>
              <a:off x="5262697" y="2892623"/>
              <a:ext cx="490775" cy="460177"/>
              <a:chOff x="2667000" y="2740223"/>
              <a:chExt cx="490775" cy="460177"/>
            </a:xfrm>
          </p:grpSpPr>
          <p:sp>
            <p:nvSpPr>
              <p:cNvPr id="12" name="Oval 11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𝟕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/>
            <p:cNvGrpSpPr/>
            <p:nvPr/>
          </p:nvGrpSpPr>
          <p:grpSpPr>
            <a:xfrm>
              <a:off x="3814897" y="2819400"/>
              <a:ext cx="490775" cy="460177"/>
              <a:chOff x="2667000" y="2740223"/>
              <a:chExt cx="490775" cy="460177"/>
            </a:xfrm>
          </p:grpSpPr>
          <p:sp>
            <p:nvSpPr>
              <p:cNvPr id="15" name="Oval 14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/>
            <p:cNvGrpSpPr/>
            <p:nvPr/>
          </p:nvGrpSpPr>
          <p:grpSpPr>
            <a:xfrm>
              <a:off x="3124200" y="3962400"/>
              <a:ext cx="490775" cy="460177"/>
              <a:chOff x="2667000" y="2740223"/>
              <a:chExt cx="490775" cy="460177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" name="Group 19"/>
            <p:cNvGrpSpPr/>
            <p:nvPr/>
          </p:nvGrpSpPr>
          <p:grpSpPr>
            <a:xfrm>
              <a:off x="4119697" y="4264223"/>
              <a:ext cx="490775" cy="460177"/>
              <a:chOff x="2667000" y="2740223"/>
              <a:chExt cx="490775" cy="460177"/>
            </a:xfrm>
          </p:grpSpPr>
          <p:sp>
            <p:nvSpPr>
              <p:cNvPr id="21" name="Oval 20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𝟓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" name="Group 22"/>
            <p:cNvGrpSpPr/>
            <p:nvPr/>
          </p:nvGrpSpPr>
          <p:grpSpPr>
            <a:xfrm>
              <a:off x="2748097" y="2895600"/>
              <a:ext cx="490775" cy="460177"/>
              <a:chOff x="2667000" y="2740223"/>
              <a:chExt cx="490775" cy="460177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5" name="TextBox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Group 25"/>
            <p:cNvGrpSpPr/>
            <p:nvPr/>
          </p:nvGrpSpPr>
          <p:grpSpPr>
            <a:xfrm>
              <a:off x="4729297" y="2286000"/>
              <a:ext cx="490775" cy="460177"/>
              <a:chOff x="2667000" y="2740223"/>
              <a:chExt cx="490775" cy="460177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𝟔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8" name="TextBox 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9" name="Group 28"/>
            <p:cNvGrpSpPr/>
            <p:nvPr/>
          </p:nvGrpSpPr>
          <p:grpSpPr>
            <a:xfrm>
              <a:off x="6100897" y="3578423"/>
              <a:ext cx="490775" cy="460177"/>
              <a:chOff x="2667000" y="2740223"/>
              <a:chExt cx="490775" cy="460177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𝟗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TextBox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2" name="Group 31"/>
            <p:cNvGrpSpPr/>
            <p:nvPr/>
          </p:nvGrpSpPr>
          <p:grpSpPr>
            <a:xfrm>
              <a:off x="5567497" y="4188023"/>
              <a:ext cx="490775" cy="460177"/>
              <a:chOff x="2667000" y="2740223"/>
              <a:chExt cx="490775" cy="460177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𝟖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4" name="TextBox 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5" name="Group 34"/>
            <p:cNvGrpSpPr/>
            <p:nvPr/>
          </p:nvGrpSpPr>
          <p:grpSpPr>
            <a:xfrm>
              <a:off x="6858000" y="3124200"/>
              <a:ext cx="591765" cy="460177"/>
              <a:chOff x="2667000" y="2740223"/>
              <a:chExt cx="591765" cy="460177"/>
            </a:xfrm>
          </p:grpSpPr>
          <p:sp>
            <p:nvSpPr>
              <p:cNvPr id="36" name="Oval 35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𝟏𝟎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7" name="TextBox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t="-8197" r="-13402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" name="Group 2"/>
          <p:cNvGrpSpPr/>
          <p:nvPr/>
        </p:nvGrpSpPr>
        <p:grpSpPr>
          <a:xfrm>
            <a:off x="7584192" y="3733800"/>
            <a:ext cx="721608" cy="381000"/>
            <a:chOff x="7584192" y="4114800"/>
            <a:chExt cx="721608" cy="381000"/>
          </a:xfrm>
        </p:grpSpPr>
        <p:sp>
          <p:nvSpPr>
            <p:cNvPr id="50" name="Oval 49"/>
            <p:cNvSpPr/>
            <p:nvPr/>
          </p:nvSpPr>
          <p:spPr>
            <a:xfrm>
              <a:off x="7772400" y="4114800"/>
              <a:ext cx="76200" cy="762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7584192" y="4126468"/>
                  <a:ext cx="721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𝒑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𝒏</m:t>
                            </m:r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+</m:t>
                            </m:r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4192" y="4126468"/>
                  <a:ext cx="721608" cy="36933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t="-8197" r="-1092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3" name="Oval 52"/>
          <p:cNvSpPr/>
          <p:nvPr/>
        </p:nvSpPr>
        <p:spPr>
          <a:xfrm>
            <a:off x="7777297" y="37338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7624897" y="33644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897" y="3364468"/>
                <a:ext cx="498791" cy="369332"/>
              </a:xfrm>
              <a:prstGeom prst="rect">
                <a:avLst/>
              </a:prstGeom>
              <a:blipFill rotWithShape="1">
                <a:blip r:embed="rId14"/>
                <a:stretch>
                  <a:fillRect t="-8197" r="-1463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ectangle 57">
            <a:extLst>
              <a:ext uri="{FF2B5EF4-FFF2-40B4-BE49-F238E27FC236}">
                <a16:creationId xmlns:a16="http://schemas.microsoft.com/office/drawing/2014/main" id="{BE517749-7458-E748-B5CA-D6FAFB042A90}"/>
              </a:ext>
            </a:extLst>
          </p:cNvPr>
          <p:cNvSpPr/>
          <p:nvPr/>
        </p:nvSpPr>
        <p:spPr>
          <a:xfrm>
            <a:off x="2247900" y="952500"/>
            <a:ext cx="46101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520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New Idea</a:t>
            </a:r>
            <a:r>
              <a:rPr lang="en-US" sz="3600" b="1" dirty="0"/>
              <a:t>: </a:t>
            </a:r>
            <a:br>
              <a:rPr lang="en-US" sz="3600" b="1" dirty="0"/>
            </a:br>
            <a:r>
              <a:rPr lang="en-US" sz="3600" b="1" dirty="0"/>
              <a:t>Generalize the problem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2400" y="1600200"/>
            <a:ext cx="8915400" cy="4525963"/>
          </a:xfrm>
        </p:spPr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2057400" y="2286000"/>
            <a:ext cx="5392365" cy="2438400"/>
            <a:chOff x="2057400" y="2286000"/>
            <a:chExt cx="5392365" cy="2438400"/>
          </a:xfrm>
        </p:grpSpPr>
        <p:grpSp>
          <p:nvGrpSpPr>
            <p:cNvPr id="10" name="Group 9"/>
            <p:cNvGrpSpPr/>
            <p:nvPr/>
          </p:nvGrpSpPr>
          <p:grpSpPr>
            <a:xfrm>
              <a:off x="2057400" y="3349823"/>
              <a:ext cx="490775" cy="460177"/>
              <a:chOff x="2667000" y="2740223"/>
              <a:chExt cx="490775" cy="460177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/>
            <p:cNvGrpSpPr/>
            <p:nvPr/>
          </p:nvGrpSpPr>
          <p:grpSpPr>
            <a:xfrm>
              <a:off x="5262697" y="2892623"/>
              <a:ext cx="490775" cy="460177"/>
              <a:chOff x="2667000" y="2740223"/>
              <a:chExt cx="490775" cy="460177"/>
            </a:xfrm>
          </p:grpSpPr>
          <p:sp>
            <p:nvSpPr>
              <p:cNvPr id="12" name="Oval 11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𝟕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/>
            <p:cNvGrpSpPr/>
            <p:nvPr/>
          </p:nvGrpSpPr>
          <p:grpSpPr>
            <a:xfrm>
              <a:off x="3814897" y="2819400"/>
              <a:ext cx="490775" cy="460177"/>
              <a:chOff x="2667000" y="2740223"/>
              <a:chExt cx="490775" cy="460177"/>
            </a:xfrm>
          </p:grpSpPr>
          <p:sp>
            <p:nvSpPr>
              <p:cNvPr id="15" name="Oval 14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/>
            <p:cNvGrpSpPr/>
            <p:nvPr/>
          </p:nvGrpSpPr>
          <p:grpSpPr>
            <a:xfrm>
              <a:off x="3124200" y="3962400"/>
              <a:ext cx="490775" cy="460177"/>
              <a:chOff x="2667000" y="2740223"/>
              <a:chExt cx="490775" cy="460177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" name="Group 19"/>
            <p:cNvGrpSpPr/>
            <p:nvPr/>
          </p:nvGrpSpPr>
          <p:grpSpPr>
            <a:xfrm>
              <a:off x="4119697" y="4264223"/>
              <a:ext cx="490775" cy="460177"/>
              <a:chOff x="2667000" y="2740223"/>
              <a:chExt cx="490775" cy="460177"/>
            </a:xfrm>
          </p:grpSpPr>
          <p:sp>
            <p:nvSpPr>
              <p:cNvPr id="21" name="Oval 20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𝟓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" name="Group 22"/>
            <p:cNvGrpSpPr/>
            <p:nvPr/>
          </p:nvGrpSpPr>
          <p:grpSpPr>
            <a:xfrm>
              <a:off x="2748097" y="2895600"/>
              <a:ext cx="490775" cy="460177"/>
              <a:chOff x="2667000" y="2740223"/>
              <a:chExt cx="490775" cy="460177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5" name="TextBox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Group 25"/>
            <p:cNvGrpSpPr/>
            <p:nvPr/>
          </p:nvGrpSpPr>
          <p:grpSpPr>
            <a:xfrm>
              <a:off x="4729297" y="2286000"/>
              <a:ext cx="490775" cy="460177"/>
              <a:chOff x="2667000" y="2740223"/>
              <a:chExt cx="490775" cy="460177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𝟔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8" name="TextBox 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9" name="Group 28"/>
            <p:cNvGrpSpPr/>
            <p:nvPr/>
          </p:nvGrpSpPr>
          <p:grpSpPr>
            <a:xfrm>
              <a:off x="6100897" y="3578423"/>
              <a:ext cx="490775" cy="460177"/>
              <a:chOff x="2667000" y="2740223"/>
              <a:chExt cx="490775" cy="460177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𝟗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TextBox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2" name="Group 31"/>
            <p:cNvGrpSpPr/>
            <p:nvPr/>
          </p:nvGrpSpPr>
          <p:grpSpPr>
            <a:xfrm>
              <a:off x="5567497" y="4188023"/>
              <a:ext cx="490775" cy="460177"/>
              <a:chOff x="2667000" y="2740223"/>
              <a:chExt cx="490775" cy="460177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𝟖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4" name="TextBox 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5" name="Group 34"/>
            <p:cNvGrpSpPr/>
            <p:nvPr/>
          </p:nvGrpSpPr>
          <p:grpSpPr>
            <a:xfrm>
              <a:off x="6858000" y="3124200"/>
              <a:ext cx="591765" cy="460177"/>
              <a:chOff x="2667000" y="2740223"/>
              <a:chExt cx="591765" cy="460177"/>
            </a:xfrm>
          </p:grpSpPr>
          <p:sp>
            <p:nvSpPr>
              <p:cNvPr id="36" name="Oval 35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𝟏𝟎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7" name="TextBox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t="-8197" r="-13402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47" name="Straight Connector 46"/>
          <p:cNvCxnSpPr/>
          <p:nvPr/>
        </p:nvCxnSpPr>
        <p:spPr>
          <a:xfrm>
            <a:off x="5491297" y="2968823"/>
            <a:ext cx="1519103" cy="20228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27" idx="5"/>
            <a:endCxn id="12" idx="2"/>
          </p:cNvCxnSpPr>
          <p:nvPr/>
        </p:nvCxnSpPr>
        <p:spPr>
          <a:xfrm>
            <a:off x="4946738" y="2351041"/>
            <a:ext cx="468359" cy="57968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endCxn id="21" idx="7"/>
          </p:cNvCxnSpPr>
          <p:nvPr/>
        </p:nvCxnSpPr>
        <p:spPr>
          <a:xfrm flipH="1">
            <a:off x="4337138" y="2351041"/>
            <a:ext cx="544559" cy="19243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21" idx="3"/>
            <a:endCxn id="24" idx="7"/>
          </p:cNvCxnSpPr>
          <p:nvPr/>
        </p:nvCxnSpPr>
        <p:spPr>
          <a:xfrm flipH="1" flipV="1">
            <a:off x="2965538" y="2906759"/>
            <a:ext cx="1317718" cy="142250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24" idx="3"/>
            <a:endCxn id="7" idx="7"/>
          </p:cNvCxnSpPr>
          <p:nvPr/>
        </p:nvCxnSpPr>
        <p:spPr>
          <a:xfrm flipH="1">
            <a:off x="2274841" y="2960641"/>
            <a:ext cx="636815" cy="4003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8" idx="2"/>
            <a:endCxn id="7" idx="5"/>
          </p:cNvCxnSpPr>
          <p:nvPr/>
        </p:nvCxnSpPr>
        <p:spPr>
          <a:xfrm flipH="1" flipV="1">
            <a:off x="2274841" y="3414864"/>
            <a:ext cx="1001759" cy="585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18" idx="7"/>
            <a:endCxn id="15" idx="3"/>
          </p:cNvCxnSpPr>
          <p:nvPr/>
        </p:nvCxnSpPr>
        <p:spPr>
          <a:xfrm flipV="1">
            <a:off x="3341641" y="2884441"/>
            <a:ext cx="636815" cy="10891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33" idx="0"/>
            <a:endCxn id="15" idx="5"/>
          </p:cNvCxnSpPr>
          <p:nvPr/>
        </p:nvCxnSpPr>
        <p:spPr>
          <a:xfrm flipH="1" flipV="1">
            <a:off x="4032338" y="2884441"/>
            <a:ext cx="1725659" cy="13035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endCxn id="30" idx="3"/>
          </p:cNvCxnSpPr>
          <p:nvPr/>
        </p:nvCxnSpPr>
        <p:spPr>
          <a:xfrm flipV="1">
            <a:off x="5796097" y="3643464"/>
            <a:ext cx="468359" cy="5475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30" idx="6"/>
          </p:cNvCxnSpPr>
          <p:nvPr/>
        </p:nvCxnSpPr>
        <p:spPr>
          <a:xfrm>
            <a:off x="6329497" y="3616523"/>
            <a:ext cx="1481003" cy="6477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7584192" y="4191000"/>
            <a:ext cx="721608" cy="381000"/>
            <a:chOff x="7584192" y="4572000"/>
            <a:chExt cx="721608" cy="381000"/>
          </a:xfrm>
        </p:grpSpPr>
        <p:sp>
          <p:nvSpPr>
            <p:cNvPr id="50" name="Oval 49"/>
            <p:cNvSpPr/>
            <p:nvPr/>
          </p:nvSpPr>
          <p:spPr>
            <a:xfrm>
              <a:off x="7772400" y="4572000"/>
              <a:ext cx="76200" cy="762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7584192" y="4583668"/>
                  <a:ext cx="721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𝒑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𝒏</m:t>
                            </m:r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+</m:t>
                            </m:r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4192" y="4583668"/>
                  <a:ext cx="721608" cy="369332"/>
                </a:xfrm>
                <a:prstGeom prst="rect">
                  <a:avLst/>
                </a:prstGeom>
                <a:blipFill>
                  <a:blip r:embed="rId13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3" name="Oval 52"/>
          <p:cNvSpPr/>
          <p:nvPr/>
        </p:nvSpPr>
        <p:spPr>
          <a:xfrm>
            <a:off x="7777297" y="37338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7624897" y="33644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897" y="3364468"/>
                <a:ext cx="498791" cy="369332"/>
              </a:xfrm>
              <a:prstGeom prst="rect">
                <a:avLst/>
              </a:prstGeom>
              <a:blipFill rotWithShape="1">
                <a:blip r:embed="rId14"/>
                <a:stretch>
                  <a:fillRect t="-8197" r="-1463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Connector 55"/>
          <p:cNvCxnSpPr/>
          <p:nvPr/>
        </p:nvCxnSpPr>
        <p:spPr>
          <a:xfrm>
            <a:off x="7048500" y="3200400"/>
            <a:ext cx="728797" cy="56852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82482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New Idea</a:t>
            </a:r>
            <a:r>
              <a:rPr lang="en-US" sz="3600" b="1" dirty="0"/>
              <a:t>: </a:t>
            </a:r>
            <a:br>
              <a:rPr lang="en-US" sz="3600" b="1" dirty="0"/>
            </a:br>
            <a:r>
              <a:rPr lang="en-US" sz="3600" b="1" dirty="0"/>
              <a:t>Generalize the problem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6106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Problem</a:t>
                </a:r>
                <a:r>
                  <a:rPr lang="en-US" sz="2000" dirty="0"/>
                  <a:t>: Given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000" dirty="0"/>
                  <a:t> points 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,…,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&gt; in increasing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-coordinates, </a:t>
                </a:r>
              </a:p>
              <a:p>
                <a:pPr marL="0" indent="0">
                  <a:buNone/>
                </a:pPr>
                <a:r>
                  <a:rPr lang="en-US" sz="2000" dirty="0"/>
                  <a:t>We need to travel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What is the least distance traveled ? 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610600" cy="4525963"/>
              </a:xfrm>
              <a:blipFill rotWithShape="1">
                <a:blip r:embed="rId2"/>
                <a:stretch>
                  <a:fillRect l="-708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2057400" y="2286000"/>
            <a:ext cx="5392365" cy="2438400"/>
            <a:chOff x="2057400" y="2286000"/>
            <a:chExt cx="5392365" cy="2438400"/>
          </a:xfrm>
        </p:grpSpPr>
        <p:grpSp>
          <p:nvGrpSpPr>
            <p:cNvPr id="10" name="Group 9"/>
            <p:cNvGrpSpPr/>
            <p:nvPr/>
          </p:nvGrpSpPr>
          <p:grpSpPr>
            <a:xfrm>
              <a:off x="2057400" y="3349823"/>
              <a:ext cx="490775" cy="460177"/>
              <a:chOff x="2667000" y="2740223"/>
              <a:chExt cx="490775" cy="460177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/>
            <p:cNvGrpSpPr/>
            <p:nvPr/>
          </p:nvGrpSpPr>
          <p:grpSpPr>
            <a:xfrm>
              <a:off x="5262697" y="2892623"/>
              <a:ext cx="490775" cy="460177"/>
              <a:chOff x="2667000" y="2740223"/>
              <a:chExt cx="490775" cy="460177"/>
            </a:xfrm>
          </p:grpSpPr>
          <p:sp>
            <p:nvSpPr>
              <p:cNvPr id="12" name="Oval 11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𝟕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/>
            <p:cNvGrpSpPr/>
            <p:nvPr/>
          </p:nvGrpSpPr>
          <p:grpSpPr>
            <a:xfrm>
              <a:off x="3814897" y="2819400"/>
              <a:ext cx="490775" cy="460177"/>
              <a:chOff x="2667000" y="2740223"/>
              <a:chExt cx="490775" cy="460177"/>
            </a:xfrm>
          </p:grpSpPr>
          <p:sp>
            <p:nvSpPr>
              <p:cNvPr id="15" name="Oval 14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/>
            <p:cNvGrpSpPr/>
            <p:nvPr/>
          </p:nvGrpSpPr>
          <p:grpSpPr>
            <a:xfrm>
              <a:off x="3124200" y="3962400"/>
              <a:ext cx="490775" cy="460177"/>
              <a:chOff x="2667000" y="2740223"/>
              <a:chExt cx="490775" cy="460177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" name="Group 19"/>
            <p:cNvGrpSpPr/>
            <p:nvPr/>
          </p:nvGrpSpPr>
          <p:grpSpPr>
            <a:xfrm>
              <a:off x="4119697" y="4264223"/>
              <a:ext cx="490775" cy="460177"/>
              <a:chOff x="2667000" y="2740223"/>
              <a:chExt cx="490775" cy="460177"/>
            </a:xfrm>
          </p:grpSpPr>
          <p:sp>
            <p:nvSpPr>
              <p:cNvPr id="21" name="Oval 20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𝟓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" name="Group 22"/>
            <p:cNvGrpSpPr/>
            <p:nvPr/>
          </p:nvGrpSpPr>
          <p:grpSpPr>
            <a:xfrm>
              <a:off x="2748097" y="2895600"/>
              <a:ext cx="490775" cy="460177"/>
              <a:chOff x="2667000" y="2740223"/>
              <a:chExt cx="490775" cy="460177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5" name="TextBox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Group 25"/>
            <p:cNvGrpSpPr/>
            <p:nvPr/>
          </p:nvGrpSpPr>
          <p:grpSpPr>
            <a:xfrm>
              <a:off x="4729297" y="2286000"/>
              <a:ext cx="490775" cy="460177"/>
              <a:chOff x="2667000" y="2740223"/>
              <a:chExt cx="490775" cy="460177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𝟔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8" name="TextBox 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9" name="Group 28"/>
            <p:cNvGrpSpPr/>
            <p:nvPr/>
          </p:nvGrpSpPr>
          <p:grpSpPr>
            <a:xfrm>
              <a:off x="6100897" y="3578423"/>
              <a:ext cx="490775" cy="460177"/>
              <a:chOff x="2667000" y="2740223"/>
              <a:chExt cx="490775" cy="460177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𝟗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TextBox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2" name="Group 31"/>
            <p:cNvGrpSpPr/>
            <p:nvPr/>
          </p:nvGrpSpPr>
          <p:grpSpPr>
            <a:xfrm>
              <a:off x="5567497" y="4188023"/>
              <a:ext cx="490775" cy="460177"/>
              <a:chOff x="2667000" y="2740223"/>
              <a:chExt cx="490775" cy="460177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𝟖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4" name="TextBox 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5" name="Group 34"/>
            <p:cNvGrpSpPr/>
            <p:nvPr/>
          </p:nvGrpSpPr>
          <p:grpSpPr>
            <a:xfrm>
              <a:off x="6858000" y="3124200"/>
              <a:ext cx="591765" cy="460177"/>
              <a:chOff x="2667000" y="2740223"/>
              <a:chExt cx="591765" cy="460177"/>
            </a:xfrm>
          </p:grpSpPr>
          <p:sp>
            <p:nvSpPr>
              <p:cNvPr id="36" name="Oval 35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𝟏𝟎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7" name="TextBox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t="-8197" r="-13402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47" name="Straight Connector 46"/>
          <p:cNvCxnSpPr/>
          <p:nvPr/>
        </p:nvCxnSpPr>
        <p:spPr>
          <a:xfrm>
            <a:off x="5491297" y="2968823"/>
            <a:ext cx="1519103" cy="20228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27" idx="5"/>
            <a:endCxn id="12" idx="2"/>
          </p:cNvCxnSpPr>
          <p:nvPr/>
        </p:nvCxnSpPr>
        <p:spPr>
          <a:xfrm>
            <a:off x="4946738" y="2351041"/>
            <a:ext cx="468359" cy="57968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endCxn id="21" idx="7"/>
          </p:cNvCxnSpPr>
          <p:nvPr/>
        </p:nvCxnSpPr>
        <p:spPr>
          <a:xfrm flipH="1">
            <a:off x="4337138" y="2351041"/>
            <a:ext cx="544559" cy="19243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21" idx="3"/>
            <a:endCxn id="24" idx="7"/>
          </p:cNvCxnSpPr>
          <p:nvPr/>
        </p:nvCxnSpPr>
        <p:spPr>
          <a:xfrm flipH="1" flipV="1">
            <a:off x="2965538" y="2906759"/>
            <a:ext cx="1317718" cy="142250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24" idx="3"/>
            <a:endCxn id="7" idx="7"/>
          </p:cNvCxnSpPr>
          <p:nvPr/>
        </p:nvCxnSpPr>
        <p:spPr>
          <a:xfrm flipH="1">
            <a:off x="2274841" y="2960641"/>
            <a:ext cx="636815" cy="4003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8" idx="2"/>
            <a:endCxn id="7" idx="5"/>
          </p:cNvCxnSpPr>
          <p:nvPr/>
        </p:nvCxnSpPr>
        <p:spPr>
          <a:xfrm flipH="1" flipV="1">
            <a:off x="2274841" y="3414864"/>
            <a:ext cx="1001759" cy="585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18" idx="7"/>
            <a:endCxn id="15" idx="3"/>
          </p:cNvCxnSpPr>
          <p:nvPr/>
        </p:nvCxnSpPr>
        <p:spPr>
          <a:xfrm flipV="1">
            <a:off x="3341641" y="2884441"/>
            <a:ext cx="636815" cy="10891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33" idx="0"/>
            <a:endCxn id="15" idx="5"/>
          </p:cNvCxnSpPr>
          <p:nvPr/>
        </p:nvCxnSpPr>
        <p:spPr>
          <a:xfrm flipH="1" flipV="1">
            <a:off x="4032338" y="2884441"/>
            <a:ext cx="1725659" cy="13035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endCxn id="30" idx="3"/>
          </p:cNvCxnSpPr>
          <p:nvPr/>
        </p:nvCxnSpPr>
        <p:spPr>
          <a:xfrm flipV="1">
            <a:off x="5796097" y="3643464"/>
            <a:ext cx="468359" cy="5475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30" idx="6"/>
          </p:cNvCxnSpPr>
          <p:nvPr/>
        </p:nvCxnSpPr>
        <p:spPr>
          <a:xfrm>
            <a:off x="6329497" y="3616523"/>
            <a:ext cx="1481003" cy="6477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7584192" y="4191000"/>
            <a:ext cx="721608" cy="381000"/>
            <a:chOff x="7584192" y="4114800"/>
            <a:chExt cx="721608" cy="381000"/>
          </a:xfrm>
        </p:grpSpPr>
        <p:sp>
          <p:nvSpPr>
            <p:cNvPr id="50" name="Oval 49"/>
            <p:cNvSpPr/>
            <p:nvPr/>
          </p:nvSpPr>
          <p:spPr>
            <a:xfrm>
              <a:off x="7772400" y="4114800"/>
              <a:ext cx="76200" cy="762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7584192" y="4126468"/>
                  <a:ext cx="721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𝒑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𝒏</m:t>
                            </m:r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+</m:t>
                            </m:r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4192" y="4126468"/>
                  <a:ext cx="721608" cy="36933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t="-8197" r="-1092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3" name="Oval 52"/>
          <p:cNvSpPr/>
          <p:nvPr/>
        </p:nvSpPr>
        <p:spPr>
          <a:xfrm>
            <a:off x="7777297" y="3730823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7624897" y="33644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897" y="3364468"/>
                <a:ext cx="498791" cy="369332"/>
              </a:xfrm>
              <a:prstGeom prst="rect">
                <a:avLst/>
              </a:prstGeom>
              <a:blipFill rotWithShape="1">
                <a:blip r:embed="rId14"/>
                <a:stretch>
                  <a:fillRect t="-8197" r="-1463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Connector 55"/>
          <p:cNvCxnSpPr/>
          <p:nvPr/>
        </p:nvCxnSpPr>
        <p:spPr>
          <a:xfrm>
            <a:off x="7048500" y="3200400"/>
            <a:ext cx="728797" cy="56852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915190" y="5257800"/>
            <a:ext cx="41692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traversing each point </a:t>
            </a:r>
            <a:r>
              <a:rPr lang="en-US" sz="2000" u="sng" dirty="0"/>
              <a:t>exclusively once</a:t>
            </a:r>
            <a:r>
              <a:rPr lang="en-US" sz="2000" dirty="0"/>
              <a:t>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38401" y="5257800"/>
            <a:ext cx="838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3352799" y="5257800"/>
            <a:ext cx="957397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4300403" y="5257800"/>
            <a:ext cx="957397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ibbon: Tilted Down 37">
                <a:extLst>
                  <a:ext uri="{FF2B5EF4-FFF2-40B4-BE49-F238E27FC236}">
                    <a16:creationId xmlns:a16="http://schemas.microsoft.com/office/drawing/2014/main" id="{19986C31-9BD5-DDE0-A458-FEA55A2F425A}"/>
                  </a:ext>
                </a:extLst>
              </p:cNvPr>
              <p:cNvSpPr/>
              <p:nvPr/>
            </p:nvSpPr>
            <p:spPr>
              <a:xfrm>
                <a:off x="2343149" y="6019800"/>
                <a:ext cx="5281748" cy="764977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When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b="1" dirty="0">
                    <a:solidFill>
                      <a:schemeClr val="tx1"/>
                    </a:solidFill>
                  </a:rPr>
                  <a:t>coincide</a:t>
                </a:r>
                <a:r>
                  <a:rPr lang="en-US" dirty="0">
                    <a:solidFill>
                      <a:schemeClr val="tx1"/>
                    </a:solidFill>
                  </a:rPr>
                  <a:t>, this becomes our the </a:t>
                </a:r>
                <a:r>
                  <a:rPr lang="en-US" dirty="0" err="1">
                    <a:solidFill>
                      <a:schemeClr val="tx1"/>
                    </a:solidFill>
                  </a:rPr>
                  <a:t>bitonic</a:t>
                </a:r>
                <a:r>
                  <a:rPr lang="en-US" dirty="0">
                    <a:solidFill>
                      <a:schemeClr val="tx1"/>
                    </a:solidFill>
                  </a:rPr>
                  <a:t> tour problem.</a:t>
                </a:r>
                <a:endParaRPr lang="en-IN" dirty="0"/>
              </a:p>
            </p:txBody>
          </p:sp>
        </mc:Choice>
        <mc:Fallback xmlns="">
          <p:sp>
            <p:nvSpPr>
              <p:cNvPr id="38" name="Ribbon: Tilted Down 37">
                <a:extLst>
                  <a:ext uri="{FF2B5EF4-FFF2-40B4-BE49-F238E27FC236}">
                    <a16:creationId xmlns:a16="http://schemas.microsoft.com/office/drawing/2014/main" id="{19986C31-9BD5-DDE0-A458-FEA55A2F42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3149" y="6019800"/>
                <a:ext cx="5281748" cy="764977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>
                <a:blip r:embed="rId15"/>
                <a:stretch>
                  <a:fillRect b="-108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0413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2" grpId="0"/>
      <p:bldP spid="58" grpId="0" animBg="1"/>
      <p:bldP spid="59" grpId="0" animBg="1"/>
      <p:bldP spid="60" grpId="0" animBg="1"/>
      <p:bldP spid="3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244DE-DC9D-CE4A-A567-40F2BF77D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6C31"/>
                </a:solidFill>
              </a:rPr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8DAFD-02AE-0349-871F-63173E9A9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Make sincere attempts to design a recursive formulation of the generalized problem.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We shall discuss it in the next class.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C33D6-09C0-F84F-9B7E-0922070BC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7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1828800"/>
            <a:ext cx="7772400" cy="1362075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rgbClr val="7030A0"/>
                </a:solidFill>
              </a:rPr>
              <a:t>Shortest </a:t>
            </a:r>
            <a:r>
              <a:rPr lang="en-US" sz="3200" dirty="0" err="1">
                <a:solidFill>
                  <a:srgbClr val="7030A0"/>
                </a:solidFill>
              </a:rPr>
              <a:t>pathS</a:t>
            </a:r>
            <a:r>
              <a:rPr lang="en-US" sz="3200" dirty="0">
                <a:solidFill>
                  <a:srgbClr val="7030A0"/>
                </a:solidFill>
              </a:rPr>
              <a:t> in a graph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In presence of </a:t>
            </a:r>
            <a:r>
              <a:rPr lang="en-US" sz="2800" b="1" dirty="0">
                <a:solidFill>
                  <a:srgbClr val="C00000"/>
                </a:solidFill>
              </a:rPr>
              <a:t>negative </a:t>
            </a:r>
            <a:r>
              <a:rPr lang="en-US" sz="2800" b="1" dirty="0">
                <a:solidFill>
                  <a:schemeClr val="tx1"/>
                </a:solidFill>
              </a:rPr>
              <a:t>edge weights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81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2060"/>
                </a:solidFill>
              </a:rPr>
              <a:t>Problem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686800" cy="5257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Input</a:t>
                </a:r>
                <a:r>
                  <a:rPr lang="en-US" sz="2000" dirty="0"/>
                  <a:t>: A directed graph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=(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with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: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→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𝑹</m:t>
                    </m:r>
                  </m:oMath>
                </a14:m>
                <a:r>
                  <a:rPr lang="en-US" sz="2000" dirty="0"/>
                  <a:t> and a source vertex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Notations</a:t>
                </a:r>
                <a:r>
                  <a:rPr lang="en-US" sz="2000" dirty="0"/>
                  <a:t>: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>
                        <a:latin typeface="Cambria Math"/>
                      </a:rPr>
                      <m:t>=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|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|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i="1" dirty="0">
                    <a:solidFill>
                      <a:srgbClr val="0070C0"/>
                    </a:solidFill>
                    <a:latin typeface="Cambria Math"/>
                  </a:rPr>
                  <a:t>    </a:t>
                </a:r>
                <a:r>
                  <a:rPr lang="en-US" sz="2000" i="1" dirty="0">
                    <a:latin typeface="Cambria Math"/>
                  </a:rPr>
                  <a:t> ,    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  <m:r>
                      <a:rPr lang="en-US" sz="2000" b="1" i="1" dirty="0">
                        <a:latin typeface="Cambria Math"/>
                      </a:rPr>
                      <m:t>=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|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|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: distance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to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: The shortest path from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to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Aim</a:t>
                </a:r>
                <a:r>
                  <a:rPr lang="en-US" sz="2000" dirty="0"/>
                  <a:t>: </a:t>
                </a:r>
                <a:endParaRPr lang="en-US" sz="2000" b="1" i="1" dirty="0">
                  <a:solidFill>
                    <a:srgbClr val="0070C0"/>
                  </a:solidFill>
                  <a:latin typeface="Cambria Math"/>
                </a:endParaRPr>
              </a:p>
              <a:p>
                <a:r>
                  <a:rPr lang="en-US" sz="2000" dirty="0"/>
                  <a:t>	Compute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for all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i="1" dirty="0"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\</m:t>
                    </m:r>
                    <m:r>
                      <m:rPr>
                        <m:lit/>
                      </m:rP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{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}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	Compute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for all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i="1" dirty="0"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>
                        <a:latin typeface="Cambria Math"/>
                      </a:rPr>
                      <m:t>\</m:t>
                    </m:r>
                    <m:r>
                      <m:rPr>
                        <m:lit/>
                      </m:rPr>
                      <a:rPr lang="en-US" sz="2000" b="1" i="1" dirty="0">
                        <a:latin typeface="Cambria Math"/>
                      </a:rPr>
                      <m:t>{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}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Lecture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11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r>
                      <a:rPr lang="en-US" sz="2000" b="1" i="1" dirty="0">
                        <a:latin typeface="Cambria Math"/>
                      </a:rPr>
                      <m:t>: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  <m:r>
                      <a:rPr lang="en-US" sz="2000" b="1" i="1" dirty="0">
                        <a:latin typeface="Cambria Math"/>
                      </a:rPr>
                      <m:t>→</m:t>
                    </m:r>
                    <m:sSup>
                      <m:sSup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𝑹</m:t>
                        </m:r>
                      </m:e>
                      <m:sup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000" dirty="0"/>
                  <a:t>, </a:t>
                </a:r>
                <a:r>
                  <a:rPr lang="en-US" sz="2000" dirty="0" err="1"/>
                  <a:t>Dijkstra’s</a:t>
                </a:r>
                <a:r>
                  <a:rPr lang="en-US" sz="2000" dirty="0"/>
                  <a:t> algorithm solves the problem in  </a:t>
                </a:r>
                <a:r>
                  <a:rPr lang="en-US" sz="2000" b="1" dirty="0"/>
                  <a:t>O</a:t>
                </a:r>
                <a:r>
                  <a:rPr lang="en-US" sz="2000" dirty="0"/>
                  <a:t>((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</m:oMath>
                </a14:m>
                <a:r>
                  <a:rPr lang="en-US" sz="2000" dirty="0"/>
                  <a:t> +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000" dirty="0"/>
                  <a:t>)</a:t>
                </a:r>
                <a:r>
                  <a:rPr lang="en-US" sz="2000" b="1" dirty="0"/>
                  <a:t>log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time.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How crucial is the non-negative weights for </a:t>
                </a:r>
                <a:r>
                  <a:rPr lang="en-US" sz="2000" dirty="0" err="1"/>
                  <a:t>Dijkstra’s</a:t>
                </a:r>
                <a:r>
                  <a:rPr lang="en-US" sz="2000" dirty="0"/>
                  <a:t> algorithm ?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686800" cy="5257800"/>
              </a:xfrm>
              <a:blipFill>
                <a:blip r:embed="rId2"/>
                <a:stretch>
                  <a:fillRect l="-702" t="-5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ADFB8A-8809-3FC1-D672-7A68F126A5A7}"/>
              </a:ext>
            </a:extLst>
          </p:cNvPr>
          <p:cNvSpPr/>
          <p:nvPr/>
        </p:nvSpPr>
        <p:spPr>
          <a:xfrm>
            <a:off x="5791200" y="1235075"/>
            <a:ext cx="3352800" cy="3651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1FD590-28F9-15BB-4626-1854DA9DED22}"/>
              </a:ext>
            </a:extLst>
          </p:cNvPr>
          <p:cNvSpPr/>
          <p:nvPr/>
        </p:nvSpPr>
        <p:spPr>
          <a:xfrm>
            <a:off x="4114800" y="1143794"/>
            <a:ext cx="3352800" cy="3651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88646D-1AD1-7CA1-8C75-196060E2B2AA}"/>
              </a:ext>
            </a:extLst>
          </p:cNvPr>
          <p:cNvSpPr/>
          <p:nvPr/>
        </p:nvSpPr>
        <p:spPr>
          <a:xfrm>
            <a:off x="1600200" y="2743200"/>
            <a:ext cx="3352800" cy="3651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F22036-D30C-3CA0-97FF-2DE4DCF8641A}"/>
              </a:ext>
            </a:extLst>
          </p:cNvPr>
          <p:cNvSpPr/>
          <p:nvPr/>
        </p:nvSpPr>
        <p:spPr>
          <a:xfrm>
            <a:off x="1447800" y="3124200"/>
            <a:ext cx="3352800" cy="3651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778E92-2F2B-C7BC-913C-445851910535}"/>
              </a:ext>
            </a:extLst>
          </p:cNvPr>
          <p:cNvSpPr/>
          <p:nvPr/>
        </p:nvSpPr>
        <p:spPr>
          <a:xfrm>
            <a:off x="5791200" y="5959475"/>
            <a:ext cx="3352800" cy="3651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3ADCBB-3399-F547-5622-99DFD47FC4F2}"/>
              </a:ext>
            </a:extLst>
          </p:cNvPr>
          <p:cNvSpPr/>
          <p:nvPr/>
        </p:nvSpPr>
        <p:spPr>
          <a:xfrm>
            <a:off x="3048000" y="6015387"/>
            <a:ext cx="3352800" cy="3651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996630-BE64-02B8-6E09-E4226D792CE8}"/>
              </a:ext>
            </a:extLst>
          </p:cNvPr>
          <p:cNvSpPr/>
          <p:nvPr/>
        </p:nvSpPr>
        <p:spPr>
          <a:xfrm>
            <a:off x="1563030" y="5918899"/>
            <a:ext cx="3352800" cy="3651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83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2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75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75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2" grpId="0" animBg="1"/>
      <p:bldP spid="3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</a:rPr>
              <a:t>Revisiting </a:t>
            </a:r>
            <a:r>
              <a:rPr lang="en-US" sz="3200" b="1" dirty="0"/>
              <a:t>Lecture 11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305800" cy="4525963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sz="2000" dirty="0"/>
                  <a:t>We took </a:t>
                </a:r>
                <a14:m>
                  <m:oMath xmlns:m="http://schemas.openxmlformats.org/officeDocument/2006/math">
                    <m:r>
                      <a:rPr lang="en-US" sz="2000" b="1" i="1" u="sng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2000" u="sng" dirty="0"/>
                  <a:t> approaches</a:t>
                </a:r>
                <a:r>
                  <a:rPr lang="en-US" sz="2000" dirty="0"/>
                  <a:t> for solving the shortest paths problem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r>
                  <a:rPr lang="en-US" sz="2000" b="1" dirty="0">
                    <a:solidFill>
                      <a:srgbClr val="7030A0"/>
                    </a:solidFill>
                  </a:rPr>
                  <a:t>Approach  1</a:t>
                </a:r>
                <a:r>
                  <a:rPr lang="en-US" sz="2000" dirty="0"/>
                  <a:t>:  </a:t>
                </a:r>
              </a:p>
              <a:p>
                <a:pPr lvl="1"/>
                <a:r>
                  <a:rPr lang="en-US" sz="1600" dirty="0"/>
                  <a:t>Made a </a:t>
                </a:r>
                <a:r>
                  <a:rPr lang="en-US" sz="1600" b="1" dirty="0">
                    <a:solidFill>
                      <a:srgbClr val="006C31"/>
                    </a:solidFill>
                  </a:rPr>
                  <a:t>key observation</a:t>
                </a:r>
                <a:r>
                  <a:rPr lang="en-US" sz="1600" dirty="0">
                    <a:solidFill>
                      <a:srgbClr val="006C31"/>
                    </a:solidFill>
                  </a:rPr>
                  <a:t> </a:t>
                </a:r>
                <a:r>
                  <a:rPr lang="en-US" sz="1600" dirty="0"/>
                  <a:t>about  a vertex in the neighborhood  of 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endParaRPr lang="en-US" sz="1600" dirty="0"/>
              </a:p>
              <a:p>
                <a:pPr lvl="1"/>
                <a:r>
                  <a:rPr lang="en-US" sz="1600" dirty="0"/>
                  <a:t>Followed the </a:t>
                </a:r>
                <a:r>
                  <a:rPr lang="en-US" sz="1600" b="1" dirty="0"/>
                  <a:t>generic greedy approach</a:t>
                </a:r>
                <a:r>
                  <a:rPr lang="en-US" sz="1600" dirty="0"/>
                  <a:t>.  </a:t>
                </a:r>
              </a:p>
              <a:p>
                <a:pPr marL="457200" lvl="1" indent="0">
                  <a:buNone/>
                </a:pPr>
                <a:endParaRPr lang="en-US" sz="2000" dirty="0"/>
              </a:p>
              <a:p>
                <a:r>
                  <a:rPr lang="en-US" sz="2000" b="1" dirty="0">
                    <a:solidFill>
                      <a:srgbClr val="7030A0"/>
                    </a:solidFill>
                  </a:rPr>
                  <a:t>Approach  2</a:t>
                </a:r>
                <a:r>
                  <a:rPr lang="en-US" sz="2000" dirty="0"/>
                  <a:t>:</a:t>
                </a:r>
              </a:p>
              <a:p>
                <a:pPr lvl="1"/>
                <a:r>
                  <a:rPr lang="en-US" sz="1600" dirty="0"/>
                  <a:t>Explored</a:t>
                </a:r>
                <a:r>
                  <a:rPr lang="en-US" sz="1600" b="1" dirty="0"/>
                  <a:t> the structure </a:t>
                </a:r>
                <a:r>
                  <a:rPr lang="en-US" sz="1600" dirty="0"/>
                  <a:t>of a shortest path</a:t>
                </a:r>
              </a:p>
              <a:p>
                <a:pPr lvl="1"/>
                <a:r>
                  <a:rPr lang="en-US" sz="1600" dirty="0"/>
                  <a:t>Derived some crucial </a:t>
                </a:r>
                <a:r>
                  <a:rPr lang="en-US" sz="1600" b="1" dirty="0"/>
                  <a:t>properties </a:t>
                </a:r>
                <a:r>
                  <a:rPr lang="en-US" sz="1600" dirty="0"/>
                  <a:t>of a shortest path</a:t>
                </a:r>
              </a:p>
              <a:p>
                <a:pPr lvl="1"/>
                <a:r>
                  <a:rPr lang="en-US" sz="1600" dirty="0"/>
                  <a:t>Used these properties to design </a:t>
                </a:r>
                <a:r>
                  <a:rPr lang="en-US" sz="1600" b="1" dirty="0" err="1"/>
                  <a:t>Dijkstra’s</a:t>
                </a:r>
                <a:r>
                  <a:rPr lang="en-US" sz="1600" b="1" dirty="0"/>
                  <a:t> algorithm                      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305800" cy="4525963"/>
              </a:xfrm>
              <a:blipFill>
                <a:blip r:embed="rId2"/>
                <a:stretch>
                  <a:fillRect l="-660" t="-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7786" y="5679764"/>
            <a:ext cx="8873814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Let us explore how crucial was the role of “</a:t>
            </a:r>
            <a:r>
              <a:rPr lang="en-US" b="1" dirty="0"/>
              <a:t>non-negative edge weights</a:t>
            </a:r>
            <a:r>
              <a:rPr lang="en-US" dirty="0"/>
              <a:t>” in these approaches.</a:t>
            </a:r>
          </a:p>
        </p:txBody>
      </p:sp>
    </p:spTree>
    <p:extLst>
      <p:ext uri="{BB962C8B-B14F-4D97-AF65-F5344CB8AC3E}">
        <p14:creationId xmlns:p14="http://schemas.microsoft.com/office/powerpoint/2010/main" val="12833264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2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7244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Can we be certain about the distance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/>
                  <a:t> to any vertex in this picture 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</a:t>
                </a:r>
                <a:r>
                  <a:rPr lang="en-US" sz="2000" dirty="0"/>
                  <a:t>: NO.</a:t>
                </a:r>
                <a:r>
                  <a:rPr lang="en-US" sz="2000" dirty="0">
                    <a:sym typeface="Wingdings" panose="05000000000000000000" pitchFamily="2" charset="2"/>
                  </a:rPr>
                  <a:t>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724400"/>
              </a:xfrm>
              <a:blipFill rotWithShape="1">
                <a:blip r:embed="rId2"/>
                <a:stretch>
                  <a:fillRect l="-1852" t="-1677" b="-1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5" name="Cloud 4"/>
          <p:cNvSpPr/>
          <p:nvPr/>
        </p:nvSpPr>
        <p:spPr>
          <a:xfrm>
            <a:off x="1066800" y="1447800"/>
            <a:ext cx="7620000" cy="3657600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4" name="Group 93"/>
          <p:cNvGrpSpPr/>
          <p:nvPr/>
        </p:nvGrpSpPr>
        <p:grpSpPr>
          <a:xfrm>
            <a:off x="4267200" y="2416082"/>
            <a:ext cx="1447800" cy="1470118"/>
            <a:chOff x="4267200" y="2416082"/>
            <a:chExt cx="1447800" cy="1470118"/>
          </a:xfrm>
        </p:grpSpPr>
        <p:cxnSp>
          <p:nvCxnSpPr>
            <p:cNvPr id="12" name="Straight Arrow Connector 11"/>
            <p:cNvCxnSpPr>
              <a:stCxn id="6" idx="2"/>
            </p:cNvCxnSpPr>
            <p:nvPr/>
          </p:nvCxnSpPr>
          <p:spPr>
            <a:xfrm flipH="1" flipV="1">
              <a:off x="4267200" y="2971801"/>
              <a:ext cx="685800" cy="15239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6" idx="4"/>
            </p:cNvCxnSpPr>
            <p:nvPr/>
          </p:nvCxnSpPr>
          <p:spPr>
            <a:xfrm flipH="1">
              <a:off x="4800600" y="3200400"/>
              <a:ext cx="228600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6" idx="5"/>
            </p:cNvCxnSpPr>
            <p:nvPr/>
          </p:nvCxnSpPr>
          <p:spPr>
            <a:xfrm>
              <a:off x="5083082" y="3178082"/>
              <a:ext cx="631918" cy="1747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endCxn id="7" idx="3"/>
            </p:cNvCxnSpPr>
            <p:nvPr/>
          </p:nvCxnSpPr>
          <p:spPr>
            <a:xfrm flipV="1">
              <a:off x="5105400" y="2568482"/>
              <a:ext cx="403318" cy="5334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6" idx="0"/>
              <a:endCxn id="11" idx="5"/>
            </p:cNvCxnSpPr>
            <p:nvPr/>
          </p:nvCxnSpPr>
          <p:spPr>
            <a:xfrm flipH="1" flipV="1">
              <a:off x="4702082" y="2416082"/>
              <a:ext cx="327118" cy="6319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/>
          <p:cNvGrpSpPr/>
          <p:nvPr/>
        </p:nvGrpSpPr>
        <p:grpSpPr>
          <a:xfrm>
            <a:off x="4676219" y="3048000"/>
            <a:ext cx="429181" cy="369332"/>
            <a:chOff x="4676219" y="3048000"/>
            <a:chExt cx="429181" cy="369332"/>
          </a:xfrm>
        </p:grpSpPr>
        <p:sp>
          <p:nvSpPr>
            <p:cNvPr id="6" name="Oval 5"/>
            <p:cNvSpPr/>
            <p:nvPr/>
          </p:nvSpPr>
          <p:spPr>
            <a:xfrm>
              <a:off x="4953000" y="30480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4676219" y="3048000"/>
                  <a:ext cx="3529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6219" y="3048000"/>
                  <a:ext cx="352981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413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5" name="Group 94"/>
          <p:cNvGrpSpPr/>
          <p:nvPr/>
        </p:nvGrpSpPr>
        <p:grpSpPr>
          <a:xfrm>
            <a:off x="4005693" y="1992868"/>
            <a:ext cx="2019751" cy="2263446"/>
            <a:chOff x="4005693" y="1992868"/>
            <a:chExt cx="2019751" cy="2263446"/>
          </a:xfrm>
        </p:grpSpPr>
        <p:sp>
          <p:nvSpPr>
            <p:cNvPr id="7" name="Oval 6"/>
            <p:cNvSpPr/>
            <p:nvPr/>
          </p:nvSpPr>
          <p:spPr>
            <a:xfrm>
              <a:off x="5486400" y="24384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715000" y="33528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4724400" y="3886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4114800" y="28956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4572000" y="22860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5638800" y="34406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8800" y="3440668"/>
                  <a:ext cx="38664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4005693" y="2971800"/>
                  <a:ext cx="3706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5693" y="2971800"/>
                  <a:ext cx="370614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2295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4488507" y="3886982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8507" y="3886982"/>
                  <a:ext cx="375423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20968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4368213" y="1992868"/>
                  <a:ext cx="3561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213" y="1992868"/>
                  <a:ext cx="356187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2241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5410200" y="25262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0200" y="2526268"/>
                  <a:ext cx="375424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213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7" name="Group 96"/>
          <p:cNvGrpSpPr/>
          <p:nvPr/>
        </p:nvGrpSpPr>
        <p:grpSpPr>
          <a:xfrm>
            <a:off x="4572000" y="2514600"/>
            <a:ext cx="1079508" cy="1219200"/>
            <a:chOff x="4572000" y="2514600"/>
            <a:chExt cx="1079508" cy="12192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/>
                <p:cNvSpPr txBox="1"/>
                <p:nvPr/>
              </p:nvSpPr>
              <p:spPr>
                <a:xfrm>
                  <a:off x="5184714" y="3273623"/>
                  <a:ext cx="46679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𝟑</m:t>
                        </m:r>
                      </m:oMath>
                    </m:oMathPara>
                  </a14:m>
                  <a:endParaRPr lang="en-US" sz="14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TextBox 8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4714" y="3273623"/>
                  <a:ext cx="466794" cy="307777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1961" r="-9211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/>
                <p:cNvSpPr txBox="1"/>
                <p:nvPr/>
              </p:nvSpPr>
              <p:spPr>
                <a:xfrm>
                  <a:off x="4676962" y="3426023"/>
                  <a:ext cx="33214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𝟓</m:t>
                        </m:r>
                      </m:oMath>
                    </m:oMathPara>
                  </a14:m>
                  <a:endParaRPr lang="en-US" sz="14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TextBox 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6962" y="3426023"/>
                  <a:ext cx="332142" cy="307777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1961" r="-12727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/>
                <p:cNvSpPr txBox="1"/>
                <p:nvPr/>
              </p:nvSpPr>
              <p:spPr>
                <a:xfrm>
                  <a:off x="4572000" y="2816423"/>
                  <a:ext cx="43954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𝟏𝟐</m:t>
                        </m:r>
                      </m:oMath>
                    </m:oMathPara>
                  </a14:m>
                  <a:endParaRPr lang="en-US" sz="14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87" name="TextBox 8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0" y="2816423"/>
                  <a:ext cx="439544" cy="307777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t="-1961" r="-9722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/>
                <p:cNvSpPr txBox="1"/>
                <p:nvPr/>
              </p:nvSpPr>
              <p:spPr>
                <a:xfrm>
                  <a:off x="4814192" y="2514600"/>
                  <a:ext cx="43954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𝟏𝟎</m:t>
                        </m:r>
                      </m:oMath>
                    </m:oMathPara>
                  </a14:m>
                  <a:endParaRPr lang="en-US" sz="14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TextBox 8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4192" y="2514600"/>
                  <a:ext cx="439544" cy="307777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2000" r="-9722" b="-1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/>
                <p:cNvSpPr txBox="1"/>
                <p:nvPr/>
              </p:nvSpPr>
              <p:spPr>
                <a:xfrm>
                  <a:off x="5195192" y="2816423"/>
                  <a:ext cx="33214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𝟕</m:t>
                        </m:r>
                      </m:oMath>
                    </m:oMathPara>
                  </a14:m>
                  <a:endParaRPr lang="en-US" sz="14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89" name="TextBox 8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5192" y="2816423"/>
                  <a:ext cx="332142" cy="307777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t="-1961" r="-12727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0" name="TextBox 89"/>
          <p:cNvSpPr txBox="1"/>
          <p:nvPr/>
        </p:nvSpPr>
        <p:spPr>
          <a:xfrm>
            <a:off x="610368" y="2895600"/>
            <a:ext cx="380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70C0"/>
                </a:solidFill>
              </a:rPr>
              <a:t>G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3733800" y="1992868"/>
            <a:ext cx="2438400" cy="2350532"/>
            <a:chOff x="3733800" y="1992868"/>
            <a:chExt cx="2438400" cy="2350532"/>
          </a:xfrm>
        </p:grpSpPr>
        <p:grpSp>
          <p:nvGrpSpPr>
            <p:cNvPr id="96" name="Group 95"/>
            <p:cNvGrpSpPr/>
            <p:nvPr/>
          </p:nvGrpSpPr>
          <p:grpSpPr>
            <a:xfrm>
              <a:off x="3733800" y="1992868"/>
              <a:ext cx="2438400" cy="2350532"/>
              <a:chOff x="3733800" y="1992868"/>
              <a:chExt cx="2438400" cy="2350532"/>
            </a:xfrm>
          </p:grpSpPr>
          <p:cxnSp>
            <p:nvCxnSpPr>
              <p:cNvPr id="37" name="Straight Connector 36"/>
              <p:cNvCxnSpPr>
                <a:endCxn id="7" idx="7"/>
              </p:cNvCxnSpPr>
              <p:nvPr/>
            </p:nvCxnSpPr>
            <p:spPr>
              <a:xfrm flipH="1">
                <a:off x="5616482" y="2416082"/>
                <a:ext cx="408962" cy="44636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 flipH="1">
                <a:off x="5616482" y="2111282"/>
                <a:ext cx="98518" cy="327118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 flipH="1" flipV="1">
                <a:off x="5867400" y="3429000"/>
                <a:ext cx="304800" cy="196334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 flipH="1">
                <a:off x="5867400" y="3276600"/>
                <a:ext cx="304800" cy="130082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 flipV="1">
                <a:off x="4800600" y="4038600"/>
                <a:ext cx="0" cy="304800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>
              <a:xfrm flipH="1" flipV="1">
                <a:off x="4800600" y="4016282"/>
                <a:ext cx="282482" cy="240032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 flipV="1">
                <a:off x="3733800" y="2971800"/>
                <a:ext cx="386580" cy="76200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>
              <a:xfrm>
                <a:off x="3793262" y="2830832"/>
                <a:ext cx="327118" cy="140968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>
                <a:endCxn id="11" idx="2"/>
              </p:cNvCxnSpPr>
              <p:nvPr/>
            </p:nvCxnSpPr>
            <p:spPr>
              <a:xfrm>
                <a:off x="4267200" y="2177534"/>
                <a:ext cx="304800" cy="184666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 flipH="1">
                <a:off x="4676218" y="1992868"/>
                <a:ext cx="124384" cy="369332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4" name="Straight Connector 43"/>
            <p:cNvCxnSpPr/>
            <p:nvPr/>
          </p:nvCxnSpPr>
          <p:spPr>
            <a:xfrm flipV="1">
              <a:off x="5562600" y="3494042"/>
              <a:ext cx="152400" cy="131292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Approach  1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Line Callout 2 1"/>
              <p:cNvSpPr/>
              <p:nvPr/>
            </p:nvSpPr>
            <p:spPr>
              <a:xfrm>
                <a:off x="7696200" y="914400"/>
                <a:ext cx="1447800" cy="612648"/>
              </a:xfrm>
              <a:prstGeom prst="borderCallout2">
                <a:avLst>
                  <a:gd name="adj1" fmla="val 50833"/>
                  <a:gd name="adj2" fmla="val -660"/>
                  <a:gd name="adj3" fmla="val 50832"/>
                  <a:gd name="adj4" fmla="val -21389"/>
                  <a:gd name="adj5" fmla="val 387294"/>
                  <a:gd name="adj6" fmla="val -126352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What about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?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Line Callout 2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6200" y="914400"/>
                <a:ext cx="1447800" cy="612648"/>
              </a:xfrm>
              <a:prstGeom prst="borderCallout2">
                <a:avLst>
                  <a:gd name="adj1" fmla="val 50833"/>
                  <a:gd name="adj2" fmla="val -660"/>
                  <a:gd name="adj3" fmla="val 50832"/>
                  <a:gd name="adj4" fmla="val -21389"/>
                  <a:gd name="adj5" fmla="val 387294"/>
                  <a:gd name="adj6" fmla="val -126352"/>
                </a:avLst>
              </a:prstGeom>
              <a:blipFill rotWithShape="1">
                <a:blip r:embed="rId14"/>
                <a:stretch>
                  <a:fillRect t="-1266" r="-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/>
          <p:cNvSpPr/>
          <p:nvPr/>
        </p:nvSpPr>
        <p:spPr>
          <a:xfrm>
            <a:off x="5665741" y="3276600"/>
            <a:ext cx="228600" cy="28308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4427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90" grpId="0"/>
      <p:bldP spid="14" grpId="0"/>
      <p:bldP spid="2" grpId="0" animBg="1"/>
      <p:bldP spid="1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sp>
        <p:nvSpPr>
          <p:cNvPr id="5" name="Cloud 4"/>
          <p:cNvSpPr/>
          <p:nvPr/>
        </p:nvSpPr>
        <p:spPr>
          <a:xfrm>
            <a:off x="1066800" y="1447800"/>
            <a:ext cx="7620000" cy="3657600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4" name="Group 93"/>
          <p:cNvGrpSpPr/>
          <p:nvPr/>
        </p:nvGrpSpPr>
        <p:grpSpPr>
          <a:xfrm>
            <a:off x="4267200" y="2416082"/>
            <a:ext cx="1447800" cy="1470118"/>
            <a:chOff x="4267200" y="2416082"/>
            <a:chExt cx="1447800" cy="1470118"/>
          </a:xfrm>
        </p:grpSpPr>
        <p:cxnSp>
          <p:nvCxnSpPr>
            <p:cNvPr id="12" name="Straight Arrow Connector 11"/>
            <p:cNvCxnSpPr>
              <a:stCxn id="6" idx="2"/>
            </p:cNvCxnSpPr>
            <p:nvPr/>
          </p:nvCxnSpPr>
          <p:spPr>
            <a:xfrm flipH="1" flipV="1">
              <a:off x="4267200" y="2971801"/>
              <a:ext cx="685800" cy="15239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6" idx="4"/>
            </p:cNvCxnSpPr>
            <p:nvPr/>
          </p:nvCxnSpPr>
          <p:spPr>
            <a:xfrm flipH="1">
              <a:off x="4800600" y="3200400"/>
              <a:ext cx="228600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6" idx="5"/>
            </p:cNvCxnSpPr>
            <p:nvPr/>
          </p:nvCxnSpPr>
          <p:spPr>
            <a:xfrm>
              <a:off x="5083082" y="3178082"/>
              <a:ext cx="631918" cy="1747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endCxn id="7" idx="3"/>
            </p:cNvCxnSpPr>
            <p:nvPr/>
          </p:nvCxnSpPr>
          <p:spPr>
            <a:xfrm flipV="1">
              <a:off x="5105400" y="2568482"/>
              <a:ext cx="403318" cy="5334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6" idx="0"/>
              <a:endCxn id="11" idx="5"/>
            </p:cNvCxnSpPr>
            <p:nvPr/>
          </p:nvCxnSpPr>
          <p:spPr>
            <a:xfrm flipH="1" flipV="1">
              <a:off x="4702082" y="2416082"/>
              <a:ext cx="327118" cy="6319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/>
          <p:cNvGrpSpPr/>
          <p:nvPr/>
        </p:nvGrpSpPr>
        <p:grpSpPr>
          <a:xfrm>
            <a:off x="4676219" y="3048000"/>
            <a:ext cx="429181" cy="369332"/>
            <a:chOff x="4676219" y="3048000"/>
            <a:chExt cx="429181" cy="369332"/>
          </a:xfrm>
        </p:grpSpPr>
        <p:sp>
          <p:nvSpPr>
            <p:cNvPr id="6" name="Oval 5"/>
            <p:cNvSpPr/>
            <p:nvPr/>
          </p:nvSpPr>
          <p:spPr>
            <a:xfrm>
              <a:off x="4953000" y="30480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4676219" y="3048000"/>
                  <a:ext cx="3529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6219" y="3048000"/>
                  <a:ext cx="352981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8197" r="-2413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5" name="Group 94"/>
          <p:cNvGrpSpPr/>
          <p:nvPr/>
        </p:nvGrpSpPr>
        <p:grpSpPr>
          <a:xfrm>
            <a:off x="4005693" y="1992868"/>
            <a:ext cx="2019751" cy="2263446"/>
            <a:chOff x="4005693" y="1992868"/>
            <a:chExt cx="2019751" cy="2263446"/>
          </a:xfrm>
        </p:grpSpPr>
        <p:sp>
          <p:nvSpPr>
            <p:cNvPr id="7" name="Oval 6"/>
            <p:cNvSpPr/>
            <p:nvPr/>
          </p:nvSpPr>
          <p:spPr>
            <a:xfrm>
              <a:off x="5486400" y="24384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715000" y="33528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4724400" y="3886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4114800" y="28956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4572000" y="22860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5638800" y="34406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8800" y="3440668"/>
                  <a:ext cx="386644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4005693" y="2971800"/>
                  <a:ext cx="3706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5693" y="2971800"/>
                  <a:ext cx="37061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333" r="-2295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4488507" y="3886982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8507" y="3886982"/>
                  <a:ext cx="375423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20968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4368213" y="1992868"/>
                  <a:ext cx="3561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213" y="1992868"/>
                  <a:ext cx="356187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2241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5410200" y="25262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0200" y="2526268"/>
                  <a:ext cx="375424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213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6" name="Group 95"/>
          <p:cNvGrpSpPr/>
          <p:nvPr/>
        </p:nvGrpSpPr>
        <p:grpSpPr>
          <a:xfrm>
            <a:off x="3733800" y="1992868"/>
            <a:ext cx="2438400" cy="2350532"/>
            <a:chOff x="3733800" y="1992868"/>
            <a:chExt cx="2438400" cy="2350532"/>
          </a:xfrm>
        </p:grpSpPr>
        <p:cxnSp>
          <p:nvCxnSpPr>
            <p:cNvPr id="37" name="Straight Connector 36"/>
            <p:cNvCxnSpPr>
              <a:endCxn id="7" idx="7"/>
            </p:cNvCxnSpPr>
            <p:nvPr/>
          </p:nvCxnSpPr>
          <p:spPr>
            <a:xfrm flipH="1">
              <a:off x="5616482" y="2416082"/>
              <a:ext cx="408962" cy="44636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H="1">
              <a:off x="5616482" y="2111282"/>
              <a:ext cx="98518" cy="327118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H="1" flipV="1">
              <a:off x="5867400" y="3429000"/>
              <a:ext cx="304800" cy="196334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5867400" y="3276600"/>
              <a:ext cx="304800" cy="130082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V="1">
              <a:off x="4800600" y="4038600"/>
              <a:ext cx="0" cy="304800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flipH="1" flipV="1">
              <a:off x="4800600" y="4016282"/>
              <a:ext cx="282482" cy="240032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V="1">
              <a:off x="3733800" y="2971800"/>
              <a:ext cx="386580" cy="76200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3793262" y="2830832"/>
              <a:ext cx="327118" cy="140968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>
              <a:endCxn id="11" idx="2"/>
            </p:cNvCxnSpPr>
            <p:nvPr/>
          </p:nvCxnSpPr>
          <p:spPr>
            <a:xfrm>
              <a:off x="4267200" y="2177534"/>
              <a:ext cx="304800" cy="184666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flipH="1">
              <a:off x="4676218" y="1992868"/>
              <a:ext cx="124384" cy="369332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TextBox 89"/>
          <p:cNvSpPr txBox="1"/>
          <p:nvPr/>
        </p:nvSpPr>
        <p:spPr>
          <a:xfrm>
            <a:off x="610368" y="2895600"/>
            <a:ext cx="380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70C0"/>
                </a:solidFill>
              </a:rPr>
              <a:t>G</a:t>
            </a:r>
          </a:p>
        </p:txBody>
      </p:sp>
      <p:sp>
        <p:nvSpPr>
          <p:cNvPr id="16" name="Freeform 15"/>
          <p:cNvSpPr/>
          <p:nvPr/>
        </p:nvSpPr>
        <p:spPr>
          <a:xfrm>
            <a:off x="2918982" y="2950029"/>
            <a:ext cx="2099332" cy="1654628"/>
          </a:xfrm>
          <a:custGeom>
            <a:avLst/>
            <a:gdLst>
              <a:gd name="connsiteX0" fmla="*/ 1261132 w 2099332"/>
              <a:gd name="connsiteY0" fmla="*/ 0 h 1654628"/>
              <a:gd name="connsiteX1" fmla="*/ 716847 w 2099332"/>
              <a:gd name="connsiteY1" fmla="*/ 119742 h 1654628"/>
              <a:gd name="connsiteX2" fmla="*/ 390275 w 2099332"/>
              <a:gd name="connsiteY2" fmla="*/ 206828 h 1654628"/>
              <a:gd name="connsiteX3" fmla="*/ 74589 w 2099332"/>
              <a:gd name="connsiteY3" fmla="*/ 435428 h 1654628"/>
              <a:gd name="connsiteX4" fmla="*/ 31047 w 2099332"/>
              <a:gd name="connsiteY4" fmla="*/ 751114 h 1654628"/>
              <a:gd name="connsiteX5" fmla="*/ 466475 w 2099332"/>
              <a:gd name="connsiteY5" fmla="*/ 1317171 h 1654628"/>
              <a:gd name="connsiteX6" fmla="*/ 1631247 w 2099332"/>
              <a:gd name="connsiteY6" fmla="*/ 1415142 h 1654628"/>
              <a:gd name="connsiteX7" fmla="*/ 2099332 w 2099332"/>
              <a:gd name="connsiteY7" fmla="*/ 1654628 h 1654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9332" h="1654628">
                <a:moveTo>
                  <a:pt x="1261132" y="0"/>
                </a:moveTo>
                <a:lnTo>
                  <a:pt x="716847" y="119742"/>
                </a:lnTo>
                <a:cubicBezTo>
                  <a:pt x="571704" y="154213"/>
                  <a:pt x="497318" y="154214"/>
                  <a:pt x="390275" y="206828"/>
                </a:cubicBezTo>
                <a:cubicBezTo>
                  <a:pt x="283232" y="259442"/>
                  <a:pt x="134460" y="344714"/>
                  <a:pt x="74589" y="435428"/>
                </a:cubicBezTo>
                <a:cubicBezTo>
                  <a:pt x="14718" y="526142"/>
                  <a:pt x="-34267" y="604157"/>
                  <a:pt x="31047" y="751114"/>
                </a:cubicBezTo>
                <a:cubicBezTo>
                  <a:pt x="96361" y="898071"/>
                  <a:pt x="199775" y="1206500"/>
                  <a:pt x="466475" y="1317171"/>
                </a:cubicBezTo>
                <a:cubicBezTo>
                  <a:pt x="733175" y="1427842"/>
                  <a:pt x="1359104" y="1358899"/>
                  <a:pt x="1631247" y="1415142"/>
                </a:cubicBezTo>
                <a:cubicBezTo>
                  <a:pt x="1903390" y="1471385"/>
                  <a:pt x="2001361" y="1563006"/>
                  <a:pt x="2099332" y="1654628"/>
                </a:cubicBezTo>
              </a:path>
            </a:pathLst>
          </a:custGeom>
          <a:ln w="28575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>
          <a:xfrm>
            <a:off x="5018314" y="3461657"/>
            <a:ext cx="1045398" cy="1433462"/>
          </a:xfrm>
          <a:custGeom>
            <a:avLst/>
            <a:gdLst>
              <a:gd name="connsiteX0" fmla="*/ 0 w 1045398"/>
              <a:gd name="connsiteY0" fmla="*/ 1143000 h 1433462"/>
              <a:gd name="connsiteX1" fmla="*/ 130629 w 1045398"/>
              <a:gd name="connsiteY1" fmla="*/ 1262743 h 1433462"/>
              <a:gd name="connsiteX2" fmla="*/ 413657 w 1045398"/>
              <a:gd name="connsiteY2" fmla="*/ 1426029 h 1433462"/>
              <a:gd name="connsiteX3" fmla="*/ 762000 w 1045398"/>
              <a:gd name="connsiteY3" fmla="*/ 1349829 h 1433462"/>
              <a:gd name="connsiteX4" fmla="*/ 903515 w 1045398"/>
              <a:gd name="connsiteY4" fmla="*/ 870857 h 1433462"/>
              <a:gd name="connsiteX5" fmla="*/ 1045029 w 1045398"/>
              <a:gd name="connsiteY5" fmla="*/ 304800 h 1433462"/>
              <a:gd name="connsiteX6" fmla="*/ 859972 w 1045398"/>
              <a:gd name="connsiteY6" fmla="*/ 0 h 1433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5398" h="1433462">
                <a:moveTo>
                  <a:pt x="0" y="1143000"/>
                </a:moveTo>
                <a:cubicBezTo>
                  <a:pt x="30843" y="1179286"/>
                  <a:pt x="61686" y="1215572"/>
                  <a:pt x="130629" y="1262743"/>
                </a:cubicBezTo>
                <a:cubicBezTo>
                  <a:pt x="199572" y="1309914"/>
                  <a:pt x="308429" y="1411515"/>
                  <a:pt x="413657" y="1426029"/>
                </a:cubicBezTo>
                <a:cubicBezTo>
                  <a:pt x="518886" y="1440543"/>
                  <a:pt x="680357" y="1442358"/>
                  <a:pt x="762000" y="1349829"/>
                </a:cubicBezTo>
                <a:cubicBezTo>
                  <a:pt x="843643" y="1257300"/>
                  <a:pt x="856344" y="1045028"/>
                  <a:pt x="903515" y="870857"/>
                </a:cubicBezTo>
                <a:cubicBezTo>
                  <a:pt x="950686" y="696686"/>
                  <a:pt x="1052286" y="449943"/>
                  <a:pt x="1045029" y="304800"/>
                </a:cubicBezTo>
                <a:cubicBezTo>
                  <a:pt x="1037772" y="159657"/>
                  <a:pt x="948872" y="79828"/>
                  <a:pt x="859972" y="0"/>
                </a:cubicBezTo>
              </a:path>
            </a:pathLst>
          </a:custGeom>
          <a:ln w="28575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>
            <a:endCxn id="19" idx="6"/>
          </p:cNvCxnSpPr>
          <p:nvPr/>
        </p:nvCxnSpPr>
        <p:spPr>
          <a:xfrm flipH="1" flipV="1">
            <a:off x="5878286" y="3461657"/>
            <a:ext cx="147158" cy="118254"/>
          </a:xfrm>
          <a:prstGeom prst="straightConnector1">
            <a:avLst/>
          </a:prstGeom>
          <a:ln w="28575">
            <a:solidFill>
              <a:srgbClr val="006C3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730732" y="4038600"/>
                <a:ext cx="6864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𝟏𝟔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0732" y="4038600"/>
                <a:ext cx="686406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333" r="-1061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Connector 49"/>
          <p:cNvCxnSpPr/>
          <p:nvPr/>
        </p:nvCxnSpPr>
        <p:spPr>
          <a:xfrm flipV="1">
            <a:off x="5562600" y="3494042"/>
            <a:ext cx="152400" cy="13129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Approach  1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dirty="0"/>
          </a:p>
        </p:txBody>
      </p:sp>
      <p:grpSp>
        <p:nvGrpSpPr>
          <p:cNvPr id="51" name="Group 50"/>
          <p:cNvGrpSpPr/>
          <p:nvPr/>
        </p:nvGrpSpPr>
        <p:grpSpPr>
          <a:xfrm>
            <a:off x="4572000" y="2514600"/>
            <a:ext cx="1079508" cy="1219200"/>
            <a:chOff x="4572000" y="2514600"/>
            <a:chExt cx="1079508" cy="12192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5184714" y="3273623"/>
                  <a:ext cx="46679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𝟑</m:t>
                        </m:r>
                      </m:oMath>
                    </m:oMathPara>
                  </a14:m>
                  <a:endParaRPr lang="en-US" sz="14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4714" y="3273623"/>
                  <a:ext cx="466794" cy="307777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1961" r="-9211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4676962" y="3426023"/>
                  <a:ext cx="33214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𝟓</m:t>
                        </m:r>
                      </m:oMath>
                    </m:oMathPara>
                  </a14:m>
                  <a:endParaRPr lang="en-US" sz="14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6962" y="3426023"/>
                  <a:ext cx="332142" cy="307777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1961" r="-12727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/>
                <p:cNvSpPr txBox="1"/>
                <p:nvPr/>
              </p:nvSpPr>
              <p:spPr>
                <a:xfrm>
                  <a:off x="4572000" y="2816423"/>
                  <a:ext cx="43954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𝟏𝟐</m:t>
                        </m:r>
                      </m:oMath>
                    </m:oMathPara>
                  </a14:m>
                  <a:endParaRPr lang="en-US" sz="14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0" y="2816423"/>
                  <a:ext cx="439544" cy="307777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t="-1961" r="-9722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/>
                <p:cNvSpPr txBox="1"/>
                <p:nvPr/>
              </p:nvSpPr>
              <p:spPr>
                <a:xfrm>
                  <a:off x="4814192" y="2514600"/>
                  <a:ext cx="43954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𝟏𝟎</m:t>
                        </m:r>
                      </m:oMath>
                    </m:oMathPara>
                  </a14:m>
                  <a:endParaRPr lang="en-US" sz="14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4192" y="2514600"/>
                  <a:ext cx="439544" cy="307777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2000" r="-9722" b="-1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/>
                <p:cNvSpPr txBox="1"/>
                <p:nvPr/>
              </p:nvSpPr>
              <p:spPr>
                <a:xfrm>
                  <a:off x="5195192" y="2816423"/>
                  <a:ext cx="33214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𝟕</m:t>
                        </m:r>
                      </m:oMath>
                    </m:oMathPara>
                  </a14:m>
                  <a:endParaRPr lang="en-US" sz="14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TextBox 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5192" y="2816423"/>
                  <a:ext cx="332142" cy="307777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t="-1961" r="-12727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Down Ribbon 1">
            <a:extLst>
              <a:ext uri="{FF2B5EF4-FFF2-40B4-BE49-F238E27FC236}">
                <a16:creationId xmlns:a16="http://schemas.microsoft.com/office/drawing/2014/main" id="{471B0B23-93B6-1840-A939-3EF0DBDFA12B}"/>
              </a:ext>
            </a:extLst>
          </p:cNvPr>
          <p:cNvSpPr/>
          <p:nvPr/>
        </p:nvSpPr>
        <p:spPr>
          <a:xfrm>
            <a:off x="2775857" y="5262405"/>
            <a:ext cx="3668486" cy="9837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Approach 1 </a:t>
            </a:r>
            <a:r>
              <a:rPr lang="en-US" b="1" dirty="0">
                <a:solidFill>
                  <a:srgbClr val="C00000"/>
                </a:solidFill>
              </a:rPr>
              <a:t>fails </a:t>
            </a:r>
            <a:r>
              <a:rPr lang="en-US" dirty="0">
                <a:solidFill>
                  <a:schemeClr val="tx1"/>
                </a:solidFill>
                <a:sym typeface="Wingdings" pitchFamily="2" charset="2"/>
              </a:rPr>
              <a:t>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CA1E9D67-8D25-1706-3E4A-3CCB8D799ABC}"/>
              </a:ext>
            </a:extLst>
          </p:cNvPr>
          <p:cNvSpPr/>
          <p:nvPr/>
        </p:nvSpPr>
        <p:spPr>
          <a:xfrm rot="2676912">
            <a:off x="4058466" y="148044"/>
            <a:ext cx="914400" cy="914400"/>
          </a:xfrm>
          <a:prstGeom prst="plus">
            <a:avLst>
              <a:gd name="adj" fmla="val 43033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499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 animBg="1"/>
      <p:bldP spid="13" grpId="0"/>
      <p:bldP spid="2" grpId="0" animBg="1"/>
      <p:bldP spid="1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Property 1</a:t>
                </a:r>
                <a:r>
                  <a:rPr lang="en-US" sz="2000" dirty="0"/>
                  <a:t>: Any </a:t>
                </a:r>
                <a:r>
                  <a:rPr lang="en-US" sz="2000" dirty="0" err="1"/>
                  <a:t>subpath</a:t>
                </a:r>
                <a:r>
                  <a:rPr lang="en-US" sz="2000" dirty="0"/>
                  <a:t> of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is also a shortest path.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/>
                  <a:t>Proof</a:t>
                </a:r>
                <a:r>
                  <a:rPr lang="en-US" sz="2000" dirty="0"/>
                  <a:t>: If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𝑸</m:t>
                    </m:r>
                  </m:oMath>
                </a14:m>
                <a:r>
                  <a:rPr lang="en-US" sz="2000" dirty="0"/>
                  <a:t> is not shortest path to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,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replace it by a </a:t>
                </a:r>
                <a:r>
                  <a:rPr lang="en-US" sz="2000" u="sng" dirty="0"/>
                  <a:t>shorter</a:t>
                </a:r>
                <a:r>
                  <a:rPr lang="en-US" sz="2000" dirty="0"/>
                  <a:t> path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This will give us a path to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, which is </a:t>
                </a:r>
                <a:r>
                  <a:rPr lang="en-US" sz="2000" u="sng" dirty="0"/>
                  <a:t>shorter</a:t>
                </a:r>
                <a:r>
                  <a:rPr lang="en-US" sz="2000" dirty="0"/>
                  <a:t> than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This contradicts that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is the shortest path to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.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   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>
                <a:blip r:embed="rId2"/>
                <a:stretch>
                  <a:fillRect l="-741" t="-7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" name="Group 63"/>
          <p:cNvGrpSpPr/>
          <p:nvPr/>
        </p:nvGrpSpPr>
        <p:grpSpPr>
          <a:xfrm>
            <a:off x="4724400" y="2971799"/>
            <a:ext cx="838200" cy="1"/>
            <a:chOff x="4724400" y="2971799"/>
            <a:chExt cx="838200" cy="1"/>
          </a:xfrm>
        </p:grpSpPr>
        <p:cxnSp>
          <p:nvCxnSpPr>
            <p:cNvPr id="65" name="Straight Connector 64"/>
            <p:cNvCxnSpPr/>
            <p:nvPr/>
          </p:nvCxnSpPr>
          <p:spPr>
            <a:xfrm>
              <a:off x="4724400" y="2971800"/>
              <a:ext cx="767644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5283740" y="2971799"/>
              <a:ext cx="278860" cy="1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/>
          <p:cNvGrpSpPr/>
          <p:nvPr/>
        </p:nvGrpSpPr>
        <p:grpSpPr>
          <a:xfrm>
            <a:off x="2819400" y="2057398"/>
            <a:ext cx="3668820" cy="838202"/>
            <a:chOff x="2819400" y="2057398"/>
            <a:chExt cx="3668820" cy="838202"/>
          </a:xfrm>
        </p:grpSpPr>
        <p:cxnSp>
          <p:nvCxnSpPr>
            <p:cNvPr id="59" name="Straight Connector 58"/>
            <p:cNvCxnSpPr/>
            <p:nvPr/>
          </p:nvCxnSpPr>
          <p:spPr>
            <a:xfrm flipH="1">
              <a:off x="2819400" y="2111281"/>
              <a:ext cx="637562" cy="784319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3587044" y="2057398"/>
              <a:ext cx="762000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4495800" y="2057398"/>
              <a:ext cx="691444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5334000" y="2057399"/>
              <a:ext cx="691444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flipH="1" flipV="1">
              <a:off x="6155526" y="2111280"/>
              <a:ext cx="332694" cy="784318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What </a:t>
            </a:r>
            <a:r>
              <a:rPr lang="en-US" sz="2800" b="1" dirty="0">
                <a:solidFill>
                  <a:srgbClr val="7030A0"/>
                </a:solidFill>
              </a:rPr>
              <a:t>propertie</a:t>
            </a:r>
            <a:r>
              <a:rPr lang="en-US" sz="2800" b="1" dirty="0"/>
              <a:t>s does </a:t>
            </a:r>
            <a:r>
              <a:rPr lang="en-US" sz="2800" b="1" dirty="0" err="1">
                <a:solidFill>
                  <a:srgbClr val="0070C0"/>
                </a:solidFill>
              </a:rPr>
              <a:t>Dijkstra</a:t>
            </a:r>
            <a:r>
              <a:rPr lang="en-US" sz="2800" b="1" dirty="0" err="1"/>
              <a:t>’s</a:t>
            </a:r>
            <a:r>
              <a:rPr lang="en-US" sz="2800" b="1" dirty="0">
                <a:solidFill>
                  <a:srgbClr val="006C31"/>
                </a:solidFill>
              </a:rPr>
              <a:t> </a:t>
            </a:r>
            <a:r>
              <a:rPr lang="en-US" sz="2800" b="1" dirty="0"/>
              <a:t>algorithm </a:t>
            </a:r>
            <a:r>
              <a:rPr lang="en-US" sz="2800" b="1" u="sng" dirty="0"/>
              <a:t>exploit</a:t>
            </a:r>
            <a:r>
              <a:rPr lang="en-US" sz="2800" b="1" dirty="0"/>
              <a:t> ?</a:t>
            </a:r>
            <a:br>
              <a:rPr lang="en-US" sz="2800" b="1" dirty="0"/>
            </a:b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grpSp>
        <p:nvGrpSpPr>
          <p:cNvPr id="104" name="Group 103"/>
          <p:cNvGrpSpPr/>
          <p:nvPr/>
        </p:nvGrpSpPr>
        <p:grpSpPr>
          <a:xfrm>
            <a:off x="2466419" y="2895600"/>
            <a:ext cx="4391581" cy="457200"/>
            <a:chOff x="2466419" y="2895600"/>
            <a:chExt cx="4391581" cy="457200"/>
          </a:xfrm>
        </p:grpSpPr>
        <p:grpSp>
          <p:nvGrpSpPr>
            <p:cNvPr id="6" name="Group 5"/>
            <p:cNvGrpSpPr/>
            <p:nvPr/>
          </p:nvGrpSpPr>
          <p:grpSpPr>
            <a:xfrm>
              <a:off x="2466419" y="2895600"/>
              <a:ext cx="429181" cy="369332"/>
              <a:chOff x="4676219" y="3048000"/>
              <a:chExt cx="429181" cy="369332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49530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2413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/>
            <p:cNvGrpSpPr/>
            <p:nvPr/>
          </p:nvGrpSpPr>
          <p:grpSpPr>
            <a:xfrm>
              <a:off x="4343400" y="2895600"/>
              <a:ext cx="386644" cy="445532"/>
              <a:chOff x="4413956" y="2819400"/>
              <a:chExt cx="386644" cy="4455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4413956" y="2895600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13956" y="2895600"/>
                    <a:ext cx="375424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21311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Oval 9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3575756" y="2895600"/>
              <a:ext cx="386644" cy="457200"/>
              <a:chOff x="4566356" y="2819400"/>
              <a:chExt cx="386644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4566356" y="2907268"/>
                    <a:ext cx="38664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86644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197" r="-2063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Oval 13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5410200" y="2895600"/>
              <a:ext cx="370614" cy="457200"/>
              <a:chOff x="4566356" y="2819400"/>
              <a:chExt cx="370614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4566356" y="2907268"/>
                    <a:ext cx="3706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70614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Oval 16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6412020" y="2895600"/>
              <a:ext cx="445980" cy="369332"/>
              <a:chOff x="4648200" y="2819400"/>
              <a:chExt cx="445980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4718756" y="2819400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𝒚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18756" y="2819400"/>
                    <a:ext cx="375424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t="-8197" r="-209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Oval 19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1" name="Straight Arrow Connector 20"/>
            <p:cNvCxnSpPr>
              <a:stCxn id="7" idx="6"/>
              <a:endCxn id="14" idx="2"/>
            </p:cNvCxnSpPr>
            <p:nvPr/>
          </p:nvCxnSpPr>
          <p:spPr>
            <a:xfrm>
              <a:off x="2895600" y="2971800"/>
              <a:ext cx="762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endCxn id="10" idx="2"/>
            </p:cNvCxnSpPr>
            <p:nvPr/>
          </p:nvCxnSpPr>
          <p:spPr>
            <a:xfrm>
              <a:off x="38100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47244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56388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53141" y="2514600"/>
                <a:ext cx="9284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b="1" i="1" dirty="0">
                          <a:latin typeface="Cambria Math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𝒔</m:t>
                      </m:r>
                      <m:r>
                        <a:rPr lang="en-US" b="1" i="1" dirty="0">
                          <a:latin typeface="Cambria Math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𝒚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141" y="2514600"/>
                <a:ext cx="928459" cy="369332"/>
              </a:xfrm>
              <a:prstGeom prst="rect">
                <a:avLst/>
              </a:prstGeom>
              <a:blipFill rotWithShape="1">
                <a:blip r:embed="rId12"/>
                <a:stretch>
                  <a:fillRect t="-8333" r="-789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752600" y="1143000"/>
                <a:ext cx="6398418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If 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b="1" i="1" dirty="0">
                            <a:latin typeface="Cambria Math"/>
                          </a:rPr>
                          <m:t>,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</m:d>
                    <m:r>
                      <a:rPr lang="en-US" b="1" i="1" dirty="0" smtClean="0">
                        <a:latin typeface="Cambria Math"/>
                      </a:rPr>
                      <m:t>=</m:t>
                    </m:r>
                    <m:r>
                      <a:rPr lang="en-US" b="1" i="1" dirty="0" smtClean="0">
                        <a:latin typeface="Cambria Math"/>
                      </a:rPr>
                      <m:t>𝑸</m:t>
                    </m:r>
                    <m:r>
                      <a:rPr lang="en-US" b="1" i="1" dirty="0" smtClean="0">
                        <a:latin typeface="Cambria Math"/>
                      </a:rPr>
                      <m:t>∷(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b="1" i="1" dirty="0">
                        <a:latin typeface="Cambria Math"/>
                      </a:rPr>
                      <m:t>,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𝑸</m:t>
                    </m:r>
                  </m:oMath>
                </a14:m>
                <a:r>
                  <a:rPr lang="en-US" dirty="0"/>
                  <a:t> is the shortest path from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1143000"/>
                <a:ext cx="6398418" cy="369332"/>
              </a:xfrm>
              <a:prstGeom prst="rect">
                <a:avLst/>
              </a:prstGeom>
              <a:blipFill rotWithShape="1">
                <a:blip r:embed="rId13"/>
                <a:stretch>
                  <a:fillRect l="-858" t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Group 32"/>
          <p:cNvGrpSpPr/>
          <p:nvPr/>
        </p:nvGrpSpPr>
        <p:grpSpPr>
          <a:xfrm>
            <a:off x="2819400" y="1981199"/>
            <a:ext cx="3668820" cy="914401"/>
            <a:chOff x="2819400" y="1981200"/>
            <a:chExt cx="3668820" cy="914401"/>
          </a:xfrm>
        </p:grpSpPr>
        <p:grpSp>
          <p:nvGrpSpPr>
            <p:cNvPr id="34" name="Group 33"/>
            <p:cNvGrpSpPr/>
            <p:nvPr/>
          </p:nvGrpSpPr>
          <p:grpSpPr>
            <a:xfrm>
              <a:off x="3352800" y="1981200"/>
              <a:ext cx="380232" cy="457200"/>
              <a:chOff x="4566356" y="2819400"/>
              <a:chExt cx="380232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/>
                  <p:cNvSpPr txBox="1"/>
                  <p:nvPr/>
                </p:nvSpPr>
                <p:spPr>
                  <a:xfrm>
                    <a:off x="4566356" y="2907268"/>
                    <a:ext cx="38023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𝒂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5" name="TextBox 19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80232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209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0" name="Oval 49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" name="Group 34"/>
            <p:cNvGrpSpPr/>
            <p:nvPr/>
          </p:nvGrpSpPr>
          <p:grpSpPr>
            <a:xfrm>
              <a:off x="4267200" y="1981200"/>
              <a:ext cx="377026" cy="457200"/>
              <a:chOff x="4566356" y="2819400"/>
              <a:chExt cx="377026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TextBox 46"/>
                  <p:cNvSpPr txBox="1"/>
                  <p:nvPr/>
                </p:nvSpPr>
                <p:spPr>
                  <a:xfrm>
                    <a:off x="4566356" y="2907268"/>
                    <a:ext cx="37702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𝒃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3" name="TextBox 19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77026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209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8" name="Oval 47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/>
            <p:cNvGrpSpPr/>
            <p:nvPr/>
          </p:nvGrpSpPr>
          <p:grpSpPr>
            <a:xfrm>
              <a:off x="5105400" y="1981200"/>
              <a:ext cx="354584" cy="457200"/>
              <a:chOff x="4566356" y="2819400"/>
              <a:chExt cx="354584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/>
                  <p:cNvSpPr txBox="1"/>
                  <p:nvPr/>
                </p:nvSpPr>
                <p:spPr>
                  <a:xfrm>
                    <a:off x="4566356" y="2907268"/>
                    <a:ext cx="35458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𝒄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1" name="TextBox 19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54584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22414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6" name="Oval 45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5867400" y="1981200"/>
              <a:ext cx="367408" cy="457200"/>
              <a:chOff x="4490156" y="2819400"/>
              <a:chExt cx="367408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Box 42"/>
                  <p:cNvSpPr txBox="1"/>
                  <p:nvPr/>
                </p:nvSpPr>
                <p:spPr>
                  <a:xfrm>
                    <a:off x="4490156" y="2907268"/>
                    <a:ext cx="36740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𝒇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9" name="TextBox 18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90156" y="2907268"/>
                    <a:ext cx="367408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21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4" name="Oval 43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8" name="Straight Arrow Connector 37"/>
            <p:cNvCxnSpPr>
              <a:endCxn id="50" idx="3"/>
            </p:cNvCxnSpPr>
            <p:nvPr/>
          </p:nvCxnSpPr>
          <p:spPr>
            <a:xfrm flipV="1">
              <a:off x="2819400" y="2111282"/>
              <a:ext cx="637562" cy="7843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50" idx="6"/>
              <a:endCxn id="48" idx="2"/>
            </p:cNvCxnSpPr>
            <p:nvPr/>
          </p:nvCxnSpPr>
          <p:spPr>
            <a:xfrm>
              <a:off x="3587044" y="2057400"/>
              <a:ext cx="762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endCxn id="46" idx="2"/>
            </p:cNvCxnSpPr>
            <p:nvPr/>
          </p:nvCxnSpPr>
          <p:spPr>
            <a:xfrm>
              <a:off x="4495800" y="2057400"/>
              <a:ext cx="6914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endCxn id="44" idx="2"/>
            </p:cNvCxnSpPr>
            <p:nvPr/>
          </p:nvCxnSpPr>
          <p:spPr>
            <a:xfrm>
              <a:off x="5334000" y="2057400"/>
              <a:ext cx="6914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44" idx="5"/>
            </p:cNvCxnSpPr>
            <p:nvPr/>
          </p:nvCxnSpPr>
          <p:spPr>
            <a:xfrm>
              <a:off x="6155526" y="2111282"/>
              <a:ext cx="332694" cy="7843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/>
          <p:cNvGrpSpPr/>
          <p:nvPr/>
        </p:nvGrpSpPr>
        <p:grpSpPr>
          <a:xfrm>
            <a:off x="4676962" y="2590799"/>
            <a:ext cx="1800038" cy="1143001"/>
            <a:chOff x="4829362" y="2743199"/>
            <a:chExt cx="1800038" cy="1143001"/>
          </a:xfrm>
        </p:grpSpPr>
        <p:sp>
          <p:nvSpPr>
            <p:cNvPr id="52" name="Arc 51"/>
            <p:cNvSpPr/>
            <p:nvPr/>
          </p:nvSpPr>
          <p:spPr>
            <a:xfrm rot="10800000">
              <a:off x="4829362" y="2743199"/>
              <a:ext cx="1800038" cy="1143001"/>
            </a:xfrm>
            <a:prstGeom prst="arc">
              <a:avLst>
                <a:gd name="adj1" fmla="val 10248252"/>
                <a:gd name="adj2" fmla="val 0"/>
              </a:avLst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/>
            <p:cNvCxnSpPr/>
            <p:nvPr/>
          </p:nvCxnSpPr>
          <p:spPr>
            <a:xfrm flipV="1">
              <a:off x="4829362" y="3162299"/>
              <a:ext cx="0" cy="1905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/>
          <p:cNvGrpSpPr/>
          <p:nvPr/>
        </p:nvGrpSpPr>
        <p:grpSpPr>
          <a:xfrm>
            <a:off x="4676962" y="2590799"/>
            <a:ext cx="1800038" cy="1143001"/>
            <a:chOff x="6234808" y="3428998"/>
            <a:chExt cx="1613792" cy="1143000"/>
          </a:xfrm>
        </p:grpSpPr>
        <p:sp>
          <p:nvSpPr>
            <p:cNvPr id="55" name="Arc 54"/>
            <p:cNvSpPr/>
            <p:nvPr/>
          </p:nvSpPr>
          <p:spPr>
            <a:xfrm rot="10800000">
              <a:off x="6234808" y="3428998"/>
              <a:ext cx="1613792" cy="1143000"/>
            </a:xfrm>
            <a:prstGeom prst="arc">
              <a:avLst>
                <a:gd name="adj1" fmla="val 10248252"/>
                <a:gd name="adj2" fmla="val 0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Straight Arrow Connector 55"/>
            <p:cNvCxnSpPr/>
            <p:nvPr/>
          </p:nvCxnSpPr>
          <p:spPr>
            <a:xfrm flipV="1">
              <a:off x="6234808" y="3848100"/>
              <a:ext cx="0" cy="1905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Right Brace 72"/>
          <p:cNvSpPr/>
          <p:nvPr/>
        </p:nvSpPr>
        <p:spPr>
          <a:xfrm rot="5400000">
            <a:off x="4065957" y="1976962"/>
            <a:ext cx="273203" cy="2567682"/>
          </a:xfrm>
          <a:prstGeom prst="rightBrac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3215245" y="228600"/>
            <a:ext cx="24809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Approach  2</a:t>
            </a:r>
            <a:endParaRPr lang="en-US" sz="3600" dirty="0"/>
          </a:p>
        </p:txBody>
      </p:sp>
      <p:sp>
        <p:nvSpPr>
          <p:cNvPr id="23" name="TextBox 22"/>
          <p:cNvSpPr txBox="1"/>
          <p:nvPr/>
        </p:nvSpPr>
        <p:spPr>
          <a:xfrm>
            <a:off x="1072941" y="2247817"/>
            <a:ext cx="6857005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We used 2 </a:t>
            </a:r>
            <a:r>
              <a:rPr lang="en-US" b="1" dirty="0"/>
              <a:t>properties </a:t>
            </a:r>
            <a:r>
              <a:rPr lang="en-US" dirty="0"/>
              <a:t>of a shortest path to design </a:t>
            </a:r>
            <a:r>
              <a:rPr lang="en-US" dirty="0" err="1"/>
              <a:t>Dijkstra’s</a:t>
            </a:r>
            <a:r>
              <a:rPr lang="en-US" dirty="0"/>
              <a:t> algorithm</a:t>
            </a:r>
          </a:p>
        </p:txBody>
      </p:sp>
      <p:sp>
        <p:nvSpPr>
          <p:cNvPr id="28" name="Right Brace 27"/>
          <p:cNvSpPr/>
          <p:nvPr/>
        </p:nvSpPr>
        <p:spPr>
          <a:xfrm>
            <a:off x="7292215" y="3886200"/>
            <a:ext cx="327785" cy="1295399"/>
          </a:xfrm>
          <a:prstGeom prst="rightBrac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7603172" y="4016513"/>
            <a:ext cx="1540828" cy="1077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This proof is incomplete.</a:t>
            </a:r>
          </a:p>
          <a:p>
            <a:r>
              <a:rPr lang="en-US" sz="1600" dirty="0"/>
              <a:t>Can you spot that ?</a:t>
            </a:r>
          </a:p>
        </p:txBody>
      </p:sp>
      <p:grpSp>
        <p:nvGrpSpPr>
          <p:cNvPr id="68" name="Group 67"/>
          <p:cNvGrpSpPr/>
          <p:nvPr/>
        </p:nvGrpSpPr>
        <p:grpSpPr>
          <a:xfrm>
            <a:off x="2805704" y="2209800"/>
            <a:ext cx="2762540" cy="742555"/>
            <a:chOff x="3720104" y="1968379"/>
            <a:chExt cx="2528296" cy="666354"/>
          </a:xfrm>
        </p:grpSpPr>
        <p:sp>
          <p:nvSpPr>
            <p:cNvPr id="69" name="Freeform 68"/>
            <p:cNvSpPr/>
            <p:nvPr/>
          </p:nvSpPr>
          <p:spPr>
            <a:xfrm>
              <a:off x="3720104" y="1968379"/>
              <a:ext cx="2506525" cy="633307"/>
            </a:xfrm>
            <a:custGeom>
              <a:avLst/>
              <a:gdLst>
                <a:gd name="connsiteX0" fmla="*/ 2810 w 2506525"/>
                <a:gd name="connsiteY0" fmla="*/ 633307 h 633307"/>
                <a:gd name="connsiteX1" fmla="*/ 68125 w 2506525"/>
                <a:gd name="connsiteY1" fmla="*/ 328507 h 633307"/>
                <a:gd name="connsiteX2" fmla="*/ 460010 w 2506525"/>
                <a:gd name="connsiteY2" fmla="*/ 176107 h 633307"/>
                <a:gd name="connsiteX3" fmla="*/ 1080496 w 2506525"/>
                <a:gd name="connsiteY3" fmla="*/ 1935 h 633307"/>
                <a:gd name="connsiteX4" fmla="*/ 1494153 w 2506525"/>
                <a:gd name="connsiteY4" fmla="*/ 295850 h 633307"/>
                <a:gd name="connsiteX5" fmla="*/ 2212610 w 2506525"/>
                <a:gd name="connsiteY5" fmla="*/ 252307 h 633307"/>
                <a:gd name="connsiteX6" fmla="*/ 2506525 w 2506525"/>
                <a:gd name="connsiteY6" fmla="*/ 611535 h 633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06525" h="633307">
                  <a:moveTo>
                    <a:pt x="2810" y="633307"/>
                  </a:moveTo>
                  <a:cubicBezTo>
                    <a:pt x="-2633" y="519007"/>
                    <a:pt x="-8075" y="404707"/>
                    <a:pt x="68125" y="328507"/>
                  </a:cubicBezTo>
                  <a:cubicBezTo>
                    <a:pt x="144325" y="252307"/>
                    <a:pt x="291282" y="230536"/>
                    <a:pt x="460010" y="176107"/>
                  </a:cubicBezTo>
                  <a:cubicBezTo>
                    <a:pt x="628738" y="121678"/>
                    <a:pt x="908139" y="-18022"/>
                    <a:pt x="1080496" y="1935"/>
                  </a:cubicBezTo>
                  <a:cubicBezTo>
                    <a:pt x="1252853" y="21892"/>
                    <a:pt x="1305467" y="254121"/>
                    <a:pt x="1494153" y="295850"/>
                  </a:cubicBezTo>
                  <a:cubicBezTo>
                    <a:pt x="1682839" y="337579"/>
                    <a:pt x="2043881" y="199693"/>
                    <a:pt x="2212610" y="252307"/>
                  </a:cubicBezTo>
                  <a:cubicBezTo>
                    <a:pt x="2381339" y="304921"/>
                    <a:pt x="2443932" y="458228"/>
                    <a:pt x="2506525" y="611535"/>
                  </a:cubicBezTo>
                </a:path>
              </a:pathLst>
            </a:cu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0" name="Straight Arrow Connector 69"/>
            <p:cNvCxnSpPr>
              <a:stCxn id="69" idx="6"/>
            </p:cNvCxnSpPr>
            <p:nvPr/>
          </p:nvCxnSpPr>
          <p:spPr>
            <a:xfrm>
              <a:off x="6226629" y="2579914"/>
              <a:ext cx="21771" cy="548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loud Callout 70"/>
              <p:cNvSpPr/>
              <p:nvPr/>
            </p:nvSpPr>
            <p:spPr>
              <a:xfrm>
                <a:off x="917694" y="5171234"/>
                <a:ext cx="4267200" cy="983064"/>
              </a:xfrm>
              <a:prstGeom prst="cloudCallou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What if there is a </a:t>
                </a:r>
                <a:r>
                  <a:rPr lang="en-US" sz="1600" u="sng" dirty="0">
                    <a:solidFill>
                      <a:schemeClr val="tx1"/>
                    </a:solidFill>
                  </a:rPr>
                  <a:t>shorter</a:t>
                </a:r>
                <a:r>
                  <a:rPr lang="en-US" sz="1600" dirty="0">
                    <a:solidFill>
                      <a:schemeClr val="tx1"/>
                    </a:solidFill>
                  </a:rPr>
                  <a:t> path </a:t>
                </a:r>
                <a:r>
                  <a:rPr lang="en-US" sz="1600" dirty="0" err="1">
                    <a:solidFill>
                      <a:schemeClr val="tx1"/>
                    </a:solidFill>
                  </a:rPr>
                  <a:t>to</a:t>
                </a:r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that passes through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?</a:t>
                </a:r>
              </a:p>
            </p:txBody>
          </p:sp>
        </mc:Choice>
        <mc:Fallback xmlns="">
          <p:sp>
            <p:nvSpPr>
              <p:cNvPr id="71" name="Cloud Callout 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694" y="5171234"/>
                <a:ext cx="4267200" cy="983064"/>
              </a:xfrm>
              <a:prstGeom prst="cloudCallou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4812313" y="5745089"/>
                <a:ext cx="4267201" cy="738664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Exploiting the fact that edge weights are non-negative, </a:t>
                </a:r>
              </a:p>
              <a:p>
                <a:pPr algn="ctr"/>
                <a:r>
                  <a:rPr lang="en-US" sz="1400" dirty="0"/>
                  <a:t>argue that the green path from </a:t>
                </a:r>
                <a14:m>
                  <m:oMath xmlns:m="http://schemas.openxmlformats.org/officeDocument/2006/math">
                    <m:r>
                      <a:rPr lang="en-US" sz="14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14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400" dirty="0"/>
                  <a:t> to </a:t>
                </a:r>
                <a14:m>
                  <m:oMath xmlns:m="http://schemas.openxmlformats.org/officeDocument/2006/math">
                    <m:r>
                      <a:rPr lang="en-US" sz="14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sz="14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400" dirty="0"/>
                  <a:t>is shorter than </a:t>
                </a:r>
                <a14:m>
                  <m:oMath xmlns:m="http://schemas.openxmlformats.org/officeDocument/2006/math">
                    <m:r>
                      <a:rPr lang="en-US" sz="14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sz="1400" dirty="0"/>
                  <a:t>.</a:t>
                </a:r>
              </a:p>
              <a:p>
                <a:pPr algn="ctr"/>
                <a:r>
                  <a:rPr lang="en-US" sz="1400" dirty="0"/>
                  <a:t>Contradiction !</a:t>
                </a: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2313" y="5745089"/>
                <a:ext cx="4267201" cy="738664"/>
              </a:xfrm>
              <a:prstGeom prst="rect">
                <a:avLst/>
              </a:prstGeom>
              <a:blipFill>
                <a:blip r:embed="rId15"/>
                <a:stretch>
                  <a:fillRect b="-645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DDBBE47-873E-1E14-122E-51141CF91E02}"/>
                  </a:ext>
                </a:extLst>
              </p:cNvPr>
              <p:cNvSpPr txBox="1"/>
              <p:nvPr/>
            </p:nvSpPr>
            <p:spPr>
              <a:xfrm>
                <a:off x="3994472" y="3440668"/>
                <a:ext cx="4058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𝑸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DDBBE47-873E-1E14-122E-51141CF91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4472" y="3440668"/>
                <a:ext cx="405880" cy="369332"/>
              </a:xfrm>
              <a:prstGeom prst="rect">
                <a:avLst/>
              </a:prstGeom>
              <a:blipFill>
                <a:blip r:embed="rId16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4FD2FE2-939F-356E-BC2C-9CCBDBA10787}"/>
                  </a:ext>
                </a:extLst>
              </p:cNvPr>
              <p:cNvSpPr txBox="1"/>
              <p:nvPr/>
            </p:nvSpPr>
            <p:spPr>
              <a:xfrm>
                <a:off x="7554899" y="2450068"/>
                <a:ext cx="1360501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𝜹</m:t>
                      </m:r>
                      <m:d>
                        <m:dPr>
                          <m:ctrlP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  <m:r>
                            <a:rPr lang="en-US" b="1" i="1" dirty="0">
                              <a:latin typeface="Cambria Math"/>
                            </a:rPr>
                            <m:t>,</m:t>
                          </m:r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𝒚</m:t>
                          </m:r>
                        </m:e>
                      </m:d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4FD2FE2-939F-356E-BC2C-9CCBDBA10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4899" y="2450068"/>
                <a:ext cx="1360501" cy="369332"/>
              </a:xfrm>
              <a:prstGeom prst="rect">
                <a:avLst/>
              </a:prstGeom>
              <a:blipFill>
                <a:blip r:embed="rId17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03B47F9C-5F71-2A8B-899C-127BA3E1750B}"/>
              </a:ext>
            </a:extLst>
          </p:cNvPr>
          <p:cNvGrpSpPr/>
          <p:nvPr/>
        </p:nvGrpSpPr>
        <p:grpSpPr>
          <a:xfrm>
            <a:off x="2743199" y="2153045"/>
            <a:ext cx="3663245" cy="742555"/>
            <a:chOff x="2743199" y="2153045"/>
            <a:chExt cx="3663245" cy="742555"/>
          </a:xfrm>
        </p:grpSpPr>
        <p:sp>
          <p:nvSpPr>
            <p:cNvPr id="72" name="Freeform 68">
              <a:extLst>
                <a:ext uri="{FF2B5EF4-FFF2-40B4-BE49-F238E27FC236}">
                  <a16:creationId xmlns:a16="http://schemas.microsoft.com/office/drawing/2014/main" id="{0C244840-FE6D-11AB-F4B1-971E74C89238}"/>
                </a:ext>
              </a:extLst>
            </p:cNvPr>
            <p:cNvSpPr/>
            <p:nvPr/>
          </p:nvSpPr>
          <p:spPr>
            <a:xfrm>
              <a:off x="2743199" y="2153045"/>
              <a:ext cx="2841185" cy="705729"/>
            </a:xfrm>
            <a:custGeom>
              <a:avLst/>
              <a:gdLst>
                <a:gd name="connsiteX0" fmla="*/ 2810 w 2506525"/>
                <a:gd name="connsiteY0" fmla="*/ 633307 h 633307"/>
                <a:gd name="connsiteX1" fmla="*/ 68125 w 2506525"/>
                <a:gd name="connsiteY1" fmla="*/ 328507 h 633307"/>
                <a:gd name="connsiteX2" fmla="*/ 460010 w 2506525"/>
                <a:gd name="connsiteY2" fmla="*/ 176107 h 633307"/>
                <a:gd name="connsiteX3" fmla="*/ 1080496 w 2506525"/>
                <a:gd name="connsiteY3" fmla="*/ 1935 h 633307"/>
                <a:gd name="connsiteX4" fmla="*/ 1494153 w 2506525"/>
                <a:gd name="connsiteY4" fmla="*/ 295850 h 633307"/>
                <a:gd name="connsiteX5" fmla="*/ 2212610 w 2506525"/>
                <a:gd name="connsiteY5" fmla="*/ 252307 h 633307"/>
                <a:gd name="connsiteX6" fmla="*/ 2506525 w 2506525"/>
                <a:gd name="connsiteY6" fmla="*/ 611535 h 633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06525" h="633307">
                  <a:moveTo>
                    <a:pt x="2810" y="633307"/>
                  </a:moveTo>
                  <a:cubicBezTo>
                    <a:pt x="-2633" y="519007"/>
                    <a:pt x="-8075" y="404707"/>
                    <a:pt x="68125" y="328507"/>
                  </a:cubicBezTo>
                  <a:cubicBezTo>
                    <a:pt x="144325" y="252307"/>
                    <a:pt x="291282" y="230536"/>
                    <a:pt x="460010" y="176107"/>
                  </a:cubicBezTo>
                  <a:cubicBezTo>
                    <a:pt x="628738" y="121678"/>
                    <a:pt x="908139" y="-18022"/>
                    <a:pt x="1080496" y="1935"/>
                  </a:cubicBezTo>
                  <a:cubicBezTo>
                    <a:pt x="1252853" y="21892"/>
                    <a:pt x="1305467" y="254121"/>
                    <a:pt x="1494153" y="295850"/>
                  </a:cubicBezTo>
                  <a:cubicBezTo>
                    <a:pt x="1682839" y="337579"/>
                    <a:pt x="2043881" y="199693"/>
                    <a:pt x="2212610" y="252307"/>
                  </a:cubicBezTo>
                  <a:cubicBezTo>
                    <a:pt x="2381339" y="304921"/>
                    <a:pt x="2443932" y="458228"/>
                    <a:pt x="2506525" y="611535"/>
                  </a:cubicBezTo>
                </a:path>
              </a:pathLst>
            </a:custGeom>
            <a:ln w="1270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AB9E72F4-4AF7-70C7-ACE3-53AD6C32B876}"/>
                </a:ext>
              </a:extLst>
            </p:cNvPr>
            <p:cNvCxnSpPr/>
            <p:nvPr/>
          </p:nvCxnSpPr>
          <p:spPr>
            <a:xfrm>
              <a:off x="5638800" y="2895600"/>
              <a:ext cx="7676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lg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3E311AA-7B8D-1E41-3DB9-5262A142F063}"/>
                  </a:ext>
                </a:extLst>
              </p:cNvPr>
              <p:cNvSpPr txBox="1"/>
              <p:nvPr/>
            </p:nvSpPr>
            <p:spPr>
              <a:xfrm>
                <a:off x="7270496" y="2890779"/>
                <a:ext cx="1665584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Length of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3E311AA-7B8D-1E41-3DB9-5262A142F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0496" y="2890779"/>
                <a:ext cx="1665584" cy="369332"/>
              </a:xfrm>
              <a:prstGeom prst="rect">
                <a:avLst/>
              </a:prstGeom>
              <a:blipFill>
                <a:blip r:embed="rId18"/>
                <a:stretch>
                  <a:fillRect t="-8197" r="-366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Rectangle 79">
            <a:extLst>
              <a:ext uri="{FF2B5EF4-FFF2-40B4-BE49-F238E27FC236}">
                <a16:creationId xmlns:a16="http://schemas.microsoft.com/office/drawing/2014/main" id="{D438898A-5647-2236-EE14-317CC28B64B0}"/>
              </a:ext>
            </a:extLst>
          </p:cNvPr>
          <p:cNvSpPr/>
          <p:nvPr/>
        </p:nvSpPr>
        <p:spPr>
          <a:xfrm>
            <a:off x="1752600" y="1144240"/>
            <a:ext cx="6177346" cy="3651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8F5F010-12B2-924E-B22E-D5F19F0C5C6A}"/>
              </a:ext>
            </a:extLst>
          </p:cNvPr>
          <p:cNvSpPr/>
          <p:nvPr/>
        </p:nvSpPr>
        <p:spPr>
          <a:xfrm>
            <a:off x="4066165" y="4507468"/>
            <a:ext cx="4087235" cy="3693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D7E5629-0E1B-84A2-642D-24A1B98A7952}"/>
              </a:ext>
            </a:extLst>
          </p:cNvPr>
          <p:cNvSpPr/>
          <p:nvPr/>
        </p:nvSpPr>
        <p:spPr>
          <a:xfrm>
            <a:off x="3352800" y="4876800"/>
            <a:ext cx="4087235" cy="3693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0E24F3FA-E5AA-2B76-39DF-91BE5AFFA6EB}"/>
                  </a:ext>
                </a:extLst>
              </p:cNvPr>
              <p:cNvSpPr txBox="1"/>
              <p:nvPr/>
            </p:nvSpPr>
            <p:spPr>
              <a:xfrm>
                <a:off x="4217970" y="2183367"/>
                <a:ext cx="6303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0E24F3FA-E5AA-2B76-39DF-91BE5AFFA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7970" y="2183367"/>
                <a:ext cx="630301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TextBox 83">
            <a:extLst>
              <a:ext uri="{FF2B5EF4-FFF2-40B4-BE49-F238E27FC236}">
                <a16:creationId xmlns:a16="http://schemas.microsoft.com/office/drawing/2014/main" id="{FD713D97-B5C8-DDDC-69E6-92341FF3E187}"/>
              </a:ext>
            </a:extLst>
          </p:cNvPr>
          <p:cNvSpPr txBox="1"/>
          <p:nvPr/>
        </p:nvSpPr>
        <p:spPr>
          <a:xfrm>
            <a:off x="1224322" y="6273225"/>
            <a:ext cx="359118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The argument of the proof won’t work.</a:t>
            </a:r>
          </a:p>
          <a:p>
            <a:pPr algn="ctr"/>
            <a:r>
              <a:rPr lang="en-US" sz="1600" dirty="0"/>
              <a:t>What to do ? </a:t>
            </a:r>
            <a:r>
              <a:rPr lang="en-US" sz="1600" dirty="0">
                <a:sym typeface="Wingdings" panose="05000000000000000000" pitchFamily="2" charset="2"/>
              </a:rPr>
              <a:t>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846F5631-F121-5E83-84A1-611D0521D2C6}"/>
                  </a:ext>
                </a:extLst>
              </p:cNvPr>
              <p:cNvSpPr txBox="1"/>
              <p:nvPr/>
            </p:nvSpPr>
            <p:spPr>
              <a:xfrm>
                <a:off x="953197" y="6011615"/>
                <a:ext cx="4245522" cy="584775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/>
                  <a:t>We need to show that any path from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/>
                  <a:t> to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US" sz="1600" dirty="0"/>
              </a:p>
              <a:p>
                <a:pPr algn="ctr"/>
                <a:r>
                  <a:rPr lang="en-US" sz="1600" dirty="0"/>
                  <a:t>that passes through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/>
                  <a:t>cannot be  </a:t>
                </a:r>
                <a:r>
                  <a:rPr lang="en-US" sz="1600" u="sng" dirty="0"/>
                  <a:t>shorter</a:t>
                </a:r>
                <a:r>
                  <a:rPr lang="en-US" sz="1600" dirty="0"/>
                  <a:t> than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sz="1600" dirty="0"/>
                  <a:t>.</a:t>
                </a: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846F5631-F121-5E83-84A1-611D0521D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197" y="6011615"/>
                <a:ext cx="4245522" cy="584775"/>
              </a:xfrm>
              <a:prstGeom prst="rect">
                <a:avLst/>
              </a:prstGeom>
              <a:blipFill>
                <a:blip r:embed="rId20"/>
                <a:stretch>
                  <a:fillRect l="-143" t="-2041" b="-112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588AAA01-29CF-4593-5277-CB310ABB3792}"/>
                  </a:ext>
                </a:extLst>
              </p:cNvPr>
              <p:cNvSpPr txBox="1"/>
              <p:nvPr/>
            </p:nvSpPr>
            <p:spPr>
              <a:xfrm>
                <a:off x="5900330" y="2173069"/>
                <a:ext cx="275203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Since (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dirty="0"/>
                  <a:t>) is nonnegative, </a:t>
                </a:r>
              </a:p>
              <a:p>
                <a:r>
                  <a:rPr lang="en-US" dirty="0"/>
                  <a:t>So observe that </a:t>
                </a:r>
                <a:endParaRPr lang="en-IN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588AAA01-29CF-4593-5277-CB310ABB37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0330" y="2173069"/>
                <a:ext cx="2752035" cy="646331"/>
              </a:xfrm>
              <a:prstGeom prst="rect">
                <a:avLst/>
              </a:prstGeom>
              <a:blipFill>
                <a:blip r:embed="rId21"/>
                <a:stretch>
                  <a:fillRect l="-1996" t="-4673" r="-887" b="-130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12F5A9F-D109-7BCD-0746-803F993990B9}"/>
                  </a:ext>
                </a:extLst>
              </p:cNvPr>
              <p:cNvSpPr txBox="1"/>
              <p:nvPr/>
            </p:nvSpPr>
            <p:spPr>
              <a:xfrm>
                <a:off x="5229277" y="1644052"/>
                <a:ext cx="6303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12F5A9F-D109-7BCD-0746-803F99399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277" y="1644052"/>
                <a:ext cx="63030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D7A8876-C619-15D2-977F-F8E5C934D558}"/>
                  </a:ext>
                </a:extLst>
              </p:cNvPr>
              <p:cNvSpPr txBox="1"/>
              <p:nvPr/>
            </p:nvSpPr>
            <p:spPr>
              <a:xfrm>
                <a:off x="158811" y="5750005"/>
                <a:ext cx="3275833" cy="584775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/>
                  <a:t>Let us consider any path from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/>
                  <a:t> to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US" sz="1600" dirty="0"/>
              </a:p>
              <a:p>
                <a:pPr algn="ctr"/>
                <a:r>
                  <a:rPr lang="en-US" sz="1600" dirty="0"/>
                  <a:t>that passes through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1600" dirty="0"/>
                  <a:t>.</a:t>
                </a: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D7A8876-C619-15D2-977F-F8E5C934D5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11" y="5750005"/>
                <a:ext cx="3275833" cy="584775"/>
              </a:xfrm>
              <a:prstGeom prst="rect">
                <a:avLst/>
              </a:prstGeom>
              <a:blipFill>
                <a:blip r:embed="rId23"/>
                <a:stretch>
                  <a:fillRect l="-371" t="-2041" b="-112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431BE75D-E29F-5176-84D8-F7D987754678}"/>
                  </a:ext>
                </a:extLst>
              </p:cNvPr>
              <p:cNvSpPr txBox="1"/>
              <p:nvPr/>
            </p:nvSpPr>
            <p:spPr>
              <a:xfrm>
                <a:off x="217333" y="1746332"/>
                <a:ext cx="3110852" cy="338554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/>
                  <a:t>Suppose this path is </a:t>
                </a:r>
                <a:r>
                  <a:rPr lang="en-US" sz="1600" u="sng" dirty="0"/>
                  <a:t>shorter</a:t>
                </a:r>
                <a:r>
                  <a:rPr lang="en-US" sz="1600" dirty="0"/>
                  <a:t> than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431BE75D-E29F-5176-84D8-F7D987754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333" y="1746332"/>
                <a:ext cx="3110852" cy="338554"/>
              </a:xfrm>
              <a:prstGeom prst="rect">
                <a:avLst/>
              </a:prstGeom>
              <a:blipFill>
                <a:blip r:embed="rId24"/>
                <a:stretch>
                  <a:fillRect l="-586" t="-3448" b="-1896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Rounded Rectangle 47">
            <a:extLst>
              <a:ext uri="{FF2B5EF4-FFF2-40B4-BE49-F238E27FC236}">
                <a16:creationId xmlns:a16="http://schemas.microsoft.com/office/drawing/2014/main" id="{BED79B2D-D254-B70E-C775-2DBA50718F3E}"/>
              </a:ext>
            </a:extLst>
          </p:cNvPr>
          <p:cNvSpPr/>
          <p:nvPr/>
        </p:nvSpPr>
        <p:spPr>
          <a:xfrm>
            <a:off x="7557669" y="2397890"/>
            <a:ext cx="1371600" cy="45720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3418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0" dur="3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2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2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9" dur="3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175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9" dur="3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500"/>
                            </p:stCondLst>
                            <p:childTnLst>
                              <p:par>
                                <p:cTn id="16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8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3" dur="500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500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3" dur="500"/>
                                        <p:tgtEl>
                                          <p:spTgt spid="8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500"/>
                            </p:stCondLst>
                            <p:childTnLst>
                              <p:par>
                                <p:cTn id="2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500"/>
                            </p:stCondLst>
                            <p:childTnLst>
                              <p:par>
                                <p:cTn id="21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1000"/>
                            </p:stCondLst>
                            <p:childTnLst>
                              <p:par>
                                <p:cTn id="21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9" dur="500"/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500"/>
                            </p:stCondLst>
                            <p:childTnLst>
                              <p:par>
                                <p:cTn id="22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9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4" dur="500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9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4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1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4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500"/>
                            </p:stCondLst>
                            <p:childTnLst>
                              <p:par>
                                <p:cTn id="26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8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500"/>
                            </p:stCondLst>
                            <p:childTnLst>
                              <p:par>
                                <p:cTn id="27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6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1000"/>
                            </p:stCondLst>
                            <p:childTnLst>
                              <p:par>
                                <p:cTn id="27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0" dur="500"/>
                                        <p:tgtEl>
                                          <p:spTgt spid="7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5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8" dur="500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1" dur="500"/>
                                        <p:tgtEl>
                                          <p:spTgt spid="5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8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3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8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3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27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8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9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0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31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/>
      <p:bldP spid="5" grpId="0"/>
      <p:bldP spid="22" grpId="0" uiExpand="1" animBg="1"/>
      <p:bldP spid="73" grpId="0" animBg="1"/>
      <p:bldP spid="67" grpId="0"/>
      <p:bldP spid="67" grpId="1"/>
      <p:bldP spid="23" grpId="0" animBg="1"/>
      <p:bldP spid="23" grpId="1" animBg="1"/>
      <p:bldP spid="28" grpId="0" animBg="1"/>
      <p:bldP spid="28" grpId="1" animBg="1"/>
      <p:bldP spid="29" grpId="0" animBg="1"/>
      <p:bldP spid="29" grpId="1" animBg="1"/>
      <p:bldP spid="71" grpId="0" animBg="1"/>
      <p:bldP spid="71" grpId="1" animBg="1"/>
      <p:bldP spid="31" grpId="0" animBg="1"/>
      <p:bldP spid="25" grpId="0"/>
      <p:bldP spid="30" grpId="0" animBg="1"/>
      <p:bldP spid="30" grpId="1" animBg="1"/>
      <p:bldP spid="79" grpId="0" animBg="1"/>
      <p:bldP spid="80" grpId="0" animBg="1"/>
      <p:bldP spid="81" grpId="0" animBg="1"/>
      <p:bldP spid="82" grpId="0" animBg="1"/>
      <p:bldP spid="83" grpId="0"/>
      <p:bldP spid="83" grpId="1"/>
      <p:bldP spid="84" grpId="0" animBg="1"/>
      <p:bldP spid="84" grpId="1" animBg="1"/>
      <p:bldP spid="85" grpId="0" animBg="1"/>
      <p:bldP spid="85" grpId="1" build="allAtOnce" animBg="1"/>
      <p:bldP spid="86" grpId="0"/>
      <p:bldP spid="86" grpId="1" build="allAtOnce"/>
      <p:bldP spid="32" grpId="0"/>
      <p:bldP spid="58" grpId="0" animBg="1"/>
      <p:bldP spid="58" grpId="1" build="allAtOnce" animBg="1"/>
      <p:bldP spid="74" grpId="0" animBg="1"/>
      <p:bldP spid="74" grpId="1" build="allAtOnce" animBg="1"/>
      <p:bldP spid="7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Property 1</a:t>
                </a:r>
                <a:r>
                  <a:rPr lang="en-US" sz="2000" dirty="0"/>
                  <a:t>: Any </a:t>
                </a:r>
                <a:r>
                  <a:rPr lang="en-US" sz="2000" dirty="0" err="1"/>
                  <a:t>subpath</a:t>
                </a:r>
                <a:r>
                  <a:rPr lang="en-US" sz="2000" dirty="0"/>
                  <a:t> of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is also a shortest path.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Property 2</a:t>
                </a:r>
                <a:r>
                  <a:rPr lang="en-US" sz="2000" dirty="0"/>
                  <a:t>:    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        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d>
                      <m:d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e>
                    </m:d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≤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d>
                      <m:d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</m:d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≤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)≤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 rotWithShape="1">
                <a:blip r:embed="rId2"/>
                <a:stretch>
                  <a:fillRect l="-741" t="-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What </a:t>
            </a:r>
            <a:r>
              <a:rPr lang="en-US" sz="2800" b="1" dirty="0">
                <a:solidFill>
                  <a:srgbClr val="7030A0"/>
                </a:solidFill>
              </a:rPr>
              <a:t>propertie</a:t>
            </a:r>
            <a:r>
              <a:rPr lang="en-US" sz="2800" b="1" dirty="0"/>
              <a:t>s does </a:t>
            </a:r>
            <a:r>
              <a:rPr lang="en-US" sz="2800" b="1" dirty="0" err="1">
                <a:solidFill>
                  <a:srgbClr val="0070C0"/>
                </a:solidFill>
              </a:rPr>
              <a:t>Dijkstra</a:t>
            </a:r>
            <a:r>
              <a:rPr lang="en-US" sz="2800" b="1" dirty="0" err="1"/>
              <a:t>’s</a:t>
            </a:r>
            <a:r>
              <a:rPr lang="en-US" sz="2800" b="1" dirty="0">
                <a:solidFill>
                  <a:srgbClr val="006C31"/>
                </a:solidFill>
              </a:rPr>
              <a:t> </a:t>
            </a:r>
            <a:r>
              <a:rPr lang="en-US" sz="2800" b="1" dirty="0"/>
              <a:t>algorithm </a:t>
            </a:r>
            <a:r>
              <a:rPr lang="en-US" sz="2800" b="1" u="sng" dirty="0"/>
              <a:t>exploit</a:t>
            </a:r>
            <a:r>
              <a:rPr lang="en-US" sz="2800" b="1" dirty="0"/>
              <a:t> ?</a:t>
            </a:r>
            <a:br>
              <a:rPr lang="en-US" sz="2800" b="1" dirty="0"/>
            </a:b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grpSp>
        <p:nvGrpSpPr>
          <p:cNvPr id="104" name="Group 103"/>
          <p:cNvGrpSpPr/>
          <p:nvPr/>
        </p:nvGrpSpPr>
        <p:grpSpPr>
          <a:xfrm>
            <a:off x="2466419" y="2895600"/>
            <a:ext cx="4391581" cy="457200"/>
            <a:chOff x="2466419" y="2895600"/>
            <a:chExt cx="4391581" cy="457200"/>
          </a:xfrm>
        </p:grpSpPr>
        <p:grpSp>
          <p:nvGrpSpPr>
            <p:cNvPr id="6" name="Group 5"/>
            <p:cNvGrpSpPr/>
            <p:nvPr/>
          </p:nvGrpSpPr>
          <p:grpSpPr>
            <a:xfrm>
              <a:off x="2466419" y="2895600"/>
              <a:ext cx="429181" cy="369332"/>
              <a:chOff x="4676219" y="3048000"/>
              <a:chExt cx="429181" cy="369332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49530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2413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/>
            <p:cNvGrpSpPr/>
            <p:nvPr/>
          </p:nvGrpSpPr>
          <p:grpSpPr>
            <a:xfrm>
              <a:off x="4343400" y="2895600"/>
              <a:ext cx="386644" cy="445532"/>
              <a:chOff x="4413956" y="2819400"/>
              <a:chExt cx="386644" cy="4455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4413956" y="2895600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13956" y="2895600"/>
                    <a:ext cx="375424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21311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Oval 9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3575756" y="2895600"/>
              <a:ext cx="386644" cy="457200"/>
              <a:chOff x="4566356" y="2819400"/>
              <a:chExt cx="386644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4566356" y="2907268"/>
                    <a:ext cx="38664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86644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197" r="-2063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Oval 13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5410200" y="2895600"/>
              <a:ext cx="370614" cy="457200"/>
              <a:chOff x="4566356" y="2819400"/>
              <a:chExt cx="370614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4566356" y="2907268"/>
                    <a:ext cx="3706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70614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Oval 16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6412020" y="2895600"/>
              <a:ext cx="445980" cy="369332"/>
              <a:chOff x="4648200" y="2819400"/>
              <a:chExt cx="445980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4718756" y="2819400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𝒚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18756" y="2819400"/>
                    <a:ext cx="375424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t="-8197" r="-209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Oval 19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1" name="Straight Arrow Connector 20"/>
            <p:cNvCxnSpPr>
              <a:stCxn id="7" idx="6"/>
              <a:endCxn id="14" idx="2"/>
            </p:cNvCxnSpPr>
            <p:nvPr/>
          </p:nvCxnSpPr>
          <p:spPr>
            <a:xfrm>
              <a:off x="2895600" y="2971800"/>
              <a:ext cx="762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endCxn id="10" idx="2"/>
            </p:cNvCxnSpPr>
            <p:nvPr/>
          </p:nvCxnSpPr>
          <p:spPr>
            <a:xfrm>
              <a:off x="38100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47244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56388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53141" y="2514600"/>
                <a:ext cx="9284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b="1" i="1" dirty="0">
                          <a:latin typeface="Cambria Math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𝒔</m:t>
                      </m:r>
                      <m:r>
                        <a:rPr lang="en-US" b="1" i="1" dirty="0">
                          <a:latin typeface="Cambria Math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𝒚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141" y="2514600"/>
                <a:ext cx="928459" cy="369332"/>
              </a:xfrm>
              <a:prstGeom prst="rect">
                <a:avLst/>
              </a:prstGeom>
              <a:blipFill rotWithShape="1">
                <a:blip r:embed="rId12"/>
                <a:stretch>
                  <a:fillRect t="-8333" r="-789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&quot;No&quot; Symbol 24"/>
          <p:cNvSpPr/>
          <p:nvPr/>
        </p:nvSpPr>
        <p:spPr>
          <a:xfrm>
            <a:off x="76200" y="3657600"/>
            <a:ext cx="457200" cy="457200"/>
          </a:xfrm>
          <a:prstGeom prst="noSmoking">
            <a:avLst>
              <a:gd name="adj" fmla="val 11607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752600" y="1143000"/>
                <a:ext cx="6398418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If 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b="1" i="1" dirty="0">
                            <a:latin typeface="Cambria Math"/>
                          </a:rPr>
                          <m:t>,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</m:d>
                    <m:r>
                      <a:rPr lang="en-US" b="1" i="1" dirty="0" smtClean="0">
                        <a:latin typeface="Cambria Math"/>
                      </a:rPr>
                      <m:t>=</m:t>
                    </m:r>
                    <m:r>
                      <a:rPr lang="en-US" b="1" i="1" dirty="0" smtClean="0">
                        <a:latin typeface="Cambria Math"/>
                      </a:rPr>
                      <m:t>𝑸</m:t>
                    </m:r>
                    <m:r>
                      <a:rPr lang="en-US" b="1" i="1" dirty="0" smtClean="0">
                        <a:latin typeface="Cambria Math"/>
                      </a:rPr>
                      <m:t>∷(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b="1" i="1" dirty="0">
                        <a:latin typeface="Cambria Math"/>
                      </a:rPr>
                      <m:t>,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𝑸</m:t>
                    </m:r>
                  </m:oMath>
                </a14:m>
                <a:r>
                  <a:rPr lang="en-US" dirty="0"/>
                  <a:t> is the shortest path from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1143000"/>
                <a:ext cx="6398418" cy="369332"/>
              </a:xfrm>
              <a:prstGeom prst="rect">
                <a:avLst/>
              </a:prstGeom>
              <a:blipFill rotWithShape="1">
                <a:blip r:embed="rId13"/>
                <a:stretch>
                  <a:fillRect l="-858" t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7" name="Group 66"/>
          <p:cNvGrpSpPr/>
          <p:nvPr/>
        </p:nvGrpSpPr>
        <p:grpSpPr>
          <a:xfrm>
            <a:off x="3048000" y="2971800"/>
            <a:ext cx="3165110" cy="310754"/>
            <a:chOff x="3048000" y="2968823"/>
            <a:chExt cx="3165110" cy="310754"/>
          </a:xfrm>
        </p:grpSpPr>
        <p:sp>
          <p:nvSpPr>
            <p:cNvPr id="68" name="TextBox 67"/>
            <p:cNvSpPr txBox="1"/>
            <p:nvPr/>
          </p:nvSpPr>
          <p:spPr>
            <a:xfrm>
              <a:off x="4038600" y="2971800"/>
              <a:ext cx="4219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-20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912090" y="2971800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10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5791200" y="2971800"/>
              <a:ext cx="4219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-55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3048000" y="296882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70</a:t>
              </a:r>
            </a:p>
          </p:txBody>
        </p:sp>
      </p:grpSp>
      <p:sp>
        <p:nvSpPr>
          <p:cNvPr id="33" name="Cloud Callout 32"/>
          <p:cNvSpPr/>
          <p:nvPr/>
        </p:nvSpPr>
        <p:spPr>
          <a:xfrm>
            <a:off x="2654291" y="5562600"/>
            <a:ext cx="4757570" cy="1022866"/>
          </a:xfrm>
          <a:prstGeom prst="cloudCallou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Which of these properties will fail to hold if edge weights are allowed to be negative 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867" y="1004500"/>
            <a:ext cx="397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078124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5" grpId="0" animBg="1"/>
      <p:bldP spid="33" grpId="0" animBg="1"/>
      <p:bldP spid="33" grpId="1" animBg="1"/>
      <p:bldP spid="2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C00000"/>
                </a:solidFill>
              </a:rPr>
              <a:t>Violating</a:t>
            </a:r>
            <a:r>
              <a:rPr lang="en-US" sz="3200" b="1" dirty="0"/>
              <a:t> the</a:t>
            </a:r>
            <a:r>
              <a:rPr lang="en-US" sz="3200" b="1" dirty="0">
                <a:solidFill>
                  <a:srgbClr val="006C31"/>
                </a:solidFill>
              </a:rPr>
              <a:t> Optimal </a:t>
            </a:r>
            <a:r>
              <a:rPr lang="en-US" sz="3200" b="1" dirty="0" err="1">
                <a:solidFill>
                  <a:srgbClr val="006C31"/>
                </a:solidFill>
              </a:rPr>
              <a:t>subpath</a:t>
            </a:r>
            <a:r>
              <a:rPr lang="en-US" sz="3200" b="1" dirty="0"/>
              <a:t> property</a:t>
            </a:r>
            <a:br>
              <a:rPr lang="en-US" sz="3200" b="1" dirty="0"/>
            </a:b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Property 1</a:t>
                </a:r>
                <a:r>
                  <a:rPr lang="en-US" sz="2000" dirty="0"/>
                  <a:t>: Any </a:t>
                </a:r>
                <a:r>
                  <a:rPr lang="en-US" sz="2000" dirty="0" err="1"/>
                  <a:t>subpath</a:t>
                </a:r>
                <a:r>
                  <a:rPr lang="en-US" sz="2000" dirty="0"/>
                  <a:t> of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is also a shortest path.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=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=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To show the violation, we need to come up with </a:t>
                </a:r>
              </a:p>
              <a:p>
                <a:pPr marL="0" indent="0">
                  <a:buNone/>
                </a:pPr>
                <a:r>
                  <a:rPr lang="en-US" sz="1800" dirty="0"/>
                  <a:t>a path to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 of length &lt;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60</a:t>
                </a:r>
                <a:r>
                  <a:rPr lang="en-US" sz="1800" dirty="0"/>
                  <a:t> that passes through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 marL="0" indent="0">
                  <a:buNone/>
                </a:pPr>
                <a:r>
                  <a:rPr lang="en-US" sz="1800" dirty="0"/>
                  <a:t>and still keeping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1800" b="1" i="1" dirty="0">
                        <a:latin typeface="Cambria Math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=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5</a:t>
                </a:r>
                <a:r>
                  <a:rPr lang="en-US" sz="1800" dirty="0"/>
                  <a:t>.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>
                <a:blip r:embed="rId2"/>
                <a:stretch>
                  <a:fillRect l="-772" t="-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grpSp>
        <p:nvGrpSpPr>
          <p:cNvPr id="103" name="Group 102"/>
          <p:cNvGrpSpPr/>
          <p:nvPr/>
        </p:nvGrpSpPr>
        <p:grpSpPr>
          <a:xfrm>
            <a:off x="3048000" y="2971800"/>
            <a:ext cx="3165110" cy="310754"/>
            <a:chOff x="3048000" y="2968823"/>
            <a:chExt cx="3165110" cy="310754"/>
          </a:xfrm>
        </p:grpSpPr>
        <p:sp>
          <p:nvSpPr>
            <p:cNvPr id="29" name="TextBox 28"/>
            <p:cNvSpPr txBox="1"/>
            <p:nvPr/>
          </p:nvSpPr>
          <p:spPr>
            <a:xfrm>
              <a:off x="4038600" y="2971800"/>
              <a:ext cx="4219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-20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912090" y="2971800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10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791200" y="2971800"/>
              <a:ext cx="4219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-55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048000" y="296882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70</a:t>
              </a:r>
            </a:p>
          </p:txBody>
        </p:sp>
      </p:grpSp>
      <p:sp>
        <p:nvSpPr>
          <p:cNvPr id="78" name="TextBox 77"/>
          <p:cNvSpPr txBox="1"/>
          <p:nvPr/>
        </p:nvSpPr>
        <p:spPr>
          <a:xfrm>
            <a:off x="5423792" y="37308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10</a:t>
            </a:r>
          </a:p>
        </p:txBody>
      </p:sp>
      <p:grpSp>
        <p:nvGrpSpPr>
          <p:cNvPr id="107" name="Group 106"/>
          <p:cNvGrpSpPr/>
          <p:nvPr/>
        </p:nvGrpSpPr>
        <p:grpSpPr>
          <a:xfrm>
            <a:off x="2924362" y="1752600"/>
            <a:ext cx="3676276" cy="841177"/>
            <a:chOff x="2924362" y="1752600"/>
            <a:chExt cx="3676276" cy="841177"/>
          </a:xfrm>
        </p:grpSpPr>
        <p:sp>
          <p:nvSpPr>
            <p:cNvPr id="59" name="TextBox 58"/>
            <p:cNvSpPr txBox="1"/>
            <p:nvPr/>
          </p:nvSpPr>
          <p:spPr>
            <a:xfrm>
              <a:off x="3747392" y="17526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2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676962" y="1752600"/>
              <a:ext cx="3305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-3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5460660" y="1752600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10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6324600" y="22830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6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2924362" y="22860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5</a:t>
              </a:r>
            </a:p>
          </p:txBody>
        </p:sp>
      </p:grpSp>
      <p:grpSp>
        <p:nvGrpSpPr>
          <p:cNvPr id="200" name="Group 199"/>
          <p:cNvGrpSpPr/>
          <p:nvPr/>
        </p:nvGrpSpPr>
        <p:grpSpPr>
          <a:xfrm>
            <a:off x="2819400" y="2057398"/>
            <a:ext cx="3668820" cy="838202"/>
            <a:chOff x="2819400" y="2057398"/>
            <a:chExt cx="3668820" cy="838202"/>
          </a:xfrm>
        </p:grpSpPr>
        <p:cxnSp>
          <p:nvCxnSpPr>
            <p:cNvPr id="158" name="Straight Connector 157"/>
            <p:cNvCxnSpPr/>
            <p:nvPr/>
          </p:nvCxnSpPr>
          <p:spPr>
            <a:xfrm flipH="1">
              <a:off x="2819400" y="2111281"/>
              <a:ext cx="637562" cy="784319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/>
          </p:nvCxnSpPr>
          <p:spPr>
            <a:xfrm>
              <a:off x="3587044" y="2057398"/>
              <a:ext cx="762000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>
            <a:xfrm>
              <a:off x="4495800" y="2057398"/>
              <a:ext cx="691444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>
            <a:xfrm>
              <a:off x="5334000" y="2057399"/>
              <a:ext cx="691444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>
            <a:xfrm flipH="1" flipV="1">
              <a:off x="6155526" y="2111280"/>
              <a:ext cx="332694" cy="784318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2" name="Group 171"/>
          <p:cNvGrpSpPr/>
          <p:nvPr/>
        </p:nvGrpSpPr>
        <p:grpSpPr>
          <a:xfrm>
            <a:off x="4676962" y="2590799"/>
            <a:ext cx="1800038" cy="1143001"/>
            <a:chOff x="4829362" y="2743199"/>
            <a:chExt cx="1800038" cy="1143001"/>
          </a:xfrm>
        </p:grpSpPr>
        <p:sp>
          <p:nvSpPr>
            <p:cNvPr id="170" name="Arc 169"/>
            <p:cNvSpPr/>
            <p:nvPr/>
          </p:nvSpPr>
          <p:spPr>
            <a:xfrm rot="10800000">
              <a:off x="4829362" y="2743199"/>
              <a:ext cx="1800038" cy="1143001"/>
            </a:xfrm>
            <a:prstGeom prst="arc">
              <a:avLst>
                <a:gd name="adj1" fmla="val 10248252"/>
                <a:gd name="adj2" fmla="val 0"/>
              </a:avLst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1" name="Straight Arrow Connector 170"/>
            <p:cNvCxnSpPr/>
            <p:nvPr/>
          </p:nvCxnSpPr>
          <p:spPr>
            <a:xfrm flipV="1">
              <a:off x="4829362" y="3162299"/>
              <a:ext cx="0" cy="1905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/>
          <p:cNvGrpSpPr/>
          <p:nvPr/>
        </p:nvGrpSpPr>
        <p:grpSpPr>
          <a:xfrm>
            <a:off x="4676962" y="2590800"/>
            <a:ext cx="1800038" cy="1143001"/>
            <a:chOff x="6234808" y="3429000"/>
            <a:chExt cx="1613792" cy="1143000"/>
          </a:xfrm>
        </p:grpSpPr>
        <p:sp>
          <p:nvSpPr>
            <p:cNvPr id="71" name="Arc 70"/>
            <p:cNvSpPr/>
            <p:nvPr/>
          </p:nvSpPr>
          <p:spPr>
            <a:xfrm rot="10800000">
              <a:off x="6234808" y="3429000"/>
              <a:ext cx="1613792" cy="1143000"/>
            </a:xfrm>
            <a:prstGeom prst="arc">
              <a:avLst>
                <a:gd name="adj1" fmla="val 10248252"/>
                <a:gd name="adj2" fmla="val 0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4" name="Straight Arrow Connector 73"/>
            <p:cNvCxnSpPr/>
            <p:nvPr/>
          </p:nvCxnSpPr>
          <p:spPr>
            <a:xfrm flipV="1">
              <a:off x="6234808" y="3848100"/>
              <a:ext cx="0" cy="1905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/>
        </p:nvGrpSpPr>
        <p:grpSpPr>
          <a:xfrm>
            <a:off x="2819400" y="1981199"/>
            <a:ext cx="3668820" cy="914401"/>
            <a:chOff x="2819400" y="1981200"/>
            <a:chExt cx="3668820" cy="914401"/>
          </a:xfrm>
        </p:grpSpPr>
        <p:grpSp>
          <p:nvGrpSpPr>
            <p:cNvPr id="180" name="Group 179"/>
            <p:cNvGrpSpPr/>
            <p:nvPr/>
          </p:nvGrpSpPr>
          <p:grpSpPr>
            <a:xfrm>
              <a:off x="3352800" y="1981200"/>
              <a:ext cx="380232" cy="457200"/>
              <a:chOff x="4566356" y="2819400"/>
              <a:chExt cx="380232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5" name="TextBox 194"/>
                  <p:cNvSpPr txBox="1"/>
                  <p:nvPr/>
                </p:nvSpPr>
                <p:spPr>
                  <a:xfrm>
                    <a:off x="4566356" y="2907268"/>
                    <a:ext cx="38023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𝒂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5" name="TextBox 19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80232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209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6" name="Oval 195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1" name="Group 180"/>
            <p:cNvGrpSpPr/>
            <p:nvPr/>
          </p:nvGrpSpPr>
          <p:grpSpPr>
            <a:xfrm>
              <a:off x="4267200" y="1981200"/>
              <a:ext cx="377026" cy="457200"/>
              <a:chOff x="4566356" y="2819400"/>
              <a:chExt cx="377026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3" name="TextBox 192"/>
                  <p:cNvSpPr txBox="1"/>
                  <p:nvPr/>
                </p:nvSpPr>
                <p:spPr>
                  <a:xfrm>
                    <a:off x="4566356" y="2907268"/>
                    <a:ext cx="37702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𝒃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3" name="TextBox 19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77026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209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4" name="Oval 193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2" name="Group 181"/>
            <p:cNvGrpSpPr/>
            <p:nvPr/>
          </p:nvGrpSpPr>
          <p:grpSpPr>
            <a:xfrm>
              <a:off x="5105400" y="1981200"/>
              <a:ext cx="354584" cy="457200"/>
              <a:chOff x="4566356" y="2819400"/>
              <a:chExt cx="354584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1" name="TextBox 190"/>
                  <p:cNvSpPr txBox="1"/>
                  <p:nvPr/>
                </p:nvSpPr>
                <p:spPr>
                  <a:xfrm>
                    <a:off x="4566356" y="2907268"/>
                    <a:ext cx="35458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𝒄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1" name="TextBox 19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54584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22414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2" name="Oval 191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3" name="Group 182"/>
            <p:cNvGrpSpPr/>
            <p:nvPr/>
          </p:nvGrpSpPr>
          <p:grpSpPr>
            <a:xfrm>
              <a:off x="5867400" y="1981200"/>
              <a:ext cx="367408" cy="457200"/>
              <a:chOff x="4490156" y="2819400"/>
              <a:chExt cx="367408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9" name="TextBox 188"/>
                  <p:cNvSpPr txBox="1"/>
                  <p:nvPr/>
                </p:nvSpPr>
                <p:spPr>
                  <a:xfrm>
                    <a:off x="4490156" y="2907268"/>
                    <a:ext cx="36740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𝒇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9" name="TextBox 18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90156" y="2907268"/>
                    <a:ext cx="367408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21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0" name="Oval 189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84" name="Straight Arrow Connector 183"/>
            <p:cNvCxnSpPr>
              <a:endCxn id="196" idx="3"/>
            </p:cNvCxnSpPr>
            <p:nvPr/>
          </p:nvCxnSpPr>
          <p:spPr>
            <a:xfrm flipV="1">
              <a:off x="2819400" y="2111282"/>
              <a:ext cx="637562" cy="7843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Arrow Connector 184"/>
            <p:cNvCxnSpPr>
              <a:stCxn id="196" idx="6"/>
              <a:endCxn id="194" idx="2"/>
            </p:cNvCxnSpPr>
            <p:nvPr/>
          </p:nvCxnSpPr>
          <p:spPr>
            <a:xfrm>
              <a:off x="3587044" y="2057400"/>
              <a:ext cx="762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/>
            <p:cNvCxnSpPr>
              <a:endCxn id="192" idx="2"/>
            </p:cNvCxnSpPr>
            <p:nvPr/>
          </p:nvCxnSpPr>
          <p:spPr>
            <a:xfrm>
              <a:off x="4495800" y="2057400"/>
              <a:ext cx="6914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Arrow Connector 186"/>
            <p:cNvCxnSpPr>
              <a:endCxn id="190" idx="2"/>
            </p:cNvCxnSpPr>
            <p:nvPr/>
          </p:nvCxnSpPr>
          <p:spPr>
            <a:xfrm>
              <a:off x="5334000" y="2057400"/>
              <a:ext cx="6914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Arrow Connector 187"/>
            <p:cNvCxnSpPr>
              <a:stCxn id="190" idx="5"/>
            </p:cNvCxnSpPr>
            <p:nvPr/>
          </p:nvCxnSpPr>
          <p:spPr>
            <a:xfrm>
              <a:off x="6155526" y="2111282"/>
              <a:ext cx="332694" cy="7843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9" name="Group 198"/>
          <p:cNvGrpSpPr/>
          <p:nvPr/>
        </p:nvGrpSpPr>
        <p:grpSpPr>
          <a:xfrm>
            <a:off x="4724400" y="2971799"/>
            <a:ext cx="838200" cy="1"/>
            <a:chOff x="4724400" y="2971799"/>
            <a:chExt cx="838200" cy="1"/>
          </a:xfrm>
        </p:grpSpPr>
        <p:cxnSp>
          <p:nvCxnSpPr>
            <p:cNvPr id="177" name="Straight Connector 176"/>
            <p:cNvCxnSpPr>
              <a:endCxn id="17" idx="2"/>
            </p:cNvCxnSpPr>
            <p:nvPr/>
          </p:nvCxnSpPr>
          <p:spPr>
            <a:xfrm>
              <a:off x="4724400" y="2971800"/>
              <a:ext cx="767644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Arrow Connector 196"/>
            <p:cNvCxnSpPr/>
            <p:nvPr/>
          </p:nvCxnSpPr>
          <p:spPr>
            <a:xfrm>
              <a:off x="5283740" y="2971799"/>
              <a:ext cx="278860" cy="1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 103"/>
          <p:cNvGrpSpPr/>
          <p:nvPr/>
        </p:nvGrpSpPr>
        <p:grpSpPr>
          <a:xfrm>
            <a:off x="2466419" y="2895600"/>
            <a:ext cx="4391581" cy="457200"/>
            <a:chOff x="2466419" y="2895600"/>
            <a:chExt cx="4391581" cy="457200"/>
          </a:xfrm>
        </p:grpSpPr>
        <p:grpSp>
          <p:nvGrpSpPr>
            <p:cNvPr id="6" name="Group 5"/>
            <p:cNvGrpSpPr/>
            <p:nvPr/>
          </p:nvGrpSpPr>
          <p:grpSpPr>
            <a:xfrm>
              <a:off x="2466419" y="2895600"/>
              <a:ext cx="429181" cy="369332"/>
              <a:chOff x="4676219" y="3048000"/>
              <a:chExt cx="429181" cy="369332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49530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2413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/>
            <p:cNvGrpSpPr/>
            <p:nvPr/>
          </p:nvGrpSpPr>
          <p:grpSpPr>
            <a:xfrm>
              <a:off x="4343400" y="2895600"/>
              <a:ext cx="386644" cy="445532"/>
              <a:chOff x="4413956" y="2819400"/>
              <a:chExt cx="386644" cy="4455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4413956" y="2895600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13956" y="2895600"/>
                    <a:ext cx="375424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21311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Oval 9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3575756" y="2895600"/>
              <a:ext cx="386644" cy="457200"/>
              <a:chOff x="4566356" y="2819400"/>
              <a:chExt cx="386644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4566356" y="2907268"/>
                    <a:ext cx="38664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86644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197" r="-2063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Oval 13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5410200" y="2895600"/>
              <a:ext cx="370614" cy="457200"/>
              <a:chOff x="4566356" y="2819400"/>
              <a:chExt cx="370614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4566356" y="2907268"/>
                    <a:ext cx="3706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70614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Oval 16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6412020" y="2895600"/>
              <a:ext cx="445980" cy="369332"/>
              <a:chOff x="4648200" y="2819400"/>
              <a:chExt cx="445980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4718756" y="2819400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𝒚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18756" y="2819400"/>
                    <a:ext cx="375424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t="-8197" r="-209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Oval 19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1" name="Straight Arrow Connector 20"/>
            <p:cNvCxnSpPr>
              <a:stCxn id="7" idx="6"/>
              <a:endCxn id="14" idx="2"/>
            </p:cNvCxnSpPr>
            <p:nvPr/>
          </p:nvCxnSpPr>
          <p:spPr>
            <a:xfrm>
              <a:off x="2895600" y="2971800"/>
              <a:ext cx="762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endCxn id="10" idx="2"/>
            </p:cNvCxnSpPr>
            <p:nvPr/>
          </p:nvCxnSpPr>
          <p:spPr>
            <a:xfrm>
              <a:off x="38100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47244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56388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53141" y="2514600"/>
                <a:ext cx="9284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b="1" i="1" dirty="0">
                          <a:latin typeface="Cambria Math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𝒔</m:t>
                      </m:r>
                      <m:r>
                        <a:rPr lang="en-US" b="1" i="1" dirty="0">
                          <a:latin typeface="Cambria Math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𝒚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141" y="2514600"/>
                <a:ext cx="928459" cy="369332"/>
              </a:xfrm>
              <a:prstGeom prst="rect">
                <a:avLst/>
              </a:prstGeom>
              <a:blipFill rotWithShape="1">
                <a:blip r:embed="rId12"/>
                <a:stretch>
                  <a:fillRect t="-8333" r="-789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" name="Group 71"/>
          <p:cNvGrpSpPr/>
          <p:nvPr/>
        </p:nvGrpSpPr>
        <p:grpSpPr>
          <a:xfrm rot="10800000">
            <a:off x="2819400" y="3276599"/>
            <a:ext cx="2743200" cy="669667"/>
            <a:chOff x="3505200" y="2759333"/>
            <a:chExt cx="2743200" cy="669667"/>
          </a:xfrm>
        </p:grpSpPr>
        <p:sp>
          <p:nvSpPr>
            <p:cNvPr id="73" name="Right Brace 72"/>
            <p:cNvSpPr/>
            <p:nvPr/>
          </p:nvSpPr>
          <p:spPr>
            <a:xfrm rot="16200000">
              <a:off x="4680467" y="1861067"/>
              <a:ext cx="392666" cy="2743200"/>
            </a:xfrm>
            <a:prstGeom prst="rightBrace">
              <a:avLst/>
            </a:prstGeom>
            <a:ln w="28575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TextBox 74"/>
            <p:cNvSpPr txBox="1"/>
            <p:nvPr/>
          </p:nvSpPr>
          <p:spPr>
            <a:xfrm rot="10800000">
              <a:off x="4610496" y="2759333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60</a:t>
              </a:r>
            </a:p>
          </p:txBody>
        </p:sp>
      </p:grpSp>
      <p:sp>
        <p:nvSpPr>
          <p:cNvPr id="76" name="TextBox 75"/>
          <p:cNvSpPr txBox="1"/>
          <p:nvPr/>
        </p:nvSpPr>
        <p:spPr>
          <a:xfrm>
            <a:off x="5257800" y="36576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&lt; </a:t>
            </a:r>
            <a:r>
              <a:rPr lang="en-US" sz="1400" b="1" dirty="0">
                <a:solidFill>
                  <a:srgbClr val="7030A0"/>
                </a:solidFill>
              </a:rPr>
              <a:t>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" y="1535668"/>
            <a:ext cx="301686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5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1524000" y="1905000"/>
            <a:ext cx="418704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40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1752600" y="1143000"/>
                <a:ext cx="6398418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If 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b="1" i="1" dirty="0">
                            <a:latin typeface="Cambria Math"/>
                          </a:rPr>
                          <m:t>,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</m:d>
                    <m:r>
                      <a:rPr lang="en-US" b="1" i="1" dirty="0" smtClean="0">
                        <a:latin typeface="Cambria Math"/>
                      </a:rPr>
                      <m:t>=</m:t>
                    </m:r>
                    <m:r>
                      <a:rPr lang="en-US" b="1" i="1" dirty="0" smtClean="0">
                        <a:latin typeface="Cambria Math"/>
                      </a:rPr>
                      <m:t>𝑸</m:t>
                    </m:r>
                    <m:r>
                      <a:rPr lang="en-US" b="1" i="1" dirty="0" smtClean="0">
                        <a:latin typeface="Cambria Math"/>
                      </a:rPr>
                      <m:t>∷(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b="1" i="1" dirty="0">
                        <a:latin typeface="Cambria Math"/>
                      </a:rPr>
                      <m:t>,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𝑸</m:t>
                    </m:r>
                  </m:oMath>
                </a14:m>
                <a:r>
                  <a:rPr lang="en-US" dirty="0"/>
                  <a:t> is the shortest path from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1143000"/>
                <a:ext cx="6398418" cy="369332"/>
              </a:xfrm>
              <a:prstGeom prst="rect">
                <a:avLst/>
              </a:prstGeom>
              <a:blipFill rotWithShape="1">
                <a:blip r:embed="rId13"/>
                <a:stretch>
                  <a:fillRect l="-858" t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/>
          <p:cNvSpPr/>
          <p:nvPr/>
        </p:nvSpPr>
        <p:spPr>
          <a:xfrm>
            <a:off x="2924174" y="4343401"/>
            <a:ext cx="2184047" cy="5333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899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7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75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75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1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1" dur="2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78" grpId="0"/>
      <p:bldP spid="76" grpId="0"/>
      <p:bldP spid="76" grpId="1"/>
      <p:bldP spid="22" grpId="0" uiExpand="1" animBg="1"/>
      <p:bldP spid="23" grpId="0" animBg="1"/>
      <p:bldP spid="3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C00000"/>
                </a:solidFill>
              </a:rPr>
              <a:t>Violating</a:t>
            </a:r>
            <a:r>
              <a:rPr lang="en-US" sz="3200" b="1" dirty="0"/>
              <a:t> the</a:t>
            </a:r>
            <a:r>
              <a:rPr lang="en-US" sz="3200" b="1" dirty="0">
                <a:solidFill>
                  <a:srgbClr val="006C31"/>
                </a:solidFill>
              </a:rPr>
              <a:t> Optimal </a:t>
            </a:r>
            <a:r>
              <a:rPr lang="en-US" sz="3200" b="1" dirty="0" err="1">
                <a:solidFill>
                  <a:srgbClr val="006C31"/>
                </a:solidFill>
              </a:rPr>
              <a:t>subpath</a:t>
            </a:r>
            <a:r>
              <a:rPr lang="en-US" sz="3200" b="1" dirty="0"/>
              <a:t> property</a:t>
            </a:r>
            <a:br>
              <a:rPr lang="en-US" sz="3200" b="1" dirty="0"/>
            </a:b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Property 1</a:t>
                </a:r>
                <a:r>
                  <a:rPr lang="en-US" sz="2000" dirty="0"/>
                  <a:t>: Any </a:t>
                </a:r>
                <a:r>
                  <a:rPr lang="en-US" sz="2000" dirty="0" err="1"/>
                  <a:t>subpath</a:t>
                </a:r>
                <a:r>
                  <a:rPr lang="en-US" sz="2000" dirty="0"/>
                  <a:t> of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is also a shortest path.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=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=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>
                <a:blip r:embed="rId2"/>
                <a:stretch>
                  <a:fillRect l="-772" t="-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grpSp>
        <p:nvGrpSpPr>
          <p:cNvPr id="103" name="Group 102"/>
          <p:cNvGrpSpPr/>
          <p:nvPr/>
        </p:nvGrpSpPr>
        <p:grpSpPr>
          <a:xfrm>
            <a:off x="3048000" y="2971800"/>
            <a:ext cx="3165110" cy="310754"/>
            <a:chOff x="3048000" y="2968823"/>
            <a:chExt cx="3165110" cy="310754"/>
          </a:xfrm>
        </p:grpSpPr>
        <p:sp>
          <p:nvSpPr>
            <p:cNvPr id="29" name="TextBox 28"/>
            <p:cNvSpPr txBox="1"/>
            <p:nvPr/>
          </p:nvSpPr>
          <p:spPr>
            <a:xfrm>
              <a:off x="4038600" y="2971800"/>
              <a:ext cx="4219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-20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912090" y="2971800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10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791200" y="2971800"/>
              <a:ext cx="4219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-55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048000" y="296882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70</a:t>
              </a:r>
            </a:p>
          </p:txBody>
        </p:sp>
      </p:grpSp>
      <p:sp>
        <p:nvSpPr>
          <p:cNvPr id="78" name="TextBox 77"/>
          <p:cNvSpPr txBox="1"/>
          <p:nvPr/>
        </p:nvSpPr>
        <p:spPr>
          <a:xfrm>
            <a:off x="5423792" y="37308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10</a:t>
            </a:r>
          </a:p>
        </p:txBody>
      </p:sp>
      <p:grpSp>
        <p:nvGrpSpPr>
          <p:cNvPr id="107" name="Group 106"/>
          <p:cNvGrpSpPr/>
          <p:nvPr/>
        </p:nvGrpSpPr>
        <p:grpSpPr>
          <a:xfrm>
            <a:off x="2924362" y="1752600"/>
            <a:ext cx="3676276" cy="841177"/>
            <a:chOff x="2924362" y="1752600"/>
            <a:chExt cx="3676276" cy="841177"/>
          </a:xfrm>
        </p:grpSpPr>
        <p:sp>
          <p:nvSpPr>
            <p:cNvPr id="59" name="TextBox 58"/>
            <p:cNvSpPr txBox="1"/>
            <p:nvPr/>
          </p:nvSpPr>
          <p:spPr>
            <a:xfrm>
              <a:off x="3747392" y="17526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2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676962" y="1752600"/>
              <a:ext cx="3305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-3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5460660" y="1752600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10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6324600" y="22830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6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2924362" y="22860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5</a:t>
              </a:r>
            </a:p>
          </p:txBody>
        </p:sp>
      </p:grpSp>
      <p:grpSp>
        <p:nvGrpSpPr>
          <p:cNvPr id="200" name="Group 199"/>
          <p:cNvGrpSpPr/>
          <p:nvPr/>
        </p:nvGrpSpPr>
        <p:grpSpPr>
          <a:xfrm>
            <a:off x="2819400" y="2057398"/>
            <a:ext cx="3668820" cy="838202"/>
            <a:chOff x="2819400" y="2057398"/>
            <a:chExt cx="3668820" cy="838202"/>
          </a:xfrm>
        </p:grpSpPr>
        <p:cxnSp>
          <p:nvCxnSpPr>
            <p:cNvPr id="158" name="Straight Connector 157"/>
            <p:cNvCxnSpPr/>
            <p:nvPr/>
          </p:nvCxnSpPr>
          <p:spPr>
            <a:xfrm flipH="1">
              <a:off x="2819400" y="2111281"/>
              <a:ext cx="637562" cy="784319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/>
          </p:nvCxnSpPr>
          <p:spPr>
            <a:xfrm>
              <a:off x="3587044" y="2057398"/>
              <a:ext cx="762000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>
            <a:xfrm>
              <a:off x="4495800" y="2057398"/>
              <a:ext cx="691444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>
            <a:xfrm>
              <a:off x="5334000" y="2057399"/>
              <a:ext cx="691444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>
            <a:xfrm flipH="1" flipV="1">
              <a:off x="6155526" y="2111280"/>
              <a:ext cx="332694" cy="784318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2" name="Group 171"/>
          <p:cNvGrpSpPr/>
          <p:nvPr/>
        </p:nvGrpSpPr>
        <p:grpSpPr>
          <a:xfrm>
            <a:off x="4676962" y="2590799"/>
            <a:ext cx="1800038" cy="1143001"/>
            <a:chOff x="4829362" y="2743199"/>
            <a:chExt cx="1800038" cy="1143001"/>
          </a:xfrm>
        </p:grpSpPr>
        <p:sp>
          <p:nvSpPr>
            <p:cNvPr id="170" name="Arc 169"/>
            <p:cNvSpPr/>
            <p:nvPr/>
          </p:nvSpPr>
          <p:spPr>
            <a:xfrm rot="10800000">
              <a:off x="4829362" y="2743199"/>
              <a:ext cx="1800038" cy="1143001"/>
            </a:xfrm>
            <a:prstGeom prst="arc">
              <a:avLst>
                <a:gd name="adj1" fmla="val 10248252"/>
                <a:gd name="adj2" fmla="val 0"/>
              </a:avLst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1" name="Straight Arrow Connector 170"/>
            <p:cNvCxnSpPr/>
            <p:nvPr/>
          </p:nvCxnSpPr>
          <p:spPr>
            <a:xfrm flipV="1">
              <a:off x="4829362" y="3162299"/>
              <a:ext cx="0" cy="1905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/>
          <p:cNvGrpSpPr/>
          <p:nvPr/>
        </p:nvGrpSpPr>
        <p:grpSpPr>
          <a:xfrm>
            <a:off x="4676962" y="2590800"/>
            <a:ext cx="1800038" cy="1143001"/>
            <a:chOff x="6234808" y="3429000"/>
            <a:chExt cx="1613792" cy="1143000"/>
          </a:xfrm>
        </p:grpSpPr>
        <p:sp>
          <p:nvSpPr>
            <p:cNvPr id="71" name="Arc 70"/>
            <p:cNvSpPr/>
            <p:nvPr/>
          </p:nvSpPr>
          <p:spPr>
            <a:xfrm rot="10800000">
              <a:off x="6234808" y="3429000"/>
              <a:ext cx="1613792" cy="1143000"/>
            </a:xfrm>
            <a:prstGeom prst="arc">
              <a:avLst>
                <a:gd name="adj1" fmla="val 10248252"/>
                <a:gd name="adj2" fmla="val 0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4" name="Straight Arrow Connector 73"/>
            <p:cNvCxnSpPr/>
            <p:nvPr/>
          </p:nvCxnSpPr>
          <p:spPr>
            <a:xfrm flipV="1">
              <a:off x="6234808" y="3848100"/>
              <a:ext cx="0" cy="1905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/>
        </p:nvGrpSpPr>
        <p:grpSpPr>
          <a:xfrm>
            <a:off x="2819400" y="1981199"/>
            <a:ext cx="3668820" cy="914401"/>
            <a:chOff x="2819400" y="1981200"/>
            <a:chExt cx="3668820" cy="914401"/>
          </a:xfrm>
        </p:grpSpPr>
        <p:grpSp>
          <p:nvGrpSpPr>
            <p:cNvPr id="180" name="Group 179"/>
            <p:cNvGrpSpPr/>
            <p:nvPr/>
          </p:nvGrpSpPr>
          <p:grpSpPr>
            <a:xfrm>
              <a:off x="3352800" y="1981200"/>
              <a:ext cx="380232" cy="457200"/>
              <a:chOff x="4566356" y="2819400"/>
              <a:chExt cx="380232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5" name="TextBox 194"/>
                  <p:cNvSpPr txBox="1"/>
                  <p:nvPr/>
                </p:nvSpPr>
                <p:spPr>
                  <a:xfrm>
                    <a:off x="4566356" y="2907268"/>
                    <a:ext cx="38023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𝒂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5" name="TextBox 19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80232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209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6" name="Oval 195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1" name="Group 180"/>
            <p:cNvGrpSpPr/>
            <p:nvPr/>
          </p:nvGrpSpPr>
          <p:grpSpPr>
            <a:xfrm>
              <a:off x="4267200" y="1981200"/>
              <a:ext cx="377026" cy="457200"/>
              <a:chOff x="4566356" y="2819400"/>
              <a:chExt cx="377026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3" name="TextBox 192"/>
                  <p:cNvSpPr txBox="1"/>
                  <p:nvPr/>
                </p:nvSpPr>
                <p:spPr>
                  <a:xfrm>
                    <a:off x="4566356" y="2907268"/>
                    <a:ext cx="37702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𝒃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3" name="TextBox 19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77026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209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4" name="Oval 193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2" name="Group 181"/>
            <p:cNvGrpSpPr/>
            <p:nvPr/>
          </p:nvGrpSpPr>
          <p:grpSpPr>
            <a:xfrm>
              <a:off x="5105400" y="1981200"/>
              <a:ext cx="354584" cy="457200"/>
              <a:chOff x="4566356" y="2819400"/>
              <a:chExt cx="354584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1" name="TextBox 190"/>
                  <p:cNvSpPr txBox="1"/>
                  <p:nvPr/>
                </p:nvSpPr>
                <p:spPr>
                  <a:xfrm>
                    <a:off x="4566356" y="2907268"/>
                    <a:ext cx="35458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𝒄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1" name="TextBox 19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54584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22414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2" name="Oval 191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3" name="Group 182"/>
            <p:cNvGrpSpPr/>
            <p:nvPr/>
          </p:nvGrpSpPr>
          <p:grpSpPr>
            <a:xfrm>
              <a:off x="5867400" y="1981200"/>
              <a:ext cx="367408" cy="457200"/>
              <a:chOff x="4490156" y="2819400"/>
              <a:chExt cx="367408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9" name="TextBox 188"/>
                  <p:cNvSpPr txBox="1"/>
                  <p:nvPr/>
                </p:nvSpPr>
                <p:spPr>
                  <a:xfrm>
                    <a:off x="4490156" y="2907268"/>
                    <a:ext cx="36740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𝒇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9" name="TextBox 18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90156" y="2907268"/>
                    <a:ext cx="367408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21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0" name="Oval 189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84" name="Straight Arrow Connector 183"/>
            <p:cNvCxnSpPr>
              <a:endCxn id="196" idx="3"/>
            </p:cNvCxnSpPr>
            <p:nvPr/>
          </p:nvCxnSpPr>
          <p:spPr>
            <a:xfrm flipV="1">
              <a:off x="2819400" y="2111282"/>
              <a:ext cx="637562" cy="7843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Arrow Connector 184"/>
            <p:cNvCxnSpPr>
              <a:stCxn id="196" idx="6"/>
              <a:endCxn id="194" idx="2"/>
            </p:cNvCxnSpPr>
            <p:nvPr/>
          </p:nvCxnSpPr>
          <p:spPr>
            <a:xfrm>
              <a:off x="3587044" y="2057400"/>
              <a:ext cx="762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/>
            <p:cNvCxnSpPr>
              <a:endCxn id="192" idx="2"/>
            </p:cNvCxnSpPr>
            <p:nvPr/>
          </p:nvCxnSpPr>
          <p:spPr>
            <a:xfrm>
              <a:off x="4495800" y="2057400"/>
              <a:ext cx="6914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Arrow Connector 186"/>
            <p:cNvCxnSpPr>
              <a:endCxn id="190" idx="2"/>
            </p:cNvCxnSpPr>
            <p:nvPr/>
          </p:nvCxnSpPr>
          <p:spPr>
            <a:xfrm>
              <a:off x="5334000" y="2057400"/>
              <a:ext cx="6914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Arrow Connector 187"/>
            <p:cNvCxnSpPr>
              <a:stCxn id="190" idx="5"/>
            </p:cNvCxnSpPr>
            <p:nvPr/>
          </p:nvCxnSpPr>
          <p:spPr>
            <a:xfrm>
              <a:off x="6155526" y="2111282"/>
              <a:ext cx="332694" cy="7843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9" name="Group 198"/>
          <p:cNvGrpSpPr/>
          <p:nvPr/>
        </p:nvGrpSpPr>
        <p:grpSpPr>
          <a:xfrm>
            <a:off x="4724400" y="2971799"/>
            <a:ext cx="838200" cy="1"/>
            <a:chOff x="4724400" y="2971799"/>
            <a:chExt cx="838200" cy="1"/>
          </a:xfrm>
        </p:grpSpPr>
        <p:cxnSp>
          <p:nvCxnSpPr>
            <p:cNvPr id="177" name="Straight Connector 176"/>
            <p:cNvCxnSpPr>
              <a:endCxn id="17" idx="2"/>
            </p:cNvCxnSpPr>
            <p:nvPr/>
          </p:nvCxnSpPr>
          <p:spPr>
            <a:xfrm>
              <a:off x="4724400" y="2971800"/>
              <a:ext cx="767644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Arrow Connector 196"/>
            <p:cNvCxnSpPr/>
            <p:nvPr/>
          </p:nvCxnSpPr>
          <p:spPr>
            <a:xfrm>
              <a:off x="5283740" y="2971799"/>
              <a:ext cx="278860" cy="1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 103"/>
          <p:cNvGrpSpPr/>
          <p:nvPr/>
        </p:nvGrpSpPr>
        <p:grpSpPr>
          <a:xfrm>
            <a:off x="2466419" y="2895600"/>
            <a:ext cx="4391581" cy="457200"/>
            <a:chOff x="2466419" y="2895600"/>
            <a:chExt cx="4391581" cy="457200"/>
          </a:xfrm>
        </p:grpSpPr>
        <p:grpSp>
          <p:nvGrpSpPr>
            <p:cNvPr id="6" name="Group 5"/>
            <p:cNvGrpSpPr/>
            <p:nvPr/>
          </p:nvGrpSpPr>
          <p:grpSpPr>
            <a:xfrm>
              <a:off x="2466419" y="2895600"/>
              <a:ext cx="429181" cy="369332"/>
              <a:chOff x="4676219" y="3048000"/>
              <a:chExt cx="429181" cy="369332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49530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2413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/>
            <p:cNvGrpSpPr/>
            <p:nvPr/>
          </p:nvGrpSpPr>
          <p:grpSpPr>
            <a:xfrm>
              <a:off x="4343400" y="2895600"/>
              <a:ext cx="386644" cy="445532"/>
              <a:chOff x="4413956" y="2819400"/>
              <a:chExt cx="386644" cy="4455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4413956" y="2895600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13956" y="2895600"/>
                    <a:ext cx="375424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21311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Oval 9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3575756" y="2895600"/>
              <a:ext cx="386644" cy="457200"/>
              <a:chOff x="4566356" y="2819400"/>
              <a:chExt cx="386644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4566356" y="2907268"/>
                    <a:ext cx="38664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86644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197" r="-2063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Oval 13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5410200" y="2895600"/>
              <a:ext cx="370614" cy="457200"/>
              <a:chOff x="4566356" y="2819400"/>
              <a:chExt cx="370614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4566356" y="2907268"/>
                    <a:ext cx="3706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70614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Oval 16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6412020" y="2895600"/>
              <a:ext cx="445980" cy="369332"/>
              <a:chOff x="4648200" y="2819400"/>
              <a:chExt cx="445980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4718756" y="2819400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𝒚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18756" y="2819400"/>
                    <a:ext cx="375424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t="-8197" r="-209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Oval 19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1" name="Straight Arrow Connector 20"/>
            <p:cNvCxnSpPr>
              <a:stCxn id="7" idx="6"/>
              <a:endCxn id="14" idx="2"/>
            </p:cNvCxnSpPr>
            <p:nvPr/>
          </p:nvCxnSpPr>
          <p:spPr>
            <a:xfrm>
              <a:off x="2895600" y="2971800"/>
              <a:ext cx="762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endCxn id="10" idx="2"/>
            </p:cNvCxnSpPr>
            <p:nvPr/>
          </p:nvCxnSpPr>
          <p:spPr>
            <a:xfrm>
              <a:off x="38100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47244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56388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53141" y="2514600"/>
                <a:ext cx="9284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b="1" i="1" dirty="0">
                          <a:latin typeface="Cambria Math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𝒔</m:t>
                      </m:r>
                      <m:r>
                        <a:rPr lang="en-US" b="1" i="1" dirty="0">
                          <a:latin typeface="Cambria Math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𝒚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141" y="2514600"/>
                <a:ext cx="928459" cy="369332"/>
              </a:xfrm>
              <a:prstGeom prst="rect">
                <a:avLst/>
              </a:prstGeom>
              <a:blipFill rotWithShape="1">
                <a:blip r:embed="rId12"/>
                <a:stretch>
                  <a:fillRect t="-8333" r="-789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1524000" y="1535668"/>
            <a:ext cx="301686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5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1524000" y="1905000"/>
            <a:ext cx="418704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40</a:t>
            </a:r>
          </a:p>
        </p:txBody>
      </p:sp>
      <p:sp>
        <p:nvSpPr>
          <p:cNvPr id="79" name="&quot;No&quot; Symbol 78"/>
          <p:cNvSpPr/>
          <p:nvPr/>
        </p:nvSpPr>
        <p:spPr>
          <a:xfrm>
            <a:off x="76200" y="1143000"/>
            <a:ext cx="457200" cy="457200"/>
          </a:xfrm>
          <a:prstGeom prst="noSmoking">
            <a:avLst>
              <a:gd name="adj" fmla="val 11607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Down Ribbon 24"/>
          <p:cNvSpPr/>
          <p:nvPr/>
        </p:nvSpPr>
        <p:spPr>
          <a:xfrm>
            <a:off x="6051104" y="4038600"/>
            <a:ext cx="3007078" cy="1113782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This example illustrates that the </a:t>
            </a:r>
            <a:r>
              <a:rPr lang="en-US" sz="1200" b="1" dirty="0">
                <a:solidFill>
                  <a:schemeClr val="tx1"/>
                </a:solidFill>
              </a:rPr>
              <a:t>optimal </a:t>
            </a:r>
            <a:r>
              <a:rPr lang="en-US" sz="1200" b="1" dirty="0" err="1">
                <a:solidFill>
                  <a:schemeClr val="tx1"/>
                </a:solidFill>
              </a:rPr>
              <a:t>subpath</a:t>
            </a:r>
            <a:r>
              <a:rPr lang="en-US" sz="1200" b="1" dirty="0">
                <a:solidFill>
                  <a:schemeClr val="tx1"/>
                </a:solidFill>
              </a:rPr>
              <a:t> property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u="sng" dirty="0">
                <a:solidFill>
                  <a:schemeClr val="tx1"/>
                </a:solidFill>
              </a:rPr>
              <a:t>may</a:t>
            </a:r>
            <a:r>
              <a:rPr lang="en-US" sz="1200" dirty="0">
                <a:solidFill>
                  <a:schemeClr val="tx1"/>
                </a:solidFill>
              </a:rPr>
              <a:t> get violated when the edge weights are negative.</a:t>
            </a:r>
          </a:p>
        </p:txBody>
      </p:sp>
      <p:sp>
        <p:nvSpPr>
          <p:cNvPr id="28" name="Cloud Callout 27"/>
          <p:cNvSpPr/>
          <p:nvPr/>
        </p:nvSpPr>
        <p:spPr>
          <a:xfrm>
            <a:off x="3462092" y="3814569"/>
            <a:ext cx="1933019" cy="773160"/>
          </a:xfrm>
          <a:prstGeom prst="cloudCallout">
            <a:avLst>
              <a:gd name="adj1" fmla="val -28777"/>
              <a:gd name="adj2" fmla="val 8036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What to do ? </a:t>
            </a:r>
            <a:r>
              <a:rPr lang="en-US" sz="1400" dirty="0">
                <a:solidFill>
                  <a:schemeClr val="tx1"/>
                </a:solidFill>
                <a:sym typeface="Wingdings" pitchFamily="2" charset="2"/>
              </a:rPr>
              <a:t></a:t>
            </a:r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1752600" y="1143000"/>
                <a:ext cx="6398418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If 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b="1" i="1" dirty="0">
                            <a:latin typeface="Cambria Math"/>
                          </a:rPr>
                          <m:t>,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</m:d>
                    <m:r>
                      <a:rPr lang="en-US" b="1" i="1" dirty="0" smtClean="0">
                        <a:latin typeface="Cambria Math"/>
                      </a:rPr>
                      <m:t>=</m:t>
                    </m:r>
                    <m:r>
                      <a:rPr lang="en-US" b="1" i="1" dirty="0" smtClean="0">
                        <a:latin typeface="Cambria Math"/>
                      </a:rPr>
                      <m:t>𝑸</m:t>
                    </m:r>
                    <m:r>
                      <a:rPr lang="en-US" b="1" i="1" dirty="0" smtClean="0">
                        <a:latin typeface="Cambria Math"/>
                      </a:rPr>
                      <m:t>∷(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b="1" i="1" dirty="0">
                        <a:latin typeface="Cambria Math"/>
                      </a:rPr>
                      <m:t>,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𝑸</m:t>
                    </m:r>
                  </m:oMath>
                </a14:m>
                <a:r>
                  <a:rPr lang="en-US" dirty="0"/>
                  <a:t> is the shortest path from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1143000"/>
                <a:ext cx="6398418" cy="369332"/>
              </a:xfrm>
              <a:prstGeom prst="rect">
                <a:avLst/>
              </a:prstGeom>
              <a:blipFill rotWithShape="1">
                <a:blip r:embed="rId13"/>
                <a:stretch>
                  <a:fillRect l="-858" t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Down Arrow 31"/>
          <p:cNvSpPr/>
          <p:nvPr/>
        </p:nvSpPr>
        <p:spPr>
          <a:xfrm rot="1878908">
            <a:off x="3369558" y="4725437"/>
            <a:ext cx="265847" cy="604982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1218272" y="5486400"/>
            <a:ext cx="2292572" cy="838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dirty="0">
                <a:solidFill>
                  <a:schemeClr val="tx1"/>
                </a:solidFill>
              </a:rPr>
              <a:t>Start all over from scratch to solve the shortest paths  problem in graph with –</a:t>
            </a:r>
            <a:r>
              <a:rPr lang="en-US" sz="1400" dirty="0" err="1">
                <a:solidFill>
                  <a:schemeClr val="tx1"/>
                </a:solidFill>
              </a:rPr>
              <a:t>ve</a:t>
            </a:r>
            <a:r>
              <a:rPr lang="en-US" sz="1400" dirty="0">
                <a:solidFill>
                  <a:schemeClr val="tx1"/>
                </a:solidFill>
              </a:rPr>
              <a:t> edge weights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988669" y="5486400"/>
            <a:ext cx="2438400" cy="838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dirty="0">
                <a:solidFill>
                  <a:schemeClr val="tx1"/>
                </a:solidFill>
              </a:rPr>
              <a:t>Let us investigate like a true researcher for the exact cause of the violation of the optimal </a:t>
            </a:r>
            <a:r>
              <a:rPr lang="en-US" sz="1400" dirty="0" err="1">
                <a:solidFill>
                  <a:schemeClr val="tx1"/>
                </a:solidFill>
              </a:rPr>
              <a:t>subpath</a:t>
            </a:r>
            <a:r>
              <a:rPr lang="en-US" sz="1400" dirty="0">
                <a:solidFill>
                  <a:schemeClr val="tx1"/>
                </a:solidFill>
              </a:rPr>
              <a:t> property.</a:t>
            </a:r>
          </a:p>
        </p:txBody>
      </p:sp>
      <p:sp>
        <p:nvSpPr>
          <p:cNvPr id="84" name="Down Arrow 83"/>
          <p:cNvSpPr/>
          <p:nvPr/>
        </p:nvSpPr>
        <p:spPr>
          <a:xfrm rot="19390715">
            <a:off x="5141980" y="4743720"/>
            <a:ext cx="265847" cy="604982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L-Shape 33"/>
          <p:cNvSpPr/>
          <p:nvPr/>
        </p:nvSpPr>
        <p:spPr>
          <a:xfrm rot="19493833">
            <a:off x="7490443" y="5542287"/>
            <a:ext cx="552424" cy="294130"/>
          </a:xfrm>
          <a:prstGeom prst="corner">
            <a:avLst>
              <a:gd name="adj1" fmla="val 33177"/>
              <a:gd name="adj2" fmla="val 28083"/>
            </a:avLst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/>
          <p:cNvSpPr/>
          <p:nvPr/>
        </p:nvSpPr>
        <p:spPr>
          <a:xfrm>
            <a:off x="3703277" y="5556725"/>
            <a:ext cx="1219200" cy="41177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Give up !</a:t>
            </a:r>
          </a:p>
        </p:txBody>
      </p:sp>
      <p:sp>
        <p:nvSpPr>
          <p:cNvPr id="88" name="Down Arrow 87"/>
          <p:cNvSpPr/>
          <p:nvPr/>
        </p:nvSpPr>
        <p:spPr>
          <a:xfrm>
            <a:off x="4229953" y="4877837"/>
            <a:ext cx="265847" cy="604982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Cloud Callout 88"/>
          <p:cNvSpPr/>
          <p:nvPr/>
        </p:nvSpPr>
        <p:spPr>
          <a:xfrm>
            <a:off x="3062381" y="5556725"/>
            <a:ext cx="1704419" cy="604392"/>
          </a:xfrm>
          <a:prstGeom prst="cloudCallout">
            <a:avLst>
              <a:gd name="adj1" fmla="val -28777"/>
              <a:gd name="adj2" fmla="val 8036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But how ?</a:t>
            </a:r>
          </a:p>
        </p:txBody>
      </p:sp>
      <p:sp>
        <p:nvSpPr>
          <p:cNvPr id="90" name="Down Ribbon 89"/>
          <p:cNvSpPr/>
          <p:nvPr/>
        </p:nvSpPr>
        <p:spPr>
          <a:xfrm>
            <a:off x="0" y="5364490"/>
            <a:ext cx="3352800" cy="80771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Instead of working with these numbers (2,-3,10,…), consider a </a:t>
            </a:r>
            <a:r>
              <a:rPr lang="en-US" sz="1200" b="1" dirty="0">
                <a:solidFill>
                  <a:schemeClr val="tx1"/>
                </a:solidFill>
              </a:rPr>
              <a:t>generic example </a:t>
            </a:r>
            <a:r>
              <a:rPr lang="en-US" sz="1200" dirty="0">
                <a:solidFill>
                  <a:schemeClr val="tx1"/>
                </a:solidFill>
              </a:rPr>
              <a:t>where the property fails.</a:t>
            </a:r>
          </a:p>
        </p:txBody>
      </p:sp>
    </p:spTree>
    <p:extLst>
      <p:ext uri="{BB962C8B-B14F-4D97-AF65-F5344CB8AC3E}">
        <p14:creationId xmlns:p14="http://schemas.microsoft.com/office/powerpoint/2010/main" val="22152081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25" grpId="0" animBg="1"/>
      <p:bldP spid="25" grpId="1" animBg="1"/>
      <p:bldP spid="28" grpId="0" animBg="1"/>
      <p:bldP spid="28" grpId="1" animBg="1"/>
      <p:bldP spid="32" grpId="0" animBg="1"/>
      <p:bldP spid="32" grpId="1" animBg="1"/>
      <p:bldP spid="33" grpId="0" animBg="1"/>
      <p:bldP spid="33" grpId="1" animBg="1"/>
      <p:bldP spid="83" grpId="0" animBg="1"/>
      <p:bldP spid="84" grpId="0" animBg="1"/>
      <p:bldP spid="84" grpId="1" animBg="1"/>
      <p:bldP spid="34" grpId="0" animBg="1"/>
      <p:bldP spid="36" grpId="0" animBg="1"/>
      <p:bldP spid="36" grpId="1" animBg="1"/>
      <p:bldP spid="88" grpId="0" animBg="1"/>
      <p:bldP spid="88" grpId="1" animBg="1"/>
      <p:bldP spid="89" grpId="0" animBg="1"/>
      <p:bldP spid="89" grpId="1" animBg="1"/>
      <p:bldP spid="90" grpId="0" animBg="1"/>
      <p:bldP spid="90" grpId="1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13641</TotalTime>
  <Words>2385</Words>
  <Application>Microsoft Office PowerPoint</Application>
  <PresentationFormat>On-screen Show (4:3)</PresentationFormat>
  <Paragraphs>798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Cambria Math</vt:lpstr>
      <vt:lpstr>Wingdings</vt:lpstr>
      <vt:lpstr>Office Theme</vt:lpstr>
      <vt:lpstr>Design and Analysis of Algorithms </vt:lpstr>
      <vt:lpstr>Recap of the last lecture</vt:lpstr>
      <vt:lpstr>Overview of Dynamic Progrmming Paradigm. </vt:lpstr>
      <vt:lpstr>PowerPoint Presentation</vt:lpstr>
      <vt:lpstr>OPTMAL Triangulation of  a CONVEX POLYGON</vt:lpstr>
      <vt:lpstr>Convex polygon </vt:lpstr>
      <vt:lpstr>Triangulation of  a CONVEX POLYGON </vt:lpstr>
      <vt:lpstr>Triangulation of  a CONVEX POLYGON </vt:lpstr>
      <vt:lpstr>Triangulation of  a CONVEX POLYGON </vt:lpstr>
      <vt:lpstr>OPTMAL Triangulation of  a CONVEX POLYGON</vt:lpstr>
      <vt:lpstr>PowerPoint Presentation</vt:lpstr>
      <vt:lpstr>Attempt 1</vt:lpstr>
      <vt:lpstr>How many possible triangulations ? </vt:lpstr>
      <vt:lpstr>How many possible triangulations ? </vt:lpstr>
      <vt:lpstr>How many possible triangulations ? </vt:lpstr>
      <vt:lpstr>How many possible triangulations ? </vt:lpstr>
      <vt:lpstr>How many possible triangulations ? </vt:lpstr>
      <vt:lpstr>How many possible triangulations ? </vt:lpstr>
      <vt:lpstr>How many possible triangulations ? </vt:lpstr>
      <vt:lpstr>How many possible triangulations ? </vt:lpstr>
      <vt:lpstr>How many possible triangulations ? </vt:lpstr>
      <vt:lpstr>How many possible triangulations ? </vt:lpstr>
      <vt:lpstr>PowerPoint Presentation</vt:lpstr>
      <vt:lpstr>How to compute optimal triangulation ? </vt:lpstr>
      <vt:lpstr>Bitonic tour</vt:lpstr>
      <vt:lpstr>Bitonic tour </vt:lpstr>
      <vt:lpstr>Bitonic tour </vt:lpstr>
      <vt:lpstr>Bitonic tour </vt:lpstr>
      <vt:lpstr>Bitonic tour </vt:lpstr>
      <vt:lpstr>Attempt 1</vt:lpstr>
      <vt:lpstr>New Idea:  Generalize the problem</vt:lpstr>
      <vt:lpstr>New Idea:  Generalize the problem</vt:lpstr>
      <vt:lpstr>New Idea:  Generalize the problem</vt:lpstr>
      <vt:lpstr>Homework</vt:lpstr>
      <vt:lpstr>Shortest pathS in a graph</vt:lpstr>
      <vt:lpstr>Problem Definition</vt:lpstr>
      <vt:lpstr>Revisiting Lecture 11</vt:lpstr>
      <vt:lpstr>Approach  1 </vt:lpstr>
      <vt:lpstr>Approach  1 </vt:lpstr>
      <vt:lpstr>What properties does Dijkstra’s algorithm exploit ? </vt:lpstr>
      <vt:lpstr>What properties does Dijkstra’s algorithm exploit ? </vt:lpstr>
      <vt:lpstr>Violating the Optimal subpath property </vt:lpstr>
      <vt:lpstr>Violating the Optimal subpath property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Surender Baswana</cp:lastModifiedBy>
  <cp:revision>1307</cp:revision>
  <dcterms:created xsi:type="dcterms:W3CDTF">2011-12-03T04:13:03Z</dcterms:created>
  <dcterms:modified xsi:type="dcterms:W3CDTF">2025-09-10T05:35:16Z</dcterms:modified>
</cp:coreProperties>
</file>