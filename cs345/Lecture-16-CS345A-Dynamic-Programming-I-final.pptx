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2" r:id="rId1"/>
  </p:sldMasterIdLst>
  <p:notesMasterIdLst>
    <p:notesMasterId r:id="rId32"/>
  </p:notesMasterIdLst>
  <p:sldIdLst>
    <p:sldId id="539" r:id="rId2"/>
    <p:sldId id="571" r:id="rId3"/>
    <p:sldId id="413" r:id="rId4"/>
    <p:sldId id="581" r:id="rId5"/>
    <p:sldId id="418" r:id="rId6"/>
    <p:sldId id="580" r:id="rId7"/>
    <p:sldId id="415" r:id="rId8"/>
    <p:sldId id="388" r:id="rId9"/>
    <p:sldId id="390" r:id="rId10"/>
    <p:sldId id="391" r:id="rId11"/>
    <p:sldId id="424" r:id="rId12"/>
    <p:sldId id="561" r:id="rId13"/>
    <p:sldId id="553" r:id="rId14"/>
    <p:sldId id="425" r:id="rId15"/>
    <p:sldId id="427" r:id="rId16"/>
    <p:sldId id="397" r:id="rId17"/>
    <p:sldId id="398" r:id="rId18"/>
    <p:sldId id="399" r:id="rId19"/>
    <p:sldId id="400" r:id="rId20"/>
    <p:sldId id="394" r:id="rId21"/>
    <p:sldId id="422" r:id="rId22"/>
    <p:sldId id="402" r:id="rId23"/>
    <p:sldId id="570" r:id="rId24"/>
    <p:sldId id="404" r:id="rId25"/>
    <p:sldId id="552" r:id="rId26"/>
    <p:sldId id="405" r:id="rId27"/>
    <p:sldId id="406" r:id="rId28"/>
    <p:sldId id="410" r:id="rId29"/>
    <p:sldId id="409" r:id="rId30"/>
    <p:sldId id="421" r:id="rId3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C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784" autoAdjust="0"/>
    <p:restoredTop sz="94177" autoAdjust="0"/>
  </p:normalViewPr>
  <p:slideViewPr>
    <p:cSldViewPr>
      <p:cViewPr varScale="1">
        <p:scale>
          <a:sx n="105" d="100"/>
          <a:sy n="105" d="100"/>
        </p:scale>
        <p:origin x="1728" y="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B11336-CC4A-4C0F-B09C-C5CBA464BE7A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BEC465-8393-41C9-A06D-CEF1E64A53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2129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98CE3-B467-467A-AAD5-9E1908479625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1ACDA-D648-4719-8CCF-388E5A063B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8139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98CE3-B467-467A-AAD5-9E1908479625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1ACDA-D648-4719-8CCF-388E5A063B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6806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98CE3-B467-467A-AAD5-9E1908479625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1ACDA-D648-4719-8CCF-388E5A063B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59836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98CE3-B467-467A-AAD5-9E1908479625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1ACDA-D648-4719-8CCF-388E5A063B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5952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98CE3-B467-467A-AAD5-9E1908479625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1ACDA-D648-4719-8CCF-388E5A063B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9420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98CE3-B467-467A-AAD5-9E1908479625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1ACDA-D648-4719-8CCF-388E5A063B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44889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98CE3-B467-467A-AAD5-9E1908479625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1ACDA-D648-4719-8CCF-388E5A063B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413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98CE3-B467-467A-AAD5-9E1908479625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1ACDA-D648-4719-8CCF-388E5A063B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6435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98CE3-B467-467A-AAD5-9E1908479625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1ACDA-D648-4719-8CCF-388E5A063B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80485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98CE3-B467-467A-AAD5-9E1908479625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1ACDA-D648-4719-8CCF-388E5A063B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6226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98CE3-B467-467A-AAD5-9E1908479625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1ACDA-D648-4719-8CCF-388E5A063B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41934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C98CE3-B467-467A-AAD5-9E1908479625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F1ACDA-D648-4719-8CCF-388E5A063B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2202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4.png"/><Relationship Id="rId18" Type="http://schemas.openxmlformats.org/officeDocument/2006/relationships/image" Target="../media/image15.png"/><Relationship Id="rId3" Type="http://schemas.openxmlformats.org/officeDocument/2006/relationships/image" Target="../media/image7.png"/><Relationship Id="rId21" Type="http://schemas.openxmlformats.org/officeDocument/2006/relationships/image" Target="../media/image18.png"/><Relationship Id="rId12" Type="http://schemas.openxmlformats.org/officeDocument/2006/relationships/image" Target="../media/image94.png"/><Relationship Id="rId17" Type="http://schemas.openxmlformats.org/officeDocument/2006/relationships/image" Target="../media/image14.png"/><Relationship Id="rId2" Type="http://schemas.openxmlformats.org/officeDocument/2006/relationships/image" Target="../media/image8.png"/><Relationship Id="rId20" Type="http://schemas.openxmlformats.org/officeDocument/2006/relationships/image" Target="../media/image17.png"/><Relationship Id="rId16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15" Type="http://schemas.openxmlformats.org/officeDocument/2006/relationships/image" Target="../media/image12.png"/><Relationship Id="rId19" Type="http://schemas.openxmlformats.org/officeDocument/2006/relationships/image" Target="../media/image16.png"/><Relationship Id="rId4" Type="http://schemas.openxmlformats.org/officeDocument/2006/relationships/image" Target="../media/image9.png"/><Relationship Id="rId14" Type="http://schemas.openxmlformats.org/officeDocument/2006/relationships/image" Target="../media/image11.png"/><Relationship Id="rId22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6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7" Type="http://schemas.openxmlformats.org/officeDocument/2006/relationships/image" Target="../media/image52.png"/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212.png"/><Relationship Id="rId10" Type="http://schemas.openxmlformats.org/officeDocument/2006/relationships/image" Target="../media/image82.png"/><Relationship Id="rId4" Type="http://schemas.openxmlformats.org/officeDocument/2006/relationships/image" Target="../media/image40.png"/><Relationship Id="rId9" Type="http://schemas.openxmlformats.org/officeDocument/2006/relationships/image" Target="../media/image20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7" Type="http://schemas.openxmlformats.org/officeDocument/2006/relationships/image" Target="../media/image123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4.png"/><Relationship Id="rId5" Type="http://schemas.openxmlformats.org/officeDocument/2006/relationships/image" Target="../media/image60.png"/><Relationship Id="rId4" Type="http://schemas.openxmlformats.org/officeDocument/2006/relationships/image" Target="../media/image5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7" Type="http://schemas.openxmlformats.org/officeDocument/2006/relationships/image" Target="../media/image123.png"/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4.png"/><Relationship Id="rId5" Type="http://schemas.openxmlformats.org/officeDocument/2006/relationships/image" Target="../media/image100.png"/><Relationship Id="rId4" Type="http://schemas.openxmlformats.org/officeDocument/2006/relationships/image" Target="../media/image60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0.png"/><Relationship Id="rId3" Type="http://schemas.openxmlformats.org/officeDocument/2006/relationships/image" Target="../media/image161.png"/><Relationship Id="rId7" Type="http://schemas.openxmlformats.org/officeDocument/2006/relationships/image" Target="../media/image151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2.png"/><Relationship Id="rId5" Type="http://schemas.openxmlformats.org/officeDocument/2006/relationships/image" Target="../media/image60.png"/><Relationship Id="rId10" Type="http://schemas.openxmlformats.org/officeDocument/2006/relationships/image" Target="../media/image114.png"/><Relationship Id="rId4" Type="http://schemas.openxmlformats.org/officeDocument/2006/relationships/image" Target="../media/image50.png"/><Relationship Id="rId9" Type="http://schemas.openxmlformats.org/officeDocument/2006/relationships/image" Target="../media/image131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1.png"/><Relationship Id="rId13" Type="http://schemas.openxmlformats.org/officeDocument/2006/relationships/image" Target="../media/image181.png"/><Relationship Id="rId3" Type="http://schemas.openxmlformats.org/officeDocument/2006/relationships/image" Target="../media/image202.png"/><Relationship Id="rId7" Type="http://schemas.openxmlformats.org/officeDocument/2006/relationships/image" Target="../media/image172.png"/><Relationship Id="rId12" Type="http://schemas.openxmlformats.org/officeDocument/2006/relationships/image" Target="../media/image140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2.png"/><Relationship Id="rId11" Type="http://schemas.openxmlformats.org/officeDocument/2006/relationships/image" Target="../media/image25.png"/><Relationship Id="rId5" Type="http://schemas.openxmlformats.org/officeDocument/2006/relationships/image" Target="../media/image60.png"/><Relationship Id="rId10" Type="http://schemas.openxmlformats.org/officeDocument/2006/relationships/image" Target="../media/image24.png"/><Relationship Id="rId4" Type="http://schemas.openxmlformats.org/officeDocument/2006/relationships/image" Target="../media/image50.png"/><Relationship Id="rId9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4.png"/><Relationship Id="rId3" Type="http://schemas.openxmlformats.org/officeDocument/2006/relationships/image" Target="../media/image160.png"/><Relationship Id="rId7" Type="http://schemas.openxmlformats.org/officeDocument/2006/relationships/image" Target="../media/image251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2.png"/><Relationship Id="rId5" Type="http://schemas.openxmlformats.org/officeDocument/2006/relationships/image" Target="../media/image60.png"/><Relationship Id="rId4" Type="http://schemas.openxmlformats.org/officeDocument/2006/relationships/image" Target="../media/image50.png"/><Relationship Id="rId9" Type="http://schemas.openxmlformats.org/officeDocument/2006/relationships/image" Target="../media/image123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3.png"/><Relationship Id="rId3" Type="http://schemas.openxmlformats.org/officeDocument/2006/relationships/image" Target="../media/image171.png"/><Relationship Id="rId7" Type="http://schemas.openxmlformats.org/officeDocument/2006/relationships/image" Target="../media/image114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1.png"/><Relationship Id="rId5" Type="http://schemas.openxmlformats.org/officeDocument/2006/relationships/image" Target="../media/image60.png"/><Relationship Id="rId4" Type="http://schemas.openxmlformats.org/officeDocument/2006/relationships/image" Target="../media/image50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1.png"/><Relationship Id="rId3" Type="http://schemas.openxmlformats.org/officeDocument/2006/relationships/image" Target="../media/image180.png"/><Relationship Id="rId7" Type="http://schemas.openxmlformats.org/officeDocument/2006/relationships/image" Target="../media/image172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0.png"/><Relationship Id="rId5" Type="http://schemas.openxmlformats.org/officeDocument/2006/relationships/image" Target="../media/image60.png"/><Relationship Id="rId10" Type="http://schemas.openxmlformats.org/officeDocument/2006/relationships/image" Target="../media/image123.png"/><Relationship Id="rId4" Type="http://schemas.openxmlformats.org/officeDocument/2006/relationships/image" Target="../media/image50.png"/><Relationship Id="rId9" Type="http://schemas.openxmlformats.org/officeDocument/2006/relationships/image" Target="../media/image114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2.png"/><Relationship Id="rId3" Type="http://schemas.openxmlformats.org/officeDocument/2006/relationships/image" Target="../media/image191.png"/><Relationship Id="rId7" Type="http://schemas.openxmlformats.org/officeDocument/2006/relationships/image" Target="../media/image170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0.png"/><Relationship Id="rId11" Type="http://schemas.openxmlformats.org/officeDocument/2006/relationships/image" Target="../media/image123.png"/><Relationship Id="rId5" Type="http://schemas.openxmlformats.org/officeDocument/2006/relationships/image" Target="../media/image60.png"/><Relationship Id="rId10" Type="http://schemas.openxmlformats.org/officeDocument/2006/relationships/image" Target="../media/image114.png"/><Relationship Id="rId4" Type="http://schemas.openxmlformats.org/officeDocument/2006/relationships/image" Target="../media/image50.png"/><Relationship Id="rId9" Type="http://schemas.openxmlformats.org/officeDocument/2006/relationships/image" Target="../media/image251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4.png"/><Relationship Id="rId3" Type="http://schemas.openxmlformats.org/officeDocument/2006/relationships/image" Target="../media/image201.png"/><Relationship Id="rId7" Type="http://schemas.openxmlformats.org/officeDocument/2006/relationships/image" Target="../media/image251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2.png"/><Relationship Id="rId5" Type="http://schemas.openxmlformats.org/officeDocument/2006/relationships/image" Target="../media/image60.png"/><Relationship Id="rId4" Type="http://schemas.openxmlformats.org/officeDocument/2006/relationships/image" Target="../media/image50.png"/><Relationship Id="rId9" Type="http://schemas.openxmlformats.org/officeDocument/2006/relationships/image" Target="../media/image123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0.png"/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1.png"/><Relationship Id="rId5" Type="http://schemas.openxmlformats.org/officeDocument/2006/relationships/image" Target="../media/image220.png"/><Relationship Id="rId4" Type="http://schemas.openxmlformats.org/officeDocument/2006/relationships/image" Target="../media/image21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0.png"/><Relationship Id="rId2" Type="http://schemas.openxmlformats.org/officeDocument/2006/relationships/image" Target="../media/image230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7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40.png"/><Relationship Id="rId7" Type="http://schemas.openxmlformats.org/officeDocument/2006/relationships/image" Target="../media/image29.png"/><Relationship Id="rId2" Type="http://schemas.openxmlformats.org/officeDocument/2006/relationships/image" Target="../media/image23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80.png"/><Relationship Id="rId11" Type="http://schemas.openxmlformats.org/officeDocument/2006/relationships/image" Target="../media/image33.png"/><Relationship Id="rId5" Type="http://schemas.openxmlformats.org/officeDocument/2006/relationships/image" Target="../media/image270.png"/><Relationship Id="rId10" Type="http://schemas.openxmlformats.org/officeDocument/2006/relationships/image" Target="../media/image32.png"/><Relationship Id="rId4" Type="http://schemas.openxmlformats.org/officeDocument/2006/relationships/image" Target="../media/image281.png"/><Relationship Id="rId9" Type="http://schemas.openxmlformats.org/officeDocument/2006/relationships/image" Target="../media/image31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2.png"/><Relationship Id="rId3" Type="http://schemas.openxmlformats.org/officeDocument/2006/relationships/image" Target="../media/image72.png"/><Relationship Id="rId7" Type="http://schemas.openxmlformats.org/officeDocument/2006/relationships/image" Target="../media/image110.png"/><Relationship Id="rId2" Type="http://schemas.openxmlformats.org/officeDocument/2006/relationships/image" Target="../media/image62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2.png"/><Relationship Id="rId5" Type="http://schemas.openxmlformats.org/officeDocument/2006/relationships/image" Target="../media/image92.png"/><Relationship Id="rId10" Type="http://schemas.openxmlformats.org/officeDocument/2006/relationships/image" Target="../media/image340.png"/><Relationship Id="rId4" Type="http://schemas.openxmlformats.org/officeDocument/2006/relationships/image" Target="../media/image81.png"/><Relationship Id="rId9" Type="http://schemas.openxmlformats.org/officeDocument/2006/relationships/image" Target="../media/image130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42.png"/><Relationship Id="rId7" Type="http://schemas.openxmlformats.org/officeDocument/2006/relationships/image" Target="../media/image44.png"/><Relationship Id="rId2" Type="http://schemas.openxmlformats.org/officeDocument/2006/relationships/image" Target="../media/image23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50.png"/><Relationship Id="rId5" Type="http://schemas.openxmlformats.org/officeDocument/2006/relationships/image" Target="../media/image43.png"/><Relationship Id="rId4" Type="http://schemas.openxmlformats.org/officeDocument/2006/relationships/image" Target="../media/image351.png"/><Relationship Id="rId9" Type="http://schemas.openxmlformats.org/officeDocument/2006/relationships/image" Target="../media/image46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400.png"/><Relationship Id="rId7" Type="http://schemas.openxmlformats.org/officeDocument/2006/relationships/image" Target="../media/image45.png"/><Relationship Id="rId2" Type="http://schemas.openxmlformats.org/officeDocument/2006/relationships/image" Target="../media/image39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4.png"/><Relationship Id="rId5" Type="http://schemas.openxmlformats.org/officeDocument/2006/relationships/image" Target="../media/image350.png"/><Relationship Id="rId4" Type="http://schemas.openxmlformats.org/officeDocument/2006/relationships/image" Target="../media/image43.png"/><Relationship Id="rId9" Type="http://schemas.openxmlformats.org/officeDocument/2006/relationships/image" Target="../media/image410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0" y="2133600"/>
            <a:ext cx="8382000" cy="1466850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Design and Analysis of Algorithms</a:t>
            </a:r>
            <a:b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4499848"/>
            <a:ext cx="7239000" cy="1600200"/>
          </a:xfr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2400" b="1" dirty="0">
                <a:solidFill>
                  <a:srgbClr val="C00000"/>
                </a:solidFill>
              </a:rPr>
              <a:t>Lecture 16</a:t>
            </a:r>
            <a:endParaRPr lang="en-US" sz="2400" b="1" dirty="0">
              <a:solidFill>
                <a:srgbClr val="0070C0"/>
              </a:solidFill>
            </a:endParaRPr>
          </a:p>
          <a:p>
            <a:pPr algn="l" fontAlgn="auto">
              <a:spcAft>
                <a:spcPts val="0"/>
              </a:spcAft>
              <a:defRPr/>
            </a:pPr>
            <a:r>
              <a:rPr lang="en-US" sz="1200" b="1" dirty="0">
                <a:solidFill>
                  <a:srgbClr val="0070C0"/>
                </a:solidFill>
              </a:rPr>
              <a:t> </a:t>
            </a:r>
          </a:p>
          <a:p>
            <a:pPr>
              <a:defRPr/>
            </a:pPr>
            <a:r>
              <a:rPr lang="en-US" sz="2000" b="1" dirty="0">
                <a:solidFill>
                  <a:schemeClr val="tx1"/>
                </a:solidFill>
              </a:rPr>
              <a:t>A </a:t>
            </a:r>
            <a:r>
              <a:rPr lang="en-US" sz="2000" b="1" dirty="0">
                <a:solidFill>
                  <a:srgbClr val="0070C0"/>
                </a:solidFill>
              </a:rPr>
              <a:t>new</a:t>
            </a:r>
            <a:r>
              <a:rPr lang="en-US" sz="2000" b="1" dirty="0">
                <a:solidFill>
                  <a:schemeClr val="tx1"/>
                </a:solidFill>
              </a:rPr>
              <a:t> algorithm paradigm</a:t>
            </a:r>
          </a:p>
          <a:p>
            <a:pPr>
              <a:defRPr/>
            </a:pPr>
            <a:r>
              <a:rPr lang="en-US" sz="2000" b="1" dirty="0">
                <a:solidFill>
                  <a:srgbClr val="7030A0"/>
                </a:solidFill>
              </a:rPr>
              <a:t>Dynamic Programming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6F4FD3-5535-4BD2-8147-A67FFD5F22D1}" type="slidenum">
              <a:rPr lang="en-US"/>
              <a:pPr>
                <a:defRPr/>
              </a:pPr>
              <a:t>1</a:t>
            </a:fld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3733800" y="3077230"/>
            <a:ext cx="1600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CS345</a:t>
            </a:r>
            <a:endParaRPr lang="en-US" sz="2800" b="1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906792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E6E73C5-857F-F545-A846-742E54E02BE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sz="3200" b="1" u="sng" dirty="0"/>
              <a:t>One important </a:t>
            </a:r>
            <a:r>
              <a:rPr lang="en-US" sz="3200" b="1" dirty="0"/>
              <a:t>aspect of </a:t>
            </a:r>
            <a:r>
              <a:rPr lang="en-US" sz="3200" b="1" dirty="0">
                <a:solidFill>
                  <a:srgbClr val="7030A0"/>
                </a:solidFill>
              </a:rPr>
              <a:t>Dynamic Programming </a:t>
            </a:r>
            <a:r>
              <a:rPr lang="en-US" sz="3200" b="1" dirty="0"/>
              <a:t>has a close connection with</a:t>
            </a:r>
            <a:br>
              <a:rPr lang="en-US" sz="3200" b="1" dirty="0"/>
            </a:br>
            <a:r>
              <a:rPr lang="en-US" sz="3200" b="1" dirty="0"/>
              <a:t> </a:t>
            </a:r>
            <a:endParaRPr lang="en-IN" sz="3200" b="1" dirty="0">
              <a:solidFill>
                <a:srgbClr val="7030A0"/>
              </a:solidFill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4DEE48CE-FB32-7471-32D8-01F7036918B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7030A0"/>
                </a:solidFill>
              </a:rPr>
              <a:t>Fibonacci Numbers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702571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2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2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2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>
                <a:solidFill>
                  <a:srgbClr val="7030A0"/>
                </a:solidFill>
              </a:rPr>
              <a:t>Fibonacci numbers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sz="2800" b="1" dirty="0"/>
                  <a:t>Fibonacci numbers</a:t>
                </a:r>
              </a:p>
              <a:p>
                <a:pPr marL="0" indent="0">
                  <a:buNone/>
                </a:pPr>
                <a:r>
                  <a:rPr lang="en-US" sz="2400" dirty="0"/>
                  <a:t>    </a:t>
                </a:r>
                <a:r>
                  <a:rPr lang="en-US" sz="2400" b="1" dirty="0">
                    <a:solidFill>
                      <a:srgbClr val="C00000"/>
                    </a:solidFill>
                  </a:rPr>
                  <a:t>F</a:t>
                </a:r>
                <a:r>
                  <a:rPr lang="en-US" sz="2400" dirty="0"/>
                  <a:t>(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2400" dirty="0"/>
                  <a:t>) =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2400" dirty="0"/>
                  <a:t>;</a:t>
                </a:r>
              </a:p>
              <a:p>
                <a:pPr marL="0" indent="0">
                  <a:buNone/>
                </a:pPr>
                <a:r>
                  <a:rPr lang="en-US" sz="2400" dirty="0"/>
                  <a:t>    </a:t>
                </a:r>
                <a:r>
                  <a:rPr lang="en-US" sz="2400" b="1" dirty="0">
                    <a:solidFill>
                      <a:srgbClr val="C00000"/>
                    </a:solidFill>
                  </a:rPr>
                  <a:t>F</a:t>
                </a:r>
                <a:r>
                  <a:rPr lang="en-US" sz="2400" dirty="0"/>
                  <a:t>(</a:t>
                </a:r>
                <a:r>
                  <a:rPr lang="en-US" sz="2400" dirty="0">
                    <a:solidFill>
                      <a:srgbClr val="0070C0"/>
                    </a:solidFill>
                  </a:rPr>
                  <a:t>1</a:t>
                </a:r>
                <a:r>
                  <a:rPr lang="en-US" sz="2400" dirty="0"/>
                  <a:t>) = </a:t>
                </a:r>
                <a:r>
                  <a:rPr lang="en-US" sz="2400" dirty="0">
                    <a:solidFill>
                      <a:srgbClr val="0070C0"/>
                    </a:solidFill>
                  </a:rPr>
                  <a:t>1</a:t>
                </a:r>
                <a:r>
                  <a:rPr lang="en-US" sz="2400" dirty="0"/>
                  <a:t>;</a:t>
                </a:r>
              </a:p>
              <a:p>
                <a:pPr marL="0" indent="0">
                  <a:buNone/>
                </a:pPr>
                <a:r>
                  <a:rPr lang="en-US" sz="2400" dirty="0"/>
                  <a:t>    </a:t>
                </a:r>
                <a:r>
                  <a:rPr lang="en-US" sz="2400" b="1" dirty="0">
                    <a:solidFill>
                      <a:srgbClr val="C00000"/>
                    </a:solidFill>
                  </a:rPr>
                  <a:t>F</a:t>
                </a:r>
                <a:r>
                  <a:rPr lang="en-US" sz="2400" dirty="0"/>
                  <a:t>(</a:t>
                </a:r>
                <a14:m>
                  <m:oMath xmlns:m="http://schemas.openxmlformats.org/officeDocument/2006/math">
                    <m:r>
                      <a:rPr lang="en-US" sz="2400" b="0" i="1" dirty="0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2400" dirty="0"/>
                  <a:t>) = </a:t>
                </a:r>
                <a:r>
                  <a:rPr lang="en-US" sz="2400" b="1" dirty="0">
                    <a:solidFill>
                      <a:srgbClr val="C00000"/>
                    </a:solidFill>
                  </a:rPr>
                  <a:t>F</a:t>
                </a:r>
                <a:r>
                  <a:rPr lang="en-US" sz="2400" dirty="0"/>
                  <a:t>(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b="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sz="2400" dirty="0"/>
                  <a:t>) + </a:t>
                </a:r>
                <a:r>
                  <a:rPr lang="en-US" sz="2400" b="1" dirty="0">
                    <a:solidFill>
                      <a:srgbClr val="C00000"/>
                    </a:solidFill>
                  </a:rPr>
                  <a:t>F</a:t>
                </a:r>
                <a:r>
                  <a:rPr lang="en-US" sz="2400" dirty="0"/>
                  <a:t>(</a:t>
                </a:r>
                <a14:m>
                  <m:oMath xmlns:m="http://schemas.openxmlformats.org/officeDocument/2006/math">
                    <m:r>
                      <a:rPr lang="en-US" sz="2400" b="0" i="1" dirty="0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  <m:r>
                      <a:rPr lang="en-US" sz="2400" b="0" i="1" dirty="0" smtClean="0">
                        <a:solidFill>
                          <a:srgbClr val="0070C0"/>
                        </a:solidFill>
                        <a:latin typeface="Cambria Math"/>
                      </a:rPr>
                      <m:t>−2</m:t>
                    </m:r>
                  </m:oMath>
                </a14:m>
                <a:r>
                  <a:rPr lang="en-US" sz="2400" dirty="0"/>
                  <a:t>)  for all </a:t>
                </a:r>
                <a14:m>
                  <m:oMath xmlns:m="http://schemas.openxmlformats.org/officeDocument/2006/math">
                    <m:r>
                      <a:rPr lang="en-US" sz="2400" b="0" i="1" dirty="0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2400" dirty="0"/>
                  <a:t> &gt;</a:t>
                </a:r>
                <a:r>
                  <a:rPr lang="en-US" sz="2400" dirty="0">
                    <a:solidFill>
                      <a:srgbClr val="0070C0"/>
                    </a:solidFill>
                  </a:rPr>
                  <a:t>1;</a:t>
                </a:r>
                <a:endParaRPr lang="en-US" sz="2400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  </a:t>
                </a:r>
                <a:endParaRPr lang="en-US" sz="2000" dirty="0"/>
              </a:p>
              <a:p>
                <a:pPr marL="0" indent="0">
                  <a:buNone/>
                </a:pPr>
                <a:endParaRPr lang="en-US" sz="2400" b="1" dirty="0"/>
              </a:p>
              <a:p>
                <a:pPr marL="0" indent="0">
                  <a:buNone/>
                </a:pPr>
                <a:r>
                  <a:rPr lang="en-US" sz="2400" b="1" dirty="0"/>
                  <a:t>Algorithms </a:t>
                </a:r>
                <a:r>
                  <a:rPr lang="en-US" sz="2400" dirty="0"/>
                  <a:t>for computing </a:t>
                </a:r>
                <a:r>
                  <a:rPr lang="en-US" sz="2400" b="1" dirty="0">
                    <a:solidFill>
                      <a:srgbClr val="C00000"/>
                    </a:solidFill>
                  </a:rPr>
                  <a:t>F</a:t>
                </a:r>
                <a:r>
                  <a:rPr lang="en-US" sz="2400" dirty="0"/>
                  <a:t>(</a:t>
                </a:r>
                <a14:m>
                  <m:oMath xmlns:m="http://schemas.openxmlformats.org/officeDocument/2006/math">
                    <m:r>
                      <a:rPr lang="en-US" sz="2400" b="0" i="1" dirty="0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2400" dirty="0"/>
                  <a:t>) :</a:t>
                </a:r>
              </a:p>
              <a:p>
                <a:r>
                  <a:rPr lang="en-US" sz="2800" b="1" dirty="0">
                    <a:solidFill>
                      <a:srgbClr val="7030A0"/>
                    </a:solidFill>
                  </a:rPr>
                  <a:t>recursive </a:t>
                </a:r>
              </a:p>
              <a:p>
                <a:r>
                  <a:rPr lang="en-US" sz="2800" b="1" dirty="0">
                    <a:solidFill>
                      <a:srgbClr val="7030A0"/>
                    </a:solidFill>
                  </a:rPr>
                  <a:t>Iterative</a:t>
                </a:r>
              </a:p>
              <a:p>
                <a:pPr marL="0" indent="0">
                  <a:buNone/>
                </a:pPr>
                <a:endParaRPr lang="en-US" b="1" dirty="0"/>
              </a:p>
              <a:p>
                <a:endParaRPr lang="en-US" b="1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698" t="-16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810000" y="3657600"/>
                <a:ext cx="1514838" cy="513795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2000" b="1" dirty="0">
                    <a:solidFill>
                      <a:srgbClr val="C00000"/>
                    </a:solidFill>
                  </a:rPr>
                  <a:t>F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b="0" i="1" dirty="0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2000" dirty="0"/>
                  <a:t>) 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2</m:t>
                        </m:r>
                      </m:e>
                      <m:sup>
                        <m:f>
                          <m:fPr>
                            <m:ctrlPr>
                              <a:rPr lang="en-US" sz="20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i="1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𝑛</m:t>
                            </m:r>
                            <m:r>
                              <a:rPr lang="en-US" sz="2000" i="1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−2</m:t>
                            </m:r>
                          </m:num>
                          <m:den>
                            <m:r>
                              <a:rPr lang="en-US" sz="2000" i="1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2</m:t>
                            </m:r>
                          </m:den>
                        </m:f>
                      </m:sup>
                    </m:sSup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0" y="3657600"/>
                <a:ext cx="1514838" cy="513795"/>
              </a:xfrm>
              <a:prstGeom prst="rect">
                <a:avLst/>
              </a:prstGeom>
              <a:blipFill>
                <a:blip r:embed="rId3"/>
                <a:stretch>
                  <a:fillRect l="-3306" b="-19048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>
            <a:extLst>
              <a:ext uri="{FF2B5EF4-FFF2-40B4-BE49-F238E27FC236}">
                <a16:creationId xmlns:a16="http://schemas.microsoft.com/office/drawing/2014/main" id="{A67EEE77-04FE-091A-329D-0B63D757E110}"/>
              </a:ext>
            </a:extLst>
          </p:cNvPr>
          <p:cNvSpPr/>
          <p:nvPr/>
        </p:nvSpPr>
        <p:spPr>
          <a:xfrm>
            <a:off x="1600200" y="3017838"/>
            <a:ext cx="2438400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400A1DB-0022-463F-A36D-46496F196106}"/>
              </a:ext>
            </a:extLst>
          </p:cNvPr>
          <p:cNvSpPr/>
          <p:nvPr/>
        </p:nvSpPr>
        <p:spPr>
          <a:xfrm>
            <a:off x="4038600" y="3048000"/>
            <a:ext cx="2438400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960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  <p:bldP spid="5" grpId="0" animBg="1"/>
      <p:bldP spid="7" grpId="0" animBg="1"/>
      <p:bldP spid="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7D502C-EDE3-21DF-7350-54EBE3806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873360B4-AB08-A922-291E-51A228FA893A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sz="4000" b="1" dirty="0">
                    <a:solidFill>
                      <a:srgbClr val="7030A0"/>
                    </a:solidFill>
                  </a:rPr>
                  <a:t>Recursive </a:t>
                </a:r>
                <a:r>
                  <a:rPr lang="en-US" sz="4000" b="1" dirty="0"/>
                  <a:t>algorithm for </a:t>
                </a:r>
                <a:r>
                  <a:rPr lang="en-US" sz="4000" b="1" dirty="0">
                    <a:solidFill>
                      <a:srgbClr val="7030A0"/>
                    </a:solidFill>
                  </a:rPr>
                  <a:t>F(</a:t>
                </a:r>
                <a14:m>
                  <m:oMath xmlns:m="http://schemas.openxmlformats.org/officeDocument/2006/math">
                    <m:r>
                      <a:rPr lang="en-US" sz="4000" b="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4000" b="1" dirty="0">
                    <a:solidFill>
                      <a:srgbClr val="7030A0"/>
                    </a:solidFill>
                  </a:rPr>
                  <a:t>)</a:t>
                </a:r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b="-43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9FF301B-876F-7B7E-5085-AEFF4E6BD40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1295400"/>
                <a:ext cx="8686800" cy="525780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endParaRPr lang="en-US" b="1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:r>
                  <a:rPr lang="en-US" sz="2800" b="1" dirty="0" err="1">
                    <a:solidFill>
                      <a:srgbClr val="7030A0"/>
                    </a:solidFill>
                  </a:rPr>
                  <a:t>Rfib</a:t>
                </a:r>
                <a:r>
                  <a:rPr lang="en-US" sz="2800" dirty="0"/>
                  <a:t>(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800" dirty="0"/>
                  <a:t>)</a:t>
                </a:r>
              </a:p>
              <a:p>
                <a:pPr marL="0" indent="0">
                  <a:buNone/>
                </a:pPr>
                <a:r>
                  <a:rPr lang="en-US" sz="2400" dirty="0"/>
                  <a:t>{       </a:t>
                </a:r>
              </a:p>
              <a:p>
                <a:pPr marL="0" indent="0">
                  <a:buNone/>
                </a:pPr>
                <a:r>
                  <a:rPr lang="en-US" sz="2400" dirty="0"/>
                  <a:t>       if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return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2400" dirty="0"/>
                  <a:t>;</a:t>
                </a:r>
              </a:p>
              <a:p>
                <a:pPr marL="0" indent="0">
                  <a:buNone/>
                </a:pPr>
                <a:r>
                  <a:rPr lang="en-US" sz="2400" dirty="0"/>
                  <a:t>       else   if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return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400" dirty="0"/>
                  <a:t>;</a:t>
                </a:r>
              </a:p>
              <a:p>
                <a:pPr marL="0" indent="0">
                  <a:buNone/>
                </a:pPr>
                <a:r>
                  <a:rPr lang="en-US" sz="2400" dirty="0"/>
                  <a:t>                 else return(  </a:t>
                </a:r>
                <a:r>
                  <a:rPr lang="en-US" sz="2400" b="1" dirty="0" err="1">
                    <a:solidFill>
                      <a:srgbClr val="7030A0"/>
                    </a:solidFill>
                  </a:rPr>
                  <a:t>Rfib</a:t>
                </a:r>
                <a:r>
                  <a:rPr lang="en-US" sz="2400" dirty="0"/>
                  <a:t>(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sz="2400" dirty="0"/>
                  <a:t>)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sz="2400" dirty="0"/>
                  <a:t> </a:t>
                </a:r>
                <a:r>
                  <a:rPr lang="en-US" sz="2400" b="1" dirty="0" err="1">
                    <a:solidFill>
                      <a:srgbClr val="7030A0"/>
                    </a:solidFill>
                  </a:rPr>
                  <a:t>Rfib</a:t>
                </a:r>
                <a:r>
                  <a:rPr lang="en-US" sz="2400" dirty="0"/>
                  <a:t>(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−2</m:t>
                    </m:r>
                  </m:oMath>
                </a14:m>
                <a:r>
                  <a:rPr lang="en-US" sz="2400" dirty="0"/>
                  <a:t>)   )</a:t>
                </a:r>
              </a:p>
              <a:p>
                <a:pPr marL="0" indent="0">
                  <a:buNone/>
                </a:pPr>
                <a:r>
                  <a:rPr lang="en-US" sz="2400" dirty="0"/>
                  <a:t>}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295400"/>
                <a:ext cx="8686800" cy="5257800"/>
              </a:xfrm>
              <a:blipFill>
                <a:blip r:embed="rId3"/>
                <a:stretch>
                  <a:fillRect l="-16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0C1FF2-6AF5-13C6-36AF-32BA3833E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EDDC2D2-37D4-BC50-2779-D74224FD98AB}"/>
              </a:ext>
            </a:extLst>
          </p:cNvPr>
          <p:cNvSpPr/>
          <p:nvPr/>
        </p:nvSpPr>
        <p:spPr>
          <a:xfrm>
            <a:off x="2743200" y="3733800"/>
            <a:ext cx="3276600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22A4EB11-3C52-8F83-4BA3-A3018CDC3467}"/>
                  </a:ext>
                </a:extLst>
              </p:cNvPr>
              <p:cNvSpPr txBox="1"/>
              <p:nvPr/>
            </p:nvSpPr>
            <p:spPr>
              <a:xfrm>
                <a:off x="2362200" y="5211762"/>
                <a:ext cx="3266472" cy="369332"/>
              </a:xfrm>
              <a:prstGeom prst="rect">
                <a:avLst/>
              </a:prstGeom>
              <a:solidFill>
                <a:srgbClr val="FFC000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Real time to run for 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=1000</m:t>
                    </m:r>
                  </m:oMath>
                </a14:m>
                <a:r>
                  <a:rPr lang="en-US" dirty="0"/>
                  <a:t> ? </a:t>
                </a: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A7307BF8-21CF-C088-3574-535692E6F6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2200" y="5211762"/>
                <a:ext cx="3266472" cy="369332"/>
              </a:xfrm>
              <a:prstGeom prst="rect">
                <a:avLst/>
              </a:prstGeom>
              <a:blipFill>
                <a:blip r:embed="rId4"/>
                <a:stretch>
                  <a:fillRect l="-1490" t="-7937" b="-2222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Smiley Face 35">
            <a:extLst>
              <a:ext uri="{FF2B5EF4-FFF2-40B4-BE49-F238E27FC236}">
                <a16:creationId xmlns:a16="http://schemas.microsoft.com/office/drawing/2014/main" id="{9F7333FC-B373-5E46-20AC-272B97F272F3}"/>
              </a:ext>
            </a:extLst>
          </p:cNvPr>
          <p:cNvSpPr/>
          <p:nvPr/>
        </p:nvSpPr>
        <p:spPr>
          <a:xfrm>
            <a:off x="8219218" y="4800600"/>
            <a:ext cx="914400" cy="914400"/>
          </a:xfrm>
          <a:prstGeom prst="smileyFace">
            <a:avLst>
              <a:gd name="adj" fmla="val -4653"/>
            </a:avLst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5167C6-52FD-374F-40E4-8E150004668C}"/>
              </a:ext>
            </a:extLst>
          </p:cNvPr>
          <p:cNvSpPr txBox="1"/>
          <p:nvPr/>
        </p:nvSpPr>
        <p:spPr>
          <a:xfrm>
            <a:off x="5628672" y="5204103"/>
            <a:ext cx="2320187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Hours, days, months …</a:t>
            </a:r>
            <a:endParaRPr lang="en-IN" dirty="0">
              <a:solidFill>
                <a:srgbClr val="C00000"/>
              </a:solidFill>
            </a:endParaRPr>
          </a:p>
        </p:txBody>
      </p:sp>
      <p:sp>
        <p:nvSpPr>
          <p:cNvPr id="7" name="Cloud Callout 24">
            <a:extLst>
              <a:ext uri="{FF2B5EF4-FFF2-40B4-BE49-F238E27FC236}">
                <a16:creationId xmlns:a16="http://schemas.microsoft.com/office/drawing/2014/main" id="{395E1683-4885-0DB0-A249-E42A7AFBDDC1}"/>
              </a:ext>
            </a:extLst>
          </p:cNvPr>
          <p:cNvSpPr/>
          <p:nvPr/>
        </p:nvSpPr>
        <p:spPr>
          <a:xfrm>
            <a:off x="1808636" y="5655026"/>
            <a:ext cx="5811364" cy="939171"/>
          </a:xfrm>
          <a:prstGeom prst="cloudCallout">
            <a:avLst>
              <a:gd name="adj1" fmla="val -28956"/>
              <a:gd name="adj2" fmla="val 83820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Let us look at its recursion tree to find the exact cause of its inefficiency.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97809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375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4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47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  <p:bldP spid="5" grpId="0" animBg="1"/>
      <p:bldP spid="35" grpId="0" animBg="1"/>
      <p:bldP spid="36" grpId="0" animBg="1"/>
      <p:bldP spid="6" grpId="0" animBg="1"/>
      <p:bldP spid="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sz="4000" b="1" dirty="0">
                    <a:solidFill>
                      <a:srgbClr val="7030A0"/>
                    </a:solidFill>
                  </a:rPr>
                  <a:t>Recursive </a:t>
                </a:r>
                <a:r>
                  <a:rPr lang="en-US" sz="4000" b="1" dirty="0"/>
                  <a:t>algorithm for </a:t>
                </a:r>
                <a:r>
                  <a:rPr lang="en-US" sz="4000" b="1" dirty="0">
                    <a:solidFill>
                      <a:srgbClr val="7030A0"/>
                    </a:solidFill>
                  </a:rPr>
                  <a:t>F(</a:t>
                </a:r>
                <a14:m>
                  <m:oMath xmlns:m="http://schemas.openxmlformats.org/officeDocument/2006/math">
                    <m:r>
                      <a:rPr lang="en-US" sz="4000" b="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4000" b="1" dirty="0">
                    <a:solidFill>
                      <a:srgbClr val="7030A0"/>
                    </a:solidFill>
                  </a:rPr>
                  <a:t>)</a:t>
                </a:r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b="-43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0" y="1295400"/>
                <a:ext cx="8686800" cy="525780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endParaRPr lang="en-US" b="1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:r>
                  <a:rPr lang="en-US" sz="2800" b="1" dirty="0" err="1">
                    <a:solidFill>
                      <a:srgbClr val="7030A0"/>
                    </a:solidFill>
                  </a:rPr>
                  <a:t>Rfib</a:t>
                </a:r>
                <a:r>
                  <a:rPr lang="en-US" sz="2800" dirty="0"/>
                  <a:t>(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800" dirty="0"/>
                  <a:t>)</a:t>
                </a:r>
              </a:p>
              <a:p>
                <a:pPr marL="0" indent="0">
                  <a:buNone/>
                </a:pPr>
                <a:r>
                  <a:rPr lang="en-US" sz="2400" dirty="0"/>
                  <a:t>{       </a:t>
                </a:r>
              </a:p>
              <a:p>
                <a:pPr marL="0" indent="0">
                  <a:buNone/>
                </a:pPr>
                <a:r>
                  <a:rPr lang="en-US" sz="2400" dirty="0"/>
                  <a:t>       if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return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2400" dirty="0"/>
                  <a:t>;</a:t>
                </a:r>
              </a:p>
              <a:p>
                <a:pPr marL="0" indent="0">
                  <a:buNone/>
                </a:pPr>
                <a:r>
                  <a:rPr lang="en-US" sz="2400" dirty="0"/>
                  <a:t>       else   if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return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400" dirty="0"/>
                  <a:t>;</a:t>
                </a:r>
              </a:p>
              <a:p>
                <a:pPr marL="0" indent="0">
                  <a:buNone/>
                </a:pPr>
                <a:r>
                  <a:rPr lang="en-US" sz="2400" dirty="0"/>
                  <a:t>                 else return(  </a:t>
                </a:r>
                <a:r>
                  <a:rPr lang="en-US" sz="2400" b="1" dirty="0" err="1">
                    <a:solidFill>
                      <a:srgbClr val="7030A0"/>
                    </a:solidFill>
                  </a:rPr>
                  <a:t>Rfib</a:t>
                </a:r>
                <a:r>
                  <a:rPr lang="en-US" sz="2400" dirty="0"/>
                  <a:t>(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sz="2400" dirty="0"/>
                  <a:t>)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sz="2400" dirty="0"/>
                  <a:t> </a:t>
                </a:r>
                <a:r>
                  <a:rPr lang="en-US" sz="2400" b="1" dirty="0" err="1">
                    <a:solidFill>
                      <a:srgbClr val="7030A0"/>
                    </a:solidFill>
                  </a:rPr>
                  <a:t>Rfib</a:t>
                </a:r>
                <a:r>
                  <a:rPr lang="en-US" sz="2400" dirty="0"/>
                  <a:t>(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−2</m:t>
                    </m:r>
                  </m:oMath>
                </a14:m>
                <a:r>
                  <a:rPr lang="en-US" sz="2400" dirty="0"/>
                  <a:t>)   )</a:t>
                </a:r>
              </a:p>
              <a:p>
                <a:pPr marL="0" indent="0">
                  <a:buNone/>
                </a:pPr>
                <a:r>
                  <a:rPr lang="en-US" sz="2400" dirty="0"/>
                  <a:t>}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295400"/>
                <a:ext cx="8686800" cy="5257800"/>
              </a:xfrm>
              <a:blipFill>
                <a:blip r:embed="rId3"/>
                <a:stretch>
                  <a:fillRect l="-16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2743200" y="3733800"/>
            <a:ext cx="3276600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A7307BF8-21CF-C088-3574-535692E6F664}"/>
                  </a:ext>
                </a:extLst>
              </p:cNvPr>
              <p:cNvSpPr txBox="1"/>
              <p:nvPr/>
            </p:nvSpPr>
            <p:spPr>
              <a:xfrm>
                <a:off x="2362200" y="5211762"/>
                <a:ext cx="3266472" cy="369332"/>
              </a:xfrm>
              <a:prstGeom prst="rect">
                <a:avLst/>
              </a:prstGeom>
              <a:solidFill>
                <a:srgbClr val="FFC000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Real time to run for 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=1000</m:t>
                    </m:r>
                  </m:oMath>
                </a14:m>
                <a:r>
                  <a:rPr lang="en-US" dirty="0"/>
                  <a:t> ? </a:t>
                </a: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A7307BF8-21CF-C088-3574-535692E6F6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2200" y="5211762"/>
                <a:ext cx="3266472" cy="369332"/>
              </a:xfrm>
              <a:prstGeom prst="rect">
                <a:avLst/>
              </a:prstGeom>
              <a:blipFill>
                <a:blip r:embed="rId4"/>
                <a:stretch>
                  <a:fillRect l="-1490" t="-7937" b="-2222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BFE5B2E7-A67D-2C2E-C0AF-516ECB21BD45}"/>
              </a:ext>
            </a:extLst>
          </p:cNvPr>
          <p:cNvSpPr txBox="1"/>
          <p:nvPr/>
        </p:nvSpPr>
        <p:spPr>
          <a:xfrm>
            <a:off x="5628672" y="5204103"/>
            <a:ext cx="2320187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Hours, days, months …</a:t>
            </a:r>
            <a:endParaRPr lang="en-IN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48447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375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4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1"/>
      <p:bldP spid="3" grpId="0" uiExpand="1" build="p"/>
      <p:bldP spid="5" grpId="0" animBg="1"/>
      <p:bldP spid="35" grpId="0" animBg="1"/>
      <p:bldP spid="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3BB851-3EAD-6C46-BCE3-817A881E3D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Oval 82">
            <a:extLst>
              <a:ext uri="{FF2B5EF4-FFF2-40B4-BE49-F238E27FC236}">
                <a16:creationId xmlns:a16="http://schemas.microsoft.com/office/drawing/2014/main" id="{B52788AC-B4AD-562D-7C9A-2210DCD6D548}"/>
              </a:ext>
            </a:extLst>
          </p:cNvPr>
          <p:cNvSpPr/>
          <p:nvPr/>
        </p:nvSpPr>
        <p:spPr>
          <a:xfrm>
            <a:off x="2768577" y="4072606"/>
            <a:ext cx="568272" cy="572518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A0024181-F7F2-71EF-F7A5-F03BC8DA6F57}"/>
              </a:ext>
            </a:extLst>
          </p:cNvPr>
          <p:cNvSpPr/>
          <p:nvPr/>
        </p:nvSpPr>
        <p:spPr>
          <a:xfrm>
            <a:off x="1356216" y="4066634"/>
            <a:ext cx="568272" cy="572518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14E89B6E-2673-6150-90EE-BA837CE916E2}"/>
              </a:ext>
            </a:extLst>
          </p:cNvPr>
          <p:cNvSpPr/>
          <p:nvPr/>
        </p:nvSpPr>
        <p:spPr>
          <a:xfrm>
            <a:off x="-95851" y="5123509"/>
            <a:ext cx="568272" cy="572518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C495309C-24A6-C49E-2FDD-6C9C7FDF554A}"/>
              </a:ext>
            </a:extLst>
          </p:cNvPr>
          <p:cNvSpPr/>
          <p:nvPr/>
        </p:nvSpPr>
        <p:spPr>
          <a:xfrm>
            <a:off x="3152226" y="2997024"/>
            <a:ext cx="568272" cy="572518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F0337CF8-CBF1-4CA4-D270-F69B1F150C30}"/>
              </a:ext>
            </a:extLst>
          </p:cNvPr>
          <p:cNvSpPr/>
          <p:nvPr/>
        </p:nvSpPr>
        <p:spPr>
          <a:xfrm>
            <a:off x="356801" y="4072923"/>
            <a:ext cx="568272" cy="572518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139070C-265F-1238-391A-584F6415A066}"/>
              </a:ext>
            </a:extLst>
          </p:cNvPr>
          <p:cNvGrpSpPr/>
          <p:nvPr/>
        </p:nvGrpSpPr>
        <p:grpSpPr>
          <a:xfrm>
            <a:off x="2045989" y="1906550"/>
            <a:ext cx="844270" cy="695918"/>
            <a:chOff x="6586654" y="1437682"/>
            <a:chExt cx="844270" cy="695918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0627AAEF-C34D-E9B5-A4DB-9943C79BA2EA}"/>
                </a:ext>
              </a:extLst>
            </p:cNvPr>
            <p:cNvSpPr/>
            <p:nvPr/>
          </p:nvSpPr>
          <p:spPr>
            <a:xfrm>
              <a:off x="6781800" y="1828800"/>
              <a:ext cx="304800" cy="304800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59FBB3A9-6419-53D5-A071-AD6BF05AA1F5}"/>
                    </a:ext>
                  </a:extLst>
                </p:cNvPr>
                <p:cNvSpPr txBox="1"/>
                <p:nvPr/>
              </p:nvSpPr>
              <p:spPr>
                <a:xfrm>
                  <a:off x="6586654" y="1437682"/>
                  <a:ext cx="84427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m:rPr>
                          <m:nor/>
                        </m:rPr>
                        <a:rPr lang="en-US" b="1" dirty="0">
                          <a:solidFill>
                            <a:srgbClr val="7030A0"/>
                          </a:solidFill>
                        </a:rPr>
                        <m:t>Rfib</m:t>
                      </m:r>
                    </m:oMath>
                  </a14:m>
                  <a:r>
                    <a:rPr lang="en-US" dirty="0"/>
                    <a:t>(</a:t>
                  </a:r>
                  <a14:m>
                    <m:oMath xmlns:m="http://schemas.openxmlformats.org/officeDocument/2006/math">
                      <m:r>
                        <a:rPr lang="en-US" i="1">
                          <a:solidFill>
                            <a:srgbClr val="0070C0"/>
                          </a:solidFill>
                          <a:latin typeface="Cambria Math"/>
                        </a:rPr>
                        <m:t>𝑛</m:t>
                      </m:r>
                    </m:oMath>
                  </a14:m>
                  <a:r>
                    <a:rPr lang="en-US" dirty="0"/>
                    <a:t>)</a:t>
                  </a:r>
                </a:p>
              </p:txBody>
            </p:sp>
          </mc:Choice>
          <mc:Fallback xmlns="">
            <p:sp>
              <p:nvSpPr>
                <p:cNvPr id="6" name="TextBox 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86654" y="1437682"/>
                  <a:ext cx="844270" cy="369332"/>
                </a:xfrm>
                <a:prstGeom prst="rect">
                  <a:avLst/>
                </a:prstGeom>
                <a:blipFill>
                  <a:blip r:embed="rId2"/>
                  <a:stretch>
                    <a:fillRect t="-10000" r="-4478" b="-2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FA2C86EE-6610-8913-71E1-20B9C9A54B9C}"/>
              </a:ext>
            </a:extLst>
          </p:cNvPr>
          <p:cNvCxnSpPr>
            <a:stCxn id="5" idx="2"/>
            <a:endCxn id="9" idx="7"/>
          </p:cNvCxnSpPr>
          <p:nvPr/>
        </p:nvCxnSpPr>
        <p:spPr>
          <a:xfrm flipH="1">
            <a:off x="1205898" y="2450068"/>
            <a:ext cx="1035237" cy="730437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090079BF-884E-7D4E-4AF2-36F746407256}"/>
              </a:ext>
            </a:extLst>
          </p:cNvPr>
          <p:cNvCxnSpPr>
            <a:stCxn id="5" idx="6"/>
            <a:endCxn id="12" idx="0"/>
          </p:cNvCxnSpPr>
          <p:nvPr/>
        </p:nvCxnSpPr>
        <p:spPr>
          <a:xfrm>
            <a:off x="2545935" y="2450068"/>
            <a:ext cx="883065" cy="6858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BAD19078-085E-3EFA-FC38-F444E599CE93}"/>
              </a:ext>
            </a:extLst>
          </p:cNvPr>
          <p:cNvCxnSpPr>
            <a:stCxn id="9" idx="3"/>
          </p:cNvCxnSpPr>
          <p:nvPr/>
        </p:nvCxnSpPr>
        <p:spPr>
          <a:xfrm flipH="1">
            <a:off x="640937" y="3396031"/>
            <a:ext cx="349435" cy="783301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FF9E02A3-3BD3-8550-7191-D376F664D0A6}"/>
              </a:ext>
            </a:extLst>
          </p:cNvPr>
          <p:cNvCxnSpPr>
            <a:stCxn id="9" idx="5"/>
            <a:endCxn id="18" idx="0"/>
          </p:cNvCxnSpPr>
          <p:nvPr/>
        </p:nvCxnSpPr>
        <p:spPr>
          <a:xfrm>
            <a:off x="1205898" y="3396031"/>
            <a:ext cx="439167" cy="794969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F691A3C7-EE90-AEBD-F78E-99C3A100A85F}"/>
              </a:ext>
            </a:extLst>
          </p:cNvPr>
          <p:cNvCxnSpPr>
            <a:endCxn id="21" idx="0"/>
          </p:cNvCxnSpPr>
          <p:nvPr/>
        </p:nvCxnSpPr>
        <p:spPr>
          <a:xfrm flipH="1">
            <a:off x="3048000" y="3396031"/>
            <a:ext cx="336135" cy="794969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4030AAD5-EC58-964D-A940-7F0D0B507159}"/>
              </a:ext>
            </a:extLst>
          </p:cNvPr>
          <p:cNvCxnSpPr>
            <a:cxnSpLocks/>
            <a:stCxn id="12" idx="5"/>
            <a:endCxn id="24" idx="0"/>
          </p:cNvCxnSpPr>
          <p:nvPr/>
        </p:nvCxnSpPr>
        <p:spPr>
          <a:xfrm>
            <a:off x="3536763" y="3396031"/>
            <a:ext cx="501837" cy="871169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9080DA39-9CEA-DBD4-097D-0A15F12AEA81}"/>
              </a:ext>
            </a:extLst>
          </p:cNvPr>
          <p:cNvSpPr txBox="1"/>
          <p:nvPr/>
        </p:nvSpPr>
        <p:spPr>
          <a:xfrm>
            <a:off x="1672329" y="1563238"/>
            <a:ext cx="1593898" cy="369332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Recursion tree</a:t>
            </a:r>
          </a:p>
        </p:txBody>
      </p:sp>
      <p:graphicFrame>
        <p:nvGraphicFramePr>
          <p:cNvPr id="34" name="Table 33">
            <a:extLst>
              <a:ext uri="{FF2B5EF4-FFF2-40B4-BE49-F238E27FC236}">
                <a16:creationId xmlns:a16="http://schemas.microsoft.com/office/drawing/2014/main" id="{A6421C47-FB5F-9A7D-DBD6-39005A4B1E26}"/>
              </a:ext>
            </a:extLst>
          </p:cNvPr>
          <p:cNvGraphicFramePr>
            <a:graphicFrameLocks noGrp="1"/>
          </p:cNvGraphicFramePr>
          <p:nvPr/>
        </p:nvGraphicFramePr>
        <p:xfrm>
          <a:off x="5334000" y="6012934"/>
          <a:ext cx="3810000" cy="387866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8786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52C8EDD1-7092-0E76-5DA3-6D91BDABB7CB}"/>
              </a:ext>
            </a:extLst>
          </p:cNvPr>
          <p:cNvGraphicFramePr>
            <a:graphicFrameLocks noGrp="1"/>
          </p:cNvGraphicFramePr>
          <p:nvPr/>
        </p:nvGraphicFramePr>
        <p:xfrm>
          <a:off x="5334000" y="6400800"/>
          <a:ext cx="3764380" cy="38100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3764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64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64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64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7643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7643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7643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7643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7643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7643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961382B3-389D-F902-F0E0-6FEA8751B586}"/>
                  </a:ext>
                </a:extLst>
              </p:cNvPr>
              <p:cNvSpPr txBox="1"/>
              <p:nvPr/>
            </p:nvSpPr>
            <p:spPr>
              <a:xfrm>
                <a:off x="8001000" y="6400800"/>
                <a:ext cx="32252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>
                          <a:solidFill>
                            <a:srgbClr val="0070C0"/>
                          </a:solidFill>
                          <a:latin typeface="Cambria Math"/>
                          <a:sym typeface="Wingdings" pitchFamily="2" charset="2"/>
                        </a:rPr>
                        <m:t>𝒊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3DD20CA2-0CD3-AD40-A03C-1BF673030C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1000" y="6400800"/>
                <a:ext cx="322524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78C9ED8F-5E88-6FCE-8EC0-4F7A7E7D17C6}"/>
              </a:ext>
            </a:extLst>
          </p:cNvPr>
          <p:cNvCxnSpPr/>
          <p:nvPr/>
        </p:nvCxnSpPr>
        <p:spPr>
          <a:xfrm>
            <a:off x="7783783" y="6172200"/>
            <a:ext cx="457200" cy="0"/>
          </a:xfrm>
          <a:prstGeom prst="straightConnector1">
            <a:avLst/>
          </a:prstGeom>
          <a:ln w="38100">
            <a:solidFill>
              <a:srgbClr val="006C3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9" name="Group 38">
            <a:extLst>
              <a:ext uri="{FF2B5EF4-FFF2-40B4-BE49-F238E27FC236}">
                <a16:creationId xmlns:a16="http://schemas.microsoft.com/office/drawing/2014/main" id="{A6121AB1-C7C7-638C-1204-1C1B5AC536FE}"/>
              </a:ext>
            </a:extLst>
          </p:cNvPr>
          <p:cNvGrpSpPr/>
          <p:nvPr/>
        </p:nvGrpSpPr>
        <p:grpSpPr>
          <a:xfrm>
            <a:off x="7490365" y="5880610"/>
            <a:ext cx="815435" cy="801056"/>
            <a:chOff x="3632139" y="5880610"/>
            <a:chExt cx="815435" cy="801056"/>
          </a:xfrm>
        </p:grpSpPr>
        <p:sp>
          <p:nvSpPr>
            <p:cNvPr id="41" name="Arc 40">
              <a:extLst>
                <a:ext uri="{FF2B5EF4-FFF2-40B4-BE49-F238E27FC236}">
                  <a16:creationId xmlns:a16="http://schemas.microsoft.com/office/drawing/2014/main" id="{D602355C-5807-C7EE-7E19-E6A9EC8B3AE7}"/>
                </a:ext>
              </a:extLst>
            </p:cNvPr>
            <p:cNvSpPr/>
            <p:nvPr/>
          </p:nvSpPr>
          <p:spPr>
            <a:xfrm rot="18829603">
              <a:off x="3639329" y="5873420"/>
              <a:ext cx="801056" cy="815435"/>
            </a:xfrm>
            <a:prstGeom prst="arc">
              <a:avLst>
                <a:gd name="adj1" fmla="val 14547298"/>
                <a:gd name="adj2" fmla="val 1320001"/>
              </a:avLst>
            </a:prstGeom>
            <a:ln w="38100">
              <a:solidFill>
                <a:srgbClr val="006C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4BCAB53E-259A-C077-3384-3CC77D6B461F}"/>
                </a:ext>
              </a:extLst>
            </p:cNvPr>
            <p:cNvCxnSpPr/>
            <p:nvPr/>
          </p:nvCxnSpPr>
          <p:spPr>
            <a:xfrm>
              <a:off x="4382757" y="6038850"/>
              <a:ext cx="47625" cy="95250"/>
            </a:xfrm>
            <a:prstGeom prst="straightConnector1">
              <a:avLst/>
            </a:prstGeom>
            <a:ln w="38100">
              <a:solidFill>
                <a:srgbClr val="006C3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D7FB453C-B6F2-792F-0EDD-921D1C279863}"/>
              </a:ext>
            </a:extLst>
          </p:cNvPr>
          <p:cNvSpPr txBox="1"/>
          <p:nvPr/>
        </p:nvSpPr>
        <p:spPr>
          <a:xfrm>
            <a:off x="4800600" y="5943600"/>
            <a:ext cx="3257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7030A0"/>
                </a:solidFill>
              </a:rPr>
              <a:t>F</a:t>
            </a:r>
            <a:endParaRPr lang="en-US" sz="24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8800563-4171-0125-E92D-546D09ADA715}"/>
              </a:ext>
            </a:extLst>
          </p:cNvPr>
          <p:cNvSpPr txBox="1"/>
          <p:nvPr/>
        </p:nvSpPr>
        <p:spPr>
          <a:xfrm>
            <a:off x="5410200" y="6019800"/>
            <a:ext cx="6303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0    1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itle 1">
                <a:extLst>
                  <a:ext uri="{FF2B5EF4-FFF2-40B4-BE49-F238E27FC236}">
                    <a16:creationId xmlns:a16="http://schemas.microsoft.com/office/drawing/2014/main" id="{8005F802-4C70-E64A-589D-7B8E81574110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sz="4000" b="1" dirty="0">
                    <a:solidFill>
                      <a:srgbClr val="7030A0"/>
                    </a:solidFill>
                  </a:rPr>
                  <a:t>Recursive </a:t>
                </a:r>
                <a:r>
                  <a:rPr lang="en-US" sz="4000" b="1" dirty="0"/>
                  <a:t>algorithm for </a:t>
                </a:r>
                <a:r>
                  <a:rPr lang="en-US" sz="4000" b="1" dirty="0">
                    <a:solidFill>
                      <a:srgbClr val="7030A0"/>
                    </a:solidFill>
                  </a:rPr>
                  <a:t>F(</a:t>
                </a:r>
                <a14:m>
                  <m:oMath xmlns:m="http://schemas.openxmlformats.org/officeDocument/2006/math">
                    <m:r>
                      <a:rPr lang="en-US" sz="4000" b="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4000" b="1" dirty="0">
                    <a:solidFill>
                      <a:srgbClr val="7030A0"/>
                    </a:solidFill>
                  </a:rPr>
                  <a:t>)</a:t>
                </a:r>
              </a:p>
            </p:txBody>
          </p:sp>
        </mc:Choice>
        <mc:Fallback xmlns="">
          <p:sp>
            <p:nvSpPr>
              <p:cNvPr id="28" name="Title 1">
                <a:extLst>
                  <a:ext uri="{FF2B5EF4-FFF2-40B4-BE49-F238E27FC236}">
                    <a16:creationId xmlns:a16="http://schemas.microsoft.com/office/drawing/2014/main" id="{74A25E74-A74E-EF19-0ECF-66C800E1DD9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4"/>
                <a:stretch>
                  <a:fillRect b="-319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921F8C59-8DD0-70F0-F0D5-7A740870C92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238144" y="1600200"/>
                <a:ext cx="3448655" cy="452596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000" dirty="0"/>
                  <a:t>The algorithm computes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000" b="1" i="0" dirty="0" smtClean="0">
                        <a:solidFill>
                          <a:srgbClr val="C00000"/>
                        </a:solidFill>
                      </a:rPr>
                      <m:t>F</m:t>
                    </m:r>
                  </m:oMath>
                </a14:m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−2</m:t>
                    </m:r>
                  </m:oMath>
                </a14:m>
                <a:r>
                  <a:rPr lang="en-US" sz="2000" dirty="0"/>
                  <a:t>)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000" b="1" i="0" dirty="0" smtClean="0">
                        <a:solidFill>
                          <a:srgbClr val="C00000"/>
                        </a:solidFill>
                      </a:rPr>
                      <m:t>F</m:t>
                    </m:r>
                  </m:oMath>
                </a14:m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−3</m:t>
                    </m:r>
                  </m:oMath>
                </a14:m>
                <a:r>
                  <a:rPr lang="en-US" sz="2000" dirty="0"/>
                  <a:t>)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en-US" sz="2000" dirty="0"/>
                  <a:t>…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000" b="1" dirty="0">
                        <a:solidFill>
                          <a:srgbClr val="C00000"/>
                        </a:solidFill>
                      </a:rPr>
                      <m:t>F</m:t>
                    </m:r>
                  </m:oMath>
                </a14:m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000" dirty="0"/>
                  <a:t>)</a:t>
                </a:r>
              </a:p>
              <a:p>
                <a:pPr marL="0" indent="0">
                  <a:buNone/>
                </a:pPr>
                <a:endParaRPr lang="en-IN" sz="2000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4DD3014B-71A8-427C-6E6F-4E0233F4F2E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238144" y="1600200"/>
                <a:ext cx="3448655" cy="4525963"/>
              </a:xfrm>
              <a:blipFill>
                <a:blip r:embed="rId5"/>
                <a:stretch>
                  <a:fillRect l="-1767" t="-80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Group 7">
            <a:extLst>
              <a:ext uri="{FF2B5EF4-FFF2-40B4-BE49-F238E27FC236}">
                <a16:creationId xmlns:a16="http://schemas.microsoft.com/office/drawing/2014/main" id="{F85EBFCC-99E3-044B-EE65-AA1B19193DA3}"/>
              </a:ext>
            </a:extLst>
          </p:cNvPr>
          <p:cNvGrpSpPr/>
          <p:nvPr/>
        </p:nvGrpSpPr>
        <p:grpSpPr>
          <a:xfrm>
            <a:off x="563675" y="2667000"/>
            <a:ext cx="1248227" cy="773668"/>
            <a:chOff x="6399740" y="1359932"/>
            <a:chExt cx="1248227" cy="773668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D7257EC5-B3C0-9009-772C-0CB0D4419431}"/>
                </a:ext>
              </a:extLst>
            </p:cNvPr>
            <p:cNvSpPr/>
            <p:nvPr/>
          </p:nvSpPr>
          <p:spPr>
            <a:xfrm>
              <a:off x="6781800" y="1828800"/>
              <a:ext cx="304800" cy="304800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4A94DC77-B8D0-CB8A-8D4D-0C02E493A647}"/>
                    </a:ext>
                  </a:extLst>
                </p:cNvPr>
                <p:cNvSpPr txBox="1"/>
                <p:nvPr/>
              </p:nvSpPr>
              <p:spPr>
                <a:xfrm>
                  <a:off x="6399740" y="1359932"/>
                  <a:ext cx="124822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m:rPr>
                          <m:nor/>
                        </m:rPr>
                        <a:rPr lang="en-US" b="1" dirty="0">
                          <a:solidFill>
                            <a:srgbClr val="7030A0"/>
                          </a:solidFill>
                        </a:rPr>
                        <m:t>Rfib</m:t>
                      </m:r>
                    </m:oMath>
                  </a14:m>
                  <a:r>
                    <a:rPr lang="en-US" dirty="0"/>
                    <a:t>(</a:t>
                  </a:r>
                  <a14:m>
                    <m:oMath xmlns:m="http://schemas.openxmlformats.org/officeDocument/2006/math">
                      <m:r>
                        <a:rPr lang="en-US" i="1">
                          <a:solidFill>
                            <a:srgbClr val="0070C0"/>
                          </a:solidFill>
                          <a:latin typeface="Cambria Math"/>
                        </a:rPr>
                        <m:t>𝑛</m:t>
                      </m:r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−1</m:t>
                      </m:r>
                    </m:oMath>
                  </a14:m>
                  <a:r>
                    <a:rPr lang="en-US" dirty="0"/>
                    <a:t>)</a:t>
                  </a:r>
                </a:p>
              </p:txBody>
            </p:sp>
          </mc:Choice>
          <mc:Fallback xmlns="">
            <p:sp>
              <p:nvSpPr>
                <p:cNvPr id="10" name="TextBox 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99740" y="1359932"/>
                  <a:ext cx="1248227" cy="369332"/>
                </a:xfrm>
                <a:prstGeom prst="rect">
                  <a:avLst/>
                </a:prstGeom>
                <a:blipFill>
                  <a:blip r:embed="rId12"/>
                  <a:stretch>
                    <a:fillRect t="-10000" r="-3030" b="-2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5E8E3D4-BC01-60A8-9F22-5F82A23318CE}"/>
              </a:ext>
            </a:extLst>
          </p:cNvPr>
          <p:cNvGrpSpPr/>
          <p:nvPr/>
        </p:nvGrpSpPr>
        <p:grpSpPr>
          <a:xfrm>
            <a:off x="2993303" y="2667000"/>
            <a:ext cx="1248227" cy="773668"/>
            <a:chOff x="6498503" y="1359932"/>
            <a:chExt cx="1248227" cy="773668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A1480F4A-1A6E-8EF9-392E-230064654E66}"/>
                </a:ext>
              </a:extLst>
            </p:cNvPr>
            <p:cNvSpPr/>
            <p:nvPr/>
          </p:nvSpPr>
          <p:spPr>
            <a:xfrm>
              <a:off x="6781800" y="1828800"/>
              <a:ext cx="304800" cy="304800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EBE686FA-348E-E230-D9F8-936A18B91486}"/>
                    </a:ext>
                  </a:extLst>
                </p:cNvPr>
                <p:cNvSpPr txBox="1"/>
                <p:nvPr/>
              </p:nvSpPr>
              <p:spPr>
                <a:xfrm>
                  <a:off x="6498503" y="1359932"/>
                  <a:ext cx="124822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m:rPr>
                          <m:nor/>
                        </m:rPr>
                        <a:rPr lang="en-US" b="1" dirty="0">
                          <a:solidFill>
                            <a:srgbClr val="7030A0"/>
                          </a:solidFill>
                        </a:rPr>
                        <m:t>Rfib</m:t>
                      </m:r>
                    </m:oMath>
                  </a14:m>
                  <a:r>
                    <a:rPr lang="en-US" dirty="0"/>
                    <a:t>(</a:t>
                  </a:r>
                  <a14:m>
                    <m:oMath xmlns:m="http://schemas.openxmlformats.org/officeDocument/2006/math">
                      <m:r>
                        <a:rPr lang="en-US" i="1">
                          <a:solidFill>
                            <a:srgbClr val="0070C0"/>
                          </a:solidFill>
                          <a:latin typeface="Cambria Math"/>
                        </a:rPr>
                        <m:t>𝑛</m:t>
                      </m:r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−2</m:t>
                      </m:r>
                    </m:oMath>
                  </a14:m>
                  <a:r>
                    <a:rPr lang="en-US" dirty="0"/>
                    <a:t>)</a:t>
                  </a:r>
                </a:p>
              </p:txBody>
            </p:sp>
          </mc:Choice>
          <mc:Fallback xmlns="">
            <p:sp>
              <p:nvSpPr>
                <p:cNvPr id="13" name="TextBox 1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98503" y="1359932"/>
                  <a:ext cx="1248227" cy="369332"/>
                </a:xfrm>
                <a:prstGeom prst="rect">
                  <a:avLst/>
                </a:prstGeom>
                <a:blipFill>
                  <a:blip r:embed="rId13"/>
                  <a:stretch>
                    <a:fillRect t="-10000" r="-2000" b="-2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7D93816-1EEB-EACF-DD23-6DBA455EC73E}"/>
              </a:ext>
            </a:extLst>
          </p:cNvPr>
          <p:cNvGrpSpPr/>
          <p:nvPr/>
        </p:nvGrpSpPr>
        <p:grpSpPr>
          <a:xfrm>
            <a:off x="-76200" y="4202668"/>
            <a:ext cx="1248227" cy="738664"/>
            <a:chOff x="6217065" y="1828800"/>
            <a:chExt cx="1248227" cy="738664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610D069D-53F3-C377-DB5B-A033B44C63B5}"/>
                </a:ext>
              </a:extLst>
            </p:cNvPr>
            <p:cNvSpPr/>
            <p:nvPr/>
          </p:nvSpPr>
          <p:spPr>
            <a:xfrm>
              <a:off x="6781800" y="1828800"/>
              <a:ext cx="304800" cy="304800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2BAE7606-9334-F373-98D4-CF89B2B44F5B}"/>
                    </a:ext>
                  </a:extLst>
                </p:cNvPr>
                <p:cNvSpPr txBox="1"/>
                <p:nvPr/>
              </p:nvSpPr>
              <p:spPr>
                <a:xfrm>
                  <a:off x="6217065" y="2198132"/>
                  <a:ext cx="124822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m:rPr>
                          <m:nor/>
                        </m:rPr>
                        <a:rPr lang="en-US" b="1" dirty="0">
                          <a:solidFill>
                            <a:srgbClr val="7030A0"/>
                          </a:solidFill>
                        </a:rPr>
                        <m:t>Rfib</m:t>
                      </m:r>
                    </m:oMath>
                  </a14:m>
                  <a:r>
                    <a:rPr lang="en-US" dirty="0"/>
                    <a:t>(</a:t>
                  </a:r>
                  <a14:m>
                    <m:oMath xmlns:m="http://schemas.openxmlformats.org/officeDocument/2006/math">
                      <m:r>
                        <a:rPr lang="en-US" i="1">
                          <a:solidFill>
                            <a:srgbClr val="0070C0"/>
                          </a:solidFill>
                          <a:latin typeface="Cambria Math"/>
                        </a:rPr>
                        <m:t>𝑛</m:t>
                      </m:r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−2</m:t>
                      </m:r>
                    </m:oMath>
                  </a14:m>
                  <a:r>
                    <a:rPr lang="en-US" dirty="0"/>
                    <a:t>)</a:t>
                  </a:r>
                </a:p>
              </p:txBody>
            </p:sp>
          </mc:Choice>
          <mc:Fallback xmlns="">
            <p:sp>
              <p:nvSpPr>
                <p:cNvPr id="16" name="TextBox 1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17065" y="2198132"/>
                  <a:ext cx="1248227" cy="369332"/>
                </a:xfrm>
                <a:prstGeom prst="rect">
                  <a:avLst/>
                </a:prstGeom>
                <a:blipFill>
                  <a:blip r:embed="rId14"/>
                  <a:stretch>
                    <a:fillRect t="-8197" r="-3902" b="-24590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33CD7E0D-83E2-CEC9-6E4F-1CA0518B942E}"/>
              </a:ext>
            </a:extLst>
          </p:cNvPr>
          <p:cNvGrpSpPr/>
          <p:nvPr/>
        </p:nvGrpSpPr>
        <p:grpSpPr>
          <a:xfrm>
            <a:off x="3886200" y="3886200"/>
            <a:ext cx="1447800" cy="685800"/>
            <a:chOff x="6660735" y="1447800"/>
            <a:chExt cx="1447800" cy="685800"/>
          </a:xfrm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F80DB36B-682C-16EF-CCEE-AE42E567E75E}"/>
                </a:ext>
              </a:extLst>
            </p:cNvPr>
            <p:cNvSpPr/>
            <p:nvPr/>
          </p:nvSpPr>
          <p:spPr>
            <a:xfrm>
              <a:off x="6660735" y="1828800"/>
              <a:ext cx="304800" cy="304800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96105EEC-CFB1-5DEC-2806-00B5B373F335}"/>
                    </a:ext>
                  </a:extLst>
                </p:cNvPr>
                <p:cNvSpPr txBox="1"/>
                <p:nvPr/>
              </p:nvSpPr>
              <p:spPr>
                <a:xfrm>
                  <a:off x="6860308" y="1447800"/>
                  <a:ext cx="124822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m:rPr>
                          <m:nor/>
                        </m:rPr>
                        <a:rPr lang="en-US" b="1" dirty="0">
                          <a:solidFill>
                            <a:srgbClr val="7030A0"/>
                          </a:solidFill>
                        </a:rPr>
                        <m:t>Rfib</m:t>
                      </m:r>
                    </m:oMath>
                  </a14:m>
                  <a:r>
                    <a:rPr lang="en-US" dirty="0"/>
                    <a:t>(</a:t>
                  </a:r>
                  <a14:m>
                    <m:oMath xmlns:m="http://schemas.openxmlformats.org/officeDocument/2006/math">
                      <m:r>
                        <a:rPr lang="en-US" i="1">
                          <a:solidFill>
                            <a:srgbClr val="0070C0"/>
                          </a:solidFill>
                          <a:latin typeface="Cambria Math"/>
                        </a:rPr>
                        <m:t>𝑛</m:t>
                      </m:r>
                      <m:r>
                        <a:rPr lang="en-US" b="0" i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−4</m:t>
                      </m:r>
                    </m:oMath>
                  </a14:m>
                  <a:r>
                    <a:rPr lang="en-US" dirty="0"/>
                    <a:t>)</a:t>
                  </a:r>
                </a:p>
              </p:txBody>
            </p:sp>
          </mc:Choice>
          <mc:Fallback xmlns="">
            <p:sp>
              <p:nvSpPr>
                <p:cNvPr id="25" name="TextBox 2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60308" y="1447800"/>
                  <a:ext cx="1248227" cy="369332"/>
                </a:xfrm>
                <a:prstGeom prst="rect">
                  <a:avLst/>
                </a:prstGeom>
                <a:blipFill>
                  <a:blip r:embed="rId17"/>
                  <a:stretch>
                    <a:fillRect t="-10000" r="-3902" b="-25000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BBE601B6-1F6D-4D57-BB95-2EBC58FE509E}"/>
                  </a:ext>
                </a:extLst>
              </p:cNvPr>
              <p:cNvSpPr txBox="1"/>
              <p:nvPr/>
            </p:nvSpPr>
            <p:spPr>
              <a:xfrm>
                <a:off x="5945665" y="5186402"/>
                <a:ext cx="2586670" cy="369332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1800" b="1" dirty="0">
                    <a:solidFill>
                      <a:srgbClr val="C00000"/>
                    </a:solidFill>
                  </a:rPr>
                  <a:t>F</a:t>
                </a:r>
                <a:r>
                  <a:rPr lang="en-US" sz="1800" dirty="0"/>
                  <a:t>(</a:t>
                </a:r>
                <a14:m>
                  <m:oMath xmlns:m="http://schemas.openxmlformats.org/officeDocument/2006/math">
                    <m:r>
                      <a:rPr lang="en-US" sz="1800" b="0" i="1" dirty="0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1800" dirty="0"/>
                  <a:t>) = </a:t>
                </a:r>
                <a:r>
                  <a:rPr lang="en-US" sz="1800" b="1" dirty="0">
                    <a:solidFill>
                      <a:srgbClr val="C00000"/>
                    </a:solidFill>
                  </a:rPr>
                  <a:t>F</a:t>
                </a:r>
                <a:r>
                  <a:rPr lang="en-US" sz="1800" dirty="0"/>
                  <a:t>(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sz="1800" dirty="0"/>
                  <a:t>) + </a:t>
                </a:r>
                <a:r>
                  <a:rPr lang="en-US" sz="1800" b="1" dirty="0">
                    <a:solidFill>
                      <a:srgbClr val="C00000"/>
                    </a:solidFill>
                  </a:rPr>
                  <a:t>F</a:t>
                </a:r>
                <a:r>
                  <a:rPr lang="en-US" sz="1800" dirty="0"/>
                  <a:t>(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latin typeface="Cambria Math"/>
                      </a:rPr>
                      <m:t>−2</m:t>
                    </m:r>
                  </m:oMath>
                </a14:m>
                <a:r>
                  <a:rPr lang="en-US" sz="1800" dirty="0"/>
                  <a:t>)</a:t>
                </a:r>
                <a:endParaRPr lang="en-US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9C166660-3FFD-A12F-3A9D-DCFB178DA1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5665" y="5186402"/>
                <a:ext cx="2586670" cy="369332"/>
              </a:xfrm>
              <a:prstGeom prst="rect">
                <a:avLst/>
              </a:prstGeom>
              <a:blipFill>
                <a:blip r:embed="rId18"/>
                <a:stretch>
                  <a:fillRect l="-1639" t="-8065" r="-937" b="-24194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DABD36D-55B7-9538-10EE-0CF32C34FD10}"/>
                  </a:ext>
                </a:extLst>
              </p:cNvPr>
              <p:cNvSpPr txBox="1"/>
              <p:nvPr/>
            </p:nvSpPr>
            <p:spPr>
              <a:xfrm>
                <a:off x="6860175" y="1987034"/>
                <a:ext cx="885179" cy="369332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IN" dirty="0"/>
                  <a:t> times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4B5C8D1-2E76-9C94-79AB-68327407FF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60175" y="1987034"/>
                <a:ext cx="885179" cy="369332"/>
              </a:xfrm>
              <a:prstGeom prst="rect">
                <a:avLst/>
              </a:prstGeom>
              <a:blipFill>
                <a:blip r:embed="rId19"/>
                <a:stretch>
                  <a:fillRect t="-9836" r="-6164" b="-245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8643949-2065-3756-6DF1-0D77C1431A68}"/>
                  </a:ext>
                </a:extLst>
              </p:cNvPr>
              <p:cNvSpPr txBox="1"/>
              <p:nvPr/>
            </p:nvSpPr>
            <p:spPr>
              <a:xfrm>
                <a:off x="6860175" y="2336097"/>
                <a:ext cx="885179" cy="369332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IN" dirty="0"/>
                  <a:t> times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BF14655-0239-0D9B-547A-B07CC8F1BE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60175" y="2336097"/>
                <a:ext cx="885179" cy="369332"/>
              </a:xfrm>
              <a:prstGeom prst="rect">
                <a:avLst/>
              </a:prstGeom>
              <a:blipFill>
                <a:blip r:embed="rId20"/>
                <a:stretch>
                  <a:fillRect t="-8197" r="-6164" b="-245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05270CBB-0984-5E60-07B5-126F4B7B43C6}"/>
                  </a:ext>
                </a:extLst>
              </p:cNvPr>
              <p:cNvSpPr txBox="1"/>
              <p:nvPr/>
            </p:nvSpPr>
            <p:spPr>
              <a:xfrm>
                <a:off x="6860175" y="3126303"/>
                <a:ext cx="1140825" cy="369332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1" dirty="0" smtClean="0">
                        <a:solidFill>
                          <a:srgbClr val="C00000"/>
                        </a:solidFill>
                      </a:rPr>
                      <m:t>F</m:t>
                    </m:r>
                  </m:oMath>
                </a14:m>
                <a:r>
                  <a:rPr lang="en-US" dirty="0"/>
                  <a:t>(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) </a:t>
                </a:r>
                <a:r>
                  <a:rPr lang="en-IN" dirty="0"/>
                  <a:t>times</a:t>
                </a: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44E1E642-592E-ED87-37CD-DF8D1FD9F7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60175" y="3126303"/>
                <a:ext cx="1140825" cy="369332"/>
              </a:xfrm>
              <a:prstGeom prst="rect">
                <a:avLst/>
              </a:prstGeom>
              <a:blipFill>
                <a:blip r:embed="rId21"/>
                <a:stretch>
                  <a:fillRect t="-10000" r="-4255" b="-2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B8704371-EEB5-27B2-6DA4-CDB4726533BC}"/>
              </a:ext>
            </a:extLst>
          </p:cNvPr>
          <p:cNvCxnSpPr>
            <a:cxnSpLocks/>
            <a:stCxn id="15" idx="3"/>
          </p:cNvCxnSpPr>
          <p:nvPr/>
        </p:nvCxnSpPr>
        <p:spPr>
          <a:xfrm flipH="1">
            <a:off x="152400" y="4462831"/>
            <a:ext cx="380772" cy="81627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A1822FD5-3B3C-2C8C-C0CE-83544825AE20}"/>
              </a:ext>
            </a:extLst>
          </p:cNvPr>
          <p:cNvCxnSpPr/>
          <p:nvPr/>
        </p:nvCxnSpPr>
        <p:spPr>
          <a:xfrm>
            <a:off x="717361" y="4495800"/>
            <a:ext cx="439167" cy="794969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Cloud Callout 24">
            <a:extLst>
              <a:ext uri="{FF2B5EF4-FFF2-40B4-BE49-F238E27FC236}">
                <a16:creationId xmlns:a16="http://schemas.microsoft.com/office/drawing/2014/main" id="{E8032D1F-3474-27B9-F8F7-41EE526ADA09}"/>
              </a:ext>
            </a:extLst>
          </p:cNvPr>
          <p:cNvSpPr/>
          <p:nvPr/>
        </p:nvSpPr>
        <p:spPr>
          <a:xfrm>
            <a:off x="109641" y="5994890"/>
            <a:ext cx="6163565" cy="911004"/>
          </a:xfrm>
          <a:prstGeom prst="cloudCallout">
            <a:avLst>
              <a:gd name="adj1" fmla="val -28956"/>
              <a:gd name="adj2" fmla="val 83820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Are you able to locate the cause of inefficiency of the recursive algorithm ?</a:t>
            </a:r>
            <a:endParaRPr lang="en-US" dirty="0"/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BBA7E81D-928E-18DC-89D1-CDD4C2C9621C}"/>
              </a:ext>
            </a:extLst>
          </p:cNvPr>
          <p:cNvGrpSpPr/>
          <p:nvPr/>
        </p:nvGrpSpPr>
        <p:grpSpPr>
          <a:xfrm>
            <a:off x="1025636" y="5319330"/>
            <a:ext cx="1402037" cy="714136"/>
            <a:chOff x="6660735" y="1828800"/>
            <a:chExt cx="1402037" cy="714136"/>
          </a:xfrm>
        </p:grpSpPr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1708460D-67FB-F3FC-8EB8-0834510C3CE6}"/>
                </a:ext>
              </a:extLst>
            </p:cNvPr>
            <p:cNvSpPr/>
            <p:nvPr/>
          </p:nvSpPr>
          <p:spPr>
            <a:xfrm>
              <a:off x="6660735" y="1828800"/>
              <a:ext cx="304800" cy="304800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C2CA6FF7-C38F-119F-A8DE-641429A66D8F}"/>
                    </a:ext>
                  </a:extLst>
                </p:cNvPr>
                <p:cNvSpPr txBox="1"/>
                <p:nvPr/>
              </p:nvSpPr>
              <p:spPr>
                <a:xfrm>
                  <a:off x="6814545" y="2173604"/>
                  <a:ext cx="124822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m:rPr>
                          <m:nor/>
                        </m:rPr>
                        <a:rPr lang="en-US" b="1" dirty="0">
                          <a:solidFill>
                            <a:srgbClr val="7030A0"/>
                          </a:solidFill>
                        </a:rPr>
                        <m:t>Rfib</m:t>
                      </m:r>
                    </m:oMath>
                  </a14:m>
                  <a:r>
                    <a:rPr lang="en-US" dirty="0"/>
                    <a:t>(</a:t>
                  </a:r>
                  <a14:m>
                    <m:oMath xmlns:m="http://schemas.openxmlformats.org/officeDocument/2006/math">
                      <m:r>
                        <a:rPr lang="en-US" i="1">
                          <a:solidFill>
                            <a:srgbClr val="0070C0"/>
                          </a:solidFill>
                          <a:latin typeface="Cambria Math"/>
                        </a:rPr>
                        <m:t>𝑛</m:t>
                      </m:r>
                      <m:r>
                        <a:rPr lang="en-US" b="0" i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−4</m:t>
                      </m:r>
                    </m:oMath>
                  </a14:m>
                  <a:r>
                    <a:rPr lang="en-US" dirty="0"/>
                    <a:t>)</a:t>
                  </a:r>
                </a:p>
              </p:txBody>
            </p:sp>
          </mc:Choice>
          <mc:Fallback xmlns="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9E414585-2721-4A23-A559-8BB23C80504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14545" y="2173604"/>
                  <a:ext cx="1248227" cy="369332"/>
                </a:xfrm>
                <a:prstGeom prst="rect">
                  <a:avLst/>
                </a:prstGeom>
                <a:blipFill>
                  <a:blip r:embed="rId22"/>
                  <a:stretch>
                    <a:fillRect t="-8197" r="-3902" b="-24590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778A99F8-6200-F900-1A4A-4F69B0346986}"/>
              </a:ext>
            </a:extLst>
          </p:cNvPr>
          <p:cNvGrpSpPr/>
          <p:nvPr/>
        </p:nvGrpSpPr>
        <p:grpSpPr>
          <a:xfrm>
            <a:off x="1485647" y="4518212"/>
            <a:ext cx="388472" cy="388938"/>
            <a:chOff x="68728" y="457200"/>
            <a:chExt cx="388472" cy="388938"/>
          </a:xfrm>
        </p:grpSpPr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333CB41D-CF9E-E1F0-DC6C-B1E68B892D3A}"/>
                </a:ext>
              </a:extLst>
            </p:cNvPr>
            <p:cNvCxnSpPr>
              <a:cxnSpLocks/>
            </p:cNvCxnSpPr>
            <p:nvPr/>
          </p:nvCxnSpPr>
          <p:spPr>
            <a:xfrm>
              <a:off x="273296" y="457200"/>
              <a:ext cx="183904" cy="388938"/>
            </a:xfrm>
            <a:prstGeom prst="line">
              <a:avLst/>
            </a:prstGeom>
            <a:ln w="28575"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1D20C6FD-80C9-9991-8A6D-B71500D6679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728" y="457200"/>
              <a:ext cx="139851" cy="381000"/>
            </a:xfrm>
            <a:prstGeom prst="line">
              <a:avLst/>
            </a:prstGeom>
            <a:ln w="28575"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78C39B40-F5DD-D99B-E433-3EBAD75EA250}"/>
              </a:ext>
            </a:extLst>
          </p:cNvPr>
          <p:cNvGrpSpPr/>
          <p:nvPr/>
        </p:nvGrpSpPr>
        <p:grpSpPr>
          <a:xfrm>
            <a:off x="2849720" y="4499615"/>
            <a:ext cx="388472" cy="388938"/>
            <a:chOff x="68728" y="457200"/>
            <a:chExt cx="388472" cy="388938"/>
          </a:xfrm>
        </p:grpSpPr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A846400A-147A-4407-BB95-337DF21F100D}"/>
                </a:ext>
              </a:extLst>
            </p:cNvPr>
            <p:cNvCxnSpPr>
              <a:cxnSpLocks/>
            </p:cNvCxnSpPr>
            <p:nvPr/>
          </p:nvCxnSpPr>
          <p:spPr>
            <a:xfrm>
              <a:off x="273296" y="457200"/>
              <a:ext cx="183904" cy="388938"/>
            </a:xfrm>
            <a:prstGeom prst="line">
              <a:avLst/>
            </a:prstGeom>
            <a:ln w="28575"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85615AFC-217B-9118-37FC-9BC69A69F01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728" y="457200"/>
              <a:ext cx="139851" cy="381000"/>
            </a:xfrm>
            <a:prstGeom prst="line">
              <a:avLst/>
            </a:prstGeom>
            <a:ln w="28575"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E94B1F23-75AA-C93D-C8F3-6330A26179AE}"/>
              </a:ext>
            </a:extLst>
          </p:cNvPr>
          <p:cNvGrpSpPr/>
          <p:nvPr/>
        </p:nvGrpSpPr>
        <p:grpSpPr>
          <a:xfrm>
            <a:off x="3853058" y="4553754"/>
            <a:ext cx="388472" cy="388938"/>
            <a:chOff x="68728" y="457200"/>
            <a:chExt cx="388472" cy="388938"/>
          </a:xfrm>
        </p:grpSpPr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B73CE9DF-E348-7168-6861-1B3D26263D28}"/>
                </a:ext>
              </a:extLst>
            </p:cNvPr>
            <p:cNvCxnSpPr>
              <a:cxnSpLocks/>
            </p:cNvCxnSpPr>
            <p:nvPr/>
          </p:nvCxnSpPr>
          <p:spPr>
            <a:xfrm>
              <a:off x="273296" y="457200"/>
              <a:ext cx="183904" cy="388938"/>
            </a:xfrm>
            <a:prstGeom prst="line">
              <a:avLst/>
            </a:prstGeom>
            <a:ln w="28575"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8D36021F-B370-0162-247E-5F08D919233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728" y="457200"/>
              <a:ext cx="139851" cy="381000"/>
            </a:xfrm>
            <a:prstGeom prst="line">
              <a:avLst/>
            </a:prstGeom>
            <a:ln w="28575"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DA0DA530-6730-3A0F-636B-D17EAB70353B}"/>
              </a:ext>
            </a:extLst>
          </p:cNvPr>
          <p:cNvGrpSpPr/>
          <p:nvPr/>
        </p:nvGrpSpPr>
        <p:grpSpPr>
          <a:xfrm>
            <a:off x="20553" y="5575361"/>
            <a:ext cx="388472" cy="388938"/>
            <a:chOff x="68728" y="457200"/>
            <a:chExt cx="388472" cy="388938"/>
          </a:xfrm>
        </p:grpSpPr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8EE97AAC-1456-5472-882E-0526805DE7DD}"/>
                </a:ext>
              </a:extLst>
            </p:cNvPr>
            <p:cNvCxnSpPr>
              <a:cxnSpLocks/>
            </p:cNvCxnSpPr>
            <p:nvPr/>
          </p:nvCxnSpPr>
          <p:spPr>
            <a:xfrm>
              <a:off x="273296" y="457200"/>
              <a:ext cx="183904" cy="388938"/>
            </a:xfrm>
            <a:prstGeom prst="line">
              <a:avLst/>
            </a:prstGeom>
            <a:ln w="28575"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74A9E7F5-A126-7098-4499-17CCD839DE9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728" y="457200"/>
              <a:ext cx="139851" cy="381000"/>
            </a:xfrm>
            <a:prstGeom prst="line">
              <a:avLst/>
            </a:prstGeom>
            <a:ln w="28575"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EB7A740B-C3F4-2A42-4CDD-B2968008394B}"/>
              </a:ext>
            </a:extLst>
          </p:cNvPr>
          <p:cNvGrpSpPr/>
          <p:nvPr/>
        </p:nvGrpSpPr>
        <p:grpSpPr>
          <a:xfrm>
            <a:off x="1006797" y="5630862"/>
            <a:ext cx="388472" cy="388938"/>
            <a:chOff x="68728" y="457200"/>
            <a:chExt cx="388472" cy="388938"/>
          </a:xfrm>
        </p:grpSpPr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11E0BEBD-862C-40F8-C38E-FD41A3BED334}"/>
                </a:ext>
              </a:extLst>
            </p:cNvPr>
            <p:cNvCxnSpPr>
              <a:cxnSpLocks/>
            </p:cNvCxnSpPr>
            <p:nvPr/>
          </p:nvCxnSpPr>
          <p:spPr>
            <a:xfrm>
              <a:off x="273296" y="457200"/>
              <a:ext cx="183904" cy="388938"/>
            </a:xfrm>
            <a:prstGeom prst="line">
              <a:avLst/>
            </a:prstGeom>
            <a:ln w="28575"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C34FCF29-9583-0F99-9EDF-BFB5B9F4F4C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728" y="457200"/>
              <a:ext cx="139851" cy="381000"/>
            </a:xfrm>
            <a:prstGeom prst="line">
              <a:avLst/>
            </a:prstGeom>
            <a:ln w="28575"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9C9C08E2-A69F-A5EC-B107-AAD8DA1FEC02}"/>
              </a:ext>
            </a:extLst>
          </p:cNvPr>
          <p:cNvGrpSpPr/>
          <p:nvPr/>
        </p:nvGrpSpPr>
        <p:grpSpPr>
          <a:xfrm>
            <a:off x="1342573" y="4191000"/>
            <a:ext cx="1248227" cy="762000"/>
            <a:chOff x="6631708" y="1828800"/>
            <a:chExt cx="1248227" cy="762000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85B796D2-ADC8-52C5-03DF-61EA14E89222}"/>
                </a:ext>
              </a:extLst>
            </p:cNvPr>
            <p:cNvSpPr/>
            <p:nvPr/>
          </p:nvSpPr>
          <p:spPr>
            <a:xfrm>
              <a:off x="6781800" y="1828800"/>
              <a:ext cx="304800" cy="304800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5B8E7BE4-4544-823A-F805-B3518E74DCAD}"/>
                    </a:ext>
                  </a:extLst>
                </p:cNvPr>
                <p:cNvSpPr txBox="1"/>
                <p:nvPr/>
              </p:nvSpPr>
              <p:spPr>
                <a:xfrm>
                  <a:off x="6631708" y="2221468"/>
                  <a:ext cx="124822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m:rPr>
                          <m:nor/>
                        </m:rPr>
                        <a:rPr lang="en-US" b="1" dirty="0">
                          <a:solidFill>
                            <a:srgbClr val="7030A0"/>
                          </a:solidFill>
                        </a:rPr>
                        <m:t>Rfib</m:t>
                      </m:r>
                    </m:oMath>
                  </a14:m>
                  <a:r>
                    <a:rPr lang="en-US" dirty="0"/>
                    <a:t>(</a:t>
                  </a:r>
                  <a14:m>
                    <m:oMath xmlns:m="http://schemas.openxmlformats.org/officeDocument/2006/math">
                      <m:r>
                        <a:rPr lang="en-US" i="1">
                          <a:solidFill>
                            <a:srgbClr val="0070C0"/>
                          </a:solidFill>
                          <a:latin typeface="Cambria Math"/>
                        </a:rPr>
                        <m:t>𝑛</m:t>
                      </m:r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−</m:t>
                      </m:r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oMath>
                  </a14:m>
                  <a:r>
                    <a:rPr lang="en-US" dirty="0"/>
                    <a:t>)</a:t>
                  </a:r>
                </a:p>
              </p:txBody>
            </p:sp>
          </mc:Choice>
          <mc:Fallback xmlns="">
            <p:sp>
              <p:nvSpPr>
                <p:cNvPr id="19" name="TextBox 1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31708" y="2221468"/>
                  <a:ext cx="1248227" cy="369332"/>
                </a:xfrm>
                <a:prstGeom prst="rect">
                  <a:avLst/>
                </a:prstGeom>
                <a:blipFill>
                  <a:blip r:embed="rId15"/>
                  <a:stretch>
                    <a:fillRect t="-6452" r="-3030" b="-2258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988B91B0-520C-D053-979D-68CA96392569}"/>
              </a:ext>
            </a:extLst>
          </p:cNvPr>
          <p:cNvGrpSpPr/>
          <p:nvPr/>
        </p:nvGrpSpPr>
        <p:grpSpPr>
          <a:xfrm>
            <a:off x="1936335" y="3810000"/>
            <a:ext cx="1264065" cy="685800"/>
            <a:chOff x="5822535" y="1447800"/>
            <a:chExt cx="1264065" cy="685800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A7623D11-D9D1-9E00-A086-7361AD80E5C9}"/>
                </a:ext>
              </a:extLst>
            </p:cNvPr>
            <p:cNvSpPr/>
            <p:nvPr/>
          </p:nvSpPr>
          <p:spPr>
            <a:xfrm>
              <a:off x="6781800" y="1828800"/>
              <a:ext cx="304800" cy="304800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B6FF5425-34D8-97B3-856E-1FD660F8155F}"/>
                    </a:ext>
                  </a:extLst>
                </p:cNvPr>
                <p:cNvSpPr txBox="1"/>
                <p:nvPr/>
              </p:nvSpPr>
              <p:spPr>
                <a:xfrm>
                  <a:off x="5822535" y="1447800"/>
                  <a:ext cx="124822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m:rPr>
                          <m:nor/>
                        </m:rPr>
                        <a:rPr lang="en-US" b="1" dirty="0">
                          <a:solidFill>
                            <a:srgbClr val="7030A0"/>
                          </a:solidFill>
                        </a:rPr>
                        <m:t>Rfib</m:t>
                      </m:r>
                    </m:oMath>
                  </a14:m>
                  <a:r>
                    <a:rPr lang="en-US" dirty="0"/>
                    <a:t>(</a:t>
                  </a:r>
                  <a14:m>
                    <m:oMath xmlns:m="http://schemas.openxmlformats.org/officeDocument/2006/math">
                      <m:r>
                        <a:rPr lang="en-US" i="1">
                          <a:solidFill>
                            <a:srgbClr val="0070C0"/>
                          </a:solidFill>
                          <a:latin typeface="Cambria Math"/>
                        </a:rPr>
                        <m:t>𝑛</m:t>
                      </m:r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−</m:t>
                      </m:r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oMath>
                  </a14:m>
                  <a:r>
                    <a:rPr lang="en-US" dirty="0"/>
                    <a:t>)</a:t>
                  </a:r>
                </a:p>
              </p:txBody>
            </p:sp>
          </mc:Choice>
          <mc:Fallback xmlns="">
            <p:sp>
              <p:nvSpPr>
                <p:cNvPr id="22" name="TextBox 2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22535" y="1447800"/>
                  <a:ext cx="1248227" cy="369332"/>
                </a:xfrm>
                <a:prstGeom prst="rect">
                  <a:avLst/>
                </a:prstGeom>
                <a:blipFill>
                  <a:blip r:embed="rId16"/>
                  <a:stretch>
                    <a:fillRect t="-6667" r="-3030" b="-2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46120BEE-063A-695C-06AF-F7C098A89153}"/>
              </a:ext>
            </a:extLst>
          </p:cNvPr>
          <p:cNvGrpSpPr/>
          <p:nvPr/>
        </p:nvGrpSpPr>
        <p:grpSpPr>
          <a:xfrm>
            <a:off x="-105227" y="5257800"/>
            <a:ext cx="1248227" cy="762000"/>
            <a:chOff x="6631708" y="1828800"/>
            <a:chExt cx="1248227" cy="762000"/>
          </a:xfrm>
        </p:grpSpPr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0A16BB1E-B91B-18E7-6064-6B84FE5F12A4}"/>
                </a:ext>
              </a:extLst>
            </p:cNvPr>
            <p:cNvSpPr/>
            <p:nvPr/>
          </p:nvSpPr>
          <p:spPr>
            <a:xfrm>
              <a:off x="6781800" y="1828800"/>
              <a:ext cx="304800" cy="304800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08CE6076-0797-9B09-748A-D5E898148970}"/>
                    </a:ext>
                  </a:extLst>
                </p:cNvPr>
                <p:cNvSpPr txBox="1"/>
                <p:nvPr/>
              </p:nvSpPr>
              <p:spPr>
                <a:xfrm>
                  <a:off x="6631708" y="2221468"/>
                  <a:ext cx="124822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m:rPr>
                          <m:nor/>
                        </m:rPr>
                        <a:rPr lang="en-US" b="1" dirty="0">
                          <a:solidFill>
                            <a:srgbClr val="7030A0"/>
                          </a:solidFill>
                        </a:rPr>
                        <m:t>Rfib</m:t>
                      </m:r>
                    </m:oMath>
                  </a14:m>
                  <a:r>
                    <a:rPr lang="en-US" dirty="0"/>
                    <a:t>(</a:t>
                  </a:r>
                  <a14:m>
                    <m:oMath xmlns:m="http://schemas.openxmlformats.org/officeDocument/2006/math">
                      <m:r>
                        <a:rPr lang="en-US" i="1">
                          <a:solidFill>
                            <a:srgbClr val="0070C0"/>
                          </a:solidFill>
                          <a:latin typeface="Cambria Math"/>
                        </a:rPr>
                        <m:t>𝑛</m:t>
                      </m:r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−</m:t>
                      </m:r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oMath>
                  </a14:m>
                  <a:r>
                    <a:rPr lang="en-US" dirty="0"/>
                    <a:t>)</a:t>
                  </a:r>
                </a:p>
              </p:txBody>
            </p:sp>
          </mc:Choice>
          <mc:Fallback xmlns="">
            <p:sp>
              <p:nvSpPr>
                <p:cNvPr id="19" name="TextBox 1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31708" y="2221468"/>
                  <a:ext cx="1248227" cy="369332"/>
                </a:xfrm>
                <a:prstGeom prst="rect">
                  <a:avLst/>
                </a:prstGeom>
                <a:blipFill>
                  <a:blip r:embed="rId15"/>
                  <a:stretch>
                    <a:fillRect t="-6452" r="-3030" b="-2258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5B9E7EFD-266C-ED5C-6BFB-BE7C96F5EB85}"/>
              </a:ext>
            </a:extLst>
          </p:cNvPr>
          <p:cNvSpPr txBox="1"/>
          <p:nvPr/>
        </p:nvSpPr>
        <p:spPr>
          <a:xfrm>
            <a:off x="4550881" y="4641970"/>
            <a:ext cx="4635243" cy="36933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Let us have a table to avoid this </a:t>
            </a:r>
            <a:r>
              <a:rPr lang="en-US" dirty="0" err="1"/>
              <a:t>recomputation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513092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7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00"/>
                            </p:stCondLst>
                            <p:childTnLst>
                              <p:par>
                                <p:cTn id="7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500"/>
                            </p:stCondLst>
                            <p:childTnLst>
                              <p:par>
                                <p:cTn id="7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1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500"/>
                            </p:stCondLst>
                            <p:childTnLst>
                              <p:par>
                                <p:cTn id="9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8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500"/>
                            </p:stCondLst>
                            <p:childTnLst>
                              <p:par>
                                <p:cTn id="10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7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4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9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50" dur="500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500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5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4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55" dur="500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6" dur="500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57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3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8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9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0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3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4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5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8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9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0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indefinite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6" fill="hold">
                      <p:stCondLst>
                        <p:cond delay="indefinite"/>
                      </p:stCondLst>
                      <p:childTnLst>
                        <p:par>
                          <p:cTn id="187" fill="hold">
                            <p:stCondLst>
                              <p:cond delay="0"/>
                            </p:stCondLst>
                            <p:childTnLst>
                              <p:par>
                                <p:cTn id="188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89" dur="500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0" dur="500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91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94" dur="500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5" dur="500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96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8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99" dur="500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0" dur="500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01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>
                      <p:stCondLst>
                        <p:cond delay="indefinite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8" fill="hold">
                      <p:stCondLst>
                        <p:cond delay="indefinite"/>
                      </p:stCondLst>
                      <p:childTnLst>
                        <p:par>
                          <p:cTn id="209" fill="hold">
                            <p:stCondLst>
                              <p:cond delay="0"/>
                            </p:stCondLst>
                            <p:childTnLst>
                              <p:par>
                                <p:cTn id="2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>
                      <p:stCondLst>
                        <p:cond delay="indefinite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8" fill="hold">
                      <p:stCondLst>
                        <p:cond delay="indefinite"/>
                      </p:stCondLst>
                      <p:childTnLst>
                        <p:par>
                          <p:cTn id="219" fill="hold">
                            <p:stCondLst>
                              <p:cond delay="0"/>
                            </p:stCondLst>
                            <p:childTnLst>
                              <p:par>
                                <p:cTn id="2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2" dur="1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" fill="hold">
                      <p:stCondLst>
                        <p:cond delay="indefinite"/>
                      </p:stCondLst>
                      <p:childTnLst>
                        <p:par>
                          <p:cTn id="224" fill="hold">
                            <p:stCondLst>
                              <p:cond delay="0"/>
                            </p:stCondLst>
                            <p:childTnLst>
                              <p:par>
                                <p:cTn id="2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1" fill="hold">
                      <p:stCondLst>
                        <p:cond delay="indefinite"/>
                      </p:stCondLst>
                      <p:childTnLst>
                        <p:par>
                          <p:cTn id="232" fill="hold">
                            <p:stCondLst>
                              <p:cond delay="0"/>
                            </p:stCondLst>
                            <p:childTnLst>
                              <p:par>
                                <p:cTn id="2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6" fill="hold">
                      <p:stCondLst>
                        <p:cond delay="indefinite"/>
                      </p:stCondLst>
                      <p:childTnLst>
                        <p:par>
                          <p:cTn id="237" fill="hold">
                            <p:stCondLst>
                              <p:cond delay="0"/>
                            </p:stCondLst>
                            <p:childTnLst>
                              <p:par>
                                <p:cTn id="2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1" fill="hold">
                      <p:stCondLst>
                        <p:cond delay="indefinite"/>
                      </p:stCondLst>
                      <p:childTnLst>
                        <p:par>
                          <p:cTn id="242" fill="hold">
                            <p:stCondLst>
                              <p:cond delay="0"/>
                            </p:stCondLst>
                            <p:childTnLst>
                              <p:par>
                                <p:cTn id="24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6" fill="hold">
                      <p:stCondLst>
                        <p:cond delay="indefinite"/>
                      </p:stCondLst>
                      <p:childTnLst>
                        <p:par>
                          <p:cTn id="247" fill="hold">
                            <p:stCondLst>
                              <p:cond delay="0"/>
                            </p:stCondLst>
                            <p:childTnLst>
                              <p:par>
                                <p:cTn id="24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0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1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2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3" fill="hold">
                      <p:stCondLst>
                        <p:cond delay="indefinite"/>
                      </p:stCondLst>
                      <p:childTnLst>
                        <p:par>
                          <p:cTn id="254" fill="hold">
                            <p:stCondLst>
                              <p:cond delay="0"/>
                            </p:stCondLst>
                            <p:childTnLst>
                              <p:par>
                                <p:cTn id="2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8" fill="hold">
                      <p:stCondLst>
                        <p:cond delay="indefinite"/>
                      </p:stCondLst>
                      <p:childTnLst>
                        <p:par>
                          <p:cTn id="259" fill="hold">
                            <p:stCondLst>
                              <p:cond delay="0"/>
                            </p:stCondLst>
                            <p:childTnLst>
                              <p:par>
                                <p:cTn id="2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" grpId="0" animBg="1"/>
      <p:bldP spid="83" grpId="1" animBg="1"/>
      <p:bldP spid="84" grpId="0" animBg="1"/>
      <p:bldP spid="84" grpId="1" animBg="1"/>
      <p:bldP spid="85" grpId="0" animBg="1"/>
      <p:bldP spid="85" grpId="1" animBg="1"/>
      <p:bldP spid="82" grpId="0" animBg="1"/>
      <p:bldP spid="82" grpId="1" animBg="1"/>
      <p:bldP spid="59" grpId="0" animBg="1"/>
      <p:bldP spid="59" grpId="1" animBg="1"/>
      <p:bldP spid="29" grpId="0" animBg="1"/>
      <p:bldP spid="37" grpId="0"/>
      <p:bldP spid="43" grpId="0"/>
      <p:bldP spid="44" grpId="0"/>
      <p:bldP spid="2" grpId="0" uiExpand="1" build="p"/>
      <p:bldP spid="46" grpId="0" animBg="1"/>
      <p:bldP spid="3" grpId="0" animBg="1"/>
      <p:bldP spid="4" grpId="0" animBg="1"/>
      <p:bldP spid="31" grpId="0" animBg="1"/>
      <p:bldP spid="52" grpId="0" animBg="1"/>
      <p:bldP spid="52" grpId="1" animBg="1"/>
      <p:bldP spid="2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sz="4000" b="1" dirty="0">
                    <a:solidFill>
                      <a:srgbClr val="7030A0"/>
                    </a:solidFill>
                  </a:rPr>
                  <a:t>Iterative </a:t>
                </a:r>
                <a:r>
                  <a:rPr lang="en-US" sz="4000" b="1" dirty="0"/>
                  <a:t>Algorithm for</a:t>
                </a:r>
                <a:r>
                  <a:rPr lang="en-US" sz="4000" dirty="0"/>
                  <a:t> </a:t>
                </a:r>
                <a:r>
                  <a:rPr lang="en-US" sz="4000" b="1" dirty="0">
                    <a:solidFill>
                      <a:srgbClr val="7030A0"/>
                    </a:solidFill>
                  </a:rPr>
                  <a:t>F(</a:t>
                </a:r>
                <a14:m>
                  <m:oMath xmlns:m="http://schemas.openxmlformats.org/officeDocument/2006/math">
                    <m:r>
                      <a:rPr lang="en-US" sz="4000" b="0" i="1" dirty="0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4000" b="1" dirty="0">
                    <a:solidFill>
                      <a:srgbClr val="7030A0"/>
                    </a:solidFill>
                  </a:rPr>
                  <a:t>)</a:t>
                </a:r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b="-43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47244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b="1" dirty="0">
                    <a:solidFill>
                      <a:srgbClr val="7030A0"/>
                    </a:solidFill>
                  </a:rPr>
                  <a:t>IFib</a:t>
                </a:r>
                <a:r>
                  <a:rPr lang="en-US" dirty="0"/>
                  <a:t>(</a:t>
                </a:r>
                <a14:m>
                  <m:oMath xmlns:m="http://schemas.openxmlformats.org/officeDocument/2006/math">
                    <m:r>
                      <a:rPr lang="en-US" b="0" i="1" dirty="0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dirty="0"/>
                  <a:t>)</a:t>
                </a:r>
              </a:p>
              <a:p>
                <a:pPr marL="0" indent="0">
                  <a:buNone/>
                </a:pPr>
                <a:r>
                  <a:rPr lang="en-US" sz="2000" dirty="0"/>
                  <a:t>{</a:t>
                </a:r>
                <a:r>
                  <a:rPr lang="en-US" sz="2000" b="1" dirty="0"/>
                  <a:t>       F</a:t>
                </a:r>
                <a:r>
                  <a:rPr lang="en-US" sz="2000" dirty="0"/>
                  <a:t>[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0..</m:t>
                    </m:r>
                    <m:r>
                      <a:rPr lang="en-US" sz="2000" b="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000" dirty="0"/>
                  <a:t>]  : an array;</a:t>
                </a:r>
              </a:p>
              <a:p>
                <a:pPr marL="0" indent="0">
                  <a:buNone/>
                </a:pPr>
                <a:r>
                  <a:rPr lang="en-US" sz="2000" b="1" dirty="0"/>
                  <a:t>        F</a:t>
                </a:r>
                <a:r>
                  <a:rPr lang="en-US" sz="2000" dirty="0"/>
                  <a:t>[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2000" dirty="0"/>
                  <a:t>] </a:t>
                </a:r>
                <a:r>
                  <a:rPr lang="en-US" sz="2000" dirty="0">
                    <a:sym typeface="Wingdings" pitchFamily="2" charset="2"/>
                  </a:rPr>
                  <a:t>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sym typeface="Wingdings" pitchFamily="2" charset="2"/>
                      </a:rPr>
                      <m:t>0</m:t>
                    </m:r>
                  </m:oMath>
                </a14:m>
                <a:r>
                  <a:rPr lang="en-US" sz="2000" dirty="0">
                    <a:sym typeface="Wingdings" pitchFamily="2" charset="2"/>
                  </a:rPr>
                  <a:t>;  </a:t>
                </a:r>
              </a:p>
              <a:p>
                <a:pPr marL="0" indent="0">
                  <a:buNone/>
                </a:pPr>
                <a:r>
                  <a:rPr lang="en-US" sz="2000" b="1" dirty="0"/>
                  <a:t>        F</a:t>
                </a:r>
                <a:r>
                  <a:rPr lang="en-US" sz="2000" dirty="0"/>
                  <a:t>[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000" dirty="0"/>
                  <a:t>] </a:t>
                </a:r>
                <a:r>
                  <a:rPr lang="en-US" sz="2000" dirty="0">
                    <a:sym typeface="Wingdings" pitchFamily="2" charset="2"/>
                  </a:rPr>
                  <a:t>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sym typeface="Wingdings" pitchFamily="2" charset="2"/>
                      </a:rPr>
                      <m:t>1</m:t>
                    </m:r>
                  </m:oMath>
                </a14:m>
                <a:r>
                  <a:rPr lang="en-US" sz="2000" dirty="0">
                    <a:sym typeface="Wingdings" pitchFamily="2" charset="2"/>
                  </a:rPr>
                  <a:t>;  </a:t>
                </a:r>
              </a:p>
              <a:p>
                <a:pPr marL="0" indent="0">
                  <a:buNone/>
                </a:pPr>
                <a:r>
                  <a:rPr lang="en-US" sz="2000" b="1" dirty="0">
                    <a:sym typeface="Wingdings" pitchFamily="2" charset="2"/>
                  </a:rPr>
                  <a:t>        For</a:t>
                </a:r>
                <a:r>
                  <a:rPr lang="en-US" sz="2000" dirty="0">
                    <a:sym typeface="Wingdings" pitchFamily="2" charset="2"/>
                  </a:rPr>
                  <a:t>(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solidFill>
                          <a:srgbClr val="0070C0"/>
                        </a:solidFill>
                        <a:latin typeface="Cambria Math"/>
                        <a:sym typeface="Wingdings" pitchFamily="2" charset="2"/>
                      </a:rPr>
                      <m:t>𝑖</m:t>
                    </m:r>
                  </m:oMath>
                </a14:m>
                <a:r>
                  <a:rPr lang="en-US" sz="2000" dirty="0">
                    <a:sym typeface="Wingdings" pitchFamily="2" charset="2"/>
                  </a:rPr>
                  <a:t>=</a:t>
                </a:r>
                <a:r>
                  <a:rPr lang="en-US" sz="2000" dirty="0">
                    <a:solidFill>
                      <a:srgbClr val="0070C0"/>
                    </a:solidFill>
                    <a:sym typeface="Wingdings" pitchFamily="2" charset="2"/>
                  </a:rPr>
                  <a:t>2</a:t>
                </a:r>
                <a:r>
                  <a:rPr lang="en-US" sz="2000" dirty="0">
                    <a:sym typeface="Wingdings" pitchFamily="2" charset="2"/>
                  </a:rPr>
                  <a:t> to </a:t>
                </a:r>
                <a14:m>
                  <m:oMath xmlns:m="http://schemas.openxmlformats.org/officeDocument/2006/math">
                    <m:r>
                      <a:rPr lang="en-US" sz="2000" b="0" i="1" dirty="0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2000" dirty="0">
                    <a:sym typeface="Wingdings" pitchFamily="2" charset="2"/>
                  </a:rPr>
                  <a:t>) </a:t>
                </a:r>
                <a:r>
                  <a:rPr lang="en-US" sz="2000" b="1" dirty="0">
                    <a:sym typeface="Wingdings" pitchFamily="2" charset="2"/>
                  </a:rPr>
                  <a:t>do</a:t>
                </a:r>
              </a:p>
              <a:p>
                <a:pPr marL="0" indent="0">
                  <a:buNone/>
                </a:pPr>
                <a:r>
                  <a:rPr lang="en-US" sz="2000" b="1" dirty="0">
                    <a:sym typeface="Wingdings" pitchFamily="2" charset="2"/>
                  </a:rPr>
                  <a:t>	</a:t>
                </a:r>
                <a:r>
                  <a:rPr lang="en-US" sz="2000" b="1" dirty="0"/>
                  <a:t>F</a:t>
                </a:r>
                <a:r>
                  <a:rPr lang="en-US" sz="2000" dirty="0"/>
                  <a:t>[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000" dirty="0"/>
                  <a:t>] </a:t>
                </a:r>
                <a:r>
                  <a:rPr lang="en-US" sz="2000" dirty="0">
                    <a:sym typeface="Wingdings" pitchFamily="2" charset="2"/>
                  </a:rPr>
                  <a:t> </a:t>
                </a:r>
                <a:r>
                  <a:rPr lang="en-US" sz="2000" b="1" dirty="0"/>
                  <a:t>F</a:t>
                </a:r>
                <a:r>
                  <a:rPr lang="en-US" sz="2000" dirty="0"/>
                  <a:t>[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000" b="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sz="2000" dirty="0"/>
                  <a:t>] + </a:t>
                </a:r>
                <a:r>
                  <a:rPr lang="en-US" sz="2000" b="1" dirty="0"/>
                  <a:t>F</a:t>
                </a:r>
                <a:r>
                  <a:rPr lang="en-US" sz="2000" dirty="0"/>
                  <a:t>[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000" b="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−2</m:t>
                    </m:r>
                  </m:oMath>
                </a14:m>
                <a:r>
                  <a:rPr lang="en-US" sz="2000" dirty="0"/>
                  <a:t>];</a:t>
                </a:r>
                <a:r>
                  <a:rPr lang="en-US" sz="2000" dirty="0">
                    <a:sym typeface="Wingdings" pitchFamily="2" charset="2"/>
                  </a:rPr>
                  <a:t>  </a:t>
                </a:r>
                <a:endParaRPr lang="en-US" sz="2000" b="1" dirty="0">
                  <a:sym typeface="Wingdings" pitchFamily="2" charset="2"/>
                </a:endParaRPr>
              </a:p>
              <a:p>
                <a:pPr marL="0" indent="0">
                  <a:buNone/>
                </a:pPr>
                <a:r>
                  <a:rPr lang="en-US" sz="2000" dirty="0">
                    <a:sym typeface="Wingdings" pitchFamily="2" charset="2"/>
                  </a:rPr>
                  <a:t>        return </a:t>
                </a:r>
                <a:r>
                  <a:rPr lang="en-US" sz="2000" b="1" dirty="0"/>
                  <a:t>F</a:t>
                </a:r>
                <a:r>
                  <a:rPr lang="en-US" sz="2000" dirty="0"/>
                  <a:t>[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000" dirty="0"/>
                  <a:t>]</a:t>
                </a:r>
                <a:r>
                  <a:rPr lang="en-US" sz="2000" dirty="0">
                    <a:sym typeface="Wingdings" pitchFamily="2" charset="2"/>
                  </a:rPr>
                  <a:t>;</a:t>
                </a:r>
              </a:p>
              <a:p>
                <a:pPr marL="0" indent="0">
                  <a:buNone/>
                </a:pPr>
                <a:r>
                  <a:rPr lang="en-US" sz="2000" dirty="0">
                    <a:sym typeface="Wingdings" pitchFamily="2" charset="2"/>
                  </a:rPr>
                  <a:t>}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4724400"/>
              </a:xfrm>
              <a:blipFill>
                <a:blip r:embed="rId3"/>
                <a:stretch>
                  <a:fillRect l="-1852" t="-154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505C626-3DAE-A73D-3659-B541851B2C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1426462"/>
              </p:ext>
            </p:extLst>
          </p:nvPr>
        </p:nvGraphicFramePr>
        <p:xfrm>
          <a:off x="2362200" y="5771124"/>
          <a:ext cx="3810000" cy="387866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8786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E6A6096-B09D-39A7-3E45-E5DB990D6E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4274970"/>
              </p:ext>
            </p:extLst>
          </p:nvPr>
        </p:nvGraphicFramePr>
        <p:xfrm>
          <a:off x="2362200" y="6158990"/>
          <a:ext cx="3764380" cy="38100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3764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64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64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64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7643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7643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7643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7643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7643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7643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A996C05-0085-A7E6-1F13-A4A7252BEB46}"/>
                  </a:ext>
                </a:extLst>
              </p:cNvPr>
              <p:cNvSpPr txBox="1"/>
              <p:nvPr/>
            </p:nvSpPr>
            <p:spPr>
              <a:xfrm>
                <a:off x="5029200" y="6158990"/>
                <a:ext cx="32252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>
                          <a:solidFill>
                            <a:srgbClr val="0070C0"/>
                          </a:solidFill>
                          <a:latin typeface="Cambria Math"/>
                          <a:sym typeface="Wingdings" pitchFamily="2" charset="2"/>
                        </a:rPr>
                        <m:t>𝒊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A996C05-0085-A7E6-1F13-A4A7252BEB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200" y="6158990"/>
                <a:ext cx="322524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Group 7">
            <a:extLst>
              <a:ext uri="{FF2B5EF4-FFF2-40B4-BE49-F238E27FC236}">
                <a16:creationId xmlns:a16="http://schemas.microsoft.com/office/drawing/2014/main" id="{9A89379D-D3BA-50C7-8D0B-CA17FE0F15D6}"/>
              </a:ext>
            </a:extLst>
          </p:cNvPr>
          <p:cNvGrpSpPr/>
          <p:nvPr/>
        </p:nvGrpSpPr>
        <p:grpSpPr>
          <a:xfrm>
            <a:off x="4518565" y="5638800"/>
            <a:ext cx="815435" cy="801056"/>
            <a:chOff x="3632139" y="5880610"/>
            <a:chExt cx="815435" cy="801056"/>
          </a:xfrm>
        </p:grpSpPr>
        <p:sp>
          <p:nvSpPr>
            <p:cNvPr id="9" name="Arc 8">
              <a:extLst>
                <a:ext uri="{FF2B5EF4-FFF2-40B4-BE49-F238E27FC236}">
                  <a16:creationId xmlns:a16="http://schemas.microsoft.com/office/drawing/2014/main" id="{6998B73A-5289-E991-9916-368AA3254646}"/>
                </a:ext>
              </a:extLst>
            </p:cNvPr>
            <p:cNvSpPr/>
            <p:nvPr/>
          </p:nvSpPr>
          <p:spPr>
            <a:xfrm rot="18829603">
              <a:off x="3639329" y="5873420"/>
              <a:ext cx="801056" cy="815435"/>
            </a:xfrm>
            <a:prstGeom prst="arc">
              <a:avLst>
                <a:gd name="adj1" fmla="val 14547298"/>
                <a:gd name="adj2" fmla="val 1320001"/>
              </a:avLst>
            </a:prstGeom>
            <a:ln w="38100">
              <a:solidFill>
                <a:srgbClr val="006C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15A37145-B127-1771-A5AC-B82FEBD3F04C}"/>
                </a:ext>
              </a:extLst>
            </p:cNvPr>
            <p:cNvCxnSpPr/>
            <p:nvPr/>
          </p:nvCxnSpPr>
          <p:spPr>
            <a:xfrm>
              <a:off x="4382757" y="6038850"/>
              <a:ext cx="47625" cy="95250"/>
            </a:xfrm>
            <a:prstGeom prst="straightConnector1">
              <a:avLst/>
            </a:prstGeom>
            <a:ln w="38100">
              <a:solidFill>
                <a:srgbClr val="006C3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00BB53B7-4080-BF8A-7AF1-C72EBA37F752}"/>
              </a:ext>
            </a:extLst>
          </p:cNvPr>
          <p:cNvSpPr txBox="1"/>
          <p:nvPr/>
        </p:nvSpPr>
        <p:spPr>
          <a:xfrm>
            <a:off x="1828800" y="5701790"/>
            <a:ext cx="3257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7030A0"/>
                </a:solidFill>
              </a:rPr>
              <a:t>F</a:t>
            </a:r>
            <a:endParaRPr lang="en-US" sz="2400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9654780-F563-3D90-EA86-BA97CB783EF7}"/>
              </a:ext>
            </a:extLst>
          </p:cNvPr>
          <p:cNvCxnSpPr/>
          <p:nvPr/>
        </p:nvCxnSpPr>
        <p:spPr>
          <a:xfrm>
            <a:off x="4800600" y="5943600"/>
            <a:ext cx="457200" cy="0"/>
          </a:xfrm>
          <a:prstGeom prst="straightConnector1">
            <a:avLst/>
          </a:prstGeom>
          <a:ln w="38100">
            <a:solidFill>
              <a:srgbClr val="006C3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416253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7030A0"/>
                </a:solidFill>
              </a:rPr>
              <a:t>Longest common subsequence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lang="en-US" sz="2800" b="1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8137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What is a </a:t>
            </a:r>
            <a:r>
              <a:rPr lang="en-US" sz="3600" b="1" dirty="0">
                <a:solidFill>
                  <a:srgbClr val="7030A0"/>
                </a:solidFill>
              </a:rPr>
              <a:t>subsequence </a:t>
            </a:r>
            <a:r>
              <a:rPr lang="en-US" sz="3600" b="1" dirty="0"/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04800" y="1219200"/>
                <a:ext cx="8686800" cy="490696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000" dirty="0"/>
                  <a:t>sequence</a:t>
                </a:r>
                <a:r>
                  <a:rPr lang="en-US" sz="2000" dirty="0">
                    <a:solidFill>
                      <a:srgbClr val="0070C0"/>
                    </a:solidFill>
                  </a:rPr>
                  <a:t> 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𝐴</m:t>
                    </m:r>
                  </m:oMath>
                </a14:m>
                <a:r>
                  <a:rPr lang="en-US" sz="2000" dirty="0">
                    <a:solidFill>
                      <a:srgbClr val="0070C0"/>
                    </a:solidFill>
                  </a:rPr>
                  <a:t> </a:t>
                </a:r>
                <a:r>
                  <a:rPr lang="en-US" sz="2000" dirty="0"/>
                  <a:t>:</a:t>
                </a:r>
                <a:r>
                  <a:rPr lang="en-US" sz="2000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000" dirty="0"/>
                  <a:t>,</a:t>
                </a:r>
                <a:r>
                  <a:rPr lang="en-US" sz="2000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000" dirty="0"/>
                  <a:t>,…,</a:t>
                </a:r>
                <a:r>
                  <a:rPr lang="en-US" sz="2000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000" dirty="0"/>
                  <a:t> </a:t>
                </a:r>
              </a:p>
              <a:p>
                <a:pPr marL="0" indent="0">
                  <a:buNone/>
                </a:pPr>
                <a:r>
                  <a:rPr lang="en-US" sz="2000" b="0" dirty="0"/>
                  <a:t>Can be stored in an array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𝐴</m:t>
                    </m:r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[1..</m:t>
                    </m:r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]</m:t>
                    </m:r>
                  </m:oMath>
                </a14:m>
                <a:r>
                  <a:rPr lang="en-US" sz="2000" dirty="0"/>
                  <a:t>, </a:t>
                </a:r>
              </a:p>
              <a:p>
                <a:pPr marL="0" indent="0">
                  <a:buNone/>
                </a:pPr>
                <a:r>
                  <a:rPr lang="en-US" sz="2000" dirty="0">
                    <a:solidFill>
                      <a:srgbClr val="0070C0"/>
                    </a:solidFill>
                  </a:rPr>
                  <a:t>	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𝐴</m:t>
                    </m:r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[</m:t>
                    </m:r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𝑗</m:t>
                    </m:r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]</m:t>
                    </m:r>
                  </m:oMath>
                </a14:m>
                <a:r>
                  <a:rPr lang="en-US" sz="2000" dirty="0"/>
                  <a:t> :  </a:t>
                </a:r>
                <a:r>
                  <a:rPr lang="en-US" sz="2000" dirty="0">
                    <a:solidFill>
                      <a:srgbClr val="FF0000"/>
                    </a:solidFill>
                  </a:rPr>
                  <a:t>?			</a:t>
                </a: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Definition</a:t>
                </a:r>
                <a:r>
                  <a:rPr lang="en-US" sz="2000" dirty="0"/>
                  <a:t>: 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𝐶</m:t>
                    </m:r>
                  </m:oMath>
                </a14:m>
                <a:r>
                  <a:rPr lang="en-US" sz="2000" dirty="0"/>
                  <a:t> is said to be a </a:t>
                </a:r>
                <a:r>
                  <a:rPr lang="en-US" sz="2000" u="sng" dirty="0"/>
                  <a:t>subsequence</a:t>
                </a:r>
                <a:r>
                  <a:rPr lang="en-US" sz="2000" dirty="0"/>
                  <a:t> of 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𝐴</m:t>
                    </m:r>
                  </m:oMath>
                </a14:m>
                <a:r>
                  <a:rPr lang="en-US" sz="2000" dirty="0"/>
                  <a:t> if</a:t>
                </a:r>
              </a:p>
              <a:p>
                <a:pPr marL="0" indent="0">
                  <a:buNone/>
                </a:pPr>
                <a:r>
                  <a:rPr lang="en-US" sz="2000" dirty="0"/>
                  <a:t>we can obtain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𝐶</m:t>
                    </m:r>
                  </m:oMath>
                </a14:m>
                <a:r>
                  <a:rPr lang="en-US" sz="2000" dirty="0"/>
                  <a:t> by removing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0070C0"/>
                        </a:solidFill>
                        <a:latin typeface="Cambria Math"/>
                      </a:rPr>
                      <m:t>0</m:t>
                    </m:r>
                  </m:oMath>
                </a14:m>
                <a:r>
                  <a:rPr lang="en-US" sz="2000" dirty="0"/>
                  <a:t> or more elements from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𝐴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Example: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𝐴</m:t>
                    </m:r>
                  </m:oMath>
                </a14:m>
                <a:r>
                  <a:rPr lang="en-US" sz="2000" dirty="0"/>
                  <a:t> :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𝑎</m:t>
                    </m:r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,</m:t>
                    </m:r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𝑏</m:t>
                    </m:r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,</m:t>
                    </m:r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𝑎</m:t>
                    </m:r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,</m:t>
                    </m:r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𝑑</m:t>
                    </m:r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,</m:t>
                    </m:r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𝑒</m:t>
                    </m:r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,</m:t>
                    </m:r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𝑏</m:t>
                    </m:r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,</m:t>
                    </m:r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𝑐</m:t>
                    </m:r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,</m:t>
                    </m:r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𝑎</m:t>
                    </m:r>
                  </m:oMath>
                </a14:m>
                <a:r>
                  <a:rPr lang="en-US" sz="2000" dirty="0"/>
                  <a:t> </a:t>
                </a:r>
              </a:p>
              <a:p>
                <a:pPr marL="0" indent="0">
                  <a:buNone/>
                </a:pPr>
                <a:r>
                  <a:rPr lang="en-US" sz="2000" dirty="0"/>
                  <a:t> </a:t>
                </a:r>
              </a:p>
              <a:p>
                <a:pPr marL="0" indent="0">
                  <a:buNone/>
                </a:pPr>
                <a:r>
                  <a:rPr lang="en-US" sz="2000" dirty="0">
                    <a:solidFill>
                      <a:srgbClr val="0070C0"/>
                    </a:solidFill>
                  </a:rPr>
                  <a:t>	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𝐶</m:t>
                    </m:r>
                  </m:oMath>
                </a14:m>
                <a:r>
                  <a:rPr lang="en-US" sz="2000" dirty="0"/>
                  <a:t> :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𝑎</m:t>
                    </m:r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,</m:t>
                    </m:r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𝑎</m:t>
                    </m:r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,</m:t>
                    </m:r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𝑒</m:t>
                    </m:r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,</m:t>
                    </m:r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𝑏</m:t>
                    </m:r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,</m:t>
                    </m:r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𝑎</m:t>
                    </m:r>
                  </m:oMath>
                </a14:m>
                <a:r>
                  <a:rPr lang="en-US" sz="2000" dirty="0"/>
                  <a:t>  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 </a:t>
                </a:r>
              </a:p>
              <a:p>
                <a:pPr marL="0" indent="0">
                  <a:buNone/>
                </a:pPr>
                <a:r>
                  <a:rPr lang="en-US" sz="2000" dirty="0"/>
                  <a:t>          There exists 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𝑚</m:t>
                    </m:r>
                  </m:oMath>
                </a14:m>
                <a:r>
                  <a:rPr lang="en-US" sz="2000" dirty="0"/>
                  <a:t> integers: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𝑖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&lt;</m:t>
                    </m:r>
                    <m:sSub>
                      <m:sSubPr>
                        <m:ctrlP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𝑖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…&lt;</m:t>
                    </m:r>
                    <m:sSub>
                      <m:sSubPr>
                        <m:ctrlP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𝑖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sz="2000" dirty="0"/>
                  <a:t>                </a:t>
                </a:r>
              </a:p>
              <a:p>
                <a:pPr marL="0" indent="0">
                  <a:buNone/>
                </a:pPr>
                <a:r>
                  <a:rPr lang="en-US" sz="2000" dirty="0"/>
                  <a:t>                                      such that for all </a:t>
                </a:r>
                <a14:m>
                  <m:oMath xmlns:m="http://schemas.openxmlformats.org/officeDocument/2006/math">
                    <m:r>
                      <a:rPr lang="en-US" sz="2000" b="0" i="0" smtClean="0">
                        <a:solidFill>
                          <a:srgbClr val="0070C0"/>
                        </a:solidFill>
                        <a:latin typeface="Cambria Math"/>
                      </a:rPr>
                      <m:t>1</m:t>
                    </m:r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≤</m:t>
                    </m:r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𝑗</m:t>
                    </m:r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≤</m:t>
                    </m:r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𝑚</m:t>
                    </m:r>
                  </m:oMath>
                </a14:m>
                <a:r>
                  <a:rPr lang="en-US" sz="2000" dirty="0"/>
                  <a:t>,        </a:t>
                </a:r>
                <a:r>
                  <a:rPr lang="en-US" sz="2000" dirty="0">
                    <a:solidFill>
                      <a:srgbClr val="C00000"/>
                    </a:solidFill>
                  </a:rPr>
                  <a:t>?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4800" y="1219200"/>
                <a:ext cx="8686800" cy="4906963"/>
              </a:xfrm>
              <a:blipFill rotWithShape="1">
                <a:blip r:embed="rId2"/>
                <a:stretch>
                  <a:fillRect l="-702" t="-6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Connector 4"/>
          <p:cNvCxnSpPr/>
          <p:nvPr/>
        </p:nvCxnSpPr>
        <p:spPr>
          <a:xfrm>
            <a:off x="1828800" y="3733800"/>
            <a:ext cx="0" cy="4572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 flipH="1">
            <a:off x="2057400" y="3733800"/>
            <a:ext cx="152400" cy="4572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H="1">
            <a:off x="2362200" y="3733800"/>
            <a:ext cx="342900" cy="4572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H="1">
            <a:off x="2533650" y="3733800"/>
            <a:ext cx="361950" cy="4572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2838450" y="3733800"/>
            <a:ext cx="514350" cy="4572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Group 23"/>
          <p:cNvGrpSpPr/>
          <p:nvPr/>
        </p:nvGrpSpPr>
        <p:grpSpPr>
          <a:xfrm>
            <a:off x="1988535" y="3497596"/>
            <a:ext cx="1320447" cy="236204"/>
            <a:chOff x="1988535" y="3196598"/>
            <a:chExt cx="1320447" cy="236204"/>
          </a:xfrm>
        </p:grpSpPr>
        <p:sp>
          <p:nvSpPr>
            <p:cNvPr id="21" name="Cross 20"/>
            <p:cNvSpPr/>
            <p:nvPr/>
          </p:nvSpPr>
          <p:spPr>
            <a:xfrm rot="2834682">
              <a:off x="1977983" y="3244803"/>
              <a:ext cx="198551" cy="177447"/>
            </a:xfrm>
            <a:prstGeom prst="plus">
              <a:avLst>
                <a:gd name="adj" fmla="val 42073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Cross 21"/>
            <p:cNvSpPr/>
            <p:nvPr/>
          </p:nvSpPr>
          <p:spPr>
            <a:xfrm rot="2834682">
              <a:off x="2435183" y="3244803"/>
              <a:ext cx="198551" cy="177447"/>
            </a:xfrm>
            <a:prstGeom prst="plus">
              <a:avLst>
                <a:gd name="adj" fmla="val 42073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Cross 22"/>
            <p:cNvSpPr/>
            <p:nvPr/>
          </p:nvSpPr>
          <p:spPr>
            <a:xfrm rot="2834682">
              <a:off x="3120983" y="3207150"/>
              <a:ext cx="198551" cy="177447"/>
            </a:xfrm>
            <a:prstGeom prst="plus">
              <a:avLst>
                <a:gd name="adj" fmla="val 42073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1905000" y="1937404"/>
                <a:ext cx="467436" cy="424796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1937404"/>
                <a:ext cx="467436" cy="424796"/>
              </a:xfrm>
              <a:prstGeom prst="rect">
                <a:avLst/>
              </a:prstGeom>
              <a:blipFill rotWithShape="1">
                <a:blip r:embed="rId4"/>
                <a:stretch>
                  <a:fillRect t="-5714" r="-21053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4223669" y="1965136"/>
                <a:ext cx="141513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70C0"/>
                        </a:solidFill>
                        <a:latin typeface="Cambria Math"/>
                      </a:rPr>
                      <m:t>𝐴</m:t>
                    </m:r>
                    <m:r>
                      <a:rPr lang="en-US" i="1">
                        <a:solidFill>
                          <a:srgbClr val="0070C0"/>
                        </a:solidFill>
                        <a:latin typeface="Cambria Math"/>
                      </a:rPr>
                      <m:t>[1..</m:t>
                    </m:r>
                    <m:r>
                      <a:rPr lang="en-US" i="1">
                        <a:solidFill>
                          <a:srgbClr val="0070C0"/>
                        </a:solidFill>
                        <a:latin typeface="Cambria Math"/>
                      </a:rPr>
                      <m:t>𝑘</m:t>
                    </m:r>
                    <m:r>
                      <a:rPr lang="en-US" i="1">
                        <a:solidFill>
                          <a:srgbClr val="0070C0"/>
                        </a:solidFill>
                        <a:latin typeface="Cambria Math"/>
                      </a:rPr>
                      <m:t>]</m:t>
                    </m:r>
                  </m:oMath>
                </a14:m>
                <a:r>
                  <a:rPr lang="en-US" dirty="0"/>
                  <a:t> :     </a:t>
                </a:r>
                <a:r>
                  <a:rPr lang="en-US" dirty="0">
                    <a:solidFill>
                      <a:srgbClr val="FF0000"/>
                    </a:solidFill>
                  </a:rPr>
                  <a:t>?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3669" y="1965136"/>
                <a:ext cx="1415131" cy="369332"/>
              </a:xfrm>
              <a:prstGeom prst="rect">
                <a:avLst/>
              </a:prstGeom>
              <a:blipFill rotWithShape="1">
                <a:blip r:embed="rId5"/>
                <a:stretch>
                  <a:fillRect t="-8197" r="-68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5245520" y="1905000"/>
                <a:ext cx="1460080" cy="400110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000" dirty="0"/>
                  <a:t>,</a:t>
                </a:r>
                <a:r>
                  <a:rPr lang="en-US" sz="2000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000" dirty="0"/>
                  <a:t>,…,</a:t>
                </a:r>
                <a:r>
                  <a:rPr lang="en-US" sz="2000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𝑘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5520" y="1905000"/>
                <a:ext cx="1460080" cy="400110"/>
              </a:xfrm>
              <a:prstGeom prst="rect">
                <a:avLst/>
              </a:prstGeom>
              <a:blipFill rotWithShape="1">
                <a:blip r:embed="rId6"/>
                <a:stretch>
                  <a:fillRect t="-7692" r="-7917" b="-261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3505200" y="5269468"/>
                <a:ext cx="6030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>
                          <a:solidFill>
                            <a:srgbClr val="0070C0"/>
                          </a:solidFill>
                          <a:latin typeface="Cambria Math"/>
                        </a:rPr>
                        <m:t>1</m:t>
                      </m:r>
                      <m:r>
                        <a:rPr lang="en-US" i="1">
                          <a:solidFill>
                            <a:srgbClr val="0070C0"/>
                          </a:solidFill>
                          <a:latin typeface="Cambria Math"/>
                        </a:rPr>
                        <m:t>≤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5200" y="5269468"/>
                <a:ext cx="603050" cy="369332"/>
              </a:xfrm>
              <a:prstGeom prst="rect">
                <a:avLst/>
              </a:prstGeom>
              <a:blipFill rotWithShape="1">
                <a:blip r:embed="rId7"/>
                <a:stretch>
                  <a:fillRect t="-8197" r="-12121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5636566" y="5269468"/>
                <a:ext cx="61183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70C0"/>
                          </a:solidFill>
                          <a:latin typeface="Cambria Math"/>
                        </a:rPr>
                        <m:t>≤</m:t>
                      </m:r>
                      <m:r>
                        <a:rPr lang="en-US" i="1">
                          <a:solidFill>
                            <a:srgbClr val="0070C0"/>
                          </a:solidFill>
                          <a:latin typeface="Cambria Math"/>
                        </a:rPr>
                        <m:t>𝑛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6566" y="5269468"/>
                <a:ext cx="611834" cy="369332"/>
              </a:xfrm>
              <a:prstGeom prst="rect">
                <a:avLst/>
              </a:prstGeom>
              <a:blipFill rotWithShape="1">
                <a:blip r:embed="rId8"/>
                <a:stretch>
                  <a:fillRect t="-8197" r="-13000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5638800" y="5628154"/>
                <a:ext cx="1391343" cy="391646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70C0"/>
                        </a:solidFill>
                        <a:latin typeface="Cambria Math"/>
                      </a:rPr>
                      <m:t>𝐴</m:t>
                    </m:r>
                    <m:r>
                      <a:rPr lang="en-US" i="1">
                        <a:solidFill>
                          <a:srgbClr val="0070C0"/>
                        </a:solidFill>
                        <a:latin typeface="Cambria Math"/>
                      </a:rPr>
                      <m:t>[</m:t>
                    </m:r>
                    <m:sSub>
                      <m:sSubPr>
                        <m:ctrlP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𝑖</m:t>
                        </m:r>
                      </m:e>
                      <m:sub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𝑗</m:t>
                        </m:r>
                      </m:sub>
                    </m:sSub>
                    <m:r>
                      <a:rPr lang="en-US" i="1">
                        <a:solidFill>
                          <a:srgbClr val="0070C0"/>
                        </a:solidFill>
                        <a:latin typeface="Cambria Math"/>
                      </a:rPr>
                      <m:t>]</m:t>
                    </m:r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solidFill>
                          <a:srgbClr val="0070C0"/>
                        </a:solidFill>
                        <a:latin typeface="Cambria Math"/>
                      </a:rPr>
                      <m:t>𝐶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𝑗</m:t>
                        </m:r>
                      </m:e>
                    </m:d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8800" y="5628154"/>
                <a:ext cx="1391343" cy="391646"/>
              </a:xfrm>
              <a:prstGeom prst="rect">
                <a:avLst/>
              </a:prstGeom>
              <a:blipFill>
                <a:blip r:embed="rId9"/>
                <a:stretch>
                  <a:fillRect b="-923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3369633" y="4876800"/>
                <a:ext cx="104996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𝐶</m:t>
                      </m:r>
                      <m:r>
                        <a:rPr lang="en-US" i="1">
                          <a:solidFill>
                            <a:srgbClr val="0070C0"/>
                          </a:solidFill>
                          <a:latin typeface="Cambria Math"/>
                        </a:rPr>
                        <m:t>[1..</m:t>
                      </m:r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𝑚</m:t>
                      </m:r>
                      <m:r>
                        <a:rPr lang="en-US" i="1">
                          <a:solidFill>
                            <a:srgbClr val="0070C0"/>
                          </a:solidFill>
                          <a:latin typeface="Cambria Math"/>
                        </a:rPr>
                        <m:t>]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9633" y="4876800"/>
                <a:ext cx="1049967" cy="369332"/>
              </a:xfrm>
              <a:prstGeom prst="rect">
                <a:avLst/>
              </a:prstGeom>
              <a:blipFill rotWithShape="1">
                <a:blip r:embed="rId10"/>
                <a:stretch>
                  <a:fillRect t="-8197" r="-6395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ectangle 19"/>
          <p:cNvSpPr/>
          <p:nvPr/>
        </p:nvSpPr>
        <p:spPr>
          <a:xfrm>
            <a:off x="1857375" y="1143000"/>
            <a:ext cx="1419225" cy="5334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Cloud Callout 24"/>
          <p:cNvSpPr/>
          <p:nvPr/>
        </p:nvSpPr>
        <p:spPr>
          <a:xfrm>
            <a:off x="5636566" y="3216626"/>
            <a:ext cx="2745434" cy="1202974"/>
          </a:xfrm>
          <a:prstGeom prst="cloudCallout">
            <a:avLst>
              <a:gd name="adj1" fmla="val -28956"/>
              <a:gd name="adj2" fmla="val 83820"/>
            </a:avLst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 more formal definition ? </a:t>
            </a:r>
            <a:endParaRPr lang="en-US" dirty="0"/>
          </a:p>
        </p:txBody>
      </p:sp>
      <p:sp>
        <p:nvSpPr>
          <p:cNvPr id="26" name="Rectangle 25"/>
          <p:cNvSpPr/>
          <p:nvPr/>
        </p:nvSpPr>
        <p:spPr>
          <a:xfrm>
            <a:off x="4067175" y="5257800"/>
            <a:ext cx="1724025" cy="5334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2133600" y="2667000"/>
            <a:ext cx="4267200" cy="5334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AA56ECD-1C19-070D-1F7B-919E21CC817C}"/>
              </a:ext>
            </a:extLst>
          </p:cNvPr>
          <p:cNvSpPr/>
          <p:nvPr/>
        </p:nvSpPr>
        <p:spPr>
          <a:xfrm>
            <a:off x="6467801" y="5592763"/>
            <a:ext cx="1724025" cy="5334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701C568-96B8-B27F-8F6B-B5288FC158E8}"/>
              </a:ext>
            </a:extLst>
          </p:cNvPr>
          <p:cNvSpPr/>
          <p:nvPr/>
        </p:nvSpPr>
        <p:spPr>
          <a:xfrm>
            <a:off x="1621495" y="2354262"/>
            <a:ext cx="4267200" cy="5334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18943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46" dur="1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225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56" dur="1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2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5" dur="1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5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7" grpId="0" animBg="1"/>
      <p:bldP spid="6" grpId="0"/>
      <p:bldP spid="4" grpId="0" animBg="1"/>
      <p:bldP spid="9" grpId="0"/>
      <p:bldP spid="13" grpId="0"/>
      <p:bldP spid="14" grpId="0" animBg="1"/>
      <p:bldP spid="15" grpId="0"/>
      <p:bldP spid="20" grpId="0" animBg="1"/>
      <p:bldP spid="25" grpId="0" animBg="1"/>
      <p:bldP spid="26" grpId="0" animBg="1"/>
      <p:bldP spid="27" grpId="0" animBg="1"/>
      <p:bldP spid="11" grpId="0" animBg="1"/>
      <p:bldP spid="1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solidFill>
                  <a:srgbClr val="7030A0"/>
                </a:solidFill>
              </a:rPr>
              <a:t>Problem</a:t>
            </a:r>
            <a:r>
              <a:rPr lang="en-US" sz="3600" b="1" dirty="0"/>
              <a:t> Definition</a:t>
            </a:r>
            <a:endParaRPr 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752600"/>
                <a:ext cx="8229600" cy="525780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000" b="1" dirty="0"/>
                  <a:t>Given</a:t>
                </a:r>
                <a:r>
                  <a:rPr lang="en-US" sz="2000" dirty="0"/>
                  <a:t> : two sequences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en-US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1..</m:t>
                        </m:r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𝐵</m:t>
                    </m:r>
                    <m:d>
                      <m:dPr>
                        <m:begChr m:val="["/>
                        <m:endChr m:val="]"/>
                        <m:ctrlPr>
                          <a:rPr lang="en-US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1..</m:t>
                        </m:r>
                        <m: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𝑚</m:t>
                        </m:r>
                      </m:e>
                    </m:d>
                  </m:oMath>
                </a14:m>
                <a:r>
                  <a:rPr lang="en-US" sz="2000" dirty="0"/>
                  <a:t>, </a:t>
                </a:r>
              </a:p>
              <a:p>
                <a:pPr marL="0" indent="0">
                  <a:buNone/>
                </a:pPr>
                <a:r>
                  <a:rPr lang="en-US" sz="2000" b="1" dirty="0"/>
                  <a:t>Aim</a:t>
                </a:r>
                <a:r>
                  <a:rPr lang="en-US" sz="2000" dirty="0"/>
                  <a:t> : To compute the </a:t>
                </a:r>
                <a:r>
                  <a:rPr lang="en-US" sz="2000" u="sng" dirty="0"/>
                  <a:t>longest</a:t>
                </a:r>
                <a:r>
                  <a:rPr lang="en-US" sz="2000" dirty="0"/>
                  <a:t> sequence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𝐶</m:t>
                    </m:r>
                  </m:oMath>
                </a14:m>
                <a:r>
                  <a:rPr lang="en-US" sz="2000" dirty="0"/>
                  <a:t> </a:t>
                </a:r>
                <a:r>
                  <a:rPr lang="en-US" sz="2000" dirty="0" err="1"/>
                  <a:t>s.t.</a:t>
                </a:r>
                <a:endParaRPr lang="en-US" sz="2000" dirty="0"/>
              </a:p>
              <a:p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𝐶</m:t>
                    </m:r>
                  </m:oMath>
                </a14:m>
                <a:r>
                  <a:rPr lang="en-US" sz="2000" dirty="0"/>
                  <a:t> is subsequence of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𝐴</m:t>
                    </m:r>
                  </m:oMath>
                </a14:m>
                <a:r>
                  <a:rPr lang="en-US" sz="2000" dirty="0"/>
                  <a:t> as well as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𝐵</m:t>
                    </m:r>
                  </m:oMath>
                </a14:m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>
                    <a:solidFill>
                      <a:srgbClr val="7030A0"/>
                    </a:solidFill>
                  </a:rPr>
                  <a:t>Example</a:t>
                </a:r>
                <a:r>
                  <a:rPr lang="en-US" sz="2000" dirty="0"/>
                  <a:t>: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𝐴</m:t>
                    </m:r>
                  </m:oMath>
                </a14:m>
                <a:r>
                  <a:rPr lang="en-US" sz="2000" dirty="0"/>
                  <a:t>  :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𝑎</m:t>
                    </m:r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𝑎</m:t>
                    </m:r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𝑠</m:t>
                    </m:r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𝑏</m:t>
                    </m:r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𝑑</m:t>
                    </m:r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𝑒</m:t>
                    </m:r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𝑠</m:t>
                    </m:r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𝑐</m:t>
                    </m:r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𝑏</m:t>
                    </m:r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𝑑</m:t>
                    </m:r>
                  </m:oMath>
                </a14:m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>
                    <a:solidFill>
                      <a:srgbClr val="0070C0"/>
                    </a:solidFill>
                  </a:rPr>
                  <a:t>                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𝐵</m:t>
                    </m:r>
                  </m:oMath>
                </a14:m>
                <a:r>
                  <a:rPr lang="en-US" sz="2000" dirty="0"/>
                  <a:t>  :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𝑎</m:t>
                    </m:r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𝑐</m:t>
                    </m:r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𝑏</m:t>
                    </m:r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𝑠</m:t>
                    </m:r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𝑑</m:t>
                    </m:r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𝑐</m:t>
                    </m:r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𝑑</m:t>
                    </m:r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𝑒</m:t>
                    </m:r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𝑏</m:t>
                    </m:r>
                  </m:oMath>
                </a14:m>
                <a:endParaRPr lang="en-US" sz="2000" dirty="0"/>
              </a:p>
              <a:p>
                <a:pPr marL="0" indent="0">
                  <a:buNone/>
                </a:pPr>
                <a:r>
                  <a:rPr lang="en-US" sz="2000" b="1" dirty="0"/>
                  <a:t>Answer</a:t>
                </a:r>
                <a:r>
                  <a:rPr lang="en-US" sz="2000" dirty="0"/>
                  <a:t>: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𝑎</m:t>
                    </m:r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𝑏</m:t>
                    </m:r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𝑑</m:t>
                    </m:r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𝑒</m:t>
                    </m:r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𝑏</m:t>
                    </m:r>
                  </m:oMath>
                </a14:m>
                <a:r>
                  <a:rPr lang="en-US" sz="2000" dirty="0"/>
                  <a:t>   or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𝑎</m:t>
                    </m:r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𝑏</m:t>
                    </m:r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𝑑</m:t>
                    </m:r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𝑐</m:t>
                    </m:r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𝑑</m:t>
                    </m:r>
                  </m:oMath>
                </a14:m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Question</a:t>
                </a:r>
                <a:r>
                  <a:rPr lang="en-US" sz="2000" dirty="0"/>
                  <a:t> : How to compute  a Longest Common Subsequence </a:t>
                </a:r>
              </a:p>
              <a:p>
                <a:pPr marL="0" indent="0">
                  <a:buNone/>
                </a:pPr>
                <a:r>
                  <a:rPr lang="en-US" sz="2000" dirty="0"/>
                  <a:t>                    of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𝐴</m:t>
                    </m:r>
                  </m:oMath>
                </a14:m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𝐵</m:t>
                    </m:r>
                  </m:oMath>
                </a14:m>
                <a:r>
                  <a:rPr lang="en-US" sz="2000" dirty="0"/>
                  <a:t> efficiently ?</a:t>
                </a: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006C31"/>
                  </a:solidFill>
                </a:endParaRP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006C31"/>
                    </a:solidFill>
                  </a:rPr>
                  <a:t>Homework</a:t>
                </a:r>
                <a:r>
                  <a:rPr lang="en-US" sz="2000" dirty="0"/>
                  <a:t>: Convince yourself that divide and conquer or Greedy algorithms  might not  solve this problem.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752600"/>
                <a:ext cx="8229600" cy="5257800"/>
              </a:xfrm>
              <a:blipFill>
                <a:blip r:embed="rId2"/>
                <a:stretch>
                  <a:fillRect l="-741" t="-696" r="-14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Connector 3"/>
          <p:cNvCxnSpPr/>
          <p:nvPr/>
        </p:nvCxnSpPr>
        <p:spPr>
          <a:xfrm>
            <a:off x="1981200" y="3581400"/>
            <a:ext cx="0" cy="4572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 flipH="1">
            <a:off x="2438400" y="3581400"/>
            <a:ext cx="152400" cy="4572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2819400" y="3581400"/>
            <a:ext cx="0" cy="4572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3581400" y="3581400"/>
            <a:ext cx="0" cy="4572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3048000" y="3581400"/>
            <a:ext cx="304800" cy="4572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2743200" y="2514600"/>
            <a:ext cx="1724025" cy="5334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2514600" y="4267200"/>
            <a:ext cx="1724025" cy="5334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 flipH="1">
            <a:off x="3048000" y="3581400"/>
            <a:ext cx="304800" cy="4572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H="1">
            <a:off x="3200400" y="3581400"/>
            <a:ext cx="533400" cy="4572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505BE0DF-1A58-C2B5-9ADB-ADD17E225B3C}"/>
              </a:ext>
            </a:extLst>
          </p:cNvPr>
          <p:cNvSpPr/>
          <p:nvPr/>
        </p:nvSpPr>
        <p:spPr>
          <a:xfrm>
            <a:off x="1143000" y="2134806"/>
            <a:ext cx="4267200" cy="38893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39091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3" dur="1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7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  <p:bldP spid="9" grpId="0" animBg="1"/>
      <p:bldP spid="10" grpId="0" animBg="1"/>
      <p:bldP spid="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solidFill>
                  <a:srgbClr val="0070C0"/>
                </a:solidFill>
              </a:rPr>
              <a:t>Observations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24621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3200" b="1" dirty="0">
                    <a:solidFill>
                      <a:srgbClr val="7030A0"/>
                    </a:solidFill>
                  </a:rPr>
                  <a:t>Longest common subsequence of </a:t>
                </a:r>
                <a14:m>
                  <m:oMath xmlns:m="http://schemas.openxmlformats.org/officeDocument/2006/math">
                    <m:r>
                      <a:rPr lang="en-US" sz="3200" b="1" i="1" smtClean="0">
                        <a:solidFill>
                          <a:srgbClr val="0070C0"/>
                        </a:solidFill>
                        <a:latin typeface="Cambria Math"/>
                      </a:rPr>
                      <m:t>𝑨</m:t>
                    </m:r>
                  </m:oMath>
                </a14:m>
                <a:r>
                  <a:rPr lang="en-US" sz="3200" b="1" dirty="0"/>
                  <a:t> and </a:t>
                </a:r>
                <a14:m>
                  <m:oMath xmlns:m="http://schemas.openxmlformats.org/officeDocument/2006/math">
                    <m:r>
                      <a:rPr lang="en-US" sz="3200" b="1" i="1" smtClean="0">
                        <a:solidFill>
                          <a:srgbClr val="0070C0"/>
                        </a:solidFill>
                        <a:latin typeface="Cambria Math"/>
                      </a:rPr>
                      <m:t>𝑩</m:t>
                    </m:r>
                  </m:oMath>
                </a14:m>
                <a:br>
                  <a:rPr lang="en-US" sz="3200" b="1" dirty="0"/>
                </a:br>
                <a:endParaRPr lang="en-US" sz="3200" b="1" dirty="0"/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2"/>
                <a:stretch>
                  <a:fillRect t="-3191" b="-138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An element of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𝑨</m:t>
                    </m:r>
                  </m:oMath>
                </a14:m>
                <a:r>
                  <a:rPr lang="en-US" sz="2000" dirty="0"/>
                  <a:t> may be matched with many elements of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pPr marL="0" indent="0">
                  <a:buNone/>
                </a:pPr>
                <a:r>
                  <a:rPr lang="en-US" sz="2000" dirty="0"/>
                  <a:t>Where to start from </a:t>
                </a:r>
                <a:r>
                  <a:rPr lang="en-US" sz="2000" dirty="0">
                    <a:sym typeface="Wingdings" pitchFamily="2" charset="2"/>
                  </a:rPr>
                  <a:t></a:t>
                </a:r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7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6" name="Group 15"/>
          <p:cNvGrpSpPr/>
          <p:nvPr/>
        </p:nvGrpSpPr>
        <p:grpSpPr>
          <a:xfrm>
            <a:off x="1676400" y="2438400"/>
            <a:ext cx="3276600" cy="304800"/>
            <a:chOff x="1676400" y="2438400"/>
            <a:chExt cx="3276600" cy="304800"/>
          </a:xfrm>
        </p:grpSpPr>
        <p:sp>
          <p:nvSpPr>
            <p:cNvPr id="4" name="Oval 3"/>
            <p:cNvSpPr/>
            <p:nvPr/>
          </p:nvSpPr>
          <p:spPr>
            <a:xfrm>
              <a:off x="1676400" y="2438400"/>
              <a:ext cx="228600" cy="304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Oval 5"/>
            <p:cNvSpPr/>
            <p:nvPr/>
          </p:nvSpPr>
          <p:spPr>
            <a:xfrm>
              <a:off x="2057400" y="2438400"/>
              <a:ext cx="228600" cy="304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Oval 6"/>
            <p:cNvSpPr/>
            <p:nvPr/>
          </p:nvSpPr>
          <p:spPr>
            <a:xfrm>
              <a:off x="2438400" y="2438400"/>
              <a:ext cx="228600" cy="304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Oval 7"/>
            <p:cNvSpPr/>
            <p:nvPr/>
          </p:nvSpPr>
          <p:spPr>
            <a:xfrm>
              <a:off x="2819400" y="2438400"/>
              <a:ext cx="228600" cy="304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Oval 8"/>
            <p:cNvSpPr/>
            <p:nvPr/>
          </p:nvSpPr>
          <p:spPr>
            <a:xfrm>
              <a:off x="3200400" y="2438400"/>
              <a:ext cx="228600" cy="304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Oval 9"/>
            <p:cNvSpPr/>
            <p:nvPr/>
          </p:nvSpPr>
          <p:spPr>
            <a:xfrm>
              <a:off x="3581400" y="2438400"/>
              <a:ext cx="228600" cy="304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Oval 10"/>
            <p:cNvSpPr/>
            <p:nvPr/>
          </p:nvSpPr>
          <p:spPr>
            <a:xfrm>
              <a:off x="3962400" y="2438400"/>
              <a:ext cx="228600" cy="304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Oval 11"/>
            <p:cNvSpPr/>
            <p:nvPr/>
          </p:nvSpPr>
          <p:spPr>
            <a:xfrm>
              <a:off x="4343400" y="2438400"/>
              <a:ext cx="228600" cy="304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Oval 12"/>
            <p:cNvSpPr/>
            <p:nvPr/>
          </p:nvSpPr>
          <p:spPr>
            <a:xfrm>
              <a:off x="4724400" y="2438400"/>
              <a:ext cx="228600" cy="304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1600200" y="2057400"/>
                <a:ext cx="356232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0070C0"/>
                    </a:solidFill>
                  </a:rPr>
                  <a:t>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dirty="0"/>
                  <a:t>      …</a:t>
                </a:r>
                <a:r>
                  <a:rPr lang="en-US" dirty="0">
                    <a:solidFill>
                      <a:srgbClr val="0070C0"/>
                    </a:solidFill>
                  </a:rPr>
                  <a:t>  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𝑛</m:t>
                        </m:r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−1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  </m:t>
                        </m:r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𝑛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0200" y="2057400"/>
                <a:ext cx="3562322" cy="369332"/>
              </a:xfrm>
              <a:prstGeom prst="rect">
                <a:avLst/>
              </a:prstGeom>
              <a:blipFill rotWithShape="1">
                <a:blip r:embed="rId4"/>
                <a:stretch>
                  <a:fillRect t="-8333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1619278" y="3581400"/>
                <a:ext cx="291502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𝑏</m:t>
                        </m:r>
                      </m:e>
                      <m:sub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0070C0"/>
                    </a:solidFill>
                  </a:rPr>
                  <a:t>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𝑏</m:t>
                        </m:r>
                      </m:e>
                      <m:sub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dirty="0"/>
                  <a:t>      …</a:t>
                </a:r>
                <a:r>
                  <a:rPr lang="en-US" dirty="0">
                    <a:solidFill>
                      <a:srgbClr val="0070C0"/>
                    </a:solidFill>
                  </a:rPr>
                  <a:t>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𝑚</m:t>
                        </m:r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−1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  </m:t>
                        </m:r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𝑚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9278" y="3581400"/>
                <a:ext cx="2915029" cy="369332"/>
              </a:xfrm>
              <a:prstGeom prst="rect">
                <a:avLst/>
              </a:prstGeom>
              <a:blipFill rotWithShape="1">
                <a:blip r:embed="rId5"/>
                <a:stretch>
                  <a:fillRect t="-8333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" name="Group 16"/>
          <p:cNvGrpSpPr/>
          <p:nvPr/>
        </p:nvGrpSpPr>
        <p:grpSpPr>
          <a:xfrm>
            <a:off x="1676400" y="3276600"/>
            <a:ext cx="2514600" cy="304800"/>
            <a:chOff x="1676400" y="2438400"/>
            <a:chExt cx="2514600" cy="304800"/>
          </a:xfrm>
        </p:grpSpPr>
        <p:sp>
          <p:nvSpPr>
            <p:cNvPr id="18" name="Oval 17"/>
            <p:cNvSpPr/>
            <p:nvPr/>
          </p:nvSpPr>
          <p:spPr>
            <a:xfrm>
              <a:off x="1676400" y="2438400"/>
              <a:ext cx="228600" cy="304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Oval 18"/>
            <p:cNvSpPr/>
            <p:nvPr/>
          </p:nvSpPr>
          <p:spPr>
            <a:xfrm>
              <a:off x="2057400" y="2438400"/>
              <a:ext cx="228600" cy="304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" name="Oval 19"/>
            <p:cNvSpPr/>
            <p:nvPr/>
          </p:nvSpPr>
          <p:spPr>
            <a:xfrm>
              <a:off x="2438400" y="2438400"/>
              <a:ext cx="228600" cy="304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Oval 20"/>
            <p:cNvSpPr/>
            <p:nvPr/>
          </p:nvSpPr>
          <p:spPr>
            <a:xfrm>
              <a:off x="2819400" y="2438400"/>
              <a:ext cx="228600" cy="304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Oval 21"/>
            <p:cNvSpPr/>
            <p:nvPr/>
          </p:nvSpPr>
          <p:spPr>
            <a:xfrm>
              <a:off x="3200400" y="2438400"/>
              <a:ext cx="228600" cy="304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Oval 22"/>
            <p:cNvSpPr/>
            <p:nvPr/>
          </p:nvSpPr>
          <p:spPr>
            <a:xfrm>
              <a:off x="3581400" y="2438400"/>
              <a:ext cx="228600" cy="304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Oval 23"/>
            <p:cNvSpPr/>
            <p:nvPr/>
          </p:nvSpPr>
          <p:spPr>
            <a:xfrm>
              <a:off x="3962400" y="2438400"/>
              <a:ext cx="228600" cy="304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5" name="Down Arrow 4"/>
          <p:cNvSpPr/>
          <p:nvPr/>
        </p:nvSpPr>
        <p:spPr>
          <a:xfrm>
            <a:off x="3581400" y="1905000"/>
            <a:ext cx="242316" cy="445008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Down Arrow 27"/>
          <p:cNvSpPr/>
          <p:nvPr/>
        </p:nvSpPr>
        <p:spPr>
          <a:xfrm>
            <a:off x="2819400" y="2831592"/>
            <a:ext cx="242316" cy="445008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31B984E9-046C-2F4D-B9DA-E3B749A9A2F8}"/>
                  </a:ext>
                </a:extLst>
              </p:cNvPr>
              <p:cNvSpPr txBox="1"/>
              <p:nvPr/>
            </p:nvSpPr>
            <p:spPr>
              <a:xfrm>
                <a:off x="1111708" y="2438400"/>
                <a:ext cx="412292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>
                          <a:solidFill>
                            <a:srgbClr val="0070C0"/>
                          </a:solidFill>
                          <a:latin typeface="Cambria Math"/>
                        </a:rPr>
                        <m:t>𝑨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31B984E9-046C-2F4D-B9DA-E3B749A9A2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1708" y="2438400"/>
                <a:ext cx="412292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C3038A02-EFB4-9E4B-B07F-EAB1D5EF8855}"/>
                  </a:ext>
                </a:extLst>
              </p:cNvPr>
              <p:cNvSpPr txBox="1"/>
              <p:nvPr/>
            </p:nvSpPr>
            <p:spPr>
              <a:xfrm>
                <a:off x="1121614" y="3228945"/>
                <a:ext cx="428322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𝑩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C3038A02-EFB4-9E4B-B07F-EAB1D5EF88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1614" y="3228945"/>
                <a:ext cx="428322" cy="4001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Down Arrow 27">
            <a:extLst>
              <a:ext uri="{FF2B5EF4-FFF2-40B4-BE49-F238E27FC236}">
                <a16:creationId xmlns:a16="http://schemas.microsoft.com/office/drawing/2014/main" id="{2122EBDB-A830-E710-1442-CC5C18536B25}"/>
              </a:ext>
            </a:extLst>
          </p:cNvPr>
          <p:cNvSpPr/>
          <p:nvPr/>
        </p:nvSpPr>
        <p:spPr>
          <a:xfrm>
            <a:off x="2050542" y="2810107"/>
            <a:ext cx="242316" cy="445008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095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5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71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74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  <p:bldP spid="3" grpId="1" uiExpand="1" build="p"/>
      <p:bldP spid="14" grpId="0"/>
      <p:bldP spid="15" grpId="0"/>
      <p:bldP spid="5" grpId="0" animBg="1"/>
      <p:bldP spid="28" grpId="0" animBg="1"/>
      <p:bldP spid="26" grpId="0"/>
      <p:bldP spid="29" grpId="0"/>
      <p:bldP spid="25" grpId="0" animBg="1"/>
      <p:bldP spid="25" grpId="1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3200" b="1" dirty="0">
                    <a:solidFill>
                      <a:srgbClr val="7030A0"/>
                    </a:solidFill>
                  </a:rPr>
                  <a:t>Longest common subsequence of </a:t>
                </a:r>
                <a14:m>
                  <m:oMath xmlns:m="http://schemas.openxmlformats.org/officeDocument/2006/math">
                    <m:r>
                      <a:rPr lang="en-US" sz="3200" b="1" i="1" smtClean="0">
                        <a:solidFill>
                          <a:srgbClr val="0070C0"/>
                        </a:solidFill>
                        <a:latin typeface="Cambria Math"/>
                      </a:rPr>
                      <m:t>𝑨</m:t>
                    </m:r>
                  </m:oMath>
                </a14:m>
                <a:r>
                  <a:rPr lang="en-US" sz="3200" b="1" dirty="0"/>
                  <a:t> and </a:t>
                </a:r>
                <a14:m>
                  <m:oMath xmlns:m="http://schemas.openxmlformats.org/officeDocument/2006/math">
                    <m:r>
                      <a:rPr lang="en-US" sz="3200" b="1" i="1" smtClean="0">
                        <a:solidFill>
                          <a:srgbClr val="0070C0"/>
                        </a:solidFill>
                        <a:latin typeface="Cambria Math"/>
                      </a:rPr>
                      <m:t>𝑩</m:t>
                    </m:r>
                  </m:oMath>
                </a14:m>
                <a:br>
                  <a:rPr lang="en-US" sz="3200" b="1" dirty="0"/>
                </a:br>
                <a:endParaRPr lang="en-US" sz="3200" b="1" dirty="0"/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t="-32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  <p:grpSp>
        <p:nvGrpSpPr>
          <p:cNvPr id="16" name="Group 15"/>
          <p:cNvGrpSpPr/>
          <p:nvPr/>
        </p:nvGrpSpPr>
        <p:grpSpPr>
          <a:xfrm>
            <a:off x="1676400" y="2438400"/>
            <a:ext cx="3276600" cy="304800"/>
            <a:chOff x="1676400" y="2438400"/>
            <a:chExt cx="3276600" cy="304800"/>
          </a:xfrm>
        </p:grpSpPr>
        <p:sp>
          <p:nvSpPr>
            <p:cNvPr id="4" name="Oval 3"/>
            <p:cNvSpPr/>
            <p:nvPr/>
          </p:nvSpPr>
          <p:spPr>
            <a:xfrm>
              <a:off x="1676400" y="2438400"/>
              <a:ext cx="228600" cy="304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Oval 5"/>
            <p:cNvSpPr/>
            <p:nvPr/>
          </p:nvSpPr>
          <p:spPr>
            <a:xfrm>
              <a:off x="2057400" y="2438400"/>
              <a:ext cx="228600" cy="304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Oval 6"/>
            <p:cNvSpPr/>
            <p:nvPr/>
          </p:nvSpPr>
          <p:spPr>
            <a:xfrm>
              <a:off x="2438400" y="2438400"/>
              <a:ext cx="228600" cy="304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Oval 7"/>
            <p:cNvSpPr/>
            <p:nvPr/>
          </p:nvSpPr>
          <p:spPr>
            <a:xfrm>
              <a:off x="2819400" y="2438400"/>
              <a:ext cx="228600" cy="304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Oval 8"/>
            <p:cNvSpPr/>
            <p:nvPr/>
          </p:nvSpPr>
          <p:spPr>
            <a:xfrm>
              <a:off x="3200400" y="2438400"/>
              <a:ext cx="228600" cy="304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Oval 9"/>
            <p:cNvSpPr/>
            <p:nvPr/>
          </p:nvSpPr>
          <p:spPr>
            <a:xfrm>
              <a:off x="3581400" y="2438400"/>
              <a:ext cx="228600" cy="304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Oval 10"/>
            <p:cNvSpPr/>
            <p:nvPr/>
          </p:nvSpPr>
          <p:spPr>
            <a:xfrm>
              <a:off x="3962400" y="2438400"/>
              <a:ext cx="228600" cy="304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Oval 11"/>
            <p:cNvSpPr/>
            <p:nvPr/>
          </p:nvSpPr>
          <p:spPr>
            <a:xfrm>
              <a:off x="4343400" y="2438400"/>
              <a:ext cx="228600" cy="304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Oval 12"/>
            <p:cNvSpPr/>
            <p:nvPr/>
          </p:nvSpPr>
          <p:spPr>
            <a:xfrm>
              <a:off x="4724400" y="2438400"/>
              <a:ext cx="228600" cy="304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1600200" y="2057400"/>
                <a:ext cx="356232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0070C0"/>
                    </a:solidFill>
                  </a:rPr>
                  <a:t>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dirty="0"/>
                  <a:t>      …</a:t>
                </a:r>
                <a:r>
                  <a:rPr lang="en-US" dirty="0">
                    <a:solidFill>
                      <a:srgbClr val="0070C0"/>
                    </a:solidFill>
                  </a:rPr>
                  <a:t>  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𝑛</m:t>
                        </m:r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−1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  </m:t>
                        </m:r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𝑛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0200" y="2057400"/>
                <a:ext cx="3562322" cy="369332"/>
              </a:xfrm>
              <a:prstGeom prst="rect">
                <a:avLst/>
              </a:prstGeom>
              <a:blipFill rotWithShape="1">
                <a:blip r:embed="rId3"/>
                <a:stretch>
                  <a:fillRect t="-8333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1619278" y="3581400"/>
                <a:ext cx="291502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𝑏</m:t>
                        </m:r>
                      </m:e>
                      <m:sub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0070C0"/>
                    </a:solidFill>
                  </a:rPr>
                  <a:t>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𝑏</m:t>
                        </m:r>
                      </m:e>
                      <m:sub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dirty="0"/>
                  <a:t>      …</a:t>
                </a:r>
                <a:r>
                  <a:rPr lang="en-US" dirty="0">
                    <a:solidFill>
                      <a:srgbClr val="0070C0"/>
                    </a:solidFill>
                  </a:rPr>
                  <a:t>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𝑚</m:t>
                        </m:r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−1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  </m:t>
                        </m:r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𝑚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9278" y="3581400"/>
                <a:ext cx="2915029" cy="369332"/>
              </a:xfrm>
              <a:prstGeom prst="rect">
                <a:avLst/>
              </a:prstGeom>
              <a:blipFill rotWithShape="1">
                <a:blip r:embed="rId4"/>
                <a:stretch>
                  <a:fillRect t="-8333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" name="Group 16"/>
          <p:cNvGrpSpPr/>
          <p:nvPr/>
        </p:nvGrpSpPr>
        <p:grpSpPr>
          <a:xfrm>
            <a:off x="1676400" y="3276600"/>
            <a:ext cx="2514600" cy="304800"/>
            <a:chOff x="1676400" y="2438400"/>
            <a:chExt cx="2514600" cy="304800"/>
          </a:xfrm>
        </p:grpSpPr>
        <p:sp>
          <p:nvSpPr>
            <p:cNvPr id="18" name="Oval 17"/>
            <p:cNvSpPr/>
            <p:nvPr/>
          </p:nvSpPr>
          <p:spPr>
            <a:xfrm>
              <a:off x="1676400" y="2438400"/>
              <a:ext cx="228600" cy="304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Oval 18"/>
            <p:cNvSpPr/>
            <p:nvPr/>
          </p:nvSpPr>
          <p:spPr>
            <a:xfrm>
              <a:off x="2057400" y="2438400"/>
              <a:ext cx="228600" cy="304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" name="Oval 19"/>
            <p:cNvSpPr/>
            <p:nvPr/>
          </p:nvSpPr>
          <p:spPr>
            <a:xfrm>
              <a:off x="2438400" y="2438400"/>
              <a:ext cx="228600" cy="304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Oval 20"/>
            <p:cNvSpPr/>
            <p:nvPr/>
          </p:nvSpPr>
          <p:spPr>
            <a:xfrm>
              <a:off x="2819400" y="2438400"/>
              <a:ext cx="228600" cy="304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Oval 21"/>
            <p:cNvSpPr/>
            <p:nvPr/>
          </p:nvSpPr>
          <p:spPr>
            <a:xfrm>
              <a:off x="3200400" y="2438400"/>
              <a:ext cx="228600" cy="304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Oval 22"/>
            <p:cNvSpPr/>
            <p:nvPr/>
          </p:nvSpPr>
          <p:spPr>
            <a:xfrm>
              <a:off x="3581400" y="2438400"/>
              <a:ext cx="228600" cy="304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Oval 23"/>
            <p:cNvSpPr/>
            <p:nvPr/>
          </p:nvSpPr>
          <p:spPr>
            <a:xfrm>
              <a:off x="3962400" y="2438400"/>
              <a:ext cx="228600" cy="304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5" name="Down Arrow 4"/>
          <p:cNvSpPr/>
          <p:nvPr/>
        </p:nvSpPr>
        <p:spPr>
          <a:xfrm>
            <a:off x="4724400" y="1752600"/>
            <a:ext cx="242316" cy="445008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Down Arrow 27"/>
          <p:cNvSpPr/>
          <p:nvPr/>
        </p:nvSpPr>
        <p:spPr>
          <a:xfrm>
            <a:off x="3948684" y="2831592"/>
            <a:ext cx="242316" cy="445008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2841386" y="908227"/>
                <a:ext cx="2720296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200" b="1" dirty="0"/>
                  <a:t>when</a:t>
                </a:r>
                <a:r>
                  <a:rPr lang="en-US" sz="32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sz="32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𝑛</m:t>
                        </m:r>
                      </m:sub>
                    </m:sSub>
                    <m:r>
                      <a:rPr lang="en-US" sz="3200" i="1">
                        <a:solidFill>
                          <a:srgbClr val="0070C0"/>
                        </a:solidFill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sz="32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𝑏</m:t>
                        </m:r>
                      </m:e>
                      <m:sub>
                        <m:r>
                          <a:rPr lang="en-US" sz="32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𝑚</m:t>
                        </m:r>
                      </m:sub>
                    </m:sSub>
                  </m:oMath>
                </a14:m>
                <a:endParaRPr lang="en-US" sz="3200" dirty="0"/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1386" y="908227"/>
                <a:ext cx="2720296" cy="584775"/>
              </a:xfrm>
              <a:prstGeom prst="rect">
                <a:avLst/>
              </a:prstGeom>
              <a:blipFill rotWithShape="1">
                <a:blip r:embed="rId5"/>
                <a:stretch>
                  <a:fillRect l="-5605" t="-12500" r="-8296" b="-34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31B984E9-046C-2F4D-B9DA-E3B749A9A2F8}"/>
                  </a:ext>
                </a:extLst>
              </p:cNvPr>
              <p:cNvSpPr txBox="1"/>
              <p:nvPr/>
            </p:nvSpPr>
            <p:spPr>
              <a:xfrm>
                <a:off x="1111708" y="2438400"/>
                <a:ext cx="412292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>
                          <a:solidFill>
                            <a:srgbClr val="0070C0"/>
                          </a:solidFill>
                          <a:latin typeface="Cambria Math"/>
                        </a:rPr>
                        <m:t>𝑨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31B984E9-046C-2F4D-B9DA-E3B749A9A2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1708" y="2438400"/>
                <a:ext cx="412292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C3038A02-EFB4-9E4B-B07F-EAB1D5EF8855}"/>
                  </a:ext>
                </a:extLst>
              </p:cNvPr>
              <p:cNvSpPr txBox="1"/>
              <p:nvPr/>
            </p:nvSpPr>
            <p:spPr>
              <a:xfrm>
                <a:off x="1121614" y="3228945"/>
                <a:ext cx="428322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𝑩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C3038A02-EFB4-9E4B-B07F-EAB1D5EF88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1614" y="3228945"/>
                <a:ext cx="428322" cy="4001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498991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3200" b="1" dirty="0">
                    <a:solidFill>
                      <a:srgbClr val="7030A0"/>
                    </a:solidFill>
                  </a:rPr>
                  <a:t>Longest common subsequence of </a:t>
                </a:r>
                <a14:m>
                  <m:oMath xmlns:m="http://schemas.openxmlformats.org/officeDocument/2006/math">
                    <m:r>
                      <a:rPr lang="en-US" sz="3200" b="1" i="1">
                        <a:solidFill>
                          <a:srgbClr val="0070C0"/>
                        </a:solidFill>
                        <a:latin typeface="Cambria Math"/>
                      </a:rPr>
                      <m:t>𝑨</m:t>
                    </m:r>
                  </m:oMath>
                </a14:m>
                <a:r>
                  <a:rPr lang="en-US" sz="3200" b="1" dirty="0"/>
                  <a:t> and </a:t>
                </a:r>
                <a14:m>
                  <m:oMath xmlns:m="http://schemas.openxmlformats.org/officeDocument/2006/math">
                    <m:r>
                      <a:rPr lang="en-US" sz="3200" b="1" i="1">
                        <a:solidFill>
                          <a:srgbClr val="0070C0"/>
                        </a:solidFill>
                        <a:latin typeface="Cambria Math"/>
                      </a:rPr>
                      <m:t>𝑩</m:t>
                    </m:r>
                  </m:oMath>
                </a14:m>
                <a:br>
                  <a:rPr lang="en-US" sz="3200" b="1" dirty="0"/>
                </a:br>
                <a:endParaRPr lang="en-US" sz="3200" b="1" dirty="0"/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2"/>
                <a:stretch>
                  <a:fillRect t="-3191" b="-138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534400" cy="452596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7030A0"/>
                    </a:solidFill>
                  </a:rPr>
                  <a:t>Observation</a:t>
                </a:r>
                <a:r>
                  <a:rPr lang="en-US" sz="2000" dirty="0"/>
                  <a:t>: There is a</a:t>
                </a:r>
                <a:r>
                  <a:rPr lang="en-US" sz="2000" b="1" dirty="0"/>
                  <a:t> Longest Common Subsequence </a:t>
                </a:r>
                <a:r>
                  <a:rPr lang="en-US" sz="2000" dirty="0"/>
                  <a:t>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000" dirty="0"/>
                  <a:t> matching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𝑏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sz="2000" dirty="0"/>
                  <a:t>.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534400" cy="4525963"/>
              </a:xfrm>
              <a:blipFill rotWithShape="1">
                <a:blip r:embed="rId3"/>
                <a:stretch>
                  <a:fillRect l="-714" t="-674" b="-80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6" name="Group 15"/>
          <p:cNvGrpSpPr/>
          <p:nvPr/>
        </p:nvGrpSpPr>
        <p:grpSpPr>
          <a:xfrm>
            <a:off x="1676400" y="2438400"/>
            <a:ext cx="3276600" cy="304800"/>
            <a:chOff x="1676400" y="2438400"/>
            <a:chExt cx="3276600" cy="304800"/>
          </a:xfrm>
        </p:grpSpPr>
        <p:sp>
          <p:nvSpPr>
            <p:cNvPr id="4" name="Oval 3"/>
            <p:cNvSpPr/>
            <p:nvPr/>
          </p:nvSpPr>
          <p:spPr>
            <a:xfrm>
              <a:off x="1676400" y="2438400"/>
              <a:ext cx="228600" cy="304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Oval 5"/>
            <p:cNvSpPr/>
            <p:nvPr/>
          </p:nvSpPr>
          <p:spPr>
            <a:xfrm>
              <a:off x="2057400" y="2438400"/>
              <a:ext cx="228600" cy="304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Oval 6"/>
            <p:cNvSpPr/>
            <p:nvPr/>
          </p:nvSpPr>
          <p:spPr>
            <a:xfrm>
              <a:off x="2438400" y="2438400"/>
              <a:ext cx="228600" cy="304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Oval 7"/>
            <p:cNvSpPr/>
            <p:nvPr/>
          </p:nvSpPr>
          <p:spPr>
            <a:xfrm>
              <a:off x="2819400" y="2438400"/>
              <a:ext cx="228600" cy="304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Oval 8"/>
            <p:cNvSpPr/>
            <p:nvPr/>
          </p:nvSpPr>
          <p:spPr>
            <a:xfrm>
              <a:off x="3200400" y="2438400"/>
              <a:ext cx="228600" cy="304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Oval 9"/>
            <p:cNvSpPr/>
            <p:nvPr/>
          </p:nvSpPr>
          <p:spPr>
            <a:xfrm>
              <a:off x="3581400" y="2438400"/>
              <a:ext cx="228600" cy="304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Oval 10"/>
            <p:cNvSpPr/>
            <p:nvPr/>
          </p:nvSpPr>
          <p:spPr>
            <a:xfrm>
              <a:off x="3962400" y="2438400"/>
              <a:ext cx="228600" cy="304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Oval 11"/>
            <p:cNvSpPr/>
            <p:nvPr/>
          </p:nvSpPr>
          <p:spPr>
            <a:xfrm>
              <a:off x="4343400" y="2438400"/>
              <a:ext cx="228600" cy="304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Oval 12"/>
            <p:cNvSpPr/>
            <p:nvPr/>
          </p:nvSpPr>
          <p:spPr>
            <a:xfrm>
              <a:off x="4724400" y="2438400"/>
              <a:ext cx="228600" cy="304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1600200" y="2057400"/>
                <a:ext cx="356232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0070C0"/>
                    </a:solidFill>
                  </a:rPr>
                  <a:t>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dirty="0"/>
                  <a:t>      …</a:t>
                </a:r>
                <a:r>
                  <a:rPr lang="en-US" dirty="0">
                    <a:solidFill>
                      <a:srgbClr val="0070C0"/>
                    </a:solidFill>
                  </a:rPr>
                  <a:t>  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𝑛</m:t>
                        </m:r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−1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  </m:t>
                        </m:r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𝑛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0200" y="2057400"/>
                <a:ext cx="3562322" cy="369332"/>
              </a:xfrm>
              <a:prstGeom prst="rect">
                <a:avLst/>
              </a:prstGeom>
              <a:blipFill rotWithShape="1">
                <a:blip r:embed="rId4"/>
                <a:stretch>
                  <a:fillRect t="-8333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1619278" y="3581400"/>
                <a:ext cx="291502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𝑏</m:t>
                        </m:r>
                      </m:e>
                      <m:sub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0070C0"/>
                    </a:solidFill>
                  </a:rPr>
                  <a:t>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𝑏</m:t>
                        </m:r>
                      </m:e>
                      <m:sub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dirty="0"/>
                  <a:t>      …</a:t>
                </a:r>
                <a:r>
                  <a:rPr lang="en-US" dirty="0">
                    <a:solidFill>
                      <a:srgbClr val="0070C0"/>
                    </a:solidFill>
                  </a:rPr>
                  <a:t>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𝑚</m:t>
                        </m:r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−1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  </m:t>
                        </m:r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𝑚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9278" y="3581400"/>
                <a:ext cx="2915029" cy="369332"/>
              </a:xfrm>
              <a:prstGeom prst="rect">
                <a:avLst/>
              </a:prstGeom>
              <a:blipFill rotWithShape="1">
                <a:blip r:embed="rId5"/>
                <a:stretch>
                  <a:fillRect t="-8333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" name="Group 16"/>
          <p:cNvGrpSpPr/>
          <p:nvPr/>
        </p:nvGrpSpPr>
        <p:grpSpPr>
          <a:xfrm>
            <a:off x="1676400" y="3276600"/>
            <a:ext cx="2514600" cy="304800"/>
            <a:chOff x="1676400" y="2438400"/>
            <a:chExt cx="2514600" cy="304800"/>
          </a:xfrm>
        </p:grpSpPr>
        <p:sp>
          <p:nvSpPr>
            <p:cNvPr id="18" name="Oval 17"/>
            <p:cNvSpPr/>
            <p:nvPr/>
          </p:nvSpPr>
          <p:spPr>
            <a:xfrm>
              <a:off x="1676400" y="2438400"/>
              <a:ext cx="228600" cy="304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Oval 18"/>
            <p:cNvSpPr/>
            <p:nvPr/>
          </p:nvSpPr>
          <p:spPr>
            <a:xfrm>
              <a:off x="2057400" y="2438400"/>
              <a:ext cx="228600" cy="304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" name="Oval 19"/>
            <p:cNvSpPr/>
            <p:nvPr/>
          </p:nvSpPr>
          <p:spPr>
            <a:xfrm>
              <a:off x="2438400" y="2438400"/>
              <a:ext cx="228600" cy="304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Oval 20"/>
            <p:cNvSpPr/>
            <p:nvPr/>
          </p:nvSpPr>
          <p:spPr>
            <a:xfrm>
              <a:off x="2819400" y="2438400"/>
              <a:ext cx="228600" cy="304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Oval 21"/>
            <p:cNvSpPr/>
            <p:nvPr/>
          </p:nvSpPr>
          <p:spPr>
            <a:xfrm>
              <a:off x="3200400" y="2438400"/>
              <a:ext cx="228600" cy="304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Oval 22"/>
            <p:cNvSpPr/>
            <p:nvPr/>
          </p:nvSpPr>
          <p:spPr>
            <a:xfrm>
              <a:off x="3581400" y="2438400"/>
              <a:ext cx="228600" cy="304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Oval 23"/>
            <p:cNvSpPr/>
            <p:nvPr/>
          </p:nvSpPr>
          <p:spPr>
            <a:xfrm>
              <a:off x="3962400" y="2438400"/>
              <a:ext cx="228600" cy="304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34" name="Oval 33"/>
          <p:cNvSpPr/>
          <p:nvPr/>
        </p:nvSpPr>
        <p:spPr>
          <a:xfrm>
            <a:off x="4724400" y="2438400"/>
            <a:ext cx="228600" cy="30480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Oval 34"/>
          <p:cNvSpPr/>
          <p:nvPr/>
        </p:nvSpPr>
        <p:spPr>
          <a:xfrm>
            <a:off x="3962400" y="3276600"/>
            <a:ext cx="228600" cy="30480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1924078" y="4191000"/>
            <a:ext cx="4552922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/>
              <p:cNvSpPr txBox="1"/>
              <p:nvPr/>
            </p:nvSpPr>
            <p:spPr>
              <a:xfrm>
                <a:off x="2841386" y="908227"/>
                <a:ext cx="2813271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200" b="1" dirty="0"/>
                  <a:t>when</a:t>
                </a:r>
                <a:r>
                  <a:rPr lang="en-US" sz="32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sz="32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𝑛</m:t>
                        </m:r>
                      </m:sub>
                    </m:sSub>
                    <m:r>
                      <a:rPr lang="en-US" sz="3200" i="1">
                        <a:solidFill>
                          <a:srgbClr val="0070C0"/>
                        </a:solidFill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sz="32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𝑏</m:t>
                        </m:r>
                      </m:e>
                      <m:sub>
                        <m:r>
                          <a:rPr lang="en-US" sz="32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sz="3200" dirty="0"/>
                  <a:t> </a:t>
                </a:r>
              </a:p>
            </p:txBody>
          </p:sp>
        </mc:Choice>
        <mc:Fallback xmlns=""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1386" y="908227"/>
                <a:ext cx="2813271" cy="584775"/>
              </a:xfrm>
              <a:prstGeom prst="rect">
                <a:avLst/>
              </a:prstGeom>
              <a:blipFill rotWithShape="1">
                <a:blip r:embed="rId6"/>
                <a:stretch>
                  <a:fillRect l="-5411" t="-12500" r="-7792" b="-34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Rectangle 35"/>
          <p:cNvSpPr/>
          <p:nvPr/>
        </p:nvSpPr>
        <p:spPr>
          <a:xfrm>
            <a:off x="6400800" y="4191000"/>
            <a:ext cx="2381222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1905000" y="4171890"/>
                <a:ext cx="640566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/>
                  <a:t>Last symbol of </a:t>
                </a:r>
                <a:r>
                  <a:rPr lang="en-US" sz="2000" b="1" dirty="0"/>
                  <a:t>Longest Common Subsequence</a:t>
                </a:r>
                <a:r>
                  <a:rPr lang="en-US" sz="2000" dirty="0"/>
                  <a:t>  must be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000" dirty="0"/>
                  <a:t>.</a:t>
                </a:r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4171890"/>
                <a:ext cx="6405664" cy="400110"/>
              </a:xfrm>
              <a:prstGeom prst="rect">
                <a:avLst/>
              </a:prstGeom>
              <a:blipFill rotWithShape="1">
                <a:blip r:embed="rId7"/>
                <a:stretch>
                  <a:fillRect l="-1048" t="-7576" r="-1048" b="-25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" name="Straight Connector 36"/>
          <p:cNvCxnSpPr/>
          <p:nvPr/>
        </p:nvCxnSpPr>
        <p:spPr>
          <a:xfrm flipH="1">
            <a:off x="4229100" y="2819400"/>
            <a:ext cx="495300" cy="381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3581400" y="2438400"/>
            <a:ext cx="228600" cy="30480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9" name="Straight Connector 38"/>
          <p:cNvCxnSpPr/>
          <p:nvPr/>
        </p:nvCxnSpPr>
        <p:spPr>
          <a:xfrm>
            <a:off x="3695700" y="2819400"/>
            <a:ext cx="266700" cy="381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Down Ribbon 39"/>
              <p:cNvSpPr/>
              <p:nvPr/>
            </p:nvSpPr>
            <p:spPr>
              <a:xfrm>
                <a:off x="6172200" y="1828800"/>
                <a:ext cx="2590800" cy="2013466"/>
              </a:xfrm>
              <a:prstGeom prst="ribbon">
                <a:avLst>
                  <a:gd name="adj1" fmla="val 16667"/>
                  <a:gd name="adj2" fmla="val 75000"/>
                </a:avLst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Otherwise, we can append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at the end of such </a:t>
                </a:r>
                <a:r>
                  <a:rPr lang="en-US" b="1" dirty="0">
                    <a:solidFill>
                      <a:schemeClr val="tx1"/>
                    </a:solidFill>
                  </a:rPr>
                  <a:t>LCS </a:t>
                </a:r>
                <a:r>
                  <a:rPr lang="en-US" dirty="0">
                    <a:solidFill>
                      <a:schemeClr val="tx1"/>
                    </a:solidFill>
                  </a:rPr>
                  <a:t>to get a longer </a:t>
                </a:r>
                <a:r>
                  <a:rPr lang="en-US" b="1" dirty="0">
                    <a:solidFill>
                      <a:schemeClr val="tx1"/>
                    </a:solidFill>
                  </a:rPr>
                  <a:t>LCS</a:t>
                </a:r>
                <a:r>
                  <a:rPr lang="en-US" dirty="0">
                    <a:solidFill>
                      <a:schemeClr val="tx1"/>
                    </a:solidFill>
                  </a:rPr>
                  <a:t>.</a:t>
                </a:r>
              </a:p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A contradiction !</a:t>
                </a:r>
              </a:p>
            </p:txBody>
          </p:sp>
        </mc:Choice>
        <mc:Fallback xmlns="">
          <p:sp>
            <p:nvSpPr>
              <p:cNvPr id="40" name="Down Ribbon 3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2200" y="1828800"/>
                <a:ext cx="2590800" cy="2013466"/>
              </a:xfrm>
              <a:prstGeom prst="ribbon">
                <a:avLst>
                  <a:gd name="adj1" fmla="val 16667"/>
                  <a:gd name="adj2" fmla="val 75000"/>
                </a:avLst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Cloud Callout 40"/>
          <p:cNvSpPr/>
          <p:nvPr/>
        </p:nvSpPr>
        <p:spPr>
          <a:xfrm>
            <a:off x="5791200" y="5197826"/>
            <a:ext cx="2745434" cy="1202974"/>
          </a:xfrm>
          <a:prstGeom prst="cloudCallout">
            <a:avLst>
              <a:gd name="adj1" fmla="val -28956"/>
              <a:gd name="adj2" fmla="val 83820"/>
            </a:avLst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We can even make a stronger observation. 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Down Ribbon 41"/>
              <p:cNvSpPr/>
              <p:nvPr/>
            </p:nvSpPr>
            <p:spPr>
              <a:xfrm>
                <a:off x="5867400" y="1752600"/>
                <a:ext cx="3048000" cy="2442121"/>
              </a:xfrm>
              <a:prstGeom prst="ribbon">
                <a:avLst>
                  <a:gd name="adj1" fmla="val 16667"/>
                  <a:gd name="adj2" fmla="val 75000"/>
                </a:avLst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Otherwise,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is matched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for some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/>
                      </a:rPr>
                      <m:t>𝑖</m:t>
                    </m:r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/>
                      </a:rPr>
                      <m:t>&lt;</m:t>
                    </m:r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. Since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𝑏</m:t>
                        </m:r>
                      </m:e>
                      <m:sub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is the last symbol of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/>
                      </a:rPr>
                      <m:t>𝐵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,  we can as well match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to get the desired  </a:t>
                </a:r>
                <a:r>
                  <a:rPr lang="en-US" b="1" dirty="0">
                    <a:solidFill>
                      <a:schemeClr val="tx1"/>
                    </a:solidFill>
                  </a:rPr>
                  <a:t>LCS</a:t>
                </a:r>
                <a:r>
                  <a:rPr lang="en-US" dirty="0">
                    <a:solidFill>
                      <a:schemeClr val="tx1"/>
                    </a:solidFill>
                  </a:rPr>
                  <a:t>.</a:t>
                </a:r>
                <a:r>
                  <a:rPr lang="en-US" b="1" dirty="0">
                    <a:solidFill>
                      <a:schemeClr val="tx1"/>
                    </a:solidFill>
                  </a:rPr>
                  <a:t> </a:t>
                </a:r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2" name="Down Ribbon 4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7400" y="1752600"/>
                <a:ext cx="3048000" cy="2442121"/>
              </a:xfrm>
              <a:prstGeom prst="ribbon">
                <a:avLst>
                  <a:gd name="adj1" fmla="val 16667"/>
                  <a:gd name="adj2" fmla="val 75000"/>
                </a:avLst>
              </a:prstGeom>
              <a:blipFill rotWithShape="1">
                <a:blip r:embed="rId9"/>
                <a:stretch>
                  <a:fillRect b="-29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Cloud Callout 42"/>
          <p:cNvSpPr/>
          <p:nvPr/>
        </p:nvSpPr>
        <p:spPr>
          <a:xfrm>
            <a:off x="5350844" y="5274026"/>
            <a:ext cx="3564556" cy="1202974"/>
          </a:xfrm>
          <a:prstGeom prst="cloudCallout">
            <a:avLst>
              <a:gd name="adj1" fmla="val -28956"/>
              <a:gd name="adj2" fmla="val 83820"/>
            </a:avLst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What kind of picture emerge for the </a:t>
            </a:r>
            <a:r>
              <a:rPr lang="en-US" b="1" dirty="0">
                <a:solidFill>
                  <a:schemeClr val="tx1"/>
                </a:solidFill>
              </a:rPr>
              <a:t>LCS</a:t>
            </a:r>
            <a:r>
              <a:rPr lang="en-US" dirty="0">
                <a:solidFill>
                  <a:schemeClr val="tx1"/>
                </a:solidFill>
              </a:rPr>
              <a:t> in this case ?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8EE048B3-D624-2D49-8FC6-8427457643AE}"/>
                  </a:ext>
                </a:extLst>
              </p:cNvPr>
              <p:cNvSpPr txBox="1"/>
              <p:nvPr/>
            </p:nvSpPr>
            <p:spPr>
              <a:xfrm>
                <a:off x="1111708" y="2438400"/>
                <a:ext cx="412292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>
                          <a:solidFill>
                            <a:srgbClr val="0070C0"/>
                          </a:solidFill>
                          <a:latin typeface="Cambria Math"/>
                        </a:rPr>
                        <m:t>𝑨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8EE048B3-D624-2D49-8FC6-8427457643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1708" y="2438400"/>
                <a:ext cx="412292" cy="40011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0FDEB2A2-F7CD-BC49-A937-99BA3F27CC3A}"/>
                  </a:ext>
                </a:extLst>
              </p:cNvPr>
              <p:cNvSpPr txBox="1"/>
              <p:nvPr/>
            </p:nvSpPr>
            <p:spPr>
              <a:xfrm>
                <a:off x="1121614" y="3228945"/>
                <a:ext cx="428322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𝑩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0FDEB2A2-F7CD-BC49-A937-99BA3F27CC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1614" y="3228945"/>
                <a:ext cx="428322" cy="40011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405784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51" dur="1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56" dur="7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4" grpId="0" animBg="1"/>
      <p:bldP spid="35" grpId="0" animBg="1"/>
      <p:bldP spid="5" grpId="0" animBg="1"/>
      <p:bldP spid="36" grpId="0" animBg="1"/>
      <p:bldP spid="25" grpId="0"/>
      <p:bldP spid="25" grpId="1"/>
      <p:bldP spid="38" grpId="0" animBg="1"/>
      <p:bldP spid="38" grpId="1" animBg="1"/>
      <p:bldP spid="40" grpId="0" animBg="1"/>
      <p:bldP spid="40" grpId="1" animBg="1"/>
      <p:bldP spid="41" grpId="0" animBg="1"/>
      <p:bldP spid="41" grpId="1" animBg="1"/>
      <p:bldP spid="42" grpId="0" animBg="1"/>
      <p:bldP spid="42" grpId="1" animBg="1"/>
      <p:bldP spid="43" grpId="0" animBg="1"/>
      <p:bldP spid="43" grpId="1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3200" b="1" dirty="0">
                    <a:solidFill>
                      <a:srgbClr val="7030A0"/>
                    </a:solidFill>
                  </a:rPr>
                  <a:t>Longest common subsequence of </a:t>
                </a:r>
                <a14:m>
                  <m:oMath xmlns:m="http://schemas.openxmlformats.org/officeDocument/2006/math">
                    <m:r>
                      <a:rPr lang="en-US" sz="3200" b="1" i="1">
                        <a:solidFill>
                          <a:srgbClr val="0070C0"/>
                        </a:solidFill>
                        <a:latin typeface="Cambria Math"/>
                      </a:rPr>
                      <m:t>𝑨</m:t>
                    </m:r>
                  </m:oMath>
                </a14:m>
                <a:r>
                  <a:rPr lang="en-US" sz="3200" b="1" dirty="0"/>
                  <a:t> and </a:t>
                </a:r>
                <a14:m>
                  <m:oMath xmlns:m="http://schemas.openxmlformats.org/officeDocument/2006/math">
                    <m:r>
                      <a:rPr lang="en-US" sz="3200" b="1" i="1">
                        <a:solidFill>
                          <a:srgbClr val="0070C0"/>
                        </a:solidFill>
                        <a:latin typeface="Cambria Math"/>
                      </a:rPr>
                      <m:t>𝑩</m:t>
                    </m:r>
                  </m:oMath>
                </a14:m>
                <a:br>
                  <a:rPr lang="en-US" sz="3200" b="1" dirty="0"/>
                </a:br>
                <a:endParaRPr lang="en-US" sz="3200" dirty="0"/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2"/>
                <a:stretch>
                  <a:fillRect t="-3191" b="-138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610600" cy="452596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7030A0"/>
                    </a:solidFill>
                  </a:rPr>
                  <a:t>Observation</a:t>
                </a:r>
                <a:r>
                  <a:rPr lang="en-US" sz="2000" dirty="0"/>
                  <a:t>: There is a</a:t>
                </a:r>
                <a:r>
                  <a:rPr lang="en-US" sz="2000" b="1" dirty="0"/>
                  <a:t> Longest Common Subsequence</a:t>
                </a:r>
                <a:r>
                  <a:rPr lang="en-US" sz="2000" dirty="0"/>
                  <a:t>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000" dirty="0"/>
                  <a:t> matching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𝑏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sz="2000" dirty="0"/>
                  <a:t>.</a:t>
                </a: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Lemma</a:t>
                </a:r>
                <a:r>
                  <a:rPr lang="en-US" sz="2000" dirty="0"/>
                  <a:t>: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𝑛</m:t>
                        </m:r>
                      </m:sub>
                    </m:sSub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𝑏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𝑚</m:t>
                        </m:r>
                      </m:sub>
                    </m:sSub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/>
                  <a:t>then</a:t>
                </a:r>
                <a:r>
                  <a:rPr lang="en-US" sz="2000" b="1" dirty="0"/>
                  <a:t> </a:t>
                </a:r>
              </a:p>
              <a:p>
                <a:pPr marL="0" indent="0">
                  <a:buNone/>
                </a:pPr>
                <a:r>
                  <a:rPr lang="en-US" sz="2000" b="1" dirty="0"/>
                  <a:t>Longest Common Subsequence</a:t>
                </a:r>
                <a:r>
                  <a:rPr lang="en-US" sz="2000" dirty="0"/>
                  <a:t> =           </a:t>
                </a:r>
              </a:p>
              <a:p>
                <a:pPr marL="0" indent="0" algn="ctr">
                  <a:buNone/>
                </a:pPr>
                <a:r>
                  <a:rPr lang="en-US" sz="2000" dirty="0"/>
                  <a:t> </a:t>
                </a:r>
                <a:r>
                  <a:rPr lang="en-US" sz="2000" dirty="0">
                    <a:solidFill>
                      <a:srgbClr val="C00000"/>
                    </a:solidFill>
                  </a:rPr>
                  <a:t>?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610600" cy="4525963"/>
              </a:xfrm>
              <a:blipFill rotWithShape="1">
                <a:blip r:embed="rId3"/>
                <a:stretch>
                  <a:fillRect l="-708" t="-6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6" name="Group 15"/>
          <p:cNvGrpSpPr/>
          <p:nvPr/>
        </p:nvGrpSpPr>
        <p:grpSpPr>
          <a:xfrm>
            <a:off x="1676400" y="2438400"/>
            <a:ext cx="3276600" cy="304800"/>
            <a:chOff x="1676400" y="2438400"/>
            <a:chExt cx="3276600" cy="304800"/>
          </a:xfrm>
        </p:grpSpPr>
        <p:sp>
          <p:nvSpPr>
            <p:cNvPr id="4" name="Oval 3"/>
            <p:cNvSpPr/>
            <p:nvPr/>
          </p:nvSpPr>
          <p:spPr>
            <a:xfrm>
              <a:off x="1676400" y="2438400"/>
              <a:ext cx="228600" cy="304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Oval 5"/>
            <p:cNvSpPr/>
            <p:nvPr/>
          </p:nvSpPr>
          <p:spPr>
            <a:xfrm>
              <a:off x="2057400" y="2438400"/>
              <a:ext cx="228600" cy="304800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Oval 6"/>
            <p:cNvSpPr/>
            <p:nvPr/>
          </p:nvSpPr>
          <p:spPr>
            <a:xfrm>
              <a:off x="2438400" y="2438400"/>
              <a:ext cx="228600" cy="30480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Oval 7"/>
            <p:cNvSpPr/>
            <p:nvPr/>
          </p:nvSpPr>
          <p:spPr>
            <a:xfrm>
              <a:off x="2819400" y="2438400"/>
              <a:ext cx="228600" cy="304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Oval 8"/>
            <p:cNvSpPr/>
            <p:nvPr/>
          </p:nvSpPr>
          <p:spPr>
            <a:xfrm>
              <a:off x="3200400" y="2438400"/>
              <a:ext cx="228600" cy="304800"/>
            </a:xfrm>
            <a:prstGeom prst="ellipse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Oval 9"/>
            <p:cNvSpPr/>
            <p:nvPr/>
          </p:nvSpPr>
          <p:spPr>
            <a:xfrm>
              <a:off x="3581400" y="2438400"/>
              <a:ext cx="228600" cy="304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Oval 10"/>
            <p:cNvSpPr/>
            <p:nvPr/>
          </p:nvSpPr>
          <p:spPr>
            <a:xfrm>
              <a:off x="3962400" y="2438400"/>
              <a:ext cx="228600" cy="304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Oval 11"/>
            <p:cNvSpPr/>
            <p:nvPr/>
          </p:nvSpPr>
          <p:spPr>
            <a:xfrm>
              <a:off x="4343400" y="2438400"/>
              <a:ext cx="228600" cy="304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Oval 12"/>
            <p:cNvSpPr/>
            <p:nvPr/>
          </p:nvSpPr>
          <p:spPr>
            <a:xfrm>
              <a:off x="4724400" y="2438400"/>
              <a:ext cx="228600" cy="304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1600200" y="2057400"/>
                <a:ext cx="356232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0070C0"/>
                    </a:solidFill>
                  </a:rPr>
                  <a:t>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dirty="0"/>
                  <a:t>      …</a:t>
                </a:r>
                <a:r>
                  <a:rPr lang="en-US" dirty="0">
                    <a:solidFill>
                      <a:srgbClr val="0070C0"/>
                    </a:solidFill>
                  </a:rPr>
                  <a:t>  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𝑛</m:t>
                        </m:r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−1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  </m:t>
                        </m:r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𝑛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0200" y="2057400"/>
                <a:ext cx="3562322" cy="369332"/>
              </a:xfrm>
              <a:prstGeom prst="rect">
                <a:avLst/>
              </a:prstGeom>
              <a:blipFill rotWithShape="1">
                <a:blip r:embed="rId4"/>
                <a:stretch>
                  <a:fillRect t="-8333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1619278" y="3581400"/>
                <a:ext cx="291502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𝑏</m:t>
                        </m:r>
                      </m:e>
                      <m:sub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0070C0"/>
                    </a:solidFill>
                  </a:rPr>
                  <a:t>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𝑏</m:t>
                        </m:r>
                      </m:e>
                      <m:sub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dirty="0"/>
                  <a:t>      …</a:t>
                </a:r>
                <a:r>
                  <a:rPr lang="en-US" dirty="0">
                    <a:solidFill>
                      <a:srgbClr val="0070C0"/>
                    </a:solidFill>
                  </a:rPr>
                  <a:t>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𝑚</m:t>
                        </m:r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−1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  </m:t>
                        </m:r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𝑚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9278" y="3581400"/>
                <a:ext cx="2915029" cy="369332"/>
              </a:xfrm>
              <a:prstGeom prst="rect">
                <a:avLst/>
              </a:prstGeom>
              <a:blipFill rotWithShape="1">
                <a:blip r:embed="rId5"/>
                <a:stretch>
                  <a:fillRect t="-8333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" name="Group 16"/>
          <p:cNvGrpSpPr/>
          <p:nvPr/>
        </p:nvGrpSpPr>
        <p:grpSpPr>
          <a:xfrm>
            <a:off x="1676400" y="3276600"/>
            <a:ext cx="2514600" cy="304800"/>
            <a:chOff x="1676400" y="2438400"/>
            <a:chExt cx="2514600" cy="304800"/>
          </a:xfrm>
        </p:grpSpPr>
        <p:sp>
          <p:nvSpPr>
            <p:cNvPr id="18" name="Oval 17"/>
            <p:cNvSpPr/>
            <p:nvPr/>
          </p:nvSpPr>
          <p:spPr>
            <a:xfrm>
              <a:off x="1676400" y="2438400"/>
              <a:ext cx="228600" cy="304800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Oval 18"/>
            <p:cNvSpPr/>
            <p:nvPr/>
          </p:nvSpPr>
          <p:spPr>
            <a:xfrm>
              <a:off x="2057400" y="2438400"/>
              <a:ext cx="228600" cy="304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" name="Oval 19"/>
            <p:cNvSpPr/>
            <p:nvPr/>
          </p:nvSpPr>
          <p:spPr>
            <a:xfrm>
              <a:off x="2438400" y="2438400"/>
              <a:ext cx="228600" cy="30480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Oval 20"/>
            <p:cNvSpPr/>
            <p:nvPr/>
          </p:nvSpPr>
          <p:spPr>
            <a:xfrm>
              <a:off x="2819400" y="2438400"/>
              <a:ext cx="228600" cy="304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Oval 21"/>
            <p:cNvSpPr/>
            <p:nvPr/>
          </p:nvSpPr>
          <p:spPr>
            <a:xfrm>
              <a:off x="3200400" y="2438400"/>
              <a:ext cx="228600" cy="304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Oval 22"/>
            <p:cNvSpPr/>
            <p:nvPr/>
          </p:nvSpPr>
          <p:spPr>
            <a:xfrm>
              <a:off x="3581400" y="2438400"/>
              <a:ext cx="228600" cy="304800"/>
            </a:xfrm>
            <a:prstGeom prst="ellipse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Oval 23"/>
            <p:cNvSpPr/>
            <p:nvPr/>
          </p:nvSpPr>
          <p:spPr>
            <a:xfrm>
              <a:off x="3962400" y="2438400"/>
              <a:ext cx="228600" cy="304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25" name="Straight Connector 24"/>
          <p:cNvCxnSpPr/>
          <p:nvPr/>
        </p:nvCxnSpPr>
        <p:spPr>
          <a:xfrm flipH="1">
            <a:off x="1790700" y="2819400"/>
            <a:ext cx="266700" cy="381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2533650" y="2819400"/>
            <a:ext cx="0" cy="381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>
            <a:off x="3429000" y="2819400"/>
            <a:ext cx="152400" cy="381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4724400" y="2438400"/>
            <a:ext cx="228600" cy="30480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Oval 34"/>
          <p:cNvSpPr/>
          <p:nvPr/>
        </p:nvSpPr>
        <p:spPr>
          <a:xfrm>
            <a:off x="3962400" y="3276600"/>
            <a:ext cx="228600" cy="30480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ight Brace 4"/>
          <p:cNvSpPr/>
          <p:nvPr/>
        </p:nvSpPr>
        <p:spPr>
          <a:xfrm rot="16200000">
            <a:off x="2969840" y="618295"/>
            <a:ext cx="384049" cy="3048002"/>
          </a:xfrm>
          <a:prstGeom prst="righ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ight Brace 29"/>
          <p:cNvSpPr/>
          <p:nvPr/>
        </p:nvSpPr>
        <p:spPr>
          <a:xfrm rot="5400000">
            <a:off x="2606935" y="2835535"/>
            <a:ext cx="424932" cy="2285999"/>
          </a:xfrm>
          <a:prstGeom prst="righ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1790700" y="5334000"/>
                <a:ext cx="7810500" cy="400110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000" b="1" dirty="0"/>
                  <a:t>Longest Common Subsequence</a:t>
                </a:r>
                <a:r>
                  <a:rPr lang="en-US" sz="2000" dirty="0"/>
                  <a:t> </a:t>
                </a:r>
                <a:r>
                  <a:rPr lang="en-US" sz="2000" b="1" dirty="0"/>
                  <a:t>of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𝑨</m:t>
                    </m:r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[</m:t>
                    </m:r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1…</m:t>
                    </m:r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−1]</m:t>
                    </m:r>
                  </m:oMath>
                </a14:m>
                <a:r>
                  <a:rPr lang="en-US" sz="2000" dirty="0"/>
                  <a:t>,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𝑩</m:t>
                    </m:r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[</m:t>
                    </m:r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𝑚</m:t>
                    </m:r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−1] </m:t>
                    </m:r>
                  </m:oMath>
                </a14:m>
                <a:r>
                  <a:rPr lang="en-US" sz="2000" b="1" dirty="0"/>
                  <a:t>::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  </m:t>
                        </m:r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𝑛</m:t>
                        </m:r>
                      </m:sub>
                    </m:sSub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0700" y="5334000"/>
                <a:ext cx="7810500" cy="400110"/>
              </a:xfrm>
              <a:prstGeom prst="rect">
                <a:avLst/>
              </a:prstGeom>
              <a:blipFill>
                <a:blip r:embed="rId6"/>
                <a:stretch>
                  <a:fillRect l="-859" t="-7576" b="-257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Straight Connector 31"/>
          <p:cNvCxnSpPr/>
          <p:nvPr/>
        </p:nvCxnSpPr>
        <p:spPr>
          <a:xfrm flipH="1">
            <a:off x="4229100" y="2819400"/>
            <a:ext cx="495300" cy="381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/>
              <p:cNvSpPr txBox="1"/>
              <p:nvPr/>
            </p:nvSpPr>
            <p:spPr>
              <a:xfrm>
                <a:off x="2841386" y="908227"/>
                <a:ext cx="2813271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200" b="1" dirty="0"/>
                  <a:t>when</a:t>
                </a:r>
                <a:r>
                  <a:rPr lang="en-US" sz="32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sz="32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𝑛</m:t>
                        </m:r>
                      </m:sub>
                    </m:sSub>
                    <m:r>
                      <a:rPr lang="en-US" sz="3200" i="1">
                        <a:solidFill>
                          <a:srgbClr val="0070C0"/>
                        </a:solidFill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sz="32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𝑏</m:t>
                        </m:r>
                      </m:e>
                      <m:sub>
                        <m:r>
                          <a:rPr lang="en-US" sz="32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sz="3200" dirty="0"/>
                  <a:t> </a:t>
                </a:r>
              </a:p>
            </p:txBody>
          </p:sp>
        </mc:Choice>
        <mc:Fallback xmlns=""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1386" y="908227"/>
                <a:ext cx="2813271" cy="584775"/>
              </a:xfrm>
              <a:prstGeom prst="rect">
                <a:avLst/>
              </a:prstGeom>
              <a:blipFill rotWithShape="1">
                <a:blip r:embed="rId7"/>
                <a:stretch>
                  <a:fillRect l="-5411" t="-12500" r="-7792" b="-34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440336" y="4872335"/>
                <a:ext cx="3395801" cy="461665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/>
                  <a:t>                 LCS</a:t>
                </a:r>
                <a:r>
                  <a:rPr lang="en-US" sz="2400" dirty="0"/>
                  <a:t>(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2400" dirty="0"/>
                  <a:t>,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rgbClr val="0070C0"/>
                        </a:solidFill>
                        <a:latin typeface="Cambria Math"/>
                      </a:rPr>
                      <m:t>𝑚</m:t>
                    </m:r>
                  </m:oMath>
                </a14:m>
                <a:r>
                  <a:rPr lang="en-US" sz="2400" dirty="0"/>
                  <a:t>)             </a:t>
                </a:r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0336" y="4872335"/>
                <a:ext cx="3395801" cy="461665"/>
              </a:xfrm>
              <a:prstGeom prst="rect">
                <a:avLst/>
              </a:prstGeom>
              <a:blipFill rotWithShape="1">
                <a:blip r:embed="rId8"/>
                <a:stretch>
                  <a:fillRect l="-2693" t="-10526" r="-3950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/>
              <p:cNvSpPr txBox="1"/>
              <p:nvPr/>
            </p:nvSpPr>
            <p:spPr>
              <a:xfrm>
                <a:off x="4172072" y="4876800"/>
                <a:ext cx="3176319" cy="461665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/>
                  <a:t>LCS</a:t>
                </a:r>
                <a:r>
                  <a:rPr lang="en-US" sz="2400" dirty="0"/>
                  <a:t>(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  <m:r>
                      <a:rPr lang="en-US" sz="2400" i="1">
                        <a:solidFill>
                          <a:srgbClr val="0070C0"/>
                        </a:solidFill>
                        <a:latin typeface="Cambria Math"/>
                      </a:rPr>
                      <m:t>−1</m:t>
                    </m:r>
                  </m:oMath>
                </a14:m>
                <a:r>
                  <a:rPr lang="en-US" sz="2400" dirty="0"/>
                  <a:t>,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0070C0"/>
                        </a:solidFill>
                        <a:latin typeface="Cambria Math"/>
                      </a:rPr>
                      <m:t>𝑚</m:t>
                    </m:r>
                    <m:r>
                      <a:rPr lang="en-US" sz="2400" i="1">
                        <a:solidFill>
                          <a:srgbClr val="0070C0"/>
                        </a:solidFill>
                        <a:latin typeface="Cambria Math"/>
                      </a:rPr>
                      <m:t>−1</m:t>
                    </m:r>
                  </m:oMath>
                </a14:m>
                <a:r>
                  <a:rPr lang="en-US" sz="2400" dirty="0"/>
                  <a:t>)  </a:t>
                </a:r>
                <a:r>
                  <a:rPr lang="en-US" sz="2400" b="1" dirty="0"/>
                  <a:t>::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  </m:t>
                        </m:r>
                        <m:r>
                          <a:rPr lang="en-US" sz="24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sz="24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𝑛</m:t>
                        </m:r>
                      </m:sub>
                    </m:sSub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39" name="TextBox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2072" y="4876800"/>
                <a:ext cx="3176319" cy="461665"/>
              </a:xfrm>
              <a:prstGeom prst="rect">
                <a:avLst/>
              </a:prstGeom>
              <a:blipFill rotWithShape="1">
                <a:blip r:embed="rId9"/>
                <a:stretch>
                  <a:fillRect l="-2879" t="-10526" r="-4415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Rectangle 28"/>
          <p:cNvSpPr/>
          <p:nvPr/>
        </p:nvSpPr>
        <p:spPr>
          <a:xfrm>
            <a:off x="5461499" y="5282272"/>
            <a:ext cx="3301501" cy="61265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/>
          <p:cNvSpPr/>
          <p:nvPr/>
        </p:nvSpPr>
        <p:spPr>
          <a:xfrm>
            <a:off x="8533418" y="5351994"/>
            <a:ext cx="1066800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/>
              <p:cNvSpPr txBox="1"/>
              <p:nvPr/>
            </p:nvSpPr>
            <p:spPr>
              <a:xfrm>
                <a:off x="438875" y="6093767"/>
                <a:ext cx="8037650" cy="461665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/>
                  <a:t>LCS</a:t>
                </a:r>
                <a:r>
                  <a:rPr lang="en-US" sz="2400" dirty="0"/>
                  <a:t>(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70C0"/>
                        </a:solidFill>
                        <a:latin typeface="Cambria Math"/>
                      </a:rPr>
                      <m:t>𝑖</m:t>
                    </m:r>
                  </m:oMath>
                </a14:m>
                <a:r>
                  <a:rPr lang="en-US" sz="2400" dirty="0"/>
                  <a:t>,</a:t>
                </a:r>
                <a:r>
                  <a:rPr lang="en-US" sz="2400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70C0"/>
                        </a:solidFill>
                        <a:latin typeface="Cambria Math"/>
                      </a:rPr>
                      <m:t>𝑗</m:t>
                    </m:r>
                  </m:oMath>
                </a14:m>
                <a:r>
                  <a:rPr lang="en-US" sz="2400" dirty="0"/>
                  <a:t>): </a:t>
                </a:r>
                <a:r>
                  <a:rPr lang="en-US" sz="2400" b="1" dirty="0"/>
                  <a:t>Longest common subsequence </a:t>
                </a:r>
                <a:r>
                  <a:rPr lang="en-US" sz="2400" dirty="0"/>
                  <a:t>of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70C0"/>
                        </a:solidFill>
                        <a:latin typeface="Cambria Math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1..</m:t>
                        </m:r>
                        <m:r>
                          <a:rPr lang="en-US" sz="24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𝑖</m:t>
                        </m:r>
                      </m:e>
                    </m:d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70C0"/>
                        </a:solidFill>
                        <a:latin typeface="Cambria Math"/>
                      </a:rPr>
                      <m:t>𝐵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1..</m:t>
                        </m:r>
                        <m:r>
                          <a:rPr lang="en-US" sz="24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𝑗</m:t>
                        </m:r>
                      </m:e>
                    </m:d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40" name="TextBox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875" y="6093767"/>
                <a:ext cx="8037650" cy="461665"/>
              </a:xfrm>
              <a:prstGeom prst="rect">
                <a:avLst/>
              </a:prstGeom>
              <a:blipFill rotWithShape="1">
                <a:blip r:embed="rId10"/>
                <a:stretch>
                  <a:fillRect l="-1213" t="-10667" r="-1744" b="-30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Rectangle 40"/>
          <p:cNvSpPr/>
          <p:nvPr/>
        </p:nvSpPr>
        <p:spPr>
          <a:xfrm>
            <a:off x="1676400" y="6092949"/>
            <a:ext cx="3872262" cy="61265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/>
          <p:cNvSpPr/>
          <p:nvPr/>
        </p:nvSpPr>
        <p:spPr>
          <a:xfrm>
            <a:off x="5548662" y="6096000"/>
            <a:ext cx="1461738" cy="61265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/>
          <p:cNvSpPr/>
          <p:nvPr/>
        </p:nvSpPr>
        <p:spPr>
          <a:xfrm>
            <a:off x="6882901" y="6092949"/>
            <a:ext cx="1828800" cy="61570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Cloud Callout 43"/>
          <p:cNvSpPr/>
          <p:nvPr/>
        </p:nvSpPr>
        <p:spPr>
          <a:xfrm>
            <a:off x="5350844" y="2242066"/>
            <a:ext cx="3716956" cy="1524000"/>
          </a:xfrm>
          <a:prstGeom prst="cloudCallout">
            <a:avLst>
              <a:gd name="adj1" fmla="val -28956"/>
              <a:gd name="adj2" fmla="val 83820"/>
            </a:avLst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What can you say about the </a:t>
            </a:r>
            <a:r>
              <a:rPr lang="en-US" b="1" dirty="0">
                <a:solidFill>
                  <a:schemeClr val="tx1"/>
                </a:solidFill>
              </a:rPr>
              <a:t>Longest Common Subsequence</a:t>
            </a:r>
            <a:r>
              <a:rPr lang="en-US" dirty="0">
                <a:solidFill>
                  <a:schemeClr val="tx1"/>
                </a:solidFill>
              </a:rPr>
              <a:t>  excluding the last (red) symbol ?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Down Ribbon 44"/>
              <p:cNvSpPr/>
              <p:nvPr/>
            </p:nvSpPr>
            <p:spPr>
              <a:xfrm>
                <a:off x="2701664" y="5415605"/>
                <a:ext cx="6226414" cy="1421115"/>
              </a:xfrm>
              <a:prstGeom prst="ribbon">
                <a:avLst>
                  <a:gd name="adj1" fmla="val 16667"/>
                  <a:gd name="adj2" fmla="val 75000"/>
                </a:avLst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It </a:t>
                </a:r>
                <a:r>
                  <a:rPr lang="en-US" b="1" dirty="0">
                    <a:solidFill>
                      <a:schemeClr val="tx1"/>
                    </a:solidFill>
                  </a:rPr>
                  <a:t>must</a:t>
                </a:r>
                <a:r>
                  <a:rPr lang="en-US" dirty="0">
                    <a:solidFill>
                      <a:schemeClr val="tx1"/>
                    </a:solidFill>
                  </a:rPr>
                  <a:t> be</a:t>
                </a:r>
              </a:p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b="1" dirty="0">
                    <a:solidFill>
                      <a:schemeClr val="tx1"/>
                    </a:solidFill>
                  </a:rPr>
                  <a:t>Longest Common Subsequence </a:t>
                </a:r>
              </a:p>
              <a:p>
                <a:pPr algn="ctr"/>
                <a:r>
                  <a:rPr lang="en-US" b="1" dirty="0">
                    <a:solidFill>
                      <a:schemeClr val="tx1"/>
                    </a:solidFill>
                  </a:rPr>
                  <a:t>of </a:t>
                </a:r>
                <a:r>
                  <a:rPr lang="en-US" dirty="0">
                    <a:solidFill>
                      <a:schemeClr val="tx1"/>
                    </a:solidFill>
                  </a:rPr>
                  <a:t>(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0070C0"/>
                        </a:solidFill>
                        <a:latin typeface="Cambria Math"/>
                      </a:rPr>
                      <m:t>𝑨</m:t>
                    </m:r>
                    <m:r>
                      <a:rPr lang="en-US" b="1" i="1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/>
                      </a:rPr>
                      <m:t>[</m:t>
                    </m:r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1...</m:t>
                    </m:r>
                    <m:r>
                      <a:rPr lang="en-US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/>
                      </a:rPr>
                      <m:t>−1]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,</a:t>
                </a:r>
                <a:r>
                  <a:rPr lang="en-US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0070C0"/>
                        </a:solidFill>
                        <a:latin typeface="Cambria Math"/>
                      </a:rPr>
                      <m:t>𝑩</m:t>
                    </m:r>
                    <m:r>
                      <a:rPr lang="en-US" b="1" i="1" smtClean="0">
                        <a:solidFill>
                          <a:srgbClr val="0070C0"/>
                        </a:solidFill>
                        <a:latin typeface="Cambria Math"/>
                      </a:rPr>
                      <m:t>[</m:t>
                    </m:r>
                    <m:r>
                      <a:rPr lang="en-US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.. . </m:t>
                    </m:r>
                    <m:r>
                      <a:rPr lang="en-US" i="1">
                        <a:solidFill>
                          <a:srgbClr val="0070C0"/>
                        </a:solidFill>
                        <a:latin typeface="Cambria Math"/>
                      </a:rPr>
                      <m:t>𝑚</m:t>
                    </m:r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/>
                      </a:rPr>
                      <m:t>−1]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).</a:t>
                </a:r>
              </a:p>
              <a:p>
                <a:pPr algn="ctr"/>
                <a:r>
                  <a:rPr lang="en-US" dirty="0"/>
                  <a:t> </a:t>
                </a:r>
                <a:r>
                  <a:rPr lang="en-US" dirty="0">
                    <a:solidFill>
                      <a:schemeClr val="tx1"/>
                    </a:solidFill>
                  </a:rPr>
                  <a:t>Otherwise, we can get even longer </a:t>
                </a:r>
                <a:r>
                  <a:rPr lang="en-US" b="1" dirty="0">
                    <a:solidFill>
                      <a:schemeClr val="tx1"/>
                    </a:solidFill>
                  </a:rPr>
                  <a:t>LCS</a:t>
                </a:r>
                <a:r>
                  <a:rPr lang="en-US" dirty="0">
                    <a:solidFill>
                      <a:schemeClr val="tx1"/>
                    </a:solidFill>
                  </a:rPr>
                  <a:t>(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,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70C0"/>
                        </a:solidFill>
                        <a:latin typeface="Cambria Math"/>
                      </a:rPr>
                      <m:t>𝑚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). </a:t>
                </a:r>
              </a:p>
            </p:txBody>
          </p:sp>
        </mc:Choice>
        <mc:Fallback xmlns="">
          <p:sp>
            <p:nvSpPr>
              <p:cNvPr id="45" name="Down Ribbon 4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1664" y="5415605"/>
                <a:ext cx="6226414" cy="1421115"/>
              </a:xfrm>
              <a:prstGeom prst="ribbon">
                <a:avLst>
                  <a:gd name="adj1" fmla="val 16667"/>
                  <a:gd name="adj2" fmla="val 75000"/>
                </a:avLst>
              </a:prstGeom>
              <a:blipFill>
                <a:blip r:embed="rId11"/>
                <a:stretch>
                  <a:fillRect b="-58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B588EA8C-D1B8-ED45-9581-94B460922810}"/>
                  </a:ext>
                </a:extLst>
              </p:cNvPr>
              <p:cNvSpPr txBox="1"/>
              <p:nvPr/>
            </p:nvSpPr>
            <p:spPr>
              <a:xfrm>
                <a:off x="1111708" y="2438400"/>
                <a:ext cx="412292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>
                          <a:solidFill>
                            <a:srgbClr val="0070C0"/>
                          </a:solidFill>
                          <a:latin typeface="Cambria Math"/>
                        </a:rPr>
                        <m:t>𝑨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B588EA8C-D1B8-ED45-9581-94B4609228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1708" y="2438400"/>
                <a:ext cx="412292" cy="40011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3E710F87-94D1-7349-A679-1FB84124BC7E}"/>
                  </a:ext>
                </a:extLst>
              </p:cNvPr>
              <p:cNvSpPr txBox="1"/>
              <p:nvPr/>
            </p:nvSpPr>
            <p:spPr>
              <a:xfrm>
                <a:off x="1121614" y="3228945"/>
                <a:ext cx="428322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𝑩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3E710F87-94D1-7349-A679-1FB84124BC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1614" y="3228945"/>
                <a:ext cx="428322" cy="40011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Rectangle 35">
            <a:extLst>
              <a:ext uri="{FF2B5EF4-FFF2-40B4-BE49-F238E27FC236}">
                <a16:creationId xmlns:a16="http://schemas.microsoft.com/office/drawing/2014/main" id="{669D68D4-DE5A-7AA4-4D23-B3B3616327BA}"/>
              </a:ext>
            </a:extLst>
          </p:cNvPr>
          <p:cNvSpPr/>
          <p:nvPr/>
        </p:nvSpPr>
        <p:spPr>
          <a:xfrm>
            <a:off x="1761386" y="5378136"/>
            <a:ext cx="7458813" cy="50329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53130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8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8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95" dur="12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0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0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animBg="1"/>
      <p:bldP spid="30" grpId="0" animBg="1"/>
      <p:bldP spid="26" grpId="0" animBg="1"/>
      <p:bldP spid="27" grpId="0" animBg="1"/>
      <p:bldP spid="39" grpId="0" animBg="1"/>
      <p:bldP spid="29" grpId="0" animBg="1"/>
      <p:bldP spid="33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4" grpId="1" animBg="1"/>
      <p:bldP spid="45" grpId="0" animBg="1"/>
      <p:bldP spid="45" grpId="1" animBg="1"/>
      <p:bldP spid="3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3200" b="1" dirty="0">
                    <a:solidFill>
                      <a:srgbClr val="7030A0"/>
                    </a:solidFill>
                  </a:rPr>
                  <a:t>Longest common subsequence of </a:t>
                </a:r>
                <a14:m>
                  <m:oMath xmlns:m="http://schemas.openxmlformats.org/officeDocument/2006/math">
                    <m:r>
                      <a:rPr lang="en-US" sz="3200" b="1" i="1">
                        <a:solidFill>
                          <a:srgbClr val="0070C0"/>
                        </a:solidFill>
                        <a:latin typeface="Cambria Math"/>
                      </a:rPr>
                      <m:t>𝑨</m:t>
                    </m:r>
                  </m:oMath>
                </a14:m>
                <a:r>
                  <a:rPr lang="en-US" sz="3200" b="1" dirty="0"/>
                  <a:t> and </a:t>
                </a:r>
                <a14:m>
                  <m:oMath xmlns:m="http://schemas.openxmlformats.org/officeDocument/2006/math">
                    <m:r>
                      <a:rPr lang="en-US" sz="3200" b="1" i="1">
                        <a:solidFill>
                          <a:srgbClr val="0070C0"/>
                        </a:solidFill>
                        <a:latin typeface="Cambria Math"/>
                      </a:rPr>
                      <m:t>𝑩</m:t>
                    </m:r>
                  </m:oMath>
                </a14:m>
                <a:br>
                  <a:rPr lang="en-US" sz="3200" b="1" dirty="0"/>
                </a:br>
                <a:endParaRPr lang="en-US" sz="3200" dirty="0"/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2"/>
                <a:stretch>
                  <a:fillRect t="-3191" b="-138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7030A0"/>
                    </a:solidFill>
                  </a:rPr>
                  <a:t>Observation</a:t>
                </a:r>
                <a:r>
                  <a:rPr lang="en-US" sz="2000" dirty="0"/>
                  <a:t>: Either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𝑛</m:t>
                        </m:r>
                      </m:sub>
                    </m:sSub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/>
                  <a:t>or</a:t>
                </a:r>
                <a:r>
                  <a:rPr lang="en-US" sz="2000" b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𝑏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𝑚</m:t>
                        </m:r>
                      </m:sub>
                    </m:sSub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b="1" u="sng" dirty="0"/>
                  <a:t>is not</a:t>
                </a:r>
                <a:r>
                  <a:rPr lang="en-US" sz="2000" b="1" dirty="0"/>
                  <a:t> </a:t>
                </a:r>
                <a:r>
                  <a:rPr lang="en-US" sz="2000" dirty="0"/>
                  <a:t>the last symbol of </a:t>
                </a:r>
                <a:r>
                  <a:rPr lang="en-US" sz="2000" b="1" dirty="0"/>
                  <a:t>LCS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2000" dirty="0"/>
                  <a:t>,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𝑚</m:t>
                    </m:r>
                  </m:oMath>
                </a14:m>
                <a:r>
                  <a:rPr lang="en-US" sz="2000" dirty="0"/>
                  <a:t>).</a:t>
                </a: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Observation</a:t>
                </a:r>
                <a:r>
                  <a:rPr lang="en-US" sz="2000" dirty="0"/>
                  <a:t>: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𝑛</m:t>
                        </m:r>
                      </m:sub>
                    </m:sSub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u="sng" dirty="0"/>
                  <a:t>is not</a:t>
                </a:r>
                <a:r>
                  <a:rPr lang="en-US" sz="2000" dirty="0"/>
                  <a:t> the last symbol of </a:t>
                </a:r>
                <a:r>
                  <a:rPr lang="en-US" sz="2000" b="1" dirty="0"/>
                  <a:t>LCS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2000" dirty="0"/>
                  <a:t>,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𝑚</m:t>
                    </m:r>
                  </m:oMath>
                </a14:m>
                <a:r>
                  <a:rPr lang="en-US" sz="2000" dirty="0"/>
                  <a:t>)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3"/>
                <a:stretch>
                  <a:fillRect l="-741" t="-6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6" name="Group 15"/>
          <p:cNvGrpSpPr/>
          <p:nvPr/>
        </p:nvGrpSpPr>
        <p:grpSpPr>
          <a:xfrm>
            <a:off x="1676400" y="2438400"/>
            <a:ext cx="3276600" cy="304800"/>
            <a:chOff x="1676400" y="2438400"/>
            <a:chExt cx="3276600" cy="304800"/>
          </a:xfrm>
        </p:grpSpPr>
        <p:sp>
          <p:nvSpPr>
            <p:cNvPr id="4" name="Oval 3"/>
            <p:cNvSpPr/>
            <p:nvPr/>
          </p:nvSpPr>
          <p:spPr>
            <a:xfrm>
              <a:off x="1676400" y="2438400"/>
              <a:ext cx="228600" cy="304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Oval 5"/>
            <p:cNvSpPr/>
            <p:nvPr/>
          </p:nvSpPr>
          <p:spPr>
            <a:xfrm>
              <a:off x="2057400" y="2438400"/>
              <a:ext cx="228600" cy="304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Oval 6"/>
            <p:cNvSpPr/>
            <p:nvPr/>
          </p:nvSpPr>
          <p:spPr>
            <a:xfrm>
              <a:off x="2438400" y="2438400"/>
              <a:ext cx="228600" cy="304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Oval 7"/>
            <p:cNvSpPr/>
            <p:nvPr/>
          </p:nvSpPr>
          <p:spPr>
            <a:xfrm>
              <a:off x="2819400" y="2438400"/>
              <a:ext cx="228600" cy="304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Oval 8"/>
            <p:cNvSpPr/>
            <p:nvPr/>
          </p:nvSpPr>
          <p:spPr>
            <a:xfrm>
              <a:off x="3200400" y="2438400"/>
              <a:ext cx="228600" cy="304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Oval 9"/>
            <p:cNvSpPr/>
            <p:nvPr/>
          </p:nvSpPr>
          <p:spPr>
            <a:xfrm>
              <a:off x="3581400" y="2438400"/>
              <a:ext cx="228600" cy="304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Oval 10"/>
            <p:cNvSpPr/>
            <p:nvPr/>
          </p:nvSpPr>
          <p:spPr>
            <a:xfrm>
              <a:off x="3962400" y="2438400"/>
              <a:ext cx="228600" cy="304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Oval 11"/>
            <p:cNvSpPr/>
            <p:nvPr/>
          </p:nvSpPr>
          <p:spPr>
            <a:xfrm>
              <a:off x="4343400" y="2438400"/>
              <a:ext cx="228600" cy="304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Oval 12"/>
            <p:cNvSpPr/>
            <p:nvPr/>
          </p:nvSpPr>
          <p:spPr>
            <a:xfrm>
              <a:off x="4724400" y="2438400"/>
              <a:ext cx="228600" cy="304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1600200" y="2057400"/>
                <a:ext cx="356232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0070C0"/>
                    </a:solidFill>
                  </a:rPr>
                  <a:t>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dirty="0"/>
                  <a:t>      …</a:t>
                </a:r>
                <a:r>
                  <a:rPr lang="en-US" dirty="0">
                    <a:solidFill>
                      <a:srgbClr val="0070C0"/>
                    </a:solidFill>
                  </a:rPr>
                  <a:t>  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𝑛</m:t>
                        </m:r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−1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  </m:t>
                        </m:r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𝑛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0200" y="2057400"/>
                <a:ext cx="3562322" cy="369332"/>
              </a:xfrm>
              <a:prstGeom prst="rect">
                <a:avLst/>
              </a:prstGeom>
              <a:blipFill rotWithShape="1">
                <a:blip r:embed="rId4"/>
                <a:stretch>
                  <a:fillRect t="-8333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1619278" y="3581400"/>
                <a:ext cx="291502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𝑏</m:t>
                        </m:r>
                      </m:e>
                      <m:sub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0070C0"/>
                    </a:solidFill>
                  </a:rPr>
                  <a:t>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𝑏</m:t>
                        </m:r>
                      </m:e>
                      <m:sub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dirty="0"/>
                  <a:t>      …</a:t>
                </a:r>
                <a:r>
                  <a:rPr lang="en-US" dirty="0">
                    <a:solidFill>
                      <a:srgbClr val="0070C0"/>
                    </a:solidFill>
                  </a:rPr>
                  <a:t>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𝑚</m:t>
                        </m:r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−1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  </m:t>
                        </m:r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𝑚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9278" y="3581400"/>
                <a:ext cx="2915029" cy="369332"/>
              </a:xfrm>
              <a:prstGeom prst="rect">
                <a:avLst/>
              </a:prstGeom>
              <a:blipFill rotWithShape="1">
                <a:blip r:embed="rId5"/>
                <a:stretch>
                  <a:fillRect t="-8333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" name="Group 16"/>
          <p:cNvGrpSpPr/>
          <p:nvPr/>
        </p:nvGrpSpPr>
        <p:grpSpPr>
          <a:xfrm>
            <a:off x="1676400" y="3276600"/>
            <a:ext cx="2514600" cy="304800"/>
            <a:chOff x="1676400" y="2438400"/>
            <a:chExt cx="2514600" cy="304800"/>
          </a:xfrm>
        </p:grpSpPr>
        <p:sp>
          <p:nvSpPr>
            <p:cNvPr id="18" name="Oval 17"/>
            <p:cNvSpPr/>
            <p:nvPr/>
          </p:nvSpPr>
          <p:spPr>
            <a:xfrm>
              <a:off x="1676400" y="2438400"/>
              <a:ext cx="228600" cy="304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Oval 18"/>
            <p:cNvSpPr/>
            <p:nvPr/>
          </p:nvSpPr>
          <p:spPr>
            <a:xfrm>
              <a:off x="2057400" y="2438400"/>
              <a:ext cx="228600" cy="304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" name="Oval 19"/>
            <p:cNvSpPr/>
            <p:nvPr/>
          </p:nvSpPr>
          <p:spPr>
            <a:xfrm>
              <a:off x="2438400" y="2438400"/>
              <a:ext cx="228600" cy="304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Oval 20"/>
            <p:cNvSpPr/>
            <p:nvPr/>
          </p:nvSpPr>
          <p:spPr>
            <a:xfrm>
              <a:off x="2819400" y="2438400"/>
              <a:ext cx="228600" cy="304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Oval 21"/>
            <p:cNvSpPr/>
            <p:nvPr/>
          </p:nvSpPr>
          <p:spPr>
            <a:xfrm>
              <a:off x="3200400" y="2438400"/>
              <a:ext cx="228600" cy="304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Oval 22"/>
            <p:cNvSpPr/>
            <p:nvPr/>
          </p:nvSpPr>
          <p:spPr>
            <a:xfrm>
              <a:off x="3581400" y="2438400"/>
              <a:ext cx="228600" cy="304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Oval 23"/>
            <p:cNvSpPr/>
            <p:nvPr/>
          </p:nvSpPr>
          <p:spPr>
            <a:xfrm>
              <a:off x="3962400" y="2438400"/>
              <a:ext cx="228600" cy="304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0" name="Group 29"/>
          <p:cNvGrpSpPr/>
          <p:nvPr/>
        </p:nvGrpSpPr>
        <p:grpSpPr>
          <a:xfrm>
            <a:off x="3962400" y="2438400"/>
            <a:ext cx="990600" cy="1143000"/>
            <a:chOff x="3962400" y="2438400"/>
            <a:chExt cx="990600" cy="1143000"/>
          </a:xfrm>
        </p:grpSpPr>
        <p:sp>
          <p:nvSpPr>
            <p:cNvPr id="28" name="Oval 27"/>
            <p:cNvSpPr/>
            <p:nvPr/>
          </p:nvSpPr>
          <p:spPr>
            <a:xfrm>
              <a:off x="4724400" y="2438400"/>
              <a:ext cx="228600" cy="304800"/>
            </a:xfrm>
            <a:prstGeom prst="ellipse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" name="Oval 28"/>
            <p:cNvSpPr/>
            <p:nvPr/>
          </p:nvSpPr>
          <p:spPr>
            <a:xfrm>
              <a:off x="3962400" y="3276600"/>
              <a:ext cx="228600" cy="304800"/>
            </a:xfrm>
            <a:prstGeom prst="ellipse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7" name="Cross 26"/>
          <p:cNvSpPr/>
          <p:nvPr/>
        </p:nvSpPr>
        <p:spPr>
          <a:xfrm rot="2834682">
            <a:off x="4645922" y="2443481"/>
            <a:ext cx="385558" cy="369974"/>
          </a:xfrm>
          <a:prstGeom prst="plus">
            <a:avLst>
              <a:gd name="adj" fmla="val 42073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3581400" y="4133294"/>
            <a:ext cx="5314922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/>
              <p:cNvSpPr txBox="1"/>
              <p:nvPr/>
            </p:nvSpPr>
            <p:spPr>
              <a:xfrm>
                <a:off x="2841386" y="908227"/>
                <a:ext cx="2813271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200" b="1" dirty="0"/>
                  <a:t>when</a:t>
                </a:r>
                <a:r>
                  <a:rPr lang="en-US" sz="32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sz="32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𝑛</m:t>
                        </m:r>
                      </m:sub>
                    </m:sSub>
                    <m:r>
                      <a:rPr lang="en-US" sz="3200" i="1">
                        <a:solidFill>
                          <a:srgbClr val="0070C0"/>
                        </a:solidFill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sz="32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𝑏</m:t>
                        </m:r>
                      </m:e>
                      <m:sub>
                        <m:r>
                          <a:rPr lang="en-US" sz="32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sz="3200" dirty="0"/>
                  <a:t> </a:t>
                </a:r>
              </a:p>
            </p:txBody>
          </p:sp>
        </mc:Choice>
        <mc:Fallback xmlns=""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1386" y="908227"/>
                <a:ext cx="2813271" cy="584775"/>
              </a:xfrm>
              <a:prstGeom prst="rect">
                <a:avLst/>
              </a:prstGeom>
              <a:blipFill rotWithShape="1">
                <a:blip r:embed="rId6"/>
                <a:stretch>
                  <a:fillRect l="-5411" t="-12500" r="-7792" b="-34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4369186" y="914400"/>
                <a:ext cx="583814" cy="584775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i="1" smtClean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</a:rPr>
                        <m:t>≠</m:t>
                      </m:r>
                    </m:oMath>
                  </m:oMathPara>
                </a14:m>
                <a:endParaRPr lang="en-US" sz="3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9186" y="914400"/>
                <a:ext cx="583814" cy="584775"/>
              </a:xfrm>
              <a:prstGeom prst="rect">
                <a:avLst/>
              </a:prstGeom>
              <a:blipFill rotWithShape="1">
                <a:blip r:embed="rId7"/>
                <a:stretch>
                  <a:fillRect t="-12500" r="-33333" b="-34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C7EBE208-1EB7-2F46-A2A8-22DEA5BB5319}"/>
                  </a:ext>
                </a:extLst>
              </p:cNvPr>
              <p:cNvSpPr txBox="1"/>
              <p:nvPr/>
            </p:nvSpPr>
            <p:spPr>
              <a:xfrm>
                <a:off x="1111708" y="2438400"/>
                <a:ext cx="412292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>
                          <a:solidFill>
                            <a:srgbClr val="0070C0"/>
                          </a:solidFill>
                          <a:latin typeface="Cambria Math"/>
                        </a:rPr>
                        <m:t>𝑨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C7EBE208-1EB7-2F46-A2A8-22DEA5BB53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1708" y="2438400"/>
                <a:ext cx="412292" cy="40011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61B85575-0574-D64C-8475-828981E60DE2}"/>
                  </a:ext>
                </a:extLst>
              </p:cNvPr>
              <p:cNvSpPr txBox="1"/>
              <p:nvPr/>
            </p:nvSpPr>
            <p:spPr>
              <a:xfrm>
                <a:off x="1121614" y="3228945"/>
                <a:ext cx="428322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𝑩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61B85575-0574-D64C-8475-828981E60D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1614" y="3228945"/>
                <a:ext cx="428322" cy="4001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964F6FD3-330D-C71C-150E-0FB536418842}"/>
              </a:ext>
            </a:extLst>
          </p:cNvPr>
          <p:cNvSpPr/>
          <p:nvPr/>
        </p:nvSpPr>
        <p:spPr>
          <a:xfrm>
            <a:off x="1905000" y="4151582"/>
            <a:ext cx="2247900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6B890FC-F779-16C1-C110-F871B855EE00}"/>
              </a:ext>
            </a:extLst>
          </p:cNvPr>
          <p:cNvSpPr/>
          <p:nvPr/>
        </p:nvSpPr>
        <p:spPr>
          <a:xfrm>
            <a:off x="1957606" y="4578302"/>
            <a:ext cx="5314922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56402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5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59" dur="12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9" dur="1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4" grpId="0"/>
      <p:bldP spid="15" grpId="0"/>
      <p:bldP spid="27" grpId="0" animBg="1"/>
      <p:bldP spid="32" grpId="0" animBg="1"/>
      <p:bldP spid="31" grpId="0" animBg="1"/>
      <p:bldP spid="5" grpId="0" animBg="1"/>
      <p:bldP spid="2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3200" b="1" dirty="0">
                    <a:solidFill>
                      <a:srgbClr val="7030A0"/>
                    </a:solidFill>
                  </a:rPr>
                  <a:t>Longest common subsequence of </a:t>
                </a:r>
                <a14:m>
                  <m:oMath xmlns:m="http://schemas.openxmlformats.org/officeDocument/2006/math">
                    <m:r>
                      <a:rPr lang="en-US" sz="3200" b="1" i="1">
                        <a:solidFill>
                          <a:srgbClr val="0070C0"/>
                        </a:solidFill>
                        <a:latin typeface="Cambria Math"/>
                      </a:rPr>
                      <m:t>𝑨</m:t>
                    </m:r>
                  </m:oMath>
                </a14:m>
                <a:r>
                  <a:rPr lang="en-US" sz="3200" b="1" dirty="0"/>
                  <a:t> and </a:t>
                </a:r>
                <a14:m>
                  <m:oMath xmlns:m="http://schemas.openxmlformats.org/officeDocument/2006/math">
                    <m:r>
                      <a:rPr lang="en-US" sz="3200" b="1" i="1">
                        <a:solidFill>
                          <a:srgbClr val="0070C0"/>
                        </a:solidFill>
                        <a:latin typeface="Cambria Math"/>
                      </a:rPr>
                      <m:t>𝑩</m:t>
                    </m:r>
                  </m:oMath>
                </a14:m>
                <a:br>
                  <a:rPr lang="en-US" sz="3200" b="1" dirty="0"/>
                </a:br>
                <a:endParaRPr lang="en-US" sz="3200" dirty="0"/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2"/>
                <a:stretch>
                  <a:fillRect t="-3191" b="-138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7030A0"/>
                    </a:solidFill>
                  </a:rPr>
                  <a:t>Observation</a:t>
                </a:r>
                <a:r>
                  <a:rPr lang="en-US" sz="2000" dirty="0"/>
                  <a:t>: Either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𝑛</m:t>
                        </m:r>
                      </m:sub>
                    </m:sSub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/>
                  <a:t>or</a:t>
                </a:r>
                <a:r>
                  <a:rPr lang="en-US" sz="2000" b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𝑏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𝑚</m:t>
                        </m:r>
                      </m:sub>
                    </m:sSub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u="sng" dirty="0"/>
                  <a:t>is not</a:t>
                </a:r>
                <a:r>
                  <a:rPr lang="en-US" sz="2000" dirty="0"/>
                  <a:t> the last symbol of </a:t>
                </a:r>
                <a:r>
                  <a:rPr lang="en-US" sz="2000" b="1" dirty="0"/>
                  <a:t>LCS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2000" dirty="0"/>
                  <a:t>,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𝑚</m:t>
                    </m:r>
                  </m:oMath>
                </a14:m>
                <a:r>
                  <a:rPr lang="en-US" sz="2000" dirty="0"/>
                  <a:t>).</a:t>
                </a: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Observation</a:t>
                </a:r>
                <a:r>
                  <a:rPr lang="en-US" sz="2000" dirty="0"/>
                  <a:t>: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𝑛</m:t>
                        </m:r>
                      </m:sub>
                    </m:sSub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u="sng" dirty="0"/>
                  <a:t>is not</a:t>
                </a:r>
                <a:r>
                  <a:rPr lang="en-US" sz="2000" dirty="0"/>
                  <a:t> the last symbol of </a:t>
                </a:r>
                <a:r>
                  <a:rPr lang="en-US" sz="2000" b="1" dirty="0"/>
                  <a:t>LCS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2000" dirty="0"/>
                  <a:t>,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𝑚</m:t>
                    </m:r>
                  </m:oMath>
                </a14:m>
                <a:r>
                  <a:rPr lang="en-US" sz="2000" dirty="0"/>
                  <a:t>)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3"/>
                <a:stretch>
                  <a:fillRect l="-741" t="-6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6" name="Group 15"/>
          <p:cNvGrpSpPr/>
          <p:nvPr/>
        </p:nvGrpSpPr>
        <p:grpSpPr>
          <a:xfrm>
            <a:off x="1676400" y="2438400"/>
            <a:ext cx="3276600" cy="304800"/>
            <a:chOff x="1676400" y="2438400"/>
            <a:chExt cx="3276600" cy="304800"/>
          </a:xfrm>
        </p:grpSpPr>
        <p:sp>
          <p:nvSpPr>
            <p:cNvPr id="4" name="Oval 3"/>
            <p:cNvSpPr/>
            <p:nvPr/>
          </p:nvSpPr>
          <p:spPr>
            <a:xfrm>
              <a:off x="1676400" y="2438400"/>
              <a:ext cx="228600" cy="304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Oval 5"/>
            <p:cNvSpPr/>
            <p:nvPr/>
          </p:nvSpPr>
          <p:spPr>
            <a:xfrm>
              <a:off x="2057400" y="2438400"/>
              <a:ext cx="228600" cy="304800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Oval 6"/>
            <p:cNvSpPr/>
            <p:nvPr/>
          </p:nvSpPr>
          <p:spPr>
            <a:xfrm>
              <a:off x="2438400" y="2438400"/>
              <a:ext cx="228600" cy="30480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Oval 7"/>
            <p:cNvSpPr/>
            <p:nvPr/>
          </p:nvSpPr>
          <p:spPr>
            <a:xfrm>
              <a:off x="2819400" y="2438400"/>
              <a:ext cx="228600" cy="304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Oval 8"/>
            <p:cNvSpPr/>
            <p:nvPr/>
          </p:nvSpPr>
          <p:spPr>
            <a:xfrm>
              <a:off x="3200400" y="2438400"/>
              <a:ext cx="228600" cy="304800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Oval 9"/>
            <p:cNvSpPr/>
            <p:nvPr/>
          </p:nvSpPr>
          <p:spPr>
            <a:xfrm>
              <a:off x="3581400" y="2438400"/>
              <a:ext cx="228600" cy="304800"/>
            </a:xfrm>
            <a:prstGeom prst="ellipse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Oval 10"/>
            <p:cNvSpPr/>
            <p:nvPr/>
          </p:nvSpPr>
          <p:spPr>
            <a:xfrm>
              <a:off x="3962400" y="2438400"/>
              <a:ext cx="228600" cy="304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Oval 11"/>
            <p:cNvSpPr/>
            <p:nvPr/>
          </p:nvSpPr>
          <p:spPr>
            <a:xfrm>
              <a:off x="4343400" y="2438400"/>
              <a:ext cx="228600" cy="304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Oval 12"/>
            <p:cNvSpPr/>
            <p:nvPr/>
          </p:nvSpPr>
          <p:spPr>
            <a:xfrm>
              <a:off x="4724400" y="2438400"/>
              <a:ext cx="228600" cy="304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1600200" y="2057400"/>
                <a:ext cx="356232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0070C0"/>
                    </a:solidFill>
                  </a:rPr>
                  <a:t>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dirty="0"/>
                  <a:t>      …</a:t>
                </a:r>
                <a:r>
                  <a:rPr lang="en-US" dirty="0">
                    <a:solidFill>
                      <a:srgbClr val="0070C0"/>
                    </a:solidFill>
                  </a:rPr>
                  <a:t>  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𝑛</m:t>
                        </m:r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−1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  </m:t>
                        </m:r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𝑛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0200" y="2057400"/>
                <a:ext cx="3562322" cy="369332"/>
              </a:xfrm>
              <a:prstGeom prst="rect">
                <a:avLst/>
              </a:prstGeom>
              <a:blipFill rotWithShape="1">
                <a:blip r:embed="rId4"/>
                <a:stretch>
                  <a:fillRect t="-8333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1619278" y="3581400"/>
                <a:ext cx="291502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𝑏</m:t>
                        </m:r>
                      </m:e>
                      <m:sub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0070C0"/>
                    </a:solidFill>
                  </a:rPr>
                  <a:t>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𝑏</m:t>
                        </m:r>
                      </m:e>
                      <m:sub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dirty="0"/>
                  <a:t>      …</a:t>
                </a:r>
                <a:r>
                  <a:rPr lang="en-US" dirty="0">
                    <a:solidFill>
                      <a:srgbClr val="0070C0"/>
                    </a:solidFill>
                  </a:rPr>
                  <a:t>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𝑚</m:t>
                        </m:r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−1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  </m:t>
                        </m:r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𝑚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9278" y="3581400"/>
                <a:ext cx="2915029" cy="369332"/>
              </a:xfrm>
              <a:prstGeom prst="rect">
                <a:avLst/>
              </a:prstGeom>
              <a:blipFill rotWithShape="1">
                <a:blip r:embed="rId5"/>
                <a:stretch>
                  <a:fillRect t="-8333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" name="Group 16"/>
          <p:cNvGrpSpPr/>
          <p:nvPr/>
        </p:nvGrpSpPr>
        <p:grpSpPr>
          <a:xfrm>
            <a:off x="1676400" y="3276600"/>
            <a:ext cx="2514600" cy="304800"/>
            <a:chOff x="1676400" y="2438400"/>
            <a:chExt cx="2514600" cy="304800"/>
          </a:xfrm>
        </p:grpSpPr>
        <p:sp>
          <p:nvSpPr>
            <p:cNvPr id="18" name="Oval 17"/>
            <p:cNvSpPr/>
            <p:nvPr/>
          </p:nvSpPr>
          <p:spPr>
            <a:xfrm>
              <a:off x="1676400" y="2438400"/>
              <a:ext cx="228600" cy="304800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Oval 18"/>
            <p:cNvSpPr/>
            <p:nvPr/>
          </p:nvSpPr>
          <p:spPr>
            <a:xfrm>
              <a:off x="2057400" y="2438400"/>
              <a:ext cx="228600" cy="304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" name="Oval 19"/>
            <p:cNvSpPr/>
            <p:nvPr/>
          </p:nvSpPr>
          <p:spPr>
            <a:xfrm>
              <a:off x="2438400" y="2438400"/>
              <a:ext cx="228600" cy="30480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Oval 20"/>
            <p:cNvSpPr/>
            <p:nvPr/>
          </p:nvSpPr>
          <p:spPr>
            <a:xfrm>
              <a:off x="2819400" y="2438400"/>
              <a:ext cx="228600" cy="304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Oval 21"/>
            <p:cNvSpPr/>
            <p:nvPr/>
          </p:nvSpPr>
          <p:spPr>
            <a:xfrm>
              <a:off x="3200400" y="2438400"/>
              <a:ext cx="228600" cy="304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Oval 22"/>
            <p:cNvSpPr/>
            <p:nvPr/>
          </p:nvSpPr>
          <p:spPr>
            <a:xfrm>
              <a:off x="3581400" y="2438400"/>
              <a:ext cx="228600" cy="304800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Oval 23"/>
            <p:cNvSpPr/>
            <p:nvPr/>
          </p:nvSpPr>
          <p:spPr>
            <a:xfrm>
              <a:off x="3962400" y="2438400"/>
              <a:ext cx="228600" cy="304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0" name="Group 29"/>
          <p:cNvGrpSpPr/>
          <p:nvPr/>
        </p:nvGrpSpPr>
        <p:grpSpPr>
          <a:xfrm>
            <a:off x="3962400" y="2438400"/>
            <a:ext cx="990600" cy="1143000"/>
            <a:chOff x="3962400" y="2438400"/>
            <a:chExt cx="990600" cy="1143000"/>
          </a:xfrm>
        </p:grpSpPr>
        <p:sp>
          <p:nvSpPr>
            <p:cNvPr id="28" name="Oval 27"/>
            <p:cNvSpPr/>
            <p:nvPr/>
          </p:nvSpPr>
          <p:spPr>
            <a:xfrm>
              <a:off x="4724400" y="2438400"/>
              <a:ext cx="228600" cy="304800"/>
            </a:xfrm>
            <a:prstGeom prst="ellipse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" name="Oval 28"/>
            <p:cNvSpPr/>
            <p:nvPr/>
          </p:nvSpPr>
          <p:spPr>
            <a:xfrm>
              <a:off x="3962400" y="3276600"/>
              <a:ext cx="228600" cy="304800"/>
            </a:xfrm>
            <a:prstGeom prst="ellipse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7" name="Cross 26"/>
          <p:cNvSpPr/>
          <p:nvPr/>
        </p:nvSpPr>
        <p:spPr>
          <a:xfrm rot="2834682">
            <a:off x="4645922" y="2443481"/>
            <a:ext cx="385558" cy="369974"/>
          </a:xfrm>
          <a:prstGeom prst="plus">
            <a:avLst>
              <a:gd name="adj" fmla="val 42073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 flipH="1">
            <a:off x="1790700" y="2819400"/>
            <a:ext cx="266700" cy="381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>
            <a:off x="2533650" y="2819400"/>
            <a:ext cx="0" cy="381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>
            <a:off x="3429000" y="2819400"/>
            <a:ext cx="152400" cy="381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>
            <a:off x="3810000" y="2819400"/>
            <a:ext cx="152400" cy="381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ight Brace 34"/>
          <p:cNvSpPr/>
          <p:nvPr/>
        </p:nvSpPr>
        <p:spPr>
          <a:xfrm rot="16200000">
            <a:off x="2970275" y="534925"/>
            <a:ext cx="384049" cy="2971800"/>
          </a:xfrm>
          <a:prstGeom prst="righ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ight Brace 35"/>
          <p:cNvSpPr/>
          <p:nvPr/>
        </p:nvSpPr>
        <p:spPr>
          <a:xfrm rot="5400000">
            <a:off x="2797434" y="2645036"/>
            <a:ext cx="424931" cy="2666998"/>
          </a:xfrm>
          <a:prstGeom prst="righ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/>
              <p:cNvSpPr txBox="1"/>
              <p:nvPr/>
            </p:nvSpPr>
            <p:spPr>
              <a:xfrm>
                <a:off x="2841386" y="908227"/>
                <a:ext cx="2813271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200" b="1" dirty="0"/>
                  <a:t>when</a:t>
                </a:r>
                <a:r>
                  <a:rPr lang="en-US" sz="32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sz="32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𝑛</m:t>
                        </m:r>
                      </m:sub>
                    </m:sSub>
                    <m:r>
                      <a:rPr lang="en-US" sz="3200" i="1">
                        <a:solidFill>
                          <a:srgbClr val="0070C0"/>
                        </a:solidFill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sz="32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𝑏</m:t>
                        </m:r>
                      </m:e>
                      <m:sub>
                        <m:r>
                          <a:rPr lang="en-US" sz="32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sz="3200" dirty="0"/>
                  <a:t> </a:t>
                </a:r>
              </a:p>
            </p:txBody>
          </p:sp>
        </mc:Choice>
        <mc:Fallback xmlns="">
          <p:sp>
            <p:nvSpPr>
              <p:cNvPr id="39" name="TextBox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1386" y="908227"/>
                <a:ext cx="2813271" cy="584775"/>
              </a:xfrm>
              <a:prstGeom prst="rect">
                <a:avLst/>
              </a:prstGeom>
              <a:blipFill rotWithShape="1">
                <a:blip r:embed="rId3"/>
                <a:stretch>
                  <a:fillRect l="-5411" t="-12500" r="-7792" b="-34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/>
              <p:cNvSpPr txBox="1"/>
              <p:nvPr/>
            </p:nvSpPr>
            <p:spPr>
              <a:xfrm>
                <a:off x="4369186" y="914400"/>
                <a:ext cx="583814" cy="584775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i="1" smtClean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</a:rPr>
                        <m:t>≠</m:t>
                      </m:r>
                    </m:oMath>
                  </m:oMathPara>
                </a14:m>
                <a:endParaRPr lang="en-US" sz="3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0" name="TextBox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9186" y="914400"/>
                <a:ext cx="583814" cy="584775"/>
              </a:xfrm>
              <a:prstGeom prst="rect">
                <a:avLst/>
              </a:prstGeom>
              <a:blipFill rotWithShape="1">
                <a:blip r:embed="rId6"/>
                <a:stretch>
                  <a:fillRect t="-12500" r="-33333" b="-34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ABBC09AC-76F9-0D42-AD25-5487ECB40B66}"/>
                  </a:ext>
                </a:extLst>
              </p:cNvPr>
              <p:cNvSpPr txBox="1"/>
              <p:nvPr/>
            </p:nvSpPr>
            <p:spPr>
              <a:xfrm>
                <a:off x="1111708" y="2438400"/>
                <a:ext cx="412292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>
                          <a:solidFill>
                            <a:srgbClr val="0070C0"/>
                          </a:solidFill>
                          <a:latin typeface="Cambria Math"/>
                        </a:rPr>
                        <m:t>𝑨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ABBC09AC-76F9-0D42-AD25-5487ECB40B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1708" y="2438400"/>
                <a:ext cx="412292" cy="4001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75BCA58B-FDD3-0A40-B021-69AD40EF96C9}"/>
                  </a:ext>
                </a:extLst>
              </p:cNvPr>
              <p:cNvSpPr txBox="1"/>
              <p:nvPr/>
            </p:nvSpPr>
            <p:spPr>
              <a:xfrm>
                <a:off x="1121614" y="3228945"/>
                <a:ext cx="428322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𝑩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75BCA58B-FDD3-0A40-B021-69AD40EF96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1614" y="3228945"/>
                <a:ext cx="428322" cy="40011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368241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36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3200" b="1" dirty="0">
                    <a:solidFill>
                      <a:srgbClr val="7030A0"/>
                    </a:solidFill>
                  </a:rPr>
                  <a:t>Longest common subsequence of </a:t>
                </a:r>
                <a14:m>
                  <m:oMath xmlns:m="http://schemas.openxmlformats.org/officeDocument/2006/math">
                    <m:r>
                      <a:rPr lang="en-US" sz="3200" b="1" i="1">
                        <a:solidFill>
                          <a:srgbClr val="0070C0"/>
                        </a:solidFill>
                        <a:latin typeface="Cambria Math"/>
                      </a:rPr>
                      <m:t>𝑨</m:t>
                    </m:r>
                  </m:oMath>
                </a14:m>
                <a:r>
                  <a:rPr lang="en-US" sz="3200" b="1" dirty="0"/>
                  <a:t> and </a:t>
                </a:r>
                <a14:m>
                  <m:oMath xmlns:m="http://schemas.openxmlformats.org/officeDocument/2006/math">
                    <m:r>
                      <a:rPr lang="en-US" sz="3200" b="1" i="1">
                        <a:solidFill>
                          <a:srgbClr val="0070C0"/>
                        </a:solidFill>
                        <a:latin typeface="Cambria Math"/>
                      </a:rPr>
                      <m:t>𝑩</m:t>
                    </m:r>
                  </m:oMath>
                </a14:m>
                <a:br>
                  <a:rPr lang="en-US" sz="3200" b="1" dirty="0"/>
                </a:br>
                <a:endParaRPr lang="en-US" sz="3200" dirty="0"/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2"/>
                <a:stretch>
                  <a:fillRect t="-3191" b="-138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7030A0"/>
                    </a:solidFill>
                  </a:rPr>
                  <a:t>Observation</a:t>
                </a:r>
                <a:r>
                  <a:rPr lang="en-US" sz="2000" dirty="0"/>
                  <a:t>: Either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𝑛</m:t>
                        </m:r>
                      </m:sub>
                    </m:sSub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/>
                  <a:t>or</a:t>
                </a:r>
                <a:r>
                  <a:rPr lang="en-US" sz="2000" b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𝑏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𝑚</m:t>
                        </m:r>
                      </m:sub>
                    </m:sSub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u="sng" dirty="0"/>
                  <a:t>is not</a:t>
                </a:r>
                <a:r>
                  <a:rPr lang="en-US" sz="2000" dirty="0"/>
                  <a:t> the last symbol of </a:t>
                </a:r>
                <a:r>
                  <a:rPr lang="en-US" sz="2000" b="1" dirty="0"/>
                  <a:t>LCS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  <m:r>
                      <m:rPr>
                        <m:nor/>
                      </m:rPr>
                      <a:rPr lang="en-US" sz="2000" dirty="0"/>
                      <m:t>,</m:t>
                    </m:r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𝑚</m:t>
                    </m:r>
                  </m:oMath>
                </a14:m>
                <a:r>
                  <a:rPr lang="en-US" sz="2000" dirty="0"/>
                  <a:t>).</a:t>
                </a: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Observation</a:t>
                </a:r>
                <a:r>
                  <a:rPr lang="en-US" sz="2000" dirty="0"/>
                  <a:t>: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𝑛</m:t>
                        </m:r>
                      </m:sub>
                    </m:sSub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u="sng" dirty="0"/>
                  <a:t>is not</a:t>
                </a:r>
                <a:r>
                  <a:rPr lang="en-US" sz="2000" dirty="0"/>
                  <a:t> the last symbol of </a:t>
                </a:r>
                <a:r>
                  <a:rPr lang="en-US" sz="2000" b="1" dirty="0"/>
                  <a:t>LCS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2000" dirty="0"/>
                  <a:t>,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𝑚</m:t>
                    </m:r>
                  </m:oMath>
                </a14:m>
                <a:r>
                  <a:rPr lang="en-US" sz="2000" dirty="0"/>
                  <a:t>) </a:t>
                </a:r>
              </a:p>
              <a:p>
                <a:pPr marL="0" indent="0">
                  <a:buNone/>
                </a:pPr>
                <a:r>
                  <a:rPr lang="en-US" sz="2000" dirty="0"/>
                  <a:t>	 </a:t>
                </a:r>
                <a:r>
                  <a:rPr lang="en-US" sz="2000" dirty="0">
                    <a:sym typeface="Wingdings" pitchFamily="2" charset="2"/>
                  </a:rPr>
                  <a:t> </a:t>
                </a:r>
                <a:r>
                  <a:rPr lang="en-US" sz="2000" b="1" dirty="0">
                    <a:sym typeface="Wingdings" pitchFamily="2" charset="2"/>
                  </a:rPr>
                  <a:t>  </a:t>
                </a:r>
                <a:r>
                  <a:rPr lang="en-US" sz="2000" b="1" dirty="0"/>
                  <a:t>LCS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2000" dirty="0"/>
                  <a:t>,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𝑚</m:t>
                    </m:r>
                  </m:oMath>
                </a14:m>
                <a:r>
                  <a:rPr lang="en-US" sz="2000" dirty="0"/>
                  <a:t>)  is    </a:t>
                </a:r>
                <a:r>
                  <a:rPr lang="en-US" sz="2000" dirty="0">
                    <a:solidFill>
                      <a:srgbClr val="C00000"/>
                    </a:solidFill>
                  </a:rPr>
                  <a:t>?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>
                    <a:sym typeface="Wingdings" pitchFamily="2" charset="2"/>
                  </a:rPr>
                  <a:t>                </a:t>
                </a:r>
                <a:endParaRPr lang="en-US" sz="2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3"/>
                <a:stretch>
                  <a:fillRect l="-741" t="-6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6" name="Group 15"/>
          <p:cNvGrpSpPr/>
          <p:nvPr/>
        </p:nvGrpSpPr>
        <p:grpSpPr>
          <a:xfrm>
            <a:off x="1676400" y="2438400"/>
            <a:ext cx="3276600" cy="304800"/>
            <a:chOff x="1676400" y="2438400"/>
            <a:chExt cx="3276600" cy="304800"/>
          </a:xfrm>
        </p:grpSpPr>
        <p:sp>
          <p:nvSpPr>
            <p:cNvPr id="4" name="Oval 3"/>
            <p:cNvSpPr/>
            <p:nvPr/>
          </p:nvSpPr>
          <p:spPr>
            <a:xfrm>
              <a:off x="1676400" y="2438400"/>
              <a:ext cx="228600" cy="304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Oval 5"/>
            <p:cNvSpPr/>
            <p:nvPr/>
          </p:nvSpPr>
          <p:spPr>
            <a:xfrm>
              <a:off x="2057400" y="2438400"/>
              <a:ext cx="228600" cy="304800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Oval 6"/>
            <p:cNvSpPr/>
            <p:nvPr/>
          </p:nvSpPr>
          <p:spPr>
            <a:xfrm>
              <a:off x="2438400" y="2438400"/>
              <a:ext cx="228600" cy="30480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Oval 7"/>
            <p:cNvSpPr/>
            <p:nvPr/>
          </p:nvSpPr>
          <p:spPr>
            <a:xfrm>
              <a:off x="2819400" y="2438400"/>
              <a:ext cx="228600" cy="304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Oval 8"/>
            <p:cNvSpPr/>
            <p:nvPr/>
          </p:nvSpPr>
          <p:spPr>
            <a:xfrm>
              <a:off x="3200400" y="2438400"/>
              <a:ext cx="228600" cy="304800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Oval 9"/>
            <p:cNvSpPr/>
            <p:nvPr/>
          </p:nvSpPr>
          <p:spPr>
            <a:xfrm>
              <a:off x="3581400" y="2438400"/>
              <a:ext cx="228600" cy="3048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Oval 10"/>
            <p:cNvSpPr/>
            <p:nvPr/>
          </p:nvSpPr>
          <p:spPr>
            <a:xfrm>
              <a:off x="3962400" y="2438400"/>
              <a:ext cx="228600" cy="304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Oval 11"/>
            <p:cNvSpPr/>
            <p:nvPr/>
          </p:nvSpPr>
          <p:spPr>
            <a:xfrm>
              <a:off x="4343400" y="2438400"/>
              <a:ext cx="228600" cy="304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Oval 12"/>
            <p:cNvSpPr/>
            <p:nvPr/>
          </p:nvSpPr>
          <p:spPr>
            <a:xfrm>
              <a:off x="4724400" y="2438400"/>
              <a:ext cx="228600" cy="304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1600200" y="2057400"/>
                <a:ext cx="356232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0070C0"/>
                    </a:solidFill>
                  </a:rPr>
                  <a:t>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dirty="0"/>
                  <a:t>      …</a:t>
                </a:r>
                <a:r>
                  <a:rPr lang="en-US" dirty="0">
                    <a:solidFill>
                      <a:srgbClr val="0070C0"/>
                    </a:solidFill>
                  </a:rPr>
                  <a:t>  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𝑛</m:t>
                        </m:r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−1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  </m:t>
                        </m:r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𝑛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0200" y="2057400"/>
                <a:ext cx="3562322" cy="369332"/>
              </a:xfrm>
              <a:prstGeom prst="rect">
                <a:avLst/>
              </a:prstGeom>
              <a:blipFill rotWithShape="1">
                <a:blip r:embed="rId4"/>
                <a:stretch>
                  <a:fillRect t="-8333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1619278" y="3581400"/>
                <a:ext cx="291502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𝑏</m:t>
                        </m:r>
                      </m:e>
                      <m:sub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0070C0"/>
                    </a:solidFill>
                  </a:rPr>
                  <a:t>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𝑏</m:t>
                        </m:r>
                      </m:e>
                      <m:sub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dirty="0"/>
                  <a:t>      …</a:t>
                </a:r>
                <a:r>
                  <a:rPr lang="en-US" dirty="0">
                    <a:solidFill>
                      <a:srgbClr val="0070C0"/>
                    </a:solidFill>
                  </a:rPr>
                  <a:t>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𝑚</m:t>
                        </m:r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−1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  </m:t>
                        </m:r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𝑚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9278" y="3581400"/>
                <a:ext cx="2915029" cy="369332"/>
              </a:xfrm>
              <a:prstGeom prst="rect">
                <a:avLst/>
              </a:prstGeom>
              <a:blipFill rotWithShape="1">
                <a:blip r:embed="rId5"/>
                <a:stretch>
                  <a:fillRect t="-8333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" name="Group 16"/>
          <p:cNvGrpSpPr/>
          <p:nvPr/>
        </p:nvGrpSpPr>
        <p:grpSpPr>
          <a:xfrm>
            <a:off x="1676400" y="3276600"/>
            <a:ext cx="2514600" cy="304800"/>
            <a:chOff x="1676400" y="2438400"/>
            <a:chExt cx="2514600" cy="304800"/>
          </a:xfrm>
        </p:grpSpPr>
        <p:sp>
          <p:nvSpPr>
            <p:cNvPr id="18" name="Oval 17"/>
            <p:cNvSpPr/>
            <p:nvPr/>
          </p:nvSpPr>
          <p:spPr>
            <a:xfrm>
              <a:off x="1676400" y="2438400"/>
              <a:ext cx="228600" cy="304800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Oval 18"/>
            <p:cNvSpPr/>
            <p:nvPr/>
          </p:nvSpPr>
          <p:spPr>
            <a:xfrm>
              <a:off x="2057400" y="2438400"/>
              <a:ext cx="228600" cy="304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" name="Oval 19"/>
            <p:cNvSpPr/>
            <p:nvPr/>
          </p:nvSpPr>
          <p:spPr>
            <a:xfrm>
              <a:off x="2438400" y="2438400"/>
              <a:ext cx="228600" cy="30480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Oval 20"/>
            <p:cNvSpPr/>
            <p:nvPr/>
          </p:nvSpPr>
          <p:spPr>
            <a:xfrm>
              <a:off x="2819400" y="2438400"/>
              <a:ext cx="228600" cy="304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Oval 21"/>
            <p:cNvSpPr/>
            <p:nvPr/>
          </p:nvSpPr>
          <p:spPr>
            <a:xfrm>
              <a:off x="3200400" y="2438400"/>
              <a:ext cx="228600" cy="304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Oval 22"/>
            <p:cNvSpPr/>
            <p:nvPr/>
          </p:nvSpPr>
          <p:spPr>
            <a:xfrm>
              <a:off x="3581400" y="2438400"/>
              <a:ext cx="228600" cy="304800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Oval 23"/>
            <p:cNvSpPr/>
            <p:nvPr/>
          </p:nvSpPr>
          <p:spPr>
            <a:xfrm>
              <a:off x="3962400" y="2438400"/>
              <a:ext cx="228600" cy="304800"/>
            </a:xfrm>
            <a:prstGeom prst="ellipse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0" name="Group 29"/>
          <p:cNvGrpSpPr/>
          <p:nvPr/>
        </p:nvGrpSpPr>
        <p:grpSpPr>
          <a:xfrm>
            <a:off x="3962400" y="2438400"/>
            <a:ext cx="990600" cy="1143000"/>
            <a:chOff x="3962400" y="2438400"/>
            <a:chExt cx="990600" cy="1143000"/>
          </a:xfrm>
        </p:grpSpPr>
        <p:sp>
          <p:nvSpPr>
            <p:cNvPr id="28" name="Oval 27"/>
            <p:cNvSpPr/>
            <p:nvPr/>
          </p:nvSpPr>
          <p:spPr>
            <a:xfrm>
              <a:off x="4724400" y="2438400"/>
              <a:ext cx="228600" cy="304800"/>
            </a:xfrm>
            <a:prstGeom prst="ellipse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" name="Oval 28"/>
            <p:cNvSpPr/>
            <p:nvPr/>
          </p:nvSpPr>
          <p:spPr>
            <a:xfrm>
              <a:off x="3962400" y="3276600"/>
              <a:ext cx="228600" cy="3048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7" name="Cross 26"/>
          <p:cNvSpPr/>
          <p:nvPr/>
        </p:nvSpPr>
        <p:spPr>
          <a:xfrm rot="2834682">
            <a:off x="4645922" y="2443481"/>
            <a:ext cx="385558" cy="369974"/>
          </a:xfrm>
          <a:prstGeom prst="plus">
            <a:avLst>
              <a:gd name="adj" fmla="val 42073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 flipH="1">
            <a:off x="1790700" y="2819400"/>
            <a:ext cx="266700" cy="381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>
            <a:off x="2533650" y="2819400"/>
            <a:ext cx="0" cy="381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>
            <a:off x="3429000" y="2819400"/>
            <a:ext cx="152400" cy="381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3276600" y="4933890"/>
                <a:ext cx="1589859" cy="400110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sz="2000" b="1" dirty="0"/>
                  <a:t>LCS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−1</m:t>
                    </m:r>
                  </m:oMath>
                </a14:m>
                <a:r>
                  <a:rPr lang="en-US" sz="2000" dirty="0"/>
                  <a:t>,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𝑚</m:t>
                    </m:r>
                  </m:oMath>
                </a14:m>
                <a:r>
                  <a:rPr lang="en-US" sz="2000" dirty="0"/>
                  <a:t>)</a:t>
                </a:r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4933890"/>
                <a:ext cx="1589859" cy="400110"/>
              </a:xfrm>
              <a:prstGeom prst="rect">
                <a:avLst/>
              </a:prstGeom>
              <a:blipFill rotWithShape="1">
                <a:blip r:embed="rId6"/>
                <a:stretch>
                  <a:fillRect l="-4231" t="-7576" r="-7308" b="-25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Right Brace 35"/>
          <p:cNvSpPr/>
          <p:nvPr/>
        </p:nvSpPr>
        <p:spPr>
          <a:xfrm rot="5400000">
            <a:off x="2797434" y="2645036"/>
            <a:ext cx="424931" cy="2666998"/>
          </a:xfrm>
          <a:prstGeom prst="righ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ight Brace 36"/>
          <p:cNvSpPr/>
          <p:nvPr/>
        </p:nvSpPr>
        <p:spPr>
          <a:xfrm rot="16200000">
            <a:off x="2970275" y="534925"/>
            <a:ext cx="384049" cy="2971800"/>
          </a:xfrm>
          <a:prstGeom prst="righ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/>
              <p:cNvSpPr txBox="1"/>
              <p:nvPr/>
            </p:nvSpPr>
            <p:spPr>
              <a:xfrm>
                <a:off x="2841386" y="908227"/>
                <a:ext cx="2813271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200" b="1" dirty="0"/>
                  <a:t>when</a:t>
                </a:r>
                <a:r>
                  <a:rPr lang="en-US" sz="32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sz="32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𝑛</m:t>
                        </m:r>
                      </m:sub>
                    </m:sSub>
                    <m:r>
                      <a:rPr lang="en-US" sz="3200" i="1">
                        <a:solidFill>
                          <a:srgbClr val="0070C0"/>
                        </a:solidFill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sz="32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𝑏</m:t>
                        </m:r>
                      </m:e>
                      <m:sub>
                        <m:r>
                          <a:rPr lang="en-US" sz="32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sz="3200" dirty="0"/>
                  <a:t> </a:t>
                </a:r>
              </a:p>
            </p:txBody>
          </p:sp>
        </mc:Choice>
        <mc:Fallback xmlns=""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1386" y="908227"/>
                <a:ext cx="2813271" cy="584775"/>
              </a:xfrm>
              <a:prstGeom prst="rect">
                <a:avLst/>
              </a:prstGeom>
              <a:blipFill rotWithShape="1">
                <a:blip r:embed="rId7"/>
                <a:stretch>
                  <a:fillRect l="-5411" t="-12500" r="-7792" b="-34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/>
              <p:cNvSpPr txBox="1"/>
              <p:nvPr/>
            </p:nvSpPr>
            <p:spPr>
              <a:xfrm>
                <a:off x="4369186" y="914400"/>
                <a:ext cx="583814" cy="584775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i="1" smtClean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</a:rPr>
                        <m:t>≠</m:t>
                      </m:r>
                    </m:oMath>
                  </m:oMathPara>
                </a14:m>
                <a:endParaRPr lang="en-US" sz="3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9" name="TextBox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9186" y="914400"/>
                <a:ext cx="583814" cy="584775"/>
              </a:xfrm>
              <a:prstGeom prst="rect">
                <a:avLst/>
              </a:prstGeom>
              <a:blipFill rotWithShape="1">
                <a:blip r:embed="rId8"/>
                <a:stretch>
                  <a:fillRect t="-12500" r="-33333" b="-34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BA2ECE3C-31BF-CA48-A4CF-85F521950D51}"/>
                  </a:ext>
                </a:extLst>
              </p:cNvPr>
              <p:cNvSpPr txBox="1"/>
              <p:nvPr/>
            </p:nvSpPr>
            <p:spPr>
              <a:xfrm>
                <a:off x="1111708" y="2438400"/>
                <a:ext cx="412292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>
                          <a:solidFill>
                            <a:srgbClr val="0070C0"/>
                          </a:solidFill>
                          <a:latin typeface="Cambria Math"/>
                        </a:rPr>
                        <m:t>𝑨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BA2ECE3C-31BF-CA48-A4CF-85F521950D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1708" y="2438400"/>
                <a:ext cx="412292" cy="4001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34998101-6354-F248-9B20-4F2CBBA2E73C}"/>
                  </a:ext>
                </a:extLst>
              </p:cNvPr>
              <p:cNvSpPr txBox="1"/>
              <p:nvPr/>
            </p:nvSpPr>
            <p:spPr>
              <a:xfrm>
                <a:off x="1121614" y="3228945"/>
                <a:ext cx="428322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𝑩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34998101-6354-F248-9B20-4F2CBBA2E7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1614" y="3228945"/>
                <a:ext cx="428322" cy="40011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511E092E-A6B2-6848-B990-B6191192E3F4}"/>
              </a:ext>
            </a:extLst>
          </p:cNvPr>
          <p:cNvCxnSpPr/>
          <p:nvPr/>
        </p:nvCxnSpPr>
        <p:spPr>
          <a:xfrm>
            <a:off x="3810000" y="2819400"/>
            <a:ext cx="152400" cy="381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Oval 42">
            <a:extLst>
              <a:ext uri="{FF2B5EF4-FFF2-40B4-BE49-F238E27FC236}">
                <a16:creationId xmlns:a16="http://schemas.microsoft.com/office/drawing/2014/main" id="{EE1E58DD-98B7-784B-89D3-41161AA58A1E}"/>
              </a:ext>
            </a:extLst>
          </p:cNvPr>
          <p:cNvSpPr/>
          <p:nvPr/>
        </p:nvSpPr>
        <p:spPr>
          <a:xfrm>
            <a:off x="3581400" y="2438400"/>
            <a:ext cx="228600" cy="304800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4535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xit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2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35" grpId="0" animBg="1"/>
      <p:bldP spid="4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3200" b="1" dirty="0">
                    <a:solidFill>
                      <a:srgbClr val="7030A0"/>
                    </a:solidFill>
                  </a:rPr>
                  <a:t>Longest common subsequence of </a:t>
                </a:r>
                <a14:m>
                  <m:oMath xmlns:m="http://schemas.openxmlformats.org/officeDocument/2006/math">
                    <m:r>
                      <a:rPr lang="en-US" sz="3200" b="1" i="1">
                        <a:solidFill>
                          <a:srgbClr val="0070C0"/>
                        </a:solidFill>
                        <a:latin typeface="Cambria Math"/>
                      </a:rPr>
                      <m:t>𝑨</m:t>
                    </m:r>
                  </m:oMath>
                </a14:m>
                <a:r>
                  <a:rPr lang="en-US" sz="3200" b="1" dirty="0"/>
                  <a:t> and </a:t>
                </a:r>
                <a14:m>
                  <m:oMath xmlns:m="http://schemas.openxmlformats.org/officeDocument/2006/math">
                    <m:r>
                      <a:rPr lang="en-US" sz="3200" b="1" i="1">
                        <a:solidFill>
                          <a:srgbClr val="0070C0"/>
                        </a:solidFill>
                        <a:latin typeface="Cambria Math"/>
                      </a:rPr>
                      <m:t>𝑩</m:t>
                    </m:r>
                  </m:oMath>
                </a14:m>
                <a:br>
                  <a:rPr lang="en-US" sz="3200" b="1" dirty="0"/>
                </a:br>
                <a:endParaRPr lang="en-US" sz="3200" dirty="0"/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2"/>
                <a:stretch>
                  <a:fillRect t="-3191" b="-138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7030A0"/>
                    </a:solidFill>
                  </a:rPr>
                  <a:t>Observation</a:t>
                </a:r>
                <a:r>
                  <a:rPr lang="en-US" sz="2000" dirty="0"/>
                  <a:t>: Either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𝑛</m:t>
                        </m:r>
                      </m:sub>
                    </m:sSub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/>
                  <a:t>or</a:t>
                </a:r>
                <a:r>
                  <a:rPr lang="en-US" sz="2000" b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𝑏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𝑚</m:t>
                        </m:r>
                      </m:sub>
                    </m:sSub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u="sng" dirty="0"/>
                  <a:t>is not</a:t>
                </a:r>
                <a:r>
                  <a:rPr lang="en-US" sz="2000" dirty="0"/>
                  <a:t> the last symbol of </a:t>
                </a:r>
                <a:r>
                  <a:rPr lang="en-US" sz="2000" b="1" dirty="0"/>
                  <a:t>LCS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  <m:r>
                      <m:rPr>
                        <m:nor/>
                      </m:rPr>
                      <a:rPr lang="en-US" sz="2000" dirty="0"/>
                      <m:t>,</m:t>
                    </m:r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𝑚</m:t>
                    </m:r>
                  </m:oMath>
                </a14:m>
                <a:r>
                  <a:rPr lang="en-US" sz="2000" dirty="0"/>
                  <a:t>).</a:t>
                </a: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Observation</a:t>
                </a:r>
                <a:r>
                  <a:rPr lang="en-US" sz="2000" dirty="0"/>
                  <a:t>: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𝑛</m:t>
                        </m:r>
                      </m:sub>
                    </m:sSub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u="sng" dirty="0"/>
                  <a:t>is not</a:t>
                </a:r>
                <a:r>
                  <a:rPr lang="en-US" sz="2000" dirty="0"/>
                  <a:t> the last symbol of </a:t>
                </a:r>
                <a:r>
                  <a:rPr lang="en-US" sz="2000" b="1" dirty="0"/>
                  <a:t>LCS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2000" dirty="0"/>
                  <a:t>,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𝑚</m:t>
                    </m:r>
                  </m:oMath>
                </a14:m>
                <a:r>
                  <a:rPr lang="en-US" sz="2000" dirty="0"/>
                  <a:t>)</a:t>
                </a:r>
              </a:p>
              <a:p>
                <a:pPr marL="0" indent="0">
                  <a:buNone/>
                </a:pPr>
                <a:r>
                  <a:rPr lang="en-US" sz="2000" dirty="0"/>
                  <a:t>	 </a:t>
                </a:r>
                <a:r>
                  <a:rPr lang="en-US" sz="2000" dirty="0">
                    <a:sym typeface="Wingdings" pitchFamily="2" charset="2"/>
                  </a:rPr>
                  <a:t> </a:t>
                </a:r>
                <a:r>
                  <a:rPr lang="en-US" sz="2000" b="1" dirty="0">
                    <a:sym typeface="Wingdings" pitchFamily="2" charset="2"/>
                  </a:rPr>
                  <a:t>  </a:t>
                </a:r>
                <a:r>
                  <a:rPr lang="en-US" sz="2000" b="1" dirty="0"/>
                  <a:t>LCS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2000" dirty="0"/>
                  <a:t>,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𝑚</m:t>
                    </m:r>
                  </m:oMath>
                </a14:m>
                <a:r>
                  <a:rPr lang="en-US" sz="2000" dirty="0"/>
                  <a:t>)  is    </a:t>
                </a:r>
                <a:r>
                  <a:rPr lang="en-US" sz="2000" dirty="0">
                    <a:solidFill>
                      <a:srgbClr val="C00000"/>
                    </a:solidFill>
                  </a:rPr>
                  <a:t>?</a:t>
                </a: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Observation</a:t>
                </a:r>
                <a:r>
                  <a:rPr lang="en-US" sz="2000" dirty="0"/>
                  <a:t>: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𝑏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𝑚</m:t>
                        </m:r>
                      </m:sub>
                    </m:sSub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u="sng" dirty="0"/>
                  <a:t>is not</a:t>
                </a:r>
                <a:r>
                  <a:rPr lang="en-US" sz="2000" dirty="0"/>
                  <a:t> the last symbol of </a:t>
                </a:r>
                <a:r>
                  <a:rPr lang="en-US" sz="2000" b="1" dirty="0"/>
                  <a:t>LCS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𝐴</m:t>
                    </m:r>
                  </m:oMath>
                </a14:m>
                <a:r>
                  <a:rPr lang="en-US" sz="2000" dirty="0"/>
                  <a:t>,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𝐵</m:t>
                    </m:r>
                  </m:oMath>
                </a14:m>
                <a:r>
                  <a:rPr lang="en-US" sz="2000" dirty="0"/>
                  <a:t>)</a:t>
                </a:r>
              </a:p>
              <a:p>
                <a:pPr marL="0" indent="0">
                  <a:buNone/>
                </a:pPr>
                <a:r>
                  <a:rPr lang="en-US" sz="2000" dirty="0">
                    <a:sym typeface="Wingdings" pitchFamily="2" charset="2"/>
                  </a:rPr>
                  <a:t>                    </a:t>
                </a:r>
                <a:r>
                  <a:rPr lang="en-US" sz="2000" b="1" dirty="0"/>
                  <a:t>LCS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2000" dirty="0"/>
                  <a:t>,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𝑚</m:t>
                    </m:r>
                  </m:oMath>
                </a14:m>
                <a:r>
                  <a:rPr lang="en-US" sz="2000" dirty="0"/>
                  <a:t>)  is            </a:t>
                </a:r>
                <a:r>
                  <a:rPr lang="en-US" sz="2000" dirty="0">
                    <a:solidFill>
                      <a:srgbClr val="C00000"/>
                    </a:solidFill>
                  </a:rPr>
                  <a:t>?</a:t>
                </a:r>
              </a:p>
              <a:p>
                <a:pPr marL="0" indent="0">
                  <a:buNone/>
                </a:pPr>
                <a:endParaRPr lang="en-US" sz="2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3"/>
                <a:stretch>
                  <a:fillRect l="-741" t="-674" b="-80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6" name="Group 15"/>
          <p:cNvGrpSpPr/>
          <p:nvPr/>
        </p:nvGrpSpPr>
        <p:grpSpPr>
          <a:xfrm>
            <a:off x="1676400" y="2438400"/>
            <a:ext cx="3276600" cy="304800"/>
            <a:chOff x="1676400" y="2438400"/>
            <a:chExt cx="3276600" cy="304800"/>
          </a:xfrm>
        </p:grpSpPr>
        <p:sp>
          <p:nvSpPr>
            <p:cNvPr id="4" name="Oval 3"/>
            <p:cNvSpPr/>
            <p:nvPr/>
          </p:nvSpPr>
          <p:spPr>
            <a:xfrm>
              <a:off x="1676400" y="2438400"/>
              <a:ext cx="228600" cy="304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Oval 5"/>
            <p:cNvSpPr/>
            <p:nvPr/>
          </p:nvSpPr>
          <p:spPr>
            <a:xfrm>
              <a:off x="2057400" y="2438400"/>
              <a:ext cx="228600" cy="304800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Oval 6"/>
            <p:cNvSpPr/>
            <p:nvPr/>
          </p:nvSpPr>
          <p:spPr>
            <a:xfrm>
              <a:off x="2438400" y="2438400"/>
              <a:ext cx="228600" cy="30480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Oval 7"/>
            <p:cNvSpPr/>
            <p:nvPr/>
          </p:nvSpPr>
          <p:spPr>
            <a:xfrm>
              <a:off x="2819400" y="2438400"/>
              <a:ext cx="228600" cy="304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Oval 8"/>
            <p:cNvSpPr/>
            <p:nvPr/>
          </p:nvSpPr>
          <p:spPr>
            <a:xfrm>
              <a:off x="3200400" y="2438400"/>
              <a:ext cx="228600" cy="304800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Oval 9"/>
            <p:cNvSpPr/>
            <p:nvPr/>
          </p:nvSpPr>
          <p:spPr>
            <a:xfrm>
              <a:off x="3581400" y="2438400"/>
              <a:ext cx="228600" cy="3048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Oval 10"/>
            <p:cNvSpPr/>
            <p:nvPr/>
          </p:nvSpPr>
          <p:spPr>
            <a:xfrm>
              <a:off x="3962400" y="2438400"/>
              <a:ext cx="228600" cy="304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Oval 11"/>
            <p:cNvSpPr/>
            <p:nvPr/>
          </p:nvSpPr>
          <p:spPr>
            <a:xfrm>
              <a:off x="4343400" y="2438400"/>
              <a:ext cx="228600" cy="304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Oval 12"/>
            <p:cNvSpPr/>
            <p:nvPr/>
          </p:nvSpPr>
          <p:spPr>
            <a:xfrm>
              <a:off x="4724400" y="2438400"/>
              <a:ext cx="228600" cy="304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1600200" y="2057400"/>
                <a:ext cx="356232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0070C0"/>
                    </a:solidFill>
                  </a:rPr>
                  <a:t>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dirty="0"/>
                  <a:t>      …</a:t>
                </a:r>
                <a:r>
                  <a:rPr lang="en-US" dirty="0">
                    <a:solidFill>
                      <a:srgbClr val="0070C0"/>
                    </a:solidFill>
                  </a:rPr>
                  <a:t>  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𝑛</m:t>
                        </m:r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−1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  </m:t>
                        </m:r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𝑛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0200" y="2057400"/>
                <a:ext cx="3562322" cy="369332"/>
              </a:xfrm>
              <a:prstGeom prst="rect">
                <a:avLst/>
              </a:prstGeom>
              <a:blipFill rotWithShape="1">
                <a:blip r:embed="rId4"/>
                <a:stretch>
                  <a:fillRect t="-8333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1619278" y="3581400"/>
                <a:ext cx="291502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𝑏</m:t>
                        </m:r>
                      </m:e>
                      <m:sub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0070C0"/>
                    </a:solidFill>
                  </a:rPr>
                  <a:t>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𝑏</m:t>
                        </m:r>
                      </m:e>
                      <m:sub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dirty="0"/>
                  <a:t>      …</a:t>
                </a:r>
                <a:r>
                  <a:rPr lang="en-US" dirty="0">
                    <a:solidFill>
                      <a:srgbClr val="0070C0"/>
                    </a:solidFill>
                  </a:rPr>
                  <a:t>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𝑚</m:t>
                        </m:r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−1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  </m:t>
                        </m:r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𝑚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9278" y="3581400"/>
                <a:ext cx="2915029" cy="369332"/>
              </a:xfrm>
              <a:prstGeom prst="rect">
                <a:avLst/>
              </a:prstGeom>
              <a:blipFill rotWithShape="1">
                <a:blip r:embed="rId5"/>
                <a:stretch>
                  <a:fillRect t="-8333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" name="Group 16"/>
          <p:cNvGrpSpPr/>
          <p:nvPr/>
        </p:nvGrpSpPr>
        <p:grpSpPr>
          <a:xfrm>
            <a:off x="1676400" y="3276600"/>
            <a:ext cx="2514600" cy="304800"/>
            <a:chOff x="1676400" y="2438400"/>
            <a:chExt cx="2514600" cy="304800"/>
          </a:xfrm>
        </p:grpSpPr>
        <p:sp>
          <p:nvSpPr>
            <p:cNvPr id="18" name="Oval 17"/>
            <p:cNvSpPr/>
            <p:nvPr/>
          </p:nvSpPr>
          <p:spPr>
            <a:xfrm>
              <a:off x="1676400" y="2438400"/>
              <a:ext cx="228600" cy="304800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Oval 18"/>
            <p:cNvSpPr/>
            <p:nvPr/>
          </p:nvSpPr>
          <p:spPr>
            <a:xfrm>
              <a:off x="2057400" y="2438400"/>
              <a:ext cx="228600" cy="304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" name="Oval 19"/>
            <p:cNvSpPr/>
            <p:nvPr/>
          </p:nvSpPr>
          <p:spPr>
            <a:xfrm>
              <a:off x="2438400" y="2438400"/>
              <a:ext cx="228600" cy="30480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Oval 20"/>
            <p:cNvSpPr/>
            <p:nvPr/>
          </p:nvSpPr>
          <p:spPr>
            <a:xfrm>
              <a:off x="2819400" y="2438400"/>
              <a:ext cx="228600" cy="304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Oval 21"/>
            <p:cNvSpPr/>
            <p:nvPr/>
          </p:nvSpPr>
          <p:spPr>
            <a:xfrm>
              <a:off x="3200400" y="2438400"/>
              <a:ext cx="228600" cy="304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Oval 22"/>
            <p:cNvSpPr/>
            <p:nvPr/>
          </p:nvSpPr>
          <p:spPr>
            <a:xfrm>
              <a:off x="3581400" y="2438400"/>
              <a:ext cx="228600" cy="304800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Oval 23"/>
            <p:cNvSpPr/>
            <p:nvPr/>
          </p:nvSpPr>
          <p:spPr>
            <a:xfrm>
              <a:off x="3962400" y="2438400"/>
              <a:ext cx="228600" cy="304800"/>
            </a:xfrm>
            <a:prstGeom prst="ellipse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0" name="Group 29"/>
          <p:cNvGrpSpPr/>
          <p:nvPr/>
        </p:nvGrpSpPr>
        <p:grpSpPr>
          <a:xfrm>
            <a:off x="3962400" y="2438400"/>
            <a:ext cx="990600" cy="1143000"/>
            <a:chOff x="3962400" y="2438400"/>
            <a:chExt cx="990600" cy="1143000"/>
          </a:xfrm>
        </p:grpSpPr>
        <p:sp>
          <p:nvSpPr>
            <p:cNvPr id="28" name="Oval 27"/>
            <p:cNvSpPr/>
            <p:nvPr/>
          </p:nvSpPr>
          <p:spPr>
            <a:xfrm>
              <a:off x="4724400" y="2438400"/>
              <a:ext cx="228600" cy="304800"/>
            </a:xfrm>
            <a:prstGeom prst="ellipse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" name="Oval 28"/>
            <p:cNvSpPr/>
            <p:nvPr/>
          </p:nvSpPr>
          <p:spPr>
            <a:xfrm>
              <a:off x="3962400" y="3276600"/>
              <a:ext cx="228600" cy="3048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7" name="Cross 26"/>
          <p:cNvSpPr/>
          <p:nvPr/>
        </p:nvSpPr>
        <p:spPr>
          <a:xfrm rot="2834682">
            <a:off x="4645922" y="2443481"/>
            <a:ext cx="385558" cy="369974"/>
          </a:xfrm>
          <a:prstGeom prst="plus">
            <a:avLst>
              <a:gd name="adj" fmla="val 42073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 flipH="1">
            <a:off x="1790700" y="2819400"/>
            <a:ext cx="266700" cy="381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>
            <a:off x="2533650" y="2819400"/>
            <a:ext cx="0" cy="381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>
            <a:off x="3429000" y="2819400"/>
            <a:ext cx="152400" cy="381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3276600" y="4933890"/>
                <a:ext cx="1589859" cy="400110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sz="2000" b="1" dirty="0"/>
                  <a:t>LCS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−1</m:t>
                    </m:r>
                  </m:oMath>
                </a14:m>
                <a:r>
                  <a:rPr lang="en-US" sz="2000" dirty="0"/>
                  <a:t>,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𝑚</m:t>
                    </m:r>
                  </m:oMath>
                </a14:m>
                <a:r>
                  <a:rPr lang="en-US" sz="2000" dirty="0"/>
                  <a:t>)</a:t>
                </a:r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4933890"/>
                <a:ext cx="1589859" cy="400110"/>
              </a:xfrm>
              <a:prstGeom prst="rect">
                <a:avLst/>
              </a:prstGeom>
              <a:blipFill rotWithShape="1">
                <a:blip r:embed="rId6"/>
                <a:stretch>
                  <a:fillRect l="-4231" t="-7576" r="-7308" b="-25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Right Brace 35"/>
          <p:cNvSpPr/>
          <p:nvPr/>
        </p:nvSpPr>
        <p:spPr>
          <a:xfrm rot="5400000">
            <a:off x="2606934" y="2835535"/>
            <a:ext cx="424933" cy="2285999"/>
          </a:xfrm>
          <a:prstGeom prst="righ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ight Brace 36"/>
          <p:cNvSpPr/>
          <p:nvPr/>
        </p:nvSpPr>
        <p:spPr>
          <a:xfrm rot="16200000">
            <a:off x="3198876" y="306322"/>
            <a:ext cx="384051" cy="3429004"/>
          </a:xfrm>
          <a:prstGeom prst="righ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/>
              <p:cNvSpPr txBox="1"/>
              <p:nvPr/>
            </p:nvSpPr>
            <p:spPr>
              <a:xfrm>
                <a:off x="3276600" y="5619690"/>
                <a:ext cx="1589859" cy="400110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sz="2000" b="1" dirty="0"/>
                  <a:t>LCS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2000" dirty="0"/>
                  <a:t>,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𝑚</m:t>
                    </m:r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−1</m:t>
                    </m:r>
                  </m:oMath>
                </a14:m>
                <a:r>
                  <a:rPr lang="en-US" sz="2000" dirty="0"/>
                  <a:t>)</a:t>
                </a:r>
              </a:p>
            </p:txBody>
          </p:sp>
        </mc:Choice>
        <mc:Fallback xmlns="">
          <p:sp>
            <p:nvSpPr>
              <p:cNvPr id="39" name="TextBox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5619690"/>
                <a:ext cx="1589859" cy="400110"/>
              </a:xfrm>
              <a:prstGeom prst="rect">
                <a:avLst/>
              </a:prstGeom>
              <a:blipFill rotWithShape="1">
                <a:blip r:embed="rId7"/>
                <a:stretch>
                  <a:fillRect l="-4231" t="-7576" r="-7308" b="-25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/>
              <p:cNvSpPr txBox="1"/>
              <p:nvPr/>
            </p:nvSpPr>
            <p:spPr>
              <a:xfrm>
                <a:off x="2841386" y="908227"/>
                <a:ext cx="2813271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200" b="1" dirty="0"/>
                  <a:t>when</a:t>
                </a:r>
                <a:r>
                  <a:rPr lang="en-US" sz="32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sz="32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𝑛</m:t>
                        </m:r>
                      </m:sub>
                    </m:sSub>
                    <m:r>
                      <a:rPr lang="en-US" sz="3200" i="1">
                        <a:solidFill>
                          <a:srgbClr val="0070C0"/>
                        </a:solidFill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sz="32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𝑏</m:t>
                        </m:r>
                      </m:e>
                      <m:sub>
                        <m:r>
                          <a:rPr lang="en-US" sz="32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sz="3200" dirty="0"/>
                  <a:t> </a:t>
                </a:r>
              </a:p>
            </p:txBody>
          </p:sp>
        </mc:Choice>
        <mc:Fallback xmlns="">
          <p:sp>
            <p:nvSpPr>
              <p:cNvPr id="40" name="TextBox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1386" y="908227"/>
                <a:ext cx="2813271" cy="584775"/>
              </a:xfrm>
              <a:prstGeom prst="rect">
                <a:avLst/>
              </a:prstGeom>
              <a:blipFill rotWithShape="1">
                <a:blip r:embed="rId8"/>
                <a:stretch>
                  <a:fillRect l="-5411" t="-12500" r="-7792" b="-34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/>
              <p:cNvSpPr txBox="1"/>
              <p:nvPr/>
            </p:nvSpPr>
            <p:spPr>
              <a:xfrm>
                <a:off x="4369186" y="914400"/>
                <a:ext cx="583814" cy="584775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i="1" smtClean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</a:rPr>
                        <m:t>≠</m:t>
                      </m:r>
                    </m:oMath>
                  </m:oMathPara>
                </a14:m>
                <a:endParaRPr lang="en-US" sz="3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1" name="TextBox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9186" y="914400"/>
                <a:ext cx="583814" cy="584775"/>
              </a:xfrm>
              <a:prstGeom prst="rect">
                <a:avLst/>
              </a:prstGeom>
              <a:blipFill rotWithShape="1">
                <a:blip r:embed="rId9"/>
                <a:stretch>
                  <a:fillRect t="-12500" r="-33333" b="-34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15439993-BF40-724D-A6F7-1F1559BA1851}"/>
                  </a:ext>
                </a:extLst>
              </p:cNvPr>
              <p:cNvSpPr txBox="1"/>
              <p:nvPr/>
            </p:nvSpPr>
            <p:spPr>
              <a:xfrm>
                <a:off x="1111708" y="2438400"/>
                <a:ext cx="412292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>
                          <a:solidFill>
                            <a:srgbClr val="0070C0"/>
                          </a:solidFill>
                          <a:latin typeface="Cambria Math"/>
                        </a:rPr>
                        <m:t>𝑨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15439993-BF40-724D-A6F7-1F1559BA18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1708" y="2438400"/>
                <a:ext cx="412292" cy="40011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DBA20E18-6EFD-A041-99CB-C5B420570F5E}"/>
                  </a:ext>
                </a:extLst>
              </p:cNvPr>
              <p:cNvSpPr txBox="1"/>
              <p:nvPr/>
            </p:nvSpPr>
            <p:spPr>
              <a:xfrm>
                <a:off x="1121614" y="3228945"/>
                <a:ext cx="428322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𝑩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DBA20E18-6EFD-A041-99CB-C5B420570F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1614" y="3228945"/>
                <a:ext cx="428322" cy="40011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129445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1.85185E-6 L -0.0875 0.1169 " pathEditMode="relative" rAng="0" ptsTypes="AA">
                                      <p:cBhvr>
                                        <p:cTn id="11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375" y="583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27" grpId="0" animBg="1"/>
      <p:bldP spid="36" grpId="0" animBg="1"/>
      <p:bldP spid="37" grpId="0" animBg="1"/>
      <p:bldP spid="39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3200" b="1" dirty="0">
                    <a:solidFill>
                      <a:srgbClr val="7030A0"/>
                    </a:solidFill>
                  </a:rPr>
                  <a:t>Longest common subsequence of </a:t>
                </a:r>
                <a14:m>
                  <m:oMath xmlns:m="http://schemas.openxmlformats.org/officeDocument/2006/math">
                    <m:r>
                      <a:rPr lang="en-US" sz="3200" b="1" i="1">
                        <a:solidFill>
                          <a:srgbClr val="0070C0"/>
                        </a:solidFill>
                        <a:latin typeface="Cambria Math"/>
                      </a:rPr>
                      <m:t>𝑨</m:t>
                    </m:r>
                  </m:oMath>
                </a14:m>
                <a:r>
                  <a:rPr lang="en-US" sz="3200" b="1" dirty="0"/>
                  <a:t> and </a:t>
                </a:r>
                <a14:m>
                  <m:oMath xmlns:m="http://schemas.openxmlformats.org/officeDocument/2006/math">
                    <m:r>
                      <a:rPr lang="en-US" sz="3200" b="1" i="1">
                        <a:solidFill>
                          <a:srgbClr val="0070C0"/>
                        </a:solidFill>
                        <a:latin typeface="Cambria Math"/>
                      </a:rPr>
                      <m:t>𝑩</m:t>
                    </m:r>
                  </m:oMath>
                </a14:m>
                <a:br>
                  <a:rPr lang="en-US" sz="3200" b="1" dirty="0"/>
                </a:br>
                <a:endParaRPr lang="en-US" sz="3200" dirty="0"/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2"/>
                <a:stretch>
                  <a:fillRect t="-3191" b="-138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7030A0"/>
                    </a:solidFill>
                  </a:rPr>
                  <a:t>Observation</a:t>
                </a:r>
                <a:r>
                  <a:rPr lang="en-US" sz="2000" dirty="0"/>
                  <a:t>: Either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𝑛</m:t>
                        </m:r>
                      </m:sub>
                    </m:sSub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/>
                  <a:t>or</a:t>
                </a:r>
                <a:r>
                  <a:rPr lang="en-US" sz="2000" b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𝑏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𝑚</m:t>
                        </m:r>
                      </m:sub>
                    </m:sSub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u="sng" dirty="0"/>
                  <a:t>is not</a:t>
                </a:r>
                <a:r>
                  <a:rPr lang="en-US" sz="2000" dirty="0"/>
                  <a:t> the last symbol of </a:t>
                </a:r>
                <a:r>
                  <a:rPr lang="en-US" sz="2000" b="1" dirty="0"/>
                  <a:t>LCS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2000" dirty="0"/>
                  <a:t>,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𝑚</m:t>
                    </m:r>
                  </m:oMath>
                </a14:m>
                <a:r>
                  <a:rPr lang="en-US" sz="2000" dirty="0"/>
                  <a:t>).</a:t>
                </a: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Lemma</a:t>
                </a:r>
                <a:r>
                  <a:rPr lang="en-US" sz="2000" dirty="0"/>
                  <a:t>: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𝑛</m:t>
                        </m:r>
                      </m:sub>
                    </m:sSub>
                    <m:r>
                      <a:rPr lang="en-US" sz="2000" i="1" smtClean="0">
                        <a:solidFill>
                          <a:srgbClr val="0070C0"/>
                        </a:solidFill>
                        <a:latin typeface="Cambria Math"/>
                      </a:rPr>
                      <m:t>≠</m:t>
                    </m:r>
                    <m:sSub>
                      <m:sSubPr>
                        <m:ctrlPr>
                          <a:rPr lang="en-US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𝑏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𝑚</m:t>
                        </m:r>
                      </m:sub>
                    </m:sSub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/>
                  <a:t>then</a:t>
                </a:r>
                <a:r>
                  <a:rPr lang="en-US" sz="2000" b="1" dirty="0"/>
                  <a:t> </a:t>
                </a:r>
              </a:p>
              <a:p>
                <a:pPr marL="0" indent="0">
                  <a:buNone/>
                </a:pPr>
                <a:r>
                  <a:rPr lang="en-US" sz="2000" b="1" dirty="0"/>
                  <a:t>LCS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  <m:r>
                      <m:rPr>
                        <m:nor/>
                      </m:rPr>
                      <a:rPr lang="en-US" sz="2000" dirty="0"/>
                      <m:t>,</m:t>
                    </m:r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𝑚</m:t>
                    </m:r>
                  </m:oMath>
                </a14:m>
                <a:r>
                  <a:rPr lang="en-US" sz="2000" dirty="0"/>
                  <a:t>) is  either   </a:t>
                </a:r>
                <a:r>
                  <a:rPr lang="en-US" sz="2000" b="1" dirty="0"/>
                  <a:t>LCS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2000" dirty="0"/>
                  <a:t>,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𝑚</m:t>
                    </m:r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−1</m:t>
                    </m:r>
                  </m:oMath>
                </a14:m>
                <a:r>
                  <a:rPr lang="en-US" sz="2000" dirty="0"/>
                  <a:t>)   or  </a:t>
                </a:r>
                <a:r>
                  <a:rPr lang="en-US" sz="2000" b="1" dirty="0"/>
                  <a:t>LCS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−1</m:t>
                    </m:r>
                  </m:oMath>
                </a14:m>
                <a:r>
                  <a:rPr lang="en-US" sz="2000" dirty="0"/>
                  <a:t>,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𝑚</m:t>
                    </m:r>
                  </m:oMath>
                </a14:m>
                <a:r>
                  <a:rPr lang="en-US" sz="2000" dirty="0"/>
                  <a:t>)</a:t>
                </a:r>
              </a:p>
              <a:p>
                <a:pPr marL="0" indent="0"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3"/>
                <a:stretch>
                  <a:fillRect l="-741" t="-6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6" name="Group 15"/>
          <p:cNvGrpSpPr/>
          <p:nvPr/>
        </p:nvGrpSpPr>
        <p:grpSpPr>
          <a:xfrm>
            <a:off x="1676400" y="2438400"/>
            <a:ext cx="3276600" cy="304800"/>
            <a:chOff x="1676400" y="2438400"/>
            <a:chExt cx="3276600" cy="304800"/>
          </a:xfrm>
        </p:grpSpPr>
        <p:sp>
          <p:nvSpPr>
            <p:cNvPr id="4" name="Oval 3"/>
            <p:cNvSpPr/>
            <p:nvPr/>
          </p:nvSpPr>
          <p:spPr>
            <a:xfrm>
              <a:off x="1676400" y="2438400"/>
              <a:ext cx="228600" cy="304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Oval 5"/>
            <p:cNvSpPr/>
            <p:nvPr/>
          </p:nvSpPr>
          <p:spPr>
            <a:xfrm>
              <a:off x="2057400" y="2438400"/>
              <a:ext cx="228600" cy="304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Oval 6"/>
            <p:cNvSpPr/>
            <p:nvPr/>
          </p:nvSpPr>
          <p:spPr>
            <a:xfrm>
              <a:off x="2438400" y="2438400"/>
              <a:ext cx="228600" cy="304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Oval 7"/>
            <p:cNvSpPr/>
            <p:nvPr/>
          </p:nvSpPr>
          <p:spPr>
            <a:xfrm>
              <a:off x="2819400" y="2438400"/>
              <a:ext cx="228600" cy="304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Oval 8"/>
            <p:cNvSpPr/>
            <p:nvPr/>
          </p:nvSpPr>
          <p:spPr>
            <a:xfrm>
              <a:off x="3200400" y="2438400"/>
              <a:ext cx="228600" cy="304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Oval 9"/>
            <p:cNvSpPr/>
            <p:nvPr/>
          </p:nvSpPr>
          <p:spPr>
            <a:xfrm>
              <a:off x="3581400" y="2438400"/>
              <a:ext cx="228600" cy="304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Oval 10"/>
            <p:cNvSpPr/>
            <p:nvPr/>
          </p:nvSpPr>
          <p:spPr>
            <a:xfrm>
              <a:off x="3962400" y="2438400"/>
              <a:ext cx="228600" cy="304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Oval 11"/>
            <p:cNvSpPr/>
            <p:nvPr/>
          </p:nvSpPr>
          <p:spPr>
            <a:xfrm>
              <a:off x="4343400" y="2438400"/>
              <a:ext cx="228600" cy="304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Oval 12"/>
            <p:cNvSpPr/>
            <p:nvPr/>
          </p:nvSpPr>
          <p:spPr>
            <a:xfrm>
              <a:off x="4724400" y="2438400"/>
              <a:ext cx="228600" cy="304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1600200" y="2057400"/>
                <a:ext cx="356232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0070C0"/>
                    </a:solidFill>
                  </a:rPr>
                  <a:t>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dirty="0"/>
                  <a:t>      …</a:t>
                </a:r>
                <a:r>
                  <a:rPr lang="en-US" dirty="0">
                    <a:solidFill>
                      <a:srgbClr val="0070C0"/>
                    </a:solidFill>
                  </a:rPr>
                  <a:t>  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𝑛</m:t>
                        </m:r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−1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  </m:t>
                        </m:r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𝑛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0200" y="2057400"/>
                <a:ext cx="3562322" cy="369332"/>
              </a:xfrm>
              <a:prstGeom prst="rect">
                <a:avLst/>
              </a:prstGeom>
              <a:blipFill rotWithShape="1">
                <a:blip r:embed="rId4"/>
                <a:stretch>
                  <a:fillRect t="-8333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1619278" y="3581400"/>
                <a:ext cx="291502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𝑏</m:t>
                        </m:r>
                      </m:e>
                      <m:sub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0070C0"/>
                    </a:solidFill>
                  </a:rPr>
                  <a:t>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𝑏</m:t>
                        </m:r>
                      </m:e>
                      <m:sub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dirty="0"/>
                  <a:t>      …</a:t>
                </a:r>
                <a:r>
                  <a:rPr lang="en-US" dirty="0">
                    <a:solidFill>
                      <a:srgbClr val="0070C0"/>
                    </a:solidFill>
                  </a:rPr>
                  <a:t>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𝑚</m:t>
                        </m:r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−1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  </m:t>
                        </m:r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𝑚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9278" y="3581400"/>
                <a:ext cx="2915029" cy="369332"/>
              </a:xfrm>
              <a:prstGeom prst="rect">
                <a:avLst/>
              </a:prstGeom>
              <a:blipFill rotWithShape="1">
                <a:blip r:embed="rId5"/>
                <a:stretch>
                  <a:fillRect t="-8333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" name="Group 16"/>
          <p:cNvGrpSpPr/>
          <p:nvPr/>
        </p:nvGrpSpPr>
        <p:grpSpPr>
          <a:xfrm>
            <a:off x="1676400" y="3276600"/>
            <a:ext cx="2514600" cy="304800"/>
            <a:chOff x="1676400" y="2438400"/>
            <a:chExt cx="2514600" cy="304800"/>
          </a:xfrm>
        </p:grpSpPr>
        <p:sp>
          <p:nvSpPr>
            <p:cNvPr id="18" name="Oval 17"/>
            <p:cNvSpPr/>
            <p:nvPr/>
          </p:nvSpPr>
          <p:spPr>
            <a:xfrm>
              <a:off x="1676400" y="2438400"/>
              <a:ext cx="228600" cy="304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Oval 18"/>
            <p:cNvSpPr/>
            <p:nvPr/>
          </p:nvSpPr>
          <p:spPr>
            <a:xfrm>
              <a:off x="2057400" y="2438400"/>
              <a:ext cx="228600" cy="304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" name="Oval 19"/>
            <p:cNvSpPr/>
            <p:nvPr/>
          </p:nvSpPr>
          <p:spPr>
            <a:xfrm>
              <a:off x="2438400" y="2438400"/>
              <a:ext cx="228600" cy="304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Oval 20"/>
            <p:cNvSpPr/>
            <p:nvPr/>
          </p:nvSpPr>
          <p:spPr>
            <a:xfrm>
              <a:off x="2819400" y="2438400"/>
              <a:ext cx="228600" cy="304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Oval 21"/>
            <p:cNvSpPr/>
            <p:nvPr/>
          </p:nvSpPr>
          <p:spPr>
            <a:xfrm>
              <a:off x="3200400" y="2438400"/>
              <a:ext cx="228600" cy="304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Oval 22"/>
            <p:cNvSpPr/>
            <p:nvPr/>
          </p:nvSpPr>
          <p:spPr>
            <a:xfrm>
              <a:off x="3581400" y="2438400"/>
              <a:ext cx="228600" cy="304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Oval 23"/>
            <p:cNvSpPr/>
            <p:nvPr/>
          </p:nvSpPr>
          <p:spPr>
            <a:xfrm>
              <a:off x="3962400" y="2438400"/>
              <a:ext cx="228600" cy="304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0" name="Group 29"/>
          <p:cNvGrpSpPr/>
          <p:nvPr/>
        </p:nvGrpSpPr>
        <p:grpSpPr>
          <a:xfrm>
            <a:off x="3962400" y="2438400"/>
            <a:ext cx="990600" cy="1143000"/>
            <a:chOff x="3962400" y="2438400"/>
            <a:chExt cx="990600" cy="1143000"/>
          </a:xfrm>
        </p:grpSpPr>
        <p:sp>
          <p:nvSpPr>
            <p:cNvPr id="28" name="Oval 27"/>
            <p:cNvSpPr/>
            <p:nvPr/>
          </p:nvSpPr>
          <p:spPr>
            <a:xfrm>
              <a:off x="4724400" y="2438400"/>
              <a:ext cx="228600" cy="304800"/>
            </a:xfrm>
            <a:prstGeom prst="ellipse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" name="Oval 28"/>
            <p:cNvSpPr/>
            <p:nvPr/>
          </p:nvSpPr>
          <p:spPr>
            <a:xfrm>
              <a:off x="3962400" y="3276600"/>
              <a:ext cx="228600" cy="304800"/>
            </a:xfrm>
            <a:prstGeom prst="ellipse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5" name="Rectangle 4"/>
          <p:cNvSpPr/>
          <p:nvPr/>
        </p:nvSpPr>
        <p:spPr>
          <a:xfrm>
            <a:off x="1828800" y="4953000"/>
            <a:ext cx="2247900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/>
          <p:cNvSpPr/>
          <p:nvPr/>
        </p:nvSpPr>
        <p:spPr>
          <a:xfrm>
            <a:off x="4191000" y="4876800"/>
            <a:ext cx="2247900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/>
              <p:cNvSpPr txBox="1"/>
              <p:nvPr/>
            </p:nvSpPr>
            <p:spPr>
              <a:xfrm>
                <a:off x="2841386" y="908227"/>
                <a:ext cx="2813271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200" b="1" dirty="0"/>
                  <a:t>when</a:t>
                </a:r>
                <a:r>
                  <a:rPr lang="en-US" sz="32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sz="32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𝑛</m:t>
                        </m:r>
                      </m:sub>
                    </m:sSub>
                    <m:r>
                      <a:rPr lang="en-US" sz="3200" i="1">
                        <a:solidFill>
                          <a:srgbClr val="0070C0"/>
                        </a:solidFill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sz="32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𝑏</m:t>
                        </m:r>
                      </m:e>
                      <m:sub>
                        <m:r>
                          <a:rPr lang="en-US" sz="32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sz="3200" dirty="0"/>
                  <a:t> </a:t>
                </a:r>
              </a:p>
            </p:txBody>
          </p:sp>
        </mc:Choice>
        <mc:Fallback xmlns=""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1386" y="908227"/>
                <a:ext cx="2813271" cy="584775"/>
              </a:xfrm>
              <a:prstGeom prst="rect">
                <a:avLst/>
              </a:prstGeom>
              <a:blipFill rotWithShape="1">
                <a:blip r:embed="rId6"/>
                <a:stretch>
                  <a:fillRect l="-5411" t="-12500" r="-7792" b="-34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/>
              <p:cNvSpPr txBox="1"/>
              <p:nvPr/>
            </p:nvSpPr>
            <p:spPr>
              <a:xfrm>
                <a:off x="4369186" y="914400"/>
                <a:ext cx="583814" cy="584775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i="1" smtClean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</a:rPr>
                        <m:t>≠</m:t>
                      </m:r>
                    </m:oMath>
                  </m:oMathPara>
                </a14:m>
                <a:endParaRPr lang="en-US" sz="3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9186" y="914400"/>
                <a:ext cx="583814" cy="584775"/>
              </a:xfrm>
              <a:prstGeom prst="rect">
                <a:avLst/>
              </a:prstGeom>
              <a:blipFill rotWithShape="1">
                <a:blip r:embed="rId7"/>
                <a:stretch>
                  <a:fillRect t="-12500" r="-33333" b="-34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368E8678-5214-2F42-980C-84F651B5F86B}"/>
                  </a:ext>
                </a:extLst>
              </p:cNvPr>
              <p:cNvSpPr txBox="1"/>
              <p:nvPr/>
            </p:nvSpPr>
            <p:spPr>
              <a:xfrm>
                <a:off x="1111708" y="2438400"/>
                <a:ext cx="412292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>
                          <a:solidFill>
                            <a:srgbClr val="0070C0"/>
                          </a:solidFill>
                          <a:latin typeface="Cambria Math"/>
                        </a:rPr>
                        <m:t>𝑨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368E8678-5214-2F42-980C-84F651B5F8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1708" y="2438400"/>
                <a:ext cx="412292" cy="40011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C6BBD8BA-FEFA-374B-9C46-CAE51768CA32}"/>
                  </a:ext>
                </a:extLst>
              </p:cNvPr>
              <p:cNvSpPr txBox="1"/>
              <p:nvPr/>
            </p:nvSpPr>
            <p:spPr>
              <a:xfrm>
                <a:off x="1121614" y="3228945"/>
                <a:ext cx="428322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𝑩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C6BBD8BA-FEFA-374B-9C46-CAE51768CA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1614" y="3228945"/>
                <a:ext cx="428322" cy="4001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024009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  <p:bldP spid="31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solidFill>
                  <a:srgbClr val="7030A0"/>
                </a:solidFill>
              </a:rPr>
              <a:t>Recursive formulation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1600200" y="3429000"/>
                <a:ext cx="6100516" cy="369332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LCS</a:t>
                </a:r>
                <a:r>
                  <a:rPr lang="en-US" dirty="0"/>
                  <a:t>(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70C0"/>
                        </a:solidFill>
                        <a:latin typeface="Cambria Math"/>
                      </a:rPr>
                      <m:t>𝑖</m:t>
                    </m:r>
                  </m:oMath>
                </a14:m>
                <a:r>
                  <a:rPr lang="en-US" dirty="0"/>
                  <a:t>,</a:t>
                </a:r>
                <a:r>
                  <a:rPr lang="en-US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70C0"/>
                        </a:solidFill>
                        <a:latin typeface="Cambria Math"/>
                      </a:rPr>
                      <m:t>𝑗</m:t>
                    </m:r>
                  </m:oMath>
                </a14:m>
                <a:r>
                  <a:rPr lang="en-US" dirty="0"/>
                  <a:t>): Longest common subsequence of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70C0"/>
                        </a:solidFill>
                        <a:latin typeface="Cambria Math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/>
                          </a:rPr>
                          <m:t>1..</m:t>
                        </m:r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𝑖</m:t>
                        </m:r>
                      </m:e>
                    </m:d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70C0"/>
                        </a:solidFill>
                        <a:latin typeface="Cambria Math"/>
                      </a:rPr>
                      <m:t>𝐵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/>
                          </a:rPr>
                          <m:t>1..</m:t>
                        </m:r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𝑗</m:t>
                        </m:r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0200" y="3429000"/>
                <a:ext cx="6100516" cy="369332"/>
              </a:xfrm>
              <a:prstGeom prst="rect">
                <a:avLst/>
              </a:prstGeom>
              <a:blipFill rotWithShape="1">
                <a:blip r:embed="rId2"/>
                <a:stretch>
                  <a:fillRect l="-798" t="-6452" r="-599" b="-22581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375902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3200" b="1" dirty="0">
                    <a:solidFill>
                      <a:srgbClr val="7030A0"/>
                    </a:solidFill>
                  </a:rPr>
                  <a:t>Recursive formulation </a:t>
                </a:r>
                <a:r>
                  <a:rPr lang="en-US" sz="3200" b="1" dirty="0"/>
                  <a:t>for</a:t>
                </a:r>
                <a:r>
                  <a:rPr lang="en-US" sz="3200" b="1" dirty="0">
                    <a:solidFill>
                      <a:srgbClr val="7030A0"/>
                    </a:solidFill>
                  </a:rPr>
                  <a:t> </a:t>
                </a:r>
                <a:r>
                  <a:rPr lang="en-US" sz="3200" b="1" dirty="0"/>
                  <a:t>LCS</a:t>
                </a:r>
                <a:r>
                  <a:rPr lang="en-US" sz="3200" dirty="0"/>
                  <a:t>(</a:t>
                </a:r>
                <a14:m>
                  <m:oMath xmlns:m="http://schemas.openxmlformats.org/officeDocument/2006/math">
                    <m:r>
                      <a:rPr lang="en-US" sz="32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3200" dirty="0"/>
                  <a:t>,</a:t>
                </a:r>
                <a14:m>
                  <m:oMath xmlns:m="http://schemas.openxmlformats.org/officeDocument/2006/math">
                    <m:r>
                      <a:rPr lang="en-US" sz="3200" i="1">
                        <a:solidFill>
                          <a:srgbClr val="0070C0"/>
                        </a:solidFill>
                        <a:latin typeface="Cambria Math"/>
                      </a:rPr>
                      <m:t>𝑚</m:t>
                    </m:r>
                  </m:oMath>
                </a14:m>
                <a:r>
                  <a:rPr lang="en-US" sz="3200" dirty="0"/>
                  <a:t>) </a:t>
                </a:r>
                <a:br>
                  <a:rPr lang="en-US" sz="3200" dirty="0"/>
                </a:br>
                <a:endParaRPr lang="en-US" sz="3200" b="1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2"/>
                <a:stretch>
                  <a:fillRect t="-3191" b="-138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219200"/>
                <a:ext cx="8229600" cy="490696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Base Case</a:t>
                </a:r>
                <a:r>
                  <a:rPr lang="en-US" sz="2000" dirty="0"/>
                  <a:t>: </a:t>
                </a:r>
              </a:p>
              <a:p>
                <a:pPr marL="0" indent="0">
                  <a:buNone/>
                </a:pPr>
                <a:r>
                  <a:rPr lang="en-US" sz="2000" b="1" dirty="0"/>
                  <a:t>LCS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2000" dirty="0"/>
                  <a:t>,</a:t>
                </a:r>
                <a:r>
                  <a:rPr lang="en-US" sz="2000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0</m:t>
                    </m:r>
                  </m:oMath>
                </a14:m>
                <a:r>
                  <a:rPr lang="en-US" sz="2000" dirty="0"/>
                  <a:t>) =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Cambria Math"/>
                      </a:rPr>
                      <m:t>∅</m:t>
                    </m:r>
                  </m:oMath>
                </a14:m>
                <a:r>
                  <a:rPr lang="en-US" sz="2000" dirty="0"/>
                  <a:t>       for all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endParaRPr lang="en-US" sz="2000" dirty="0"/>
              </a:p>
              <a:p>
                <a:pPr marL="0" indent="0">
                  <a:buNone/>
                </a:pPr>
                <a:r>
                  <a:rPr lang="en-US" sz="2000" b="1" dirty="0"/>
                  <a:t>LCS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0</m:t>
                    </m:r>
                  </m:oMath>
                </a14:m>
                <a:r>
                  <a:rPr lang="en-US" sz="2000" dirty="0"/>
                  <a:t>,</a:t>
                </a:r>
                <a:r>
                  <a:rPr lang="en-US" sz="2000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𝑚</m:t>
                    </m:r>
                  </m:oMath>
                </a14:m>
                <a:r>
                  <a:rPr lang="en-US" sz="2000" dirty="0"/>
                  <a:t>) =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Cambria Math"/>
                      </a:rPr>
                      <m:t>∅</m:t>
                    </m:r>
                  </m:oMath>
                </a14:m>
                <a:r>
                  <a:rPr lang="en-US" sz="2000" dirty="0"/>
                  <a:t>       for all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𝑚</m:t>
                    </m:r>
                  </m:oMath>
                </a14:m>
                <a:endParaRPr lang="en-US" sz="2000" dirty="0"/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General case</a:t>
                </a:r>
                <a:r>
                  <a:rPr lang="en-US" sz="2000" dirty="0"/>
                  <a:t>: </a:t>
                </a:r>
              </a:p>
              <a:p>
                <a:pPr marL="0" indent="0">
                  <a:buNone/>
                </a:pPr>
                <a:r>
                  <a:rPr lang="en-US" sz="2000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𝑛</m:t>
                        </m:r>
                      </m:sub>
                    </m:sSub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𝑏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𝑚</m:t>
                        </m:r>
                      </m:sub>
                    </m:sSub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/>
                  <a:t>then</a:t>
                </a:r>
                <a:r>
                  <a:rPr lang="en-US" sz="2000" b="1" dirty="0"/>
                  <a:t>    LCS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2000" dirty="0"/>
                  <a:t>,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rgbClr val="0070C0"/>
                        </a:solidFill>
                        <a:latin typeface="Cambria Math"/>
                      </a:rPr>
                      <m:t>𝑚</m:t>
                    </m:r>
                  </m:oMath>
                </a14:m>
                <a:r>
                  <a:rPr lang="en-US" sz="2000" dirty="0"/>
                  <a:t>) =    </a:t>
                </a:r>
                <a:r>
                  <a:rPr lang="en-US" sz="2000" b="1" dirty="0"/>
                  <a:t>LCS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−1</m:t>
                    </m:r>
                  </m:oMath>
                </a14:m>
                <a:r>
                  <a:rPr lang="en-US" sz="2000" dirty="0"/>
                  <a:t>,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𝑚</m:t>
                    </m:r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−1</m:t>
                    </m:r>
                  </m:oMath>
                </a14:m>
                <a:r>
                  <a:rPr lang="en-US" sz="2000" dirty="0"/>
                  <a:t>)  </a:t>
                </a:r>
                <a:r>
                  <a:rPr lang="en-US" sz="2000" b="1" dirty="0"/>
                  <a:t>::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  </m:t>
                        </m:r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𝑛</m:t>
                        </m:r>
                      </m:sub>
                    </m:sSub>
                  </m:oMath>
                </a14:m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𝑛</m:t>
                        </m:r>
                      </m:sub>
                    </m:sSub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≠</m:t>
                    </m:r>
                    <m:sSub>
                      <m:sSubPr>
                        <m:ctrlPr>
                          <a:rPr lang="en-US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𝑏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𝑚</m:t>
                        </m:r>
                      </m:sub>
                    </m:sSub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/>
                  <a:t>then</a:t>
                </a:r>
                <a:r>
                  <a:rPr lang="en-US" sz="2000" b="1" dirty="0"/>
                  <a:t>    LCS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  <m:r>
                      <m:rPr>
                        <m:nor/>
                      </m:rPr>
                      <a:rPr lang="en-US" sz="2000" dirty="0"/>
                      <m:t>,</m:t>
                    </m:r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𝑚</m:t>
                    </m:r>
                  </m:oMath>
                </a14:m>
                <a:r>
                  <a:rPr lang="en-US" sz="2000" dirty="0"/>
                  <a:t>) =                          </a:t>
                </a:r>
                <a:r>
                  <a:rPr lang="en-US" sz="2000" dirty="0">
                    <a:solidFill>
                      <a:srgbClr val="C00000"/>
                    </a:solidFill>
                  </a:rPr>
                  <a:t>?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>
                    <a:solidFill>
                      <a:srgbClr val="C00000"/>
                    </a:solidFill>
                  </a:rPr>
                  <a:t>    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C00000"/>
                        </a:solidFill>
                        <a:latin typeface="Cambria Math"/>
                      </a:rPr>
                      <m:t>𝐿</m:t>
                    </m:r>
                  </m:oMath>
                </a14:m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2000" dirty="0"/>
                  <a:t>,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𝑚</m:t>
                    </m:r>
                  </m:oMath>
                </a14:m>
                <a:r>
                  <a:rPr lang="en-US" sz="2000" dirty="0"/>
                  <a:t>) : length of longest common subsequence of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en-US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1..</m:t>
                        </m:r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𝐵</m:t>
                    </m:r>
                    <m:d>
                      <m:dPr>
                        <m:begChr m:val="["/>
                        <m:endChr m:val="]"/>
                        <m:ctrlPr>
                          <a:rPr lang="en-US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1..</m:t>
                        </m:r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𝑚</m:t>
                        </m:r>
                      </m:e>
                    </m:d>
                  </m:oMath>
                </a14:m>
                <a:endParaRPr lang="en-US" sz="2000" dirty="0"/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Base Case</a:t>
                </a:r>
                <a:r>
                  <a:rPr lang="en-US" sz="2000" dirty="0"/>
                  <a:t>: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C00000"/>
                        </a:solidFill>
                        <a:latin typeface="Cambria Math"/>
                      </a:rPr>
                      <m:t>𝐿</m:t>
                    </m:r>
                  </m:oMath>
                </a14:m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2000" dirty="0"/>
                  <a:t>,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𝑚</m:t>
                    </m:r>
                  </m:oMath>
                </a14:m>
                <a:r>
                  <a:rPr lang="en-US" sz="2000" dirty="0"/>
                  <a:t>) =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0</m:t>
                    </m:r>
                  </m:oMath>
                </a14:m>
                <a:r>
                  <a:rPr lang="en-US" sz="2000" dirty="0"/>
                  <a:t>      if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2000" dirty="0"/>
                  <a:t> or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𝑚</m:t>
                    </m:r>
                  </m:oMath>
                </a14:m>
                <a:r>
                  <a:rPr lang="en-US" sz="2000" dirty="0"/>
                  <a:t> is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0</m:t>
                    </m:r>
                  </m:oMath>
                </a14:m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𝑛</m:t>
                        </m:r>
                      </m:sub>
                    </m:sSub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𝑏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𝑚</m:t>
                        </m:r>
                      </m:sub>
                    </m:sSub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/>
                  <a:t>then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C00000"/>
                        </a:solidFill>
                        <a:latin typeface="Cambria Math"/>
                      </a:rPr>
                      <m:t>𝐿</m:t>
                    </m:r>
                  </m:oMath>
                </a14:m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2000" dirty="0"/>
                  <a:t>,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𝑚</m:t>
                    </m:r>
                  </m:oMath>
                </a14:m>
                <a:r>
                  <a:rPr lang="en-US" sz="2000" dirty="0"/>
                  <a:t>)   =     ?   </a:t>
                </a:r>
              </a:p>
              <a:p>
                <a:pPr marL="0" indent="0">
                  <a:buNone/>
                </a:pPr>
                <a:r>
                  <a:rPr lang="en-US" sz="2000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𝑛</m:t>
                        </m:r>
                      </m:sub>
                    </m:sSub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≠</m:t>
                    </m:r>
                    <m:sSub>
                      <m:sSubPr>
                        <m:ctrlPr>
                          <a:rPr lang="en-US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𝑏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𝑚</m:t>
                        </m:r>
                      </m:sub>
                    </m:sSub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/>
                  <a:t>then</a:t>
                </a:r>
                <a:r>
                  <a:rPr lang="en-US" sz="2000" dirty="0">
                    <a:solidFill>
                      <a:srgbClr val="C0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C00000"/>
                        </a:solidFill>
                        <a:latin typeface="Cambria Math"/>
                      </a:rPr>
                      <m:t>𝐿</m:t>
                    </m:r>
                  </m:oMath>
                </a14:m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2000" dirty="0"/>
                  <a:t>,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𝑚</m:t>
                    </m:r>
                  </m:oMath>
                </a14:m>
                <a:r>
                  <a:rPr lang="en-US" sz="2000" dirty="0"/>
                  <a:t>)   =     ?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19200"/>
                <a:ext cx="8229600" cy="4906963"/>
              </a:xfrm>
              <a:blipFill rotWithShape="1">
                <a:blip r:embed="rId3"/>
                <a:stretch>
                  <a:fillRect l="-741" t="-6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3352800" y="4888468"/>
                <a:ext cx="1992725" cy="369332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C00000"/>
                        </a:solidFill>
                        <a:latin typeface="Cambria Math"/>
                      </a:rPr>
                      <m:t>𝐿</m:t>
                    </m:r>
                  </m:oMath>
                </a14:m>
                <a:r>
                  <a:rPr lang="en-US" dirty="0"/>
                  <a:t>(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/>
                      </a:rPr>
                      <m:t>−1</m:t>
                    </m:r>
                  </m:oMath>
                </a14:m>
                <a:r>
                  <a:rPr lang="en-US" dirty="0"/>
                  <a:t>,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70C0"/>
                        </a:solidFill>
                        <a:latin typeface="Cambria Math"/>
                      </a:rPr>
                      <m:t>𝑚</m:t>
                    </m:r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/>
                      </a:rPr>
                      <m:t>−1</m:t>
                    </m:r>
                  </m:oMath>
                </a14:m>
                <a:r>
                  <a:rPr lang="en-US" dirty="0"/>
                  <a:t>) + </a:t>
                </a:r>
                <a:r>
                  <a:rPr lang="en-US" dirty="0">
                    <a:solidFill>
                      <a:srgbClr val="0070C0"/>
                    </a:solidFill>
                  </a:rPr>
                  <a:t>1</a:t>
                </a: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2800" y="4888468"/>
                <a:ext cx="1992725" cy="369332"/>
              </a:xfrm>
              <a:prstGeom prst="rect">
                <a:avLst/>
              </a:prstGeom>
              <a:blipFill rotWithShape="1">
                <a:blip r:embed="rId4"/>
                <a:stretch>
                  <a:fillRect t="-8197" r="-4281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352800" y="5257800"/>
                <a:ext cx="3199146" cy="369332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rgbClr val="006C31"/>
                    </a:solidFill>
                  </a:rPr>
                  <a:t>Max</a:t>
                </a:r>
                <a:r>
                  <a:rPr lang="en-US" dirty="0"/>
                  <a:t>(</a:t>
                </a:r>
                <a:r>
                  <a:rPr lang="en-US" dirty="0">
                    <a:solidFill>
                      <a:srgbClr val="C0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C00000"/>
                        </a:solidFill>
                        <a:latin typeface="Cambria Math"/>
                      </a:rPr>
                      <m:t>𝐿</m:t>
                    </m:r>
                  </m:oMath>
                </a14:m>
                <a:r>
                  <a:rPr lang="en-US" dirty="0"/>
                  <a:t>(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/>
                      </a:rPr>
                      <m:t>−1</m:t>
                    </m:r>
                  </m:oMath>
                </a14:m>
                <a:r>
                  <a:rPr lang="en-US" dirty="0"/>
                  <a:t>,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70C0"/>
                        </a:solidFill>
                        <a:latin typeface="Cambria Math"/>
                      </a:rPr>
                      <m:t>𝑚</m:t>
                    </m:r>
                  </m:oMath>
                </a14:m>
                <a:r>
                  <a:rPr lang="en-US" dirty="0"/>
                  <a:t>)  , 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C00000"/>
                        </a:solidFill>
                        <a:latin typeface="Cambria Math"/>
                      </a:rPr>
                      <m:t>𝐿</m:t>
                    </m:r>
                  </m:oMath>
                </a14:m>
                <a:r>
                  <a:rPr lang="en-US" dirty="0"/>
                  <a:t>(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dirty="0"/>
                  <a:t>,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70C0"/>
                        </a:solidFill>
                        <a:latin typeface="Cambria Math"/>
                      </a:rPr>
                      <m:t>𝑚</m:t>
                    </m:r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/>
                      </a:rPr>
                      <m:t>−1</m:t>
                    </m:r>
                  </m:oMath>
                </a14:m>
                <a:r>
                  <a:rPr lang="en-US" dirty="0"/>
                  <a:t>))</a:t>
                </a:r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2800" y="5257800"/>
                <a:ext cx="3199146" cy="369332"/>
              </a:xfrm>
              <a:prstGeom prst="rect">
                <a:avLst/>
              </a:prstGeom>
              <a:blipFill rotWithShape="1">
                <a:blip r:embed="rId5"/>
                <a:stretch>
                  <a:fillRect l="-1524" t="-8333" r="-2476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733800" y="3048000"/>
                <a:ext cx="4615687" cy="400110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sz="2000" i="1" u="sng" dirty="0"/>
                  <a:t>bigger</a:t>
                </a:r>
                <a:r>
                  <a:rPr lang="en-US" sz="2000" dirty="0"/>
                  <a:t>  of  </a:t>
                </a:r>
                <a:r>
                  <a:rPr lang="en-US" sz="2000" b="1" dirty="0"/>
                  <a:t>LCS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2000" dirty="0"/>
                  <a:t>,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𝑚</m:t>
                    </m:r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−1</m:t>
                    </m:r>
                  </m:oMath>
                </a14:m>
                <a:r>
                  <a:rPr lang="en-US" sz="2000" dirty="0"/>
                  <a:t>)   or  </a:t>
                </a:r>
                <a:r>
                  <a:rPr lang="en-US" sz="2000" b="1" dirty="0"/>
                  <a:t>LCS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−1</m:t>
                    </m:r>
                  </m:oMath>
                </a14:m>
                <a:r>
                  <a:rPr lang="en-US" sz="2000" dirty="0"/>
                  <a:t>,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𝑚</m:t>
                    </m:r>
                  </m:oMath>
                </a14:m>
                <a:r>
                  <a:rPr lang="en-US" sz="2000" dirty="0"/>
                  <a:t>)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3800" y="3048000"/>
                <a:ext cx="4615687" cy="400110"/>
              </a:xfrm>
              <a:prstGeom prst="rect">
                <a:avLst/>
              </a:prstGeom>
              <a:blipFill rotWithShape="1">
                <a:blip r:embed="rId6"/>
                <a:stretch>
                  <a:fillRect l="-1453" t="-7576" r="-1982" b="-25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/>
          <p:cNvSpPr/>
          <p:nvPr/>
        </p:nvSpPr>
        <p:spPr>
          <a:xfrm>
            <a:off x="1676400" y="3657600"/>
            <a:ext cx="6934200" cy="5334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3657600" y="2514600"/>
            <a:ext cx="3124200" cy="5334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BA9B256-8E1F-7689-F138-863B1982817B}"/>
              </a:ext>
            </a:extLst>
          </p:cNvPr>
          <p:cNvSpPr/>
          <p:nvPr/>
        </p:nvSpPr>
        <p:spPr>
          <a:xfrm>
            <a:off x="1543078" y="1547019"/>
            <a:ext cx="5314922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FEF2F0F-3FE5-1F58-7034-44EACF3956B5}"/>
              </a:ext>
            </a:extLst>
          </p:cNvPr>
          <p:cNvSpPr/>
          <p:nvPr/>
        </p:nvSpPr>
        <p:spPr>
          <a:xfrm>
            <a:off x="1447800" y="4449762"/>
            <a:ext cx="5314922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3613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3" dur="1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43" dur="3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5" dur="3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80" dur="1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1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1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  <p:bldP spid="4" grpId="0" animBg="1"/>
      <p:bldP spid="5" grpId="0" animBg="1"/>
      <p:bldP spid="6" grpId="0" animBg="1"/>
      <p:bldP spid="7" grpId="0" animBg="1"/>
      <p:bldP spid="9" grpId="0" animBg="1"/>
      <p:bldP spid="8" grpId="0" animBg="1"/>
      <p:bldP spid="10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3200" b="1" dirty="0">
                    <a:solidFill>
                      <a:srgbClr val="7030A0"/>
                    </a:solidFill>
                  </a:rPr>
                  <a:t>Recursive algorithm </a:t>
                </a:r>
                <a:r>
                  <a:rPr lang="en-US" sz="3200" b="1" dirty="0"/>
                  <a:t>for</a:t>
                </a:r>
                <a:r>
                  <a:rPr lang="en-US" sz="3200" b="1" dirty="0">
                    <a:solidFill>
                      <a:srgbClr val="7030A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3200" i="1">
                        <a:solidFill>
                          <a:srgbClr val="C00000"/>
                        </a:solidFill>
                        <a:latin typeface="Cambria Math"/>
                      </a:rPr>
                      <m:t>𝐿</m:t>
                    </m:r>
                  </m:oMath>
                </a14:m>
                <a:r>
                  <a:rPr lang="en-US" sz="3200" dirty="0"/>
                  <a:t>(</a:t>
                </a:r>
                <a14:m>
                  <m:oMath xmlns:m="http://schemas.openxmlformats.org/officeDocument/2006/math">
                    <m:r>
                      <a:rPr lang="en-US" sz="32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3200" dirty="0"/>
                  <a:t>,</a:t>
                </a:r>
                <a14:m>
                  <m:oMath xmlns:m="http://schemas.openxmlformats.org/officeDocument/2006/math">
                    <m:r>
                      <a:rPr lang="en-US" sz="3200" i="1">
                        <a:solidFill>
                          <a:srgbClr val="0070C0"/>
                        </a:solidFill>
                        <a:latin typeface="Cambria Math"/>
                      </a:rPr>
                      <m:t>𝑚</m:t>
                    </m:r>
                  </m:oMath>
                </a14:m>
                <a:r>
                  <a:rPr lang="en-US" sz="3200" dirty="0"/>
                  <a:t>)</a:t>
                </a:r>
                <a:br>
                  <a:rPr lang="en-US" sz="3200" dirty="0"/>
                </a:br>
                <a:endParaRPr lang="en-US" sz="3200" b="1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2"/>
                <a:stretch>
                  <a:fillRect t="-3191" b="-138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half" idx="1"/>
              </p:nvPr>
            </p:nvSpPr>
            <p:spPr>
              <a:xfrm>
                <a:off x="457200" y="1600200"/>
                <a:ext cx="4038600" cy="4648200"/>
              </a:xfrm>
            </p:spPr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000" i="1" smtClean="0">
                        <a:solidFill>
                          <a:srgbClr val="C00000"/>
                        </a:solidFill>
                        <a:latin typeface="Cambria Math"/>
                      </a:rPr>
                      <m:t>𝐿</m:t>
                    </m:r>
                  </m:oMath>
                </a14:m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2000" dirty="0"/>
                  <a:t>,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𝑚</m:t>
                    </m:r>
                  </m:oMath>
                </a14:m>
                <a:r>
                  <a:rPr lang="en-US" sz="2000" dirty="0"/>
                  <a:t>)</a:t>
                </a:r>
              </a:p>
              <a:p>
                <a:pPr marL="0" indent="0">
                  <a:buNone/>
                </a:pPr>
                <a:r>
                  <a:rPr lang="en-US" sz="2000" dirty="0"/>
                  <a:t>{    If (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=0</m:t>
                    </m:r>
                  </m:oMath>
                </a14:m>
                <a:r>
                  <a:rPr lang="en-US" sz="2000" dirty="0"/>
                  <a:t> or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𝑚</m:t>
                    </m:r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=0</m:t>
                    </m:r>
                  </m:oMath>
                </a14:m>
                <a:r>
                  <a:rPr lang="en-US" sz="2000" dirty="0"/>
                  <a:t>) </a:t>
                </a:r>
              </a:p>
              <a:p>
                <a:pPr marL="0" indent="0">
                  <a:buNone/>
                </a:pPr>
                <a:r>
                  <a:rPr lang="en-US" sz="2000" dirty="0"/>
                  <a:t>             return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0</m:t>
                    </m:r>
                  </m:oMath>
                </a14:m>
                <a:r>
                  <a:rPr lang="en-US" sz="2000" dirty="0"/>
                  <a:t>;</a:t>
                </a:r>
              </a:p>
              <a:p>
                <a:pPr marL="0" indent="0">
                  <a:buNone/>
                </a:pPr>
                <a:r>
                  <a:rPr lang="en-US" sz="2000" dirty="0"/>
                  <a:t>     Else</a:t>
                </a:r>
              </a:p>
              <a:p>
                <a:pPr marL="0" indent="0">
                  <a:buNone/>
                </a:pPr>
                <a:r>
                  <a:rPr lang="en-US" sz="2000" dirty="0"/>
                  <a:t>    {    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𝑛</m:t>
                        </m:r>
                      </m:sub>
                    </m:sSub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𝑏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𝑚</m:t>
                        </m:r>
                      </m:sub>
                    </m:sSub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/>
                  <a:t>then</a:t>
                </a:r>
              </a:p>
              <a:p>
                <a:pPr marL="0" indent="0">
                  <a:buNone/>
                </a:pPr>
                <a:r>
                  <a:rPr lang="en-US" sz="2000" dirty="0"/>
                  <a:t> 	 return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C00000"/>
                        </a:solidFill>
                        <a:latin typeface="Cambria Math"/>
                      </a:rPr>
                      <m:t>𝐿</m:t>
                    </m:r>
                  </m:oMath>
                </a14:m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−1</m:t>
                    </m:r>
                  </m:oMath>
                </a14:m>
                <a:r>
                  <a:rPr lang="en-US" sz="2000" dirty="0"/>
                  <a:t>,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𝑚</m:t>
                    </m:r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−1</m:t>
                    </m:r>
                  </m:oMath>
                </a14:m>
                <a:r>
                  <a:rPr lang="en-US" sz="2000" dirty="0"/>
                  <a:t>) + </a:t>
                </a:r>
                <a:r>
                  <a:rPr lang="en-US" sz="2000" dirty="0">
                    <a:solidFill>
                      <a:srgbClr val="0070C0"/>
                    </a:solidFill>
                  </a:rPr>
                  <a:t>1</a:t>
                </a:r>
                <a:r>
                  <a:rPr lang="en-US" sz="2000" dirty="0"/>
                  <a:t>;      </a:t>
                </a:r>
              </a:p>
              <a:p>
                <a:pPr marL="0" indent="0">
                  <a:buNone/>
                </a:pPr>
                <a:r>
                  <a:rPr lang="en-US" sz="2000" dirty="0"/>
                  <a:t>       else</a:t>
                </a:r>
              </a:p>
              <a:p>
                <a:pPr marL="0" indent="0">
                  <a:buNone/>
                </a:pPr>
                <a:r>
                  <a:rPr lang="en-US" sz="2000" dirty="0"/>
                  <a:t>       {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𝑙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000" dirty="0"/>
                  <a:t> </a:t>
                </a:r>
                <a:r>
                  <a:rPr lang="en-US" sz="2000" dirty="0">
                    <a:sym typeface="Wingdings" pitchFamily="2" charset="2"/>
                  </a:rPr>
                  <a:t>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C00000"/>
                        </a:solidFill>
                        <a:latin typeface="Cambria Math"/>
                      </a:rPr>
                      <m:t>𝐿</m:t>
                    </m:r>
                  </m:oMath>
                </a14:m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−1</m:t>
                    </m:r>
                  </m:oMath>
                </a14:m>
                <a:r>
                  <a:rPr lang="en-US" sz="2000" dirty="0"/>
                  <a:t>,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𝑚</m:t>
                    </m:r>
                  </m:oMath>
                </a14:m>
                <a:r>
                  <a:rPr lang="en-US" sz="2000" dirty="0"/>
                  <a:t>) ;</a:t>
                </a:r>
              </a:p>
              <a:p>
                <a:pPr marL="0" indent="0">
                  <a:buNone/>
                </a:pPr>
                <a:r>
                  <a:rPr lang="en-US" sz="2000" dirty="0">
                    <a:solidFill>
                      <a:srgbClr val="0070C0"/>
                    </a:solidFill>
                  </a:rPr>
                  <a:t>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𝑙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000" dirty="0"/>
                  <a:t> </a:t>
                </a:r>
                <a:r>
                  <a:rPr lang="en-US" sz="2000" dirty="0">
                    <a:sym typeface="Wingdings" pitchFamily="2" charset="2"/>
                  </a:rPr>
                  <a:t>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C00000"/>
                        </a:solidFill>
                        <a:latin typeface="Cambria Math"/>
                      </a:rPr>
                      <m:t>𝐿</m:t>
                    </m:r>
                  </m:oMath>
                </a14:m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2000" dirty="0"/>
                  <a:t>,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𝑚</m:t>
                    </m:r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−1</m:t>
                    </m:r>
                  </m:oMath>
                </a14:m>
                <a:r>
                  <a:rPr lang="en-US" sz="2000" dirty="0"/>
                  <a:t>) ;</a:t>
                </a:r>
              </a:p>
              <a:p>
                <a:pPr marL="0" indent="0">
                  <a:buNone/>
                </a:pPr>
                <a:r>
                  <a:rPr lang="en-US" sz="2000" dirty="0"/>
                  <a:t>                return </a:t>
                </a:r>
                <a:r>
                  <a:rPr lang="en-US" sz="2000" b="1" dirty="0">
                    <a:solidFill>
                      <a:srgbClr val="006C31"/>
                    </a:solidFill>
                  </a:rPr>
                  <a:t>Max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𝑙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000" dirty="0"/>
                  <a:t>,</a:t>
                </a:r>
                <a:r>
                  <a:rPr lang="en-US" sz="2000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𝑙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000" dirty="0"/>
                  <a:t>);</a:t>
                </a:r>
              </a:p>
              <a:p>
                <a:pPr marL="0" indent="0">
                  <a:buNone/>
                </a:pPr>
                <a:r>
                  <a:rPr lang="en-US" sz="2000" dirty="0"/>
                  <a:t>       }</a:t>
                </a:r>
              </a:p>
              <a:p>
                <a:pPr marL="0" indent="0">
                  <a:buNone/>
                </a:pPr>
                <a:r>
                  <a:rPr lang="en-US" sz="2000" dirty="0"/>
                  <a:t>   }</a:t>
                </a:r>
              </a:p>
              <a:p>
                <a:pPr marL="0" indent="0">
                  <a:buNone/>
                </a:pPr>
                <a:r>
                  <a:rPr lang="en-US" sz="2000" dirty="0"/>
                  <a:t>}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457200" y="1600200"/>
                <a:ext cx="4038600" cy="4648200"/>
              </a:xfrm>
              <a:blipFill rotWithShape="1">
                <a:blip r:embed="rId3"/>
                <a:stretch>
                  <a:fillRect l="-1357" t="-656" r="-4072" b="-1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sz="half" idx="2"/>
              </p:nvPr>
            </p:nvSpPr>
            <p:spPr>
              <a:xfrm>
                <a:off x="4648200" y="1600200"/>
                <a:ext cx="4495800" cy="4876800"/>
              </a:xfrm>
            </p:spPr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chemeClr val="tx1"/>
                        </a:solidFill>
                        <a:latin typeface="Cambria Math"/>
                      </a:rPr>
                      <m:t>𝑻</m:t>
                    </m:r>
                  </m:oMath>
                </a14:m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2000" dirty="0"/>
                  <a:t>,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𝑚</m:t>
                    </m:r>
                  </m:oMath>
                </a14:m>
                <a:r>
                  <a:rPr lang="en-US" sz="2000" dirty="0"/>
                  <a:t>) : worst case running  time of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C00000"/>
                        </a:solidFill>
                        <a:latin typeface="Cambria Math"/>
                      </a:rPr>
                      <m:t>𝐿</m:t>
                    </m:r>
                  </m:oMath>
                </a14:m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2000" dirty="0"/>
                  <a:t>,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𝑚</m:t>
                    </m:r>
                  </m:oMath>
                </a14:m>
                <a:r>
                  <a:rPr lang="en-US" sz="2000" dirty="0"/>
                  <a:t>)</a:t>
                </a:r>
                <a:br>
                  <a:rPr lang="en-US" sz="2000" dirty="0"/>
                </a:br>
                <a:endParaRPr lang="en-US" sz="200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000" b="1" i="1" smtClean="0">
                        <a:latin typeface="Cambria Math"/>
                      </a:rPr>
                      <m:t>𝑻</m:t>
                    </m:r>
                  </m:oMath>
                </a14:m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2000" dirty="0"/>
                  <a:t>,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𝑚</m:t>
                    </m:r>
                  </m:oMath>
                </a14:m>
                <a:r>
                  <a:rPr lang="en-US" sz="2000" dirty="0"/>
                  <a:t>) = </a:t>
                </a:r>
                <a14:m>
                  <m:oMath xmlns:m="http://schemas.openxmlformats.org/officeDocument/2006/math">
                    <m:r>
                      <a:rPr lang="en-US" sz="2000" b="1" i="1">
                        <a:latin typeface="Cambria Math"/>
                      </a:rPr>
                      <m:t>𝑻</m:t>
                    </m:r>
                  </m:oMath>
                </a14:m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−1</m:t>
                    </m:r>
                  </m:oMath>
                </a14:m>
                <a:r>
                  <a:rPr lang="en-US" sz="2000" dirty="0"/>
                  <a:t>,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𝑚</m:t>
                    </m:r>
                  </m:oMath>
                </a14:m>
                <a:r>
                  <a:rPr lang="en-US" sz="2000" dirty="0"/>
                  <a:t>)  + </a:t>
                </a:r>
                <a14:m>
                  <m:oMath xmlns:m="http://schemas.openxmlformats.org/officeDocument/2006/math">
                    <m:r>
                      <a:rPr lang="en-US" sz="2000" b="1" i="1">
                        <a:latin typeface="Cambria Math"/>
                      </a:rPr>
                      <m:t>𝑻</m:t>
                    </m:r>
                  </m:oMath>
                </a14:m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2000" dirty="0"/>
                  <a:t>,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𝑚</m:t>
                    </m:r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−1</m:t>
                    </m:r>
                  </m:oMath>
                </a14:m>
                <a:r>
                  <a:rPr lang="en-US" sz="2000" dirty="0"/>
                  <a:t>)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>
                    <a:solidFill>
                      <a:srgbClr val="C00000"/>
                    </a:solidFill>
                  </a:rPr>
                  <a:t>A simple exercise </a:t>
                </a:r>
                <a:r>
                  <a:rPr lang="en-US" sz="2000" dirty="0"/>
                  <a:t>from discrete math: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000" b="1" i="1">
                        <a:latin typeface="Cambria Math"/>
                      </a:rPr>
                      <m:t>𝑻</m:t>
                    </m:r>
                  </m:oMath>
                </a14:m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2000" dirty="0"/>
                  <a:t>,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2000" dirty="0"/>
                  <a:t>) =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sz="200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b="0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2</m:t>
                            </m:r>
                            <m:r>
                              <a:rPr lang="en-US" sz="2000" b="0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𝑛</m:t>
                            </m:r>
                          </m:num>
                          <m:den>
                            <m:r>
                              <a:rPr lang="en-US" sz="2000" b="0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𝑛</m:t>
                            </m:r>
                          </m:den>
                        </m:f>
                      </m:e>
                    </m:d>
                    <m:r>
                      <a:rPr lang="en-US" sz="2000" b="1" i="1" smtClean="0">
                        <a:solidFill>
                          <a:schemeClr val="tx1"/>
                        </a:solidFill>
                        <a:latin typeface="Cambria Math"/>
                      </a:rPr>
                      <m:t>&gt;</m:t>
                    </m:r>
                  </m:oMath>
                </a14:m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𝑛</m:t>
                        </m:r>
                      </m:sup>
                    </m:sSup>
                  </m:oMath>
                </a14:m>
                <a:endParaRPr lang="en-US" sz="2000" dirty="0"/>
              </a:p>
              <a:p>
                <a:pPr marL="0" indent="0" algn="ctr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Exponential !!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But why ? </a:t>
                </a:r>
              </a:p>
              <a:p>
                <a:pPr marL="0" indent="0">
                  <a:buNone/>
                </a:pPr>
                <a:r>
                  <a:rPr lang="en-US" sz="2000" dirty="0"/>
                  <a:t>Let us explore its reason.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4648200" y="1600200"/>
                <a:ext cx="4495800" cy="4876800"/>
              </a:xfrm>
              <a:blipFill rotWithShape="1">
                <a:blip r:embed="rId4"/>
                <a:stretch>
                  <a:fillRect l="-1357" t="-625" r="-1900" b="-27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miley Face 4"/>
          <p:cNvSpPr/>
          <p:nvPr/>
        </p:nvSpPr>
        <p:spPr>
          <a:xfrm>
            <a:off x="6324600" y="4191000"/>
            <a:ext cx="914400" cy="914400"/>
          </a:xfrm>
          <a:prstGeom prst="smileyFace">
            <a:avLst>
              <a:gd name="adj" fmla="val -4653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5562600" y="1600200"/>
            <a:ext cx="3581400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5638800" y="2209800"/>
            <a:ext cx="3429000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10560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8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9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2" dur="1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7" dur="10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10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10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0" dur="10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5" dur="10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10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10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8" dur="10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4" grpId="0" uiExpand="1" build="p"/>
      <p:bldP spid="5" grpId="0" animBg="1"/>
      <p:bldP spid="6" grpId="0" uiExpand="1" animBg="1"/>
      <p:bldP spid="7" grpId="0" uiExpand="1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Oval 30">
            <a:extLst>
              <a:ext uri="{FF2B5EF4-FFF2-40B4-BE49-F238E27FC236}">
                <a16:creationId xmlns:a16="http://schemas.microsoft.com/office/drawing/2014/main" id="{9E2293C7-B05D-E2A9-91A2-FE028D227A05}"/>
              </a:ext>
            </a:extLst>
          </p:cNvPr>
          <p:cNvSpPr/>
          <p:nvPr/>
        </p:nvSpPr>
        <p:spPr>
          <a:xfrm>
            <a:off x="7008078" y="3581400"/>
            <a:ext cx="568272" cy="572518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E278179B-9582-4817-B7BF-322F917DBB76}"/>
              </a:ext>
            </a:extLst>
          </p:cNvPr>
          <p:cNvSpPr/>
          <p:nvPr/>
        </p:nvSpPr>
        <p:spPr>
          <a:xfrm>
            <a:off x="5627368" y="3606893"/>
            <a:ext cx="568272" cy="572518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3200" b="1" dirty="0">
                    <a:solidFill>
                      <a:srgbClr val="7030A0"/>
                    </a:solidFill>
                  </a:rPr>
                  <a:t>Recursive algorithm </a:t>
                </a:r>
                <a:r>
                  <a:rPr lang="en-US" sz="3200" b="1" dirty="0"/>
                  <a:t>for</a:t>
                </a:r>
                <a:r>
                  <a:rPr lang="en-US" sz="3200" b="1" dirty="0">
                    <a:solidFill>
                      <a:srgbClr val="7030A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3200" i="1">
                        <a:solidFill>
                          <a:srgbClr val="C00000"/>
                        </a:solidFill>
                        <a:latin typeface="Cambria Math"/>
                      </a:rPr>
                      <m:t>𝐿</m:t>
                    </m:r>
                  </m:oMath>
                </a14:m>
                <a:r>
                  <a:rPr lang="en-US" sz="3200" dirty="0"/>
                  <a:t>(</a:t>
                </a:r>
                <a14:m>
                  <m:oMath xmlns:m="http://schemas.openxmlformats.org/officeDocument/2006/math">
                    <m:r>
                      <a:rPr lang="en-US" sz="32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3200" dirty="0"/>
                  <a:t>,</a:t>
                </a:r>
                <a14:m>
                  <m:oMath xmlns:m="http://schemas.openxmlformats.org/officeDocument/2006/math">
                    <m:r>
                      <a:rPr lang="en-US" sz="3200" i="1">
                        <a:solidFill>
                          <a:srgbClr val="0070C0"/>
                        </a:solidFill>
                        <a:latin typeface="Cambria Math"/>
                      </a:rPr>
                      <m:t>𝑚</m:t>
                    </m:r>
                  </m:oMath>
                </a14:m>
                <a:r>
                  <a:rPr lang="en-US" sz="3200" dirty="0"/>
                  <a:t>)</a:t>
                </a:r>
                <a:br>
                  <a:rPr lang="en-US" sz="3200" dirty="0"/>
                </a:br>
                <a:endParaRPr lang="en-US" sz="3200" b="1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2"/>
                <a:stretch>
                  <a:fillRect t="-3191" b="-138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half" idx="1"/>
              </p:nvPr>
            </p:nvSpPr>
            <p:spPr>
              <a:xfrm>
                <a:off x="457200" y="1600200"/>
                <a:ext cx="4038600" cy="4572000"/>
              </a:xfrm>
            </p:spPr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000" i="1" smtClean="0">
                        <a:solidFill>
                          <a:srgbClr val="C00000"/>
                        </a:solidFill>
                        <a:latin typeface="Cambria Math"/>
                      </a:rPr>
                      <m:t>𝐿</m:t>
                    </m:r>
                  </m:oMath>
                </a14:m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2000" dirty="0"/>
                  <a:t>,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𝑚</m:t>
                    </m:r>
                  </m:oMath>
                </a14:m>
                <a:r>
                  <a:rPr lang="en-US" sz="2000" dirty="0"/>
                  <a:t>)</a:t>
                </a:r>
              </a:p>
              <a:p>
                <a:pPr marL="0" indent="0">
                  <a:buNone/>
                </a:pPr>
                <a:r>
                  <a:rPr lang="en-US" sz="2000" dirty="0"/>
                  <a:t>{    If (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=0</m:t>
                    </m:r>
                  </m:oMath>
                </a14:m>
                <a:r>
                  <a:rPr lang="en-US" sz="2000" dirty="0"/>
                  <a:t> or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𝑚</m:t>
                    </m:r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=0</m:t>
                    </m:r>
                  </m:oMath>
                </a14:m>
                <a:r>
                  <a:rPr lang="en-US" sz="2000" dirty="0"/>
                  <a:t>) </a:t>
                </a:r>
              </a:p>
              <a:p>
                <a:pPr marL="0" indent="0">
                  <a:buNone/>
                </a:pPr>
                <a:r>
                  <a:rPr lang="en-US" sz="2000" dirty="0"/>
                  <a:t>             return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0</m:t>
                    </m:r>
                  </m:oMath>
                </a14:m>
                <a:r>
                  <a:rPr lang="en-US" sz="2000" dirty="0"/>
                  <a:t>;</a:t>
                </a:r>
              </a:p>
              <a:p>
                <a:pPr marL="0" indent="0">
                  <a:buNone/>
                </a:pPr>
                <a:r>
                  <a:rPr lang="en-US" sz="2000" dirty="0"/>
                  <a:t>     Else</a:t>
                </a:r>
              </a:p>
              <a:p>
                <a:pPr marL="0" indent="0">
                  <a:buNone/>
                </a:pPr>
                <a:r>
                  <a:rPr lang="en-US" sz="2000" dirty="0"/>
                  <a:t>    {    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𝑛</m:t>
                        </m:r>
                      </m:sub>
                    </m:sSub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𝑏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𝑚</m:t>
                        </m:r>
                      </m:sub>
                    </m:sSub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/>
                  <a:t>then</a:t>
                </a:r>
              </a:p>
              <a:p>
                <a:pPr marL="0" indent="0">
                  <a:buNone/>
                </a:pPr>
                <a:r>
                  <a:rPr lang="en-US" sz="2000" dirty="0"/>
                  <a:t> 	 return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C00000"/>
                        </a:solidFill>
                        <a:latin typeface="Cambria Math"/>
                      </a:rPr>
                      <m:t>𝐿</m:t>
                    </m:r>
                  </m:oMath>
                </a14:m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−1</m:t>
                    </m:r>
                  </m:oMath>
                </a14:m>
                <a:r>
                  <a:rPr lang="en-US" sz="2000" dirty="0"/>
                  <a:t>,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𝑚</m:t>
                    </m:r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−1</m:t>
                    </m:r>
                  </m:oMath>
                </a14:m>
                <a:r>
                  <a:rPr lang="en-US" sz="2000" dirty="0"/>
                  <a:t>) + </a:t>
                </a:r>
                <a:r>
                  <a:rPr lang="en-US" sz="2000" dirty="0">
                    <a:solidFill>
                      <a:srgbClr val="0070C0"/>
                    </a:solidFill>
                  </a:rPr>
                  <a:t>1</a:t>
                </a:r>
                <a:r>
                  <a:rPr lang="en-US" sz="2000" dirty="0"/>
                  <a:t>;      </a:t>
                </a:r>
              </a:p>
              <a:p>
                <a:pPr marL="0" indent="0">
                  <a:buNone/>
                </a:pPr>
                <a:r>
                  <a:rPr lang="en-US" sz="2000" dirty="0"/>
                  <a:t>       else</a:t>
                </a:r>
              </a:p>
              <a:p>
                <a:pPr marL="0" indent="0">
                  <a:buNone/>
                </a:pPr>
                <a:r>
                  <a:rPr lang="en-US" sz="2000" dirty="0"/>
                  <a:t>       {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𝑙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000" dirty="0"/>
                  <a:t> </a:t>
                </a:r>
                <a:r>
                  <a:rPr lang="en-US" sz="2000" dirty="0">
                    <a:sym typeface="Wingdings" pitchFamily="2" charset="2"/>
                  </a:rPr>
                  <a:t>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C00000"/>
                        </a:solidFill>
                        <a:latin typeface="Cambria Math"/>
                      </a:rPr>
                      <m:t>𝐿</m:t>
                    </m:r>
                  </m:oMath>
                </a14:m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−1</m:t>
                    </m:r>
                  </m:oMath>
                </a14:m>
                <a:r>
                  <a:rPr lang="en-US" sz="2000" dirty="0"/>
                  <a:t>,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𝑚</m:t>
                    </m:r>
                  </m:oMath>
                </a14:m>
                <a:r>
                  <a:rPr lang="en-US" sz="2000" dirty="0"/>
                  <a:t>) ;</a:t>
                </a:r>
              </a:p>
              <a:p>
                <a:pPr marL="0" indent="0">
                  <a:buNone/>
                </a:pPr>
                <a:r>
                  <a:rPr lang="en-US" sz="2000" dirty="0">
                    <a:solidFill>
                      <a:srgbClr val="0070C0"/>
                    </a:solidFill>
                  </a:rPr>
                  <a:t>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𝑙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000" dirty="0"/>
                  <a:t> </a:t>
                </a:r>
                <a:r>
                  <a:rPr lang="en-US" sz="2000" dirty="0">
                    <a:sym typeface="Wingdings" pitchFamily="2" charset="2"/>
                  </a:rPr>
                  <a:t>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C00000"/>
                        </a:solidFill>
                        <a:latin typeface="Cambria Math"/>
                      </a:rPr>
                      <m:t>𝐿</m:t>
                    </m:r>
                  </m:oMath>
                </a14:m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2000" dirty="0"/>
                  <a:t>,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𝑚</m:t>
                    </m:r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−1</m:t>
                    </m:r>
                  </m:oMath>
                </a14:m>
                <a:r>
                  <a:rPr lang="en-US" sz="2000" dirty="0"/>
                  <a:t>) ;</a:t>
                </a:r>
              </a:p>
              <a:p>
                <a:pPr marL="0" indent="0">
                  <a:buNone/>
                </a:pPr>
                <a:r>
                  <a:rPr lang="en-US" sz="2000" dirty="0"/>
                  <a:t>                return </a:t>
                </a:r>
                <a:r>
                  <a:rPr lang="en-US" sz="2000" b="1" dirty="0">
                    <a:solidFill>
                      <a:srgbClr val="006C31"/>
                    </a:solidFill>
                  </a:rPr>
                  <a:t>Max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𝑙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000" dirty="0"/>
                  <a:t>,</a:t>
                </a:r>
                <a:r>
                  <a:rPr lang="en-US" sz="2000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𝑙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000" dirty="0"/>
                  <a:t>);</a:t>
                </a:r>
              </a:p>
              <a:p>
                <a:pPr marL="0" indent="0">
                  <a:buNone/>
                </a:pPr>
                <a:r>
                  <a:rPr lang="en-US" sz="2000" dirty="0"/>
                  <a:t>       }</a:t>
                </a:r>
              </a:p>
              <a:p>
                <a:pPr marL="0" indent="0">
                  <a:buNone/>
                </a:pPr>
                <a:r>
                  <a:rPr lang="en-US" sz="2000" dirty="0"/>
                  <a:t>   }</a:t>
                </a:r>
              </a:p>
              <a:p>
                <a:pPr marL="0" indent="0">
                  <a:buNone/>
                </a:pPr>
                <a:r>
                  <a:rPr lang="en-US" sz="2000" dirty="0"/>
                  <a:t>}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457200" y="1600200"/>
                <a:ext cx="4038600" cy="4572000"/>
              </a:xfrm>
              <a:blipFill rotWithShape="1">
                <a:blip r:embed="rId3"/>
                <a:stretch>
                  <a:fillRect l="-1357" t="-667" r="-4072" b="-17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sz="half" idx="2"/>
              </p:nvPr>
            </p:nvSpPr>
            <p:spPr>
              <a:xfrm>
                <a:off x="4159665" y="1524000"/>
                <a:ext cx="4984335" cy="5105400"/>
              </a:xfrm>
            </p:spPr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Solving same sub-problem  multiple times !!</a:t>
                </a:r>
              </a:p>
              <a:p>
                <a:pPr marL="0" indent="0">
                  <a:buNone/>
                </a:pPr>
                <a:r>
                  <a:rPr lang="en-US" sz="2000" dirty="0"/>
                  <a:t>But how many sub-problems are there ? </a:t>
                </a:r>
              </a:p>
              <a:p>
                <a:pPr marL="0" indent="0">
                  <a:buNone/>
                </a:pPr>
                <a:r>
                  <a:rPr lang="en-US" sz="2000" dirty="0"/>
                  <a:t>only (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+</m:t>
                    </m:r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1</m:t>
                    </m:r>
                  </m:oMath>
                </a14:m>
                <a:r>
                  <a:rPr lang="en-US" sz="2000" dirty="0"/>
                  <a:t>)*(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𝑚</m:t>
                    </m:r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+</m:t>
                    </m:r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1</m:t>
                    </m:r>
                  </m:oMath>
                </a14:m>
                <a:r>
                  <a:rPr lang="en-US" sz="2000" dirty="0"/>
                  <a:t>).</a:t>
                </a:r>
              </a:p>
              <a:p>
                <a:pPr marL="0" indent="0">
                  <a:buNone/>
                </a:pPr>
                <a:r>
                  <a:rPr lang="en-US" sz="2000" dirty="0"/>
                  <a:t>Can we compute them efficiently ?</a:t>
                </a:r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4159665" y="1524000"/>
                <a:ext cx="4984335" cy="5105400"/>
              </a:xfrm>
              <a:blipFill>
                <a:blip r:embed="rId4"/>
                <a:stretch>
                  <a:fillRect l="-11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Group 6"/>
          <p:cNvGrpSpPr/>
          <p:nvPr/>
        </p:nvGrpSpPr>
        <p:grpSpPr>
          <a:xfrm>
            <a:off x="6281854" y="1449350"/>
            <a:ext cx="846578" cy="695918"/>
            <a:chOff x="6586654" y="1437682"/>
            <a:chExt cx="846578" cy="695918"/>
          </a:xfrm>
        </p:grpSpPr>
        <p:sp>
          <p:nvSpPr>
            <p:cNvPr id="5" name="Oval 4"/>
            <p:cNvSpPr/>
            <p:nvPr/>
          </p:nvSpPr>
          <p:spPr>
            <a:xfrm>
              <a:off x="6781800" y="1828800"/>
              <a:ext cx="304800" cy="304800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/>
                <p:cNvSpPr txBox="1"/>
                <p:nvPr/>
              </p:nvSpPr>
              <p:spPr>
                <a:xfrm>
                  <a:off x="6586654" y="1437682"/>
                  <a:ext cx="84657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i="1">
                          <a:solidFill>
                            <a:srgbClr val="C00000"/>
                          </a:solidFill>
                          <a:latin typeface="Cambria Math"/>
                        </a:rPr>
                        <m:t>𝐿</m:t>
                      </m:r>
                    </m:oMath>
                  </a14:m>
                  <a:r>
                    <a:rPr lang="en-US" dirty="0"/>
                    <a:t>(</a:t>
                  </a:r>
                  <a14:m>
                    <m:oMath xmlns:m="http://schemas.openxmlformats.org/officeDocument/2006/math">
                      <m:r>
                        <a:rPr lang="en-US" i="1">
                          <a:solidFill>
                            <a:srgbClr val="0070C0"/>
                          </a:solidFill>
                          <a:latin typeface="Cambria Math"/>
                        </a:rPr>
                        <m:t>𝑛</m:t>
                      </m:r>
                    </m:oMath>
                  </a14:m>
                  <a:r>
                    <a:rPr lang="en-US" dirty="0"/>
                    <a:t>,</a:t>
                  </a:r>
                  <a14:m>
                    <m:oMath xmlns:m="http://schemas.openxmlformats.org/officeDocument/2006/math">
                      <m:r>
                        <a:rPr lang="en-US" i="1">
                          <a:solidFill>
                            <a:srgbClr val="0070C0"/>
                          </a:solidFill>
                          <a:latin typeface="Cambria Math"/>
                        </a:rPr>
                        <m:t>𝑚</m:t>
                      </m:r>
                    </m:oMath>
                  </a14:m>
                  <a:r>
                    <a:rPr lang="en-US" dirty="0"/>
                    <a:t>)</a:t>
                  </a:r>
                </a:p>
              </p:txBody>
            </p:sp>
          </mc:Choice>
          <mc:Fallback xmlns="">
            <p:sp>
              <p:nvSpPr>
                <p:cNvPr id="6" name="TextBox 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86654" y="1437682"/>
                  <a:ext cx="846578" cy="369332"/>
                </a:xfrm>
                <a:prstGeom prst="rect">
                  <a:avLst/>
                </a:prstGeom>
                <a:blipFill rotWithShape="1">
                  <a:blip r:embed="rId5"/>
                  <a:stretch>
                    <a:fillRect t="-8333" r="-12230" b="-2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" name="Group 7"/>
          <p:cNvGrpSpPr/>
          <p:nvPr/>
        </p:nvGrpSpPr>
        <p:grpSpPr>
          <a:xfrm>
            <a:off x="4799540" y="2209800"/>
            <a:ext cx="1250535" cy="773668"/>
            <a:chOff x="6399740" y="1359932"/>
            <a:chExt cx="1250535" cy="773668"/>
          </a:xfrm>
        </p:grpSpPr>
        <p:sp>
          <p:nvSpPr>
            <p:cNvPr id="9" name="Oval 8"/>
            <p:cNvSpPr/>
            <p:nvPr/>
          </p:nvSpPr>
          <p:spPr>
            <a:xfrm>
              <a:off x="6781800" y="1828800"/>
              <a:ext cx="304800" cy="304800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/>
                <p:cNvSpPr txBox="1"/>
                <p:nvPr/>
              </p:nvSpPr>
              <p:spPr>
                <a:xfrm>
                  <a:off x="6399740" y="1359932"/>
                  <a:ext cx="125053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i="1" smtClean="0">
                          <a:solidFill>
                            <a:srgbClr val="C00000"/>
                          </a:solidFill>
                          <a:latin typeface="Cambria Math"/>
                        </a:rPr>
                        <m:t>𝐿</m:t>
                      </m:r>
                    </m:oMath>
                  </a14:m>
                  <a:r>
                    <a:rPr lang="en-US" dirty="0"/>
                    <a:t>(</a:t>
                  </a:r>
                  <a14:m>
                    <m:oMath xmlns:m="http://schemas.openxmlformats.org/officeDocument/2006/math">
                      <m:r>
                        <a:rPr lang="en-US" i="1">
                          <a:solidFill>
                            <a:srgbClr val="0070C0"/>
                          </a:solidFill>
                          <a:latin typeface="Cambria Math"/>
                        </a:rPr>
                        <m:t>𝑛</m:t>
                      </m:r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−1</m:t>
                      </m:r>
                    </m:oMath>
                  </a14:m>
                  <a:r>
                    <a:rPr lang="en-US" dirty="0"/>
                    <a:t>,</a:t>
                  </a:r>
                  <a14:m>
                    <m:oMath xmlns:m="http://schemas.openxmlformats.org/officeDocument/2006/math">
                      <m:r>
                        <a:rPr lang="en-US" i="1">
                          <a:solidFill>
                            <a:srgbClr val="0070C0"/>
                          </a:solidFill>
                          <a:latin typeface="Cambria Math"/>
                        </a:rPr>
                        <m:t>𝑚</m:t>
                      </m:r>
                    </m:oMath>
                  </a14:m>
                  <a:r>
                    <a:rPr lang="en-US" dirty="0"/>
                    <a:t>)</a:t>
                  </a:r>
                </a:p>
              </p:txBody>
            </p:sp>
          </mc:Choice>
          <mc:Fallback xmlns="">
            <p:sp>
              <p:nvSpPr>
                <p:cNvPr id="10" name="TextBox 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99740" y="1359932"/>
                  <a:ext cx="1250535" cy="369332"/>
                </a:xfrm>
                <a:prstGeom prst="rect">
                  <a:avLst/>
                </a:prstGeom>
                <a:blipFill rotWithShape="1">
                  <a:blip r:embed="rId6"/>
                  <a:stretch>
                    <a:fillRect t="-8333" r="-8293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" name="Group 10"/>
          <p:cNvGrpSpPr/>
          <p:nvPr/>
        </p:nvGrpSpPr>
        <p:grpSpPr>
          <a:xfrm>
            <a:off x="7229168" y="2209800"/>
            <a:ext cx="1250535" cy="773668"/>
            <a:chOff x="6498503" y="1359932"/>
            <a:chExt cx="1250535" cy="773668"/>
          </a:xfrm>
        </p:grpSpPr>
        <p:sp>
          <p:nvSpPr>
            <p:cNvPr id="12" name="Oval 11"/>
            <p:cNvSpPr/>
            <p:nvPr/>
          </p:nvSpPr>
          <p:spPr>
            <a:xfrm>
              <a:off x="6781800" y="1828800"/>
              <a:ext cx="304800" cy="304800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/>
                <p:cNvSpPr txBox="1"/>
                <p:nvPr/>
              </p:nvSpPr>
              <p:spPr>
                <a:xfrm>
                  <a:off x="6498503" y="1359932"/>
                  <a:ext cx="125053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i="1" smtClean="0">
                          <a:solidFill>
                            <a:srgbClr val="C00000"/>
                          </a:solidFill>
                          <a:latin typeface="Cambria Math"/>
                        </a:rPr>
                        <m:t>𝐿</m:t>
                      </m:r>
                    </m:oMath>
                  </a14:m>
                  <a:r>
                    <a:rPr lang="en-US" dirty="0"/>
                    <a:t>(</a:t>
                  </a:r>
                  <a14:m>
                    <m:oMath xmlns:m="http://schemas.openxmlformats.org/officeDocument/2006/math">
                      <m:r>
                        <a:rPr lang="en-US" i="1">
                          <a:solidFill>
                            <a:srgbClr val="0070C0"/>
                          </a:solidFill>
                          <a:latin typeface="Cambria Math"/>
                        </a:rPr>
                        <m:t>𝑛</m:t>
                      </m:r>
                    </m:oMath>
                  </a14:m>
                  <a:r>
                    <a:rPr lang="en-US" dirty="0"/>
                    <a:t>,</a:t>
                  </a:r>
                  <a14:m>
                    <m:oMath xmlns:m="http://schemas.openxmlformats.org/officeDocument/2006/math">
                      <m:r>
                        <a:rPr lang="en-US" i="1">
                          <a:solidFill>
                            <a:srgbClr val="0070C0"/>
                          </a:solidFill>
                          <a:latin typeface="Cambria Math"/>
                        </a:rPr>
                        <m:t>𝑚</m:t>
                      </m:r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−1</m:t>
                      </m:r>
                    </m:oMath>
                  </a14:m>
                  <a:r>
                    <a:rPr lang="en-US" dirty="0"/>
                    <a:t>)</a:t>
                  </a:r>
                </a:p>
              </p:txBody>
            </p:sp>
          </mc:Choice>
          <mc:Fallback xmlns="">
            <p:sp>
              <p:nvSpPr>
                <p:cNvPr id="13" name="TextBox 1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98503" y="1359932"/>
                  <a:ext cx="1250535" cy="369332"/>
                </a:xfrm>
                <a:prstGeom prst="rect">
                  <a:avLst/>
                </a:prstGeom>
                <a:blipFill rotWithShape="1">
                  <a:blip r:embed="rId7"/>
                  <a:stretch>
                    <a:fillRect t="-8333" r="-7805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4" name="Group 13"/>
          <p:cNvGrpSpPr/>
          <p:nvPr/>
        </p:nvGrpSpPr>
        <p:grpSpPr>
          <a:xfrm>
            <a:off x="4159665" y="3745468"/>
            <a:ext cx="1250535" cy="750332"/>
            <a:chOff x="6217065" y="1828800"/>
            <a:chExt cx="1250535" cy="750332"/>
          </a:xfrm>
        </p:grpSpPr>
        <p:sp>
          <p:nvSpPr>
            <p:cNvPr id="15" name="Oval 14"/>
            <p:cNvSpPr/>
            <p:nvPr/>
          </p:nvSpPr>
          <p:spPr>
            <a:xfrm>
              <a:off x="6781800" y="1828800"/>
              <a:ext cx="304800" cy="304800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/>
                <p:cNvSpPr txBox="1"/>
                <p:nvPr/>
              </p:nvSpPr>
              <p:spPr>
                <a:xfrm>
                  <a:off x="6217065" y="2209800"/>
                  <a:ext cx="125053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i="1" smtClean="0">
                          <a:solidFill>
                            <a:srgbClr val="C00000"/>
                          </a:solidFill>
                          <a:latin typeface="Cambria Math"/>
                        </a:rPr>
                        <m:t>𝐿</m:t>
                      </m:r>
                    </m:oMath>
                  </a14:m>
                  <a:r>
                    <a:rPr lang="en-US" dirty="0"/>
                    <a:t>(</a:t>
                  </a:r>
                  <a14:m>
                    <m:oMath xmlns:m="http://schemas.openxmlformats.org/officeDocument/2006/math">
                      <m:r>
                        <a:rPr lang="en-US" i="1">
                          <a:solidFill>
                            <a:srgbClr val="0070C0"/>
                          </a:solidFill>
                          <a:latin typeface="Cambria Math"/>
                        </a:rPr>
                        <m:t>𝑛</m:t>
                      </m:r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−2</m:t>
                      </m:r>
                    </m:oMath>
                  </a14:m>
                  <a:r>
                    <a:rPr lang="en-US" dirty="0"/>
                    <a:t>,</a:t>
                  </a:r>
                  <a14:m>
                    <m:oMath xmlns:m="http://schemas.openxmlformats.org/officeDocument/2006/math">
                      <m:r>
                        <a:rPr lang="en-US" i="1">
                          <a:solidFill>
                            <a:srgbClr val="0070C0"/>
                          </a:solidFill>
                          <a:latin typeface="Cambria Math"/>
                        </a:rPr>
                        <m:t>𝑚</m:t>
                      </m:r>
                    </m:oMath>
                  </a14:m>
                  <a:r>
                    <a:rPr lang="en-US" dirty="0"/>
                    <a:t>)</a:t>
                  </a:r>
                </a:p>
              </p:txBody>
            </p:sp>
          </mc:Choice>
          <mc:Fallback xmlns="">
            <p:sp>
              <p:nvSpPr>
                <p:cNvPr id="16" name="TextBox 1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17065" y="2209800"/>
                  <a:ext cx="1250535" cy="369332"/>
                </a:xfrm>
                <a:prstGeom prst="rect">
                  <a:avLst/>
                </a:prstGeom>
                <a:blipFill rotWithShape="1">
                  <a:blip r:embed="rId8"/>
                  <a:stretch>
                    <a:fillRect t="-8197" r="-7767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7" name="Group 16"/>
          <p:cNvGrpSpPr/>
          <p:nvPr/>
        </p:nvGrpSpPr>
        <p:grpSpPr>
          <a:xfrm>
            <a:off x="5257800" y="3733800"/>
            <a:ext cx="1654492" cy="762000"/>
            <a:chOff x="6279735" y="1828800"/>
            <a:chExt cx="1654492" cy="762000"/>
          </a:xfrm>
        </p:grpSpPr>
        <p:sp>
          <p:nvSpPr>
            <p:cNvPr id="18" name="Oval 17"/>
            <p:cNvSpPr/>
            <p:nvPr/>
          </p:nvSpPr>
          <p:spPr>
            <a:xfrm>
              <a:off x="6781800" y="1828800"/>
              <a:ext cx="304800" cy="304800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/>
                <p:cNvSpPr txBox="1"/>
                <p:nvPr/>
              </p:nvSpPr>
              <p:spPr>
                <a:xfrm>
                  <a:off x="6279735" y="2221468"/>
                  <a:ext cx="165449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i="1" smtClean="0">
                          <a:solidFill>
                            <a:srgbClr val="C00000"/>
                          </a:solidFill>
                          <a:latin typeface="Cambria Math"/>
                        </a:rPr>
                        <m:t>𝐿</m:t>
                      </m:r>
                    </m:oMath>
                  </a14:m>
                  <a:r>
                    <a:rPr lang="en-US" dirty="0"/>
                    <a:t>(</a:t>
                  </a:r>
                  <a14:m>
                    <m:oMath xmlns:m="http://schemas.openxmlformats.org/officeDocument/2006/math">
                      <m:r>
                        <a:rPr lang="en-US" i="1">
                          <a:solidFill>
                            <a:srgbClr val="0070C0"/>
                          </a:solidFill>
                          <a:latin typeface="Cambria Math"/>
                        </a:rPr>
                        <m:t>𝑛</m:t>
                      </m:r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−1</m:t>
                      </m:r>
                    </m:oMath>
                  </a14:m>
                  <a:r>
                    <a:rPr lang="en-US" dirty="0"/>
                    <a:t>,</a:t>
                  </a:r>
                  <a14:m>
                    <m:oMath xmlns:m="http://schemas.openxmlformats.org/officeDocument/2006/math">
                      <m:r>
                        <a:rPr lang="en-US" i="1">
                          <a:solidFill>
                            <a:srgbClr val="0070C0"/>
                          </a:solidFill>
                          <a:latin typeface="Cambria Math"/>
                        </a:rPr>
                        <m:t>𝑚</m:t>
                      </m:r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−1</m:t>
                      </m:r>
                    </m:oMath>
                  </a14:m>
                  <a:r>
                    <a:rPr lang="en-US" dirty="0"/>
                    <a:t>)</a:t>
                  </a:r>
                </a:p>
              </p:txBody>
            </p:sp>
          </mc:Choice>
          <mc:Fallback xmlns="">
            <p:sp>
              <p:nvSpPr>
                <p:cNvPr id="19" name="TextBox 1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79735" y="2221468"/>
                  <a:ext cx="1654492" cy="369332"/>
                </a:xfrm>
                <a:prstGeom prst="rect">
                  <a:avLst/>
                </a:prstGeom>
                <a:blipFill rotWithShape="1">
                  <a:blip r:embed="rId9"/>
                  <a:stretch>
                    <a:fillRect t="-8197" r="-5904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0" name="Group 19"/>
          <p:cNvGrpSpPr/>
          <p:nvPr/>
        </p:nvGrpSpPr>
        <p:grpSpPr>
          <a:xfrm>
            <a:off x="6172200" y="3352800"/>
            <a:ext cx="1654492" cy="685800"/>
            <a:chOff x="5822535" y="1447800"/>
            <a:chExt cx="1654492" cy="685800"/>
          </a:xfrm>
        </p:grpSpPr>
        <p:sp>
          <p:nvSpPr>
            <p:cNvPr id="21" name="Oval 20"/>
            <p:cNvSpPr/>
            <p:nvPr/>
          </p:nvSpPr>
          <p:spPr>
            <a:xfrm>
              <a:off x="6781800" y="1828800"/>
              <a:ext cx="304800" cy="304800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/>
                <p:cNvSpPr txBox="1"/>
                <p:nvPr/>
              </p:nvSpPr>
              <p:spPr>
                <a:xfrm>
                  <a:off x="5822535" y="1447800"/>
                  <a:ext cx="165449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i="1" smtClean="0">
                          <a:solidFill>
                            <a:srgbClr val="C00000"/>
                          </a:solidFill>
                          <a:latin typeface="Cambria Math"/>
                        </a:rPr>
                        <m:t>𝐿</m:t>
                      </m:r>
                    </m:oMath>
                  </a14:m>
                  <a:r>
                    <a:rPr lang="en-US" dirty="0"/>
                    <a:t>(</a:t>
                  </a:r>
                  <a14:m>
                    <m:oMath xmlns:m="http://schemas.openxmlformats.org/officeDocument/2006/math">
                      <m:r>
                        <a:rPr lang="en-US" i="1">
                          <a:solidFill>
                            <a:srgbClr val="0070C0"/>
                          </a:solidFill>
                          <a:latin typeface="Cambria Math"/>
                        </a:rPr>
                        <m:t>𝑛</m:t>
                      </m:r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−1</m:t>
                      </m:r>
                    </m:oMath>
                  </a14:m>
                  <a:r>
                    <a:rPr lang="en-US" dirty="0"/>
                    <a:t>,</a:t>
                  </a:r>
                  <a14:m>
                    <m:oMath xmlns:m="http://schemas.openxmlformats.org/officeDocument/2006/math">
                      <m:r>
                        <a:rPr lang="en-US" i="1">
                          <a:solidFill>
                            <a:srgbClr val="0070C0"/>
                          </a:solidFill>
                          <a:latin typeface="Cambria Math"/>
                        </a:rPr>
                        <m:t>𝑚</m:t>
                      </m:r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−1</m:t>
                      </m:r>
                    </m:oMath>
                  </a14:m>
                  <a:r>
                    <a:rPr lang="en-US" dirty="0"/>
                    <a:t>)</a:t>
                  </a:r>
                </a:p>
              </p:txBody>
            </p:sp>
          </mc:Choice>
          <mc:Fallback xmlns="">
            <p:sp>
              <p:nvSpPr>
                <p:cNvPr id="22" name="TextBox 2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22535" y="1447800"/>
                  <a:ext cx="1654492" cy="369332"/>
                </a:xfrm>
                <a:prstGeom prst="rect">
                  <a:avLst/>
                </a:prstGeom>
                <a:blipFill rotWithShape="1">
                  <a:blip r:embed="rId10"/>
                  <a:stretch>
                    <a:fillRect t="-8197" r="-5904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3" name="Group 22"/>
          <p:cNvGrpSpPr/>
          <p:nvPr/>
        </p:nvGrpSpPr>
        <p:grpSpPr>
          <a:xfrm>
            <a:off x="8001000" y="3352800"/>
            <a:ext cx="1250535" cy="685800"/>
            <a:chOff x="6432135" y="1447800"/>
            <a:chExt cx="1250535" cy="685800"/>
          </a:xfrm>
        </p:grpSpPr>
        <p:sp>
          <p:nvSpPr>
            <p:cNvPr id="24" name="Oval 23"/>
            <p:cNvSpPr/>
            <p:nvPr/>
          </p:nvSpPr>
          <p:spPr>
            <a:xfrm>
              <a:off x="6781800" y="1828800"/>
              <a:ext cx="304800" cy="304800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/>
                <p:cNvSpPr txBox="1"/>
                <p:nvPr/>
              </p:nvSpPr>
              <p:spPr>
                <a:xfrm>
                  <a:off x="6432135" y="1447800"/>
                  <a:ext cx="125053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i="1" smtClean="0">
                          <a:solidFill>
                            <a:srgbClr val="C00000"/>
                          </a:solidFill>
                          <a:latin typeface="Cambria Math"/>
                        </a:rPr>
                        <m:t>𝐿</m:t>
                      </m:r>
                    </m:oMath>
                  </a14:m>
                  <a:r>
                    <a:rPr lang="en-US" dirty="0"/>
                    <a:t>(</a:t>
                  </a:r>
                  <a14:m>
                    <m:oMath xmlns:m="http://schemas.openxmlformats.org/officeDocument/2006/math">
                      <m:r>
                        <a:rPr lang="en-US" i="1">
                          <a:solidFill>
                            <a:srgbClr val="0070C0"/>
                          </a:solidFill>
                          <a:latin typeface="Cambria Math"/>
                        </a:rPr>
                        <m:t>𝑛</m:t>
                      </m:r>
                    </m:oMath>
                  </a14:m>
                  <a:r>
                    <a:rPr lang="en-US" dirty="0"/>
                    <a:t>,</a:t>
                  </a:r>
                  <a14:m>
                    <m:oMath xmlns:m="http://schemas.openxmlformats.org/officeDocument/2006/math">
                      <m:r>
                        <a:rPr lang="en-US" i="1">
                          <a:solidFill>
                            <a:srgbClr val="0070C0"/>
                          </a:solidFill>
                          <a:latin typeface="Cambria Math"/>
                        </a:rPr>
                        <m:t>𝑚</m:t>
                      </m:r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−2</m:t>
                      </m:r>
                    </m:oMath>
                  </a14:m>
                  <a:r>
                    <a:rPr lang="en-US" dirty="0"/>
                    <a:t>)</a:t>
                  </a:r>
                </a:p>
              </p:txBody>
            </p:sp>
          </mc:Choice>
          <mc:Fallback xmlns="">
            <p:sp>
              <p:nvSpPr>
                <p:cNvPr id="25" name="TextBox 2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32135" y="1447800"/>
                  <a:ext cx="1250535" cy="369332"/>
                </a:xfrm>
                <a:prstGeom prst="rect">
                  <a:avLst/>
                </a:prstGeom>
                <a:blipFill rotWithShape="1">
                  <a:blip r:embed="rId11"/>
                  <a:stretch>
                    <a:fillRect t="-8197" r="-7805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7" name="Straight Arrow Connector 26"/>
          <p:cNvCxnSpPr>
            <a:stCxn id="5" idx="2"/>
            <a:endCxn id="9" idx="7"/>
          </p:cNvCxnSpPr>
          <p:nvPr/>
        </p:nvCxnSpPr>
        <p:spPr>
          <a:xfrm flipH="1">
            <a:off x="5441763" y="1992868"/>
            <a:ext cx="1035237" cy="730437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5" idx="6"/>
            <a:endCxn id="12" idx="0"/>
          </p:cNvCxnSpPr>
          <p:nvPr/>
        </p:nvCxnSpPr>
        <p:spPr>
          <a:xfrm>
            <a:off x="6781800" y="1992868"/>
            <a:ext cx="883065" cy="6858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>
            <a:stCxn id="9" idx="3"/>
          </p:cNvCxnSpPr>
          <p:nvPr/>
        </p:nvCxnSpPr>
        <p:spPr>
          <a:xfrm flipH="1">
            <a:off x="4876802" y="2938831"/>
            <a:ext cx="349435" cy="783301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stCxn id="9" idx="5"/>
            <a:endCxn id="18" idx="0"/>
          </p:cNvCxnSpPr>
          <p:nvPr/>
        </p:nvCxnSpPr>
        <p:spPr>
          <a:xfrm>
            <a:off x="5441763" y="2938831"/>
            <a:ext cx="470502" cy="794969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>
            <a:endCxn id="21" idx="0"/>
          </p:cNvCxnSpPr>
          <p:nvPr/>
        </p:nvCxnSpPr>
        <p:spPr>
          <a:xfrm flipH="1">
            <a:off x="7283865" y="2938831"/>
            <a:ext cx="336135" cy="794969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>
            <a:stCxn id="12" idx="5"/>
            <a:endCxn id="24" idx="1"/>
          </p:cNvCxnSpPr>
          <p:nvPr/>
        </p:nvCxnSpPr>
        <p:spPr>
          <a:xfrm>
            <a:off x="7772628" y="2938831"/>
            <a:ext cx="622674" cy="839606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Down Ribbon 27"/>
          <p:cNvSpPr/>
          <p:nvPr/>
        </p:nvSpPr>
        <p:spPr>
          <a:xfrm>
            <a:off x="1752600" y="6019800"/>
            <a:ext cx="7001497" cy="839606"/>
          </a:xfrm>
          <a:prstGeom prst="ribbon">
            <a:avLst>
              <a:gd name="adj1" fmla="val 16667"/>
              <a:gd name="adj2" fmla="val 75000"/>
            </a:avLst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The answer lies in the exercise on Fibonacci numbers we did in the beginning of this lecture. </a:t>
            </a:r>
            <a:r>
              <a:rPr lang="en-US" dirty="0">
                <a:solidFill>
                  <a:schemeClr val="tx1"/>
                </a:solidFill>
                <a:sym typeface="Wingdings" pitchFamily="2" charset="2"/>
              </a:rPr>
              <a:t></a:t>
            </a:r>
            <a:endParaRPr lang="en-US" dirty="0"/>
          </a:p>
        </p:txBody>
      </p:sp>
      <p:sp>
        <p:nvSpPr>
          <p:cNvPr id="29" name="TextBox 28"/>
          <p:cNvSpPr txBox="1"/>
          <p:nvPr/>
        </p:nvSpPr>
        <p:spPr>
          <a:xfrm>
            <a:off x="5908194" y="1106038"/>
            <a:ext cx="1593898" cy="369332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Recursion tree</a:t>
            </a:r>
          </a:p>
        </p:txBody>
      </p:sp>
    </p:spTree>
    <p:extLst>
      <p:ext uri="{BB962C8B-B14F-4D97-AF65-F5344CB8AC3E}">
        <p14:creationId xmlns:p14="http://schemas.microsoft.com/office/powerpoint/2010/main" val="35483938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89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9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94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9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31" grpId="1" animBg="1"/>
      <p:bldP spid="32" grpId="0" animBg="1"/>
      <p:bldP spid="32" grpId="1" animBg="1"/>
      <p:bldP spid="4" grpId="0" uiExpand="1" build="p"/>
      <p:bldP spid="28" grpId="0" animBg="1"/>
      <p:bldP spid="29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3200" b="1" dirty="0">
                    <a:solidFill>
                      <a:srgbClr val="7030A0"/>
                    </a:solidFill>
                  </a:rPr>
                  <a:t>Recursive algorithm </a:t>
                </a:r>
                <a:r>
                  <a:rPr lang="en-US" sz="3200" b="1" dirty="0"/>
                  <a:t>for</a:t>
                </a:r>
                <a:r>
                  <a:rPr lang="en-US" sz="3200" b="1" dirty="0">
                    <a:solidFill>
                      <a:srgbClr val="7030A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sz="3200" dirty="0"/>
                  <a:t>(</a:t>
                </a:r>
                <a14:m>
                  <m:oMath xmlns:m="http://schemas.openxmlformats.org/officeDocument/2006/math">
                    <m:r>
                      <a:rPr lang="en-US" sz="32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3200" dirty="0"/>
                  <a:t>)</a:t>
                </a:r>
                <a:br>
                  <a:rPr lang="en-US" sz="3200" dirty="0"/>
                </a:br>
                <a:endParaRPr lang="en-US" sz="3200" b="1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t="-32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Group 6"/>
          <p:cNvGrpSpPr/>
          <p:nvPr/>
        </p:nvGrpSpPr>
        <p:grpSpPr>
          <a:xfrm>
            <a:off x="3874789" y="1449350"/>
            <a:ext cx="612860" cy="695918"/>
            <a:chOff x="6586654" y="1437682"/>
            <a:chExt cx="612860" cy="695918"/>
          </a:xfrm>
        </p:grpSpPr>
        <p:sp>
          <p:nvSpPr>
            <p:cNvPr id="5" name="Oval 4"/>
            <p:cNvSpPr/>
            <p:nvPr/>
          </p:nvSpPr>
          <p:spPr>
            <a:xfrm>
              <a:off x="6781800" y="1828800"/>
              <a:ext cx="304800" cy="304800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/>
                <p:cNvSpPr txBox="1"/>
                <p:nvPr/>
              </p:nvSpPr>
              <p:spPr>
                <a:xfrm>
                  <a:off x="6586654" y="1437682"/>
                  <a:ext cx="61286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</m:oMath>
                  </a14:m>
                  <a:r>
                    <a:rPr lang="en-US" dirty="0"/>
                    <a:t>(</a:t>
                  </a:r>
                  <a14:m>
                    <m:oMath xmlns:m="http://schemas.openxmlformats.org/officeDocument/2006/math">
                      <m:r>
                        <a:rPr lang="en-US" i="1">
                          <a:solidFill>
                            <a:srgbClr val="0070C0"/>
                          </a:solidFill>
                          <a:latin typeface="Cambria Math"/>
                        </a:rPr>
                        <m:t>𝑛</m:t>
                      </m:r>
                    </m:oMath>
                  </a14:m>
                  <a:r>
                    <a:rPr lang="en-US" dirty="0"/>
                    <a:t>)</a:t>
                  </a:r>
                </a:p>
              </p:txBody>
            </p:sp>
          </mc:Choice>
          <mc:Fallback xmlns="">
            <p:sp>
              <p:nvSpPr>
                <p:cNvPr id="6" name="TextBox 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86654" y="1437682"/>
                  <a:ext cx="612860" cy="369332"/>
                </a:xfrm>
                <a:prstGeom prst="rect">
                  <a:avLst/>
                </a:prstGeom>
                <a:blipFill>
                  <a:blip r:embed="rId3"/>
                  <a:stretch>
                    <a:fillRect t="-10000" r="-8163" b="-2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" name="Group 7"/>
          <p:cNvGrpSpPr/>
          <p:nvPr/>
        </p:nvGrpSpPr>
        <p:grpSpPr>
          <a:xfrm>
            <a:off x="2392475" y="2209800"/>
            <a:ext cx="1016817" cy="773668"/>
            <a:chOff x="6399740" y="1359932"/>
            <a:chExt cx="1016817" cy="773668"/>
          </a:xfrm>
        </p:grpSpPr>
        <p:sp>
          <p:nvSpPr>
            <p:cNvPr id="9" name="Oval 8"/>
            <p:cNvSpPr/>
            <p:nvPr/>
          </p:nvSpPr>
          <p:spPr>
            <a:xfrm>
              <a:off x="6781800" y="1828800"/>
              <a:ext cx="304800" cy="304800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/>
                <p:cNvSpPr txBox="1"/>
                <p:nvPr/>
              </p:nvSpPr>
              <p:spPr>
                <a:xfrm>
                  <a:off x="6399740" y="1359932"/>
                  <a:ext cx="101681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</m:oMath>
                  </a14:m>
                  <a:r>
                    <a:rPr lang="en-US" dirty="0"/>
                    <a:t>(</a:t>
                  </a:r>
                  <a14:m>
                    <m:oMath xmlns:m="http://schemas.openxmlformats.org/officeDocument/2006/math">
                      <m:r>
                        <a:rPr lang="en-US" i="1">
                          <a:solidFill>
                            <a:srgbClr val="0070C0"/>
                          </a:solidFill>
                          <a:latin typeface="Cambria Math"/>
                        </a:rPr>
                        <m:t>𝑛</m:t>
                      </m:r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−1</m:t>
                      </m:r>
                    </m:oMath>
                  </a14:m>
                  <a:r>
                    <a:rPr lang="en-US" dirty="0"/>
                    <a:t>)</a:t>
                  </a:r>
                </a:p>
              </p:txBody>
            </p:sp>
          </mc:Choice>
          <mc:Fallback xmlns="">
            <p:sp>
              <p:nvSpPr>
                <p:cNvPr id="10" name="TextBox 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99740" y="1359932"/>
                  <a:ext cx="1016817" cy="369332"/>
                </a:xfrm>
                <a:prstGeom prst="rect">
                  <a:avLst/>
                </a:prstGeom>
                <a:blipFill>
                  <a:blip r:embed="rId4"/>
                  <a:stretch>
                    <a:fillRect t="-10000" r="-3704" b="-2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" name="Group 10"/>
          <p:cNvGrpSpPr/>
          <p:nvPr/>
        </p:nvGrpSpPr>
        <p:grpSpPr>
          <a:xfrm>
            <a:off x="4822103" y="2209800"/>
            <a:ext cx="1016817" cy="773668"/>
            <a:chOff x="6498503" y="1359932"/>
            <a:chExt cx="1016817" cy="773668"/>
          </a:xfrm>
        </p:grpSpPr>
        <p:sp>
          <p:nvSpPr>
            <p:cNvPr id="12" name="Oval 11"/>
            <p:cNvSpPr/>
            <p:nvPr/>
          </p:nvSpPr>
          <p:spPr>
            <a:xfrm>
              <a:off x="6781800" y="1828800"/>
              <a:ext cx="304800" cy="304800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/>
                <p:cNvSpPr txBox="1"/>
                <p:nvPr/>
              </p:nvSpPr>
              <p:spPr>
                <a:xfrm>
                  <a:off x="6498503" y="1359932"/>
                  <a:ext cx="101681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</m:oMath>
                  </a14:m>
                  <a:r>
                    <a:rPr lang="en-US" dirty="0"/>
                    <a:t>(</a:t>
                  </a:r>
                  <a14:m>
                    <m:oMath xmlns:m="http://schemas.openxmlformats.org/officeDocument/2006/math">
                      <m:r>
                        <a:rPr lang="en-US" i="1">
                          <a:solidFill>
                            <a:srgbClr val="0070C0"/>
                          </a:solidFill>
                          <a:latin typeface="Cambria Math"/>
                        </a:rPr>
                        <m:t>𝑛</m:t>
                      </m:r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−2</m:t>
                      </m:r>
                    </m:oMath>
                  </a14:m>
                  <a:r>
                    <a:rPr lang="en-US" dirty="0"/>
                    <a:t>)</a:t>
                  </a:r>
                </a:p>
              </p:txBody>
            </p:sp>
          </mc:Choice>
          <mc:Fallback xmlns="">
            <p:sp>
              <p:nvSpPr>
                <p:cNvPr id="13" name="TextBox 1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98503" y="1359932"/>
                  <a:ext cx="1016817" cy="369332"/>
                </a:xfrm>
                <a:prstGeom prst="rect">
                  <a:avLst/>
                </a:prstGeom>
                <a:blipFill>
                  <a:blip r:embed="rId5"/>
                  <a:stretch>
                    <a:fillRect t="-10000" r="-4938" b="-2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4" name="Group 13"/>
          <p:cNvGrpSpPr/>
          <p:nvPr/>
        </p:nvGrpSpPr>
        <p:grpSpPr>
          <a:xfrm>
            <a:off x="1752600" y="3745468"/>
            <a:ext cx="1016817" cy="750332"/>
            <a:chOff x="6217065" y="1828800"/>
            <a:chExt cx="1016817" cy="750332"/>
          </a:xfrm>
        </p:grpSpPr>
        <p:sp>
          <p:nvSpPr>
            <p:cNvPr id="15" name="Oval 14"/>
            <p:cNvSpPr/>
            <p:nvPr/>
          </p:nvSpPr>
          <p:spPr>
            <a:xfrm>
              <a:off x="6781800" y="1828800"/>
              <a:ext cx="304800" cy="304800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/>
                <p:cNvSpPr txBox="1"/>
                <p:nvPr/>
              </p:nvSpPr>
              <p:spPr>
                <a:xfrm>
                  <a:off x="6217065" y="2209800"/>
                  <a:ext cx="101681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</m:oMath>
                  </a14:m>
                  <a:r>
                    <a:rPr lang="en-US" dirty="0"/>
                    <a:t>(</a:t>
                  </a:r>
                  <a14:m>
                    <m:oMath xmlns:m="http://schemas.openxmlformats.org/officeDocument/2006/math">
                      <m:r>
                        <a:rPr lang="en-US" i="1">
                          <a:solidFill>
                            <a:srgbClr val="0070C0"/>
                          </a:solidFill>
                          <a:latin typeface="Cambria Math"/>
                        </a:rPr>
                        <m:t>𝑛</m:t>
                      </m:r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−2</m:t>
                      </m:r>
                    </m:oMath>
                  </a14:m>
                  <a:r>
                    <a:rPr lang="en-US" dirty="0"/>
                    <a:t>)</a:t>
                  </a:r>
                </a:p>
              </p:txBody>
            </p:sp>
          </mc:Choice>
          <mc:Fallback xmlns="">
            <p:sp>
              <p:nvSpPr>
                <p:cNvPr id="16" name="TextBox 1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17065" y="2209800"/>
                  <a:ext cx="1016817" cy="369332"/>
                </a:xfrm>
                <a:prstGeom prst="rect">
                  <a:avLst/>
                </a:prstGeom>
                <a:blipFill>
                  <a:blip r:embed="rId6"/>
                  <a:stretch>
                    <a:fillRect t="-6452" r="-5000" b="-2258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7" name="Group 16"/>
          <p:cNvGrpSpPr/>
          <p:nvPr/>
        </p:nvGrpSpPr>
        <p:grpSpPr>
          <a:xfrm>
            <a:off x="2850735" y="3733800"/>
            <a:ext cx="1016817" cy="762000"/>
            <a:chOff x="6279735" y="1828800"/>
            <a:chExt cx="1016817" cy="762000"/>
          </a:xfrm>
        </p:grpSpPr>
        <p:sp>
          <p:nvSpPr>
            <p:cNvPr id="18" name="Oval 17"/>
            <p:cNvSpPr/>
            <p:nvPr/>
          </p:nvSpPr>
          <p:spPr>
            <a:xfrm>
              <a:off x="6781800" y="1828800"/>
              <a:ext cx="304800" cy="304800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/>
                <p:cNvSpPr txBox="1"/>
                <p:nvPr/>
              </p:nvSpPr>
              <p:spPr>
                <a:xfrm>
                  <a:off x="6279735" y="2221468"/>
                  <a:ext cx="101681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</m:oMath>
                  </a14:m>
                  <a:r>
                    <a:rPr lang="en-US" dirty="0"/>
                    <a:t>(</a:t>
                  </a:r>
                  <a14:m>
                    <m:oMath xmlns:m="http://schemas.openxmlformats.org/officeDocument/2006/math">
                      <m:r>
                        <a:rPr lang="en-US" i="1">
                          <a:solidFill>
                            <a:srgbClr val="0070C0"/>
                          </a:solidFill>
                          <a:latin typeface="Cambria Math"/>
                        </a:rPr>
                        <m:t>𝑛</m:t>
                      </m:r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−</m:t>
                      </m:r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oMath>
                  </a14:m>
                  <a:r>
                    <a:rPr lang="en-US" dirty="0"/>
                    <a:t>)</a:t>
                  </a:r>
                </a:p>
              </p:txBody>
            </p:sp>
          </mc:Choice>
          <mc:Fallback xmlns="">
            <p:sp>
              <p:nvSpPr>
                <p:cNvPr id="19" name="TextBox 1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79735" y="2221468"/>
                  <a:ext cx="1016817" cy="369332"/>
                </a:xfrm>
                <a:prstGeom prst="rect">
                  <a:avLst/>
                </a:prstGeom>
                <a:blipFill>
                  <a:blip r:embed="rId7"/>
                  <a:stretch>
                    <a:fillRect t="-6452" r="-3704" b="-2258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0" name="Group 19"/>
          <p:cNvGrpSpPr/>
          <p:nvPr/>
        </p:nvGrpSpPr>
        <p:grpSpPr>
          <a:xfrm>
            <a:off x="3765135" y="3352800"/>
            <a:ext cx="1264065" cy="685800"/>
            <a:chOff x="5822535" y="1447800"/>
            <a:chExt cx="1264065" cy="685800"/>
          </a:xfrm>
        </p:grpSpPr>
        <p:sp>
          <p:nvSpPr>
            <p:cNvPr id="21" name="Oval 20"/>
            <p:cNvSpPr/>
            <p:nvPr/>
          </p:nvSpPr>
          <p:spPr>
            <a:xfrm>
              <a:off x="6781800" y="1828800"/>
              <a:ext cx="304800" cy="304800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/>
                <p:cNvSpPr txBox="1"/>
                <p:nvPr/>
              </p:nvSpPr>
              <p:spPr>
                <a:xfrm>
                  <a:off x="5822535" y="1447800"/>
                  <a:ext cx="101681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</m:oMath>
                  </a14:m>
                  <a:r>
                    <a:rPr lang="en-US" dirty="0"/>
                    <a:t>(</a:t>
                  </a:r>
                  <a14:m>
                    <m:oMath xmlns:m="http://schemas.openxmlformats.org/officeDocument/2006/math">
                      <m:r>
                        <a:rPr lang="en-US" i="1">
                          <a:solidFill>
                            <a:srgbClr val="0070C0"/>
                          </a:solidFill>
                          <a:latin typeface="Cambria Math"/>
                        </a:rPr>
                        <m:t>𝑛</m:t>
                      </m:r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−</m:t>
                      </m:r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oMath>
                  </a14:m>
                  <a:r>
                    <a:rPr lang="en-US" dirty="0"/>
                    <a:t>)</a:t>
                  </a:r>
                </a:p>
              </p:txBody>
            </p:sp>
          </mc:Choice>
          <mc:Fallback xmlns="">
            <p:sp>
              <p:nvSpPr>
                <p:cNvPr id="22" name="TextBox 2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22535" y="1447800"/>
                  <a:ext cx="1016817" cy="369332"/>
                </a:xfrm>
                <a:prstGeom prst="rect">
                  <a:avLst/>
                </a:prstGeom>
                <a:blipFill>
                  <a:blip r:embed="rId8"/>
                  <a:stretch>
                    <a:fillRect t="-6667" r="-3704" b="-2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3" name="Group 22"/>
          <p:cNvGrpSpPr/>
          <p:nvPr/>
        </p:nvGrpSpPr>
        <p:grpSpPr>
          <a:xfrm>
            <a:off x="5486400" y="3429000"/>
            <a:ext cx="1016817" cy="685800"/>
            <a:chOff x="6432135" y="1447800"/>
            <a:chExt cx="1016817" cy="685800"/>
          </a:xfrm>
        </p:grpSpPr>
        <p:sp>
          <p:nvSpPr>
            <p:cNvPr id="24" name="Oval 23"/>
            <p:cNvSpPr/>
            <p:nvPr/>
          </p:nvSpPr>
          <p:spPr>
            <a:xfrm>
              <a:off x="6781800" y="1828800"/>
              <a:ext cx="304800" cy="304800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/>
                <p:cNvSpPr txBox="1"/>
                <p:nvPr/>
              </p:nvSpPr>
              <p:spPr>
                <a:xfrm>
                  <a:off x="6432135" y="1447800"/>
                  <a:ext cx="101681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</m:oMath>
                  </a14:m>
                  <a:r>
                    <a:rPr lang="en-US" dirty="0"/>
                    <a:t>(</a:t>
                  </a:r>
                  <a14:m>
                    <m:oMath xmlns:m="http://schemas.openxmlformats.org/officeDocument/2006/math">
                      <m:r>
                        <a:rPr lang="en-US" i="1">
                          <a:solidFill>
                            <a:srgbClr val="0070C0"/>
                          </a:solidFill>
                          <a:latin typeface="Cambria Math"/>
                        </a:rPr>
                        <m:t>𝑛</m:t>
                      </m:r>
                      <m:r>
                        <a:rPr lang="en-US" b="0" i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−4</m:t>
                      </m:r>
                    </m:oMath>
                  </a14:m>
                  <a:r>
                    <a:rPr lang="en-US" dirty="0"/>
                    <a:t>)</a:t>
                  </a:r>
                </a:p>
              </p:txBody>
            </p:sp>
          </mc:Choice>
          <mc:Fallback xmlns="">
            <p:sp>
              <p:nvSpPr>
                <p:cNvPr id="25" name="TextBox 2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32135" y="1447800"/>
                  <a:ext cx="1016817" cy="369332"/>
                </a:xfrm>
                <a:prstGeom prst="rect">
                  <a:avLst/>
                </a:prstGeom>
                <a:blipFill>
                  <a:blip r:embed="rId9"/>
                  <a:stretch>
                    <a:fillRect t="-10000" r="-3704" b="-2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7" name="Straight Arrow Connector 26"/>
          <p:cNvCxnSpPr>
            <a:stCxn id="5" idx="2"/>
            <a:endCxn id="9" idx="7"/>
          </p:cNvCxnSpPr>
          <p:nvPr/>
        </p:nvCxnSpPr>
        <p:spPr>
          <a:xfrm flipH="1">
            <a:off x="3034698" y="1992868"/>
            <a:ext cx="1035237" cy="730437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5" idx="6"/>
            <a:endCxn id="12" idx="0"/>
          </p:cNvCxnSpPr>
          <p:nvPr/>
        </p:nvCxnSpPr>
        <p:spPr>
          <a:xfrm>
            <a:off x="4374735" y="1992868"/>
            <a:ext cx="883065" cy="6858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>
            <a:stCxn id="9" idx="3"/>
          </p:cNvCxnSpPr>
          <p:nvPr/>
        </p:nvCxnSpPr>
        <p:spPr>
          <a:xfrm flipH="1">
            <a:off x="2469737" y="2938831"/>
            <a:ext cx="349435" cy="783301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stCxn id="9" idx="5"/>
            <a:endCxn id="18" idx="0"/>
          </p:cNvCxnSpPr>
          <p:nvPr/>
        </p:nvCxnSpPr>
        <p:spPr>
          <a:xfrm>
            <a:off x="3034698" y="2938831"/>
            <a:ext cx="470502" cy="794969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>
            <a:endCxn id="21" idx="0"/>
          </p:cNvCxnSpPr>
          <p:nvPr/>
        </p:nvCxnSpPr>
        <p:spPr>
          <a:xfrm flipH="1">
            <a:off x="4876800" y="2938831"/>
            <a:ext cx="336135" cy="794969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>
            <a:cxnSpLocks/>
            <a:stCxn id="12" idx="5"/>
          </p:cNvCxnSpPr>
          <p:nvPr/>
        </p:nvCxnSpPr>
        <p:spPr>
          <a:xfrm>
            <a:off x="5365563" y="2938831"/>
            <a:ext cx="622674" cy="839606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Left-Right Arrow 25"/>
          <p:cNvSpPr/>
          <p:nvPr/>
        </p:nvSpPr>
        <p:spPr>
          <a:xfrm>
            <a:off x="3691983" y="3630168"/>
            <a:ext cx="1029384" cy="484632"/>
          </a:xfrm>
          <a:prstGeom prst="leftRightArrow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/>
          <p:cNvSpPr txBox="1"/>
          <p:nvPr/>
        </p:nvSpPr>
        <p:spPr>
          <a:xfrm>
            <a:off x="3501129" y="1106038"/>
            <a:ext cx="1593898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Recursion tree</a:t>
            </a:r>
          </a:p>
        </p:txBody>
      </p:sp>
      <p:graphicFrame>
        <p:nvGraphicFramePr>
          <p:cNvPr id="34" name="Table 33">
            <a:extLst>
              <a:ext uri="{FF2B5EF4-FFF2-40B4-BE49-F238E27FC236}">
                <a16:creationId xmlns:a16="http://schemas.microsoft.com/office/drawing/2014/main" id="{21C7F42A-3C7D-D14A-9CDF-4913EF7931CD}"/>
              </a:ext>
            </a:extLst>
          </p:cNvPr>
          <p:cNvGraphicFramePr>
            <a:graphicFrameLocks noGrp="1"/>
          </p:cNvGraphicFramePr>
          <p:nvPr/>
        </p:nvGraphicFramePr>
        <p:xfrm>
          <a:off x="2286000" y="6012934"/>
          <a:ext cx="3810000" cy="387866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8786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76A90E6A-662F-524E-8E45-123CE0146A41}"/>
              </a:ext>
            </a:extLst>
          </p:cNvPr>
          <p:cNvGraphicFramePr>
            <a:graphicFrameLocks noGrp="1"/>
          </p:cNvGraphicFramePr>
          <p:nvPr/>
        </p:nvGraphicFramePr>
        <p:xfrm>
          <a:off x="2286000" y="6400800"/>
          <a:ext cx="3764380" cy="38100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3764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64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64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64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7643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7643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7643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7643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7643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7643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3DD20CA2-0CD3-AD40-A03C-1BF673030C21}"/>
                  </a:ext>
                </a:extLst>
              </p:cNvPr>
              <p:cNvSpPr txBox="1"/>
              <p:nvPr/>
            </p:nvSpPr>
            <p:spPr>
              <a:xfrm>
                <a:off x="4532643" y="6400800"/>
                <a:ext cx="32252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>
                          <a:solidFill>
                            <a:srgbClr val="0070C0"/>
                          </a:solidFill>
                          <a:latin typeface="Cambria Math"/>
                          <a:sym typeface="Wingdings" pitchFamily="2" charset="2"/>
                        </a:rPr>
                        <m:t>𝒊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3DD20CA2-0CD3-AD40-A03C-1BF673030C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32643" y="6400800"/>
                <a:ext cx="322524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E67F2DC4-2626-C940-A166-14755072CED3}"/>
              </a:ext>
            </a:extLst>
          </p:cNvPr>
          <p:cNvCxnSpPr/>
          <p:nvPr/>
        </p:nvCxnSpPr>
        <p:spPr>
          <a:xfrm>
            <a:off x="4304043" y="6172200"/>
            <a:ext cx="457200" cy="0"/>
          </a:xfrm>
          <a:prstGeom prst="straightConnector1">
            <a:avLst/>
          </a:prstGeom>
          <a:ln w="38100">
            <a:solidFill>
              <a:srgbClr val="006C3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9" name="Group 38">
            <a:extLst>
              <a:ext uri="{FF2B5EF4-FFF2-40B4-BE49-F238E27FC236}">
                <a16:creationId xmlns:a16="http://schemas.microsoft.com/office/drawing/2014/main" id="{8900A0D5-FEB5-B244-9088-A23FA22D328D}"/>
              </a:ext>
            </a:extLst>
          </p:cNvPr>
          <p:cNvGrpSpPr/>
          <p:nvPr/>
        </p:nvGrpSpPr>
        <p:grpSpPr>
          <a:xfrm>
            <a:off x="3973782" y="5880610"/>
            <a:ext cx="815435" cy="801056"/>
            <a:chOff x="3632139" y="5880610"/>
            <a:chExt cx="815435" cy="801056"/>
          </a:xfrm>
        </p:grpSpPr>
        <p:sp>
          <p:nvSpPr>
            <p:cNvPr id="41" name="Arc 40">
              <a:extLst>
                <a:ext uri="{FF2B5EF4-FFF2-40B4-BE49-F238E27FC236}">
                  <a16:creationId xmlns:a16="http://schemas.microsoft.com/office/drawing/2014/main" id="{D2E60020-469E-AC42-9A75-A6B71A3228D2}"/>
                </a:ext>
              </a:extLst>
            </p:cNvPr>
            <p:cNvSpPr/>
            <p:nvPr/>
          </p:nvSpPr>
          <p:spPr>
            <a:xfrm rot="18829603">
              <a:off x="3639329" y="5873420"/>
              <a:ext cx="801056" cy="815435"/>
            </a:xfrm>
            <a:prstGeom prst="arc">
              <a:avLst>
                <a:gd name="adj1" fmla="val 14547298"/>
                <a:gd name="adj2" fmla="val 1320001"/>
              </a:avLst>
            </a:prstGeom>
            <a:ln w="38100">
              <a:solidFill>
                <a:srgbClr val="006C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FE732560-A194-3144-89DF-F50160B7D8DA}"/>
                </a:ext>
              </a:extLst>
            </p:cNvPr>
            <p:cNvCxnSpPr/>
            <p:nvPr/>
          </p:nvCxnSpPr>
          <p:spPr>
            <a:xfrm>
              <a:off x="4382757" y="6038850"/>
              <a:ext cx="47625" cy="95250"/>
            </a:xfrm>
            <a:prstGeom prst="straightConnector1">
              <a:avLst/>
            </a:prstGeom>
            <a:ln w="38100">
              <a:solidFill>
                <a:srgbClr val="006C3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6B4D29C7-6138-C340-90B4-A81EA752B336}"/>
              </a:ext>
            </a:extLst>
          </p:cNvPr>
          <p:cNvSpPr txBox="1"/>
          <p:nvPr/>
        </p:nvSpPr>
        <p:spPr>
          <a:xfrm>
            <a:off x="1752600" y="5943600"/>
            <a:ext cx="3257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7030A0"/>
                </a:solidFill>
              </a:rPr>
              <a:t>F</a:t>
            </a:r>
            <a:endParaRPr lang="en-US" sz="24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A64B255-D79D-1C4A-B808-522585D3078A}"/>
              </a:ext>
            </a:extLst>
          </p:cNvPr>
          <p:cNvSpPr txBox="1"/>
          <p:nvPr/>
        </p:nvSpPr>
        <p:spPr>
          <a:xfrm>
            <a:off x="2362200" y="6019800"/>
            <a:ext cx="6303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0    1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72537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9" grpId="0" animBg="1"/>
      <p:bldP spid="37" grpId="0"/>
      <p:bldP spid="43" grpId="0"/>
      <p:bldP spid="44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3200" b="1" dirty="0">
                    <a:solidFill>
                      <a:srgbClr val="7030A0"/>
                    </a:solidFill>
                  </a:rPr>
                  <a:t>Recursive algorithm </a:t>
                </a:r>
                <a:r>
                  <a:rPr lang="en-US" sz="3200" b="1" dirty="0"/>
                  <a:t>for</a:t>
                </a:r>
                <a:r>
                  <a:rPr lang="en-US" sz="3200" b="1" dirty="0">
                    <a:solidFill>
                      <a:srgbClr val="7030A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3200" i="1">
                        <a:solidFill>
                          <a:srgbClr val="C00000"/>
                        </a:solidFill>
                        <a:latin typeface="Cambria Math"/>
                      </a:rPr>
                      <m:t>𝐿</m:t>
                    </m:r>
                  </m:oMath>
                </a14:m>
                <a:r>
                  <a:rPr lang="en-US" sz="3200" dirty="0"/>
                  <a:t>(</a:t>
                </a:r>
                <a14:m>
                  <m:oMath xmlns:m="http://schemas.openxmlformats.org/officeDocument/2006/math">
                    <m:r>
                      <a:rPr lang="en-US" sz="32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3200" dirty="0"/>
                  <a:t>,</a:t>
                </a:r>
                <a14:m>
                  <m:oMath xmlns:m="http://schemas.openxmlformats.org/officeDocument/2006/math">
                    <m:r>
                      <a:rPr lang="en-US" sz="3200" i="1">
                        <a:solidFill>
                          <a:srgbClr val="0070C0"/>
                        </a:solidFill>
                        <a:latin typeface="Cambria Math"/>
                      </a:rPr>
                      <m:t>𝑚</m:t>
                    </m:r>
                  </m:oMath>
                </a14:m>
                <a:r>
                  <a:rPr lang="en-US" sz="3200" dirty="0"/>
                  <a:t>)</a:t>
                </a:r>
                <a:br>
                  <a:rPr lang="en-US" sz="3200" dirty="0"/>
                </a:br>
                <a:endParaRPr lang="en-US" sz="3200" b="1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2"/>
                <a:stretch>
                  <a:fillRect t="-3191" b="-138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half" idx="1"/>
              </p:nvPr>
            </p:nvSpPr>
            <p:spPr>
              <a:xfrm>
                <a:off x="457200" y="1600200"/>
                <a:ext cx="4038600" cy="4953000"/>
              </a:xfrm>
            </p:spPr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000" i="1" smtClean="0">
                        <a:solidFill>
                          <a:srgbClr val="C00000"/>
                        </a:solidFill>
                        <a:latin typeface="Cambria Math"/>
                      </a:rPr>
                      <m:t>𝐿</m:t>
                    </m:r>
                  </m:oMath>
                </a14:m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2000" dirty="0"/>
                  <a:t>,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𝑚</m:t>
                    </m:r>
                  </m:oMath>
                </a14:m>
                <a:r>
                  <a:rPr lang="en-US" sz="2000" dirty="0"/>
                  <a:t>)</a:t>
                </a:r>
              </a:p>
              <a:p>
                <a:pPr marL="0" indent="0">
                  <a:buNone/>
                </a:pPr>
                <a:r>
                  <a:rPr lang="en-US" sz="2000" dirty="0"/>
                  <a:t>{    If (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=0</m:t>
                    </m:r>
                  </m:oMath>
                </a14:m>
                <a:r>
                  <a:rPr lang="en-US" sz="2000" dirty="0"/>
                  <a:t> or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𝑚</m:t>
                    </m:r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=0</m:t>
                    </m:r>
                  </m:oMath>
                </a14:m>
                <a:r>
                  <a:rPr lang="en-US" sz="2000" dirty="0"/>
                  <a:t>) </a:t>
                </a:r>
              </a:p>
              <a:p>
                <a:pPr marL="0" indent="0">
                  <a:buNone/>
                </a:pPr>
                <a:r>
                  <a:rPr lang="en-US" sz="2000" dirty="0"/>
                  <a:t>             return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0</m:t>
                    </m:r>
                  </m:oMath>
                </a14:m>
                <a:r>
                  <a:rPr lang="en-US" sz="2000" dirty="0"/>
                  <a:t>;</a:t>
                </a:r>
              </a:p>
              <a:p>
                <a:pPr marL="0" indent="0">
                  <a:buNone/>
                </a:pPr>
                <a:r>
                  <a:rPr lang="en-US" sz="2000" dirty="0"/>
                  <a:t>     Else</a:t>
                </a:r>
              </a:p>
              <a:p>
                <a:pPr marL="0" indent="0">
                  <a:buNone/>
                </a:pPr>
                <a:r>
                  <a:rPr lang="en-US" sz="2000" dirty="0"/>
                  <a:t>    {    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𝑛</m:t>
                        </m:r>
                      </m:sub>
                    </m:sSub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𝑏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𝑚</m:t>
                        </m:r>
                      </m:sub>
                    </m:sSub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/>
                  <a:t>then</a:t>
                </a:r>
              </a:p>
              <a:p>
                <a:pPr marL="0" indent="0">
                  <a:buNone/>
                </a:pPr>
                <a:r>
                  <a:rPr lang="en-US" sz="2000" dirty="0"/>
                  <a:t> 	 return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C00000"/>
                        </a:solidFill>
                        <a:latin typeface="Cambria Math"/>
                      </a:rPr>
                      <m:t>𝐿</m:t>
                    </m:r>
                  </m:oMath>
                </a14:m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−1</m:t>
                    </m:r>
                  </m:oMath>
                </a14:m>
                <a:r>
                  <a:rPr lang="en-US" sz="2000" dirty="0"/>
                  <a:t>,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𝑚</m:t>
                    </m:r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−1</m:t>
                    </m:r>
                  </m:oMath>
                </a14:m>
                <a:r>
                  <a:rPr lang="en-US" sz="2000" dirty="0"/>
                  <a:t>) + </a:t>
                </a:r>
                <a:r>
                  <a:rPr lang="en-US" sz="2000" dirty="0">
                    <a:solidFill>
                      <a:srgbClr val="0070C0"/>
                    </a:solidFill>
                  </a:rPr>
                  <a:t>1</a:t>
                </a:r>
                <a:r>
                  <a:rPr lang="en-US" sz="2000" dirty="0"/>
                  <a:t>;      </a:t>
                </a:r>
              </a:p>
              <a:p>
                <a:pPr marL="0" indent="0">
                  <a:buNone/>
                </a:pPr>
                <a:r>
                  <a:rPr lang="en-US" sz="2000" dirty="0"/>
                  <a:t>       else</a:t>
                </a:r>
              </a:p>
              <a:p>
                <a:pPr marL="0" indent="0">
                  <a:buNone/>
                </a:pPr>
                <a:r>
                  <a:rPr lang="en-US" sz="2000" dirty="0"/>
                  <a:t>       {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𝑙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000" dirty="0"/>
                  <a:t> </a:t>
                </a:r>
                <a:r>
                  <a:rPr lang="en-US" sz="2000" dirty="0">
                    <a:sym typeface="Wingdings" pitchFamily="2" charset="2"/>
                  </a:rPr>
                  <a:t>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C00000"/>
                        </a:solidFill>
                        <a:latin typeface="Cambria Math"/>
                      </a:rPr>
                      <m:t>𝐿</m:t>
                    </m:r>
                  </m:oMath>
                </a14:m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−1</m:t>
                    </m:r>
                  </m:oMath>
                </a14:m>
                <a:r>
                  <a:rPr lang="en-US" sz="2000" dirty="0"/>
                  <a:t>,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𝑚</m:t>
                    </m:r>
                  </m:oMath>
                </a14:m>
                <a:r>
                  <a:rPr lang="en-US" sz="2000" dirty="0"/>
                  <a:t>) ;</a:t>
                </a:r>
              </a:p>
              <a:p>
                <a:pPr marL="0" indent="0">
                  <a:buNone/>
                </a:pPr>
                <a:r>
                  <a:rPr lang="en-US" sz="2000" dirty="0">
                    <a:solidFill>
                      <a:srgbClr val="0070C0"/>
                    </a:solidFill>
                  </a:rPr>
                  <a:t>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𝑙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000" dirty="0"/>
                  <a:t> </a:t>
                </a:r>
                <a:r>
                  <a:rPr lang="en-US" sz="2000" dirty="0">
                    <a:sym typeface="Wingdings" pitchFamily="2" charset="2"/>
                  </a:rPr>
                  <a:t>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C00000"/>
                        </a:solidFill>
                        <a:latin typeface="Cambria Math"/>
                      </a:rPr>
                      <m:t>𝐿</m:t>
                    </m:r>
                  </m:oMath>
                </a14:m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2000" dirty="0"/>
                  <a:t>,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𝑚</m:t>
                    </m:r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−1</m:t>
                    </m:r>
                  </m:oMath>
                </a14:m>
                <a:r>
                  <a:rPr lang="en-US" sz="2000" dirty="0"/>
                  <a:t>) ;</a:t>
                </a:r>
              </a:p>
              <a:p>
                <a:pPr marL="0" indent="0">
                  <a:buNone/>
                </a:pPr>
                <a:r>
                  <a:rPr lang="en-US" sz="2000" dirty="0"/>
                  <a:t>                return </a:t>
                </a:r>
                <a:r>
                  <a:rPr lang="en-US" sz="2000" b="1" dirty="0">
                    <a:solidFill>
                      <a:srgbClr val="006C31"/>
                    </a:solidFill>
                  </a:rPr>
                  <a:t>Max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𝑙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000" dirty="0"/>
                  <a:t>,</a:t>
                </a:r>
                <a:r>
                  <a:rPr lang="en-US" sz="2000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𝑙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000" dirty="0"/>
                  <a:t>);</a:t>
                </a:r>
              </a:p>
              <a:p>
                <a:pPr marL="0" indent="0">
                  <a:buNone/>
                </a:pPr>
                <a:r>
                  <a:rPr lang="en-US" sz="2000" dirty="0"/>
                  <a:t>       }</a:t>
                </a:r>
              </a:p>
              <a:p>
                <a:pPr marL="0" indent="0">
                  <a:buNone/>
                </a:pPr>
                <a:r>
                  <a:rPr lang="en-US" sz="2000" dirty="0"/>
                  <a:t>   }</a:t>
                </a:r>
              </a:p>
              <a:p>
                <a:pPr marL="0" indent="0">
                  <a:buNone/>
                </a:pPr>
                <a:r>
                  <a:rPr lang="en-US" sz="2000" dirty="0"/>
                  <a:t>}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457200" y="1600200"/>
                <a:ext cx="4038600" cy="4953000"/>
              </a:xfrm>
              <a:blipFill rotWithShape="1">
                <a:blip r:embed="rId3"/>
                <a:stretch>
                  <a:fillRect l="-1357" t="-616" r="-40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sz="half" idx="2"/>
              </p:nvPr>
            </p:nvSpPr>
            <p:spPr>
              <a:xfrm>
                <a:off x="4648200" y="1447800"/>
                <a:ext cx="4495800" cy="5029200"/>
              </a:xfrm>
            </p:spPr>
            <p:txBody>
              <a:bodyPr>
                <a:normAutofit fontScale="92500"/>
              </a:bodyPr>
              <a:lstStyle/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C00000"/>
                        </a:solidFill>
                        <a:latin typeface="Cambria Math"/>
                      </a:rPr>
                      <m:t>𝑻</m:t>
                    </m:r>
                  </m:oMath>
                </a14:m>
                <a:r>
                  <a:rPr lang="en-US" sz="2000" b="1" dirty="0"/>
                  <a:t>[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𝑖</m:t>
                    </m:r>
                  </m:oMath>
                </a14:m>
                <a:r>
                  <a:rPr lang="en-US" sz="2000" dirty="0"/>
                  <a:t>,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𝑗</m:t>
                    </m:r>
                  </m:oMath>
                </a14:m>
                <a:r>
                  <a:rPr lang="en-US" sz="2000" b="1" dirty="0"/>
                  <a:t>] =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C00000"/>
                        </a:solidFill>
                        <a:latin typeface="Cambria Math"/>
                      </a:rPr>
                      <m:t>𝐿</m:t>
                    </m:r>
                  </m:oMath>
                </a14:m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𝑖</m:t>
                    </m:r>
                  </m:oMath>
                </a14:m>
                <a:r>
                  <a:rPr lang="en-US" sz="2000" dirty="0"/>
                  <a:t>,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𝑗</m:t>
                    </m:r>
                  </m:oMath>
                </a14:m>
                <a:r>
                  <a:rPr lang="en-US" sz="2000" dirty="0"/>
                  <a:t>)</a:t>
                </a:r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4648200" y="1447800"/>
                <a:ext cx="4495800" cy="5029200"/>
              </a:xfrm>
              <a:blipFill rotWithShape="1">
                <a:blip r:embed="rId4"/>
                <a:stretch>
                  <a:fillRect t="-6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7" name="Group 56"/>
          <p:cNvGrpSpPr/>
          <p:nvPr/>
        </p:nvGrpSpPr>
        <p:grpSpPr>
          <a:xfrm>
            <a:off x="5257800" y="2057400"/>
            <a:ext cx="3276600" cy="3217127"/>
            <a:chOff x="5257800" y="2057400"/>
            <a:chExt cx="3276600" cy="3217127"/>
          </a:xfrm>
        </p:grpSpPr>
        <p:sp>
          <p:nvSpPr>
            <p:cNvPr id="26" name="Rectangle 25"/>
            <p:cNvSpPr/>
            <p:nvPr/>
          </p:nvSpPr>
          <p:spPr>
            <a:xfrm>
              <a:off x="5257800" y="2057400"/>
              <a:ext cx="3276600" cy="3200400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9" name="Straight Connector 28"/>
            <p:cNvCxnSpPr/>
            <p:nvPr/>
          </p:nvCxnSpPr>
          <p:spPr>
            <a:xfrm>
              <a:off x="5715000" y="2057400"/>
              <a:ext cx="0" cy="32004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>
            <a:xfrm>
              <a:off x="6172200" y="2057400"/>
              <a:ext cx="0" cy="32004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/>
          </p:nvCxnSpPr>
          <p:spPr>
            <a:xfrm>
              <a:off x="6629400" y="2057400"/>
              <a:ext cx="0" cy="32004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/>
          </p:nvCxnSpPr>
          <p:spPr>
            <a:xfrm flipH="1">
              <a:off x="7081024" y="2057400"/>
              <a:ext cx="5576" cy="321712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/>
          </p:nvCxnSpPr>
          <p:spPr>
            <a:xfrm>
              <a:off x="7543800" y="2057400"/>
              <a:ext cx="0" cy="321712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/>
          </p:nvCxnSpPr>
          <p:spPr>
            <a:xfrm>
              <a:off x="8001000" y="2057400"/>
              <a:ext cx="0" cy="32004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/>
            <p:nvPr/>
          </p:nvCxnSpPr>
          <p:spPr>
            <a:xfrm>
              <a:off x="5257800" y="2514600"/>
              <a:ext cx="32766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/>
            <p:cNvCxnSpPr/>
            <p:nvPr/>
          </p:nvCxnSpPr>
          <p:spPr>
            <a:xfrm>
              <a:off x="5257800" y="2971800"/>
              <a:ext cx="32766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/>
            <p:cNvCxnSpPr/>
            <p:nvPr/>
          </p:nvCxnSpPr>
          <p:spPr>
            <a:xfrm>
              <a:off x="5257800" y="3429000"/>
              <a:ext cx="32766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/>
            <p:cNvCxnSpPr/>
            <p:nvPr/>
          </p:nvCxnSpPr>
          <p:spPr>
            <a:xfrm>
              <a:off x="5257800" y="3886200"/>
              <a:ext cx="32766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/>
            <p:cNvCxnSpPr/>
            <p:nvPr/>
          </p:nvCxnSpPr>
          <p:spPr>
            <a:xfrm>
              <a:off x="5257800" y="4343400"/>
              <a:ext cx="32766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/>
            <p:cNvCxnSpPr/>
            <p:nvPr/>
          </p:nvCxnSpPr>
          <p:spPr>
            <a:xfrm>
              <a:off x="5257800" y="4800600"/>
              <a:ext cx="32766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/>
              <p:cNvSpPr txBox="1"/>
              <p:nvPr/>
            </p:nvSpPr>
            <p:spPr>
              <a:xfrm>
                <a:off x="5359901" y="5269468"/>
                <a:ext cx="317022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0     1          ...                             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/>
                      </a:rPr>
                      <m:t>𝑚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58" name="TextBox 5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9901" y="5269468"/>
                <a:ext cx="3170227" cy="369332"/>
              </a:xfrm>
              <a:prstGeom prst="rect">
                <a:avLst/>
              </a:prstGeom>
              <a:blipFill rotWithShape="1">
                <a:blip r:embed="rId5"/>
                <a:stretch>
                  <a:fillRect l="-1538" t="-8197" r="-2500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/>
              <p:cNvSpPr txBox="1"/>
              <p:nvPr/>
            </p:nvSpPr>
            <p:spPr>
              <a:xfrm>
                <a:off x="6629400" y="5638800"/>
                <a:ext cx="38048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/>
                        </a:rPr>
                        <m:t>𝑻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63" name="TextBox 6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9400" y="5638800"/>
                <a:ext cx="380489" cy="369332"/>
              </a:xfrm>
              <a:prstGeom prst="rect">
                <a:avLst/>
              </a:prstGeom>
              <a:blipFill rotWithShape="1">
                <a:blip r:embed="rId6"/>
                <a:stretch>
                  <a:fillRect t="-8197" r="-19355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8" name="Group 67"/>
          <p:cNvGrpSpPr/>
          <p:nvPr/>
        </p:nvGrpSpPr>
        <p:grpSpPr>
          <a:xfrm>
            <a:off x="4876800" y="2057400"/>
            <a:ext cx="456420" cy="3124200"/>
            <a:chOff x="4876800" y="2057400"/>
            <a:chExt cx="456420" cy="3124200"/>
          </a:xfrm>
        </p:grpSpPr>
        <p:sp>
          <p:nvSpPr>
            <p:cNvPr id="59" name="TextBox 58"/>
            <p:cNvSpPr txBox="1"/>
            <p:nvPr/>
          </p:nvSpPr>
          <p:spPr>
            <a:xfrm>
              <a:off x="4953000" y="48122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0</a:t>
              </a:r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4956114" y="43550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TextBox 60"/>
                <p:cNvSpPr txBox="1"/>
                <p:nvPr/>
              </p:nvSpPr>
              <p:spPr>
                <a:xfrm>
                  <a:off x="4876800" y="2057400"/>
                  <a:ext cx="37459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𝑛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1" name="TextBox 6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76800" y="2057400"/>
                  <a:ext cx="374590" cy="369332"/>
                </a:xfrm>
                <a:prstGeom prst="rect">
                  <a:avLst/>
                </a:prstGeom>
                <a:blipFill rotWithShape="1">
                  <a:blip r:embed="rId7"/>
                  <a:stretch>
                    <a:fillRect t="-8333" r="-19672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4" name="TextBox 63"/>
            <p:cNvSpPr txBox="1"/>
            <p:nvPr/>
          </p:nvSpPr>
          <p:spPr>
            <a:xfrm rot="5173825">
              <a:off x="4976872" y="3822882"/>
              <a:ext cx="3433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…</a:t>
              </a:r>
            </a:p>
          </p:txBody>
        </p:sp>
      </p:grpSp>
      <p:sp>
        <p:nvSpPr>
          <p:cNvPr id="65" name="TextBox 64"/>
          <p:cNvSpPr txBox="1"/>
          <p:nvPr/>
        </p:nvSpPr>
        <p:spPr>
          <a:xfrm>
            <a:off x="5334000" y="4812268"/>
            <a:ext cx="31005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0      0       0      ...                        0</a:t>
            </a:r>
          </a:p>
        </p:txBody>
      </p:sp>
      <p:grpSp>
        <p:nvGrpSpPr>
          <p:cNvPr id="70" name="Group 69"/>
          <p:cNvGrpSpPr/>
          <p:nvPr/>
        </p:nvGrpSpPr>
        <p:grpSpPr>
          <a:xfrm>
            <a:off x="5334000" y="2133600"/>
            <a:ext cx="446312" cy="2579132"/>
            <a:chOff x="5334000" y="2133600"/>
            <a:chExt cx="446312" cy="2579132"/>
          </a:xfrm>
        </p:grpSpPr>
        <p:sp>
          <p:nvSpPr>
            <p:cNvPr id="66" name="TextBox 65"/>
            <p:cNvSpPr txBox="1"/>
            <p:nvPr/>
          </p:nvSpPr>
          <p:spPr>
            <a:xfrm>
              <a:off x="5334000" y="4343400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0</a:t>
              </a:r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5334000" y="2133600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0</a:t>
              </a:r>
            </a:p>
          </p:txBody>
        </p:sp>
        <p:sp>
          <p:nvSpPr>
            <p:cNvPr id="69" name="TextBox 68"/>
            <p:cNvSpPr txBox="1"/>
            <p:nvPr/>
          </p:nvSpPr>
          <p:spPr>
            <a:xfrm rot="5173825">
              <a:off x="5423964" y="3975282"/>
              <a:ext cx="3433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…</a:t>
              </a:r>
            </a:p>
          </p:txBody>
        </p:sp>
      </p:grpSp>
      <p:sp>
        <p:nvSpPr>
          <p:cNvPr id="71" name="Rectangle 70"/>
          <p:cNvSpPr/>
          <p:nvPr/>
        </p:nvSpPr>
        <p:spPr>
          <a:xfrm>
            <a:off x="6629400" y="3429000"/>
            <a:ext cx="457200" cy="457200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1" name="Group 80"/>
          <p:cNvGrpSpPr/>
          <p:nvPr/>
        </p:nvGrpSpPr>
        <p:grpSpPr>
          <a:xfrm>
            <a:off x="6691788" y="3886200"/>
            <a:ext cx="324897" cy="1752600"/>
            <a:chOff x="6691788" y="3886200"/>
            <a:chExt cx="324897" cy="17526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2" name="TextBox 71"/>
                <p:cNvSpPr txBox="1"/>
                <p:nvPr/>
              </p:nvSpPr>
              <p:spPr>
                <a:xfrm>
                  <a:off x="6691788" y="5269468"/>
                  <a:ext cx="32489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𝑗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2" name="TextBox 7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91788" y="5269468"/>
                  <a:ext cx="324897" cy="369332"/>
                </a:xfrm>
                <a:prstGeom prst="rect">
                  <a:avLst/>
                </a:prstGeom>
                <a:blipFill rotWithShape="1">
                  <a:blip r:embed="rId8"/>
                  <a:stretch>
                    <a:fillRect t="-8197" r="-22642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5" name="Straight Connector 74"/>
            <p:cNvCxnSpPr>
              <a:stCxn id="71" idx="2"/>
              <a:endCxn id="72" idx="0"/>
            </p:cNvCxnSpPr>
            <p:nvPr/>
          </p:nvCxnSpPr>
          <p:spPr>
            <a:xfrm flipH="1">
              <a:off x="6854237" y="3886200"/>
              <a:ext cx="3763" cy="1383268"/>
            </a:xfrm>
            <a:prstGeom prst="line">
              <a:avLst/>
            </a:prstGeom>
            <a:ln>
              <a:solidFill>
                <a:schemeClr val="tx1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2" name="Group 81"/>
          <p:cNvGrpSpPr/>
          <p:nvPr/>
        </p:nvGrpSpPr>
        <p:grpSpPr>
          <a:xfrm>
            <a:off x="4939188" y="3440668"/>
            <a:ext cx="1690212" cy="369332"/>
            <a:chOff x="4939188" y="3440668"/>
            <a:chExt cx="1690212" cy="36933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3" name="TextBox 72"/>
                <p:cNvSpPr txBox="1"/>
                <p:nvPr/>
              </p:nvSpPr>
              <p:spPr>
                <a:xfrm>
                  <a:off x="4939188" y="3440668"/>
                  <a:ext cx="31861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𝑖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3" name="TextBox 7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39188" y="3440668"/>
                  <a:ext cx="318612" cy="369332"/>
                </a:xfrm>
                <a:prstGeom prst="rect">
                  <a:avLst/>
                </a:prstGeom>
                <a:blipFill rotWithShape="1">
                  <a:blip r:embed="rId9"/>
                  <a:stretch>
                    <a:fillRect t="-8197" r="-22642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8" name="Straight Connector 77"/>
            <p:cNvCxnSpPr>
              <a:stCxn id="26" idx="1"/>
              <a:endCxn id="71" idx="1"/>
            </p:cNvCxnSpPr>
            <p:nvPr/>
          </p:nvCxnSpPr>
          <p:spPr>
            <a:xfrm>
              <a:off x="5257800" y="3657600"/>
              <a:ext cx="1371600" cy="0"/>
            </a:xfrm>
            <a:prstGeom prst="line">
              <a:avLst/>
            </a:prstGeom>
            <a:ln>
              <a:solidFill>
                <a:schemeClr val="tx1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84" name="Straight Arrow Connector 83"/>
          <p:cNvCxnSpPr/>
          <p:nvPr/>
        </p:nvCxnSpPr>
        <p:spPr>
          <a:xfrm>
            <a:off x="6400800" y="3657600"/>
            <a:ext cx="457200" cy="0"/>
          </a:xfrm>
          <a:prstGeom prst="straightConnector1">
            <a:avLst/>
          </a:prstGeom>
          <a:ln w="38100">
            <a:solidFill>
              <a:srgbClr val="006C3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/>
          <p:cNvCxnSpPr/>
          <p:nvPr/>
        </p:nvCxnSpPr>
        <p:spPr>
          <a:xfrm flipV="1">
            <a:off x="6400800" y="3665963"/>
            <a:ext cx="457200" cy="493985"/>
          </a:xfrm>
          <a:prstGeom prst="straightConnector1">
            <a:avLst/>
          </a:prstGeom>
          <a:ln w="38100">
            <a:solidFill>
              <a:srgbClr val="006C3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/>
          <p:cNvCxnSpPr/>
          <p:nvPr/>
        </p:nvCxnSpPr>
        <p:spPr>
          <a:xfrm flipV="1">
            <a:off x="6819644" y="3665964"/>
            <a:ext cx="0" cy="493984"/>
          </a:xfrm>
          <a:prstGeom prst="straightConnector1">
            <a:avLst/>
          </a:prstGeom>
          <a:ln w="38100">
            <a:solidFill>
              <a:srgbClr val="006C3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381000" y="1676400"/>
            <a:ext cx="914400" cy="304800"/>
          </a:xfrm>
          <a:prstGeom prst="roundRect">
            <a:avLst/>
          </a:prstGeom>
          <a:noFill/>
          <a:ln w="28575">
            <a:solidFill>
              <a:srgbClr val="006C3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ounded Rectangle 44"/>
          <p:cNvSpPr/>
          <p:nvPr/>
        </p:nvSpPr>
        <p:spPr>
          <a:xfrm>
            <a:off x="2133600" y="3352800"/>
            <a:ext cx="1600200" cy="304800"/>
          </a:xfrm>
          <a:prstGeom prst="roundRect">
            <a:avLst/>
          </a:prstGeom>
          <a:noFill/>
          <a:ln w="28575">
            <a:solidFill>
              <a:srgbClr val="006C3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ounded Rectangle 50"/>
          <p:cNvSpPr/>
          <p:nvPr/>
        </p:nvSpPr>
        <p:spPr>
          <a:xfrm>
            <a:off x="1905000" y="4038600"/>
            <a:ext cx="1219200" cy="304800"/>
          </a:xfrm>
          <a:prstGeom prst="roundRect">
            <a:avLst/>
          </a:prstGeom>
          <a:noFill/>
          <a:ln w="28575">
            <a:solidFill>
              <a:srgbClr val="006C3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ounded Rectangle 51"/>
          <p:cNvSpPr/>
          <p:nvPr/>
        </p:nvSpPr>
        <p:spPr>
          <a:xfrm>
            <a:off x="1905000" y="4419600"/>
            <a:ext cx="1219200" cy="304800"/>
          </a:xfrm>
          <a:prstGeom prst="roundRect">
            <a:avLst/>
          </a:prstGeom>
          <a:noFill/>
          <a:ln w="28575">
            <a:solidFill>
              <a:srgbClr val="006C3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63834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2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2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58" grpId="0"/>
      <p:bldP spid="63" grpId="0"/>
      <p:bldP spid="65" grpId="0"/>
      <p:bldP spid="71" grpId="0" animBg="1"/>
      <p:bldP spid="5" grpId="0" animBg="1"/>
      <p:bldP spid="45" grpId="0" animBg="1"/>
      <p:bldP spid="51" grpId="0" animBg="1"/>
      <p:bldP spid="52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3200" b="1" dirty="0">
                    <a:solidFill>
                      <a:srgbClr val="7030A0"/>
                    </a:solidFill>
                  </a:rPr>
                  <a:t>Iterative algorithm </a:t>
                </a:r>
                <a:r>
                  <a:rPr lang="en-US" sz="3200" b="1" dirty="0"/>
                  <a:t>for</a:t>
                </a:r>
                <a:r>
                  <a:rPr lang="en-US" sz="3200" b="1" dirty="0">
                    <a:solidFill>
                      <a:srgbClr val="7030A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3200" i="1">
                        <a:solidFill>
                          <a:srgbClr val="C00000"/>
                        </a:solidFill>
                        <a:latin typeface="Cambria Math"/>
                      </a:rPr>
                      <m:t>𝐿</m:t>
                    </m:r>
                  </m:oMath>
                </a14:m>
                <a:r>
                  <a:rPr lang="en-US" sz="3200" dirty="0"/>
                  <a:t>(</a:t>
                </a:r>
                <a14:m>
                  <m:oMath xmlns:m="http://schemas.openxmlformats.org/officeDocument/2006/math">
                    <m:r>
                      <a:rPr lang="en-US" sz="32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3200" dirty="0"/>
                  <a:t>,</a:t>
                </a:r>
                <a14:m>
                  <m:oMath xmlns:m="http://schemas.openxmlformats.org/officeDocument/2006/math">
                    <m:r>
                      <a:rPr lang="en-US" sz="3200" i="1">
                        <a:solidFill>
                          <a:srgbClr val="0070C0"/>
                        </a:solidFill>
                        <a:latin typeface="Cambria Math"/>
                      </a:rPr>
                      <m:t>𝑚</m:t>
                    </m:r>
                  </m:oMath>
                </a14:m>
                <a:r>
                  <a:rPr lang="en-US" sz="3200" dirty="0"/>
                  <a:t>)</a:t>
                </a:r>
                <a:br>
                  <a:rPr lang="en-US" sz="3200" dirty="0"/>
                </a:br>
                <a:endParaRPr lang="en-US" sz="3200" b="1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2"/>
                <a:stretch>
                  <a:fillRect t="-3191" b="-138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half" idx="1"/>
              </p:nvPr>
            </p:nvSpPr>
            <p:spPr>
              <a:xfrm>
                <a:off x="457200" y="1600200"/>
                <a:ext cx="4038600" cy="518160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000" i="1" smtClean="0">
                        <a:solidFill>
                          <a:srgbClr val="C00000"/>
                        </a:solidFill>
                        <a:latin typeface="Cambria Math"/>
                      </a:rPr>
                      <m:t>𝐿</m:t>
                    </m:r>
                  </m:oMath>
                </a14:m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2000" dirty="0"/>
                  <a:t>,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𝑚</m:t>
                    </m:r>
                  </m:oMath>
                </a14:m>
                <a:r>
                  <a:rPr lang="en-US" sz="2000" dirty="0"/>
                  <a:t>)</a:t>
                </a:r>
              </a:p>
              <a:p>
                <a:pPr marL="0" indent="0">
                  <a:buNone/>
                </a:pPr>
                <a:r>
                  <a:rPr lang="en-US" sz="2000" dirty="0"/>
                  <a:t>{    </a:t>
                </a:r>
                <a:r>
                  <a:rPr lang="en-US" sz="2000" b="1" dirty="0"/>
                  <a:t>for</a:t>
                </a:r>
                <a:r>
                  <a:rPr lang="en-US" sz="2000" dirty="0"/>
                  <a:t> (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𝑖</m:t>
                    </m:r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=0</m:t>
                    </m:r>
                  </m:oMath>
                </a14:m>
                <a:r>
                  <a:rPr lang="en-US" sz="2000" dirty="0"/>
                  <a:t> to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2000" dirty="0"/>
                  <a:t>)  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C00000"/>
                        </a:solidFill>
                        <a:latin typeface="Cambria Math"/>
                      </a:rPr>
                      <m:t>𝑻</m:t>
                    </m:r>
                  </m:oMath>
                </a14:m>
                <a:r>
                  <a:rPr lang="en-US" sz="2000" dirty="0"/>
                  <a:t>[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𝑖</m:t>
                    </m:r>
                  </m:oMath>
                </a14:m>
                <a:r>
                  <a:rPr lang="en-US" sz="2000" dirty="0"/>
                  <a:t>,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0</m:t>
                    </m:r>
                  </m:oMath>
                </a14:m>
                <a:r>
                  <a:rPr lang="en-US" sz="2000" dirty="0"/>
                  <a:t>] </a:t>
                </a:r>
                <a:r>
                  <a:rPr lang="en-US" sz="2000" dirty="0">
                    <a:sym typeface="Wingdings" pitchFamily="2" charset="2"/>
                  </a:rPr>
                  <a:t>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0</m:t>
                    </m:r>
                  </m:oMath>
                </a14:m>
                <a:r>
                  <a:rPr lang="en-US" sz="2000" dirty="0"/>
                  <a:t>;</a:t>
                </a:r>
              </a:p>
              <a:p>
                <a:pPr marL="0" indent="0">
                  <a:buNone/>
                </a:pPr>
                <a:r>
                  <a:rPr lang="en-US" sz="2000" dirty="0"/>
                  <a:t>     </a:t>
                </a:r>
                <a:r>
                  <a:rPr lang="en-US" sz="2000" b="1" dirty="0"/>
                  <a:t>for 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𝑗</m:t>
                    </m:r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=0</m:t>
                    </m:r>
                  </m:oMath>
                </a14:m>
                <a:r>
                  <a:rPr lang="en-US" sz="2000" dirty="0"/>
                  <a:t> to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𝑚</m:t>
                    </m:r>
                  </m:oMath>
                </a14:m>
                <a:r>
                  <a:rPr lang="en-US" sz="2000" dirty="0"/>
                  <a:t>)  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C00000"/>
                        </a:solidFill>
                        <a:latin typeface="Cambria Math"/>
                      </a:rPr>
                      <m:t>𝑻</m:t>
                    </m:r>
                  </m:oMath>
                </a14:m>
                <a:r>
                  <a:rPr lang="en-US" sz="2000" dirty="0"/>
                  <a:t>[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0</m:t>
                    </m:r>
                  </m:oMath>
                </a14:m>
                <a:r>
                  <a:rPr lang="en-US" sz="2000" dirty="0"/>
                  <a:t>,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𝑗</m:t>
                    </m:r>
                  </m:oMath>
                </a14:m>
                <a:r>
                  <a:rPr lang="en-US" sz="2000" dirty="0"/>
                  <a:t>] </a:t>
                </a:r>
                <a:r>
                  <a:rPr lang="en-US" sz="2000" dirty="0">
                    <a:sym typeface="Wingdings" pitchFamily="2" charset="2"/>
                  </a:rPr>
                  <a:t>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0</m:t>
                    </m:r>
                  </m:oMath>
                </a14:m>
                <a:r>
                  <a:rPr lang="en-US" sz="2000" dirty="0"/>
                  <a:t>;</a:t>
                </a:r>
              </a:p>
              <a:p>
                <a:pPr marL="0" indent="0">
                  <a:buNone/>
                </a:pPr>
                <a:r>
                  <a:rPr lang="en-US" sz="2000" b="1" dirty="0"/>
                  <a:t>     for 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𝑗</m:t>
                    </m:r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=</m:t>
                    </m:r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1</m:t>
                    </m:r>
                  </m:oMath>
                </a14:m>
                <a:r>
                  <a:rPr lang="en-US" sz="2000" dirty="0"/>
                  <a:t> to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𝑚</m:t>
                    </m:r>
                  </m:oMath>
                </a14:m>
                <a:r>
                  <a:rPr lang="en-US" sz="2000" dirty="0"/>
                  <a:t>)</a:t>
                </a:r>
              </a:p>
              <a:p>
                <a:pPr marL="0" indent="0">
                  <a:buNone/>
                </a:pPr>
                <a:r>
                  <a:rPr lang="en-US" sz="2000" dirty="0"/>
                  <a:t>     {      </a:t>
                </a:r>
                <a:r>
                  <a:rPr lang="en-US" sz="2000" b="1" dirty="0"/>
                  <a:t>for 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𝑖</m:t>
                    </m:r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=1</m:t>
                    </m:r>
                  </m:oMath>
                </a14:m>
                <a:r>
                  <a:rPr lang="en-US" sz="2000" dirty="0"/>
                  <a:t> to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2000" dirty="0"/>
                  <a:t>)</a:t>
                </a:r>
              </a:p>
              <a:p>
                <a:pPr marL="0" indent="0">
                  <a:buNone/>
                </a:pPr>
                <a:r>
                  <a:rPr lang="en-US" sz="2000" dirty="0"/>
                  <a:t>            </a:t>
                </a:r>
                <a:r>
                  <a:rPr lang="en-US" sz="2000" b="1" dirty="0"/>
                  <a:t>If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𝑏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𝑗</m:t>
                        </m:r>
                      </m:sub>
                    </m:sSub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/>
                  <a:t>then</a:t>
                </a:r>
              </a:p>
              <a:p>
                <a:pPr marL="0" indent="0">
                  <a:buNone/>
                </a:pPr>
                <a:r>
                  <a:rPr lang="en-US" sz="2000" dirty="0"/>
                  <a:t> 	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C00000"/>
                        </a:solidFill>
                        <a:latin typeface="Cambria Math"/>
                      </a:rPr>
                      <m:t>𝑻</m:t>
                    </m:r>
                  </m:oMath>
                </a14:m>
                <a:r>
                  <a:rPr lang="en-US" sz="2000" dirty="0"/>
                  <a:t>[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𝑖</m:t>
                    </m:r>
                  </m:oMath>
                </a14:m>
                <a:r>
                  <a:rPr lang="en-US" sz="2000" dirty="0"/>
                  <a:t>,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𝑗</m:t>
                    </m:r>
                  </m:oMath>
                </a14:m>
                <a:r>
                  <a:rPr lang="en-US" sz="2000" dirty="0"/>
                  <a:t>] </a:t>
                </a:r>
                <a:r>
                  <a:rPr lang="en-US" sz="2000" dirty="0">
                    <a:sym typeface="Wingdings" pitchFamily="2" charset="2"/>
                  </a:rPr>
                  <a:t>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C00000"/>
                        </a:solidFill>
                        <a:latin typeface="Cambria Math"/>
                      </a:rPr>
                      <m:t>𝑻</m:t>
                    </m:r>
                  </m:oMath>
                </a14:m>
                <a:r>
                  <a:rPr lang="en-US" sz="2000" dirty="0"/>
                  <a:t>[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𝑖</m:t>
                    </m:r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−1</m:t>
                    </m:r>
                  </m:oMath>
                </a14:m>
                <a:r>
                  <a:rPr lang="en-US" sz="2000" dirty="0"/>
                  <a:t>,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𝑗</m:t>
                    </m:r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−1</m:t>
                    </m:r>
                  </m:oMath>
                </a14:m>
                <a:r>
                  <a:rPr lang="en-US" sz="2000" dirty="0"/>
                  <a:t>] 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rgbClr val="0070C0"/>
                        </a:solidFill>
                        <a:latin typeface="Cambria Math"/>
                      </a:rPr>
                      <m:t>+</m:t>
                    </m:r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1</m:t>
                    </m:r>
                  </m:oMath>
                </a14:m>
                <a:r>
                  <a:rPr lang="en-US" sz="2000" dirty="0"/>
                  <a:t>;</a:t>
                </a:r>
              </a:p>
              <a:p>
                <a:pPr marL="0" indent="0">
                  <a:buNone/>
                </a:pPr>
                <a:r>
                  <a:rPr lang="en-US" sz="2000" b="0" dirty="0">
                    <a:solidFill>
                      <a:srgbClr val="0070C0"/>
                    </a:solidFill>
                  </a:rPr>
                  <a:t>            </a:t>
                </a:r>
                <a:r>
                  <a:rPr lang="en-US" sz="2000" b="1" dirty="0"/>
                  <a:t>else</a:t>
                </a: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0070C0"/>
                    </a:solidFill>
                  </a:rPr>
                  <a:t>            </a:t>
                </a:r>
                <a:r>
                  <a:rPr lang="en-US" sz="2000" dirty="0"/>
                  <a:t>{ 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  </m:t>
                    </m:r>
                    <m:sSub>
                      <m:sSubPr>
                        <m:ctrlP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𝑙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000" dirty="0"/>
                  <a:t> </a:t>
                </a:r>
                <a:r>
                  <a:rPr lang="en-US" sz="2000" dirty="0">
                    <a:sym typeface="Wingdings" pitchFamily="2" charset="2"/>
                  </a:rPr>
                  <a:t>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C00000"/>
                        </a:solidFill>
                        <a:latin typeface="Cambria Math"/>
                      </a:rPr>
                      <m:t>𝑻</m:t>
                    </m:r>
                  </m:oMath>
                </a14:m>
                <a:r>
                  <a:rPr lang="en-US" sz="2000" dirty="0"/>
                  <a:t>[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𝑖</m:t>
                    </m:r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−1</m:t>
                    </m:r>
                  </m:oMath>
                </a14:m>
                <a:r>
                  <a:rPr lang="en-US" sz="2000" dirty="0"/>
                  <a:t>,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𝑗</m:t>
                    </m:r>
                  </m:oMath>
                </a14:m>
                <a:r>
                  <a:rPr lang="en-US" sz="2000" dirty="0"/>
                  <a:t>] ;</a:t>
                </a:r>
              </a:p>
              <a:p>
                <a:pPr marL="0" indent="0">
                  <a:buNone/>
                </a:pPr>
                <a:r>
                  <a:rPr lang="en-US" sz="2000" dirty="0">
                    <a:solidFill>
                      <a:srgbClr val="0070C0"/>
                    </a:solidFill>
                  </a:rPr>
                  <a:t>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𝑙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000" dirty="0"/>
                  <a:t> </a:t>
                </a:r>
                <a:r>
                  <a:rPr lang="en-US" sz="2000" dirty="0">
                    <a:sym typeface="Wingdings" pitchFamily="2" charset="2"/>
                  </a:rPr>
                  <a:t>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C00000"/>
                        </a:solidFill>
                        <a:latin typeface="Cambria Math"/>
                      </a:rPr>
                      <m:t>𝑻</m:t>
                    </m:r>
                  </m:oMath>
                </a14:m>
                <a:r>
                  <a:rPr lang="en-US" sz="2000" dirty="0"/>
                  <a:t>[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𝑖</m:t>
                    </m:r>
                  </m:oMath>
                </a14:m>
                <a:r>
                  <a:rPr lang="en-US" sz="2000" dirty="0"/>
                  <a:t>,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𝑗</m:t>
                    </m:r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−</m:t>
                    </m:r>
                    <m:r>
                      <a:rPr lang="en-US" sz="2000" b="0" i="0" smtClean="0">
                        <a:solidFill>
                          <a:srgbClr val="0070C0"/>
                        </a:solidFill>
                        <a:latin typeface="Cambria Math"/>
                      </a:rPr>
                      <m:t>1</m:t>
                    </m:r>
                  </m:oMath>
                </a14:m>
                <a:r>
                  <a:rPr lang="en-US" sz="2000" dirty="0"/>
                  <a:t>] ;</a:t>
                </a: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006C31"/>
                    </a:solidFill>
                  </a:rPr>
                  <a:t>                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C00000"/>
                        </a:solidFill>
                        <a:latin typeface="Cambria Math"/>
                      </a:rPr>
                      <m:t>𝑻</m:t>
                    </m:r>
                  </m:oMath>
                </a14:m>
                <a:r>
                  <a:rPr lang="en-US" sz="2000" dirty="0"/>
                  <a:t>[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𝑖</m:t>
                    </m:r>
                  </m:oMath>
                </a14:m>
                <a:r>
                  <a:rPr lang="en-US" sz="2000" dirty="0"/>
                  <a:t>,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𝑗</m:t>
                    </m:r>
                  </m:oMath>
                </a14:m>
                <a:r>
                  <a:rPr lang="en-US" sz="2000" dirty="0"/>
                  <a:t>] </a:t>
                </a:r>
                <a:r>
                  <a:rPr lang="en-US" sz="2000" dirty="0">
                    <a:sym typeface="Wingdings" pitchFamily="2" charset="2"/>
                  </a:rPr>
                  <a:t> </a:t>
                </a:r>
                <a:r>
                  <a:rPr lang="en-US" sz="2000" b="1" dirty="0">
                    <a:solidFill>
                      <a:srgbClr val="006C31"/>
                    </a:solidFill>
                  </a:rPr>
                  <a:t>Max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𝑙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000" dirty="0"/>
                  <a:t>,</a:t>
                </a:r>
                <a:r>
                  <a:rPr lang="en-US" sz="2000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𝑙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000" dirty="0"/>
                  <a:t>);</a:t>
                </a:r>
              </a:p>
              <a:p>
                <a:pPr marL="0" indent="0">
                  <a:buNone/>
                </a:pPr>
                <a:r>
                  <a:rPr lang="en-US" sz="2000" dirty="0"/>
                  <a:t>            }</a:t>
                </a:r>
              </a:p>
              <a:p>
                <a:pPr marL="0" indent="0">
                  <a:buNone/>
                </a:pPr>
                <a:r>
                  <a:rPr lang="en-US" sz="2000" dirty="0"/>
                  <a:t>      }</a:t>
                </a:r>
              </a:p>
              <a:p>
                <a:pPr marL="0" indent="0">
                  <a:buNone/>
                </a:pPr>
                <a:r>
                  <a:rPr lang="en-US" sz="2000" dirty="0"/>
                  <a:t>}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457200" y="1600200"/>
                <a:ext cx="4038600" cy="5181600"/>
              </a:xfrm>
              <a:blipFill rotWithShape="1">
                <a:blip r:embed="rId3"/>
                <a:stretch>
                  <a:fillRect l="-1508" t="-588" r="-1810" b="-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4958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  <p:grpSp>
        <p:nvGrpSpPr>
          <p:cNvPr id="57" name="Group 56"/>
          <p:cNvGrpSpPr/>
          <p:nvPr/>
        </p:nvGrpSpPr>
        <p:grpSpPr>
          <a:xfrm>
            <a:off x="5257800" y="2057400"/>
            <a:ext cx="3276600" cy="3217127"/>
            <a:chOff x="5257800" y="2057400"/>
            <a:chExt cx="3276600" cy="3217127"/>
          </a:xfrm>
        </p:grpSpPr>
        <p:sp>
          <p:nvSpPr>
            <p:cNvPr id="26" name="Rectangle 25"/>
            <p:cNvSpPr/>
            <p:nvPr/>
          </p:nvSpPr>
          <p:spPr>
            <a:xfrm>
              <a:off x="5257800" y="2057400"/>
              <a:ext cx="3276600" cy="3200400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9" name="Straight Connector 28"/>
            <p:cNvCxnSpPr/>
            <p:nvPr/>
          </p:nvCxnSpPr>
          <p:spPr>
            <a:xfrm>
              <a:off x="5715000" y="2057400"/>
              <a:ext cx="0" cy="32004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>
            <a:xfrm>
              <a:off x="6172200" y="2057400"/>
              <a:ext cx="0" cy="32004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/>
          </p:nvCxnSpPr>
          <p:spPr>
            <a:xfrm>
              <a:off x="6629400" y="2057400"/>
              <a:ext cx="0" cy="32004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/>
          </p:nvCxnSpPr>
          <p:spPr>
            <a:xfrm flipH="1">
              <a:off x="7081024" y="2057400"/>
              <a:ext cx="5576" cy="321712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/>
          </p:nvCxnSpPr>
          <p:spPr>
            <a:xfrm>
              <a:off x="7543800" y="2057400"/>
              <a:ext cx="0" cy="321712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/>
          </p:nvCxnSpPr>
          <p:spPr>
            <a:xfrm>
              <a:off x="8001000" y="2057400"/>
              <a:ext cx="0" cy="32004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/>
            <p:nvPr/>
          </p:nvCxnSpPr>
          <p:spPr>
            <a:xfrm>
              <a:off x="5257800" y="2514600"/>
              <a:ext cx="32766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/>
            <p:cNvCxnSpPr/>
            <p:nvPr/>
          </p:nvCxnSpPr>
          <p:spPr>
            <a:xfrm>
              <a:off x="5257800" y="2971800"/>
              <a:ext cx="32766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/>
            <p:cNvCxnSpPr/>
            <p:nvPr/>
          </p:nvCxnSpPr>
          <p:spPr>
            <a:xfrm>
              <a:off x="5257800" y="3429000"/>
              <a:ext cx="32766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/>
            <p:cNvCxnSpPr/>
            <p:nvPr/>
          </p:nvCxnSpPr>
          <p:spPr>
            <a:xfrm>
              <a:off x="5257800" y="3886200"/>
              <a:ext cx="32766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/>
            <p:cNvCxnSpPr/>
            <p:nvPr/>
          </p:nvCxnSpPr>
          <p:spPr>
            <a:xfrm>
              <a:off x="5257800" y="4343400"/>
              <a:ext cx="32766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/>
            <p:cNvCxnSpPr/>
            <p:nvPr/>
          </p:nvCxnSpPr>
          <p:spPr>
            <a:xfrm>
              <a:off x="5257800" y="4800600"/>
              <a:ext cx="32766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/>
              <p:cNvSpPr txBox="1"/>
              <p:nvPr/>
            </p:nvSpPr>
            <p:spPr>
              <a:xfrm>
                <a:off x="5359901" y="5269468"/>
                <a:ext cx="317022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0     1          ...                             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/>
                      </a:rPr>
                      <m:t>𝑚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58" name="TextBox 5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9901" y="5269468"/>
                <a:ext cx="3170227" cy="369332"/>
              </a:xfrm>
              <a:prstGeom prst="rect">
                <a:avLst/>
              </a:prstGeom>
              <a:blipFill rotWithShape="1">
                <a:blip r:embed="rId4"/>
                <a:stretch>
                  <a:fillRect l="-1538" t="-8197" r="-2500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/>
              <p:cNvSpPr txBox="1"/>
              <p:nvPr/>
            </p:nvSpPr>
            <p:spPr>
              <a:xfrm>
                <a:off x="6629400" y="5638800"/>
                <a:ext cx="38048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/>
                        </a:rPr>
                        <m:t>𝑻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63" name="TextBox 6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9400" y="5638800"/>
                <a:ext cx="380489" cy="369332"/>
              </a:xfrm>
              <a:prstGeom prst="rect">
                <a:avLst/>
              </a:prstGeom>
              <a:blipFill rotWithShape="1">
                <a:blip r:embed="rId5"/>
                <a:stretch>
                  <a:fillRect t="-8197" r="-19355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8" name="Group 67"/>
          <p:cNvGrpSpPr/>
          <p:nvPr/>
        </p:nvGrpSpPr>
        <p:grpSpPr>
          <a:xfrm>
            <a:off x="4876800" y="2057400"/>
            <a:ext cx="456420" cy="3124200"/>
            <a:chOff x="4876800" y="2057400"/>
            <a:chExt cx="456420" cy="3124200"/>
          </a:xfrm>
        </p:grpSpPr>
        <p:sp>
          <p:nvSpPr>
            <p:cNvPr id="59" name="TextBox 58"/>
            <p:cNvSpPr txBox="1"/>
            <p:nvPr/>
          </p:nvSpPr>
          <p:spPr>
            <a:xfrm>
              <a:off x="4953000" y="48122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0</a:t>
              </a:r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4956114" y="43550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TextBox 60"/>
                <p:cNvSpPr txBox="1"/>
                <p:nvPr/>
              </p:nvSpPr>
              <p:spPr>
                <a:xfrm>
                  <a:off x="4876800" y="2057400"/>
                  <a:ext cx="37459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𝑛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1" name="TextBox 6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76800" y="2057400"/>
                  <a:ext cx="374590" cy="369332"/>
                </a:xfrm>
                <a:prstGeom prst="rect">
                  <a:avLst/>
                </a:prstGeom>
                <a:blipFill rotWithShape="1">
                  <a:blip r:embed="rId6"/>
                  <a:stretch>
                    <a:fillRect t="-8333" r="-19672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4" name="TextBox 63"/>
            <p:cNvSpPr txBox="1"/>
            <p:nvPr/>
          </p:nvSpPr>
          <p:spPr>
            <a:xfrm rot="5173825">
              <a:off x="4976872" y="3822882"/>
              <a:ext cx="3433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…</a:t>
              </a:r>
            </a:p>
          </p:txBody>
        </p:sp>
      </p:grpSp>
      <p:sp>
        <p:nvSpPr>
          <p:cNvPr id="65" name="TextBox 64"/>
          <p:cNvSpPr txBox="1"/>
          <p:nvPr/>
        </p:nvSpPr>
        <p:spPr>
          <a:xfrm>
            <a:off x="5334000" y="4812268"/>
            <a:ext cx="31005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0      0       0      ...                        0</a:t>
            </a:r>
          </a:p>
        </p:txBody>
      </p:sp>
      <p:grpSp>
        <p:nvGrpSpPr>
          <p:cNvPr id="70" name="Group 69"/>
          <p:cNvGrpSpPr/>
          <p:nvPr/>
        </p:nvGrpSpPr>
        <p:grpSpPr>
          <a:xfrm>
            <a:off x="5334000" y="2133600"/>
            <a:ext cx="446312" cy="2579132"/>
            <a:chOff x="5334000" y="2133600"/>
            <a:chExt cx="446312" cy="2579132"/>
          </a:xfrm>
        </p:grpSpPr>
        <p:sp>
          <p:nvSpPr>
            <p:cNvPr id="66" name="TextBox 65"/>
            <p:cNvSpPr txBox="1"/>
            <p:nvPr/>
          </p:nvSpPr>
          <p:spPr>
            <a:xfrm>
              <a:off x="5334000" y="4343400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0</a:t>
              </a:r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5334000" y="2133600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0</a:t>
              </a:r>
            </a:p>
          </p:txBody>
        </p:sp>
        <p:sp>
          <p:nvSpPr>
            <p:cNvPr id="69" name="TextBox 68"/>
            <p:cNvSpPr txBox="1"/>
            <p:nvPr/>
          </p:nvSpPr>
          <p:spPr>
            <a:xfrm rot="5173825">
              <a:off x="5423964" y="3975282"/>
              <a:ext cx="3433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…</a:t>
              </a:r>
            </a:p>
          </p:txBody>
        </p:sp>
      </p:grpSp>
      <p:sp>
        <p:nvSpPr>
          <p:cNvPr id="71" name="Rectangle 70"/>
          <p:cNvSpPr/>
          <p:nvPr/>
        </p:nvSpPr>
        <p:spPr>
          <a:xfrm>
            <a:off x="6629400" y="3429000"/>
            <a:ext cx="457200" cy="457200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1" name="Group 80"/>
          <p:cNvGrpSpPr/>
          <p:nvPr/>
        </p:nvGrpSpPr>
        <p:grpSpPr>
          <a:xfrm>
            <a:off x="6691788" y="3886200"/>
            <a:ext cx="324897" cy="1752600"/>
            <a:chOff x="6691788" y="3886200"/>
            <a:chExt cx="324897" cy="17526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2" name="TextBox 71"/>
                <p:cNvSpPr txBox="1"/>
                <p:nvPr/>
              </p:nvSpPr>
              <p:spPr>
                <a:xfrm>
                  <a:off x="6691788" y="5269468"/>
                  <a:ext cx="32489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𝑗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2" name="TextBox 7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91788" y="5269468"/>
                  <a:ext cx="324897" cy="369332"/>
                </a:xfrm>
                <a:prstGeom prst="rect">
                  <a:avLst/>
                </a:prstGeom>
                <a:blipFill rotWithShape="1">
                  <a:blip r:embed="rId7"/>
                  <a:stretch>
                    <a:fillRect t="-8197" r="-22642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5" name="Straight Connector 74"/>
            <p:cNvCxnSpPr>
              <a:stCxn id="71" idx="2"/>
              <a:endCxn id="72" idx="0"/>
            </p:cNvCxnSpPr>
            <p:nvPr/>
          </p:nvCxnSpPr>
          <p:spPr>
            <a:xfrm flipH="1">
              <a:off x="6854237" y="3886200"/>
              <a:ext cx="3763" cy="1383268"/>
            </a:xfrm>
            <a:prstGeom prst="line">
              <a:avLst/>
            </a:prstGeom>
            <a:ln>
              <a:solidFill>
                <a:schemeClr val="tx1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2" name="Group 81"/>
          <p:cNvGrpSpPr/>
          <p:nvPr/>
        </p:nvGrpSpPr>
        <p:grpSpPr>
          <a:xfrm>
            <a:off x="4939188" y="3440668"/>
            <a:ext cx="1690212" cy="369332"/>
            <a:chOff x="4939188" y="3440668"/>
            <a:chExt cx="1690212" cy="36933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3" name="TextBox 72"/>
                <p:cNvSpPr txBox="1"/>
                <p:nvPr/>
              </p:nvSpPr>
              <p:spPr>
                <a:xfrm>
                  <a:off x="4939188" y="3440668"/>
                  <a:ext cx="31861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𝑖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3" name="TextBox 7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39188" y="3440668"/>
                  <a:ext cx="318612" cy="369332"/>
                </a:xfrm>
                <a:prstGeom prst="rect">
                  <a:avLst/>
                </a:prstGeom>
                <a:blipFill rotWithShape="1">
                  <a:blip r:embed="rId8"/>
                  <a:stretch>
                    <a:fillRect t="-8197" r="-22642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8" name="Straight Connector 77"/>
            <p:cNvCxnSpPr>
              <a:stCxn id="26" idx="1"/>
              <a:endCxn id="71" idx="1"/>
            </p:cNvCxnSpPr>
            <p:nvPr/>
          </p:nvCxnSpPr>
          <p:spPr>
            <a:xfrm>
              <a:off x="5257800" y="3657600"/>
              <a:ext cx="1371600" cy="0"/>
            </a:xfrm>
            <a:prstGeom prst="line">
              <a:avLst/>
            </a:prstGeom>
            <a:ln>
              <a:solidFill>
                <a:schemeClr val="tx1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84" name="Straight Arrow Connector 83"/>
          <p:cNvCxnSpPr/>
          <p:nvPr/>
        </p:nvCxnSpPr>
        <p:spPr>
          <a:xfrm>
            <a:off x="6400800" y="3657600"/>
            <a:ext cx="457200" cy="0"/>
          </a:xfrm>
          <a:prstGeom prst="straightConnector1">
            <a:avLst/>
          </a:prstGeom>
          <a:ln w="38100">
            <a:solidFill>
              <a:srgbClr val="006C3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/>
          <p:cNvCxnSpPr/>
          <p:nvPr/>
        </p:nvCxnSpPr>
        <p:spPr>
          <a:xfrm flipV="1">
            <a:off x="6400800" y="3665963"/>
            <a:ext cx="457200" cy="493985"/>
          </a:xfrm>
          <a:prstGeom prst="straightConnector1">
            <a:avLst/>
          </a:prstGeom>
          <a:ln w="38100">
            <a:solidFill>
              <a:srgbClr val="006C3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/>
          <p:cNvCxnSpPr/>
          <p:nvPr/>
        </p:nvCxnSpPr>
        <p:spPr>
          <a:xfrm flipV="1">
            <a:off x="6819644" y="3665964"/>
            <a:ext cx="0" cy="493984"/>
          </a:xfrm>
          <a:prstGeom prst="straightConnector1">
            <a:avLst/>
          </a:prstGeom>
          <a:ln w="38100">
            <a:solidFill>
              <a:srgbClr val="006C3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Down Ribbon 4"/>
              <p:cNvSpPr/>
              <p:nvPr/>
            </p:nvSpPr>
            <p:spPr>
              <a:xfrm>
                <a:off x="3810000" y="5715000"/>
                <a:ext cx="2819400" cy="841248"/>
              </a:xfrm>
              <a:prstGeom prst="ribbon">
                <a:avLst>
                  <a:gd name="adj1" fmla="val 16667"/>
                  <a:gd name="adj2" fmla="val 75000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</a:rPr>
                  <a:t>Time complexity: O</a:t>
                </a:r>
                <a:r>
                  <a:rPr lang="en-US" dirty="0">
                    <a:solidFill>
                      <a:schemeClr val="tx1"/>
                    </a:solidFill>
                  </a:rPr>
                  <a:t>(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/>
                      </a:rPr>
                      <m:t>𝑛𝑚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)</a:t>
                </a:r>
              </a:p>
            </p:txBody>
          </p:sp>
        </mc:Choice>
        <mc:Fallback xmlns="">
          <p:sp>
            <p:nvSpPr>
              <p:cNvPr id="5" name="Down Ribbon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0" y="5715000"/>
                <a:ext cx="2819400" cy="841248"/>
              </a:xfrm>
              <a:prstGeom prst="ribbon">
                <a:avLst>
                  <a:gd name="adj1" fmla="val 16667"/>
                  <a:gd name="adj2" fmla="val 75000"/>
                </a:avLst>
              </a:prstGeom>
              <a:blipFill rotWithShape="1">
                <a:blip r:embed="rId9"/>
                <a:stretch>
                  <a:fillRect b="-56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>
            <a:extLst>
              <a:ext uri="{FF2B5EF4-FFF2-40B4-BE49-F238E27FC236}">
                <a16:creationId xmlns:a16="http://schemas.microsoft.com/office/drawing/2014/main" id="{E15CABB2-57E7-F8EF-23D5-F72E106B883E}"/>
              </a:ext>
            </a:extLst>
          </p:cNvPr>
          <p:cNvSpPr/>
          <p:nvPr/>
        </p:nvSpPr>
        <p:spPr>
          <a:xfrm>
            <a:off x="2501696" y="1951038"/>
            <a:ext cx="2286000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3588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  <p:bldP spid="5" grpId="0" animBg="1"/>
      <p:bldP spid="6" grpId="0" uiExpand="1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solidFill>
                  <a:srgbClr val="00B050"/>
                </a:solidFill>
              </a:rPr>
              <a:t>Homework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458200" cy="4525963"/>
              </a:xfrm>
            </p:spPr>
            <p:txBody>
              <a:bodyPr>
                <a:normAutofit/>
              </a:bodyPr>
              <a:lstStyle/>
              <a:p>
                <a:endParaRPr lang="en-US" sz="2000" dirty="0"/>
              </a:p>
              <a:p>
                <a:endParaRPr lang="en-US" sz="2000" dirty="0"/>
              </a:p>
              <a:p>
                <a:r>
                  <a:rPr lang="en-US" sz="2000" dirty="0"/>
                  <a:t>The space requirement of the algorithm is </a:t>
                </a:r>
                <a:r>
                  <a:rPr lang="en-US" sz="2000" b="1" dirty="0"/>
                  <a:t>O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𝑛𝑚</m:t>
                    </m:r>
                  </m:oMath>
                </a14:m>
                <a:r>
                  <a:rPr lang="en-US" sz="2000" dirty="0"/>
                  <a:t>). </a:t>
                </a:r>
              </a:p>
              <a:p>
                <a:pPr marL="0" indent="0">
                  <a:buNone/>
                </a:pPr>
                <a:r>
                  <a:rPr lang="en-US" sz="2000" dirty="0"/>
                  <a:t>       How can you reduce it to </a:t>
                </a:r>
                <a:r>
                  <a:rPr lang="en-US" sz="2000" b="1" dirty="0"/>
                  <a:t>O</a:t>
                </a:r>
                <a:r>
                  <a:rPr lang="en-US" sz="2000" dirty="0"/>
                  <a:t>(</a:t>
                </a:r>
                <a:r>
                  <a:rPr lang="en-US" sz="2000" b="1" dirty="0"/>
                  <a:t>min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/>
                      </a:rPr>
                      <m:t>,</m:t>
                    </m:r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𝑚</m:t>
                    </m:r>
                  </m:oMath>
                </a14:m>
                <a:r>
                  <a:rPr lang="en-US" sz="2000" dirty="0"/>
                  <a:t>)).</a:t>
                </a:r>
              </a:p>
              <a:p>
                <a:endParaRPr lang="en-US" sz="2000" dirty="0"/>
              </a:p>
              <a:p>
                <a:endParaRPr lang="en-US" sz="2000" dirty="0"/>
              </a:p>
              <a:p>
                <a:r>
                  <a:rPr lang="en-US" sz="2000" dirty="0"/>
                  <a:t>Modify the previous algorithm so that it outputs the LCS as well ? </a:t>
                </a:r>
              </a:p>
              <a:p>
                <a:pPr marL="0" indent="0">
                  <a:buNone/>
                </a:pPr>
                <a:r>
                  <a:rPr lang="en-US" sz="2000" dirty="0"/>
                  <a:t>      (The time complexity must not increase asymptotically)</a:t>
                </a:r>
              </a:p>
              <a:p>
                <a:endParaRPr lang="en-US" sz="2000" dirty="0"/>
              </a:p>
              <a:p>
                <a:endParaRPr lang="en-US" sz="2000" dirty="0"/>
              </a:p>
            </p:txBody>
          </p:sp>
        </mc:Choice>
        <mc:Fallback xmlns="">
          <p:sp>
            <p:nvSpPr>
              <p:cNvPr id="6" name="Content Placeholder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458200" cy="4525963"/>
              </a:xfrm>
              <a:blipFill rotWithShape="1">
                <a:blip r:embed="rId2"/>
                <a:stretch>
                  <a:fillRect l="-720" t="-6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323779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 b="1" dirty="0">
                <a:solidFill>
                  <a:srgbClr val="7030A0"/>
                </a:solidFill>
              </a:rPr>
              <a:t>Dynamic Programming </a:t>
            </a:r>
            <a:r>
              <a:rPr lang="en-US" sz="3600" b="1" dirty="0"/>
              <a:t>algorithm paradigm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610600" cy="4525963"/>
          </a:xfrm>
        </p:spPr>
        <p:txBody>
          <a:bodyPr>
            <a:normAutofit/>
          </a:bodyPr>
          <a:lstStyle/>
          <a:p>
            <a:r>
              <a:rPr lang="en-US" sz="2000" dirty="0"/>
              <a:t>Expressing the solution </a:t>
            </a:r>
            <a:r>
              <a:rPr lang="en-US" sz="2000" u="sng" dirty="0"/>
              <a:t>recursively.</a:t>
            </a:r>
          </a:p>
          <a:p>
            <a:endParaRPr lang="en-US" sz="2000" dirty="0"/>
          </a:p>
          <a:p>
            <a:r>
              <a:rPr lang="en-US" sz="2000" dirty="0"/>
              <a:t>Overall there are only </a:t>
            </a:r>
            <a:r>
              <a:rPr lang="en-US" sz="2000" u="sng" dirty="0"/>
              <a:t>Polynomial number of </a:t>
            </a:r>
            <a:r>
              <a:rPr lang="en-US" sz="2000" u="sng" dirty="0" err="1"/>
              <a:t>subproblems</a:t>
            </a:r>
            <a:r>
              <a:rPr lang="en-US" sz="2000" u="sng" dirty="0"/>
              <a:t>.</a:t>
            </a:r>
          </a:p>
          <a:p>
            <a:endParaRPr lang="en-US" sz="2000" dirty="0"/>
          </a:p>
          <a:p>
            <a:r>
              <a:rPr lang="en-US" sz="2000" dirty="0"/>
              <a:t>But there is a </a:t>
            </a:r>
            <a:r>
              <a:rPr lang="en-US" sz="2000" u="sng" dirty="0"/>
              <a:t>huge overlap</a:t>
            </a:r>
            <a:r>
              <a:rPr lang="en-US" sz="2000" dirty="0"/>
              <a:t> among the </a:t>
            </a:r>
            <a:r>
              <a:rPr lang="en-US" sz="2000" dirty="0" err="1"/>
              <a:t>subproblems</a:t>
            </a:r>
            <a:r>
              <a:rPr lang="en-US" sz="2000" dirty="0"/>
              <a:t>. </a:t>
            </a:r>
          </a:p>
          <a:p>
            <a:pPr marL="0" indent="0">
              <a:buNone/>
            </a:pPr>
            <a:r>
              <a:rPr lang="en-US" sz="2000" dirty="0"/>
              <a:t>      </a:t>
            </a:r>
            <a:r>
              <a:rPr lang="en-US" sz="2000" dirty="0">
                <a:sym typeface="Wingdings" pitchFamily="2" charset="2"/>
              </a:rPr>
              <a:t> </a:t>
            </a:r>
            <a:r>
              <a:rPr lang="en-US" sz="2000" dirty="0"/>
              <a:t>So the recursive algorithm takes exponential time </a:t>
            </a:r>
          </a:p>
          <a:p>
            <a:pPr marL="0" indent="0">
              <a:buNone/>
            </a:pPr>
            <a:r>
              <a:rPr lang="en-US" sz="2000" dirty="0"/>
              <a:t>                         (solving same </a:t>
            </a:r>
            <a:r>
              <a:rPr lang="en-US" sz="2000" dirty="0" err="1"/>
              <a:t>subproblem</a:t>
            </a:r>
            <a:r>
              <a:rPr lang="en-US" sz="2000" dirty="0"/>
              <a:t> multiple times).</a:t>
            </a:r>
          </a:p>
          <a:p>
            <a:endParaRPr lang="en-US" sz="2000" dirty="0"/>
          </a:p>
          <a:p>
            <a:r>
              <a:rPr lang="en-US" sz="2000" dirty="0"/>
              <a:t>So we compute the recursive solution </a:t>
            </a:r>
            <a:r>
              <a:rPr lang="en-US" sz="2000" u="sng" dirty="0"/>
              <a:t>iteratively in a bottom-up fashion</a:t>
            </a:r>
            <a:r>
              <a:rPr lang="en-US" sz="2000" dirty="0"/>
              <a:t> </a:t>
            </a:r>
          </a:p>
          <a:p>
            <a:pPr marL="0" indent="0">
              <a:buNone/>
            </a:pPr>
            <a:r>
              <a:rPr lang="en-US" sz="2000" dirty="0"/>
              <a:t>        (like in  case of Fibonacci numbers). </a:t>
            </a:r>
          </a:p>
          <a:p>
            <a:pPr marL="0" indent="0">
              <a:buNone/>
            </a:pPr>
            <a:r>
              <a:rPr lang="en-US" sz="2000" dirty="0"/>
              <a:t>        This avoids wastage of computation and leads to efficient implementation.</a:t>
            </a:r>
          </a:p>
        </p:txBody>
      </p:sp>
    </p:spTree>
    <p:extLst>
      <p:ext uri="{BB962C8B-B14F-4D97-AF65-F5344CB8AC3E}">
        <p14:creationId xmlns:p14="http://schemas.microsoft.com/office/powerpoint/2010/main" val="40579797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 b="1" dirty="0">
                <a:solidFill>
                  <a:srgbClr val="7030A0"/>
                </a:solidFill>
              </a:rPr>
              <a:t>Steps of dynamic programming based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30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3429000" y="1600200"/>
            <a:ext cx="2317814" cy="36933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Recursive Formulation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36301" y="2450459"/>
            <a:ext cx="2102499" cy="36933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Recursive Algorithm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83909" y="3276600"/>
            <a:ext cx="1807995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Exponential time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38400" y="4170402"/>
            <a:ext cx="3912161" cy="36933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Polynomial no. </a:t>
            </a:r>
            <a:r>
              <a:rPr lang="en-US" b="1" dirty="0"/>
              <a:t>of distinct </a:t>
            </a:r>
            <a:r>
              <a:rPr lang="en-US" b="1" dirty="0" err="1"/>
              <a:t>subproblems</a:t>
            </a:r>
            <a:endParaRPr lang="en-US" b="1" dirty="0"/>
          </a:p>
        </p:txBody>
      </p:sp>
      <p:sp>
        <p:nvSpPr>
          <p:cNvPr id="10" name="Line Callout 2 9"/>
          <p:cNvSpPr/>
          <p:nvPr/>
        </p:nvSpPr>
        <p:spPr>
          <a:xfrm>
            <a:off x="6858000" y="3165477"/>
            <a:ext cx="2286000" cy="644523"/>
          </a:xfrm>
          <a:prstGeom prst="borderCallout2">
            <a:avLst>
              <a:gd name="adj1" fmla="val 49151"/>
              <a:gd name="adj2" fmla="val -1501"/>
              <a:gd name="adj3" fmla="val 47462"/>
              <a:gd name="adj4" fmla="val -52"/>
              <a:gd name="adj5" fmla="val 50008"/>
              <a:gd name="adj6" fmla="val -195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7030A0"/>
                </a:solidFill>
              </a:rPr>
              <a:t>Cause:</a:t>
            </a:r>
          </a:p>
          <a:p>
            <a:pPr algn="ctr"/>
            <a:r>
              <a:rPr lang="en-US" sz="1600" dirty="0">
                <a:solidFill>
                  <a:srgbClr val="C00000"/>
                </a:solidFill>
              </a:rPr>
              <a:t>Overlap </a:t>
            </a:r>
            <a:r>
              <a:rPr lang="en-US" sz="1600" dirty="0">
                <a:solidFill>
                  <a:schemeClr val="tx1"/>
                </a:solidFill>
              </a:rPr>
              <a:t>in</a:t>
            </a:r>
            <a:r>
              <a:rPr lang="en-US" sz="1600" dirty="0">
                <a:solidFill>
                  <a:srgbClr val="C00000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subProblems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659057" y="5193268"/>
            <a:ext cx="4136517" cy="36933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Bottom up approach to compute solution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24200" y="6031468"/>
            <a:ext cx="3035254" cy="369332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A Polynomial time algorithm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4411655" y="1969532"/>
            <a:ext cx="315659" cy="48092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Down Arrow 13"/>
          <p:cNvSpPr/>
          <p:nvPr/>
        </p:nvSpPr>
        <p:spPr>
          <a:xfrm>
            <a:off x="4419600" y="2819401"/>
            <a:ext cx="315659" cy="4572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own Arrow 15"/>
          <p:cNvSpPr/>
          <p:nvPr/>
        </p:nvSpPr>
        <p:spPr>
          <a:xfrm rot="16200000">
            <a:off x="6017123" y="2816720"/>
            <a:ext cx="315660" cy="136609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Down Arrow 16"/>
          <p:cNvSpPr/>
          <p:nvPr/>
        </p:nvSpPr>
        <p:spPr>
          <a:xfrm>
            <a:off x="4408741" y="4539734"/>
            <a:ext cx="315659" cy="64186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Down Arrow 17"/>
          <p:cNvSpPr/>
          <p:nvPr/>
        </p:nvSpPr>
        <p:spPr>
          <a:xfrm>
            <a:off x="4419600" y="5562600"/>
            <a:ext cx="315659" cy="46886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Bent-Up Arrow 18"/>
          <p:cNvSpPr/>
          <p:nvPr/>
        </p:nvSpPr>
        <p:spPr>
          <a:xfrm rot="16200000" flipH="1">
            <a:off x="6867761" y="3330295"/>
            <a:ext cx="729736" cy="1689145"/>
          </a:xfrm>
          <a:prstGeom prst="bent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5882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6" grpId="0" animBg="1"/>
      <p:bldP spid="17" grpId="0" animBg="1"/>
      <p:bldP spid="18" grpId="0" animBg="1"/>
      <p:bldP spid="19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9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7309</TotalTime>
  <Words>2569</Words>
  <Application>Microsoft Office PowerPoint</Application>
  <PresentationFormat>On-screen Show (4:3)</PresentationFormat>
  <Paragraphs>489</Paragraphs>
  <Slides>30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5" baseType="lpstr">
      <vt:lpstr>Arial</vt:lpstr>
      <vt:lpstr>Calibri</vt:lpstr>
      <vt:lpstr>Cambria Math</vt:lpstr>
      <vt:lpstr>Wingdings</vt:lpstr>
      <vt:lpstr>Office Theme</vt:lpstr>
      <vt:lpstr>Design and Analysis of Algorithms </vt:lpstr>
      <vt:lpstr>One important aspect of Dynamic Programming has a close connection with  </vt:lpstr>
      <vt:lpstr>Fibonacci numbers </vt:lpstr>
      <vt:lpstr>Recursive algorithm for F(n)</vt:lpstr>
      <vt:lpstr>Recursive algorithm for F(n)</vt:lpstr>
      <vt:lpstr>Recursive algorithm for F(n)</vt:lpstr>
      <vt:lpstr>Iterative Algorithm for F(n)</vt:lpstr>
      <vt:lpstr>Longest common subsequence</vt:lpstr>
      <vt:lpstr>What is a subsequence ?</vt:lpstr>
      <vt:lpstr>Problem Definition</vt:lpstr>
      <vt:lpstr>Observations</vt:lpstr>
      <vt:lpstr>Longest common subsequence of A and B </vt:lpstr>
      <vt:lpstr>Longest common subsequence of A and B </vt:lpstr>
      <vt:lpstr>Longest common subsequence of A and B </vt:lpstr>
      <vt:lpstr>Longest common subsequence of A and B </vt:lpstr>
      <vt:lpstr>Longest common subsequence of A and B </vt:lpstr>
      <vt:lpstr>Longest common subsequence of A and B </vt:lpstr>
      <vt:lpstr>Longest common subsequence of A and B </vt:lpstr>
      <vt:lpstr>Longest common subsequence of A and B </vt:lpstr>
      <vt:lpstr>Longest common subsequence of A and B </vt:lpstr>
      <vt:lpstr>Recursive formulation</vt:lpstr>
      <vt:lpstr>Recursive formulation for LCS(n,m)  </vt:lpstr>
      <vt:lpstr>Recursive algorithm for L(n,m) </vt:lpstr>
      <vt:lpstr>Recursive algorithm for L(n,m) </vt:lpstr>
      <vt:lpstr>Recursive algorithm for F(n) </vt:lpstr>
      <vt:lpstr>Recursive algorithm for L(n,m) </vt:lpstr>
      <vt:lpstr>Iterative algorithm for L(n,m) </vt:lpstr>
      <vt:lpstr>Homework</vt:lpstr>
      <vt:lpstr>Dynamic Programming algorithm paradigm</vt:lpstr>
      <vt:lpstr>Steps of dynamic programming based algorithm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Surender Baswana</dc:creator>
  <cp:lastModifiedBy>Surender Baswana</cp:lastModifiedBy>
  <cp:revision>530</cp:revision>
  <dcterms:created xsi:type="dcterms:W3CDTF">2011-12-03T04:13:03Z</dcterms:created>
  <dcterms:modified xsi:type="dcterms:W3CDTF">2025-09-09T09:11:43Z</dcterms:modified>
</cp:coreProperties>
</file>