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35"/>
  </p:notesMasterIdLst>
  <p:sldIdLst>
    <p:sldId id="539" r:id="rId2"/>
    <p:sldId id="566" r:id="rId3"/>
    <p:sldId id="538" r:id="rId4"/>
    <p:sldId id="537" r:id="rId5"/>
    <p:sldId id="567" r:id="rId6"/>
    <p:sldId id="556" r:id="rId7"/>
    <p:sldId id="522" r:id="rId8"/>
    <p:sldId id="488" r:id="rId9"/>
    <p:sldId id="515" r:id="rId10"/>
    <p:sldId id="487" r:id="rId11"/>
    <p:sldId id="489" r:id="rId12"/>
    <p:sldId id="490" r:id="rId13"/>
    <p:sldId id="493" r:id="rId14"/>
    <p:sldId id="544" r:id="rId15"/>
    <p:sldId id="496" r:id="rId16"/>
    <p:sldId id="517" r:id="rId17"/>
    <p:sldId id="533" r:id="rId18"/>
    <p:sldId id="500" r:id="rId19"/>
    <p:sldId id="501" r:id="rId20"/>
    <p:sldId id="498" r:id="rId21"/>
    <p:sldId id="502" r:id="rId22"/>
    <p:sldId id="553" r:id="rId23"/>
    <p:sldId id="518" r:id="rId24"/>
    <p:sldId id="555" r:id="rId25"/>
    <p:sldId id="503" r:id="rId26"/>
    <p:sldId id="543" r:id="rId27"/>
    <p:sldId id="504" r:id="rId28"/>
    <p:sldId id="510" r:id="rId29"/>
    <p:sldId id="513" r:id="rId30"/>
    <p:sldId id="511" r:id="rId31"/>
    <p:sldId id="514" r:id="rId32"/>
    <p:sldId id="509" r:id="rId33"/>
    <p:sldId id="558" r:id="rId3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C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61" autoAdjust="0"/>
    <p:restoredTop sz="94610" autoAdjust="0"/>
  </p:normalViewPr>
  <p:slideViewPr>
    <p:cSldViewPr>
      <p:cViewPr varScale="1">
        <p:scale>
          <a:sx n="106" d="100"/>
          <a:sy n="106" d="100"/>
        </p:scale>
        <p:origin x="1470" y="9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2AA3A7DB-FD4B-4A56-961D-EE92B832D86A}" type="datetimeFigureOut">
              <a:rPr lang="en-US"/>
              <a:pPr>
                <a:defRPr/>
              </a:pPr>
              <a:t>8/27/2025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428B6ACE-7DA9-451D-B4FE-F8D8CCE413A2}" type="slidenum">
              <a:rPr lang="en-US"/>
              <a:pPr>
                <a:defRPr/>
              </a:pPr>
              <a:t>‹#›</a:t>
            </a:fld>
            <a:endParaRPr lang="en-US"/>
          </a:p>
        </p:txBody>
      </p:sp>
    </p:spTree>
    <p:extLst>
      <p:ext uri="{BB962C8B-B14F-4D97-AF65-F5344CB8AC3E}">
        <p14:creationId xmlns:p14="http://schemas.microsoft.com/office/powerpoint/2010/main" val="78742846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841E3B87-0EAF-4D3F-A8FE-4D644E3BA938}" type="datetime1">
              <a:rPr lang="en-US"/>
              <a:pPr>
                <a:defRPr/>
              </a:pPr>
              <a:t>8/27/2025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3177C87-4399-4169-8EAA-A2FF838D2DBE}" type="slidenum">
              <a:rPr lang="en-US"/>
              <a:pPr>
                <a:defRPr/>
              </a:pPr>
              <a:t>‹#›</a:t>
            </a:fld>
            <a:endParaRPr lang="en-US"/>
          </a:p>
        </p:txBody>
      </p:sp>
    </p:spTree>
    <p:extLst>
      <p:ext uri="{BB962C8B-B14F-4D97-AF65-F5344CB8AC3E}">
        <p14:creationId xmlns:p14="http://schemas.microsoft.com/office/powerpoint/2010/main" val="888921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8E9C23F-070E-4955-A2E9-D262826D12BE}" type="datetime1">
              <a:rPr lang="en-US"/>
              <a:pPr>
                <a:defRPr/>
              </a:pPr>
              <a:t>8/27/2025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47D3F34-CCFE-4664-990B-25D48250FF76}" type="slidenum">
              <a:rPr lang="en-US"/>
              <a:pPr>
                <a:defRPr/>
              </a:pPr>
              <a:t>‹#›</a:t>
            </a:fld>
            <a:endParaRPr lang="en-US"/>
          </a:p>
        </p:txBody>
      </p:sp>
    </p:spTree>
    <p:extLst>
      <p:ext uri="{BB962C8B-B14F-4D97-AF65-F5344CB8AC3E}">
        <p14:creationId xmlns:p14="http://schemas.microsoft.com/office/powerpoint/2010/main" val="4111037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D811857-66C0-437E-ACBA-BF7BCE55233B}" type="datetime1">
              <a:rPr lang="en-US"/>
              <a:pPr>
                <a:defRPr/>
              </a:pPr>
              <a:t>8/27/2025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92E9ED8-BBDD-47A1-9C62-8C7F2ACFBD70}" type="slidenum">
              <a:rPr lang="en-US"/>
              <a:pPr>
                <a:defRPr/>
              </a:pPr>
              <a:t>‹#›</a:t>
            </a:fld>
            <a:endParaRPr lang="en-US"/>
          </a:p>
        </p:txBody>
      </p:sp>
    </p:spTree>
    <p:extLst>
      <p:ext uri="{BB962C8B-B14F-4D97-AF65-F5344CB8AC3E}">
        <p14:creationId xmlns:p14="http://schemas.microsoft.com/office/powerpoint/2010/main" val="3704137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0257FB79-49E0-495C-87BE-B2A1C6E0B2F0}" type="datetime1">
              <a:rPr lang="en-US"/>
              <a:pPr>
                <a:defRPr/>
              </a:pPr>
              <a:t>8/27/2025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12327573-F1C1-4830-B7EC-9EBDAFC3F16D}" type="slidenum">
              <a:rPr lang="en-US"/>
              <a:pPr>
                <a:defRPr/>
              </a:pPr>
              <a:t>‹#›</a:t>
            </a:fld>
            <a:endParaRPr lang="en-US"/>
          </a:p>
        </p:txBody>
      </p:sp>
    </p:spTree>
    <p:extLst>
      <p:ext uri="{BB962C8B-B14F-4D97-AF65-F5344CB8AC3E}">
        <p14:creationId xmlns:p14="http://schemas.microsoft.com/office/powerpoint/2010/main" val="2456853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15E181FA-412A-4421-9246-D21324FE2C44}" type="datetime1">
              <a:rPr lang="en-US"/>
              <a:pPr>
                <a:defRPr/>
              </a:pPr>
              <a:t>8/27/2025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A18461BB-7A72-48FB-85BD-B2543F198267}" type="slidenum">
              <a:rPr lang="en-US"/>
              <a:pPr>
                <a:defRPr/>
              </a:pPr>
              <a:t>‹#›</a:t>
            </a:fld>
            <a:endParaRPr lang="en-US"/>
          </a:p>
        </p:txBody>
      </p:sp>
    </p:spTree>
    <p:extLst>
      <p:ext uri="{BB962C8B-B14F-4D97-AF65-F5344CB8AC3E}">
        <p14:creationId xmlns:p14="http://schemas.microsoft.com/office/powerpoint/2010/main" val="3544119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8A86A6B7-3376-42F2-8702-2D1FCF5FB182}" type="datetime1">
              <a:rPr lang="en-US"/>
              <a:pPr>
                <a:defRPr/>
              </a:pPr>
              <a:t>8/27/2025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AA696056-B04C-48AB-8C53-BBF1FF11CC18}" type="slidenum">
              <a:rPr lang="en-US"/>
              <a:pPr>
                <a:defRPr/>
              </a:pPr>
              <a:t>‹#›</a:t>
            </a:fld>
            <a:endParaRPr lang="en-US"/>
          </a:p>
        </p:txBody>
      </p:sp>
    </p:spTree>
    <p:extLst>
      <p:ext uri="{BB962C8B-B14F-4D97-AF65-F5344CB8AC3E}">
        <p14:creationId xmlns:p14="http://schemas.microsoft.com/office/powerpoint/2010/main" val="34774221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B036330-39E0-4348-93D8-084D75D931AB}" type="datetime1">
              <a:rPr lang="en-US"/>
              <a:pPr>
                <a:defRPr/>
              </a:pPr>
              <a:t>8/27/2025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C0A7131A-5F98-4DE9-B58E-5AC46F8F2B76}" type="slidenum">
              <a:rPr lang="en-US"/>
              <a:pPr>
                <a:defRPr/>
              </a:pPr>
              <a:t>‹#›</a:t>
            </a:fld>
            <a:endParaRPr lang="en-US"/>
          </a:p>
        </p:txBody>
      </p:sp>
    </p:spTree>
    <p:extLst>
      <p:ext uri="{BB962C8B-B14F-4D97-AF65-F5344CB8AC3E}">
        <p14:creationId xmlns:p14="http://schemas.microsoft.com/office/powerpoint/2010/main" val="2888088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EEE380A-2B94-4740-AAA2-00B55E91136B}" type="datetime1">
              <a:rPr lang="en-US"/>
              <a:pPr>
                <a:defRPr/>
              </a:pPr>
              <a:t>8/27/2025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02E9EF9-6F51-43C7-88C5-01DDD3A549F6}" type="slidenum">
              <a:rPr lang="en-US"/>
              <a:pPr>
                <a:defRPr/>
              </a:pPr>
              <a:t>‹#›</a:t>
            </a:fld>
            <a:endParaRPr lang="en-US"/>
          </a:p>
        </p:txBody>
      </p:sp>
    </p:spTree>
    <p:extLst>
      <p:ext uri="{BB962C8B-B14F-4D97-AF65-F5344CB8AC3E}">
        <p14:creationId xmlns:p14="http://schemas.microsoft.com/office/powerpoint/2010/main" val="403350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021CF8B-C8E2-441C-9E33-F2F799897A47}" type="datetime1">
              <a:rPr lang="en-US"/>
              <a:pPr>
                <a:defRPr/>
              </a:pPr>
              <a:t>8/27/2025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104CFE0-7502-4E07-8F32-3833EEC262E1}" type="slidenum">
              <a:rPr lang="en-US"/>
              <a:pPr>
                <a:defRPr/>
              </a:pPr>
              <a:t>‹#›</a:t>
            </a:fld>
            <a:endParaRPr lang="en-US"/>
          </a:p>
        </p:txBody>
      </p:sp>
    </p:spTree>
    <p:extLst>
      <p:ext uri="{BB962C8B-B14F-4D97-AF65-F5344CB8AC3E}">
        <p14:creationId xmlns:p14="http://schemas.microsoft.com/office/powerpoint/2010/main" val="2008451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311F363-266E-4B39-9664-0E5F96917999}" type="datetime1">
              <a:rPr lang="en-US"/>
              <a:pPr>
                <a:defRPr/>
              </a:pPr>
              <a:t>8/27/2025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9F8759C-6D63-4A5B-8A92-29BD5C9DCC87}" type="slidenum">
              <a:rPr lang="en-US"/>
              <a:pPr>
                <a:defRPr/>
              </a:pPr>
              <a:t>‹#›</a:t>
            </a:fld>
            <a:endParaRPr lang="en-US"/>
          </a:p>
        </p:txBody>
      </p:sp>
    </p:spTree>
    <p:extLst>
      <p:ext uri="{BB962C8B-B14F-4D97-AF65-F5344CB8AC3E}">
        <p14:creationId xmlns:p14="http://schemas.microsoft.com/office/powerpoint/2010/main" val="3083374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4A32EBB-5C32-49A2-ADCD-F3C86202F8FA}" type="datetime1">
              <a:rPr lang="en-US"/>
              <a:pPr>
                <a:defRPr/>
              </a:pPr>
              <a:t>8/27/2025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E4E1702-FB5B-4ADB-8DA9-1EFEE2FCFD17}" type="slidenum">
              <a:rPr lang="en-US"/>
              <a:pPr>
                <a:defRPr/>
              </a:pPr>
              <a:t>‹#›</a:t>
            </a:fld>
            <a:endParaRPr lang="en-US"/>
          </a:p>
        </p:txBody>
      </p:sp>
    </p:spTree>
    <p:extLst>
      <p:ext uri="{BB962C8B-B14F-4D97-AF65-F5344CB8AC3E}">
        <p14:creationId xmlns:p14="http://schemas.microsoft.com/office/powerpoint/2010/main" val="3064828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cs typeface="+mn-cs"/>
              </a:defRPr>
            </a:lvl1pPr>
          </a:lstStyle>
          <a:p>
            <a:pPr>
              <a:defRPr/>
            </a:pPr>
            <a:fld id="{E224DF6E-159B-4851-B8CD-5F6A63451708}" type="datetime1">
              <a:rPr lang="en-US"/>
              <a:pPr>
                <a:defRPr/>
              </a:pPr>
              <a:t>8/27/2025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cs typeface="+mn-cs"/>
              </a:defRPr>
            </a:lvl1pPr>
          </a:lstStyle>
          <a:p>
            <a:pPr>
              <a:defRPr/>
            </a:pPr>
            <a:fld id="{73B7F3E5-79B2-43C4-81B5-7811AF1609B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hf hdr="0" ftr="0" dt="0"/>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itchFamily="34" charset="0"/>
        </a:defRPr>
      </a:lvl2pPr>
      <a:lvl3pPr algn="ctr" rtl="0" fontAlgn="base">
        <a:spcBef>
          <a:spcPct val="0"/>
        </a:spcBef>
        <a:spcAft>
          <a:spcPct val="0"/>
        </a:spcAft>
        <a:defRPr sz="4400">
          <a:solidFill>
            <a:schemeClr val="tx1"/>
          </a:solidFill>
          <a:latin typeface="Calibri" pitchFamily="34" charset="0"/>
        </a:defRPr>
      </a:lvl3pPr>
      <a:lvl4pPr algn="ctr" rtl="0" fontAlgn="base">
        <a:spcBef>
          <a:spcPct val="0"/>
        </a:spcBef>
        <a:spcAft>
          <a:spcPct val="0"/>
        </a:spcAft>
        <a:defRPr sz="4400">
          <a:solidFill>
            <a:schemeClr val="tx1"/>
          </a:solidFill>
          <a:latin typeface="Calibri" pitchFamily="34" charset="0"/>
        </a:defRPr>
      </a:lvl4pPr>
      <a:lvl5pPr algn="ctr" rtl="0" fontAlgn="base">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fontAlgn="base">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8.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image" Target="../media/image1.png"/><Relationship Id="rId16"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image" Target="../media/image60.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0.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2" Type="http://schemas.openxmlformats.org/officeDocument/2006/relationships/image" Target="../media/image2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10.png"/><Relationship Id="rId7" Type="http://schemas.openxmlformats.org/officeDocument/2006/relationships/image" Target="../media/image150.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30.png"/><Relationship Id="rId10" Type="http://schemas.openxmlformats.org/officeDocument/2006/relationships/image" Target="../media/image70.png"/><Relationship Id="rId4" Type="http://schemas.openxmlformats.org/officeDocument/2006/relationships/image" Target="../media/image120.png"/><Relationship Id="rId9"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0.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2.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60.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32.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2133600"/>
            <a:ext cx="8382000" cy="1466850"/>
          </a:xfrm>
        </p:spPr>
        <p:style>
          <a:lnRef idx="1">
            <a:schemeClr val="accent1"/>
          </a:lnRef>
          <a:fillRef idx="2">
            <a:schemeClr val="accent1"/>
          </a:fillRef>
          <a:effectRef idx="1">
            <a:schemeClr val="accent1"/>
          </a:effectRef>
          <a:fontRef idx="minor">
            <a:schemeClr val="dk1"/>
          </a:fontRef>
        </p:style>
        <p:txBody>
          <a:bodyPr rtlCol="0">
            <a:normAutofit/>
          </a:bodyPr>
          <a:lstStyle/>
          <a:p>
            <a:pPr fontAlgn="auto">
              <a:spcAft>
                <a:spcPts val="0"/>
              </a:spcAft>
              <a:defRPr/>
            </a:pPr>
            <a:r>
              <a:rPr lang="en-US" b="1" dirty="0">
                <a:effectLst>
                  <a:outerShdw blurRad="38100" dist="38100" dir="2700000" algn="tl">
                    <a:srgbClr val="000000">
                      <a:alpha val="43137"/>
                    </a:srgbClr>
                  </a:outerShdw>
                </a:effectLst>
              </a:rPr>
              <a:t>Design and Analysis of Algorithms</a:t>
            </a:r>
            <a:br>
              <a:rPr lang="en-US" b="1" dirty="0">
                <a:effectLst>
                  <a:outerShdw blurRad="38100" dist="38100" dir="2700000" algn="tl">
                    <a:srgbClr val="000000">
                      <a:alpha val="43137"/>
                    </a:srgbClr>
                  </a:outerShdw>
                </a:effectLst>
              </a:rPr>
            </a:br>
            <a:endParaRPr lang="en-US" b="1" dirty="0">
              <a:solidFill>
                <a:srgbClr val="C00000"/>
              </a:solidFill>
            </a:endParaRPr>
          </a:p>
        </p:txBody>
      </p:sp>
      <p:sp>
        <p:nvSpPr>
          <p:cNvPr id="3" name="Subtitle 2"/>
          <p:cNvSpPr>
            <a:spLocks noGrp="1"/>
          </p:cNvSpPr>
          <p:nvPr>
            <p:ph type="subTitle" idx="1"/>
          </p:nvPr>
        </p:nvSpPr>
        <p:spPr>
          <a:xfrm>
            <a:off x="914400" y="4499848"/>
            <a:ext cx="7239000" cy="1600200"/>
          </a:xfrm>
        </p:spPr>
        <p:style>
          <a:lnRef idx="1">
            <a:schemeClr val="accent4"/>
          </a:lnRef>
          <a:fillRef idx="2">
            <a:schemeClr val="accent4"/>
          </a:fillRef>
          <a:effectRef idx="1">
            <a:schemeClr val="accent4"/>
          </a:effectRef>
          <a:fontRef idx="minor">
            <a:schemeClr val="dk1"/>
          </a:fontRef>
        </p:style>
        <p:txBody>
          <a:bodyPr rtlCol="0">
            <a:normAutofit/>
          </a:bodyPr>
          <a:lstStyle/>
          <a:p>
            <a:pPr fontAlgn="auto">
              <a:spcAft>
                <a:spcPts val="0"/>
              </a:spcAft>
              <a:buFont typeface="Arial" pitchFamily="34" charset="0"/>
              <a:buNone/>
              <a:defRPr/>
            </a:pPr>
            <a:r>
              <a:rPr lang="en-US" sz="2400" b="1" dirty="0">
                <a:solidFill>
                  <a:srgbClr val="C00000"/>
                </a:solidFill>
              </a:rPr>
              <a:t>Lecture 12</a:t>
            </a:r>
            <a:endParaRPr lang="en-US" sz="2400" b="1" dirty="0">
              <a:solidFill>
                <a:srgbClr val="0070C0"/>
              </a:solidFill>
            </a:endParaRPr>
          </a:p>
          <a:p>
            <a:pPr algn="l" fontAlgn="auto">
              <a:spcAft>
                <a:spcPts val="0"/>
              </a:spcAft>
              <a:defRPr/>
            </a:pPr>
            <a:r>
              <a:rPr lang="en-US" sz="1200" b="1" dirty="0">
                <a:solidFill>
                  <a:srgbClr val="0070C0"/>
                </a:solidFill>
              </a:rPr>
              <a:t> </a:t>
            </a:r>
          </a:p>
          <a:p>
            <a:pPr marL="342900" indent="-342900" algn="l" fontAlgn="auto">
              <a:spcAft>
                <a:spcPts val="0"/>
              </a:spcAft>
              <a:buFont typeface="Arial" pitchFamily="34" charset="0"/>
              <a:buChar char="•"/>
              <a:defRPr/>
            </a:pPr>
            <a:r>
              <a:rPr lang="en-US" sz="2000" b="1" dirty="0">
                <a:solidFill>
                  <a:srgbClr val="0070C0"/>
                </a:solidFill>
              </a:rPr>
              <a:t>Algorithms</a:t>
            </a:r>
            <a:endParaRPr lang="en-US" sz="2000" b="1" dirty="0">
              <a:solidFill>
                <a:srgbClr val="7030A0"/>
              </a:solidFill>
            </a:endParaRPr>
          </a:p>
        </p:txBody>
      </p:sp>
      <p:sp>
        <p:nvSpPr>
          <p:cNvPr id="4" name="Slide Number Placeholder 3"/>
          <p:cNvSpPr>
            <a:spLocks noGrp="1"/>
          </p:cNvSpPr>
          <p:nvPr>
            <p:ph type="sldNum" sz="quarter" idx="12"/>
          </p:nvPr>
        </p:nvSpPr>
        <p:spPr/>
        <p:txBody>
          <a:bodyPr/>
          <a:lstStyle/>
          <a:p>
            <a:pPr>
              <a:defRPr/>
            </a:pPr>
            <a:fld id="{516F4FD3-5535-4BD2-8147-A67FFD5F22D1}" type="slidenum">
              <a:rPr lang="en-US"/>
              <a:pPr>
                <a:defRPr/>
              </a:pPr>
              <a:t>1</a:t>
            </a:fld>
            <a:endParaRPr lang="en-US" dirty="0"/>
          </a:p>
        </p:txBody>
      </p:sp>
      <p:sp>
        <p:nvSpPr>
          <p:cNvPr id="6" name="TextBox 5"/>
          <p:cNvSpPr txBox="1"/>
          <p:nvPr/>
        </p:nvSpPr>
        <p:spPr>
          <a:xfrm>
            <a:off x="4038600" y="3077230"/>
            <a:ext cx="1371600" cy="523220"/>
          </a:xfrm>
          <a:prstGeom prst="rect">
            <a:avLst/>
          </a:prstGeom>
          <a:noFill/>
        </p:spPr>
        <p:txBody>
          <a:bodyPr wrap="square" rtlCol="0">
            <a:spAutoFit/>
          </a:bodyPr>
          <a:lstStyle/>
          <a:p>
            <a:r>
              <a:rPr lang="en-US" sz="2800" b="1">
                <a:solidFill>
                  <a:srgbClr val="002060"/>
                </a:solidFill>
              </a:rPr>
              <a:t>CS345</a:t>
            </a:r>
            <a:endParaRPr lang="en-US" sz="2800" b="1" dirty="0"/>
          </a:p>
        </p:txBody>
      </p:sp>
      <p:sp>
        <p:nvSpPr>
          <p:cNvPr id="7" name="TextBox 6"/>
          <p:cNvSpPr txBox="1"/>
          <p:nvPr/>
        </p:nvSpPr>
        <p:spPr>
          <a:xfrm>
            <a:off x="2514600" y="5181600"/>
            <a:ext cx="2750240" cy="369332"/>
          </a:xfrm>
          <a:prstGeom prst="rect">
            <a:avLst/>
          </a:prstGeom>
          <a:noFill/>
        </p:spPr>
        <p:txBody>
          <a:bodyPr wrap="none" rtlCol="0">
            <a:spAutoFit/>
          </a:bodyPr>
          <a:lstStyle/>
          <a:p>
            <a:r>
              <a:rPr lang="en-US" b="1" dirty="0"/>
              <a:t>for </a:t>
            </a:r>
            <a:r>
              <a:rPr lang="en-US" b="1" dirty="0">
                <a:solidFill>
                  <a:srgbClr val="7030A0"/>
                </a:solidFill>
              </a:rPr>
              <a:t>Directed Acyclic Graphs</a:t>
            </a:r>
          </a:p>
        </p:txBody>
      </p:sp>
    </p:spTree>
    <p:custDataLst>
      <p:tags r:id="rId1"/>
    </p:custDataLst>
    <p:extLst>
      <p:ext uri="{BB962C8B-B14F-4D97-AF65-F5344CB8AC3E}">
        <p14:creationId xmlns:p14="http://schemas.microsoft.com/office/powerpoint/2010/main" val="339255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639AB971-60E9-1F40-2F2D-166B8D70419C}"/>
                  </a:ext>
                </a:extLst>
              </p:cNvPr>
              <p:cNvSpPr>
                <a:spLocks noGrp="1"/>
              </p:cNvSpPr>
              <p:nvPr>
                <p:ph type="title"/>
              </p:nvPr>
            </p:nvSpPr>
            <p:spPr/>
            <p:txBody>
              <a:bodyPr/>
              <a:lstStyle/>
              <a:p>
                <a:r>
                  <a:rPr lang="en-US" sz="3200" b="1" dirty="0">
                    <a:solidFill>
                      <a:srgbClr val="C00000"/>
                    </a:solidFill>
                  </a:rPr>
                  <a:t>Question </a:t>
                </a:r>
                <a:r>
                  <a:rPr lang="en-US" sz="3200" dirty="0">
                    <a:solidFill>
                      <a:srgbClr val="0070C0"/>
                    </a:solidFill>
                  </a:rPr>
                  <a:t>4 </a:t>
                </a:r>
                <a:r>
                  <a:rPr lang="en-US" sz="3200" dirty="0"/>
                  <a:t>from </a:t>
                </a:r>
                <a:r>
                  <a:rPr lang="en-US" sz="3200" b="1" dirty="0">
                    <a:solidFill>
                      <a:srgbClr val="7030A0"/>
                    </a:solidFill>
                  </a:rPr>
                  <a:t>Quiz</a:t>
                </a:r>
                <a:r>
                  <a:rPr lang="en-US" sz="3200" dirty="0"/>
                  <a:t> </a:t>
                </a:r>
                <a14:m>
                  <m:oMath xmlns:m="http://schemas.openxmlformats.org/officeDocument/2006/math">
                    <m:r>
                      <a:rPr lang="en-US" sz="3200" i="1" dirty="0" smtClean="0">
                        <a:solidFill>
                          <a:srgbClr val="0070C0"/>
                        </a:solidFill>
                        <a:latin typeface="Cambria Math" panose="02040503050406030204" pitchFamily="18" charset="0"/>
                      </a:rPr>
                      <m:t>1</m:t>
                    </m:r>
                  </m:oMath>
                </a14:m>
                <a:r>
                  <a:rPr lang="en-US" sz="3200" dirty="0"/>
                  <a:t> </a:t>
                </a:r>
                <a:br>
                  <a:rPr lang="en-US" sz="3200" dirty="0"/>
                </a:br>
                <a:r>
                  <a:rPr lang="en-US" sz="3200" dirty="0"/>
                  <a:t>(Stable matching)</a:t>
                </a:r>
                <a:endParaRPr lang="en-IN" sz="3200" dirty="0"/>
              </a:p>
            </p:txBody>
          </p:sp>
        </mc:Choice>
        <mc:Fallback xmlns="">
          <p:sp>
            <p:nvSpPr>
              <p:cNvPr id="2" name="Title 1">
                <a:extLst>
                  <a:ext uri="{FF2B5EF4-FFF2-40B4-BE49-F238E27FC236}">
                    <a16:creationId xmlns:a16="http://schemas.microsoft.com/office/drawing/2014/main" id="{639AB971-60E9-1F40-2F2D-166B8D70419C}"/>
                  </a:ext>
                </a:extLst>
              </p:cNvPr>
              <p:cNvSpPr>
                <a:spLocks noGrp="1" noRot="1" noChangeAspect="1" noMove="1" noResize="1" noEditPoints="1" noAdjustHandles="1" noChangeArrowheads="1" noChangeShapeType="1" noTextEdit="1"/>
              </p:cNvSpPr>
              <p:nvPr>
                <p:ph type="title"/>
              </p:nvPr>
            </p:nvSpPr>
            <p:spPr>
              <a:blipFill>
                <a:blip r:embed="rId2"/>
                <a:stretch>
                  <a:fillRect t="-3191" b="-13830"/>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B4F7AF2A-94C6-0657-7171-426CA43480DB}"/>
              </a:ext>
            </a:extLst>
          </p:cNvPr>
          <p:cNvSpPr>
            <a:spLocks noGrp="1"/>
          </p:cNvSpPr>
          <p:nvPr>
            <p:ph type="sldNum" sz="quarter" idx="12"/>
          </p:nvPr>
        </p:nvSpPr>
        <p:spPr/>
        <p:txBody>
          <a:bodyPr/>
          <a:lstStyle/>
          <a:p>
            <a:pPr>
              <a:defRPr/>
            </a:pPr>
            <a:fld id="{147D3F34-CCFE-4664-990B-25D48250FF76}" type="slidenum">
              <a:rPr lang="en-US" smtClean="0"/>
              <a:pPr>
                <a:defRPr/>
              </a:pPr>
              <a:t>2</a:t>
            </a:fld>
            <a:endParaRPr lang="en-US"/>
          </a:p>
        </p:txBody>
      </p:sp>
      <p:graphicFrame>
        <p:nvGraphicFramePr>
          <p:cNvPr id="5" name="Table 4">
            <a:extLst>
              <a:ext uri="{FF2B5EF4-FFF2-40B4-BE49-F238E27FC236}">
                <a16:creationId xmlns:a16="http://schemas.microsoft.com/office/drawing/2014/main" id="{0288760C-0BDA-0B64-F397-B670DAB00EBB}"/>
              </a:ext>
            </a:extLst>
          </p:cNvPr>
          <p:cNvGraphicFramePr>
            <a:graphicFrameLocks noGrp="1"/>
          </p:cNvGraphicFramePr>
          <p:nvPr>
            <p:extLst>
              <p:ext uri="{D42A27DB-BD31-4B8C-83A1-F6EECF244321}">
                <p14:modId xmlns:p14="http://schemas.microsoft.com/office/powerpoint/2010/main" val="1667392640"/>
              </p:ext>
            </p:extLst>
          </p:nvPr>
        </p:nvGraphicFramePr>
        <p:xfrm>
          <a:off x="1600200" y="2387600"/>
          <a:ext cx="2438400" cy="2489200"/>
        </p:xfrm>
        <a:graphic>
          <a:graphicData uri="http://schemas.openxmlformats.org/drawingml/2006/table">
            <a:tbl>
              <a:tblPr firstRow="1" bandRow="1">
                <a:tableStyleId>{D7AC3CCA-C797-4891-BE02-D94E43425B78}</a:tableStyleId>
              </a:tblPr>
              <a:tblGrid>
                <a:gridCol w="609600">
                  <a:extLst>
                    <a:ext uri="{9D8B030D-6E8A-4147-A177-3AD203B41FA5}">
                      <a16:colId xmlns:a16="http://schemas.microsoft.com/office/drawing/2014/main" val="1236986110"/>
                    </a:ext>
                  </a:extLst>
                </a:gridCol>
                <a:gridCol w="609600">
                  <a:extLst>
                    <a:ext uri="{9D8B030D-6E8A-4147-A177-3AD203B41FA5}">
                      <a16:colId xmlns:a16="http://schemas.microsoft.com/office/drawing/2014/main" val="2875110338"/>
                    </a:ext>
                  </a:extLst>
                </a:gridCol>
                <a:gridCol w="609600">
                  <a:extLst>
                    <a:ext uri="{9D8B030D-6E8A-4147-A177-3AD203B41FA5}">
                      <a16:colId xmlns:a16="http://schemas.microsoft.com/office/drawing/2014/main" val="346879418"/>
                    </a:ext>
                  </a:extLst>
                </a:gridCol>
                <a:gridCol w="609600">
                  <a:extLst>
                    <a:ext uri="{9D8B030D-6E8A-4147-A177-3AD203B41FA5}">
                      <a16:colId xmlns:a16="http://schemas.microsoft.com/office/drawing/2014/main" val="441663499"/>
                    </a:ext>
                  </a:extLst>
                </a:gridCol>
              </a:tblGrid>
              <a:tr h="62230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339348308"/>
                  </a:ext>
                </a:extLst>
              </a:tr>
              <a:tr h="62230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319388350"/>
                  </a:ext>
                </a:extLst>
              </a:tr>
              <a:tr h="62230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768545462"/>
                  </a:ext>
                </a:extLst>
              </a:tr>
              <a:tr h="622300">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661116810"/>
                  </a:ext>
                </a:extLst>
              </a:tr>
            </a:tbl>
          </a:graphicData>
        </a:graphic>
      </p:graphicFrame>
      <p:graphicFrame>
        <p:nvGraphicFramePr>
          <p:cNvPr id="6" name="Table 5">
            <a:extLst>
              <a:ext uri="{FF2B5EF4-FFF2-40B4-BE49-F238E27FC236}">
                <a16:creationId xmlns:a16="http://schemas.microsoft.com/office/drawing/2014/main" id="{383CCB40-733E-712C-A11F-C78D3C173C4D}"/>
              </a:ext>
            </a:extLst>
          </p:cNvPr>
          <p:cNvGraphicFramePr>
            <a:graphicFrameLocks noGrp="1"/>
          </p:cNvGraphicFramePr>
          <p:nvPr>
            <p:extLst>
              <p:ext uri="{D42A27DB-BD31-4B8C-83A1-F6EECF244321}">
                <p14:modId xmlns:p14="http://schemas.microsoft.com/office/powerpoint/2010/main" val="3128046768"/>
              </p:ext>
            </p:extLst>
          </p:nvPr>
        </p:nvGraphicFramePr>
        <p:xfrm>
          <a:off x="5791200" y="2387600"/>
          <a:ext cx="2438400" cy="2489200"/>
        </p:xfrm>
        <a:graphic>
          <a:graphicData uri="http://schemas.openxmlformats.org/drawingml/2006/table">
            <a:tbl>
              <a:tblPr firstRow="1" bandRow="1">
                <a:tableStyleId>{D7AC3CCA-C797-4891-BE02-D94E43425B78}</a:tableStyleId>
              </a:tblPr>
              <a:tblGrid>
                <a:gridCol w="609600">
                  <a:extLst>
                    <a:ext uri="{9D8B030D-6E8A-4147-A177-3AD203B41FA5}">
                      <a16:colId xmlns:a16="http://schemas.microsoft.com/office/drawing/2014/main" val="1236986110"/>
                    </a:ext>
                  </a:extLst>
                </a:gridCol>
                <a:gridCol w="609600">
                  <a:extLst>
                    <a:ext uri="{9D8B030D-6E8A-4147-A177-3AD203B41FA5}">
                      <a16:colId xmlns:a16="http://schemas.microsoft.com/office/drawing/2014/main" val="2875110338"/>
                    </a:ext>
                  </a:extLst>
                </a:gridCol>
                <a:gridCol w="609600">
                  <a:extLst>
                    <a:ext uri="{9D8B030D-6E8A-4147-A177-3AD203B41FA5}">
                      <a16:colId xmlns:a16="http://schemas.microsoft.com/office/drawing/2014/main" val="346879418"/>
                    </a:ext>
                  </a:extLst>
                </a:gridCol>
                <a:gridCol w="609600">
                  <a:extLst>
                    <a:ext uri="{9D8B030D-6E8A-4147-A177-3AD203B41FA5}">
                      <a16:colId xmlns:a16="http://schemas.microsoft.com/office/drawing/2014/main" val="441663499"/>
                    </a:ext>
                  </a:extLst>
                </a:gridCol>
              </a:tblGrid>
              <a:tr h="62230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339348308"/>
                  </a:ext>
                </a:extLst>
              </a:tr>
              <a:tr h="62230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319388350"/>
                  </a:ext>
                </a:extLst>
              </a:tr>
              <a:tr h="622300">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768545462"/>
                  </a:ext>
                </a:extLst>
              </a:tr>
              <a:tr h="62230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661116810"/>
                  </a:ext>
                </a:extLst>
              </a:tr>
            </a:tbl>
          </a:graphicData>
        </a:graphic>
      </p:graphicFrame>
      <p:grpSp>
        <p:nvGrpSpPr>
          <p:cNvPr id="23" name="Group 22">
            <a:extLst>
              <a:ext uri="{FF2B5EF4-FFF2-40B4-BE49-F238E27FC236}">
                <a16:creationId xmlns:a16="http://schemas.microsoft.com/office/drawing/2014/main" id="{47EA4B09-AB75-F066-08EC-900A4E55BFBD}"/>
              </a:ext>
            </a:extLst>
          </p:cNvPr>
          <p:cNvGrpSpPr/>
          <p:nvPr/>
        </p:nvGrpSpPr>
        <p:grpSpPr>
          <a:xfrm>
            <a:off x="1009656" y="2511967"/>
            <a:ext cx="562629" cy="2288633"/>
            <a:chOff x="1009656" y="3863181"/>
            <a:chExt cx="562629" cy="2288633"/>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BBBB7F5-B430-E344-82EA-2FD26EDEB2D8}"/>
                    </a:ext>
                  </a:extLst>
                </p:cNvPr>
                <p:cNvSpPr txBox="1"/>
                <p:nvPr/>
              </p:nvSpPr>
              <p:spPr>
                <a:xfrm>
                  <a:off x="1014183" y="3863181"/>
                  <a:ext cx="5581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smtClean="0">
                                <a:solidFill>
                                  <a:srgbClr val="0070C0"/>
                                </a:solidFill>
                                <a:latin typeface="Cambria Math" panose="02040503050406030204" pitchFamily="18" charset="0"/>
                              </a:rPr>
                              <m:t>𝑴</m:t>
                            </m:r>
                          </m:e>
                          <m:sub>
                            <m:r>
                              <a:rPr lang="en-US" b="1" i="1" dirty="0" smtClean="0">
                                <a:solidFill>
                                  <a:srgbClr val="0070C0"/>
                                </a:solidFill>
                                <a:latin typeface="Cambria Math" panose="02040503050406030204" pitchFamily="18" charset="0"/>
                              </a:rPr>
                              <m:t>𝟏</m:t>
                            </m:r>
                          </m:sub>
                        </m:sSub>
                      </m:oMath>
                    </m:oMathPara>
                  </a14:m>
                  <a:endParaRPr lang="en-IN" b="1" dirty="0"/>
                </a:p>
              </p:txBody>
            </p:sp>
          </mc:Choice>
          <mc:Fallback xmlns="">
            <p:sp>
              <p:nvSpPr>
                <p:cNvPr id="7" name="TextBox 6">
                  <a:extLst>
                    <a:ext uri="{FF2B5EF4-FFF2-40B4-BE49-F238E27FC236}">
                      <a16:creationId xmlns:a16="http://schemas.microsoft.com/office/drawing/2014/main" id="{0BBBB7F5-B430-E344-82EA-2FD26EDEB2D8}"/>
                    </a:ext>
                  </a:extLst>
                </p:cNvPr>
                <p:cNvSpPr txBox="1">
                  <a:spLocks noRot="1" noChangeAspect="1" noMove="1" noResize="1" noEditPoints="1" noAdjustHandles="1" noChangeArrowheads="1" noChangeShapeType="1" noTextEdit="1"/>
                </p:cNvSpPr>
                <p:nvPr/>
              </p:nvSpPr>
              <p:spPr>
                <a:xfrm>
                  <a:off x="1014183" y="3863181"/>
                  <a:ext cx="558102"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6CE58B-7C6E-BD43-1EE9-851736ADDCD7}"/>
                    </a:ext>
                  </a:extLst>
                </p:cNvPr>
                <p:cNvSpPr txBox="1"/>
                <p:nvPr/>
              </p:nvSpPr>
              <p:spPr>
                <a:xfrm>
                  <a:off x="1014183" y="4502948"/>
                  <a:ext cx="5581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smtClean="0">
                                <a:solidFill>
                                  <a:srgbClr val="0070C0"/>
                                </a:solidFill>
                                <a:latin typeface="Cambria Math" panose="02040503050406030204" pitchFamily="18" charset="0"/>
                              </a:rPr>
                              <m:t>𝑴</m:t>
                            </m:r>
                          </m:e>
                          <m:sub>
                            <m:r>
                              <a:rPr lang="en-US" b="1" i="1" dirty="0" smtClean="0">
                                <a:solidFill>
                                  <a:srgbClr val="0070C0"/>
                                </a:solidFill>
                                <a:latin typeface="Cambria Math" panose="02040503050406030204" pitchFamily="18" charset="0"/>
                              </a:rPr>
                              <m:t>𝟐</m:t>
                            </m:r>
                          </m:sub>
                        </m:sSub>
                      </m:oMath>
                    </m:oMathPara>
                  </a14:m>
                  <a:endParaRPr lang="en-IN" b="1" dirty="0"/>
                </a:p>
              </p:txBody>
            </p:sp>
          </mc:Choice>
          <mc:Fallback xmlns="">
            <p:sp>
              <p:nvSpPr>
                <p:cNvPr id="8" name="TextBox 7">
                  <a:extLst>
                    <a:ext uri="{FF2B5EF4-FFF2-40B4-BE49-F238E27FC236}">
                      <a16:creationId xmlns:a16="http://schemas.microsoft.com/office/drawing/2014/main" id="{A96CE58B-7C6E-BD43-1EE9-851736ADDCD7}"/>
                    </a:ext>
                  </a:extLst>
                </p:cNvPr>
                <p:cNvSpPr txBox="1">
                  <a:spLocks noRot="1" noChangeAspect="1" noMove="1" noResize="1" noEditPoints="1" noAdjustHandles="1" noChangeArrowheads="1" noChangeShapeType="1" noTextEdit="1"/>
                </p:cNvSpPr>
                <p:nvPr/>
              </p:nvSpPr>
              <p:spPr>
                <a:xfrm>
                  <a:off x="1014183" y="4502948"/>
                  <a:ext cx="558102"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32CEA60-09C0-E662-837C-31AB9456F9FA}"/>
                    </a:ext>
                  </a:extLst>
                </p:cNvPr>
                <p:cNvSpPr txBox="1"/>
                <p:nvPr/>
              </p:nvSpPr>
              <p:spPr>
                <a:xfrm>
                  <a:off x="1009656" y="5142715"/>
                  <a:ext cx="5581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smtClean="0">
                                <a:solidFill>
                                  <a:srgbClr val="0070C0"/>
                                </a:solidFill>
                                <a:latin typeface="Cambria Math" panose="02040503050406030204" pitchFamily="18" charset="0"/>
                              </a:rPr>
                              <m:t>𝑴</m:t>
                            </m:r>
                          </m:e>
                          <m:sub>
                            <m:r>
                              <a:rPr lang="en-US" b="1" i="1" dirty="0" smtClean="0">
                                <a:solidFill>
                                  <a:srgbClr val="0070C0"/>
                                </a:solidFill>
                                <a:latin typeface="Cambria Math" panose="02040503050406030204" pitchFamily="18" charset="0"/>
                              </a:rPr>
                              <m:t>𝟑</m:t>
                            </m:r>
                          </m:sub>
                        </m:sSub>
                      </m:oMath>
                    </m:oMathPara>
                  </a14:m>
                  <a:endParaRPr lang="en-IN" b="1" dirty="0"/>
                </a:p>
              </p:txBody>
            </p:sp>
          </mc:Choice>
          <mc:Fallback xmlns="">
            <p:sp>
              <p:nvSpPr>
                <p:cNvPr id="9" name="TextBox 8">
                  <a:extLst>
                    <a:ext uri="{FF2B5EF4-FFF2-40B4-BE49-F238E27FC236}">
                      <a16:creationId xmlns:a16="http://schemas.microsoft.com/office/drawing/2014/main" id="{432CEA60-09C0-E662-837C-31AB9456F9FA}"/>
                    </a:ext>
                  </a:extLst>
                </p:cNvPr>
                <p:cNvSpPr txBox="1">
                  <a:spLocks noRot="1" noChangeAspect="1" noMove="1" noResize="1" noEditPoints="1" noAdjustHandles="1" noChangeArrowheads="1" noChangeShapeType="1" noTextEdit="1"/>
                </p:cNvSpPr>
                <p:nvPr/>
              </p:nvSpPr>
              <p:spPr>
                <a:xfrm>
                  <a:off x="1009656" y="5142715"/>
                  <a:ext cx="558102"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D7BE01C-04AE-D937-072C-B6F77A2A85AB}"/>
                    </a:ext>
                  </a:extLst>
                </p:cNvPr>
                <p:cNvSpPr txBox="1"/>
                <p:nvPr/>
              </p:nvSpPr>
              <p:spPr>
                <a:xfrm>
                  <a:off x="1009656" y="5782482"/>
                  <a:ext cx="5581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smtClean="0">
                                <a:solidFill>
                                  <a:srgbClr val="0070C0"/>
                                </a:solidFill>
                                <a:latin typeface="Cambria Math" panose="02040503050406030204" pitchFamily="18" charset="0"/>
                              </a:rPr>
                              <m:t>𝑴</m:t>
                            </m:r>
                          </m:e>
                          <m:sub>
                            <m:r>
                              <a:rPr lang="en-US" b="1" i="1" dirty="0" smtClean="0">
                                <a:solidFill>
                                  <a:srgbClr val="0070C0"/>
                                </a:solidFill>
                                <a:latin typeface="Cambria Math" panose="02040503050406030204" pitchFamily="18" charset="0"/>
                              </a:rPr>
                              <m:t>𝟒</m:t>
                            </m:r>
                          </m:sub>
                        </m:sSub>
                      </m:oMath>
                    </m:oMathPara>
                  </a14:m>
                  <a:endParaRPr lang="en-IN" b="1" dirty="0"/>
                </a:p>
              </p:txBody>
            </p:sp>
          </mc:Choice>
          <mc:Fallback xmlns="">
            <p:sp>
              <p:nvSpPr>
                <p:cNvPr id="10" name="TextBox 9">
                  <a:extLst>
                    <a:ext uri="{FF2B5EF4-FFF2-40B4-BE49-F238E27FC236}">
                      <a16:creationId xmlns:a16="http://schemas.microsoft.com/office/drawing/2014/main" id="{FD7BE01C-04AE-D937-072C-B6F77A2A85AB}"/>
                    </a:ext>
                  </a:extLst>
                </p:cNvPr>
                <p:cNvSpPr txBox="1">
                  <a:spLocks noRot="1" noChangeAspect="1" noMove="1" noResize="1" noEditPoints="1" noAdjustHandles="1" noChangeArrowheads="1" noChangeShapeType="1" noTextEdit="1"/>
                </p:cNvSpPr>
                <p:nvPr/>
              </p:nvSpPr>
              <p:spPr>
                <a:xfrm>
                  <a:off x="1009656" y="5782482"/>
                  <a:ext cx="558102" cy="369332"/>
                </a:xfrm>
                <a:prstGeom prst="rect">
                  <a:avLst/>
                </a:prstGeom>
                <a:blipFill>
                  <a:blip r:embed="rId6"/>
                  <a:stretch>
                    <a:fillRect/>
                  </a:stretch>
                </a:blipFill>
              </p:spPr>
              <p:txBody>
                <a:bodyPr/>
                <a:lstStyle/>
                <a:p>
                  <a:r>
                    <a:rPr lang="en-IN">
                      <a:noFill/>
                    </a:rPr>
                    <a:t> </a:t>
                  </a:r>
                </a:p>
              </p:txBody>
            </p:sp>
          </mc:Fallback>
        </mc:AlternateContent>
      </p:grpSp>
      <p:grpSp>
        <p:nvGrpSpPr>
          <p:cNvPr id="20" name="Group 19">
            <a:extLst>
              <a:ext uri="{FF2B5EF4-FFF2-40B4-BE49-F238E27FC236}">
                <a16:creationId xmlns:a16="http://schemas.microsoft.com/office/drawing/2014/main" id="{FA7772C1-8B88-4247-C7E6-3A18BAB50C89}"/>
              </a:ext>
            </a:extLst>
          </p:cNvPr>
          <p:cNvGrpSpPr/>
          <p:nvPr/>
        </p:nvGrpSpPr>
        <p:grpSpPr>
          <a:xfrm>
            <a:off x="5111438" y="2487883"/>
            <a:ext cx="580262" cy="2288633"/>
            <a:chOff x="4390371" y="3883567"/>
            <a:chExt cx="580262" cy="2288633"/>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E015737-54DC-E2E2-5BAB-374DB0B4E965}"/>
                    </a:ext>
                  </a:extLst>
                </p:cNvPr>
                <p:cNvSpPr txBox="1"/>
                <p:nvPr/>
              </p:nvSpPr>
              <p:spPr>
                <a:xfrm>
                  <a:off x="4394898" y="3883567"/>
                  <a:ext cx="5757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𝑾</m:t>
                            </m:r>
                          </m:e>
                          <m:sub>
                            <m:r>
                              <a:rPr lang="en-US" b="1" i="1" dirty="0" smtClean="0">
                                <a:solidFill>
                                  <a:srgbClr val="7030A0"/>
                                </a:solidFill>
                                <a:latin typeface="Cambria Math" panose="02040503050406030204" pitchFamily="18" charset="0"/>
                              </a:rPr>
                              <m:t>𝟏</m:t>
                            </m:r>
                          </m:sub>
                        </m:sSub>
                      </m:oMath>
                    </m:oMathPara>
                  </a14:m>
                  <a:endParaRPr lang="en-IN" b="1" dirty="0"/>
                </a:p>
              </p:txBody>
            </p:sp>
          </mc:Choice>
          <mc:Fallback xmlns="">
            <p:sp>
              <p:nvSpPr>
                <p:cNvPr id="15" name="TextBox 14">
                  <a:extLst>
                    <a:ext uri="{FF2B5EF4-FFF2-40B4-BE49-F238E27FC236}">
                      <a16:creationId xmlns:a16="http://schemas.microsoft.com/office/drawing/2014/main" id="{DE015737-54DC-E2E2-5BAB-374DB0B4E965}"/>
                    </a:ext>
                  </a:extLst>
                </p:cNvPr>
                <p:cNvSpPr txBox="1">
                  <a:spLocks noRot="1" noChangeAspect="1" noMove="1" noResize="1" noEditPoints="1" noAdjustHandles="1" noChangeArrowheads="1" noChangeShapeType="1" noTextEdit="1"/>
                </p:cNvSpPr>
                <p:nvPr/>
              </p:nvSpPr>
              <p:spPr>
                <a:xfrm>
                  <a:off x="4394898" y="3883567"/>
                  <a:ext cx="575735"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1B105BF-FD86-0999-8559-44BE9272D6B8}"/>
                    </a:ext>
                  </a:extLst>
                </p:cNvPr>
                <p:cNvSpPr txBox="1"/>
                <p:nvPr/>
              </p:nvSpPr>
              <p:spPr>
                <a:xfrm>
                  <a:off x="4394898" y="4523334"/>
                  <a:ext cx="5757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𝑾</m:t>
                            </m:r>
                          </m:e>
                          <m:sub>
                            <m:r>
                              <a:rPr lang="en-US" b="1" i="1" dirty="0" smtClean="0">
                                <a:solidFill>
                                  <a:srgbClr val="7030A0"/>
                                </a:solidFill>
                                <a:latin typeface="Cambria Math" panose="02040503050406030204" pitchFamily="18" charset="0"/>
                              </a:rPr>
                              <m:t>𝟐</m:t>
                            </m:r>
                          </m:sub>
                        </m:sSub>
                      </m:oMath>
                    </m:oMathPara>
                  </a14:m>
                  <a:endParaRPr lang="en-IN" b="1" dirty="0"/>
                </a:p>
              </p:txBody>
            </p:sp>
          </mc:Choice>
          <mc:Fallback xmlns="">
            <p:sp>
              <p:nvSpPr>
                <p:cNvPr id="16" name="TextBox 15">
                  <a:extLst>
                    <a:ext uri="{FF2B5EF4-FFF2-40B4-BE49-F238E27FC236}">
                      <a16:creationId xmlns:a16="http://schemas.microsoft.com/office/drawing/2014/main" id="{61B105BF-FD86-0999-8559-44BE9272D6B8}"/>
                    </a:ext>
                  </a:extLst>
                </p:cNvPr>
                <p:cNvSpPr txBox="1">
                  <a:spLocks noRot="1" noChangeAspect="1" noMove="1" noResize="1" noEditPoints="1" noAdjustHandles="1" noChangeArrowheads="1" noChangeShapeType="1" noTextEdit="1"/>
                </p:cNvSpPr>
                <p:nvPr/>
              </p:nvSpPr>
              <p:spPr>
                <a:xfrm>
                  <a:off x="4394898" y="4523334"/>
                  <a:ext cx="575735" cy="36933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B9B3ADA-654C-A558-64B7-ADCC484857A7}"/>
                    </a:ext>
                  </a:extLst>
                </p:cNvPr>
                <p:cNvSpPr txBox="1"/>
                <p:nvPr/>
              </p:nvSpPr>
              <p:spPr>
                <a:xfrm>
                  <a:off x="4390371" y="5163101"/>
                  <a:ext cx="5757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𝑾</m:t>
                            </m:r>
                          </m:e>
                          <m:sub>
                            <m:r>
                              <a:rPr lang="en-US" b="1" i="1" dirty="0" smtClean="0">
                                <a:solidFill>
                                  <a:srgbClr val="7030A0"/>
                                </a:solidFill>
                                <a:latin typeface="Cambria Math" panose="02040503050406030204" pitchFamily="18" charset="0"/>
                              </a:rPr>
                              <m:t>𝟑</m:t>
                            </m:r>
                          </m:sub>
                        </m:sSub>
                      </m:oMath>
                    </m:oMathPara>
                  </a14:m>
                  <a:endParaRPr lang="en-IN" b="1" dirty="0">
                    <a:solidFill>
                      <a:srgbClr val="7030A0"/>
                    </a:solidFill>
                  </a:endParaRPr>
                </a:p>
              </p:txBody>
            </p:sp>
          </mc:Choice>
          <mc:Fallback xmlns="">
            <p:sp>
              <p:nvSpPr>
                <p:cNvPr id="17" name="TextBox 16">
                  <a:extLst>
                    <a:ext uri="{FF2B5EF4-FFF2-40B4-BE49-F238E27FC236}">
                      <a16:creationId xmlns:a16="http://schemas.microsoft.com/office/drawing/2014/main" id="{9B9B3ADA-654C-A558-64B7-ADCC484857A7}"/>
                    </a:ext>
                  </a:extLst>
                </p:cNvPr>
                <p:cNvSpPr txBox="1">
                  <a:spLocks noRot="1" noChangeAspect="1" noMove="1" noResize="1" noEditPoints="1" noAdjustHandles="1" noChangeArrowheads="1" noChangeShapeType="1" noTextEdit="1"/>
                </p:cNvSpPr>
                <p:nvPr/>
              </p:nvSpPr>
              <p:spPr>
                <a:xfrm>
                  <a:off x="4390371" y="5163101"/>
                  <a:ext cx="575735"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52E77EB-F293-61B3-E970-041D435CEF67}"/>
                    </a:ext>
                  </a:extLst>
                </p:cNvPr>
                <p:cNvSpPr txBox="1"/>
                <p:nvPr/>
              </p:nvSpPr>
              <p:spPr>
                <a:xfrm>
                  <a:off x="4390371" y="5802868"/>
                  <a:ext cx="5757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𝑾</m:t>
                            </m:r>
                          </m:e>
                          <m:sub>
                            <m:r>
                              <a:rPr lang="en-US" b="1" i="1" dirty="0" smtClean="0">
                                <a:solidFill>
                                  <a:srgbClr val="7030A0"/>
                                </a:solidFill>
                                <a:latin typeface="Cambria Math" panose="02040503050406030204" pitchFamily="18" charset="0"/>
                              </a:rPr>
                              <m:t>𝟒</m:t>
                            </m:r>
                          </m:sub>
                        </m:sSub>
                      </m:oMath>
                    </m:oMathPara>
                  </a14:m>
                  <a:endParaRPr lang="en-IN" b="1" dirty="0">
                    <a:solidFill>
                      <a:srgbClr val="7030A0"/>
                    </a:solidFill>
                  </a:endParaRPr>
                </a:p>
              </p:txBody>
            </p:sp>
          </mc:Choice>
          <mc:Fallback xmlns="">
            <p:sp>
              <p:nvSpPr>
                <p:cNvPr id="18" name="TextBox 17">
                  <a:extLst>
                    <a:ext uri="{FF2B5EF4-FFF2-40B4-BE49-F238E27FC236}">
                      <a16:creationId xmlns:a16="http://schemas.microsoft.com/office/drawing/2014/main" id="{352E77EB-F293-61B3-E970-041D435CEF67}"/>
                    </a:ext>
                  </a:extLst>
                </p:cNvPr>
                <p:cNvSpPr txBox="1">
                  <a:spLocks noRot="1" noChangeAspect="1" noMove="1" noResize="1" noEditPoints="1" noAdjustHandles="1" noChangeArrowheads="1" noChangeShapeType="1" noTextEdit="1"/>
                </p:cNvSpPr>
                <p:nvPr/>
              </p:nvSpPr>
              <p:spPr>
                <a:xfrm>
                  <a:off x="4390371" y="5802868"/>
                  <a:ext cx="575735" cy="369332"/>
                </a:xfrm>
                <a:prstGeom prst="rect">
                  <a:avLst/>
                </a:prstGeom>
                <a:blipFill>
                  <a:blip r:embed="rId10"/>
                  <a:stretch>
                    <a:fillRect/>
                  </a:stretch>
                </a:blipFill>
              </p:spPr>
              <p:txBody>
                <a:bodyPr/>
                <a:lstStyle/>
                <a:p>
                  <a:r>
                    <a:rPr lang="en-IN">
                      <a:noFill/>
                    </a:rPr>
                    <a:t> </a:t>
                  </a:r>
                </a:p>
              </p:txBody>
            </p:sp>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654283FD-0468-E592-C8CE-3A9002CCBECA}"/>
                  </a:ext>
                </a:extLst>
              </p:cNvPr>
              <p:cNvSpPr txBox="1"/>
              <p:nvPr/>
            </p:nvSpPr>
            <p:spPr>
              <a:xfrm>
                <a:off x="1600200" y="2487883"/>
                <a:ext cx="5757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𝑾</m:t>
                          </m:r>
                        </m:e>
                        <m:sub>
                          <m:r>
                            <a:rPr lang="en-US" b="1" i="1" dirty="0" smtClean="0">
                              <a:solidFill>
                                <a:srgbClr val="7030A0"/>
                              </a:solidFill>
                              <a:latin typeface="Cambria Math" panose="02040503050406030204" pitchFamily="18" charset="0"/>
                            </a:rPr>
                            <m:t>𝟏</m:t>
                          </m:r>
                        </m:sub>
                      </m:sSub>
                    </m:oMath>
                  </m:oMathPara>
                </a14:m>
                <a:endParaRPr lang="en-IN" b="1" dirty="0"/>
              </a:p>
            </p:txBody>
          </p:sp>
        </mc:Choice>
        <mc:Fallback xmlns="">
          <p:sp>
            <p:nvSpPr>
              <p:cNvPr id="24" name="TextBox 23">
                <a:extLst>
                  <a:ext uri="{FF2B5EF4-FFF2-40B4-BE49-F238E27FC236}">
                    <a16:creationId xmlns:a16="http://schemas.microsoft.com/office/drawing/2014/main" id="{654283FD-0468-E592-C8CE-3A9002CCBECA}"/>
                  </a:ext>
                </a:extLst>
              </p:cNvPr>
              <p:cNvSpPr txBox="1">
                <a:spLocks noRot="1" noChangeAspect="1" noMove="1" noResize="1" noEditPoints="1" noAdjustHandles="1" noChangeArrowheads="1" noChangeShapeType="1" noTextEdit="1"/>
              </p:cNvSpPr>
              <p:nvPr/>
            </p:nvSpPr>
            <p:spPr>
              <a:xfrm>
                <a:off x="1600200" y="2487883"/>
                <a:ext cx="575735" cy="369332"/>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D7F15B33-C1A8-4DA7-0BDD-2B6C37397675}"/>
                  </a:ext>
                </a:extLst>
              </p:cNvPr>
              <p:cNvSpPr txBox="1"/>
              <p:nvPr/>
            </p:nvSpPr>
            <p:spPr>
              <a:xfrm>
                <a:off x="1647728" y="3127650"/>
                <a:ext cx="5757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𝑾</m:t>
                          </m:r>
                        </m:e>
                        <m:sub>
                          <m:r>
                            <a:rPr lang="en-US" b="1" i="1" dirty="0" smtClean="0">
                              <a:solidFill>
                                <a:srgbClr val="7030A0"/>
                              </a:solidFill>
                              <a:latin typeface="Cambria Math" panose="02040503050406030204" pitchFamily="18" charset="0"/>
                            </a:rPr>
                            <m:t>𝟐</m:t>
                          </m:r>
                        </m:sub>
                      </m:sSub>
                    </m:oMath>
                  </m:oMathPara>
                </a14:m>
                <a:endParaRPr lang="en-IN" b="1" dirty="0"/>
              </a:p>
            </p:txBody>
          </p:sp>
        </mc:Choice>
        <mc:Fallback xmlns="">
          <p:sp>
            <p:nvSpPr>
              <p:cNvPr id="25" name="TextBox 24">
                <a:extLst>
                  <a:ext uri="{FF2B5EF4-FFF2-40B4-BE49-F238E27FC236}">
                    <a16:creationId xmlns:a16="http://schemas.microsoft.com/office/drawing/2014/main" id="{D7F15B33-C1A8-4DA7-0BDD-2B6C37397675}"/>
                  </a:ext>
                </a:extLst>
              </p:cNvPr>
              <p:cNvSpPr txBox="1">
                <a:spLocks noRot="1" noChangeAspect="1" noMove="1" noResize="1" noEditPoints="1" noAdjustHandles="1" noChangeArrowheads="1" noChangeShapeType="1" noTextEdit="1"/>
              </p:cNvSpPr>
              <p:nvPr/>
            </p:nvSpPr>
            <p:spPr>
              <a:xfrm>
                <a:off x="1647728" y="3127650"/>
                <a:ext cx="575735" cy="36933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A6556E7-8CD6-CBEF-BE71-DEABCA6EC6DF}"/>
                  </a:ext>
                </a:extLst>
              </p:cNvPr>
              <p:cNvSpPr txBox="1"/>
              <p:nvPr/>
            </p:nvSpPr>
            <p:spPr>
              <a:xfrm>
                <a:off x="5862509" y="2487883"/>
                <a:ext cx="5581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smtClean="0">
                              <a:solidFill>
                                <a:srgbClr val="0070C0"/>
                              </a:solidFill>
                              <a:latin typeface="Cambria Math" panose="02040503050406030204" pitchFamily="18" charset="0"/>
                            </a:rPr>
                            <m:t>𝑴</m:t>
                          </m:r>
                        </m:e>
                        <m:sub>
                          <m:r>
                            <a:rPr lang="en-US" b="1" i="1" dirty="0" smtClean="0">
                              <a:solidFill>
                                <a:srgbClr val="0070C0"/>
                              </a:solidFill>
                              <a:latin typeface="Cambria Math" panose="02040503050406030204" pitchFamily="18" charset="0"/>
                            </a:rPr>
                            <m:t>𝟏</m:t>
                          </m:r>
                        </m:sub>
                      </m:sSub>
                    </m:oMath>
                  </m:oMathPara>
                </a14:m>
                <a:endParaRPr lang="en-IN" b="1" dirty="0"/>
              </a:p>
            </p:txBody>
          </p:sp>
        </mc:Choice>
        <mc:Fallback xmlns="">
          <p:sp>
            <p:nvSpPr>
              <p:cNvPr id="26" name="TextBox 25">
                <a:extLst>
                  <a:ext uri="{FF2B5EF4-FFF2-40B4-BE49-F238E27FC236}">
                    <a16:creationId xmlns:a16="http://schemas.microsoft.com/office/drawing/2014/main" id="{6A6556E7-8CD6-CBEF-BE71-DEABCA6EC6DF}"/>
                  </a:ext>
                </a:extLst>
              </p:cNvPr>
              <p:cNvSpPr txBox="1">
                <a:spLocks noRot="1" noChangeAspect="1" noMove="1" noResize="1" noEditPoints="1" noAdjustHandles="1" noChangeArrowheads="1" noChangeShapeType="1" noTextEdit="1"/>
              </p:cNvSpPr>
              <p:nvPr/>
            </p:nvSpPr>
            <p:spPr>
              <a:xfrm>
                <a:off x="5862509" y="2487883"/>
                <a:ext cx="558102" cy="369332"/>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3349260A-E66F-4721-F5D2-DEBF37006C2F}"/>
                  </a:ext>
                </a:extLst>
              </p:cNvPr>
              <p:cNvSpPr txBox="1"/>
              <p:nvPr/>
            </p:nvSpPr>
            <p:spPr>
              <a:xfrm>
                <a:off x="5842698" y="3127650"/>
                <a:ext cx="5581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smtClean="0">
                              <a:solidFill>
                                <a:srgbClr val="0070C0"/>
                              </a:solidFill>
                              <a:latin typeface="Cambria Math" panose="02040503050406030204" pitchFamily="18" charset="0"/>
                            </a:rPr>
                            <m:t>𝑴</m:t>
                          </m:r>
                        </m:e>
                        <m:sub>
                          <m:r>
                            <a:rPr lang="en-US" b="1" i="1" dirty="0" smtClean="0">
                              <a:solidFill>
                                <a:srgbClr val="0070C0"/>
                              </a:solidFill>
                              <a:latin typeface="Cambria Math" panose="02040503050406030204" pitchFamily="18" charset="0"/>
                            </a:rPr>
                            <m:t>𝟐</m:t>
                          </m:r>
                        </m:sub>
                      </m:sSub>
                    </m:oMath>
                  </m:oMathPara>
                </a14:m>
                <a:endParaRPr lang="en-IN" b="1" dirty="0"/>
              </a:p>
            </p:txBody>
          </p:sp>
        </mc:Choice>
        <mc:Fallback xmlns="">
          <p:sp>
            <p:nvSpPr>
              <p:cNvPr id="27" name="TextBox 26">
                <a:extLst>
                  <a:ext uri="{FF2B5EF4-FFF2-40B4-BE49-F238E27FC236}">
                    <a16:creationId xmlns:a16="http://schemas.microsoft.com/office/drawing/2014/main" id="{3349260A-E66F-4721-F5D2-DEBF37006C2F}"/>
                  </a:ext>
                </a:extLst>
              </p:cNvPr>
              <p:cNvSpPr txBox="1">
                <a:spLocks noRot="1" noChangeAspect="1" noMove="1" noResize="1" noEditPoints="1" noAdjustHandles="1" noChangeArrowheads="1" noChangeShapeType="1" noTextEdit="1"/>
              </p:cNvSpPr>
              <p:nvPr/>
            </p:nvSpPr>
            <p:spPr>
              <a:xfrm>
                <a:off x="5842698" y="3127650"/>
                <a:ext cx="558102" cy="369332"/>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DC44A703-F752-5FF2-4272-9CCB0EF5A7CA}"/>
                  </a:ext>
                </a:extLst>
              </p:cNvPr>
              <p:cNvSpPr txBox="1"/>
              <p:nvPr/>
            </p:nvSpPr>
            <p:spPr>
              <a:xfrm>
                <a:off x="1647727" y="4423782"/>
                <a:ext cx="5757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𝑾</m:t>
                          </m:r>
                        </m:e>
                        <m:sub>
                          <m:r>
                            <a:rPr lang="en-US" b="1" i="1" dirty="0" smtClean="0">
                              <a:solidFill>
                                <a:srgbClr val="7030A0"/>
                              </a:solidFill>
                              <a:latin typeface="Cambria Math" panose="02040503050406030204" pitchFamily="18" charset="0"/>
                            </a:rPr>
                            <m:t>𝟑</m:t>
                          </m:r>
                        </m:sub>
                      </m:sSub>
                    </m:oMath>
                  </m:oMathPara>
                </a14:m>
                <a:endParaRPr lang="en-IN" b="1" dirty="0"/>
              </a:p>
            </p:txBody>
          </p:sp>
        </mc:Choice>
        <mc:Fallback xmlns="">
          <p:sp>
            <p:nvSpPr>
              <p:cNvPr id="28" name="TextBox 27">
                <a:extLst>
                  <a:ext uri="{FF2B5EF4-FFF2-40B4-BE49-F238E27FC236}">
                    <a16:creationId xmlns:a16="http://schemas.microsoft.com/office/drawing/2014/main" id="{DC44A703-F752-5FF2-4272-9CCB0EF5A7CA}"/>
                  </a:ext>
                </a:extLst>
              </p:cNvPr>
              <p:cNvSpPr txBox="1">
                <a:spLocks noRot="1" noChangeAspect="1" noMove="1" noResize="1" noEditPoints="1" noAdjustHandles="1" noChangeArrowheads="1" noChangeShapeType="1" noTextEdit="1"/>
              </p:cNvSpPr>
              <p:nvPr/>
            </p:nvSpPr>
            <p:spPr>
              <a:xfrm>
                <a:off x="1647727" y="4423782"/>
                <a:ext cx="575735" cy="369332"/>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9ED98C6-887B-1ECF-7C64-C966E8DC662B}"/>
                  </a:ext>
                </a:extLst>
              </p:cNvPr>
              <p:cNvSpPr txBox="1"/>
              <p:nvPr/>
            </p:nvSpPr>
            <p:spPr>
              <a:xfrm>
                <a:off x="1639626" y="3791501"/>
                <a:ext cx="5757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7030A0"/>
                              </a:solidFill>
                              <a:latin typeface="Cambria Math" panose="02040503050406030204" pitchFamily="18" charset="0"/>
                            </a:rPr>
                          </m:ctrlPr>
                        </m:sSubPr>
                        <m:e>
                          <m:r>
                            <a:rPr lang="en-US" b="1" i="1" dirty="0" smtClean="0">
                              <a:solidFill>
                                <a:srgbClr val="7030A0"/>
                              </a:solidFill>
                              <a:latin typeface="Cambria Math" panose="02040503050406030204" pitchFamily="18" charset="0"/>
                            </a:rPr>
                            <m:t>𝑾</m:t>
                          </m:r>
                        </m:e>
                        <m:sub>
                          <m:r>
                            <a:rPr lang="en-US" b="1" i="1" dirty="0" smtClean="0">
                              <a:solidFill>
                                <a:srgbClr val="7030A0"/>
                              </a:solidFill>
                              <a:latin typeface="Cambria Math" panose="02040503050406030204" pitchFamily="18" charset="0"/>
                            </a:rPr>
                            <m:t>𝟒</m:t>
                          </m:r>
                        </m:sub>
                      </m:sSub>
                    </m:oMath>
                  </m:oMathPara>
                </a14:m>
                <a:endParaRPr lang="en-IN" b="1" dirty="0"/>
              </a:p>
            </p:txBody>
          </p:sp>
        </mc:Choice>
        <mc:Fallback xmlns="">
          <p:sp>
            <p:nvSpPr>
              <p:cNvPr id="29" name="TextBox 28">
                <a:extLst>
                  <a:ext uri="{FF2B5EF4-FFF2-40B4-BE49-F238E27FC236}">
                    <a16:creationId xmlns:a16="http://schemas.microsoft.com/office/drawing/2014/main" id="{79ED98C6-887B-1ECF-7C64-C966E8DC662B}"/>
                  </a:ext>
                </a:extLst>
              </p:cNvPr>
              <p:cNvSpPr txBox="1">
                <a:spLocks noRot="1" noChangeAspect="1" noMove="1" noResize="1" noEditPoints="1" noAdjustHandles="1" noChangeArrowheads="1" noChangeShapeType="1" noTextEdit="1"/>
              </p:cNvSpPr>
              <p:nvPr/>
            </p:nvSpPr>
            <p:spPr>
              <a:xfrm>
                <a:off x="1639626" y="3791501"/>
                <a:ext cx="575735" cy="369332"/>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285964EE-F981-7B93-61FE-D0EF8F77FE88}"/>
                  </a:ext>
                </a:extLst>
              </p:cNvPr>
              <p:cNvSpPr txBox="1"/>
              <p:nvPr/>
            </p:nvSpPr>
            <p:spPr>
              <a:xfrm>
                <a:off x="5862509" y="4423782"/>
                <a:ext cx="5581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smtClean="0">
                              <a:solidFill>
                                <a:srgbClr val="0070C0"/>
                              </a:solidFill>
                              <a:latin typeface="Cambria Math" panose="02040503050406030204" pitchFamily="18" charset="0"/>
                            </a:rPr>
                            <m:t>𝑴</m:t>
                          </m:r>
                        </m:e>
                        <m:sub>
                          <m:r>
                            <a:rPr lang="en-US" b="1" i="1" dirty="0" smtClean="0">
                              <a:solidFill>
                                <a:srgbClr val="0070C0"/>
                              </a:solidFill>
                              <a:latin typeface="Cambria Math" panose="02040503050406030204" pitchFamily="18" charset="0"/>
                            </a:rPr>
                            <m:t>𝟒</m:t>
                          </m:r>
                        </m:sub>
                      </m:sSub>
                    </m:oMath>
                  </m:oMathPara>
                </a14:m>
                <a:endParaRPr lang="en-IN" b="1" dirty="0"/>
              </a:p>
            </p:txBody>
          </p:sp>
        </mc:Choice>
        <mc:Fallback xmlns="">
          <p:sp>
            <p:nvSpPr>
              <p:cNvPr id="31" name="TextBox 30">
                <a:extLst>
                  <a:ext uri="{FF2B5EF4-FFF2-40B4-BE49-F238E27FC236}">
                    <a16:creationId xmlns:a16="http://schemas.microsoft.com/office/drawing/2014/main" id="{285964EE-F981-7B93-61FE-D0EF8F77FE88}"/>
                  </a:ext>
                </a:extLst>
              </p:cNvPr>
              <p:cNvSpPr txBox="1">
                <a:spLocks noRot="1" noChangeAspect="1" noMove="1" noResize="1" noEditPoints="1" noAdjustHandles="1" noChangeArrowheads="1" noChangeShapeType="1" noTextEdit="1"/>
              </p:cNvSpPr>
              <p:nvPr/>
            </p:nvSpPr>
            <p:spPr>
              <a:xfrm>
                <a:off x="5862509" y="4423782"/>
                <a:ext cx="558102" cy="369332"/>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A93E6864-53B3-25BD-F495-735EE3AA781D}"/>
                  </a:ext>
                </a:extLst>
              </p:cNvPr>
              <p:cNvSpPr txBox="1"/>
              <p:nvPr/>
            </p:nvSpPr>
            <p:spPr>
              <a:xfrm>
                <a:off x="5835153" y="3751727"/>
                <a:ext cx="55810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smtClean="0">
                              <a:solidFill>
                                <a:srgbClr val="0070C0"/>
                              </a:solidFill>
                              <a:latin typeface="Cambria Math" panose="02040503050406030204" pitchFamily="18" charset="0"/>
                            </a:rPr>
                            <m:t>𝑴</m:t>
                          </m:r>
                        </m:e>
                        <m:sub>
                          <m:r>
                            <a:rPr lang="en-US" b="1" i="1" dirty="0" smtClean="0">
                              <a:solidFill>
                                <a:srgbClr val="0070C0"/>
                              </a:solidFill>
                              <a:latin typeface="Cambria Math" panose="02040503050406030204" pitchFamily="18" charset="0"/>
                            </a:rPr>
                            <m:t>𝟑</m:t>
                          </m:r>
                        </m:sub>
                      </m:sSub>
                    </m:oMath>
                  </m:oMathPara>
                </a14:m>
                <a:endParaRPr lang="en-IN" b="1" dirty="0"/>
              </a:p>
            </p:txBody>
          </p:sp>
        </mc:Choice>
        <mc:Fallback xmlns="">
          <p:sp>
            <p:nvSpPr>
              <p:cNvPr id="32" name="TextBox 31">
                <a:extLst>
                  <a:ext uri="{FF2B5EF4-FFF2-40B4-BE49-F238E27FC236}">
                    <a16:creationId xmlns:a16="http://schemas.microsoft.com/office/drawing/2014/main" id="{A93E6864-53B3-25BD-F495-735EE3AA781D}"/>
                  </a:ext>
                </a:extLst>
              </p:cNvPr>
              <p:cNvSpPr txBox="1">
                <a:spLocks noRot="1" noChangeAspect="1" noMove="1" noResize="1" noEditPoints="1" noAdjustHandles="1" noChangeArrowheads="1" noChangeShapeType="1" noTextEdit="1"/>
              </p:cNvSpPr>
              <p:nvPr/>
            </p:nvSpPr>
            <p:spPr>
              <a:xfrm>
                <a:off x="5835153" y="3751727"/>
                <a:ext cx="558102" cy="369332"/>
              </a:xfrm>
              <a:prstGeom prst="rect">
                <a:avLst/>
              </a:prstGeom>
              <a:blipFill>
                <a:blip r:embed="rId18"/>
                <a:stretch>
                  <a:fillRect/>
                </a:stretch>
              </a:blipFill>
            </p:spPr>
            <p:txBody>
              <a:bodyPr/>
              <a:lstStyle/>
              <a:p>
                <a:r>
                  <a:rPr lang="en-IN">
                    <a:noFill/>
                  </a:rPr>
                  <a:t> </a:t>
                </a:r>
              </a:p>
            </p:txBody>
          </p:sp>
        </mc:Fallback>
      </mc:AlternateContent>
      <p:sp>
        <p:nvSpPr>
          <p:cNvPr id="3" name="TextBox 2">
            <a:extLst>
              <a:ext uri="{FF2B5EF4-FFF2-40B4-BE49-F238E27FC236}">
                <a16:creationId xmlns:a16="http://schemas.microsoft.com/office/drawing/2014/main" id="{333FA52D-D46E-2A79-EF04-CB7FDEED9335}"/>
              </a:ext>
            </a:extLst>
          </p:cNvPr>
          <p:cNvSpPr txBox="1"/>
          <p:nvPr/>
        </p:nvSpPr>
        <p:spPr>
          <a:xfrm>
            <a:off x="2590800" y="5518650"/>
            <a:ext cx="5209183" cy="369332"/>
          </a:xfrm>
          <a:prstGeom prst="rect">
            <a:avLst/>
          </a:prstGeom>
          <a:solidFill>
            <a:srgbClr val="FFC000"/>
          </a:solidFill>
        </p:spPr>
        <p:txBody>
          <a:bodyPr wrap="none" rtlCol="0">
            <a:spAutoFit/>
          </a:bodyPr>
          <a:lstStyle/>
          <a:p>
            <a:r>
              <a:rPr lang="en-US" dirty="0"/>
              <a:t>This solution was arrived at interactively in the class.</a:t>
            </a:r>
            <a:endParaRPr lang="en-IN" dirty="0"/>
          </a:p>
        </p:txBody>
      </p:sp>
    </p:spTree>
    <p:extLst>
      <p:ext uri="{BB962C8B-B14F-4D97-AF65-F5344CB8AC3E}">
        <p14:creationId xmlns:p14="http://schemas.microsoft.com/office/powerpoint/2010/main" val="1945061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randombar(horizontal)">
                                      <p:cBhvr>
                                        <p:cTn id="14" dur="500"/>
                                        <p:tgtEl>
                                          <p:spTgt spid="5"/>
                                        </p:tgtEl>
                                      </p:cBhvr>
                                    </p:animEffect>
                                  </p:childTnLst>
                                </p:cTn>
                              </p:par>
                              <p:par>
                                <p:cTn id="15" presetID="14" presetClass="entr" presetSubtype="1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randombar(horizontal)">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randombar(horizontal)">
                                      <p:cBhvr>
                                        <p:cTn id="22" dur="500"/>
                                        <p:tgtEl>
                                          <p:spTgt spid="20"/>
                                        </p:tgtEl>
                                      </p:cBhvr>
                                    </p:animEffect>
                                  </p:childTnLst>
                                </p:cTn>
                              </p:par>
                              <p:par>
                                <p:cTn id="23" presetID="14" presetClass="entr" presetSubtype="1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randombar(horizont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p:cTn id="30" dur="500" fill="hold"/>
                                        <p:tgtEl>
                                          <p:spTgt spid="24"/>
                                        </p:tgtEl>
                                        <p:attrNameLst>
                                          <p:attrName>ppt_w</p:attrName>
                                        </p:attrNameLst>
                                      </p:cBhvr>
                                      <p:tavLst>
                                        <p:tav tm="0">
                                          <p:val>
                                            <p:fltVal val="0"/>
                                          </p:val>
                                        </p:tav>
                                        <p:tav tm="100000">
                                          <p:val>
                                            <p:strVal val="#ppt_w"/>
                                          </p:val>
                                        </p:tav>
                                      </p:tavLst>
                                    </p:anim>
                                    <p:anim calcmode="lin" valueType="num">
                                      <p:cBhvr>
                                        <p:cTn id="31" dur="500" fill="hold"/>
                                        <p:tgtEl>
                                          <p:spTgt spid="24"/>
                                        </p:tgtEl>
                                        <p:attrNameLst>
                                          <p:attrName>ppt_h</p:attrName>
                                        </p:attrNameLst>
                                      </p:cBhvr>
                                      <p:tavLst>
                                        <p:tav tm="0">
                                          <p:val>
                                            <p:fltVal val="0"/>
                                          </p:val>
                                        </p:tav>
                                        <p:tav tm="100000">
                                          <p:val>
                                            <p:strVal val="#ppt_h"/>
                                          </p:val>
                                        </p:tav>
                                      </p:tavLst>
                                    </p:anim>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p:cTn id="37" dur="500" fill="hold"/>
                                        <p:tgtEl>
                                          <p:spTgt spid="26"/>
                                        </p:tgtEl>
                                        <p:attrNameLst>
                                          <p:attrName>ppt_w</p:attrName>
                                        </p:attrNameLst>
                                      </p:cBhvr>
                                      <p:tavLst>
                                        <p:tav tm="0">
                                          <p:val>
                                            <p:fltVal val="0"/>
                                          </p:val>
                                        </p:tav>
                                        <p:tav tm="100000">
                                          <p:val>
                                            <p:strVal val="#ppt_w"/>
                                          </p:val>
                                        </p:tav>
                                      </p:tavLst>
                                    </p:anim>
                                    <p:anim calcmode="lin" valueType="num">
                                      <p:cBhvr>
                                        <p:cTn id="38" dur="500" fill="hold"/>
                                        <p:tgtEl>
                                          <p:spTgt spid="26"/>
                                        </p:tgtEl>
                                        <p:attrNameLst>
                                          <p:attrName>ppt_h</p:attrName>
                                        </p:attrNameLst>
                                      </p:cBhvr>
                                      <p:tavLst>
                                        <p:tav tm="0">
                                          <p:val>
                                            <p:fltVal val="0"/>
                                          </p:val>
                                        </p:tav>
                                        <p:tav tm="100000">
                                          <p:val>
                                            <p:strVal val="#ppt_h"/>
                                          </p:val>
                                        </p:tav>
                                      </p:tavLst>
                                    </p:anim>
                                    <p:animEffect transition="in" filter="fade">
                                      <p:cBhvr>
                                        <p:cTn id="39" dur="500"/>
                                        <p:tgtEl>
                                          <p:spTgt spid="26"/>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 calcmode="lin" valueType="num">
                                      <p:cBhvr>
                                        <p:cTn id="44" dur="500" fill="hold"/>
                                        <p:tgtEl>
                                          <p:spTgt spid="25"/>
                                        </p:tgtEl>
                                        <p:attrNameLst>
                                          <p:attrName>ppt_w</p:attrName>
                                        </p:attrNameLst>
                                      </p:cBhvr>
                                      <p:tavLst>
                                        <p:tav tm="0">
                                          <p:val>
                                            <p:fltVal val="0"/>
                                          </p:val>
                                        </p:tav>
                                        <p:tav tm="100000">
                                          <p:val>
                                            <p:strVal val="#ppt_w"/>
                                          </p:val>
                                        </p:tav>
                                      </p:tavLst>
                                    </p:anim>
                                    <p:anim calcmode="lin" valueType="num">
                                      <p:cBhvr>
                                        <p:cTn id="45" dur="500" fill="hold"/>
                                        <p:tgtEl>
                                          <p:spTgt spid="25"/>
                                        </p:tgtEl>
                                        <p:attrNameLst>
                                          <p:attrName>ppt_h</p:attrName>
                                        </p:attrNameLst>
                                      </p:cBhvr>
                                      <p:tavLst>
                                        <p:tav tm="0">
                                          <p:val>
                                            <p:fltVal val="0"/>
                                          </p:val>
                                        </p:tav>
                                        <p:tav tm="100000">
                                          <p:val>
                                            <p:strVal val="#ppt_h"/>
                                          </p:val>
                                        </p:tav>
                                      </p:tavLst>
                                    </p:anim>
                                    <p:animEffect transition="in" filter="fade">
                                      <p:cBhvr>
                                        <p:cTn id="46" dur="5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27"/>
                                        </p:tgtEl>
                                        <p:attrNameLst>
                                          <p:attrName>style.visibility</p:attrName>
                                        </p:attrNameLst>
                                      </p:cBhvr>
                                      <p:to>
                                        <p:strVal val="visible"/>
                                      </p:to>
                                    </p:set>
                                    <p:anim calcmode="lin" valueType="num">
                                      <p:cBhvr>
                                        <p:cTn id="51" dur="500" fill="hold"/>
                                        <p:tgtEl>
                                          <p:spTgt spid="27"/>
                                        </p:tgtEl>
                                        <p:attrNameLst>
                                          <p:attrName>ppt_w</p:attrName>
                                        </p:attrNameLst>
                                      </p:cBhvr>
                                      <p:tavLst>
                                        <p:tav tm="0">
                                          <p:val>
                                            <p:fltVal val="0"/>
                                          </p:val>
                                        </p:tav>
                                        <p:tav tm="100000">
                                          <p:val>
                                            <p:strVal val="#ppt_w"/>
                                          </p:val>
                                        </p:tav>
                                      </p:tavLst>
                                    </p:anim>
                                    <p:anim calcmode="lin" valueType="num">
                                      <p:cBhvr>
                                        <p:cTn id="52" dur="500" fill="hold"/>
                                        <p:tgtEl>
                                          <p:spTgt spid="27"/>
                                        </p:tgtEl>
                                        <p:attrNameLst>
                                          <p:attrName>ppt_h</p:attrName>
                                        </p:attrNameLst>
                                      </p:cBhvr>
                                      <p:tavLst>
                                        <p:tav tm="0">
                                          <p:val>
                                            <p:fltVal val="0"/>
                                          </p:val>
                                        </p:tav>
                                        <p:tav tm="100000">
                                          <p:val>
                                            <p:strVal val="#ppt_h"/>
                                          </p:val>
                                        </p:tav>
                                      </p:tavLst>
                                    </p:anim>
                                    <p:animEffect transition="in" filter="fade">
                                      <p:cBhvr>
                                        <p:cTn id="53" dur="500"/>
                                        <p:tgtEl>
                                          <p:spTgt spid="27"/>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anim calcmode="lin" valueType="num">
                                      <p:cBhvr>
                                        <p:cTn id="58" dur="500" fill="hold"/>
                                        <p:tgtEl>
                                          <p:spTgt spid="29"/>
                                        </p:tgtEl>
                                        <p:attrNameLst>
                                          <p:attrName>ppt_w</p:attrName>
                                        </p:attrNameLst>
                                      </p:cBhvr>
                                      <p:tavLst>
                                        <p:tav tm="0">
                                          <p:val>
                                            <p:fltVal val="0"/>
                                          </p:val>
                                        </p:tav>
                                        <p:tav tm="100000">
                                          <p:val>
                                            <p:strVal val="#ppt_w"/>
                                          </p:val>
                                        </p:tav>
                                      </p:tavLst>
                                    </p:anim>
                                    <p:anim calcmode="lin" valueType="num">
                                      <p:cBhvr>
                                        <p:cTn id="59" dur="500" fill="hold"/>
                                        <p:tgtEl>
                                          <p:spTgt spid="29"/>
                                        </p:tgtEl>
                                        <p:attrNameLst>
                                          <p:attrName>ppt_h</p:attrName>
                                        </p:attrNameLst>
                                      </p:cBhvr>
                                      <p:tavLst>
                                        <p:tav tm="0">
                                          <p:val>
                                            <p:fltVal val="0"/>
                                          </p:val>
                                        </p:tav>
                                        <p:tav tm="100000">
                                          <p:val>
                                            <p:strVal val="#ppt_h"/>
                                          </p:val>
                                        </p:tav>
                                      </p:tavLst>
                                    </p:anim>
                                    <p:animEffect transition="in" filter="fade">
                                      <p:cBhvr>
                                        <p:cTn id="60" dur="5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 calcmode="lin" valueType="num">
                                      <p:cBhvr>
                                        <p:cTn id="65" dur="500" fill="hold"/>
                                        <p:tgtEl>
                                          <p:spTgt spid="28"/>
                                        </p:tgtEl>
                                        <p:attrNameLst>
                                          <p:attrName>ppt_w</p:attrName>
                                        </p:attrNameLst>
                                      </p:cBhvr>
                                      <p:tavLst>
                                        <p:tav tm="0">
                                          <p:val>
                                            <p:fltVal val="0"/>
                                          </p:val>
                                        </p:tav>
                                        <p:tav tm="100000">
                                          <p:val>
                                            <p:strVal val="#ppt_w"/>
                                          </p:val>
                                        </p:tav>
                                      </p:tavLst>
                                    </p:anim>
                                    <p:anim calcmode="lin" valueType="num">
                                      <p:cBhvr>
                                        <p:cTn id="66" dur="500" fill="hold"/>
                                        <p:tgtEl>
                                          <p:spTgt spid="28"/>
                                        </p:tgtEl>
                                        <p:attrNameLst>
                                          <p:attrName>ppt_h</p:attrName>
                                        </p:attrNameLst>
                                      </p:cBhvr>
                                      <p:tavLst>
                                        <p:tav tm="0">
                                          <p:val>
                                            <p:fltVal val="0"/>
                                          </p:val>
                                        </p:tav>
                                        <p:tav tm="100000">
                                          <p:val>
                                            <p:strVal val="#ppt_h"/>
                                          </p:val>
                                        </p:tav>
                                      </p:tavLst>
                                    </p:anim>
                                    <p:animEffect transition="in" filter="fade">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 calcmode="lin" valueType="num">
                                      <p:cBhvr>
                                        <p:cTn id="72" dur="500" fill="hold"/>
                                        <p:tgtEl>
                                          <p:spTgt spid="32"/>
                                        </p:tgtEl>
                                        <p:attrNameLst>
                                          <p:attrName>ppt_w</p:attrName>
                                        </p:attrNameLst>
                                      </p:cBhvr>
                                      <p:tavLst>
                                        <p:tav tm="0">
                                          <p:val>
                                            <p:fltVal val="0"/>
                                          </p:val>
                                        </p:tav>
                                        <p:tav tm="100000">
                                          <p:val>
                                            <p:strVal val="#ppt_w"/>
                                          </p:val>
                                        </p:tav>
                                      </p:tavLst>
                                    </p:anim>
                                    <p:anim calcmode="lin" valueType="num">
                                      <p:cBhvr>
                                        <p:cTn id="73" dur="500" fill="hold"/>
                                        <p:tgtEl>
                                          <p:spTgt spid="32"/>
                                        </p:tgtEl>
                                        <p:attrNameLst>
                                          <p:attrName>ppt_h</p:attrName>
                                        </p:attrNameLst>
                                      </p:cBhvr>
                                      <p:tavLst>
                                        <p:tav tm="0">
                                          <p:val>
                                            <p:fltVal val="0"/>
                                          </p:val>
                                        </p:tav>
                                        <p:tav tm="100000">
                                          <p:val>
                                            <p:strVal val="#ppt_h"/>
                                          </p:val>
                                        </p:tav>
                                      </p:tavLst>
                                    </p:anim>
                                    <p:animEffect transition="in" filter="fade">
                                      <p:cBhvr>
                                        <p:cTn id="74" dur="5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31"/>
                                        </p:tgtEl>
                                        <p:attrNameLst>
                                          <p:attrName>style.visibility</p:attrName>
                                        </p:attrNameLst>
                                      </p:cBhvr>
                                      <p:to>
                                        <p:strVal val="visible"/>
                                      </p:to>
                                    </p:set>
                                    <p:anim calcmode="lin" valueType="num">
                                      <p:cBhvr>
                                        <p:cTn id="79" dur="500" fill="hold"/>
                                        <p:tgtEl>
                                          <p:spTgt spid="31"/>
                                        </p:tgtEl>
                                        <p:attrNameLst>
                                          <p:attrName>ppt_w</p:attrName>
                                        </p:attrNameLst>
                                      </p:cBhvr>
                                      <p:tavLst>
                                        <p:tav tm="0">
                                          <p:val>
                                            <p:fltVal val="0"/>
                                          </p:val>
                                        </p:tav>
                                        <p:tav tm="100000">
                                          <p:val>
                                            <p:strVal val="#ppt_w"/>
                                          </p:val>
                                        </p:tav>
                                      </p:tavLst>
                                    </p:anim>
                                    <p:anim calcmode="lin" valueType="num">
                                      <p:cBhvr>
                                        <p:cTn id="80" dur="500" fill="hold"/>
                                        <p:tgtEl>
                                          <p:spTgt spid="31"/>
                                        </p:tgtEl>
                                        <p:attrNameLst>
                                          <p:attrName>ppt_h</p:attrName>
                                        </p:attrNameLst>
                                      </p:cBhvr>
                                      <p:tavLst>
                                        <p:tav tm="0">
                                          <p:val>
                                            <p:fltVal val="0"/>
                                          </p:val>
                                        </p:tav>
                                        <p:tav tm="100000">
                                          <p:val>
                                            <p:strVal val="#ppt_h"/>
                                          </p:val>
                                        </p:tav>
                                      </p:tavLst>
                                    </p:anim>
                                    <p:animEffect transition="in" filter="fade">
                                      <p:cBhvr>
                                        <p:cTn id="81" dur="500"/>
                                        <p:tgtEl>
                                          <p:spTgt spid="31"/>
                                        </p:tgtEl>
                                      </p:cBhvr>
                                    </p:animEffec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grpId="0" nodeType="clickEffect">
                                  <p:stCondLst>
                                    <p:cond delay="0"/>
                                  </p:stCondLst>
                                  <p:childTnLst>
                                    <p:set>
                                      <p:cBhvr>
                                        <p:cTn id="85" dur="1" fill="hold">
                                          <p:stCondLst>
                                            <p:cond delay="0"/>
                                          </p:stCondLst>
                                        </p:cTn>
                                        <p:tgtEl>
                                          <p:spTgt spid="3"/>
                                        </p:tgtEl>
                                        <p:attrNameLst>
                                          <p:attrName>style.visibility</p:attrName>
                                        </p:attrNameLst>
                                      </p:cBhvr>
                                      <p:to>
                                        <p:strVal val="visible"/>
                                      </p:to>
                                    </p:set>
                                    <p:anim calcmode="lin" valueType="num">
                                      <p:cBhvr>
                                        <p:cTn id="86" dur="2000" fill="hold"/>
                                        <p:tgtEl>
                                          <p:spTgt spid="3"/>
                                        </p:tgtEl>
                                        <p:attrNameLst>
                                          <p:attrName>ppt_w</p:attrName>
                                        </p:attrNameLst>
                                      </p:cBhvr>
                                      <p:tavLst>
                                        <p:tav tm="0">
                                          <p:val>
                                            <p:fltVal val="0"/>
                                          </p:val>
                                        </p:tav>
                                        <p:tav tm="100000">
                                          <p:val>
                                            <p:strVal val="#ppt_w"/>
                                          </p:val>
                                        </p:tav>
                                      </p:tavLst>
                                    </p:anim>
                                    <p:anim calcmode="lin" valueType="num">
                                      <p:cBhvr>
                                        <p:cTn id="87" dur="2000" fill="hold"/>
                                        <p:tgtEl>
                                          <p:spTgt spid="3"/>
                                        </p:tgtEl>
                                        <p:attrNameLst>
                                          <p:attrName>ppt_h</p:attrName>
                                        </p:attrNameLst>
                                      </p:cBhvr>
                                      <p:tavLst>
                                        <p:tav tm="0">
                                          <p:val>
                                            <p:fltVal val="0"/>
                                          </p:val>
                                        </p:tav>
                                        <p:tav tm="100000">
                                          <p:val>
                                            <p:strVal val="#ppt_h"/>
                                          </p:val>
                                        </p:tav>
                                      </p:tavLst>
                                    </p:anim>
                                    <p:animEffect transition="in" filter="fade">
                                      <p:cBhvr>
                                        <p:cTn id="88"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4" grpId="0"/>
      <p:bldP spid="25" grpId="0"/>
      <p:bldP spid="26" grpId="0"/>
      <p:bldP spid="27" grpId="0"/>
      <p:bldP spid="28" grpId="0"/>
      <p:bldP spid="29" grpId="0"/>
      <p:bldP spid="31" grpId="0"/>
      <p:bldP spid="32" grpId="0"/>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1DEDEC-E73E-784B-9D57-9F297169963D}"/>
              </a:ext>
            </a:extLst>
          </p:cNvPr>
          <p:cNvSpPr>
            <a:spLocks noGrp="1"/>
          </p:cNvSpPr>
          <p:nvPr>
            <p:ph type="ctrTitle"/>
          </p:nvPr>
        </p:nvSpPr>
        <p:spPr/>
        <p:txBody>
          <a:bodyPr/>
          <a:lstStyle/>
          <a:p>
            <a:r>
              <a:rPr lang="en-US" b="1" dirty="0">
                <a:solidFill>
                  <a:srgbClr val="7030A0"/>
                </a:solidFill>
              </a:rPr>
              <a:t>Recap</a:t>
            </a:r>
            <a:r>
              <a:rPr lang="en-US" b="1" dirty="0"/>
              <a:t> of last lecture</a:t>
            </a:r>
          </a:p>
        </p:txBody>
      </p:sp>
      <p:sp>
        <p:nvSpPr>
          <p:cNvPr id="6" name="Subtitle 5">
            <a:extLst>
              <a:ext uri="{FF2B5EF4-FFF2-40B4-BE49-F238E27FC236}">
                <a16:creationId xmlns:a16="http://schemas.microsoft.com/office/drawing/2014/main" id="{BB3897CD-7E8B-CB43-99A6-410C50566A88}"/>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5DEA3E41-F7F0-0C4E-88A2-F5C683DE8BD2}"/>
              </a:ext>
            </a:extLst>
          </p:cNvPr>
          <p:cNvSpPr>
            <a:spLocks noGrp="1"/>
          </p:cNvSpPr>
          <p:nvPr>
            <p:ph type="sldNum" sz="quarter" idx="12"/>
          </p:nvPr>
        </p:nvSpPr>
        <p:spPr/>
        <p:txBody>
          <a:bodyPr/>
          <a:lstStyle/>
          <a:p>
            <a:pPr>
              <a:defRPr/>
            </a:pPr>
            <a:fld id="{147D3F34-CCFE-4664-990B-25D48250FF76}" type="slidenum">
              <a:rPr lang="en-US" smtClean="0"/>
              <a:pPr>
                <a:defRPr/>
              </a:pPr>
              <a:t>3</a:t>
            </a:fld>
            <a:endParaRPr lang="en-US"/>
          </a:p>
        </p:txBody>
      </p:sp>
    </p:spTree>
    <p:extLst>
      <p:ext uri="{BB962C8B-B14F-4D97-AF65-F5344CB8AC3E}">
        <p14:creationId xmlns:p14="http://schemas.microsoft.com/office/powerpoint/2010/main" val="1454235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600" b="1" dirty="0">
                <a:solidFill>
                  <a:srgbClr val="002060"/>
                </a:solidFill>
              </a:rPr>
              <a:t>Problem Definition</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152400" y="1600200"/>
                <a:ext cx="8991600" cy="4525963"/>
              </a:xfrm>
            </p:spPr>
            <p:txBody>
              <a:bodyPr/>
              <a:lstStyle/>
              <a:p>
                <a:pPr marL="0" indent="0">
                  <a:buNone/>
                </a:pPr>
                <a:r>
                  <a:rPr lang="en-US" sz="2000" b="1" dirty="0">
                    <a:solidFill>
                      <a:srgbClr val="7030A0"/>
                    </a:solidFill>
                  </a:rPr>
                  <a:t>Input</a:t>
                </a:r>
                <a:r>
                  <a:rPr lang="en-US" sz="2000" dirty="0"/>
                  <a:t>: A directed graph </a:t>
                </a:r>
                <a14:m>
                  <m:oMath xmlns:m="http://schemas.openxmlformats.org/officeDocument/2006/math">
                    <m:r>
                      <a:rPr lang="en-US" sz="2000" b="1" i="1" dirty="0" smtClean="0">
                        <a:solidFill>
                          <a:srgbClr val="0070C0"/>
                        </a:solidFill>
                        <a:latin typeface="Cambria Math"/>
                      </a:rPr>
                      <m:t>𝑮</m:t>
                    </m:r>
                    <m:r>
                      <a:rPr lang="en-US" sz="2000" b="1" i="1" dirty="0" smtClean="0">
                        <a:solidFill>
                          <a:schemeClr val="tx1"/>
                        </a:solidFill>
                        <a:latin typeface="Cambria Math"/>
                      </a:rPr>
                      <m:t>=(</m:t>
                    </m:r>
                    <m:r>
                      <a:rPr lang="en-US" sz="2000" b="1" i="1" dirty="0" smtClean="0">
                        <a:solidFill>
                          <a:srgbClr val="0070C0"/>
                        </a:solidFill>
                        <a:latin typeface="Cambria Math"/>
                      </a:rPr>
                      <m:t>𝑽</m:t>
                    </m:r>
                    <m:r>
                      <a:rPr lang="en-US" sz="2000" b="1" i="1" dirty="0" smtClean="0">
                        <a:solidFill>
                          <a:schemeClr val="tx1"/>
                        </a:solidFill>
                        <a:latin typeface="Cambria Math"/>
                      </a:rPr>
                      <m:t>,</m:t>
                    </m:r>
                    <m:r>
                      <a:rPr lang="en-US" sz="2000" b="1" i="1" dirty="0" smtClean="0">
                        <a:solidFill>
                          <a:srgbClr val="0070C0"/>
                        </a:solidFill>
                        <a:latin typeface="Cambria Math"/>
                      </a:rPr>
                      <m:t>𝑬</m:t>
                    </m:r>
                    <m:r>
                      <a:rPr lang="en-US" sz="2000" b="1" i="1" dirty="0" smtClean="0">
                        <a:solidFill>
                          <a:schemeClr val="tx1"/>
                        </a:solidFill>
                        <a:latin typeface="Cambria Math"/>
                      </a:rPr>
                      <m:t>)</m:t>
                    </m:r>
                  </m:oMath>
                </a14:m>
                <a:r>
                  <a:rPr lang="en-US" sz="2000" dirty="0"/>
                  <a:t> with </a:t>
                </a:r>
                <a14:m>
                  <m:oMath xmlns:m="http://schemas.openxmlformats.org/officeDocument/2006/math">
                    <m:r>
                      <a:rPr lang="en-US" sz="2000" b="1" i="1" dirty="0" smtClean="0">
                        <a:solidFill>
                          <a:srgbClr val="7030A0"/>
                        </a:solidFill>
                        <a:latin typeface="Cambria Math"/>
                      </a:rPr>
                      <m:t>𝝎</m:t>
                    </m:r>
                    <m:r>
                      <a:rPr lang="en-US" sz="2000" b="1" i="1" dirty="0" smtClean="0">
                        <a:solidFill>
                          <a:schemeClr val="tx1"/>
                        </a:solidFill>
                        <a:latin typeface="Cambria Math"/>
                      </a:rPr>
                      <m:t>:</m:t>
                    </m:r>
                    <m:r>
                      <a:rPr lang="en-US" sz="2000" b="1" i="1" dirty="0" smtClean="0">
                        <a:solidFill>
                          <a:srgbClr val="0070C0"/>
                        </a:solidFill>
                        <a:latin typeface="Cambria Math"/>
                      </a:rPr>
                      <m:t>𝑬</m:t>
                    </m:r>
                    <m:r>
                      <a:rPr lang="en-US" sz="2000" b="1" i="1" dirty="0" smtClean="0">
                        <a:solidFill>
                          <a:schemeClr val="tx1"/>
                        </a:solidFill>
                        <a:latin typeface="Cambria Math"/>
                      </a:rPr>
                      <m:t>→</m:t>
                    </m:r>
                    <m:sSup>
                      <m:sSupPr>
                        <m:ctrlPr>
                          <a:rPr lang="en-US" sz="2000" b="1" i="1" dirty="0" smtClean="0">
                            <a:solidFill>
                              <a:srgbClr val="0070C0"/>
                            </a:solidFill>
                            <a:latin typeface="Cambria Math" panose="02040503050406030204" pitchFamily="18" charset="0"/>
                          </a:rPr>
                        </m:ctrlPr>
                      </m:sSupPr>
                      <m:e>
                        <m:r>
                          <a:rPr lang="en-US" sz="2000" b="1" i="1" dirty="0" smtClean="0">
                            <a:solidFill>
                              <a:srgbClr val="0070C0"/>
                            </a:solidFill>
                            <a:latin typeface="Cambria Math"/>
                          </a:rPr>
                          <m:t>𝑹</m:t>
                        </m:r>
                      </m:e>
                      <m:sup>
                        <m:r>
                          <a:rPr lang="en-US" sz="2000" b="1" i="1" dirty="0" smtClean="0">
                            <a:solidFill>
                              <a:srgbClr val="0070C0"/>
                            </a:solidFill>
                            <a:latin typeface="Cambria Math"/>
                          </a:rPr>
                          <m:t>+</m:t>
                        </m:r>
                      </m:sup>
                    </m:sSup>
                  </m:oMath>
                </a14:m>
                <a:r>
                  <a:rPr lang="en-US" sz="2000" dirty="0"/>
                  <a:t>  and a source vertex </a:t>
                </a:r>
                <a14:m>
                  <m:oMath xmlns:m="http://schemas.openxmlformats.org/officeDocument/2006/math">
                    <m:r>
                      <a:rPr lang="en-US" sz="2000" b="1" i="1" dirty="0" smtClean="0">
                        <a:solidFill>
                          <a:srgbClr val="0070C0"/>
                        </a:solidFill>
                        <a:latin typeface="Cambria Math"/>
                      </a:rPr>
                      <m:t>𝒔</m:t>
                    </m:r>
                    <m:r>
                      <a:rPr lang="en-US" sz="2000" b="0" i="1" dirty="0" smtClean="0">
                        <a:solidFill>
                          <a:schemeClr val="tx1"/>
                        </a:solidFill>
                        <a:latin typeface="Cambria Math"/>
                      </a:rPr>
                      <m:t>∈</m:t>
                    </m:r>
                    <m:r>
                      <a:rPr lang="en-US" sz="2000" b="1" i="1" dirty="0">
                        <a:solidFill>
                          <a:srgbClr val="0070C0"/>
                        </a:solidFill>
                        <a:latin typeface="Cambria Math"/>
                      </a:rPr>
                      <m:t>𝑽</m:t>
                    </m:r>
                  </m:oMath>
                </a14:m>
                <a:endParaRPr lang="en-US" sz="2000" dirty="0"/>
              </a:p>
              <a:p>
                <a:pPr marL="0" indent="0">
                  <a:buNone/>
                </a:pPr>
                <a:endParaRPr lang="en-US" sz="2000" b="1" dirty="0">
                  <a:solidFill>
                    <a:srgbClr val="C00000"/>
                  </a:solidFill>
                </a:endParaRPr>
              </a:p>
              <a:p>
                <a:pPr marL="0" indent="0">
                  <a:buNone/>
                </a:pPr>
                <a:endParaRPr lang="en-US" sz="2000" b="1" dirty="0">
                  <a:solidFill>
                    <a:srgbClr val="C00000"/>
                  </a:solidFill>
                </a:endParaRPr>
              </a:p>
              <a:p>
                <a:pPr marL="0" indent="0">
                  <a:buNone/>
                </a:pPr>
                <a:r>
                  <a:rPr lang="en-US" sz="2000" b="1" dirty="0">
                    <a:solidFill>
                      <a:srgbClr val="C00000"/>
                    </a:solidFill>
                  </a:rPr>
                  <a:t>Aim</a:t>
                </a:r>
                <a:r>
                  <a:rPr lang="en-US" sz="2000" dirty="0"/>
                  <a:t>: </a:t>
                </a:r>
                <a:endParaRPr lang="en-US" sz="2000" b="1" i="1" dirty="0">
                  <a:solidFill>
                    <a:srgbClr val="0070C0"/>
                  </a:solidFill>
                  <a:latin typeface="Cambria Math"/>
                </a:endParaRPr>
              </a:p>
              <a:p>
                <a:r>
                  <a:rPr lang="en-US" sz="2000" dirty="0"/>
                  <a:t>	Compute the shortest path to </a:t>
                </a:r>
                <a14:m>
                  <m:oMath xmlns:m="http://schemas.openxmlformats.org/officeDocument/2006/math">
                    <m:r>
                      <a:rPr lang="en-US" sz="2000" b="1" i="1" dirty="0">
                        <a:solidFill>
                          <a:srgbClr val="0070C0"/>
                        </a:solidFill>
                        <a:latin typeface="Cambria Math"/>
                      </a:rPr>
                      <m:t>𝒗</m:t>
                    </m:r>
                    <m:r>
                      <a:rPr lang="en-US" sz="2000" b="1" i="1" dirty="0">
                        <a:solidFill>
                          <a:srgbClr val="0070C0"/>
                        </a:solidFill>
                        <a:latin typeface="Cambria Math"/>
                      </a:rPr>
                      <m:t> </m:t>
                    </m:r>
                  </m:oMath>
                </a14:m>
                <a:r>
                  <a:rPr lang="en-US" sz="2000" dirty="0"/>
                  <a:t>for all  </a:t>
                </a:r>
                <a14:m>
                  <m:oMath xmlns:m="http://schemas.openxmlformats.org/officeDocument/2006/math">
                    <m:r>
                      <a:rPr lang="en-US" sz="2000" b="1" i="1" dirty="0">
                        <a:solidFill>
                          <a:srgbClr val="0070C0"/>
                        </a:solidFill>
                        <a:latin typeface="Cambria Math"/>
                      </a:rPr>
                      <m:t>𝒗</m:t>
                    </m:r>
                    <m:r>
                      <a:rPr lang="en-US" sz="2000" i="1" dirty="0">
                        <a:latin typeface="Cambria Math"/>
                      </a:rPr>
                      <m:t>∈</m:t>
                    </m:r>
                    <m:r>
                      <a:rPr lang="en-US" sz="2000" b="1" i="1" dirty="0">
                        <a:solidFill>
                          <a:srgbClr val="0070C0"/>
                        </a:solidFill>
                        <a:latin typeface="Cambria Math"/>
                      </a:rPr>
                      <m:t>𝑽</m:t>
                    </m:r>
                    <m:r>
                      <a:rPr lang="en-US" sz="2000" b="1" i="1" dirty="0">
                        <a:latin typeface="Cambria Math"/>
                      </a:rPr>
                      <m:t>\</m:t>
                    </m:r>
                    <m:r>
                      <m:rPr>
                        <m:lit/>
                      </m:rPr>
                      <a:rPr lang="en-US" sz="2000" b="1" i="1" dirty="0">
                        <a:latin typeface="Cambria Math"/>
                      </a:rPr>
                      <m:t>{</m:t>
                    </m:r>
                    <m:r>
                      <a:rPr lang="en-US" sz="2000" b="1" i="1" dirty="0">
                        <a:solidFill>
                          <a:srgbClr val="0070C0"/>
                        </a:solidFill>
                        <a:latin typeface="Cambria Math"/>
                      </a:rPr>
                      <m:t>𝒔</m:t>
                    </m:r>
                    <m:r>
                      <a:rPr lang="en-US" sz="2000" b="1" i="1" dirty="0">
                        <a:latin typeface="Cambria Math"/>
                      </a:rPr>
                      <m:t>}</m:t>
                    </m:r>
                  </m:oMath>
                </a14:m>
                <a:endParaRPr lang="en-US" sz="2000" dirty="0"/>
              </a:p>
              <a:p>
                <a:pPr marL="0" indent="0">
                  <a:buNone/>
                </a:pPr>
                <a:endParaRPr lang="en-US" sz="2000" dirty="0"/>
              </a:p>
              <a:p>
                <a:pPr marL="0" indent="0">
                  <a:buNone/>
                </a:pPr>
                <a:r>
                  <a:rPr lang="en-US" sz="2000" b="1" dirty="0">
                    <a:solidFill>
                      <a:srgbClr val="7030A0"/>
                    </a:solidFill>
                  </a:rPr>
                  <a:t>Theorem</a:t>
                </a:r>
                <a:r>
                  <a:rPr lang="en-US" sz="2000" dirty="0"/>
                  <a:t>: </a:t>
                </a:r>
              </a:p>
              <a:p>
                <a:pPr marL="0" indent="0">
                  <a:buNone/>
                </a:pPr>
                <a:r>
                  <a:rPr lang="en-US" sz="2000" dirty="0"/>
                  <a:t>There exists an </a:t>
                </a:r>
                <a14:m>
                  <m:oMath xmlns:m="http://schemas.openxmlformats.org/officeDocument/2006/math">
                    <m:r>
                      <a:rPr lang="en-US" sz="2000" b="1" i="1" dirty="0" smtClean="0">
                        <a:latin typeface="Cambria Math" panose="02040503050406030204" pitchFamily="18" charset="0"/>
                      </a:rPr>
                      <m:t>𝑶</m:t>
                    </m:r>
                    <m:r>
                      <a:rPr lang="en-US" sz="2000" b="1" i="1" dirty="0" smtClean="0">
                        <a:latin typeface="Cambria Math" panose="02040503050406030204" pitchFamily="18" charset="0"/>
                      </a:rPr>
                      <m:t>((</m:t>
                    </m:r>
                    <m:r>
                      <a:rPr lang="en-US" sz="2000" b="1" i="1" dirty="0" smtClean="0">
                        <a:solidFill>
                          <a:srgbClr val="0070C0"/>
                        </a:solidFill>
                        <a:latin typeface="Cambria Math" panose="02040503050406030204" pitchFamily="18" charset="0"/>
                      </a:rPr>
                      <m:t>𝒎</m:t>
                    </m:r>
                    <m:r>
                      <a:rPr lang="en-US" sz="2000" b="1" i="1" dirty="0" err="1" smtClean="0">
                        <a:latin typeface="Cambria Math" panose="02040503050406030204" pitchFamily="18" charset="0"/>
                      </a:rPr>
                      <m:t>+</m:t>
                    </m:r>
                    <m:r>
                      <a:rPr lang="en-US" sz="2000" b="1" i="1" dirty="0" smtClean="0">
                        <a:solidFill>
                          <a:srgbClr val="0070C0"/>
                        </a:solidFill>
                        <a:latin typeface="Cambria Math" panose="02040503050406030204" pitchFamily="18" charset="0"/>
                      </a:rPr>
                      <m:t>𝒏</m:t>
                    </m:r>
                    <m:r>
                      <a:rPr lang="en-US" sz="2000" b="1" i="1" dirty="0" smtClean="0">
                        <a:latin typeface="Cambria Math" panose="02040503050406030204" pitchFamily="18" charset="0"/>
                      </a:rPr>
                      <m:t>) </m:t>
                    </m:r>
                    <m:r>
                      <a:rPr lang="en-US" sz="2000" b="1" i="0" dirty="0" smtClean="0">
                        <a:latin typeface="Cambria Math" panose="02040503050406030204" pitchFamily="18" charset="0"/>
                      </a:rPr>
                      <m:t>𝐥𝐨𝐠</m:t>
                    </m:r>
                    <m:r>
                      <a:rPr lang="en-US" sz="2000" b="1" i="1" dirty="0" smtClean="0">
                        <a:latin typeface="Cambria Math" panose="02040503050406030204" pitchFamily="18" charset="0"/>
                      </a:rPr>
                      <m:t>⁡</m:t>
                    </m:r>
                    <m:r>
                      <a:rPr lang="en-US" sz="2000" b="1" i="1" dirty="0" smtClean="0">
                        <a:solidFill>
                          <a:srgbClr val="0070C0"/>
                        </a:solidFill>
                        <a:latin typeface="Cambria Math" panose="02040503050406030204" pitchFamily="18" charset="0"/>
                      </a:rPr>
                      <m:t>𝒏</m:t>
                    </m:r>
                    <m:r>
                      <a:rPr lang="en-US" sz="2000" b="1" i="1" dirty="0" smtClean="0">
                        <a:latin typeface="Cambria Math" panose="02040503050406030204" pitchFamily="18" charset="0"/>
                      </a:rPr>
                      <m:t>)</m:t>
                    </m:r>
                  </m:oMath>
                </a14:m>
                <a:r>
                  <a:rPr lang="en-US" sz="2000" b="1" dirty="0"/>
                  <a:t> time </a:t>
                </a:r>
                <a:r>
                  <a:rPr lang="en-US" sz="2000" dirty="0"/>
                  <a:t>algorithm to build </a:t>
                </a:r>
                <a14:m>
                  <m:oMath xmlns:m="http://schemas.openxmlformats.org/officeDocument/2006/math">
                    <m:r>
                      <a:rPr lang="en-US" sz="2000" b="1" i="1" dirty="0">
                        <a:latin typeface="Cambria Math" panose="02040503050406030204" pitchFamily="18" charset="0"/>
                      </a:rPr>
                      <m:t>𝑶</m:t>
                    </m:r>
                    <m:r>
                      <a:rPr lang="en-US" sz="2000" b="1" i="1" dirty="0">
                        <a:latin typeface="Cambria Math" panose="02040503050406030204" pitchFamily="18" charset="0"/>
                      </a:rPr>
                      <m:t>(</m:t>
                    </m:r>
                    <m:r>
                      <a:rPr lang="en-US" sz="2000" b="1" i="1" dirty="0">
                        <a:solidFill>
                          <a:srgbClr val="0070C0"/>
                        </a:solidFill>
                        <a:latin typeface="Cambria Math" panose="02040503050406030204" pitchFamily="18" charset="0"/>
                      </a:rPr>
                      <m:t>𝒏</m:t>
                    </m:r>
                    <m:r>
                      <a:rPr lang="en-US" sz="2000" b="1" i="1" dirty="0">
                        <a:latin typeface="Cambria Math" panose="02040503050406030204" pitchFamily="18" charset="0"/>
                      </a:rPr>
                      <m:t>)</m:t>
                    </m:r>
                  </m:oMath>
                </a14:m>
                <a:r>
                  <a:rPr lang="en-US" sz="2000" b="1" dirty="0"/>
                  <a:t> size data structure</a:t>
                </a:r>
                <a:r>
                  <a:rPr lang="en-US" sz="2000" dirty="0"/>
                  <a:t> </a:t>
                </a:r>
              </a:p>
              <a:p>
                <a:pPr marL="0" indent="0">
                  <a:buNone/>
                </a:pPr>
                <a:r>
                  <a:rPr lang="en-US" sz="2000" dirty="0"/>
                  <a:t>that compactly stores shortest path to </a:t>
                </a:r>
                <a14:m>
                  <m:oMath xmlns:m="http://schemas.openxmlformats.org/officeDocument/2006/math">
                    <m:r>
                      <a:rPr lang="en-US" sz="2000" b="1" i="1" dirty="0">
                        <a:solidFill>
                          <a:srgbClr val="0070C0"/>
                        </a:solidFill>
                        <a:latin typeface="Cambria Math"/>
                      </a:rPr>
                      <m:t>𝒗</m:t>
                    </m:r>
                    <m:r>
                      <a:rPr lang="en-US" sz="2000" b="1" i="1" dirty="0">
                        <a:solidFill>
                          <a:srgbClr val="0070C0"/>
                        </a:solidFill>
                        <a:latin typeface="Cambria Math"/>
                      </a:rPr>
                      <m:t> </m:t>
                    </m:r>
                  </m:oMath>
                </a14:m>
                <a:r>
                  <a:rPr lang="en-US" sz="2000" dirty="0"/>
                  <a:t>for all  </a:t>
                </a:r>
                <a14:m>
                  <m:oMath xmlns:m="http://schemas.openxmlformats.org/officeDocument/2006/math">
                    <m:r>
                      <a:rPr lang="en-US" sz="2000" b="1" i="1" dirty="0">
                        <a:solidFill>
                          <a:srgbClr val="0070C0"/>
                        </a:solidFill>
                        <a:latin typeface="Cambria Math"/>
                      </a:rPr>
                      <m:t>𝒗</m:t>
                    </m:r>
                    <m:r>
                      <a:rPr lang="en-US" sz="2000" i="1" dirty="0">
                        <a:latin typeface="Cambria Math"/>
                      </a:rPr>
                      <m:t>∈</m:t>
                    </m:r>
                    <m:r>
                      <a:rPr lang="en-US" sz="2000" b="1" i="1" dirty="0">
                        <a:solidFill>
                          <a:srgbClr val="0070C0"/>
                        </a:solidFill>
                        <a:latin typeface="Cambria Math"/>
                      </a:rPr>
                      <m:t>𝑽</m:t>
                    </m:r>
                    <m:r>
                      <a:rPr lang="en-US" sz="2000" b="1" i="1" dirty="0">
                        <a:latin typeface="Cambria Math"/>
                      </a:rPr>
                      <m:t>\</m:t>
                    </m:r>
                    <m:r>
                      <m:rPr>
                        <m:lit/>
                      </m:rPr>
                      <a:rPr lang="en-US" sz="2000" b="1" i="1" dirty="0">
                        <a:latin typeface="Cambria Math"/>
                      </a:rPr>
                      <m:t>{</m:t>
                    </m:r>
                    <m:r>
                      <a:rPr lang="en-US" sz="2000" b="1" i="1" dirty="0">
                        <a:solidFill>
                          <a:srgbClr val="0070C0"/>
                        </a:solidFill>
                        <a:latin typeface="Cambria Math"/>
                      </a:rPr>
                      <m:t>𝒔</m:t>
                    </m:r>
                    <m:r>
                      <a:rPr lang="en-US" sz="2000" b="1" i="1" dirty="0">
                        <a:latin typeface="Cambria Math"/>
                      </a:rPr>
                      <m:t>}</m:t>
                    </m:r>
                  </m:oMath>
                </a14:m>
                <a:endParaRPr lang="en-US" sz="2000" dirty="0"/>
              </a:p>
              <a:p>
                <a:pPr marL="0" indent="0">
                  <a:buNone/>
                </a:pPr>
                <a:endParaRPr lang="en-US" sz="2000" b="1" dirty="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152400" y="1600200"/>
                <a:ext cx="8991600" cy="4525963"/>
              </a:xfrm>
              <a:blipFill>
                <a:blip r:embed="rId2"/>
                <a:stretch>
                  <a:fillRect l="-706" t="-84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92E9ED8-BBDD-47A1-9C62-8C7F2ACFBD70}" type="slidenum">
              <a:rPr lang="en-US" smtClean="0"/>
              <a:pPr>
                <a:defRPr/>
              </a:pPr>
              <a:t>4</a:t>
            </a:fld>
            <a:endParaRPr lang="en-US"/>
          </a:p>
        </p:txBody>
      </p:sp>
      <p:sp>
        <p:nvSpPr>
          <p:cNvPr id="7" name="Rectangle 6"/>
          <p:cNvSpPr/>
          <p:nvPr/>
        </p:nvSpPr>
        <p:spPr>
          <a:xfrm>
            <a:off x="3886200" y="1600200"/>
            <a:ext cx="16764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638800" y="1600200"/>
            <a:ext cx="28956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54EADE5-8916-8C51-B231-5E3C06D25213}"/>
              </a:ext>
            </a:extLst>
          </p:cNvPr>
          <p:cNvSpPr/>
          <p:nvPr/>
        </p:nvSpPr>
        <p:spPr>
          <a:xfrm>
            <a:off x="1465006" y="4112342"/>
            <a:ext cx="3945193"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344D55-FF7E-8622-B9DD-57D8FDC39882}"/>
              </a:ext>
            </a:extLst>
          </p:cNvPr>
          <p:cNvSpPr/>
          <p:nvPr/>
        </p:nvSpPr>
        <p:spPr>
          <a:xfrm>
            <a:off x="5410200" y="4114800"/>
            <a:ext cx="35814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167464-430F-A146-39CC-0FB073F3FCE5}"/>
              </a:ext>
            </a:extLst>
          </p:cNvPr>
          <p:cNvSpPr/>
          <p:nvPr/>
        </p:nvSpPr>
        <p:spPr>
          <a:xfrm>
            <a:off x="990600" y="3048000"/>
            <a:ext cx="2971799"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8D3BF0A-009F-CE03-0D4A-382E7FAACCE3}"/>
              </a:ext>
            </a:extLst>
          </p:cNvPr>
          <p:cNvSpPr/>
          <p:nvPr/>
        </p:nvSpPr>
        <p:spPr>
          <a:xfrm>
            <a:off x="3962399" y="3050458"/>
            <a:ext cx="3581401"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4364208-B3A5-4BB3-821C-F61D4CEB978F}"/>
              </a:ext>
            </a:extLst>
          </p:cNvPr>
          <p:cNvSpPr/>
          <p:nvPr/>
        </p:nvSpPr>
        <p:spPr>
          <a:xfrm>
            <a:off x="3962399" y="4456036"/>
            <a:ext cx="3945193"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19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1000"/>
                                        <p:tgtEl>
                                          <p:spTgt spid="7"/>
                                        </p:tgtEl>
                                      </p:cBhvr>
                                    </p:animEffect>
                                    <p:set>
                                      <p:cBhvr>
                                        <p:cTn id="12" dur="1" fill="hold">
                                          <p:stCondLst>
                                            <p:cond delay="9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1500"/>
                                        <p:tgtEl>
                                          <p:spTgt spid="8"/>
                                        </p:tgtEl>
                                      </p:cBhvr>
                                    </p:animEffect>
                                    <p:set>
                                      <p:cBhvr>
                                        <p:cTn id="17" dur="1" fill="hold">
                                          <p:stCondLst>
                                            <p:cond delay="1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fade">
                                      <p:cBhvr>
                                        <p:cTn id="27" dur="500"/>
                                        <p:tgtEl>
                                          <p:spTgt spid="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1000"/>
                                        <p:tgtEl>
                                          <p:spTgt spid="9"/>
                                        </p:tgtEl>
                                      </p:cBhvr>
                                    </p:animEffect>
                                    <p:set>
                                      <p:cBhvr>
                                        <p:cTn id="32" dur="1" fill="hold">
                                          <p:stCondLst>
                                            <p:cond delay="9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1500"/>
                                        <p:tgtEl>
                                          <p:spTgt spid="10"/>
                                        </p:tgtEl>
                                      </p:cBhvr>
                                    </p:animEffect>
                                    <p:set>
                                      <p:cBhvr>
                                        <p:cTn id="37" dur="1" fill="hold">
                                          <p:stCondLst>
                                            <p:cond delay="1499"/>
                                          </p:stCondLst>
                                        </p:cTn>
                                        <p:tgtEl>
                                          <p:spTgt spid="1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6" end="6"/>
                                            </p:txEl>
                                          </p:spTgt>
                                        </p:tgtEl>
                                        <p:attrNameLst>
                                          <p:attrName>style.visibility</p:attrName>
                                        </p:attrNameLst>
                                      </p:cBhvr>
                                      <p:to>
                                        <p:strVal val="visible"/>
                                      </p:to>
                                    </p:set>
                                    <p:animEffect transition="in" filter="fade">
                                      <p:cBhvr>
                                        <p:cTn id="42" dur="500"/>
                                        <p:tgtEl>
                                          <p:spTgt spid="6">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7" end="7"/>
                                            </p:txEl>
                                          </p:spTgt>
                                        </p:tgtEl>
                                        <p:attrNameLst>
                                          <p:attrName>style.visibility</p:attrName>
                                        </p:attrNameLst>
                                      </p:cBhvr>
                                      <p:to>
                                        <p:strVal val="visible"/>
                                      </p:to>
                                    </p:set>
                                    <p:animEffect transition="in" filter="wipe(left)">
                                      <p:cBhvr>
                                        <p:cTn id="47" dur="3500"/>
                                        <p:tgtEl>
                                          <p:spTgt spid="6">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xit" presetSubtype="8" fill="hold" grpId="0" nodeType="clickEffect">
                                  <p:stCondLst>
                                    <p:cond delay="0"/>
                                  </p:stCondLst>
                                  <p:childTnLst>
                                    <p:animEffect transition="out" filter="wipe(left)">
                                      <p:cBhvr>
                                        <p:cTn id="51" dur="1000"/>
                                        <p:tgtEl>
                                          <p:spTgt spid="2"/>
                                        </p:tgtEl>
                                      </p:cBhvr>
                                    </p:animEffect>
                                    <p:set>
                                      <p:cBhvr>
                                        <p:cTn id="52" dur="1" fill="hold">
                                          <p:stCondLst>
                                            <p:cond delay="999"/>
                                          </p:stCondLst>
                                        </p:cTn>
                                        <p:tgtEl>
                                          <p:spTgt spid="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22" presetClass="exit" presetSubtype="8" fill="hold" grpId="0" nodeType="clickEffect">
                                  <p:stCondLst>
                                    <p:cond delay="0"/>
                                  </p:stCondLst>
                                  <p:childTnLst>
                                    <p:animEffect transition="out" filter="wipe(left)">
                                      <p:cBhvr>
                                        <p:cTn id="56" dur="1500"/>
                                        <p:tgtEl>
                                          <p:spTgt spid="3"/>
                                        </p:tgtEl>
                                      </p:cBhvr>
                                    </p:animEffect>
                                    <p:set>
                                      <p:cBhvr>
                                        <p:cTn id="57" dur="1" fill="hold">
                                          <p:stCondLst>
                                            <p:cond delay="1499"/>
                                          </p:stCondLst>
                                        </p:cTn>
                                        <p:tgtEl>
                                          <p:spTgt spid="3"/>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
                                            <p:txEl>
                                              <p:pRg st="8" end="8"/>
                                            </p:txEl>
                                          </p:spTgt>
                                        </p:tgtEl>
                                        <p:attrNameLst>
                                          <p:attrName>style.visibility</p:attrName>
                                        </p:attrNameLst>
                                      </p:cBhvr>
                                      <p:to>
                                        <p:strVal val="visible"/>
                                      </p:to>
                                    </p:set>
                                    <p:animEffect transition="in" filter="wipe(left)">
                                      <p:cBhvr>
                                        <p:cTn id="62" dur="3500"/>
                                        <p:tgtEl>
                                          <p:spTgt spid="6">
                                            <p:txEl>
                                              <p:pRg st="8" end="8"/>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xit" presetSubtype="8" fill="hold" grpId="0" nodeType="clickEffect">
                                  <p:stCondLst>
                                    <p:cond delay="0"/>
                                  </p:stCondLst>
                                  <p:childTnLst>
                                    <p:animEffect transition="out" filter="wipe(left)">
                                      <p:cBhvr>
                                        <p:cTn id="66" dur="1000"/>
                                        <p:tgtEl>
                                          <p:spTgt spid="11"/>
                                        </p:tgtEl>
                                      </p:cBhvr>
                                    </p:animEffect>
                                    <p:set>
                                      <p:cBhvr>
                                        <p:cTn id="67" dur="1" fill="hold">
                                          <p:stCondLst>
                                            <p:cond delay="9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animBg="1"/>
      <p:bldP spid="8" grpId="0" animBg="1"/>
      <p:bldP spid="2" grpId="0" animBg="1"/>
      <p:bldP spid="3" grpId="0" animBg="1"/>
      <p:bldP spid="9" grpId="0" animBg="1"/>
      <p:bldP spid="10" grpId="0" animBg="1"/>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B2B50-1787-233C-CAEC-11F122271C6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7A6F2B5-5185-6D73-809E-48B554F37999}"/>
              </a:ext>
            </a:extLst>
          </p:cNvPr>
          <p:cNvSpPr>
            <a:spLocks noGrp="1"/>
          </p:cNvSpPr>
          <p:nvPr>
            <p:ph type="title"/>
          </p:nvPr>
        </p:nvSpPr>
        <p:spPr/>
        <p:txBody>
          <a:bodyPr/>
          <a:lstStyle/>
          <a:p>
            <a:r>
              <a:rPr lang="en-US" sz="3600" b="1" dirty="0">
                <a:solidFill>
                  <a:srgbClr val="7030A0"/>
                </a:solidFill>
              </a:rPr>
              <a:t>Take a pause</a:t>
            </a:r>
          </a:p>
        </p:txBody>
      </p:sp>
      <p:sp>
        <p:nvSpPr>
          <p:cNvPr id="6" name="Content Placeholder 5">
            <a:extLst>
              <a:ext uri="{FF2B5EF4-FFF2-40B4-BE49-F238E27FC236}">
                <a16:creationId xmlns:a16="http://schemas.microsoft.com/office/drawing/2014/main" id="{54F45E3B-8C93-8FA7-E8F1-0AEEB3437F4E}"/>
              </a:ext>
            </a:extLst>
          </p:cNvPr>
          <p:cNvSpPr>
            <a:spLocks noGrp="1"/>
          </p:cNvSpPr>
          <p:nvPr>
            <p:ph idx="1"/>
          </p:nvPr>
        </p:nvSpPr>
        <p:spPr>
          <a:xfrm>
            <a:off x="152400" y="1600200"/>
            <a:ext cx="8991600" cy="4525963"/>
          </a:xfrm>
        </p:spPr>
        <p:txBody>
          <a:bodyPr/>
          <a:lstStyle/>
          <a:p>
            <a:pPr marL="0" indent="0">
              <a:buNone/>
            </a:pPr>
            <a:r>
              <a:rPr lang="en-US" sz="2000" b="1" dirty="0">
                <a:solidFill>
                  <a:srgbClr val="7030A0"/>
                </a:solidFill>
              </a:rPr>
              <a:t>Maximum S</a:t>
            </a:r>
            <a:r>
              <a:rPr lang="en-US" sz="2000" b="1" dirty="0"/>
              <a:t>panning Tree                                          </a:t>
            </a:r>
            <a:r>
              <a:rPr lang="en-US" sz="2000" b="1" dirty="0">
                <a:solidFill>
                  <a:srgbClr val="7030A0"/>
                </a:solidFill>
              </a:rPr>
              <a:t>Minimum</a:t>
            </a:r>
            <a:r>
              <a:rPr lang="en-US" sz="2000" b="1" dirty="0"/>
              <a:t> Spanning tree </a:t>
            </a:r>
          </a:p>
          <a:p>
            <a:pPr marL="0" indent="0">
              <a:buNone/>
            </a:pPr>
            <a:endParaRPr lang="en-US" sz="2000" b="1" dirty="0"/>
          </a:p>
          <a:p>
            <a:pPr marL="0" indent="0">
              <a:buNone/>
            </a:pPr>
            <a:endParaRPr lang="en-US" sz="2000" b="1" dirty="0"/>
          </a:p>
          <a:p>
            <a:pPr marL="0" indent="0">
              <a:buNone/>
            </a:pPr>
            <a:endParaRPr lang="en-US" sz="2000" b="1" dirty="0"/>
          </a:p>
        </p:txBody>
      </p:sp>
      <p:sp>
        <p:nvSpPr>
          <p:cNvPr id="4" name="Slide Number Placeholder 3">
            <a:extLst>
              <a:ext uri="{FF2B5EF4-FFF2-40B4-BE49-F238E27FC236}">
                <a16:creationId xmlns:a16="http://schemas.microsoft.com/office/drawing/2014/main" id="{6E518EBF-AA74-E09E-5D8D-804FF2202A53}"/>
              </a:ext>
            </a:extLst>
          </p:cNvPr>
          <p:cNvSpPr>
            <a:spLocks noGrp="1"/>
          </p:cNvSpPr>
          <p:nvPr>
            <p:ph type="sldNum" sz="quarter" idx="12"/>
          </p:nvPr>
        </p:nvSpPr>
        <p:spPr/>
        <p:txBody>
          <a:bodyPr/>
          <a:lstStyle/>
          <a:p>
            <a:pPr>
              <a:defRPr/>
            </a:pPr>
            <a:fld id="{B92E9ED8-BBDD-47A1-9C62-8C7F2ACFBD70}" type="slidenum">
              <a:rPr lang="en-US" smtClean="0"/>
              <a:pPr>
                <a:defRPr/>
              </a:pPr>
              <a:t>5</a:t>
            </a:fld>
            <a:endParaRPr lang="en-US"/>
          </a:p>
        </p:txBody>
      </p:sp>
      <p:sp>
        <p:nvSpPr>
          <p:cNvPr id="7" name="Rectangle 6">
            <a:extLst>
              <a:ext uri="{FF2B5EF4-FFF2-40B4-BE49-F238E27FC236}">
                <a16:creationId xmlns:a16="http://schemas.microsoft.com/office/drawing/2014/main" id="{3A8F8899-342B-E4F6-E29E-B9324AD556C9}"/>
              </a:ext>
            </a:extLst>
          </p:cNvPr>
          <p:cNvSpPr/>
          <p:nvPr/>
        </p:nvSpPr>
        <p:spPr>
          <a:xfrm>
            <a:off x="5218944" y="1632870"/>
            <a:ext cx="2895599"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F259AC7-49FE-E6FF-F0ED-1404C3155C0F}"/>
              </a:ext>
            </a:extLst>
          </p:cNvPr>
          <p:cNvSpPr txBox="1"/>
          <p:nvPr/>
        </p:nvSpPr>
        <p:spPr>
          <a:xfrm>
            <a:off x="2971800" y="3943066"/>
            <a:ext cx="2939203" cy="369332"/>
          </a:xfrm>
          <a:prstGeom prst="rect">
            <a:avLst/>
          </a:prstGeom>
          <a:solidFill>
            <a:schemeClr val="accent2">
              <a:lumMod val="20000"/>
              <a:lumOff val="80000"/>
            </a:schemeClr>
          </a:solidFill>
        </p:spPr>
        <p:txBody>
          <a:bodyPr wrap="none" rtlCol="0">
            <a:spAutoFit/>
          </a:bodyPr>
          <a:lstStyle/>
          <a:p>
            <a:r>
              <a:rPr lang="en-US" b="1" dirty="0"/>
              <a:t>Longest path </a:t>
            </a:r>
            <a:r>
              <a:rPr lang="en-US" dirty="0"/>
              <a:t>to each vertex ?</a:t>
            </a:r>
          </a:p>
        </p:txBody>
      </p:sp>
      <p:sp>
        <p:nvSpPr>
          <p:cNvPr id="13" name="Curved Down Ribbon 12">
            <a:extLst>
              <a:ext uri="{FF2B5EF4-FFF2-40B4-BE49-F238E27FC236}">
                <a16:creationId xmlns:a16="http://schemas.microsoft.com/office/drawing/2014/main" id="{18B6DFD0-E362-2D73-092D-19FAEAB6CD57}"/>
              </a:ext>
            </a:extLst>
          </p:cNvPr>
          <p:cNvSpPr/>
          <p:nvPr/>
        </p:nvSpPr>
        <p:spPr>
          <a:xfrm>
            <a:off x="2117301" y="4669536"/>
            <a:ext cx="4648200" cy="1036114"/>
          </a:xfrm>
          <a:prstGeom prst="ellipseRibbon">
            <a:avLst>
              <a:gd name="adj1" fmla="val 25000"/>
              <a:gd name="adj2" fmla="val 69403"/>
              <a:gd name="adj3" fmla="val 12500"/>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 </a:t>
            </a:r>
            <a:r>
              <a:rPr lang="en-US" b="1" dirty="0">
                <a:solidFill>
                  <a:schemeClr val="tx1"/>
                </a:solidFill>
              </a:rPr>
              <a:t>polynomial time </a:t>
            </a:r>
            <a:r>
              <a:rPr lang="en-US" dirty="0">
                <a:solidFill>
                  <a:schemeClr val="tx1"/>
                </a:solidFill>
              </a:rPr>
              <a:t>algorithm till date !</a:t>
            </a:r>
          </a:p>
        </p:txBody>
      </p:sp>
      <p:sp>
        <p:nvSpPr>
          <p:cNvPr id="14" name="Arrow: Up-Down 13">
            <a:extLst>
              <a:ext uri="{FF2B5EF4-FFF2-40B4-BE49-F238E27FC236}">
                <a16:creationId xmlns:a16="http://schemas.microsoft.com/office/drawing/2014/main" id="{E0F6847D-C1B9-6D6A-2FD5-B4D30573C012}"/>
              </a:ext>
            </a:extLst>
          </p:cNvPr>
          <p:cNvSpPr/>
          <p:nvPr/>
        </p:nvSpPr>
        <p:spPr>
          <a:xfrm rot="16200000">
            <a:off x="3926882" y="1183971"/>
            <a:ext cx="484632" cy="1216152"/>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08855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500"/>
                                        <p:tgtEl>
                                          <p:spTgt spid="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randombar(horizontal)">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xit" presetSubtype="8" fill="hold" grpId="0" nodeType="clickEffect">
                                  <p:stCondLst>
                                    <p:cond delay="0"/>
                                  </p:stCondLst>
                                  <p:childTnLst>
                                    <p:animEffect transition="out" filter="wipe(left)">
                                      <p:cBhvr>
                                        <p:cTn id="23" dur="1000"/>
                                        <p:tgtEl>
                                          <p:spTgt spid="7"/>
                                        </p:tgtEl>
                                      </p:cBhvr>
                                    </p:animEffect>
                                    <p:set>
                                      <p:cBhvr>
                                        <p:cTn id="24" dur="1" fill="hold">
                                          <p:stCondLst>
                                            <p:cond delay="999"/>
                                          </p:stCondLst>
                                        </p:cTn>
                                        <p:tgtEl>
                                          <p:spTgt spid="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randombar(horizontal)">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3000" fill="hold"/>
                                        <p:tgtEl>
                                          <p:spTgt spid="13"/>
                                        </p:tgtEl>
                                        <p:attrNameLst>
                                          <p:attrName>ppt_w</p:attrName>
                                        </p:attrNameLst>
                                      </p:cBhvr>
                                      <p:tavLst>
                                        <p:tav tm="0">
                                          <p:val>
                                            <p:fltVal val="0"/>
                                          </p:val>
                                        </p:tav>
                                        <p:tav tm="100000">
                                          <p:val>
                                            <p:strVal val="#ppt_w"/>
                                          </p:val>
                                        </p:tav>
                                      </p:tavLst>
                                    </p:anim>
                                    <p:anim calcmode="lin" valueType="num">
                                      <p:cBhvr>
                                        <p:cTn id="35" dur="3000" fill="hold"/>
                                        <p:tgtEl>
                                          <p:spTgt spid="13"/>
                                        </p:tgtEl>
                                        <p:attrNameLst>
                                          <p:attrName>ppt_h</p:attrName>
                                        </p:attrNameLst>
                                      </p:cBhvr>
                                      <p:tavLst>
                                        <p:tav tm="0">
                                          <p:val>
                                            <p:fltVal val="0"/>
                                          </p:val>
                                        </p:tav>
                                        <p:tav tm="100000">
                                          <p:val>
                                            <p:strVal val="#ppt_h"/>
                                          </p:val>
                                        </p:tav>
                                      </p:tavLst>
                                    </p:anim>
                                    <p:animEffect transition="in" filter="fade">
                                      <p:cBhvr>
                                        <p:cTn id="36" dur="3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uiExpand="1" build="p"/>
      <p:bldP spid="7" grpId="0" animBg="1"/>
      <p:bldP spid="12"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D8A0C-E164-37CF-6220-100BDA4589D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F81B9D1-2242-3A4A-81D3-52C283084E78}"/>
              </a:ext>
            </a:extLst>
          </p:cNvPr>
          <p:cNvSpPr>
            <a:spLocks noGrp="1"/>
          </p:cNvSpPr>
          <p:nvPr>
            <p:ph idx="1"/>
          </p:nvPr>
        </p:nvSpPr>
        <p:spPr>
          <a:xfrm>
            <a:off x="457200" y="746126"/>
            <a:ext cx="8229600" cy="5883274"/>
          </a:xfrm>
        </p:spPr>
        <p:txBody>
          <a:bodyPr/>
          <a:lstStyle/>
          <a:p>
            <a:pPr marL="0" indent="0">
              <a:buNone/>
            </a:pPr>
            <a:r>
              <a:rPr lang="en-US" sz="1800" dirty="0"/>
              <a:t>Imagine there were no research in Algorithms. And you are asked to write a program to compute shortest paths from source s to every vertex. Your first attempt would have been to enumerate all paths from source and then report the path which is shortest. But the number of paths from source to any vertex can be exponential. So you would have felt the hardness of the shortest paths problem. May be, you would work hard with perseverance for weeks, and end up designing the algorithm which we call Dijkstra’s algorithm today.</a:t>
            </a:r>
          </a:p>
          <a:p>
            <a:pPr marL="0" indent="0">
              <a:buNone/>
            </a:pPr>
            <a:endParaRPr lang="en-US" sz="1800" dirty="0"/>
          </a:p>
          <a:p>
            <a:pPr marL="0" indent="0">
              <a:buNone/>
            </a:pPr>
            <a:r>
              <a:rPr lang="en-US" sz="1800" dirty="0"/>
              <a:t>But consider the situation now when the area of algorithm is quite developed (very active for more than 50 years). But the best algorithm the researchers have designed till date for the longest paths problem takes exponential time ! What would be your reaction to this reality ? </a:t>
            </a:r>
          </a:p>
          <a:p>
            <a:r>
              <a:rPr lang="en-US" sz="1800" dirty="0"/>
              <a:t>Frustration, feeling down ?  (not good for a person with true scientific spirit)</a:t>
            </a:r>
          </a:p>
          <a:p>
            <a:r>
              <a:rPr lang="en-US" sz="1800" dirty="0"/>
              <a:t>Curiosity (natural)</a:t>
            </a:r>
          </a:p>
          <a:p>
            <a:pPr marL="0" indent="0">
              <a:buNone/>
            </a:pPr>
            <a:r>
              <a:rPr lang="en-US" sz="1800" dirty="0"/>
              <a:t>There are hundreds of such algorithmic problems in computer science for which the fastest algorithm till date takes only exponential time. </a:t>
            </a:r>
          </a:p>
          <a:p>
            <a:pPr marL="0" indent="0">
              <a:buNone/>
            </a:pPr>
            <a:r>
              <a:rPr lang="en-US" sz="1800" dirty="0"/>
              <a:t>Towards the end of this course, we shall discuss a theory of such a family of problems.</a:t>
            </a:r>
          </a:p>
          <a:p>
            <a:pPr marL="0" indent="0">
              <a:buNone/>
            </a:pPr>
            <a:r>
              <a:rPr lang="en-US" sz="1800" dirty="0"/>
              <a:t>                                      “Theory of NP complete problems”</a:t>
            </a:r>
          </a:p>
          <a:p>
            <a:pPr marL="0" indent="0" algn="ctr">
              <a:buNone/>
            </a:pPr>
            <a:r>
              <a:rPr lang="en-US" sz="1800" dirty="0"/>
              <a:t>With this note, we begin today’s lecture.</a:t>
            </a:r>
            <a:endParaRPr lang="en-IN" sz="1800" dirty="0"/>
          </a:p>
        </p:txBody>
      </p:sp>
      <p:sp>
        <p:nvSpPr>
          <p:cNvPr id="4" name="Slide Number Placeholder 3">
            <a:extLst>
              <a:ext uri="{FF2B5EF4-FFF2-40B4-BE49-F238E27FC236}">
                <a16:creationId xmlns:a16="http://schemas.microsoft.com/office/drawing/2014/main" id="{D1BEF7CB-12D3-495B-F2EA-42AA77263326}"/>
              </a:ext>
            </a:extLst>
          </p:cNvPr>
          <p:cNvSpPr>
            <a:spLocks noGrp="1"/>
          </p:cNvSpPr>
          <p:nvPr>
            <p:ph type="sldNum" sz="quarter" idx="12"/>
          </p:nvPr>
        </p:nvSpPr>
        <p:spPr/>
        <p:txBody>
          <a:bodyPr/>
          <a:lstStyle/>
          <a:p>
            <a:pPr>
              <a:defRPr/>
            </a:pPr>
            <a:fld id="{147D3F34-CCFE-4664-990B-25D48250FF76}" type="slidenum">
              <a:rPr lang="en-US" smtClean="0"/>
              <a:pPr>
                <a:defRPr/>
              </a:pPr>
              <a:t>6</a:t>
            </a:fld>
            <a:endParaRPr lang="en-US"/>
          </a:p>
        </p:txBody>
      </p:sp>
    </p:spTree>
    <p:extLst>
      <p:ext uri="{BB962C8B-B14F-4D97-AF65-F5344CB8AC3E}">
        <p14:creationId xmlns:p14="http://schemas.microsoft.com/office/powerpoint/2010/main" val="352043859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randombar(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randombar(horizontal)">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randombar(horizontal)">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US" sz="3600" b="1" dirty="0"/>
              <a:t>Directed </a:t>
            </a:r>
            <a:r>
              <a:rPr lang="en-US" sz="3600" b="1" dirty="0">
                <a:solidFill>
                  <a:srgbClr val="7030A0"/>
                </a:solidFill>
              </a:rPr>
              <a:t>Acyclic </a:t>
            </a:r>
            <a:r>
              <a:rPr lang="en-US" sz="3600" b="1" dirty="0"/>
              <a:t>Graphs</a:t>
            </a:r>
          </a:p>
        </p:txBody>
      </p:sp>
      <p:sp>
        <p:nvSpPr>
          <p:cNvPr id="6" name="Subtitle 5"/>
          <p:cNvSpPr>
            <a:spLocks noGrp="1"/>
          </p:cNvSpPr>
          <p:nvPr>
            <p:ph type="subTitle" idx="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7</a:t>
            </a:fld>
            <a:endParaRPr lang="en-US"/>
          </a:p>
        </p:txBody>
      </p:sp>
    </p:spTree>
    <p:extLst>
      <p:ext uri="{BB962C8B-B14F-4D97-AF65-F5344CB8AC3E}">
        <p14:creationId xmlns:p14="http://schemas.microsoft.com/office/powerpoint/2010/main" val="353148706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600" b="1" dirty="0"/>
              <a:t>Directed</a:t>
            </a:r>
            <a:r>
              <a:rPr lang="en-US" sz="3600" b="1" dirty="0">
                <a:solidFill>
                  <a:srgbClr val="7030A0"/>
                </a:solidFill>
              </a:rPr>
              <a:t> Acyclic </a:t>
            </a:r>
            <a:r>
              <a:rPr lang="en-US" sz="3600" b="1" dirty="0"/>
              <a:t>Graphs</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457200" y="1295400"/>
                <a:ext cx="8229600" cy="4830763"/>
              </a:xfrm>
            </p:spPr>
            <p:txBody>
              <a:bodyPr/>
              <a:lstStyle/>
              <a:p>
                <a:pPr marL="0" indent="0">
                  <a:buNone/>
                </a:pPr>
                <a:r>
                  <a:rPr lang="en-US" sz="1800" b="1" dirty="0">
                    <a:solidFill>
                      <a:srgbClr val="C00000"/>
                    </a:solidFill>
                  </a:rPr>
                  <a:t>Question</a:t>
                </a:r>
                <a:r>
                  <a:rPr lang="en-US" sz="1800" dirty="0"/>
                  <a:t>: what is a cycle in </a:t>
                </a:r>
                <a14:m>
                  <m:oMath xmlns:m="http://schemas.openxmlformats.org/officeDocument/2006/math">
                    <m:r>
                      <a:rPr lang="en-US" sz="1800" b="1" i="1" dirty="0">
                        <a:solidFill>
                          <a:srgbClr val="0070C0"/>
                        </a:solidFill>
                        <a:latin typeface="Cambria Math"/>
                      </a:rPr>
                      <m:t>𝑮</m:t>
                    </m:r>
                  </m:oMath>
                </a14:m>
                <a:r>
                  <a:rPr lang="en-US" sz="1800" dirty="0"/>
                  <a:t>? </a:t>
                </a:r>
              </a:p>
              <a:p>
                <a:pPr marL="0" indent="0">
                  <a:buNone/>
                </a:pPr>
                <a:r>
                  <a:rPr lang="en-US" sz="1800" b="1" dirty="0"/>
                  <a:t>Answer</a:t>
                </a:r>
                <a:r>
                  <a:rPr lang="en-US" sz="1800" dirty="0"/>
                  <a:t>: A sequence </a:t>
                </a:r>
                <a14:m>
                  <m:oMath xmlns:m="http://schemas.openxmlformats.org/officeDocument/2006/math">
                    <m:sSub>
                      <m:sSubPr>
                        <m:ctrlPr>
                          <a:rPr lang="en-US" sz="1800" b="1" i="1" dirty="0">
                            <a:solidFill>
                              <a:srgbClr val="0070C0"/>
                            </a:solidFill>
                            <a:latin typeface="Cambria Math" panose="02040503050406030204" pitchFamily="18" charset="0"/>
                          </a:rPr>
                        </m:ctrlPr>
                      </m:sSubPr>
                      <m:e>
                        <m:r>
                          <a:rPr lang="en-US" sz="1800" b="1" i="1" dirty="0">
                            <a:solidFill>
                              <a:srgbClr val="0070C0"/>
                            </a:solidFill>
                            <a:latin typeface="Cambria Math"/>
                          </a:rPr>
                          <m:t>𝒗</m:t>
                        </m:r>
                      </m:e>
                      <m:sub>
                        <m:r>
                          <a:rPr lang="en-US" sz="1800" b="1" i="1" dirty="0">
                            <a:solidFill>
                              <a:srgbClr val="0070C0"/>
                            </a:solidFill>
                            <a:latin typeface="Cambria Math"/>
                          </a:rPr>
                          <m:t>𝟏</m:t>
                        </m:r>
                      </m:sub>
                    </m:sSub>
                  </m:oMath>
                </a14:m>
                <a:r>
                  <a:rPr lang="en-US" sz="1800" dirty="0"/>
                  <a:t>,</a:t>
                </a:r>
                <a:r>
                  <a:rPr lang="en-US" sz="1800" b="1" dirty="0">
                    <a:solidFill>
                      <a:srgbClr val="0070C0"/>
                    </a:solidFill>
                  </a:rPr>
                  <a:t> </a:t>
                </a:r>
                <a14:m>
                  <m:oMath xmlns:m="http://schemas.openxmlformats.org/officeDocument/2006/math">
                    <m:sSub>
                      <m:sSubPr>
                        <m:ctrlPr>
                          <a:rPr lang="en-US" sz="1800" b="1" i="1" dirty="0">
                            <a:solidFill>
                              <a:srgbClr val="0070C0"/>
                            </a:solidFill>
                            <a:latin typeface="Cambria Math" panose="02040503050406030204" pitchFamily="18" charset="0"/>
                          </a:rPr>
                        </m:ctrlPr>
                      </m:sSubPr>
                      <m:e>
                        <m:r>
                          <a:rPr lang="en-US" sz="1800" b="1" i="1" dirty="0">
                            <a:solidFill>
                              <a:srgbClr val="0070C0"/>
                            </a:solidFill>
                            <a:latin typeface="Cambria Math"/>
                          </a:rPr>
                          <m:t>𝒗</m:t>
                        </m:r>
                      </m:e>
                      <m:sub>
                        <m:r>
                          <a:rPr lang="en-US" sz="1800" b="1" i="1" dirty="0">
                            <a:solidFill>
                              <a:srgbClr val="0070C0"/>
                            </a:solidFill>
                            <a:latin typeface="Cambria Math"/>
                          </a:rPr>
                          <m:t>𝟐</m:t>
                        </m:r>
                      </m:sub>
                    </m:sSub>
                  </m:oMath>
                </a14:m>
                <a:r>
                  <a:rPr lang="en-US" sz="1800" dirty="0"/>
                  <a:t>,…, </a:t>
                </a:r>
                <a14:m>
                  <m:oMath xmlns:m="http://schemas.openxmlformats.org/officeDocument/2006/math">
                    <m:sSub>
                      <m:sSubPr>
                        <m:ctrlPr>
                          <a:rPr lang="en-US" sz="1800" b="1" i="1" dirty="0">
                            <a:solidFill>
                              <a:srgbClr val="0070C0"/>
                            </a:solidFill>
                            <a:latin typeface="Cambria Math" panose="02040503050406030204" pitchFamily="18" charset="0"/>
                          </a:rPr>
                        </m:ctrlPr>
                      </m:sSubPr>
                      <m:e>
                        <m:r>
                          <a:rPr lang="en-US" sz="1800" b="1" i="1" dirty="0">
                            <a:solidFill>
                              <a:srgbClr val="0070C0"/>
                            </a:solidFill>
                            <a:latin typeface="Cambria Math"/>
                          </a:rPr>
                          <m:t>𝒗</m:t>
                        </m:r>
                      </m:e>
                      <m:sub>
                        <m:r>
                          <a:rPr lang="en-US" sz="1800" b="1" i="1" dirty="0">
                            <a:solidFill>
                              <a:srgbClr val="0070C0"/>
                            </a:solidFill>
                            <a:latin typeface="Cambria Math"/>
                          </a:rPr>
                          <m:t>𝒌</m:t>
                        </m:r>
                      </m:sub>
                    </m:sSub>
                  </m:oMath>
                </a14:m>
                <a:r>
                  <a:rPr lang="en-US" sz="1800" dirty="0"/>
                  <a:t> such that (</a:t>
                </a:r>
                <a14:m>
                  <m:oMath xmlns:m="http://schemas.openxmlformats.org/officeDocument/2006/math">
                    <m:sSub>
                      <m:sSubPr>
                        <m:ctrlPr>
                          <a:rPr lang="en-US" sz="1800" b="1" i="1" dirty="0">
                            <a:solidFill>
                              <a:srgbClr val="0070C0"/>
                            </a:solidFill>
                            <a:latin typeface="Cambria Math" panose="02040503050406030204" pitchFamily="18" charset="0"/>
                          </a:rPr>
                        </m:ctrlPr>
                      </m:sSubPr>
                      <m:e>
                        <m:r>
                          <a:rPr lang="en-US" sz="1800" b="1" i="1" dirty="0">
                            <a:solidFill>
                              <a:srgbClr val="0070C0"/>
                            </a:solidFill>
                            <a:latin typeface="Cambria Math"/>
                          </a:rPr>
                          <m:t>𝒗</m:t>
                        </m:r>
                      </m:e>
                      <m:sub>
                        <m:r>
                          <a:rPr lang="en-US" sz="1800" b="1" i="1" dirty="0">
                            <a:solidFill>
                              <a:srgbClr val="0070C0"/>
                            </a:solidFill>
                            <a:latin typeface="Cambria Math"/>
                          </a:rPr>
                          <m:t>𝒊</m:t>
                        </m:r>
                      </m:sub>
                    </m:sSub>
                  </m:oMath>
                </a14:m>
                <a:r>
                  <a:rPr lang="en-US" sz="1800" dirty="0"/>
                  <a:t>,</a:t>
                </a:r>
                <a14:m>
                  <m:oMath xmlns:m="http://schemas.openxmlformats.org/officeDocument/2006/math">
                    <m:sSub>
                      <m:sSubPr>
                        <m:ctrlPr>
                          <a:rPr lang="en-US" sz="1800" b="1" i="1" dirty="0">
                            <a:solidFill>
                              <a:srgbClr val="0070C0"/>
                            </a:solidFill>
                            <a:latin typeface="Cambria Math" panose="02040503050406030204" pitchFamily="18" charset="0"/>
                          </a:rPr>
                        </m:ctrlPr>
                      </m:sSubPr>
                      <m:e>
                        <m:r>
                          <a:rPr lang="en-US" sz="1800" b="1" i="1" dirty="0">
                            <a:solidFill>
                              <a:srgbClr val="0070C0"/>
                            </a:solidFill>
                            <a:latin typeface="Cambria Math"/>
                          </a:rPr>
                          <m:t>𝒗</m:t>
                        </m:r>
                      </m:e>
                      <m:sub>
                        <m:r>
                          <a:rPr lang="en-US" sz="1800" b="1" i="1" dirty="0">
                            <a:solidFill>
                              <a:srgbClr val="0070C0"/>
                            </a:solidFill>
                            <a:latin typeface="Cambria Math"/>
                          </a:rPr>
                          <m:t>𝒊</m:t>
                        </m:r>
                        <m:r>
                          <a:rPr lang="en-US" sz="1800" b="1" i="1" dirty="0">
                            <a:solidFill>
                              <a:srgbClr val="0070C0"/>
                            </a:solidFill>
                            <a:latin typeface="Cambria Math"/>
                          </a:rPr>
                          <m:t>+</m:t>
                        </m:r>
                        <m:r>
                          <a:rPr lang="en-US" sz="1800" b="1" i="1" dirty="0">
                            <a:solidFill>
                              <a:srgbClr val="0070C0"/>
                            </a:solidFill>
                            <a:latin typeface="Cambria Math"/>
                          </a:rPr>
                          <m:t>𝟏</m:t>
                        </m:r>
                      </m:sub>
                    </m:sSub>
                  </m:oMath>
                </a14:m>
                <a:r>
                  <a:rPr lang="en-US" sz="1800" dirty="0"/>
                  <a:t>) </a:t>
                </a:r>
                <a14:m>
                  <m:oMath xmlns:m="http://schemas.openxmlformats.org/officeDocument/2006/math">
                    <m:r>
                      <a:rPr lang="en-US" sz="1800" i="1" dirty="0">
                        <a:latin typeface="Cambria Math"/>
                      </a:rPr>
                      <m:t>∈</m:t>
                    </m:r>
                    <m:r>
                      <a:rPr lang="en-US" sz="1800" b="1" i="1" dirty="0">
                        <a:solidFill>
                          <a:srgbClr val="0070C0"/>
                        </a:solidFill>
                        <a:latin typeface="Cambria Math"/>
                      </a:rPr>
                      <m:t>𝑬</m:t>
                    </m:r>
                  </m:oMath>
                </a14:m>
                <a:r>
                  <a:rPr lang="en-US" sz="1800" dirty="0"/>
                  <a:t> for all </a:t>
                </a:r>
                <a14:m>
                  <m:oMath xmlns:m="http://schemas.openxmlformats.org/officeDocument/2006/math">
                    <m:r>
                      <a:rPr lang="en-US" sz="1800" b="1" i="1" dirty="0">
                        <a:solidFill>
                          <a:srgbClr val="0070C0"/>
                        </a:solidFill>
                        <a:latin typeface="Cambria Math"/>
                      </a:rPr>
                      <m:t>𝟏</m:t>
                    </m:r>
                    <m:r>
                      <a:rPr lang="en-US" sz="1800" b="1" i="1" dirty="0">
                        <a:latin typeface="Cambria Math"/>
                      </a:rPr>
                      <m:t>≤</m:t>
                    </m:r>
                    <m:r>
                      <a:rPr lang="en-US" sz="1800" b="1" i="1" dirty="0">
                        <a:solidFill>
                          <a:srgbClr val="0070C0"/>
                        </a:solidFill>
                        <a:latin typeface="Cambria Math"/>
                      </a:rPr>
                      <m:t>𝒊</m:t>
                    </m:r>
                    <m:r>
                      <a:rPr lang="en-US" sz="1800" b="1" i="1" dirty="0">
                        <a:latin typeface="Cambria Math"/>
                      </a:rPr>
                      <m:t>&lt;</m:t>
                    </m:r>
                    <m:r>
                      <a:rPr lang="en-US" sz="1800" b="1" i="1" dirty="0">
                        <a:solidFill>
                          <a:srgbClr val="0070C0"/>
                        </a:solidFill>
                        <a:latin typeface="Cambria Math"/>
                      </a:rPr>
                      <m:t>𝒌</m:t>
                    </m:r>
                  </m:oMath>
                </a14:m>
                <a:endParaRPr lang="en-US" sz="1800" dirty="0"/>
              </a:p>
              <a:p>
                <a:pPr marL="0" indent="0">
                  <a:buNone/>
                </a:pPr>
                <a:r>
                  <a:rPr lang="en-US" sz="1800" dirty="0"/>
                  <a:t>                and (</a:t>
                </a:r>
                <a14:m>
                  <m:oMath xmlns:m="http://schemas.openxmlformats.org/officeDocument/2006/math">
                    <m:sSub>
                      <m:sSubPr>
                        <m:ctrlPr>
                          <a:rPr lang="en-US" sz="1800" b="1" i="1" dirty="0">
                            <a:solidFill>
                              <a:srgbClr val="0070C0"/>
                            </a:solidFill>
                            <a:latin typeface="Cambria Math" panose="02040503050406030204" pitchFamily="18" charset="0"/>
                          </a:rPr>
                        </m:ctrlPr>
                      </m:sSubPr>
                      <m:e>
                        <m:r>
                          <a:rPr lang="en-US" sz="1800" b="1" i="1" dirty="0">
                            <a:solidFill>
                              <a:srgbClr val="0070C0"/>
                            </a:solidFill>
                            <a:latin typeface="Cambria Math"/>
                          </a:rPr>
                          <m:t>𝒗</m:t>
                        </m:r>
                      </m:e>
                      <m:sub>
                        <m:r>
                          <a:rPr lang="en-US" sz="1800" b="1" i="1" dirty="0" smtClean="0">
                            <a:solidFill>
                              <a:srgbClr val="0070C0"/>
                            </a:solidFill>
                            <a:latin typeface="Cambria Math"/>
                          </a:rPr>
                          <m:t>𝒌</m:t>
                        </m:r>
                      </m:sub>
                    </m:sSub>
                  </m:oMath>
                </a14:m>
                <a:r>
                  <a:rPr lang="en-US" sz="1800" dirty="0"/>
                  <a:t>,</a:t>
                </a:r>
                <a14:m>
                  <m:oMath xmlns:m="http://schemas.openxmlformats.org/officeDocument/2006/math">
                    <m:sSub>
                      <m:sSubPr>
                        <m:ctrlPr>
                          <a:rPr lang="en-US" sz="1800" b="1" i="1" dirty="0">
                            <a:solidFill>
                              <a:srgbClr val="0070C0"/>
                            </a:solidFill>
                            <a:latin typeface="Cambria Math" panose="02040503050406030204" pitchFamily="18" charset="0"/>
                          </a:rPr>
                        </m:ctrlPr>
                      </m:sSubPr>
                      <m:e>
                        <m:r>
                          <a:rPr lang="en-US" sz="1800" b="1" i="1" dirty="0">
                            <a:solidFill>
                              <a:srgbClr val="0070C0"/>
                            </a:solidFill>
                            <a:latin typeface="Cambria Math"/>
                          </a:rPr>
                          <m:t>𝒗</m:t>
                        </m:r>
                      </m:e>
                      <m:sub>
                        <m:r>
                          <a:rPr lang="en-US" sz="1800" b="1" i="1" dirty="0">
                            <a:solidFill>
                              <a:srgbClr val="0070C0"/>
                            </a:solidFill>
                            <a:latin typeface="Cambria Math"/>
                          </a:rPr>
                          <m:t>𝟏</m:t>
                        </m:r>
                      </m:sub>
                    </m:sSub>
                  </m:oMath>
                </a14:m>
                <a:r>
                  <a:rPr lang="en-US" sz="1800" dirty="0"/>
                  <a:t>) </a:t>
                </a:r>
                <a14:m>
                  <m:oMath xmlns:m="http://schemas.openxmlformats.org/officeDocument/2006/math">
                    <m:r>
                      <a:rPr lang="en-US" sz="1800" i="1" dirty="0">
                        <a:latin typeface="Cambria Math"/>
                      </a:rPr>
                      <m:t>∈</m:t>
                    </m:r>
                    <m:r>
                      <a:rPr lang="en-US" sz="1800" b="1" i="1" dirty="0">
                        <a:solidFill>
                          <a:srgbClr val="0070C0"/>
                        </a:solidFill>
                        <a:latin typeface="Cambria Math"/>
                      </a:rPr>
                      <m:t>𝑬</m:t>
                    </m:r>
                  </m:oMath>
                </a14:m>
                <a:r>
                  <a:rPr lang="en-US" sz="1800" dirty="0"/>
                  <a:t> .</a:t>
                </a:r>
              </a:p>
              <a:p>
                <a:pPr marL="0" indent="0">
                  <a:buNone/>
                </a:pPr>
                <a:endParaRPr lang="en-US" sz="1800" dirty="0"/>
              </a:p>
              <a:p>
                <a:pPr marL="0" indent="0">
                  <a:buNone/>
                </a:pPr>
                <a:endParaRPr lang="en-US" sz="1800" b="1" dirty="0">
                  <a:solidFill>
                    <a:srgbClr val="C00000"/>
                  </a:solidFill>
                </a:endParaRPr>
              </a:p>
              <a:p>
                <a:pPr marL="0" indent="0">
                  <a:buNone/>
                </a:pPr>
                <a:endParaRPr lang="en-US" sz="1800" b="1" dirty="0">
                  <a:solidFill>
                    <a:srgbClr val="C00000"/>
                  </a:solidFill>
                </a:endParaRPr>
              </a:p>
              <a:p>
                <a:pPr marL="0" indent="0">
                  <a:buNone/>
                </a:pPr>
                <a:endParaRPr lang="en-US" sz="1800" b="1" dirty="0">
                  <a:solidFill>
                    <a:srgbClr val="C00000"/>
                  </a:solidFill>
                </a:endParaRPr>
              </a:p>
              <a:p>
                <a:pPr marL="0" indent="0">
                  <a:buNone/>
                </a:pPr>
                <a:endParaRPr lang="en-US" sz="1800" b="1" dirty="0">
                  <a:solidFill>
                    <a:srgbClr val="C00000"/>
                  </a:solidFill>
                </a:endParaRPr>
              </a:p>
              <a:p>
                <a:pPr marL="0" indent="0">
                  <a:buNone/>
                </a:pPr>
                <a:endParaRPr lang="en-US" sz="1800" b="1" dirty="0">
                  <a:solidFill>
                    <a:srgbClr val="C00000"/>
                  </a:solidFill>
                </a:endParaRPr>
              </a:p>
              <a:p>
                <a:pPr marL="0" indent="0">
                  <a:buNone/>
                </a:pPr>
                <a:endParaRPr lang="en-US" sz="1800" b="1" dirty="0">
                  <a:solidFill>
                    <a:srgbClr val="C00000"/>
                  </a:solidFill>
                </a:endParaRP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457200" y="1295400"/>
                <a:ext cx="8229600" cy="4830763"/>
              </a:xfrm>
              <a:blipFill rotWithShape="1">
                <a:blip r:embed="rId2"/>
                <a:stretch>
                  <a:fillRect l="-593" t="-63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92E9ED8-BBDD-47A1-9C62-8C7F2ACFBD70}" type="slidenum">
              <a:rPr lang="en-US" smtClean="0"/>
              <a:pPr>
                <a:defRPr/>
              </a:pPr>
              <a:t>8</a:t>
            </a:fld>
            <a:endParaRPr lang="en-US"/>
          </a:p>
        </p:txBody>
      </p:sp>
      <p:grpSp>
        <p:nvGrpSpPr>
          <p:cNvPr id="7" name="Group 6"/>
          <p:cNvGrpSpPr/>
          <p:nvPr/>
        </p:nvGrpSpPr>
        <p:grpSpPr>
          <a:xfrm>
            <a:off x="1828800" y="3135868"/>
            <a:ext cx="5873182" cy="750332"/>
            <a:chOff x="1828800" y="3886200"/>
            <a:chExt cx="5873182" cy="750332"/>
          </a:xfrm>
        </p:grpSpPr>
        <p:sp>
          <p:nvSpPr>
            <p:cNvPr id="8" name="Oval 7"/>
            <p:cNvSpPr/>
            <p:nvPr/>
          </p:nvSpPr>
          <p:spPr>
            <a:xfrm>
              <a:off x="19812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8194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6576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65532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73914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p:cNvSpPr txBox="1"/>
                <p:nvPr/>
              </p:nvSpPr>
              <p:spPr>
                <a:xfrm>
                  <a:off x="1828800" y="4267200"/>
                  <a:ext cx="4859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a:solidFill>
                                  <a:srgbClr val="0070C0"/>
                                </a:solidFill>
                                <a:latin typeface="Cambria Math" panose="02040503050406030204" pitchFamily="18" charset="0"/>
                              </a:rPr>
                            </m:ctrlPr>
                          </m:sSubPr>
                          <m:e>
                            <m:r>
                              <a:rPr lang="en-US" b="1" i="1" dirty="0">
                                <a:solidFill>
                                  <a:srgbClr val="0070C0"/>
                                </a:solidFill>
                                <a:latin typeface="Cambria Math"/>
                              </a:rPr>
                              <m:t>𝒗</m:t>
                            </m:r>
                          </m:e>
                          <m:sub>
                            <m:r>
                              <a:rPr lang="en-US" b="1" i="1" dirty="0">
                                <a:solidFill>
                                  <a:srgbClr val="0070C0"/>
                                </a:solidFill>
                                <a:latin typeface="Cambria Math"/>
                              </a:rPr>
                              <m:t>𝟏</m:t>
                            </m:r>
                          </m:sub>
                        </m:sSub>
                      </m:oMath>
                    </m:oMathPara>
                  </a14:m>
                  <a:endParaRPr lang="en-US" dirty="0"/>
                </a:p>
              </p:txBody>
            </p:sp>
          </mc:Choice>
          <mc:Fallback xmlns="">
            <p:sp>
              <p:nvSpPr>
                <p:cNvPr id="2" name="TextBox 1"/>
                <p:cNvSpPr txBox="1">
                  <a:spLocks noRot="1" noChangeAspect="1" noMove="1" noResize="1" noEditPoints="1" noAdjustHandles="1" noChangeArrowheads="1" noChangeShapeType="1" noTextEdit="1"/>
                </p:cNvSpPr>
                <p:nvPr/>
              </p:nvSpPr>
              <p:spPr>
                <a:xfrm>
                  <a:off x="1828800" y="4267200"/>
                  <a:ext cx="485967" cy="369332"/>
                </a:xfrm>
                <a:prstGeom prst="rect">
                  <a:avLst/>
                </a:prstGeom>
                <a:blipFill rotWithShape="1">
                  <a:blip r:embed="rId3"/>
                  <a:stretch>
                    <a:fillRect t="-8197" r="-15000"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714433" y="4267200"/>
                  <a:ext cx="4859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a:solidFill>
                                  <a:srgbClr val="0070C0"/>
                                </a:solidFill>
                                <a:latin typeface="Cambria Math"/>
                              </a:rPr>
                              <m:t>𝒗</m:t>
                            </m:r>
                          </m:e>
                          <m:sub>
                            <m:r>
                              <a:rPr lang="en-US" b="1" i="1" dirty="0" smtClean="0">
                                <a:solidFill>
                                  <a:srgbClr val="0070C0"/>
                                </a:solidFill>
                                <a:latin typeface="Cambria Math"/>
                              </a:rPr>
                              <m:t>𝟐</m:t>
                            </m:r>
                          </m:sub>
                        </m:sSub>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2714433" y="4267200"/>
                  <a:ext cx="485967" cy="369332"/>
                </a:xfrm>
                <a:prstGeom prst="rect">
                  <a:avLst/>
                </a:prstGeom>
                <a:blipFill rotWithShape="1">
                  <a:blip r:embed="rId4"/>
                  <a:stretch>
                    <a:fillRect t="-8197" r="-16250"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505200" y="4267200"/>
                  <a:ext cx="48596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a:solidFill>
                                  <a:srgbClr val="0070C0"/>
                                </a:solidFill>
                                <a:latin typeface="Cambria Math"/>
                              </a:rPr>
                              <m:t>𝒗</m:t>
                            </m:r>
                          </m:e>
                          <m:sub>
                            <m:r>
                              <a:rPr lang="en-US" b="1" i="1" dirty="0" smtClean="0">
                                <a:solidFill>
                                  <a:srgbClr val="0070C0"/>
                                </a:solidFill>
                                <a:latin typeface="Cambria Math"/>
                              </a:rPr>
                              <m:t>𝟑</m:t>
                            </m:r>
                          </m:sub>
                        </m:sSub>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3505200" y="4267200"/>
                  <a:ext cx="485967" cy="369332"/>
                </a:xfrm>
                <a:prstGeom prst="rect">
                  <a:avLst/>
                </a:prstGeom>
                <a:blipFill rotWithShape="1">
                  <a:blip r:embed="rId5"/>
                  <a:stretch>
                    <a:fillRect t="-8197" r="-15000"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6324600" y="4267200"/>
                  <a:ext cx="71038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a:solidFill>
                                  <a:srgbClr val="0070C0"/>
                                </a:solidFill>
                                <a:latin typeface="Cambria Math"/>
                              </a:rPr>
                              <m:t>𝒗</m:t>
                            </m:r>
                          </m:e>
                          <m:sub>
                            <m:r>
                              <a:rPr lang="en-US" b="1" i="1" dirty="0" smtClean="0">
                                <a:solidFill>
                                  <a:srgbClr val="0070C0"/>
                                </a:solidFill>
                                <a:latin typeface="Cambria Math"/>
                              </a:rPr>
                              <m:t>𝒌</m:t>
                            </m:r>
                            <m:r>
                              <a:rPr lang="en-US" b="1" i="1" dirty="0" smtClean="0">
                                <a:solidFill>
                                  <a:srgbClr val="0070C0"/>
                                </a:solidFill>
                                <a:latin typeface="Cambria Math"/>
                              </a:rPr>
                              <m:t>−</m:t>
                            </m:r>
                            <m:r>
                              <a:rPr lang="en-US" b="1" i="1" dirty="0" smtClean="0">
                                <a:solidFill>
                                  <a:srgbClr val="0070C0"/>
                                </a:solidFill>
                                <a:latin typeface="Cambria Math"/>
                              </a:rPr>
                              <m:t>𝟏</m:t>
                            </m:r>
                          </m:sub>
                        </m:sSub>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6324600" y="4267200"/>
                  <a:ext cx="710387" cy="369332"/>
                </a:xfrm>
                <a:prstGeom prst="rect">
                  <a:avLst/>
                </a:prstGeom>
                <a:blipFill rotWithShape="1">
                  <a:blip r:embed="rId6"/>
                  <a:stretch>
                    <a:fillRect t="-8197" r="-1120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7214413" y="4267200"/>
                  <a:ext cx="48756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dirty="0" smtClean="0">
                                <a:solidFill>
                                  <a:srgbClr val="0070C0"/>
                                </a:solidFill>
                                <a:latin typeface="Cambria Math" panose="02040503050406030204" pitchFamily="18" charset="0"/>
                              </a:rPr>
                            </m:ctrlPr>
                          </m:sSubPr>
                          <m:e>
                            <m:r>
                              <a:rPr lang="en-US" b="1" i="1" dirty="0">
                                <a:solidFill>
                                  <a:srgbClr val="0070C0"/>
                                </a:solidFill>
                                <a:latin typeface="Cambria Math"/>
                              </a:rPr>
                              <m:t>𝒗</m:t>
                            </m:r>
                          </m:e>
                          <m:sub>
                            <m:r>
                              <a:rPr lang="en-US" b="1" i="1" dirty="0" smtClean="0">
                                <a:solidFill>
                                  <a:srgbClr val="0070C0"/>
                                </a:solidFill>
                                <a:latin typeface="Cambria Math"/>
                              </a:rPr>
                              <m:t>𝒌</m:t>
                            </m:r>
                          </m:sub>
                        </m:sSub>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7214413" y="4267200"/>
                  <a:ext cx="487569" cy="369332"/>
                </a:xfrm>
                <a:prstGeom prst="rect">
                  <a:avLst/>
                </a:prstGeom>
                <a:blipFill rotWithShape="1">
                  <a:blip r:embed="rId7"/>
                  <a:stretch>
                    <a:fillRect t="-8197" r="-17500" b="-24590"/>
                  </a:stretch>
                </a:blipFill>
              </p:spPr>
              <p:txBody>
                <a:bodyPr/>
                <a:lstStyle/>
                <a:p>
                  <a:r>
                    <a:rPr lang="en-US">
                      <a:noFill/>
                    </a:rPr>
                    <a:t> </a:t>
                  </a:r>
                </a:p>
              </p:txBody>
            </p:sp>
          </mc:Fallback>
        </mc:AlternateContent>
        <p:cxnSp>
          <p:nvCxnSpPr>
            <p:cNvPr id="18" name="Straight Arrow Connector 17"/>
            <p:cNvCxnSpPr>
              <a:stCxn id="8" idx="6"/>
            </p:cNvCxnSpPr>
            <p:nvPr/>
          </p:nvCxnSpPr>
          <p:spPr>
            <a:xfrm>
              <a:off x="2133600" y="4267200"/>
              <a:ext cx="685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2971800" y="4267200"/>
              <a:ext cx="685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705600" y="4267200"/>
              <a:ext cx="685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4713202" y="3886200"/>
              <a:ext cx="468398" cy="584775"/>
            </a:xfrm>
            <a:prstGeom prst="rect">
              <a:avLst/>
            </a:prstGeom>
            <a:noFill/>
          </p:spPr>
          <p:txBody>
            <a:bodyPr wrap="none" rtlCol="0">
              <a:spAutoFit/>
            </a:bodyPr>
            <a:lstStyle/>
            <a:p>
              <a:r>
                <a:rPr lang="en-US" sz="3200" dirty="0"/>
                <a:t>…</a:t>
              </a:r>
            </a:p>
          </p:txBody>
        </p:sp>
      </p:grpSp>
      <p:sp>
        <p:nvSpPr>
          <p:cNvPr id="29" name="Curved Up Arrow 28"/>
          <p:cNvSpPr/>
          <p:nvPr/>
        </p:nvSpPr>
        <p:spPr>
          <a:xfrm flipH="1" flipV="1">
            <a:off x="1981200" y="2667000"/>
            <a:ext cx="5476996" cy="761255"/>
          </a:xfrm>
          <a:prstGeom prst="curvedUpArrow">
            <a:avLst>
              <a:gd name="adj1" fmla="val 0"/>
              <a:gd name="adj2" fmla="val 15532"/>
              <a:gd name="adj3" fmla="val 23512"/>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Rectangle 1"/>
          <p:cNvSpPr/>
          <p:nvPr/>
        </p:nvSpPr>
        <p:spPr>
          <a:xfrm>
            <a:off x="3733800" y="1524000"/>
            <a:ext cx="22098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5943600" y="1447800"/>
            <a:ext cx="22098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0903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6">
                                            <p:txEl>
                                              <p:pRg st="0" end="0"/>
                                            </p:txEl>
                                          </p:spTgt>
                                        </p:tgtEl>
                                        <p:attrNameLst>
                                          <p:attrName>style.visibility</p:attrName>
                                        </p:attrNameLst>
                                      </p:cBhvr>
                                      <p:to>
                                        <p:strVal val="visible"/>
                                      </p:to>
                                    </p:set>
                                    <p:animEffect transition="in" filter="fade">
                                      <p:cBhvr>
                                        <p:cTn id="14" dur="500"/>
                                        <p:tgtEl>
                                          <p:spTgt spid="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1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wipe(right)">
                                      <p:cBhvr>
                                        <p:cTn id="24" dur="1000"/>
                                        <p:tgtEl>
                                          <p:spTgt spid="2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Effect transition="in" filter="wipe(left)">
                                      <p:cBhvr>
                                        <p:cTn id="29" dur="4000"/>
                                        <p:tgtEl>
                                          <p:spTgt spid="6">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xit" presetSubtype="8" fill="hold" grpId="0" nodeType="clickEffect">
                                  <p:stCondLst>
                                    <p:cond delay="0"/>
                                  </p:stCondLst>
                                  <p:childTnLst>
                                    <p:animEffect transition="out" filter="wipe(left)">
                                      <p:cBhvr>
                                        <p:cTn id="33" dur="1000"/>
                                        <p:tgtEl>
                                          <p:spTgt spid="2"/>
                                        </p:tgtEl>
                                      </p:cBhvr>
                                    </p:animEffect>
                                    <p:set>
                                      <p:cBhvr>
                                        <p:cTn id="34" dur="1" fill="hold">
                                          <p:stCondLst>
                                            <p:cond delay="999"/>
                                          </p:stCondLst>
                                        </p:cTn>
                                        <p:tgtEl>
                                          <p:spTgt spid="2"/>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xit" presetSubtype="8" fill="hold" grpId="0" nodeType="clickEffect">
                                  <p:stCondLst>
                                    <p:cond delay="0"/>
                                  </p:stCondLst>
                                  <p:childTnLst>
                                    <p:animEffect transition="out" filter="wipe(left)">
                                      <p:cBhvr>
                                        <p:cTn id="38" dur="1000"/>
                                        <p:tgtEl>
                                          <p:spTgt spid="22"/>
                                        </p:tgtEl>
                                      </p:cBhvr>
                                    </p:animEffect>
                                    <p:set>
                                      <p:cBhvr>
                                        <p:cTn id="39" dur="1" fill="hold">
                                          <p:stCondLst>
                                            <p:cond delay="999"/>
                                          </p:stCondLst>
                                        </p:cTn>
                                        <p:tgtEl>
                                          <p:spTgt spid="22"/>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6">
                                            <p:txEl>
                                              <p:pRg st="2" end="2"/>
                                            </p:txEl>
                                          </p:spTgt>
                                        </p:tgtEl>
                                        <p:attrNameLst>
                                          <p:attrName>style.visibility</p:attrName>
                                        </p:attrNameLst>
                                      </p:cBhvr>
                                      <p:to>
                                        <p:strVal val="visible"/>
                                      </p:to>
                                    </p:set>
                                    <p:animEffect transition="in" filter="fade">
                                      <p:cBhvr>
                                        <p:cTn id="44"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uiExpand="1" build="p"/>
      <p:bldP spid="29" grpId="0" animBg="1"/>
      <p:bldP spid="2"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Directed </a:t>
            </a:r>
            <a:r>
              <a:rPr lang="en-US" sz="3600" b="1" dirty="0">
                <a:solidFill>
                  <a:srgbClr val="7030A0"/>
                </a:solidFill>
              </a:rPr>
              <a:t>Acyclic </a:t>
            </a:r>
            <a:r>
              <a:rPr lang="en-US" sz="3600" b="1" dirty="0"/>
              <a:t>Graphs</a:t>
            </a:r>
            <a:endParaRPr lang="en-US"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686800" cy="4525963"/>
              </a:xfrm>
            </p:spPr>
            <p:txBody>
              <a:bodyPr/>
              <a:lstStyle/>
              <a:p>
                <a:pPr marL="0" indent="0">
                  <a:buNone/>
                </a:pPr>
                <a:r>
                  <a:rPr lang="en-US" sz="2000" b="1" dirty="0">
                    <a:solidFill>
                      <a:srgbClr val="C00000"/>
                    </a:solidFill>
                  </a:rPr>
                  <a:t>Definition</a:t>
                </a:r>
                <a:r>
                  <a:rPr lang="en-US" sz="2000" dirty="0"/>
                  <a:t>:  </a:t>
                </a:r>
              </a:p>
              <a:p>
                <a:pPr marL="0" indent="0">
                  <a:buNone/>
                </a:pPr>
                <a:r>
                  <a:rPr lang="en-US" sz="2000" dirty="0"/>
                  <a:t>A directed graph </a:t>
                </a:r>
                <a14:m>
                  <m:oMath xmlns:m="http://schemas.openxmlformats.org/officeDocument/2006/math">
                    <m:r>
                      <a:rPr lang="en-US" sz="2000" b="1" i="1" dirty="0">
                        <a:solidFill>
                          <a:srgbClr val="0070C0"/>
                        </a:solidFill>
                        <a:latin typeface="Cambria Math"/>
                      </a:rPr>
                      <m:t>𝑮</m:t>
                    </m:r>
                    <m:r>
                      <a:rPr lang="en-US" sz="2000" b="1" i="1" dirty="0">
                        <a:latin typeface="Cambria Math"/>
                      </a:rPr>
                      <m:t>=(</m:t>
                    </m:r>
                    <m:r>
                      <a:rPr lang="en-US" sz="2000" b="1" i="1" dirty="0">
                        <a:solidFill>
                          <a:srgbClr val="0070C0"/>
                        </a:solidFill>
                        <a:latin typeface="Cambria Math"/>
                      </a:rPr>
                      <m:t>𝑽</m:t>
                    </m:r>
                    <m:r>
                      <a:rPr lang="en-US" sz="2000" b="1" i="1" dirty="0">
                        <a:latin typeface="Cambria Math"/>
                      </a:rPr>
                      <m:t>,</m:t>
                    </m:r>
                    <m:r>
                      <a:rPr lang="en-US" sz="2000" b="1" i="1" dirty="0">
                        <a:solidFill>
                          <a:srgbClr val="0070C0"/>
                        </a:solidFill>
                        <a:latin typeface="Cambria Math"/>
                      </a:rPr>
                      <m:t>𝑬</m:t>
                    </m:r>
                    <m:r>
                      <a:rPr lang="en-US" sz="2000" b="1" i="1" dirty="0">
                        <a:latin typeface="Cambria Math"/>
                      </a:rPr>
                      <m:t>)</m:t>
                    </m:r>
                  </m:oMath>
                </a14:m>
                <a:r>
                  <a:rPr lang="en-US" sz="2000" dirty="0"/>
                  <a:t> is said to be </a:t>
                </a:r>
                <a:r>
                  <a:rPr lang="en-US" sz="2000" b="1" dirty="0"/>
                  <a:t>acyclic</a:t>
                </a:r>
                <a:r>
                  <a:rPr lang="en-US" sz="2000" dirty="0"/>
                  <a:t> if there is no cycle present in it.</a:t>
                </a:r>
              </a:p>
              <a:p>
                <a:pPr marL="0" indent="0" algn="ctr">
                  <a:buNone/>
                </a:pPr>
                <a:endParaRPr lang="en-US" sz="2000" b="1" dirty="0">
                  <a:solidFill>
                    <a:srgbClr val="7030A0"/>
                  </a:solidFill>
                </a:endParaRPr>
              </a:p>
              <a:p>
                <a:pPr marL="0" indent="0">
                  <a:buNone/>
                </a:pPr>
                <a:r>
                  <a:rPr lang="en-US" sz="2000" b="1" dirty="0"/>
                  <a:t>Example</a:t>
                </a:r>
                <a:r>
                  <a:rPr lang="en-US" sz="2000" dirty="0"/>
                  <a: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686800" cy="4525963"/>
              </a:xfrm>
              <a:blipFill rotWithShape="1">
                <a:blip r:embed="rId2"/>
                <a:stretch>
                  <a:fillRect l="-702" t="-674" b="-808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9</a:t>
            </a:fld>
            <a:endParaRPr lang="en-US"/>
          </a:p>
        </p:txBody>
      </p:sp>
      <p:grpSp>
        <p:nvGrpSpPr>
          <p:cNvPr id="68" name="Group 67"/>
          <p:cNvGrpSpPr/>
          <p:nvPr/>
        </p:nvGrpSpPr>
        <p:grpSpPr>
          <a:xfrm>
            <a:off x="2590800" y="3886200"/>
            <a:ext cx="4876800" cy="1981200"/>
            <a:chOff x="2590800" y="1981200"/>
            <a:chExt cx="4876800" cy="1981200"/>
          </a:xfrm>
        </p:grpSpPr>
        <p:cxnSp>
          <p:nvCxnSpPr>
            <p:cNvPr id="8" name="Straight Arrow Connector 7"/>
            <p:cNvCxnSpPr>
              <a:endCxn id="20" idx="0"/>
            </p:cNvCxnSpPr>
            <p:nvPr/>
          </p:nvCxnSpPr>
          <p:spPr>
            <a:xfrm>
              <a:off x="2781300" y="2971800"/>
              <a:ext cx="685800" cy="76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25908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z</a:t>
              </a:r>
            </a:p>
          </p:txBody>
        </p:sp>
        <p:sp>
          <p:nvSpPr>
            <p:cNvPr id="14" name="Oval 13"/>
            <p:cNvSpPr/>
            <p:nvPr/>
          </p:nvSpPr>
          <p:spPr>
            <a:xfrm>
              <a:off x="5638800" y="1981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a:t>
              </a:r>
            </a:p>
          </p:txBody>
        </p:sp>
        <p:sp>
          <p:nvSpPr>
            <p:cNvPr id="15" name="Oval 14"/>
            <p:cNvSpPr/>
            <p:nvPr/>
          </p:nvSpPr>
          <p:spPr>
            <a:xfrm>
              <a:off x="49530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sp>
          <p:nvSpPr>
            <p:cNvPr id="16" name="Oval 15"/>
            <p:cNvSpPr/>
            <p:nvPr/>
          </p:nvSpPr>
          <p:spPr>
            <a:xfrm>
              <a:off x="64008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v</a:t>
              </a:r>
            </a:p>
          </p:txBody>
        </p:sp>
        <p:sp>
          <p:nvSpPr>
            <p:cNvPr id="17" name="Oval 16"/>
            <p:cNvSpPr/>
            <p:nvPr/>
          </p:nvSpPr>
          <p:spPr>
            <a:xfrm>
              <a:off x="44958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sp>
          <p:nvSpPr>
            <p:cNvPr id="18" name="Oval 17"/>
            <p:cNvSpPr/>
            <p:nvPr/>
          </p:nvSpPr>
          <p:spPr>
            <a:xfrm>
              <a:off x="57912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w</a:t>
              </a:r>
            </a:p>
          </p:txBody>
        </p:sp>
        <p:sp>
          <p:nvSpPr>
            <p:cNvPr id="19" name="Oval 18"/>
            <p:cNvSpPr/>
            <p:nvPr/>
          </p:nvSpPr>
          <p:spPr>
            <a:xfrm>
              <a:off x="72390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sp>
          <p:nvSpPr>
            <p:cNvPr id="20" name="Oval 19"/>
            <p:cNvSpPr/>
            <p:nvPr/>
          </p:nvSpPr>
          <p:spPr>
            <a:xfrm>
              <a:off x="3352800" y="37338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cxnSp>
          <p:nvCxnSpPr>
            <p:cNvPr id="22" name="Straight Arrow Connector 21"/>
            <p:cNvCxnSpPr>
              <a:stCxn id="14" idx="5"/>
              <a:endCxn id="16" idx="1"/>
            </p:cNvCxnSpPr>
            <p:nvPr/>
          </p:nvCxnSpPr>
          <p:spPr>
            <a:xfrm>
              <a:off x="5833922" y="2176322"/>
              <a:ext cx="600356" cy="6003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6" idx="5"/>
              <a:endCxn id="19" idx="1"/>
            </p:cNvCxnSpPr>
            <p:nvPr/>
          </p:nvCxnSpPr>
          <p:spPr>
            <a:xfrm>
              <a:off x="6595922" y="2938322"/>
              <a:ext cx="676556" cy="81262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9" idx="2"/>
              <a:endCxn id="15" idx="5"/>
            </p:cNvCxnSpPr>
            <p:nvPr/>
          </p:nvCxnSpPr>
          <p:spPr>
            <a:xfrm flipH="1" flipV="1">
              <a:off x="5148122" y="2938322"/>
              <a:ext cx="2090878" cy="89344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3"/>
              <a:endCxn id="15" idx="0"/>
            </p:cNvCxnSpPr>
            <p:nvPr/>
          </p:nvCxnSpPr>
          <p:spPr>
            <a:xfrm flipH="1">
              <a:off x="5067300" y="2176322"/>
              <a:ext cx="604978" cy="5668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6" idx="3"/>
            </p:cNvCxnSpPr>
            <p:nvPr/>
          </p:nvCxnSpPr>
          <p:spPr>
            <a:xfrm flipH="1">
              <a:off x="5948222" y="2938322"/>
              <a:ext cx="486056" cy="7954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3"/>
            </p:cNvCxnSpPr>
            <p:nvPr/>
          </p:nvCxnSpPr>
          <p:spPr>
            <a:xfrm flipH="1">
              <a:off x="3505200" y="2938322"/>
              <a:ext cx="1481278" cy="8289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5" idx="4"/>
              <a:endCxn id="17" idx="0"/>
            </p:cNvCxnSpPr>
            <p:nvPr/>
          </p:nvCxnSpPr>
          <p:spPr>
            <a:xfrm flipH="1">
              <a:off x="4610100" y="2971800"/>
              <a:ext cx="457200" cy="74567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019800" y="3831771"/>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7" idx="2"/>
              <a:endCxn id="20" idx="6"/>
            </p:cNvCxnSpPr>
            <p:nvPr/>
          </p:nvCxnSpPr>
          <p:spPr>
            <a:xfrm flipH="1">
              <a:off x="3581400" y="3831771"/>
              <a:ext cx="914400" cy="1632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7" idx="6"/>
              <a:endCxn id="18" idx="2"/>
            </p:cNvCxnSpPr>
            <p:nvPr/>
          </p:nvCxnSpPr>
          <p:spPr>
            <a:xfrm>
              <a:off x="4724400" y="3831771"/>
              <a:ext cx="1066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2"/>
              <a:endCxn id="15" idx="6"/>
            </p:cNvCxnSpPr>
            <p:nvPr/>
          </p:nvCxnSpPr>
          <p:spPr>
            <a:xfrm flipH="1">
              <a:off x="5181600" y="2857500"/>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5" idx="2"/>
              <a:endCxn id="13" idx="6"/>
            </p:cNvCxnSpPr>
            <p:nvPr/>
          </p:nvCxnSpPr>
          <p:spPr>
            <a:xfrm flipH="1">
              <a:off x="2819400" y="2857500"/>
              <a:ext cx="2133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5" name="TextBox 4"/>
          <p:cNvSpPr txBox="1"/>
          <p:nvPr/>
        </p:nvSpPr>
        <p:spPr>
          <a:xfrm>
            <a:off x="7848600" y="4278868"/>
            <a:ext cx="609269" cy="369332"/>
          </a:xfrm>
          <a:prstGeom prst="rect">
            <a:avLst/>
          </a:prstGeom>
          <a:noFill/>
        </p:spPr>
        <p:txBody>
          <a:bodyPr wrap="none" rtlCol="0">
            <a:spAutoFit/>
          </a:bodyPr>
          <a:lstStyle/>
          <a:p>
            <a:r>
              <a:rPr lang="en-US" b="1" dirty="0">
                <a:solidFill>
                  <a:srgbClr val="7030A0"/>
                </a:solidFill>
              </a:rPr>
              <a:t>DAG</a:t>
            </a:r>
            <a:endParaRPr lang="en-US" dirty="0"/>
          </a:p>
        </p:txBody>
      </p:sp>
      <p:sp>
        <p:nvSpPr>
          <p:cNvPr id="29" name="Rectangle 28"/>
          <p:cNvSpPr/>
          <p:nvPr/>
        </p:nvSpPr>
        <p:spPr>
          <a:xfrm>
            <a:off x="5486400" y="1905000"/>
            <a:ext cx="32004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3467100" y="1890572"/>
            <a:ext cx="32004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3671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4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1000"/>
                                        <p:tgtEl>
                                          <p:spTgt spid="30"/>
                                        </p:tgtEl>
                                      </p:cBhvr>
                                    </p:animEffect>
                                    <p:set>
                                      <p:cBhvr>
                                        <p:cTn id="17" dur="1" fill="hold">
                                          <p:stCondLst>
                                            <p:cond delay="999"/>
                                          </p:stCondLst>
                                        </p:cTn>
                                        <p:tgtEl>
                                          <p:spTgt spid="3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8" fill="hold" grpId="0" nodeType="clickEffect">
                                  <p:stCondLst>
                                    <p:cond delay="0"/>
                                  </p:stCondLst>
                                  <p:childTnLst>
                                    <p:animEffect transition="out" filter="wipe(left)">
                                      <p:cBhvr>
                                        <p:cTn id="21" dur="1000"/>
                                        <p:tgtEl>
                                          <p:spTgt spid="29"/>
                                        </p:tgtEl>
                                      </p:cBhvr>
                                    </p:animEffect>
                                    <p:set>
                                      <p:cBhvr>
                                        <p:cTn id="22" dur="1" fill="hold">
                                          <p:stCondLst>
                                            <p:cond delay="999"/>
                                          </p:stCondLst>
                                        </p:cTn>
                                        <p:tgtEl>
                                          <p:spTgt spid="2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68"/>
                                        </p:tgtEl>
                                        <p:attrNameLst>
                                          <p:attrName>style.visibility</p:attrName>
                                        </p:attrNameLst>
                                      </p:cBhvr>
                                      <p:to>
                                        <p:strVal val="visible"/>
                                      </p:to>
                                    </p:set>
                                    <p:animEffect transition="in" filter="fade">
                                      <p:cBhvr>
                                        <p:cTn id="32" dur="1000"/>
                                        <p:tgtEl>
                                          <p:spTgt spid="68"/>
                                        </p:tgtEl>
                                      </p:cBhvr>
                                    </p:animEffect>
                                    <p:anim calcmode="lin" valueType="num">
                                      <p:cBhvr>
                                        <p:cTn id="33" dur="1000" fill="hold"/>
                                        <p:tgtEl>
                                          <p:spTgt spid="68"/>
                                        </p:tgtEl>
                                        <p:attrNameLst>
                                          <p:attrName>ppt_x</p:attrName>
                                        </p:attrNameLst>
                                      </p:cBhvr>
                                      <p:tavLst>
                                        <p:tav tm="0">
                                          <p:val>
                                            <p:strVal val="#ppt_x"/>
                                          </p:val>
                                        </p:tav>
                                        <p:tav tm="100000">
                                          <p:val>
                                            <p:strVal val="#ppt_x"/>
                                          </p:val>
                                        </p:tav>
                                      </p:tavLst>
                                    </p:anim>
                                    <p:anim calcmode="lin" valueType="num">
                                      <p:cBhvr>
                                        <p:cTn id="34"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 calcmode="lin" valueType="num">
                                      <p:cBhvr additive="base">
                                        <p:cTn id="39" dur="500" fill="hold"/>
                                        <p:tgtEl>
                                          <p:spTgt spid="5"/>
                                        </p:tgtEl>
                                        <p:attrNameLst>
                                          <p:attrName>ppt_x</p:attrName>
                                        </p:attrNameLst>
                                      </p:cBhvr>
                                      <p:tavLst>
                                        <p:tav tm="0">
                                          <p:val>
                                            <p:strVal val="1+#ppt_w/2"/>
                                          </p:val>
                                        </p:tav>
                                        <p:tav tm="100000">
                                          <p:val>
                                            <p:strVal val="#ppt_x"/>
                                          </p:val>
                                        </p:tav>
                                      </p:tavLst>
                                    </p:anim>
                                    <p:anim calcmode="lin" valueType="num">
                                      <p:cBhvr additive="base">
                                        <p:cTn id="4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9" grpId="0" animBg="1"/>
      <p:bldP spid="3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b="1" dirty="0">
                <a:solidFill>
                  <a:srgbClr val="7030A0"/>
                </a:solidFill>
              </a:rPr>
              <a:t>Topological ordering</a:t>
            </a:r>
            <a:endParaRPr lang="en-US" dirty="0">
              <a:solidFill>
                <a:srgbClr val="7030A0"/>
              </a:solidFill>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pPr marL="0" indent="0">
                  <a:buNone/>
                </a:pPr>
                <a:r>
                  <a:rPr lang="en-US" sz="1800" b="1" dirty="0">
                    <a:solidFill>
                      <a:srgbClr val="C00000"/>
                    </a:solidFill>
                  </a:rPr>
                  <a:t>Definition</a:t>
                </a:r>
                <a:r>
                  <a:rPr lang="en-US" sz="1800" dirty="0"/>
                  <a:t>: a mapping </a:t>
                </a:r>
                <a14:m>
                  <m:oMath xmlns:m="http://schemas.openxmlformats.org/officeDocument/2006/math">
                    <m:r>
                      <a:rPr lang="en-US" sz="1800" b="1" i="1" dirty="0" smtClean="0">
                        <a:solidFill>
                          <a:srgbClr val="7030A0"/>
                        </a:solidFill>
                        <a:latin typeface="Cambria Math"/>
                      </a:rPr>
                      <m:t>𝝉</m:t>
                    </m:r>
                  </m:oMath>
                </a14:m>
                <a:r>
                  <a:rPr lang="en-US" sz="1800" dirty="0"/>
                  <a:t> : </a:t>
                </a:r>
                <a14:m>
                  <m:oMath xmlns:m="http://schemas.openxmlformats.org/officeDocument/2006/math">
                    <m:r>
                      <a:rPr lang="en-US" sz="1800" b="1" i="1" dirty="0">
                        <a:solidFill>
                          <a:srgbClr val="0070C0"/>
                        </a:solidFill>
                        <a:latin typeface="Cambria Math"/>
                      </a:rPr>
                      <m:t>𝑽</m:t>
                    </m:r>
                  </m:oMath>
                </a14:m>
                <a:r>
                  <a:rPr lang="en-US" sz="1800" dirty="0">
                    <a:sym typeface="Wingdings" pitchFamily="2" charset="2"/>
                  </a:rPr>
                  <a:t>[</a:t>
                </a:r>
                <a14:m>
                  <m:oMath xmlns:m="http://schemas.openxmlformats.org/officeDocument/2006/math">
                    <m:r>
                      <a:rPr lang="en-US" sz="1800" b="1" i="1" dirty="0" smtClean="0">
                        <a:solidFill>
                          <a:srgbClr val="0070C0"/>
                        </a:solidFill>
                        <a:latin typeface="Cambria Math"/>
                      </a:rPr>
                      <m:t>𝟏</m:t>
                    </m:r>
                    <m:r>
                      <a:rPr lang="en-US" sz="1800" b="1" i="1" dirty="0" smtClean="0">
                        <a:solidFill>
                          <a:srgbClr val="0070C0"/>
                        </a:solidFill>
                        <a:latin typeface="Cambria Math"/>
                      </a:rPr>
                      <m:t>…</m:t>
                    </m:r>
                    <m:r>
                      <a:rPr lang="en-US" sz="1800" b="1" i="1" dirty="0" smtClean="0">
                        <a:solidFill>
                          <a:srgbClr val="0070C0"/>
                        </a:solidFill>
                        <a:latin typeface="Cambria Math"/>
                      </a:rPr>
                      <m:t>𝒏</m:t>
                    </m:r>
                  </m:oMath>
                </a14:m>
                <a:r>
                  <a:rPr lang="en-US" sz="1800" dirty="0">
                    <a:sym typeface="Wingdings" pitchFamily="2" charset="2"/>
                  </a:rPr>
                  <a:t>] </a:t>
                </a:r>
              </a:p>
              <a:p>
                <a:pPr marL="0" indent="0">
                  <a:buNone/>
                </a:pPr>
                <a:r>
                  <a:rPr lang="en-US" sz="1800" dirty="0">
                    <a:sym typeface="Wingdings" pitchFamily="2" charset="2"/>
                  </a:rPr>
                  <a:t>such that for each edge </a:t>
                </a:r>
                <a14:m>
                  <m:oMath xmlns:m="http://schemas.openxmlformats.org/officeDocument/2006/math">
                    <m:d>
                      <m:dPr>
                        <m:ctrlPr>
                          <a:rPr lang="en-US" sz="1800" b="0" i="1" dirty="0" smtClean="0">
                            <a:solidFill>
                              <a:schemeClr val="tx1"/>
                            </a:solidFill>
                            <a:latin typeface="Cambria Math" panose="02040503050406030204" pitchFamily="18" charset="0"/>
                          </a:rPr>
                        </m:ctrlPr>
                      </m:dPr>
                      <m:e>
                        <m:r>
                          <a:rPr lang="en-US" sz="1800" b="1" i="1" dirty="0" smtClean="0">
                            <a:solidFill>
                              <a:srgbClr val="0070C0"/>
                            </a:solidFill>
                            <a:latin typeface="Cambria Math"/>
                          </a:rPr>
                          <m:t>𝒖</m:t>
                        </m:r>
                        <m:r>
                          <a:rPr lang="en-US" sz="1800" b="1" i="1" dirty="0" smtClean="0">
                            <a:solidFill>
                              <a:schemeClr val="tx1"/>
                            </a:solidFill>
                            <a:latin typeface="Cambria Math"/>
                          </a:rPr>
                          <m:t>,</m:t>
                        </m:r>
                        <m:r>
                          <a:rPr lang="en-US" sz="1800" b="1" i="1" dirty="0" smtClean="0">
                            <a:solidFill>
                              <a:srgbClr val="0070C0"/>
                            </a:solidFill>
                            <a:latin typeface="Cambria Math"/>
                          </a:rPr>
                          <m:t>𝒗</m:t>
                        </m:r>
                      </m:e>
                    </m:d>
                    <m:r>
                      <a:rPr lang="en-US" sz="1800" b="0" i="1" dirty="0" smtClean="0">
                        <a:solidFill>
                          <a:schemeClr val="tx1"/>
                        </a:solidFill>
                        <a:latin typeface="Cambria Math"/>
                      </a:rPr>
                      <m:t>∈</m:t>
                    </m:r>
                    <m:r>
                      <a:rPr lang="en-US" sz="1800" b="1" i="1" dirty="0">
                        <a:solidFill>
                          <a:srgbClr val="0070C0"/>
                        </a:solidFill>
                        <a:latin typeface="Cambria Math"/>
                      </a:rPr>
                      <m:t>𝑬</m:t>
                    </m:r>
                  </m:oMath>
                </a14:m>
                <a:r>
                  <a:rPr lang="en-US" sz="1800" dirty="0">
                    <a:sym typeface="Wingdings" pitchFamily="2" charset="2"/>
                  </a:rPr>
                  <a:t>  </a:t>
                </a:r>
              </a:p>
              <a:p>
                <a:pPr marL="0" indent="0">
                  <a:buNone/>
                </a:pPr>
                <a:r>
                  <a:rPr lang="en-US" sz="1800" b="1" dirty="0">
                    <a:solidFill>
                      <a:srgbClr val="7030A0"/>
                    </a:solidFill>
                  </a:rPr>
                  <a:t>				</a:t>
                </a:r>
                <a14:m>
                  <m:oMath xmlns:m="http://schemas.openxmlformats.org/officeDocument/2006/math">
                    <m:r>
                      <a:rPr lang="en-US" sz="1800" b="1" i="1" dirty="0">
                        <a:solidFill>
                          <a:srgbClr val="7030A0"/>
                        </a:solidFill>
                        <a:latin typeface="Cambria Math"/>
                      </a:rPr>
                      <m:t>𝝉</m:t>
                    </m:r>
                  </m:oMath>
                </a14:m>
                <a:r>
                  <a:rPr lang="en-US" sz="1800" dirty="0">
                    <a:sym typeface="Wingdings" pitchFamily="2" charset="2"/>
                  </a:rPr>
                  <a:t>(</a:t>
                </a:r>
                <a14:m>
                  <m:oMath xmlns:m="http://schemas.openxmlformats.org/officeDocument/2006/math">
                    <m:r>
                      <a:rPr lang="en-US" sz="1800" b="1" i="1" dirty="0">
                        <a:solidFill>
                          <a:srgbClr val="0070C0"/>
                        </a:solidFill>
                        <a:latin typeface="Cambria Math"/>
                      </a:rPr>
                      <m:t>𝒖</m:t>
                    </m:r>
                  </m:oMath>
                </a14:m>
                <a:r>
                  <a:rPr lang="en-US" sz="1800" dirty="0">
                    <a:sym typeface="Wingdings" pitchFamily="2" charset="2"/>
                  </a:rPr>
                  <a:t>) &lt; </a:t>
                </a:r>
                <a14:m>
                  <m:oMath xmlns:m="http://schemas.openxmlformats.org/officeDocument/2006/math">
                    <m:r>
                      <a:rPr lang="en-US" sz="1800" b="1" i="1" dirty="0">
                        <a:solidFill>
                          <a:srgbClr val="7030A0"/>
                        </a:solidFill>
                        <a:latin typeface="Cambria Math"/>
                      </a:rPr>
                      <m:t>𝝉</m:t>
                    </m:r>
                  </m:oMath>
                </a14:m>
                <a:r>
                  <a:rPr lang="en-US" sz="1800" dirty="0">
                    <a:sym typeface="Wingdings" pitchFamily="2" charset="2"/>
                  </a:rPr>
                  <a:t>(</a:t>
                </a:r>
                <a14:m>
                  <m:oMath xmlns:m="http://schemas.openxmlformats.org/officeDocument/2006/math">
                    <m:r>
                      <a:rPr lang="en-US" sz="1800" b="1" i="1" dirty="0" smtClean="0">
                        <a:solidFill>
                          <a:srgbClr val="0070C0"/>
                        </a:solidFill>
                        <a:latin typeface="Cambria Math"/>
                      </a:rPr>
                      <m:t>𝒗</m:t>
                    </m:r>
                  </m:oMath>
                </a14:m>
                <a:r>
                  <a:rPr lang="en-US" sz="1800" dirty="0">
                    <a:sym typeface="Wingdings" pitchFamily="2" charset="2"/>
                  </a:rPr>
                  <a:t>) </a:t>
                </a: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b="1" dirty="0">
                  <a:solidFill>
                    <a:srgbClr val="C00000"/>
                  </a:solidFill>
                  <a:sym typeface="Wingdings" pitchFamily="2" charset="2"/>
                </a:endParaRPr>
              </a:p>
              <a:p>
                <a:pPr marL="0" indent="0">
                  <a:buNone/>
                </a:pPr>
                <a:r>
                  <a:rPr lang="en-US" sz="1800" b="1" dirty="0">
                    <a:solidFill>
                      <a:srgbClr val="C00000"/>
                    </a:solidFill>
                    <a:sym typeface="Wingdings" pitchFamily="2" charset="2"/>
                  </a:rPr>
                  <a:t>Theorem</a:t>
                </a:r>
                <a:r>
                  <a:rPr lang="en-US" sz="1800" dirty="0">
                    <a:sym typeface="Wingdings" pitchFamily="2" charset="2"/>
                  </a:rPr>
                  <a:t>: There exists a topological ordering for every </a:t>
                </a:r>
                <a:r>
                  <a:rPr lang="en-US" sz="1800" b="1" dirty="0">
                    <a:sym typeface="Wingdings" pitchFamily="2" charset="2"/>
                  </a:rPr>
                  <a:t>DAG</a:t>
                </a:r>
                <a:r>
                  <a:rPr lang="en-US" sz="1800" dirty="0">
                    <a:sym typeface="Wingdings" pitchFamily="2" charset="2"/>
                  </a:rPr>
                  <a:t>.</a:t>
                </a: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a:p>
                <a:pPr marL="0" indent="0">
                  <a:buNone/>
                </a:pPr>
                <a:endParaRPr lang="en-US" sz="1800" dirty="0">
                  <a:sym typeface="Wingdings" pitchFamily="2" charset="2"/>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2"/>
                <a:stretch>
                  <a:fillRect l="-593" t="-809" b="-62938"/>
                </a:stretch>
              </a:blipFill>
            </p:spPr>
            <p:txBody>
              <a:bodyPr/>
              <a:lstStyle/>
              <a:p>
                <a:r>
                  <a:rPr lang="en-US">
                    <a:noFill/>
                  </a:rPr>
                  <a:t> </a:t>
                </a:r>
              </a:p>
            </p:txBody>
          </p:sp>
        </mc:Fallback>
      </mc:AlternateContent>
      <p:grpSp>
        <p:nvGrpSpPr>
          <p:cNvPr id="7" name="Group 6"/>
          <p:cNvGrpSpPr/>
          <p:nvPr/>
        </p:nvGrpSpPr>
        <p:grpSpPr>
          <a:xfrm>
            <a:off x="1447800" y="3444539"/>
            <a:ext cx="5871117" cy="159834"/>
            <a:chOff x="1447800" y="4038600"/>
            <a:chExt cx="5871117" cy="159834"/>
          </a:xfrm>
        </p:grpSpPr>
        <p:pic>
          <p:nvPicPr>
            <p:cNvPr id="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7956"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6083"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3361"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43" name="Curved Connector 42"/>
          <p:cNvCxnSpPr/>
          <p:nvPr/>
        </p:nvCxnSpPr>
        <p:spPr>
          <a:xfrm>
            <a:off x="6637609" y="3590589"/>
            <a:ext cx="603250" cy="13784"/>
          </a:xfrm>
          <a:prstGeom prst="curvedConnector4">
            <a:avLst>
              <a:gd name="adj1" fmla="val 1015"/>
              <a:gd name="adj2" fmla="val 248654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49" name="Curved Connector 48"/>
          <p:cNvCxnSpPr/>
          <p:nvPr/>
        </p:nvCxnSpPr>
        <p:spPr>
          <a:xfrm rot="16200000" flipH="1">
            <a:off x="4096639" y="3312158"/>
            <a:ext cx="12700" cy="569561"/>
          </a:xfrm>
          <a:prstGeom prst="curvedConnector3">
            <a:avLst>
              <a:gd name="adj1" fmla="val 2678047"/>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3" name="Curved Connector 52"/>
          <p:cNvCxnSpPr/>
          <p:nvPr/>
        </p:nvCxnSpPr>
        <p:spPr>
          <a:xfrm rot="16200000" flipH="1">
            <a:off x="4683937" y="2724861"/>
            <a:ext cx="12700" cy="1744156"/>
          </a:xfrm>
          <a:prstGeom prst="curvedConnector3">
            <a:avLst>
              <a:gd name="adj1" fmla="val 610244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8" name="Curved Connector 57"/>
          <p:cNvCxnSpPr/>
          <p:nvPr/>
        </p:nvCxnSpPr>
        <p:spPr>
          <a:xfrm rot="16200000" flipH="1">
            <a:off x="2945431" y="3318509"/>
            <a:ext cx="12700" cy="569561"/>
          </a:xfrm>
          <a:prstGeom prst="curvedConnector3">
            <a:avLst>
              <a:gd name="adj1" fmla="val 2678047"/>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9" name="Curved Connector 58"/>
          <p:cNvCxnSpPr/>
          <p:nvPr/>
        </p:nvCxnSpPr>
        <p:spPr>
          <a:xfrm rot="5400000" flipH="1" flipV="1">
            <a:off x="3541442" y="2190956"/>
            <a:ext cx="7434" cy="2819400"/>
          </a:xfrm>
          <a:prstGeom prst="curvedConnector3">
            <a:avLst>
              <a:gd name="adj1" fmla="val -1102522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3" name="Curved Connector 62"/>
          <p:cNvCxnSpPr/>
          <p:nvPr/>
        </p:nvCxnSpPr>
        <p:spPr>
          <a:xfrm rot="5400000" flipH="1" flipV="1">
            <a:off x="2665142" y="2457656"/>
            <a:ext cx="7434" cy="2286000"/>
          </a:xfrm>
          <a:prstGeom prst="curvedConnector3">
            <a:avLst>
              <a:gd name="adj1" fmla="val -1117522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7" name="Curved Connector 76"/>
          <p:cNvCxnSpPr/>
          <p:nvPr/>
        </p:nvCxnSpPr>
        <p:spPr>
          <a:xfrm rot="16200000" flipH="1">
            <a:off x="6663783" y="3027297"/>
            <a:ext cx="7434" cy="1146717"/>
          </a:xfrm>
          <a:prstGeom prst="curvedConnector3">
            <a:avLst>
              <a:gd name="adj1" fmla="val 8425182"/>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384758" y="2971800"/>
            <a:ext cx="6149440" cy="369332"/>
          </a:xfrm>
          <a:prstGeom prst="rect">
            <a:avLst/>
          </a:prstGeom>
          <a:noFill/>
        </p:spPr>
        <p:txBody>
          <a:bodyPr wrap="none" rtlCol="0">
            <a:spAutoFit/>
          </a:bodyPr>
          <a:lstStyle/>
          <a:p>
            <a:r>
              <a:rPr lang="en-US" dirty="0"/>
              <a:t>1        2          3        4       5          6          7         8        9        10      11</a:t>
            </a:r>
          </a:p>
        </p:txBody>
      </p:sp>
      <p:cxnSp>
        <p:nvCxnSpPr>
          <p:cNvPr id="26" name="Curved Connector 25"/>
          <p:cNvCxnSpPr/>
          <p:nvPr/>
        </p:nvCxnSpPr>
        <p:spPr>
          <a:xfrm rot="16200000" flipH="1">
            <a:off x="2093642" y="3027298"/>
            <a:ext cx="7434" cy="1146717"/>
          </a:xfrm>
          <a:prstGeom prst="curvedConnector3">
            <a:avLst>
              <a:gd name="adj1" fmla="val 5789414"/>
            </a:avLst>
          </a:prstGeom>
          <a:ln w="28575">
            <a:tailEnd type="arrow"/>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1295400" y="5142037"/>
            <a:ext cx="3319840" cy="725363"/>
            <a:chOff x="1919754" y="5410196"/>
            <a:chExt cx="3319840" cy="725363"/>
          </a:xfrm>
        </p:grpSpPr>
        <p:grpSp>
          <p:nvGrpSpPr>
            <p:cNvPr id="2" name="Group 1"/>
            <p:cNvGrpSpPr/>
            <p:nvPr/>
          </p:nvGrpSpPr>
          <p:grpSpPr>
            <a:xfrm>
              <a:off x="1919754" y="5410196"/>
              <a:ext cx="3319840" cy="703413"/>
              <a:chOff x="1981200" y="5410200"/>
              <a:chExt cx="5562600" cy="926068"/>
            </a:xfrm>
          </p:grpSpPr>
          <p:grpSp>
            <p:nvGrpSpPr>
              <p:cNvPr id="25" name="Group 24"/>
              <p:cNvGrpSpPr/>
              <p:nvPr/>
            </p:nvGrpSpPr>
            <p:grpSpPr>
              <a:xfrm>
                <a:off x="1981200" y="6183868"/>
                <a:ext cx="5562600" cy="152400"/>
                <a:chOff x="1981200" y="4191000"/>
                <a:chExt cx="5562600" cy="152400"/>
              </a:xfrm>
            </p:grpSpPr>
            <p:sp>
              <p:nvSpPr>
                <p:cNvPr id="27" name="Oval 26"/>
                <p:cNvSpPr/>
                <p:nvPr/>
              </p:nvSpPr>
              <p:spPr>
                <a:xfrm>
                  <a:off x="19812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p:cNvSpPr/>
                <p:nvPr/>
              </p:nvSpPr>
              <p:spPr>
                <a:xfrm>
                  <a:off x="28194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36576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65532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7391400" y="4191000"/>
                  <a:ext cx="152400" cy="152400"/>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Arrow Connector 36"/>
                <p:cNvCxnSpPr>
                  <a:stCxn id="27" idx="6"/>
                </p:cNvCxnSpPr>
                <p:nvPr/>
              </p:nvCxnSpPr>
              <p:spPr>
                <a:xfrm>
                  <a:off x="2133600" y="4267200"/>
                  <a:ext cx="685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a:off x="2971800" y="4267200"/>
                  <a:ext cx="685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6705600" y="4267200"/>
                  <a:ext cx="685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41" name="Curved Up Arrow 40"/>
              <p:cNvSpPr/>
              <p:nvPr/>
            </p:nvSpPr>
            <p:spPr>
              <a:xfrm flipH="1" flipV="1">
                <a:off x="1981200" y="5410200"/>
                <a:ext cx="5476996" cy="761255"/>
              </a:xfrm>
              <a:prstGeom prst="curvedUpArrow">
                <a:avLst>
                  <a:gd name="adj1" fmla="val 0"/>
                  <a:gd name="adj2" fmla="val 15532"/>
                  <a:gd name="adj3" fmla="val 23512"/>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42" name="Oval 41"/>
            <p:cNvSpPr/>
            <p:nvPr/>
          </p:nvSpPr>
          <p:spPr>
            <a:xfrm>
              <a:off x="3415445" y="6019800"/>
              <a:ext cx="90955" cy="115759"/>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a:off x="4039813" y="6019800"/>
              <a:ext cx="90955" cy="115759"/>
            </a:xfrm>
            <a:prstGeom prst="ellipse">
              <a:avLst/>
            </a:prstGeom>
            <a:solidFill>
              <a:schemeClr val="tx2"/>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Arrow Connector 46"/>
            <p:cNvCxnSpPr/>
            <p:nvPr/>
          </p:nvCxnSpPr>
          <p:spPr>
            <a:xfrm>
              <a:off x="3019705" y="6096000"/>
              <a:ext cx="409295"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stCxn id="42" idx="6"/>
              <a:endCxn id="45" idx="2"/>
            </p:cNvCxnSpPr>
            <p:nvPr/>
          </p:nvCxnSpPr>
          <p:spPr>
            <a:xfrm>
              <a:off x="3506400" y="6077680"/>
              <a:ext cx="533413"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V="1">
              <a:off x="4114800" y="6096000"/>
              <a:ext cx="533591" cy="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24" name="Cloud Callout 23"/>
          <p:cNvSpPr/>
          <p:nvPr/>
        </p:nvSpPr>
        <p:spPr>
          <a:xfrm>
            <a:off x="5867400" y="4343400"/>
            <a:ext cx="3200400" cy="1066800"/>
          </a:xfrm>
          <a:prstGeom prst="cloudCallou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sym typeface="Wingdings" pitchFamily="2" charset="2"/>
              </a:rPr>
              <a:t>Does there exist a topological ordering for every directed graph ?</a:t>
            </a:r>
            <a:endParaRPr lang="en-US" sz="1400" dirty="0">
              <a:solidFill>
                <a:schemeClr val="tx1"/>
              </a:solidFill>
            </a:endParaRPr>
          </a:p>
        </p:txBody>
      </p:sp>
      <p:sp>
        <p:nvSpPr>
          <p:cNvPr id="51" name="TextBox 50"/>
          <p:cNvSpPr txBox="1"/>
          <p:nvPr/>
        </p:nvSpPr>
        <p:spPr>
          <a:xfrm>
            <a:off x="6477000" y="5656165"/>
            <a:ext cx="2513252" cy="307777"/>
          </a:xfrm>
          <a:prstGeom prst="rect">
            <a:avLst/>
          </a:prstGeom>
          <a:solidFill>
            <a:srgbClr val="FFC000"/>
          </a:solidFill>
        </p:spPr>
        <p:txBody>
          <a:bodyPr wrap="none" rtlCol="0">
            <a:spAutoFit/>
          </a:bodyPr>
          <a:lstStyle/>
          <a:p>
            <a:r>
              <a:rPr lang="en-US" sz="1400" dirty="0"/>
              <a:t>Certainly No if there is any cycle</a:t>
            </a:r>
          </a:p>
        </p:txBody>
      </p:sp>
      <p:sp>
        <p:nvSpPr>
          <p:cNvPr id="52" name="TextBox 51"/>
          <p:cNvSpPr txBox="1"/>
          <p:nvPr/>
        </p:nvSpPr>
        <p:spPr>
          <a:xfrm>
            <a:off x="3010857" y="5498068"/>
            <a:ext cx="300082" cy="369332"/>
          </a:xfrm>
          <a:prstGeom prst="rect">
            <a:avLst/>
          </a:prstGeom>
          <a:noFill/>
        </p:spPr>
        <p:txBody>
          <a:bodyPr wrap="none" rtlCol="0">
            <a:spAutoFit/>
          </a:bodyPr>
          <a:lstStyle/>
          <a:p>
            <a:r>
              <a:rPr lang="en-US" dirty="0">
                <a:solidFill>
                  <a:srgbClr val="006C31"/>
                </a:solidFill>
              </a:rPr>
              <a:t>&lt;</a:t>
            </a:r>
          </a:p>
        </p:txBody>
      </p:sp>
      <p:sp>
        <p:nvSpPr>
          <p:cNvPr id="54" name="Oval 53"/>
          <p:cNvSpPr/>
          <p:nvPr/>
        </p:nvSpPr>
        <p:spPr>
          <a:xfrm>
            <a:off x="2739483" y="5650468"/>
            <a:ext cx="232317" cy="293132"/>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p:cNvGrpSpPr/>
          <p:nvPr/>
        </p:nvGrpSpPr>
        <p:grpSpPr>
          <a:xfrm>
            <a:off x="3509918" y="5486400"/>
            <a:ext cx="909682" cy="369332"/>
            <a:chOff x="3509918" y="5486400"/>
            <a:chExt cx="909682" cy="369332"/>
          </a:xfrm>
        </p:grpSpPr>
        <p:sp>
          <p:nvSpPr>
            <p:cNvPr id="61" name="TextBox 60"/>
            <p:cNvSpPr txBox="1"/>
            <p:nvPr/>
          </p:nvSpPr>
          <p:spPr>
            <a:xfrm>
              <a:off x="3509918" y="5486400"/>
              <a:ext cx="300082" cy="369332"/>
            </a:xfrm>
            <a:prstGeom prst="rect">
              <a:avLst/>
            </a:prstGeom>
            <a:noFill/>
          </p:spPr>
          <p:txBody>
            <a:bodyPr wrap="none" rtlCol="0">
              <a:spAutoFit/>
            </a:bodyPr>
            <a:lstStyle/>
            <a:p>
              <a:r>
                <a:rPr lang="en-US" dirty="0">
                  <a:solidFill>
                    <a:srgbClr val="006C31"/>
                  </a:solidFill>
                </a:rPr>
                <a:t>&lt;</a:t>
              </a:r>
            </a:p>
          </p:txBody>
        </p:sp>
        <p:sp>
          <p:nvSpPr>
            <p:cNvPr id="62" name="TextBox 61"/>
            <p:cNvSpPr txBox="1"/>
            <p:nvPr/>
          </p:nvSpPr>
          <p:spPr>
            <a:xfrm>
              <a:off x="4119518" y="5486400"/>
              <a:ext cx="300082" cy="369332"/>
            </a:xfrm>
            <a:prstGeom prst="rect">
              <a:avLst/>
            </a:prstGeom>
            <a:noFill/>
          </p:spPr>
          <p:txBody>
            <a:bodyPr wrap="none" rtlCol="0">
              <a:spAutoFit/>
            </a:bodyPr>
            <a:lstStyle/>
            <a:p>
              <a:r>
                <a:rPr lang="en-US" dirty="0">
                  <a:solidFill>
                    <a:srgbClr val="006C31"/>
                  </a:solidFill>
                </a:rPr>
                <a:t>&lt;</a:t>
              </a:r>
            </a:p>
          </p:txBody>
        </p:sp>
      </p:grpSp>
      <p:grpSp>
        <p:nvGrpSpPr>
          <p:cNvPr id="56" name="Group 55"/>
          <p:cNvGrpSpPr/>
          <p:nvPr/>
        </p:nvGrpSpPr>
        <p:grpSpPr>
          <a:xfrm>
            <a:off x="1447800" y="5486400"/>
            <a:ext cx="1214482" cy="369332"/>
            <a:chOff x="1447800" y="5486400"/>
            <a:chExt cx="1214482" cy="369332"/>
          </a:xfrm>
        </p:grpSpPr>
        <p:sp>
          <p:nvSpPr>
            <p:cNvPr id="64" name="TextBox 63"/>
            <p:cNvSpPr txBox="1"/>
            <p:nvPr/>
          </p:nvSpPr>
          <p:spPr>
            <a:xfrm>
              <a:off x="1447800" y="5486400"/>
              <a:ext cx="300082" cy="369332"/>
            </a:xfrm>
            <a:prstGeom prst="rect">
              <a:avLst/>
            </a:prstGeom>
            <a:noFill/>
          </p:spPr>
          <p:txBody>
            <a:bodyPr wrap="none" rtlCol="0">
              <a:spAutoFit/>
            </a:bodyPr>
            <a:lstStyle/>
            <a:p>
              <a:r>
                <a:rPr lang="en-US" dirty="0">
                  <a:solidFill>
                    <a:srgbClr val="006C31"/>
                  </a:solidFill>
                </a:rPr>
                <a:t>&lt;</a:t>
              </a:r>
            </a:p>
          </p:txBody>
        </p:sp>
        <p:sp>
          <p:nvSpPr>
            <p:cNvPr id="65" name="TextBox 64"/>
            <p:cNvSpPr txBox="1"/>
            <p:nvPr/>
          </p:nvSpPr>
          <p:spPr>
            <a:xfrm>
              <a:off x="1905000" y="5486400"/>
              <a:ext cx="300082" cy="369332"/>
            </a:xfrm>
            <a:prstGeom prst="rect">
              <a:avLst/>
            </a:prstGeom>
            <a:noFill/>
          </p:spPr>
          <p:txBody>
            <a:bodyPr wrap="none" rtlCol="0">
              <a:spAutoFit/>
            </a:bodyPr>
            <a:lstStyle/>
            <a:p>
              <a:r>
                <a:rPr lang="en-US" dirty="0">
                  <a:solidFill>
                    <a:srgbClr val="006C31"/>
                  </a:solidFill>
                </a:rPr>
                <a:t>&lt;</a:t>
              </a:r>
            </a:p>
          </p:txBody>
        </p:sp>
        <p:sp>
          <p:nvSpPr>
            <p:cNvPr id="66" name="TextBox 65"/>
            <p:cNvSpPr txBox="1"/>
            <p:nvPr/>
          </p:nvSpPr>
          <p:spPr>
            <a:xfrm>
              <a:off x="2362200" y="5486400"/>
              <a:ext cx="300082" cy="369332"/>
            </a:xfrm>
            <a:prstGeom prst="rect">
              <a:avLst/>
            </a:prstGeom>
            <a:noFill/>
          </p:spPr>
          <p:txBody>
            <a:bodyPr wrap="none" rtlCol="0">
              <a:spAutoFit/>
            </a:bodyPr>
            <a:lstStyle/>
            <a:p>
              <a:r>
                <a:rPr lang="en-US" dirty="0">
                  <a:solidFill>
                    <a:srgbClr val="006C31"/>
                  </a:solidFill>
                </a:rPr>
                <a:t>&lt;</a:t>
              </a:r>
            </a:p>
          </p:txBody>
        </p:sp>
      </p:grpSp>
      <p:sp>
        <p:nvSpPr>
          <p:cNvPr id="68" name="TextBox 67"/>
          <p:cNvSpPr txBox="1"/>
          <p:nvPr/>
        </p:nvSpPr>
        <p:spPr>
          <a:xfrm>
            <a:off x="2819400" y="4800600"/>
            <a:ext cx="300082" cy="369332"/>
          </a:xfrm>
          <a:prstGeom prst="rect">
            <a:avLst/>
          </a:prstGeom>
          <a:noFill/>
        </p:spPr>
        <p:txBody>
          <a:bodyPr wrap="none" rtlCol="0">
            <a:spAutoFit/>
          </a:bodyPr>
          <a:lstStyle/>
          <a:p>
            <a:r>
              <a:rPr lang="en-US" dirty="0">
                <a:solidFill>
                  <a:srgbClr val="006C31"/>
                </a:solidFill>
              </a:rPr>
              <a:t>&gt;</a:t>
            </a:r>
          </a:p>
        </p:txBody>
      </p:sp>
      <p:sp>
        <p:nvSpPr>
          <p:cNvPr id="3" name="TextBox 2">
            <a:extLst>
              <a:ext uri="{FF2B5EF4-FFF2-40B4-BE49-F238E27FC236}">
                <a16:creationId xmlns:a16="http://schemas.microsoft.com/office/drawing/2014/main" id="{7FE64CDB-6FF5-67D2-6521-127A30A53347}"/>
              </a:ext>
            </a:extLst>
          </p:cNvPr>
          <p:cNvSpPr txBox="1"/>
          <p:nvPr/>
        </p:nvSpPr>
        <p:spPr>
          <a:xfrm>
            <a:off x="469498" y="4600564"/>
            <a:ext cx="7848944" cy="369332"/>
          </a:xfrm>
          <a:prstGeom prst="rect">
            <a:avLst/>
          </a:prstGeom>
          <a:noFill/>
        </p:spPr>
        <p:txBody>
          <a:bodyPr wrap="none" rtlCol="0">
            <a:spAutoFit/>
          </a:bodyPr>
          <a:lstStyle/>
          <a:p>
            <a:r>
              <a:rPr lang="en-US" dirty="0"/>
              <a:t>Is it possible to arrange vertices in a line so that each edge goes from left to right ?</a:t>
            </a:r>
            <a:endParaRPr lang="en-IN" dirty="0"/>
          </a:p>
        </p:txBody>
      </p:sp>
      <p:sp>
        <p:nvSpPr>
          <p:cNvPr id="6" name="Cloud Callout 23">
            <a:extLst>
              <a:ext uri="{FF2B5EF4-FFF2-40B4-BE49-F238E27FC236}">
                <a16:creationId xmlns:a16="http://schemas.microsoft.com/office/drawing/2014/main" id="{9587D3EB-FEC6-99CE-CA5E-3CEC3C344EB8}"/>
              </a:ext>
            </a:extLst>
          </p:cNvPr>
          <p:cNvSpPr/>
          <p:nvPr/>
        </p:nvSpPr>
        <p:spPr>
          <a:xfrm>
            <a:off x="5490532" y="5121557"/>
            <a:ext cx="3200400" cy="701772"/>
          </a:xfrm>
          <a:prstGeom prst="cloudCallout">
            <a:avLst>
              <a:gd name="adj1" fmla="val 35200"/>
              <a:gd name="adj2" fmla="val 79144"/>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sym typeface="Wingdings" pitchFamily="2" charset="2"/>
              </a:rPr>
              <a:t>How to formalize it ?</a:t>
            </a:r>
            <a:endParaRPr lang="en-US" sz="1400" dirty="0">
              <a:solidFill>
                <a:schemeClr val="tx1"/>
              </a:solidFill>
            </a:endParaRPr>
          </a:p>
        </p:txBody>
      </p:sp>
      <p:sp>
        <p:nvSpPr>
          <p:cNvPr id="8" name="Rectangle 7">
            <a:extLst>
              <a:ext uri="{FF2B5EF4-FFF2-40B4-BE49-F238E27FC236}">
                <a16:creationId xmlns:a16="http://schemas.microsoft.com/office/drawing/2014/main" id="{183F6EF8-958E-C72E-B398-BDB8720F7106}"/>
              </a:ext>
            </a:extLst>
          </p:cNvPr>
          <p:cNvSpPr/>
          <p:nvPr/>
        </p:nvSpPr>
        <p:spPr>
          <a:xfrm>
            <a:off x="4746871" y="6172200"/>
            <a:ext cx="2971799"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96E5E95-C2FB-32F6-7F64-8D3D4A6C83BC}"/>
              </a:ext>
            </a:extLst>
          </p:cNvPr>
          <p:cNvSpPr/>
          <p:nvPr/>
        </p:nvSpPr>
        <p:spPr>
          <a:xfrm>
            <a:off x="1465881" y="6135563"/>
            <a:ext cx="328099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5830D3F-0EE9-689A-AB00-BC6E7B6E9FB7}"/>
              </a:ext>
            </a:extLst>
          </p:cNvPr>
          <p:cNvSpPr/>
          <p:nvPr/>
        </p:nvSpPr>
        <p:spPr>
          <a:xfrm>
            <a:off x="2804592" y="1534648"/>
            <a:ext cx="328099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899BAC7-546A-0C69-4B2E-458903F22E01}"/>
              </a:ext>
            </a:extLst>
          </p:cNvPr>
          <p:cNvSpPr/>
          <p:nvPr/>
        </p:nvSpPr>
        <p:spPr>
          <a:xfrm>
            <a:off x="1578875" y="1505980"/>
            <a:ext cx="328099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0782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left)">
                                      <p:cBhvr>
                                        <p:cTn id="21" dur="2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63"/>
                                        </p:tgtEl>
                                        <p:attrNameLst>
                                          <p:attrName>style.visibility</p:attrName>
                                        </p:attrNameLst>
                                      </p:cBhvr>
                                      <p:to>
                                        <p:strVal val="visible"/>
                                      </p:to>
                                    </p:set>
                                    <p:animEffect transition="in" filter="wipe(left)">
                                      <p:cBhvr>
                                        <p:cTn id="26" dur="500"/>
                                        <p:tgtEl>
                                          <p:spTgt spid="63"/>
                                        </p:tgtEl>
                                      </p:cBhvr>
                                    </p:animEffect>
                                  </p:childTnLst>
                                </p:cTn>
                              </p:par>
                              <p:par>
                                <p:cTn id="27" presetID="22" presetClass="entr" presetSubtype="8" fill="hold" nodeType="with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left)">
                                      <p:cBhvr>
                                        <p:cTn id="29" dur="5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wipe(left)">
                                      <p:cBhvr>
                                        <p:cTn id="34" dur="500"/>
                                        <p:tgtEl>
                                          <p:spTgt spid="5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8"/>
                                        </p:tgtEl>
                                        <p:attrNameLst>
                                          <p:attrName>style.visibility</p:attrName>
                                        </p:attrNameLst>
                                      </p:cBhvr>
                                      <p:to>
                                        <p:strVal val="visible"/>
                                      </p:to>
                                    </p:set>
                                    <p:animEffect transition="in" filter="wipe(left)">
                                      <p:cBhvr>
                                        <p:cTn id="39" dur="500"/>
                                        <p:tgtEl>
                                          <p:spTgt spid="5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49"/>
                                        </p:tgtEl>
                                        <p:attrNameLst>
                                          <p:attrName>style.visibility</p:attrName>
                                        </p:attrNameLst>
                                      </p:cBhvr>
                                      <p:to>
                                        <p:strVal val="visible"/>
                                      </p:to>
                                    </p:set>
                                    <p:animEffect transition="in" filter="wipe(left)">
                                      <p:cBhvr>
                                        <p:cTn id="44" dur="500"/>
                                        <p:tgtEl>
                                          <p:spTgt spid="49"/>
                                        </p:tgtEl>
                                      </p:cBhvr>
                                    </p:animEffect>
                                  </p:childTnLst>
                                </p:cTn>
                              </p:par>
                              <p:par>
                                <p:cTn id="45" presetID="22" presetClass="entr" presetSubtype="8" fill="hold" nodeType="withEffect">
                                  <p:stCondLst>
                                    <p:cond delay="0"/>
                                  </p:stCondLst>
                                  <p:childTnLst>
                                    <p:set>
                                      <p:cBhvr>
                                        <p:cTn id="46" dur="1" fill="hold">
                                          <p:stCondLst>
                                            <p:cond delay="0"/>
                                          </p:stCondLst>
                                        </p:cTn>
                                        <p:tgtEl>
                                          <p:spTgt spid="53"/>
                                        </p:tgtEl>
                                        <p:attrNameLst>
                                          <p:attrName>style.visibility</p:attrName>
                                        </p:attrNameLst>
                                      </p:cBhvr>
                                      <p:to>
                                        <p:strVal val="visible"/>
                                      </p:to>
                                    </p:set>
                                    <p:animEffect transition="in" filter="wipe(left)">
                                      <p:cBhvr>
                                        <p:cTn id="47" dur="500"/>
                                        <p:tgtEl>
                                          <p:spTgt spid="5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wipe(left)">
                                      <p:cBhvr>
                                        <p:cTn id="52" dur="500"/>
                                        <p:tgtEl>
                                          <p:spTgt spid="7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3"/>
                                        </p:tgtEl>
                                        <p:attrNameLst>
                                          <p:attrName>style.visibility</p:attrName>
                                        </p:attrNameLst>
                                      </p:cBhvr>
                                      <p:to>
                                        <p:strVal val="visible"/>
                                      </p:to>
                                    </p:set>
                                    <p:animEffect transition="in" filter="wipe(left)">
                                      <p:cBhvr>
                                        <p:cTn id="57" dur="500"/>
                                        <p:tgtEl>
                                          <p:spTgt spid="43"/>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fade">
                                      <p:cBhvr>
                                        <p:cTn id="62" dur="1000"/>
                                        <p:tgtEl>
                                          <p:spTgt spid="6"/>
                                        </p:tgtEl>
                                      </p:cBhvr>
                                    </p:animEffect>
                                    <p:anim calcmode="lin" valueType="num">
                                      <p:cBhvr>
                                        <p:cTn id="63" dur="1000" fill="hold"/>
                                        <p:tgtEl>
                                          <p:spTgt spid="6"/>
                                        </p:tgtEl>
                                        <p:attrNameLst>
                                          <p:attrName>ppt_x</p:attrName>
                                        </p:attrNameLst>
                                      </p:cBhvr>
                                      <p:tavLst>
                                        <p:tav tm="0">
                                          <p:val>
                                            <p:strVal val="#ppt_x"/>
                                          </p:val>
                                        </p:tav>
                                        <p:tav tm="100000">
                                          <p:val>
                                            <p:strVal val="#ppt_x"/>
                                          </p:val>
                                        </p:tav>
                                      </p:tavLst>
                                    </p:anim>
                                    <p:anim calcmode="lin" valueType="num">
                                      <p:cBhvr>
                                        <p:cTn id="6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
                                            <p:txEl>
                                              <p:pRg st="0" end="0"/>
                                            </p:txEl>
                                          </p:spTgt>
                                        </p:tgtEl>
                                        <p:attrNameLst>
                                          <p:attrName>style.visibility</p:attrName>
                                        </p:attrNameLst>
                                      </p:cBhvr>
                                      <p:to>
                                        <p:strVal val="visible"/>
                                      </p:to>
                                    </p:set>
                                    <p:animEffect transition="in" filter="fade">
                                      <p:cBhvr>
                                        <p:cTn id="69" dur="500"/>
                                        <p:tgtEl>
                                          <p:spTgt spid="5">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xit" presetSubtype="8" fill="hold" grpId="0" nodeType="clickEffect">
                                  <p:stCondLst>
                                    <p:cond delay="0"/>
                                  </p:stCondLst>
                                  <p:childTnLst>
                                    <p:animEffect transition="out" filter="wipe(left)">
                                      <p:cBhvr>
                                        <p:cTn id="73" dur="1000"/>
                                        <p:tgtEl>
                                          <p:spTgt spid="22"/>
                                        </p:tgtEl>
                                      </p:cBhvr>
                                    </p:animEffect>
                                    <p:set>
                                      <p:cBhvr>
                                        <p:cTn id="74" dur="1" fill="hold">
                                          <p:stCondLst>
                                            <p:cond delay="999"/>
                                          </p:stCondLst>
                                        </p:cTn>
                                        <p:tgtEl>
                                          <p:spTgt spid="22"/>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2" presetClass="exit" presetSubtype="8" fill="hold" grpId="0" nodeType="clickEffect">
                                  <p:stCondLst>
                                    <p:cond delay="0"/>
                                  </p:stCondLst>
                                  <p:childTnLst>
                                    <p:animEffect transition="out" filter="wipe(left)">
                                      <p:cBhvr>
                                        <p:cTn id="78" dur="1000"/>
                                        <p:tgtEl>
                                          <p:spTgt spid="21"/>
                                        </p:tgtEl>
                                      </p:cBhvr>
                                    </p:animEffect>
                                    <p:set>
                                      <p:cBhvr>
                                        <p:cTn id="79" dur="1" fill="hold">
                                          <p:stCondLst>
                                            <p:cond delay="999"/>
                                          </p:stCondLst>
                                        </p:cTn>
                                        <p:tgtEl>
                                          <p:spTgt spid="21"/>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82"/>
                                        </p:tgtEl>
                                        <p:attrNameLst>
                                          <p:attrName>style.visibility</p:attrName>
                                        </p:attrNameLst>
                                      </p:cBhvr>
                                      <p:to>
                                        <p:strVal val="visible"/>
                                      </p:to>
                                    </p:set>
                                    <p:animEffect transition="in" filter="wipe(left)">
                                      <p:cBhvr>
                                        <p:cTn id="84" dur="1500"/>
                                        <p:tgtEl>
                                          <p:spTgt spid="82"/>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5">
                                            <p:txEl>
                                              <p:pRg st="1" end="1"/>
                                            </p:txEl>
                                          </p:spTgt>
                                        </p:tgtEl>
                                        <p:attrNameLst>
                                          <p:attrName>style.visibility</p:attrName>
                                        </p:attrNameLst>
                                      </p:cBhvr>
                                      <p:to>
                                        <p:strVal val="visible"/>
                                      </p:to>
                                    </p:set>
                                    <p:animEffect transition="in" filter="fade">
                                      <p:cBhvr>
                                        <p:cTn id="89" dur="500"/>
                                        <p:tgtEl>
                                          <p:spTgt spid="5">
                                            <p:txEl>
                                              <p:pRg st="1" end="1"/>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grpId="0" nodeType="clickEffect">
                                  <p:stCondLst>
                                    <p:cond delay="0"/>
                                  </p:stCondLst>
                                  <p:childTnLst>
                                    <p:set>
                                      <p:cBhvr>
                                        <p:cTn id="93" dur="1" fill="hold">
                                          <p:stCondLst>
                                            <p:cond delay="0"/>
                                          </p:stCondLst>
                                        </p:cTn>
                                        <p:tgtEl>
                                          <p:spTgt spid="5">
                                            <p:txEl>
                                              <p:pRg st="2" end="2"/>
                                            </p:txEl>
                                          </p:spTgt>
                                        </p:tgtEl>
                                        <p:attrNameLst>
                                          <p:attrName>style.visibility</p:attrName>
                                        </p:attrNameLst>
                                      </p:cBhvr>
                                      <p:to>
                                        <p:strVal val="visible"/>
                                      </p:to>
                                    </p:set>
                                    <p:animEffect transition="in" filter="fade">
                                      <p:cBhvr>
                                        <p:cTn id="94" dur="500"/>
                                        <p:tgtEl>
                                          <p:spTgt spid="5">
                                            <p:txEl>
                                              <p:pRg st="2" end="2"/>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4" presetClass="exit" presetSubtype="10" fill="hold" grpId="1" nodeType="clickEffect">
                                  <p:stCondLst>
                                    <p:cond delay="0"/>
                                  </p:stCondLst>
                                  <p:childTnLst>
                                    <p:animEffect transition="out" filter="randombar(horizontal)">
                                      <p:cBhvr>
                                        <p:cTn id="98" dur="500"/>
                                        <p:tgtEl>
                                          <p:spTgt spid="3"/>
                                        </p:tgtEl>
                                      </p:cBhvr>
                                    </p:animEffect>
                                    <p:set>
                                      <p:cBhvr>
                                        <p:cTn id="99" dur="1" fill="hold">
                                          <p:stCondLst>
                                            <p:cond delay="499"/>
                                          </p:stCondLst>
                                        </p:cTn>
                                        <p:tgtEl>
                                          <p:spTgt spid="3"/>
                                        </p:tgtEl>
                                        <p:attrNameLst>
                                          <p:attrName>style.visibility</p:attrName>
                                        </p:attrNameLst>
                                      </p:cBhvr>
                                      <p:to>
                                        <p:strVal val="hidden"/>
                                      </p:to>
                                    </p:set>
                                  </p:childTnLst>
                                </p:cTn>
                              </p:par>
                              <p:par>
                                <p:cTn id="100" presetID="14" presetClass="exit" presetSubtype="10" fill="hold" grpId="1" nodeType="withEffect">
                                  <p:stCondLst>
                                    <p:cond delay="0"/>
                                  </p:stCondLst>
                                  <p:childTnLst>
                                    <p:animEffect transition="out" filter="randombar(horizontal)">
                                      <p:cBhvr>
                                        <p:cTn id="101" dur="500"/>
                                        <p:tgtEl>
                                          <p:spTgt spid="6"/>
                                        </p:tgtEl>
                                      </p:cBhvr>
                                    </p:animEffect>
                                    <p:set>
                                      <p:cBhvr>
                                        <p:cTn id="102" dur="1" fill="hold">
                                          <p:stCondLst>
                                            <p:cond delay="499"/>
                                          </p:stCondLst>
                                        </p:cTn>
                                        <p:tgtEl>
                                          <p:spTgt spid="6"/>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grpId="0" nodeType="click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fade">
                                      <p:cBhvr>
                                        <p:cTn id="107" dur="1000"/>
                                        <p:tgtEl>
                                          <p:spTgt spid="24"/>
                                        </p:tgtEl>
                                      </p:cBhvr>
                                    </p:animEffect>
                                    <p:anim calcmode="lin" valueType="num">
                                      <p:cBhvr>
                                        <p:cTn id="108" dur="1000" fill="hold"/>
                                        <p:tgtEl>
                                          <p:spTgt spid="24"/>
                                        </p:tgtEl>
                                        <p:attrNameLst>
                                          <p:attrName>ppt_x</p:attrName>
                                        </p:attrNameLst>
                                      </p:cBhvr>
                                      <p:tavLst>
                                        <p:tav tm="0">
                                          <p:val>
                                            <p:strVal val="#ppt_x"/>
                                          </p:val>
                                        </p:tav>
                                        <p:tav tm="100000">
                                          <p:val>
                                            <p:strVal val="#ppt_x"/>
                                          </p:val>
                                        </p:tav>
                                      </p:tavLst>
                                    </p:anim>
                                    <p:anim calcmode="lin" valueType="num">
                                      <p:cBhvr>
                                        <p:cTn id="10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grpId="0" nodeType="clickEffect">
                                  <p:stCondLst>
                                    <p:cond delay="0"/>
                                  </p:stCondLst>
                                  <p:childTnLst>
                                    <p:set>
                                      <p:cBhvr>
                                        <p:cTn id="113" dur="1" fill="hold">
                                          <p:stCondLst>
                                            <p:cond delay="0"/>
                                          </p:stCondLst>
                                        </p:cTn>
                                        <p:tgtEl>
                                          <p:spTgt spid="51"/>
                                        </p:tgtEl>
                                        <p:attrNameLst>
                                          <p:attrName>style.visibility</p:attrName>
                                        </p:attrNameLst>
                                      </p:cBhvr>
                                      <p:to>
                                        <p:strVal val="visible"/>
                                      </p:to>
                                    </p:set>
                                    <p:animEffect transition="in" filter="fade">
                                      <p:cBhvr>
                                        <p:cTn id="114" dur="500"/>
                                        <p:tgtEl>
                                          <p:spTgt spid="51"/>
                                        </p:tgtEl>
                                      </p:cBhvr>
                                    </p:animEffect>
                                  </p:childTnLst>
                                </p:cTn>
                              </p:par>
                            </p:childTnLst>
                          </p:cTn>
                        </p:par>
                      </p:childTnLst>
                    </p:cTn>
                  </p:par>
                  <p:par>
                    <p:cTn id="115" fill="hold">
                      <p:stCondLst>
                        <p:cond delay="indefinite"/>
                      </p:stCondLst>
                      <p:childTnLst>
                        <p:par>
                          <p:cTn id="116" fill="hold">
                            <p:stCondLst>
                              <p:cond delay="0"/>
                            </p:stCondLst>
                            <p:childTnLst>
                              <p:par>
                                <p:cTn id="117" presetID="53" presetClass="entr" presetSubtype="16" fill="hold" nodeType="clickEffect">
                                  <p:stCondLst>
                                    <p:cond delay="0"/>
                                  </p:stCondLst>
                                  <p:childTnLst>
                                    <p:set>
                                      <p:cBhvr>
                                        <p:cTn id="118" dur="1" fill="hold">
                                          <p:stCondLst>
                                            <p:cond delay="0"/>
                                          </p:stCondLst>
                                        </p:cTn>
                                        <p:tgtEl>
                                          <p:spTgt spid="23"/>
                                        </p:tgtEl>
                                        <p:attrNameLst>
                                          <p:attrName>style.visibility</p:attrName>
                                        </p:attrNameLst>
                                      </p:cBhvr>
                                      <p:to>
                                        <p:strVal val="visible"/>
                                      </p:to>
                                    </p:set>
                                    <p:anim calcmode="lin" valueType="num">
                                      <p:cBhvr>
                                        <p:cTn id="119" dur="1000" fill="hold"/>
                                        <p:tgtEl>
                                          <p:spTgt spid="23"/>
                                        </p:tgtEl>
                                        <p:attrNameLst>
                                          <p:attrName>ppt_w</p:attrName>
                                        </p:attrNameLst>
                                      </p:cBhvr>
                                      <p:tavLst>
                                        <p:tav tm="0">
                                          <p:val>
                                            <p:fltVal val="0"/>
                                          </p:val>
                                        </p:tav>
                                        <p:tav tm="100000">
                                          <p:val>
                                            <p:strVal val="#ppt_w"/>
                                          </p:val>
                                        </p:tav>
                                      </p:tavLst>
                                    </p:anim>
                                    <p:anim calcmode="lin" valueType="num">
                                      <p:cBhvr>
                                        <p:cTn id="120" dur="1000" fill="hold"/>
                                        <p:tgtEl>
                                          <p:spTgt spid="23"/>
                                        </p:tgtEl>
                                        <p:attrNameLst>
                                          <p:attrName>ppt_h</p:attrName>
                                        </p:attrNameLst>
                                      </p:cBhvr>
                                      <p:tavLst>
                                        <p:tav tm="0">
                                          <p:val>
                                            <p:fltVal val="0"/>
                                          </p:val>
                                        </p:tav>
                                        <p:tav tm="100000">
                                          <p:val>
                                            <p:strVal val="#ppt_h"/>
                                          </p:val>
                                        </p:tav>
                                      </p:tavLst>
                                    </p:anim>
                                    <p:animEffect transition="in" filter="fade">
                                      <p:cBhvr>
                                        <p:cTn id="121" dur="1000"/>
                                        <p:tgtEl>
                                          <p:spTgt spid="23"/>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4" fill="hold" grpId="0" nodeType="clickEffect">
                                  <p:stCondLst>
                                    <p:cond delay="0"/>
                                  </p:stCondLst>
                                  <p:childTnLst>
                                    <p:set>
                                      <p:cBhvr>
                                        <p:cTn id="125" dur="1" fill="hold">
                                          <p:stCondLst>
                                            <p:cond delay="0"/>
                                          </p:stCondLst>
                                        </p:cTn>
                                        <p:tgtEl>
                                          <p:spTgt spid="54"/>
                                        </p:tgtEl>
                                        <p:attrNameLst>
                                          <p:attrName>style.visibility</p:attrName>
                                        </p:attrNameLst>
                                      </p:cBhvr>
                                      <p:to>
                                        <p:strVal val="visible"/>
                                      </p:to>
                                    </p:set>
                                    <p:animEffect transition="in" filter="wipe(down)">
                                      <p:cBhvr>
                                        <p:cTn id="126" dur="500"/>
                                        <p:tgtEl>
                                          <p:spTgt spid="54"/>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52"/>
                                        </p:tgtEl>
                                        <p:attrNameLst>
                                          <p:attrName>style.visibility</p:attrName>
                                        </p:attrNameLst>
                                      </p:cBhvr>
                                      <p:to>
                                        <p:strVal val="visible"/>
                                      </p:to>
                                    </p:set>
                                    <p:animEffect transition="in" filter="wipe(left)">
                                      <p:cBhvr>
                                        <p:cTn id="131" dur="500"/>
                                        <p:tgtEl>
                                          <p:spTgt spid="52"/>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55"/>
                                        </p:tgtEl>
                                        <p:attrNameLst>
                                          <p:attrName>style.visibility</p:attrName>
                                        </p:attrNameLst>
                                      </p:cBhvr>
                                      <p:to>
                                        <p:strVal val="visible"/>
                                      </p:to>
                                    </p:set>
                                    <p:animEffect transition="in" filter="wipe(left)">
                                      <p:cBhvr>
                                        <p:cTn id="136" dur="500"/>
                                        <p:tgtEl>
                                          <p:spTgt spid="55"/>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68"/>
                                        </p:tgtEl>
                                        <p:attrNameLst>
                                          <p:attrName>style.visibility</p:attrName>
                                        </p:attrNameLst>
                                      </p:cBhvr>
                                      <p:to>
                                        <p:strVal val="visible"/>
                                      </p:to>
                                    </p:set>
                                    <p:animEffect transition="in" filter="wipe(left)">
                                      <p:cBhvr>
                                        <p:cTn id="141" dur="500"/>
                                        <p:tgtEl>
                                          <p:spTgt spid="68"/>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56"/>
                                        </p:tgtEl>
                                        <p:attrNameLst>
                                          <p:attrName>style.visibility</p:attrName>
                                        </p:attrNameLst>
                                      </p:cBhvr>
                                      <p:to>
                                        <p:strVal val="visible"/>
                                      </p:to>
                                    </p:set>
                                    <p:animEffect transition="in" filter="wipe(left)">
                                      <p:cBhvr>
                                        <p:cTn id="146" dur="500"/>
                                        <p:tgtEl>
                                          <p:spTgt spid="56"/>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xit" presetSubtype="0" fill="hold" grpId="1" nodeType="clickEffect">
                                  <p:stCondLst>
                                    <p:cond delay="0"/>
                                  </p:stCondLst>
                                  <p:childTnLst>
                                    <p:animEffect transition="out" filter="fade">
                                      <p:cBhvr>
                                        <p:cTn id="150" dur="500"/>
                                        <p:tgtEl>
                                          <p:spTgt spid="51"/>
                                        </p:tgtEl>
                                      </p:cBhvr>
                                    </p:animEffect>
                                    <p:set>
                                      <p:cBhvr>
                                        <p:cTn id="151" dur="1" fill="hold">
                                          <p:stCondLst>
                                            <p:cond delay="499"/>
                                          </p:stCondLst>
                                        </p:cTn>
                                        <p:tgtEl>
                                          <p:spTgt spid="51"/>
                                        </p:tgtEl>
                                        <p:attrNameLst>
                                          <p:attrName>style.visibility</p:attrName>
                                        </p:attrNameLst>
                                      </p:cBhvr>
                                      <p:to>
                                        <p:strVal val="hidden"/>
                                      </p:to>
                                    </p:se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grpId="0" nodeType="clickEffect">
                                  <p:stCondLst>
                                    <p:cond delay="0"/>
                                  </p:stCondLst>
                                  <p:childTnLst>
                                    <p:set>
                                      <p:cBhvr>
                                        <p:cTn id="155" dur="1" fill="hold">
                                          <p:stCondLst>
                                            <p:cond delay="0"/>
                                          </p:stCondLst>
                                        </p:cTn>
                                        <p:tgtEl>
                                          <p:spTgt spid="5">
                                            <p:txEl>
                                              <p:pRg st="14" end="14"/>
                                            </p:txEl>
                                          </p:spTgt>
                                        </p:tgtEl>
                                        <p:attrNameLst>
                                          <p:attrName>style.visibility</p:attrName>
                                        </p:attrNameLst>
                                      </p:cBhvr>
                                      <p:to>
                                        <p:strVal val="visible"/>
                                      </p:to>
                                    </p:set>
                                    <p:animEffect transition="in" filter="fade">
                                      <p:cBhvr>
                                        <p:cTn id="156" dur="500"/>
                                        <p:tgtEl>
                                          <p:spTgt spid="5">
                                            <p:txEl>
                                              <p:pRg st="14" end="14"/>
                                            </p:txEl>
                                          </p:spTgt>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xit" presetSubtype="8" fill="hold" grpId="0" nodeType="clickEffect">
                                  <p:stCondLst>
                                    <p:cond delay="0"/>
                                  </p:stCondLst>
                                  <p:childTnLst>
                                    <p:animEffect transition="out" filter="wipe(left)">
                                      <p:cBhvr>
                                        <p:cTn id="160" dur="1000"/>
                                        <p:tgtEl>
                                          <p:spTgt spid="9"/>
                                        </p:tgtEl>
                                      </p:cBhvr>
                                    </p:animEffect>
                                    <p:set>
                                      <p:cBhvr>
                                        <p:cTn id="161" dur="1" fill="hold">
                                          <p:stCondLst>
                                            <p:cond delay="999"/>
                                          </p:stCondLst>
                                        </p:cTn>
                                        <p:tgtEl>
                                          <p:spTgt spid="9"/>
                                        </p:tgtEl>
                                        <p:attrNameLst>
                                          <p:attrName>style.visibility</p:attrName>
                                        </p:attrNameLst>
                                      </p:cBhvr>
                                      <p:to>
                                        <p:strVal val="hidden"/>
                                      </p:to>
                                    </p:set>
                                  </p:childTnLst>
                                </p:cTn>
                              </p:par>
                            </p:childTnLst>
                          </p:cTn>
                        </p:par>
                      </p:childTnLst>
                    </p:cTn>
                  </p:par>
                  <p:par>
                    <p:cTn id="162" fill="hold">
                      <p:stCondLst>
                        <p:cond delay="indefinite"/>
                      </p:stCondLst>
                      <p:childTnLst>
                        <p:par>
                          <p:cTn id="163" fill="hold">
                            <p:stCondLst>
                              <p:cond delay="0"/>
                            </p:stCondLst>
                            <p:childTnLst>
                              <p:par>
                                <p:cTn id="164" presetID="22" presetClass="exit" presetSubtype="8" fill="hold" grpId="0" nodeType="clickEffect">
                                  <p:stCondLst>
                                    <p:cond delay="0"/>
                                  </p:stCondLst>
                                  <p:childTnLst>
                                    <p:animEffect transition="out" filter="wipe(left)">
                                      <p:cBhvr>
                                        <p:cTn id="165" dur="1000"/>
                                        <p:tgtEl>
                                          <p:spTgt spid="8"/>
                                        </p:tgtEl>
                                      </p:cBhvr>
                                    </p:animEffect>
                                    <p:set>
                                      <p:cBhvr>
                                        <p:cTn id="166"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uiExpand="1" build="p"/>
      <p:bldP spid="82" grpId="0"/>
      <p:bldP spid="24" grpId="0" animBg="1"/>
      <p:bldP spid="51" grpId="0" animBg="1"/>
      <p:bldP spid="51" grpId="1" animBg="1"/>
      <p:bldP spid="52" grpId="0"/>
      <p:bldP spid="54" grpId="0" animBg="1"/>
      <p:bldP spid="68" grpId="0"/>
      <p:bldP spid="3" grpId="0"/>
      <p:bldP spid="3" grpId="1"/>
      <p:bldP spid="6" grpId="0" animBg="1"/>
      <p:bldP spid="6" grpId="1" animBg="1"/>
      <p:bldP spid="8" grpId="0" animBg="1"/>
      <p:bldP spid="9" grpId="0" animBg="1"/>
      <p:bldP spid="21"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7030A0"/>
                </a:solidFill>
              </a:rPr>
              <a:t>Topological ordering</a:t>
            </a:r>
            <a:endParaRPr lang="en-US" sz="3600" dirty="0"/>
          </a:p>
        </p:txBody>
      </p:sp>
      <p:sp>
        <p:nvSpPr>
          <p:cNvPr id="3" name="Content Placeholder 2"/>
          <p:cNvSpPr>
            <a:spLocks noGrp="1"/>
          </p:cNvSpPr>
          <p:nvPr>
            <p:ph idx="1"/>
          </p:nvPr>
        </p:nvSpPr>
        <p:spPr/>
        <p:txBody>
          <a:bodyPr/>
          <a:lstStyle/>
          <a:p>
            <a:pPr marL="0" indent="0">
              <a:buNone/>
            </a:pPr>
            <a:r>
              <a:rPr lang="en-US" sz="2000" b="1" dirty="0"/>
              <a:t>Example</a:t>
            </a:r>
            <a:r>
              <a:rPr lang="en-US" sz="2000" dirty="0"/>
              <a: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This is indeed a valid topological ordering. </a:t>
            </a:r>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11</a:t>
            </a:fld>
            <a:endParaRPr lang="en-US"/>
          </a:p>
        </p:txBody>
      </p:sp>
      <p:grpSp>
        <p:nvGrpSpPr>
          <p:cNvPr id="68" name="Group 67"/>
          <p:cNvGrpSpPr/>
          <p:nvPr/>
        </p:nvGrpSpPr>
        <p:grpSpPr>
          <a:xfrm>
            <a:off x="2590800" y="1981200"/>
            <a:ext cx="4876800" cy="1981200"/>
            <a:chOff x="2590800" y="1981200"/>
            <a:chExt cx="4876800" cy="1981200"/>
          </a:xfrm>
        </p:grpSpPr>
        <p:cxnSp>
          <p:nvCxnSpPr>
            <p:cNvPr id="8" name="Straight Arrow Connector 7"/>
            <p:cNvCxnSpPr>
              <a:endCxn id="20" idx="0"/>
            </p:cNvCxnSpPr>
            <p:nvPr/>
          </p:nvCxnSpPr>
          <p:spPr>
            <a:xfrm>
              <a:off x="2781300" y="2971800"/>
              <a:ext cx="685800" cy="76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25908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z</a:t>
              </a:r>
            </a:p>
          </p:txBody>
        </p:sp>
        <p:sp>
          <p:nvSpPr>
            <p:cNvPr id="14" name="Oval 13"/>
            <p:cNvSpPr/>
            <p:nvPr/>
          </p:nvSpPr>
          <p:spPr>
            <a:xfrm>
              <a:off x="5638800" y="1981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a:t>
              </a:r>
            </a:p>
          </p:txBody>
        </p:sp>
        <p:sp>
          <p:nvSpPr>
            <p:cNvPr id="15" name="Oval 14"/>
            <p:cNvSpPr/>
            <p:nvPr/>
          </p:nvSpPr>
          <p:spPr>
            <a:xfrm>
              <a:off x="49530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sp>
          <p:nvSpPr>
            <p:cNvPr id="16" name="Oval 15"/>
            <p:cNvSpPr/>
            <p:nvPr/>
          </p:nvSpPr>
          <p:spPr>
            <a:xfrm>
              <a:off x="64008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v</a:t>
              </a:r>
            </a:p>
          </p:txBody>
        </p:sp>
        <p:sp>
          <p:nvSpPr>
            <p:cNvPr id="17" name="Oval 16"/>
            <p:cNvSpPr/>
            <p:nvPr/>
          </p:nvSpPr>
          <p:spPr>
            <a:xfrm>
              <a:off x="44958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sp>
          <p:nvSpPr>
            <p:cNvPr id="18" name="Oval 17"/>
            <p:cNvSpPr/>
            <p:nvPr/>
          </p:nvSpPr>
          <p:spPr>
            <a:xfrm>
              <a:off x="57912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w</a:t>
              </a:r>
            </a:p>
          </p:txBody>
        </p:sp>
        <p:sp>
          <p:nvSpPr>
            <p:cNvPr id="19" name="Oval 18"/>
            <p:cNvSpPr/>
            <p:nvPr/>
          </p:nvSpPr>
          <p:spPr>
            <a:xfrm>
              <a:off x="72390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sp>
          <p:nvSpPr>
            <p:cNvPr id="20" name="Oval 19"/>
            <p:cNvSpPr/>
            <p:nvPr/>
          </p:nvSpPr>
          <p:spPr>
            <a:xfrm>
              <a:off x="3352800" y="37338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cxnSp>
          <p:nvCxnSpPr>
            <p:cNvPr id="22" name="Straight Arrow Connector 21"/>
            <p:cNvCxnSpPr>
              <a:stCxn id="14" idx="5"/>
              <a:endCxn id="16" idx="1"/>
            </p:cNvCxnSpPr>
            <p:nvPr/>
          </p:nvCxnSpPr>
          <p:spPr>
            <a:xfrm>
              <a:off x="5833922" y="2176322"/>
              <a:ext cx="600356" cy="6003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6" idx="5"/>
              <a:endCxn id="19" idx="1"/>
            </p:cNvCxnSpPr>
            <p:nvPr/>
          </p:nvCxnSpPr>
          <p:spPr>
            <a:xfrm>
              <a:off x="6595922" y="2938322"/>
              <a:ext cx="676556" cy="81262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9" idx="2"/>
              <a:endCxn id="15" idx="5"/>
            </p:cNvCxnSpPr>
            <p:nvPr/>
          </p:nvCxnSpPr>
          <p:spPr>
            <a:xfrm flipH="1" flipV="1">
              <a:off x="5148122" y="2938322"/>
              <a:ext cx="2090878" cy="89344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3"/>
              <a:endCxn id="15" idx="0"/>
            </p:cNvCxnSpPr>
            <p:nvPr/>
          </p:nvCxnSpPr>
          <p:spPr>
            <a:xfrm flipH="1">
              <a:off x="5067300" y="2176322"/>
              <a:ext cx="604978" cy="5668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6" idx="3"/>
            </p:cNvCxnSpPr>
            <p:nvPr/>
          </p:nvCxnSpPr>
          <p:spPr>
            <a:xfrm flipH="1">
              <a:off x="5948222" y="2938322"/>
              <a:ext cx="486056" cy="7954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3"/>
            </p:cNvCxnSpPr>
            <p:nvPr/>
          </p:nvCxnSpPr>
          <p:spPr>
            <a:xfrm flipH="1">
              <a:off x="3505200" y="2938322"/>
              <a:ext cx="1481278" cy="8289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5" idx="4"/>
              <a:endCxn id="17" idx="0"/>
            </p:cNvCxnSpPr>
            <p:nvPr/>
          </p:nvCxnSpPr>
          <p:spPr>
            <a:xfrm flipH="1">
              <a:off x="4610100" y="2971800"/>
              <a:ext cx="457200" cy="74567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019800" y="3831771"/>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7" idx="2"/>
              <a:endCxn id="20" idx="6"/>
            </p:cNvCxnSpPr>
            <p:nvPr/>
          </p:nvCxnSpPr>
          <p:spPr>
            <a:xfrm flipH="1">
              <a:off x="3581400" y="3831771"/>
              <a:ext cx="914400" cy="1632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7" idx="6"/>
              <a:endCxn id="18" idx="2"/>
            </p:cNvCxnSpPr>
            <p:nvPr/>
          </p:nvCxnSpPr>
          <p:spPr>
            <a:xfrm>
              <a:off x="4724400" y="3831771"/>
              <a:ext cx="1066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2"/>
              <a:endCxn id="15" idx="6"/>
            </p:cNvCxnSpPr>
            <p:nvPr/>
          </p:nvCxnSpPr>
          <p:spPr>
            <a:xfrm flipH="1">
              <a:off x="5181600" y="2857500"/>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5" idx="2"/>
              <a:endCxn id="13" idx="6"/>
            </p:cNvCxnSpPr>
            <p:nvPr/>
          </p:nvCxnSpPr>
          <p:spPr>
            <a:xfrm flipH="1">
              <a:off x="2819400" y="2857500"/>
              <a:ext cx="2133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67" name="Group 66"/>
          <p:cNvGrpSpPr/>
          <p:nvPr/>
        </p:nvGrpSpPr>
        <p:grpSpPr>
          <a:xfrm>
            <a:off x="1295400" y="4572000"/>
            <a:ext cx="6172200" cy="228600"/>
            <a:chOff x="1295400" y="4572000"/>
            <a:chExt cx="6172200" cy="228600"/>
          </a:xfrm>
        </p:grpSpPr>
        <p:sp>
          <p:nvSpPr>
            <p:cNvPr id="58" name="Oval 57"/>
            <p:cNvSpPr/>
            <p:nvPr/>
          </p:nvSpPr>
          <p:spPr>
            <a:xfrm>
              <a:off x="1295400" y="4572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a:t>
              </a:r>
            </a:p>
          </p:txBody>
        </p:sp>
        <p:sp>
          <p:nvSpPr>
            <p:cNvPr id="59" name="Oval 58"/>
            <p:cNvSpPr/>
            <p:nvPr/>
          </p:nvSpPr>
          <p:spPr>
            <a:xfrm>
              <a:off x="2133600" y="4572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v</a:t>
              </a:r>
            </a:p>
          </p:txBody>
        </p:sp>
        <p:sp>
          <p:nvSpPr>
            <p:cNvPr id="60" name="Oval 59"/>
            <p:cNvSpPr/>
            <p:nvPr/>
          </p:nvSpPr>
          <p:spPr>
            <a:xfrm>
              <a:off x="3048000" y="4572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sp>
          <p:nvSpPr>
            <p:cNvPr id="61" name="Oval 60"/>
            <p:cNvSpPr/>
            <p:nvPr/>
          </p:nvSpPr>
          <p:spPr>
            <a:xfrm>
              <a:off x="3886200" y="4572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sp>
          <p:nvSpPr>
            <p:cNvPr id="62" name="Oval 61"/>
            <p:cNvSpPr/>
            <p:nvPr/>
          </p:nvSpPr>
          <p:spPr>
            <a:xfrm>
              <a:off x="6400800" y="4572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w</a:t>
              </a:r>
            </a:p>
          </p:txBody>
        </p:sp>
        <p:sp>
          <p:nvSpPr>
            <p:cNvPr id="63" name="Oval 62"/>
            <p:cNvSpPr/>
            <p:nvPr/>
          </p:nvSpPr>
          <p:spPr>
            <a:xfrm>
              <a:off x="4724400" y="4572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sp>
          <p:nvSpPr>
            <p:cNvPr id="64" name="Oval 63"/>
            <p:cNvSpPr/>
            <p:nvPr/>
          </p:nvSpPr>
          <p:spPr>
            <a:xfrm>
              <a:off x="5562600" y="4572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z</a:t>
              </a:r>
            </a:p>
          </p:txBody>
        </p:sp>
        <p:sp>
          <p:nvSpPr>
            <p:cNvPr id="65" name="Oval 64"/>
            <p:cNvSpPr/>
            <p:nvPr/>
          </p:nvSpPr>
          <p:spPr>
            <a:xfrm>
              <a:off x="7239000" y="4572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grpSp>
      <p:sp>
        <p:nvSpPr>
          <p:cNvPr id="66" name="TextBox 65"/>
          <p:cNvSpPr txBox="1"/>
          <p:nvPr/>
        </p:nvSpPr>
        <p:spPr>
          <a:xfrm>
            <a:off x="1219200" y="4888468"/>
            <a:ext cx="6527749" cy="369332"/>
          </a:xfrm>
          <a:prstGeom prst="rect">
            <a:avLst/>
          </a:prstGeom>
          <a:noFill/>
        </p:spPr>
        <p:txBody>
          <a:bodyPr wrap="none" rtlCol="0">
            <a:spAutoFit/>
          </a:bodyPr>
          <a:lstStyle/>
          <a:p>
            <a:r>
              <a:rPr lang="en-US" dirty="0"/>
              <a:t>1             2                3              4              5              6              7              8 </a:t>
            </a:r>
          </a:p>
        </p:txBody>
      </p:sp>
      <mc:AlternateContent xmlns:mc="http://schemas.openxmlformats.org/markup-compatibility/2006" xmlns:a14="http://schemas.microsoft.com/office/drawing/2010/main">
        <mc:Choice Requires="a14">
          <p:sp>
            <p:nvSpPr>
              <p:cNvPr id="38" name="Cloud Callout 37"/>
              <p:cNvSpPr/>
              <p:nvPr/>
            </p:nvSpPr>
            <p:spPr>
              <a:xfrm>
                <a:off x="5148122" y="5181600"/>
                <a:ext cx="3614878" cy="1143000"/>
              </a:xfrm>
              <a:prstGeom prst="cloudCallou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sym typeface="Wingdings" pitchFamily="2" charset="2"/>
                  </a:rPr>
                  <a:t>How efficiently can we determine if a given </a:t>
                </a:r>
                <a:r>
                  <a:rPr lang="en-US" sz="1400" dirty="0">
                    <a:solidFill>
                      <a:schemeClr val="tx1"/>
                    </a:solidFill>
                  </a:rPr>
                  <a:t>mapping</a:t>
                </a:r>
                <a:r>
                  <a:rPr lang="en-US" sz="1400" dirty="0"/>
                  <a:t> </a:t>
                </a:r>
                <a14:m>
                  <m:oMath xmlns:m="http://schemas.openxmlformats.org/officeDocument/2006/math">
                    <m:r>
                      <a:rPr lang="en-US" sz="1400" b="1" i="1" dirty="0">
                        <a:solidFill>
                          <a:srgbClr val="7030A0"/>
                        </a:solidFill>
                        <a:latin typeface="Cambria Math"/>
                      </a:rPr>
                      <m:t>𝝉</m:t>
                    </m:r>
                  </m:oMath>
                </a14:m>
                <a:r>
                  <a:rPr lang="en-US" sz="1400" dirty="0">
                    <a:solidFill>
                      <a:schemeClr val="tx1"/>
                    </a:solidFill>
                    <a:sym typeface="Wingdings" pitchFamily="2" charset="2"/>
                  </a:rPr>
                  <a:t> is indeed a topological ordering ?</a:t>
                </a:r>
                <a:endParaRPr lang="en-US" sz="1400" dirty="0">
                  <a:solidFill>
                    <a:schemeClr val="tx1"/>
                  </a:solidFill>
                </a:endParaRPr>
              </a:p>
            </p:txBody>
          </p:sp>
        </mc:Choice>
        <mc:Fallback xmlns="">
          <p:sp>
            <p:nvSpPr>
              <p:cNvPr id="38" name="Cloud Callout 37"/>
              <p:cNvSpPr>
                <a:spLocks noRot="1" noChangeAspect="1" noMove="1" noResize="1" noEditPoints="1" noAdjustHandles="1" noChangeArrowheads="1" noChangeShapeType="1" noTextEdit="1"/>
              </p:cNvSpPr>
              <p:nvPr/>
            </p:nvSpPr>
            <p:spPr>
              <a:xfrm>
                <a:off x="5148122" y="5181600"/>
                <a:ext cx="3614878" cy="1143000"/>
              </a:xfrm>
              <a:prstGeom prst="cloudCallout">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6709726" y="6400800"/>
                <a:ext cx="1287147" cy="307777"/>
              </a:xfrm>
              <a:prstGeom prst="rect">
                <a:avLst/>
              </a:prstGeom>
              <a:solidFill>
                <a:srgbClr val="FFC000"/>
              </a:solidFill>
            </p:spPr>
            <p:txBody>
              <a:bodyPr wrap="none" rtlCol="0">
                <a:spAutoFit/>
              </a:bodyPr>
              <a:lstStyle/>
              <a:p>
                <a:r>
                  <a:rPr lang="en-US" sz="1400" b="1" dirty="0"/>
                  <a:t>O</a:t>
                </a:r>
                <a:r>
                  <a:rPr lang="en-US" sz="1400" dirty="0"/>
                  <a:t>(</a:t>
                </a:r>
                <a14:m>
                  <m:oMath xmlns:m="http://schemas.openxmlformats.org/officeDocument/2006/math">
                    <m:r>
                      <a:rPr lang="en-US" sz="1400" b="1" i="1" dirty="0" smtClean="0">
                        <a:solidFill>
                          <a:srgbClr val="0070C0"/>
                        </a:solidFill>
                        <a:latin typeface="Cambria Math"/>
                      </a:rPr>
                      <m:t>𝒎</m:t>
                    </m:r>
                    <m:r>
                      <a:rPr lang="en-US" sz="1400" b="1" i="1" dirty="0" smtClean="0">
                        <a:solidFill>
                          <a:schemeClr val="tx1"/>
                        </a:solidFill>
                        <a:latin typeface="Cambria Math"/>
                      </a:rPr>
                      <m:t>+</m:t>
                    </m:r>
                    <m:r>
                      <a:rPr lang="en-US" sz="1400" b="1" i="1" dirty="0" smtClean="0">
                        <a:solidFill>
                          <a:srgbClr val="0070C0"/>
                        </a:solidFill>
                        <a:latin typeface="Cambria Math"/>
                      </a:rPr>
                      <m:t>𝒏</m:t>
                    </m:r>
                  </m:oMath>
                </a14:m>
                <a:r>
                  <a:rPr lang="en-US" sz="1400" dirty="0"/>
                  <a:t>) time</a:t>
                </a:r>
              </a:p>
            </p:txBody>
          </p:sp>
        </mc:Choice>
        <mc:Fallback xmlns="">
          <p:sp>
            <p:nvSpPr>
              <p:cNvPr id="40" name="TextBox 39"/>
              <p:cNvSpPr txBox="1">
                <a:spLocks noRot="1" noChangeAspect="1" noMove="1" noResize="1" noEditPoints="1" noAdjustHandles="1" noChangeArrowheads="1" noChangeShapeType="1" noTextEdit="1"/>
              </p:cNvSpPr>
              <p:nvPr/>
            </p:nvSpPr>
            <p:spPr>
              <a:xfrm>
                <a:off x="6709726" y="6400800"/>
                <a:ext cx="1287147" cy="307777"/>
              </a:xfrm>
              <a:prstGeom prst="rect">
                <a:avLst/>
              </a:prstGeom>
              <a:blipFill rotWithShape="1">
                <a:blip r:embed="rId3"/>
                <a:stretch>
                  <a:fillRect l="-1422" t="-2000" r="-3791" b="-20000"/>
                </a:stretch>
              </a:blipFill>
            </p:spPr>
            <p:txBody>
              <a:bodyPr/>
              <a:lstStyle/>
              <a:p>
                <a:r>
                  <a:rPr lang="en-US">
                    <a:noFill/>
                  </a:rPr>
                  <a:t> </a:t>
                </a:r>
              </a:p>
            </p:txBody>
          </p:sp>
        </mc:Fallback>
      </mc:AlternateContent>
    </p:spTree>
    <p:extLst>
      <p:ext uri="{BB962C8B-B14F-4D97-AF65-F5344CB8AC3E}">
        <p14:creationId xmlns:p14="http://schemas.microsoft.com/office/powerpoint/2010/main" val="4213037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68"/>
                                        </p:tgtEl>
                                        <p:attrNameLst>
                                          <p:attrName>style.visibility</p:attrName>
                                        </p:attrNameLst>
                                      </p:cBhvr>
                                      <p:to>
                                        <p:strVal val="visible"/>
                                      </p:to>
                                    </p:set>
                                    <p:animEffect transition="in" filter="fade">
                                      <p:cBhvr>
                                        <p:cTn id="12" dur="1000"/>
                                        <p:tgtEl>
                                          <p:spTgt spid="68"/>
                                        </p:tgtEl>
                                      </p:cBhvr>
                                    </p:animEffect>
                                    <p:anim calcmode="lin" valueType="num">
                                      <p:cBhvr>
                                        <p:cTn id="13" dur="1000" fill="hold"/>
                                        <p:tgtEl>
                                          <p:spTgt spid="68"/>
                                        </p:tgtEl>
                                        <p:attrNameLst>
                                          <p:attrName>ppt_x</p:attrName>
                                        </p:attrNameLst>
                                      </p:cBhvr>
                                      <p:tavLst>
                                        <p:tav tm="0">
                                          <p:val>
                                            <p:strVal val="#ppt_x"/>
                                          </p:val>
                                        </p:tav>
                                        <p:tav tm="100000">
                                          <p:val>
                                            <p:strVal val="#ppt_x"/>
                                          </p:val>
                                        </p:tav>
                                      </p:tavLst>
                                    </p:anim>
                                    <p:anim calcmode="lin" valueType="num">
                                      <p:cBhvr>
                                        <p:cTn id="14"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wipe(left)">
                                      <p:cBhvr>
                                        <p:cTn id="19" dur="1500"/>
                                        <p:tgtEl>
                                          <p:spTgt spid="6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wipe(left)">
                                      <p:cBhvr>
                                        <p:cTn id="24" dur="1500"/>
                                        <p:tgtEl>
                                          <p:spTgt spid="6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animEffect transition="in" filter="fade">
                                      <p:cBhvr>
                                        <p:cTn id="29" dur="500"/>
                                        <p:tgtEl>
                                          <p:spTgt spid="3">
                                            <p:txEl>
                                              <p:pRg st="10" end="1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1000"/>
                                        <p:tgtEl>
                                          <p:spTgt spid="38"/>
                                        </p:tgtEl>
                                      </p:cBhvr>
                                    </p:animEffect>
                                    <p:anim calcmode="lin" valueType="num">
                                      <p:cBhvr>
                                        <p:cTn id="35" dur="1000" fill="hold"/>
                                        <p:tgtEl>
                                          <p:spTgt spid="38"/>
                                        </p:tgtEl>
                                        <p:attrNameLst>
                                          <p:attrName>ppt_x</p:attrName>
                                        </p:attrNameLst>
                                      </p:cBhvr>
                                      <p:tavLst>
                                        <p:tav tm="0">
                                          <p:val>
                                            <p:strVal val="#ppt_x"/>
                                          </p:val>
                                        </p:tav>
                                        <p:tav tm="100000">
                                          <p:val>
                                            <p:strVal val="#ppt_x"/>
                                          </p:val>
                                        </p:tav>
                                      </p:tavLst>
                                    </p:anim>
                                    <p:anim calcmode="lin" valueType="num">
                                      <p:cBhvr>
                                        <p:cTn id="3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500"/>
                                        <p:tgtEl>
                                          <p:spTgt spid="4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xit" presetSubtype="0" fill="hold" grpId="1" nodeType="clickEffect">
                                  <p:stCondLst>
                                    <p:cond delay="0"/>
                                  </p:stCondLst>
                                  <p:childTnLst>
                                    <p:animEffect transition="out" filter="fade">
                                      <p:cBhvr>
                                        <p:cTn id="45" dur="500"/>
                                        <p:tgtEl>
                                          <p:spTgt spid="40"/>
                                        </p:tgtEl>
                                      </p:cBhvr>
                                    </p:animEffect>
                                    <p:set>
                                      <p:cBhvr>
                                        <p:cTn id="46" dur="1" fill="hold">
                                          <p:stCondLst>
                                            <p:cond delay="499"/>
                                          </p:stCondLst>
                                        </p:cTn>
                                        <p:tgtEl>
                                          <p:spTgt spid="4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p:bldP spid="38" grpId="0" animBg="1"/>
      <p:bldP spid="40" grpId="0" animBg="1"/>
      <p:bldP spid="40"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solidFill>
                  <a:srgbClr val="7030A0"/>
                </a:solidFill>
              </a:rPr>
              <a:t>Topological ordering</a:t>
            </a:r>
            <a:endParaRPr lang="en-US" sz="3600" dirty="0"/>
          </a:p>
        </p:txBody>
      </p:sp>
      <p:sp>
        <p:nvSpPr>
          <p:cNvPr id="3" name="Content Placeholder 2"/>
          <p:cNvSpPr>
            <a:spLocks noGrp="1"/>
          </p:cNvSpPr>
          <p:nvPr>
            <p:ph idx="1"/>
          </p:nvPr>
        </p:nvSpPr>
        <p:spPr/>
        <p:txBody>
          <a:bodyPr/>
          <a:lstStyle/>
          <a:p>
            <a:pPr marL="0" indent="0" algn="ctr">
              <a:buNone/>
            </a:pPr>
            <a:r>
              <a:rPr lang="en-US" sz="2400" b="1" dirty="0">
                <a:solidFill>
                  <a:srgbClr val="0070C0"/>
                </a:solidFill>
              </a:rPr>
              <a:t>Three questions</a:t>
            </a:r>
          </a:p>
          <a:p>
            <a:pPr marL="0" indent="0">
              <a:buNone/>
            </a:pPr>
            <a:endParaRPr lang="en-US" sz="2000" dirty="0"/>
          </a:p>
          <a:p>
            <a:pPr marL="0" indent="0">
              <a:buNone/>
            </a:pPr>
            <a:r>
              <a:rPr lang="en-US" sz="2000" b="1" dirty="0">
                <a:solidFill>
                  <a:srgbClr val="C00000"/>
                </a:solidFill>
              </a:rPr>
              <a:t>Question 1</a:t>
            </a:r>
            <a:r>
              <a:rPr lang="en-US" sz="2000" dirty="0"/>
              <a:t>:  Why does a topological ordering </a:t>
            </a:r>
            <a:r>
              <a:rPr lang="en-US" sz="2000" b="1" u="sng" dirty="0"/>
              <a:t>exist</a:t>
            </a:r>
            <a:r>
              <a:rPr lang="en-US" sz="2000" dirty="0"/>
              <a:t> for every DAG ?</a:t>
            </a:r>
          </a:p>
          <a:p>
            <a:pPr marL="0" indent="0">
              <a:buNone/>
            </a:pPr>
            <a:endParaRPr lang="en-US" sz="2000" dirty="0"/>
          </a:p>
          <a:p>
            <a:pPr marL="0" indent="0">
              <a:buNone/>
            </a:pPr>
            <a:endParaRPr lang="en-US" sz="2000" dirty="0"/>
          </a:p>
          <a:p>
            <a:pPr marL="0" indent="0">
              <a:buNone/>
            </a:pPr>
            <a:r>
              <a:rPr lang="en-US" sz="2000" b="1" dirty="0">
                <a:solidFill>
                  <a:srgbClr val="C00000"/>
                </a:solidFill>
              </a:rPr>
              <a:t>Question 2</a:t>
            </a:r>
            <a:r>
              <a:rPr lang="en-US" sz="2000" dirty="0"/>
              <a:t>:  How </a:t>
            </a:r>
            <a:r>
              <a:rPr lang="en-US" sz="2000" b="1" u="sng" dirty="0"/>
              <a:t>efficiently</a:t>
            </a:r>
            <a:r>
              <a:rPr lang="en-US" sz="2000" dirty="0"/>
              <a:t> can we </a:t>
            </a:r>
            <a:r>
              <a:rPr lang="en-US" sz="2000" b="1" u="sng" dirty="0"/>
              <a:t>compute</a:t>
            </a:r>
            <a:r>
              <a:rPr lang="en-US" sz="2000" dirty="0"/>
              <a:t> a topological ordering ?</a:t>
            </a:r>
          </a:p>
          <a:p>
            <a:pPr marL="0" indent="0">
              <a:buNone/>
            </a:pPr>
            <a:endParaRPr lang="en-US" sz="2000" dirty="0"/>
          </a:p>
          <a:p>
            <a:pPr marL="0" indent="0">
              <a:buNone/>
            </a:pPr>
            <a:endParaRPr lang="en-US" sz="2000" dirty="0"/>
          </a:p>
          <a:p>
            <a:pPr marL="0" indent="0">
              <a:buNone/>
            </a:pPr>
            <a:r>
              <a:rPr lang="en-US" sz="2000" b="1" dirty="0">
                <a:solidFill>
                  <a:srgbClr val="C00000"/>
                </a:solidFill>
              </a:rPr>
              <a:t>Question 3</a:t>
            </a:r>
            <a:r>
              <a:rPr lang="en-US" sz="2000" dirty="0"/>
              <a:t>: What is the </a:t>
            </a:r>
            <a:r>
              <a:rPr lang="en-US" sz="2000" b="1" u="sng" dirty="0"/>
              <a:t>use</a:t>
            </a:r>
            <a:r>
              <a:rPr lang="en-US" sz="2000" dirty="0"/>
              <a:t> of topological ordering ?</a:t>
            </a:r>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12</a:t>
            </a:fld>
            <a:endParaRPr lang="en-US"/>
          </a:p>
        </p:txBody>
      </p:sp>
      <p:sp>
        <p:nvSpPr>
          <p:cNvPr id="5" name="Rectangle 4"/>
          <p:cNvSpPr/>
          <p:nvPr/>
        </p:nvSpPr>
        <p:spPr>
          <a:xfrm>
            <a:off x="1828800" y="2286000"/>
            <a:ext cx="55626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828800" y="3352800"/>
            <a:ext cx="61722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828800" y="4419600"/>
            <a:ext cx="61722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55638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xit" presetSubtype="8" fill="hold" grpId="0" nodeType="clickEffect">
                                  <p:stCondLst>
                                    <p:cond delay="0"/>
                                  </p:stCondLst>
                                  <p:childTnLst>
                                    <p:animEffect transition="out" filter="wipe(left)">
                                      <p:cBhvr>
                                        <p:cTn id="29" dur="2000"/>
                                        <p:tgtEl>
                                          <p:spTgt spid="5"/>
                                        </p:tgtEl>
                                      </p:cBhvr>
                                    </p:animEffect>
                                    <p:set>
                                      <p:cBhvr>
                                        <p:cTn id="30" dur="1" fill="hold">
                                          <p:stCondLst>
                                            <p:cond delay="1999"/>
                                          </p:stCondLst>
                                        </p:cTn>
                                        <p:tgtEl>
                                          <p:spTgt spid="5"/>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5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xit" presetSubtype="8" fill="hold" grpId="0" nodeType="clickEffect">
                                  <p:stCondLst>
                                    <p:cond delay="0"/>
                                  </p:stCondLst>
                                  <p:childTnLst>
                                    <p:animEffect transition="out" filter="wipe(left)">
                                      <p:cBhvr>
                                        <p:cTn id="39" dur="2000"/>
                                        <p:tgtEl>
                                          <p:spTgt spid="6"/>
                                        </p:tgtEl>
                                      </p:cBhvr>
                                    </p:animEffect>
                                    <p:set>
                                      <p:cBhvr>
                                        <p:cTn id="40" dur="1" fill="hold">
                                          <p:stCondLst>
                                            <p:cond delay="1999"/>
                                          </p:stCondLst>
                                        </p:cTn>
                                        <p:tgtEl>
                                          <p:spTgt spid="6"/>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xit" presetSubtype="8" fill="hold" grpId="0" nodeType="clickEffect">
                                  <p:stCondLst>
                                    <p:cond delay="0"/>
                                  </p:stCondLst>
                                  <p:childTnLst>
                                    <p:animEffect transition="out" filter="wipe(left)">
                                      <p:cBhvr>
                                        <p:cTn id="49" dur="2000"/>
                                        <p:tgtEl>
                                          <p:spTgt spid="7"/>
                                        </p:tgtEl>
                                      </p:cBhvr>
                                    </p:animEffect>
                                    <p:set>
                                      <p:cBhvr>
                                        <p:cTn id="50" dur="1" fill="hold">
                                          <p:stCondLst>
                                            <p:cond delay="1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22313" y="1828800"/>
            <a:ext cx="7772400" cy="1362075"/>
          </a:xfrm>
        </p:spPr>
        <p:txBody>
          <a:bodyPr/>
          <a:lstStyle/>
          <a:p>
            <a:pPr algn="ctr"/>
            <a:r>
              <a:rPr lang="en-US" sz="3600" dirty="0">
                <a:solidFill>
                  <a:srgbClr val="0070C0"/>
                </a:solidFill>
              </a:rPr>
              <a:t>applications</a:t>
            </a:r>
            <a:r>
              <a:rPr lang="en-US" sz="3600" dirty="0">
                <a:solidFill>
                  <a:srgbClr val="7030A0"/>
                </a:solidFill>
              </a:rPr>
              <a:t> </a:t>
            </a:r>
            <a:r>
              <a:rPr lang="en-US" sz="3600" dirty="0"/>
              <a:t>of</a:t>
            </a:r>
            <a:r>
              <a:rPr lang="en-US" sz="3600" dirty="0">
                <a:solidFill>
                  <a:srgbClr val="7030A0"/>
                </a:solidFill>
              </a:rPr>
              <a:t> </a:t>
            </a:r>
            <a:br>
              <a:rPr lang="en-US" sz="3600" dirty="0">
                <a:solidFill>
                  <a:srgbClr val="7030A0"/>
                </a:solidFill>
              </a:rPr>
            </a:br>
            <a:r>
              <a:rPr lang="en-US" sz="3600" dirty="0">
                <a:solidFill>
                  <a:srgbClr val="7030A0"/>
                </a:solidFill>
              </a:rPr>
              <a:t>Topological ordering</a:t>
            </a:r>
          </a:p>
        </p:txBody>
      </p:sp>
      <p:sp>
        <p:nvSpPr>
          <p:cNvPr id="6" name="Text Placeholder 5"/>
          <p:cNvSpPr>
            <a:spLocks noGrp="1"/>
          </p:cNvSpPr>
          <p:nvPr>
            <p:ph type="body" idx="1"/>
          </p:nvPr>
        </p:nvSpPr>
        <p:spPr/>
        <p:txBody>
          <a:bodyPr/>
          <a:lstStyle/>
          <a:p>
            <a:pPr algn="ctr"/>
            <a:r>
              <a:rPr lang="en-US" sz="2800" b="1" dirty="0">
                <a:solidFill>
                  <a:srgbClr val="C00000"/>
                </a:solidFill>
              </a:rPr>
              <a:t>Question 3</a:t>
            </a:r>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13</a:t>
            </a:fld>
            <a:endParaRPr lang="en-US"/>
          </a:p>
        </p:txBody>
      </p:sp>
    </p:spTree>
    <p:extLst>
      <p:ext uri="{BB962C8B-B14F-4D97-AF65-F5344CB8AC3E}">
        <p14:creationId xmlns:p14="http://schemas.microsoft.com/office/powerpoint/2010/main" val="2133582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600" b="1" dirty="0">
                <a:solidFill>
                  <a:srgbClr val="0070C0"/>
                </a:solidFill>
              </a:rPr>
              <a:t>Applications</a:t>
            </a:r>
            <a:r>
              <a:rPr lang="en-US" sz="3600" b="1" dirty="0">
                <a:solidFill>
                  <a:srgbClr val="7030A0"/>
                </a:solidFill>
              </a:rPr>
              <a:t> </a:t>
            </a:r>
            <a:r>
              <a:rPr lang="en-US" sz="3600" b="1" dirty="0"/>
              <a:t>of</a:t>
            </a:r>
            <a:r>
              <a:rPr lang="en-US" sz="3600" b="1" dirty="0">
                <a:solidFill>
                  <a:srgbClr val="7030A0"/>
                </a:solidFill>
              </a:rPr>
              <a:t> Topological ordering</a:t>
            </a:r>
            <a:endParaRPr lang="en-US" sz="3600" b="1"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457200" y="1600200"/>
                <a:ext cx="8686800" cy="4525963"/>
              </a:xfrm>
            </p:spPr>
            <p:txBody>
              <a:bodyPr/>
              <a:lstStyle/>
              <a:p>
                <a:pPr marL="0" indent="0">
                  <a:buNone/>
                </a:pPr>
                <a:r>
                  <a:rPr lang="en-US" sz="2000" dirty="0"/>
                  <a:t>Almost </a:t>
                </a:r>
                <a:r>
                  <a:rPr lang="en-US" sz="2000" b="1" dirty="0"/>
                  <a:t>every algorithmic problem   </a:t>
                </a:r>
                <a:r>
                  <a:rPr lang="en-US" sz="2000" dirty="0"/>
                  <a:t>on DAG exploits </a:t>
                </a:r>
                <a:r>
                  <a:rPr lang="en-US" sz="2000" b="1" dirty="0">
                    <a:solidFill>
                      <a:srgbClr val="7030A0"/>
                    </a:solidFill>
                  </a:rPr>
                  <a:t>Topological ordering.</a:t>
                </a:r>
              </a:p>
              <a:p>
                <a:pPr marL="0" indent="0">
                  <a:buNone/>
                </a:pPr>
                <a:endParaRPr lang="en-US" sz="2000" b="1" dirty="0">
                  <a:solidFill>
                    <a:srgbClr val="7030A0"/>
                  </a:solidFill>
                </a:endParaRPr>
              </a:p>
              <a:p>
                <a:pPr marL="0" indent="0">
                  <a:buNone/>
                </a:pPr>
                <a:r>
                  <a:rPr lang="en-US" sz="2000" b="1" dirty="0"/>
                  <a:t>Examples:</a:t>
                </a:r>
                <a:r>
                  <a:rPr lang="en-US" sz="2000" b="1" dirty="0">
                    <a:solidFill>
                      <a:srgbClr val="7030A0"/>
                    </a:solidFill>
                  </a:rPr>
                  <a:t> </a:t>
                </a:r>
              </a:p>
              <a:p>
                <a:r>
                  <a:rPr lang="en-US" sz="2000" b="1" dirty="0"/>
                  <a:t>Single source </a:t>
                </a:r>
                <a:r>
                  <a:rPr lang="en-US" sz="2000" b="1" dirty="0">
                    <a:solidFill>
                      <a:srgbClr val="7030A0"/>
                    </a:solidFill>
                  </a:rPr>
                  <a:t>shortest paths </a:t>
                </a:r>
              </a:p>
              <a:p>
                <a:pPr marL="0" indent="0">
                  <a:buNone/>
                </a:pPr>
                <a:r>
                  <a:rPr lang="en-US" sz="2000" b="1" dirty="0">
                    <a:solidFill>
                      <a:srgbClr val="7030A0"/>
                    </a:solidFill>
                  </a:rPr>
                  <a:t>		 </a:t>
                </a:r>
                <a:r>
                  <a:rPr lang="en-US" sz="2000" dirty="0"/>
                  <a:t>(No need of </a:t>
                </a:r>
                <a:r>
                  <a:rPr lang="en-US" sz="2000" b="1" dirty="0" err="1"/>
                  <a:t>Dijkstra</a:t>
                </a:r>
                <a:r>
                  <a:rPr lang="en-US" sz="2000" dirty="0" err="1"/>
                  <a:t>’s</a:t>
                </a:r>
                <a:r>
                  <a:rPr lang="en-US" sz="2000" dirty="0"/>
                  <a:t> algorithm)</a:t>
                </a:r>
                <a:endParaRPr lang="en-US" sz="2000" b="1" dirty="0">
                  <a:solidFill>
                    <a:srgbClr val="7030A0"/>
                  </a:solidFill>
                </a:endParaRPr>
              </a:p>
              <a:p>
                <a:endParaRPr lang="en-US" sz="2000" b="1" dirty="0">
                  <a:solidFill>
                    <a:srgbClr val="7030A0"/>
                  </a:solidFill>
                </a:endParaRPr>
              </a:p>
              <a:p>
                <a:r>
                  <a:rPr lang="en-US" sz="2000" b="1" dirty="0"/>
                  <a:t>Single source </a:t>
                </a:r>
                <a:r>
                  <a:rPr lang="en-US" sz="2000" b="1" dirty="0">
                    <a:solidFill>
                      <a:srgbClr val="7030A0"/>
                    </a:solidFill>
                  </a:rPr>
                  <a:t>longest paths</a:t>
                </a:r>
              </a:p>
              <a:p>
                <a:endParaRPr lang="en-US" sz="2000" b="1" dirty="0">
                  <a:solidFill>
                    <a:srgbClr val="7030A0"/>
                  </a:solidFill>
                </a:endParaRPr>
              </a:p>
              <a:p>
                <a:endParaRPr lang="en-US" sz="2000" b="1" dirty="0">
                  <a:solidFill>
                    <a:srgbClr val="7030A0"/>
                  </a:solidFill>
                </a:endParaRPr>
              </a:p>
              <a:p>
                <a:r>
                  <a:rPr lang="en-US" sz="2000" b="1" dirty="0">
                    <a:solidFill>
                      <a:srgbClr val="7030A0"/>
                    </a:solidFill>
                  </a:rPr>
                  <a:t>Count no. of paths </a:t>
                </a:r>
                <a:r>
                  <a:rPr lang="en-US" sz="2000" b="1" dirty="0"/>
                  <a:t>from a source to a destination</a:t>
                </a:r>
              </a:p>
              <a:p>
                <a:pPr marL="0" indent="0">
                  <a:buNone/>
                </a:pPr>
                <a:r>
                  <a:rPr lang="en-US" sz="2000" dirty="0"/>
                  <a:t>		 (If the no. is a polynomial of </a:t>
                </a:r>
                <a14:m>
                  <m:oMath xmlns:m="http://schemas.openxmlformats.org/officeDocument/2006/math">
                    <m:r>
                      <a:rPr lang="en-US" sz="2000" b="1" i="1" dirty="0">
                        <a:solidFill>
                          <a:srgbClr val="0070C0"/>
                        </a:solidFill>
                        <a:latin typeface="Cambria Math"/>
                      </a:rPr>
                      <m:t>𝒏</m:t>
                    </m:r>
                  </m:oMath>
                </a14:m>
                <a:r>
                  <a:rPr lang="en-US" sz="2000" dirty="0"/>
                  <a:t>)</a:t>
                </a:r>
                <a:endParaRPr lang="en-US" sz="2000" b="1" dirty="0">
                  <a:solidFill>
                    <a:srgbClr val="7030A0"/>
                  </a:solidFill>
                </a:endParaRPr>
              </a:p>
              <a:p>
                <a:pPr marL="0" indent="0">
                  <a:buNone/>
                </a:pPr>
                <a:r>
                  <a:rPr lang="en-US" sz="2000" b="1" dirty="0">
                    <a:solidFill>
                      <a:srgbClr val="002060"/>
                    </a:solidFill>
                  </a:rPr>
                  <a:t>All these problems have a simple </a:t>
                </a:r>
                <a14:m>
                  <m:oMath xmlns:m="http://schemas.openxmlformats.org/officeDocument/2006/math">
                    <m:r>
                      <a:rPr lang="en-US" sz="2000" b="1" i="1" dirty="0">
                        <a:latin typeface="Cambria Math"/>
                      </a:rPr>
                      <m:t>𝑶</m:t>
                    </m:r>
                    <m:r>
                      <a:rPr lang="en-US" sz="2000" b="1" i="1" dirty="0">
                        <a:latin typeface="Cambria Math"/>
                      </a:rPr>
                      <m:t>(</m:t>
                    </m:r>
                    <m:r>
                      <a:rPr lang="en-US" sz="2000" b="1" i="1" dirty="0">
                        <a:solidFill>
                          <a:srgbClr val="0070C0"/>
                        </a:solidFill>
                        <a:latin typeface="Cambria Math"/>
                      </a:rPr>
                      <m:t>𝒎</m:t>
                    </m:r>
                    <m:r>
                      <a:rPr lang="en-US" sz="2000" b="1" i="1" dirty="0">
                        <a:solidFill>
                          <a:srgbClr val="0070C0"/>
                        </a:solidFill>
                        <a:latin typeface="Cambria Math"/>
                      </a:rPr>
                      <m:t>+</m:t>
                    </m:r>
                    <m:r>
                      <a:rPr lang="en-US" sz="2000" b="1" i="1" dirty="0">
                        <a:solidFill>
                          <a:srgbClr val="0070C0"/>
                        </a:solidFill>
                        <a:latin typeface="Cambria Math"/>
                      </a:rPr>
                      <m:t>𝒏</m:t>
                    </m:r>
                    <m:r>
                      <a:rPr lang="en-US" sz="2000" b="1" i="1" dirty="0">
                        <a:latin typeface="Cambria Math"/>
                      </a:rPr>
                      <m:t>)</m:t>
                    </m:r>
                  </m:oMath>
                </a14:m>
                <a:r>
                  <a:rPr lang="en-US" sz="2000" b="1" dirty="0">
                    <a:solidFill>
                      <a:srgbClr val="C00000"/>
                    </a:solidFill>
                  </a:rPr>
                  <a:t> </a:t>
                </a:r>
                <a:r>
                  <a:rPr lang="en-US" sz="2000" b="1" dirty="0"/>
                  <a:t>time algorithm for DAG</a:t>
                </a:r>
              </a:p>
              <a:p>
                <a:pPr marL="0" indent="0">
                  <a:buNone/>
                </a:pPr>
                <a:endParaRPr lang="en-US" sz="2000" b="1" dirty="0">
                  <a:solidFill>
                    <a:srgbClr val="7030A0"/>
                  </a:solidFill>
                </a:endParaRPr>
              </a:p>
              <a:p>
                <a:pPr marL="0" indent="0">
                  <a:buNone/>
                </a:pPr>
                <a:endParaRPr lang="en-US" sz="2000" dirty="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457200" y="1600200"/>
                <a:ext cx="8686800" cy="4525963"/>
              </a:xfrm>
              <a:blipFill>
                <a:blip r:embed="rId2"/>
                <a:stretch>
                  <a:fillRect l="-731" t="-84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92E9ED8-BBDD-47A1-9C62-8C7F2ACFBD70}" type="slidenum">
              <a:rPr lang="en-US" smtClean="0"/>
              <a:pPr>
                <a:defRPr/>
              </a:pPr>
              <a:t>14</a:t>
            </a:fld>
            <a:endParaRPr lang="en-US"/>
          </a:p>
        </p:txBody>
      </p:sp>
      <p:sp>
        <p:nvSpPr>
          <p:cNvPr id="2" name="Rounded Rectangle 1"/>
          <p:cNvSpPr/>
          <p:nvPr/>
        </p:nvSpPr>
        <p:spPr>
          <a:xfrm>
            <a:off x="1295400" y="1600200"/>
            <a:ext cx="2895600" cy="457200"/>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267200" y="1524000"/>
            <a:ext cx="39624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9010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2000"/>
                                        <p:tgtEl>
                                          <p:spTgt spid="7"/>
                                        </p:tgtEl>
                                      </p:cBhvr>
                                    </p:animEffect>
                                    <p:set>
                                      <p:cBhvr>
                                        <p:cTn id="17" dur="1" fill="hold">
                                          <p:stCondLst>
                                            <p:cond delay="1999"/>
                                          </p:stCondLst>
                                        </p:cTn>
                                        <p:tgtEl>
                                          <p:spTgt spid="7"/>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500"/>
                                        <p:tgtEl>
                                          <p:spTgt spid="6">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xEl>
                                              <p:pRg st="6" end="6"/>
                                            </p:txEl>
                                          </p:spTgt>
                                        </p:tgtEl>
                                        <p:attrNameLst>
                                          <p:attrName>style.visibility</p:attrName>
                                        </p:attrNameLst>
                                      </p:cBhvr>
                                      <p:to>
                                        <p:strVal val="visible"/>
                                      </p:to>
                                    </p:set>
                                    <p:animEffect transition="in" filter="fade">
                                      <p:cBhvr>
                                        <p:cTn id="37" dur="500"/>
                                        <p:tgtEl>
                                          <p:spTgt spid="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
                                            <p:txEl>
                                              <p:pRg st="9" end="9"/>
                                            </p:txEl>
                                          </p:spTgt>
                                        </p:tgtEl>
                                        <p:attrNameLst>
                                          <p:attrName>style.visibility</p:attrName>
                                        </p:attrNameLst>
                                      </p:cBhvr>
                                      <p:to>
                                        <p:strVal val="visible"/>
                                      </p:to>
                                    </p:set>
                                    <p:animEffect transition="in" filter="fade">
                                      <p:cBhvr>
                                        <p:cTn id="42" dur="500"/>
                                        <p:tgtEl>
                                          <p:spTgt spid="6">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animEffect transition="in" filter="fade">
                                      <p:cBhvr>
                                        <p:cTn id="47" dur="500"/>
                                        <p:tgtEl>
                                          <p:spTgt spid="6">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xEl>
                                              <p:pRg st="11" end="11"/>
                                            </p:txEl>
                                          </p:spTgt>
                                        </p:tgtEl>
                                        <p:attrNameLst>
                                          <p:attrName>style.visibility</p:attrName>
                                        </p:attrNameLst>
                                      </p:cBhvr>
                                      <p:to>
                                        <p:strVal val="visible"/>
                                      </p:to>
                                    </p:set>
                                    <p:animEffect transition="in" filter="fade">
                                      <p:cBhvr>
                                        <p:cTn id="52"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2" grpId="0" uiExpand="1" animBg="1"/>
      <p:bldP spid="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22313" y="1828800"/>
            <a:ext cx="7772400" cy="1362075"/>
          </a:xfrm>
        </p:spPr>
        <p:txBody>
          <a:bodyPr/>
          <a:lstStyle/>
          <a:p>
            <a:pPr algn="ctr"/>
            <a:r>
              <a:rPr lang="en-US" sz="2800" dirty="0"/>
              <a:t>Why Does </a:t>
            </a:r>
            <a:br>
              <a:rPr lang="en-US" sz="2800" dirty="0"/>
            </a:br>
            <a:r>
              <a:rPr lang="en-US" sz="2800" dirty="0">
                <a:solidFill>
                  <a:srgbClr val="7030A0"/>
                </a:solidFill>
              </a:rPr>
              <a:t>Topological ordering </a:t>
            </a:r>
            <a:r>
              <a:rPr lang="en-US" sz="2800" dirty="0"/>
              <a:t>exist for </a:t>
            </a:r>
            <a:r>
              <a:rPr lang="en-US" sz="2800" u="sng" dirty="0"/>
              <a:t>every</a:t>
            </a:r>
            <a:r>
              <a:rPr lang="en-US" sz="2800" dirty="0"/>
              <a:t> DAG? </a:t>
            </a:r>
          </a:p>
        </p:txBody>
      </p:sp>
      <p:sp>
        <p:nvSpPr>
          <p:cNvPr id="6" name="Text Placeholder 5"/>
          <p:cNvSpPr>
            <a:spLocks noGrp="1"/>
          </p:cNvSpPr>
          <p:nvPr>
            <p:ph type="body" idx="1"/>
          </p:nvPr>
        </p:nvSpPr>
        <p:spPr/>
        <p:txBody>
          <a:bodyPr/>
          <a:lstStyle/>
          <a:p>
            <a:pPr algn="ctr"/>
            <a:r>
              <a:rPr lang="en-US" sz="2800" b="1" dirty="0">
                <a:solidFill>
                  <a:srgbClr val="C00000"/>
                </a:solidFill>
              </a:rPr>
              <a:t>Question 1</a:t>
            </a:r>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15</a:t>
            </a:fld>
            <a:endParaRPr lang="en-US"/>
          </a:p>
        </p:txBody>
      </p:sp>
    </p:spTree>
    <p:extLst>
      <p:ext uri="{BB962C8B-B14F-4D97-AF65-F5344CB8AC3E}">
        <p14:creationId xmlns:p14="http://schemas.microsoft.com/office/powerpoint/2010/main" val="45441516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1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70C0"/>
                </a:solidFill>
              </a:rPr>
              <a:t>Why does </a:t>
            </a:r>
            <a:r>
              <a:rPr lang="en-US" sz="3200" b="1" dirty="0">
                <a:solidFill>
                  <a:srgbClr val="7030A0"/>
                </a:solidFill>
              </a:rPr>
              <a:t>Topological ordering exist ? </a:t>
            </a:r>
            <a:br>
              <a:rPr lang="en-US" sz="3200" b="1" dirty="0">
                <a:solidFill>
                  <a:srgbClr val="7030A0"/>
                </a:solidFill>
              </a:rPr>
            </a:br>
            <a:endParaRPr lang="en-US" sz="3200" dirty="0"/>
          </a:p>
        </p:txBody>
      </p:sp>
      <p:sp>
        <p:nvSpPr>
          <p:cNvPr id="3" name="Content Placeholder 2"/>
          <p:cNvSpPr>
            <a:spLocks noGrp="1"/>
          </p:cNvSpPr>
          <p:nvPr>
            <p:ph idx="1"/>
          </p:nvPr>
        </p:nvSpPr>
        <p:spPr/>
        <p:txBody>
          <a:bodyPr/>
          <a:lstStyle/>
          <a:p>
            <a:pPr marL="0" indent="0">
              <a:buNone/>
            </a:pPr>
            <a:r>
              <a:rPr lang="en-US" sz="2000" b="1" dirty="0"/>
              <a:t>Example</a:t>
            </a:r>
            <a:r>
              <a:rPr lang="en-US" sz="2000" dirty="0"/>
              <a: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16</a:t>
            </a:fld>
            <a:endParaRPr lang="en-US"/>
          </a:p>
        </p:txBody>
      </p:sp>
      <p:grpSp>
        <p:nvGrpSpPr>
          <p:cNvPr id="68" name="Group 67"/>
          <p:cNvGrpSpPr/>
          <p:nvPr/>
        </p:nvGrpSpPr>
        <p:grpSpPr>
          <a:xfrm>
            <a:off x="2590800" y="1600200"/>
            <a:ext cx="4876800" cy="1981200"/>
            <a:chOff x="2590800" y="1981200"/>
            <a:chExt cx="4876800" cy="1981200"/>
          </a:xfrm>
        </p:grpSpPr>
        <p:cxnSp>
          <p:nvCxnSpPr>
            <p:cNvPr id="8" name="Straight Arrow Connector 7"/>
            <p:cNvCxnSpPr>
              <a:endCxn id="20" idx="0"/>
            </p:cNvCxnSpPr>
            <p:nvPr/>
          </p:nvCxnSpPr>
          <p:spPr>
            <a:xfrm>
              <a:off x="2781300" y="2971800"/>
              <a:ext cx="685800" cy="76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25908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z</a:t>
              </a:r>
            </a:p>
          </p:txBody>
        </p:sp>
        <p:sp>
          <p:nvSpPr>
            <p:cNvPr id="14" name="Oval 13"/>
            <p:cNvSpPr/>
            <p:nvPr/>
          </p:nvSpPr>
          <p:spPr>
            <a:xfrm>
              <a:off x="5638800" y="1981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a:t>
              </a:r>
            </a:p>
          </p:txBody>
        </p:sp>
        <p:sp>
          <p:nvSpPr>
            <p:cNvPr id="15" name="Oval 14"/>
            <p:cNvSpPr/>
            <p:nvPr/>
          </p:nvSpPr>
          <p:spPr>
            <a:xfrm>
              <a:off x="49530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sp>
          <p:nvSpPr>
            <p:cNvPr id="16" name="Oval 15"/>
            <p:cNvSpPr/>
            <p:nvPr/>
          </p:nvSpPr>
          <p:spPr>
            <a:xfrm>
              <a:off x="64008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v</a:t>
              </a:r>
            </a:p>
          </p:txBody>
        </p:sp>
        <p:sp>
          <p:nvSpPr>
            <p:cNvPr id="17" name="Oval 16"/>
            <p:cNvSpPr/>
            <p:nvPr/>
          </p:nvSpPr>
          <p:spPr>
            <a:xfrm>
              <a:off x="44958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sp>
          <p:nvSpPr>
            <p:cNvPr id="18" name="Oval 17"/>
            <p:cNvSpPr/>
            <p:nvPr/>
          </p:nvSpPr>
          <p:spPr>
            <a:xfrm>
              <a:off x="57912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w</a:t>
              </a:r>
            </a:p>
          </p:txBody>
        </p:sp>
        <p:sp>
          <p:nvSpPr>
            <p:cNvPr id="19" name="Oval 18"/>
            <p:cNvSpPr/>
            <p:nvPr/>
          </p:nvSpPr>
          <p:spPr>
            <a:xfrm>
              <a:off x="72390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sp>
          <p:nvSpPr>
            <p:cNvPr id="20" name="Oval 19"/>
            <p:cNvSpPr/>
            <p:nvPr/>
          </p:nvSpPr>
          <p:spPr>
            <a:xfrm>
              <a:off x="3352800" y="37338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cxnSp>
          <p:nvCxnSpPr>
            <p:cNvPr id="22" name="Straight Arrow Connector 21"/>
            <p:cNvCxnSpPr>
              <a:stCxn id="14" idx="5"/>
              <a:endCxn id="16" idx="1"/>
            </p:cNvCxnSpPr>
            <p:nvPr/>
          </p:nvCxnSpPr>
          <p:spPr>
            <a:xfrm>
              <a:off x="5833922" y="2176322"/>
              <a:ext cx="600356" cy="6003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6" idx="5"/>
              <a:endCxn id="19" idx="1"/>
            </p:cNvCxnSpPr>
            <p:nvPr/>
          </p:nvCxnSpPr>
          <p:spPr>
            <a:xfrm>
              <a:off x="6595922" y="2938322"/>
              <a:ext cx="676556" cy="81262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9" idx="2"/>
              <a:endCxn id="15" idx="5"/>
            </p:cNvCxnSpPr>
            <p:nvPr/>
          </p:nvCxnSpPr>
          <p:spPr>
            <a:xfrm flipH="1" flipV="1">
              <a:off x="5148122" y="2938322"/>
              <a:ext cx="2090878" cy="89344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3"/>
              <a:endCxn id="15" idx="0"/>
            </p:cNvCxnSpPr>
            <p:nvPr/>
          </p:nvCxnSpPr>
          <p:spPr>
            <a:xfrm flipH="1">
              <a:off x="5067300" y="2176322"/>
              <a:ext cx="604978" cy="5668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6" idx="3"/>
            </p:cNvCxnSpPr>
            <p:nvPr/>
          </p:nvCxnSpPr>
          <p:spPr>
            <a:xfrm flipH="1">
              <a:off x="5948222" y="2938322"/>
              <a:ext cx="486056" cy="7954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3"/>
            </p:cNvCxnSpPr>
            <p:nvPr/>
          </p:nvCxnSpPr>
          <p:spPr>
            <a:xfrm flipH="1">
              <a:off x="3505200" y="2938322"/>
              <a:ext cx="1481278" cy="8289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5" idx="4"/>
              <a:endCxn id="17" idx="0"/>
            </p:cNvCxnSpPr>
            <p:nvPr/>
          </p:nvCxnSpPr>
          <p:spPr>
            <a:xfrm flipH="1">
              <a:off x="4610100" y="2971800"/>
              <a:ext cx="457200" cy="74567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019800" y="3831771"/>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7" idx="2"/>
              <a:endCxn id="20" idx="6"/>
            </p:cNvCxnSpPr>
            <p:nvPr/>
          </p:nvCxnSpPr>
          <p:spPr>
            <a:xfrm flipH="1">
              <a:off x="3581400" y="3831771"/>
              <a:ext cx="914400" cy="1632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2"/>
              <a:endCxn id="15" idx="6"/>
            </p:cNvCxnSpPr>
            <p:nvPr/>
          </p:nvCxnSpPr>
          <p:spPr>
            <a:xfrm flipH="1">
              <a:off x="5181600" y="2857500"/>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5" idx="2"/>
              <a:endCxn id="13" idx="6"/>
            </p:cNvCxnSpPr>
            <p:nvPr/>
          </p:nvCxnSpPr>
          <p:spPr>
            <a:xfrm flipH="1">
              <a:off x="2819400" y="2857500"/>
              <a:ext cx="2133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5" name="Cloud Callout 4"/>
          <p:cNvSpPr/>
          <p:nvPr/>
        </p:nvSpPr>
        <p:spPr>
          <a:xfrm>
            <a:off x="5033822" y="4267200"/>
            <a:ext cx="3124200" cy="1143000"/>
          </a:xfrm>
          <a:prstGeom prst="cloudCallout">
            <a:avLst>
              <a:gd name="adj1" fmla="val -30403"/>
              <a:gd name="adj2" fmla="val 9342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Is there any vertex for which you can be sure of its place in the ordering?</a:t>
            </a:r>
          </a:p>
        </p:txBody>
      </p:sp>
      <p:sp>
        <p:nvSpPr>
          <p:cNvPr id="6" name="Oval 5"/>
          <p:cNvSpPr/>
          <p:nvPr/>
        </p:nvSpPr>
        <p:spPr>
          <a:xfrm>
            <a:off x="5562600" y="1524000"/>
            <a:ext cx="385622" cy="381000"/>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Ribbon 6"/>
          <p:cNvSpPr/>
          <p:nvPr/>
        </p:nvSpPr>
        <p:spPr>
          <a:xfrm>
            <a:off x="228600" y="4361560"/>
            <a:ext cx="3657600" cy="1028700"/>
          </a:xfrm>
          <a:prstGeom prst="ribbon">
            <a:avLst>
              <a:gd name="adj1" fmla="val 16667"/>
              <a:gd name="adj2" fmla="val 75000"/>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Any vertex of </a:t>
            </a:r>
            <a:r>
              <a:rPr lang="en-US" sz="1600" b="1" dirty="0" err="1">
                <a:solidFill>
                  <a:schemeClr val="tx1"/>
                </a:solidFill>
              </a:rPr>
              <a:t>indegree</a:t>
            </a:r>
            <a:r>
              <a:rPr lang="en-US" sz="1600" dirty="0">
                <a:solidFill>
                  <a:schemeClr val="tx1"/>
                </a:solidFill>
              </a:rPr>
              <a:t>=</a:t>
            </a:r>
            <a:r>
              <a:rPr lang="en-US" sz="1600" dirty="0">
                <a:solidFill>
                  <a:srgbClr val="0070C0"/>
                </a:solidFill>
              </a:rPr>
              <a:t>0</a:t>
            </a:r>
            <a:r>
              <a:rPr lang="en-US" sz="1600" dirty="0">
                <a:solidFill>
                  <a:schemeClr val="tx1"/>
                </a:solidFill>
              </a:rPr>
              <a:t> can be given number </a:t>
            </a:r>
            <a:r>
              <a:rPr lang="en-US" sz="1600" dirty="0">
                <a:solidFill>
                  <a:srgbClr val="0070C0"/>
                </a:solidFill>
              </a:rPr>
              <a:t>1</a:t>
            </a:r>
            <a:r>
              <a:rPr lang="en-US" sz="1600" dirty="0">
                <a:solidFill>
                  <a:schemeClr val="tx1"/>
                </a:solidFill>
              </a:rPr>
              <a:t> in a topological ordering.</a:t>
            </a:r>
          </a:p>
        </p:txBody>
      </p:sp>
      <p:sp>
        <p:nvSpPr>
          <p:cNvPr id="40" name="Cloud Callout 39"/>
          <p:cNvSpPr/>
          <p:nvPr/>
        </p:nvSpPr>
        <p:spPr>
          <a:xfrm>
            <a:off x="5014246" y="4038600"/>
            <a:ext cx="3124200" cy="1143000"/>
          </a:xfrm>
          <a:prstGeom prst="cloudCallout">
            <a:avLst>
              <a:gd name="adj1" fmla="val -30403"/>
              <a:gd name="adj2" fmla="val 93420"/>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What is the guarantee that such a vertex always exists in a DAG ?</a:t>
            </a:r>
          </a:p>
        </p:txBody>
      </p:sp>
    </p:spTree>
    <p:extLst>
      <p:ext uri="{BB962C8B-B14F-4D97-AF65-F5344CB8AC3E}">
        <p14:creationId xmlns:p14="http://schemas.microsoft.com/office/powerpoint/2010/main" val="1178855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8"/>
                                        </p:tgtEl>
                                        <p:attrNameLst>
                                          <p:attrName>style.visibility</p:attrName>
                                        </p:attrNameLst>
                                      </p:cBhvr>
                                      <p:to>
                                        <p:strVal val="visible"/>
                                      </p:to>
                                    </p:set>
                                    <p:animEffect transition="in" filter="randombar(horizontal)">
                                      <p:cBhvr>
                                        <p:cTn id="12" dur="500"/>
                                        <p:tgtEl>
                                          <p:spTgt spid="6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grpId="1" nodeType="clickEffect">
                                  <p:stCondLst>
                                    <p:cond delay="0"/>
                                  </p:stCondLst>
                                  <p:childTnLst>
                                    <p:animEffect transition="out" filter="fade">
                                      <p:cBhvr>
                                        <p:cTn id="28" dur="500"/>
                                        <p:tgtEl>
                                          <p:spTgt spid="5"/>
                                        </p:tgtEl>
                                      </p:cBhvr>
                                    </p:animEffect>
                                    <p:set>
                                      <p:cBhvr>
                                        <p:cTn id="29" dur="1" fill="hold">
                                          <p:stCondLst>
                                            <p:cond delay="499"/>
                                          </p:stCondLst>
                                        </p:cTn>
                                        <p:tgtEl>
                                          <p:spTgt spid="5"/>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randombar(horizontal)">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1000"/>
                                        <p:tgtEl>
                                          <p:spTgt spid="40"/>
                                        </p:tgtEl>
                                      </p:cBhvr>
                                    </p:animEffect>
                                    <p:anim calcmode="lin" valueType="num">
                                      <p:cBhvr>
                                        <p:cTn id="40" dur="1000" fill="hold"/>
                                        <p:tgtEl>
                                          <p:spTgt spid="40"/>
                                        </p:tgtEl>
                                        <p:attrNameLst>
                                          <p:attrName>ppt_x</p:attrName>
                                        </p:attrNameLst>
                                      </p:cBhvr>
                                      <p:tavLst>
                                        <p:tav tm="0">
                                          <p:val>
                                            <p:strVal val="#ppt_x"/>
                                          </p:val>
                                        </p:tav>
                                        <p:tav tm="100000">
                                          <p:val>
                                            <p:strVal val="#ppt_x"/>
                                          </p:val>
                                        </p:tav>
                                      </p:tavLst>
                                    </p:anim>
                                    <p:anim calcmode="lin" valueType="num">
                                      <p:cBhvr>
                                        <p:cTn id="4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7" grpId="0" animBg="1"/>
      <p:bldP spid="4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200" b="1" dirty="0">
                <a:solidFill>
                  <a:srgbClr val="0070C0"/>
                </a:solidFill>
              </a:rPr>
              <a:t>Why does </a:t>
            </a:r>
            <a:r>
              <a:rPr lang="en-US" sz="3200" b="1" dirty="0">
                <a:solidFill>
                  <a:srgbClr val="7030A0"/>
                </a:solidFill>
              </a:rPr>
              <a:t>Topological ordering exist ? </a:t>
            </a:r>
            <a:br>
              <a:rPr lang="en-US" sz="3200" b="1" dirty="0">
                <a:solidFill>
                  <a:srgbClr val="7030A0"/>
                </a:solidFill>
              </a:rPr>
            </a:br>
            <a:endParaRPr lang="en-US" sz="3200" b="1" dirty="0"/>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p:txBody>
              <a:bodyPr/>
              <a:lstStyle/>
              <a:p>
                <a:pPr marL="0" indent="0">
                  <a:buNone/>
                </a:pPr>
                <a:r>
                  <a:rPr lang="en-US" sz="1800" b="1" dirty="0">
                    <a:solidFill>
                      <a:srgbClr val="C00000"/>
                    </a:solidFill>
                  </a:rPr>
                  <a:t>Lemma 1</a:t>
                </a:r>
                <a:r>
                  <a:rPr lang="en-US" sz="1800" dirty="0"/>
                  <a:t>: Every DAG has at least one vertex with </a:t>
                </a:r>
                <a:r>
                  <a:rPr lang="en-US" sz="1800" b="1" dirty="0">
                    <a:solidFill>
                      <a:srgbClr val="7030A0"/>
                    </a:solidFill>
                  </a:rPr>
                  <a:t>in-degree</a:t>
                </a:r>
                <a:r>
                  <a:rPr lang="en-US" sz="1800" dirty="0"/>
                  <a:t> = </a:t>
                </a:r>
                <a:r>
                  <a:rPr lang="en-US" sz="1800" dirty="0">
                    <a:solidFill>
                      <a:srgbClr val="0070C0"/>
                    </a:solidFill>
                  </a:rPr>
                  <a:t>0</a:t>
                </a:r>
                <a:r>
                  <a:rPr lang="en-US" sz="1800" dirty="0"/>
                  <a:t>.</a:t>
                </a:r>
              </a:p>
              <a:p>
                <a:pPr marL="0" indent="0">
                  <a:buNone/>
                </a:pPr>
                <a:r>
                  <a:rPr lang="en-US" sz="1800" dirty="0"/>
                  <a:t>Proof: </a:t>
                </a:r>
              </a:p>
              <a:p>
                <a:pPr marL="0" indent="0">
                  <a:buNone/>
                </a:pPr>
                <a:r>
                  <a:rPr lang="en-US" sz="1800" dirty="0"/>
                  <a:t>(an algorithmic proof)</a:t>
                </a:r>
              </a:p>
              <a:p>
                <a:pPr marL="0" indent="0">
                  <a:buNone/>
                </a:pPr>
                <a:r>
                  <a:rPr lang="en-US" sz="1800" dirty="0"/>
                  <a:t>Pick any vertex </a:t>
                </a:r>
                <a14:m>
                  <m:oMath xmlns:m="http://schemas.openxmlformats.org/officeDocument/2006/math">
                    <m:r>
                      <a:rPr lang="en-US" sz="1800" b="1" i="1" dirty="0" smtClean="0">
                        <a:solidFill>
                          <a:srgbClr val="0070C0"/>
                        </a:solidFill>
                        <a:latin typeface="Cambria Math"/>
                      </a:rPr>
                      <m:t>𝒗</m:t>
                    </m:r>
                  </m:oMath>
                </a14:m>
                <a:r>
                  <a:rPr lang="en-US" sz="1800" dirty="0"/>
                  <a:t>.</a:t>
                </a:r>
              </a:p>
              <a:p>
                <a:pPr marL="0" indent="0">
                  <a:buNone/>
                </a:pPr>
                <a:r>
                  <a:rPr lang="en-US" sz="1800" b="1" dirty="0"/>
                  <a:t>While</a:t>
                </a:r>
                <a:r>
                  <a:rPr lang="en-US" sz="1800" dirty="0"/>
                  <a:t> </a:t>
                </a:r>
                <a:r>
                  <a:rPr lang="en-US" sz="1800" b="1" dirty="0">
                    <a:solidFill>
                      <a:srgbClr val="7030A0"/>
                    </a:solidFill>
                  </a:rPr>
                  <a:t>in-degree</a:t>
                </a:r>
                <a14:m>
                  <m:oMath xmlns:m="http://schemas.openxmlformats.org/officeDocument/2006/math">
                    <m:r>
                      <a:rPr lang="en-US" sz="1800" b="1" i="0" dirty="0" smtClean="0">
                        <a:solidFill>
                          <a:schemeClr val="tx1"/>
                        </a:solidFill>
                        <a:latin typeface="Cambria Math"/>
                      </a:rPr>
                      <m:t>(</m:t>
                    </m:r>
                    <m:r>
                      <a:rPr lang="en-US" sz="1800" b="1" i="1" dirty="0" smtClean="0">
                        <a:solidFill>
                          <a:srgbClr val="0070C0"/>
                        </a:solidFill>
                        <a:latin typeface="Cambria Math"/>
                      </a:rPr>
                      <m:t>𝒗</m:t>
                    </m:r>
                    <m:r>
                      <a:rPr lang="en-US" sz="1800" b="1" i="1" dirty="0" smtClean="0">
                        <a:solidFill>
                          <a:schemeClr val="tx1"/>
                        </a:solidFill>
                        <a:latin typeface="Cambria Math"/>
                      </a:rPr>
                      <m:t>)</m:t>
                    </m:r>
                  </m:oMath>
                </a14:m>
                <a:r>
                  <a:rPr lang="en-US" sz="1800" b="1" dirty="0">
                    <a:solidFill>
                      <a:srgbClr val="7030A0"/>
                    </a:solidFill>
                  </a:rPr>
                  <a:t> </a:t>
                </a:r>
                <a14:m>
                  <m:oMath xmlns:m="http://schemas.openxmlformats.org/officeDocument/2006/math">
                    <m:r>
                      <a:rPr lang="en-US" sz="1800" i="1" smtClean="0">
                        <a:latin typeface="Cambria Math"/>
                        <a:ea typeface="Cambria Math"/>
                      </a:rPr>
                      <m:t>≠</m:t>
                    </m:r>
                  </m:oMath>
                </a14:m>
                <a:r>
                  <a:rPr lang="en-US" sz="1800" dirty="0"/>
                  <a:t> </a:t>
                </a:r>
                <a:r>
                  <a:rPr lang="en-US" sz="1800" dirty="0">
                    <a:solidFill>
                      <a:srgbClr val="0070C0"/>
                    </a:solidFill>
                  </a:rPr>
                  <a:t>0  </a:t>
                </a:r>
                <a:r>
                  <a:rPr lang="en-US" sz="1800" dirty="0"/>
                  <a:t>do</a:t>
                </a:r>
              </a:p>
              <a:p>
                <a:pPr marL="0" indent="0">
                  <a:buNone/>
                </a:pPr>
                <a:r>
                  <a:rPr lang="en-US" sz="1800" dirty="0"/>
                  <a:t>{          Let </a:t>
                </a:r>
                <a14:m>
                  <m:oMath xmlns:m="http://schemas.openxmlformats.org/officeDocument/2006/math">
                    <m:r>
                      <a:rPr lang="en-US" sz="1800" b="1" dirty="0">
                        <a:latin typeface="Cambria Math"/>
                      </a:rPr>
                      <m:t>(</m:t>
                    </m:r>
                    <m:r>
                      <a:rPr lang="en-US" sz="1800" b="1" i="1" dirty="0" smtClean="0">
                        <a:solidFill>
                          <a:srgbClr val="0070C0"/>
                        </a:solidFill>
                        <a:latin typeface="Cambria Math"/>
                      </a:rPr>
                      <m:t>𝒖</m:t>
                    </m:r>
                    <m:r>
                      <a:rPr lang="en-US" sz="1800" b="1" i="0" dirty="0" smtClean="0">
                        <a:latin typeface="Cambria Math"/>
                      </a:rPr>
                      <m:t>,</m:t>
                    </m:r>
                    <m:r>
                      <a:rPr lang="en-US" sz="1800" b="1" i="1" dirty="0">
                        <a:solidFill>
                          <a:srgbClr val="0070C0"/>
                        </a:solidFill>
                        <a:latin typeface="Cambria Math"/>
                      </a:rPr>
                      <m:t>𝒗</m:t>
                    </m:r>
                    <m:r>
                      <a:rPr lang="en-US" sz="1800" b="1" i="1" dirty="0">
                        <a:latin typeface="Cambria Math"/>
                      </a:rPr>
                      <m:t>)</m:t>
                    </m:r>
                  </m:oMath>
                </a14:m>
                <a:r>
                  <a:rPr lang="en-US" sz="1800" b="1" dirty="0">
                    <a:solidFill>
                      <a:srgbClr val="7030A0"/>
                    </a:solidFill>
                  </a:rPr>
                  <a:t> </a:t>
                </a:r>
                <a:r>
                  <a:rPr lang="en-US" sz="1800" dirty="0"/>
                  <a:t>be an edge</a:t>
                </a:r>
              </a:p>
              <a:p>
                <a:pPr marL="0" indent="0">
                  <a:buNone/>
                </a:pPr>
                <a:r>
                  <a:rPr lang="en-US" sz="1800" b="1" dirty="0">
                    <a:solidFill>
                      <a:srgbClr val="7030A0"/>
                    </a:solidFill>
                  </a:rPr>
                  <a:t>            </a:t>
                </a:r>
                <a14:m>
                  <m:oMath xmlns:m="http://schemas.openxmlformats.org/officeDocument/2006/math">
                    <m:r>
                      <a:rPr lang="en-US" sz="1800" b="1" i="1" dirty="0">
                        <a:solidFill>
                          <a:srgbClr val="0070C0"/>
                        </a:solidFill>
                        <a:latin typeface="Cambria Math"/>
                      </a:rPr>
                      <m:t>𝒗</m:t>
                    </m:r>
                  </m:oMath>
                </a14:m>
                <a:r>
                  <a:rPr lang="en-US" sz="1800" dirty="0">
                    <a:sym typeface="Wingdings" pitchFamily="2" charset="2"/>
                  </a:rPr>
                  <a:t></a:t>
                </a:r>
                <a:r>
                  <a:rPr lang="en-US" sz="1800" b="1" dirty="0">
                    <a:solidFill>
                      <a:srgbClr val="7030A0"/>
                    </a:solidFill>
                    <a:sym typeface="Wingdings" pitchFamily="2" charset="2"/>
                  </a:rPr>
                  <a:t> </a:t>
                </a:r>
                <a14:m>
                  <m:oMath xmlns:m="http://schemas.openxmlformats.org/officeDocument/2006/math">
                    <m:r>
                      <a:rPr lang="en-US" sz="1800" b="1" i="1" dirty="0" smtClean="0">
                        <a:solidFill>
                          <a:srgbClr val="0070C0"/>
                        </a:solidFill>
                        <a:latin typeface="Cambria Math"/>
                      </a:rPr>
                      <m:t>𝒖</m:t>
                    </m:r>
                  </m:oMath>
                </a14:m>
                <a:r>
                  <a:rPr lang="en-US" sz="1800" dirty="0"/>
                  <a:t>; </a:t>
                </a:r>
              </a:p>
              <a:p>
                <a:pPr marL="0" indent="0">
                  <a:buNone/>
                </a:pPr>
                <a:r>
                  <a:rPr lang="en-US" sz="1800" dirty="0"/>
                  <a:t>}</a:t>
                </a:r>
              </a:p>
              <a:p>
                <a:pPr marL="0" indent="0">
                  <a:buNone/>
                </a:pPr>
                <a:r>
                  <a:rPr lang="en-US" sz="1800" dirty="0"/>
                  <a:t>return </a:t>
                </a:r>
                <a14:m>
                  <m:oMath xmlns:m="http://schemas.openxmlformats.org/officeDocument/2006/math">
                    <m:r>
                      <a:rPr lang="en-US" sz="1800" b="1" i="1" dirty="0">
                        <a:solidFill>
                          <a:srgbClr val="0070C0"/>
                        </a:solidFill>
                        <a:latin typeface="Cambria Math"/>
                      </a:rPr>
                      <m:t>𝒗</m:t>
                    </m:r>
                  </m:oMath>
                </a14:m>
                <a:r>
                  <a:rPr lang="en-US" sz="1800" dirty="0"/>
                  <a:t>;</a:t>
                </a:r>
              </a:p>
              <a:p>
                <a:pPr marL="0" indent="0">
                  <a:buNone/>
                </a:pPr>
                <a:r>
                  <a:rPr lang="en-US" sz="1800" b="1" dirty="0">
                    <a:solidFill>
                      <a:srgbClr val="7030A0"/>
                    </a:solidFill>
                  </a:rPr>
                  <a:t>Observation</a:t>
                </a:r>
                <a:r>
                  <a:rPr lang="en-US" sz="1800" dirty="0"/>
                  <a:t>: This algorithm, if terminates, will output a vertex of </a:t>
                </a:r>
                <a:r>
                  <a:rPr lang="en-US" sz="1800" b="1" dirty="0"/>
                  <a:t>indegree</a:t>
                </a:r>
                <a:r>
                  <a:rPr lang="en-US" sz="1800" dirty="0"/>
                  <a:t> =</a:t>
                </a:r>
                <a:r>
                  <a:rPr lang="en-US" sz="1800" dirty="0">
                    <a:solidFill>
                      <a:srgbClr val="0070C0"/>
                    </a:solidFill>
                  </a:rPr>
                  <a:t>0</a:t>
                </a:r>
                <a:r>
                  <a:rPr lang="en-US" sz="1800" dirty="0"/>
                  <a:t>. </a:t>
                </a:r>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blipFill>
                <a:blip r:embed="rId2"/>
                <a:stretch>
                  <a:fillRect l="-593" t="-809"/>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pPr>
              <a:defRPr/>
            </a:pPr>
            <a:fld id="{B92E9ED8-BBDD-47A1-9C62-8C7F2ACFBD70}" type="slidenum">
              <a:rPr lang="en-US" smtClean="0"/>
              <a:pPr>
                <a:defRPr/>
              </a:pPr>
              <a:t>17</a:t>
            </a:fld>
            <a:endParaRPr lang="en-US"/>
          </a:p>
        </p:txBody>
      </p:sp>
      <p:sp>
        <p:nvSpPr>
          <p:cNvPr id="7" name="Oval 6"/>
          <p:cNvSpPr/>
          <p:nvPr/>
        </p:nvSpPr>
        <p:spPr>
          <a:xfrm>
            <a:off x="7315200" y="55626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cxnSp>
        <p:nvCxnSpPr>
          <p:cNvPr id="8" name="Straight Arrow Connector 7"/>
          <p:cNvCxnSpPr/>
          <p:nvPr/>
        </p:nvCxnSpPr>
        <p:spPr>
          <a:xfrm>
            <a:off x="6705600" y="4800600"/>
            <a:ext cx="676556" cy="81262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endCxn id="7" idx="2"/>
          </p:cNvCxnSpPr>
          <p:nvPr/>
        </p:nvCxnSpPr>
        <p:spPr>
          <a:xfrm>
            <a:off x="6400800" y="5676900"/>
            <a:ext cx="9144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6172200" y="55626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c</a:t>
            </a:r>
          </a:p>
        </p:txBody>
      </p:sp>
      <p:cxnSp>
        <p:nvCxnSpPr>
          <p:cNvPr id="16" name="Straight Arrow Connector 15"/>
          <p:cNvCxnSpPr>
            <a:endCxn id="15" idx="4"/>
          </p:cNvCxnSpPr>
          <p:nvPr/>
        </p:nvCxnSpPr>
        <p:spPr>
          <a:xfrm flipV="1">
            <a:off x="5724244" y="5791200"/>
            <a:ext cx="562256" cy="5334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5267044" y="5676900"/>
            <a:ext cx="9144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 name="Oval 19"/>
          <p:cNvSpPr/>
          <p:nvPr/>
        </p:nvSpPr>
        <p:spPr>
          <a:xfrm>
            <a:off x="5029200" y="55626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cxnSp>
        <p:nvCxnSpPr>
          <p:cNvPr id="21" name="Straight Arrow Connector 20"/>
          <p:cNvCxnSpPr/>
          <p:nvPr/>
        </p:nvCxnSpPr>
        <p:spPr>
          <a:xfrm>
            <a:off x="4419600" y="4800600"/>
            <a:ext cx="676556" cy="81262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endCxn id="20" idx="2"/>
          </p:cNvCxnSpPr>
          <p:nvPr/>
        </p:nvCxnSpPr>
        <p:spPr>
          <a:xfrm>
            <a:off x="4114800" y="5676900"/>
            <a:ext cx="9144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905000" y="5676900"/>
            <a:ext cx="9144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1676400" y="55626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c</a:t>
            </a:r>
          </a:p>
        </p:txBody>
      </p:sp>
      <p:sp>
        <p:nvSpPr>
          <p:cNvPr id="25" name="TextBox 24"/>
          <p:cNvSpPr txBox="1"/>
          <p:nvPr/>
        </p:nvSpPr>
        <p:spPr>
          <a:xfrm>
            <a:off x="3200400" y="5344180"/>
            <a:ext cx="439544" cy="523220"/>
          </a:xfrm>
          <a:prstGeom prst="rect">
            <a:avLst/>
          </a:prstGeom>
          <a:noFill/>
        </p:spPr>
        <p:txBody>
          <a:bodyPr wrap="none" rtlCol="0">
            <a:spAutoFit/>
          </a:bodyPr>
          <a:lstStyle/>
          <a:p>
            <a:r>
              <a:rPr lang="en-US" sz="2800" b="1" dirty="0"/>
              <a:t>…</a:t>
            </a:r>
          </a:p>
        </p:txBody>
      </p:sp>
      <p:sp>
        <p:nvSpPr>
          <p:cNvPr id="26" name="Oval 25"/>
          <p:cNvSpPr/>
          <p:nvPr/>
        </p:nvSpPr>
        <p:spPr>
          <a:xfrm>
            <a:off x="2819400" y="55626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sp>
        <p:nvSpPr>
          <p:cNvPr id="27" name="Oval 26"/>
          <p:cNvSpPr/>
          <p:nvPr/>
        </p:nvSpPr>
        <p:spPr>
          <a:xfrm>
            <a:off x="3886200" y="55626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sp>
        <p:nvSpPr>
          <p:cNvPr id="28" name="Rounded Rectangle 27"/>
          <p:cNvSpPr/>
          <p:nvPr/>
        </p:nvSpPr>
        <p:spPr>
          <a:xfrm>
            <a:off x="1447800" y="5206912"/>
            <a:ext cx="5105400" cy="850987"/>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3639944" y="6057900"/>
            <a:ext cx="649793" cy="369332"/>
          </a:xfrm>
          <a:prstGeom prst="rect">
            <a:avLst/>
          </a:prstGeom>
          <a:noFill/>
        </p:spPr>
        <p:txBody>
          <a:bodyPr wrap="none" rtlCol="0">
            <a:spAutoFit/>
          </a:bodyPr>
          <a:lstStyle/>
          <a:p>
            <a:r>
              <a:rPr lang="en-US" dirty="0"/>
              <a:t>cycle</a:t>
            </a:r>
          </a:p>
        </p:txBody>
      </p:sp>
      <p:sp>
        <p:nvSpPr>
          <p:cNvPr id="29" name="Cloud Callout 28"/>
          <p:cNvSpPr/>
          <p:nvPr/>
        </p:nvSpPr>
        <p:spPr>
          <a:xfrm>
            <a:off x="4648200" y="1981200"/>
            <a:ext cx="4114800" cy="914400"/>
          </a:xfrm>
          <a:prstGeom prst="cloudCallout">
            <a:avLst>
              <a:gd name="adj1" fmla="val -26457"/>
              <a:gd name="adj2" fmla="val 68186"/>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But what is the guarantee that it will terminate.?</a:t>
            </a:r>
          </a:p>
        </p:txBody>
      </p:sp>
      <p:sp>
        <p:nvSpPr>
          <p:cNvPr id="30" name="Down Ribbon 29"/>
          <p:cNvSpPr/>
          <p:nvPr/>
        </p:nvSpPr>
        <p:spPr>
          <a:xfrm>
            <a:off x="4724400" y="2971800"/>
            <a:ext cx="4419600" cy="952500"/>
          </a:xfrm>
          <a:prstGeom prst="ribbon">
            <a:avLst>
              <a:gd name="adj1" fmla="val 16667"/>
              <a:gd name="adj2" fmla="val 75000"/>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The algorithm does indeed terminate.</a:t>
            </a:r>
          </a:p>
          <a:p>
            <a:pPr algn="ctr"/>
            <a:r>
              <a:rPr lang="en-US" sz="1400" dirty="0">
                <a:solidFill>
                  <a:schemeClr val="tx1"/>
                </a:solidFill>
              </a:rPr>
              <a:t>In fact, no vertex will be processed </a:t>
            </a:r>
            <a:r>
              <a:rPr lang="en-US" sz="1400" u="sng" dirty="0">
                <a:solidFill>
                  <a:schemeClr val="tx1"/>
                </a:solidFill>
              </a:rPr>
              <a:t>twice</a:t>
            </a:r>
            <a:r>
              <a:rPr lang="en-US" sz="1400" dirty="0">
                <a:solidFill>
                  <a:schemeClr val="tx1"/>
                </a:solidFill>
              </a:rPr>
              <a:t> in while loop.</a:t>
            </a:r>
          </a:p>
        </p:txBody>
      </p:sp>
      <p:sp>
        <p:nvSpPr>
          <p:cNvPr id="3" name="Rectangle 2">
            <a:extLst>
              <a:ext uri="{FF2B5EF4-FFF2-40B4-BE49-F238E27FC236}">
                <a16:creationId xmlns:a16="http://schemas.microsoft.com/office/drawing/2014/main" id="{09460354-A59A-FE70-FF5A-24AFD9DBDA8C}"/>
              </a:ext>
            </a:extLst>
          </p:cNvPr>
          <p:cNvSpPr/>
          <p:nvPr/>
        </p:nvSpPr>
        <p:spPr>
          <a:xfrm>
            <a:off x="1447800" y="1524000"/>
            <a:ext cx="32004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6C17015-4E33-65C6-CFC9-1BA05D381694}"/>
              </a:ext>
            </a:extLst>
          </p:cNvPr>
          <p:cNvSpPr/>
          <p:nvPr/>
        </p:nvSpPr>
        <p:spPr>
          <a:xfrm>
            <a:off x="4648200" y="1447800"/>
            <a:ext cx="22098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FC04A0-5DCB-E861-3FFF-4F5EC4415088}"/>
              </a:ext>
            </a:extLst>
          </p:cNvPr>
          <p:cNvSpPr/>
          <p:nvPr/>
        </p:nvSpPr>
        <p:spPr>
          <a:xfrm>
            <a:off x="4495800" y="4419600"/>
            <a:ext cx="3572156"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DC6816-736B-77EE-582F-48FFE13830E3}"/>
              </a:ext>
            </a:extLst>
          </p:cNvPr>
          <p:cNvSpPr/>
          <p:nvPr/>
        </p:nvSpPr>
        <p:spPr>
          <a:xfrm>
            <a:off x="1790700" y="4419600"/>
            <a:ext cx="3200400" cy="60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582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1000"/>
                                        <p:tgtEl>
                                          <p:spTgt spid="3"/>
                                        </p:tgtEl>
                                      </p:cBhvr>
                                    </p:animEffect>
                                    <p:set>
                                      <p:cBhvr>
                                        <p:cTn id="12" dur="1" fill="hold">
                                          <p:stCondLst>
                                            <p:cond delay="999"/>
                                          </p:stCondLst>
                                        </p:cTn>
                                        <p:tgtEl>
                                          <p:spTgt spid="3"/>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1000"/>
                                        <p:tgtEl>
                                          <p:spTgt spid="10"/>
                                        </p:tgtEl>
                                      </p:cBhvr>
                                    </p:animEffect>
                                    <p:set>
                                      <p:cBhvr>
                                        <p:cTn id="17" dur="1" fill="hold">
                                          <p:stCondLst>
                                            <p:cond delay="999"/>
                                          </p:stCondLst>
                                        </p:cTn>
                                        <p:tgtEl>
                                          <p:spTgt spid="1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fade">
                                      <p:cBhvr>
                                        <p:cTn id="22" dur="500"/>
                                        <p:tgtEl>
                                          <p:spTgt spid="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
                                            <p:txEl>
                                              <p:pRg st="3" end="3"/>
                                            </p:txEl>
                                          </p:spTgt>
                                        </p:tgtEl>
                                        <p:attrNameLst>
                                          <p:attrName>style.visibility</p:attrName>
                                        </p:attrNameLst>
                                      </p:cBhvr>
                                      <p:to>
                                        <p:strVal val="visible"/>
                                      </p:to>
                                    </p:set>
                                    <p:animEffect transition="in" filter="wipe(left)">
                                      <p:cBhvr>
                                        <p:cTn id="32" dur="1500"/>
                                        <p:tgtEl>
                                          <p:spTgt spid="6">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4" end="4"/>
                                            </p:txEl>
                                          </p:spTgt>
                                        </p:tgtEl>
                                        <p:attrNameLst>
                                          <p:attrName>style.visibility</p:attrName>
                                        </p:attrNameLst>
                                      </p:cBhvr>
                                      <p:to>
                                        <p:strVal val="visible"/>
                                      </p:to>
                                    </p:set>
                                    <p:animEffect transition="in" filter="wipe(left)">
                                      <p:cBhvr>
                                        <p:cTn id="37" dur="1500"/>
                                        <p:tgtEl>
                                          <p:spTgt spid="6">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5" end="5"/>
                                            </p:txEl>
                                          </p:spTgt>
                                        </p:tgtEl>
                                        <p:attrNameLst>
                                          <p:attrName>style.visibility</p:attrName>
                                        </p:attrNameLst>
                                      </p:cBhvr>
                                      <p:to>
                                        <p:strVal val="visible"/>
                                      </p:to>
                                    </p:set>
                                    <p:animEffect transition="in" filter="wipe(left)">
                                      <p:cBhvr>
                                        <p:cTn id="42" dur="1500"/>
                                        <p:tgtEl>
                                          <p:spTgt spid="6">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6" end="6"/>
                                            </p:txEl>
                                          </p:spTgt>
                                        </p:tgtEl>
                                        <p:attrNameLst>
                                          <p:attrName>style.visibility</p:attrName>
                                        </p:attrNameLst>
                                      </p:cBhvr>
                                      <p:to>
                                        <p:strVal val="visible"/>
                                      </p:to>
                                    </p:set>
                                    <p:animEffect transition="in" filter="wipe(left)">
                                      <p:cBhvr>
                                        <p:cTn id="47" dur="1500"/>
                                        <p:tgtEl>
                                          <p:spTgt spid="6">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
                                            <p:txEl>
                                              <p:pRg st="7" end="7"/>
                                            </p:txEl>
                                          </p:spTgt>
                                        </p:tgtEl>
                                        <p:attrNameLst>
                                          <p:attrName>style.visibility</p:attrName>
                                        </p:attrNameLst>
                                      </p:cBhvr>
                                      <p:to>
                                        <p:strVal val="visible"/>
                                      </p:to>
                                    </p:set>
                                    <p:animEffect transition="in" filter="wipe(left)">
                                      <p:cBhvr>
                                        <p:cTn id="52" dur="1500"/>
                                        <p:tgtEl>
                                          <p:spTgt spid="6">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6">
                                            <p:txEl>
                                              <p:pRg st="8" end="8"/>
                                            </p:txEl>
                                          </p:spTgt>
                                        </p:tgtEl>
                                        <p:attrNameLst>
                                          <p:attrName>style.visibility</p:attrName>
                                        </p:attrNameLst>
                                      </p:cBhvr>
                                      <p:to>
                                        <p:strVal val="visible"/>
                                      </p:to>
                                    </p:set>
                                    <p:animEffect transition="in" filter="wipe(left)">
                                      <p:cBhvr>
                                        <p:cTn id="57" dur="1500"/>
                                        <p:tgtEl>
                                          <p:spTgt spid="6">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6">
                                            <p:txEl>
                                              <p:pRg st="9" end="9"/>
                                            </p:txEl>
                                          </p:spTgt>
                                        </p:tgtEl>
                                        <p:attrNameLst>
                                          <p:attrName>style.visibility</p:attrName>
                                        </p:attrNameLst>
                                      </p:cBhvr>
                                      <p:to>
                                        <p:strVal val="visible"/>
                                      </p:to>
                                    </p:set>
                                    <p:animEffect transition="in" filter="fade">
                                      <p:cBhvr>
                                        <p:cTn id="62" dur="500"/>
                                        <p:tgtEl>
                                          <p:spTgt spid="6">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xit" presetSubtype="8" fill="hold" grpId="0" nodeType="clickEffect">
                                  <p:stCondLst>
                                    <p:cond delay="0"/>
                                  </p:stCondLst>
                                  <p:childTnLst>
                                    <p:animEffect transition="out" filter="wipe(left)">
                                      <p:cBhvr>
                                        <p:cTn id="66" dur="1000"/>
                                        <p:tgtEl>
                                          <p:spTgt spid="12"/>
                                        </p:tgtEl>
                                      </p:cBhvr>
                                    </p:animEffect>
                                    <p:set>
                                      <p:cBhvr>
                                        <p:cTn id="67" dur="1" fill="hold">
                                          <p:stCondLst>
                                            <p:cond delay="999"/>
                                          </p:stCondLst>
                                        </p:cTn>
                                        <p:tgtEl>
                                          <p:spTgt spid="12"/>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2" presetClass="exit" presetSubtype="8" fill="hold" grpId="0" nodeType="clickEffect">
                                  <p:stCondLst>
                                    <p:cond delay="0"/>
                                  </p:stCondLst>
                                  <p:childTnLst>
                                    <p:animEffect transition="out" filter="wipe(left)">
                                      <p:cBhvr>
                                        <p:cTn id="71" dur="1000"/>
                                        <p:tgtEl>
                                          <p:spTgt spid="11"/>
                                        </p:tgtEl>
                                      </p:cBhvr>
                                    </p:animEffect>
                                    <p:set>
                                      <p:cBhvr>
                                        <p:cTn id="72" dur="1" fill="hold">
                                          <p:stCondLst>
                                            <p:cond delay="999"/>
                                          </p:stCondLst>
                                        </p:cTn>
                                        <p:tgtEl>
                                          <p:spTgt spid="11"/>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1000"/>
                                        <p:tgtEl>
                                          <p:spTgt spid="29"/>
                                        </p:tgtEl>
                                      </p:cBhvr>
                                    </p:animEffect>
                                    <p:anim calcmode="lin" valueType="num">
                                      <p:cBhvr>
                                        <p:cTn id="78" dur="1000" fill="hold"/>
                                        <p:tgtEl>
                                          <p:spTgt spid="29"/>
                                        </p:tgtEl>
                                        <p:attrNameLst>
                                          <p:attrName>ppt_x</p:attrName>
                                        </p:attrNameLst>
                                      </p:cBhvr>
                                      <p:tavLst>
                                        <p:tav tm="0">
                                          <p:val>
                                            <p:strVal val="#ppt_x"/>
                                          </p:val>
                                        </p:tav>
                                        <p:tav tm="100000">
                                          <p:val>
                                            <p:strVal val="#ppt_x"/>
                                          </p:val>
                                        </p:tav>
                                      </p:tavLst>
                                    </p:anim>
                                    <p:anim calcmode="lin" valueType="num">
                                      <p:cBhvr>
                                        <p:cTn id="7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14" presetClass="entr" presetSubtype="10" fill="hold" grpId="0" nodeType="click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randombar(horizontal)">
                                      <p:cBhvr>
                                        <p:cTn id="84" dur="500"/>
                                        <p:tgtEl>
                                          <p:spTgt spid="30"/>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7"/>
                                        </p:tgtEl>
                                        <p:attrNameLst>
                                          <p:attrName>style.visibility</p:attrName>
                                        </p:attrNameLst>
                                      </p:cBhvr>
                                      <p:to>
                                        <p:strVal val="visible"/>
                                      </p:to>
                                    </p:set>
                                    <p:animEffect transition="in" filter="fade">
                                      <p:cBhvr>
                                        <p:cTn id="89" dur="500"/>
                                        <p:tgtEl>
                                          <p:spTgt spid="7"/>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2" fill="hold" nodeType="clickEffect">
                                  <p:stCondLst>
                                    <p:cond delay="0"/>
                                  </p:stCondLst>
                                  <p:childTnLst>
                                    <p:set>
                                      <p:cBhvr>
                                        <p:cTn id="93" dur="1" fill="hold">
                                          <p:stCondLst>
                                            <p:cond delay="0"/>
                                          </p:stCondLst>
                                        </p:cTn>
                                        <p:tgtEl>
                                          <p:spTgt spid="9"/>
                                        </p:tgtEl>
                                        <p:attrNameLst>
                                          <p:attrName>style.visibility</p:attrName>
                                        </p:attrNameLst>
                                      </p:cBhvr>
                                      <p:to>
                                        <p:strVal val="visible"/>
                                      </p:to>
                                    </p:set>
                                    <p:animEffect transition="in" filter="wipe(right)">
                                      <p:cBhvr>
                                        <p:cTn id="94" dur="500"/>
                                        <p:tgtEl>
                                          <p:spTgt spid="9"/>
                                        </p:tgtEl>
                                      </p:cBhvr>
                                    </p:animEffect>
                                  </p:childTnLst>
                                </p:cTn>
                              </p:par>
                              <p:par>
                                <p:cTn id="95" presetID="22" presetClass="entr" presetSubtype="2" fill="hold" nodeType="withEffect">
                                  <p:stCondLst>
                                    <p:cond delay="0"/>
                                  </p:stCondLst>
                                  <p:childTnLst>
                                    <p:set>
                                      <p:cBhvr>
                                        <p:cTn id="96" dur="1" fill="hold">
                                          <p:stCondLst>
                                            <p:cond delay="0"/>
                                          </p:stCondLst>
                                        </p:cTn>
                                        <p:tgtEl>
                                          <p:spTgt spid="8"/>
                                        </p:tgtEl>
                                        <p:attrNameLst>
                                          <p:attrName>style.visibility</p:attrName>
                                        </p:attrNameLst>
                                      </p:cBhvr>
                                      <p:to>
                                        <p:strVal val="visible"/>
                                      </p:to>
                                    </p:set>
                                    <p:animEffect transition="in" filter="wipe(right)">
                                      <p:cBhvr>
                                        <p:cTn id="97" dur="500"/>
                                        <p:tgtEl>
                                          <p:spTgt spid="8"/>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5"/>
                                        </p:tgtEl>
                                        <p:attrNameLst>
                                          <p:attrName>style.visibility</p:attrName>
                                        </p:attrNameLst>
                                      </p:cBhvr>
                                      <p:to>
                                        <p:strVal val="visible"/>
                                      </p:to>
                                    </p:set>
                                    <p:animEffect transition="in" filter="fade">
                                      <p:cBhvr>
                                        <p:cTn id="102" dur="500"/>
                                        <p:tgtEl>
                                          <p:spTgt spid="15"/>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2" fill="hold" nodeType="clickEffect">
                                  <p:stCondLst>
                                    <p:cond delay="0"/>
                                  </p:stCondLst>
                                  <p:childTnLst>
                                    <p:set>
                                      <p:cBhvr>
                                        <p:cTn id="106" dur="1" fill="hold">
                                          <p:stCondLst>
                                            <p:cond delay="0"/>
                                          </p:stCondLst>
                                        </p:cTn>
                                        <p:tgtEl>
                                          <p:spTgt spid="17"/>
                                        </p:tgtEl>
                                        <p:attrNameLst>
                                          <p:attrName>style.visibility</p:attrName>
                                        </p:attrNameLst>
                                      </p:cBhvr>
                                      <p:to>
                                        <p:strVal val="visible"/>
                                      </p:to>
                                    </p:set>
                                    <p:animEffect transition="in" filter="wipe(right)">
                                      <p:cBhvr>
                                        <p:cTn id="107" dur="500"/>
                                        <p:tgtEl>
                                          <p:spTgt spid="17"/>
                                        </p:tgtEl>
                                      </p:cBhvr>
                                    </p:animEffect>
                                  </p:childTnLst>
                                </p:cTn>
                              </p:par>
                              <p:par>
                                <p:cTn id="108" presetID="22" presetClass="entr" presetSubtype="2" fill="hold" nodeType="withEffect">
                                  <p:stCondLst>
                                    <p:cond delay="0"/>
                                  </p:stCondLst>
                                  <p:childTnLst>
                                    <p:set>
                                      <p:cBhvr>
                                        <p:cTn id="109" dur="1" fill="hold">
                                          <p:stCondLst>
                                            <p:cond delay="0"/>
                                          </p:stCondLst>
                                        </p:cTn>
                                        <p:tgtEl>
                                          <p:spTgt spid="16"/>
                                        </p:tgtEl>
                                        <p:attrNameLst>
                                          <p:attrName>style.visibility</p:attrName>
                                        </p:attrNameLst>
                                      </p:cBhvr>
                                      <p:to>
                                        <p:strVal val="visible"/>
                                      </p:to>
                                    </p:set>
                                    <p:animEffect transition="in" filter="wipe(right)">
                                      <p:cBhvr>
                                        <p:cTn id="110" dur="500"/>
                                        <p:tgtEl>
                                          <p:spTgt spid="16"/>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20"/>
                                        </p:tgtEl>
                                        <p:attrNameLst>
                                          <p:attrName>style.visibility</p:attrName>
                                        </p:attrNameLst>
                                      </p:cBhvr>
                                      <p:to>
                                        <p:strVal val="visible"/>
                                      </p:to>
                                    </p:set>
                                    <p:animEffect transition="in" filter="fade">
                                      <p:cBhvr>
                                        <p:cTn id="115" dur="500"/>
                                        <p:tgtEl>
                                          <p:spTgt spid="20"/>
                                        </p:tgtEl>
                                      </p:cBhvr>
                                    </p:animEffect>
                                  </p:childTnLst>
                                </p:cTn>
                              </p:par>
                            </p:childTnLst>
                          </p:cTn>
                        </p:par>
                      </p:childTnLst>
                    </p:cTn>
                  </p:par>
                  <p:par>
                    <p:cTn id="116" fill="hold">
                      <p:stCondLst>
                        <p:cond delay="indefinite"/>
                      </p:stCondLst>
                      <p:childTnLst>
                        <p:par>
                          <p:cTn id="117" fill="hold">
                            <p:stCondLst>
                              <p:cond delay="0"/>
                            </p:stCondLst>
                            <p:childTnLst>
                              <p:par>
                                <p:cTn id="118" presetID="22" presetClass="entr" presetSubtype="2" fill="hold" nodeType="clickEffect">
                                  <p:stCondLst>
                                    <p:cond delay="0"/>
                                  </p:stCondLst>
                                  <p:childTnLst>
                                    <p:set>
                                      <p:cBhvr>
                                        <p:cTn id="119" dur="1" fill="hold">
                                          <p:stCondLst>
                                            <p:cond delay="0"/>
                                          </p:stCondLst>
                                        </p:cTn>
                                        <p:tgtEl>
                                          <p:spTgt spid="22"/>
                                        </p:tgtEl>
                                        <p:attrNameLst>
                                          <p:attrName>style.visibility</p:attrName>
                                        </p:attrNameLst>
                                      </p:cBhvr>
                                      <p:to>
                                        <p:strVal val="visible"/>
                                      </p:to>
                                    </p:set>
                                    <p:animEffect transition="in" filter="wipe(right)">
                                      <p:cBhvr>
                                        <p:cTn id="120" dur="500"/>
                                        <p:tgtEl>
                                          <p:spTgt spid="22"/>
                                        </p:tgtEl>
                                      </p:cBhvr>
                                    </p:animEffect>
                                  </p:childTnLst>
                                </p:cTn>
                              </p:par>
                              <p:par>
                                <p:cTn id="121" presetID="22" presetClass="entr" presetSubtype="2" fill="hold" nodeType="withEffect">
                                  <p:stCondLst>
                                    <p:cond delay="0"/>
                                  </p:stCondLst>
                                  <p:childTnLst>
                                    <p:set>
                                      <p:cBhvr>
                                        <p:cTn id="122" dur="1" fill="hold">
                                          <p:stCondLst>
                                            <p:cond delay="0"/>
                                          </p:stCondLst>
                                        </p:cTn>
                                        <p:tgtEl>
                                          <p:spTgt spid="21"/>
                                        </p:tgtEl>
                                        <p:attrNameLst>
                                          <p:attrName>style.visibility</p:attrName>
                                        </p:attrNameLst>
                                      </p:cBhvr>
                                      <p:to>
                                        <p:strVal val="visible"/>
                                      </p:to>
                                    </p:set>
                                    <p:animEffect transition="in" filter="wipe(right)">
                                      <p:cBhvr>
                                        <p:cTn id="123" dur="500"/>
                                        <p:tgtEl>
                                          <p:spTgt spid="21"/>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500"/>
                                        <p:tgtEl>
                                          <p:spTgt spid="27"/>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2" fill="hold" grpId="0" nodeType="clickEffect">
                                  <p:stCondLst>
                                    <p:cond delay="0"/>
                                  </p:stCondLst>
                                  <p:childTnLst>
                                    <p:set>
                                      <p:cBhvr>
                                        <p:cTn id="132" dur="1" fill="hold">
                                          <p:stCondLst>
                                            <p:cond delay="0"/>
                                          </p:stCondLst>
                                        </p:cTn>
                                        <p:tgtEl>
                                          <p:spTgt spid="25"/>
                                        </p:tgtEl>
                                        <p:attrNameLst>
                                          <p:attrName>style.visibility</p:attrName>
                                        </p:attrNameLst>
                                      </p:cBhvr>
                                      <p:to>
                                        <p:strVal val="visible"/>
                                      </p:to>
                                    </p:set>
                                    <p:animEffect transition="in" filter="wipe(right)">
                                      <p:cBhvr>
                                        <p:cTn id="133" dur="500"/>
                                        <p:tgtEl>
                                          <p:spTgt spid="25"/>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2" fill="hold" grpId="0" nodeType="clickEffect">
                                  <p:stCondLst>
                                    <p:cond delay="0"/>
                                  </p:stCondLst>
                                  <p:childTnLst>
                                    <p:set>
                                      <p:cBhvr>
                                        <p:cTn id="137" dur="1" fill="hold">
                                          <p:stCondLst>
                                            <p:cond delay="0"/>
                                          </p:stCondLst>
                                        </p:cTn>
                                        <p:tgtEl>
                                          <p:spTgt spid="26"/>
                                        </p:tgtEl>
                                        <p:attrNameLst>
                                          <p:attrName>style.visibility</p:attrName>
                                        </p:attrNameLst>
                                      </p:cBhvr>
                                      <p:to>
                                        <p:strVal val="visible"/>
                                      </p:to>
                                    </p:set>
                                    <p:animEffect transition="in" filter="wipe(right)">
                                      <p:cBhvr>
                                        <p:cTn id="138" dur="500"/>
                                        <p:tgtEl>
                                          <p:spTgt spid="26"/>
                                        </p:tgtEl>
                                      </p:cBhvr>
                                    </p:animEffect>
                                  </p:childTnLst>
                                </p:cTn>
                              </p:par>
                              <p:par>
                                <p:cTn id="139" presetID="22" presetClass="entr" presetSubtype="2" fill="hold" nodeType="withEffect">
                                  <p:stCondLst>
                                    <p:cond delay="0"/>
                                  </p:stCondLst>
                                  <p:childTnLst>
                                    <p:set>
                                      <p:cBhvr>
                                        <p:cTn id="140" dur="1" fill="hold">
                                          <p:stCondLst>
                                            <p:cond delay="0"/>
                                          </p:stCondLst>
                                        </p:cTn>
                                        <p:tgtEl>
                                          <p:spTgt spid="23"/>
                                        </p:tgtEl>
                                        <p:attrNameLst>
                                          <p:attrName>style.visibility</p:attrName>
                                        </p:attrNameLst>
                                      </p:cBhvr>
                                      <p:to>
                                        <p:strVal val="visible"/>
                                      </p:to>
                                    </p:set>
                                    <p:animEffect transition="in" filter="wipe(right)">
                                      <p:cBhvr>
                                        <p:cTn id="141" dur="500"/>
                                        <p:tgtEl>
                                          <p:spTgt spid="23"/>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grpId="0" nodeType="clickEffect">
                                  <p:stCondLst>
                                    <p:cond delay="0"/>
                                  </p:stCondLst>
                                  <p:childTnLst>
                                    <p:set>
                                      <p:cBhvr>
                                        <p:cTn id="145" dur="1" fill="hold">
                                          <p:stCondLst>
                                            <p:cond delay="0"/>
                                          </p:stCondLst>
                                        </p:cTn>
                                        <p:tgtEl>
                                          <p:spTgt spid="24"/>
                                        </p:tgtEl>
                                        <p:attrNameLst>
                                          <p:attrName>style.visibility</p:attrName>
                                        </p:attrNameLst>
                                      </p:cBhvr>
                                      <p:to>
                                        <p:strVal val="visible"/>
                                      </p:to>
                                    </p:set>
                                    <p:animEffect transition="in" filter="fade">
                                      <p:cBhvr>
                                        <p:cTn id="146" dur="500"/>
                                        <p:tgtEl>
                                          <p:spTgt spid="24"/>
                                        </p:tgtEl>
                                      </p:cBhvr>
                                    </p:animEffect>
                                  </p:childTnLst>
                                </p:cTn>
                              </p:par>
                            </p:childTnLst>
                          </p:cTn>
                        </p:par>
                      </p:childTnLst>
                    </p:cTn>
                  </p:par>
                  <p:par>
                    <p:cTn id="147" fill="hold">
                      <p:stCondLst>
                        <p:cond delay="indefinite"/>
                      </p:stCondLst>
                      <p:childTnLst>
                        <p:par>
                          <p:cTn id="148" fill="hold">
                            <p:stCondLst>
                              <p:cond delay="0"/>
                            </p:stCondLst>
                            <p:childTnLst>
                              <p:par>
                                <p:cTn id="149" presetID="6" presetClass="entr" presetSubtype="16" fill="hold" grpId="0" nodeType="clickEffect">
                                  <p:stCondLst>
                                    <p:cond delay="0"/>
                                  </p:stCondLst>
                                  <p:childTnLst>
                                    <p:set>
                                      <p:cBhvr>
                                        <p:cTn id="150" dur="1" fill="hold">
                                          <p:stCondLst>
                                            <p:cond delay="0"/>
                                          </p:stCondLst>
                                        </p:cTn>
                                        <p:tgtEl>
                                          <p:spTgt spid="28"/>
                                        </p:tgtEl>
                                        <p:attrNameLst>
                                          <p:attrName>style.visibility</p:attrName>
                                        </p:attrNameLst>
                                      </p:cBhvr>
                                      <p:to>
                                        <p:strVal val="visible"/>
                                      </p:to>
                                    </p:set>
                                    <p:animEffect transition="in" filter="circle(in)">
                                      <p:cBhvr>
                                        <p:cTn id="151" dur="2000"/>
                                        <p:tgtEl>
                                          <p:spTgt spid="28"/>
                                        </p:tgtEl>
                                      </p:cBhvr>
                                    </p:animEffect>
                                  </p:childTnLst>
                                </p:cTn>
                              </p:par>
                            </p:childTnLst>
                          </p:cTn>
                        </p:par>
                      </p:childTnLst>
                    </p:cTn>
                  </p:par>
                  <p:par>
                    <p:cTn id="152" fill="hold">
                      <p:stCondLst>
                        <p:cond delay="indefinite"/>
                      </p:stCondLst>
                      <p:childTnLst>
                        <p:par>
                          <p:cTn id="153" fill="hold">
                            <p:stCondLst>
                              <p:cond delay="0"/>
                            </p:stCondLst>
                            <p:childTnLst>
                              <p:par>
                                <p:cTn id="154" presetID="42" presetClass="entr" presetSubtype="0" fill="hold" grpId="0" nodeType="clickEffect">
                                  <p:stCondLst>
                                    <p:cond delay="0"/>
                                  </p:stCondLst>
                                  <p:childTnLst>
                                    <p:set>
                                      <p:cBhvr>
                                        <p:cTn id="155" dur="1" fill="hold">
                                          <p:stCondLst>
                                            <p:cond delay="0"/>
                                          </p:stCondLst>
                                        </p:cTn>
                                        <p:tgtEl>
                                          <p:spTgt spid="2"/>
                                        </p:tgtEl>
                                        <p:attrNameLst>
                                          <p:attrName>style.visibility</p:attrName>
                                        </p:attrNameLst>
                                      </p:cBhvr>
                                      <p:to>
                                        <p:strVal val="visible"/>
                                      </p:to>
                                    </p:set>
                                    <p:animEffect transition="in" filter="fade">
                                      <p:cBhvr>
                                        <p:cTn id="156" dur="1000"/>
                                        <p:tgtEl>
                                          <p:spTgt spid="2"/>
                                        </p:tgtEl>
                                      </p:cBhvr>
                                    </p:animEffect>
                                    <p:anim calcmode="lin" valueType="num">
                                      <p:cBhvr>
                                        <p:cTn id="157" dur="1000" fill="hold"/>
                                        <p:tgtEl>
                                          <p:spTgt spid="2"/>
                                        </p:tgtEl>
                                        <p:attrNameLst>
                                          <p:attrName>ppt_x</p:attrName>
                                        </p:attrNameLst>
                                      </p:cBhvr>
                                      <p:tavLst>
                                        <p:tav tm="0">
                                          <p:val>
                                            <p:strVal val="#ppt_x"/>
                                          </p:val>
                                        </p:tav>
                                        <p:tav tm="100000">
                                          <p:val>
                                            <p:strVal val="#ppt_x"/>
                                          </p:val>
                                        </p:tav>
                                      </p:tavLst>
                                    </p:anim>
                                    <p:anim calcmode="lin" valueType="num">
                                      <p:cBhvr>
                                        <p:cTn id="15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7" grpId="0" animBg="1"/>
      <p:bldP spid="15" grpId="0" animBg="1"/>
      <p:bldP spid="20" grpId="0" animBg="1"/>
      <p:bldP spid="24" grpId="0" animBg="1"/>
      <p:bldP spid="25" grpId="0"/>
      <p:bldP spid="26" grpId="0" animBg="1"/>
      <p:bldP spid="27" grpId="0" animBg="1"/>
      <p:bldP spid="28" grpId="0" animBg="1"/>
      <p:bldP spid="2" grpId="0"/>
      <p:bldP spid="29" grpId="0" animBg="1"/>
      <p:bldP spid="30" grpId="0" animBg="1"/>
      <p:bldP spid="3" grpId="0" animBg="1"/>
      <p:bldP spid="10" grpId="0" animBg="1"/>
      <p:bldP spid="11"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70C0"/>
                </a:solidFill>
              </a:rPr>
              <a:t>Why does </a:t>
            </a:r>
            <a:r>
              <a:rPr lang="en-US" sz="3200" b="1" dirty="0">
                <a:solidFill>
                  <a:srgbClr val="7030A0"/>
                </a:solidFill>
              </a:rPr>
              <a:t>Topological ordering exist ? </a:t>
            </a:r>
            <a:br>
              <a:rPr lang="en-US" sz="3200" b="1" dirty="0">
                <a:solidFill>
                  <a:srgbClr val="7030A0"/>
                </a:solidFill>
              </a:rPr>
            </a:br>
            <a:endParaRPr lang="en-US" sz="3200" dirty="0"/>
          </a:p>
        </p:txBody>
      </p:sp>
      <p:sp>
        <p:nvSpPr>
          <p:cNvPr id="3" name="Content Placeholder 2"/>
          <p:cNvSpPr>
            <a:spLocks noGrp="1"/>
          </p:cNvSpPr>
          <p:nvPr>
            <p:ph idx="1"/>
          </p:nvPr>
        </p:nvSpPr>
        <p:spPr>
          <a:xfrm>
            <a:off x="457200" y="1066800"/>
            <a:ext cx="8229600" cy="5059363"/>
          </a:xfrm>
        </p:spPr>
        <p:txBody>
          <a:bodyPr/>
          <a:lstStyle/>
          <a:p>
            <a:pPr marL="0" indent="0">
              <a:buNone/>
            </a:pPr>
            <a:r>
              <a:rPr lang="en-US" sz="2000" b="1" dirty="0">
                <a:solidFill>
                  <a:srgbClr val="C00000"/>
                </a:solidFill>
              </a:rPr>
              <a:t>Lemma 1</a:t>
            </a:r>
            <a:r>
              <a:rPr lang="en-US" sz="2000" dirty="0"/>
              <a:t>: Every </a:t>
            </a:r>
            <a:r>
              <a:rPr lang="en-US" sz="2000" b="1" dirty="0"/>
              <a:t>DAG</a:t>
            </a:r>
            <a:r>
              <a:rPr lang="en-US" sz="2000" dirty="0"/>
              <a:t> has at least one vertex with </a:t>
            </a:r>
            <a:r>
              <a:rPr lang="en-US" sz="2000" b="1" dirty="0">
                <a:solidFill>
                  <a:srgbClr val="7030A0"/>
                </a:solidFill>
              </a:rPr>
              <a:t>in-degree</a:t>
            </a:r>
            <a:r>
              <a:rPr lang="en-US" sz="2000" dirty="0"/>
              <a:t> = </a:t>
            </a:r>
            <a:r>
              <a:rPr lang="en-US" sz="2000" dirty="0">
                <a:solidFill>
                  <a:srgbClr val="0070C0"/>
                </a:solidFill>
              </a:rPr>
              <a:t>0</a:t>
            </a:r>
            <a:r>
              <a:rPr lang="en-US" sz="2000" dirty="0"/>
              <a:t>.</a:t>
            </a:r>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18</a:t>
            </a:fld>
            <a:endParaRPr lang="en-US"/>
          </a:p>
        </p:txBody>
      </p:sp>
      <p:grpSp>
        <p:nvGrpSpPr>
          <p:cNvPr id="68" name="Group 67"/>
          <p:cNvGrpSpPr/>
          <p:nvPr/>
        </p:nvGrpSpPr>
        <p:grpSpPr>
          <a:xfrm>
            <a:off x="2590800" y="1600200"/>
            <a:ext cx="4876800" cy="1981200"/>
            <a:chOff x="2590800" y="1981200"/>
            <a:chExt cx="4876800" cy="1981200"/>
          </a:xfrm>
        </p:grpSpPr>
        <p:cxnSp>
          <p:nvCxnSpPr>
            <p:cNvPr id="8" name="Straight Arrow Connector 7"/>
            <p:cNvCxnSpPr>
              <a:endCxn id="20" idx="0"/>
            </p:cNvCxnSpPr>
            <p:nvPr/>
          </p:nvCxnSpPr>
          <p:spPr>
            <a:xfrm>
              <a:off x="2781300" y="2971800"/>
              <a:ext cx="685800" cy="76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25908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z</a:t>
              </a:r>
            </a:p>
          </p:txBody>
        </p:sp>
        <p:sp>
          <p:nvSpPr>
            <p:cNvPr id="14" name="Oval 13"/>
            <p:cNvSpPr/>
            <p:nvPr/>
          </p:nvSpPr>
          <p:spPr>
            <a:xfrm>
              <a:off x="5638800" y="1981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a:t>
              </a:r>
            </a:p>
          </p:txBody>
        </p:sp>
        <p:sp>
          <p:nvSpPr>
            <p:cNvPr id="15" name="Oval 14"/>
            <p:cNvSpPr/>
            <p:nvPr/>
          </p:nvSpPr>
          <p:spPr>
            <a:xfrm>
              <a:off x="49530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sp>
          <p:nvSpPr>
            <p:cNvPr id="16" name="Oval 15"/>
            <p:cNvSpPr/>
            <p:nvPr/>
          </p:nvSpPr>
          <p:spPr>
            <a:xfrm>
              <a:off x="6400800" y="2743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v</a:t>
              </a:r>
            </a:p>
          </p:txBody>
        </p:sp>
        <p:sp>
          <p:nvSpPr>
            <p:cNvPr id="17" name="Oval 16"/>
            <p:cNvSpPr/>
            <p:nvPr/>
          </p:nvSpPr>
          <p:spPr>
            <a:xfrm>
              <a:off x="44958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sp>
          <p:nvSpPr>
            <p:cNvPr id="18" name="Oval 17"/>
            <p:cNvSpPr/>
            <p:nvPr/>
          </p:nvSpPr>
          <p:spPr>
            <a:xfrm>
              <a:off x="57912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w</a:t>
              </a:r>
            </a:p>
          </p:txBody>
        </p:sp>
        <p:sp>
          <p:nvSpPr>
            <p:cNvPr id="19" name="Oval 18"/>
            <p:cNvSpPr/>
            <p:nvPr/>
          </p:nvSpPr>
          <p:spPr>
            <a:xfrm>
              <a:off x="7239000" y="3717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sp>
          <p:nvSpPr>
            <p:cNvPr id="20" name="Oval 19"/>
            <p:cNvSpPr/>
            <p:nvPr/>
          </p:nvSpPr>
          <p:spPr>
            <a:xfrm>
              <a:off x="3352800" y="37338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cxnSp>
          <p:nvCxnSpPr>
            <p:cNvPr id="22" name="Straight Arrow Connector 21"/>
            <p:cNvCxnSpPr>
              <a:stCxn id="14" idx="5"/>
              <a:endCxn id="16" idx="1"/>
            </p:cNvCxnSpPr>
            <p:nvPr/>
          </p:nvCxnSpPr>
          <p:spPr>
            <a:xfrm>
              <a:off x="5833922" y="2176322"/>
              <a:ext cx="600356" cy="6003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16" idx="5"/>
              <a:endCxn id="19" idx="1"/>
            </p:cNvCxnSpPr>
            <p:nvPr/>
          </p:nvCxnSpPr>
          <p:spPr>
            <a:xfrm>
              <a:off x="6595922" y="2938322"/>
              <a:ext cx="676556" cy="81262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9" idx="2"/>
              <a:endCxn id="15" idx="5"/>
            </p:cNvCxnSpPr>
            <p:nvPr/>
          </p:nvCxnSpPr>
          <p:spPr>
            <a:xfrm flipH="1" flipV="1">
              <a:off x="5148122" y="2938322"/>
              <a:ext cx="2090878" cy="89344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3"/>
              <a:endCxn id="15" idx="0"/>
            </p:cNvCxnSpPr>
            <p:nvPr/>
          </p:nvCxnSpPr>
          <p:spPr>
            <a:xfrm flipH="1">
              <a:off x="5067300" y="2176322"/>
              <a:ext cx="604978" cy="5668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6" idx="3"/>
            </p:cNvCxnSpPr>
            <p:nvPr/>
          </p:nvCxnSpPr>
          <p:spPr>
            <a:xfrm flipH="1">
              <a:off x="5948222" y="2938322"/>
              <a:ext cx="486056" cy="7954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3"/>
            </p:cNvCxnSpPr>
            <p:nvPr/>
          </p:nvCxnSpPr>
          <p:spPr>
            <a:xfrm flipH="1">
              <a:off x="3505200" y="2938322"/>
              <a:ext cx="1481278" cy="8289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5" idx="4"/>
              <a:endCxn id="17" idx="0"/>
            </p:cNvCxnSpPr>
            <p:nvPr/>
          </p:nvCxnSpPr>
          <p:spPr>
            <a:xfrm flipH="1">
              <a:off x="4610100" y="2971800"/>
              <a:ext cx="457200" cy="74567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019800" y="3831771"/>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7" idx="2"/>
              <a:endCxn id="20" idx="6"/>
            </p:cNvCxnSpPr>
            <p:nvPr/>
          </p:nvCxnSpPr>
          <p:spPr>
            <a:xfrm flipH="1">
              <a:off x="3581400" y="3831771"/>
              <a:ext cx="914400" cy="1632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7" idx="6"/>
              <a:endCxn id="18" idx="2"/>
            </p:cNvCxnSpPr>
            <p:nvPr/>
          </p:nvCxnSpPr>
          <p:spPr>
            <a:xfrm>
              <a:off x="4724400" y="3831771"/>
              <a:ext cx="1066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2"/>
              <a:endCxn id="15" idx="6"/>
            </p:cNvCxnSpPr>
            <p:nvPr/>
          </p:nvCxnSpPr>
          <p:spPr>
            <a:xfrm flipH="1">
              <a:off x="5181600" y="2857500"/>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5" idx="2"/>
              <a:endCxn id="13" idx="6"/>
            </p:cNvCxnSpPr>
            <p:nvPr/>
          </p:nvCxnSpPr>
          <p:spPr>
            <a:xfrm flipH="1">
              <a:off x="2819400" y="2857500"/>
              <a:ext cx="2133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 name="Cloud Callout 4"/>
              <p:cNvSpPr/>
              <p:nvPr/>
            </p:nvSpPr>
            <p:spPr>
              <a:xfrm>
                <a:off x="740639" y="4128357"/>
                <a:ext cx="3505200" cy="1222248"/>
              </a:xfrm>
              <a:prstGeom prst="cloudCallout">
                <a:avLst>
                  <a:gd name="adj1" fmla="val -25693"/>
                  <a:gd name="adj2" fmla="val 75085"/>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How to use </a:t>
                </a:r>
                <a:r>
                  <a:rPr lang="en-US" sz="1600" b="1" dirty="0">
                    <a:solidFill>
                      <a:srgbClr val="C00000"/>
                    </a:solidFill>
                  </a:rPr>
                  <a:t>Lemma 1 </a:t>
                </a:r>
                <a:r>
                  <a:rPr lang="en-US" sz="1600" dirty="0">
                    <a:solidFill>
                      <a:schemeClr val="tx1"/>
                    </a:solidFill>
                  </a:rPr>
                  <a:t>to show existence of </a:t>
                </a:r>
              </a:p>
              <a:p>
                <a:pPr algn="ctr"/>
                <a:r>
                  <a:rPr lang="en-US" sz="1600" dirty="0">
                    <a:solidFill>
                      <a:schemeClr val="tx1"/>
                    </a:solidFill>
                  </a:rPr>
                  <a:t>a valid</a:t>
                </a:r>
                <a:r>
                  <a:rPr lang="en-US" sz="1600" dirty="0">
                    <a:solidFill>
                      <a:srgbClr val="C00000"/>
                    </a:solidFill>
                  </a:rPr>
                  <a:t> </a:t>
                </a:r>
                <a14:m>
                  <m:oMath xmlns:m="http://schemas.openxmlformats.org/officeDocument/2006/math">
                    <m:r>
                      <a:rPr lang="en-US" sz="1600" b="1" i="1" dirty="0">
                        <a:solidFill>
                          <a:srgbClr val="7030A0"/>
                        </a:solidFill>
                        <a:latin typeface="Cambria Math"/>
                      </a:rPr>
                      <m:t>𝝉</m:t>
                    </m:r>
                  </m:oMath>
                </a14:m>
                <a:r>
                  <a:rPr lang="en-US" sz="1600" dirty="0"/>
                  <a:t> </a:t>
                </a:r>
                <a:r>
                  <a:rPr lang="en-US" sz="1600" dirty="0">
                    <a:solidFill>
                      <a:schemeClr val="tx1"/>
                    </a:solidFill>
                  </a:rPr>
                  <a:t>?</a:t>
                </a:r>
                <a:endParaRPr lang="en-US" dirty="0">
                  <a:solidFill>
                    <a:schemeClr val="tx1"/>
                  </a:solidFill>
                </a:endParaRPr>
              </a:p>
            </p:txBody>
          </p:sp>
        </mc:Choice>
        <mc:Fallback xmlns="">
          <p:sp>
            <p:nvSpPr>
              <p:cNvPr id="5" name="Cloud Callout 4"/>
              <p:cNvSpPr>
                <a:spLocks noRot="1" noChangeAspect="1" noMove="1" noResize="1" noEditPoints="1" noAdjustHandles="1" noChangeArrowheads="1" noChangeShapeType="1" noTextEdit="1"/>
              </p:cNvSpPr>
              <p:nvPr/>
            </p:nvSpPr>
            <p:spPr>
              <a:xfrm>
                <a:off x="740639" y="4128357"/>
                <a:ext cx="3505200" cy="1222248"/>
              </a:xfrm>
              <a:prstGeom prst="cloudCallout">
                <a:avLst>
                  <a:gd name="adj1" fmla="val -25693"/>
                  <a:gd name="adj2" fmla="val 75085"/>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09999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fade">
                                      <p:cBhvr>
                                        <p:cTn id="19" dur="1000"/>
                                        <p:tgtEl>
                                          <p:spTgt spid="68"/>
                                        </p:tgtEl>
                                      </p:cBhvr>
                                    </p:animEffect>
                                    <p:anim calcmode="lin" valueType="num">
                                      <p:cBhvr>
                                        <p:cTn id="20" dur="1000" fill="hold"/>
                                        <p:tgtEl>
                                          <p:spTgt spid="68"/>
                                        </p:tgtEl>
                                        <p:attrNameLst>
                                          <p:attrName>ppt_x</p:attrName>
                                        </p:attrNameLst>
                                      </p:cBhvr>
                                      <p:tavLst>
                                        <p:tav tm="0">
                                          <p:val>
                                            <p:strVal val="#ppt_x"/>
                                          </p:val>
                                        </p:tav>
                                        <p:tav tm="100000">
                                          <p:val>
                                            <p:strVal val="#ppt_x"/>
                                          </p:val>
                                        </p:tav>
                                      </p:tavLst>
                                    </p:anim>
                                    <p:anim calcmode="lin" valueType="num">
                                      <p:cBhvr>
                                        <p:cTn id="21" dur="1000" fill="hold"/>
                                        <p:tgtEl>
                                          <p:spTgt spid="6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70C0"/>
                </a:solidFill>
              </a:rPr>
              <a:t>Why does </a:t>
            </a:r>
            <a:r>
              <a:rPr lang="en-US" sz="3200" b="1" dirty="0">
                <a:solidFill>
                  <a:srgbClr val="7030A0"/>
                </a:solidFill>
              </a:rPr>
              <a:t>Topological ordering exist ? </a:t>
            </a:r>
            <a:br>
              <a:rPr lang="en-US" sz="3200" b="1" dirty="0">
                <a:solidFill>
                  <a:srgbClr val="7030A0"/>
                </a:solidFill>
              </a:rPr>
            </a:br>
            <a:endParaRPr lang="en-US" sz="3200" dirty="0"/>
          </a:p>
        </p:txBody>
      </p:sp>
      <p:sp>
        <p:nvSpPr>
          <p:cNvPr id="3" name="Content Placeholder 2"/>
          <p:cNvSpPr>
            <a:spLocks noGrp="1"/>
          </p:cNvSpPr>
          <p:nvPr>
            <p:ph idx="1"/>
          </p:nvPr>
        </p:nvSpPr>
        <p:spPr/>
        <p:txBody>
          <a:bodyPr/>
          <a:lstStyle/>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19</a:t>
            </a:fld>
            <a:endParaRPr lang="en-US"/>
          </a:p>
        </p:txBody>
      </p:sp>
      <p:grpSp>
        <p:nvGrpSpPr>
          <p:cNvPr id="12" name="Group 11"/>
          <p:cNvGrpSpPr/>
          <p:nvPr/>
        </p:nvGrpSpPr>
        <p:grpSpPr>
          <a:xfrm>
            <a:off x="2590800" y="2362200"/>
            <a:ext cx="876300" cy="990600"/>
            <a:chOff x="2590800" y="2362200"/>
            <a:chExt cx="876300" cy="990600"/>
          </a:xfrm>
        </p:grpSpPr>
        <p:cxnSp>
          <p:nvCxnSpPr>
            <p:cNvPr id="8" name="Straight Arrow Connector 7"/>
            <p:cNvCxnSpPr>
              <a:endCxn id="20" idx="0"/>
            </p:cNvCxnSpPr>
            <p:nvPr/>
          </p:nvCxnSpPr>
          <p:spPr>
            <a:xfrm>
              <a:off x="2781300" y="2590800"/>
              <a:ext cx="685800" cy="76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2590800" y="2362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z</a:t>
              </a:r>
            </a:p>
          </p:txBody>
        </p:sp>
      </p:grpSp>
      <p:sp>
        <p:nvSpPr>
          <p:cNvPr id="18" name="Oval 17"/>
          <p:cNvSpPr/>
          <p:nvPr/>
        </p:nvSpPr>
        <p:spPr>
          <a:xfrm>
            <a:off x="5791200" y="3336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w</a:t>
            </a:r>
          </a:p>
        </p:txBody>
      </p:sp>
      <p:sp>
        <p:nvSpPr>
          <p:cNvPr id="20" name="Oval 19"/>
          <p:cNvSpPr/>
          <p:nvPr/>
        </p:nvSpPr>
        <p:spPr>
          <a:xfrm>
            <a:off x="3352800" y="33528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grpSp>
        <p:nvGrpSpPr>
          <p:cNvPr id="5" name="Group 4"/>
          <p:cNvGrpSpPr/>
          <p:nvPr/>
        </p:nvGrpSpPr>
        <p:grpSpPr>
          <a:xfrm>
            <a:off x="5067300" y="1600200"/>
            <a:ext cx="1366978" cy="795478"/>
            <a:chOff x="5067300" y="1600200"/>
            <a:chExt cx="1366978" cy="795478"/>
          </a:xfrm>
        </p:grpSpPr>
        <p:sp>
          <p:nvSpPr>
            <p:cNvPr id="14" name="Oval 13"/>
            <p:cNvSpPr/>
            <p:nvPr/>
          </p:nvSpPr>
          <p:spPr>
            <a:xfrm>
              <a:off x="5638800" y="1600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a:t>
              </a:r>
            </a:p>
          </p:txBody>
        </p:sp>
        <p:cxnSp>
          <p:nvCxnSpPr>
            <p:cNvPr id="22" name="Straight Arrow Connector 21"/>
            <p:cNvCxnSpPr>
              <a:stCxn id="14" idx="5"/>
              <a:endCxn id="16" idx="1"/>
            </p:cNvCxnSpPr>
            <p:nvPr/>
          </p:nvCxnSpPr>
          <p:spPr>
            <a:xfrm>
              <a:off x="5833922" y="1795322"/>
              <a:ext cx="600356" cy="6003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3"/>
              <a:endCxn id="15" idx="0"/>
            </p:cNvCxnSpPr>
            <p:nvPr/>
          </p:nvCxnSpPr>
          <p:spPr>
            <a:xfrm flipH="1">
              <a:off x="5067300" y="1795322"/>
              <a:ext cx="604978" cy="5668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5148122" y="2557322"/>
            <a:ext cx="2319478" cy="1007749"/>
            <a:chOff x="5148122" y="2557322"/>
            <a:chExt cx="2319478" cy="1007749"/>
          </a:xfrm>
        </p:grpSpPr>
        <p:sp>
          <p:nvSpPr>
            <p:cNvPr id="19" name="Oval 18"/>
            <p:cNvSpPr/>
            <p:nvPr/>
          </p:nvSpPr>
          <p:spPr>
            <a:xfrm>
              <a:off x="7239000" y="3336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cxnSp>
          <p:nvCxnSpPr>
            <p:cNvPr id="28" name="Straight Arrow Connector 27"/>
            <p:cNvCxnSpPr>
              <a:stCxn id="19" idx="2"/>
              <a:endCxn id="15" idx="5"/>
            </p:cNvCxnSpPr>
            <p:nvPr/>
          </p:nvCxnSpPr>
          <p:spPr>
            <a:xfrm flipH="1" flipV="1">
              <a:off x="5148122" y="2557322"/>
              <a:ext cx="2090878" cy="89344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019800" y="3450771"/>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3581400" y="3336471"/>
            <a:ext cx="2209800" cy="228600"/>
            <a:chOff x="3581400" y="3336471"/>
            <a:chExt cx="2209800" cy="228600"/>
          </a:xfrm>
        </p:grpSpPr>
        <p:sp>
          <p:nvSpPr>
            <p:cNvPr id="17" name="Oval 16"/>
            <p:cNvSpPr/>
            <p:nvPr/>
          </p:nvSpPr>
          <p:spPr>
            <a:xfrm>
              <a:off x="4495800" y="3336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cxnSp>
          <p:nvCxnSpPr>
            <p:cNvPr id="46" name="Straight Arrow Connector 45"/>
            <p:cNvCxnSpPr>
              <a:stCxn id="17" idx="2"/>
              <a:endCxn id="20" idx="6"/>
            </p:cNvCxnSpPr>
            <p:nvPr/>
          </p:nvCxnSpPr>
          <p:spPr>
            <a:xfrm flipH="1">
              <a:off x="3581400" y="3450771"/>
              <a:ext cx="914400" cy="1632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7" idx="6"/>
              <a:endCxn id="18" idx="2"/>
            </p:cNvCxnSpPr>
            <p:nvPr/>
          </p:nvCxnSpPr>
          <p:spPr>
            <a:xfrm>
              <a:off x="4724400" y="3450771"/>
              <a:ext cx="1066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5181600" y="2362200"/>
            <a:ext cx="2090878" cy="1007749"/>
            <a:chOff x="5181600" y="2362200"/>
            <a:chExt cx="2090878" cy="1007749"/>
          </a:xfrm>
        </p:grpSpPr>
        <p:sp>
          <p:nvSpPr>
            <p:cNvPr id="16" name="Oval 15"/>
            <p:cNvSpPr/>
            <p:nvPr/>
          </p:nvSpPr>
          <p:spPr>
            <a:xfrm>
              <a:off x="6400800" y="2362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v</a:t>
              </a:r>
            </a:p>
          </p:txBody>
        </p:sp>
        <p:cxnSp>
          <p:nvCxnSpPr>
            <p:cNvPr id="25" name="Straight Arrow Connector 24"/>
            <p:cNvCxnSpPr>
              <a:stCxn id="16" idx="5"/>
              <a:endCxn id="19" idx="1"/>
            </p:cNvCxnSpPr>
            <p:nvPr/>
          </p:nvCxnSpPr>
          <p:spPr>
            <a:xfrm>
              <a:off x="6595922" y="2557322"/>
              <a:ext cx="676556" cy="81262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6" idx="3"/>
            </p:cNvCxnSpPr>
            <p:nvPr/>
          </p:nvCxnSpPr>
          <p:spPr>
            <a:xfrm flipH="1">
              <a:off x="5948222" y="2557322"/>
              <a:ext cx="486056" cy="7954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2"/>
              <a:endCxn id="15" idx="6"/>
            </p:cNvCxnSpPr>
            <p:nvPr/>
          </p:nvCxnSpPr>
          <p:spPr>
            <a:xfrm flipH="1">
              <a:off x="5181600" y="2476500"/>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58" name="Oval 57"/>
          <p:cNvSpPr/>
          <p:nvPr/>
        </p:nvSpPr>
        <p:spPr>
          <a:xfrm>
            <a:off x="12954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a:t>
            </a:r>
          </a:p>
        </p:txBody>
      </p:sp>
      <p:sp>
        <p:nvSpPr>
          <p:cNvPr id="59" name="Oval 58"/>
          <p:cNvSpPr/>
          <p:nvPr/>
        </p:nvSpPr>
        <p:spPr>
          <a:xfrm>
            <a:off x="21336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v</a:t>
            </a:r>
          </a:p>
        </p:txBody>
      </p:sp>
      <p:sp>
        <p:nvSpPr>
          <p:cNvPr id="60" name="Oval 59"/>
          <p:cNvSpPr/>
          <p:nvPr/>
        </p:nvSpPr>
        <p:spPr>
          <a:xfrm>
            <a:off x="30480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grpSp>
        <p:nvGrpSpPr>
          <p:cNvPr id="10" name="Group 9"/>
          <p:cNvGrpSpPr/>
          <p:nvPr/>
        </p:nvGrpSpPr>
        <p:grpSpPr>
          <a:xfrm>
            <a:off x="2819400" y="2362200"/>
            <a:ext cx="2362200" cy="1024078"/>
            <a:chOff x="2819400" y="2362200"/>
            <a:chExt cx="2362200" cy="1024078"/>
          </a:xfrm>
        </p:grpSpPr>
        <p:sp>
          <p:nvSpPr>
            <p:cNvPr id="15" name="Oval 14"/>
            <p:cNvSpPr/>
            <p:nvPr/>
          </p:nvSpPr>
          <p:spPr>
            <a:xfrm>
              <a:off x="4953000" y="2362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cxnSp>
          <p:nvCxnSpPr>
            <p:cNvPr id="37" name="Straight Arrow Connector 36"/>
            <p:cNvCxnSpPr>
              <a:stCxn id="15" idx="3"/>
            </p:cNvCxnSpPr>
            <p:nvPr/>
          </p:nvCxnSpPr>
          <p:spPr>
            <a:xfrm flipH="1">
              <a:off x="3505200" y="2557322"/>
              <a:ext cx="1481278" cy="8289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5" idx="4"/>
              <a:endCxn id="17" idx="0"/>
            </p:cNvCxnSpPr>
            <p:nvPr/>
          </p:nvCxnSpPr>
          <p:spPr>
            <a:xfrm flipH="1">
              <a:off x="4610100" y="2590800"/>
              <a:ext cx="457200" cy="74567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5" idx="2"/>
              <a:endCxn id="13" idx="6"/>
            </p:cNvCxnSpPr>
            <p:nvPr/>
          </p:nvCxnSpPr>
          <p:spPr>
            <a:xfrm flipH="1">
              <a:off x="2819400" y="2476500"/>
              <a:ext cx="2133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61" name="Oval 60"/>
          <p:cNvSpPr/>
          <p:nvPr/>
        </p:nvSpPr>
        <p:spPr>
          <a:xfrm>
            <a:off x="38862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sp>
        <p:nvSpPr>
          <p:cNvPr id="62" name="Oval 61"/>
          <p:cNvSpPr/>
          <p:nvPr/>
        </p:nvSpPr>
        <p:spPr>
          <a:xfrm>
            <a:off x="64008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w</a:t>
            </a:r>
          </a:p>
        </p:txBody>
      </p:sp>
      <p:sp>
        <p:nvSpPr>
          <p:cNvPr id="63" name="Oval 62"/>
          <p:cNvSpPr/>
          <p:nvPr/>
        </p:nvSpPr>
        <p:spPr>
          <a:xfrm>
            <a:off x="47244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sp>
        <p:nvSpPr>
          <p:cNvPr id="64" name="Oval 63"/>
          <p:cNvSpPr/>
          <p:nvPr/>
        </p:nvSpPr>
        <p:spPr>
          <a:xfrm>
            <a:off x="55626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z</a:t>
            </a:r>
          </a:p>
        </p:txBody>
      </p:sp>
      <p:sp>
        <p:nvSpPr>
          <p:cNvPr id="65" name="Oval 64"/>
          <p:cNvSpPr/>
          <p:nvPr/>
        </p:nvSpPr>
        <p:spPr>
          <a:xfrm>
            <a:off x="72390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sp>
        <p:nvSpPr>
          <p:cNvPr id="66" name="TextBox 65"/>
          <p:cNvSpPr txBox="1"/>
          <p:nvPr/>
        </p:nvSpPr>
        <p:spPr>
          <a:xfrm>
            <a:off x="1219200" y="4507468"/>
            <a:ext cx="301686" cy="369332"/>
          </a:xfrm>
          <a:prstGeom prst="rect">
            <a:avLst/>
          </a:prstGeom>
          <a:noFill/>
        </p:spPr>
        <p:txBody>
          <a:bodyPr wrap="none" rtlCol="0">
            <a:spAutoFit/>
          </a:bodyPr>
          <a:lstStyle/>
          <a:p>
            <a:r>
              <a:rPr lang="en-US" dirty="0"/>
              <a:t>1</a:t>
            </a:r>
          </a:p>
        </p:txBody>
      </p:sp>
      <p:sp>
        <p:nvSpPr>
          <p:cNvPr id="44" name="TextBox 43"/>
          <p:cNvSpPr txBox="1"/>
          <p:nvPr/>
        </p:nvSpPr>
        <p:spPr>
          <a:xfrm>
            <a:off x="2060514" y="4495800"/>
            <a:ext cx="301686" cy="369332"/>
          </a:xfrm>
          <a:prstGeom prst="rect">
            <a:avLst/>
          </a:prstGeom>
          <a:noFill/>
        </p:spPr>
        <p:txBody>
          <a:bodyPr wrap="none" rtlCol="0">
            <a:spAutoFit/>
          </a:bodyPr>
          <a:lstStyle/>
          <a:p>
            <a:r>
              <a:rPr lang="en-US" dirty="0"/>
              <a:t>2</a:t>
            </a:r>
          </a:p>
        </p:txBody>
      </p:sp>
      <p:sp>
        <p:nvSpPr>
          <p:cNvPr id="45" name="TextBox 44"/>
          <p:cNvSpPr txBox="1"/>
          <p:nvPr/>
        </p:nvSpPr>
        <p:spPr>
          <a:xfrm>
            <a:off x="2971800" y="4507468"/>
            <a:ext cx="301686" cy="369332"/>
          </a:xfrm>
          <a:prstGeom prst="rect">
            <a:avLst/>
          </a:prstGeom>
          <a:noFill/>
        </p:spPr>
        <p:txBody>
          <a:bodyPr wrap="none" rtlCol="0">
            <a:spAutoFit/>
          </a:bodyPr>
          <a:lstStyle/>
          <a:p>
            <a:r>
              <a:rPr lang="en-US" dirty="0"/>
              <a:t>3</a:t>
            </a:r>
          </a:p>
        </p:txBody>
      </p:sp>
      <p:sp>
        <p:nvSpPr>
          <p:cNvPr id="47" name="TextBox 46"/>
          <p:cNvSpPr txBox="1"/>
          <p:nvPr/>
        </p:nvSpPr>
        <p:spPr>
          <a:xfrm>
            <a:off x="3810000" y="4507468"/>
            <a:ext cx="301686" cy="369332"/>
          </a:xfrm>
          <a:prstGeom prst="rect">
            <a:avLst/>
          </a:prstGeom>
          <a:noFill/>
        </p:spPr>
        <p:txBody>
          <a:bodyPr wrap="none" rtlCol="0">
            <a:spAutoFit/>
          </a:bodyPr>
          <a:lstStyle/>
          <a:p>
            <a:r>
              <a:rPr lang="en-US" dirty="0"/>
              <a:t>4</a:t>
            </a:r>
          </a:p>
        </p:txBody>
      </p:sp>
      <p:sp>
        <p:nvSpPr>
          <p:cNvPr id="50" name="TextBox 49"/>
          <p:cNvSpPr txBox="1"/>
          <p:nvPr/>
        </p:nvSpPr>
        <p:spPr>
          <a:xfrm>
            <a:off x="4651314" y="4507468"/>
            <a:ext cx="301686" cy="369332"/>
          </a:xfrm>
          <a:prstGeom prst="rect">
            <a:avLst/>
          </a:prstGeom>
          <a:noFill/>
        </p:spPr>
        <p:txBody>
          <a:bodyPr wrap="none" rtlCol="0">
            <a:spAutoFit/>
          </a:bodyPr>
          <a:lstStyle/>
          <a:p>
            <a:r>
              <a:rPr lang="en-US" dirty="0"/>
              <a:t>5</a:t>
            </a:r>
          </a:p>
        </p:txBody>
      </p:sp>
      <p:sp>
        <p:nvSpPr>
          <p:cNvPr id="51" name="TextBox 50"/>
          <p:cNvSpPr txBox="1"/>
          <p:nvPr/>
        </p:nvSpPr>
        <p:spPr>
          <a:xfrm>
            <a:off x="5486400" y="4507468"/>
            <a:ext cx="301686" cy="369332"/>
          </a:xfrm>
          <a:prstGeom prst="rect">
            <a:avLst/>
          </a:prstGeom>
          <a:noFill/>
        </p:spPr>
        <p:txBody>
          <a:bodyPr wrap="none" rtlCol="0">
            <a:spAutoFit/>
          </a:bodyPr>
          <a:lstStyle/>
          <a:p>
            <a:r>
              <a:rPr lang="en-US" dirty="0"/>
              <a:t>6</a:t>
            </a:r>
          </a:p>
        </p:txBody>
      </p:sp>
      <p:sp>
        <p:nvSpPr>
          <p:cNvPr id="53" name="TextBox 52"/>
          <p:cNvSpPr txBox="1"/>
          <p:nvPr/>
        </p:nvSpPr>
        <p:spPr>
          <a:xfrm>
            <a:off x="6324600" y="4507468"/>
            <a:ext cx="301686" cy="369332"/>
          </a:xfrm>
          <a:prstGeom prst="rect">
            <a:avLst/>
          </a:prstGeom>
          <a:noFill/>
        </p:spPr>
        <p:txBody>
          <a:bodyPr wrap="none" rtlCol="0">
            <a:spAutoFit/>
          </a:bodyPr>
          <a:lstStyle/>
          <a:p>
            <a:r>
              <a:rPr lang="en-US" dirty="0"/>
              <a:t>7</a:t>
            </a:r>
          </a:p>
        </p:txBody>
      </p:sp>
      <p:sp>
        <p:nvSpPr>
          <p:cNvPr id="54" name="TextBox 53"/>
          <p:cNvSpPr txBox="1"/>
          <p:nvPr/>
        </p:nvSpPr>
        <p:spPr>
          <a:xfrm>
            <a:off x="7242114" y="4495800"/>
            <a:ext cx="301686" cy="369332"/>
          </a:xfrm>
          <a:prstGeom prst="rect">
            <a:avLst/>
          </a:prstGeom>
          <a:noFill/>
        </p:spPr>
        <p:txBody>
          <a:bodyPr wrap="none" rtlCol="0">
            <a:spAutoFit/>
          </a:bodyPr>
          <a:lstStyle/>
          <a:p>
            <a:r>
              <a:rPr lang="en-US" dirty="0"/>
              <a:t>8</a:t>
            </a:r>
          </a:p>
        </p:txBody>
      </p:sp>
    </p:spTree>
    <p:extLst>
      <p:ext uri="{BB962C8B-B14F-4D97-AF65-F5344CB8AC3E}">
        <p14:creationId xmlns:p14="http://schemas.microsoft.com/office/powerpoint/2010/main" val="3403340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xit" presetSubtype="0" fill="hold" nodeType="clickEffect">
                                  <p:stCondLst>
                                    <p:cond delay="0"/>
                                  </p:stCondLst>
                                  <p:childTnLst>
                                    <p:animEffect transition="out" filter="fade">
                                      <p:cBhvr>
                                        <p:cTn id="6" dur="1000"/>
                                        <p:tgtEl>
                                          <p:spTgt spid="5"/>
                                        </p:tgtEl>
                                      </p:cBhvr>
                                    </p:animEffect>
                                    <p:anim calcmode="lin" valueType="num">
                                      <p:cBhvr>
                                        <p:cTn id="7" dur="1000"/>
                                        <p:tgtEl>
                                          <p:spTgt spid="5"/>
                                        </p:tgtEl>
                                        <p:attrNameLst>
                                          <p:attrName>ppt_x</p:attrName>
                                        </p:attrNameLst>
                                      </p:cBhvr>
                                      <p:tavLst>
                                        <p:tav tm="0">
                                          <p:val>
                                            <p:strVal val="ppt_x"/>
                                          </p:val>
                                        </p:tav>
                                        <p:tav tm="100000">
                                          <p:val>
                                            <p:strVal val="ppt_x"/>
                                          </p:val>
                                        </p:tav>
                                      </p:tavLst>
                                    </p:anim>
                                    <p:anim calcmode="lin" valueType="num">
                                      <p:cBhvr>
                                        <p:cTn id="8" dur="1000"/>
                                        <p:tgtEl>
                                          <p:spTgt spid="5"/>
                                        </p:tgtEl>
                                        <p:attrNameLst>
                                          <p:attrName>ppt_y</p:attrName>
                                        </p:attrNameLst>
                                      </p:cBhvr>
                                      <p:tavLst>
                                        <p:tav tm="0">
                                          <p:val>
                                            <p:strVal val="ppt_y"/>
                                          </p:val>
                                        </p:tav>
                                        <p:tav tm="100000">
                                          <p:val>
                                            <p:strVal val="ppt_y-.1"/>
                                          </p:val>
                                        </p:tav>
                                      </p:tavLst>
                                    </p:anim>
                                    <p:set>
                                      <p:cBhvr>
                                        <p:cTn id="9" dur="1" fill="hold">
                                          <p:stCondLst>
                                            <p:cond delay="999"/>
                                          </p:stCondLst>
                                        </p:cTn>
                                        <p:tgtEl>
                                          <p:spTgt spid="5"/>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fade">
                                      <p:cBhvr>
                                        <p:cTn id="14" dur="1000"/>
                                        <p:tgtEl>
                                          <p:spTgt spid="58"/>
                                        </p:tgtEl>
                                      </p:cBhvr>
                                    </p:animEffect>
                                    <p:anim calcmode="lin" valueType="num">
                                      <p:cBhvr>
                                        <p:cTn id="15" dur="1000" fill="hold"/>
                                        <p:tgtEl>
                                          <p:spTgt spid="58"/>
                                        </p:tgtEl>
                                        <p:attrNameLst>
                                          <p:attrName>ppt_x</p:attrName>
                                        </p:attrNameLst>
                                      </p:cBhvr>
                                      <p:tavLst>
                                        <p:tav tm="0">
                                          <p:val>
                                            <p:strVal val="#ppt_x"/>
                                          </p:val>
                                        </p:tav>
                                        <p:tav tm="100000">
                                          <p:val>
                                            <p:strVal val="#ppt_x"/>
                                          </p:val>
                                        </p:tav>
                                      </p:tavLst>
                                    </p:anim>
                                    <p:anim calcmode="lin" valueType="num">
                                      <p:cBhvr>
                                        <p:cTn id="16" dur="1000" fill="hold"/>
                                        <p:tgtEl>
                                          <p:spTgt spid="58"/>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wipe(left)">
                                      <p:cBhvr>
                                        <p:cTn id="20" dur="1500"/>
                                        <p:tgtEl>
                                          <p:spTgt spid="66"/>
                                        </p:tgtEl>
                                      </p:cBhvr>
                                    </p:animEffect>
                                  </p:childTnLst>
                                </p:cTn>
                              </p:par>
                            </p:childTnLst>
                          </p:cTn>
                        </p:par>
                      </p:childTnLst>
                    </p:cTn>
                  </p:par>
                  <p:par>
                    <p:cTn id="21" fill="hold">
                      <p:stCondLst>
                        <p:cond delay="indefinite"/>
                      </p:stCondLst>
                      <p:childTnLst>
                        <p:par>
                          <p:cTn id="22" fill="hold">
                            <p:stCondLst>
                              <p:cond delay="0"/>
                            </p:stCondLst>
                            <p:childTnLst>
                              <p:par>
                                <p:cTn id="23" presetID="47" presetClass="exit" presetSubtype="0" fill="hold" nodeType="clickEffect">
                                  <p:stCondLst>
                                    <p:cond delay="0"/>
                                  </p:stCondLst>
                                  <p:childTnLst>
                                    <p:animEffect transition="out" filter="fade">
                                      <p:cBhvr>
                                        <p:cTn id="24" dur="1000"/>
                                        <p:tgtEl>
                                          <p:spTgt spid="6"/>
                                        </p:tgtEl>
                                      </p:cBhvr>
                                    </p:animEffect>
                                    <p:anim calcmode="lin" valueType="num">
                                      <p:cBhvr>
                                        <p:cTn id="25" dur="1000"/>
                                        <p:tgtEl>
                                          <p:spTgt spid="6"/>
                                        </p:tgtEl>
                                        <p:attrNameLst>
                                          <p:attrName>ppt_x</p:attrName>
                                        </p:attrNameLst>
                                      </p:cBhvr>
                                      <p:tavLst>
                                        <p:tav tm="0">
                                          <p:val>
                                            <p:strVal val="ppt_x"/>
                                          </p:val>
                                        </p:tav>
                                        <p:tav tm="100000">
                                          <p:val>
                                            <p:strVal val="ppt_x"/>
                                          </p:val>
                                        </p:tav>
                                      </p:tavLst>
                                    </p:anim>
                                    <p:anim calcmode="lin" valueType="num">
                                      <p:cBhvr>
                                        <p:cTn id="26" dur="1000"/>
                                        <p:tgtEl>
                                          <p:spTgt spid="6"/>
                                        </p:tgtEl>
                                        <p:attrNameLst>
                                          <p:attrName>ppt_y</p:attrName>
                                        </p:attrNameLst>
                                      </p:cBhvr>
                                      <p:tavLst>
                                        <p:tav tm="0">
                                          <p:val>
                                            <p:strVal val="ppt_y"/>
                                          </p:val>
                                        </p:tav>
                                        <p:tav tm="100000">
                                          <p:val>
                                            <p:strVal val="ppt_y-.1"/>
                                          </p:val>
                                        </p:tav>
                                      </p:tavLst>
                                    </p:anim>
                                    <p:set>
                                      <p:cBhvr>
                                        <p:cTn id="27" dur="1" fill="hold">
                                          <p:stCondLst>
                                            <p:cond delay="999"/>
                                          </p:stCondLst>
                                        </p:cTn>
                                        <p:tgtEl>
                                          <p:spTgt spid="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fade">
                                      <p:cBhvr>
                                        <p:cTn id="32" dur="1000"/>
                                        <p:tgtEl>
                                          <p:spTgt spid="59"/>
                                        </p:tgtEl>
                                      </p:cBhvr>
                                    </p:animEffect>
                                    <p:anim calcmode="lin" valueType="num">
                                      <p:cBhvr>
                                        <p:cTn id="33" dur="1000" fill="hold"/>
                                        <p:tgtEl>
                                          <p:spTgt spid="59"/>
                                        </p:tgtEl>
                                        <p:attrNameLst>
                                          <p:attrName>ppt_x</p:attrName>
                                        </p:attrNameLst>
                                      </p:cBhvr>
                                      <p:tavLst>
                                        <p:tav tm="0">
                                          <p:val>
                                            <p:strVal val="#ppt_x"/>
                                          </p:val>
                                        </p:tav>
                                        <p:tav tm="100000">
                                          <p:val>
                                            <p:strVal val="#ppt_x"/>
                                          </p:val>
                                        </p:tav>
                                      </p:tavLst>
                                    </p:anim>
                                    <p:anim calcmode="lin" valueType="num">
                                      <p:cBhvr>
                                        <p:cTn id="34" dur="1000" fill="hold"/>
                                        <p:tgtEl>
                                          <p:spTgt spid="59"/>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44"/>
                                        </p:tgtEl>
                                        <p:attrNameLst>
                                          <p:attrName>style.visibility</p:attrName>
                                        </p:attrNameLst>
                                      </p:cBhvr>
                                      <p:to>
                                        <p:strVal val="visible"/>
                                      </p:to>
                                    </p:set>
                                    <p:animEffect transition="in" filter="wipe(left)">
                                      <p:cBhvr>
                                        <p:cTn id="38" dur="1500"/>
                                        <p:tgtEl>
                                          <p:spTgt spid="44"/>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xit" presetSubtype="2" fill="hold" nodeType="clickEffect">
                                  <p:stCondLst>
                                    <p:cond delay="0"/>
                                  </p:stCondLst>
                                  <p:childTnLst>
                                    <p:anim calcmode="lin" valueType="num">
                                      <p:cBhvr additive="base">
                                        <p:cTn id="42" dur="1500"/>
                                        <p:tgtEl>
                                          <p:spTgt spid="7"/>
                                        </p:tgtEl>
                                        <p:attrNameLst>
                                          <p:attrName>ppt_x</p:attrName>
                                        </p:attrNameLst>
                                      </p:cBhvr>
                                      <p:tavLst>
                                        <p:tav tm="0">
                                          <p:val>
                                            <p:strVal val="ppt_x"/>
                                          </p:val>
                                        </p:tav>
                                        <p:tav tm="100000">
                                          <p:val>
                                            <p:strVal val="1+ppt_w/2"/>
                                          </p:val>
                                        </p:tav>
                                      </p:tavLst>
                                    </p:anim>
                                    <p:anim calcmode="lin" valueType="num">
                                      <p:cBhvr additive="base">
                                        <p:cTn id="43" dur="1500"/>
                                        <p:tgtEl>
                                          <p:spTgt spid="7"/>
                                        </p:tgtEl>
                                        <p:attrNameLst>
                                          <p:attrName>ppt_y</p:attrName>
                                        </p:attrNameLst>
                                      </p:cBhvr>
                                      <p:tavLst>
                                        <p:tav tm="0">
                                          <p:val>
                                            <p:strVal val="ppt_y"/>
                                          </p:val>
                                        </p:tav>
                                        <p:tav tm="100000">
                                          <p:val>
                                            <p:strVal val="ppt_y"/>
                                          </p:val>
                                        </p:tav>
                                      </p:tavLst>
                                    </p:anim>
                                    <p:set>
                                      <p:cBhvr>
                                        <p:cTn id="44" dur="1" fill="hold">
                                          <p:stCondLst>
                                            <p:cond delay="1499"/>
                                          </p:stCondLst>
                                        </p:cTn>
                                        <p:tgtEl>
                                          <p:spTgt spid="7"/>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0"/>
                                        </p:tgtEl>
                                        <p:attrNameLst>
                                          <p:attrName>style.visibility</p:attrName>
                                        </p:attrNameLst>
                                      </p:cBhvr>
                                      <p:to>
                                        <p:strVal val="visible"/>
                                      </p:to>
                                    </p:set>
                                    <p:animEffect transition="in" filter="fade">
                                      <p:cBhvr>
                                        <p:cTn id="49" dur="1000"/>
                                        <p:tgtEl>
                                          <p:spTgt spid="60"/>
                                        </p:tgtEl>
                                      </p:cBhvr>
                                    </p:animEffect>
                                    <p:anim calcmode="lin" valueType="num">
                                      <p:cBhvr>
                                        <p:cTn id="50" dur="1000" fill="hold"/>
                                        <p:tgtEl>
                                          <p:spTgt spid="60"/>
                                        </p:tgtEl>
                                        <p:attrNameLst>
                                          <p:attrName>ppt_x</p:attrName>
                                        </p:attrNameLst>
                                      </p:cBhvr>
                                      <p:tavLst>
                                        <p:tav tm="0">
                                          <p:val>
                                            <p:strVal val="#ppt_x"/>
                                          </p:val>
                                        </p:tav>
                                        <p:tav tm="100000">
                                          <p:val>
                                            <p:strVal val="#ppt_x"/>
                                          </p:val>
                                        </p:tav>
                                      </p:tavLst>
                                    </p:anim>
                                    <p:anim calcmode="lin" valueType="num">
                                      <p:cBhvr>
                                        <p:cTn id="51" dur="1000" fill="hold"/>
                                        <p:tgtEl>
                                          <p:spTgt spid="60"/>
                                        </p:tgtEl>
                                        <p:attrNameLst>
                                          <p:attrName>ppt_y</p:attrName>
                                        </p:attrNameLst>
                                      </p:cBhvr>
                                      <p:tavLst>
                                        <p:tav tm="0">
                                          <p:val>
                                            <p:strVal val="#ppt_y+.1"/>
                                          </p:val>
                                        </p:tav>
                                        <p:tav tm="100000">
                                          <p:val>
                                            <p:strVal val="#ppt_y"/>
                                          </p:val>
                                        </p:tav>
                                      </p:tavLst>
                                    </p:anim>
                                  </p:childTnLst>
                                </p:cTn>
                              </p:par>
                            </p:childTnLst>
                          </p:cTn>
                        </p:par>
                        <p:par>
                          <p:cTn id="52" fill="hold">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45"/>
                                        </p:tgtEl>
                                        <p:attrNameLst>
                                          <p:attrName>style.visibility</p:attrName>
                                        </p:attrNameLst>
                                      </p:cBhvr>
                                      <p:to>
                                        <p:strVal val="visible"/>
                                      </p:to>
                                    </p:set>
                                    <p:animEffect transition="in" filter="wipe(left)">
                                      <p:cBhvr>
                                        <p:cTn id="55" dur="1500"/>
                                        <p:tgtEl>
                                          <p:spTgt spid="45"/>
                                        </p:tgtEl>
                                      </p:cBhvr>
                                    </p:animEffect>
                                  </p:childTnLst>
                                </p:cTn>
                              </p:par>
                            </p:childTnLst>
                          </p:cTn>
                        </p:par>
                      </p:childTnLst>
                    </p:cTn>
                  </p:par>
                  <p:par>
                    <p:cTn id="56" fill="hold">
                      <p:stCondLst>
                        <p:cond delay="indefinite"/>
                      </p:stCondLst>
                      <p:childTnLst>
                        <p:par>
                          <p:cTn id="57" fill="hold">
                            <p:stCondLst>
                              <p:cond delay="0"/>
                            </p:stCondLst>
                            <p:childTnLst>
                              <p:par>
                                <p:cTn id="58" presetID="47" presetClass="exit" presetSubtype="0" fill="hold" nodeType="clickEffect">
                                  <p:stCondLst>
                                    <p:cond delay="0"/>
                                  </p:stCondLst>
                                  <p:childTnLst>
                                    <p:animEffect transition="out" filter="fade">
                                      <p:cBhvr>
                                        <p:cTn id="59" dur="1000"/>
                                        <p:tgtEl>
                                          <p:spTgt spid="10"/>
                                        </p:tgtEl>
                                      </p:cBhvr>
                                    </p:animEffect>
                                    <p:anim calcmode="lin" valueType="num">
                                      <p:cBhvr>
                                        <p:cTn id="60" dur="1000"/>
                                        <p:tgtEl>
                                          <p:spTgt spid="10"/>
                                        </p:tgtEl>
                                        <p:attrNameLst>
                                          <p:attrName>ppt_x</p:attrName>
                                        </p:attrNameLst>
                                      </p:cBhvr>
                                      <p:tavLst>
                                        <p:tav tm="0">
                                          <p:val>
                                            <p:strVal val="ppt_x"/>
                                          </p:val>
                                        </p:tav>
                                        <p:tav tm="100000">
                                          <p:val>
                                            <p:strVal val="ppt_x"/>
                                          </p:val>
                                        </p:tav>
                                      </p:tavLst>
                                    </p:anim>
                                    <p:anim calcmode="lin" valueType="num">
                                      <p:cBhvr>
                                        <p:cTn id="61" dur="1000"/>
                                        <p:tgtEl>
                                          <p:spTgt spid="10"/>
                                        </p:tgtEl>
                                        <p:attrNameLst>
                                          <p:attrName>ppt_y</p:attrName>
                                        </p:attrNameLst>
                                      </p:cBhvr>
                                      <p:tavLst>
                                        <p:tav tm="0">
                                          <p:val>
                                            <p:strVal val="ppt_y"/>
                                          </p:val>
                                        </p:tav>
                                        <p:tav tm="100000">
                                          <p:val>
                                            <p:strVal val="ppt_y-.1"/>
                                          </p:val>
                                        </p:tav>
                                      </p:tavLst>
                                    </p:anim>
                                    <p:set>
                                      <p:cBhvr>
                                        <p:cTn id="62" dur="1" fill="hold">
                                          <p:stCondLst>
                                            <p:cond delay="999"/>
                                          </p:stCondLst>
                                        </p:cTn>
                                        <p:tgtEl>
                                          <p:spTgt spid="1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1000"/>
                                        <p:tgtEl>
                                          <p:spTgt spid="61"/>
                                        </p:tgtEl>
                                      </p:cBhvr>
                                    </p:animEffect>
                                    <p:anim calcmode="lin" valueType="num">
                                      <p:cBhvr>
                                        <p:cTn id="68" dur="1000" fill="hold"/>
                                        <p:tgtEl>
                                          <p:spTgt spid="61"/>
                                        </p:tgtEl>
                                        <p:attrNameLst>
                                          <p:attrName>ppt_x</p:attrName>
                                        </p:attrNameLst>
                                      </p:cBhvr>
                                      <p:tavLst>
                                        <p:tav tm="0">
                                          <p:val>
                                            <p:strVal val="#ppt_x"/>
                                          </p:val>
                                        </p:tav>
                                        <p:tav tm="100000">
                                          <p:val>
                                            <p:strVal val="#ppt_x"/>
                                          </p:val>
                                        </p:tav>
                                      </p:tavLst>
                                    </p:anim>
                                    <p:anim calcmode="lin" valueType="num">
                                      <p:cBhvr>
                                        <p:cTn id="69" dur="1000" fill="hold"/>
                                        <p:tgtEl>
                                          <p:spTgt spid="61"/>
                                        </p:tgtEl>
                                        <p:attrNameLst>
                                          <p:attrName>ppt_y</p:attrName>
                                        </p:attrNameLst>
                                      </p:cBhvr>
                                      <p:tavLst>
                                        <p:tav tm="0">
                                          <p:val>
                                            <p:strVal val="#ppt_y+.1"/>
                                          </p:val>
                                        </p:tav>
                                        <p:tav tm="100000">
                                          <p:val>
                                            <p:strVal val="#ppt_y"/>
                                          </p:val>
                                        </p:tav>
                                      </p:tavLst>
                                    </p:anim>
                                  </p:childTnLst>
                                </p:cTn>
                              </p:par>
                            </p:childTnLst>
                          </p:cTn>
                        </p:par>
                        <p:par>
                          <p:cTn id="70" fill="hold">
                            <p:stCondLst>
                              <p:cond delay="1000"/>
                            </p:stCondLst>
                            <p:childTnLst>
                              <p:par>
                                <p:cTn id="71" presetID="22" presetClass="entr" presetSubtype="8" fill="hold" grpId="0" nodeType="afterEffect">
                                  <p:stCondLst>
                                    <p:cond delay="0"/>
                                  </p:stCondLst>
                                  <p:childTnLst>
                                    <p:set>
                                      <p:cBhvr>
                                        <p:cTn id="72" dur="1" fill="hold">
                                          <p:stCondLst>
                                            <p:cond delay="0"/>
                                          </p:stCondLst>
                                        </p:cTn>
                                        <p:tgtEl>
                                          <p:spTgt spid="47"/>
                                        </p:tgtEl>
                                        <p:attrNameLst>
                                          <p:attrName>style.visibility</p:attrName>
                                        </p:attrNameLst>
                                      </p:cBhvr>
                                      <p:to>
                                        <p:strVal val="visible"/>
                                      </p:to>
                                    </p:set>
                                    <p:animEffect transition="in" filter="wipe(left)">
                                      <p:cBhvr>
                                        <p:cTn id="73" dur="1500"/>
                                        <p:tgtEl>
                                          <p:spTgt spid="47"/>
                                        </p:tgtEl>
                                      </p:cBhvr>
                                    </p:animEffect>
                                  </p:childTnLst>
                                </p:cTn>
                              </p:par>
                            </p:childTnLst>
                          </p:cTn>
                        </p:par>
                      </p:childTnLst>
                    </p:cTn>
                  </p:par>
                  <p:par>
                    <p:cTn id="74" fill="hold">
                      <p:stCondLst>
                        <p:cond delay="indefinite"/>
                      </p:stCondLst>
                      <p:childTnLst>
                        <p:par>
                          <p:cTn id="75" fill="hold">
                            <p:stCondLst>
                              <p:cond delay="0"/>
                            </p:stCondLst>
                            <p:childTnLst>
                              <p:par>
                                <p:cTn id="76" presetID="47" presetClass="exit" presetSubtype="0" fill="hold" nodeType="clickEffect">
                                  <p:stCondLst>
                                    <p:cond delay="0"/>
                                  </p:stCondLst>
                                  <p:childTnLst>
                                    <p:animEffect transition="out" filter="fade">
                                      <p:cBhvr>
                                        <p:cTn id="77" dur="1000"/>
                                        <p:tgtEl>
                                          <p:spTgt spid="11"/>
                                        </p:tgtEl>
                                      </p:cBhvr>
                                    </p:animEffect>
                                    <p:anim calcmode="lin" valueType="num">
                                      <p:cBhvr>
                                        <p:cTn id="78" dur="1000"/>
                                        <p:tgtEl>
                                          <p:spTgt spid="11"/>
                                        </p:tgtEl>
                                        <p:attrNameLst>
                                          <p:attrName>ppt_x</p:attrName>
                                        </p:attrNameLst>
                                      </p:cBhvr>
                                      <p:tavLst>
                                        <p:tav tm="0">
                                          <p:val>
                                            <p:strVal val="ppt_x"/>
                                          </p:val>
                                        </p:tav>
                                        <p:tav tm="100000">
                                          <p:val>
                                            <p:strVal val="ppt_x"/>
                                          </p:val>
                                        </p:tav>
                                      </p:tavLst>
                                    </p:anim>
                                    <p:anim calcmode="lin" valueType="num">
                                      <p:cBhvr>
                                        <p:cTn id="79" dur="1000"/>
                                        <p:tgtEl>
                                          <p:spTgt spid="11"/>
                                        </p:tgtEl>
                                        <p:attrNameLst>
                                          <p:attrName>ppt_y</p:attrName>
                                        </p:attrNameLst>
                                      </p:cBhvr>
                                      <p:tavLst>
                                        <p:tav tm="0">
                                          <p:val>
                                            <p:strVal val="ppt_y"/>
                                          </p:val>
                                        </p:tav>
                                        <p:tav tm="100000">
                                          <p:val>
                                            <p:strVal val="ppt_y-.1"/>
                                          </p:val>
                                        </p:tav>
                                      </p:tavLst>
                                    </p:anim>
                                    <p:set>
                                      <p:cBhvr>
                                        <p:cTn id="80" dur="1" fill="hold">
                                          <p:stCondLst>
                                            <p:cond delay="999"/>
                                          </p:stCondLst>
                                        </p:cTn>
                                        <p:tgtEl>
                                          <p:spTgt spid="11"/>
                                        </p:tgtEl>
                                        <p:attrNameLst>
                                          <p:attrName>style.visibility</p:attrName>
                                        </p:attrNameLst>
                                      </p:cBhvr>
                                      <p:to>
                                        <p:strVal val="hidden"/>
                                      </p:to>
                                    </p:set>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63"/>
                                        </p:tgtEl>
                                        <p:attrNameLst>
                                          <p:attrName>style.visibility</p:attrName>
                                        </p:attrNameLst>
                                      </p:cBhvr>
                                      <p:to>
                                        <p:strVal val="visible"/>
                                      </p:to>
                                    </p:set>
                                    <p:animEffect transition="in" filter="fade">
                                      <p:cBhvr>
                                        <p:cTn id="85" dur="1000"/>
                                        <p:tgtEl>
                                          <p:spTgt spid="63"/>
                                        </p:tgtEl>
                                      </p:cBhvr>
                                    </p:animEffect>
                                    <p:anim calcmode="lin" valueType="num">
                                      <p:cBhvr>
                                        <p:cTn id="86" dur="1000" fill="hold"/>
                                        <p:tgtEl>
                                          <p:spTgt spid="63"/>
                                        </p:tgtEl>
                                        <p:attrNameLst>
                                          <p:attrName>ppt_x</p:attrName>
                                        </p:attrNameLst>
                                      </p:cBhvr>
                                      <p:tavLst>
                                        <p:tav tm="0">
                                          <p:val>
                                            <p:strVal val="#ppt_x"/>
                                          </p:val>
                                        </p:tav>
                                        <p:tav tm="100000">
                                          <p:val>
                                            <p:strVal val="#ppt_x"/>
                                          </p:val>
                                        </p:tav>
                                      </p:tavLst>
                                    </p:anim>
                                    <p:anim calcmode="lin" valueType="num">
                                      <p:cBhvr>
                                        <p:cTn id="87" dur="1000" fill="hold"/>
                                        <p:tgtEl>
                                          <p:spTgt spid="63"/>
                                        </p:tgtEl>
                                        <p:attrNameLst>
                                          <p:attrName>ppt_y</p:attrName>
                                        </p:attrNameLst>
                                      </p:cBhvr>
                                      <p:tavLst>
                                        <p:tav tm="0">
                                          <p:val>
                                            <p:strVal val="#ppt_y+.1"/>
                                          </p:val>
                                        </p:tav>
                                        <p:tav tm="100000">
                                          <p:val>
                                            <p:strVal val="#ppt_y"/>
                                          </p:val>
                                        </p:tav>
                                      </p:tavLst>
                                    </p:anim>
                                  </p:childTnLst>
                                </p:cTn>
                              </p:par>
                            </p:childTnLst>
                          </p:cTn>
                        </p:par>
                        <p:par>
                          <p:cTn id="88" fill="hold">
                            <p:stCondLst>
                              <p:cond delay="1000"/>
                            </p:stCondLst>
                            <p:childTnLst>
                              <p:par>
                                <p:cTn id="89" presetID="22" presetClass="entr" presetSubtype="8" fill="hold" grpId="0" nodeType="afterEffect">
                                  <p:stCondLst>
                                    <p:cond delay="0"/>
                                  </p:stCondLst>
                                  <p:childTnLst>
                                    <p:set>
                                      <p:cBhvr>
                                        <p:cTn id="90" dur="1" fill="hold">
                                          <p:stCondLst>
                                            <p:cond delay="0"/>
                                          </p:stCondLst>
                                        </p:cTn>
                                        <p:tgtEl>
                                          <p:spTgt spid="50"/>
                                        </p:tgtEl>
                                        <p:attrNameLst>
                                          <p:attrName>style.visibility</p:attrName>
                                        </p:attrNameLst>
                                      </p:cBhvr>
                                      <p:to>
                                        <p:strVal val="visible"/>
                                      </p:to>
                                    </p:set>
                                    <p:animEffect transition="in" filter="wipe(left)">
                                      <p:cBhvr>
                                        <p:cTn id="91" dur="1500"/>
                                        <p:tgtEl>
                                          <p:spTgt spid="50"/>
                                        </p:tgtEl>
                                      </p:cBhvr>
                                    </p:animEffect>
                                  </p:childTnLst>
                                </p:cTn>
                              </p:par>
                            </p:childTnLst>
                          </p:cTn>
                        </p:par>
                      </p:childTnLst>
                    </p:cTn>
                  </p:par>
                  <p:par>
                    <p:cTn id="92" fill="hold">
                      <p:stCondLst>
                        <p:cond delay="indefinite"/>
                      </p:stCondLst>
                      <p:childTnLst>
                        <p:par>
                          <p:cTn id="93" fill="hold">
                            <p:stCondLst>
                              <p:cond delay="0"/>
                            </p:stCondLst>
                            <p:childTnLst>
                              <p:par>
                                <p:cTn id="94" presetID="47" presetClass="exit" presetSubtype="0" fill="hold" nodeType="clickEffect">
                                  <p:stCondLst>
                                    <p:cond delay="0"/>
                                  </p:stCondLst>
                                  <p:childTnLst>
                                    <p:animEffect transition="out" filter="fade">
                                      <p:cBhvr>
                                        <p:cTn id="95" dur="1000"/>
                                        <p:tgtEl>
                                          <p:spTgt spid="12"/>
                                        </p:tgtEl>
                                      </p:cBhvr>
                                    </p:animEffect>
                                    <p:anim calcmode="lin" valueType="num">
                                      <p:cBhvr>
                                        <p:cTn id="96" dur="1000"/>
                                        <p:tgtEl>
                                          <p:spTgt spid="12"/>
                                        </p:tgtEl>
                                        <p:attrNameLst>
                                          <p:attrName>ppt_x</p:attrName>
                                        </p:attrNameLst>
                                      </p:cBhvr>
                                      <p:tavLst>
                                        <p:tav tm="0">
                                          <p:val>
                                            <p:strVal val="ppt_x"/>
                                          </p:val>
                                        </p:tav>
                                        <p:tav tm="100000">
                                          <p:val>
                                            <p:strVal val="ppt_x"/>
                                          </p:val>
                                        </p:tav>
                                      </p:tavLst>
                                    </p:anim>
                                    <p:anim calcmode="lin" valueType="num">
                                      <p:cBhvr>
                                        <p:cTn id="97" dur="1000"/>
                                        <p:tgtEl>
                                          <p:spTgt spid="12"/>
                                        </p:tgtEl>
                                        <p:attrNameLst>
                                          <p:attrName>ppt_y</p:attrName>
                                        </p:attrNameLst>
                                      </p:cBhvr>
                                      <p:tavLst>
                                        <p:tav tm="0">
                                          <p:val>
                                            <p:strVal val="ppt_y"/>
                                          </p:val>
                                        </p:tav>
                                        <p:tav tm="100000">
                                          <p:val>
                                            <p:strVal val="ppt_y-.1"/>
                                          </p:val>
                                        </p:tav>
                                      </p:tavLst>
                                    </p:anim>
                                    <p:set>
                                      <p:cBhvr>
                                        <p:cTn id="98" dur="1" fill="hold">
                                          <p:stCondLst>
                                            <p:cond delay="999"/>
                                          </p:stCondLst>
                                        </p:cTn>
                                        <p:tgtEl>
                                          <p:spTgt spid="12"/>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64"/>
                                        </p:tgtEl>
                                        <p:attrNameLst>
                                          <p:attrName>style.visibility</p:attrName>
                                        </p:attrNameLst>
                                      </p:cBhvr>
                                      <p:to>
                                        <p:strVal val="visible"/>
                                      </p:to>
                                    </p:set>
                                    <p:animEffect transition="in" filter="fade">
                                      <p:cBhvr>
                                        <p:cTn id="103" dur="1000"/>
                                        <p:tgtEl>
                                          <p:spTgt spid="64"/>
                                        </p:tgtEl>
                                      </p:cBhvr>
                                    </p:animEffect>
                                    <p:anim calcmode="lin" valueType="num">
                                      <p:cBhvr>
                                        <p:cTn id="104" dur="1000" fill="hold"/>
                                        <p:tgtEl>
                                          <p:spTgt spid="64"/>
                                        </p:tgtEl>
                                        <p:attrNameLst>
                                          <p:attrName>ppt_x</p:attrName>
                                        </p:attrNameLst>
                                      </p:cBhvr>
                                      <p:tavLst>
                                        <p:tav tm="0">
                                          <p:val>
                                            <p:strVal val="#ppt_x"/>
                                          </p:val>
                                        </p:tav>
                                        <p:tav tm="100000">
                                          <p:val>
                                            <p:strVal val="#ppt_x"/>
                                          </p:val>
                                        </p:tav>
                                      </p:tavLst>
                                    </p:anim>
                                    <p:anim calcmode="lin" valueType="num">
                                      <p:cBhvr>
                                        <p:cTn id="105" dur="1000" fill="hold"/>
                                        <p:tgtEl>
                                          <p:spTgt spid="64"/>
                                        </p:tgtEl>
                                        <p:attrNameLst>
                                          <p:attrName>ppt_y</p:attrName>
                                        </p:attrNameLst>
                                      </p:cBhvr>
                                      <p:tavLst>
                                        <p:tav tm="0">
                                          <p:val>
                                            <p:strVal val="#ppt_y+.1"/>
                                          </p:val>
                                        </p:tav>
                                        <p:tav tm="100000">
                                          <p:val>
                                            <p:strVal val="#ppt_y"/>
                                          </p:val>
                                        </p:tav>
                                      </p:tavLst>
                                    </p:anim>
                                  </p:childTnLst>
                                </p:cTn>
                              </p:par>
                            </p:childTnLst>
                          </p:cTn>
                        </p:par>
                        <p:par>
                          <p:cTn id="106" fill="hold">
                            <p:stCondLst>
                              <p:cond delay="1000"/>
                            </p:stCondLst>
                            <p:childTnLst>
                              <p:par>
                                <p:cTn id="107" presetID="22" presetClass="entr" presetSubtype="8" fill="hold" grpId="0" nodeType="afterEffect">
                                  <p:stCondLst>
                                    <p:cond delay="0"/>
                                  </p:stCondLst>
                                  <p:childTnLst>
                                    <p:set>
                                      <p:cBhvr>
                                        <p:cTn id="108" dur="1" fill="hold">
                                          <p:stCondLst>
                                            <p:cond delay="0"/>
                                          </p:stCondLst>
                                        </p:cTn>
                                        <p:tgtEl>
                                          <p:spTgt spid="51"/>
                                        </p:tgtEl>
                                        <p:attrNameLst>
                                          <p:attrName>style.visibility</p:attrName>
                                        </p:attrNameLst>
                                      </p:cBhvr>
                                      <p:to>
                                        <p:strVal val="visible"/>
                                      </p:to>
                                    </p:set>
                                    <p:animEffect transition="in" filter="wipe(left)">
                                      <p:cBhvr>
                                        <p:cTn id="109" dur="1500"/>
                                        <p:tgtEl>
                                          <p:spTgt spid="51"/>
                                        </p:tgtEl>
                                      </p:cBhvr>
                                    </p:animEffect>
                                  </p:childTnLst>
                                </p:cTn>
                              </p:par>
                            </p:childTnLst>
                          </p:cTn>
                        </p:par>
                      </p:childTnLst>
                    </p:cTn>
                  </p:par>
                  <p:par>
                    <p:cTn id="110" fill="hold">
                      <p:stCondLst>
                        <p:cond delay="indefinite"/>
                      </p:stCondLst>
                      <p:childTnLst>
                        <p:par>
                          <p:cTn id="111" fill="hold">
                            <p:stCondLst>
                              <p:cond delay="0"/>
                            </p:stCondLst>
                            <p:childTnLst>
                              <p:par>
                                <p:cTn id="112" presetID="47" presetClass="exit" presetSubtype="0" fill="hold" grpId="0" nodeType="clickEffect">
                                  <p:stCondLst>
                                    <p:cond delay="0"/>
                                  </p:stCondLst>
                                  <p:childTnLst>
                                    <p:animEffect transition="out" filter="fade">
                                      <p:cBhvr>
                                        <p:cTn id="113" dur="1000"/>
                                        <p:tgtEl>
                                          <p:spTgt spid="18"/>
                                        </p:tgtEl>
                                      </p:cBhvr>
                                    </p:animEffect>
                                    <p:anim calcmode="lin" valueType="num">
                                      <p:cBhvr>
                                        <p:cTn id="114" dur="1000"/>
                                        <p:tgtEl>
                                          <p:spTgt spid="18"/>
                                        </p:tgtEl>
                                        <p:attrNameLst>
                                          <p:attrName>ppt_x</p:attrName>
                                        </p:attrNameLst>
                                      </p:cBhvr>
                                      <p:tavLst>
                                        <p:tav tm="0">
                                          <p:val>
                                            <p:strVal val="ppt_x"/>
                                          </p:val>
                                        </p:tav>
                                        <p:tav tm="100000">
                                          <p:val>
                                            <p:strVal val="ppt_x"/>
                                          </p:val>
                                        </p:tav>
                                      </p:tavLst>
                                    </p:anim>
                                    <p:anim calcmode="lin" valueType="num">
                                      <p:cBhvr>
                                        <p:cTn id="115" dur="1000"/>
                                        <p:tgtEl>
                                          <p:spTgt spid="18"/>
                                        </p:tgtEl>
                                        <p:attrNameLst>
                                          <p:attrName>ppt_y</p:attrName>
                                        </p:attrNameLst>
                                      </p:cBhvr>
                                      <p:tavLst>
                                        <p:tav tm="0">
                                          <p:val>
                                            <p:strVal val="ppt_y"/>
                                          </p:val>
                                        </p:tav>
                                        <p:tav tm="100000">
                                          <p:val>
                                            <p:strVal val="ppt_y-.1"/>
                                          </p:val>
                                        </p:tav>
                                      </p:tavLst>
                                    </p:anim>
                                    <p:set>
                                      <p:cBhvr>
                                        <p:cTn id="116" dur="1" fill="hold">
                                          <p:stCondLst>
                                            <p:cond delay="999"/>
                                          </p:stCondLst>
                                        </p:cTn>
                                        <p:tgtEl>
                                          <p:spTgt spid="18"/>
                                        </p:tgtEl>
                                        <p:attrNameLst>
                                          <p:attrName>style.visibility</p:attrName>
                                        </p:attrNameLst>
                                      </p:cBhvr>
                                      <p:to>
                                        <p:strVal val="hidden"/>
                                      </p:to>
                                    </p:set>
                                  </p:childTnLst>
                                </p:cTn>
                              </p:par>
                            </p:childTnLst>
                          </p:cTn>
                        </p:par>
                      </p:childTnLst>
                    </p:cTn>
                  </p:par>
                  <p:par>
                    <p:cTn id="117" fill="hold">
                      <p:stCondLst>
                        <p:cond delay="indefinite"/>
                      </p:stCondLst>
                      <p:childTnLst>
                        <p:par>
                          <p:cTn id="118" fill="hold">
                            <p:stCondLst>
                              <p:cond delay="0"/>
                            </p:stCondLst>
                            <p:childTnLst>
                              <p:par>
                                <p:cTn id="119" presetID="42" presetClass="entr" presetSubtype="0" fill="hold" grpId="0" nodeType="clickEffect">
                                  <p:stCondLst>
                                    <p:cond delay="0"/>
                                  </p:stCondLst>
                                  <p:childTnLst>
                                    <p:set>
                                      <p:cBhvr>
                                        <p:cTn id="120" dur="1" fill="hold">
                                          <p:stCondLst>
                                            <p:cond delay="0"/>
                                          </p:stCondLst>
                                        </p:cTn>
                                        <p:tgtEl>
                                          <p:spTgt spid="62"/>
                                        </p:tgtEl>
                                        <p:attrNameLst>
                                          <p:attrName>style.visibility</p:attrName>
                                        </p:attrNameLst>
                                      </p:cBhvr>
                                      <p:to>
                                        <p:strVal val="visible"/>
                                      </p:to>
                                    </p:set>
                                    <p:animEffect transition="in" filter="fade">
                                      <p:cBhvr>
                                        <p:cTn id="121" dur="1000"/>
                                        <p:tgtEl>
                                          <p:spTgt spid="62"/>
                                        </p:tgtEl>
                                      </p:cBhvr>
                                    </p:animEffect>
                                    <p:anim calcmode="lin" valueType="num">
                                      <p:cBhvr>
                                        <p:cTn id="122" dur="1000" fill="hold"/>
                                        <p:tgtEl>
                                          <p:spTgt spid="62"/>
                                        </p:tgtEl>
                                        <p:attrNameLst>
                                          <p:attrName>ppt_x</p:attrName>
                                        </p:attrNameLst>
                                      </p:cBhvr>
                                      <p:tavLst>
                                        <p:tav tm="0">
                                          <p:val>
                                            <p:strVal val="#ppt_x"/>
                                          </p:val>
                                        </p:tav>
                                        <p:tav tm="100000">
                                          <p:val>
                                            <p:strVal val="#ppt_x"/>
                                          </p:val>
                                        </p:tav>
                                      </p:tavLst>
                                    </p:anim>
                                    <p:anim calcmode="lin" valueType="num">
                                      <p:cBhvr>
                                        <p:cTn id="123" dur="1000" fill="hold"/>
                                        <p:tgtEl>
                                          <p:spTgt spid="62"/>
                                        </p:tgtEl>
                                        <p:attrNameLst>
                                          <p:attrName>ppt_y</p:attrName>
                                        </p:attrNameLst>
                                      </p:cBhvr>
                                      <p:tavLst>
                                        <p:tav tm="0">
                                          <p:val>
                                            <p:strVal val="#ppt_y+.1"/>
                                          </p:val>
                                        </p:tav>
                                        <p:tav tm="100000">
                                          <p:val>
                                            <p:strVal val="#ppt_y"/>
                                          </p:val>
                                        </p:tav>
                                      </p:tavLst>
                                    </p:anim>
                                  </p:childTnLst>
                                </p:cTn>
                              </p:par>
                            </p:childTnLst>
                          </p:cTn>
                        </p:par>
                        <p:par>
                          <p:cTn id="124" fill="hold">
                            <p:stCondLst>
                              <p:cond delay="1000"/>
                            </p:stCondLst>
                            <p:childTnLst>
                              <p:par>
                                <p:cTn id="125" presetID="22" presetClass="entr" presetSubtype="8" fill="hold" grpId="0" nodeType="afterEffect">
                                  <p:stCondLst>
                                    <p:cond delay="0"/>
                                  </p:stCondLst>
                                  <p:childTnLst>
                                    <p:set>
                                      <p:cBhvr>
                                        <p:cTn id="126" dur="1" fill="hold">
                                          <p:stCondLst>
                                            <p:cond delay="0"/>
                                          </p:stCondLst>
                                        </p:cTn>
                                        <p:tgtEl>
                                          <p:spTgt spid="53"/>
                                        </p:tgtEl>
                                        <p:attrNameLst>
                                          <p:attrName>style.visibility</p:attrName>
                                        </p:attrNameLst>
                                      </p:cBhvr>
                                      <p:to>
                                        <p:strVal val="visible"/>
                                      </p:to>
                                    </p:set>
                                    <p:animEffect transition="in" filter="wipe(left)">
                                      <p:cBhvr>
                                        <p:cTn id="127" dur="1500"/>
                                        <p:tgtEl>
                                          <p:spTgt spid="53"/>
                                        </p:tgtEl>
                                      </p:cBhvr>
                                    </p:animEffect>
                                  </p:childTnLst>
                                </p:cTn>
                              </p:par>
                            </p:childTnLst>
                          </p:cTn>
                        </p:par>
                      </p:childTnLst>
                    </p:cTn>
                  </p:par>
                  <p:par>
                    <p:cTn id="128" fill="hold">
                      <p:stCondLst>
                        <p:cond delay="indefinite"/>
                      </p:stCondLst>
                      <p:childTnLst>
                        <p:par>
                          <p:cTn id="129" fill="hold">
                            <p:stCondLst>
                              <p:cond delay="0"/>
                            </p:stCondLst>
                            <p:childTnLst>
                              <p:par>
                                <p:cTn id="130" presetID="47" presetClass="exit" presetSubtype="0" fill="hold" grpId="0" nodeType="clickEffect">
                                  <p:stCondLst>
                                    <p:cond delay="0"/>
                                  </p:stCondLst>
                                  <p:childTnLst>
                                    <p:animEffect transition="out" filter="fade">
                                      <p:cBhvr>
                                        <p:cTn id="131" dur="1000"/>
                                        <p:tgtEl>
                                          <p:spTgt spid="20"/>
                                        </p:tgtEl>
                                      </p:cBhvr>
                                    </p:animEffect>
                                    <p:anim calcmode="lin" valueType="num">
                                      <p:cBhvr>
                                        <p:cTn id="132" dur="1000"/>
                                        <p:tgtEl>
                                          <p:spTgt spid="20"/>
                                        </p:tgtEl>
                                        <p:attrNameLst>
                                          <p:attrName>ppt_x</p:attrName>
                                        </p:attrNameLst>
                                      </p:cBhvr>
                                      <p:tavLst>
                                        <p:tav tm="0">
                                          <p:val>
                                            <p:strVal val="ppt_x"/>
                                          </p:val>
                                        </p:tav>
                                        <p:tav tm="100000">
                                          <p:val>
                                            <p:strVal val="ppt_x"/>
                                          </p:val>
                                        </p:tav>
                                      </p:tavLst>
                                    </p:anim>
                                    <p:anim calcmode="lin" valueType="num">
                                      <p:cBhvr>
                                        <p:cTn id="133" dur="1000"/>
                                        <p:tgtEl>
                                          <p:spTgt spid="20"/>
                                        </p:tgtEl>
                                        <p:attrNameLst>
                                          <p:attrName>ppt_y</p:attrName>
                                        </p:attrNameLst>
                                      </p:cBhvr>
                                      <p:tavLst>
                                        <p:tav tm="0">
                                          <p:val>
                                            <p:strVal val="ppt_y"/>
                                          </p:val>
                                        </p:tav>
                                        <p:tav tm="100000">
                                          <p:val>
                                            <p:strVal val="ppt_y-.1"/>
                                          </p:val>
                                        </p:tav>
                                      </p:tavLst>
                                    </p:anim>
                                    <p:set>
                                      <p:cBhvr>
                                        <p:cTn id="134" dur="1" fill="hold">
                                          <p:stCondLst>
                                            <p:cond delay="999"/>
                                          </p:stCondLst>
                                        </p:cTn>
                                        <p:tgtEl>
                                          <p:spTgt spid="20"/>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42" presetClass="entr" presetSubtype="0" fill="hold" grpId="0" nodeType="clickEffect">
                                  <p:stCondLst>
                                    <p:cond delay="0"/>
                                  </p:stCondLst>
                                  <p:childTnLst>
                                    <p:set>
                                      <p:cBhvr>
                                        <p:cTn id="138" dur="1" fill="hold">
                                          <p:stCondLst>
                                            <p:cond delay="0"/>
                                          </p:stCondLst>
                                        </p:cTn>
                                        <p:tgtEl>
                                          <p:spTgt spid="65"/>
                                        </p:tgtEl>
                                        <p:attrNameLst>
                                          <p:attrName>style.visibility</p:attrName>
                                        </p:attrNameLst>
                                      </p:cBhvr>
                                      <p:to>
                                        <p:strVal val="visible"/>
                                      </p:to>
                                    </p:set>
                                    <p:animEffect transition="in" filter="fade">
                                      <p:cBhvr>
                                        <p:cTn id="139" dur="1000"/>
                                        <p:tgtEl>
                                          <p:spTgt spid="65"/>
                                        </p:tgtEl>
                                      </p:cBhvr>
                                    </p:animEffect>
                                    <p:anim calcmode="lin" valueType="num">
                                      <p:cBhvr>
                                        <p:cTn id="140" dur="1000" fill="hold"/>
                                        <p:tgtEl>
                                          <p:spTgt spid="65"/>
                                        </p:tgtEl>
                                        <p:attrNameLst>
                                          <p:attrName>ppt_x</p:attrName>
                                        </p:attrNameLst>
                                      </p:cBhvr>
                                      <p:tavLst>
                                        <p:tav tm="0">
                                          <p:val>
                                            <p:strVal val="#ppt_x"/>
                                          </p:val>
                                        </p:tav>
                                        <p:tav tm="100000">
                                          <p:val>
                                            <p:strVal val="#ppt_x"/>
                                          </p:val>
                                        </p:tav>
                                      </p:tavLst>
                                    </p:anim>
                                    <p:anim calcmode="lin" valueType="num">
                                      <p:cBhvr>
                                        <p:cTn id="141" dur="1000" fill="hold"/>
                                        <p:tgtEl>
                                          <p:spTgt spid="65"/>
                                        </p:tgtEl>
                                        <p:attrNameLst>
                                          <p:attrName>ppt_y</p:attrName>
                                        </p:attrNameLst>
                                      </p:cBhvr>
                                      <p:tavLst>
                                        <p:tav tm="0">
                                          <p:val>
                                            <p:strVal val="#ppt_y+.1"/>
                                          </p:val>
                                        </p:tav>
                                        <p:tav tm="100000">
                                          <p:val>
                                            <p:strVal val="#ppt_y"/>
                                          </p:val>
                                        </p:tav>
                                      </p:tavLst>
                                    </p:anim>
                                  </p:childTnLst>
                                </p:cTn>
                              </p:par>
                            </p:childTnLst>
                          </p:cTn>
                        </p:par>
                        <p:par>
                          <p:cTn id="142" fill="hold">
                            <p:stCondLst>
                              <p:cond delay="1000"/>
                            </p:stCondLst>
                            <p:childTnLst>
                              <p:par>
                                <p:cTn id="143" presetID="22" presetClass="entr" presetSubtype="8" fill="hold" grpId="0" nodeType="afterEffect">
                                  <p:stCondLst>
                                    <p:cond delay="0"/>
                                  </p:stCondLst>
                                  <p:childTnLst>
                                    <p:set>
                                      <p:cBhvr>
                                        <p:cTn id="144" dur="1" fill="hold">
                                          <p:stCondLst>
                                            <p:cond delay="0"/>
                                          </p:stCondLst>
                                        </p:cTn>
                                        <p:tgtEl>
                                          <p:spTgt spid="54"/>
                                        </p:tgtEl>
                                        <p:attrNameLst>
                                          <p:attrName>style.visibility</p:attrName>
                                        </p:attrNameLst>
                                      </p:cBhvr>
                                      <p:to>
                                        <p:strVal val="visible"/>
                                      </p:to>
                                    </p:set>
                                    <p:animEffect transition="in" filter="wipe(left)">
                                      <p:cBhvr>
                                        <p:cTn id="145" dur="1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58" grpId="0" animBg="1"/>
      <p:bldP spid="59" grpId="0" animBg="1"/>
      <p:bldP spid="60" grpId="0" animBg="1"/>
      <p:bldP spid="61" grpId="0" animBg="1"/>
      <p:bldP spid="62" grpId="0" animBg="1"/>
      <p:bldP spid="63" grpId="0" animBg="1"/>
      <p:bldP spid="64" grpId="0" animBg="1"/>
      <p:bldP spid="65" grpId="0" animBg="1"/>
      <p:bldP spid="66" grpId="0"/>
      <p:bldP spid="44" grpId="0"/>
      <p:bldP spid="45" grpId="0"/>
      <p:bldP spid="47" grpId="0"/>
      <p:bldP spid="50" grpId="0"/>
      <p:bldP spid="51" grpId="0"/>
      <p:bldP spid="53" grpId="0"/>
      <p:bldP spid="5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70C0"/>
                </a:solidFill>
              </a:rPr>
              <a:t>Why does </a:t>
            </a:r>
            <a:r>
              <a:rPr lang="en-US" sz="3200" b="1" dirty="0">
                <a:solidFill>
                  <a:srgbClr val="7030A0"/>
                </a:solidFill>
              </a:rPr>
              <a:t>Topological ordering exist ? </a:t>
            </a:r>
            <a:br>
              <a:rPr lang="en-US" sz="3200" b="1" dirty="0">
                <a:solidFill>
                  <a:srgbClr val="7030A0"/>
                </a:solidFill>
              </a:rPr>
            </a:br>
            <a:endParaRPr lang="en-US" sz="3200" dirty="0"/>
          </a:p>
        </p:txBody>
      </p:sp>
      <p:sp>
        <p:nvSpPr>
          <p:cNvPr id="3" name="Content Placeholder 2"/>
          <p:cNvSpPr>
            <a:spLocks noGrp="1"/>
          </p:cNvSpPr>
          <p:nvPr>
            <p:ph idx="1"/>
          </p:nvPr>
        </p:nvSpPr>
        <p:spPr>
          <a:xfrm>
            <a:off x="457200" y="1219200"/>
            <a:ext cx="8229600" cy="4525963"/>
          </a:xfrm>
        </p:spPr>
        <p:txBody>
          <a:bodyPr/>
          <a:lstStyle/>
          <a:p>
            <a:pPr marL="0" indent="0">
              <a:buNone/>
            </a:pPr>
            <a:r>
              <a:rPr lang="en-US" sz="2000" dirty="0"/>
              <a:t>Time complexity of the algorithm:  </a:t>
            </a:r>
            <a:r>
              <a:rPr lang="en-US" sz="2000" dirty="0">
                <a:solidFill>
                  <a:srgbClr val="C00000"/>
                </a:solidFill>
              </a:rPr>
              <a:t>?</a:t>
            </a:r>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20</a:t>
            </a:fld>
            <a:endParaRPr lang="en-US"/>
          </a:p>
        </p:txBody>
      </p:sp>
      <mc:AlternateContent xmlns:mc="http://schemas.openxmlformats.org/markup-compatibility/2006" xmlns:a14="http://schemas.microsoft.com/office/drawing/2010/main">
        <mc:Choice Requires="a14">
          <p:sp>
            <p:nvSpPr>
              <p:cNvPr id="5" name="Diamond 4"/>
              <p:cNvSpPr/>
              <p:nvPr/>
            </p:nvSpPr>
            <p:spPr>
              <a:xfrm>
                <a:off x="3276600" y="5410200"/>
                <a:ext cx="2667000" cy="838200"/>
              </a:xfrm>
              <a:prstGeom prst="diamond">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Is</a:t>
                </a:r>
                <a:r>
                  <a:rPr lang="en-US" sz="1600" b="1" dirty="0">
                    <a:solidFill>
                      <a:srgbClr val="0070C0"/>
                    </a:solidFill>
                  </a:rPr>
                  <a:t> </a:t>
                </a:r>
                <a14:m>
                  <m:oMath xmlns:m="http://schemas.openxmlformats.org/officeDocument/2006/math">
                    <m:r>
                      <a:rPr lang="en-US" sz="1600" b="1" i="1" dirty="0">
                        <a:solidFill>
                          <a:srgbClr val="0070C0"/>
                        </a:solidFill>
                        <a:latin typeface="Cambria Math"/>
                      </a:rPr>
                      <m:t>𝑮</m:t>
                    </m:r>
                  </m:oMath>
                </a14:m>
                <a:r>
                  <a:rPr lang="en-US" sz="1600" dirty="0">
                    <a:solidFill>
                      <a:schemeClr val="bg2"/>
                    </a:solidFill>
                  </a:rPr>
                  <a:t> </a:t>
                </a:r>
                <a:r>
                  <a:rPr lang="en-US" sz="1600" dirty="0">
                    <a:solidFill>
                      <a:schemeClr val="tx1"/>
                    </a:solidFill>
                  </a:rPr>
                  <a:t>empty ?</a:t>
                </a:r>
                <a:endParaRPr lang="en-US" sz="1600" dirty="0">
                  <a:solidFill>
                    <a:schemeClr val="bg2"/>
                  </a:solidFill>
                </a:endParaRPr>
              </a:p>
            </p:txBody>
          </p:sp>
        </mc:Choice>
        <mc:Fallback xmlns="">
          <p:sp>
            <p:nvSpPr>
              <p:cNvPr id="5" name="Diamond 4"/>
              <p:cNvSpPr>
                <a:spLocks noRot="1" noChangeAspect="1" noMove="1" noResize="1" noEditPoints="1" noAdjustHandles="1" noChangeArrowheads="1" noChangeShapeType="1" noTextEdit="1"/>
              </p:cNvSpPr>
              <p:nvPr/>
            </p:nvSpPr>
            <p:spPr>
              <a:xfrm>
                <a:off x="3276600" y="5410200"/>
                <a:ext cx="2667000" cy="838200"/>
              </a:xfrm>
              <a:prstGeom prst="diamond">
                <a:avLst/>
              </a:prstGeom>
              <a:blipFill rotWithShape="1">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3581400" y="1981200"/>
                <a:ext cx="2286000" cy="685800"/>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1" i="1" dirty="0">
                        <a:solidFill>
                          <a:srgbClr val="0070C0"/>
                        </a:solidFill>
                        <a:latin typeface="Cambria Math"/>
                      </a:rPr>
                      <m:t>𝒗</m:t>
                    </m:r>
                  </m:oMath>
                </a14:m>
                <a:r>
                  <a:rPr lang="en-US" dirty="0">
                    <a:solidFill>
                      <a:schemeClr val="tx1"/>
                    </a:solidFill>
                    <a:sym typeface="Wingdings" pitchFamily="2" charset="2"/>
                  </a:rPr>
                  <a:t></a:t>
                </a:r>
                <a:r>
                  <a:rPr lang="en-US" dirty="0">
                    <a:solidFill>
                      <a:schemeClr val="tx1"/>
                    </a:solidFill>
                  </a:rPr>
                  <a:t> a vertex with</a:t>
                </a:r>
              </a:p>
              <a:p>
                <a:pPr algn="ctr"/>
                <a:r>
                  <a:rPr lang="en-US" dirty="0">
                    <a:solidFill>
                      <a:schemeClr val="tx1"/>
                    </a:solidFill>
                  </a:rPr>
                  <a:t> </a:t>
                </a:r>
                <a:r>
                  <a:rPr lang="en-US" b="1" dirty="0">
                    <a:solidFill>
                      <a:srgbClr val="7030A0"/>
                    </a:solidFill>
                  </a:rPr>
                  <a:t>in-degree</a:t>
                </a:r>
                <a:r>
                  <a:rPr lang="en-US" dirty="0"/>
                  <a:t> </a:t>
                </a:r>
                <a:r>
                  <a:rPr lang="en-US" dirty="0">
                    <a:solidFill>
                      <a:schemeClr val="tx1"/>
                    </a:solidFill>
                  </a:rPr>
                  <a:t>=</a:t>
                </a:r>
                <a:r>
                  <a:rPr lang="en-US" dirty="0"/>
                  <a:t> </a:t>
                </a:r>
                <a:r>
                  <a:rPr lang="en-US" dirty="0">
                    <a:solidFill>
                      <a:srgbClr val="0070C0"/>
                    </a:solidFill>
                  </a:rPr>
                  <a:t>0</a:t>
                </a:r>
                <a:endParaRPr lang="en-US" dirty="0"/>
              </a:p>
            </p:txBody>
          </p:sp>
        </mc:Choice>
        <mc:Fallback xmlns="">
          <p:sp>
            <p:nvSpPr>
              <p:cNvPr id="6" name="Rounded Rectangle 5"/>
              <p:cNvSpPr>
                <a:spLocks noRot="1" noChangeAspect="1" noMove="1" noResize="1" noEditPoints="1" noAdjustHandles="1" noChangeArrowheads="1" noChangeShapeType="1" noTextEdit="1"/>
              </p:cNvSpPr>
              <p:nvPr/>
            </p:nvSpPr>
            <p:spPr>
              <a:xfrm>
                <a:off x="3581400" y="1981200"/>
                <a:ext cx="2286000" cy="685800"/>
              </a:xfrm>
              <a:prstGeom prst="roundRect">
                <a:avLst/>
              </a:prstGeom>
              <a:blipFill rotWithShape="1">
                <a:blip r:embed="rId3"/>
                <a:stretch>
                  <a:fillRect b="-8547"/>
                </a:stretch>
              </a:blipFill>
            </p:spPr>
            <p:txBody>
              <a:bodyPr/>
              <a:lstStyle/>
              <a:p>
                <a:r>
                  <a:rPr lang="en-US">
                    <a:noFill/>
                  </a:rPr>
                  <a:t> </a:t>
                </a:r>
              </a:p>
            </p:txBody>
          </p:sp>
        </mc:Fallback>
      </mc:AlternateContent>
      <p:sp>
        <p:nvSpPr>
          <p:cNvPr id="8" name="Curved Up Arrow 7"/>
          <p:cNvSpPr/>
          <p:nvPr/>
        </p:nvSpPr>
        <p:spPr>
          <a:xfrm rot="16200000">
            <a:off x="4495800" y="3429000"/>
            <a:ext cx="3886200" cy="1143000"/>
          </a:xfrm>
          <a:prstGeom prst="curvedUp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10" name="Rounded Rectangle 9"/>
              <p:cNvSpPr/>
              <p:nvPr/>
            </p:nvSpPr>
            <p:spPr>
              <a:xfrm>
                <a:off x="3581400" y="3124200"/>
                <a:ext cx="2286000" cy="685800"/>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14:m>
                  <m:oMath xmlns:m="http://schemas.openxmlformats.org/officeDocument/2006/math">
                    <m:r>
                      <a:rPr lang="en-US" b="1" i="1" dirty="0" smtClean="0">
                        <a:solidFill>
                          <a:srgbClr val="7030A0"/>
                        </a:solidFill>
                        <a:latin typeface="Cambria Math"/>
                      </a:rPr>
                      <m:t>𝝉</m:t>
                    </m:r>
                    <m:r>
                      <a:rPr lang="en-US" b="1" dirty="0">
                        <a:solidFill>
                          <a:schemeClr val="tx1"/>
                        </a:solidFill>
                        <a:latin typeface="Cambria Math"/>
                      </a:rPr>
                      <m:t>(</m:t>
                    </m:r>
                    <m:r>
                      <a:rPr lang="en-US" b="1" i="1" dirty="0">
                        <a:solidFill>
                          <a:srgbClr val="0070C0"/>
                        </a:solidFill>
                        <a:latin typeface="Cambria Math"/>
                      </a:rPr>
                      <m:t>𝒗</m:t>
                    </m:r>
                    <m:r>
                      <a:rPr lang="en-US" b="1" i="1" dirty="0">
                        <a:solidFill>
                          <a:schemeClr val="tx1"/>
                        </a:solidFill>
                        <a:latin typeface="Cambria Math"/>
                      </a:rPr>
                      <m:t>)</m:t>
                    </m:r>
                  </m:oMath>
                </a14:m>
                <a:r>
                  <a:rPr lang="en-US" dirty="0">
                    <a:solidFill>
                      <a:schemeClr val="tx1"/>
                    </a:solidFill>
                    <a:sym typeface="Wingdings" pitchFamily="2" charset="2"/>
                  </a:rPr>
                  <a:t> </a:t>
                </a:r>
                <a:r>
                  <a:rPr lang="en-US" b="1" dirty="0" err="1">
                    <a:solidFill>
                      <a:srgbClr val="002060"/>
                    </a:solidFill>
                  </a:rPr>
                  <a:t>num</a:t>
                </a:r>
                <a:r>
                  <a:rPr lang="en-US" dirty="0">
                    <a:solidFill>
                      <a:srgbClr val="002060"/>
                    </a:solidFill>
                  </a:rPr>
                  <a:t>;</a:t>
                </a:r>
                <a:endParaRPr lang="en-US" b="1" dirty="0">
                  <a:solidFill>
                    <a:srgbClr val="002060"/>
                  </a:solidFill>
                </a:endParaRPr>
              </a:p>
              <a:p>
                <a:pPr marL="0" indent="0" algn="ctr">
                  <a:buNone/>
                </a:pPr>
                <a:r>
                  <a:rPr lang="en-US" b="1" dirty="0" err="1">
                    <a:solidFill>
                      <a:srgbClr val="002060"/>
                    </a:solidFill>
                  </a:rPr>
                  <a:t>num</a:t>
                </a:r>
                <a:r>
                  <a:rPr lang="en-US" b="1" dirty="0">
                    <a:solidFill>
                      <a:srgbClr val="002060"/>
                    </a:solidFill>
                  </a:rPr>
                  <a:t> </a:t>
                </a:r>
                <a:r>
                  <a:rPr lang="en-US" dirty="0">
                    <a:solidFill>
                      <a:srgbClr val="002060"/>
                    </a:solidFill>
                    <a:sym typeface="Wingdings" pitchFamily="2" charset="2"/>
                  </a:rPr>
                  <a:t></a:t>
                </a:r>
                <a:r>
                  <a:rPr lang="en-US" b="1" dirty="0">
                    <a:solidFill>
                      <a:srgbClr val="002060"/>
                    </a:solidFill>
                    <a:sym typeface="Wingdings" pitchFamily="2" charset="2"/>
                  </a:rPr>
                  <a:t> </a:t>
                </a:r>
                <a:r>
                  <a:rPr lang="en-US" b="1" dirty="0" err="1">
                    <a:solidFill>
                      <a:srgbClr val="002060"/>
                    </a:solidFill>
                  </a:rPr>
                  <a:t>num</a:t>
                </a:r>
                <a:r>
                  <a:rPr lang="en-US" b="1" dirty="0">
                    <a:solidFill>
                      <a:srgbClr val="002060"/>
                    </a:solidFill>
                  </a:rPr>
                  <a:t> </a:t>
                </a:r>
                <a:r>
                  <a:rPr lang="en-US" dirty="0">
                    <a:solidFill>
                      <a:srgbClr val="002060"/>
                    </a:solidFill>
                  </a:rPr>
                  <a:t>+ 1;</a:t>
                </a:r>
                <a:endParaRPr lang="en-US" dirty="0"/>
              </a:p>
            </p:txBody>
          </p:sp>
        </mc:Choice>
        <mc:Fallback xmlns="">
          <p:sp>
            <p:nvSpPr>
              <p:cNvPr id="10" name="Rounded Rectangle 9"/>
              <p:cNvSpPr>
                <a:spLocks noRot="1" noChangeAspect="1" noMove="1" noResize="1" noEditPoints="1" noAdjustHandles="1" noChangeArrowheads="1" noChangeShapeType="1" noTextEdit="1"/>
              </p:cNvSpPr>
              <p:nvPr/>
            </p:nvSpPr>
            <p:spPr>
              <a:xfrm>
                <a:off x="3581400" y="3124200"/>
                <a:ext cx="2286000" cy="685800"/>
              </a:xfrm>
              <a:prstGeom prst="roundRect">
                <a:avLst/>
              </a:prstGeom>
              <a:blipFill rotWithShape="1">
                <a:blip r:embed="rId4"/>
                <a:stretch>
                  <a:fillRect t="-862" b="-8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ounded Rectangle 10"/>
              <p:cNvSpPr/>
              <p:nvPr/>
            </p:nvSpPr>
            <p:spPr>
              <a:xfrm>
                <a:off x="3581400" y="4267200"/>
                <a:ext cx="2286000" cy="685800"/>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b="1" dirty="0">
                    <a:solidFill>
                      <a:srgbClr val="7030A0"/>
                    </a:solidFill>
                  </a:rPr>
                  <a:t>Remove </a:t>
                </a:r>
                <a14:m>
                  <m:oMath xmlns:m="http://schemas.openxmlformats.org/officeDocument/2006/math">
                    <m:r>
                      <a:rPr lang="en-US" b="1" i="1" dirty="0">
                        <a:solidFill>
                          <a:srgbClr val="0070C0"/>
                        </a:solidFill>
                        <a:latin typeface="Cambria Math"/>
                      </a:rPr>
                      <m:t>𝒗</m:t>
                    </m:r>
                  </m:oMath>
                </a14:m>
                <a:r>
                  <a:rPr lang="en-US" b="1" dirty="0">
                    <a:solidFill>
                      <a:srgbClr val="002060"/>
                    </a:solidFill>
                  </a:rPr>
                  <a:t> </a:t>
                </a:r>
                <a:r>
                  <a:rPr lang="en-US" dirty="0">
                    <a:solidFill>
                      <a:srgbClr val="002060"/>
                    </a:solidFill>
                  </a:rPr>
                  <a:t>and all its outgoing edges;</a:t>
                </a:r>
                <a:endParaRPr lang="en-US" dirty="0"/>
              </a:p>
            </p:txBody>
          </p:sp>
        </mc:Choice>
        <mc:Fallback xmlns="">
          <p:sp>
            <p:nvSpPr>
              <p:cNvPr id="11" name="Rounded Rectangle 10"/>
              <p:cNvSpPr>
                <a:spLocks noRot="1" noChangeAspect="1" noMove="1" noResize="1" noEditPoints="1" noAdjustHandles="1" noChangeArrowheads="1" noChangeShapeType="1" noTextEdit="1"/>
              </p:cNvSpPr>
              <p:nvPr/>
            </p:nvSpPr>
            <p:spPr>
              <a:xfrm>
                <a:off x="3581400" y="4267200"/>
                <a:ext cx="2286000" cy="685800"/>
              </a:xfrm>
              <a:prstGeom prst="roundRect">
                <a:avLst/>
              </a:prstGeom>
              <a:blipFill rotWithShape="1">
                <a:blip r:embed="rId5"/>
                <a:stretch>
                  <a:fillRect b="-8547"/>
                </a:stretch>
              </a:blipFill>
            </p:spPr>
            <p:txBody>
              <a:bodyPr/>
              <a:lstStyle/>
              <a:p>
                <a:r>
                  <a:rPr lang="en-US">
                    <a:noFill/>
                  </a:rPr>
                  <a:t> </a:t>
                </a:r>
              </a:p>
            </p:txBody>
          </p:sp>
        </mc:Fallback>
      </mc:AlternateContent>
      <p:sp>
        <p:nvSpPr>
          <p:cNvPr id="13" name="Down Arrow 12"/>
          <p:cNvSpPr/>
          <p:nvPr/>
        </p:nvSpPr>
        <p:spPr>
          <a:xfrm>
            <a:off x="4191000" y="2667000"/>
            <a:ext cx="990600" cy="4572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4267200" y="3810000"/>
            <a:ext cx="990600" cy="4572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p:cNvSpPr/>
          <p:nvPr/>
        </p:nvSpPr>
        <p:spPr>
          <a:xfrm>
            <a:off x="4191000" y="4953000"/>
            <a:ext cx="990600" cy="4572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5943600" y="5257800"/>
            <a:ext cx="453970" cy="338554"/>
          </a:xfrm>
          <a:prstGeom prst="rect">
            <a:avLst/>
          </a:prstGeom>
          <a:noFill/>
        </p:spPr>
        <p:txBody>
          <a:bodyPr wrap="none" rtlCol="0">
            <a:spAutoFit/>
          </a:bodyPr>
          <a:lstStyle/>
          <a:p>
            <a:r>
              <a:rPr lang="en-US" sz="1600" dirty="0">
                <a:solidFill>
                  <a:srgbClr val="C00000"/>
                </a:solidFill>
              </a:rPr>
              <a:t>NO</a:t>
            </a:r>
          </a:p>
        </p:txBody>
      </p:sp>
      <p:sp>
        <p:nvSpPr>
          <p:cNvPr id="17" name="Down Arrow 16"/>
          <p:cNvSpPr/>
          <p:nvPr/>
        </p:nvSpPr>
        <p:spPr>
          <a:xfrm rot="5400000">
            <a:off x="2552700" y="5600700"/>
            <a:ext cx="990600" cy="4572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3053153" y="5300246"/>
            <a:ext cx="452047" cy="338554"/>
          </a:xfrm>
          <a:prstGeom prst="rect">
            <a:avLst/>
          </a:prstGeom>
          <a:noFill/>
        </p:spPr>
        <p:txBody>
          <a:bodyPr wrap="none" rtlCol="0">
            <a:spAutoFit/>
          </a:bodyPr>
          <a:lstStyle/>
          <a:p>
            <a:r>
              <a:rPr lang="en-US" sz="1600" dirty="0"/>
              <a:t>Yes</a:t>
            </a:r>
          </a:p>
        </p:txBody>
      </p:sp>
      <p:sp>
        <p:nvSpPr>
          <p:cNvPr id="19" name="Down Arrow 18"/>
          <p:cNvSpPr/>
          <p:nvPr/>
        </p:nvSpPr>
        <p:spPr>
          <a:xfrm rot="16200000">
            <a:off x="2857500" y="2095501"/>
            <a:ext cx="990600" cy="4572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p:cNvSpPr txBox="1"/>
              <p:nvPr/>
            </p:nvSpPr>
            <p:spPr>
              <a:xfrm>
                <a:off x="2133600" y="2020669"/>
                <a:ext cx="1077539" cy="646331"/>
              </a:xfrm>
              <a:prstGeom prst="rect">
                <a:avLst/>
              </a:prstGeom>
              <a:noFill/>
            </p:spPr>
            <p:txBody>
              <a:bodyPr wrap="none" rtlCol="0">
                <a:spAutoFit/>
              </a:bodyPr>
              <a:lstStyle/>
              <a:p>
                <a:r>
                  <a:rPr lang="en-US" dirty="0"/>
                  <a:t>Input</a:t>
                </a:r>
                <a:r>
                  <a:rPr lang="en-US" b="1" dirty="0">
                    <a:solidFill>
                      <a:srgbClr val="0070C0"/>
                    </a:solidFill>
                  </a:rPr>
                  <a:t> </a:t>
                </a:r>
                <a14:m>
                  <m:oMath xmlns:m="http://schemas.openxmlformats.org/officeDocument/2006/math">
                    <m:r>
                      <a:rPr lang="en-US" b="1" i="1" dirty="0">
                        <a:solidFill>
                          <a:srgbClr val="0070C0"/>
                        </a:solidFill>
                        <a:latin typeface="Cambria Math"/>
                      </a:rPr>
                      <m:t>𝑮</m:t>
                    </m:r>
                  </m:oMath>
                </a14:m>
                <a:r>
                  <a:rPr lang="en-US" dirty="0"/>
                  <a:t>;</a:t>
                </a:r>
              </a:p>
              <a:p>
                <a:r>
                  <a:rPr lang="en-US" b="1" dirty="0" err="1"/>
                  <a:t>num</a:t>
                </a:r>
                <a:r>
                  <a:rPr lang="en-US" dirty="0"/>
                  <a:t> </a:t>
                </a:r>
                <a:r>
                  <a:rPr lang="en-US" dirty="0">
                    <a:sym typeface="Wingdings" pitchFamily="2" charset="2"/>
                  </a:rPr>
                  <a:t></a:t>
                </a:r>
                <a:r>
                  <a:rPr lang="en-US" dirty="0">
                    <a:solidFill>
                      <a:srgbClr val="0070C0"/>
                    </a:solidFill>
                    <a:sym typeface="Wingdings" pitchFamily="2" charset="2"/>
                  </a:rPr>
                  <a:t>1</a:t>
                </a:r>
                <a:r>
                  <a:rPr lang="en-US" dirty="0">
                    <a:sym typeface="Wingdings" pitchFamily="2" charset="2"/>
                  </a:rPr>
                  <a:t>;</a:t>
                </a:r>
                <a:endParaRPr lang="en-US" dirty="0"/>
              </a:p>
            </p:txBody>
          </p:sp>
        </mc:Choice>
        <mc:Fallback xmlns="">
          <p:sp>
            <p:nvSpPr>
              <p:cNvPr id="20" name="TextBox 19"/>
              <p:cNvSpPr txBox="1">
                <a:spLocks noRot="1" noChangeAspect="1" noMove="1" noResize="1" noEditPoints="1" noAdjustHandles="1" noChangeArrowheads="1" noChangeShapeType="1" noTextEdit="1"/>
              </p:cNvSpPr>
              <p:nvPr/>
            </p:nvSpPr>
            <p:spPr>
              <a:xfrm>
                <a:off x="2133600" y="2020669"/>
                <a:ext cx="1077539" cy="646331"/>
              </a:xfrm>
              <a:prstGeom prst="rect">
                <a:avLst/>
              </a:prstGeom>
              <a:blipFill rotWithShape="1">
                <a:blip r:embed="rId7"/>
                <a:stretch>
                  <a:fillRect l="-4520" t="-4673" r="-8475" b="-130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1863138" y="5638800"/>
                <a:ext cx="1032462" cy="369332"/>
              </a:xfrm>
              <a:prstGeom prst="rect">
                <a:avLst/>
              </a:prstGeom>
              <a:noFill/>
            </p:spPr>
            <p:txBody>
              <a:bodyPr wrap="none" rtlCol="0">
                <a:spAutoFit/>
              </a:bodyPr>
              <a:lstStyle/>
              <a:p>
                <a:r>
                  <a:rPr lang="en-US" dirty="0"/>
                  <a:t>A valid </a:t>
                </a:r>
                <a14:m>
                  <m:oMath xmlns:m="http://schemas.openxmlformats.org/officeDocument/2006/math">
                    <m:r>
                      <a:rPr lang="en-US" b="1" i="1" dirty="0">
                        <a:solidFill>
                          <a:srgbClr val="7030A0"/>
                        </a:solidFill>
                        <a:latin typeface="Cambria Math"/>
                      </a:rPr>
                      <m:t>𝝉</m:t>
                    </m:r>
                  </m:oMath>
                </a14:m>
                <a:r>
                  <a:rPr lang="en-US" dirty="0"/>
                  <a:t> </a:t>
                </a:r>
              </a:p>
            </p:txBody>
          </p:sp>
        </mc:Choice>
        <mc:Fallback xmlns="">
          <p:sp>
            <p:nvSpPr>
              <p:cNvPr id="21" name="TextBox 20"/>
              <p:cNvSpPr txBox="1">
                <a:spLocks noRot="1" noChangeAspect="1" noMove="1" noResize="1" noEditPoints="1" noAdjustHandles="1" noChangeArrowheads="1" noChangeShapeType="1" noTextEdit="1"/>
              </p:cNvSpPr>
              <p:nvPr/>
            </p:nvSpPr>
            <p:spPr>
              <a:xfrm>
                <a:off x="1863138" y="5638800"/>
                <a:ext cx="1032462" cy="369332"/>
              </a:xfrm>
              <a:prstGeom prst="rect">
                <a:avLst/>
              </a:prstGeom>
              <a:blipFill rotWithShape="1">
                <a:blip r:embed="rId8"/>
                <a:stretch>
                  <a:fillRect l="-5325" t="-8197" r="-946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171336" y="1219200"/>
                <a:ext cx="962123" cy="369332"/>
              </a:xfrm>
              <a:prstGeom prst="rect">
                <a:avLst/>
              </a:prstGeom>
              <a:solidFill>
                <a:schemeClr val="bg2"/>
              </a:solidFill>
            </p:spPr>
            <p:txBody>
              <a:bodyPr wrap="none" rtlCol="0">
                <a:spAutoFit/>
              </a:bodyPr>
              <a:lstStyle/>
              <a:p>
                <a14:m>
                  <m:oMath xmlns:m="http://schemas.openxmlformats.org/officeDocument/2006/math">
                    <m:r>
                      <a:rPr lang="en-US" b="1" i="1" dirty="0" smtClean="0">
                        <a:latin typeface="Cambria Math"/>
                      </a:rPr>
                      <m:t>𝑶</m:t>
                    </m:r>
                    <m:r>
                      <a:rPr lang="en-US" b="1" i="1" dirty="0" smtClean="0">
                        <a:latin typeface="Cambria Math"/>
                      </a:rPr>
                      <m:t>(</m:t>
                    </m:r>
                    <m:r>
                      <a:rPr lang="en-US" b="1" i="1" dirty="0" smtClean="0">
                        <a:solidFill>
                          <a:srgbClr val="0070C0"/>
                        </a:solidFill>
                        <a:latin typeface="Cambria Math" panose="02040503050406030204" pitchFamily="18" charset="0"/>
                      </a:rPr>
                      <m:t>𝒎𝒏</m:t>
                    </m:r>
                    <m:r>
                      <a:rPr lang="en-US" b="1" i="1" dirty="0">
                        <a:latin typeface="Cambria Math"/>
                      </a:rPr>
                      <m:t>)</m:t>
                    </m:r>
                  </m:oMath>
                </a14:m>
                <a:r>
                  <a:rPr lang="en-US" b="1" dirty="0">
                    <a:solidFill>
                      <a:srgbClr val="C00000"/>
                    </a:solidFill>
                  </a:rPr>
                  <a:t> </a:t>
                </a:r>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4171336" y="1219200"/>
                <a:ext cx="962123" cy="369332"/>
              </a:xfrm>
              <a:prstGeom prst="rect">
                <a:avLst/>
              </a:prstGeom>
              <a:blipFill>
                <a:blip r:embed="rId9"/>
                <a:stretch>
                  <a:fillRect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Callout: Line 8">
                <a:extLst>
                  <a:ext uri="{FF2B5EF4-FFF2-40B4-BE49-F238E27FC236}">
                    <a16:creationId xmlns:a16="http://schemas.microsoft.com/office/drawing/2014/main" id="{A58562E6-8FCC-8804-6CEE-0CF57DE6B526}"/>
                  </a:ext>
                </a:extLst>
              </p:cNvPr>
              <p:cNvSpPr/>
              <p:nvPr/>
            </p:nvSpPr>
            <p:spPr>
              <a:xfrm>
                <a:off x="6438900" y="1209737"/>
                <a:ext cx="1638300" cy="649225"/>
              </a:xfrm>
              <a:prstGeom prst="borderCallout1">
                <a:avLst>
                  <a:gd name="adj1" fmla="val 49341"/>
                  <a:gd name="adj2" fmla="val 283"/>
                  <a:gd name="adj3" fmla="val 120705"/>
                  <a:gd name="adj4" fmla="val -43752"/>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1" i="1" dirty="0" smtClean="0">
                        <a:solidFill>
                          <a:schemeClr val="tx1"/>
                        </a:solidFill>
                        <a:latin typeface="Cambria Math"/>
                      </a:rPr>
                      <m:t>𝑶</m:t>
                    </m:r>
                    <m:r>
                      <a:rPr lang="en-US" b="1" i="1" dirty="0" smtClean="0">
                        <a:solidFill>
                          <a:schemeClr val="tx1"/>
                        </a:solidFill>
                        <a:latin typeface="Cambria Math"/>
                      </a:rPr>
                      <m:t>(</m:t>
                    </m:r>
                    <m:r>
                      <a:rPr lang="en-US" b="1" i="1" dirty="0" smtClean="0">
                        <a:solidFill>
                          <a:srgbClr val="0070C0"/>
                        </a:solidFill>
                        <a:latin typeface="Cambria Math" panose="02040503050406030204" pitchFamily="18" charset="0"/>
                      </a:rPr>
                      <m:t>𝒎</m:t>
                    </m:r>
                    <m:r>
                      <a:rPr lang="en-US" b="1" i="1" dirty="0" smtClean="0">
                        <a:solidFill>
                          <a:schemeClr val="tx1"/>
                        </a:solidFill>
                        <a:latin typeface="Cambria Math"/>
                      </a:rPr>
                      <m:t>)</m:t>
                    </m:r>
                  </m:oMath>
                </a14:m>
                <a:r>
                  <a:rPr lang="en-US" b="1" dirty="0">
                    <a:solidFill>
                      <a:srgbClr val="C00000"/>
                    </a:solidFill>
                  </a:rPr>
                  <a:t> </a:t>
                </a:r>
                <a:r>
                  <a:rPr lang="en-US" b="1" dirty="0">
                    <a:solidFill>
                      <a:schemeClr val="tx1"/>
                    </a:solidFill>
                  </a:rPr>
                  <a:t>time</a:t>
                </a:r>
                <a:r>
                  <a:rPr lang="en-US" b="1" dirty="0">
                    <a:solidFill>
                      <a:srgbClr val="C00000"/>
                    </a:solidFill>
                  </a:rPr>
                  <a:t> </a:t>
                </a:r>
                <a:endParaRPr lang="en-US" dirty="0"/>
              </a:p>
            </p:txBody>
          </p:sp>
        </mc:Choice>
        <mc:Fallback xmlns="">
          <p:sp>
            <p:nvSpPr>
              <p:cNvPr id="9" name="Callout: Line 8">
                <a:extLst>
                  <a:ext uri="{FF2B5EF4-FFF2-40B4-BE49-F238E27FC236}">
                    <a16:creationId xmlns:a16="http://schemas.microsoft.com/office/drawing/2014/main" id="{A58562E6-8FCC-8804-6CEE-0CF57DE6B526}"/>
                  </a:ext>
                </a:extLst>
              </p:cNvPr>
              <p:cNvSpPr>
                <a:spLocks noRot="1" noChangeAspect="1" noMove="1" noResize="1" noEditPoints="1" noAdjustHandles="1" noChangeArrowheads="1" noChangeShapeType="1" noTextEdit="1"/>
              </p:cNvSpPr>
              <p:nvPr/>
            </p:nvSpPr>
            <p:spPr>
              <a:xfrm>
                <a:off x="6438900" y="1209737"/>
                <a:ext cx="1638300" cy="649225"/>
              </a:xfrm>
              <a:prstGeom prst="borderCallout1">
                <a:avLst>
                  <a:gd name="adj1" fmla="val 49341"/>
                  <a:gd name="adj2" fmla="val 283"/>
                  <a:gd name="adj3" fmla="val 120705"/>
                  <a:gd name="adj4" fmla="val -43752"/>
                </a:avLst>
              </a:prstGeom>
              <a:blipFill>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638893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1000"/>
                                        <p:tgtEl>
                                          <p:spTgt spid="10"/>
                                        </p:tgtEl>
                                      </p:cBhvr>
                                    </p:animEffect>
                                    <p:anim calcmode="lin" valueType="num">
                                      <p:cBhvr>
                                        <p:cTn id="26" dur="1000" fill="hold"/>
                                        <p:tgtEl>
                                          <p:spTgt spid="10"/>
                                        </p:tgtEl>
                                        <p:attrNameLst>
                                          <p:attrName>ppt_x</p:attrName>
                                        </p:attrNameLst>
                                      </p:cBhvr>
                                      <p:tavLst>
                                        <p:tav tm="0">
                                          <p:val>
                                            <p:strVal val="#ppt_x"/>
                                          </p:val>
                                        </p:tav>
                                        <p:tav tm="100000">
                                          <p:val>
                                            <p:strVal val="#ppt_x"/>
                                          </p:val>
                                        </p:tav>
                                      </p:tavLst>
                                    </p:anim>
                                    <p:anim calcmode="lin" valueType="num">
                                      <p:cBhvr>
                                        <p:cTn id="2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up)">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1000"/>
                                        <p:tgtEl>
                                          <p:spTgt spid="11"/>
                                        </p:tgtEl>
                                      </p:cBhvr>
                                    </p:animEffect>
                                    <p:anim calcmode="lin" valueType="num">
                                      <p:cBhvr>
                                        <p:cTn id="38" dur="1000" fill="hold"/>
                                        <p:tgtEl>
                                          <p:spTgt spid="11"/>
                                        </p:tgtEl>
                                        <p:attrNameLst>
                                          <p:attrName>ppt_x</p:attrName>
                                        </p:attrNameLst>
                                      </p:cBhvr>
                                      <p:tavLst>
                                        <p:tav tm="0">
                                          <p:val>
                                            <p:strVal val="#ppt_x"/>
                                          </p:val>
                                        </p:tav>
                                        <p:tav tm="100000">
                                          <p:val>
                                            <p:strVal val="#ppt_x"/>
                                          </p:val>
                                        </p:tav>
                                      </p:tavLst>
                                    </p:anim>
                                    <p:anim calcmode="lin" valueType="num">
                                      <p:cBhvr>
                                        <p:cTn id="3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up)">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500"/>
                                        <p:tgtEl>
                                          <p:spTgt spid="5"/>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1000"/>
                                        <p:tgtEl>
                                          <p:spTgt spid="16"/>
                                        </p:tgtEl>
                                      </p:cBhvr>
                                    </p:animEffect>
                                    <p:anim calcmode="lin" valueType="num">
                                      <p:cBhvr>
                                        <p:cTn id="55" dur="1000" fill="hold"/>
                                        <p:tgtEl>
                                          <p:spTgt spid="16"/>
                                        </p:tgtEl>
                                        <p:attrNameLst>
                                          <p:attrName>ppt_x</p:attrName>
                                        </p:attrNameLst>
                                      </p:cBhvr>
                                      <p:tavLst>
                                        <p:tav tm="0">
                                          <p:val>
                                            <p:strVal val="#ppt_x"/>
                                          </p:val>
                                        </p:tav>
                                        <p:tav tm="100000">
                                          <p:val>
                                            <p:strVal val="#ppt_x"/>
                                          </p:val>
                                        </p:tav>
                                      </p:tavLst>
                                    </p:anim>
                                    <p:anim calcmode="lin" valueType="num">
                                      <p:cBhvr>
                                        <p:cTn id="5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down)">
                                      <p:cBhvr>
                                        <p:cTn id="61" dur="5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1000"/>
                                        <p:tgtEl>
                                          <p:spTgt spid="18"/>
                                        </p:tgtEl>
                                      </p:cBhvr>
                                    </p:animEffect>
                                    <p:anim calcmode="lin" valueType="num">
                                      <p:cBhvr>
                                        <p:cTn id="67" dur="1000" fill="hold"/>
                                        <p:tgtEl>
                                          <p:spTgt spid="18"/>
                                        </p:tgtEl>
                                        <p:attrNameLst>
                                          <p:attrName>ppt_x</p:attrName>
                                        </p:attrNameLst>
                                      </p:cBhvr>
                                      <p:tavLst>
                                        <p:tav tm="0">
                                          <p:val>
                                            <p:strVal val="#ppt_x"/>
                                          </p:val>
                                        </p:tav>
                                        <p:tav tm="100000">
                                          <p:val>
                                            <p:strVal val="#ppt_x"/>
                                          </p:val>
                                        </p:tav>
                                      </p:tavLst>
                                    </p:anim>
                                    <p:anim calcmode="lin" valueType="num">
                                      <p:cBhvr>
                                        <p:cTn id="6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2" fill="hold" grpId="0" nodeType="click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wipe(right)">
                                      <p:cBhvr>
                                        <p:cTn id="73" dur="500"/>
                                        <p:tgtEl>
                                          <p:spTgt spid="17"/>
                                        </p:tgtEl>
                                      </p:cBhvr>
                                    </p:animEffect>
                                  </p:childTnLst>
                                </p:cTn>
                              </p:par>
                              <p:par>
                                <p:cTn id="74" presetID="22" presetClass="entr" presetSubtype="2"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wipe(right)">
                                      <p:cBhvr>
                                        <p:cTn id="76" dur="500"/>
                                        <p:tgtEl>
                                          <p:spTgt spid="21"/>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3">
                                            <p:txEl>
                                              <p:pRg st="0" end="0"/>
                                            </p:txEl>
                                          </p:spTgt>
                                        </p:tgtEl>
                                        <p:attrNameLst>
                                          <p:attrName>style.visibility</p:attrName>
                                        </p:attrNameLst>
                                      </p:cBhvr>
                                      <p:to>
                                        <p:strVal val="visible"/>
                                      </p:to>
                                    </p:set>
                                    <p:animEffect transition="in" filter="fade">
                                      <p:cBhvr>
                                        <p:cTn id="81" dur="500"/>
                                        <p:tgtEl>
                                          <p:spTgt spid="3">
                                            <p:txEl>
                                              <p:pRg st="0" end="0"/>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9"/>
                                        </p:tgtEl>
                                        <p:attrNameLst>
                                          <p:attrName>style.visibility</p:attrName>
                                        </p:attrNameLst>
                                      </p:cBhvr>
                                      <p:to>
                                        <p:strVal val="visible"/>
                                      </p:to>
                                    </p:set>
                                    <p:animEffect transition="in" filter="wipe(left)">
                                      <p:cBhvr>
                                        <p:cTn id="86" dur="500"/>
                                        <p:tgtEl>
                                          <p:spTgt spid="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fade">
                                      <p:cBhvr>
                                        <p:cTn id="9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8" grpId="0" animBg="1"/>
      <p:bldP spid="10" grpId="0" animBg="1"/>
      <p:bldP spid="11" grpId="0" animBg="1"/>
      <p:bldP spid="13" grpId="0" animBg="1"/>
      <p:bldP spid="14" grpId="0" animBg="1"/>
      <p:bldP spid="15" grpId="0" animBg="1"/>
      <p:bldP spid="16" grpId="0"/>
      <p:bldP spid="17" grpId="0" animBg="1"/>
      <p:bldP spid="18" grpId="0"/>
      <p:bldP spid="19" grpId="0" animBg="1"/>
      <p:bldP spid="20" grpId="0"/>
      <p:bldP spid="21" grpId="0"/>
      <p:bldP spid="7" grpId="0" animBg="1"/>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22313" y="1828800"/>
            <a:ext cx="7772400" cy="1362075"/>
          </a:xfrm>
        </p:spPr>
        <p:txBody>
          <a:bodyPr/>
          <a:lstStyle/>
          <a:p>
            <a:pPr algn="ctr"/>
            <a:r>
              <a:rPr lang="en-US" sz="3600" dirty="0"/>
              <a:t>How </a:t>
            </a:r>
            <a:r>
              <a:rPr lang="en-US" sz="3600" dirty="0">
                <a:solidFill>
                  <a:srgbClr val="0070C0"/>
                </a:solidFill>
              </a:rPr>
              <a:t>efficiently</a:t>
            </a:r>
            <a:r>
              <a:rPr lang="en-US" sz="3600" dirty="0"/>
              <a:t> can we compute </a:t>
            </a:r>
            <a:br>
              <a:rPr lang="en-US" sz="3600" dirty="0">
                <a:solidFill>
                  <a:srgbClr val="7030A0"/>
                </a:solidFill>
              </a:rPr>
            </a:br>
            <a:r>
              <a:rPr lang="en-US" sz="3600" dirty="0">
                <a:solidFill>
                  <a:srgbClr val="7030A0"/>
                </a:solidFill>
              </a:rPr>
              <a:t>Topological ordering ? </a:t>
            </a:r>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21</a:t>
            </a:fld>
            <a:endParaRPr lang="en-US"/>
          </a:p>
        </p:txBody>
      </p:sp>
      <p:sp>
        <p:nvSpPr>
          <p:cNvPr id="2" name="Text Placeholder 1">
            <a:extLst>
              <a:ext uri="{FF2B5EF4-FFF2-40B4-BE49-F238E27FC236}">
                <a16:creationId xmlns:a16="http://schemas.microsoft.com/office/drawing/2014/main" id="{88E4C74A-E4F4-117C-ADB0-3F8081463B38}"/>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3116800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t>Important </a:t>
            </a:r>
            <a:r>
              <a:rPr lang="en-US" sz="2800" b="1" dirty="0">
                <a:solidFill>
                  <a:srgbClr val="C00000"/>
                </a:solidFill>
              </a:rPr>
              <a:t>Questions</a:t>
            </a:r>
            <a:br>
              <a:rPr lang="en-US" sz="3200" b="1" dirty="0">
                <a:solidFill>
                  <a:srgbClr val="C00000"/>
                </a:solidFill>
              </a:rPr>
            </a:br>
            <a:endParaRPr lang="en-US" sz="3200" b="1" dirty="0">
              <a:solidFill>
                <a:srgbClr val="C00000"/>
              </a:solidFill>
            </a:endParaRPr>
          </a:p>
        </p:txBody>
      </p:sp>
      <p:sp>
        <p:nvSpPr>
          <p:cNvPr id="3" name="Content Placeholder 2"/>
          <p:cNvSpPr>
            <a:spLocks noGrp="1"/>
          </p:cNvSpPr>
          <p:nvPr>
            <p:ph idx="1"/>
          </p:nvPr>
        </p:nvSpPr>
        <p:spPr>
          <a:xfrm>
            <a:off x="457200" y="1143000"/>
            <a:ext cx="8686800" cy="5334000"/>
          </a:xfrm>
        </p:spPr>
        <p:txBody>
          <a:bodyPr/>
          <a:lstStyle/>
          <a:p>
            <a:pPr marL="0" indent="0">
              <a:buNone/>
            </a:pPr>
            <a:r>
              <a:rPr lang="en-US" sz="2000" b="1" dirty="0">
                <a:solidFill>
                  <a:srgbClr val="7030A0"/>
                </a:solidFill>
              </a:rPr>
              <a:t>Aim: </a:t>
            </a:r>
            <a:endParaRPr lang="en-US" sz="2000" dirty="0">
              <a:solidFill>
                <a:srgbClr val="7030A0"/>
              </a:solidFill>
            </a:endParaRPr>
          </a:p>
          <a:p>
            <a:pPr marL="0" indent="0">
              <a:buNone/>
            </a:pPr>
            <a:r>
              <a:rPr lang="en-US" sz="2000" dirty="0"/>
              <a:t>To design a </a:t>
            </a:r>
            <a:r>
              <a:rPr lang="en-US" sz="2000" u="sng" dirty="0"/>
              <a:t>more efficient implementation</a:t>
            </a:r>
            <a:r>
              <a:rPr lang="en-US" sz="2000" dirty="0"/>
              <a:t> of the algorithm.</a:t>
            </a:r>
          </a:p>
          <a:p>
            <a:pPr marL="0" indent="0">
              <a:buNone/>
            </a:pPr>
            <a:endParaRPr lang="en-US" sz="2000" dirty="0"/>
          </a:p>
          <a:p>
            <a:pPr marL="0" indent="0">
              <a:buNone/>
            </a:pPr>
            <a:endParaRPr lang="en-US" sz="2000" dirty="0"/>
          </a:p>
          <a:p>
            <a:pPr marL="0" indent="0">
              <a:buNone/>
            </a:pPr>
            <a:r>
              <a:rPr lang="en-US" sz="2000" b="1" dirty="0">
                <a:solidFill>
                  <a:srgbClr val="C00000"/>
                </a:solidFill>
              </a:rPr>
              <a:t>Question</a:t>
            </a:r>
            <a:r>
              <a:rPr lang="en-US" sz="2000" dirty="0"/>
              <a:t>: </a:t>
            </a:r>
          </a:p>
          <a:p>
            <a:pPr marL="0" indent="0">
              <a:buNone/>
            </a:pPr>
            <a:r>
              <a:rPr lang="en-US" sz="2000" dirty="0"/>
              <a:t>What is the most time consuming step of the </a:t>
            </a:r>
            <a:r>
              <a:rPr lang="en-US" sz="2000" b="1" dirty="0">
                <a:solidFill>
                  <a:srgbClr val="0070C0"/>
                </a:solidFill>
              </a:rPr>
              <a:t>algorithm</a:t>
            </a:r>
            <a:r>
              <a:rPr lang="en-US" sz="2000" dirty="0"/>
              <a:t> ?</a:t>
            </a:r>
          </a:p>
          <a:p>
            <a:pPr marL="0" indent="0">
              <a:buNone/>
            </a:pPr>
            <a:r>
              <a:rPr lang="en-US" sz="2000" b="1" dirty="0"/>
              <a:t>Answer</a:t>
            </a:r>
            <a:r>
              <a:rPr lang="en-US" sz="2000" dirty="0"/>
              <a:t>:  Searching a vertex of </a:t>
            </a:r>
            <a:r>
              <a:rPr lang="en-US" sz="2000" b="1" dirty="0">
                <a:solidFill>
                  <a:srgbClr val="7030A0"/>
                </a:solidFill>
              </a:rPr>
              <a:t>in-degree</a:t>
            </a:r>
            <a:r>
              <a:rPr lang="en-US" sz="2000" dirty="0"/>
              <a:t> = </a:t>
            </a:r>
            <a:r>
              <a:rPr lang="en-US" sz="2000" dirty="0">
                <a:solidFill>
                  <a:srgbClr val="0070C0"/>
                </a:solidFill>
              </a:rPr>
              <a:t>0 </a:t>
            </a:r>
            <a:r>
              <a:rPr lang="en-US" sz="2000" dirty="0"/>
              <a:t>?</a:t>
            </a:r>
          </a:p>
          <a:p>
            <a:pPr marL="0" indent="0">
              <a:buNone/>
            </a:pPr>
            <a:endParaRPr lang="en-US" sz="2000" dirty="0"/>
          </a:p>
          <a:p>
            <a:pPr marL="0" indent="0">
              <a:buNone/>
            </a:pPr>
            <a:r>
              <a:rPr lang="en-US" sz="2000" b="1" dirty="0">
                <a:solidFill>
                  <a:srgbClr val="C00000"/>
                </a:solidFill>
              </a:rPr>
              <a:t>Question</a:t>
            </a:r>
            <a:r>
              <a:rPr lang="en-US" sz="2000" dirty="0"/>
              <a:t>: </a:t>
            </a:r>
          </a:p>
          <a:p>
            <a:pPr marL="0" indent="0">
              <a:buNone/>
            </a:pPr>
            <a:r>
              <a:rPr lang="en-US" sz="2000" dirty="0"/>
              <a:t>Do we need to compute from scratch the next vertex of in-degree 0 every time ?</a:t>
            </a:r>
          </a:p>
          <a:p>
            <a:pPr marL="0" indent="0">
              <a:buNone/>
            </a:pPr>
            <a:r>
              <a:rPr lang="en-US" sz="2000" b="1" dirty="0"/>
              <a:t>Answer</a:t>
            </a:r>
            <a:r>
              <a:rPr lang="en-US" sz="2000" dirty="0"/>
              <a:t>: Perhaps not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22</a:t>
            </a:fld>
            <a:endParaRPr lang="en-US"/>
          </a:p>
        </p:txBody>
      </p:sp>
      <p:sp>
        <p:nvSpPr>
          <p:cNvPr id="5" name="Rectangle 4">
            <a:extLst>
              <a:ext uri="{FF2B5EF4-FFF2-40B4-BE49-F238E27FC236}">
                <a16:creationId xmlns:a16="http://schemas.microsoft.com/office/drawing/2014/main" id="{E9241B93-CF8B-7CB1-0F66-BCD9B8C58453}"/>
              </a:ext>
            </a:extLst>
          </p:cNvPr>
          <p:cNvSpPr/>
          <p:nvPr/>
        </p:nvSpPr>
        <p:spPr>
          <a:xfrm>
            <a:off x="1371600" y="2971800"/>
            <a:ext cx="32004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A9DCE83-5CD8-A7E5-4CA8-40C79389F9AB}"/>
              </a:ext>
            </a:extLst>
          </p:cNvPr>
          <p:cNvSpPr/>
          <p:nvPr/>
        </p:nvSpPr>
        <p:spPr>
          <a:xfrm>
            <a:off x="4572000" y="2971800"/>
            <a:ext cx="32004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910D242-52C8-5AA5-E18F-715E95312C39}"/>
              </a:ext>
            </a:extLst>
          </p:cNvPr>
          <p:cNvSpPr/>
          <p:nvPr/>
        </p:nvSpPr>
        <p:spPr>
          <a:xfrm>
            <a:off x="1524000" y="3347621"/>
            <a:ext cx="42672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A045F4F-C967-2832-5A3C-1C4F2999F45E}"/>
              </a:ext>
            </a:extLst>
          </p:cNvPr>
          <p:cNvSpPr/>
          <p:nvPr/>
        </p:nvSpPr>
        <p:spPr>
          <a:xfrm>
            <a:off x="4419600" y="4419600"/>
            <a:ext cx="46482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8B5B4E7-DD84-62CB-DC35-16B3F29F574E}"/>
              </a:ext>
            </a:extLst>
          </p:cNvPr>
          <p:cNvSpPr/>
          <p:nvPr/>
        </p:nvSpPr>
        <p:spPr>
          <a:xfrm>
            <a:off x="1447800" y="4800600"/>
            <a:ext cx="46482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hought Bubble: Cloud 9">
            <a:extLst>
              <a:ext uri="{FF2B5EF4-FFF2-40B4-BE49-F238E27FC236}">
                <a16:creationId xmlns:a16="http://schemas.microsoft.com/office/drawing/2014/main" id="{C08CAB0E-C259-CA02-83F2-A9D7682F1C37}"/>
              </a:ext>
            </a:extLst>
          </p:cNvPr>
          <p:cNvSpPr/>
          <p:nvPr/>
        </p:nvSpPr>
        <p:spPr>
          <a:xfrm>
            <a:off x="609600" y="5334000"/>
            <a:ext cx="8915400" cy="1067896"/>
          </a:xfrm>
          <a:prstGeom prst="cloudCallout">
            <a:avLst>
              <a:gd name="adj1" fmla="val 30786"/>
              <a:gd name="adj2" fmla="val 76425"/>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Let us explore closely the algorithm to see </a:t>
            </a:r>
          </a:p>
          <a:p>
            <a:pPr algn="ctr"/>
            <a:r>
              <a:rPr lang="en-US" dirty="0">
                <a:solidFill>
                  <a:schemeClr val="tx1"/>
                </a:solidFill>
              </a:rPr>
              <a:t>“how and when the vertices with in-degree=0 get created” ?</a:t>
            </a:r>
            <a:endParaRPr lang="en-IN" dirty="0">
              <a:solidFill>
                <a:schemeClr val="tx1"/>
              </a:solidFill>
            </a:endParaRPr>
          </a:p>
        </p:txBody>
      </p:sp>
    </p:spTree>
    <p:extLst>
      <p:ext uri="{BB962C8B-B14F-4D97-AF65-F5344CB8AC3E}">
        <p14:creationId xmlns:p14="http://schemas.microsoft.com/office/powerpoint/2010/main" val="600533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1000"/>
                                        <p:tgtEl>
                                          <p:spTgt spid="5"/>
                                        </p:tgtEl>
                                      </p:cBhvr>
                                    </p:animEffect>
                                    <p:set>
                                      <p:cBhvr>
                                        <p:cTn id="27" dur="1" fill="hold">
                                          <p:stCondLst>
                                            <p:cond delay="999"/>
                                          </p:stCondLst>
                                        </p:cTn>
                                        <p:tgtEl>
                                          <p:spTgt spid="5"/>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1000"/>
                                        <p:tgtEl>
                                          <p:spTgt spid="6"/>
                                        </p:tgtEl>
                                      </p:cBhvr>
                                    </p:animEffect>
                                    <p:set>
                                      <p:cBhvr>
                                        <p:cTn id="32" dur="1" fill="hold">
                                          <p:stCondLst>
                                            <p:cond delay="999"/>
                                          </p:stCondLst>
                                        </p:cTn>
                                        <p:tgtEl>
                                          <p:spTgt spid="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1000"/>
                                        <p:tgtEl>
                                          <p:spTgt spid="7"/>
                                        </p:tgtEl>
                                      </p:cBhvr>
                                    </p:animEffect>
                                    <p:set>
                                      <p:cBhvr>
                                        <p:cTn id="42" dur="1" fill="hold">
                                          <p:stCondLst>
                                            <p:cond delay="999"/>
                                          </p:stCondLst>
                                        </p:cTn>
                                        <p:tgtEl>
                                          <p:spTgt spid="7"/>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xit" presetSubtype="8" fill="hold" grpId="0" nodeType="clickEffect">
                                  <p:stCondLst>
                                    <p:cond delay="0"/>
                                  </p:stCondLst>
                                  <p:childTnLst>
                                    <p:animEffect transition="out" filter="wipe(left)">
                                      <p:cBhvr>
                                        <p:cTn id="56" dur="1000"/>
                                        <p:tgtEl>
                                          <p:spTgt spid="8"/>
                                        </p:tgtEl>
                                      </p:cBhvr>
                                    </p:animEffect>
                                    <p:set>
                                      <p:cBhvr>
                                        <p:cTn id="57" dur="1" fill="hold">
                                          <p:stCondLst>
                                            <p:cond delay="999"/>
                                          </p:stCondLst>
                                        </p:cTn>
                                        <p:tgtEl>
                                          <p:spTgt spid="8"/>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xit" presetSubtype="8" fill="hold" grpId="0" nodeType="clickEffect">
                                  <p:stCondLst>
                                    <p:cond delay="0"/>
                                  </p:stCondLst>
                                  <p:childTnLst>
                                    <p:animEffect transition="out" filter="wipe(left)">
                                      <p:cBhvr>
                                        <p:cTn id="66" dur="1000"/>
                                        <p:tgtEl>
                                          <p:spTgt spid="9"/>
                                        </p:tgtEl>
                                      </p:cBhvr>
                                    </p:animEffect>
                                    <p:set>
                                      <p:cBhvr>
                                        <p:cTn id="67" dur="1" fill="hold">
                                          <p:stCondLst>
                                            <p:cond delay="999"/>
                                          </p:stCondLst>
                                        </p:cTn>
                                        <p:tgtEl>
                                          <p:spTgt spid="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fade">
                                      <p:cBhvr>
                                        <p:cTn id="72" dur="1000"/>
                                        <p:tgtEl>
                                          <p:spTgt spid="10"/>
                                        </p:tgtEl>
                                      </p:cBhvr>
                                    </p:animEffect>
                                    <p:anim calcmode="lin" valueType="num">
                                      <p:cBhvr>
                                        <p:cTn id="73" dur="1000" fill="hold"/>
                                        <p:tgtEl>
                                          <p:spTgt spid="10"/>
                                        </p:tgtEl>
                                        <p:attrNameLst>
                                          <p:attrName>ppt_x</p:attrName>
                                        </p:attrNameLst>
                                      </p:cBhvr>
                                      <p:tavLst>
                                        <p:tav tm="0">
                                          <p:val>
                                            <p:strVal val="#ppt_x"/>
                                          </p:val>
                                        </p:tav>
                                        <p:tav tm="100000">
                                          <p:val>
                                            <p:strVal val="#ppt_x"/>
                                          </p:val>
                                        </p:tav>
                                      </p:tavLst>
                                    </p:anim>
                                    <p:anim calcmode="lin" valueType="num">
                                      <p:cBhvr>
                                        <p:cTn id="7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14" presetClass="entr" presetSubtype="10" fill="hold" nodeType="clickEffect">
                                  <p:stCondLst>
                                    <p:cond delay="0"/>
                                  </p:stCondLst>
                                  <p:childTnLst>
                                    <p:set>
                                      <p:cBhvr>
                                        <p:cTn id="78" dur="1" fill="hold">
                                          <p:stCondLst>
                                            <p:cond delay="0"/>
                                          </p:stCondLst>
                                        </p:cTn>
                                        <p:tgtEl>
                                          <p:spTgt spid="10">
                                            <p:txEl>
                                              <p:pRg st="0" end="0"/>
                                            </p:txEl>
                                          </p:spTgt>
                                        </p:tgtEl>
                                        <p:attrNameLst>
                                          <p:attrName>style.visibility</p:attrName>
                                        </p:attrNameLst>
                                      </p:cBhvr>
                                      <p:to>
                                        <p:strVal val="visible"/>
                                      </p:to>
                                    </p:set>
                                    <p:animEffect transition="in" filter="randombar(horizontal)">
                                      <p:cBhvr>
                                        <p:cTn id="79" dur="500"/>
                                        <p:tgtEl>
                                          <p:spTgt spid="10">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4" presetClass="entr" presetSubtype="10" fill="hold" nodeType="clickEffect">
                                  <p:stCondLst>
                                    <p:cond delay="0"/>
                                  </p:stCondLst>
                                  <p:childTnLst>
                                    <p:set>
                                      <p:cBhvr>
                                        <p:cTn id="83" dur="1" fill="hold">
                                          <p:stCondLst>
                                            <p:cond delay="0"/>
                                          </p:stCondLst>
                                        </p:cTn>
                                        <p:tgtEl>
                                          <p:spTgt spid="10">
                                            <p:txEl>
                                              <p:pRg st="1" end="1"/>
                                            </p:txEl>
                                          </p:spTgt>
                                        </p:tgtEl>
                                        <p:attrNameLst>
                                          <p:attrName>style.visibility</p:attrName>
                                        </p:attrNameLst>
                                      </p:cBhvr>
                                      <p:to>
                                        <p:strVal val="visible"/>
                                      </p:to>
                                    </p:set>
                                    <p:animEffect transition="in" filter="randombar(horizontal)">
                                      <p:cBhvr>
                                        <p:cTn id="84" dur="5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P spid="9"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7030A0"/>
                </a:solidFill>
              </a:rPr>
              <a:t>Revisiting</a:t>
            </a:r>
            <a:r>
              <a:rPr lang="en-US" sz="3200" b="1" dirty="0"/>
              <a:t> the example</a:t>
            </a:r>
            <a:endParaRPr lang="en-US" sz="3200" dirty="0"/>
          </a:p>
        </p:txBody>
      </p:sp>
      <p:sp>
        <p:nvSpPr>
          <p:cNvPr id="3" name="Content Placeholder 2"/>
          <p:cNvSpPr>
            <a:spLocks noGrp="1"/>
          </p:cNvSpPr>
          <p:nvPr>
            <p:ph idx="1"/>
          </p:nvPr>
        </p:nvSpPr>
        <p:spPr>
          <a:xfrm>
            <a:off x="152400" y="1600200"/>
            <a:ext cx="8534400" cy="4525963"/>
          </a:xfrm>
        </p:spPr>
        <p:txBody>
          <a:bodyPr/>
          <a:lstStyle/>
          <a:p>
            <a:pPr marL="0" indent="0">
              <a:buNone/>
            </a:pPr>
            <a:endParaRPr lang="en-US" sz="1600" dirty="0"/>
          </a:p>
          <a:p>
            <a:pPr marL="0" indent="0">
              <a:buNone/>
            </a:pPr>
            <a:endParaRPr lang="en-US" sz="1600" dirty="0"/>
          </a:p>
          <a:p>
            <a:pPr marL="0" indent="0">
              <a:buNone/>
            </a:pPr>
            <a:endParaRPr lang="en-US" sz="16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1600" dirty="0"/>
              <a:t>The </a:t>
            </a:r>
            <a:r>
              <a:rPr lang="en-US" sz="1600" u="sng" dirty="0"/>
              <a:t>new</a:t>
            </a:r>
            <a:r>
              <a:rPr lang="en-US" sz="1600" dirty="0"/>
              <a:t> vertices with </a:t>
            </a:r>
            <a:r>
              <a:rPr lang="en-US" sz="1600" b="1" dirty="0" err="1"/>
              <a:t>indegree</a:t>
            </a:r>
            <a:r>
              <a:rPr lang="en-US" sz="1600" dirty="0"/>
              <a:t>=</a:t>
            </a:r>
            <a:r>
              <a:rPr lang="en-US" sz="1600" dirty="0">
                <a:solidFill>
                  <a:srgbClr val="0070C0"/>
                </a:solidFill>
              </a:rPr>
              <a:t>0</a:t>
            </a:r>
            <a:r>
              <a:rPr lang="en-US" sz="1600" dirty="0"/>
              <a:t> are created during   </a:t>
            </a:r>
            <a:r>
              <a:rPr lang="en-US" sz="1600" dirty="0">
                <a:solidFill>
                  <a:srgbClr val="C00000"/>
                </a:solidFill>
              </a:rPr>
              <a:t>?</a:t>
            </a:r>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23</a:t>
            </a:fld>
            <a:endParaRPr lang="en-US"/>
          </a:p>
        </p:txBody>
      </p:sp>
      <p:grpSp>
        <p:nvGrpSpPr>
          <p:cNvPr id="12" name="Group 11"/>
          <p:cNvGrpSpPr/>
          <p:nvPr/>
        </p:nvGrpSpPr>
        <p:grpSpPr>
          <a:xfrm>
            <a:off x="2590800" y="2362200"/>
            <a:ext cx="876300" cy="990600"/>
            <a:chOff x="2590800" y="2362200"/>
            <a:chExt cx="876300" cy="990600"/>
          </a:xfrm>
        </p:grpSpPr>
        <p:cxnSp>
          <p:nvCxnSpPr>
            <p:cNvPr id="8" name="Straight Arrow Connector 7"/>
            <p:cNvCxnSpPr>
              <a:endCxn id="20" idx="0"/>
            </p:cNvCxnSpPr>
            <p:nvPr/>
          </p:nvCxnSpPr>
          <p:spPr>
            <a:xfrm>
              <a:off x="2781300" y="2590800"/>
              <a:ext cx="685800" cy="7620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2590800" y="2362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z</a:t>
              </a:r>
            </a:p>
          </p:txBody>
        </p:sp>
      </p:grpSp>
      <p:sp>
        <p:nvSpPr>
          <p:cNvPr id="18" name="Oval 17"/>
          <p:cNvSpPr/>
          <p:nvPr/>
        </p:nvSpPr>
        <p:spPr>
          <a:xfrm>
            <a:off x="5791200" y="3336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w</a:t>
            </a:r>
          </a:p>
        </p:txBody>
      </p:sp>
      <p:sp>
        <p:nvSpPr>
          <p:cNvPr id="20" name="Oval 19"/>
          <p:cNvSpPr/>
          <p:nvPr/>
        </p:nvSpPr>
        <p:spPr>
          <a:xfrm>
            <a:off x="3352800" y="33528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grpSp>
        <p:nvGrpSpPr>
          <p:cNvPr id="5" name="Group 4"/>
          <p:cNvGrpSpPr/>
          <p:nvPr/>
        </p:nvGrpSpPr>
        <p:grpSpPr>
          <a:xfrm>
            <a:off x="5067300" y="1600200"/>
            <a:ext cx="1366978" cy="795478"/>
            <a:chOff x="5067300" y="1600200"/>
            <a:chExt cx="1366978" cy="795478"/>
          </a:xfrm>
        </p:grpSpPr>
        <p:sp>
          <p:nvSpPr>
            <p:cNvPr id="14" name="Oval 13"/>
            <p:cNvSpPr/>
            <p:nvPr/>
          </p:nvSpPr>
          <p:spPr>
            <a:xfrm>
              <a:off x="5638800" y="1600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a:t>
              </a:r>
            </a:p>
          </p:txBody>
        </p:sp>
        <p:cxnSp>
          <p:nvCxnSpPr>
            <p:cNvPr id="22" name="Straight Arrow Connector 21"/>
            <p:cNvCxnSpPr>
              <a:stCxn id="14" idx="5"/>
              <a:endCxn id="16" idx="1"/>
            </p:cNvCxnSpPr>
            <p:nvPr/>
          </p:nvCxnSpPr>
          <p:spPr>
            <a:xfrm>
              <a:off x="5833922" y="1795322"/>
              <a:ext cx="600356" cy="6003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4" idx="3"/>
              <a:endCxn id="15" idx="0"/>
            </p:cNvCxnSpPr>
            <p:nvPr/>
          </p:nvCxnSpPr>
          <p:spPr>
            <a:xfrm flipH="1">
              <a:off x="5067300" y="1795322"/>
              <a:ext cx="604978" cy="5668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5148122" y="2557322"/>
            <a:ext cx="2319478" cy="1007749"/>
            <a:chOff x="5148122" y="2557322"/>
            <a:chExt cx="2319478" cy="1007749"/>
          </a:xfrm>
        </p:grpSpPr>
        <p:sp>
          <p:nvSpPr>
            <p:cNvPr id="19" name="Oval 18"/>
            <p:cNvSpPr/>
            <p:nvPr/>
          </p:nvSpPr>
          <p:spPr>
            <a:xfrm>
              <a:off x="7239000" y="3336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cxnSp>
          <p:nvCxnSpPr>
            <p:cNvPr id="28" name="Straight Arrow Connector 27"/>
            <p:cNvCxnSpPr>
              <a:stCxn id="19" idx="2"/>
              <a:endCxn id="15" idx="5"/>
            </p:cNvCxnSpPr>
            <p:nvPr/>
          </p:nvCxnSpPr>
          <p:spPr>
            <a:xfrm flipH="1" flipV="1">
              <a:off x="5148122" y="2557322"/>
              <a:ext cx="2090878" cy="89344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flipH="1">
              <a:off x="6019800" y="3450771"/>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11" name="Group 10"/>
          <p:cNvGrpSpPr/>
          <p:nvPr/>
        </p:nvGrpSpPr>
        <p:grpSpPr>
          <a:xfrm>
            <a:off x="3581400" y="3336471"/>
            <a:ext cx="2209800" cy="228600"/>
            <a:chOff x="3581400" y="3336471"/>
            <a:chExt cx="2209800" cy="228600"/>
          </a:xfrm>
        </p:grpSpPr>
        <p:sp>
          <p:nvSpPr>
            <p:cNvPr id="17" name="Oval 16"/>
            <p:cNvSpPr/>
            <p:nvPr/>
          </p:nvSpPr>
          <p:spPr>
            <a:xfrm>
              <a:off x="4495800" y="3336471"/>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cxnSp>
          <p:nvCxnSpPr>
            <p:cNvPr id="46" name="Straight Arrow Connector 45"/>
            <p:cNvCxnSpPr>
              <a:stCxn id="17" idx="2"/>
              <a:endCxn id="20" idx="6"/>
            </p:cNvCxnSpPr>
            <p:nvPr/>
          </p:nvCxnSpPr>
          <p:spPr>
            <a:xfrm flipH="1">
              <a:off x="3581400" y="3450771"/>
              <a:ext cx="914400" cy="16329"/>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17" idx="6"/>
              <a:endCxn id="18" idx="2"/>
            </p:cNvCxnSpPr>
            <p:nvPr/>
          </p:nvCxnSpPr>
          <p:spPr>
            <a:xfrm>
              <a:off x="4724400" y="3450771"/>
              <a:ext cx="10668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5181600" y="2362200"/>
            <a:ext cx="2090878" cy="1007749"/>
            <a:chOff x="5181600" y="2362200"/>
            <a:chExt cx="2090878" cy="1007749"/>
          </a:xfrm>
        </p:grpSpPr>
        <p:sp>
          <p:nvSpPr>
            <p:cNvPr id="16" name="Oval 15"/>
            <p:cNvSpPr/>
            <p:nvPr/>
          </p:nvSpPr>
          <p:spPr>
            <a:xfrm>
              <a:off x="6400800" y="2362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v</a:t>
              </a:r>
            </a:p>
          </p:txBody>
        </p:sp>
        <p:cxnSp>
          <p:nvCxnSpPr>
            <p:cNvPr id="25" name="Straight Arrow Connector 24"/>
            <p:cNvCxnSpPr>
              <a:stCxn id="16" idx="5"/>
              <a:endCxn id="19" idx="1"/>
            </p:cNvCxnSpPr>
            <p:nvPr/>
          </p:nvCxnSpPr>
          <p:spPr>
            <a:xfrm>
              <a:off x="6595922" y="2557322"/>
              <a:ext cx="676556" cy="812627"/>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16" idx="3"/>
            </p:cNvCxnSpPr>
            <p:nvPr/>
          </p:nvCxnSpPr>
          <p:spPr>
            <a:xfrm flipH="1">
              <a:off x="5948222" y="2557322"/>
              <a:ext cx="486056" cy="79547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16" idx="2"/>
              <a:endCxn id="15" idx="6"/>
            </p:cNvCxnSpPr>
            <p:nvPr/>
          </p:nvCxnSpPr>
          <p:spPr>
            <a:xfrm flipH="1">
              <a:off x="5181600" y="2476500"/>
              <a:ext cx="12192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58" name="Oval 57"/>
          <p:cNvSpPr/>
          <p:nvPr/>
        </p:nvSpPr>
        <p:spPr>
          <a:xfrm>
            <a:off x="12954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u</a:t>
            </a:r>
          </a:p>
        </p:txBody>
      </p:sp>
      <p:sp>
        <p:nvSpPr>
          <p:cNvPr id="59" name="Oval 58"/>
          <p:cNvSpPr/>
          <p:nvPr/>
        </p:nvSpPr>
        <p:spPr>
          <a:xfrm>
            <a:off x="21336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v</a:t>
            </a:r>
          </a:p>
        </p:txBody>
      </p:sp>
      <p:sp>
        <p:nvSpPr>
          <p:cNvPr id="60" name="Oval 59"/>
          <p:cNvSpPr/>
          <p:nvPr/>
        </p:nvSpPr>
        <p:spPr>
          <a:xfrm>
            <a:off x="30480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a</a:t>
            </a:r>
          </a:p>
        </p:txBody>
      </p:sp>
      <p:grpSp>
        <p:nvGrpSpPr>
          <p:cNvPr id="10" name="Group 9"/>
          <p:cNvGrpSpPr/>
          <p:nvPr/>
        </p:nvGrpSpPr>
        <p:grpSpPr>
          <a:xfrm>
            <a:off x="2819400" y="2362200"/>
            <a:ext cx="2362200" cy="1024078"/>
            <a:chOff x="2819400" y="2362200"/>
            <a:chExt cx="2362200" cy="1024078"/>
          </a:xfrm>
        </p:grpSpPr>
        <p:sp>
          <p:nvSpPr>
            <p:cNvPr id="15" name="Oval 14"/>
            <p:cNvSpPr/>
            <p:nvPr/>
          </p:nvSpPr>
          <p:spPr>
            <a:xfrm>
              <a:off x="4953000" y="23622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cxnSp>
          <p:nvCxnSpPr>
            <p:cNvPr id="37" name="Straight Arrow Connector 36"/>
            <p:cNvCxnSpPr>
              <a:stCxn id="15" idx="3"/>
            </p:cNvCxnSpPr>
            <p:nvPr/>
          </p:nvCxnSpPr>
          <p:spPr>
            <a:xfrm flipH="1">
              <a:off x="3505200" y="2557322"/>
              <a:ext cx="1481278" cy="828956"/>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15" idx="4"/>
              <a:endCxn id="17" idx="0"/>
            </p:cNvCxnSpPr>
            <p:nvPr/>
          </p:nvCxnSpPr>
          <p:spPr>
            <a:xfrm flipH="1">
              <a:off x="4610100" y="2590800"/>
              <a:ext cx="457200" cy="745671"/>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15" idx="2"/>
              <a:endCxn id="13" idx="6"/>
            </p:cNvCxnSpPr>
            <p:nvPr/>
          </p:nvCxnSpPr>
          <p:spPr>
            <a:xfrm flipH="1">
              <a:off x="2819400" y="2476500"/>
              <a:ext cx="2133600" cy="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61" name="Oval 60"/>
          <p:cNvSpPr/>
          <p:nvPr/>
        </p:nvSpPr>
        <p:spPr>
          <a:xfrm>
            <a:off x="38862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a:t>
            </a:r>
          </a:p>
        </p:txBody>
      </p:sp>
      <p:sp>
        <p:nvSpPr>
          <p:cNvPr id="62" name="Oval 61"/>
          <p:cNvSpPr/>
          <p:nvPr/>
        </p:nvSpPr>
        <p:spPr>
          <a:xfrm>
            <a:off x="64008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w</a:t>
            </a:r>
          </a:p>
        </p:txBody>
      </p:sp>
      <p:sp>
        <p:nvSpPr>
          <p:cNvPr id="63" name="Oval 62"/>
          <p:cNvSpPr/>
          <p:nvPr/>
        </p:nvSpPr>
        <p:spPr>
          <a:xfrm>
            <a:off x="47244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x</a:t>
            </a:r>
          </a:p>
        </p:txBody>
      </p:sp>
      <p:sp>
        <p:nvSpPr>
          <p:cNvPr id="64" name="Oval 63"/>
          <p:cNvSpPr/>
          <p:nvPr/>
        </p:nvSpPr>
        <p:spPr>
          <a:xfrm>
            <a:off x="55626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z</a:t>
            </a:r>
          </a:p>
        </p:txBody>
      </p:sp>
      <p:sp>
        <p:nvSpPr>
          <p:cNvPr id="65" name="Oval 64"/>
          <p:cNvSpPr/>
          <p:nvPr/>
        </p:nvSpPr>
        <p:spPr>
          <a:xfrm>
            <a:off x="7239000" y="4191000"/>
            <a:ext cx="228600" cy="228600"/>
          </a:xfrm>
          <a:prstGeom prst="ellipse">
            <a:avLst/>
          </a:prstGeom>
          <a:solidFill>
            <a:srgbClr val="FFC0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y</a:t>
            </a:r>
          </a:p>
        </p:txBody>
      </p:sp>
      <p:sp>
        <p:nvSpPr>
          <p:cNvPr id="66" name="TextBox 65"/>
          <p:cNvSpPr txBox="1"/>
          <p:nvPr/>
        </p:nvSpPr>
        <p:spPr>
          <a:xfrm>
            <a:off x="1219200" y="4507468"/>
            <a:ext cx="301686" cy="369332"/>
          </a:xfrm>
          <a:prstGeom prst="rect">
            <a:avLst/>
          </a:prstGeom>
          <a:noFill/>
        </p:spPr>
        <p:txBody>
          <a:bodyPr wrap="none" rtlCol="0">
            <a:spAutoFit/>
          </a:bodyPr>
          <a:lstStyle/>
          <a:p>
            <a:r>
              <a:rPr lang="en-US" dirty="0"/>
              <a:t>1</a:t>
            </a:r>
          </a:p>
        </p:txBody>
      </p:sp>
      <p:sp>
        <p:nvSpPr>
          <p:cNvPr id="44" name="TextBox 43"/>
          <p:cNvSpPr txBox="1"/>
          <p:nvPr/>
        </p:nvSpPr>
        <p:spPr>
          <a:xfrm>
            <a:off x="2060514" y="4495800"/>
            <a:ext cx="301686" cy="369332"/>
          </a:xfrm>
          <a:prstGeom prst="rect">
            <a:avLst/>
          </a:prstGeom>
          <a:noFill/>
        </p:spPr>
        <p:txBody>
          <a:bodyPr wrap="none" rtlCol="0">
            <a:spAutoFit/>
          </a:bodyPr>
          <a:lstStyle/>
          <a:p>
            <a:r>
              <a:rPr lang="en-US" dirty="0"/>
              <a:t>2</a:t>
            </a:r>
          </a:p>
        </p:txBody>
      </p:sp>
      <p:sp>
        <p:nvSpPr>
          <p:cNvPr id="45" name="TextBox 44"/>
          <p:cNvSpPr txBox="1"/>
          <p:nvPr/>
        </p:nvSpPr>
        <p:spPr>
          <a:xfrm>
            <a:off x="2971800" y="4507468"/>
            <a:ext cx="301686" cy="369332"/>
          </a:xfrm>
          <a:prstGeom prst="rect">
            <a:avLst/>
          </a:prstGeom>
          <a:noFill/>
        </p:spPr>
        <p:txBody>
          <a:bodyPr wrap="none" rtlCol="0">
            <a:spAutoFit/>
          </a:bodyPr>
          <a:lstStyle/>
          <a:p>
            <a:r>
              <a:rPr lang="en-US" dirty="0"/>
              <a:t>3</a:t>
            </a:r>
          </a:p>
        </p:txBody>
      </p:sp>
      <p:sp>
        <p:nvSpPr>
          <p:cNvPr id="47" name="TextBox 46"/>
          <p:cNvSpPr txBox="1"/>
          <p:nvPr/>
        </p:nvSpPr>
        <p:spPr>
          <a:xfrm>
            <a:off x="3810000" y="4507468"/>
            <a:ext cx="301686" cy="369332"/>
          </a:xfrm>
          <a:prstGeom prst="rect">
            <a:avLst/>
          </a:prstGeom>
          <a:noFill/>
        </p:spPr>
        <p:txBody>
          <a:bodyPr wrap="none" rtlCol="0">
            <a:spAutoFit/>
          </a:bodyPr>
          <a:lstStyle/>
          <a:p>
            <a:r>
              <a:rPr lang="en-US" dirty="0"/>
              <a:t>4</a:t>
            </a:r>
          </a:p>
        </p:txBody>
      </p:sp>
      <p:sp>
        <p:nvSpPr>
          <p:cNvPr id="50" name="TextBox 49"/>
          <p:cNvSpPr txBox="1"/>
          <p:nvPr/>
        </p:nvSpPr>
        <p:spPr>
          <a:xfrm>
            <a:off x="4651314" y="4507468"/>
            <a:ext cx="301686" cy="369332"/>
          </a:xfrm>
          <a:prstGeom prst="rect">
            <a:avLst/>
          </a:prstGeom>
          <a:noFill/>
        </p:spPr>
        <p:txBody>
          <a:bodyPr wrap="none" rtlCol="0">
            <a:spAutoFit/>
          </a:bodyPr>
          <a:lstStyle/>
          <a:p>
            <a:r>
              <a:rPr lang="en-US" dirty="0"/>
              <a:t>5</a:t>
            </a:r>
          </a:p>
        </p:txBody>
      </p:sp>
      <p:sp>
        <p:nvSpPr>
          <p:cNvPr id="51" name="TextBox 50"/>
          <p:cNvSpPr txBox="1"/>
          <p:nvPr/>
        </p:nvSpPr>
        <p:spPr>
          <a:xfrm>
            <a:off x="5486400" y="4507468"/>
            <a:ext cx="301686" cy="369332"/>
          </a:xfrm>
          <a:prstGeom prst="rect">
            <a:avLst/>
          </a:prstGeom>
          <a:noFill/>
        </p:spPr>
        <p:txBody>
          <a:bodyPr wrap="none" rtlCol="0">
            <a:spAutoFit/>
          </a:bodyPr>
          <a:lstStyle/>
          <a:p>
            <a:r>
              <a:rPr lang="en-US" dirty="0"/>
              <a:t>6</a:t>
            </a:r>
          </a:p>
        </p:txBody>
      </p:sp>
      <p:sp>
        <p:nvSpPr>
          <p:cNvPr id="53" name="TextBox 52"/>
          <p:cNvSpPr txBox="1"/>
          <p:nvPr/>
        </p:nvSpPr>
        <p:spPr>
          <a:xfrm>
            <a:off x="6324600" y="4507468"/>
            <a:ext cx="301686" cy="369332"/>
          </a:xfrm>
          <a:prstGeom prst="rect">
            <a:avLst/>
          </a:prstGeom>
          <a:noFill/>
        </p:spPr>
        <p:txBody>
          <a:bodyPr wrap="none" rtlCol="0">
            <a:spAutoFit/>
          </a:bodyPr>
          <a:lstStyle/>
          <a:p>
            <a:r>
              <a:rPr lang="en-US" dirty="0"/>
              <a:t>7</a:t>
            </a:r>
          </a:p>
        </p:txBody>
      </p:sp>
      <p:sp>
        <p:nvSpPr>
          <p:cNvPr id="54" name="TextBox 53"/>
          <p:cNvSpPr txBox="1"/>
          <p:nvPr/>
        </p:nvSpPr>
        <p:spPr>
          <a:xfrm>
            <a:off x="7242114" y="4495800"/>
            <a:ext cx="301686" cy="369332"/>
          </a:xfrm>
          <a:prstGeom prst="rect">
            <a:avLst/>
          </a:prstGeom>
          <a:noFill/>
        </p:spPr>
        <p:txBody>
          <a:bodyPr wrap="none" rtlCol="0">
            <a:spAutoFit/>
          </a:bodyPr>
          <a:lstStyle/>
          <a:p>
            <a:r>
              <a:rPr lang="en-US" dirty="0"/>
              <a:t>8</a:t>
            </a:r>
          </a:p>
        </p:txBody>
      </p:sp>
      <p:sp>
        <p:nvSpPr>
          <p:cNvPr id="9" name="TextBox 8"/>
          <p:cNvSpPr txBox="1"/>
          <p:nvPr/>
        </p:nvSpPr>
        <p:spPr>
          <a:xfrm>
            <a:off x="6629400" y="679884"/>
            <a:ext cx="2353080" cy="369332"/>
          </a:xfrm>
          <a:prstGeom prst="rect">
            <a:avLst/>
          </a:prstGeom>
          <a:noFill/>
        </p:spPr>
        <p:txBody>
          <a:bodyPr wrap="none" rtlCol="0">
            <a:spAutoFit/>
          </a:bodyPr>
          <a:lstStyle/>
          <a:p>
            <a:r>
              <a:rPr lang="en-US" b="1" dirty="0"/>
              <a:t>..but </a:t>
            </a:r>
            <a:r>
              <a:rPr lang="en-US" b="1" dirty="0">
                <a:solidFill>
                  <a:srgbClr val="006C31"/>
                </a:solidFill>
              </a:rPr>
              <a:t>slowly</a:t>
            </a:r>
            <a:r>
              <a:rPr lang="en-US" b="1" dirty="0"/>
              <a:t> this time…</a:t>
            </a:r>
            <a:endParaRPr lang="en-US" dirty="0"/>
          </a:p>
        </p:txBody>
      </p:sp>
      <p:sp>
        <p:nvSpPr>
          <p:cNvPr id="21" name="TextBox 20"/>
          <p:cNvSpPr txBox="1"/>
          <p:nvPr/>
        </p:nvSpPr>
        <p:spPr>
          <a:xfrm>
            <a:off x="4648200" y="5410200"/>
            <a:ext cx="4383059" cy="338554"/>
          </a:xfrm>
          <a:prstGeom prst="rect">
            <a:avLst/>
          </a:prstGeom>
          <a:solidFill>
            <a:schemeClr val="bg2"/>
          </a:solidFill>
        </p:spPr>
        <p:txBody>
          <a:bodyPr wrap="none" rtlCol="0">
            <a:spAutoFit/>
          </a:bodyPr>
          <a:lstStyle/>
          <a:p>
            <a:r>
              <a:rPr lang="en-US" sz="1600" dirty="0"/>
              <a:t>the processing of the </a:t>
            </a:r>
            <a:r>
              <a:rPr lang="en-US" sz="1600" u="sng" dirty="0"/>
              <a:t>current</a:t>
            </a:r>
            <a:r>
              <a:rPr lang="en-US" sz="1600" dirty="0"/>
              <a:t> vertex of </a:t>
            </a:r>
            <a:r>
              <a:rPr lang="en-US" sz="1600" b="1" dirty="0" err="1"/>
              <a:t>indegree</a:t>
            </a:r>
            <a:r>
              <a:rPr lang="en-US" sz="1600" dirty="0"/>
              <a:t>=</a:t>
            </a:r>
            <a:r>
              <a:rPr lang="en-US" sz="1600" dirty="0">
                <a:solidFill>
                  <a:srgbClr val="0070C0"/>
                </a:solidFill>
              </a:rPr>
              <a:t>0</a:t>
            </a:r>
            <a:endParaRPr lang="en-US" sz="1600" dirty="0"/>
          </a:p>
        </p:txBody>
      </p:sp>
    </p:spTree>
    <p:extLst>
      <p:ext uri="{BB962C8B-B14F-4D97-AF65-F5344CB8AC3E}">
        <p14:creationId xmlns:p14="http://schemas.microsoft.com/office/powerpoint/2010/main" val="577995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50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47" presetClass="exit" presetSubtype="0" fill="hold" nodeType="clickEffect">
                                  <p:stCondLst>
                                    <p:cond delay="0"/>
                                  </p:stCondLst>
                                  <p:childTnLst>
                                    <p:animEffect transition="out" filter="fade">
                                      <p:cBhvr>
                                        <p:cTn id="18" dur="1000"/>
                                        <p:tgtEl>
                                          <p:spTgt spid="5"/>
                                        </p:tgtEl>
                                      </p:cBhvr>
                                    </p:animEffect>
                                    <p:anim calcmode="lin" valueType="num">
                                      <p:cBhvr>
                                        <p:cTn id="19" dur="1000"/>
                                        <p:tgtEl>
                                          <p:spTgt spid="5"/>
                                        </p:tgtEl>
                                        <p:attrNameLst>
                                          <p:attrName>ppt_x</p:attrName>
                                        </p:attrNameLst>
                                      </p:cBhvr>
                                      <p:tavLst>
                                        <p:tav tm="0">
                                          <p:val>
                                            <p:strVal val="ppt_x"/>
                                          </p:val>
                                        </p:tav>
                                        <p:tav tm="100000">
                                          <p:val>
                                            <p:strVal val="ppt_x"/>
                                          </p:val>
                                        </p:tav>
                                      </p:tavLst>
                                    </p:anim>
                                    <p:anim calcmode="lin" valueType="num">
                                      <p:cBhvr>
                                        <p:cTn id="20" dur="1000"/>
                                        <p:tgtEl>
                                          <p:spTgt spid="5"/>
                                        </p:tgtEl>
                                        <p:attrNameLst>
                                          <p:attrName>ppt_y</p:attrName>
                                        </p:attrNameLst>
                                      </p:cBhvr>
                                      <p:tavLst>
                                        <p:tav tm="0">
                                          <p:val>
                                            <p:strVal val="ppt_y"/>
                                          </p:val>
                                        </p:tav>
                                        <p:tav tm="100000">
                                          <p:val>
                                            <p:strVal val="ppt_y-.1"/>
                                          </p:val>
                                        </p:tav>
                                      </p:tavLst>
                                    </p:anim>
                                    <p:set>
                                      <p:cBhvr>
                                        <p:cTn id="21" dur="1" fill="hold">
                                          <p:stCondLst>
                                            <p:cond delay="999"/>
                                          </p:stCondLst>
                                        </p:cTn>
                                        <p:tgtEl>
                                          <p:spTgt spid="5"/>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8"/>
                                        </p:tgtEl>
                                        <p:attrNameLst>
                                          <p:attrName>style.visibility</p:attrName>
                                        </p:attrNameLst>
                                      </p:cBhvr>
                                      <p:to>
                                        <p:strVal val="visible"/>
                                      </p:to>
                                    </p:set>
                                    <p:animEffect transition="in" filter="fade">
                                      <p:cBhvr>
                                        <p:cTn id="26" dur="1000"/>
                                        <p:tgtEl>
                                          <p:spTgt spid="58"/>
                                        </p:tgtEl>
                                      </p:cBhvr>
                                    </p:animEffect>
                                    <p:anim calcmode="lin" valueType="num">
                                      <p:cBhvr>
                                        <p:cTn id="27" dur="1000" fill="hold"/>
                                        <p:tgtEl>
                                          <p:spTgt spid="58"/>
                                        </p:tgtEl>
                                        <p:attrNameLst>
                                          <p:attrName>ppt_x</p:attrName>
                                        </p:attrNameLst>
                                      </p:cBhvr>
                                      <p:tavLst>
                                        <p:tav tm="0">
                                          <p:val>
                                            <p:strVal val="#ppt_x"/>
                                          </p:val>
                                        </p:tav>
                                        <p:tav tm="100000">
                                          <p:val>
                                            <p:strVal val="#ppt_x"/>
                                          </p:val>
                                        </p:tav>
                                      </p:tavLst>
                                    </p:anim>
                                    <p:anim calcmode="lin" valueType="num">
                                      <p:cBhvr>
                                        <p:cTn id="28" dur="1000" fill="hold"/>
                                        <p:tgtEl>
                                          <p:spTgt spid="58"/>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22" presetClass="entr" presetSubtype="8" fill="hold" grpId="0" nodeType="after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wipe(left)">
                                      <p:cBhvr>
                                        <p:cTn id="32" dur="1500"/>
                                        <p:tgtEl>
                                          <p:spTgt spid="66"/>
                                        </p:tgtEl>
                                      </p:cBhvr>
                                    </p:animEffect>
                                  </p:childTnLst>
                                </p:cTn>
                              </p:par>
                            </p:childTnLst>
                          </p:cTn>
                        </p:par>
                      </p:childTnLst>
                    </p:cTn>
                  </p:par>
                  <p:par>
                    <p:cTn id="33" fill="hold">
                      <p:stCondLst>
                        <p:cond delay="indefinite"/>
                      </p:stCondLst>
                      <p:childTnLst>
                        <p:par>
                          <p:cTn id="34" fill="hold">
                            <p:stCondLst>
                              <p:cond delay="0"/>
                            </p:stCondLst>
                            <p:childTnLst>
                              <p:par>
                                <p:cTn id="35" presetID="47" presetClass="exit" presetSubtype="0" fill="hold" nodeType="clickEffect">
                                  <p:stCondLst>
                                    <p:cond delay="0"/>
                                  </p:stCondLst>
                                  <p:childTnLst>
                                    <p:animEffect transition="out" filter="fade">
                                      <p:cBhvr>
                                        <p:cTn id="36" dur="1000"/>
                                        <p:tgtEl>
                                          <p:spTgt spid="6"/>
                                        </p:tgtEl>
                                      </p:cBhvr>
                                    </p:animEffect>
                                    <p:anim calcmode="lin" valueType="num">
                                      <p:cBhvr>
                                        <p:cTn id="37" dur="1000"/>
                                        <p:tgtEl>
                                          <p:spTgt spid="6"/>
                                        </p:tgtEl>
                                        <p:attrNameLst>
                                          <p:attrName>ppt_x</p:attrName>
                                        </p:attrNameLst>
                                      </p:cBhvr>
                                      <p:tavLst>
                                        <p:tav tm="0">
                                          <p:val>
                                            <p:strVal val="ppt_x"/>
                                          </p:val>
                                        </p:tav>
                                        <p:tav tm="100000">
                                          <p:val>
                                            <p:strVal val="ppt_x"/>
                                          </p:val>
                                        </p:tav>
                                      </p:tavLst>
                                    </p:anim>
                                    <p:anim calcmode="lin" valueType="num">
                                      <p:cBhvr>
                                        <p:cTn id="38" dur="1000"/>
                                        <p:tgtEl>
                                          <p:spTgt spid="6"/>
                                        </p:tgtEl>
                                        <p:attrNameLst>
                                          <p:attrName>ppt_y</p:attrName>
                                        </p:attrNameLst>
                                      </p:cBhvr>
                                      <p:tavLst>
                                        <p:tav tm="0">
                                          <p:val>
                                            <p:strVal val="ppt_y"/>
                                          </p:val>
                                        </p:tav>
                                        <p:tav tm="100000">
                                          <p:val>
                                            <p:strVal val="ppt_y-.1"/>
                                          </p:val>
                                        </p:tav>
                                      </p:tavLst>
                                    </p:anim>
                                    <p:set>
                                      <p:cBhvr>
                                        <p:cTn id="39" dur="1" fill="hold">
                                          <p:stCondLst>
                                            <p:cond delay="999"/>
                                          </p:stCondLst>
                                        </p:cTn>
                                        <p:tgtEl>
                                          <p:spTgt spid="6"/>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fade">
                                      <p:cBhvr>
                                        <p:cTn id="44" dur="1000"/>
                                        <p:tgtEl>
                                          <p:spTgt spid="59"/>
                                        </p:tgtEl>
                                      </p:cBhvr>
                                    </p:animEffect>
                                    <p:anim calcmode="lin" valueType="num">
                                      <p:cBhvr>
                                        <p:cTn id="45" dur="1000" fill="hold"/>
                                        <p:tgtEl>
                                          <p:spTgt spid="59"/>
                                        </p:tgtEl>
                                        <p:attrNameLst>
                                          <p:attrName>ppt_x</p:attrName>
                                        </p:attrNameLst>
                                      </p:cBhvr>
                                      <p:tavLst>
                                        <p:tav tm="0">
                                          <p:val>
                                            <p:strVal val="#ppt_x"/>
                                          </p:val>
                                        </p:tav>
                                        <p:tav tm="100000">
                                          <p:val>
                                            <p:strVal val="#ppt_x"/>
                                          </p:val>
                                        </p:tav>
                                      </p:tavLst>
                                    </p:anim>
                                    <p:anim calcmode="lin" valueType="num">
                                      <p:cBhvr>
                                        <p:cTn id="46" dur="1000" fill="hold"/>
                                        <p:tgtEl>
                                          <p:spTgt spid="59"/>
                                        </p:tgtEl>
                                        <p:attrNameLst>
                                          <p:attrName>ppt_y</p:attrName>
                                        </p:attrNameLst>
                                      </p:cBhvr>
                                      <p:tavLst>
                                        <p:tav tm="0">
                                          <p:val>
                                            <p:strVal val="#ppt_y+.1"/>
                                          </p:val>
                                        </p:tav>
                                        <p:tav tm="100000">
                                          <p:val>
                                            <p:strVal val="#ppt_y"/>
                                          </p:val>
                                        </p:tav>
                                      </p:tavLst>
                                    </p:anim>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44"/>
                                        </p:tgtEl>
                                        <p:attrNameLst>
                                          <p:attrName>style.visibility</p:attrName>
                                        </p:attrNameLst>
                                      </p:cBhvr>
                                      <p:to>
                                        <p:strVal val="visible"/>
                                      </p:to>
                                    </p:set>
                                    <p:animEffect transition="in" filter="wipe(left)">
                                      <p:cBhvr>
                                        <p:cTn id="50" dur="1500"/>
                                        <p:tgtEl>
                                          <p:spTgt spid="44"/>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xit" presetSubtype="2" fill="hold" nodeType="clickEffect">
                                  <p:stCondLst>
                                    <p:cond delay="0"/>
                                  </p:stCondLst>
                                  <p:childTnLst>
                                    <p:anim calcmode="lin" valueType="num">
                                      <p:cBhvr additive="base">
                                        <p:cTn id="54" dur="1500"/>
                                        <p:tgtEl>
                                          <p:spTgt spid="7"/>
                                        </p:tgtEl>
                                        <p:attrNameLst>
                                          <p:attrName>ppt_x</p:attrName>
                                        </p:attrNameLst>
                                      </p:cBhvr>
                                      <p:tavLst>
                                        <p:tav tm="0">
                                          <p:val>
                                            <p:strVal val="ppt_x"/>
                                          </p:val>
                                        </p:tav>
                                        <p:tav tm="100000">
                                          <p:val>
                                            <p:strVal val="1+ppt_w/2"/>
                                          </p:val>
                                        </p:tav>
                                      </p:tavLst>
                                    </p:anim>
                                    <p:anim calcmode="lin" valueType="num">
                                      <p:cBhvr additive="base">
                                        <p:cTn id="55" dur="1500"/>
                                        <p:tgtEl>
                                          <p:spTgt spid="7"/>
                                        </p:tgtEl>
                                        <p:attrNameLst>
                                          <p:attrName>ppt_y</p:attrName>
                                        </p:attrNameLst>
                                      </p:cBhvr>
                                      <p:tavLst>
                                        <p:tav tm="0">
                                          <p:val>
                                            <p:strVal val="ppt_y"/>
                                          </p:val>
                                        </p:tav>
                                        <p:tav tm="100000">
                                          <p:val>
                                            <p:strVal val="ppt_y"/>
                                          </p:val>
                                        </p:tav>
                                      </p:tavLst>
                                    </p:anim>
                                    <p:set>
                                      <p:cBhvr>
                                        <p:cTn id="56" dur="1" fill="hold">
                                          <p:stCondLst>
                                            <p:cond delay="1499"/>
                                          </p:stCondLst>
                                        </p:cTn>
                                        <p:tgtEl>
                                          <p:spTgt spid="7"/>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60"/>
                                        </p:tgtEl>
                                        <p:attrNameLst>
                                          <p:attrName>style.visibility</p:attrName>
                                        </p:attrNameLst>
                                      </p:cBhvr>
                                      <p:to>
                                        <p:strVal val="visible"/>
                                      </p:to>
                                    </p:set>
                                    <p:animEffect transition="in" filter="fade">
                                      <p:cBhvr>
                                        <p:cTn id="61" dur="1000"/>
                                        <p:tgtEl>
                                          <p:spTgt spid="60"/>
                                        </p:tgtEl>
                                      </p:cBhvr>
                                    </p:animEffect>
                                    <p:anim calcmode="lin" valueType="num">
                                      <p:cBhvr>
                                        <p:cTn id="62" dur="1000" fill="hold"/>
                                        <p:tgtEl>
                                          <p:spTgt spid="60"/>
                                        </p:tgtEl>
                                        <p:attrNameLst>
                                          <p:attrName>ppt_x</p:attrName>
                                        </p:attrNameLst>
                                      </p:cBhvr>
                                      <p:tavLst>
                                        <p:tav tm="0">
                                          <p:val>
                                            <p:strVal val="#ppt_x"/>
                                          </p:val>
                                        </p:tav>
                                        <p:tav tm="100000">
                                          <p:val>
                                            <p:strVal val="#ppt_x"/>
                                          </p:val>
                                        </p:tav>
                                      </p:tavLst>
                                    </p:anim>
                                    <p:anim calcmode="lin" valueType="num">
                                      <p:cBhvr>
                                        <p:cTn id="63" dur="1000" fill="hold"/>
                                        <p:tgtEl>
                                          <p:spTgt spid="60"/>
                                        </p:tgtEl>
                                        <p:attrNameLst>
                                          <p:attrName>ppt_y</p:attrName>
                                        </p:attrNameLst>
                                      </p:cBhvr>
                                      <p:tavLst>
                                        <p:tav tm="0">
                                          <p:val>
                                            <p:strVal val="#ppt_y+.1"/>
                                          </p:val>
                                        </p:tav>
                                        <p:tav tm="100000">
                                          <p:val>
                                            <p:strVal val="#ppt_y"/>
                                          </p:val>
                                        </p:tav>
                                      </p:tavLst>
                                    </p:anim>
                                  </p:childTnLst>
                                </p:cTn>
                              </p:par>
                            </p:childTnLst>
                          </p:cTn>
                        </p:par>
                        <p:par>
                          <p:cTn id="64" fill="hold">
                            <p:stCondLst>
                              <p:cond delay="1000"/>
                            </p:stCondLst>
                            <p:childTnLst>
                              <p:par>
                                <p:cTn id="65" presetID="22" presetClass="entr" presetSubtype="8"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left)">
                                      <p:cBhvr>
                                        <p:cTn id="67" dur="15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47" presetClass="exit" presetSubtype="0" fill="hold" nodeType="clickEffect">
                                  <p:stCondLst>
                                    <p:cond delay="0"/>
                                  </p:stCondLst>
                                  <p:childTnLst>
                                    <p:animEffect transition="out" filter="fade">
                                      <p:cBhvr>
                                        <p:cTn id="71" dur="1000"/>
                                        <p:tgtEl>
                                          <p:spTgt spid="10"/>
                                        </p:tgtEl>
                                      </p:cBhvr>
                                    </p:animEffect>
                                    <p:anim calcmode="lin" valueType="num">
                                      <p:cBhvr>
                                        <p:cTn id="72" dur="1000"/>
                                        <p:tgtEl>
                                          <p:spTgt spid="10"/>
                                        </p:tgtEl>
                                        <p:attrNameLst>
                                          <p:attrName>ppt_x</p:attrName>
                                        </p:attrNameLst>
                                      </p:cBhvr>
                                      <p:tavLst>
                                        <p:tav tm="0">
                                          <p:val>
                                            <p:strVal val="ppt_x"/>
                                          </p:val>
                                        </p:tav>
                                        <p:tav tm="100000">
                                          <p:val>
                                            <p:strVal val="ppt_x"/>
                                          </p:val>
                                        </p:tav>
                                      </p:tavLst>
                                    </p:anim>
                                    <p:anim calcmode="lin" valueType="num">
                                      <p:cBhvr>
                                        <p:cTn id="73" dur="1000"/>
                                        <p:tgtEl>
                                          <p:spTgt spid="10"/>
                                        </p:tgtEl>
                                        <p:attrNameLst>
                                          <p:attrName>ppt_y</p:attrName>
                                        </p:attrNameLst>
                                      </p:cBhvr>
                                      <p:tavLst>
                                        <p:tav tm="0">
                                          <p:val>
                                            <p:strVal val="ppt_y"/>
                                          </p:val>
                                        </p:tav>
                                        <p:tav tm="100000">
                                          <p:val>
                                            <p:strVal val="ppt_y-.1"/>
                                          </p:val>
                                        </p:tav>
                                      </p:tavLst>
                                    </p:anim>
                                    <p:set>
                                      <p:cBhvr>
                                        <p:cTn id="74" dur="1" fill="hold">
                                          <p:stCondLst>
                                            <p:cond delay="999"/>
                                          </p:stCondLst>
                                        </p:cTn>
                                        <p:tgtEl>
                                          <p:spTgt spid="10"/>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61"/>
                                        </p:tgtEl>
                                        <p:attrNameLst>
                                          <p:attrName>style.visibility</p:attrName>
                                        </p:attrNameLst>
                                      </p:cBhvr>
                                      <p:to>
                                        <p:strVal val="visible"/>
                                      </p:to>
                                    </p:set>
                                    <p:animEffect transition="in" filter="fade">
                                      <p:cBhvr>
                                        <p:cTn id="79" dur="1000"/>
                                        <p:tgtEl>
                                          <p:spTgt spid="61"/>
                                        </p:tgtEl>
                                      </p:cBhvr>
                                    </p:animEffect>
                                    <p:anim calcmode="lin" valueType="num">
                                      <p:cBhvr>
                                        <p:cTn id="80" dur="1000" fill="hold"/>
                                        <p:tgtEl>
                                          <p:spTgt spid="61"/>
                                        </p:tgtEl>
                                        <p:attrNameLst>
                                          <p:attrName>ppt_x</p:attrName>
                                        </p:attrNameLst>
                                      </p:cBhvr>
                                      <p:tavLst>
                                        <p:tav tm="0">
                                          <p:val>
                                            <p:strVal val="#ppt_x"/>
                                          </p:val>
                                        </p:tav>
                                        <p:tav tm="100000">
                                          <p:val>
                                            <p:strVal val="#ppt_x"/>
                                          </p:val>
                                        </p:tav>
                                      </p:tavLst>
                                    </p:anim>
                                    <p:anim calcmode="lin" valueType="num">
                                      <p:cBhvr>
                                        <p:cTn id="81" dur="1000" fill="hold"/>
                                        <p:tgtEl>
                                          <p:spTgt spid="61"/>
                                        </p:tgtEl>
                                        <p:attrNameLst>
                                          <p:attrName>ppt_y</p:attrName>
                                        </p:attrNameLst>
                                      </p:cBhvr>
                                      <p:tavLst>
                                        <p:tav tm="0">
                                          <p:val>
                                            <p:strVal val="#ppt_y+.1"/>
                                          </p:val>
                                        </p:tav>
                                        <p:tav tm="100000">
                                          <p:val>
                                            <p:strVal val="#ppt_y"/>
                                          </p:val>
                                        </p:tav>
                                      </p:tavLst>
                                    </p:anim>
                                  </p:childTnLst>
                                </p:cTn>
                              </p:par>
                            </p:childTnLst>
                          </p:cTn>
                        </p:par>
                        <p:par>
                          <p:cTn id="82" fill="hold">
                            <p:stCondLst>
                              <p:cond delay="1000"/>
                            </p:stCondLst>
                            <p:childTnLst>
                              <p:par>
                                <p:cTn id="83" presetID="22" presetClass="entr" presetSubtype="8" fill="hold" grpId="0" nodeType="afterEffect">
                                  <p:stCondLst>
                                    <p:cond delay="0"/>
                                  </p:stCondLst>
                                  <p:childTnLst>
                                    <p:set>
                                      <p:cBhvr>
                                        <p:cTn id="84" dur="1" fill="hold">
                                          <p:stCondLst>
                                            <p:cond delay="0"/>
                                          </p:stCondLst>
                                        </p:cTn>
                                        <p:tgtEl>
                                          <p:spTgt spid="47"/>
                                        </p:tgtEl>
                                        <p:attrNameLst>
                                          <p:attrName>style.visibility</p:attrName>
                                        </p:attrNameLst>
                                      </p:cBhvr>
                                      <p:to>
                                        <p:strVal val="visible"/>
                                      </p:to>
                                    </p:set>
                                    <p:animEffect transition="in" filter="wipe(left)">
                                      <p:cBhvr>
                                        <p:cTn id="85" dur="1500"/>
                                        <p:tgtEl>
                                          <p:spTgt spid="47"/>
                                        </p:tgtEl>
                                      </p:cBhvr>
                                    </p:animEffect>
                                  </p:childTnLst>
                                </p:cTn>
                              </p:par>
                            </p:childTnLst>
                          </p:cTn>
                        </p:par>
                      </p:childTnLst>
                    </p:cTn>
                  </p:par>
                  <p:par>
                    <p:cTn id="86" fill="hold">
                      <p:stCondLst>
                        <p:cond delay="indefinite"/>
                      </p:stCondLst>
                      <p:childTnLst>
                        <p:par>
                          <p:cTn id="87" fill="hold">
                            <p:stCondLst>
                              <p:cond delay="0"/>
                            </p:stCondLst>
                            <p:childTnLst>
                              <p:par>
                                <p:cTn id="88" presetID="47" presetClass="exit" presetSubtype="0" fill="hold" nodeType="clickEffect">
                                  <p:stCondLst>
                                    <p:cond delay="0"/>
                                  </p:stCondLst>
                                  <p:childTnLst>
                                    <p:animEffect transition="out" filter="fade">
                                      <p:cBhvr>
                                        <p:cTn id="89" dur="1000"/>
                                        <p:tgtEl>
                                          <p:spTgt spid="11"/>
                                        </p:tgtEl>
                                      </p:cBhvr>
                                    </p:animEffect>
                                    <p:anim calcmode="lin" valueType="num">
                                      <p:cBhvr>
                                        <p:cTn id="90" dur="1000"/>
                                        <p:tgtEl>
                                          <p:spTgt spid="11"/>
                                        </p:tgtEl>
                                        <p:attrNameLst>
                                          <p:attrName>ppt_x</p:attrName>
                                        </p:attrNameLst>
                                      </p:cBhvr>
                                      <p:tavLst>
                                        <p:tav tm="0">
                                          <p:val>
                                            <p:strVal val="ppt_x"/>
                                          </p:val>
                                        </p:tav>
                                        <p:tav tm="100000">
                                          <p:val>
                                            <p:strVal val="ppt_x"/>
                                          </p:val>
                                        </p:tav>
                                      </p:tavLst>
                                    </p:anim>
                                    <p:anim calcmode="lin" valueType="num">
                                      <p:cBhvr>
                                        <p:cTn id="91" dur="1000"/>
                                        <p:tgtEl>
                                          <p:spTgt spid="11"/>
                                        </p:tgtEl>
                                        <p:attrNameLst>
                                          <p:attrName>ppt_y</p:attrName>
                                        </p:attrNameLst>
                                      </p:cBhvr>
                                      <p:tavLst>
                                        <p:tav tm="0">
                                          <p:val>
                                            <p:strVal val="ppt_y"/>
                                          </p:val>
                                        </p:tav>
                                        <p:tav tm="100000">
                                          <p:val>
                                            <p:strVal val="ppt_y-.1"/>
                                          </p:val>
                                        </p:tav>
                                      </p:tavLst>
                                    </p:anim>
                                    <p:set>
                                      <p:cBhvr>
                                        <p:cTn id="92" dur="1" fill="hold">
                                          <p:stCondLst>
                                            <p:cond delay="999"/>
                                          </p:stCondLst>
                                        </p:cTn>
                                        <p:tgtEl>
                                          <p:spTgt spid="11"/>
                                        </p:tgtEl>
                                        <p:attrNameLst>
                                          <p:attrName>style.visibility</p:attrName>
                                        </p:attrNameLst>
                                      </p:cBhvr>
                                      <p:to>
                                        <p:strVal val="hidden"/>
                                      </p:to>
                                    </p:set>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63"/>
                                        </p:tgtEl>
                                        <p:attrNameLst>
                                          <p:attrName>style.visibility</p:attrName>
                                        </p:attrNameLst>
                                      </p:cBhvr>
                                      <p:to>
                                        <p:strVal val="visible"/>
                                      </p:to>
                                    </p:set>
                                    <p:animEffect transition="in" filter="fade">
                                      <p:cBhvr>
                                        <p:cTn id="97" dur="1000"/>
                                        <p:tgtEl>
                                          <p:spTgt spid="63"/>
                                        </p:tgtEl>
                                      </p:cBhvr>
                                    </p:animEffect>
                                    <p:anim calcmode="lin" valueType="num">
                                      <p:cBhvr>
                                        <p:cTn id="98" dur="1000" fill="hold"/>
                                        <p:tgtEl>
                                          <p:spTgt spid="63"/>
                                        </p:tgtEl>
                                        <p:attrNameLst>
                                          <p:attrName>ppt_x</p:attrName>
                                        </p:attrNameLst>
                                      </p:cBhvr>
                                      <p:tavLst>
                                        <p:tav tm="0">
                                          <p:val>
                                            <p:strVal val="#ppt_x"/>
                                          </p:val>
                                        </p:tav>
                                        <p:tav tm="100000">
                                          <p:val>
                                            <p:strVal val="#ppt_x"/>
                                          </p:val>
                                        </p:tav>
                                      </p:tavLst>
                                    </p:anim>
                                    <p:anim calcmode="lin" valueType="num">
                                      <p:cBhvr>
                                        <p:cTn id="99" dur="1000" fill="hold"/>
                                        <p:tgtEl>
                                          <p:spTgt spid="63"/>
                                        </p:tgtEl>
                                        <p:attrNameLst>
                                          <p:attrName>ppt_y</p:attrName>
                                        </p:attrNameLst>
                                      </p:cBhvr>
                                      <p:tavLst>
                                        <p:tav tm="0">
                                          <p:val>
                                            <p:strVal val="#ppt_y+.1"/>
                                          </p:val>
                                        </p:tav>
                                        <p:tav tm="100000">
                                          <p:val>
                                            <p:strVal val="#ppt_y"/>
                                          </p:val>
                                        </p:tav>
                                      </p:tavLst>
                                    </p:anim>
                                  </p:childTnLst>
                                </p:cTn>
                              </p:par>
                            </p:childTnLst>
                          </p:cTn>
                        </p:par>
                        <p:par>
                          <p:cTn id="100" fill="hold">
                            <p:stCondLst>
                              <p:cond delay="1000"/>
                            </p:stCondLst>
                            <p:childTnLst>
                              <p:par>
                                <p:cTn id="101" presetID="22" presetClass="entr" presetSubtype="8" fill="hold" grpId="0" nodeType="afterEffect">
                                  <p:stCondLst>
                                    <p:cond delay="0"/>
                                  </p:stCondLst>
                                  <p:childTnLst>
                                    <p:set>
                                      <p:cBhvr>
                                        <p:cTn id="102" dur="1" fill="hold">
                                          <p:stCondLst>
                                            <p:cond delay="0"/>
                                          </p:stCondLst>
                                        </p:cTn>
                                        <p:tgtEl>
                                          <p:spTgt spid="50"/>
                                        </p:tgtEl>
                                        <p:attrNameLst>
                                          <p:attrName>style.visibility</p:attrName>
                                        </p:attrNameLst>
                                      </p:cBhvr>
                                      <p:to>
                                        <p:strVal val="visible"/>
                                      </p:to>
                                    </p:set>
                                    <p:animEffect transition="in" filter="wipe(left)">
                                      <p:cBhvr>
                                        <p:cTn id="103" dur="1500"/>
                                        <p:tgtEl>
                                          <p:spTgt spid="50"/>
                                        </p:tgtEl>
                                      </p:cBhvr>
                                    </p:animEffect>
                                  </p:childTnLst>
                                </p:cTn>
                              </p:par>
                            </p:childTnLst>
                          </p:cTn>
                        </p:par>
                      </p:childTnLst>
                    </p:cTn>
                  </p:par>
                  <p:par>
                    <p:cTn id="104" fill="hold">
                      <p:stCondLst>
                        <p:cond delay="indefinite"/>
                      </p:stCondLst>
                      <p:childTnLst>
                        <p:par>
                          <p:cTn id="105" fill="hold">
                            <p:stCondLst>
                              <p:cond delay="0"/>
                            </p:stCondLst>
                            <p:childTnLst>
                              <p:par>
                                <p:cTn id="106" presetID="47" presetClass="exit" presetSubtype="0" fill="hold" nodeType="clickEffect">
                                  <p:stCondLst>
                                    <p:cond delay="0"/>
                                  </p:stCondLst>
                                  <p:childTnLst>
                                    <p:animEffect transition="out" filter="fade">
                                      <p:cBhvr>
                                        <p:cTn id="107" dur="1000"/>
                                        <p:tgtEl>
                                          <p:spTgt spid="12"/>
                                        </p:tgtEl>
                                      </p:cBhvr>
                                    </p:animEffect>
                                    <p:anim calcmode="lin" valueType="num">
                                      <p:cBhvr>
                                        <p:cTn id="108" dur="1000"/>
                                        <p:tgtEl>
                                          <p:spTgt spid="12"/>
                                        </p:tgtEl>
                                        <p:attrNameLst>
                                          <p:attrName>ppt_x</p:attrName>
                                        </p:attrNameLst>
                                      </p:cBhvr>
                                      <p:tavLst>
                                        <p:tav tm="0">
                                          <p:val>
                                            <p:strVal val="ppt_x"/>
                                          </p:val>
                                        </p:tav>
                                        <p:tav tm="100000">
                                          <p:val>
                                            <p:strVal val="ppt_x"/>
                                          </p:val>
                                        </p:tav>
                                      </p:tavLst>
                                    </p:anim>
                                    <p:anim calcmode="lin" valueType="num">
                                      <p:cBhvr>
                                        <p:cTn id="109" dur="1000"/>
                                        <p:tgtEl>
                                          <p:spTgt spid="12"/>
                                        </p:tgtEl>
                                        <p:attrNameLst>
                                          <p:attrName>ppt_y</p:attrName>
                                        </p:attrNameLst>
                                      </p:cBhvr>
                                      <p:tavLst>
                                        <p:tav tm="0">
                                          <p:val>
                                            <p:strVal val="ppt_y"/>
                                          </p:val>
                                        </p:tav>
                                        <p:tav tm="100000">
                                          <p:val>
                                            <p:strVal val="ppt_y-.1"/>
                                          </p:val>
                                        </p:tav>
                                      </p:tavLst>
                                    </p:anim>
                                    <p:set>
                                      <p:cBhvr>
                                        <p:cTn id="110" dur="1" fill="hold">
                                          <p:stCondLst>
                                            <p:cond delay="999"/>
                                          </p:stCondLst>
                                        </p:cTn>
                                        <p:tgtEl>
                                          <p:spTgt spid="12"/>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grpId="0" nodeType="clickEffect">
                                  <p:stCondLst>
                                    <p:cond delay="0"/>
                                  </p:stCondLst>
                                  <p:childTnLst>
                                    <p:set>
                                      <p:cBhvr>
                                        <p:cTn id="114" dur="1" fill="hold">
                                          <p:stCondLst>
                                            <p:cond delay="0"/>
                                          </p:stCondLst>
                                        </p:cTn>
                                        <p:tgtEl>
                                          <p:spTgt spid="64"/>
                                        </p:tgtEl>
                                        <p:attrNameLst>
                                          <p:attrName>style.visibility</p:attrName>
                                        </p:attrNameLst>
                                      </p:cBhvr>
                                      <p:to>
                                        <p:strVal val="visible"/>
                                      </p:to>
                                    </p:set>
                                    <p:animEffect transition="in" filter="fade">
                                      <p:cBhvr>
                                        <p:cTn id="115" dur="1000"/>
                                        <p:tgtEl>
                                          <p:spTgt spid="64"/>
                                        </p:tgtEl>
                                      </p:cBhvr>
                                    </p:animEffect>
                                    <p:anim calcmode="lin" valueType="num">
                                      <p:cBhvr>
                                        <p:cTn id="116" dur="1000" fill="hold"/>
                                        <p:tgtEl>
                                          <p:spTgt spid="64"/>
                                        </p:tgtEl>
                                        <p:attrNameLst>
                                          <p:attrName>ppt_x</p:attrName>
                                        </p:attrNameLst>
                                      </p:cBhvr>
                                      <p:tavLst>
                                        <p:tav tm="0">
                                          <p:val>
                                            <p:strVal val="#ppt_x"/>
                                          </p:val>
                                        </p:tav>
                                        <p:tav tm="100000">
                                          <p:val>
                                            <p:strVal val="#ppt_x"/>
                                          </p:val>
                                        </p:tav>
                                      </p:tavLst>
                                    </p:anim>
                                    <p:anim calcmode="lin" valueType="num">
                                      <p:cBhvr>
                                        <p:cTn id="117" dur="1000" fill="hold"/>
                                        <p:tgtEl>
                                          <p:spTgt spid="64"/>
                                        </p:tgtEl>
                                        <p:attrNameLst>
                                          <p:attrName>ppt_y</p:attrName>
                                        </p:attrNameLst>
                                      </p:cBhvr>
                                      <p:tavLst>
                                        <p:tav tm="0">
                                          <p:val>
                                            <p:strVal val="#ppt_y+.1"/>
                                          </p:val>
                                        </p:tav>
                                        <p:tav tm="100000">
                                          <p:val>
                                            <p:strVal val="#ppt_y"/>
                                          </p:val>
                                        </p:tav>
                                      </p:tavLst>
                                    </p:anim>
                                  </p:childTnLst>
                                </p:cTn>
                              </p:par>
                            </p:childTnLst>
                          </p:cTn>
                        </p:par>
                        <p:par>
                          <p:cTn id="118" fill="hold">
                            <p:stCondLst>
                              <p:cond delay="1000"/>
                            </p:stCondLst>
                            <p:childTnLst>
                              <p:par>
                                <p:cTn id="119" presetID="22" presetClass="entr" presetSubtype="8" fill="hold" grpId="0" nodeType="afterEffect">
                                  <p:stCondLst>
                                    <p:cond delay="0"/>
                                  </p:stCondLst>
                                  <p:childTnLst>
                                    <p:set>
                                      <p:cBhvr>
                                        <p:cTn id="120" dur="1" fill="hold">
                                          <p:stCondLst>
                                            <p:cond delay="0"/>
                                          </p:stCondLst>
                                        </p:cTn>
                                        <p:tgtEl>
                                          <p:spTgt spid="51"/>
                                        </p:tgtEl>
                                        <p:attrNameLst>
                                          <p:attrName>style.visibility</p:attrName>
                                        </p:attrNameLst>
                                      </p:cBhvr>
                                      <p:to>
                                        <p:strVal val="visible"/>
                                      </p:to>
                                    </p:set>
                                    <p:animEffect transition="in" filter="wipe(left)">
                                      <p:cBhvr>
                                        <p:cTn id="121" dur="1500"/>
                                        <p:tgtEl>
                                          <p:spTgt spid="51"/>
                                        </p:tgtEl>
                                      </p:cBhvr>
                                    </p:animEffect>
                                  </p:childTnLst>
                                </p:cTn>
                              </p:par>
                            </p:childTnLst>
                          </p:cTn>
                        </p:par>
                      </p:childTnLst>
                    </p:cTn>
                  </p:par>
                  <p:par>
                    <p:cTn id="122" fill="hold">
                      <p:stCondLst>
                        <p:cond delay="indefinite"/>
                      </p:stCondLst>
                      <p:childTnLst>
                        <p:par>
                          <p:cTn id="123" fill="hold">
                            <p:stCondLst>
                              <p:cond delay="0"/>
                            </p:stCondLst>
                            <p:childTnLst>
                              <p:par>
                                <p:cTn id="124" presetID="47" presetClass="exit" presetSubtype="0" fill="hold" grpId="0" nodeType="clickEffect">
                                  <p:stCondLst>
                                    <p:cond delay="0"/>
                                  </p:stCondLst>
                                  <p:childTnLst>
                                    <p:animEffect transition="out" filter="fade">
                                      <p:cBhvr>
                                        <p:cTn id="125" dur="1000"/>
                                        <p:tgtEl>
                                          <p:spTgt spid="18"/>
                                        </p:tgtEl>
                                      </p:cBhvr>
                                    </p:animEffect>
                                    <p:anim calcmode="lin" valueType="num">
                                      <p:cBhvr>
                                        <p:cTn id="126" dur="1000"/>
                                        <p:tgtEl>
                                          <p:spTgt spid="18"/>
                                        </p:tgtEl>
                                        <p:attrNameLst>
                                          <p:attrName>ppt_x</p:attrName>
                                        </p:attrNameLst>
                                      </p:cBhvr>
                                      <p:tavLst>
                                        <p:tav tm="0">
                                          <p:val>
                                            <p:strVal val="ppt_x"/>
                                          </p:val>
                                        </p:tav>
                                        <p:tav tm="100000">
                                          <p:val>
                                            <p:strVal val="ppt_x"/>
                                          </p:val>
                                        </p:tav>
                                      </p:tavLst>
                                    </p:anim>
                                    <p:anim calcmode="lin" valueType="num">
                                      <p:cBhvr>
                                        <p:cTn id="127" dur="1000"/>
                                        <p:tgtEl>
                                          <p:spTgt spid="18"/>
                                        </p:tgtEl>
                                        <p:attrNameLst>
                                          <p:attrName>ppt_y</p:attrName>
                                        </p:attrNameLst>
                                      </p:cBhvr>
                                      <p:tavLst>
                                        <p:tav tm="0">
                                          <p:val>
                                            <p:strVal val="ppt_y"/>
                                          </p:val>
                                        </p:tav>
                                        <p:tav tm="100000">
                                          <p:val>
                                            <p:strVal val="ppt_y-.1"/>
                                          </p:val>
                                        </p:tav>
                                      </p:tavLst>
                                    </p:anim>
                                    <p:set>
                                      <p:cBhvr>
                                        <p:cTn id="128" dur="1" fill="hold">
                                          <p:stCondLst>
                                            <p:cond delay="999"/>
                                          </p:stCondLst>
                                        </p:cTn>
                                        <p:tgtEl>
                                          <p:spTgt spid="18"/>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62"/>
                                        </p:tgtEl>
                                        <p:attrNameLst>
                                          <p:attrName>style.visibility</p:attrName>
                                        </p:attrNameLst>
                                      </p:cBhvr>
                                      <p:to>
                                        <p:strVal val="visible"/>
                                      </p:to>
                                    </p:set>
                                    <p:animEffect transition="in" filter="fade">
                                      <p:cBhvr>
                                        <p:cTn id="133" dur="1000"/>
                                        <p:tgtEl>
                                          <p:spTgt spid="62"/>
                                        </p:tgtEl>
                                      </p:cBhvr>
                                    </p:animEffect>
                                    <p:anim calcmode="lin" valueType="num">
                                      <p:cBhvr>
                                        <p:cTn id="134" dur="1000" fill="hold"/>
                                        <p:tgtEl>
                                          <p:spTgt spid="62"/>
                                        </p:tgtEl>
                                        <p:attrNameLst>
                                          <p:attrName>ppt_x</p:attrName>
                                        </p:attrNameLst>
                                      </p:cBhvr>
                                      <p:tavLst>
                                        <p:tav tm="0">
                                          <p:val>
                                            <p:strVal val="#ppt_x"/>
                                          </p:val>
                                        </p:tav>
                                        <p:tav tm="100000">
                                          <p:val>
                                            <p:strVal val="#ppt_x"/>
                                          </p:val>
                                        </p:tav>
                                      </p:tavLst>
                                    </p:anim>
                                    <p:anim calcmode="lin" valueType="num">
                                      <p:cBhvr>
                                        <p:cTn id="135" dur="1000" fill="hold"/>
                                        <p:tgtEl>
                                          <p:spTgt spid="62"/>
                                        </p:tgtEl>
                                        <p:attrNameLst>
                                          <p:attrName>ppt_y</p:attrName>
                                        </p:attrNameLst>
                                      </p:cBhvr>
                                      <p:tavLst>
                                        <p:tav tm="0">
                                          <p:val>
                                            <p:strVal val="#ppt_y+.1"/>
                                          </p:val>
                                        </p:tav>
                                        <p:tav tm="100000">
                                          <p:val>
                                            <p:strVal val="#ppt_y"/>
                                          </p:val>
                                        </p:tav>
                                      </p:tavLst>
                                    </p:anim>
                                  </p:childTnLst>
                                </p:cTn>
                              </p:par>
                            </p:childTnLst>
                          </p:cTn>
                        </p:par>
                        <p:par>
                          <p:cTn id="136" fill="hold">
                            <p:stCondLst>
                              <p:cond delay="1000"/>
                            </p:stCondLst>
                            <p:childTnLst>
                              <p:par>
                                <p:cTn id="137" presetID="22" presetClass="entr" presetSubtype="8" fill="hold" grpId="0" nodeType="afterEffect">
                                  <p:stCondLst>
                                    <p:cond delay="0"/>
                                  </p:stCondLst>
                                  <p:childTnLst>
                                    <p:set>
                                      <p:cBhvr>
                                        <p:cTn id="138" dur="1" fill="hold">
                                          <p:stCondLst>
                                            <p:cond delay="0"/>
                                          </p:stCondLst>
                                        </p:cTn>
                                        <p:tgtEl>
                                          <p:spTgt spid="53"/>
                                        </p:tgtEl>
                                        <p:attrNameLst>
                                          <p:attrName>style.visibility</p:attrName>
                                        </p:attrNameLst>
                                      </p:cBhvr>
                                      <p:to>
                                        <p:strVal val="visible"/>
                                      </p:to>
                                    </p:set>
                                    <p:animEffect transition="in" filter="wipe(left)">
                                      <p:cBhvr>
                                        <p:cTn id="139" dur="1500"/>
                                        <p:tgtEl>
                                          <p:spTgt spid="53"/>
                                        </p:tgtEl>
                                      </p:cBhvr>
                                    </p:animEffect>
                                  </p:childTnLst>
                                </p:cTn>
                              </p:par>
                            </p:childTnLst>
                          </p:cTn>
                        </p:par>
                      </p:childTnLst>
                    </p:cTn>
                  </p:par>
                  <p:par>
                    <p:cTn id="140" fill="hold">
                      <p:stCondLst>
                        <p:cond delay="indefinite"/>
                      </p:stCondLst>
                      <p:childTnLst>
                        <p:par>
                          <p:cTn id="141" fill="hold">
                            <p:stCondLst>
                              <p:cond delay="0"/>
                            </p:stCondLst>
                            <p:childTnLst>
                              <p:par>
                                <p:cTn id="142" presetID="47" presetClass="exit" presetSubtype="0" fill="hold" grpId="0" nodeType="clickEffect">
                                  <p:stCondLst>
                                    <p:cond delay="0"/>
                                  </p:stCondLst>
                                  <p:childTnLst>
                                    <p:animEffect transition="out" filter="fade">
                                      <p:cBhvr>
                                        <p:cTn id="143" dur="1000"/>
                                        <p:tgtEl>
                                          <p:spTgt spid="20"/>
                                        </p:tgtEl>
                                      </p:cBhvr>
                                    </p:animEffect>
                                    <p:anim calcmode="lin" valueType="num">
                                      <p:cBhvr>
                                        <p:cTn id="144" dur="1000"/>
                                        <p:tgtEl>
                                          <p:spTgt spid="20"/>
                                        </p:tgtEl>
                                        <p:attrNameLst>
                                          <p:attrName>ppt_x</p:attrName>
                                        </p:attrNameLst>
                                      </p:cBhvr>
                                      <p:tavLst>
                                        <p:tav tm="0">
                                          <p:val>
                                            <p:strVal val="ppt_x"/>
                                          </p:val>
                                        </p:tav>
                                        <p:tav tm="100000">
                                          <p:val>
                                            <p:strVal val="ppt_x"/>
                                          </p:val>
                                        </p:tav>
                                      </p:tavLst>
                                    </p:anim>
                                    <p:anim calcmode="lin" valueType="num">
                                      <p:cBhvr>
                                        <p:cTn id="145" dur="1000"/>
                                        <p:tgtEl>
                                          <p:spTgt spid="20"/>
                                        </p:tgtEl>
                                        <p:attrNameLst>
                                          <p:attrName>ppt_y</p:attrName>
                                        </p:attrNameLst>
                                      </p:cBhvr>
                                      <p:tavLst>
                                        <p:tav tm="0">
                                          <p:val>
                                            <p:strVal val="ppt_y"/>
                                          </p:val>
                                        </p:tav>
                                        <p:tav tm="100000">
                                          <p:val>
                                            <p:strVal val="ppt_y-.1"/>
                                          </p:val>
                                        </p:tav>
                                      </p:tavLst>
                                    </p:anim>
                                    <p:set>
                                      <p:cBhvr>
                                        <p:cTn id="146" dur="1" fill="hold">
                                          <p:stCondLst>
                                            <p:cond delay="999"/>
                                          </p:stCondLst>
                                        </p:cTn>
                                        <p:tgtEl>
                                          <p:spTgt spid="20"/>
                                        </p:tgtEl>
                                        <p:attrNameLst>
                                          <p:attrName>style.visibility</p:attrName>
                                        </p:attrNameLst>
                                      </p:cBhvr>
                                      <p:to>
                                        <p:strVal val="hidden"/>
                                      </p:to>
                                    </p:set>
                                  </p:childTnLst>
                                </p:cTn>
                              </p:par>
                            </p:childTnLst>
                          </p:cTn>
                        </p:par>
                      </p:childTnLst>
                    </p:cTn>
                  </p:par>
                  <p:par>
                    <p:cTn id="147" fill="hold">
                      <p:stCondLst>
                        <p:cond delay="indefinite"/>
                      </p:stCondLst>
                      <p:childTnLst>
                        <p:par>
                          <p:cTn id="148" fill="hold">
                            <p:stCondLst>
                              <p:cond delay="0"/>
                            </p:stCondLst>
                            <p:childTnLst>
                              <p:par>
                                <p:cTn id="149" presetID="42" presetClass="entr" presetSubtype="0" fill="hold" grpId="0" nodeType="clickEffect">
                                  <p:stCondLst>
                                    <p:cond delay="0"/>
                                  </p:stCondLst>
                                  <p:childTnLst>
                                    <p:set>
                                      <p:cBhvr>
                                        <p:cTn id="150" dur="1" fill="hold">
                                          <p:stCondLst>
                                            <p:cond delay="0"/>
                                          </p:stCondLst>
                                        </p:cTn>
                                        <p:tgtEl>
                                          <p:spTgt spid="65"/>
                                        </p:tgtEl>
                                        <p:attrNameLst>
                                          <p:attrName>style.visibility</p:attrName>
                                        </p:attrNameLst>
                                      </p:cBhvr>
                                      <p:to>
                                        <p:strVal val="visible"/>
                                      </p:to>
                                    </p:set>
                                    <p:animEffect transition="in" filter="fade">
                                      <p:cBhvr>
                                        <p:cTn id="151" dur="1000"/>
                                        <p:tgtEl>
                                          <p:spTgt spid="65"/>
                                        </p:tgtEl>
                                      </p:cBhvr>
                                    </p:animEffect>
                                    <p:anim calcmode="lin" valueType="num">
                                      <p:cBhvr>
                                        <p:cTn id="152" dur="1000" fill="hold"/>
                                        <p:tgtEl>
                                          <p:spTgt spid="65"/>
                                        </p:tgtEl>
                                        <p:attrNameLst>
                                          <p:attrName>ppt_x</p:attrName>
                                        </p:attrNameLst>
                                      </p:cBhvr>
                                      <p:tavLst>
                                        <p:tav tm="0">
                                          <p:val>
                                            <p:strVal val="#ppt_x"/>
                                          </p:val>
                                        </p:tav>
                                        <p:tav tm="100000">
                                          <p:val>
                                            <p:strVal val="#ppt_x"/>
                                          </p:val>
                                        </p:tav>
                                      </p:tavLst>
                                    </p:anim>
                                    <p:anim calcmode="lin" valueType="num">
                                      <p:cBhvr>
                                        <p:cTn id="153" dur="1000" fill="hold"/>
                                        <p:tgtEl>
                                          <p:spTgt spid="65"/>
                                        </p:tgtEl>
                                        <p:attrNameLst>
                                          <p:attrName>ppt_y</p:attrName>
                                        </p:attrNameLst>
                                      </p:cBhvr>
                                      <p:tavLst>
                                        <p:tav tm="0">
                                          <p:val>
                                            <p:strVal val="#ppt_y+.1"/>
                                          </p:val>
                                        </p:tav>
                                        <p:tav tm="100000">
                                          <p:val>
                                            <p:strVal val="#ppt_y"/>
                                          </p:val>
                                        </p:tav>
                                      </p:tavLst>
                                    </p:anim>
                                  </p:childTnLst>
                                </p:cTn>
                              </p:par>
                            </p:childTnLst>
                          </p:cTn>
                        </p:par>
                        <p:par>
                          <p:cTn id="154" fill="hold">
                            <p:stCondLst>
                              <p:cond delay="1000"/>
                            </p:stCondLst>
                            <p:childTnLst>
                              <p:par>
                                <p:cTn id="155" presetID="22" presetClass="entr" presetSubtype="8" fill="hold" grpId="0" nodeType="afterEffect">
                                  <p:stCondLst>
                                    <p:cond delay="0"/>
                                  </p:stCondLst>
                                  <p:childTnLst>
                                    <p:set>
                                      <p:cBhvr>
                                        <p:cTn id="156" dur="1" fill="hold">
                                          <p:stCondLst>
                                            <p:cond delay="0"/>
                                          </p:stCondLst>
                                        </p:cTn>
                                        <p:tgtEl>
                                          <p:spTgt spid="54"/>
                                        </p:tgtEl>
                                        <p:attrNameLst>
                                          <p:attrName>style.visibility</p:attrName>
                                        </p:attrNameLst>
                                      </p:cBhvr>
                                      <p:to>
                                        <p:strVal val="visible"/>
                                      </p:to>
                                    </p:set>
                                    <p:animEffect transition="in" filter="wipe(left)">
                                      <p:cBhvr>
                                        <p:cTn id="157" dur="1500"/>
                                        <p:tgtEl>
                                          <p:spTgt spid="54"/>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3">
                                            <p:txEl>
                                              <p:pRg st="11" end="11"/>
                                            </p:txEl>
                                          </p:spTgt>
                                        </p:tgtEl>
                                        <p:attrNameLst>
                                          <p:attrName>style.visibility</p:attrName>
                                        </p:attrNameLst>
                                      </p:cBhvr>
                                      <p:to>
                                        <p:strVal val="visible"/>
                                      </p:to>
                                    </p:set>
                                    <p:animEffect transition="in" filter="wipe(left)">
                                      <p:cBhvr>
                                        <p:cTn id="162" dur="3500"/>
                                        <p:tgtEl>
                                          <p:spTgt spid="3">
                                            <p:txEl>
                                              <p:pRg st="11" end="11"/>
                                            </p:txEl>
                                          </p:spTgt>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21"/>
                                        </p:tgtEl>
                                        <p:attrNameLst>
                                          <p:attrName>style.visibility</p:attrName>
                                        </p:attrNameLst>
                                      </p:cBhvr>
                                      <p:to>
                                        <p:strVal val="visible"/>
                                      </p:to>
                                    </p:set>
                                    <p:animEffect transition="in" filter="wipe(left)">
                                      <p:cBhvr>
                                        <p:cTn id="167"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P spid="18" grpId="0" animBg="1"/>
      <p:bldP spid="20" grpId="0" animBg="1"/>
      <p:bldP spid="58" grpId="0" animBg="1"/>
      <p:bldP spid="59" grpId="0" animBg="1"/>
      <p:bldP spid="60" grpId="0" animBg="1"/>
      <p:bldP spid="61" grpId="0" animBg="1"/>
      <p:bldP spid="62" grpId="0" animBg="1"/>
      <p:bldP spid="63" grpId="0" animBg="1"/>
      <p:bldP spid="64" grpId="0" animBg="1"/>
      <p:bldP spid="65" grpId="0" animBg="1"/>
      <p:bldP spid="66" grpId="0"/>
      <p:bldP spid="44" grpId="0"/>
      <p:bldP spid="45" grpId="0"/>
      <p:bldP spid="47" grpId="0"/>
      <p:bldP spid="50" grpId="0"/>
      <p:bldP spid="51" grpId="0"/>
      <p:bldP spid="53" grpId="0"/>
      <p:bldP spid="54" grpId="0"/>
      <p:bldP spid="9" grpId="0"/>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solidFill>
                  <a:srgbClr val="0070C0"/>
                </a:solidFill>
              </a:rPr>
              <a:t>Algorithm </a:t>
            </a:r>
            <a:r>
              <a:rPr lang="en-US" sz="3200" b="1" dirty="0"/>
              <a:t>for</a:t>
            </a:r>
            <a:r>
              <a:rPr lang="en-US" sz="3200" b="1" dirty="0">
                <a:solidFill>
                  <a:srgbClr val="7030A0"/>
                </a:solidFill>
              </a:rPr>
              <a:t> Topological ordering ? </a:t>
            </a:r>
            <a:br>
              <a:rPr lang="en-US" sz="3200" b="1" dirty="0">
                <a:solidFill>
                  <a:srgbClr val="7030A0"/>
                </a:solidFill>
              </a:rPr>
            </a:br>
            <a:endParaRPr lang="en-US" sz="3200" b="1" dirty="0"/>
          </a:p>
        </p:txBody>
      </p:sp>
      <p:sp>
        <p:nvSpPr>
          <p:cNvPr id="3" name="Content Placeholder 2"/>
          <p:cNvSpPr>
            <a:spLocks noGrp="1"/>
          </p:cNvSpPr>
          <p:nvPr>
            <p:ph idx="1"/>
          </p:nvPr>
        </p:nvSpPr>
        <p:spPr>
          <a:xfrm>
            <a:off x="457200" y="1143000"/>
            <a:ext cx="8229600" cy="5334000"/>
          </a:xfrm>
        </p:spPr>
        <p:txBody>
          <a:bodyPr/>
          <a:lstStyle/>
          <a:p>
            <a:pPr marL="0" indent="0">
              <a:buNone/>
            </a:pPr>
            <a:r>
              <a:rPr lang="en-US" sz="2000" b="1" dirty="0">
                <a:solidFill>
                  <a:srgbClr val="C00000"/>
                </a:solidFill>
              </a:rPr>
              <a:t>Question</a:t>
            </a:r>
            <a:r>
              <a:rPr lang="en-US" sz="2000" dirty="0"/>
              <a:t>:</a:t>
            </a:r>
          </a:p>
          <a:p>
            <a:pPr marL="0" indent="0">
              <a:buNone/>
            </a:pPr>
            <a:r>
              <a:rPr lang="en-US" sz="2000" dirty="0"/>
              <a:t>How to design a </a:t>
            </a:r>
            <a:r>
              <a:rPr lang="en-US" sz="2000" u="sng" dirty="0"/>
              <a:t>more efficient implementation</a:t>
            </a:r>
            <a:r>
              <a:rPr lang="en-US" sz="2000" dirty="0"/>
              <a:t> of the</a:t>
            </a:r>
            <a:r>
              <a:rPr lang="en-US" sz="2000" b="1" dirty="0">
                <a:solidFill>
                  <a:srgbClr val="C00000"/>
                </a:solidFill>
              </a:rPr>
              <a:t> </a:t>
            </a:r>
            <a:r>
              <a:rPr lang="en-US" sz="2000" dirty="0"/>
              <a:t>algorithm ?</a:t>
            </a:r>
          </a:p>
          <a:p>
            <a:pPr marL="0" indent="0">
              <a:buNone/>
            </a:pPr>
            <a:endParaRPr lang="en-US" sz="2000" dirty="0"/>
          </a:p>
          <a:p>
            <a:pPr marL="0" indent="0">
              <a:buNone/>
            </a:pPr>
            <a:endParaRPr lang="en-US" sz="2000" dirty="0"/>
          </a:p>
          <a:p>
            <a:pPr marL="0" indent="0">
              <a:buNone/>
            </a:pPr>
            <a:r>
              <a:rPr lang="en-US" sz="2000" b="1" dirty="0"/>
              <a:t>Main step of the </a:t>
            </a:r>
            <a:r>
              <a:rPr lang="en-US" sz="2000" b="1" dirty="0">
                <a:solidFill>
                  <a:srgbClr val="0070C0"/>
                </a:solidFill>
              </a:rPr>
              <a:t>current algorithm</a:t>
            </a:r>
            <a:r>
              <a:rPr lang="en-US" sz="2000" dirty="0"/>
              <a:t>:   </a:t>
            </a:r>
          </a:p>
          <a:p>
            <a:pPr marL="0" indent="0">
              <a:buNone/>
            </a:pPr>
            <a:endParaRPr lang="en-US" sz="2000" dirty="0"/>
          </a:p>
          <a:p>
            <a:r>
              <a:rPr lang="en-US" sz="2000" dirty="0"/>
              <a:t>Searching a vertex of </a:t>
            </a:r>
            <a:r>
              <a:rPr lang="en-US" sz="2000" b="1" dirty="0">
                <a:solidFill>
                  <a:srgbClr val="7030A0"/>
                </a:solidFill>
              </a:rPr>
              <a:t>in-degree</a:t>
            </a:r>
            <a:r>
              <a:rPr lang="en-US" sz="2000" dirty="0"/>
              <a:t> = </a:t>
            </a:r>
            <a:r>
              <a:rPr lang="en-US" sz="2000" dirty="0">
                <a:solidFill>
                  <a:srgbClr val="0070C0"/>
                </a:solidFill>
              </a:rPr>
              <a:t>0</a:t>
            </a:r>
          </a:p>
          <a:p>
            <a:pPr marL="0" indent="0">
              <a:buNone/>
            </a:pPr>
            <a:endParaRPr lang="en-US" sz="2000" dirty="0"/>
          </a:p>
          <a:p>
            <a:pPr marL="0" indent="0">
              <a:buNone/>
            </a:pPr>
            <a:endParaRPr lang="en-US" sz="2000" b="1" dirty="0"/>
          </a:p>
          <a:p>
            <a:pPr marL="0" indent="0">
              <a:buNone/>
            </a:pPr>
            <a:endParaRPr lang="en-US" sz="2000" b="1" dirty="0"/>
          </a:p>
          <a:p>
            <a:pPr marL="0" indent="0">
              <a:buNone/>
            </a:pPr>
            <a:r>
              <a:rPr lang="en-US" sz="2000" b="1" dirty="0"/>
              <a:t>Hints</a:t>
            </a:r>
            <a:r>
              <a:rPr lang="en-US" sz="2000" dirty="0"/>
              <a:t>:</a:t>
            </a:r>
          </a:p>
          <a:p>
            <a:pPr marL="0" indent="0">
              <a:buNone/>
            </a:pPr>
            <a:r>
              <a:rPr lang="en-US" sz="2000" dirty="0"/>
              <a:t>1. Maintain a set of vertices of  </a:t>
            </a:r>
            <a:r>
              <a:rPr lang="en-US" sz="2000" b="1" dirty="0">
                <a:solidFill>
                  <a:srgbClr val="7030A0"/>
                </a:solidFill>
              </a:rPr>
              <a:t>In-degree</a:t>
            </a:r>
            <a:r>
              <a:rPr lang="en-US" sz="2000" dirty="0"/>
              <a:t>=0</a:t>
            </a:r>
          </a:p>
          <a:p>
            <a:pPr marL="0" indent="0">
              <a:buNone/>
            </a:pPr>
            <a:r>
              <a:rPr lang="en-US" sz="2000" dirty="0"/>
              <a:t>2. Keep an array </a:t>
            </a:r>
            <a:r>
              <a:rPr lang="en-US" sz="2000" b="1" dirty="0">
                <a:solidFill>
                  <a:srgbClr val="7030A0"/>
                </a:solidFill>
              </a:rPr>
              <a:t>In-degree</a:t>
            </a:r>
            <a:r>
              <a:rPr lang="en-US" sz="2000" dirty="0"/>
              <a:t>[] that stores for each vertex the number of edges entering it at any stage during the algorithm.</a:t>
            </a:r>
          </a:p>
          <a:p>
            <a:pPr marL="0" indent="0">
              <a:buNone/>
            </a:pPr>
            <a:r>
              <a:rPr lang="en-US" sz="2000" dirty="0"/>
              <a:t> </a:t>
            </a:r>
          </a:p>
          <a:p>
            <a:pPr marL="0" indent="0">
              <a:buNone/>
            </a:pPr>
            <a:endParaRPr lang="en-US" sz="2000" dirty="0"/>
          </a:p>
          <a:p>
            <a:pPr marL="0" indent="0">
              <a:buNone/>
            </a:pPr>
            <a:endParaRPr lang="en-US" sz="2000" dirty="0"/>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24</a:t>
            </a:fld>
            <a:endParaRPr lang="en-US"/>
          </a:p>
        </p:txBody>
      </p:sp>
      <mc:AlternateContent xmlns:mc="http://schemas.openxmlformats.org/markup-compatibility/2006" xmlns:a14="http://schemas.microsoft.com/office/drawing/2010/main">
        <mc:Choice Requires="a14">
          <p:sp>
            <p:nvSpPr>
              <p:cNvPr id="8" name="Down Ribbon 7">
                <a:extLst>
                  <a:ext uri="{FF2B5EF4-FFF2-40B4-BE49-F238E27FC236}">
                    <a16:creationId xmlns:a16="http://schemas.microsoft.com/office/drawing/2014/main" id="{EC6E0C49-B7F2-5523-C62A-0209A5277C68}"/>
                  </a:ext>
                </a:extLst>
              </p:cNvPr>
              <p:cNvSpPr/>
              <p:nvPr/>
            </p:nvSpPr>
            <p:spPr>
              <a:xfrm>
                <a:off x="5791200" y="1891398"/>
                <a:ext cx="2133600" cy="789203"/>
              </a:xfrm>
              <a:prstGeom prst="ribbon">
                <a:avLst>
                  <a:gd name="adj1" fmla="val 16667"/>
                  <a:gd name="adj2" fmla="val 7500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1" i="1" dirty="0" smtClean="0">
                        <a:solidFill>
                          <a:schemeClr val="tx1"/>
                        </a:solidFill>
                        <a:latin typeface="Cambria Math"/>
                      </a:rPr>
                      <m:t>𝑶</m:t>
                    </m:r>
                    <m:r>
                      <a:rPr lang="en-US" b="1" i="1" dirty="0" smtClean="0">
                        <a:solidFill>
                          <a:schemeClr val="tx1"/>
                        </a:solidFill>
                        <a:latin typeface="Cambria Math"/>
                      </a:rPr>
                      <m:t>(</m:t>
                    </m:r>
                    <m:r>
                      <a:rPr lang="en-US" b="1" i="1" dirty="0">
                        <a:solidFill>
                          <a:srgbClr val="0070C0"/>
                        </a:solidFill>
                        <a:latin typeface="Cambria Math"/>
                      </a:rPr>
                      <m:t>𝒎</m:t>
                    </m:r>
                    <m:r>
                      <a:rPr lang="en-US" b="1" i="1" dirty="0">
                        <a:solidFill>
                          <a:srgbClr val="0070C0"/>
                        </a:solidFill>
                        <a:latin typeface="Cambria Math"/>
                      </a:rPr>
                      <m:t>+</m:t>
                    </m:r>
                    <m:r>
                      <a:rPr lang="en-US" b="1" i="1" dirty="0">
                        <a:solidFill>
                          <a:srgbClr val="0070C0"/>
                        </a:solidFill>
                        <a:latin typeface="Cambria Math"/>
                      </a:rPr>
                      <m:t>𝒏</m:t>
                    </m:r>
                    <m:r>
                      <a:rPr lang="en-US" b="1" i="1" dirty="0" smtClean="0">
                        <a:solidFill>
                          <a:schemeClr val="tx1"/>
                        </a:solidFill>
                        <a:latin typeface="Cambria Math"/>
                      </a:rPr>
                      <m:t>)</m:t>
                    </m:r>
                  </m:oMath>
                </a14:m>
                <a:r>
                  <a:rPr lang="en-US" b="1" dirty="0">
                    <a:solidFill>
                      <a:srgbClr val="C00000"/>
                    </a:solidFill>
                  </a:rPr>
                  <a:t> </a:t>
                </a:r>
                <a:r>
                  <a:rPr lang="en-US" dirty="0">
                    <a:solidFill>
                      <a:schemeClr val="tx1"/>
                    </a:solidFill>
                  </a:rPr>
                  <a:t>time.</a:t>
                </a:r>
              </a:p>
            </p:txBody>
          </p:sp>
        </mc:Choice>
        <mc:Fallback xmlns="">
          <p:sp>
            <p:nvSpPr>
              <p:cNvPr id="8" name="Down Ribbon 7">
                <a:extLst>
                  <a:ext uri="{FF2B5EF4-FFF2-40B4-BE49-F238E27FC236}">
                    <a16:creationId xmlns:a16="http://schemas.microsoft.com/office/drawing/2014/main" id="{EC6E0C49-B7F2-5523-C62A-0209A5277C68}"/>
                  </a:ext>
                </a:extLst>
              </p:cNvPr>
              <p:cNvSpPr>
                <a:spLocks noRot="1" noChangeAspect="1" noMove="1" noResize="1" noEditPoints="1" noAdjustHandles="1" noChangeArrowheads="1" noChangeShapeType="1" noTextEdit="1"/>
              </p:cNvSpPr>
              <p:nvPr/>
            </p:nvSpPr>
            <p:spPr>
              <a:xfrm>
                <a:off x="5791200" y="1891398"/>
                <a:ext cx="2133600" cy="789203"/>
              </a:xfrm>
              <a:prstGeom prst="ribbon">
                <a:avLst>
                  <a:gd name="adj1" fmla="val 16667"/>
                  <a:gd name="adj2" fmla="val 75000"/>
                </a:avLst>
              </a:prstGeom>
              <a:blipFill>
                <a:blip r:embed="rId2"/>
                <a:stretch>
                  <a:fillRect b="-8955"/>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1A2C2BEB-1514-039D-4CBC-CF928BC57A8C}"/>
              </a:ext>
            </a:extLst>
          </p:cNvPr>
          <p:cNvSpPr txBox="1"/>
          <p:nvPr/>
        </p:nvSpPr>
        <p:spPr>
          <a:xfrm>
            <a:off x="5560850" y="2745450"/>
            <a:ext cx="2594300" cy="369332"/>
          </a:xfrm>
          <a:prstGeom prst="rect">
            <a:avLst/>
          </a:prstGeom>
          <a:solidFill>
            <a:srgbClr val="92D050"/>
          </a:solidFill>
        </p:spPr>
        <p:txBody>
          <a:bodyPr wrap="none" rtlCol="0">
            <a:spAutoFit/>
          </a:bodyPr>
          <a:lstStyle/>
          <a:p>
            <a:r>
              <a:rPr lang="en-US" dirty="0"/>
              <a:t>Attempt as a </a:t>
            </a:r>
            <a:r>
              <a:rPr lang="en-US" b="1" dirty="0"/>
              <a:t>Homework</a:t>
            </a:r>
            <a:r>
              <a:rPr lang="en-US" dirty="0"/>
              <a:t>. </a:t>
            </a:r>
          </a:p>
        </p:txBody>
      </p:sp>
      <p:sp>
        <p:nvSpPr>
          <p:cNvPr id="6" name="Rectangle 5">
            <a:extLst>
              <a:ext uri="{FF2B5EF4-FFF2-40B4-BE49-F238E27FC236}">
                <a16:creationId xmlns:a16="http://schemas.microsoft.com/office/drawing/2014/main" id="{F6D7800F-C4F3-96E5-9E04-9857BD5ADB48}"/>
              </a:ext>
            </a:extLst>
          </p:cNvPr>
          <p:cNvSpPr/>
          <p:nvPr/>
        </p:nvSpPr>
        <p:spPr>
          <a:xfrm>
            <a:off x="3429000" y="5464969"/>
            <a:ext cx="28194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0D5D222-27C7-B06D-EF07-62EE42163716}"/>
              </a:ext>
            </a:extLst>
          </p:cNvPr>
          <p:cNvSpPr/>
          <p:nvPr/>
        </p:nvSpPr>
        <p:spPr>
          <a:xfrm>
            <a:off x="6248400" y="5464969"/>
            <a:ext cx="28194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D33DCBC-8122-5140-229E-39AAB9FC9BED}"/>
              </a:ext>
            </a:extLst>
          </p:cNvPr>
          <p:cNvSpPr/>
          <p:nvPr/>
        </p:nvSpPr>
        <p:spPr>
          <a:xfrm>
            <a:off x="426868" y="5867400"/>
            <a:ext cx="4754732"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1343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randombar(horizont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animEffect transition="in" filter="wipe(left)">
                                      <p:cBhvr>
                                        <p:cTn id="17" dur="750"/>
                                        <p:tgtEl>
                                          <p:spTgt spid="3">
                                            <p:txEl>
                                              <p:pRg st="10" end="1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11" end="11"/>
                                            </p:txEl>
                                          </p:spTgt>
                                        </p:tgtEl>
                                        <p:attrNameLst>
                                          <p:attrName>style.visibility</p:attrName>
                                        </p:attrNameLst>
                                      </p:cBhvr>
                                      <p:to>
                                        <p:strVal val="visible"/>
                                      </p:to>
                                    </p:set>
                                    <p:animEffect transition="in" filter="wipe(left)">
                                      <p:cBhvr>
                                        <p:cTn id="22" dur="3250"/>
                                        <p:tgtEl>
                                          <p:spTgt spid="3">
                                            <p:txEl>
                                              <p:pRg st="11" end="1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animEffect transition="in" filter="wipe(left)">
                                      <p:cBhvr>
                                        <p:cTn id="27" dur="3250"/>
                                        <p:tgtEl>
                                          <p:spTgt spid="3">
                                            <p:txEl>
                                              <p:pRg st="12" end="1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1500"/>
                                        <p:tgtEl>
                                          <p:spTgt spid="6"/>
                                        </p:tgtEl>
                                      </p:cBhvr>
                                    </p:animEffect>
                                    <p:set>
                                      <p:cBhvr>
                                        <p:cTn id="32" dur="1" fill="hold">
                                          <p:stCondLst>
                                            <p:cond delay="1499"/>
                                          </p:stCondLst>
                                        </p:cTn>
                                        <p:tgtEl>
                                          <p:spTgt spid="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1500"/>
                                        <p:tgtEl>
                                          <p:spTgt spid="10"/>
                                        </p:tgtEl>
                                      </p:cBhvr>
                                    </p:animEffect>
                                    <p:set>
                                      <p:cBhvr>
                                        <p:cTn id="37" dur="1" fill="hold">
                                          <p:stCondLst>
                                            <p:cond delay="1499"/>
                                          </p:stCondLst>
                                        </p:cTn>
                                        <p:tgtEl>
                                          <p:spTgt spid="10"/>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1500"/>
                                        <p:tgtEl>
                                          <p:spTgt spid="11"/>
                                        </p:tgtEl>
                                      </p:cBhvr>
                                    </p:animEffect>
                                    <p:set>
                                      <p:cBhvr>
                                        <p:cTn id="42" dur="1" fill="hold">
                                          <p:stCondLst>
                                            <p:cond delay="1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animBg="1"/>
      <p:bldP spid="9" grpId="0" animBg="1"/>
      <p:bldP spid="6" grpId="0" animBg="1"/>
      <p:bldP spid="10" grpId="0" animBg="1"/>
      <p:bldP spid="1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22313" y="1828800"/>
            <a:ext cx="7772400" cy="1362075"/>
          </a:xfrm>
        </p:spPr>
        <p:txBody>
          <a:bodyPr/>
          <a:lstStyle/>
          <a:p>
            <a:pPr algn="ctr"/>
            <a:r>
              <a:rPr lang="en-US" sz="3600" dirty="0">
                <a:solidFill>
                  <a:srgbClr val="0070C0"/>
                </a:solidFill>
              </a:rPr>
              <a:t>Applications of </a:t>
            </a:r>
            <a:br>
              <a:rPr lang="en-US" sz="3600" dirty="0">
                <a:solidFill>
                  <a:srgbClr val="7030A0"/>
                </a:solidFill>
              </a:rPr>
            </a:br>
            <a:r>
              <a:rPr lang="en-US" sz="3600" dirty="0">
                <a:solidFill>
                  <a:srgbClr val="7030A0"/>
                </a:solidFill>
              </a:rPr>
              <a:t>topological ordering ? </a:t>
            </a:r>
          </a:p>
        </p:txBody>
      </p:sp>
      <p:sp>
        <p:nvSpPr>
          <p:cNvPr id="6" name="Text Placeholder 5"/>
          <p:cNvSpPr>
            <a:spLocks noGrp="1"/>
          </p:cNvSpPr>
          <p:nvPr>
            <p:ph type="body" idx="1"/>
          </p:nvPr>
        </p:nvSpPr>
        <p:spPr/>
        <p:txBody>
          <a:bodyPr/>
          <a:lstStyle/>
          <a:p>
            <a:pPr algn="ctr"/>
            <a:endParaRPr lang="en-US" sz="2800" b="1" dirty="0">
              <a:solidFill>
                <a:srgbClr val="C00000"/>
              </a:solidFill>
            </a:endParaRPr>
          </a:p>
        </p:txBody>
      </p:sp>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25</a:t>
            </a:fld>
            <a:endParaRPr lang="en-US"/>
          </a:p>
        </p:txBody>
      </p:sp>
    </p:spTree>
    <p:extLst>
      <p:ext uri="{BB962C8B-B14F-4D97-AF65-F5344CB8AC3E}">
        <p14:creationId xmlns:p14="http://schemas.microsoft.com/office/powerpoint/2010/main" val="418331544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E94C27-855D-0F4F-90BE-0634B3D341B7}"/>
              </a:ext>
            </a:extLst>
          </p:cNvPr>
          <p:cNvSpPr>
            <a:spLocks noGrp="1"/>
          </p:cNvSpPr>
          <p:nvPr>
            <p:ph type="title"/>
          </p:nvPr>
        </p:nvSpPr>
        <p:spPr/>
        <p:txBody>
          <a:bodyPr/>
          <a:lstStyle/>
          <a:p>
            <a:r>
              <a:rPr lang="en-US" sz="4000" b="1" dirty="0">
                <a:solidFill>
                  <a:srgbClr val="C00000"/>
                </a:solidFill>
                <a:sym typeface="Wingdings" pitchFamily="2" charset="2"/>
              </a:rPr>
              <a:t>Example: </a:t>
            </a:r>
            <a:r>
              <a:rPr lang="en-US" sz="4000" b="1" dirty="0">
                <a:solidFill>
                  <a:srgbClr val="002060"/>
                </a:solidFill>
                <a:sym typeface="Wingdings" pitchFamily="2" charset="2"/>
              </a:rPr>
              <a:t>Single source shortest paths</a:t>
            </a:r>
            <a:endParaRPr lang="en-US" sz="4000"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897998E5-18FF-324E-9917-5BD73F6F9325}"/>
                  </a:ext>
                </a:extLst>
              </p:cNvPr>
              <p:cNvSpPr>
                <a:spLocks noGrp="1"/>
              </p:cNvSpPr>
              <p:nvPr>
                <p:ph idx="1"/>
              </p:nvPr>
            </p:nvSpPr>
            <p:spPr/>
            <p:txBody>
              <a:bodyPr/>
              <a:lstStyle/>
              <a:p>
                <a:pPr marL="0" indent="0">
                  <a:buNone/>
                </a:pPr>
                <a:endParaRPr lang="en-US" sz="2400" b="1" i="1" dirty="0">
                  <a:latin typeface="Cambria Math"/>
                </a:endParaRPr>
              </a:p>
              <a:p>
                <a:pPr marL="0" indent="0">
                  <a:buNone/>
                </a:pPr>
                <a:endParaRPr lang="en-US" sz="2400" b="1" i="1" dirty="0">
                  <a:latin typeface="Cambria Math"/>
                </a:endParaRPr>
              </a:p>
              <a:p>
                <a:pPr marL="0" indent="0">
                  <a:buNone/>
                </a:pPr>
                <a14:m>
                  <m:oMath xmlns:m="http://schemas.openxmlformats.org/officeDocument/2006/math">
                    <m:r>
                      <a:rPr lang="en-US" sz="2000" b="1" i="1" dirty="0">
                        <a:latin typeface="Cambria Math"/>
                      </a:rPr>
                      <m:t>𝒇</m:t>
                    </m:r>
                    <m:r>
                      <a:rPr lang="en-US" sz="2000" b="1" i="1" dirty="0">
                        <a:latin typeface="Cambria Math"/>
                      </a:rPr>
                      <m:t>(</m:t>
                    </m:r>
                    <m:r>
                      <a:rPr lang="en-US" sz="2000" b="1" i="1" dirty="0">
                        <a:solidFill>
                          <a:srgbClr val="0070C0"/>
                        </a:solidFill>
                        <a:latin typeface="Cambria Math"/>
                      </a:rPr>
                      <m:t>𝒚</m:t>
                    </m:r>
                    <m:r>
                      <a:rPr lang="en-US" sz="2000" b="1" i="1" dirty="0">
                        <a:latin typeface="Cambria Math"/>
                      </a:rPr>
                      <m:t>)</m:t>
                    </m:r>
                  </m:oMath>
                </a14:m>
                <a:r>
                  <a:rPr lang="en-US" sz="2000" dirty="0">
                    <a:sym typeface="Wingdings" pitchFamily="2" charset="2"/>
                  </a:rPr>
                  <a:t>: the distance from source </a:t>
                </a:r>
                <a14:m>
                  <m:oMath xmlns:m="http://schemas.openxmlformats.org/officeDocument/2006/math">
                    <m:r>
                      <a:rPr lang="en-US" sz="2000" b="1" i="1" dirty="0">
                        <a:solidFill>
                          <a:srgbClr val="0070C0"/>
                        </a:solidFill>
                        <a:latin typeface="Cambria Math"/>
                      </a:rPr>
                      <m:t>𝒔</m:t>
                    </m:r>
                  </m:oMath>
                </a14:m>
                <a:r>
                  <a:rPr lang="en-US" sz="2000" dirty="0">
                    <a:sym typeface="Wingdings" pitchFamily="2" charset="2"/>
                  </a:rPr>
                  <a:t>.</a:t>
                </a:r>
              </a:p>
              <a:p>
                <a:pPr marL="0" indent="0">
                  <a:buNone/>
                </a:pPr>
                <a:endParaRPr lang="en-US" sz="2000" b="1" dirty="0"/>
              </a:p>
              <a:p>
                <a:pPr marL="0" indent="0">
                  <a:buNone/>
                </a:pPr>
                <a:r>
                  <a:rPr lang="en-US" sz="2000" b="1" dirty="0"/>
                  <a:t>	</a:t>
                </a:r>
                <a14:m>
                  <m:oMath xmlns:m="http://schemas.openxmlformats.org/officeDocument/2006/math">
                    <m:r>
                      <a:rPr lang="en-US" sz="2000" b="1" i="1" dirty="0">
                        <a:latin typeface="Cambria Math"/>
                      </a:rPr>
                      <m:t>𝒇</m:t>
                    </m:r>
                    <m:r>
                      <a:rPr lang="en-US" sz="2000" b="1" i="1" dirty="0">
                        <a:latin typeface="Cambria Math"/>
                      </a:rPr>
                      <m:t>(</m:t>
                    </m:r>
                    <m:r>
                      <a:rPr lang="en-US" sz="2000" b="1" i="1" dirty="0">
                        <a:solidFill>
                          <a:srgbClr val="0070C0"/>
                        </a:solidFill>
                        <a:latin typeface="Cambria Math"/>
                      </a:rPr>
                      <m:t>𝒔</m:t>
                    </m:r>
                    <m:r>
                      <a:rPr lang="en-US" sz="2000" b="1" i="1" dirty="0">
                        <a:latin typeface="Cambria Math"/>
                      </a:rPr>
                      <m:t>)</m:t>
                    </m:r>
                  </m:oMath>
                </a14:m>
                <a:r>
                  <a:rPr lang="en-US" sz="2000" dirty="0">
                    <a:sym typeface="Wingdings" pitchFamily="2" charset="2"/>
                  </a:rPr>
                  <a:t>=</a:t>
                </a:r>
                <a14:m>
                  <m:oMath xmlns:m="http://schemas.openxmlformats.org/officeDocument/2006/math">
                    <m:r>
                      <a:rPr lang="en-US" sz="2000" i="1" dirty="0" smtClean="0">
                        <a:solidFill>
                          <a:srgbClr val="0070C0"/>
                        </a:solidFill>
                        <a:latin typeface="Cambria Math" panose="02040503050406030204" pitchFamily="18" charset="0"/>
                        <a:sym typeface="Wingdings" pitchFamily="2" charset="2"/>
                      </a:rPr>
                      <m:t>0</m:t>
                    </m:r>
                  </m:oMath>
                </a14:m>
                <a:r>
                  <a:rPr lang="en-US" sz="2000" dirty="0">
                    <a:sym typeface="Wingdings" pitchFamily="2" charset="2"/>
                  </a:rPr>
                  <a:t>;</a:t>
                </a:r>
              </a:p>
              <a:p>
                <a:pPr marL="0" indent="0">
                  <a:buNone/>
                </a:pPr>
                <a:endParaRPr lang="en-US" sz="2000" b="1" dirty="0"/>
              </a:p>
              <a:p>
                <a:pPr marL="0" indent="0">
                  <a:buNone/>
                </a:pPr>
                <a:r>
                  <a:rPr lang="en-US" sz="2000" b="1" dirty="0"/>
                  <a:t>	</a:t>
                </a:r>
                <a14:m>
                  <m:oMath xmlns:m="http://schemas.openxmlformats.org/officeDocument/2006/math">
                    <m:r>
                      <a:rPr lang="en-US" sz="2000" b="1" i="1" dirty="0">
                        <a:latin typeface="Cambria Math"/>
                      </a:rPr>
                      <m:t>𝒇</m:t>
                    </m:r>
                    <m:r>
                      <a:rPr lang="en-US" sz="2000" b="1" i="1" dirty="0">
                        <a:latin typeface="Cambria Math"/>
                      </a:rPr>
                      <m:t>(</m:t>
                    </m:r>
                    <m:r>
                      <a:rPr lang="en-US" sz="2000" b="1" i="1" dirty="0">
                        <a:solidFill>
                          <a:srgbClr val="0070C0"/>
                        </a:solidFill>
                        <a:latin typeface="Cambria Math"/>
                      </a:rPr>
                      <m:t>𝒚</m:t>
                    </m:r>
                    <m:r>
                      <a:rPr lang="en-US" sz="2000" b="1" i="1" dirty="0">
                        <a:latin typeface="Cambria Math"/>
                      </a:rPr>
                      <m:t>)</m:t>
                    </m:r>
                  </m:oMath>
                </a14:m>
                <a:r>
                  <a:rPr lang="en-US" sz="2000" dirty="0">
                    <a:sym typeface="Wingdings" pitchFamily="2" charset="2"/>
                  </a:rPr>
                  <a:t>= </a:t>
                </a:r>
                <a14:m>
                  <m:oMath xmlns:m="http://schemas.openxmlformats.org/officeDocument/2006/math">
                    <m:r>
                      <a:rPr lang="en-US" sz="2000" b="1" i="1" dirty="0">
                        <a:solidFill>
                          <a:srgbClr val="7030A0"/>
                        </a:solidFill>
                        <a:latin typeface="Cambria Math"/>
                        <a:sym typeface="Wingdings" pitchFamily="2" charset="2"/>
                      </a:rPr>
                      <m:t>𝒎𝒊𝒏</m:t>
                    </m:r>
                  </m:oMath>
                </a14:m>
                <a:r>
                  <a:rPr lang="en-US" sz="2000" b="1" dirty="0">
                    <a:solidFill>
                      <a:srgbClr val="7030A0"/>
                    </a:solidFill>
                  </a:rPr>
                  <a:t> </a:t>
                </a:r>
                <a14:m>
                  <m:oMath xmlns:m="http://schemas.openxmlformats.org/officeDocument/2006/math">
                    <m:d>
                      <m:dPr>
                        <m:begChr m:val="{"/>
                        <m:endChr m:val="|"/>
                        <m:ctrlPr>
                          <a:rPr lang="en-US" sz="2000" i="1" dirty="0">
                            <a:latin typeface="Cambria Math" panose="02040503050406030204" pitchFamily="18" charset="0"/>
                          </a:rPr>
                        </m:ctrlPr>
                      </m:dPr>
                      <m:e>
                        <m:r>
                          <a:rPr lang="en-US" sz="2000" b="1" i="1" dirty="0">
                            <a:latin typeface="Cambria Math"/>
                          </a:rPr>
                          <m:t>𝒇</m:t>
                        </m:r>
                        <m:d>
                          <m:dPr>
                            <m:ctrlPr>
                              <a:rPr lang="en-US" sz="2000" b="1" i="1" dirty="0">
                                <a:latin typeface="Cambria Math" panose="02040503050406030204" pitchFamily="18" charset="0"/>
                              </a:rPr>
                            </m:ctrlPr>
                          </m:dPr>
                          <m:e>
                            <m:r>
                              <a:rPr lang="en-US" sz="2000" b="1" i="1" dirty="0">
                                <a:solidFill>
                                  <a:srgbClr val="0070C0"/>
                                </a:solidFill>
                                <a:latin typeface="Cambria Math"/>
                              </a:rPr>
                              <m:t>𝒙</m:t>
                            </m:r>
                          </m:e>
                        </m:d>
                        <m:r>
                          <a:rPr lang="en-US" sz="2000" b="1" i="1" dirty="0">
                            <a:latin typeface="Cambria Math"/>
                          </a:rPr>
                          <m:t>+</m:t>
                        </m:r>
                        <m:r>
                          <a:rPr lang="en-US" sz="2000" b="1" i="1" dirty="0">
                            <a:latin typeface="Cambria Math"/>
                          </a:rPr>
                          <m:t>𝝎</m:t>
                        </m:r>
                        <m:r>
                          <a:rPr lang="en-US" sz="2000" b="1" i="1" dirty="0">
                            <a:latin typeface="Cambria Math"/>
                          </a:rPr>
                          <m:t>(</m:t>
                        </m:r>
                        <m:r>
                          <a:rPr lang="en-US" sz="2000" b="1" i="1" dirty="0">
                            <a:solidFill>
                              <a:srgbClr val="0070C0"/>
                            </a:solidFill>
                            <a:latin typeface="Cambria Math"/>
                          </a:rPr>
                          <m:t>𝒙</m:t>
                        </m:r>
                        <m:r>
                          <a:rPr lang="en-US" sz="2000" b="1" i="1" dirty="0">
                            <a:latin typeface="Cambria Math"/>
                          </a:rPr>
                          <m:t>,</m:t>
                        </m:r>
                        <m:r>
                          <a:rPr lang="en-US" sz="2000" b="1" i="1" dirty="0">
                            <a:solidFill>
                              <a:srgbClr val="0070C0"/>
                            </a:solidFill>
                            <a:latin typeface="Cambria Math"/>
                          </a:rPr>
                          <m:t>𝒚</m:t>
                        </m:r>
                        <m:r>
                          <a:rPr lang="en-US" sz="2000" b="1" i="1" dirty="0">
                            <a:latin typeface="Cambria Math"/>
                          </a:rPr>
                          <m:t>)</m:t>
                        </m:r>
                      </m:e>
                    </m:d>
                    <m:d>
                      <m:dPr>
                        <m:ctrlPr>
                          <a:rPr lang="en-US" sz="2000" i="1" dirty="0">
                            <a:latin typeface="Cambria Math" panose="02040503050406030204" pitchFamily="18" charset="0"/>
                          </a:rPr>
                        </m:ctrlPr>
                      </m:dPr>
                      <m:e>
                        <m:r>
                          <a:rPr lang="en-US" sz="2000" b="1" i="1" dirty="0">
                            <a:solidFill>
                              <a:srgbClr val="0070C0"/>
                            </a:solidFill>
                            <a:latin typeface="Cambria Math"/>
                          </a:rPr>
                          <m:t>𝒙</m:t>
                        </m:r>
                        <m:r>
                          <a:rPr lang="en-US" sz="2000" b="1" i="1" dirty="0">
                            <a:latin typeface="Cambria Math"/>
                          </a:rPr>
                          <m:t>,</m:t>
                        </m:r>
                        <m:r>
                          <a:rPr lang="en-US" sz="2000" b="1" i="1" dirty="0">
                            <a:solidFill>
                              <a:srgbClr val="0070C0"/>
                            </a:solidFill>
                            <a:latin typeface="Cambria Math"/>
                          </a:rPr>
                          <m:t>𝒚</m:t>
                        </m:r>
                      </m:e>
                    </m:d>
                    <m:r>
                      <a:rPr lang="en-US" sz="2000" b="1" i="1" dirty="0">
                        <a:solidFill>
                          <a:srgbClr val="0070C0"/>
                        </a:solidFill>
                        <a:latin typeface="Cambria Math"/>
                      </a:rPr>
                      <m:t>∈</m:t>
                    </m:r>
                    <m:r>
                      <a:rPr lang="en-US" sz="2000" b="1" i="1" dirty="0">
                        <a:solidFill>
                          <a:srgbClr val="0070C0"/>
                        </a:solidFill>
                        <a:latin typeface="Cambria Math"/>
                      </a:rPr>
                      <m:t>𝑬</m:t>
                    </m:r>
                    <m:r>
                      <a:rPr lang="en-US" sz="2000" b="1" i="1" dirty="0">
                        <a:latin typeface="Cambria Math"/>
                      </a:rPr>
                      <m:t>}</m:t>
                    </m:r>
                  </m:oMath>
                </a14:m>
                <a:r>
                  <a:rPr lang="en-US" sz="2000" dirty="0">
                    <a:sym typeface="Wingdings" pitchFamily="2" charset="2"/>
                  </a:rPr>
                  <a:t> </a:t>
                </a:r>
              </a:p>
              <a:p>
                <a:pPr marL="0" indent="0">
                  <a:buNone/>
                </a:pPr>
                <a:endParaRPr lang="en-US" sz="2000" dirty="0">
                  <a:sym typeface="Wingdings" pitchFamily="2" charset="2"/>
                </a:endParaRPr>
              </a:p>
              <a:p>
                <a:pPr marL="0" indent="0">
                  <a:buNone/>
                </a:pPr>
                <a:r>
                  <a:rPr lang="en-US" sz="2000" dirty="0">
                    <a:sym typeface="Wingdings" pitchFamily="2" charset="2"/>
                  </a:rPr>
                  <a:t>A correct formulation for distances from </a:t>
                </a:r>
                <a14:m>
                  <m:oMath xmlns:m="http://schemas.openxmlformats.org/officeDocument/2006/math">
                    <m:r>
                      <a:rPr lang="en-US" sz="2000" b="1" i="1" dirty="0">
                        <a:solidFill>
                          <a:srgbClr val="0070C0"/>
                        </a:solidFill>
                        <a:latin typeface="Cambria Math"/>
                      </a:rPr>
                      <m:t>𝒔</m:t>
                    </m:r>
                  </m:oMath>
                </a14:m>
                <a:r>
                  <a:rPr lang="en-US" sz="2000" dirty="0">
                    <a:sym typeface="Wingdings" pitchFamily="2" charset="2"/>
                  </a:rPr>
                  <a:t> in a directed graph.</a:t>
                </a:r>
              </a:p>
              <a:p>
                <a:pPr marL="0" indent="0">
                  <a:buNone/>
                </a:pPr>
                <a:r>
                  <a:rPr lang="en-US" sz="2000" dirty="0">
                    <a:sym typeface="Wingdings" pitchFamily="2" charset="2"/>
                  </a:rPr>
                  <a:t>But difficult to translate to algorithms for general graphs.</a:t>
                </a:r>
              </a:p>
              <a:p>
                <a:pPr marL="0" indent="0">
                  <a:buNone/>
                </a:pPr>
                <a:r>
                  <a:rPr lang="en-US" sz="2000" dirty="0">
                    <a:sym typeface="Wingdings" pitchFamily="2" charset="2"/>
                  </a:rPr>
                  <a:t>Ponder over it.</a:t>
                </a:r>
              </a:p>
              <a:p>
                <a:endParaRPr lang="en-US" sz="2400" dirty="0"/>
              </a:p>
            </p:txBody>
          </p:sp>
        </mc:Choice>
        <mc:Fallback xmlns="">
          <p:sp>
            <p:nvSpPr>
              <p:cNvPr id="6" name="Content Placeholder 5">
                <a:extLst>
                  <a:ext uri="{FF2B5EF4-FFF2-40B4-BE49-F238E27FC236}">
                    <a16:creationId xmlns:a16="http://schemas.microsoft.com/office/drawing/2014/main" id="{897998E5-18FF-324E-9917-5BD73F6F9325}"/>
                  </a:ext>
                </a:extLst>
              </p:cNvPr>
              <p:cNvSpPr>
                <a:spLocks noGrp="1" noRot="1" noChangeAspect="1" noMove="1" noResize="1" noEditPoints="1" noAdjustHandles="1" noChangeArrowheads="1" noChangeShapeType="1" noTextEdit="1"/>
              </p:cNvSpPr>
              <p:nvPr>
                <p:ph idx="1"/>
              </p:nvPr>
            </p:nvSpPr>
            <p:spPr>
              <a:blipFill>
                <a:blip r:embed="rId2"/>
                <a:stretch>
                  <a:fillRect l="-741"/>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BA748C9D-76E5-A74B-AFF9-909FB2C0D3E7}"/>
              </a:ext>
            </a:extLst>
          </p:cNvPr>
          <p:cNvSpPr>
            <a:spLocks noGrp="1"/>
          </p:cNvSpPr>
          <p:nvPr>
            <p:ph type="sldNum" sz="quarter" idx="12"/>
          </p:nvPr>
        </p:nvSpPr>
        <p:spPr/>
        <p:txBody>
          <a:bodyPr/>
          <a:lstStyle/>
          <a:p>
            <a:pPr>
              <a:defRPr/>
            </a:pPr>
            <a:fld id="{B92E9ED8-BBDD-47A1-9C62-8C7F2ACFBD70}" type="slidenum">
              <a:rPr lang="en-US" smtClean="0"/>
              <a:pPr>
                <a:defRPr/>
              </a:pPr>
              <a:t>26</a:t>
            </a:fld>
            <a:endParaRPr lang="en-US"/>
          </a:p>
        </p:txBody>
      </p:sp>
      <p:sp>
        <p:nvSpPr>
          <p:cNvPr id="3" name="Ribbon: Tilted Down 2">
            <a:extLst>
              <a:ext uri="{FF2B5EF4-FFF2-40B4-BE49-F238E27FC236}">
                <a16:creationId xmlns:a16="http://schemas.microsoft.com/office/drawing/2014/main" id="{E27A6572-A5E7-9C86-4CC9-EB7D483DD1FD}"/>
              </a:ext>
            </a:extLst>
          </p:cNvPr>
          <p:cNvSpPr/>
          <p:nvPr/>
        </p:nvSpPr>
        <p:spPr>
          <a:xfrm>
            <a:off x="1447800" y="1370013"/>
            <a:ext cx="6096000" cy="795274"/>
          </a:xfrm>
          <a:prstGeom prst="ribbon">
            <a:avLst>
              <a:gd name="adj1" fmla="val 16667"/>
              <a:gd name="adj2" fmla="val 75000"/>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But, this formulation leads to a very simple and efficient algorithm for distance in DAGs.</a:t>
            </a:r>
            <a:endParaRPr lang="en-IN" dirty="0">
              <a:solidFill>
                <a:schemeClr val="tx1"/>
              </a:solidFill>
            </a:endParaRPr>
          </a:p>
        </p:txBody>
      </p:sp>
      <p:sp>
        <p:nvSpPr>
          <p:cNvPr id="8" name="TextBox 7">
            <a:extLst>
              <a:ext uri="{FF2B5EF4-FFF2-40B4-BE49-F238E27FC236}">
                <a16:creationId xmlns:a16="http://schemas.microsoft.com/office/drawing/2014/main" id="{39FD7E6B-6220-64AC-33B6-FEF6FF86D123}"/>
              </a:ext>
            </a:extLst>
          </p:cNvPr>
          <p:cNvSpPr txBox="1"/>
          <p:nvPr/>
        </p:nvSpPr>
        <p:spPr>
          <a:xfrm>
            <a:off x="3276600" y="2191920"/>
            <a:ext cx="2261196" cy="369332"/>
          </a:xfrm>
          <a:prstGeom prst="rect">
            <a:avLst/>
          </a:prstGeom>
          <a:solidFill>
            <a:srgbClr val="FFC000"/>
          </a:solidFill>
        </p:spPr>
        <p:txBody>
          <a:bodyPr wrap="none" rtlCol="0">
            <a:spAutoFit/>
          </a:bodyPr>
          <a:lstStyle/>
          <a:p>
            <a:r>
              <a:rPr lang="en-US" dirty="0"/>
              <a:t>Now ponder over it.</a:t>
            </a:r>
            <a:r>
              <a:rPr lang="en-US" dirty="0">
                <a:sym typeface="Wingdings" panose="05000000000000000000" pitchFamily="2" charset="2"/>
              </a:rPr>
              <a:t></a:t>
            </a:r>
            <a:endParaRPr lang="en-IN" dirty="0"/>
          </a:p>
        </p:txBody>
      </p:sp>
      <p:sp>
        <p:nvSpPr>
          <p:cNvPr id="2" name="Rectangle 1">
            <a:extLst>
              <a:ext uri="{FF2B5EF4-FFF2-40B4-BE49-F238E27FC236}">
                <a16:creationId xmlns:a16="http://schemas.microsoft.com/office/drawing/2014/main" id="{220C8DA4-4A09-1AC4-7BFD-D74878B8825C}"/>
              </a:ext>
            </a:extLst>
          </p:cNvPr>
          <p:cNvSpPr/>
          <p:nvPr/>
        </p:nvSpPr>
        <p:spPr>
          <a:xfrm>
            <a:off x="1143000" y="2463590"/>
            <a:ext cx="32004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E8944A1-3E1D-6852-C16D-CDFD7723814D}"/>
              </a:ext>
            </a:extLst>
          </p:cNvPr>
          <p:cNvSpPr/>
          <p:nvPr/>
        </p:nvSpPr>
        <p:spPr>
          <a:xfrm>
            <a:off x="4419600" y="3917125"/>
            <a:ext cx="32004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334F7D4-9C2B-7F7F-0304-9C6882FFC1C2}"/>
              </a:ext>
            </a:extLst>
          </p:cNvPr>
          <p:cNvSpPr/>
          <p:nvPr/>
        </p:nvSpPr>
        <p:spPr>
          <a:xfrm>
            <a:off x="2133600" y="3937211"/>
            <a:ext cx="685800" cy="4572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2975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randombar(horizontal)">
                                      <p:cBhvr>
                                        <p:cTn id="7" dur="500"/>
                                        <p:tgtEl>
                                          <p:spTgt spid="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xit" presetSubtype="8" fill="hold" grpId="0" nodeType="clickEffect">
                                  <p:stCondLst>
                                    <p:cond delay="0"/>
                                  </p:stCondLst>
                                  <p:childTnLst>
                                    <p:animEffect transition="out" filter="wipe(left)">
                                      <p:cBhvr>
                                        <p:cTn id="11" dur="1000"/>
                                        <p:tgtEl>
                                          <p:spTgt spid="2"/>
                                        </p:tgtEl>
                                      </p:cBhvr>
                                    </p:animEffect>
                                    <p:set>
                                      <p:cBhvr>
                                        <p:cTn id="12" dur="1" fill="hold">
                                          <p:stCondLst>
                                            <p:cond delay="999"/>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animEffect transition="in" filter="randombar(horizontal)">
                                      <p:cBhvr>
                                        <p:cTn id="17" dur="500"/>
                                        <p:tgtEl>
                                          <p:spTgt spid="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6">
                                            <p:txEl>
                                              <p:pRg st="6" end="6"/>
                                            </p:txEl>
                                          </p:spTgt>
                                        </p:tgtEl>
                                        <p:attrNameLst>
                                          <p:attrName>style.visibility</p:attrName>
                                        </p:attrNameLst>
                                      </p:cBhvr>
                                      <p:to>
                                        <p:strVal val="visible"/>
                                      </p:to>
                                    </p:set>
                                    <p:animEffect transition="in" filter="randombar(horizontal)">
                                      <p:cBhvr>
                                        <p:cTn id="22" dur="500"/>
                                        <p:tgtEl>
                                          <p:spTgt spid="6">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1000"/>
                                        <p:tgtEl>
                                          <p:spTgt spid="7"/>
                                        </p:tgtEl>
                                      </p:cBhvr>
                                    </p:animEffect>
                                    <p:set>
                                      <p:cBhvr>
                                        <p:cTn id="27" dur="1" fill="hold">
                                          <p:stCondLst>
                                            <p:cond delay="999"/>
                                          </p:stCondLst>
                                        </p:cTn>
                                        <p:tgtEl>
                                          <p:spTgt spid="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xit" presetSubtype="8" fill="hold" grpId="0" nodeType="clickEffect">
                                  <p:stCondLst>
                                    <p:cond delay="0"/>
                                  </p:stCondLst>
                                  <p:childTnLst>
                                    <p:animEffect transition="out" filter="wipe(left)">
                                      <p:cBhvr>
                                        <p:cTn id="31" dur="1000"/>
                                        <p:tgtEl>
                                          <p:spTgt spid="9"/>
                                        </p:tgtEl>
                                      </p:cBhvr>
                                    </p:animEffect>
                                    <p:set>
                                      <p:cBhvr>
                                        <p:cTn id="32" dur="1" fill="hold">
                                          <p:stCondLst>
                                            <p:cond delay="999"/>
                                          </p:stCondLst>
                                        </p:cTn>
                                        <p:tgtEl>
                                          <p:spTgt spid="9"/>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xEl>
                                              <p:pRg st="8" end="8"/>
                                            </p:txEl>
                                          </p:spTgt>
                                        </p:tgtEl>
                                        <p:attrNameLst>
                                          <p:attrName>style.visibility</p:attrName>
                                        </p:attrNameLst>
                                      </p:cBhvr>
                                      <p:to>
                                        <p:strVal val="visible"/>
                                      </p:to>
                                    </p:set>
                                    <p:animEffect transition="in" filter="wipe(left)">
                                      <p:cBhvr>
                                        <p:cTn id="37" dur="1750"/>
                                        <p:tgtEl>
                                          <p:spTgt spid="6">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
                                            <p:txEl>
                                              <p:pRg st="9" end="9"/>
                                            </p:txEl>
                                          </p:spTgt>
                                        </p:tgtEl>
                                        <p:attrNameLst>
                                          <p:attrName>style.visibility</p:attrName>
                                        </p:attrNameLst>
                                      </p:cBhvr>
                                      <p:to>
                                        <p:strVal val="visible"/>
                                      </p:to>
                                    </p:set>
                                    <p:animEffect transition="in" filter="wipe(left)">
                                      <p:cBhvr>
                                        <p:cTn id="42" dur="2000"/>
                                        <p:tgtEl>
                                          <p:spTgt spid="6">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
                                            <p:txEl>
                                              <p:pRg st="10" end="10"/>
                                            </p:txEl>
                                          </p:spTgt>
                                        </p:tgtEl>
                                        <p:attrNameLst>
                                          <p:attrName>style.visibility</p:attrName>
                                        </p:attrNameLst>
                                      </p:cBhvr>
                                      <p:to>
                                        <p:strVal val="visible"/>
                                      </p:to>
                                    </p:set>
                                    <p:animEffect transition="in" filter="wipe(left)">
                                      <p:cBhvr>
                                        <p:cTn id="47" dur="2000"/>
                                        <p:tgtEl>
                                          <p:spTgt spid="6">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3"/>
                                        </p:tgtEl>
                                        <p:attrNameLst>
                                          <p:attrName>style.visibility</p:attrName>
                                        </p:attrNameLst>
                                      </p:cBhvr>
                                      <p:to>
                                        <p:strVal val="visible"/>
                                      </p:to>
                                    </p:set>
                                    <p:animEffect transition="in" filter="fade">
                                      <p:cBhvr>
                                        <p:cTn id="52" dur="1000"/>
                                        <p:tgtEl>
                                          <p:spTgt spid="3"/>
                                        </p:tgtEl>
                                      </p:cBhvr>
                                    </p:animEffect>
                                    <p:anim calcmode="lin" valueType="num">
                                      <p:cBhvr>
                                        <p:cTn id="53" dur="1000" fill="hold"/>
                                        <p:tgtEl>
                                          <p:spTgt spid="3"/>
                                        </p:tgtEl>
                                        <p:attrNameLst>
                                          <p:attrName>ppt_x</p:attrName>
                                        </p:attrNameLst>
                                      </p:cBhvr>
                                      <p:tavLst>
                                        <p:tav tm="0">
                                          <p:val>
                                            <p:strVal val="#ppt_x"/>
                                          </p:val>
                                        </p:tav>
                                        <p:tav tm="100000">
                                          <p:val>
                                            <p:strVal val="#ppt_x"/>
                                          </p:val>
                                        </p:tav>
                                      </p:tavLst>
                                    </p:anim>
                                    <p:anim calcmode="lin" valueType="num">
                                      <p:cBhvr>
                                        <p:cTn id="5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4" presetClass="entr" presetSubtype="10" fill="hold" grpId="0" nodeType="click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randombar(horizontal)">
                                      <p:cBhvr>
                                        <p:cTn id="5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3" grpId="0" animBg="1"/>
      <p:bldP spid="8" grpId="0" animBg="1"/>
      <p:bldP spid="2" grpId="0" animBg="1"/>
      <p:bldP spid="7" grpId="0" animBg="1"/>
      <p:bldP spid="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b="1" dirty="0">
                <a:solidFill>
                  <a:srgbClr val="7030A0"/>
                </a:solidFill>
              </a:rPr>
              <a:t>Topological ordering</a:t>
            </a:r>
            <a:br>
              <a:rPr lang="en-US" sz="3200" b="1" dirty="0">
                <a:solidFill>
                  <a:srgbClr val="7030A0"/>
                </a:solidFill>
              </a:rPr>
            </a:br>
            <a:endParaRPr lang="en-US" sz="4000" dirty="0">
              <a:solidFill>
                <a:srgbClr val="7030A0"/>
              </a:solidFill>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pPr marL="0" indent="0">
                  <a:buNone/>
                </a:pPr>
                <a:r>
                  <a:rPr lang="en-US" sz="2000" dirty="0"/>
                  <a:t>A mapping </a:t>
                </a:r>
                <a14:m>
                  <m:oMath xmlns:m="http://schemas.openxmlformats.org/officeDocument/2006/math">
                    <m:r>
                      <a:rPr lang="en-US" sz="2000" b="1" i="1" dirty="0" smtClean="0">
                        <a:solidFill>
                          <a:srgbClr val="7030A0"/>
                        </a:solidFill>
                        <a:latin typeface="Cambria Math"/>
                      </a:rPr>
                      <m:t>𝝉</m:t>
                    </m:r>
                  </m:oMath>
                </a14:m>
                <a:r>
                  <a:rPr lang="en-US" sz="2000" dirty="0"/>
                  <a:t> : </a:t>
                </a:r>
                <a14:m>
                  <m:oMath xmlns:m="http://schemas.openxmlformats.org/officeDocument/2006/math">
                    <m:r>
                      <a:rPr lang="en-US" sz="2000" b="1" i="1" dirty="0">
                        <a:solidFill>
                          <a:srgbClr val="0070C0"/>
                        </a:solidFill>
                        <a:latin typeface="Cambria Math"/>
                      </a:rPr>
                      <m:t>𝑽</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𝟏</m:t>
                    </m:r>
                    <m:r>
                      <a:rPr lang="en-US" sz="2000" b="1" i="1" dirty="0" smtClean="0">
                        <a:solidFill>
                          <a:srgbClr val="0070C0"/>
                        </a:solidFill>
                        <a:latin typeface="Cambria Math"/>
                      </a:rPr>
                      <m:t>…</m:t>
                    </m:r>
                    <m:r>
                      <a:rPr lang="en-US" sz="2000" b="1" i="1" dirty="0" smtClean="0">
                        <a:solidFill>
                          <a:srgbClr val="0070C0"/>
                        </a:solidFill>
                        <a:latin typeface="Cambria Math"/>
                      </a:rPr>
                      <m:t>𝒏</m:t>
                    </m:r>
                  </m:oMath>
                </a14:m>
                <a:r>
                  <a:rPr lang="en-US" sz="2000" dirty="0">
                    <a:sym typeface="Wingdings" pitchFamily="2" charset="2"/>
                  </a:rPr>
                  <a:t>] such that </a:t>
                </a:r>
              </a:p>
              <a:p>
                <a:pPr marL="0" indent="0">
                  <a:buNone/>
                </a:pPr>
                <a:r>
                  <a:rPr lang="en-US" sz="2000" dirty="0">
                    <a:sym typeface="Wingdings" pitchFamily="2" charset="2"/>
                  </a:rPr>
                  <a:t>For each edge </a:t>
                </a:r>
                <a14:m>
                  <m:oMath xmlns:m="http://schemas.openxmlformats.org/officeDocument/2006/math">
                    <m:d>
                      <m:dPr>
                        <m:ctrlPr>
                          <a:rPr lang="en-US" sz="2000" b="0" i="1" dirty="0" smtClean="0">
                            <a:solidFill>
                              <a:schemeClr val="tx1"/>
                            </a:solidFill>
                            <a:latin typeface="Cambria Math" panose="02040503050406030204" pitchFamily="18" charset="0"/>
                          </a:rPr>
                        </m:ctrlPr>
                      </m:dPr>
                      <m:e>
                        <m:r>
                          <a:rPr lang="en-US" sz="2000" b="1" i="1" dirty="0" smtClean="0">
                            <a:solidFill>
                              <a:srgbClr val="0070C0"/>
                            </a:solidFill>
                            <a:latin typeface="Cambria Math"/>
                          </a:rPr>
                          <m:t>𝒖</m:t>
                        </m:r>
                        <m:r>
                          <a:rPr lang="en-US" sz="2000" b="1" i="1" dirty="0" smtClean="0">
                            <a:solidFill>
                              <a:schemeClr val="tx1"/>
                            </a:solidFill>
                            <a:latin typeface="Cambria Math"/>
                          </a:rPr>
                          <m:t>,</m:t>
                        </m:r>
                        <m:r>
                          <a:rPr lang="en-US" sz="2000" b="1" i="1" dirty="0" smtClean="0">
                            <a:solidFill>
                              <a:srgbClr val="0070C0"/>
                            </a:solidFill>
                            <a:latin typeface="Cambria Math"/>
                          </a:rPr>
                          <m:t>𝒗</m:t>
                        </m:r>
                      </m:e>
                    </m:d>
                    <m:r>
                      <a:rPr lang="en-US" sz="2000" b="0" i="1" dirty="0" smtClean="0">
                        <a:solidFill>
                          <a:schemeClr val="tx1"/>
                        </a:solidFill>
                        <a:latin typeface="Cambria Math"/>
                      </a:rPr>
                      <m:t>∈</m:t>
                    </m:r>
                    <m:r>
                      <a:rPr lang="en-US" sz="2000" b="1" i="1" dirty="0">
                        <a:solidFill>
                          <a:srgbClr val="0070C0"/>
                        </a:solidFill>
                        <a:latin typeface="Cambria Math"/>
                      </a:rPr>
                      <m:t>𝑬</m:t>
                    </m:r>
                  </m:oMath>
                </a14:m>
                <a:r>
                  <a:rPr lang="en-US" sz="2000" dirty="0">
                    <a:sym typeface="Wingdings" pitchFamily="2" charset="2"/>
                  </a:rPr>
                  <a:t> ,  </a:t>
                </a:r>
                <a:r>
                  <a:rPr lang="en-US" sz="2000" b="1" dirty="0">
                    <a:solidFill>
                      <a:srgbClr val="7030A0"/>
                    </a:solidFill>
                    <a:sym typeface="Wingdings" pitchFamily="2" charset="2"/>
                  </a:rPr>
                  <a: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a:solidFill>
                          <a:srgbClr val="0070C0"/>
                        </a:solidFill>
                        <a:latin typeface="Cambria Math"/>
                      </a:rPr>
                      <m:t>𝒖</m:t>
                    </m:r>
                  </m:oMath>
                </a14:m>
                <a:r>
                  <a:rPr lang="en-US" sz="2000" dirty="0">
                    <a:sym typeface="Wingdings" pitchFamily="2" charset="2"/>
                  </a:rPr>
                  <a:t>) &lt;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𝒗</m:t>
                    </m:r>
                  </m:oMath>
                </a14:m>
                <a:r>
                  <a:rPr lang="en-US" sz="2000" dirty="0">
                    <a:sym typeface="Wingdings" pitchFamily="2" charset="2"/>
                  </a:rPr>
                  <a:t>) </a:t>
                </a:r>
              </a:p>
              <a:p>
                <a:pPr marL="0" indent="0">
                  <a:buNone/>
                </a:pPr>
                <a:endParaRPr lang="en-US" sz="2000" dirty="0">
                  <a:sym typeface="Wingdings" pitchFamily="2" charset="2"/>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2"/>
                <a:stretch>
                  <a:fillRect l="-741" t="-809"/>
                </a:stretch>
              </a:blipFill>
            </p:spPr>
            <p:txBody>
              <a:bodyPr/>
              <a:lstStyle/>
              <a:p>
                <a:r>
                  <a:rPr lang="en-US">
                    <a:noFill/>
                  </a:rPr>
                  <a:t> </a:t>
                </a:r>
              </a:p>
            </p:txBody>
          </p:sp>
        </mc:Fallback>
      </mc:AlternateContent>
      <p:grpSp>
        <p:nvGrpSpPr>
          <p:cNvPr id="7" name="Group 6"/>
          <p:cNvGrpSpPr/>
          <p:nvPr/>
        </p:nvGrpSpPr>
        <p:grpSpPr>
          <a:xfrm>
            <a:off x="1447800" y="3644899"/>
            <a:ext cx="5871117" cy="159834"/>
            <a:chOff x="1447800" y="4038600"/>
            <a:chExt cx="5871117" cy="159834"/>
          </a:xfrm>
        </p:grpSpPr>
        <p:pic>
          <p:nvPicPr>
            <p:cNvPr id="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7956"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6083"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3361"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cxnSp>
        <p:nvCxnSpPr>
          <p:cNvPr id="43" name="Curved Connector 42"/>
          <p:cNvCxnSpPr/>
          <p:nvPr/>
        </p:nvCxnSpPr>
        <p:spPr>
          <a:xfrm>
            <a:off x="6637609" y="3790949"/>
            <a:ext cx="603250" cy="13784"/>
          </a:xfrm>
          <a:prstGeom prst="curvedConnector4">
            <a:avLst>
              <a:gd name="adj1" fmla="val 1015"/>
              <a:gd name="adj2" fmla="val 248654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49" name="Curved Connector 48"/>
          <p:cNvCxnSpPr/>
          <p:nvPr/>
        </p:nvCxnSpPr>
        <p:spPr>
          <a:xfrm rot="16200000" flipH="1">
            <a:off x="4096639" y="3512518"/>
            <a:ext cx="12700" cy="569561"/>
          </a:xfrm>
          <a:prstGeom prst="curvedConnector3">
            <a:avLst>
              <a:gd name="adj1" fmla="val 2678047"/>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3" name="Curved Connector 52"/>
          <p:cNvCxnSpPr/>
          <p:nvPr/>
        </p:nvCxnSpPr>
        <p:spPr>
          <a:xfrm rot="16200000" flipH="1">
            <a:off x="4683937" y="2925221"/>
            <a:ext cx="12700" cy="1744156"/>
          </a:xfrm>
          <a:prstGeom prst="curvedConnector3">
            <a:avLst>
              <a:gd name="adj1" fmla="val 610244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8" name="Curved Connector 57"/>
          <p:cNvCxnSpPr/>
          <p:nvPr/>
        </p:nvCxnSpPr>
        <p:spPr>
          <a:xfrm rot="16200000" flipH="1">
            <a:off x="2945431" y="3518869"/>
            <a:ext cx="12700" cy="569561"/>
          </a:xfrm>
          <a:prstGeom prst="curvedConnector3">
            <a:avLst>
              <a:gd name="adj1" fmla="val 2678047"/>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9" name="Curved Connector 58"/>
          <p:cNvCxnSpPr/>
          <p:nvPr/>
        </p:nvCxnSpPr>
        <p:spPr>
          <a:xfrm rot="5400000" flipH="1" flipV="1">
            <a:off x="3541442" y="2391316"/>
            <a:ext cx="7434" cy="2819400"/>
          </a:xfrm>
          <a:prstGeom prst="curvedConnector3">
            <a:avLst>
              <a:gd name="adj1" fmla="val -1102522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3" name="Curved Connector 62"/>
          <p:cNvCxnSpPr/>
          <p:nvPr/>
        </p:nvCxnSpPr>
        <p:spPr>
          <a:xfrm rot="5400000" flipH="1" flipV="1">
            <a:off x="2665142" y="2658016"/>
            <a:ext cx="7434" cy="2286000"/>
          </a:xfrm>
          <a:prstGeom prst="curvedConnector3">
            <a:avLst>
              <a:gd name="adj1" fmla="val -11175222"/>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77" name="Curved Connector 76"/>
          <p:cNvCxnSpPr/>
          <p:nvPr/>
        </p:nvCxnSpPr>
        <p:spPr>
          <a:xfrm rot="16200000" flipH="1">
            <a:off x="6663783" y="3227657"/>
            <a:ext cx="7434" cy="1146717"/>
          </a:xfrm>
          <a:prstGeom prst="curvedConnector3">
            <a:avLst>
              <a:gd name="adj1" fmla="val 8425182"/>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1384758" y="3172160"/>
            <a:ext cx="6149440" cy="369332"/>
          </a:xfrm>
          <a:prstGeom prst="rect">
            <a:avLst/>
          </a:prstGeom>
          <a:noFill/>
        </p:spPr>
        <p:txBody>
          <a:bodyPr wrap="none" rtlCol="0">
            <a:spAutoFit/>
          </a:bodyPr>
          <a:lstStyle/>
          <a:p>
            <a:r>
              <a:rPr lang="en-US" dirty="0"/>
              <a:t>1        2          3        4       5          6          7         8        9        10      11</a:t>
            </a:r>
          </a:p>
        </p:txBody>
      </p:sp>
      <p:cxnSp>
        <p:nvCxnSpPr>
          <p:cNvPr id="26" name="Curved Connector 25"/>
          <p:cNvCxnSpPr/>
          <p:nvPr/>
        </p:nvCxnSpPr>
        <p:spPr>
          <a:xfrm rot="16200000" flipH="1">
            <a:off x="2093642" y="3227658"/>
            <a:ext cx="7434" cy="1146717"/>
          </a:xfrm>
          <a:prstGeom prst="curvedConnector3">
            <a:avLst>
              <a:gd name="adj1" fmla="val 5789414"/>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Curved Connector 24"/>
          <p:cNvCxnSpPr>
            <a:stCxn id="17" idx="2"/>
            <a:endCxn id="15" idx="2"/>
          </p:cNvCxnSpPr>
          <p:nvPr/>
        </p:nvCxnSpPr>
        <p:spPr>
          <a:xfrm rot="5400000" flipH="1" flipV="1">
            <a:off x="3236642" y="3229516"/>
            <a:ext cx="7434" cy="1143000"/>
          </a:xfrm>
          <a:prstGeom prst="curvedConnector3">
            <a:avLst>
              <a:gd name="adj1" fmla="val -6735849"/>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0145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wipe(left)">
                                      <p:cBhvr>
                                        <p:cTn id="24" dur="500"/>
                                        <p:tgtEl>
                                          <p:spTgt spid="63"/>
                                        </p:tgtEl>
                                      </p:cBhvr>
                                    </p:animEffect>
                                  </p:childTnLst>
                                </p:cTn>
                              </p:par>
                              <p:par>
                                <p:cTn id="25" presetID="22" presetClass="entr" presetSubtype="8" fill="hold" nodeType="with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left)">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9"/>
                                        </p:tgtEl>
                                        <p:attrNameLst>
                                          <p:attrName>style.visibility</p:attrName>
                                        </p:attrNameLst>
                                      </p:cBhvr>
                                      <p:to>
                                        <p:strVal val="visible"/>
                                      </p:to>
                                    </p:set>
                                    <p:animEffect transition="in" filter="wipe(left)">
                                      <p:cBhvr>
                                        <p:cTn id="32" dur="500"/>
                                        <p:tgtEl>
                                          <p:spTgt spid="5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wipe(left)">
                                      <p:cBhvr>
                                        <p:cTn id="37" dur="500"/>
                                        <p:tgtEl>
                                          <p:spTgt spid="58"/>
                                        </p:tgtEl>
                                      </p:cBhvr>
                                    </p:animEffect>
                                  </p:childTnLst>
                                </p:cTn>
                              </p:par>
                              <p:par>
                                <p:cTn id="38" presetID="22" presetClass="entr" presetSubtype="8"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wipe(left)">
                                      <p:cBhvr>
                                        <p:cTn id="40" dur="500"/>
                                        <p:tgtEl>
                                          <p:spTgt spid="2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wipe(left)">
                                      <p:cBhvr>
                                        <p:cTn id="45" dur="500"/>
                                        <p:tgtEl>
                                          <p:spTgt spid="49"/>
                                        </p:tgtEl>
                                      </p:cBhvr>
                                    </p:animEffect>
                                  </p:childTnLst>
                                </p:cTn>
                              </p:par>
                              <p:par>
                                <p:cTn id="46" presetID="22" presetClass="entr" presetSubtype="8" fill="hold" nodeType="with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wipe(left)">
                                      <p:cBhvr>
                                        <p:cTn id="48" dur="500"/>
                                        <p:tgtEl>
                                          <p:spTgt spid="5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77"/>
                                        </p:tgtEl>
                                        <p:attrNameLst>
                                          <p:attrName>style.visibility</p:attrName>
                                        </p:attrNameLst>
                                      </p:cBhvr>
                                      <p:to>
                                        <p:strVal val="visible"/>
                                      </p:to>
                                    </p:set>
                                    <p:animEffect transition="in" filter="wipe(left)">
                                      <p:cBhvr>
                                        <p:cTn id="53" dur="500"/>
                                        <p:tgtEl>
                                          <p:spTgt spid="77"/>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43"/>
                                        </p:tgtEl>
                                        <p:attrNameLst>
                                          <p:attrName>style.visibility</p:attrName>
                                        </p:attrNameLst>
                                      </p:cBhvr>
                                      <p:to>
                                        <p:strVal val="visible"/>
                                      </p:to>
                                    </p:set>
                                    <p:animEffect transition="in" filter="wipe(left)">
                                      <p:cBhvr>
                                        <p:cTn id="58" dur="500"/>
                                        <p:tgtEl>
                                          <p:spTgt spid="43"/>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82"/>
                                        </p:tgtEl>
                                        <p:attrNameLst>
                                          <p:attrName>style.visibility</p:attrName>
                                        </p:attrNameLst>
                                      </p:cBhvr>
                                      <p:to>
                                        <p:strVal val="visible"/>
                                      </p:to>
                                    </p:set>
                                    <p:animEffect transition="in" filter="wipe(left)">
                                      <p:cBhvr>
                                        <p:cTn id="63" dur="1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8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b="1" dirty="0">
                <a:solidFill>
                  <a:srgbClr val="7030A0"/>
                </a:solidFill>
              </a:rPr>
              <a:t>Applications of Topological ordering</a:t>
            </a:r>
            <a:br>
              <a:rPr lang="en-US" sz="3200" b="1" dirty="0">
                <a:solidFill>
                  <a:srgbClr val="7030A0"/>
                </a:solidFill>
              </a:rPr>
            </a:br>
            <a:r>
              <a:rPr lang="en-US" sz="3200" b="1" dirty="0">
                <a:solidFill>
                  <a:srgbClr val="0070C0"/>
                </a:solidFill>
              </a:rPr>
              <a:t>I</a:t>
            </a:r>
            <a:endParaRPr lang="en-US" sz="4000" dirty="0">
              <a:solidFill>
                <a:srgbClr val="0070C0"/>
              </a:solidFill>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pPr marL="0" indent="0">
                  <a:buNone/>
                </a:pPr>
                <a:r>
                  <a:rPr lang="en-US" sz="2000" dirty="0"/>
                  <a:t>A mapping </a:t>
                </a:r>
                <a14:m>
                  <m:oMath xmlns:m="http://schemas.openxmlformats.org/officeDocument/2006/math">
                    <m:r>
                      <a:rPr lang="en-US" sz="2000" b="1" i="1" dirty="0" smtClean="0">
                        <a:solidFill>
                          <a:srgbClr val="7030A0"/>
                        </a:solidFill>
                        <a:latin typeface="Cambria Math"/>
                      </a:rPr>
                      <m:t>𝝉</m:t>
                    </m:r>
                  </m:oMath>
                </a14:m>
                <a:r>
                  <a:rPr lang="en-US" sz="2000" dirty="0"/>
                  <a:t> : </a:t>
                </a:r>
                <a14:m>
                  <m:oMath xmlns:m="http://schemas.openxmlformats.org/officeDocument/2006/math">
                    <m:r>
                      <a:rPr lang="en-US" sz="2000" b="1" i="1" dirty="0">
                        <a:solidFill>
                          <a:srgbClr val="0070C0"/>
                        </a:solidFill>
                        <a:latin typeface="Cambria Math"/>
                      </a:rPr>
                      <m:t>𝑽</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𝟏</m:t>
                    </m:r>
                    <m:r>
                      <a:rPr lang="en-US" sz="2000" b="1" i="1" dirty="0" smtClean="0">
                        <a:solidFill>
                          <a:srgbClr val="0070C0"/>
                        </a:solidFill>
                        <a:latin typeface="Cambria Math"/>
                      </a:rPr>
                      <m:t>…</m:t>
                    </m:r>
                    <m:r>
                      <a:rPr lang="en-US" sz="2000" b="1" i="1" dirty="0" smtClean="0">
                        <a:solidFill>
                          <a:srgbClr val="0070C0"/>
                        </a:solidFill>
                        <a:latin typeface="Cambria Math"/>
                      </a:rPr>
                      <m:t>𝒏</m:t>
                    </m:r>
                  </m:oMath>
                </a14:m>
                <a:r>
                  <a:rPr lang="en-US" sz="2000" dirty="0">
                    <a:sym typeface="Wingdings" pitchFamily="2" charset="2"/>
                  </a:rPr>
                  <a:t>] such that </a:t>
                </a:r>
              </a:p>
              <a:p>
                <a:pPr marL="0" indent="0">
                  <a:buNone/>
                </a:pPr>
                <a:r>
                  <a:rPr lang="en-US" sz="2000" dirty="0">
                    <a:sym typeface="Wingdings" pitchFamily="2" charset="2"/>
                  </a:rPr>
                  <a:t>For each edge </a:t>
                </a:r>
                <a14:m>
                  <m:oMath xmlns:m="http://schemas.openxmlformats.org/officeDocument/2006/math">
                    <m:d>
                      <m:dPr>
                        <m:ctrlPr>
                          <a:rPr lang="en-US" sz="2000" b="0" i="1" dirty="0" smtClean="0">
                            <a:solidFill>
                              <a:schemeClr val="tx1"/>
                            </a:solidFill>
                            <a:latin typeface="Cambria Math" panose="02040503050406030204" pitchFamily="18" charset="0"/>
                          </a:rPr>
                        </m:ctrlPr>
                      </m:dPr>
                      <m:e>
                        <m:r>
                          <a:rPr lang="en-US" sz="2000" b="1" i="1" dirty="0" smtClean="0">
                            <a:solidFill>
                              <a:srgbClr val="0070C0"/>
                            </a:solidFill>
                            <a:latin typeface="Cambria Math"/>
                          </a:rPr>
                          <m:t>𝒖</m:t>
                        </m:r>
                        <m:r>
                          <a:rPr lang="en-US" sz="2000" b="1" i="1" dirty="0" smtClean="0">
                            <a:solidFill>
                              <a:schemeClr val="tx1"/>
                            </a:solidFill>
                            <a:latin typeface="Cambria Math"/>
                          </a:rPr>
                          <m:t>,</m:t>
                        </m:r>
                        <m:r>
                          <a:rPr lang="en-US" sz="2000" b="1" i="1" dirty="0" smtClean="0">
                            <a:solidFill>
                              <a:srgbClr val="0070C0"/>
                            </a:solidFill>
                            <a:latin typeface="Cambria Math"/>
                          </a:rPr>
                          <m:t>𝒗</m:t>
                        </m:r>
                      </m:e>
                    </m:d>
                    <m:r>
                      <a:rPr lang="en-US" sz="2000" b="0" i="1" dirty="0" smtClean="0">
                        <a:solidFill>
                          <a:schemeClr val="tx1"/>
                        </a:solidFill>
                        <a:latin typeface="Cambria Math"/>
                      </a:rPr>
                      <m:t>∈</m:t>
                    </m:r>
                    <m:r>
                      <a:rPr lang="en-US" sz="2000" b="1" i="1" dirty="0">
                        <a:solidFill>
                          <a:srgbClr val="0070C0"/>
                        </a:solidFill>
                        <a:latin typeface="Cambria Math"/>
                      </a:rPr>
                      <m:t>𝑬</m:t>
                    </m:r>
                  </m:oMath>
                </a14:m>
                <a:r>
                  <a:rPr lang="en-US" sz="2000" dirty="0">
                    <a:sym typeface="Wingdings" pitchFamily="2" charset="2"/>
                  </a:rPr>
                  <a:t> ,  </a:t>
                </a:r>
                <a:r>
                  <a:rPr lang="en-US" sz="2000" b="1" dirty="0">
                    <a:solidFill>
                      <a:srgbClr val="7030A0"/>
                    </a:solidFill>
                    <a:sym typeface="Wingdings" pitchFamily="2" charset="2"/>
                  </a:rPr>
                  <a: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a:solidFill>
                          <a:srgbClr val="0070C0"/>
                        </a:solidFill>
                        <a:latin typeface="Cambria Math"/>
                      </a:rPr>
                      <m:t>𝒖</m:t>
                    </m:r>
                  </m:oMath>
                </a14:m>
                <a:r>
                  <a:rPr lang="en-US" sz="2000" dirty="0">
                    <a:sym typeface="Wingdings" pitchFamily="2" charset="2"/>
                  </a:rPr>
                  <a:t>) &lt;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𝒗</m:t>
                    </m:r>
                  </m:oMath>
                </a14:m>
                <a:r>
                  <a:rPr lang="en-US" sz="2000" dirty="0">
                    <a:sym typeface="Wingdings" pitchFamily="2" charset="2"/>
                  </a:rPr>
                  <a:t>) </a:t>
                </a: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r>
                  <a:rPr lang="en-US" sz="2000" dirty="0">
                    <a:sym typeface="Wingdings" pitchFamily="2" charset="2"/>
                  </a:rPr>
                  <a:t>Let </a:t>
                </a:r>
                <a14:m>
                  <m:oMath xmlns:m="http://schemas.openxmlformats.org/officeDocument/2006/math">
                    <m:r>
                      <a:rPr lang="en-US" sz="2000" b="1" i="1" dirty="0" smtClean="0">
                        <a:solidFill>
                          <a:schemeClr val="tx1"/>
                        </a:solidFill>
                        <a:latin typeface="Cambria Math"/>
                      </a:rPr>
                      <m:t>𝒇</m:t>
                    </m:r>
                  </m:oMath>
                </a14:m>
                <a:r>
                  <a:rPr lang="en-US" sz="2000" dirty="0"/>
                  <a:t> be a function on </a:t>
                </a:r>
                <a14:m>
                  <m:oMath xmlns:m="http://schemas.openxmlformats.org/officeDocument/2006/math">
                    <m:r>
                      <a:rPr lang="en-US" sz="2000" b="1" i="1" dirty="0">
                        <a:solidFill>
                          <a:srgbClr val="0070C0"/>
                        </a:solidFill>
                        <a:latin typeface="Cambria Math"/>
                      </a:rPr>
                      <m:t>𝑽</m:t>
                    </m:r>
                    <m:r>
                      <a:rPr lang="en-US" sz="2000" b="1" i="1" dirty="0">
                        <a:solidFill>
                          <a:srgbClr val="0070C0"/>
                        </a:solidFill>
                        <a:latin typeface="Cambria Math"/>
                      </a:rPr>
                      <m:t> </m:t>
                    </m:r>
                  </m:oMath>
                </a14:m>
                <a:r>
                  <a:rPr lang="en-US" sz="2000" dirty="0"/>
                  <a:t>that we wish to compute</a:t>
                </a:r>
              </a:p>
              <a:p>
                <a:pPr marL="0" indent="0">
                  <a:buNone/>
                </a:pPr>
                <a:r>
                  <a:rPr lang="en-US" sz="2000" dirty="0">
                    <a:sym typeface="Wingdings" pitchFamily="2" charset="2"/>
                  </a:rPr>
                  <a:t>If </a:t>
                </a:r>
                <a14:m>
                  <m:oMath xmlns:m="http://schemas.openxmlformats.org/officeDocument/2006/math">
                    <m:r>
                      <a:rPr lang="en-US" sz="2000" b="1" i="1" dirty="0" smtClean="0">
                        <a:solidFill>
                          <a:schemeClr val="tx1"/>
                        </a:solidFill>
                        <a:latin typeface="Cambria Math"/>
                      </a:rPr>
                      <m:t>𝒇</m:t>
                    </m:r>
                    <m:r>
                      <a:rPr lang="en-US" sz="2000" b="1" i="1" dirty="0" smtClean="0">
                        <a:solidFill>
                          <a:schemeClr val="tx1"/>
                        </a:solidFill>
                        <a:latin typeface="Cambria Math"/>
                      </a:rPr>
                      <m:t>(</m:t>
                    </m:r>
                    <m:r>
                      <a:rPr lang="en-US" sz="2000" b="1" i="1" dirty="0" smtClean="0">
                        <a:solidFill>
                          <a:srgbClr val="0070C0"/>
                        </a:solidFill>
                        <a:latin typeface="Cambria Math"/>
                      </a:rPr>
                      <m:t>𝒚</m:t>
                    </m:r>
                    <m:r>
                      <a:rPr lang="en-US" sz="2000" b="1" i="1" dirty="0" smtClean="0">
                        <a:solidFill>
                          <a:schemeClr val="tx1"/>
                        </a:solidFill>
                        <a:latin typeface="Cambria Math"/>
                      </a:rPr>
                      <m:t>)</m:t>
                    </m:r>
                  </m:oMath>
                </a14:m>
                <a:r>
                  <a:rPr lang="en-US" sz="2000" dirty="0">
                    <a:sym typeface="Wingdings" pitchFamily="2" charset="2"/>
                  </a:rPr>
                  <a:t> can be expressed in terms of  </a:t>
                </a:r>
                <a:r>
                  <a:rPr lang="en-US" sz="2000" b="1" u="sng" dirty="0">
                    <a:sym typeface="Wingdings" pitchFamily="2" charset="2"/>
                  </a:rPr>
                  <a:t>ONLY</a:t>
                </a:r>
                <a:r>
                  <a:rPr lang="en-US" sz="2000" dirty="0">
                    <a:sym typeface="Wingdings" pitchFamily="2" charset="2"/>
                  </a:rPr>
                  <a:t> </a:t>
                </a:r>
                <a14:m>
                  <m:oMath xmlns:m="http://schemas.openxmlformats.org/officeDocument/2006/math">
                    <m:d>
                      <m:dPr>
                        <m:begChr m:val="{"/>
                        <m:endChr m:val="|"/>
                        <m:ctrlPr>
                          <a:rPr lang="en-US" sz="2000" b="0" i="1" dirty="0" smtClean="0">
                            <a:solidFill>
                              <a:schemeClr val="tx1"/>
                            </a:solidFill>
                            <a:latin typeface="Cambria Math" panose="02040503050406030204" pitchFamily="18" charset="0"/>
                          </a:rPr>
                        </m:ctrlPr>
                      </m:dPr>
                      <m:e>
                        <m:r>
                          <a:rPr lang="en-US" sz="2000" b="1" i="1" dirty="0" smtClean="0">
                            <a:solidFill>
                              <a:schemeClr val="tx1"/>
                            </a:solidFill>
                            <a:latin typeface="Cambria Math"/>
                          </a:rPr>
                          <m:t>𝒇</m:t>
                        </m:r>
                        <m:d>
                          <m:dPr>
                            <m:ctrlPr>
                              <a:rPr lang="en-US" sz="2000" b="1" i="1" dirty="0">
                                <a:solidFill>
                                  <a:schemeClr val="tx1"/>
                                </a:solidFill>
                                <a:latin typeface="Cambria Math" panose="02040503050406030204" pitchFamily="18" charset="0"/>
                              </a:rPr>
                            </m:ctrlPr>
                          </m:dPr>
                          <m:e>
                            <m:r>
                              <a:rPr lang="en-US" sz="2000" b="1" i="1" dirty="0" smtClean="0">
                                <a:solidFill>
                                  <a:srgbClr val="0070C0"/>
                                </a:solidFill>
                                <a:latin typeface="Cambria Math"/>
                              </a:rPr>
                              <m:t>𝒙</m:t>
                            </m:r>
                          </m:e>
                        </m:d>
                        <m:r>
                          <a:rPr lang="en-US" sz="2000" b="1" i="1" dirty="0" smtClean="0">
                            <a:solidFill>
                              <a:schemeClr val="tx1"/>
                            </a:solidFill>
                            <a:latin typeface="Cambria Math"/>
                          </a:rPr>
                          <m:t> </m:t>
                        </m:r>
                      </m:e>
                    </m:d>
                    <m:d>
                      <m:dPr>
                        <m:ctrlPr>
                          <a:rPr lang="en-US" sz="2000" i="1" dirty="0">
                            <a:latin typeface="Cambria Math" panose="02040503050406030204" pitchFamily="18" charset="0"/>
                          </a:rPr>
                        </m:ctrlPr>
                      </m:dPr>
                      <m:e>
                        <m:r>
                          <a:rPr lang="en-US" sz="2000" b="1" i="1" dirty="0" smtClean="0">
                            <a:solidFill>
                              <a:srgbClr val="0070C0"/>
                            </a:solidFill>
                            <a:latin typeface="Cambria Math"/>
                          </a:rPr>
                          <m:t>𝒙</m:t>
                        </m:r>
                        <m:r>
                          <a:rPr lang="en-US" sz="2000" b="1" i="1" dirty="0">
                            <a:latin typeface="Cambria Math"/>
                          </a:rPr>
                          <m:t>,</m:t>
                        </m:r>
                        <m:r>
                          <a:rPr lang="en-US" sz="2000" b="1" i="1" dirty="0" smtClean="0">
                            <a:solidFill>
                              <a:srgbClr val="0070C0"/>
                            </a:solidFill>
                            <a:latin typeface="Cambria Math"/>
                          </a:rPr>
                          <m:t>𝒚</m:t>
                        </m:r>
                      </m:e>
                    </m:d>
                    <m:r>
                      <a:rPr lang="en-US" sz="2000" b="1" i="1" dirty="0" smtClean="0">
                        <a:solidFill>
                          <a:srgbClr val="0070C0"/>
                        </a:solidFill>
                        <a:latin typeface="Cambria Math"/>
                      </a:rPr>
                      <m:t>∈</m:t>
                    </m:r>
                    <m:r>
                      <a:rPr lang="en-US" sz="2000" b="1" i="1" dirty="0" smtClean="0">
                        <a:solidFill>
                          <a:srgbClr val="0070C0"/>
                        </a:solidFill>
                        <a:latin typeface="Cambria Math"/>
                      </a:rPr>
                      <m:t>𝑬</m:t>
                    </m:r>
                    <m:r>
                      <a:rPr lang="en-US" sz="2000" b="1" i="1" dirty="0" smtClean="0">
                        <a:solidFill>
                          <a:schemeClr val="tx1"/>
                        </a:solidFill>
                        <a:latin typeface="Cambria Math"/>
                      </a:rPr>
                      <m:t>}</m:t>
                    </m:r>
                  </m:oMath>
                </a14:m>
                <a:r>
                  <a:rPr lang="en-US" sz="2000" dirty="0">
                    <a:sym typeface="Wingdings" pitchFamily="2" charset="2"/>
                  </a:rPr>
                  <a:t> </a:t>
                </a:r>
              </a:p>
              <a:p>
                <a:pPr marL="0" indent="0">
                  <a:buNone/>
                </a:pPr>
                <a:r>
                  <a:rPr lang="en-US" sz="2000" dirty="0">
                    <a:sym typeface="Wingdings" pitchFamily="2" charset="2"/>
                  </a:rPr>
                  <a:t>We can compute </a:t>
                </a:r>
                <a14:m>
                  <m:oMath xmlns:m="http://schemas.openxmlformats.org/officeDocument/2006/math">
                    <m:r>
                      <a:rPr lang="en-US" sz="2000" b="1" i="1" dirty="0">
                        <a:latin typeface="Cambria Math"/>
                      </a:rPr>
                      <m:t>𝒇</m:t>
                    </m:r>
                  </m:oMath>
                </a14:m>
                <a:r>
                  <a:rPr lang="en-US" sz="2000" dirty="0">
                    <a:sym typeface="Wingdings" pitchFamily="2" charset="2"/>
                  </a:rPr>
                  <a:t> by processing vertices in </a:t>
                </a:r>
                <a:r>
                  <a:rPr lang="en-US" sz="2000" u="sng" dirty="0">
                    <a:sym typeface="Wingdings" pitchFamily="2" charset="2"/>
                  </a:rPr>
                  <a:t>increasing order</a:t>
                </a:r>
                <a:r>
                  <a:rPr lang="en-US" sz="2000" dirty="0">
                    <a:sym typeface="Wingdings" pitchFamily="2" charset="2"/>
                  </a:rPr>
                  <a:t> of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 </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2"/>
                <a:stretch>
                  <a:fillRect l="-741" t="-809"/>
                </a:stretch>
              </a:blipFill>
            </p:spPr>
            <p:txBody>
              <a:bodyPr/>
              <a:lstStyle/>
              <a:p>
                <a:r>
                  <a:rPr lang="en-US">
                    <a:noFill/>
                  </a:rPr>
                  <a:t> </a:t>
                </a:r>
              </a:p>
            </p:txBody>
          </p:sp>
        </mc:Fallback>
      </mc:AlternateContent>
      <p:grpSp>
        <p:nvGrpSpPr>
          <p:cNvPr id="7" name="Group 6"/>
          <p:cNvGrpSpPr/>
          <p:nvPr/>
        </p:nvGrpSpPr>
        <p:grpSpPr>
          <a:xfrm>
            <a:off x="1447800" y="3644899"/>
            <a:ext cx="5871117" cy="159834"/>
            <a:chOff x="1447800" y="4038600"/>
            <a:chExt cx="5871117" cy="159834"/>
          </a:xfrm>
        </p:grpSpPr>
        <p:pic>
          <p:nvPicPr>
            <p:cNvPr id="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7956"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6083"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3361"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2" name="TextBox 81"/>
          <p:cNvSpPr txBox="1"/>
          <p:nvPr/>
        </p:nvSpPr>
        <p:spPr>
          <a:xfrm>
            <a:off x="1384758" y="3172160"/>
            <a:ext cx="6149440" cy="369332"/>
          </a:xfrm>
          <a:prstGeom prst="rect">
            <a:avLst/>
          </a:prstGeom>
          <a:noFill/>
        </p:spPr>
        <p:txBody>
          <a:bodyPr wrap="none" rtlCol="0">
            <a:spAutoFit/>
          </a:bodyPr>
          <a:lstStyle/>
          <a:p>
            <a:r>
              <a:rPr lang="en-US" dirty="0"/>
              <a:t>1        2          3        4       5          6          7         8        9        10      11</a:t>
            </a:r>
          </a:p>
        </p:txBody>
      </p:sp>
      <p:grpSp>
        <p:nvGrpSpPr>
          <p:cNvPr id="22" name="Group 21"/>
          <p:cNvGrpSpPr/>
          <p:nvPr/>
        </p:nvGrpSpPr>
        <p:grpSpPr>
          <a:xfrm>
            <a:off x="1525859" y="3797299"/>
            <a:ext cx="2286000" cy="7434"/>
            <a:chOff x="1525859" y="3797299"/>
            <a:chExt cx="2286000" cy="7434"/>
          </a:xfrm>
        </p:grpSpPr>
        <p:cxnSp>
          <p:nvCxnSpPr>
            <p:cNvPr id="63" name="Curved Connector 62"/>
            <p:cNvCxnSpPr/>
            <p:nvPr/>
          </p:nvCxnSpPr>
          <p:spPr>
            <a:xfrm rot="5400000" flipH="1" flipV="1">
              <a:off x="2665142" y="2658016"/>
              <a:ext cx="7434" cy="2286000"/>
            </a:xfrm>
            <a:prstGeom prst="curvedConnector3">
              <a:avLst>
                <a:gd name="adj1" fmla="val -9418039"/>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Curved Connector 24"/>
            <p:cNvCxnSpPr>
              <a:stCxn id="17" idx="2"/>
              <a:endCxn id="15" idx="2"/>
            </p:cNvCxnSpPr>
            <p:nvPr/>
          </p:nvCxnSpPr>
          <p:spPr>
            <a:xfrm rot="5400000" flipH="1" flipV="1">
              <a:off x="3236642" y="3229516"/>
              <a:ext cx="7434" cy="1143000"/>
            </a:xfrm>
            <a:prstGeom prst="curvedConnector3">
              <a:avLst>
                <a:gd name="adj1" fmla="val -6735849"/>
              </a:avLst>
            </a:prstGeom>
            <a:ln w="28575">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 name="TextBox 20"/>
              <p:cNvSpPr txBox="1"/>
              <p:nvPr/>
            </p:nvSpPr>
            <p:spPr>
              <a:xfrm>
                <a:off x="3581400" y="4114800"/>
                <a:ext cx="3754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a:solidFill>
                            <a:srgbClr val="0070C0"/>
                          </a:solidFill>
                          <a:latin typeface="Cambria Math"/>
                        </a:rPr>
                        <m:t>𝒚</m:t>
                      </m:r>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3581400" y="4114800"/>
                <a:ext cx="375424" cy="369332"/>
              </a:xfrm>
              <a:prstGeom prst="rect">
                <a:avLst/>
              </a:prstGeom>
              <a:blipFill rotWithShape="1">
                <a:blip r:embed="rId4"/>
                <a:stretch>
                  <a:fillRect t="-8197" r="-21311" b="-24590"/>
                </a:stretch>
              </a:blipFill>
            </p:spPr>
            <p:txBody>
              <a:bodyPr/>
              <a:lstStyle/>
              <a:p>
                <a:r>
                  <a:rPr lang="en-US">
                    <a:noFill/>
                  </a:rPr>
                  <a:t> </a:t>
                </a:r>
              </a:p>
            </p:txBody>
          </p:sp>
        </mc:Fallback>
      </mc:AlternateContent>
      <p:sp>
        <p:nvSpPr>
          <p:cNvPr id="24" name="Right Arrow 23"/>
          <p:cNvSpPr/>
          <p:nvPr/>
        </p:nvSpPr>
        <p:spPr>
          <a:xfrm>
            <a:off x="2514600" y="2438400"/>
            <a:ext cx="3886200" cy="789432"/>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ectangle 22"/>
          <p:cNvSpPr/>
          <p:nvPr/>
        </p:nvSpPr>
        <p:spPr>
          <a:xfrm>
            <a:off x="4343400" y="5181600"/>
            <a:ext cx="3962400" cy="533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D02582F4-1CE7-4CD2-9767-DA558A209510}"/>
              </a:ext>
            </a:extLst>
          </p:cNvPr>
          <p:cNvSpPr/>
          <p:nvPr/>
        </p:nvSpPr>
        <p:spPr>
          <a:xfrm>
            <a:off x="5105400" y="5715000"/>
            <a:ext cx="3962400" cy="533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EBFC5BF-846E-A1A0-BB1F-A0556743D325}"/>
              </a:ext>
            </a:extLst>
          </p:cNvPr>
          <p:cNvSpPr/>
          <p:nvPr/>
        </p:nvSpPr>
        <p:spPr>
          <a:xfrm>
            <a:off x="2790731" y="5562600"/>
            <a:ext cx="3962400" cy="533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0728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xEl>
                                              <p:pRg st="9" end="9"/>
                                            </p:txEl>
                                          </p:spTgt>
                                        </p:tgtEl>
                                        <p:attrNameLst>
                                          <p:attrName>style.visibility</p:attrName>
                                        </p:attrNameLst>
                                      </p:cBhvr>
                                      <p:to>
                                        <p:strVal val="visible"/>
                                      </p:to>
                                    </p:set>
                                    <p:animEffect transition="in" filter="fade">
                                      <p:cBhvr>
                                        <p:cTn id="14" dur="500"/>
                                        <p:tgtEl>
                                          <p:spTgt spid="5">
                                            <p:txEl>
                                              <p:pRg st="9" end="9"/>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anim calcmode="lin" valueType="num">
                                      <p:cBhvr>
                                        <p:cTn id="20" dur="1000" fill="hold"/>
                                        <p:tgtEl>
                                          <p:spTgt spid="21"/>
                                        </p:tgtEl>
                                        <p:attrNameLst>
                                          <p:attrName>ppt_x</p:attrName>
                                        </p:attrNameLst>
                                      </p:cBhvr>
                                      <p:tavLst>
                                        <p:tav tm="0">
                                          <p:val>
                                            <p:strVal val="#ppt_x"/>
                                          </p:val>
                                        </p:tav>
                                        <p:tav tm="100000">
                                          <p:val>
                                            <p:strVal val="#ppt_x"/>
                                          </p:val>
                                        </p:tav>
                                      </p:tavLst>
                                    </p:anim>
                                    <p:anim calcmode="lin" valueType="num">
                                      <p:cBhvr>
                                        <p:cTn id="2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xEl>
                                              <p:pRg st="10" end="10"/>
                                            </p:txEl>
                                          </p:spTgt>
                                        </p:tgtEl>
                                        <p:attrNameLst>
                                          <p:attrName>style.visibility</p:attrName>
                                        </p:attrNameLst>
                                      </p:cBhvr>
                                      <p:to>
                                        <p:strVal val="visible"/>
                                      </p:to>
                                    </p:set>
                                    <p:animEffect transition="in" filter="wipe(left)">
                                      <p:cBhvr>
                                        <p:cTn id="26" dur="3500"/>
                                        <p:tgtEl>
                                          <p:spTgt spid="5">
                                            <p:txEl>
                                              <p:pRg st="10" end="1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xit" presetSubtype="8" fill="hold" grpId="0" nodeType="clickEffect">
                                  <p:stCondLst>
                                    <p:cond delay="0"/>
                                  </p:stCondLst>
                                  <p:childTnLst>
                                    <p:animEffect transition="out" filter="wipe(left)">
                                      <p:cBhvr>
                                        <p:cTn id="30" dur="2000"/>
                                        <p:tgtEl>
                                          <p:spTgt spid="23"/>
                                        </p:tgtEl>
                                      </p:cBhvr>
                                    </p:animEffect>
                                    <p:set>
                                      <p:cBhvr>
                                        <p:cTn id="31" dur="1" fill="hold">
                                          <p:stCondLst>
                                            <p:cond delay="1999"/>
                                          </p:stCondLst>
                                        </p:cTn>
                                        <p:tgtEl>
                                          <p:spTgt spid="23"/>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left)">
                                      <p:cBhvr>
                                        <p:cTn id="36" dur="10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2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
                                            <p:txEl>
                                              <p:pRg st="11" end="11"/>
                                            </p:txEl>
                                          </p:spTgt>
                                        </p:tgtEl>
                                        <p:attrNameLst>
                                          <p:attrName>style.visibility</p:attrName>
                                        </p:attrNameLst>
                                      </p:cBhvr>
                                      <p:to>
                                        <p:strVal val="visible"/>
                                      </p:to>
                                    </p:set>
                                    <p:animEffect transition="in" filter="fade">
                                      <p:cBhvr>
                                        <p:cTn id="46" dur="500"/>
                                        <p:tgtEl>
                                          <p:spTgt spid="5">
                                            <p:txEl>
                                              <p:pRg st="11" end="1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xit" presetSubtype="8" fill="hold" grpId="0" nodeType="clickEffect">
                                  <p:stCondLst>
                                    <p:cond delay="0"/>
                                  </p:stCondLst>
                                  <p:childTnLst>
                                    <p:animEffect transition="out" filter="wipe(left)">
                                      <p:cBhvr>
                                        <p:cTn id="50" dur="2000"/>
                                        <p:tgtEl>
                                          <p:spTgt spid="6"/>
                                        </p:tgtEl>
                                      </p:cBhvr>
                                    </p:animEffect>
                                    <p:set>
                                      <p:cBhvr>
                                        <p:cTn id="51" dur="1" fill="hold">
                                          <p:stCondLst>
                                            <p:cond delay="1999"/>
                                          </p:stCondLst>
                                        </p:cTn>
                                        <p:tgtEl>
                                          <p:spTgt spid="6"/>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2" presetClass="exit" presetSubtype="8" fill="hold" grpId="0" nodeType="clickEffect">
                                  <p:stCondLst>
                                    <p:cond delay="0"/>
                                  </p:stCondLst>
                                  <p:childTnLst>
                                    <p:animEffect transition="out" filter="wipe(left)">
                                      <p:cBhvr>
                                        <p:cTn id="55" dur="2000"/>
                                        <p:tgtEl>
                                          <p:spTgt spid="2"/>
                                        </p:tgtEl>
                                      </p:cBhvr>
                                    </p:animEffect>
                                    <p:set>
                                      <p:cBhvr>
                                        <p:cTn id="56"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uiExpand="1" build="p"/>
      <p:bldP spid="21" grpId="0"/>
      <p:bldP spid="24" grpId="0" animBg="1"/>
      <p:bldP spid="23" grpId="0" animBg="1"/>
      <p:bldP spid="2"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b="1" dirty="0">
                <a:solidFill>
                  <a:srgbClr val="7030A0"/>
                </a:solidFill>
              </a:rPr>
              <a:t>Applications of Topological ordering</a:t>
            </a:r>
            <a:br>
              <a:rPr lang="en-US" sz="3200" b="1" dirty="0">
                <a:solidFill>
                  <a:srgbClr val="7030A0"/>
                </a:solidFill>
              </a:rPr>
            </a:br>
            <a:r>
              <a:rPr lang="en-US" sz="3200" b="1" dirty="0">
                <a:solidFill>
                  <a:srgbClr val="7030A0"/>
                </a:solidFill>
              </a:rPr>
              <a:t>I</a:t>
            </a:r>
            <a:endParaRPr lang="en-US" sz="4000" dirty="0">
              <a:solidFill>
                <a:srgbClr val="7030A0"/>
              </a:solidFill>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pPr marL="0" indent="0">
                  <a:buNone/>
                </a:pPr>
                <a:r>
                  <a:rPr lang="en-US" sz="2000" dirty="0"/>
                  <a:t>A mapping </a:t>
                </a:r>
                <a14:m>
                  <m:oMath xmlns:m="http://schemas.openxmlformats.org/officeDocument/2006/math">
                    <m:r>
                      <a:rPr lang="en-US" sz="2000" b="1" i="1" dirty="0" smtClean="0">
                        <a:solidFill>
                          <a:srgbClr val="7030A0"/>
                        </a:solidFill>
                        <a:latin typeface="Cambria Math"/>
                      </a:rPr>
                      <m:t>𝝉</m:t>
                    </m:r>
                  </m:oMath>
                </a14:m>
                <a:r>
                  <a:rPr lang="en-US" sz="2000" dirty="0"/>
                  <a:t> : </a:t>
                </a:r>
                <a14:m>
                  <m:oMath xmlns:m="http://schemas.openxmlformats.org/officeDocument/2006/math">
                    <m:r>
                      <a:rPr lang="en-US" sz="2000" b="1" i="1" dirty="0">
                        <a:solidFill>
                          <a:srgbClr val="0070C0"/>
                        </a:solidFill>
                        <a:latin typeface="Cambria Math"/>
                      </a:rPr>
                      <m:t>𝑽</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𝟏</m:t>
                    </m:r>
                    <m:r>
                      <a:rPr lang="en-US" sz="2000" b="1" i="1" dirty="0" smtClean="0">
                        <a:solidFill>
                          <a:srgbClr val="0070C0"/>
                        </a:solidFill>
                        <a:latin typeface="Cambria Math"/>
                      </a:rPr>
                      <m:t>…</m:t>
                    </m:r>
                    <m:r>
                      <a:rPr lang="en-US" sz="2000" b="1" i="1" dirty="0" smtClean="0">
                        <a:solidFill>
                          <a:srgbClr val="0070C0"/>
                        </a:solidFill>
                        <a:latin typeface="Cambria Math"/>
                      </a:rPr>
                      <m:t>𝒏</m:t>
                    </m:r>
                  </m:oMath>
                </a14:m>
                <a:r>
                  <a:rPr lang="en-US" sz="2000" dirty="0">
                    <a:sym typeface="Wingdings" pitchFamily="2" charset="2"/>
                  </a:rPr>
                  <a:t>] such that </a:t>
                </a:r>
              </a:p>
              <a:p>
                <a:pPr marL="0" indent="0">
                  <a:buNone/>
                </a:pPr>
                <a:r>
                  <a:rPr lang="en-US" sz="2000" dirty="0">
                    <a:sym typeface="Wingdings" pitchFamily="2" charset="2"/>
                  </a:rPr>
                  <a:t>For each edge </a:t>
                </a:r>
                <a14:m>
                  <m:oMath xmlns:m="http://schemas.openxmlformats.org/officeDocument/2006/math">
                    <m:d>
                      <m:dPr>
                        <m:ctrlPr>
                          <a:rPr lang="en-US" sz="2000" b="0" i="1" dirty="0" smtClean="0">
                            <a:solidFill>
                              <a:schemeClr val="tx1"/>
                            </a:solidFill>
                            <a:latin typeface="Cambria Math" panose="02040503050406030204" pitchFamily="18" charset="0"/>
                          </a:rPr>
                        </m:ctrlPr>
                      </m:dPr>
                      <m:e>
                        <m:r>
                          <a:rPr lang="en-US" sz="2000" b="1" i="1" dirty="0" smtClean="0">
                            <a:solidFill>
                              <a:srgbClr val="0070C0"/>
                            </a:solidFill>
                            <a:latin typeface="Cambria Math"/>
                          </a:rPr>
                          <m:t>𝒖</m:t>
                        </m:r>
                        <m:r>
                          <a:rPr lang="en-US" sz="2000" b="1" i="1" dirty="0" smtClean="0">
                            <a:solidFill>
                              <a:schemeClr val="tx1"/>
                            </a:solidFill>
                            <a:latin typeface="Cambria Math"/>
                          </a:rPr>
                          <m:t>,</m:t>
                        </m:r>
                        <m:r>
                          <a:rPr lang="en-US" sz="2000" b="1" i="1" dirty="0" smtClean="0">
                            <a:solidFill>
                              <a:srgbClr val="0070C0"/>
                            </a:solidFill>
                            <a:latin typeface="Cambria Math"/>
                          </a:rPr>
                          <m:t>𝒗</m:t>
                        </m:r>
                      </m:e>
                    </m:d>
                    <m:r>
                      <a:rPr lang="en-US" sz="2000" b="0" i="1" dirty="0" smtClean="0">
                        <a:solidFill>
                          <a:schemeClr val="tx1"/>
                        </a:solidFill>
                        <a:latin typeface="Cambria Math"/>
                      </a:rPr>
                      <m:t>∈</m:t>
                    </m:r>
                    <m:r>
                      <a:rPr lang="en-US" sz="2000" b="1" i="1" dirty="0">
                        <a:solidFill>
                          <a:srgbClr val="0070C0"/>
                        </a:solidFill>
                        <a:latin typeface="Cambria Math"/>
                      </a:rPr>
                      <m:t>𝑬</m:t>
                    </m:r>
                  </m:oMath>
                </a14:m>
                <a:r>
                  <a:rPr lang="en-US" sz="2000" dirty="0">
                    <a:sym typeface="Wingdings" pitchFamily="2" charset="2"/>
                  </a:rPr>
                  <a:t> ,  </a:t>
                </a:r>
                <a:r>
                  <a:rPr lang="en-US" sz="2000" b="1" dirty="0">
                    <a:solidFill>
                      <a:srgbClr val="7030A0"/>
                    </a:solidFill>
                    <a:sym typeface="Wingdings" pitchFamily="2" charset="2"/>
                  </a:rPr>
                  <a: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a:solidFill>
                          <a:srgbClr val="0070C0"/>
                        </a:solidFill>
                        <a:latin typeface="Cambria Math"/>
                      </a:rPr>
                      <m:t>𝒖</m:t>
                    </m:r>
                  </m:oMath>
                </a14:m>
                <a:r>
                  <a:rPr lang="en-US" sz="2000" dirty="0">
                    <a:sym typeface="Wingdings" pitchFamily="2" charset="2"/>
                  </a:rPr>
                  <a:t>) &lt;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𝒗</m:t>
                    </m:r>
                  </m:oMath>
                </a14:m>
                <a:r>
                  <a:rPr lang="en-US" sz="2000" dirty="0">
                    <a:sym typeface="Wingdings" pitchFamily="2" charset="2"/>
                  </a:rPr>
                  <a:t>) </a:t>
                </a: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lgn="ctr">
                  <a:buNone/>
                </a:pPr>
                <a:r>
                  <a:rPr lang="en-US" sz="2000" b="1" dirty="0">
                    <a:solidFill>
                      <a:srgbClr val="C00000"/>
                    </a:solidFill>
                    <a:sym typeface="Wingdings" pitchFamily="2" charset="2"/>
                  </a:rPr>
                  <a:t>Example: </a:t>
                </a:r>
                <a:r>
                  <a:rPr lang="en-US" sz="2000" b="1" dirty="0">
                    <a:solidFill>
                      <a:srgbClr val="002060"/>
                    </a:solidFill>
                    <a:sym typeface="Wingdings" pitchFamily="2" charset="2"/>
                  </a:rPr>
                  <a:t>Single source shortest paths</a:t>
                </a:r>
              </a:p>
              <a:p>
                <a:pPr marL="0" indent="0">
                  <a:buNone/>
                </a:pPr>
                <a14:m>
                  <m:oMath xmlns:m="http://schemas.openxmlformats.org/officeDocument/2006/math">
                    <m:r>
                      <a:rPr lang="en-US" sz="2000" b="1" i="1" dirty="0" smtClean="0">
                        <a:solidFill>
                          <a:schemeClr val="tx1"/>
                        </a:solidFill>
                        <a:latin typeface="Cambria Math"/>
                      </a:rPr>
                      <m:t>𝒇</m:t>
                    </m:r>
                    <m:r>
                      <a:rPr lang="en-US" sz="2000" b="1" i="1" dirty="0">
                        <a:latin typeface="Cambria Math"/>
                      </a:rPr>
                      <m:t>(</m:t>
                    </m:r>
                    <m:r>
                      <a:rPr lang="en-US" sz="2000" b="1" i="1" dirty="0">
                        <a:solidFill>
                          <a:srgbClr val="0070C0"/>
                        </a:solidFill>
                        <a:latin typeface="Cambria Math"/>
                      </a:rPr>
                      <m:t>𝒚</m:t>
                    </m:r>
                    <m:r>
                      <a:rPr lang="en-US" sz="2000" b="1" i="1" dirty="0">
                        <a:latin typeface="Cambria Math"/>
                      </a:rPr>
                      <m:t>)</m:t>
                    </m:r>
                  </m:oMath>
                </a14:m>
                <a:r>
                  <a:rPr lang="en-US" sz="2000" dirty="0">
                    <a:sym typeface="Wingdings" pitchFamily="2" charset="2"/>
                  </a:rPr>
                  <a:t>: the distance from source </a:t>
                </a:r>
                <a14:m>
                  <m:oMath xmlns:m="http://schemas.openxmlformats.org/officeDocument/2006/math">
                    <m:r>
                      <a:rPr lang="en-US" sz="2000" b="1" i="1" dirty="0" smtClean="0">
                        <a:solidFill>
                          <a:srgbClr val="0070C0"/>
                        </a:solidFill>
                        <a:latin typeface="Cambria Math"/>
                      </a:rPr>
                      <m:t>𝒔</m:t>
                    </m:r>
                  </m:oMath>
                </a14:m>
                <a:r>
                  <a:rPr lang="en-US" sz="2000" dirty="0">
                    <a:sym typeface="Wingdings" pitchFamily="2" charset="2"/>
                  </a:rPr>
                  <a:t>.</a:t>
                </a:r>
              </a:p>
              <a:p>
                <a:pPr marL="0" indent="0">
                  <a:buNone/>
                </a:pPr>
                <a:r>
                  <a:rPr lang="en-US" sz="2000" b="1" dirty="0"/>
                  <a:t>	</a:t>
                </a:r>
                <a14:m>
                  <m:oMath xmlns:m="http://schemas.openxmlformats.org/officeDocument/2006/math">
                    <m:r>
                      <a:rPr lang="en-US" sz="2000" b="1" i="1" dirty="0">
                        <a:latin typeface="Cambria Math"/>
                      </a:rPr>
                      <m:t>𝒇</m:t>
                    </m:r>
                    <m:r>
                      <a:rPr lang="en-US" sz="2000" b="1" i="1" dirty="0">
                        <a:latin typeface="Cambria Math"/>
                      </a:rPr>
                      <m:t>(</m:t>
                    </m:r>
                    <m:r>
                      <a:rPr lang="en-US" sz="2000" b="1" i="1" dirty="0" smtClean="0">
                        <a:solidFill>
                          <a:srgbClr val="0070C0"/>
                        </a:solidFill>
                        <a:latin typeface="Cambria Math"/>
                      </a:rPr>
                      <m:t>𝒔</m:t>
                    </m:r>
                    <m:r>
                      <a:rPr lang="en-US" sz="2000" b="1" i="1" dirty="0">
                        <a:latin typeface="Cambria Math"/>
                      </a:rPr>
                      <m:t>)</m:t>
                    </m:r>
                  </m:oMath>
                </a14:m>
                <a:r>
                  <a:rPr lang="en-US" sz="2000" dirty="0">
                    <a:sym typeface="Wingdings" pitchFamily="2" charset="2"/>
                  </a:rPr>
                  <a:t>=0;</a:t>
                </a:r>
              </a:p>
              <a:p>
                <a:pPr marL="0" indent="0">
                  <a:buNone/>
                </a:pPr>
                <a:r>
                  <a:rPr lang="en-US" sz="2000" b="1" dirty="0"/>
                  <a:t>	</a:t>
                </a:r>
                <a14:m>
                  <m:oMath xmlns:m="http://schemas.openxmlformats.org/officeDocument/2006/math">
                    <m:r>
                      <a:rPr lang="en-US" sz="2000" b="1" i="1" dirty="0">
                        <a:latin typeface="Cambria Math"/>
                      </a:rPr>
                      <m:t>𝒇</m:t>
                    </m:r>
                    <m:r>
                      <a:rPr lang="en-US" sz="2000" b="1" i="1" dirty="0">
                        <a:latin typeface="Cambria Math"/>
                      </a:rPr>
                      <m:t>(</m:t>
                    </m:r>
                    <m:r>
                      <a:rPr lang="en-US" sz="2000" b="1" i="1" dirty="0">
                        <a:solidFill>
                          <a:srgbClr val="0070C0"/>
                        </a:solidFill>
                        <a:latin typeface="Cambria Math"/>
                      </a:rPr>
                      <m:t>𝒚</m:t>
                    </m:r>
                    <m:r>
                      <a:rPr lang="en-US" sz="2000" b="1" i="1" dirty="0">
                        <a:latin typeface="Cambria Math"/>
                      </a:rPr>
                      <m:t>)</m:t>
                    </m:r>
                  </m:oMath>
                </a14:m>
                <a:r>
                  <a:rPr lang="en-US" sz="2000" dirty="0">
                    <a:sym typeface="Wingdings" pitchFamily="2" charset="2"/>
                  </a:rPr>
                  <a:t>= </a:t>
                </a:r>
                <a14:m>
                  <m:oMath xmlns:m="http://schemas.openxmlformats.org/officeDocument/2006/math">
                    <m:r>
                      <a:rPr lang="en-US" sz="2000" b="1" i="1" dirty="0" smtClean="0">
                        <a:solidFill>
                          <a:srgbClr val="7030A0"/>
                        </a:solidFill>
                        <a:latin typeface="Cambria Math"/>
                        <a:sym typeface="Wingdings" pitchFamily="2" charset="2"/>
                      </a:rPr>
                      <m:t>𝒎𝒊𝒏</m:t>
                    </m:r>
                  </m:oMath>
                </a14:m>
                <a:r>
                  <a:rPr lang="en-US" sz="2000" b="1" dirty="0">
                    <a:solidFill>
                      <a:srgbClr val="7030A0"/>
                    </a:solidFill>
                  </a:rPr>
                  <a:t> </a:t>
                </a:r>
                <a14:m>
                  <m:oMath xmlns:m="http://schemas.openxmlformats.org/officeDocument/2006/math">
                    <m:d>
                      <m:dPr>
                        <m:begChr m:val="{"/>
                        <m:endChr m:val="|"/>
                        <m:ctrlPr>
                          <a:rPr lang="en-US" sz="2000" i="1" dirty="0">
                            <a:latin typeface="Cambria Math" panose="02040503050406030204" pitchFamily="18" charset="0"/>
                          </a:rPr>
                        </m:ctrlPr>
                      </m:dPr>
                      <m:e>
                        <m:r>
                          <a:rPr lang="en-US" sz="2000" b="1" i="1" dirty="0">
                            <a:latin typeface="Cambria Math"/>
                          </a:rPr>
                          <m:t>𝒇</m:t>
                        </m:r>
                        <m:d>
                          <m:dPr>
                            <m:ctrlPr>
                              <a:rPr lang="en-US" sz="2000" b="1" i="1" dirty="0">
                                <a:latin typeface="Cambria Math" panose="02040503050406030204" pitchFamily="18" charset="0"/>
                              </a:rPr>
                            </m:ctrlPr>
                          </m:dPr>
                          <m:e>
                            <m:r>
                              <a:rPr lang="en-US" sz="2000" b="1" i="1" dirty="0">
                                <a:solidFill>
                                  <a:srgbClr val="0070C0"/>
                                </a:solidFill>
                                <a:latin typeface="Cambria Math"/>
                              </a:rPr>
                              <m:t>𝒙</m:t>
                            </m:r>
                          </m:e>
                        </m:d>
                        <m:r>
                          <a:rPr lang="en-US" sz="2000" b="1" i="1" dirty="0" smtClean="0">
                            <a:latin typeface="Cambria Math"/>
                          </a:rPr>
                          <m:t>+</m:t>
                        </m:r>
                        <m:r>
                          <a:rPr lang="en-US" sz="2000" b="1" i="1" dirty="0" smtClean="0">
                            <a:latin typeface="Cambria Math"/>
                          </a:rPr>
                          <m:t>𝝎</m:t>
                        </m:r>
                        <m:r>
                          <a:rPr lang="en-US" sz="2000" b="1" i="1" dirty="0" smtClean="0">
                            <a:latin typeface="Cambria Math"/>
                          </a:rPr>
                          <m:t>(</m:t>
                        </m:r>
                        <m:r>
                          <a:rPr lang="en-US" sz="2000" b="1" i="1" dirty="0" smtClean="0">
                            <a:solidFill>
                              <a:srgbClr val="0070C0"/>
                            </a:solidFill>
                            <a:latin typeface="Cambria Math"/>
                          </a:rPr>
                          <m:t>𝒙</m:t>
                        </m:r>
                        <m:r>
                          <a:rPr lang="en-US" sz="2000" b="1" i="1" dirty="0" smtClean="0">
                            <a:latin typeface="Cambria Math"/>
                          </a:rPr>
                          <m:t>,</m:t>
                        </m:r>
                        <m:r>
                          <a:rPr lang="en-US" sz="2000" b="1" i="1" dirty="0" smtClean="0">
                            <a:solidFill>
                              <a:srgbClr val="0070C0"/>
                            </a:solidFill>
                            <a:latin typeface="Cambria Math"/>
                          </a:rPr>
                          <m:t>𝒚</m:t>
                        </m:r>
                        <m:r>
                          <a:rPr lang="en-US" sz="2000" b="1" i="1" dirty="0" smtClean="0">
                            <a:latin typeface="Cambria Math"/>
                          </a:rPr>
                          <m:t>)</m:t>
                        </m:r>
                      </m:e>
                    </m:d>
                    <m:d>
                      <m:dPr>
                        <m:ctrlPr>
                          <a:rPr lang="en-US" sz="2000" i="1" dirty="0">
                            <a:latin typeface="Cambria Math" panose="02040503050406030204" pitchFamily="18" charset="0"/>
                          </a:rPr>
                        </m:ctrlPr>
                      </m:dPr>
                      <m:e>
                        <m:r>
                          <a:rPr lang="en-US" sz="2000" b="1" i="1" dirty="0">
                            <a:solidFill>
                              <a:srgbClr val="0070C0"/>
                            </a:solidFill>
                            <a:latin typeface="Cambria Math"/>
                          </a:rPr>
                          <m:t>𝒙</m:t>
                        </m:r>
                        <m:r>
                          <a:rPr lang="en-US" sz="2000" b="1" i="1" dirty="0">
                            <a:latin typeface="Cambria Math"/>
                          </a:rPr>
                          <m:t>,</m:t>
                        </m:r>
                        <m:r>
                          <a:rPr lang="en-US" sz="2000" b="1" i="1" dirty="0">
                            <a:solidFill>
                              <a:srgbClr val="0070C0"/>
                            </a:solidFill>
                            <a:latin typeface="Cambria Math"/>
                          </a:rPr>
                          <m:t>𝒚</m:t>
                        </m:r>
                      </m:e>
                    </m:d>
                    <m:r>
                      <a:rPr lang="en-US" sz="2000" b="1" i="1" dirty="0">
                        <a:solidFill>
                          <a:srgbClr val="0070C0"/>
                        </a:solidFill>
                        <a:latin typeface="Cambria Math"/>
                      </a:rPr>
                      <m:t>∈</m:t>
                    </m:r>
                    <m:r>
                      <a:rPr lang="en-US" sz="2000" b="1" i="1" dirty="0">
                        <a:solidFill>
                          <a:srgbClr val="0070C0"/>
                        </a:solidFill>
                        <a:latin typeface="Cambria Math"/>
                      </a:rPr>
                      <m:t>𝑬</m:t>
                    </m:r>
                    <m:r>
                      <a:rPr lang="en-US" sz="2000" b="1" i="1" dirty="0">
                        <a:latin typeface="Cambria Math"/>
                      </a:rPr>
                      <m:t>}</m:t>
                    </m:r>
                  </m:oMath>
                </a14:m>
                <a:r>
                  <a:rPr lang="en-US" sz="2000" dirty="0">
                    <a:sym typeface="Wingdings" pitchFamily="2" charset="2"/>
                  </a:rPr>
                  <a:t> </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2"/>
                <a:stretch>
                  <a:fillRect l="-741" t="-809" b="-8086"/>
                </a:stretch>
              </a:blipFill>
            </p:spPr>
            <p:txBody>
              <a:bodyPr/>
              <a:lstStyle/>
              <a:p>
                <a:r>
                  <a:rPr lang="en-US">
                    <a:noFill/>
                  </a:rPr>
                  <a:t> </a:t>
                </a:r>
              </a:p>
            </p:txBody>
          </p:sp>
        </mc:Fallback>
      </mc:AlternateContent>
      <p:grpSp>
        <p:nvGrpSpPr>
          <p:cNvPr id="7" name="Group 6"/>
          <p:cNvGrpSpPr/>
          <p:nvPr/>
        </p:nvGrpSpPr>
        <p:grpSpPr>
          <a:xfrm>
            <a:off x="1447800" y="3644899"/>
            <a:ext cx="5871117" cy="159834"/>
            <a:chOff x="1447800" y="4038600"/>
            <a:chExt cx="5871117" cy="159834"/>
          </a:xfrm>
        </p:grpSpPr>
        <p:pic>
          <p:nvPicPr>
            <p:cNvPr id="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7956"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6083"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3361"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2" name="TextBox 81"/>
          <p:cNvSpPr txBox="1"/>
          <p:nvPr/>
        </p:nvSpPr>
        <p:spPr>
          <a:xfrm>
            <a:off x="1384758" y="3172160"/>
            <a:ext cx="6149440" cy="369332"/>
          </a:xfrm>
          <a:prstGeom prst="rect">
            <a:avLst/>
          </a:prstGeom>
          <a:noFill/>
        </p:spPr>
        <p:txBody>
          <a:bodyPr wrap="none" rtlCol="0">
            <a:spAutoFit/>
          </a:bodyPr>
          <a:lstStyle/>
          <a:p>
            <a:r>
              <a:rPr lang="en-US" dirty="0"/>
              <a:t>1        2          3        4       5          6          7         8        9        10      11</a:t>
            </a:r>
          </a:p>
        </p:txBody>
      </p:sp>
      <p:grpSp>
        <p:nvGrpSpPr>
          <p:cNvPr id="22" name="Group 21"/>
          <p:cNvGrpSpPr/>
          <p:nvPr/>
        </p:nvGrpSpPr>
        <p:grpSpPr>
          <a:xfrm>
            <a:off x="1525859" y="3797299"/>
            <a:ext cx="2286000" cy="7434"/>
            <a:chOff x="1525859" y="3797299"/>
            <a:chExt cx="2286000" cy="7434"/>
          </a:xfrm>
        </p:grpSpPr>
        <p:cxnSp>
          <p:nvCxnSpPr>
            <p:cNvPr id="63" name="Curved Connector 62"/>
            <p:cNvCxnSpPr/>
            <p:nvPr/>
          </p:nvCxnSpPr>
          <p:spPr>
            <a:xfrm rot="5400000" flipH="1" flipV="1">
              <a:off x="2665142" y="2658016"/>
              <a:ext cx="7434" cy="2286000"/>
            </a:xfrm>
            <a:prstGeom prst="curvedConnector3">
              <a:avLst>
                <a:gd name="adj1" fmla="val -9418039"/>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Curved Connector 24"/>
            <p:cNvCxnSpPr>
              <a:stCxn id="17" idx="2"/>
              <a:endCxn id="15" idx="2"/>
            </p:cNvCxnSpPr>
            <p:nvPr/>
          </p:nvCxnSpPr>
          <p:spPr>
            <a:xfrm rot="5400000" flipH="1" flipV="1">
              <a:off x="3236642" y="3229516"/>
              <a:ext cx="7434" cy="1143000"/>
            </a:xfrm>
            <a:prstGeom prst="curvedConnector3">
              <a:avLst>
                <a:gd name="adj1" fmla="val -6735849"/>
              </a:avLst>
            </a:prstGeom>
            <a:ln w="28575">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 name="TextBox 20"/>
              <p:cNvSpPr txBox="1"/>
              <p:nvPr/>
            </p:nvSpPr>
            <p:spPr>
              <a:xfrm>
                <a:off x="3581400" y="4114800"/>
                <a:ext cx="3754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a:solidFill>
                            <a:srgbClr val="0070C0"/>
                          </a:solidFill>
                          <a:latin typeface="Cambria Math"/>
                        </a:rPr>
                        <m:t>𝒚</m:t>
                      </m:r>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3581400" y="4114800"/>
                <a:ext cx="375424" cy="369332"/>
              </a:xfrm>
              <a:prstGeom prst="rect">
                <a:avLst/>
              </a:prstGeom>
              <a:blipFill rotWithShape="1">
                <a:blip r:embed="rId4"/>
                <a:stretch>
                  <a:fillRect t="-8197" r="-21311" b="-24590"/>
                </a:stretch>
              </a:blipFill>
            </p:spPr>
            <p:txBody>
              <a:bodyPr/>
              <a:lstStyle/>
              <a:p>
                <a:r>
                  <a:rPr lang="en-US">
                    <a:noFill/>
                  </a:rPr>
                  <a:t> </a:t>
                </a:r>
              </a:p>
            </p:txBody>
          </p:sp>
        </mc:Fallback>
      </mc:AlternateContent>
      <p:sp>
        <p:nvSpPr>
          <p:cNvPr id="23" name="Right Arrow 22"/>
          <p:cNvSpPr/>
          <p:nvPr/>
        </p:nvSpPr>
        <p:spPr>
          <a:xfrm>
            <a:off x="2514600" y="2438400"/>
            <a:ext cx="3886200" cy="789432"/>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mc:AlternateContent xmlns:mc="http://schemas.openxmlformats.org/markup-compatibility/2006" xmlns:a14="http://schemas.microsoft.com/office/drawing/2010/main">
        <mc:Choice Requires="a14">
          <p:sp>
            <p:nvSpPr>
              <p:cNvPr id="24" name="Down Ribbon 23"/>
              <p:cNvSpPr/>
              <p:nvPr/>
            </p:nvSpPr>
            <p:spPr>
              <a:xfrm>
                <a:off x="6553200" y="4299466"/>
                <a:ext cx="2133600" cy="656582"/>
              </a:xfrm>
              <a:prstGeom prst="ribbon">
                <a:avLst>
                  <a:gd name="adj1" fmla="val 16667"/>
                  <a:gd name="adj2" fmla="val 7500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1" i="1" dirty="0" smtClean="0">
                        <a:solidFill>
                          <a:srgbClr val="002060"/>
                        </a:solidFill>
                        <a:latin typeface="Cambria Math"/>
                      </a:rPr>
                      <m:t>𝑶</m:t>
                    </m:r>
                    <m:r>
                      <a:rPr lang="en-US" b="1" i="1" dirty="0" smtClean="0">
                        <a:solidFill>
                          <a:srgbClr val="002060"/>
                        </a:solidFill>
                        <a:latin typeface="Cambria Math"/>
                      </a:rPr>
                      <m:t>(</m:t>
                    </m:r>
                    <m:r>
                      <a:rPr lang="en-US" b="1" i="1" dirty="0">
                        <a:solidFill>
                          <a:srgbClr val="0070C0"/>
                        </a:solidFill>
                        <a:latin typeface="Cambria Math"/>
                      </a:rPr>
                      <m:t>𝒎</m:t>
                    </m:r>
                    <m:r>
                      <a:rPr lang="en-US" b="1" i="1" dirty="0">
                        <a:solidFill>
                          <a:srgbClr val="0070C0"/>
                        </a:solidFill>
                        <a:latin typeface="Cambria Math"/>
                      </a:rPr>
                      <m:t>+</m:t>
                    </m:r>
                    <m:r>
                      <a:rPr lang="en-US" b="1" i="1" dirty="0">
                        <a:solidFill>
                          <a:srgbClr val="0070C0"/>
                        </a:solidFill>
                        <a:latin typeface="Cambria Math"/>
                      </a:rPr>
                      <m:t>𝒏</m:t>
                    </m:r>
                    <m:r>
                      <a:rPr lang="en-US" b="1" i="1" dirty="0" smtClean="0">
                        <a:solidFill>
                          <a:srgbClr val="002060"/>
                        </a:solidFill>
                        <a:latin typeface="Cambria Math"/>
                      </a:rPr>
                      <m:t>)</m:t>
                    </m:r>
                  </m:oMath>
                </a14:m>
                <a:r>
                  <a:rPr lang="en-US" b="1" dirty="0">
                    <a:solidFill>
                      <a:srgbClr val="002060"/>
                    </a:solidFill>
                  </a:rPr>
                  <a:t> </a:t>
                </a:r>
                <a:r>
                  <a:rPr lang="en-US" dirty="0">
                    <a:solidFill>
                      <a:srgbClr val="002060"/>
                    </a:solidFill>
                  </a:rPr>
                  <a:t>time </a:t>
                </a:r>
                <a:r>
                  <a:rPr lang="en-US" dirty="0" err="1">
                    <a:solidFill>
                      <a:srgbClr val="002060"/>
                    </a:solidFill>
                  </a:rPr>
                  <a:t>algo</a:t>
                </a:r>
                <a:endParaRPr lang="en-US" dirty="0">
                  <a:solidFill>
                    <a:srgbClr val="002060"/>
                  </a:solidFill>
                </a:endParaRPr>
              </a:p>
            </p:txBody>
          </p:sp>
        </mc:Choice>
        <mc:Fallback xmlns="">
          <p:sp>
            <p:nvSpPr>
              <p:cNvPr id="24" name="Down Ribbon 23"/>
              <p:cNvSpPr>
                <a:spLocks noRot="1" noChangeAspect="1" noMove="1" noResize="1" noEditPoints="1" noAdjustHandles="1" noChangeArrowheads="1" noChangeShapeType="1" noTextEdit="1"/>
              </p:cNvSpPr>
              <p:nvPr/>
            </p:nvSpPr>
            <p:spPr>
              <a:xfrm>
                <a:off x="6553200" y="4299466"/>
                <a:ext cx="2133600" cy="656582"/>
              </a:xfrm>
              <a:prstGeom prst="ribbon">
                <a:avLst>
                  <a:gd name="adj1" fmla="val 16667"/>
                  <a:gd name="adj2" fmla="val 75000"/>
                </a:avLst>
              </a:prstGeom>
              <a:blipFill rotWithShape="1">
                <a:blip r:embed="rId6"/>
                <a:stretch>
                  <a:fillRect b="-19643"/>
                </a:stretch>
              </a:blipFill>
            </p:spPr>
            <p:txBody>
              <a:bodyPr/>
              <a:lstStyle/>
              <a:p>
                <a:r>
                  <a:rPr lang="en-US">
                    <a:noFill/>
                  </a:rPr>
                  <a:t> </a:t>
                </a:r>
              </a:p>
            </p:txBody>
          </p:sp>
        </mc:Fallback>
      </mc:AlternateContent>
    </p:spTree>
    <p:extLst>
      <p:ext uri="{BB962C8B-B14F-4D97-AF65-F5344CB8AC3E}">
        <p14:creationId xmlns:p14="http://schemas.microsoft.com/office/powerpoint/2010/main" val="2921723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animEffect transition="in" filter="fade">
                                      <p:cBhvr>
                                        <p:cTn id="7" dur="500"/>
                                        <p:tgtEl>
                                          <p:spTgt spid="5">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0" end="10"/>
                                            </p:txEl>
                                          </p:spTgt>
                                        </p:tgtEl>
                                        <p:attrNameLst>
                                          <p:attrName>style.visibility</p:attrName>
                                        </p:attrNameLst>
                                      </p:cBhvr>
                                      <p:to>
                                        <p:strVal val="visible"/>
                                      </p:to>
                                    </p:set>
                                    <p:animEffect transition="in" filter="fade">
                                      <p:cBhvr>
                                        <p:cTn id="12" dur="500"/>
                                        <p:tgtEl>
                                          <p:spTgt spid="5">
                                            <p:txEl>
                                              <p:pRg st="1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11" end="11"/>
                                            </p:txEl>
                                          </p:spTgt>
                                        </p:tgtEl>
                                        <p:attrNameLst>
                                          <p:attrName>style.visibility</p:attrName>
                                        </p:attrNameLst>
                                      </p:cBhvr>
                                      <p:to>
                                        <p:strVal val="visible"/>
                                      </p:to>
                                    </p:set>
                                    <p:animEffect transition="in" filter="fade">
                                      <p:cBhvr>
                                        <p:cTn id="17" dur="500"/>
                                        <p:tgtEl>
                                          <p:spTgt spid="5">
                                            <p:txEl>
                                              <p:pRg st="11" end="1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12" end="12"/>
                                            </p:txEl>
                                          </p:spTgt>
                                        </p:tgtEl>
                                        <p:attrNameLst>
                                          <p:attrName>style.visibility</p:attrName>
                                        </p:attrNameLst>
                                      </p:cBhvr>
                                      <p:to>
                                        <p:strVal val="visible"/>
                                      </p:to>
                                    </p:set>
                                    <p:animEffect transition="in" filter="fade">
                                      <p:cBhvr>
                                        <p:cTn id="22" dur="500"/>
                                        <p:tgtEl>
                                          <p:spTgt spid="5">
                                            <p:txEl>
                                              <p:pRg st="12" end="1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1000"/>
                                        <p:tgtEl>
                                          <p:spTgt spid="24"/>
                                        </p:tgtEl>
                                      </p:cBhvr>
                                    </p:animEffect>
                                    <p:anim calcmode="lin" valueType="num">
                                      <p:cBhvr>
                                        <p:cTn id="28" dur="1000" fill="hold"/>
                                        <p:tgtEl>
                                          <p:spTgt spid="24"/>
                                        </p:tgtEl>
                                        <p:attrNameLst>
                                          <p:attrName>ppt_x</p:attrName>
                                        </p:attrNameLst>
                                      </p:cBhvr>
                                      <p:tavLst>
                                        <p:tav tm="0">
                                          <p:val>
                                            <p:strVal val="#ppt_x"/>
                                          </p:val>
                                        </p:tav>
                                        <p:tav tm="100000">
                                          <p:val>
                                            <p:strVal val="#ppt_x"/>
                                          </p:val>
                                        </p:tav>
                                      </p:tavLst>
                                    </p:anim>
                                    <p:anim calcmode="lin" valueType="num">
                                      <p:cBhvr>
                                        <p:cTn id="2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24"/>
                                        </p:tgtEl>
                                      </p:cBhvr>
                                    </p:animEffect>
                                    <p:set>
                                      <p:cBhvr>
                                        <p:cTn id="34"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4" grpId="0" animBg="1"/>
      <p:bldP spid="24"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b="1" dirty="0">
                <a:solidFill>
                  <a:srgbClr val="7030A0"/>
                </a:solidFill>
              </a:rPr>
              <a:t>Applications of Topological ordering</a:t>
            </a:r>
            <a:br>
              <a:rPr lang="en-US" sz="3200" b="1" dirty="0">
                <a:solidFill>
                  <a:srgbClr val="7030A0"/>
                </a:solidFill>
              </a:rPr>
            </a:br>
            <a:r>
              <a:rPr lang="en-US" sz="3200" b="1" dirty="0">
                <a:solidFill>
                  <a:srgbClr val="0070C0"/>
                </a:solidFill>
              </a:rPr>
              <a:t>II</a:t>
            </a:r>
            <a:endParaRPr lang="en-US" sz="4000" dirty="0">
              <a:solidFill>
                <a:srgbClr val="0070C0"/>
              </a:solidFill>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pPr marL="0" indent="0">
                  <a:buNone/>
                </a:pPr>
                <a:r>
                  <a:rPr lang="en-US" sz="2000" dirty="0"/>
                  <a:t>A mapping </a:t>
                </a:r>
                <a14:m>
                  <m:oMath xmlns:m="http://schemas.openxmlformats.org/officeDocument/2006/math">
                    <m:r>
                      <a:rPr lang="en-US" sz="2000" b="1" i="1" dirty="0" smtClean="0">
                        <a:solidFill>
                          <a:srgbClr val="7030A0"/>
                        </a:solidFill>
                        <a:latin typeface="Cambria Math"/>
                      </a:rPr>
                      <m:t>𝝉</m:t>
                    </m:r>
                  </m:oMath>
                </a14:m>
                <a:r>
                  <a:rPr lang="en-US" sz="2000" dirty="0"/>
                  <a:t> : </a:t>
                </a:r>
                <a14:m>
                  <m:oMath xmlns:m="http://schemas.openxmlformats.org/officeDocument/2006/math">
                    <m:r>
                      <a:rPr lang="en-US" sz="2000" b="1" i="1" dirty="0">
                        <a:solidFill>
                          <a:srgbClr val="0070C0"/>
                        </a:solidFill>
                        <a:latin typeface="Cambria Math"/>
                      </a:rPr>
                      <m:t>𝑽</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𝟏</m:t>
                    </m:r>
                    <m:r>
                      <a:rPr lang="en-US" sz="2000" b="1" i="1" dirty="0" smtClean="0">
                        <a:solidFill>
                          <a:srgbClr val="0070C0"/>
                        </a:solidFill>
                        <a:latin typeface="Cambria Math"/>
                      </a:rPr>
                      <m:t>…</m:t>
                    </m:r>
                    <m:r>
                      <a:rPr lang="en-US" sz="2000" b="1" i="1" dirty="0" smtClean="0">
                        <a:solidFill>
                          <a:srgbClr val="0070C0"/>
                        </a:solidFill>
                        <a:latin typeface="Cambria Math"/>
                      </a:rPr>
                      <m:t>𝒏</m:t>
                    </m:r>
                  </m:oMath>
                </a14:m>
                <a:r>
                  <a:rPr lang="en-US" sz="2000" dirty="0">
                    <a:sym typeface="Wingdings" pitchFamily="2" charset="2"/>
                  </a:rPr>
                  <a:t>] such that </a:t>
                </a:r>
              </a:p>
              <a:p>
                <a:pPr marL="0" indent="0">
                  <a:buNone/>
                </a:pPr>
                <a:r>
                  <a:rPr lang="en-US" sz="2000" dirty="0">
                    <a:sym typeface="Wingdings" pitchFamily="2" charset="2"/>
                  </a:rPr>
                  <a:t>For each edge </a:t>
                </a:r>
                <a14:m>
                  <m:oMath xmlns:m="http://schemas.openxmlformats.org/officeDocument/2006/math">
                    <m:d>
                      <m:dPr>
                        <m:ctrlPr>
                          <a:rPr lang="en-US" sz="2000" b="0" i="1" dirty="0" smtClean="0">
                            <a:solidFill>
                              <a:schemeClr val="tx1"/>
                            </a:solidFill>
                            <a:latin typeface="Cambria Math" panose="02040503050406030204" pitchFamily="18" charset="0"/>
                          </a:rPr>
                        </m:ctrlPr>
                      </m:dPr>
                      <m:e>
                        <m:r>
                          <a:rPr lang="en-US" sz="2000" b="1" i="1" dirty="0" smtClean="0">
                            <a:solidFill>
                              <a:srgbClr val="0070C0"/>
                            </a:solidFill>
                            <a:latin typeface="Cambria Math"/>
                          </a:rPr>
                          <m:t>𝒖</m:t>
                        </m:r>
                        <m:r>
                          <a:rPr lang="en-US" sz="2000" b="1" i="1" dirty="0" smtClean="0">
                            <a:solidFill>
                              <a:schemeClr val="tx1"/>
                            </a:solidFill>
                            <a:latin typeface="Cambria Math"/>
                          </a:rPr>
                          <m:t>,</m:t>
                        </m:r>
                        <m:r>
                          <a:rPr lang="en-US" sz="2000" b="1" i="1" dirty="0" smtClean="0">
                            <a:solidFill>
                              <a:srgbClr val="0070C0"/>
                            </a:solidFill>
                            <a:latin typeface="Cambria Math"/>
                          </a:rPr>
                          <m:t>𝒗</m:t>
                        </m:r>
                      </m:e>
                    </m:d>
                    <m:r>
                      <a:rPr lang="en-US" sz="2000" b="0" i="1" dirty="0" smtClean="0">
                        <a:solidFill>
                          <a:schemeClr val="tx1"/>
                        </a:solidFill>
                        <a:latin typeface="Cambria Math"/>
                      </a:rPr>
                      <m:t>∈</m:t>
                    </m:r>
                    <m:r>
                      <a:rPr lang="en-US" sz="2000" b="1" i="1" dirty="0">
                        <a:solidFill>
                          <a:srgbClr val="0070C0"/>
                        </a:solidFill>
                        <a:latin typeface="Cambria Math"/>
                      </a:rPr>
                      <m:t>𝑬</m:t>
                    </m:r>
                  </m:oMath>
                </a14:m>
                <a:r>
                  <a:rPr lang="en-US" sz="2000" dirty="0">
                    <a:sym typeface="Wingdings" pitchFamily="2" charset="2"/>
                  </a:rPr>
                  <a:t> ,  </a:t>
                </a:r>
                <a:r>
                  <a:rPr lang="en-US" sz="2000" b="1" dirty="0">
                    <a:solidFill>
                      <a:srgbClr val="7030A0"/>
                    </a:solidFill>
                    <a:sym typeface="Wingdings" pitchFamily="2" charset="2"/>
                  </a:rPr>
                  <a: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a:solidFill>
                          <a:srgbClr val="0070C0"/>
                        </a:solidFill>
                        <a:latin typeface="Cambria Math"/>
                      </a:rPr>
                      <m:t>𝒖</m:t>
                    </m:r>
                  </m:oMath>
                </a14:m>
                <a:r>
                  <a:rPr lang="en-US" sz="2000" dirty="0">
                    <a:sym typeface="Wingdings" pitchFamily="2" charset="2"/>
                  </a:rPr>
                  <a:t>) &lt;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𝒗</m:t>
                    </m:r>
                  </m:oMath>
                </a14:m>
                <a:r>
                  <a:rPr lang="en-US" sz="2000" dirty="0">
                    <a:sym typeface="Wingdings" pitchFamily="2" charset="2"/>
                  </a:rPr>
                  <a:t>) </a:t>
                </a: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r>
                  <a:rPr lang="en-US" sz="2000" dirty="0">
                    <a:sym typeface="Wingdings" pitchFamily="2" charset="2"/>
                  </a:rPr>
                  <a:t>Let </a:t>
                </a:r>
                <a14:m>
                  <m:oMath xmlns:m="http://schemas.openxmlformats.org/officeDocument/2006/math">
                    <m:r>
                      <a:rPr lang="en-US" sz="2000" b="1" i="1" dirty="0" smtClean="0">
                        <a:solidFill>
                          <a:schemeClr val="tx1"/>
                        </a:solidFill>
                        <a:latin typeface="Cambria Math"/>
                      </a:rPr>
                      <m:t>𝒇</m:t>
                    </m:r>
                  </m:oMath>
                </a14:m>
                <a:r>
                  <a:rPr lang="en-US" sz="2000" dirty="0"/>
                  <a:t> be a function on </a:t>
                </a:r>
                <a14:m>
                  <m:oMath xmlns:m="http://schemas.openxmlformats.org/officeDocument/2006/math">
                    <m:r>
                      <a:rPr lang="en-US" sz="2000" b="1" i="1" dirty="0">
                        <a:solidFill>
                          <a:srgbClr val="0070C0"/>
                        </a:solidFill>
                        <a:latin typeface="Cambria Math"/>
                      </a:rPr>
                      <m:t>𝑽</m:t>
                    </m:r>
                    <m:r>
                      <a:rPr lang="en-US" sz="2000" b="1" i="1" dirty="0">
                        <a:solidFill>
                          <a:srgbClr val="0070C0"/>
                        </a:solidFill>
                        <a:latin typeface="Cambria Math"/>
                      </a:rPr>
                      <m:t> </m:t>
                    </m:r>
                  </m:oMath>
                </a14:m>
                <a:r>
                  <a:rPr lang="en-US" sz="2000" dirty="0"/>
                  <a:t>that we wish to compute</a:t>
                </a:r>
              </a:p>
              <a:p>
                <a:pPr marL="0" indent="0">
                  <a:buNone/>
                </a:pPr>
                <a:r>
                  <a:rPr lang="en-US" sz="2000" dirty="0">
                    <a:sym typeface="Wingdings" pitchFamily="2" charset="2"/>
                  </a:rPr>
                  <a:t>If </a:t>
                </a:r>
                <a14:m>
                  <m:oMath xmlns:m="http://schemas.openxmlformats.org/officeDocument/2006/math">
                    <m:r>
                      <a:rPr lang="en-US" sz="2000" b="1" i="1" dirty="0" smtClean="0">
                        <a:solidFill>
                          <a:schemeClr val="tx1"/>
                        </a:solidFill>
                        <a:latin typeface="Cambria Math"/>
                      </a:rPr>
                      <m:t>𝒇</m:t>
                    </m:r>
                    <m:r>
                      <a:rPr lang="en-US" sz="2000" b="1" i="1" dirty="0" smtClean="0">
                        <a:solidFill>
                          <a:schemeClr val="tx1"/>
                        </a:solidFill>
                        <a:latin typeface="Cambria Math"/>
                      </a:rPr>
                      <m:t>(</m:t>
                    </m:r>
                    <m:r>
                      <a:rPr lang="en-US" sz="2000" b="1" i="1" dirty="0" smtClean="0">
                        <a:solidFill>
                          <a:srgbClr val="0070C0"/>
                        </a:solidFill>
                        <a:latin typeface="Cambria Math"/>
                      </a:rPr>
                      <m:t>𝒚</m:t>
                    </m:r>
                    <m:r>
                      <a:rPr lang="en-US" sz="2000" b="1" i="1" dirty="0" smtClean="0">
                        <a:solidFill>
                          <a:schemeClr val="tx1"/>
                        </a:solidFill>
                        <a:latin typeface="Cambria Math"/>
                      </a:rPr>
                      <m:t>)</m:t>
                    </m:r>
                  </m:oMath>
                </a14:m>
                <a:r>
                  <a:rPr lang="en-US" sz="2000" dirty="0">
                    <a:sym typeface="Wingdings" pitchFamily="2" charset="2"/>
                  </a:rPr>
                  <a:t> can be expressed in terms of  </a:t>
                </a:r>
                <a:r>
                  <a:rPr lang="en-US" sz="2000" b="1" u="sng" dirty="0">
                    <a:sym typeface="Wingdings" pitchFamily="2" charset="2"/>
                  </a:rPr>
                  <a:t>ONLY</a:t>
                </a:r>
                <a:r>
                  <a:rPr lang="en-US" sz="2000" dirty="0">
                    <a:sym typeface="Wingdings" pitchFamily="2" charset="2"/>
                  </a:rPr>
                  <a:t> </a:t>
                </a:r>
                <a14:m>
                  <m:oMath xmlns:m="http://schemas.openxmlformats.org/officeDocument/2006/math">
                    <m:d>
                      <m:dPr>
                        <m:begChr m:val="{"/>
                        <m:endChr m:val="|"/>
                        <m:ctrlPr>
                          <a:rPr lang="en-US" sz="2000" b="0" i="1" dirty="0" smtClean="0">
                            <a:solidFill>
                              <a:schemeClr val="tx1"/>
                            </a:solidFill>
                            <a:latin typeface="Cambria Math" panose="02040503050406030204" pitchFamily="18" charset="0"/>
                          </a:rPr>
                        </m:ctrlPr>
                      </m:dPr>
                      <m:e>
                        <m:r>
                          <a:rPr lang="en-US" sz="2000" b="1" i="1" dirty="0" smtClean="0">
                            <a:solidFill>
                              <a:schemeClr val="tx1"/>
                            </a:solidFill>
                            <a:latin typeface="Cambria Math"/>
                          </a:rPr>
                          <m:t>𝒇</m:t>
                        </m:r>
                        <m:d>
                          <m:dPr>
                            <m:ctrlPr>
                              <a:rPr lang="en-US" sz="2000" b="1" i="1" dirty="0">
                                <a:solidFill>
                                  <a:schemeClr val="tx1"/>
                                </a:solidFill>
                                <a:latin typeface="Cambria Math" panose="02040503050406030204" pitchFamily="18" charset="0"/>
                              </a:rPr>
                            </m:ctrlPr>
                          </m:dPr>
                          <m:e>
                            <m:r>
                              <a:rPr lang="en-US" sz="2000" b="1" i="1" dirty="0" smtClean="0">
                                <a:solidFill>
                                  <a:srgbClr val="0070C0"/>
                                </a:solidFill>
                                <a:latin typeface="Cambria Math"/>
                              </a:rPr>
                              <m:t>𝒛</m:t>
                            </m:r>
                          </m:e>
                        </m:d>
                        <m:r>
                          <a:rPr lang="en-US" sz="2000" b="1" i="1" dirty="0" smtClean="0">
                            <a:solidFill>
                              <a:schemeClr val="tx1"/>
                            </a:solidFill>
                            <a:latin typeface="Cambria Math"/>
                          </a:rPr>
                          <m:t> </m:t>
                        </m:r>
                      </m:e>
                    </m:d>
                    <m:d>
                      <m:dPr>
                        <m:ctrlPr>
                          <a:rPr lang="en-US" sz="2000" i="1" dirty="0">
                            <a:latin typeface="Cambria Math" panose="02040503050406030204" pitchFamily="18" charset="0"/>
                          </a:rPr>
                        </m:ctrlPr>
                      </m:dPr>
                      <m:e>
                        <m:r>
                          <a:rPr lang="en-US" sz="2000" b="1" i="1" dirty="0" smtClean="0">
                            <a:solidFill>
                              <a:srgbClr val="0070C0"/>
                            </a:solidFill>
                            <a:latin typeface="Cambria Math"/>
                          </a:rPr>
                          <m:t>𝒚</m:t>
                        </m:r>
                        <m:r>
                          <a:rPr lang="en-US" sz="2000" b="0" i="1" dirty="0" smtClean="0">
                            <a:solidFill>
                              <a:schemeClr val="tx1"/>
                            </a:solidFill>
                            <a:latin typeface="Cambria Math"/>
                          </a:rPr>
                          <m:t>,</m:t>
                        </m:r>
                        <m:r>
                          <a:rPr lang="en-US" sz="2000" b="1" i="1" dirty="0" smtClean="0">
                            <a:solidFill>
                              <a:srgbClr val="0070C0"/>
                            </a:solidFill>
                            <a:latin typeface="Cambria Math"/>
                          </a:rPr>
                          <m:t>𝒛</m:t>
                        </m:r>
                      </m:e>
                    </m:d>
                    <m:r>
                      <a:rPr lang="en-US" sz="2000" b="1" i="1" dirty="0" smtClean="0">
                        <a:solidFill>
                          <a:srgbClr val="0070C0"/>
                        </a:solidFill>
                        <a:latin typeface="Cambria Math"/>
                      </a:rPr>
                      <m:t>∈</m:t>
                    </m:r>
                    <m:r>
                      <a:rPr lang="en-US" sz="2000" b="1" i="1" dirty="0" smtClean="0">
                        <a:solidFill>
                          <a:srgbClr val="0070C0"/>
                        </a:solidFill>
                        <a:latin typeface="Cambria Math"/>
                      </a:rPr>
                      <m:t>𝑬</m:t>
                    </m:r>
                    <m:r>
                      <a:rPr lang="en-US" sz="2000" b="1" i="1" dirty="0" smtClean="0">
                        <a:solidFill>
                          <a:schemeClr val="tx1"/>
                        </a:solidFill>
                        <a:latin typeface="Cambria Math"/>
                      </a:rPr>
                      <m:t>}</m:t>
                    </m:r>
                  </m:oMath>
                </a14:m>
                <a:r>
                  <a:rPr lang="en-US" sz="2000" dirty="0">
                    <a:sym typeface="Wingdings" pitchFamily="2" charset="2"/>
                  </a:rPr>
                  <a:t> </a:t>
                </a:r>
              </a:p>
              <a:p>
                <a:pPr marL="0" indent="0">
                  <a:buNone/>
                </a:pPr>
                <a:r>
                  <a:rPr lang="en-US" sz="2000" dirty="0">
                    <a:sym typeface="Wingdings" pitchFamily="2" charset="2"/>
                  </a:rPr>
                  <a:t>We can compute </a:t>
                </a:r>
                <a14:m>
                  <m:oMath xmlns:m="http://schemas.openxmlformats.org/officeDocument/2006/math">
                    <m:r>
                      <a:rPr lang="en-US" sz="2000" b="1" i="1" dirty="0">
                        <a:latin typeface="Cambria Math"/>
                      </a:rPr>
                      <m:t>𝒇</m:t>
                    </m:r>
                  </m:oMath>
                </a14:m>
                <a:r>
                  <a:rPr lang="en-US" sz="2000" dirty="0">
                    <a:sym typeface="Wingdings" pitchFamily="2" charset="2"/>
                  </a:rPr>
                  <a:t> by processing vertices in </a:t>
                </a:r>
                <a:r>
                  <a:rPr lang="en-US" sz="2000" u="sng" dirty="0">
                    <a:sym typeface="Wingdings" pitchFamily="2" charset="2"/>
                  </a:rPr>
                  <a:t>decreasing order</a:t>
                </a:r>
                <a:r>
                  <a:rPr lang="en-US" sz="2000" dirty="0">
                    <a:sym typeface="Wingdings" pitchFamily="2" charset="2"/>
                  </a:rPr>
                  <a:t> of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 </a:t>
                </a: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1">
                <a:blip r:embed="rId2"/>
                <a:stretch>
                  <a:fillRect l="-741" t="-809"/>
                </a:stretch>
              </a:blipFill>
            </p:spPr>
            <p:txBody>
              <a:bodyPr/>
              <a:lstStyle/>
              <a:p>
                <a:r>
                  <a:rPr lang="en-US">
                    <a:noFill/>
                  </a:rPr>
                  <a:t> </a:t>
                </a:r>
              </a:p>
            </p:txBody>
          </p:sp>
        </mc:Fallback>
      </mc:AlternateContent>
      <p:grpSp>
        <p:nvGrpSpPr>
          <p:cNvPr id="7" name="Group 6"/>
          <p:cNvGrpSpPr/>
          <p:nvPr/>
        </p:nvGrpSpPr>
        <p:grpSpPr>
          <a:xfrm>
            <a:off x="1447800" y="3644899"/>
            <a:ext cx="5871117" cy="159834"/>
            <a:chOff x="1447800" y="4038600"/>
            <a:chExt cx="5871117" cy="159834"/>
          </a:xfrm>
        </p:grpSpPr>
        <p:pic>
          <p:nvPicPr>
            <p:cNvPr id="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7956"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6083"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3361"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2" name="TextBox 81"/>
          <p:cNvSpPr txBox="1"/>
          <p:nvPr/>
        </p:nvSpPr>
        <p:spPr>
          <a:xfrm>
            <a:off x="1384758" y="3172160"/>
            <a:ext cx="6149440" cy="369332"/>
          </a:xfrm>
          <a:prstGeom prst="rect">
            <a:avLst/>
          </a:prstGeom>
          <a:noFill/>
        </p:spPr>
        <p:txBody>
          <a:bodyPr wrap="none" rtlCol="0">
            <a:spAutoFit/>
          </a:bodyPr>
          <a:lstStyle/>
          <a:p>
            <a:r>
              <a:rPr lang="en-US" dirty="0"/>
              <a:t>1        2          3        4       5          6          7         8        9        10      11</a:t>
            </a:r>
          </a:p>
        </p:txBody>
      </p:sp>
      <mc:AlternateContent xmlns:mc="http://schemas.openxmlformats.org/markup-compatibility/2006" xmlns:a14="http://schemas.microsoft.com/office/drawing/2010/main">
        <mc:Choice Requires="a14">
          <p:sp>
            <p:nvSpPr>
              <p:cNvPr id="21" name="TextBox 20"/>
              <p:cNvSpPr txBox="1"/>
              <p:nvPr/>
            </p:nvSpPr>
            <p:spPr>
              <a:xfrm>
                <a:off x="3581400" y="4114800"/>
                <a:ext cx="3754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a:solidFill>
                            <a:srgbClr val="0070C0"/>
                          </a:solidFill>
                          <a:latin typeface="Cambria Math"/>
                        </a:rPr>
                        <m:t>𝒚</m:t>
                      </m:r>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3581400" y="4114800"/>
                <a:ext cx="375424" cy="369332"/>
              </a:xfrm>
              <a:prstGeom prst="rect">
                <a:avLst/>
              </a:prstGeom>
              <a:blipFill rotWithShape="1">
                <a:blip r:embed="rId4"/>
                <a:stretch>
                  <a:fillRect t="-8197" r="-21311" b="-24590"/>
                </a:stretch>
              </a:blipFill>
            </p:spPr>
            <p:txBody>
              <a:bodyPr/>
              <a:lstStyle/>
              <a:p>
                <a:r>
                  <a:rPr lang="en-US">
                    <a:noFill/>
                  </a:rPr>
                  <a:t> </a:t>
                </a:r>
              </a:p>
            </p:txBody>
          </p:sp>
        </mc:Fallback>
      </mc:AlternateContent>
      <p:sp>
        <p:nvSpPr>
          <p:cNvPr id="23" name="Right Arrow 22"/>
          <p:cNvSpPr/>
          <p:nvPr/>
        </p:nvSpPr>
        <p:spPr>
          <a:xfrm flipH="1">
            <a:off x="2739482" y="2438400"/>
            <a:ext cx="3813717" cy="789432"/>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2" name="Group 1"/>
          <p:cNvGrpSpPr/>
          <p:nvPr/>
        </p:nvGrpSpPr>
        <p:grpSpPr>
          <a:xfrm>
            <a:off x="3818208" y="3790949"/>
            <a:ext cx="1744157" cy="12700"/>
            <a:chOff x="3818208" y="3790949"/>
            <a:chExt cx="1744157" cy="12700"/>
          </a:xfrm>
        </p:grpSpPr>
        <p:cxnSp>
          <p:nvCxnSpPr>
            <p:cNvPr id="22" name="Curved Connector 21"/>
            <p:cNvCxnSpPr/>
            <p:nvPr/>
          </p:nvCxnSpPr>
          <p:spPr>
            <a:xfrm rot="16200000" flipH="1">
              <a:off x="4096639" y="3512518"/>
              <a:ext cx="12700" cy="569561"/>
            </a:xfrm>
            <a:prstGeom prst="curvedConnector3">
              <a:avLst>
                <a:gd name="adj1" fmla="val 2678047"/>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4" name="Curved Connector 23"/>
            <p:cNvCxnSpPr/>
            <p:nvPr/>
          </p:nvCxnSpPr>
          <p:spPr>
            <a:xfrm rot="16200000" flipH="1">
              <a:off x="4683937" y="2925221"/>
              <a:ext cx="12700" cy="1744156"/>
            </a:xfrm>
            <a:prstGeom prst="curvedConnector3">
              <a:avLst>
                <a:gd name="adj1" fmla="val 6102441"/>
              </a:avLst>
            </a:prstGeom>
            <a:ln w="28575">
              <a:tailEnd type="arrow"/>
            </a:ln>
          </p:spPr>
          <p:style>
            <a:lnRef idx="1">
              <a:schemeClr val="accent1"/>
            </a:lnRef>
            <a:fillRef idx="0">
              <a:schemeClr val="accent1"/>
            </a:fillRef>
            <a:effectRef idx="0">
              <a:schemeClr val="accent1"/>
            </a:effectRef>
            <a:fontRef idx="minor">
              <a:schemeClr val="tx1"/>
            </a:fontRef>
          </p:style>
        </p:cxnSp>
      </p:grpSp>
      <p:sp>
        <p:nvSpPr>
          <p:cNvPr id="25" name="Rectangle 24"/>
          <p:cNvSpPr/>
          <p:nvPr/>
        </p:nvSpPr>
        <p:spPr>
          <a:xfrm>
            <a:off x="4343400" y="5181600"/>
            <a:ext cx="3962400" cy="533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BAFF7B7-CF19-53B7-F1AA-0EFCC36AEAF8}"/>
              </a:ext>
            </a:extLst>
          </p:cNvPr>
          <p:cNvSpPr/>
          <p:nvPr/>
        </p:nvSpPr>
        <p:spPr>
          <a:xfrm>
            <a:off x="5105400" y="5638800"/>
            <a:ext cx="3962400" cy="533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9C844B2-E231-01E8-E465-D3AFE2EAF8AD}"/>
              </a:ext>
            </a:extLst>
          </p:cNvPr>
          <p:cNvSpPr/>
          <p:nvPr/>
        </p:nvSpPr>
        <p:spPr>
          <a:xfrm>
            <a:off x="2819400" y="5638800"/>
            <a:ext cx="3962400" cy="533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8352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5">
                                            <p:txEl>
                                              <p:pRg st="9" end="9"/>
                                            </p:txEl>
                                          </p:spTgt>
                                        </p:tgtEl>
                                        <p:attrNameLst>
                                          <p:attrName>style.visibility</p:attrName>
                                        </p:attrNameLst>
                                      </p:cBhvr>
                                      <p:to>
                                        <p:strVal val="visible"/>
                                      </p:to>
                                    </p:set>
                                    <p:animEffect transition="in" filter="fade">
                                      <p:cBhvr>
                                        <p:cTn id="14" dur="500"/>
                                        <p:tgtEl>
                                          <p:spTgt spid="5">
                                            <p:txEl>
                                              <p:pRg st="9" end="9"/>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1000"/>
                                        <p:tgtEl>
                                          <p:spTgt spid="21"/>
                                        </p:tgtEl>
                                      </p:cBhvr>
                                    </p:animEffect>
                                    <p:anim calcmode="lin" valueType="num">
                                      <p:cBhvr>
                                        <p:cTn id="20" dur="1000" fill="hold"/>
                                        <p:tgtEl>
                                          <p:spTgt spid="21"/>
                                        </p:tgtEl>
                                        <p:attrNameLst>
                                          <p:attrName>ppt_x</p:attrName>
                                        </p:attrNameLst>
                                      </p:cBhvr>
                                      <p:tavLst>
                                        <p:tav tm="0">
                                          <p:val>
                                            <p:strVal val="#ppt_x"/>
                                          </p:val>
                                        </p:tav>
                                        <p:tav tm="100000">
                                          <p:val>
                                            <p:strVal val="#ppt_x"/>
                                          </p:val>
                                        </p:tav>
                                      </p:tavLst>
                                    </p:anim>
                                    <p:anim calcmode="lin" valueType="num">
                                      <p:cBhvr>
                                        <p:cTn id="2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
                                            <p:txEl>
                                              <p:pRg st="10" end="10"/>
                                            </p:txEl>
                                          </p:spTgt>
                                        </p:tgtEl>
                                        <p:attrNameLst>
                                          <p:attrName>style.visibility</p:attrName>
                                        </p:attrNameLst>
                                      </p:cBhvr>
                                      <p:to>
                                        <p:strVal val="visible"/>
                                      </p:to>
                                    </p:set>
                                    <p:animEffect transition="in" filter="wipe(left)">
                                      <p:cBhvr>
                                        <p:cTn id="26" dur="3750"/>
                                        <p:tgtEl>
                                          <p:spTgt spid="5">
                                            <p:txEl>
                                              <p:pRg st="10" end="10"/>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xit" presetSubtype="8" fill="hold" grpId="0" nodeType="clickEffect">
                                  <p:stCondLst>
                                    <p:cond delay="0"/>
                                  </p:stCondLst>
                                  <p:childTnLst>
                                    <p:animEffect transition="out" filter="wipe(left)">
                                      <p:cBhvr>
                                        <p:cTn id="30" dur="2000"/>
                                        <p:tgtEl>
                                          <p:spTgt spid="25"/>
                                        </p:tgtEl>
                                      </p:cBhvr>
                                    </p:animEffect>
                                    <p:set>
                                      <p:cBhvr>
                                        <p:cTn id="31" dur="1" fill="hold">
                                          <p:stCondLst>
                                            <p:cond delay="1999"/>
                                          </p:stCondLst>
                                        </p:cTn>
                                        <p:tgtEl>
                                          <p:spTgt spid="25"/>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right)">
                                      <p:cBhvr>
                                        <p:cTn id="36" dur="1000"/>
                                        <p:tgtEl>
                                          <p:spTgt spid="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2"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wipe(right)">
                                      <p:cBhvr>
                                        <p:cTn id="41" dur="2500"/>
                                        <p:tgtEl>
                                          <p:spTgt spid="2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
                                            <p:txEl>
                                              <p:pRg st="11" end="11"/>
                                            </p:txEl>
                                          </p:spTgt>
                                        </p:tgtEl>
                                        <p:attrNameLst>
                                          <p:attrName>style.visibility</p:attrName>
                                        </p:attrNameLst>
                                      </p:cBhvr>
                                      <p:to>
                                        <p:strVal val="visible"/>
                                      </p:to>
                                    </p:set>
                                    <p:animEffect transition="in" filter="fade">
                                      <p:cBhvr>
                                        <p:cTn id="46" dur="500"/>
                                        <p:tgtEl>
                                          <p:spTgt spid="5">
                                            <p:txEl>
                                              <p:pRg st="11" end="1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xit" presetSubtype="8" fill="hold" grpId="0" nodeType="clickEffect">
                                  <p:stCondLst>
                                    <p:cond delay="0"/>
                                  </p:stCondLst>
                                  <p:childTnLst>
                                    <p:animEffect transition="out" filter="wipe(left)">
                                      <p:cBhvr>
                                        <p:cTn id="50" dur="2000"/>
                                        <p:tgtEl>
                                          <p:spTgt spid="6"/>
                                        </p:tgtEl>
                                      </p:cBhvr>
                                    </p:animEffect>
                                    <p:set>
                                      <p:cBhvr>
                                        <p:cTn id="51" dur="1" fill="hold">
                                          <p:stCondLst>
                                            <p:cond delay="1999"/>
                                          </p:stCondLst>
                                        </p:cTn>
                                        <p:tgtEl>
                                          <p:spTgt spid="6"/>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22" presetClass="exit" presetSubtype="8" fill="hold" grpId="0" nodeType="clickEffect">
                                  <p:stCondLst>
                                    <p:cond delay="0"/>
                                  </p:stCondLst>
                                  <p:childTnLst>
                                    <p:animEffect transition="out" filter="wipe(left)">
                                      <p:cBhvr>
                                        <p:cTn id="55" dur="2000"/>
                                        <p:tgtEl>
                                          <p:spTgt spid="3"/>
                                        </p:tgtEl>
                                      </p:cBhvr>
                                    </p:animEffect>
                                    <p:set>
                                      <p:cBhvr>
                                        <p:cTn id="56" dur="1" fill="hold">
                                          <p:stCondLst>
                                            <p:cond delay="19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uiExpand="1" build="p"/>
      <p:bldP spid="21" grpId="0"/>
      <p:bldP spid="23" grpId="0" animBg="1"/>
      <p:bldP spid="25" grpId="0" animBg="1"/>
      <p:bldP spid="3"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200" b="1" dirty="0">
                <a:solidFill>
                  <a:srgbClr val="7030A0"/>
                </a:solidFill>
              </a:rPr>
              <a:t>Applications of Topological ordering</a:t>
            </a:r>
            <a:br>
              <a:rPr lang="en-US" sz="3200" b="1" dirty="0">
                <a:solidFill>
                  <a:srgbClr val="7030A0"/>
                </a:solidFill>
              </a:rPr>
            </a:br>
            <a:r>
              <a:rPr lang="en-US" sz="3200" b="1" dirty="0">
                <a:solidFill>
                  <a:srgbClr val="0070C0"/>
                </a:solidFill>
              </a:rPr>
              <a:t>II</a:t>
            </a:r>
            <a:endParaRPr lang="en-US" sz="4000" dirty="0">
              <a:solidFill>
                <a:srgbClr val="0070C0"/>
              </a:solidFill>
            </a:endParaRP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pPr marL="0" indent="0">
                  <a:buNone/>
                </a:pPr>
                <a:r>
                  <a:rPr lang="en-US" sz="2000" dirty="0"/>
                  <a:t>A mapping </a:t>
                </a:r>
                <a14:m>
                  <m:oMath xmlns:m="http://schemas.openxmlformats.org/officeDocument/2006/math">
                    <m:r>
                      <a:rPr lang="en-US" sz="2000" b="1" i="1" dirty="0" smtClean="0">
                        <a:solidFill>
                          <a:srgbClr val="7030A0"/>
                        </a:solidFill>
                        <a:latin typeface="Cambria Math"/>
                      </a:rPr>
                      <m:t>𝝉</m:t>
                    </m:r>
                  </m:oMath>
                </a14:m>
                <a:r>
                  <a:rPr lang="en-US" sz="2000" dirty="0"/>
                  <a:t> : </a:t>
                </a:r>
                <a14:m>
                  <m:oMath xmlns:m="http://schemas.openxmlformats.org/officeDocument/2006/math">
                    <m:r>
                      <a:rPr lang="en-US" sz="2000" b="1" i="1" dirty="0">
                        <a:solidFill>
                          <a:srgbClr val="0070C0"/>
                        </a:solidFill>
                        <a:latin typeface="Cambria Math"/>
                      </a:rPr>
                      <m:t>𝑽</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𝟏</m:t>
                    </m:r>
                    <m:r>
                      <a:rPr lang="en-US" sz="2000" b="1" i="1" dirty="0" smtClean="0">
                        <a:solidFill>
                          <a:srgbClr val="0070C0"/>
                        </a:solidFill>
                        <a:latin typeface="Cambria Math"/>
                      </a:rPr>
                      <m:t>…</m:t>
                    </m:r>
                    <m:r>
                      <a:rPr lang="en-US" sz="2000" b="1" i="1" dirty="0" smtClean="0">
                        <a:solidFill>
                          <a:srgbClr val="0070C0"/>
                        </a:solidFill>
                        <a:latin typeface="Cambria Math"/>
                      </a:rPr>
                      <m:t>𝒏</m:t>
                    </m:r>
                  </m:oMath>
                </a14:m>
                <a:r>
                  <a:rPr lang="en-US" sz="2000" dirty="0">
                    <a:sym typeface="Wingdings" pitchFamily="2" charset="2"/>
                  </a:rPr>
                  <a:t>] such that </a:t>
                </a:r>
              </a:p>
              <a:p>
                <a:pPr marL="0" indent="0">
                  <a:buNone/>
                </a:pPr>
                <a:r>
                  <a:rPr lang="en-US" sz="2000" dirty="0">
                    <a:sym typeface="Wingdings" pitchFamily="2" charset="2"/>
                  </a:rPr>
                  <a:t>For each edge </a:t>
                </a:r>
                <a14:m>
                  <m:oMath xmlns:m="http://schemas.openxmlformats.org/officeDocument/2006/math">
                    <m:d>
                      <m:dPr>
                        <m:ctrlPr>
                          <a:rPr lang="en-US" sz="2000" b="0" i="1" dirty="0" smtClean="0">
                            <a:solidFill>
                              <a:schemeClr val="tx1"/>
                            </a:solidFill>
                            <a:latin typeface="Cambria Math" panose="02040503050406030204" pitchFamily="18" charset="0"/>
                          </a:rPr>
                        </m:ctrlPr>
                      </m:dPr>
                      <m:e>
                        <m:r>
                          <a:rPr lang="en-US" sz="2000" b="1" i="1" dirty="0" smtClean="0">
                            <a:solidFill>
                              <a:srgbClr val="0070C0"/>
                            </a:solidFill>
                            <a:latin typeface="Cambria Math"/>
                          </a:rPr>
                          <m:t>𝒖</m:t>
                        </m:r>
                        <m:r>
                          <a:rPr lang="en-US" sz="2000" b="1" i="1" dirty="0" smtClean="0">
                            <a:solidFill>
                              <a:schemeClr val="tx1"/>
                            </a:solidFill>
                            <a:latin typeface="Cambria Math"/>
                          </a:rPr>
                          <m:t>,</m:t>
                        </m:r>
                        <m:r>
                          <a:rPr lang="en-US" sz="2000" b="1" i="1" dirty="0" smtClean="0">
                            <a:solidFill>
                              <a:srgbClr val="0070C0"/>
                            </a:solidFill>
                            <a:latin typeface="Cambria Math"/>
                          </a:rPr>
                          <m:t>𝒗</m:t>
                        </m:r>
                      </m:e>
                    </m:d>
                    <m:r>
                      <a:rPr lang="en-US" sz="2000" b="0" i="1" dirty="0" smtClean="0">
                        <a:solidFill>
                          <a:schemeClr val="tx1"/>
                        </a:solidFill>
                        <a:latin typeface="Cambria Math"/>
                      </a:rPr>
                      <m:t>∈</m:t>
                    </m:r>
                    <m:r>
                      <a:rPr lang="en-US" sz="2000" b="1" i="1" dirty="0">
                        <a:solidFill>
                          <a:srgbClr val="0070C0"/>
                        </a:solidFill>
                        <a:latin typeface="Cambria Math"/>
                      </a:rPr>
                      <m:t>𝑬</m:t>
                    </m:r>
                  </m:oMath>
                </a14:m>
                <a:r>
                  <a:rPr lang="en-US" sz="2000" dirty="0">
                    <a:sym typeface="Wingdings" pitchFamily="2" charset="2"/>
                  </a:rPr>
                  <a:t> ,  </a:t>
                </a:r>
                <a:r>
                  <a:rPr lang="en-US" sz="2000" b="1" dirty="0">
                    <a:solidFill>
                      <a:srgbClr val="7030A0"/>
                    </a:solidFill>
                    <a:sym typeface="Wingdings" pitchFamily="2" charset="2"/>
                  </a:rPr>
                  <a: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a:solidFill>
                          <a:srgbClr val="0070C0"/>
                        </a:solidFill>
                        <a:latin typeface="Cambria Math"/>
                      </a:rPr>
                      <m:t>𝒖</m:t>
                    </m:r>
                  </m:oMath>
                </a14:m>
                <a:r>
                  <a:rPr lang="en-US" sz="2000" dirty="0">
                    <a:sym typeface="Wingdings" pitchFamily="2" charset="2"/>
                  </a:rPr>
                  <a:t>) &lt; </a:t>
                </a:r>
                <a14:m>
                  <m:oMath xmlns:m="http://schemas.openxmlformats.org/officeDocument/2006/math">
                    <m:r>
                      <a:rPr lang="en-US" sz="2000" b="1" i="1" dirty="0">
                        <a:solidFill>
                          <a:srgbClr val="7030A0"/>
                        </a:solidFill>
                        <a:latin typeface="Cambria Math"/>
                      </a:rPr>
                      <m:t>𝝉</m:t>
                    </m:r>
                  </m:oMath>
                </a14:m>
                <a:r>
                  <a:rPr lang="en-US" sz="2000" dirty="0">
                    <a:sym typeface="Wingdings" pitchFamily="2" charset="2"/>
                  </a:rPr>
                  <a:t>(</a:t>
                </a:r>
                <a14:m>
                  <m:oMath xmlns:m="http://schemas.openxmlformats.org/officeDocument/2006/math">
                    <m:r>
                      <a:rPr lang="en-US" sz="2000" b="1" i="1" dirty="0" smtClean="0">
                        <a:solidFill>
                          <a:srgbClr val="0070C0"/>
                        </a:solidFill>
                        <a:latin typeface="Cambria Math"/>
                      </a:rPr>
                      <m:t>𝒗</m:t>
                    </m:r>
                  </m:oMath>
                </a14:m>
                <a:r>
                  <a:rPr lang="en-US" sz="2000" dirty="0">
                    <a:sym typeface="Wingdings" pitchFamily="2" charset="2"/>
                  </a:rPr>
                  <a:t>) </a:t>
                </a: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dirty="0">
                  <a:sym typeface="Wingdings" pitchFamily="2" charset="2"/>
                </a:endParaRPr>
              </a:p>
              <a:p>
                <a:pPr marL="0" indent="0">
                  <a:buNone/>
                </a:pPr>
                <a:endParaRPr lang="en-US" sz="2000" b="1" dirty="0">
                  <a:solidFill>
                    <a:srgbClr val="C00000"/>
                  </a:solidFill>
                  <a:sym typeface="Wingdings" pitchFamily="2" charset="2"/>
                </a:endParaRPr>
              </a:p>
              <a:p>
                <a:pPr marL="0" indent="0" algn="ctr">
                  <a:buNone/>
                </a:pPr>
                <a:r>
                  <a:rPr lang="en-US" sz="2000" b="1" dirty="0">
                    <a:solidFill>
                      <a:srgbClr val="C00000"/>
                    </a:solidFill>
                    <a:sym typeface="Wingdings" pitchFamily="2" charset="2"/>
                  </a:rPr>
                  <a:t>Example: </a:t>
                </a:r>
                <a:r>
                  <a:rPr lang="en-US" sz="2000" b="1" dirty="0">
                    <a:solidFill>
                      <a:srgbClr val="002060"/>
                    </a:solidFill>
                    <a:sym typeface="Wingdings" pitchFamily="2" charset="2"/>
                  </a:rPr>
                  <a:t>Number of paths from each vertex to </a:t>
                </a:r>
                <a14:m>
                  <m:oMath xmlns:m="http://schemas.openxmlformats.org/officeDocument/2006/math">
                    <m:r>
                      <a:rPr lang="en-US" sz="2000" b="1" i="1" dirty="0">
                        <a:solidFill>
                          <a:srgbClr val="0070C0"/>
                        </a:solidFill>
                        <a:latin typeface="Cambria Math"/>
                      </a:rPr>
                      <m:t>𝒕</m:t>
                    </m:r>
                    <m:r>
                      <a:rPr lang="en-US" sz="2000" b="1" i="1" dirty="0">
                        <a:solidFill>
                          <a:srgbClr val="0070C0"/>
                        </a:solidFill>
                        <a:latin typeface="Cambria Math"/>
                      </a:rPr>
                      <m:t> </m:t>
                    </m:r>
                  </m:oMath>
                </a14:m>
                <a:endParaRPr lang="en-US" sz="2000" b="1" dirty="0">
                  <a:solidFill>
                    <a:srgbClr val="C00000"/>
                  </a:solidFill>
                  <a:sym typeface="Wingdings" pitchFamily="2" charset="2"/>
                </a:endParaRPr>
              </a:p>
              <a:p>
                <a:pPr marL="0" indent="0">
                  <a:buNone/>
                </a:pPr>
                <a14:m>
                  <m:oMath xmlns:m="http://schemas.openxmlformats.org/officeDocument/2006/math">
                    <m:r>
                      <a:rPr lang="en-US" sz="2000" b="1" i="1" dirty="0">
                        <a:latin typeface="Cambria Math"/>
                      </a:rPr>
                      <m:t>𝒇</m:t>
                    </m:r>
                    <m:r>
                      <a:rPr lang="en-US" sz="2000" b="1" i="1" dirty="0">
                        <a:latin typeface="Cambria Math"/>
                      </a:rPr>
                      <m:t>(</m:t>
                    </m:r>
                    <m:r>
                      <a:rPr lang="en-US" sz="2000" b="1" i="1" dirty="0">
                        <a:solidFill>
                          <a:srgbClr val="0070C0"/>
                        </a:solidFill>
                        <a:latin typeface="Cambria Math"/>
                      </a:rPr>
                      <m:t>𝒚</m:t>
                    </m:r>
                    <m:r>
                      <a:rPr lang="en-US" sz="2000" b="1" i="1" dirty="0">
                        <a:latin typeface="Cambria Math"/>
                      </a:rPr>
                      <m:t>)</m:t>
                    </m:r>
                  </m:oMath>
                </a14:m>
                <a:r>
                  <a:rPr lang="en-US" sz="2000" dirty="0">
                    <a:sym typeface="Wingdings" pitchFamily="2" charset="2"/>
                  </a:rPr>
                  <a:t>: the number of paths from </a:t>
                </a:r>
                <a14:m>
                  <m:oMath xmlns:m="http://schemas.openxmlformats.org/officeDocument/2006/math">
                    <m:r>
                      <a:rPr lang="en-US" sz="2000" b="1" i="1" dirty="0">
                        <a:solidFill>
                          <a:srgbClr val="0070C0"/>
                        </a:solidFill>
                        <a:latin typeface="Cambria Math"/>
                      </a:rPr>
                      <m:t>𝒚</m:t>
                    </m:r>
                    <m:r>
                      <a:rPr lang="en-US" sz="2000" b="1" i="1" dirty="0">
                        <a:solidFill>
                          <a:srgbClr val="0070C0"/>
                        </a:solidFill>
                        <a:latin typeface="Cambria Math"/>
                      </a:rPr>
                      <m:t> </m:t>
                    </m:r>
                  </m:oMath>
                </a14:m>
                <a:r>
                  <a:rPr lang="en-US" sz="2000" dirty="0">
                    <a:sym typeface="Wingdings" pitchFamily="2" charset="2"/>
                  </a:rPr>
                  <a:t>to  </a:t>
                </a:r>
                <a14:m>
                  <m:oMath xmlns:m="http://schemas.openxmlformats.org/officeDocument/2006/math">
                    <m:r>
                      <a:rPr lang="en-US" sz="2000" b="1" i="1" dirty="0" smtClean="0">
                        <a:solidFill>
                          <a:srgbClr val="0070C0"/>
                        </a:solidFill>
                        <a:latin typeface="Cambria Math"/>
                      </a:rPr>
                      <m:t>𝒕</m:t>
                    </m:r>
                  </m:oMath>
                </a14:m>
                <a:r>
                  <a:rPr lang="en-US" sz="2000" dirty="0">
                    <a:sym typeface="Wingdings" pitchFamily="2" charset="2"/>
                  </a:rPr>
                  <a:t>.</a:t>
                </a:r>
              </a:p>
              <a:p>
                <a:pPr marL="0" indent="0">
                  <a:buNone/>
                </a:pPr>
                <a:r>
                  <a:rPr lang="en-US" sz="2000" b="1" dirty="0"/>
                  <a:t>	</a:t>
                </a:r>
                <a14:m>
                  <m:oMath xmlns:m="http://schemas.openxmlformats.org/officeDocument/2006/math">
                    <m:r>
                      <a:rPr lang="en-US" sz="2000" b="1" i="1" dirty="0">
                        <a:latin typeface="Cambria Math"/>
                      </a:rPr>
                      <m:t>𝒇</m:t>
                    </m:r>
                    <m:r>
                      <a:rPr lang="en-US" sz="2000" b="1" i="1" dirty="0">
                        <a:latin typeface="Cambria Math"/>
                      </a:rPr>
                      <m:t>(</m:t>
                    </m:r>
                    <m:r>
                      <a:rPr lang="en-US" sz="2000" b="1" i="1" dirty="0" smtClean="0">
                        <a:solidFill>
                          <a:srgbClr val="0070C0"/>
                        </a:solidFill>
                        <a:latin typeface="Cambria Math"/>
                      </a:rPr>
                      <m:t>𝒕</m:t>
                    </m:r>
                    <m:r>
                      <a:rPr lang="en-US" sz="2000" b="1" i="1" dirty="0">
                        <a:latin typeface="Cambria Math"/>
                      </a:rPr>
                      <m:t>)</m:t>
                    </m:r>
                  </m:oMath>
                </a14:m>
                <a:r>
                  <a:rPr lang="en-US" sz="2000" dirty="0">
                    <a:sym typeface="Wingdings" pitchFamily="2" charset="2"/>
                  </a:rPr>
                  <a:t>=</a:t>
                </a:r>
                <a14:m>
                  <m:oMath xmlns:m="http://schemas.openxmlformats.org/officeDocument/2006/math">
                    <m:r>
                      <a:rPr lang="en-US" sz="2000" i="1" dirty="0" smtClean="0">
                        <a:solidFill>
                          <a:srgbClr val="0070C0"/>
                        </a:solidFill>
                        <a:latin typeface="Cambria Math" panose="02040503050406030204" pitchFamily="18" charset="0"/>
                        <a:sym typeface="Wingdings" pitchFamily="2" charset="2"/>
                      </a:rPr>
                      <m:t>1</m:t>
                    </m:r>
                  </m:oMath>
                </a14:m>
                <a:r>
                  <a:rPr lang="en-US" sz="2000" dirty="0">
                    <a:sym typeface="Wingdings" pitchFamily="2" charset="2"/>
                  </a:rPr>
                  <a:t>;</a:t>
                </a:r>
              </a:p>
              <a:p>
                <a:pPr marL="0" indent="0">
                  <a:buNone/>
                </a:pPr>
                <a:r>
                  <a:rPr lang="en-US" sz="2000" b="1" dirty="0"/>
                  <a:t>	</a:t>
                </a:r>
                <a14:m>
                  <m:oMath xmlns:m="http://schemas.openxmlformats.org/officeDocument/2006/math">
                    <m:r>
                      <a:rPr lang="en-US" sz="2000" b="1" i="1" dirty="0">
                        <a:latin typeface="Cambria Math"/>
                      </a:rPr>
                      <m:t>𝒇</m:t>
                    </m:r>
                    <m:r>
                      <a:rPr lang="en-US" sz="2000" b="1" i="1" dirty="0">
                        <a:latin typeface="Cambria Math"/>
                      </a:rPr>
                      <m:t>(</m:t>
                    </m:r>
                    <m:r>
                      <a:rPr lang="en-US" sz="2000" b="1" i="1" dirty="0">
                        <a:solidFill>
                          <a:srgbClr val="0070C0"/>
                        </a:solidFill>
                        <a:latin typeface="Cambria Math"/>
                      </a:rPr>
                      <m:t>𝒚</m:t>
                    </m:r>
                    <m:r>
                      <a:rPr lang="en-US" sz="2000" b="1" i="1" dirty="0">
                        <a:latin typeface="Cambria Math"/>
                      </a:rPr>
                      <m:t>)</m:t>
                    </m:r>
                  </m:oMath>
                </a14:m>
                <a:r>
                  <a:rPr lang="en-US" sz="2000" dirty="0">
                    <a:sym typeface="Wingdings" pitchFamily="2" charset="2"/>
                  </a:rPr>
                  <a:t>= </a:t>
                </a:r>
                <a14:m>
                  <m:oMath xmlns:m="http://schemas.openxmlformats.org/officeDocument/2006/math">
                    <m:nary>
                      <m:naryPr>
                        <m:chr m:val="∑"/>
                        <m:supHide m:val="on"/>
                        <m:ctrlPr>
                          <a:rPr lang="en-US" sz="2000" b="1" i="1" dirty="0" smtClean="0">
                            <a:solidFill>
                              <a:srgbClr val="7030A0"/>
                            </a:solidFill>
                            <a:latin typeface="Cambria Math" panose="02040503050406030204" pitchFamily="18" charset="0"/>
                            <a:sym typeface="Wingdings" pitchFamily="2" charset="2"/>
                          </a:rPr>
                        </m:ctrlPr>
                      </m:naryPr>
                      <m:sub>
                        <m:d>
                          <m:dPr>
                            <m:ctrlPr>
                              <a:rPr lang="en-US" sz="2000" i="1" dirty="0">
                                <a:latin typeface="Cambria Math" panose="02040503050406030204" pitchFamily="18" charset="0"/>
                              </a:rPr>
                            </m:ctrlPr>
                          </m:dPr>
                          <m:e>
                            <m:r>
                              <a:rPr lang="en-US" sz="2000" b="1" i="1" dirty="0">
                                <a:solidFill>
                                  <a:srgbClr val="0070C0"/>
                                </a:solidFill>
                                <a:latin typeface="Cambria Math"/>
                              </a:rPr>
                              <m:t>𝒚</m:t>
                            </m:r>
                            <m:r>
                              <a:rPr lang="en-US" sz="2000" b="1" i="1" dirty="0" smtClean="0">
                                <a:solidFill>
                                  <a:srgbClr val="0070C0"/>
                                </a:solidFill>
                                <a:latin typeface="Cambria Math"/>
                              </a:rPr>
                              <m:t>,</m:t>
                            </m:r>
                            <m:r>
                              <a:rPr lang="en-US" sz="2000" b="1" i="1" dirty="0" smtClean="0">
                                <a:solidFill>
                                  <a:srgbClr val="0070C0"/>
                                </a:solidFill>
                                <a:latin typeface="Cambria Math"/>
                              </a:rPr>
                              <m:t>𝒛</m:t>
                            </m:r>
                          </m:e>
                        </m:d>
                        <m:r>
                          <a:rPr lang="en-US" sz="2000" b="1" i="1" dirty="0">
                            <a:solidFill>
                              <a:srgbClr val="0070C0"/>
                            </a:solidFill>
                            <a:latin typeface="Cambria Math"/>
                          </a:rPr>
                          <m:t>∈</m:t>
                        </m:r>
                        <m:r>
                          <a:rPr lang="en-US" sz="2000" b="1" i="1" dirty="0">
                            <a:solidFill>
                              <a:srgbClr val="0070C0"/>
                            </a:solidFill>
                            <a:latin typeface="Cambria Math"/>
                          </a:rPr>
                          <m:t>𝑬</m:t>
                        </m:r>
                      </m:sub>
                      <m:sup/>
                      <m:e>
                        <m:r>
                          <a:rPr lang="en-US" sz="2000" b="1" i="1" dirty="0">
                            <a:latin typeface="Cambria Math"/>
                          </a:rPr>
                          <m:t>𝒇</m:t>
                        </m:r>
                        <m:d>
                          <m:dPr>
                            <m:ctrlPr>
                              <a:rPr lang="en-US" sz="2000" b="1" i="1" dirty="0">
                                <a:latin typeface="Cambria Math" panose="02040503050406030204" pitchFamily="18" charset="0"/>
                              </a:rPr>
                            </m:ctrlPr>
                          </m:dPr>
                          <m:e>
                            <m:r>
                              <a:rPr lang="en-US" sz="2000" b="1" i="1" dirty="0" smtClean="0">
                                <a:solidFill>
                                  <a:srgbClr val="0070C0"/>
                                </a:solidFill>
                                <a:latin typeface="Cambria Math"/>
                              </a:rPr>
                              <m:t>𝒛</m:t>
                            </m:r>
                          </m:e>
                        </m:d>
                      </m:e>
                    </m:nary>
                  </m:oMath>
                </a14:m>
                <a:endParaRPr lang="en-US" sz="2000" dirty="0">
                  <a:sym typeface="Wingdings" pitchFamily="2" charset="2"/>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a:blip r:embed="rId2"/>
                <a:stretch>
                  <a:fillRect l="-741" t="-943" b="-22237"/>
                </a:stretch>
              </a:blipFill>
            </p:spPr>
            <p:txBody>
              <a:bodyPr/>
              <a:lstStyle/>
              <a:p>
                <a:r>
                  <a:rPr lang="en-IN">
                    <a:noFill/>
                  </a:rPr>
                  <a:t> </a:t>
                </a:r>
              </a:p>
            </p:txBody>
          </p:sp>
        </mc:Fallback>
      </mc:AlternateContent>
      <p:grpSp>
        <p:nvGrpSpPr>
          <p:cNvPr id="7" name="Group 6"/>
          <p:cNvGrpSpPr/>
          <p:nvPr/>
        </p:nvGrpSpPr>
        <p:grpSpPr>
          <a:xfrm>
            <a:off x="1447800" y="3644899"/>
            <a:ext cx="5871117" cy="159834"/>
            <a:chOff x="1447800" y="4038600"/>
            <a:chExt cx="5871117" cy="159834"/>
          </a:xfrm>
        </p:grpSpPr>
        <p:pic>
          <p:nvPicPr>
            <p:cNvPr id="1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77956"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76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6083"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3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03361"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338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24200" y="4038600"/>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90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7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4046034"/>
              <a:ext cx="156117"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82" name="TextBox 81"/>
          <p:cNvSpPr txBox="1"/>
          <p:nvPr/>
        </p:nvSpPr>
        <p:spPr>
          <a:xfrm>
            <a:off x="1384758" y="3172160"/>
            <a:ext cx="6149440" cy="369332"/>
          </a:xfrm>
          <a:prstGeom prst="rect">
            <a:avLst/>
          </a:prstGeom>
          <a:noFill/>
        </p:spPr>
        <p:txBody>
          <a:bodyPr wrap="none" rtlCol="0">
            <a:spAutoFit/>
          </a:bodyPr>
          <a:lstStyle/>
          <a:p>
            <a:r>
              <a:rPr lang="en-US" dirty="0"/>
              <a:t>1        2          3        4       5          6          7         8        9        10      11</a:t>
            </a:r>
          </a:p>
        </p:txBody>
      </p:sp>
      <mc:AlternateContent xmlns:mc="http://schemas.openxmlformats.org/markup-compatibility/2006" xmlns:a14="http://schemas.microsoft.com/office/drawing/2010/main">
        <mc:Choice Requires="a14">
          <p:sp>
            <p:nvSpPr>
              <p:cNvPr id="21" name="TextBox 20"/>
              <p:cNvSpPr txBox="1"/>
              <p:nvPr/>
            </p:nvSpPr>
            <p:spPr>
              <a:xfrm>
                <a:off x="3581400" y="4114800"/>
                <a:ext cx="3754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1" i="1" dirty="0">
                          <a:solidFill>
                            <a:srgbClr val="0070C0"/>
                          </a:solidFill>
                          <a:latin typeface="Cambria Math"/>
                        </a:rPr>
                        <m:t>𝒚</m:t>
                      </m:r>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3581400" y="4114800"/>
                <a:ext cx="375424" cy="369332"/>
              </a:xfrm>
              <a:prstGeom prst="rect">
                <a:avLst/>
              </a:prstGeom>
              <a:blipFill rotWithShape="1">
                <a:blip r:embed="rId4"/>
                <a:stretch>
                  <a:fillRect t="-8197" r="-2131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Down Ribbon 1"/>
              <p:cNvSpPr/>
              <p:nvPr/>
            </p:nvSpPr>
            <p:spPr>
              <a:xfrm>
                <a:off x="6553200" y="4299466"/>
                <a:ext cx="2133600" cy="656582"/>
              </a:xfrm>
              <a:prstGeom prst="ribbon">
                <a:avLst>
                  <a:gd name="adj1" fmla="val 16667"/>
                  <a:gd name="adj2" fmla="val 75000"/>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b="1" i="1" dirty="0" smtClean="0">
                        <a:solidFill>
                          <a:srgbClr val="002060"/>
                        </a:solidFill>
                        <a:latin typeface="Cambria Math"/>
                      </a:rPr>
                      <m:t>𝑶</m:t>
                    </m:r>
                    <m:r>
                      <a:rPr lang="en-US" b="1" i="1" dirty="0" smtClean="0">
                        <a:solidFill>
                          <a:srgbClr val="002060"/>
                        </a:solidFill>
                        <a:latin typeface="Cambria Math"/>
                      </a:rPr>
                      <m:t>(</m:t>
                    </m:r>
                    <m:r>
                      <a:rPr lang="en-US" b="1" i="1" dirty="0">
                        <a:solidFill>
                          <a:srgbClr val="0070C0"/>
                        </a:solidFill>
                        <a:latin typeface="Cambria Math"/>
                      </a:rPr>
                      <m:t>𝒎</m:t>
                    </m:r>
                    <m:r>
                      <a:rPr lang="en-US" b="1" i="1" dirty="0">
                        <a:solidFill>
                          <a:srgbClr val="0070C0"/>
                        </a:solidFill>
                        <a:latin typeface="Cambria Math"/>
                      </a:rPr>
                      <m:t>+</m:t>
                    </m:r>
                    <m:r>
                      <a:rPr lang="en-US" b="1" i="1" dirty="0">
                        <a:solidFill>
                          <a:srgbClr val="0070C0"/>
                        </a:solidFill>
                        <a:latin typeface="Cambria Math"/>
                      </a:rPr>
                      <m:t>𝒏</m:t>
                    </m:r>
                    <m:r>
                      <a:rPr lang="en-US" b="1" i="1" dirty="0" smtClean="0">
                        <a:solidFill>
                          <a:srgbClr val="002060"/>
                        </a:solidFill>
                        <a:latin typeface="Cambria Math"/>
                      </a:rPr>
                      <m:t>)</m:t>
                    </m:r>
                  </m:oMath>
                </a14:m>
                <a:r>
                  <a:rPr lang="en-US" b="1" dirty="0">
                    <a:solidFill>
                      <a:srgbClr val="002060"/>
                    </a:solidFill>
                  </a:rPr>
                  <a:t> </a:t>
                </a:r>
                <a:r>
                  <a:rPr lang="en-US" dirty="0">
                    <a:solidFill>
                      <a:srgbClr val="002060"/>
                    </a:solidFill>
                  </a:rPr>
                  <a:t>time </a:t>
                </a:r>
                <a:r>
                  <a:rPr lang="en-US" dirty="0" err="1">
                    <a:solidFill>
                      <a:srgbClr val="002060"/>
                    </a:solidFill>
                  </a:rPr>
                  <a:t>algo</a:t>
                </a:r>
                <a:endParaRPr lang="en-US" dirty="0">
                  <a:solidFill>
                    <a:srgbClr val="002060"/>
                  </a:solidFill>
                </a:endParaRPr>
              </a:p>
            </p:txBody>
          </p:sp>
        </mc:Choice>
        <mc:Fallback xmlns="">
          <p:sp>
            <p:nvSpPr>
              <p:cNvPr id="2" name="Down Ribbon 1"/>
              <p:cNvSpPr>
                <a:spLocks noRot="1" noChangeAspect="1" noMove="1" noResize="1" noEditPoints="1" noAdjustHandles="1" noChangeArrowheads="1" noChangeShapeType="1" noTextEdit="1"/>
              </p:cNvSpPr>
              <p:nvPr/>
            </p:nvSpPr>
            <p:spPr>
              <a:xfrm>
                <a:off x="6553200" y="4299466"/>
                <a:ext cx="2133600" cy="656582"/>
              </a:xfrm>
              <a:prstGeom prst="ribbon">
                <a:avLst>
                  <a:gd name="adj1" fmla="val 16667"/>
                  <a:gd name="adj2" fmla="val 75000"/>
                </a:avLst>
              </a:prstGeom>
              <a:blipFill rotWithShape="1">
                <a:blip r:embed="rId6"/>
                <a:stretch>
                  <a:fillRect b="-19643"/>
                </a:stretch>
              </a:blipFill>
            </p:spPr>
            <p:txBody>
              <a:bodyPr/>
              <a:lstStyle/>
              <a:p>
                <a:r>
                  <a:rPr lang="en-US">
                    <a:noFill/>
                  </a:rPr>
                  <a:t> </a:t>
                </a:r>
              </a:p>
            </p:txBody>
          </p:sp>
        </mc:Fallback>
      </mc:AlternateContent>
      <p:sp>
        <p:nvSpPr>
          <p:cNvPr id="22" name="Right Arrow 21"/>
          <p:cNvSpPr/>
          <p:nvPr/>
        </p:nvSpPr>
        <p:spPr>
          <a:xfrm flipH="1">
            <a:off x="2739482" y="2438400"/>
            <a:ext cx="3813717" cy="789432"/>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3" name="Curved Connector 22"/>
          <p:cNvCxnSpPr/>
          <p:nvPr/>
        </p:nvCxnSpPr>
        <p:spPr>
          <a:xfrm rot="16200000" flipH="1">
            <a:off x="4683937" y="2925221"/>
            <a:ext cx="12700" cy="1744156"/>
          </a:xfrm>
          <a:prstGeom prst="curvedConnector3">
            <a:avLst>
              <a:gd name="adj1" fmla="val 610244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4" name="Curved Connector 23"/>
          <p:cNvCxnSpPr/>
          <p:nvPr/>
        </p:nvCxnSpPr>
        <p:spPr>
          <a:xfrm rot="16200000" flipH="1">
            <a:off x="4096639" y="3512518"/>
            <a:ext cx="12700" cy="569561"/>
          </a:xfrm>
          <a:prstGeom prst="curvedConnector3">
            <a:avLst>
              <a:gd name="adj1" fmla="val 2678047"/>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66FF6F33-BFE9-515B-358F-436809C19A93}"/>
              </a:ext>
            </a:extLst>
          </p:cNvPr>
          <p:cNvSpPr/>
          <p:nvPr/>
        </p:nvSpPr>
        <p:spPr>
          <a:xfrm>
            <a:off x="1143000" y="5257800"/>
            <a:ext cx="3962400" cy="427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B25B40B-C803-5523-A51A-DC14D3078F1D}"/>
              </a:ext>
            </a:extLst>
          </p:cNvPr>
          <p:cNvSpPr/>
          <p:nvPr/>
        </p:nvSpPr>
        <p:spPr>
          <a:xfrm>
            <a:off x="2067208" y="5592764"/>
            <a:ext cx="3962400" cy="427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80CB5A3-71E8-0C83-B168-00314E30B0BA}"/>
              </a:ext>
            </a:extLst>
          </p:cNvPr>
          <p:cNvSpPr/>
          <p:nvPr/>
        </p:nvSpPr>
        <p:spPr>
          <a:xfrm>
            <a:off x="2971800" y="6019800"/>
            <a:ext cx="3962400" cy="427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223821E-5D33-923D-0F57-418C16D06C2D}"/>
              </a:ext>
            </a:extLst>
          </p:cNvPr>
          <p:cNvSpPr/>
          <p:nvPr/>
        </p:nvSpPr>
        <p:spPr>
          <a:xfrm>
            <a:off x="2133600" y="6019800"/>
            <a:ext cx="838200" cy="427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9097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9" end="9"/>
                                            </p:txEl>
                                          </p:spTgt>
                                        </p:tgtEl>
                                        <p:attrNameLst>
                                          <p:attrName>style.visibility</p:attrName>
                                        </p:attrNameLst>
                                      </p:cBhvr>
                                      <p:to>
                                        <p:strVal val="visible"/>
                                      </p:to>
                                    </p:set>
                                    <p:animEffect transition="in" filter="fade">
                                      <p:cBhvr>
                                        <p:cTn id="7" dur="500"/>
                                        <p:tgtEl>
                                          <p:spTgt spid="5">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0" end="10"/>
                                            </p:txEl>
                                          </p:spTgt>
                                        </p:tgtEl>
                                        <p:attrNameLst>
                                          <p:attrName>style.visibility</p:attrName>
                                        </p:attrNameLst>
                                      </p:cBhvr>
                                      <p:to>
                                        <p:strVal val="visible"/>
                                      </p:to>
                                    </p:set>
                                    <p:animEffect transition="in" filter="fade">
                                      <p:cBhvr>
                                        <p:cTn id="12" dur="500"/>
                                        <p:tgtEl>
                                          <p:spTgt spid="5">
                                            <p:txEl>
                                              <p:pRg st="10" end="1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2000"/>
                                        <p:tgtEl>
                                          <p:spTgt spid="3"/>
                                        </p:tgtEl>
                                      </p:cBhvr>
                                    </p:animEffect>
                                    <p:set>
                                      <p:cBhvr>
                                        <p:cTn id="17" dur="1" fill="hold">
                                          <p:stCondLst>
                                            <p:cond delay="1999"/>
                                          </p:stCondLst>
                                        </p:cTn>
                                        <p:tgtEl>
                                          <p:spTgt spid="3"/>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11" end="11"/>
                                            </p:txEl>
                                          </p:spTgt>
                                        </p:tgtEl>
                                        <p:attrNameLst>
                                          <p:attrName>style.visibility</p:attrName>
                                        </p:attrNameLst>
                                      </p:cBhvr>
                                      <p:to>
                                        <p:strVal val="visible"/>
                                      </p:to>
                                    </p:set>
                                    <p:animEffect transition="in" filter="fade">
                                      <p:cBhvr>
                                        <p:cTn id="22" dur="500"/>
                                        <p:tgtEl>
                                          <p:spTgt spid="5">
                                            <p:txEl>
                                              <p:pRg st="11" end="1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2000"/>
                                        <p:tgtEl>
                                          <p:spTgt spid="6"/>
                                        </p:tgtEl>
                                      </p:cBhvr>
                                    </p:animEffect>
                                    <p:set>
                                      <p:cBhvr>
                                        <p:cTn id="27" dur="1" fill="hold">
                                          <p:stCondLst>
                                            <p:cond delay="1999"/>
                                          </p:stCondLst>
                                        </p:cTn>
                                        <p:tgtEl>
                                          <p:spTgt spid="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12" end="12"/>
                                            </p:txEl>
                                          </p:spTgt>
                                        </p:tgtEl>
                                        <p:attrNameLst>
                                          <p:attrName>style.visibility</p:attrName>
                                        </p:attrNameLst>
                                      </p:cBhvr>
                                      <p:to>
                                        <p:strVal val="visible"/>
                                      </p:to>
                                    </p:set>
                                    <p:animEffect transition="in" filter="fade">
                                      <p:cBhvr>
                                        <p:cTn id="32" dur="500"/>
                                        <p:tgtEl>
                                          <p:spTgt spid="5">
                                            <p:txEl>
                                              <p:pRg st="12" end="1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2000"/>
                                        <p:tgtEl>
                                          <p:spTgt spid="8"/>
                                        </p:tgtEl>
                                      </p:cBhvr>
                                    </p:animEffect>
                                    <p:set>
                                      <p:cBhvr>
                                        <p:cTn id="37" dur="1" fill="hold">
                                          <p:stCondLst>
                                            <p:cond delay="19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2000"/>
                                        <p:tgtEl>
                                          <p:spTgt spid="9"/>
                                        </p:tgtEl>
                                      </p:cBhvr>
                                    </p:animEffect>
                                    <p:set>
                                      <p:cBhvr>
                                        <p:cTn id="42" dur="1" fill="hold">
                                          <p:stCondLst>
                                            <p:cond delay="1999"/>
                                          </p:stCondLst>
                                        </p:cTn>
                                        <p:tgtEl>
                                          <p:spTgt spid="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fade">
                                      <p:cBhvr>
                                        <p:cTn id="47" dur="1000"/>
                                        <p:tgtEl>
                                          <p:spTgt spid="2"/>
                                        </p:tgtEl>
                                      </p:cBhvr>
                                    </p:animEffect>
                                    <p:anim calcmode="lin" valueType="num">
                                      <p:cBhvr>
                                        <p:cTn id="48" dur="1000" fill="hold"/>
                                        <p:tgtEl>
                                          <p:spTgt spid="2"/>
                                        </p:tgtEl>
                                        <p:attrNameLst>
                                          <p:attrName>ppt_x</p:attrName>
                                        </p:attrNameLst>
                                      </p:cBhvr>
                                      <p:tavLst>
                                        <p:tav tm="0">
                                          <p:val>
                                            <p:strVal val="#ppt_x"/>
                                          </p:val>
                                        </p:tav>
                                        <p:tav tm="100000">
                                          <p:val>
                                            <p:strVal val="#ppt_x"/>
                                          </p:val>
                                        </p:tav>
                                      </p:tavLst>
                                    </p:anim>
                                    <p:anim calcmode="lin" valueType="num">
                                      <p:cBhvr>
                                        <p:cTn id="4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xit" presetSubtype="0" fill="hold" grpId="1" nodeType="clickEffect">
                                  <p:stCondLst>
                                    <p:cond delay="0"/>
                                  </p:stCondLst>
                                  <p:childTnLst>
                                    <p:animEffect transition="out" filter="fade">
                                      <p:cBhvr>
                                        <p:cTn id="53" dur="500"/>
                                        <p:tgtEl>
                                          <p:spTgt spid="2"/>
                                        </p:tgtEl>
                                      </p:cBhvr>
                                    </p:animEffect>
                                    <p:set>
                                      <p:cBhvr>
                                        <p:cTn id="54"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 grpId="0" animBg="1"/>
      <p:bldP spid="2" grpId="1" animBg="1"/>
      <p:bldP spid="3" grpId="0" animBg="1"/>
      <p:bldP spid="6"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r>
              <a:rPr lang="en-US" sz="3600" b="1" dirty="0">
                <a:solidFill>
                  <a:srgbClr val="006C31"/>
                </a:solidFill>
              </a:rPr>
              <a:t>Homework</a:t>
            </a:r>
            <a:endParaRPr lang="en-US" sz="3600" dirty="0">
              <a:solidFill>
                <a:srgbClr val="006C31"/>
              </a:solidFill>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marL="0" indent="0">
                  <a:buNone/>
                </a:pPr>
                <a:endParaRPr lang="en-US" sz="2000" dirty="0"/>
              </a:p>
              <a:p>
                <a:pPr marL="0" indent="0">
                  <a:buNone/>
                </a:pPr>
                <a:r>
                  <a:rPr lang="en-US" sz="2000" dirty="0"/>
                  <a:t>Design an</a:t>
                </a:r>
                <a:r>
                  <a:rPr lang="en-US" sz="2000" b="1" dirty="0">
                    <a:solidFill>
                      <a:srgbClr val="002060"/>
                    </a:solidFill>
                  </a:rPr>
                  <a:t> </a:t>
                </a:r>
                <a14:m>
                  <m:oMath xmlns:m="http://schemas.openxmlformats.org/officeDocument/2006/math">
                    <m:r>
                      <a:rPr lang="en-US" sz="2000" b="1" i="1" dirty="0">
                        <a:solidFill>
                          <a:srgbClr val="002060"/>
                        </a:solidFill>
                        <a:latin typeface="Cambria Math"/>
                      </a:rPr>
                      <m:t>𝑶</m:t>
                    </m:r>
                    <m:r>
                      <a:rPr lang="en-US" sz="2000" b="1" i="1" dirty="0">
                        <a:solidFill>
                          <a:srgbClr val="002060"/>
                        </a:solidFill>
                        <a:latin typeface="Cambria Math"/>
                      </a:rPr>
                      <m:t>(</m:t>
                    </m:r>
                    <m:r>
                      <a:rPr lang="en-US" sz="2000" b="1" i="1" dirty="0">
                        <a:solidFill>
                          <a:srgbClr val="0070C0"/>
                        </a:solidFill>
                        <a:latin typeface="Cambria Math"/>
                      </a:rPr>
                      <m:t>𝒎</m:t>
                    </m:r>
                    <m:r>
                      <a:rPr lang="en-US" sz="2000" b="1" i="1" dirty="0">
                        <a:solidFill>
                          <a:srgbClr val="0070C0"/>
                        </a:solidFill>
                        <a:latin typeface="Cambria Math"/>
                      </a:rPr>
                      <m:t>+</m:t>
                    </m:r>
                    <m:r>
                      <a:rPr lang="en-US" sz="2000" b="1" i="1" dirty="0">
                        <a:solidFill>
                          <a:srgbClr val="0070C0"/>
                        </a:solidFill>
                        <a:latin typeface="Cambria Math"/>
                      </a:rPr>
                      <m:t>𝒏</m:t>
                    </m:r>
                    <m:r>
                      <a:rPr lang="en-US" sz="2000" b="0" i="1" dirty="0" smtClean="0">
                        <a:solidFill>
                          <a:schemeClr val="tx1"/>
                        </a:solidFill>
                        <a:latin typeface="Cambria Math"/>
                      </a:rPr>
                      <m:t>)</m:t>
                    </m:r>
                  </m:oMath>
                </a14:m>
                <a:r>
                  <a:rPr lang="en-US" sz="2000" dirty="0">
                    <a:solidFill>
                      <a:schemeClr val="tx1"/>
                    </a:solidFill>
                  </a:rPr>
                  <a:t> time algorithm for the following problem:</a:t>
                </a:r>
              </a:p>
              <a:p>
                <a:pPr marL="0" indent="0">
                  <a:buNone/>
                </a:pPr>
                <a:endParaRPr lang="en-US" sz="2000" dirty="0"/>
              </a:p>
              <a:p>
                <a:pPr marL="0" indent="0">
                  <a:buNone/>
                </a:pPr>
                <a:endParaRPr lang="en-US" sz="2000" dirty="0"/>
              </a:p>
              <a:p>
                <a:pPr marL="0" indent="0">
                  <a:buNone/>
                </a:pPr>
                <a:r>
                  <a:rPr lang="en-US" sz="2000" dirty="0"/>
                  <a:t>Given a directed acyclic graph </a:t>
                </a:r>
                <a14:m>
                  <m:oMath xmlns:m="http://schemas.openxmlformats.org/officeDocument/2006/math">
                    <m:r>
                      <a:rPr lang="en-US" sz="2000" b="1" i="1" dirty="0" smtClean="0">
                        <a:solidFill>
                          <a:srgbClr val="0070C0"/>
                        </a:solidFill>
                        <a:latin typeface="Cambria Math"/>
                      </a:rPr>
                      <m:t>𝑮</m:t>
                    </m:r>
                  </m:oMath>
                </a14:m>
                <a:r>
                  <a:rPr lang="en-US" sz="2000" dirty="0"/>
                  <a:t>, and a sequence of vertices </a:t>
                </a:r>
                <a14:m>
                  <m:oMath xmlns:m="http://schemas.openxmlformats.org/officeDocument/2006/math">
                    <m:sSub>
                      <m:sSubPr>
                        <m:ctrlPr>
                          <a:rPr lang="en-US" sz="2000" b="1" i="1" dirty="0" smtClean="0">
                            <a:solidFill>
                              <a:srgbClr val="0070C0"/>
                            </a:solidFill>
                            <a:latin typeface="Cambria Math" panose="02040503050406030204" pitchFamily="18" charset="0"/>
                          </a:rPr>
                        </m:ctrlPr>
                      </m:sSubPr>
                      <m:e>
                        <m:r>
                          <a:rPr lang="en-US" sz="2000" b="1" i="1" dirty="0" smtClean="0">
                            <a:solidFill>
                              <a:srgbClr val="0070C0"/>
                            </a:solidFill>
                            <a:latin typeface="Cambria Math"/>
                          </a:rPr>
                          <m:t>𝒙</m:t>
                        </m:r>
                      </m:e>
                      <m:sub>
                        <m:r>
                          <a:rPr lang="en-US" sz="2000" b="1" i="1" dirty="0" smtClean="0">
                            <a:solidFill>
                              <a:srgbClr val="0070C0"/>
                            </a:solidFill>
                            <a:latin typeface="Cambria Math"/>
                          </a:rPr>
                          <m:t>𝟏</m:t>
                        </m:r>
                      </m:sub>
                    </m:sSub>
                    <m:r>
                      <a:rPr lang="en-US" sz="2000" b="1" i="1" dirty="0" smtClean="0">
                        <a:solidFill>
                          <a:srgbClr val="0070C0"/>
                        </a:solidFill>
                        <a:latin typeface="Cambria Math"/>
                      </a:rPr>
                      <m:t>,</m:t>
                    </m:r>
                    <m:sSub>
                      <m:sSubPr>
                        <m:ctrlPr>
                          <a:rPr lang="en-US" sz="2000" b="1" i="1" dirty="0" smtClean="0">
                            <a:solidFill>
                              <a:srgbClr val="0070C0"/>
                            </a:solidFill>
                            <a:latin typeface="Cambria Math" panose="02040503050406030204" pitchFamily="18" charset="0"/>
                          </a:rPr>
                        </m:ctrlPr>
                      </m:sSubPr>
                      <m:e>
                        <m:r>
                          <a:rPr lang="en-US" sz="2000" b="1" i="1" dirty="0" smtClean="0">
                            <a:solidFill>
                              <a:srgbClr val="0070C0"/>
                            </a:solidFill>
                            <a:latin typeface="Cambria Math"/>
                          </a:rPr>
                          <m:t>𝒙</m:t>
                        </m:r>
                      </m:e>
                      <m:sub>
                        <m:r>
                          <a:rPr lang="en-US" sz="2000" b="1" i="1" dirty="0" smtClean="0">
                            <a:solidFill>
                              <a:srgbClr val="0070C0"/>
                            </a:solidFill>
                            <a:latin typeface="Cambria Math"/>
                          </a:rPr>
                          <m:t>𝟐</m:t>
                        </m:r>
                      </m:sub>
                    </m:sSub>
                    <m:r>
                      <a:rPr lang="en-US" sz="2000" b="1" i="1" dirty="0" smtClean="0">
                        <a:solidFill>
                          <a:srgbClr val="0070C0"/>
                        </a:solidFill>
                        <a:latin typeface="Cambria Math"/>
                      </a:rPr>
                      <m:t>,…,</m:t>
                    </m:r>
                    <m:sSub>
                      <m:sSubPr>
                        <m:ctrlPr>
                          <a:rPr lang="en-US" sz="2000" b="1" i="1" dirty="0" smtClean="0">
                            <a:solidFill>
                              <a:srgbClr val="0070C0"/>
                            </a:solidFill>
                            <a:latin typeface="Cambria Math" panose="02040503050406030204" pitchFamily="18" charset="0"/>
                          </a:rPr>
                        </m:ctrlPr>
                      </m:sSubPr>
                      <m:e>
                        <m:r>
                          <a:rPr lang="en-US" sz="2000" b="1" i="1" dirty="0" smtClean="0">
                            <a:solidFill>
                              <a:srgbClr val="0070C0"/>
                            </a:solidFill>
                            <a:latin typeface="Cambria Math"/>
                          </a:rPr>
                          <m:t>𝒙</m:t>
                        </m:r>
                      </m:e>
                      <m:sub>
                        <m:r>
                          <a:rPr lang="en-US" sz="2000" b="1" i="1" dirty="0" smtClean="0">
                            <a:solidFill>
                              <a:srgbClr val="0070C0"/>
                            </a:solidFill>
                            <a:latin typeface="Cambria Math"/>
                          </a:rPr>
                          <m:t>𝒌</m:t>
                        </m:r>
                      </m:sub>
                    </m:sSub>
                  </m:oMath>
                </a14:m>
                <a:r>
                  <a:rPr lang="en-US" sz="2000" dirty="0"/>
                  <a:t>,</a:t>
                </a:r>
              </a:p>
              <a:p>
                <a:pPr marL="0" indent="0">
                  <a:buNone/>
                </a:pPr>
                <a:r>
                  <a:rPr lang="en-US" sz="2000" dirty="0"/>
                  <a:t>does there exist a </a:t>
                </a:r>
                <a:r>
                  <a:rPr lang="en-US" sz="2000" b="1" u="sng" dirty="0"/>
                  <a:t>single path</a:t>
                </a:r>
                <a:r>
                  <a:rPr lang="en-US" sz="2000" dirty="0"/>
                  <a:t> in </a:t>
                </a:r>
                <a14:m>
                  <m:oMath xmlns:m="http://schemas.openxmlformats.org/officeDocument/2006/math">
                    <m:r>
                      <a:rPr lang="en-US" sz="2000" b="1" i="1" dirty="0">
                        <a:solidFill>
                          <a:srgbClr val="0070C0"/>
                        </a:solidFill>
                        <a:latin typeface="Cambria Math"/>
                      </a:rPr>
                      <m:t>𝑮</m:t>
                    </m:r>
                    <m:r>
                      <a:rPr lang="en-US" sz="2000" b="1" i="1" dirty="0">
                        <a:solidFill>
                          <a:srgbClr val="0070C0"/>
                        </a:solidFill>
                        <a:latin typeface="Cambria Math"/>
                      </a:rPr>
                      <m:t> </m:t>
                    </m:r>
                  </m:oMath>
                </a14:m>
                <a:r>
                  <a:rPr lang="en-US" sz="2000" dirty="0"/>
                  <a:t>which looks  like :</a:t>
                </a:r>
              </a:p>
              <a:p>
                <a:pPr marL="0" indent="0">
                  <a:buNone/>
                </a:pPr>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b="1" i="1" dirty="0">
                              <a:solidFill>
                                <a:srgbClr val="0070C0"/>
                              </a:solidFill>
                              <a:latin typeface="Cambria Math" panose="02040503050406030204" pitchFamily="18" charset="0"/>
                            </a:rPr>
                          </m:ctrlPr>
                        </m:sSubPr>
                        <m:e>
                          <m:r>
                            <a:rPr lang="en-US" sz="2000" b="1" i="1" dirty="0">
                              <a:solidFill>
                                <a:srgbClr val="0070C0"/>
                              </a:solidFill>
                              <a:latin typeface="Cambria Math"/>
                            </a:rPr>
                            <m:t>𝒙</m:t>
                          </m:r>
                        </m:e>
                        <m:sub>
                          <m:r>
                            <a:rPr lang="en-US" sz="2000" b="1" i="1" dirty="0">
                              <a:solidFill>
                                <a:srgbClr val="0070C0"/>
                              </a:solidFill>
                              <a:latin typeface="Cambria Math"/>
                            </a:rPr>
                            <m:t>𝟏</m:t>
                          </m:r>
                        </m:sub>
                      </m:sSub>
                      <m:r>
                        <a:rPr lang="en-US" sz="2000" b="1" i="1" dirty="0" smtClean="0">
                          <a:solidFill>
                            <a:srgbClr val="0070C0"/>
                          </a:solidFill>
                          <a:latin typeface="Cambria Math"/>
                          <a:ea typeface="Cambria Math"/>
                        </a:rPr>
                        <m:t>⇝</m:t>
                      </m:r>
                      <m:sSub>
                        <m:sSubPr>
                          <m:ctrlPr>
                            <a:rPr lang="en-US" sz="2000" b="1" i="1" dirty="0">
                              <a:solidFill>
                                <a:srgbClr val="0070C0"/>
                              </a:solidFill>
                              <a:latin typeface="Cambria Math" panose="02040503050406030204" pitchFamily="18" charset="0"/>
                            </a:rPr>
                          </m:ctrlPr>
                        </m:sSubPr>
                        <m:e>
                          <m:r>
                            <a:rPr lang="en-US" sz="2000" b="1" i="1" dirty="0">
                              <a:solidFill>
                                <a:srgbClr val="0070C0"/>
                              </a:solidFill>
                              <a:latin typeface="Cambria Math"/>
                            </a:rPr>
                            <m:t>𝒙</m:t>
                          </m:r>
                        </m:e>
                        <m:sub>
                          <m:r>
                            <a:rPr lang="en-US" sz="2000" b="1" i="1" dirty="0">
                              <a:solidFill>
                                <a:srgbClr val="0070C0"/>
                              </a:solidFill>
                              <a:latin typeface="Cambria Math"/>
                            </a:rPr>
                            <m:t>𝟐</m:t>
                          </m:r>
                        </m:sub>
                      </m:sSub>
                      <m:r>
                        <a:rPr lang="en-US" sz="2000" b="1" i="1" dirty="0">
                          <a:solidFill>
                            <a:srgbClr val="0070C0"/>
                          </a:solidFill>
                          <a:latin typeface="Cambria Math"/>
                          <a:ea typeface="Cambria Math"/>
                        </a:rPr>
                        <m:t>⇝</m:t>
                      </m:r>
                      <m:r>
                        <a:rPr lang="en-US" sz="2000" b="1" i="1" dirty="0">
                          <a:solidFill>
                            <a:srgbClr val="0070C0"/>
                          </a:solidFill>
                          <a:latin typeface="Cambria Math"/>
                        </a:rPr>
                        <m:t>…</m:t>
                      </m:r>
                      <m:sSub>
                        <m:sSubPr>
                          <m:ctrlPr>
                            <a:rPr lang="en-US" sz="2000" b="1" i="1" dirty="0">
                              <a:solidFill>
                                <a:srgbClr val="0070C0"/>
                              </a:solidFill>
                              <a:latin typeface="Cambria Math" panose="02040503050406030204" pitchFamily="18" charset="0"/>
                            </a:rPr>
                          </m:ctrlPr>
                        </m:sSubPr>
                        <m:e>
                          <m:r>
                            <a:rPr lang="en-US" sz="2000" b="1" i="1" dirty="0">
                              <a:solidFill>
                                <a:srgbClr val="0070C0"/>
                              </a:solidFill>
                              <a:latin typeface="Cambria Math"/>
                              <a:ea typeface="Cambria Math"/>
                            </a:rPr>
                            <m:t>⇝</m:t>
                          </m:r>
                          <m:r>
                            <a:rPr lang="en-US" sz="2000" b="1" i="1" dirty="0">
                              <a:solidFill>
                                <a:srgbClr val="0070C0"/>
                              </a:solidFill>
                              <a:latin typeface="Cambria Math"/>
                            </a:rPr>
                            <m:t>𝒙</m:t>
                          </m:r>
                        </m:e>
                        <m:sub>
                          <m:r>
                            <a:rPr lang="en-US" sz="2000" b="1" i="1" dirty="0">
                              <a:solidFill>
                                <a:srgbClr val="0070C0"/>
                              </a:solidFill>
                              <a:latin typeface="Cambria Math"/>
                            </a:rPr>
                            <m:t>𝒌</m:t>
                          </m:r>
                        </m:sub>
                      </m:sSub>
                    </m:oMath>
                  </m:oMathPara>
                </a14:m>
                <a:endParaRPr lang="en-US"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41"/>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pPr>
              <a:defRPr/>
            </a:pPr>
            <a:fld id="{147D3F34-CCFE-4664-990B-25D48250FF76}" type="slidenum">
              <a:rPr lang="en-US" smtClean="0"/>
              <a:pPr>
                <a:defRPr/>
              </a:pPr>
              <a:t>32</a:t>
            </a:fld>
            <a:endParaRPr lang="en-US"/>
          </a:p>
        </p:txBody>
      </p:sp>
      <p:sp>
        <p:nvSpPr>
          <p:cNvPr id="5" name="Rectangle 4">
            <a:extLst>
              <a:ext uri="{FF2B5EF4-FFF2-40B4-BE49-F238E27FC236}">
                <a16:creationId xmlns:a16="http://schemas.microsoft.com/office/drawing/2014/main" id="{BCC3487B-9BC2-0144-93C2-F042E314F171}"/>
              </a:ext>
            </a:extLst>
          </p:cNvPr>
          <p:cNvSpPr/>
          <p:nvPr/>
        </p:nvSpPr>
        <p:spPr>
          <a:xfrm>
            <a:off x="3962400" y="3032897"/>
            <a:ext cx="4267200" cy="427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915258D-70CA-B564-51B2-08AE3C58C531}"/>
              </a:ext>
            </a:extLst>
          </p:cNvPr>
          <p:cNvSpPr/>
          <p:nvPr/>
        </p:nvSpPr>
        <p:spPr>
          <a:xfrm>
            <a:off x="4114800" y="3459164"/>
            <a:ext cx="4267200" cy="427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4316840-76B6-947B-1DA4-5035875888F3}"/>
              </a:ext>
            </a:extLst>
          </p:cNvPr>
          <p:cNvSpPr/>
          <p:nvPr/>
        </p:nvSpPr>
        <p:spPr>
          <a:xfrm>
            <a:off x="5029200" y="4068762"/>
            <a:ext cx="4267200" cy="427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5CE9C4A-8103-C470-1FD3-991309C4BD05}"/>
              </a:ext>
            </a:extLst>
          </p:cNvPr>
          <p:cNvSpPr/>
          <p:nvPr/>
        </p:nvSpPr>
        <p:spPr>
          <a:xfrm>
            <a:off x="4419600" y="4098949"/>
            <a:ext cx="4267200" cy="42703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11692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xit" presetSubtype="8" fill="hold" grpId="0" nodeType="clickEffect">
                                  <p:stCondLst>
                                    <p:cond delay="0"/>
                                  </p:stCondLst>
                                  <p:childTnLst>
                                    <p:animEffect transition="out" filter="wipe(left)">
                                      <p:cBhvr>
                                        <p:cTn id="16" dur="2000"/>
                                        <p:tgtEl>
                                          <p:spTgt spid="5"/>
                                        </p:tgtEl>
                                      </p:cBhvr>
                                    </p:animEffect>
                                    <p:set>
                                      <p:cBhvr>
                                        <p:cTn id="17" dur="1" fill="hold">
                                          <p:stCondLst>
                                            <p:cond delay="1999"/>
                                          </p:stCondLst>
                                        </p:cTn>
                                        <p:tgtEl>
                                          <p:spTgt spid="5"/>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xit" presetSubtype="8" fill="hold" grpId="0" nodeType="clickEffect">
                                  <p:stCondLst>
                                    <p:cond delay="0"/>
                                  </p:stCondLst>
                                  <p:childTnLst>
                                    <p:animEffect transition="out" filter="wipe(left)">
                                      <p:cBhvr>
                                        <p:cTn id="26" dur="2000"/>
                                        <p:tgtEl>
                                          <p:spTgt spid="6"/>
                                        </p:tgtEl>
                                      </p:cBhvr>
                                    </p:animEffect>
                                    <p:set>
                                      <p:cBhvr>
                                        <p:cTn id="27" dur="1" fill="hold">
                                          <p:stCondLst>
                                            <p:cond delay="1999"/>
                                          </p:stCondLst>
                                        </p:cTn>
                                        <p:tgtEl>
                                          <p:spTgt spid="6"/>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wipe(left)">
                                      <p:cBhvr>
                                        <p:cTn id="32" dur="4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xit" presetSubtype="8" fill="hold" grpId="0" nodeType="clickEffect">
                                  <p:stCondLst>
                                    <p:cond delay="0"/>
                                  </p:stCondLst>
                                  <p:childTnLst>
                                    <p:animEffect transition="out" filter="wipe(left)">
                                      <p:cBhvr>
                                        <p:cTn id="36" dur="2000"/>
                                        <p:tgtEl>
                                          <p:spTgt spid="8"/>
                                        </p:tgtEl>
                                      </p:cBhvr>
                                    </p:animEffect>
                                    <p:set>
                                      <p:cBhvr>
                                        <p:cTn id="37" dur="1" fill="hold">
                                          <p:stCondLst>
                                            <p:cond delay="1999"/>
                                          </p:stCondLst>
                                        </p:cTn>
                                        <p:tgtEl>
                                          <p:spTgt spid="8"/>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xit" presetSubtype="8" fill="hold" grpId="0" nodeType="clickEffect">
                                  <p:stCondLst>
                                    <p:cond delay="0"/>
                                  </p:stCondLst>
                                  <p:childTnLst>
                                    <p:animEffect transition="out" filter="wipe(left)">
                                      <p:cBhvr>
                                        <p:cTn id="41" dur="2000"/>
                                        <p:tgtEl>
                                          <p:spTgt spid="7"/>
                                        </p:tgtEl>
                                      </p:cBhvr>
                                    </p:animEffect>
                                    <p:set>
                                      <p:cBhvr>
                                        <p:cTn id="42" dur="1" fill="hold">
                                          <p:stCondLst>
                                            <p:cond delay="19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P spid="7" grpId="0" animBg="1"/>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4C853-6253-BC09-3229-618489432756}"/>
              </a:ext>
            </a:extLst>
          </p:cNvPr>
          <p:cNvSpPr>
            <a:spLocks noGrp="1"/>
          </p:cNvSpPr>
          <p:nvPr>
            <p:ph type="title"/>
          </p:nvPr>
        </p:nvSpPr>
        <p:spPr/>
        <p:txBody>
          <a:bodyPr/>
          <a:lstStyle/>
          <a:p>
            <a:r>
              <a:rPr lang="en-US" sz="3200" b="1" dirty="0">
                <a:solidFill>
                  <a:srgbClr val="7030A0"/>
                </a:solidFill>
              </a:rPr>
              <a:t>Moral of the story</a:t>
            </a:r>
            <a:endParaRPr lang="en-IN" sz="3200" b="1" dirty="0">
              <a:solidFill>
                <a:srgbClr val="7030A0"/>
              </a:solidFill>
            </a:endParaRPr>
          </a:p>
        </p:txBody>
      </p:sp>
      <p:sp>
        <p:nvSpPr>
          <p:cNvPr id="3" name="Content Placeholder 2">
            <a:extLst>
              <a:ext uri="{FF2B5EF4-FFF2-40B4-BE49-F238E27FC236}">
                <a16:creationId xmlns:a16="http://schemas.microsoft.com/office/drawing/2014/main" id="{2F31691B-8645-A93B-B4EB-F907A5514A72}"/>
              </a:ext>
            </a:extLst>
          </p:cNvPr>
          <p:cNvSpPr>
            <a:spLocks noGrp="1"/>
          </p:cNvSpPr>
          <p:nvPr>
            <p:ph idx="1"/>
          </p:nvPr>
        </p:nvSpPr>
        <p:spPr/>
        <p:txBody>
          <a:bodyPr/>
          <a:lstStyle/>
          <a:p>
            <a:pPr marL="0" indent="0" algn="ctr">
              <a:buNone/>
            </a:pPr>
            <a:r>
              <a:rPr lang="en-US" sz="2000" dirty="0"/>
              <a:t>Think of a problem on DAG</a:t>
            </a:r>
          </a:p>
          <a:p>
            <a:pPr algn="ctr">
              <a:buFont typeface="Wingdings" panose="05000000000000000000" pitchFamily="2" charset="2"/>
              <a:buChar char="è"/>
            </a:pPr>
            <a:r>
              <a:rPr lang="en-US" sz="2000" dirty="0">
                <a:sym typeface="Wingdings" panose="05000000000000000000" pitchFamily="2" charset="2"/>
              </a:rPr>
              <a:t>Think of topological ordering</a:t>
            </a:r>
          </a:p>
          <a:p>
            <a:pPr algn="ctr">
              <a:buFont typeface="Wingdings" panose="05000000000000000000" pitchFamily="2" charset="2"/>
              <a:buChar char="è"/>
            </a:pPr>
            <a:endParaRPr lang="en-US" dirty="0">
              <a:sym typeface="Wingdings" panose="05000000000000000000" pitchFamily="2" charset="2"/>
            </a:endParaRPr>
          </a:p>
          <a:p>
            <a:pPr marL="0" indent="0" algn="ctr">
              <a:buNone/>
            </a:pPr>
            <a:r>
              <a:rPr lang="en-US" dirty="0">
                <a:sym typeface="Wingdings" panose="05000000000000000000" pitchFamily="2" charset="2"/>
              </a:rPr>
              <a:t></a:t>
            </a:r>
            <a:endParaRPr lang="en-IN" dirty="0"/>
          </a:p>
        </p:txBody>
      </p:sp>
      <p:sp>
        <p:nvSpPr>
          <p:cNvPr id="4" name="Slide Number Placeholder 3">
            <a:extLst>
              <a:ext uri="{FF2B5EF4-FFF2-40B4-BE49-F238E27FC236}">
                <a16:creationId xmlns:a16="http://schemas.microsoft.com/office/drawing/2014/main" id="{C70BF34F-CBF5-1AE2-5948-6654F5173E20}"/>
              </a:ext>
            </a:extLst>
          </p:cNvPr>
          <p:cNvSpPr>
            <a:spLocks noGrp="1"/>
          </p:cNvSpPr>
          <p:nvPr>
            <p:ph type="sldNum" sz="quarter" idx="12"/>
          </p:nvPr>
        </p:nvSpPr>
        <p:spPr/>
        <p:txBody>
          <a:bodyPr/>
          <a:lstStyle/>
          <a:p>
            <a:pPr>
              <a:defRPr/>
            </a:pPr>
            <a:fld id="{147D3F34-CCFE-4664-990B-25D48250FF76}" type="slidenum">
              <a:rPr lang="en-US" smtClean="0"/>
              <a:pPr>
                <a:defRPr/>
              </a:pPr>
              <a:t>33</a:t>
            </a:fld>
            <a:endParaRPr lang="en-US"/>
          </a:p>
        </p:txBody>
      </p:sp>
    </p:spTree>
    <p:extLst>
      <p:ext uri="{BB962C8B-B14F-4D97-AF65-F5344CB8AC3E}">
        <p14:creationId xmlns:p14="http://schemas.microsoft.com/office/powerpoint/2010/main" val="3771117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left)">
                                      <p:cBhvr>
                                        <p:cTn id="17" dur="20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4"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25"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tags/tag1.xml><?xml version="1.0" encoding="utf-8"?>
<p:tagLst xmlns:a="http://schemas.openxmlformats.org/drawingml/2006/main" xmlns:r="http://schemas.openxmlformats.org/officeDocument/2006/relationships" xmlns:p="http://schemas.openxmlformats.org/presentationml/2006/main">
  <p:tag name="TIMING" val="|3.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13458</TotalTime>
  <Words>1923</Words>
  <Application>Microsoft Office PowerPoint</Application>
  <PresentationFormat>On-screen Show (4:3)</PresentationFormat>
  <Paragraphs>475</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Cambria Math</vt:lpstr>
      <vt:lpstr>Wingdings</vt:lpstr>
      <vt:lpstr>Office Theme</vt:lpstr>
      <vt:lpstr>Design and Analysis of Algorithms </vt:lpstr>
      <vt:lpstr>Question 4 from Quiz 1  (Stable matching)</vt:lpstr>
      <vt:lpstr>Recap of last lecture</vt:lpstr>
      <vt:lpstr>Problem Definition</vt:lpstr>
      <vt:lpstr>Take a pause</vt:lpstr>
      <vt:lpstr>PowerPoint Presentation</vt:lpstr>
      <vt:lpstr>Directed Acyclic Graphs</vt:lpstr>
      <vt:lpstr>Directed Acyclic Graphs</vt:lpstr>
      <vt:lpstr>Directed Acyclic Graphs</vt:lpstr>
      <vt:lpstr>Topological ordering</vt:lpstr>
      <vt:lpstr>Topological ordering</vt:lpstr>
      <vt:lpstr>Topological ordering</vt:lpstr>
      <vt:lpstr>applications of  Topological ordering</vt:lpstr>
      <vt:lpstr>Applications of Topological ordering</vt:lpstr>
      <vt:lpstr>Why Does  Topological ordering exist for every DAG? </vt:lpstr>
      <vt:lpstr>Why does Topological ordering exist ?  </vt:lpstr>
      <vt:lpstr>Why does Topological ordering exist ?  </vt:lpstr>
      <vt:lpstr>Why does Topological ordering exist ?  </vt:lpstr>
      <vt:lpstr>Why does Topological ordering exist ?  </vt:lpstr>
      <vt:lpstr>Why does Topological ordering exist ?  </vt:lpstr>
      <vt:lpstr>How efficiently can we compute  Topological ordering ? </vt:lpstr>
      <vt:lpstr>Important Questions </vt:lpstr>
      <vt:lpstr>Revisiting the example</vt:lpstr>
      <vt:lpstr>Algorithm for Topological ordering ?  </vt:lpstr>
      <vt:lpstr>Applications of  topological ordering ? </vt:lpstr>
      <vt:lpstr>Example: Single source shortest paths</vt:lpstr>
      <vt:lpstr>Topological ordering </vt:lpstr>
      <vt:lpstr>Applications of Topological ordering I</vt:lpstr>
      <vt:lpstr>Applications of Topological ordering I</vt:lpstr>
      <vt:lpstr>Applications of Topological ordering II</vt:lpstr>
      <vt:lpstr>Applications of Topological ordering II</vt:lpstr>
      <vt:lpstr>Homework</vt:lpstr>
      <vt:lpstr>Moral of the story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Surender Baswana</dc:creator>
  <cp:lastModifiedBy>Surender Baswana</cp:lastModifiedBy>
  <cp:revision>1318</cp:revision>
  <dcterms:created xsi:type="dcterms:W3CDTF">2011-12-03T04:13:03Z</dcterms:created>
  <dcterms:modified xsi:type="dcterms:W3CDTF">2025-08-27T10:42:25Z</dcterms:modified>
</cp:coreProperties>
</file>