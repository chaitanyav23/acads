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5.xml" ContentType="application/vnd.openxmlformats-officedocument.presentationml.notesSlide+xml"/>
  <Override PartName="/ppt/tags/tag13.xml" ContentType="application/vnd.openxmlformats-officedocument.presentationml.tags+xml"/>
  <Override PartName="/ppt/notesSlides/notesSlide6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44"/>
  </p:notesMasterIdLst>
  <p:sldIdLst>
    <p:sldId id="428" r:id="rId2"/>
    <p:sldId id="648" r:id="rId3"/>
    <p:sldId id="596" r:id="rId4"/>
    <p:sldId id="595" r:id="rId5"/>
    <p:sldId id="523" r:id="rId6"/>
    <p:sldId id="538" r:id="rId7"/>
    <p:sldId id="563" r:id="rId8"/>
    <p:sldId id="564" r:id="rId9"/>
    <p:sldId id="565" r:id="rId10"/>
    <p:sldId id="582" r:id="rId11"/>
    <p:sldId id="566" r:id="rId12"/>
    <p:sldId id="567" r:id="rId13"/>
    <p:sldId id="569" r:id="rId14"/>
    <p:sldId id="570" r:id="rId15"/>
    <p:sldId id="571" r:id="rId16"/>
    <p:sldId id="572" r:id="rId17"/>
    <p:sldId id="657" r:id="rId18"/>
    <p:sldId id="598" r:id="rId19"/>
    <p:sldId id="599" r:id="rId20"/>
    <p:sldId id="649" r:id="rId21"/>
    <p:sldId id="605" r:id="rId22"/>
    <p:sldId id="650" r:id="rId23"/>
    <p:sldId id="651" r:id="rId24"/>
    <p:sldId id="607" r:id="rId25"/>
    <p:sldId id="608" r:id="rId26"/>
    <p:sldId id="609" r:id="rId27"/>
    <p:sldId id="610" r:id="rId28"/>
    <p:sldId id="611" r:id="rId29"/>
    <p:sldId id="612" r:id="rId30"/>
    <p:sldId id="617" r:id="rId31"/>
    <p:sldId id="602" r:id="rId32"/>
    <p:sldId id="613" r:id="rId33"/>
    <p:sldId id="603" r:id="rId34"/>
    <p:sldId id="642" r:id="rId35"/>
    <p:sldId id="604" r:id="rId36"/>
    <p:sldId id="652" r:id="rId37"/>
    <p:sldId id="264" r:id="rId38"/>
    <p:sldId id="267" r:id="rId39"/>
    <p:sldId id="618" r:id="rId40"/>
    <p:sldId id="469" r:id="rId41"/>
    <p:sldId id="463" r:id="rId42"/>
    <p:sldId id="619" r:id="rId4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88" autoAdjust="0"/>
    <p:restoredTop sz="89372" autoAdjust="0"/>
  </p:normalViewPr>
  <p:slideViewPr>
    <p:cSldViewPr>
      <p:cViewPr varScale="1">
        <p:scale>
          <a:sx n="100" d="100"/>
          <a:sy n="100" d="100"/>
        </p:scale>
        <p:origin x="2118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AA3A7DB-FD4B-4A56-961D-EE92B832D86A}" type="datetimeFigureOut">
              <a:rPr lang="en-US"/>
              <a:pPr>
                <a:defRPr/>
              </a:pPr>
              <a:t>8/6/2025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428B6ACE-7DA9-451D-B4FE-F8D8CCE413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4284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>
                    <a:solidFill>
                      <a:schemeClr val="tx1"/>
                    </a:solidFill>
                  </a:rPr>
                  <a:t>1. Only the points lying in these 2 red squares  are relevant as far as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solidFill>
                          <a:schemeClr val="tx1"/>
                        </a:solidFill>
                        <a:latin typeface="Cambria Math"/>
                      </a:rPr>
                      <m:t>𝒑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  is concerned.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>
                    <a:solidFill>
                      <a:schemeClr val="tx1"/>
                    </a:solidFill>
                  </a:rPr>
                  <a:t>2. Time to use Hint</a:t>
                </a:r>
                <a:r>
                  <a:rPr lang="en-US" sz="1200" baseline="0" dirty="0">
                    <a:solidFill>
                      <a:schemeClr val="tx1"/>
                    </a:solidFill>
                  </a:rPr>
                  <a:t> 2</a:t>
                </a:r>
              </a:p>
              <a:p>
                <a:r>
                  <a:rPr lang="en-US" sz="1200" baseline="0" dirty="0">
                    <a:solidFill>
                      <a:schemeClr val="tx1"/>
                    </a:solidFill>
                  </a:rPr>
                  <a:t>3. </a:t>
                </a:r>
                <a:r>
                  <a:rPr lang="en-US" sz="1200" dirty="0"/>
                  <a:t>Surely not more than 8.</a:t>
                </a:r>
              </a:p>
              <a:p>
                <a:r>
                  <a:rPr lang="en-US" sz="1200" dirty="0">
                    <a:solidFill>
                      <a:schemeClr val="tx1"/>
                    </a:solidFill>
                  </a:rPr>
                  <a:t>-----------------------------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>
                    <a:solidFill>
                      <a:schemeClr val="tx1"/>
                    </a:solidFill>
                  </a:rPr>
                  <a:t>1.</a:t>
                </a:r>
                <a:r>
                  <a:rPr lang="en-US" sz="1200" baseline="0" dirty="0">
                    <a:solidFill>
                      <a:schemeClr val="tx1"/>
                    </a:solidFill>
                  </a:rPr>
                  <a:t> </a:t>
                </a:r>
                <a:r>
                  <a:rPr lang="en-US" sz="1200" dirty="0">
                    <a:solidFill>
                      <a:schemeClr val="tx1"/>
                    </a:solidFill>
                  </a:rPr>
                  <a:t>How to find the points in these red square for point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solidFill>
                          <a:schemeClr val="tx1"/>
                        </a:solidFill>
                        <a:latin typeface="Cambria Math"/>
                      </a:rPr>
                      <m:t>𝒑</m:t>
                    </m:r>
                    <m:r>
                      <a:rPr lang="en-US" sz="1200" b="0" i="0" smtClean="0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?</a:t>
                </a:r>
              </a:p>
              <a:p>
                <a:endParaRPr lang="en-US" sz="1200" dirty="0">
                  <a:solidFill>
                    <a:schemeClr val="tx1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 smtClean="0">
                    <a:solidFill>
                      <a:schemeClr val="tx1"/>
                    </a:solidFill>
                  </a:rPr>
                  <a:t>1. Only the points lying in these 2 red squares  are relevant as far as </a:t>
                </a:r>
                <a:r>
                  <a:rPr lang="en-US" sz="1200" b="1" i="0" smtClean="0">
                    <a:solidFill>
                      <a:schemeClr val="tx1"/>
                    </a:solidFill>
                    <a:latin typeface="Cambria Math"/>
                  </a:rPr>
                  <a:t>𝒑</a:t>
                </a:r>
                <a:r>
                  <a:rPr lang="en-US" sz="1200" dirty="0">
                    <a:solidFill>
                      <a:schemeClr val="tx1"/>
                    </a:solidFill>
                  </a:rPr>
                  <a:t>  is concerned</a:t>
                </a:r>
                <a:r>
                  <a:rPr lang="en-US" sz="1200" dirty="0" smtClean="0">
                    <a:solidFill>
                      <a:schemeClr val="tx1"/>
                    </a:solidFill>
                  </a:rPr>
                  <a:t>.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 smtClean="0">
                    <a:solidFill>
                      <a:schemeClr val="tx1"/>
                    </a:solidFill>
                  </a:rPr>
                  <a:t>2. Time to use Hint</a:t>
                </a:r>
                <a:r>
                  <a:rPr lang="en-US" sz="1200" baseline="0" dirty="0" smtClean="0">
                    <a:solidFill>
                      <a:schemeClr val="tx1"/>
                    </a:solidFill>
                  </a:rPr>
                  <a:t> 1.</a:t>
                </a:r>
              </a:p>
              <a:p>
                <a:r>
                  <a:rPr lang="en-US" sz="1200" baseline="0" dirty="0" smtClean="0">
                    <a:solidFill>
                      <a:schemeClr val="tx1"/>
                    </a:solidFill>
                  </a:rPr>
                  <a:t>3. </a:t>
                </a:r>
                <a:r>
                  <a:rPr lang="en-US" sz="1200" dirty="0" smtClean="0"/>
                  <a:t>Surely not more than 8.</a:t>
                </a:r>
              </a:p>
              <a:p>
                <a:r>
                  <a:rPr lang="en-US" sz="1200" dirty="0" smtClean="0">
                    <a:solidFill>
                      <a:schemeClr val="tx1"/>
                    </a:solidFill>
                  </a:rPr>
                  <a:t>-----------------------------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 smtClean="0">
                    <a:solidFill>
                      <a:schemeClr val="tx1"/>
                    </a:solidFill>
                  </a:rPr>
                  <a:t>1.</a:t>
                </a:r>
                <a:r>
                  <a:rPr lang="en-US" sz="12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1200" dirty="0" smtClean="0">
                    <a:solidFill>
                      <a:schemeClr val="tx1"/>
                    </a:solidFill>
                  </a:rPr>
                  <a:t>How to find the points in these red square for point </a:t>
                </a:r>
                <a:r>
                  <a:rPr lang="en-US" sz="1200" b="1" i="0" smtClean="0">
                    <a:solidFill>
                      <a:schemeClr val="tx1"/>
                    </a:solidFill>
                    <a:latin typeface="Cambria Math"/>
                  </a:rPr>
                  <a:t>𝒑</a:t>
                </a:r>
                <a:r>
                  <a:rPr lang="en-US" sz="1200" b="0" i="0" smtClean="0">
                    <a:solidFill>
                      <a:schemeClr val="tx1"/>
                    </a:solidFill>
                    <a:latin typeface="Cambria Math"/>
                  </a:rPr>
                  <a:t> </a:t>
                </a:r>
                <a:r>
                  <a:rPr lang="en-US" sz="1200" dirty="0">
                    <a:solidFill>
                      <a:schemeClr val="tx1"/>
                    </a:solidFill>
                  </a:rPr>
                  <a:t>?</a:t>
                </a:r>
              </a:p>
              <a:p>
                <a:endParaRPr lang="en-US" sz="1200" dirty="0">
                  <a:solidFill>
                    <a:schemeClr val="tx1"/>
                  </a:solidFill>
                </a:endParaRP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8B6ACE-7DA9-451D-B4FE-F8D8CCE413A2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9888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>
                    <a:solidFill>
                      <a:schemeClr val="tx1"/>
                    </a:solidFill>
                  </a:rPr>
                  <a:t>1. Only the points lying in these 2 red squares  are relevant as far as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solidFill>
                          <a:schemeClr val="tx1"/>
                        </a:solidFill>
                        <a:latin typeface="Cambria Math"/>
                      </a:rPr>
                      <m:t>𝒑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  is concerned.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>
                    <a:solidFill>
                      <a:schemeClr val="tx1"/>
                    </a:solidFill>
                  </a:rPr>
                  <a:t>2. Time to use Hint</a:t>
                </a:r>
                <a:r>
                  <a:rPr lang="en-US" sz="1200" baseline="0" dirty="0">
                    <a:solidFill>
                      <a:schemeClr val="tx1"/>
                    </a:solidFill>
                  </a:rPr>
                  <a:t> 2</a:t>
                </a:r>
              </a:p>
              <a:p>
                <a:r>
                  <a:rPr lang="en-US" sz="1200" baseline="0" dirty="0">
                    <a:solidFill>
                      <a:schemeClr val="tx1"/>
                    </a:solidFill>
                  </a:rPr>
                  <a:t>3. </a:t>
                </a:r>
                <a:r>
                  <a:rPr lang="en-US" sz="1200" dirty="0"/>
                  <a:t>Surely not more than 8.</a:t>
                </a:r>
              </a:p>
              <a:p>
                <a:r>
                  <a:rPr lang="en-US" sz="1200" dirty="0">
                    <a:solidFill>
                      <a:schemeClr val="tx1"/>
                    </a:solidFill>
                  </a:rPr>
                  <a:t>-----------------------------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>
                    <a:solidFill>
                      <a:schemeClr val="tx1"/>
                    </a:solidFill>
                  </a:rPr>
                  <a:t>1.</a:t>
                </a:r>
                <a:r>
                  <a:rPr lang="en-US" sz="1200" baseline="0" dirty="0">
                    <a:solidFill>
                      <a:schemeClr val="tx1"/>
                    </a:solidFill>
                  </a:rPr>
                  <a:t> </a:t>
                </a:r>
                <a:r>
                  <a:rPr lang="en-US" sz="1200" dirty="0">
                    <a:solidFill>
                      <a:schemeClr val="tx1"/>
                    </a:solidFill>
                  </a:rPr>
                  <a:t>How to find the points in these red square for point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solidFill>
                          <a:schemeClr val="tx1"/>
                        </a:solidFill>
                        <a:latin typeface="Cambria Math"/>
                      </a:rPr>
                      <m:t>𝒑</m:t>
                    </m:r>
                    <m:r>
                      <a:rPr lang="en-US" sz="1200" b="0" i="0" smtClean="0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?</a:t>
                </a:r>
              </a:p>
              <a:p>
                <a:endParaRPr lang="en-US" sz="1200" dirty="0">
                  <a:solidFill>
                    <a:schemeClr val="tx1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 smtClean="0">
                    <a:solidFill>
                      <a:schemeClr val="tx1"/>
                    </a:solidFill>
                  </a:rPr>
                  <a:t>1. Only the points lying in these 2 red squares  are relevant as far as </a:t>
                </a:r>
                <a:r>
                  <a:rPr lang="en-US" sz="1200" b="1" i="0" smtClean="0">
                    <a:solidFill>
                      <a:schemeClr val="tx1"/>
                    </a:solidFill>
                    <a:latin typeface="Cambria Math"/>
                  </a:rPr>
                  <a:t>𝒑</a:t>
                </a:r>
                <a:r>
                  <a:rPr lang="en-US" sz="1200" dirty="0">
                    <a:solidFill>
                      <a:schemeClr val="tx1"/>
                    </a:solidFill>
                  </a:rPr>
                  <a:t>  is concerned</a:t>
                </a:r>
                <a:r>
                  <a:rPr lang="en-US" sz="1200" dirty="0" smtClean="0">
                    <a:solidFill>
                      <a:schemeClr val="tx1"/>
                    </a:solidFill>
                  </a:rPr>
                  <a:t>.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 smtClean="0">
                    <a:solidFill>
                      <a:schemeClr val="tx1"/>
                    </a:solidFill>
                  </a:rPr>
                  <a:t>2. Time to use Hint</a:t>
                </a:r>
                <a:r>
                  <a:rPr lang="en-US" sz="1200" baseline="0" dirty="0" smtClean="0">
                    <a:solidFill>
                      <a:schemeClr val="tx1"/>
                    </a:solidFill>
                  </a:rPr>
                  <a:t> 1.</a:t>
                </a:r>
              </a:p>
              <a:p>
                <a:r>
                  <a:rPr lang="en-US" sz="1200" baseline="0" dirty="0" smtClean="0">
                    <a:solidFill>
                      <a:schemeClr val="tx1"/>
                    </a:solidFill>
                  </a:rPr>
                  <a:t>3. </a:t>
                </a:r>
                <a:r>
                  <a:rPr lang="en-US" sz="1200" dirty="0" smtClean="0"/>
                  <a:t>Surely not more than 8.</a:t>
                </a:r>
              </a:p>
              <a:p>
                <a:r>
                  <a:rPr lang="en-US" sz="1200" dirty="0" smtClean="0">
                    <a:solidFill>
                      <a:schemeClr val="tx1"/>
                    </a:solidFill>
                  </a:rPr>
                  <a:t>-----------------------------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 smtClean="0">
                    <a:solidFill>
                      <a:schemeClr val="tx1"/>
                    </a:solidFill>
                  </a:rPr>
                  <a:t>1.</a:t>
                </a:r>
                <a:r>
                  <a:rPr lang="en-US" sz="12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1200" dirty="0" smtClean="0">
                    <a:solidFill>
                      <a:schemeClr val="tx1"/>
                    </a:solidFill>
                  </a:rPr>
                  <a:t>How to find the points in these red square for point </a:t>
                </a:r>
                <a:r>
                  <a:rPr lang="en-US" sz="1200" b="1" i="0" smtClean="0">
                    <a:solidFill>
                      <a:schemeClr val="tx1"/>
                    </a:solidFill>
                    <a:latin typeface="Cambria Math"/>
                  </a:rPr>
                  <a:t>𝒑</a:t>
                </a:r>
                <a:r>
                  <a:rPr lang="en-US" sz="1200" b="0" i="0" smtClean="0">
                    <a:solidFill>
                      <a:schemeClr val="tx1"/>
                    </a:solidFill>
                    <a:latin typeface="Cambria Math"/>
                  </a:rPr>
                  <a:t> </a:t>
                </a:r>
                <a:r>
                  <a:rPr lang="en-US" sz="1200" dirty="0">
                    <a:solidFill>
                      <a:schemeClr val="tx1"/>
                    </a:solidFill>
                  </a:rPr>
                  <a:t>?</a:t>
                </a:r>
              </a:p>
              <a:p>
                <a:endParaRPr lang="en-US" sz="1200" dirty="0">
                  <a:solidFill>
                    <a:schemeClr val="tx1"/>
                  </a:solidFill>
                </a:endParaRP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8B6ACE-7DA9-451D-B4FE-F8D8CCE413A2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8405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8B6ACE-7DA9-451D-B4FE-F8D8CCE413A2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621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 algn="l"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For each point in one strip, we need to find distance to points 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       in the </a:t>
            </a:r>
            <a:r>
              <a:rPr lang="en-US" sz="1200" b="1" dirty="0">
                <a:solidFill>
                  <a:schemeClr val="tx1"/>
                </a:solidFill>
              </a:rPr>
              <a:t>upper</a:t>
            </a:r>
            <a:r>
              <a:rPr lang="en-US" sz="1200" dirty="0">
                <a:solidFill>
                  <a:schemeClr val="tx1"/>
                </a:solidFill>
              </a:rPr>
              <a:t> red- square in the other strip. 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2.   How to do it  efficiently using the fact that the strips  are sorted ?</a:t>
            </a:r>
          </a:p>
          <a:p>
            <a:pPr marL="0" indent="0" algn="l">
              <a:buNone/>
            </a:pPr>
            <a:endParaRPr lang="en-US" sz="1200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8B6ACE-7DA9-451D-B4FE-F8D8CCE413A2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5251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In merge sort, the two recursive calls return sorted lists.</a:t>
            </a:r>
          </a:p>
          <a:p>
            <a:pPr>
              <a:buFont typeface="Wingdings"/>
              <a:buChar char="è"/>
            </a:pPr>
            <a:r>
              <a:rPr lang="en-US" sz="1200" dirty="0">
                <a:sym typeface="Wingdings" pitchFamily="2" charset="2"/>
              </a:rPr>
              <a:t>So creating the sorted list requires only </a:t>
            </a:r>
            <a:r>
              <a:rPr lang="en-US" sz="1200" b="1" dirty="0">
                <a:sym typeface="Wingdings" pitchFamily="2" charset="2"/>
              </a:rPr>
              <a:t>merging</a:t>
            </a:r>
            <a:r>
              <a:rPr lang="en-US" sz="1200" dirty="0">
                <a:sym typeface="Wingdings" pitchFamily="2" charset="2"/>
              </a:rPr>
              <a:t> them.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8B6ACE-7DA9-451D-B4FE-F8D8CCE413A2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9264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1200" i="1">
                            <a:latin typeface="Cambria Math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12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1200" b="0" i="1" smtClean="0">
                            <a:latin typeface="Cambria Math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1200" dirty="0"/>
                  <a:t> are sorted according to y-coordinate,</a:t>
                </a:r>
              </a:p>
              <a:p>
                <a:pPr marL="285750" indent="-285750">
                  <a:buFont typeface="Arial" pitchFamily="34" charset="0"/>
                  <a:buChar char="•"/>
                </a:pPr>
                <a:r>
                  <a:rPr lang="en-US" sz="1200" dirty="0"/>
                  <a:t>Getting the strips sorted according to y-coordinate</a:t>
                </a:r>
              </a:p>
              <a:p>
                <a:pPr marL="285750" indent="-285750">
                  <a:buFont typeface="Arial" pitchFamily="34" charset="0"/>
                  <a:buChar char="•"/>
                </a:pPr>
                <a:r>
                  <a:rPr lang="en-US" sz="1200" dirty="0"/>
                  <a:t>Getting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/>
                      </a:rPr>
                      <m:t>𝑃</m:t>
                    </m:r>
                    <m:r>
                      <a:rPr lang="en-US" sz="12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1200" dirty="0"/>
                  <a:t>sorted by merging them</a:t>
                </a:r>
              </a:p>
              <a:p>
                <a:r>
                  <a:rPr lang="en-US" sz="1200" dirty="0"/>
                  <a:t>takes </a:t>
                </a:r>
                <a:r>
                  <a:rPr lang="en-US" sz="1200" b="1" i="1" dirty="0"/>
                  <a:t>O</a:t>
                </a:r>
                <a:r>
                  <a:rPr lang="en-US" sz="1200" dirty="0"/>
                  <a:t>(</a:t>
                </a:r>
                <a14:m>
                  <m:oMath xmlns:m="http://schemas.openxmlformats.org/officeDocument/2006/math">
                    <m:r>
                      <a:rPr lang="en-US" sz="12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1200" dirty="0"/>
                  <a:t>)  time. </a:t>
                </a:r>
                <a:r>
                  <a:rPr lang="en-US" sz="1200" dirty="0">
                    <a:sym typeface="Wingdings" pitchFamily="2" charset="2"/>
                  </a:rPr>
                  <a:t></a:t>
                </a:r>
              </a:p>
              <a:p>
                <a:endParaRPr lang="en-US" sz="1200" dirty="0">
                  <a:sym typeface="Wingdings" pitchFamily="2" charset="2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dirty="0" smtClean="0"/>
                  <a:t>If </a:t>
                </a:r>
                <a:r>
                  <a:rPr lang="en-US" sz="1200" i="0">
                    <a:latin typeface="Cambria Math"/>
                  </a:rPr>
                  <a:t>𝑃</a:t>
                </a:r>
                <a:r>
                  <a:rPr lang="en-US" sz="1200" i="0">
                    <a:latin typeface="Cambria Math" panose="02040503050406030204" pitchFamily="18" charset="0"/>
                  </a:rPr>
                  <a:t>_</a:t>
                </a:r>
                <a:r>
                  <a:rPr lang="en-US" sz="1200" i="0">
                    <a:latin typeface="Cambria Math"/>
                  </a:rPr>
                  <a:t>𝐿</a:t>
                </a:r>
                <a:r>
                  <a:rPr lang="en-US" sz="1200" dirty="0"/>
                  <a:t> and </a:t>
                </a:r>
                <a:r>
                  <a:rPr lang="en-US" sz="1200" i="0">
                    <a:latin typeface="Cambria Math"/>
                  </a:rPr>
                  <a:t>𝑃</a:t>
                </a:r>
                <a:r>
                  <a:rPr lang="en-US" sz="1200" i="0">
                    <a:latin typeface="Cambria Math" panose="02040503050406030204" pitchFamily="18" charset="0"/>
                  </a:rPr>
                  <a:t>_</a:t>
                </a:r>
                <a:r>
                  <a:rPr lang="en-US" sz="1200" b="0" i="0" smtClean="0">
                    <a:latin typeface="Cambria Math"/>
                  </a:rPr>
                  <a:t>𝑅</a:t>
                </a:r>
                <a:r>
                  <a:rPr lang="en-US" sz="1200" dirty="0"/>
                  <a:t> are sorted according to y-coordinate,</a:t>
                </a:r>
              </a:p>
              <a:p>
                <a:pPr marL="285750" indent="-285750">
                  <a:buFont typeface="Arial" pitchFamily="34" charset="0"/>
                  <a:buChar char="•"/>
                </a:pPr>
                <a:r>
                  <a:rPr lang="en-US" sz="1200" dirty="0"/>
                  <a:t>Getting the strips sorted according to y-coordinate</a:t>
                </a:r>
              </a:p>
              <a:p>
                <a:pPr marL="285750" indent="-285750">
                  <a:buFont typeface="Arial" pitchFamily="34" charset="0"/>
                  <a:buChar char="•"/>
                </a:pPr>
                <a:r>
                  <a:rPr lang="en-US" sz="1200" dirty="0"/>
                  <a:t>Getting </a:t>
                </a:r>
                <a:r>
                  <a:rPr lang="en-US" sz="1200" i="0">
                    <a:latin typeface="Cambria Math"/>
                  </a:rPr>
                  <a:t>𝑃 </a:t>
                </a:r>
                <a:r>
                  <a:rPr lang="en-US" sz="1200" dirty="0"/>
                  <a:t>sorted by merging them</a:t>
                </a:r>
              </a:p>
              <a:p>
                <a:r>
                  <a:rPr lang="en-US" sz="1200" dirty="0"/>
                  <a:t>takes </a:t>
                </a:r>
                <a:r>
                  <a:rPr lang="en-US" sz="1200" b="1" i="1" dirty="0"/>
                  <a:t>O</a:t>
                </a:r>
                <a:r>
                  <a:rPr lang="en-US" sz="1200" dirty="0"/>
                  <a:t>(</a:t>
                </a:r>
                <a:r>
                  <a:rPr lang="en-US" sz="1200" i="0">
                    <a:solidFill>
                      <a:srgbClr val="0070C0"/>
                    </a:solidFill>
                    <a:latin typeface="Cambria Math"/>
                  </a:rPr>
                  <a:t>𝑛</a:t>
                </a:r>
                <a:r>
                  <a:rPr lang="en-US" sz="1200" dirty="0"/>
                  <a:t>)  time. </a:t>
                </a:r>
                <a:r>
                  <a:rPr lang="en-US" sz="1200" dirty="0">
                    <a:sym typeface="Wingdings" pitchFamily="2" charset="2"/>
                  </a:rPr>
                  <a:t></a:t>
                </a:r>
              </a:p>
              <a:p>
                <a:endParaRPr lang="en-US" sz="1200" dirty="0">
                  <a:sym typeface="Wingdings" pitchFamily="2" charset="2"/>
                </a:endParaRP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8B6ACE-7DA9-451D-B4FE-F8D8CCE413A2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812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1E3B87-0EAF-4D3F-A8FE-4D644E3BA938}" type="datetime1">
              <a:rPr lang="en-US"/>
              <a:pPr>
                <a:defRPr/>
              </a:pPr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77C87-4399-4169-8EAA-A2FF838D2D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21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E9C23F-070E-4955-A2E9-D262826D12BE}" type="datetime1">
              <a:rPr lang="en-US"/>
              <a:pPr>
                <a:defRPr/>
              </a:pPr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D3F34-CCFE-4664-990B-25D48250FF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37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11857-66C0-437E-ACBA-BF7BCE55233B}" type="datetime1">
              <a:rPr lang="en-US"/>
              <a:pPr>
                <a:defRPr/>
              </a:pPr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2E9ED8-BBDD-47A1-9C62-8C7F2ACFBD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3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7FB79-49E0-495C-87BE-B2A1C6E0B2F0}" type="datetime1">
              <a:rPr lang="en-US"/>
              <a:pPr>
                <a:defRPr/>
              </a:pPr>
              <a:t>8/6/2025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327573-F1C1-4830-B7EC-9EBDAFC3F1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53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E181FA-412A-4421-9246-D21324FE2C44}" type="datetime1">
              <a:rPr lang="en-US"/>
              <a:pPr>
                <a:defRPr/>
              </a:pPr>
              <a:t>8/6/2025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8461BB-7A72-48FB-85BD-B2543F1982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19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6A6B7-3376-42F2-8702-2D1FCF5FB182}" type="datetime1">
              <a:rPr lang="en-US"/>
              <a:pPr>
                <a:defRPr/>
              </a:pPr>
              <a:t>8/6/2025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96056-B04C-48AB-8C53-BBF1FF11CC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422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36330-39E0-4348-93D8-084D75D931AB}" type="datetime1">
              <a:rPr lang="en-US"/>
              <a:pPr>
                <a:defRPr/>
              </a:pPr>
              <a:t>8/6/2025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7131A-5F98-4DE9-B58E-5AC46F8F2B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88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EE380A-2B94-4740-AAA2-00B55E91136B}" type="datetime1">
              <a:rPr lang="en-US"/>
              <a:pPr>
                <a:defRPr/>
              </a:pPr>
              <a:t>8/6/2025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2E9EF9-6F51-43C7-88C5-01DDD3A549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0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1CF8B-C8E2-441C-9E33-F2F799897A47}" type="datetime1">
              <a:rPr lang="en-US"/>
              <a:pPr>
                <a:defRPr/>
              </a:pPr>
              <a:t>8/6/2025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04CFE0-7502-4E07-8F32-3833EEC262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5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11F363-266E-4B39-9664-0E5F96917999}" type="datetime1">
              <a:rPr lang="en-US"/>
              <a:pPr>
                <a:defRPr/>
              </a:pPr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8759C-6D63-4A5B-8A92-29BD5C9DCC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74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A32EBB-5C32-49A2-ADCD-F3C86202F8FA}" type="datetime1">
              <a:rPr lang="en-US"/>
              <a:pPr>
                <a:defRPr/>
              </a:pPr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4E1702-FB5B-4ADB-8DA9-1EFEE2FCFD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828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224DF6E-159B-4851-B8CD-5F6A63451708}" type="datetime1">
              <a:rPr lang="en-US"/>
              <a:pPr>
                <a:defRPr/>
              </a:pPr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3B7F3E5-79B2-43C4-81B5-7811AF1609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00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901.png"/><Relationship Id="rId11" Type="http://schemas.openxmlformats.org/officeDocument/2006/relationships/image" Target="../media/image272.png"/><Relationship Id="rId15" Type="http://schemas.openxmlformats.org/officeDocument/2006/relationships/image" Target="../media/image71.png"/><Relationship Id="rId9" Type="http://schemas.openxmlformats.org/officeDocument/2006/relationships/image" Target="../media/image110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000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40.png"/><Relationship Id="rId1" Type="http://schemas.openxmlformats.org/officeDocument/2006/relationships/tags" Target="../tags/tag3.xml"/><Relationship Id="rId6" Type="http://schemas.openxmlformats.org/officeDocument/2006/relationships/image" Target="../media/image901.png"/><Relationship Id="rId11" Type="http://schemas.openxmlformats.org/officeDocument/2006/relationships/image" Target="../media/image272.png"/><Relationship Id="rId15" Type="http://schemas.openxmlformats.org/officeDocument/2006/relationships/image" Target="../media/image71.png"/><Relationship Id="rId9" Type="http://schemas.openxmlformats.org/officeDocument/2006/relationships/image" Target="../media/image110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10.png"/><Relationship Id="rId13" Type="http://schemas.openxmlformats.org/officeDocument/2006/relationships/image" Target="../media/image192.png"/><Relationship Id="rId18" Type="http://schemas.openxmlformats.org/officeDocument/2006/relationships/image" Target="../media/image23.png"/><Relationship Id="rId3" Type="http://schemas.openxmlformats.org/officeDocument/2006/relationships/notesSlide" Target="../notesSlides/notesSlide3.xml"/><Relationship Id="rId12" Type="http://schemas.openxmlformats.org/officeDocument/2006/relationships/image" Target="../media/image710.png"/><Relationship Id="rId17" Type="http://schemas.openxmlformats.org/officeDocument/2006/relationships/image" Target="../media/image22.png"/><Relationship Id="rId7" Type="http://schemas.openxmlformats.org/officeDocument/2006/relationships/image" Target="../media/image221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400.png"/><Relationship Id="rId20" Type="http://schemas.openxmlformats.org/officeDocument/2006/relationships/image" Target="../media/image180.png"/><Relationship Id="rId1" Type="http://schemas.openxmlformats.org/officeDocument/2006/relationships/tags" Target="../tags/tag4.xml"/><Relationship Id="rId11" Type="http://schemas.openxmlformats.org/officeDocument/2006/relationships/image" Target="../media/image1810.png"/><Relationship Id="rId6" Type="http://schemas.openxmlformats.org/officeDocument/2006/relationships/image" Target="../media/image81.png"/><Relationship Id="rId15" Type="http://schemas.openxmlformats.org/officeDocument/2006/relationships/image" Target="../media/image21.png"/><Relationship Id="rId10" Type="http://schemas.openxmlformats.org/officeDocument/2006/relationships/image" Target="../media/image161.png"/><Relationship Id="rId19" Type="http://schemas.openxmlformats.org/officeDocument/2006/relationships/image" Target="../media/image210.png"/><Relationship Id="rId9" Type="http://schemas.openxmlformats.org/officeDocument/2006/relationships/image" Target="../media/image10000.png"/><Relationship Id="rId14" Type="http://schemas.openxmlformats.org/officeDocument/2006/relationships/image" Target="../media/image201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image" Target="../media/image24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150.png"/><Relationship Id="rId5" Type="http://schemas.openxmlformats.org/officeDocument/2006/relationships/image" Target="../media/image25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0.png"/><Relationship Id="rId3" Type="http://schemas.openxmlformats.org/officeDocument/2006/relationships/image" Target="../media/image1.png"/><Relationship Id="rId7" Type="http://schemas.openxmlformats.org/officeDocument/2006/relationships/image" Target="../media/image50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900.png"/><Relationship Id="rId10" Type="http://schemas.openxmlformats.org/officeDocument/2006/relationships/image" Target="../media/image2500.png"/><Relationship Id="rId9" Type="http://schemas.openxmlformats.org/officeDocument/2006/relationships/image" Target="../media/image19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0.png"/><Relationship Id="rId13" Type="http://schemas.openxmlformats.org/officeDocument/2006/relationships/image" Target="../media/image29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900.png"/><Relationship Id="rId12" Type="http://schemas.openxmlformats.org/officeDocument/2006/relationships/image" Target="../media/image2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11" Type="http://schemas.openxmlformats.org/officeDocument/2006/relationships/image" Target="../media/image200.png"/><Relationship Id="rId15" Type="http://schemas.openxmlformats.org/officeDocument/2006/relationships/image" Target="../media/image320.png"/><Relationship Id="rId10" Type="http://schemas.openxmlformats.org/officeDocument/2006/relationships/image" Target="../media/image190.png"/><Relationship Id="rId4" Type="http://schemas.openxmlformats.org/officeDocument/2006/relationships/image" Target="../media/image1.png"/><Relationship Id="rId9" Type="http://schemas.openxmlformats.org/officeDocument/2006/relationships/image" Target="../media/image1600.png"/><Relationship Id="rId14" Type="http://schemas.openxmlformats.org/officeDocument/2006/relationships/image" Target="../media/image3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1.png"/><Relationship Id="rId3" Type="http://schemas.openxmlformats.org/officeDocument/2006/relationships/image" Target="../media/image1.png"/><Relationship Id="rId7" Type="http://schemas.openxmlformats.org/officeDocument/2006/relationships/image" Target="../media/image34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10" Type="http://schemas.openxmlformats.org/officeDocument/2006/relationships/image" Target="../media/image20.png"/><Relationship Id="rId4" Type="http://schemas.openxmlformats.org/officeDocument/2006/relationships/image" Target="../media/image2.png"/><Relationship Id="rId9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0.png"/><Relationship Id="rId3" Type="http://schemas.openxmlformats.org/officeDocument/2006/relationships/image" Target="../media/image1.png"/><Relationship Id="rId7" Type="http://schemas.openxmlformats.org/officeDocument/2006/relationships/image" Target="../media/image50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image" Target="../media/image900.png"/><Relationship Id="rId10" Type="http://schemas.openxmlformats.org/officeDocument/2006/relationships/image" Target="../media/image26.png"/><Relationship Id="rId9" Type="http://schemas.openxmlformats.org/officeDocument/2006/relationships/image" Target="../media/image19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0.png"/><Relationship Id="rId3" Type="http://schemas.openxmlformats.org/officeDocument/2006/relationships/image" Target="../media/image1.png"/><Relationship Id="rId7" Type="http://schemas.openxmlformats.org/officeDocument/2006/relationships/image" Target="../media/image50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image" Target="../media/image900.png"/><Relationship Id="rId10" Type="http://schemas.openxmlformats.org/officeDocument/2006/relationships/image" Target="../media/image26.png"/><Relationship Id="rId9" Type="http://schemas.openxmlformats.org/officeDocument/2006/relationships/image" Target="../media/image19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0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90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10" Type="http://schemas.openxmlformats.org/officeDocument/2006/relationships/image" Target="../media/image700.png"/><Relationship Id="rId4" Type="http://schemas.openxmlformats.org/officeDocument/2006/relationships/image" Target="../media/image1.png"/><Relationship Id="rId9" Type="http://schemas.openxmlformats.org/officeDocument/2006/relationships/image" Target="../media/image600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image" Target="../media/image13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6" Type="http://schemas.openxmlformats.org/officeDocument/2006/relationships/image" Target="../media/image111.png"/><Relationship Id="rId5" Type="http://schemas.openxmlformats.org/officeDocument/2006/relationships/image" Target="../media/image13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7" Type="http://schemas.openxmlformats.org/officeDocument/2006/relationships/image" Target="../media/image4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6" Type="http://schemas.openxmlformats.org/officeDocument/2006/relationships/image" Target="../media/image7.png"/><Relationship Id="rId5" Type="http://schemas.openxmlformats.org/officeDocument/2006/relationships/image" Target="../media/image300.png"/><Relationship Id="rId9" Type="http://schemas.openxmlformats.org/officeDocument/2006/relationships/image" Target="../media/image40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image" Target="../media/image700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6" Type="http://schemas.openxmlformats.org/officeDocument/2006/relationships/image" Target="../media/image6000.png"/><Relationship Id="rId5" Type="http://schemas.openxmlformats.org/officeDocument/2006/relationships/image" Target="../media/image40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5" Type="http://schemas.openxmlformats.org/officeDocument/2006/relationships/image" Target="../media/image400.png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image" Target="../media/image700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5" Type="http://schemas.openxmlformats.org/officeDocument/2006/relationships/image" Target="../media/image40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Relationship Id="rId5" Type="http://schemas.openxmlformats.org/officeDocument/2006/relationships/image" Target="../media/image1100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6" Type="http://schemas.openxmlformats.org/officeDocument/2006/relationships/image" Target="../media/image9.png"/><Relationship Id="rId5" Type="http://schemas.openxmlformats.org/officeDocument/2006/relationships/image" Target="../media/image400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Relationship Id="rId5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6" Type="http://schemas.openxmlformats.org/officeDocument/2006/relationships/image" Target="../media/image10.png"/><Relationship Id="rId5" Type="http://schemas.openxmlformats.org/officeDocument/2006/relationships/image" Target="../media/image261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Relationship Id="rId6" Type="http://schemas.openxmlformats.org/officeDocument/2006/relationships/image" Target="../media/image82.png"/><Relationship Id="rId5" Type="http://schemas.openxmlformats.org/officeDocument/2006/relationships/image" Target="../media/image15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8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Relationship Id="rId10" Type="http://schemas.openxmlformats.org/officeDocument/2006/relationships/image" Target="../media/image13.png"/><Relationship Id="rId9" Type="http://schemas.openxmlformats.org/officeDocument/2006/relationships/image" Target="../media/image12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7" Type="http://schemas.openxmlformats.org/officeDocument/2006/relationships/image" Target="../media/image82.png"/><Relationship Id="rId12" Type="http://schemas.openxmlformats.org/officeDocument/2006/relationships/image" Target="../media/image6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Relationship Id="rId11" Type="http://schemas.openxmlformats.org/officeDocument/2006/relationships/image" Target="../media/image112.png"/><Relationship Id="rId10" Type="http://schemas.openxmlformats.org/officeDocument/2006/relationships/image" Target="../media/image13.png"/><Relationship Id="rId9" Type="http://schemas.openxmlformats.org/officeDocument/2006/relationships/image" Target="../media/image1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9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20.png"/><Relationship Id="rId3" Type="http://schemas.openxmlformats.org/officeDocument/2006/relationships/image" Target="../media/image280.png"/><Relationship Id="rId7" Type="http://schemas.openxmlformats.org/officeDocument/2006/relationships/image" Target="../media/image32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1.png"/><Relationship Id="rId10" Type="http://schemas.openxmlformats.org/officeDocument/2006/relationships/image" Target="../media/image33.png"/><Relationship Id="rId4" Type="http://schemas.openxmlformats.org/officeDocument/2006/relationships/image" Target="../media/image30.png"/><Relationship Id="rId9" Type="http://schemas.openxmlformats.org/officeDocument/2006/relationships/image" Target="../media/image29.jp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3600"/>
            <a:ext cx="8382000" cy="146685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and Analysis of Algorithms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495800"/>
            <a:ext cx="6400800" cy="160020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b="1" dirty="0">
                <a:solidFill>
                  <a:srgbClr val="C00000"/>
                </a:solidFill>
              </a:rPr>
              <a:t>Lecture 3</a:t>
            </a:r>
          </a:p>
          <a:p>
            <a:pPr algn="l" fontAlgn="auto">
              <a:spcAft>
                <a:spcPts val="0"/>
              </a:spcAft>
              <a:defRPr/>
            </a:pPr>
            <a:r>
              <a:rPr lang="en-US" sz="2000" b="1" dirty="0">
                <a:solidFill>
                  <a:srgbClr val="7030A0"/>
                </a:solidFill>
              </a:rPr>
              <a:t>        Divide and Conquer Paradigm – II</a:t>
            </a:r>
          </a:p>
          <a:p>
            <a:pPr algn="l" fontAlgn="auto">
              <a:spcAft>
                <a:spcPts val="0"/>
              </a:spcAft>
              <a:defRPr/>
            </a:pPr>
            <a:r>
              <a:rPr lang="en-US" sz="2000" b="1" dirty="0">
                <a:solidFill>
                  <a:srgbClr val="7030A0"/>
                </a:solidFill>
              </a:rPr>
              <a:t>             -  </a:t>
            </a:r>
            <a:r>
              <a:rPr lang="en-US" sz="2000" b="1" dirty="0">
                <a:solidFill>
                  <a:schemeClr val="tx1"/>
                </a:solidFill>
              </a:rPr>
              <a:t>Closest Pair of Points (</a:t>
            </a:r>
            <a:r>
              <a:rPr lang="en-US" sz="2000" b="1" dirty="0">
                <a:solidFill>
                  <a:srgbClr val="006C31"/>
                </a:solidFill>
              </a:rPr>
              <a:t>Final algorithm</a:t>
            </a:r>
            <a:r>
              <a:rPr lang="en-US" sz="2000" b="1" dirty="0">
                <a:solidFill>
                  <a:schemeClr val="tx1"/>
                </a:solidFill>
              </a:rPr>
              <a:t>)</a:t>
            </a:r>
          </a:p>
          <a:p>
            <a:pPr algn="l" fontAlgn="auto">
              <a:spcAft>
                <a:spcPts val="0"/>
              </a:spcAft>
              <a:defRPr/>
            </a:pPr>
            <a:r>
              <a:rPr lang="en-US" sz="2000" b="1" dirty="0">
                <a:solidFill>
                  <a:schemeClr val="tx1"/>
                </a:solidFill>
              </a:rPr>
              <a:t>             -  Non-Dominated Points</a:t>
            </a:r>
          </a:p>
          <a:p>
            <a:pPr algn="l" fontAlgn="auto">
              <a:spcAft>
                <a:spcPts val="0"/>
              </a:spcAft>
              <a:defRPr/>
            </a:pP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6F4FD3-5535-4BD2-8147-A67FFD5F22D1}" type="slidenum">
              <a:rPr lang="en-US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438400" y="3062734"/>
            <a:ext cx="4267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</a:rPr>
              <a:t>CS345</a:t>
            </a:r>
            <a:endParaRPr lang="en-US" sz="28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38688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5D307CA-0BD3-EAC8-C256-EF7E665DC6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28600"/>
            <a:ext cx="7772400" cy="1470025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sz="4000" b="1" dirty="0">
                <a:solidFill>
                  <a:srgbClr val="7030A0"/>
                </a:solidFill>
              </a:rPr>
              <a:t>Recap</a:t>
            </a:r>
            <a:r>
              <a:rPr lang="en-US" sz="4000" b="1" dirty="0"/>
              <a:t> of the last lecture</a:t>
            </a:r>
            <a:endParaRPr lang="en-IN" sz="4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BBE106-CF98-6E36-A586-004876676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D57C3F24-F7AC-99D1-1BA0-52E26F3AF4BD}"/>
              </a:ext>
            </a:extLst>
          </p:cNvPr>
          <p:cNvSpPr txBox="1">
            <a:spLocks/>
          </p:cNvSpPr>
          <p:nvPr/>
        </p:nvSpPr>
        <p:spPr bwMode="auto">
          <a:xfrm>
            <a:off x="657520" y="3228976"/>
            <a:ext cx="7772400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3600" dirty="0"/>
              <a:t>a Divide and Conquer algorithm for</a:t>
            </a:r>
            <a:br>
              <a:rPr lang="en-US" dirty="0"/>
            </a:br>
            <a:endParaRPr lang="en-US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93C1FE17-C9C3-0FD0-0E54-F19651082B9A}"/>
              </a:ext>
            </a:extLst>
          </p:cNvPr>
          <p:cNvSpPr txBox="1">
            <a:spLocks/>
          </p:cNvSpPr>
          <p:nvPr/>
        </p:nvSpPr>
        <p:spPr bwMode="auto">
          <a:xfrm>
            <a:off x="878264" y="3840957"/>
            <a:ext cx="7772400" cy="150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>
                <a:solidFill>
                  <a:srgbClr val="7030A0"/>
                </a:solidFill>
              </a:rPr>
              <a:t>Closest Pair Distance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464959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/>
          <p:cNvSpPr/>
          <p:nvPr/>
        </p:nvSpPr>
        <p:spPr>
          <a:xfrm>
            <a:off x="4610100" y="1623218"/>
            <a:ext cx="381000" cy="45259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191000" y="1600199"/>
            <a:ext cx="381000" cy="45259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581474" y="1600199"/>
            <a:ext cx="388999" cy="3389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The </a:t>
            </a:r>
            <a:r>
              <a:rPr lang="en-US" sz="4000" b="1" dirty="0">
                <a:solidFill>
                  <a:srgbClr val="7030A0"/>
                </a:solidFill>
              </a:rPr>
              <a:t>combine</a:t>
            </a:r>
            <a:r>
              <a:rPr lang="en-US" sz="4000" b="1" dirty="0"/>
              <a:t> step</a:t>
            </a:r>
            <a:endParaRPr 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76600" y="2895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6576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629400" y="3505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4648200" y="4724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4191000" y="4953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60198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6096000" y="5181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486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" name="Straight Arrow Connector 43"/>
          <p:cNvCxnSpPr>
            <a:stCxn id="49" idx="1"/>
            <a:endCxn id="56" idx="7"/>
          </p:cNvCxnSpPr>
          <p:nvPr/>
        </p:nvCxnSpPr>
        <p:spPr>
          <a:xfrm flipH="1" flipV="1">
            <a:off x="1741441" y="3211559"/>
            <a:ext cx="250918" cy="762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3124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2743200" y="3657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69342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77000" y="2590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333" r="-1645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Oval 46"/>
          <p:cNvSpPr/>
          <p:nvPr/>
        </p:nvSpPr>
        <p:spPr>
          <a:xfrm>
            <a:off x="2438400" y="2667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981200" y="3276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133600" y="3962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6764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7" name="Oval 56"/>
          <p:cNvSpPr/>
          <p:nvPr/>
        </p:nvSpPr>
        <p:spPr>
          <a:xfrm>
            <a:off x="19050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8" name="Oval 57"/>
          <p:cNvSpPr/>
          <p:nvPr/>
        </p:nvSpPr>
        <p:spPr>
          <a:xfrm>
            <a:off x="1752600" y="2514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9" name="Oval 58"/>
          <p:cNvSpPr/>
          <p:nvPr/>
        </p:nvSpPr>
        <p:spPr>
          <a:xfrm>
            <a:off x="4267200" y="220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0" name="Oval 59"/>
          <p:cNvSpPr/>
          <p:nvPr/>
        </p:nvSpPr>
        <p:spPr>
          <a:xfrm>
            <a:off x="5486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1" name="Oval 60"/>
          <p:cNvSpPr/>
          <p:nvPr/>
        </p:nvSpPr>
        <p:spPr>
          <a:xfrm>
            <a:off x="54864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2" name="Oval 61"/>
          <p:cNvSpPr/>
          <p:nvPr/>
        </p:nvSpPr>
        <p:spPr>
          <a:xfrm>
            <a:off x="5638800" y="556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Oval 62"/>
          <p:cNvSpPr/>
          <p:nvPr/>
        </p:nvSpPr>
        <p:spPr>
          <a:xfrm>
            <a:off x="57912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66294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5" name="Oval 64"/>
          <p:cNvSpPr/>
          <p:nvPr/>
        </p:nvSpPr>
        <p:spPr>
          <a:xfrm>
            <a:off x="7772400" y="3124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Oval 65"/>
          <p:cNvSpPr/>
          <p:nvPr/>
        </p:nvSpPr>
        <p:spPr>
          <a:xfrm>
            <a:off x="79248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7924800" y="205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77724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70" name="Straight Arrow Connector 69"/>
          <p:cNvCxnSpPr>
            <a:stCxn id="41" idx="3"/>
            <a:endCxn id="62" idx="6"/>
          </p:cNvCxnSpPr>
          <p:nvPr/>
        </p:nvCxnSpPr>
        <p:spPr>
          <a:xfrm flipH="1">
            <a:off x="5715000" y="5246641"/>
            <a:ext cx="392159" cy="354059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5848251" y="5345668"/>
                <a:ext cx="4987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𝑹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8251" y="5345668"/>
                <a:ext cx="498791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8197" r="-1585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Oval 74"/>
          <p:cNvSpPr/>
          <p:nvPr/>
        </p:nvSpPr>
        <p:spPr>
          <a:xfrm>
            <a:off x="13716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Oval 75"/>
          <p:cNvSpPr/>
          <p:nvPr/>
        </p:nvSpPr>
        <p:spPr>
          <a:xfrm>
            <a:off x="838200" y="5791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7" name="Oval 76"/>
          <p:cNvSpPr/>
          <p:nvPr/>
        </p:nvSpPr>
        <p:spPr>
          <a:xfrm>
            <a:off x="43434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Oval 77"/>
          <p:cNvSpPr/>
          <p:nvPr/>
        </p:nvSpPr>
        <p:spPr>
          <a:xfrm>
            <a:off x="4343400" y="563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Oval 78"/>
          <p:cNvSpPr/>
          <p:nvPr/>
        </p:nvSpPr>
        <p:spPr>
          <a:xfrm>
            <a:off x="4800600" y="601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Oval 80"/>
          <p:cNvSpPr/>
          <p:nvPr/>
        </p:nvSpPr>
        <p:spPr>
          <a:xfrm>
            <a:off x="4343400" y="4419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Oval 81"/>
          <p:cNvSpPr/>
          <p:nvPr/>
        </p:nvSpPr>
        <p:spPr>
          <a:xfrm>
            <a:off x="4876800" y="4191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Oval 83"/>
          <p:cNvSpPr/>
          <p:nvPr/>
        </p:nvSpPr>
        <p:spPr>
          <a:xfrm>
            <a:off x="4724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Oval 84"/>
          <p:cNvSpPr/>
          <p:nvPr/>
        </p:nvSpPr>
        <p:spPr>
          <a:xfrm>
            <a:off x="4267200" y="2743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/>
          <p:cNvSpPr/>
          <p:nvPr/>
        </p:nvSpPr>
        <p:spPr>
          <a:xfrm>
            <a:off x="40386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Oval 86"/>
          <p:cNvSpPr/>
          <p:nvPr/>
        </p:nvSpPr>
        <p:spPr>
          <a:xfrm>
            <a:off x="51816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4191000" y="1600199"/>
            <a:ext cx="0" cy="44958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4964151" y="1600200"/>
            <a:ext cx="0" cy="44958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>
            <a:off x="4572000" y="5791200"/>
            <a:ext cx="392151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4552851" y="5726668"/>
                <a:ext cx="37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𝜹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2851" y="5726668"/>
                <a:ext cx="37221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4191000" y="5943600"/>
                <a:ext cx="37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𝜹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5943600"/>
                <a:ext cx="37221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Straight Arrow Connector 89"/>
          <p:cNvCxnSpPr/>
          <p:nvPr/>
        </p:nvCxnSpPr>
        <p:spPr>
          <a:xfrm flipH="1">
            <a:off x="4179849" y="5943600"/>
            <a:ext cx="392151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267200" y="4991100"/>
            <a:ext cx="696951" cy="0"/>
          </a:xfrm>
          <a:prstGeom prst="line">
            <a:avLst/>
          </a:prstGeom>
          <a:ln>
            <a:solidFill>
              <a:srgbClr val="006C3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4572000" y="1600200"/>
            <a:ext cx="0" cy="4525963"/>
          </a:xfrm>
          <a:prstGeom prst="line">
            <a:avLst/>
          </a:prstGeom>
          <a:ln w="3810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Oval 95"/>
          <p:cNvSpPr/>
          <p:nvPr/>
        </p:nvSpPr>
        <p:spPr>
          <a:xfrm>
            <a:off x="4648200" y="4724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/>
              <p:cNvSpPr txBox="1"/>
              <p:nvPr/>
            </p:nvSpPr>
            <p:spPr>
              <a:xfrm>
                <a:off x="4039368" y="5029200"/>
                <a:ext cx="3802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368" y="5029200"/>
                <a:ext cx="380232" cy="369332"/>
              </a:xfrm>
              <a:prstGeom prst="rect">
                <a:avLst/>
              </a:prstGeom>
              <a:blipFill rotWithShape="1">
                <a:blip r:embed="rId11"/>
                <a:stretch>
                  <a:fillRect t="-8197" r="-2096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Oval 103"/>
          <p:cNvSpPr/>
          <p:nvPr/>
        </p:nvSpPr>
        <p:spPr>
          <a:xfrm>
            <a:off x="4648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" name="Oval 104"/>
          <p:cNvSpPr/>
          <p:nvPr/>
        </p:nvSpPr>
        <p:spPr>
          <a:xfrm>
            <a:off x="4419600" y="175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06" name="Oval 105"/>
          <p:cNvSpPr/>
          <p:nvPr/>
        </p:nvSpPr>
        <p:spPr>
          <a:xfrm>
            <a:off x="4648200" y="175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97" name="Oval 96"/>
          <p:cNvSpPr/>
          <p:nvPr/>
        </p:nvSpPr>
        <p:spPr>
          <a:xfrm>
            <a:off x="45339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3657600" y="6285559"/>
                <a:ext cx="1800365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/>
                      </a:rPr>
                      <m:t>𝜹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b="1" dirty="0">
                    <a:sym typeface="Wingdings" panose="05000000000000000000" pitchFamily="2" charset="2"/>
                  </a:rPr>
                  <a:t>  min</a:t>
                </a:r>
                <a:r>
                  <a:rPr lang="en-US" dirty="0">
                    <a:sym typeface="Wingdings" panose="05000000000000000000" pitchFamily="2" charset="2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6285559"/>
                <a:ext cx="1800365" cy="369332"/>
              </a:xfrm>
              <a:prstGeom prst="rect">
                <a:avLst/>
              </a:prstGeom>
              <a:blipFill>
                <a:blip r:embed="rId15"/>
                <a:stretch>
                  <a:fillRect t="-7937" r="-2020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Rectangle 79"/>
          <p:cNvSpPr/>
          <p:nvPr/>
        </p:nvSpPr>
        <p:spPr>
          <a:xfrm>
            <a:off x="429269" y="1600199"/>
            <a:ext cx="3711499" cy="4495801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5105400" y="1582354"/>
            <a:ext cx="3711499" cy="4495801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/>
          <p:cNvSpPr/>
          <p:nvPr/>
        </p:nvSpPr>
        <p:spPr>
          <a:xfrm>
            <a:off x="4076700" y="4876800"/>
            <a:ext cx="266700" cy="228600"/>
          </a:xfrm>
          <a:prstGeom prst="ellipse">
            <a:avLst/>
          </a:prstGeom>
          <a:noFill/>
          <a:ln>
            <a:solidFill>
              <a:srgbClr val="006C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row: Up 2">
            <a:extLst>
              <a:ext uri="{FF2B5EF4-FFF2-40B4-BE49-F238E27FC236}">
                <a16:creationId xmlns:a16="http://schemas.microsoft.com/office/drawing/2014/main" id="{8F09037E-523C-E792-CCDB-D3C5BD62DF8E}"/>
              </a:ext>
            </a:extLst>
          </p:cNvPr>
          <p:cNvSpPr/>
          <p:nvPr/>
        </p:nvSpPr>
        <p:spPr>
          <a:xfrm>
            <a:off x="4627180" y="4114800"/>
            <a:ext cx="304800" cy="304800"/>
          </a:xfrm>
          <a:prstGeom prst="up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ounded Rectangle 101">
            <a:extLst>
              <a:ext uri="{FF2B5EF4-FFF2-40B4-BE49-F238E27FC236}">
                <a16:creationId xmlns:a16="http://schemas.microsoft.com/office/drawing/2014/main" id="{2156AE6E-1191-2307-0A42-EF0CFEE352E3}"/>
              </a:ext>
            </a:extLst>
          </p:cNvPr>
          <p:cNvSpPr/>
          <p:nvPr/>
        </p:nvSpPr>
        <p:spPr>
          <a:xfrm>
            <a:off x="11152" y="1970041"/>
            <a:ext cx="1066800" cy="5334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Tool </a:t>
            </a:r>
            <a:r>
              <a:rPr lang="en-US" sz="2400" b="1" dirty="0">
                <a:solidFill>
                  <a:srgbClr val="00B0F0"/>
                </a:solidFill>
              </a:rPr>
              <a:t>1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93154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3" grpId="0"/>
      <p:bldP spid="94" grpId="0" animBg="1"/>
      <p:bldP spid="3" grpId="0" animBg="1"/>
      <p:bldP spid="3" grpId="1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/>
          <p:cNvSpPr/>
          <p:nvPr/>
        </p:nvSpPr>
        <p:spPr>
          <a:xfrm>
            <a:off x="4610100" y="1623218"/>
            <a:ext cx="381000" cy="45259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191000" y="1600199"/>
            <a:ext cx="381000" cy="45259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572000" y="4572000"/>
            <a:ext cx="388999" cy="4191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The </a:t>
            </a:r>
            <a:r>
              <a:rPr lang="en-US" sz="4000" b="1" dirty="0">
                <a:solidFill>
                  <a:srgbClr val="7030A0"/>
                </a:solidFill>
              </a:rPr>
              <a:t>combine</a:t>
            </a:r>
            <a:r>
              <a:rPr lang="en-US" sz="4000" b="1" dirty="0"/>
              <a:t> step</a:t>
            </a:r>
            <a:endParaRPr 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76600" y="2895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6576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629400" y="3505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4648200" y="4724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4191000" y="4953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60198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6096000" y="5181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486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" name="Straight Arrow Connector 43"/>
          <p:cNvCxnSpPr>
            <a:stCxn id="49" idx="1"/>
            <a:endCxn id="56" idx="7"/>
          </p:cNvCxnSpPr>
          <p:nvPr/>
        </p:nvCxnSpPr>
        <p:spPr>
          <a:xfrm flipH="1" flipV="1">
            <a:off x="1741441" y="3211559"/>
            <a:ext cx="250918" cy="762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3124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2743200" y="3657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69342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77000" y="2590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333" r="-1645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Oval 46"/>
          <p:cNvSpPr/>
          <p:nvPr/>
        </p:nvSpPr>
        <p:spPr>
          <a:xfrm>
            <a:off x="2438400" y="2667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981200" y="3276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133600" y="3962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6764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7" name="Oval 56"/>
          <p:cNvSpPr/>
          <p:nvPr/>
        </p:nvSpPr>
        <p:spPr>
          <a:xfrm>
            <a:off x="19050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8" name="Oval 57"/>
          <p:cNvSpPr/>
          <p:nvPr/>
        </p:nvSpPr>
        <p:spPr>
          <a:xfrm>
            <a:off x="1752600" y="2514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9" name="Oval 58"/>
          <p:cNvSpPr/>
          <p:nvPr/>
        </p:nvSpPr>
        <p:spPr>
          <a:xfrm>
            <a:off x="4267200" y="220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0" name="Oval 59"/>
          <p:cNvSpPr/>
          <p:nvPr/>
        </p:nvSpPr>
        <p:spPr>
          <a:xfrm>
            <a:off x="5486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1" name="Oval 60"/>
          <p:cNvSpPr/>
          <p:nvPr/>
        </p:nvSpPr>
        <p:spPr>
          <a:xfrm>
            <a:off x="54864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2" name="Oval 61"/>
          <p:cNvSpPr/>
          <p:nvPr/>
        </p:nvSpPr>
        <p:spPr>
          <a:xfrm>
            <a:off x="5638800" y="556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Oval 62"/>
          <p:cNvSpPr/>
          <p:nvPr/>
        </p:nvSpPr>
        <p:spPr>
          <a:xfrm>
            <a:off x="57912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66294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5" name="Oval 64"/>
          <p:cNvSpPr/>
          <p:nvPr/>
        </p:nvSpPr>
        <p:spPr>
          <a:xfrm>
            <a:off x="7772400" y="3124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Oval 65"/>
          <p:cNvSpPr/>
          <p:nvPr/>
        </p:nvSpPr>
        <p:spPr>
          <a:xfrm>
            <a:off x="79248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7924800" y="205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77724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70" name="Straight Arrow Connector 69"/>
          <p:cNvCxnSpPr>
            <a:stCxn id="41" idx="3"/>
            <a:endCxn id="62" idx="6"/>
          </p:cNvCxnSpPr>
          <p:nvPr/>
        </p:nvCxnSpPr>
        <p:spPr>
          <a:xfrm flipH="1">
            <a:off x="5715000" y="5246641"/>
            <a:ext cx="392159" cy="354059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5848251" y="5345668"/>
                <a:ext cx="4987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𝑹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8251" y="5345668"/>
                <a:ext cx="498791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8197" r="-1585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Oval 74"/>
          <p:cNvSpPr/>
          <p:nvPr/>
        </p:nvSpPr>
        <p:spPr>
          <a:xfrm>
            <a:off x="13716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Oval 75"/>
          <p:cNvSpPr/>
          <p:nvPr/>
        </p:nvSpPr>
        <p:spPr>
          <a:xfrm>
            <a:off x="838200" y="5791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7" name="Oval 76"/>
          <p:cNvSpPr/>
          <p:nvPr/>
        </p:nvSpPr>
        <p:spPr>
          <a:xfrm>
            <a:off x="43434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Oval 77"/>
          <p:cNvSpPr/>
          <p:nvPr/>
        </p:nvSpPr>
        <p:spPr>
          <a:xfrm>
            <a:off x="4343400" y="563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Oval 78"/>
          <p:cNvSpPr/>
          <p:nvPr/>
        </p:nvSpPr>
        <p:spPr>
          <a:xfrm>
            <a:off x="4800600" y="601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Oval 80"/>
          <p:cNvSpPr/>
          <p:nvPr/>
        </p:nvSpPr>
        <p:spPr>
          <a:xfrm>
            <a:off x="4343400" y="4419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Oval 81"/>
          <p:cNvSpPr/>
          <p:nvPr/>
        </p:nvSpPr>
        <p:spPr>
          <a:xfrm>
            <a:off x="4876800" y="4191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Oval 83"/>
          <p:cNvSpPr/>
          <p:nvPr/>
        </p:nvSpPr>
        <p:spPr>
          <a:xfrm>
            <a:off x="4724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Oval 84"/>
          <p:cNvSpPr/>
          <p:nvPr/>
        </p:nvSpPr>
        <p:spPr>
          <a:xfrm>
            <a:off x="4267200" y="2743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/>
          <p:cNvSpPr/>
          <p:nvPr/>
        </p:nvSpPr>
        <p:spPr>
          <a:xfrm>
            <a:off x="40386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Oval 86"/>
          <p:cNvSpPr/>
          <p:nvPr/>
        </p:nvSpPr>
        <p:spPr>
          <a:xfrm>
            <a:off x="51816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4191000" y="1600199"/>
            <a:ext cx="0" cy="44958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4964151" y="1600200"/>
            <a:ext cx="0" cy="44958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>
            <a:off x="4572000" y="5791200"/>
            <a:ext cx="392151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4552851" y="5726668"/>
                <a:ext cx="37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𝜹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2851" y="5726668"/>
                <a:ext cx="37221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4191000" y="5943600"/>
                <a:ext cx="37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𝜹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5943600"/>
                <a:ext cx="37221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Straight Arrow Connector 89"/>
          <p:cNvCxnSpPr/>
          <p:nvPr/>
        </p:nvCxnSpPr>
        <p:spPr>
          <a:xfrm flipH="1">
            <a:off x="4179849" y="5943600"/>
            <a:ext cx="392151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/>
          <p:nvPr/>
        </p:nvCxnSpPr>
        <p:spPr>
          <a:xfrm flipH="1">
            <a:off x="5018050" y="4572000"/>
            <a:ext cx="11150" cy="3810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 flipH="1">
            <a:off x="5018050" y="5029200"/>
            <a:ext cx="11150" cy="3810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4572000" y="1600200"/>
            <a:ext cx="0" cy="4525963"/>
          </a:xfrm>
          <a:prstGeom prst="line">
            <a:avLst/>
          </a:prstGeom>
          <a:ln w="3810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Oval 95"/>
          <p:cNvSpPr/>
          <p:nvPr/>
        </p:nvSpPr>
        <p:spPr>
          <a:xfrm>
            <a:off x="4648200" y="4724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/>
              <p:cNvSpPr txBox="1"/>
              <p:nvPr/>
            </p:nvSpPr>
            <p:spPr>
              <a:xfrm>
                <a:off x="4039368" y="5029200"/>
                <a:ext cx="3802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368" y="5029200"/>
                <a:ext cx="380232" cy="369332"/>
              </a:xfrm>
              <a:prstGeom prst="rect">
                <a:avLst/>
              </a:prstGeom>
              <a:blipFill rotWithShape="1">
                <a:blip r:embed="rId11"/>
                <a:stretch>
                  <a:fillRect t="-8197" r="-2096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" name="Oval 104"/>
          <p:cNvSpPr/>
          <p:nvPr/>
        </p:nvSpPr>
        <p:spPr>
          <a:xfrm>
            <a:off x="4419600" y="175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06" name="Oval 105"/>
          <p:cNvSpPr/>
          <p:nvPr/>
        </p:nvSpPr>
        <p:spPr>
          <a:xfrm>
            <a:off x="4648200" y="175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97" name="Oval 96"/>
          <p:cNvSpPr/>
          <p:nvPr/>
        </p:nvSpPr>
        <p:spPr>
          <a:xfrm>
            <a:off x="45339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3657600" y="6285559"/>
                <a:ext cx="1800365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/>
                      </a:rPr>
                      <m:t>𝜹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b="1" dirty="0">
                    <a:sym typeface="Wingdings" panose="05000000000000000000" pitchFamily="2" charset="2"/>
                  </a:rPr>
                  <a:t>  min</a:t>
                </a:r>
                <a:r>
                  <a:rPr lang="en-US" dirty="0">
                    <a:sym typeface="Wingdings" panose="05000000000000000000" pitchFamily="2" charset="2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6285559"/>
                <a:ext cx="1800365" cy="369332"/>
              </a:xfrm>
              <a:prstGeom prst="rect">
                <a:avLst/>
              </a:prstGeom>
              <a:blipFill>
                <a:blip r:embed="rId15"/>
                <a:stretch>
                  <a:fillRect t="-7937" r="-2020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Rectangle 79"/>
          <p:cNvSpPr/>
          <p:nvPr/>
        </p:nvSpPr>
        <p:spPr>
          <a:xfrm>
            <a:off x="429269" y="1600199"/>
            <a:ext cx="3711499" cy="4495801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5105400" y="1582354"/>
            <a:ext cx="3711499" cy="4495801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/>
          <p:cNvSpPr/>
          <p:nvPr/>
        </p:nvSpPr>
        <p:spPr>
          <a:xfrm>
            <a:off x="4076700" y="4876800"/>
            <a:ext cx="266700" cy="228600"/>
          </a:xfrm>
          <a:prstGeom prst="ellipse">
            <a:avLst/>
          </a:prstGeom>
          <a:noFill/>
          <a:ln>
            <a:solidFill>
              <a:srgbClr val="006C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/>
              <p:cNvSpPr txBox="1"/>
              <p:nvPr/>
            </p:nvSpPr>
            <p:spPr>
              <a:xfrm>
                <a:off x="5029200" y="4572000"/>
                <a:ext cx="37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𝜹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8" name="TextBox 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4572000"/>
                <a:ext cx="372218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/>
              <p:cNvSpPr txBox="1"/>
              <p:nvPr/>
            </p:nvSpPr>
            <p:spPr>
              <a:xfrm>
                <a:off x="5029200" y="5029200"/>
                <a:ext cx="37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𝜹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00" name="TextBox 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5029200"/>
                <a:ext cx="372218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Straight Connector 98"/>
          <p:cNvCxnSpPr/>
          <p:nvPr/>
        </p:nvCxnSpPr>
        <p:spPr>
          <a:xfrm>
            <a:off x="4560849" y="4572000"/>
            <a:ext cx="430251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ectangle 102">
            <a:extLst>
              <a:ext uri="{FF2B5EF4-FFF2-40B4-BE49-F238E27FC236}">
                <a16:creationId xmlns:a16="http://schemas.microsoft.com/office/drawing/2014/main" id="{BAC09AAB-6203-216A-A085-34FF23861303}"/>
              </a:ext>
            </a:extLst>
          </p:cNvPr>
          <p:cNvSpPr/>
          <p:nvPr/>
        </p:nvSpPr>
        <p:spPr>
          <a:xfrm>
            <a:off x="4578099" y="4990159"/>
            <a:ext cx="388999" cy="4191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/>
          <p:cNvSpPr/>
          <p:nvPr/>
        </p:nvSpPr>
        <p:spPr>
          <a:xfrm>
            <a:off x="4648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4267200" y="4991100"/>
            <a:ext cx="696951" cy="0"/>
          </a:xfrm>
          <a:prstGeom prst="line">
            <a:avLst/>
          </a:prstGeom>
          <a:ln>
            <a:solidFill>
              <a:srgbClr val="006C3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101">
            <a:extLst>
              <a:ext uri="{FF2B5EF4-FFF2-40B4-BE49-F238E27FC236}">
                <a16:creationId xmlns:a16="http://schemas.microsoft.com/office/drawing/2014/main" id="{B1DB517D-6495-A7E4-40EB-5DCCC63667C5}"/>
              </a:ext>
            </a:extLst>
          </p:cNvPr>
          <p:cNvSpPr/>
          <p:nvPr/>
        </p:nvSpPr>
        <p:spPr>
          <a:xfrm>
            <a:off x="11152" y="1970041"/>
            <a:ext cx="1066800" cy="5334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Tool </a:t>
            </a:r>
            <a:r>
              <a:rPr lang="en-US" sz="2400" b="1" dirty="0">
                <a:solidFill>
                  <a:srgbClr val="00B0F0"/>
                </a:solidFill>
              </a:rPr>
              <a:t>1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285683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  <p:bldP spid="100" grpId="0"/>
      <p:bldP spid="103" grpId="0" animBg="1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Oval 41"/>
          <p:cNvSpPr/>
          <p:nvPr/>
        </p:nvSpPr>
        <p:spPr>
          <a:xfrm>
            <a:off x="5486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Rectangle 68"/>
          <p:cNvSpPr/>
          <p:nvPr/>
        </p:nvSpPr>
        <p:spPr>
          <a:xfrm>
            <a:off x="4610100" y="1623218"/>
            <a:ext cx="381000" cy="45259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/>
          <p:cNvSpPr/>
          <p:nvPr/>
        </p:nvSpPr>
        <p:spPr>
          <a:xfrm>
            <a:off x="4572000" y="4572000"/>
            <a:ext cx="388999" cy="8265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191000" y="1600199"/>
            <a:ext cx="381000" cy="45259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The </a:t>
            </a:r>
            <a:r>
              <a:rPr lang="en-US" sz="4000" b="1" dirty="0">
                <a:solidFill>
                  <a:srgbClr val="7030A0"/>
                </a:solidFill>
              </a:rPr>
              <a:t>combine</a:t>
            </a:r>
            <a:r>
              <a:rPr lang="en-US" sz="4000" b="1" dirty="0"/>
              <a:t> step</a:t>
            </a:r>
            <a:endParaRPr 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76600" y="2895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6576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629400" y="3505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4191000" y="4953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60198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6096000" y="5181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" name="Straight Arrow Connector 43"/>
          <p:cNvCxnSpPr>
            <a:stCxn id="49" idx="1"/>
            <a:endCxn id="56" idx="7"/>
          </p:cNvCxnSpPr>
          <p:nvPr/>
        </p:nvCxnSpPr>
        <p:spPr>
          <a:xfrm flipH="1" flipV="1">
            <a:off x="1741441" y="3211559"/>
            <a:ext cx="250918" cy="762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3124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2743200" y="3657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69342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77000" y="2590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blipFill rotWithShape="1">
                <a:blip r:embed="rId8"/>
                <a:stretch>
                  <a:fillRect t="-8333" r="-1645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Oval 46"/>
          <p:cNvSpPr/>
          <p:nvPr/>
        </p:nvSpPr>
        <p:spPr>
          <a:xfrm>
            <a:off x="2438400" y="2667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981200" y="3276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133600" y="3962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6764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7" name="Oval 56"/>
          <p:cNvSpPr/>
          <p:nvPr/>
        </p:nvSpPr>
        <p:spPr>
          <a:xfrm>
            <a:off x="19050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8" name="Oval 57"/>
          <p:cNvSpPr/>
          <p:nvPr/>
        </p:nvSpPr>
        <p:spPr>
          <a:xfrm>
            <a:off x="1752600" y="2514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9" name="Oval 58"/>
          <p:cNvSpPr/>
          <p:nvPr/>
        </p:nvSpPr>
        <p:spPr>
          <a:xfrm>
            <a:off x="4267200" y="220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0" name="Oval 59"/>
          <p:cNvSpPr/>
          <p:nvPr/>
        </p:nvSpPr>
        <p:spPr>
          <a:xfrm>
            <a:off x="5486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1" name="Oval 60"/>
          <p:cNvSpPr/>
          <p:nvPr/>
        </p:nvSpPr>
        <p:spPr>
          <a:xfrm>
            <a:off x="54864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2" name="Oval 61"/>
          <p:cNvSpPr/>
          <p:nvPr/>
        </p:nvSpPr>
        <p:spPr>
          <a:xfrm>
            <a:off x="5638800" y="556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Oval 62"/>
          <p:cNvSpPr/>
          <p:nvPr/>
        </p:nvSpPr>
        <p:spPr>
          <a:xfrm>
            <a:off x="57912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66294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5" name="Oval 64"/>
          <p:cNvSpPr/>
          <p:nvPr/>
        </p:nvSpPr>
        <p:spPr>
          <a:xfrm>
            <a:off x="7772400" y="3124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Oval 65"/>
          <p:cNvSpPr/>
          <p:nvPr/>
        </p:nvSpPr>
        <p:spPr>
          <a:xfrm>
            <a:off x="79248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7924800" y="205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77724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70" name="Straight Arrow Connector 69"/>
          <p:cNvCxnSpPr>
            <a:stCxn id="41" idx="3"/>
            <a:endCxn id="62" idx="6"/>
          </p:cNvCxnSpPr>
          <p:nvPr/>
        </p:nvCxnSpPr>
        <p:spPr>
          <a:xfrm flipH="1">
            <a:off x="5715000" y="5246641"/>
            <a:ext cx="392159" cy="354059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5848251" y="5345668"/>
                <a:ext cx="4987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𝑹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8251" y="5345668"/>
                <a:ext cx="498791" cy="369332"/>
              </a:xfrm>
              <a:prstGeom prst="rect">
                <a:avLst/>
              </a:prstGeom>
              <a:blipFill rotWithShape="1">
                <a:blip r:embed="rId9"/>
                <a:stretch>
                  <a:fillRect t="-8197" r="-1585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Oval 74"/>
          <p:cNvSpPr/>
          <p:nvPr/>
        </p:nvSpPr>
        <p:spPr>
          <a:xfrm>
            <a:off x="13716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Oval 75"/>
          <p:cNvSpPr/>
          <p:nvPr/>
        </p:nvSpPr>
        <p:spPr>
          <a:xfrm>
            <a:off x="838200" y="5791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7" name="Oval 76"/>
          <p:cNvSpPr/>
          <p:nvPr/>
        </p:nvSpPr>
        <p:spPr>
          <a:xfrm>
            <a:off x="43434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Oval 77"/>
          <p:cNvSpPr/>
          <p:nvPr/>
        </p:nvSpPr>
        <p:spPr>
          <a:xfrm>
            <a:off x="4343400" y="563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Oval 78"/>
          <p:cNvSpPr/>
          <p:nvPr/>
        </p:nvSpPr>
        <p:spPr>
          <a:xfrm>
            <a:off x="4800600" y="601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Oval 80"/>
          <p:cNvSpPr/>
          <p:nvPr/>
        </p:nvSpPr>
        <p:spPr>
          <a:xfrm>
            <a:off x="4343400" y="4419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Oval 84"/>
          <p:cNvSpPr/>
          <p:nvPr/>
        </p:nvSpPr>
        <p:spPr>
          <a:xfrm>
            <a:off x="4267200" y="2743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/>
          <p:cNvSpPr/>
          <p:nvPr/>
        </p:nvSpPr>
        <p:spPr>
          <a:xfrm>
            <a:off x="40386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Oval 86"/>
          <p:cNvSpPr/>
          <p:nvPr/>
        </p:nvSpPr>
        <p:spPr>
          <a:xfrm>
            <a:off x="51816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4191000" y="1600199"/>
            <a:ext cx="0" cy="44958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4964151" y="1600200"/>
            <a:ext cx="0" cy="44958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>
            <a:off x="4572000" y="5791200"/>
            <a:ext cx="392151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4552851" y="5726668"/>
                <a:ext cx="37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𝜹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2851" y="5726668"/>
                <a:ext cx="372218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4191000" y="5943600"/>
                <a:ext cx="37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𝜹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5943600"/>
                <a:ext cx="372218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Straight Arrow Connector 89"/>
          <p:cNvCxnSpPr/>
          <p:nvPr/>
        </p:nvCxnSpPr>
        <p:spPr>
          <a:xfrm flipH="1">
            <a:off x="4179849" y="5943600"/>
            <a:ext cx="392151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Oval 104"/>
          <p:cNvSpPr/>
          <p:nvPr/>
        </p:nvSpPr>
        <p:spPr>
          <a:xfrm>
            <a:off x="4419600" y="175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06" name="Oval 105"/>
          <p:cNvSpPr/>
          <p:nvPr/>
        </p:nvSpPr>
        <p:spPr>
          <a:xfrm>
            <a:off x="4648200" y="175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22" name="Oval 121"/>
          <p:cNvSpPr/>
          <p:nvPr/>
        </p:nvSpPr>
        <p:spPr>
          <a:xfrm>
            <a:off x="45339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2" name="Straight Connector 71"/>
          <p:cNvCxnSpPr/>
          <p:nvPr/>
        </p:nvCxnSpPr>
        <p:spPr>
          <a:xfrm>
            <a:off x="4572000" y="1600200"/>
            <a:ext cx="0" cy="4525963"/>
          </a:xfrm>
          <a:prstGeom prst="line">
            <a:avLst/>
          </a:prstGeom>
          <a:ln w="3810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/>
              <p:cNvSpPr txBox="1"/>
              <p:nvPr/>
            </p:nvSpPr>
            <p:spPr>
              <a:xfrm>
                <a:off x="3657600" y="6285559"/>
                <a:ext cx="1800365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/>
                      </a:rPr>
                      <m:t>𝜹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b="1" dirty="0">
                    <a:sym typeface="Wingdings" panose="05000000000000000000" pitchFamily="2" charset="2"/>
                  </a:rPr>
                  <a:t>  min</a:t>
                </a:r>
                <a:r>
                  <a:rPr lang="en-US" dirty="0">
                    <a:sym typeface="Wingdings" panose="05000000000000000000" pitchFamily="2" charset="2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94" name="TextBox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6285559"/>
                <a:ext cx="1800365" cy="369332"/>
              </a:xfrm>
              <a:prstGeom prst="rect">
                <a:avLst/>
              </a:prstGeom>
              <a:blipFill>
                <a:blip r:embed="rId12"/>
                <a:stretch>
                  <a:fillRect t="-7937" r="-2020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ectangle 100"/>
          <p:cNvSpPr/>
          <p:nvPr/>
        </p:nvSpPr>
        <p:spPr>
          <a:xfrm>
            <a:off x="429269" y="1600199"/>
            <a:ext cx="3711499" cy="4495801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5105400" y="1572259"/>
            <a:ext cx="3711499" cy="4495801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/>
              <p:cNvSpPr txBox="1"/>
              <p:nvPr/>
            </p:nvSpPr>
            <p:spPr>
              <a:xfrm>
                <a:off x="5631180" y="3098560"/>
                <a:ext cx="3327514" cy="646331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Sort all points of the right strip in</a:t>
                </a:r>
              </a:p>
              <a:p>
                <a:r>
                  <a:rPr lang="en-US" dirty="0"/>
                  <a:t> increasing order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-coordinate.</a:t>
                </a:r>
              </a:p>
            </p:txBody>
          </p:sp>
        </mc:Choice>
        <mc:Fallback xmlns="">
          <p:sp>
            <p:nvSpPr>
              <p:cNvPr id="103" name="TextBox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1180" y="3098560"/>
                <a:ext cx="3327514" cy="646331"/>
              </a:xfrm>
              <a:prstGeom prst="rect">
                <a:avLst/>
              </a:prstGeom>
              <a:blipFill>
                <a:blip r:embed="rId13"/>
                <a:stretch>
                  <a:fillRect l="-1460" t="-3704" r="-912" b="-1296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4" name="Straight Connector 123"/>
          <p:cNvCxnSpPr/>
          <p:nvPr/>
        </p:nvCxnSpPr>
        <p:spPr>
          <a:xfrm>
            <a:off x="4267200" y="4991100"/>
            <a:ext cx="696951" cy="0"/>
          </a:xfrm>
          <a:prstGeom prst="line">
            <a:avLst/>
          </a:prstGeom>
          <a:ln>
            <a:solidFill>
              <a:srgbClr val="006C3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/>
              <p:cNvSpPr txBox="1"/>
              <p:nvPr/>
            </p:nvSpPr>
            <p:spPr>
              <a:xfrm>
                <a:off x="4039368" y="5029200"/>
                <a:ext cx="3802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5" name="TextBox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368" y="5029200"/>
                <a:ext cx="380232" cy="369332"/>
              </a:xfrm>
              <a:prstGeom prst="rect">
                <a:avLst/>
              </a:prstGeom>
              <a:blipFill>
                <a:blip r:embed="rId14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" name="Oval 125"/>
          <p:cNvSpPr/>
          <p:nvPr/>
        </p:nvSpPr>
        <p:spPr>
          <a:xfrm>
            <a:off x="4076700" y="4876800"/>
            <a:ext cx="266700" cy="228600"/>
          </a:xfrm>
          <a:prstGeom prst="ellipse">
            <a:avLst/>
          </a:prstGeom>
          <a:noFill/>
          <a:ln>
            <a:solidFill>
              <a:srgbClr val="006C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/>
              <p:cNvSpPr txBox="1"/>
              <p:nvPr/>
            </p:nvSpPr>
            <p:spPr>
              <a:xfrm>
                <a:off x="5623827" y="4801177"/>
                <a:ext cx="2578270" cy="369332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Binary search for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127" name="TextBox 1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3827" y="4801177"/>
                <a:ext cx="2578270" cy="369332"/>
              </a:xfrm>
              <a:prstGeom prst="rect">
                <a:avLst/>
              </a:prstGeom>
              <a:blipFill>
                <a:blip r:embed="rId15"/>
                <a:stretch>
                  <a:fillRect l="-1887" t="-8065" r="-1179" b="-241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8" name="Straight Arrow Connector 127"/>
          <p:cNvCxnSpPr/>
          <p:nvPr/>
        </p:nvCxnSpPr>
        <p:spPr>
          <a:xfrm flipH="1">
            <a:off x="5018050" y="4572000"/>
            <a:ext cx="11150" cy="3810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/>
          <p:cNvCxnSpPr/>
          <p:nvPr/>
        </p:nvCxnSpPr>
        <p:spPr>
          <a:xfrm flipH="1">
            <a:off x="5018050" y="5029200"/>
            <a:ext cx="11150" cy="3810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/>
              <p:cNvSpPr txBox="1"/>
              <p:nvPr/>
            </p:nvSpPr>
            <p:spPr>
              <a:xfrm>
                <a:off x="5029200" y="4572000"/>
                <a:ext cx="37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𝜹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30" name="TextBox 1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4572000"/>
                <a:ext cx="372218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/>
              <p:cNvSpPr txBox="1"/>
              <p:nvPr/>
            </p:nvSpPr>
            <p:spPr>
              <a:xfrm>
                <a:off x="5029200" y="5029200"/>
                <a:ext cx="37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𝜹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31" name="TextBox 1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5029200"/>
                <a:ext cx="372218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253716" y="4788932"/>
                <a:ext cx="9314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3716" y="4788932"/>
                <a:ext cx="931409" cy="369332"/>
              </a:xfrm>
              <a:prstGeom prst="rect">
                <a:avLst/>
              </a:prstGeom>
              <a:blipFill>
                <a:blip r:embed="rId1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/>
              <p:cNvSpPr txBox="1"/>
              <p:nvPr/>
            </p:nvSpPr>
            <p:spPr>
              <a:xfrm>
                <a:off x="5623826" y="5228709"/>
                <a:ext cx="2578270" cy="369332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Binary search for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132" name="TextBox 1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3826" y="5228709"/>
                <a:ext cx="2578270" cy="369332"/>
              </a:xfrm>
              <a:prstGeom prst="rect">
                <a:avLst/>
              </a:prstGeom>
              <a:blipFill>
                <a:blip r:embed="rId18"/>
                <a:stretch>
                  <a:fillRect l="-1887" t="-8065" r="-1179" b="-241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7" name="Group 96"/>
          <p:cNvGrpSpPr/>
          <p:nvPr/>
        </p:nvGrpSpPr>
        <p:grpSpPr>
          <a:xfrm>
            <a:off x="4275982" y="1828800"/>
            <a:ext cx="1134218" cy="876300"/>
            <a:chOff x="4267200" y="2362200"/>
            <a:chExt cx="1134218" cy="876300"/>
          </a:xfrm>
        </p:grpSpPr>
        <p:sp>
          <p:nvSpPr>
            <p:cNvPr id="107" name="Rectangle 106"/>
            <p:cNvSpPr/>
            <p:nvPr/>
          </p:nvSpPr>
          <p:spPr>
            <a:xfrm>
              <a:off x="4572000" y="2362200"/>
              <a:ext cx="392152" cy="8763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8" name="Straight Connector 107"/>
            <p:cNvCxnSpPr/>
            <p:nvPr/>
          </p:nvCxnSpPr>
          <p:spPr>
            <a:xfrm>
              <a:off x="4267200" y="2781300"/>
              <a:ext cx="696951" cy="0"/>
            </a:xfrm>
            <a:prstGeom prst="line">
              <a:avLst/>
            </a:prstGeom>
            <a:ln>
              <a:solidFill>
                <a:srgbClr val="006C3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/>
            <p:cNvCxnSpPr/>
            <p:nvPr/>
          </p:nvCxnSpPr>
          <p:spPr>
            <a:xfrm flipH="1">
              <a:off x="5018050" y="2362200"/>
              <a:ext cx="11150" cy="381000"/>
            </a:xfrm>
            <a:prstGeom prst="straightConnector1">
              <a:avLst/>
            </a:prstGeom>
            <a:ln w="19050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Arrow Connector 117"/>
            <p:cNvCxnSpPr/>
            <p:nvPr/>
          </p:nvCxnSpPr>
          <p:spPr>
            <a:xfrm flipH="1">
              <a:off x="5018050" y="2819400"/>
              <a:ext cx="11150" cy="381000"/>
            </a:xfrm>
            <a:prstGeom prst="straightConnector1">
              <a:avLst/>
            </a:prstGeom>
            <a:ln w="19050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TextBox 119"/>
                <p:cNvSpPr txBox="1"/>
                <p:nvPr/>
              </p:nvSpPr>
              <p:spPr>
                <a:xfrm>
                  <a:off x="5010051" y="2438400"/>
                  <a:ext cx="3722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𝜹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20" name="TextBox 1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0051" y="2438400"/>
                  <a:ext cx="372218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TextBox 120"/>
                <p:cNvSpPr txBox="1"/>
                <p:nvPr/>
              </p:nvSpPr>
              <p:spPr>
                <a:xfrm>
                  <a:off x="5029200" y="2819400"/>
                  <a:ext cx="3722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𝜹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21" name="TextBox 1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9200" y="2819400"/>
                  <a:ext cx="372218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Group 5"/>
          <p:cNvGrpSpPr/>
          <p:nvPr/>
        </p:nvGrpSpPr>
        <p:grpSpPr>
          <a:xfrm>
            <a:off x="4275982" y="2362200"/>
            <a:ext cx="1134218" cy="876300"/>
            <a:chOff x="4267200" y="2362200"/>
            <a:chExt cx="1134218" cy="876300"/>
          </a:xfrm>
        </p:grpSpPr>
        <p:sp>
          <p:nvSpPr>
            <p:cNvPr id="9" name="Rectangle 8"/>
            <p:cNvSpPr/>
            <p:nvPr/>
          </p:nvSpPr>
          <p:spPr>
            <a:xfrm>
              <a:off x="4572000" y="2362200"/>
              <a:ext cx="392152" cy="8763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4267200" y="2781300"/>
              <a:ext cx="696951" cy="0"/>
            </a:xfrm>
            <a:prstGeom prst="line">
              <a:avLst/>
            </a:prstGeom>
            <a:ln>
              <a:solidFill>
                <a:srgbClr val="006C3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/>
            <p:cNvCxnSpPr/>
            <p:nvPr/>
          </p:nvCxnSpPr>
          <p:spPr>
            <a:xfrm flipH="1">
              <a:off x="5018050" y="2362200"/>
              <a:ext cx="11150" cy="381000"/>
            </a:xfrm>
            <a:prstGeom prst="straightConnector1">
              <a:avLst/>
            </a:prstGeom>
            <a:ln w="19050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/>
            <p:cNvCxnSpPr/>
            <p:nvPr/>
          </p:nvCxnSpPr>
          <p:spPr>
            <a:xfrm flipH="1">
              <a:off x="5018050" y="2819400"/>
              <a:ext cx="11150" cy="381000"/>
            </a:xfrm>
            <a:prstGeom prst="straightConnector1">
              <a:avLst/>
            </a:prstGeom>
            <a:ln w="19050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/>
                <p:cNvSpPr txBox="1"/>
                <p:nvPr/>
              </p:nvSpPr>
              <p:spPr>
                <a:xfrm>
                  <a:off x="5010051" y="2438400"/>
                  <a:ext cx="3722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𝜹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98" name="TextBox 9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0051" y="2438400"/>
                  <a:ext cx="372218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/>
                <p:cNvSpPr txBox="1"/>
                <p:nvPr/>
              </p:nvSpPr>
              <p:spPr>
                <a:xfrm>
                  <a:off x="5029200" y="2819400"/>
                  <a:ext cx="3722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𝜹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00" name="TextBox 9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9200" y="2819400"/>
                  <a:ext cx="372218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0" name="Group 109"/>
          <p:cNvGrpSpPr/>
          <p:nvPr/>
        </p:nvGrpSpPr>
        <p:grpSpPr>
          <a:xfrm>
            <a:off x="4419600" y="4038600"/>
            <a:ext cx="981818" cy="876300"/>
            <a:chOff x="4419600" y="2362200"/>
            <a:chExt cx="981818" cy="876300"/>
          </a:xfrm>
        </p:grpSpPr>
        <p:sp>
          <p:nvSpPr>
            <p:cNvPr id="111" name="Rectangle 110"/>
            <p:cNvSpPr/>
            <p:nvPr/>
          </p:nvSpPr>
          <p:spPr>
            <a:xfrm>
              <a:off x="4572000" y="2362200"/>
              <a:ext cx="392152" cy="8763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2" name="Straight Connector 111"/>
            <p:cNvCxnSpPr>
              <a:stCxn id="81" idx="6"/>
            </p:cNvCxnSpPr>
            <p:nvPr/>
          </p:nvCxnSpPr>
          <p:spPr>
            <a:xfrm>
              <a:off x="4419600" y="2781300"/>
              <a:ext cx="544551" cy="0"/>
            </a:xfrm>
            <a:prstGeom prst="line">
              <a:avLst/>
            </a:prstGeom>
            <a:ln>
              <a:solidFill>
                <a:srgbClr val="006C3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/>
            <p:cNvCxnSpPr/>
            <p:nvPr/>
          </p:nvCxnSpPr>
          <p:spPr>
            <a:xfrm flipH="1">
              <a:off x="5018050" y="2362200"/>
              <a:ext cx="11150" cy="381000"/>
            </a:xfrm>
            <a:prstGeom prst="straightConnector1">
              <a:avLst/>
            </a:prstGeom>
            <a:ln w="19050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/>
            <p:cNvCxnSpPr/>
            <p:nvPr/>
          </p:nvCxnSpPr>
          <p:spPr>
            <a:xfrm flipH="1">
              <a:off x="5018050" y="2819400"/>
              <a:ext cx="11150" cy="381000"/>
            </a:xfrm>
            <a:prstGeom prst="straightConnector1">
              <a:avLst/>
            </a:prstGeom>
            <a:ln w="19050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TextBox 114"/>
                <p:cNvSpPr txBox="1"/>
                <p:nvPr/>
              </p:nvSpPr>
              <p:spPr>
                <a:xfrm>
                  <a:off x="5010051" y="2438400"/>
                  <a:ext cx="3722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𝜹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15" name="TextBox 1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0051" y="2438400"/>
                  <a:ext cx="372218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TextBox 115"/>
                <p:cNvSpPr txBox="1"/>
                <p:nvPr/>
              </p:nvSpPr>
              <p:spPr>
                <a:xfrm>
                  <a:off x="5029200" y="2819400"/>
                  <a:ext cx="3722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𝜹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16" name="TextBox 1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9200" y="2819400"/>
                  <a:ext cx="372218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3" name="Oval 132"/>
          <p:cNvSpPr/>
          <p:nvPr/>
        </p:nvSpPr>
        <p:spPr>
          <a:xfrm>
            <a:off x="4724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4" name="Oval 133"/>
          <p:cNvSpPr/>
          <p:nvPr/>
        </p:nvSpPr>
        <p:spPr>
          <a:xfrm>
            <a:off x="4648200" y="4724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35" name="Oval 134"/>
          <p:cNvSpPr/>
          <p:nvPr/>
        </p:nvSpPr>
        <p:spPr>
          <a:xfrm>
            <a:off x="4648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32776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 animBg="1"/>
      <p:bldP spid="103" grpId="0" animBg="1"/>
      <p:bldP spid="125" grpId="0"/>
      <p:bldP spid="126" grpId="0" animBg="1"/>
      <p:bldP spid="127" grpId="0" animBg="1"/>
      <p:bldP spid="130" grpId="0"/>
      <p:bldP spid="131" grpId="0"/>
      <p:bldP spid="10" grpId="0"/>
      <p:bldP spid="13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Divide and Conquer based algorithm</a:t>
            </a:r>
            <a:br>
              <a:rPr lang="en-US" sz="3200" b="1" dirty="0"/>
            </a:b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7030A0"/>
                    </a:solidFill>
                  </a:rPr>
                  <a:t>CP-Distance</a:t>
                </a:r>
                <a:r>
                  <a:rPr lang="en-US" sz="1600" dirty="0"/>
                  <a:t>(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𝑃</m:t>
                    </m:r>
                  </m:oMath>
                </a14:m>
                <a:r>
                  <a:rPr lang="en-US" sz="1600" dirty="0"/>
                  <a:t>) </a:t>
                </a:r>
              </a:p>
              <a:p>
                <a:pPr marL="0" indent="0">
                  <a:buNone/>
                </a:pPr>
                <a:r>
                  <a:rPr lang="en-US" sz="1600" dirty="0"/>
                  <a:t>{   </a:t>
                </a:r>
                <a:r>
                  <a:rPr lang="en-US" sz="1600" b="1" dirty="0"/>
                  <a:t>If</a:t>
                </a:r>
                <a:r>
                  <a:rPr lang="en-US" sz="1600" dirty="0"/>
                  <a:t> (|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𝑃</m:t>
                    </m:r>
                    <m:r>
                      <a:rPr lang="en-US" sz="16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1600" dirty="0"/>
                  <a:t>|=1 ) return infinity;</a:t>
                </a:r>
              </a:p>
              <a:p>
                <a:pPr marL="0" indent="0">
                  <a:buNone/>
                </a:pPr>
                <a:r>
                  <a:rPr lang="en-US" sz="1600" dirty="0"/>
                  <a:t>    {            Compute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sz="1600" dirty="0"/>
                  <a:t>-median of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𝑃</m:t>
                    </m:r>
                  </m:oMath>
                </a14:m>
                <a:r>
                  <a:rPr lang="en-US" sz="1600" dirty="0"/>
                  <a:t>;</a:t>
                </a:r>
              </a:p>
              <a:p>
                <a:pPr marL="0" indent="0">
                  <a:buNone/>
                </a:pPr>
                <a:r>
                  <a:rPr lang="en-US" sz="1600" b="0" dirty="0"/>
                  <a:t>                  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𝐿</m:t>
                        </m:r>
                      </m:sub>
                    </m:sSub>
                    <m:r>
                      <a:rPr lang="en-US" sz="1600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𝑅</m:t>
                        </m:r>
                      </m:sub>
                    </m:sSub>
                    <m:r>
                      <a:rPr lang="en-US" sz="16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Split-by-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𝑥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-median(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𝑃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);</a:t>
                </a:r>
              </a:p>
              <a:p>
                <a:pPr marL="0" indent="0">
                  <a:buNone/>
                </a:pPr>
                <a:r>
                  <a:rPr lang="en-US" sz="1600" dirty="0">
                    <a:sym typeface="Wingdings" pitchFamily="2" charset="2"/>
                  </a:rPr>
                  <a:t>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sz="16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sz="1600" dirty="0">
                    <a:sym typeface="Wingdings" pitchFamily="2" charset="2"/>
                  </a:rPr>
                  <a:t> </a:t>
                </a:r>
                <a:r>
                  <a:rPr lang="en-US" sz="1600" b="1" dirty="0">
                    <a:solidFill>
                      <a:srgbClr val="7030A0"/>
                    </a:solidFill>
                  </a:rPr>
                  <a:t>CP-Distance</a:t>
                </a:r>
                <a:r>
                  <a:rPr lang="en-US" sz="16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1600" dirty="0"/>
                  <a:t>) </a:t>
                </a:r>
                <a:r>
                  <a:rPr lang="en-US" sz="1600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0070C0"/>
                    </a:solidFill>
                  </a:rPr>
                  <a:t>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sz="16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en-US" sz="1600" dirty="0">
                    <a:sym typeface="Wingdings" pitchFamily="2" charset="2"/>
                  </a:rPr>
                  <a:t> </a:t>
                </a:r>
                <a:r>
                  <a:rPr lang="en-US" sz="1600" b="1" dirty="0">
                    <a:solidFill>
                      <a:srgbClr val="7030A0"/>
                    </a:solidFill>
                  </a:rPr>
                  <a:t>CP-Distance</a:t>
                </a:r>
                <a:r>
                  <a:rPr lang="en-US" sz="16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1600" dirty="0"/>
                  <a:t>) </a:t>
                </a:r>
                <a:r>
                  <a:rPr lang="en-US" sz="1600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1600" dirty="0">
                    <a:sym typeface="Wingdings" pitchFamily="2" charset="2"/>
                  </a:rPr>
                  <a:t>                 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 min(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sz="1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sz="1600" dirty="0">
                    <a:sym typeface="Wingdings" pitchFamily="2" charset="2"/>
                  </a:rPr>
                  <a:t>,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sz="16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en-US" sz="1600" dirty="0">
                    <a:sym typeface="Wingdings" pitchFamily="2" charset="2"/>
                  </a:rPr>
                  <a:t>);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1600" b="1" dirty="0">
                    <a:sym typeface="Wingdings" pitchFamily="2" charset="2"/>
                  </a:rPr>
                  <a:t> </a:t>
                </a:r>
                <a:r>
                  <a:rPr lang="en-US" sz="1600" dirty="0">
                    <a:sym typeface="Wingdings" pitchFamily="2" charset="2"/>
                  </a:rPr>
                  <a:t></a:t>
                </a:r>
                <a:r>
                  <a:rPr lang="en-US" sz="1600" b="1" dirty="0">
                    <a:sym typeface="Wingdings" pitchFamily="2" charset="2"/>
                  </a:rPr>
                  <a:t> strip </a:t>
                </a:r>
                <a:r>
                  <a:rPr lang="en-US" sz="1600" dirty="0">
                    <a:sym typeface="Wingdings" pitchFamily="2" charset="2"/>
                  </a:rPr>
                  <a:t>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1600" b="1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1600" b="1" dirty="0">
                    <a:sym typeface="Wingdings" pitchFamily="2" charset="2"/>
                  </a:rPr>
                  <a:t> </a:t>
                </a:r>
                <a:r>
                  <a:rPr lang="en-US" sz="1600" dirty="0">
                    <a:sym typeface="Wingdings" pitchFamily="2" charset="2"/>
                  </a:rPr>
                  <a:t></a:t>
                </a:r>
                <a:r>
                  <a:rPr lang="en-US" sz="1600" b="1" dirty="0">
                    <a:sym typeface="Wingdings" pitchFamily="2" charset="2"/>
                  </a:rPr>
                  <a:t> strip </a:t>
                </a:r>
                <a:r>
                  <a:rPr lang="en-US" sz="1600" dirty="0">
                    <a:sym typeface="Wingdings" pitchFamily="2" charset="2"/>
                  </a:rPr>
                  <a:t>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1600" b="1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 	    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𝐴</m:t>
                    </m:r>
                    <m:r>
                      <a:rPr lang="en-US" sz="16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1600" b="1" dirty="0">
                    <a:sym typeface="Wingdings" pitchFamily="2" charset="2"/>
                  </a:rPr>
                  <a:t> Sorted array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1600" b="1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                 </a:t>
                </a:r>
                <a:r>
                  <a:rPr lang="en-US" sz="1600" dirty="0">
                    <a:sym typeface="Wingdings" pitchFamily="2" charset="2"/>
                  </a:rPr>
                  <a:t>For each </a:t>
                </a:r>
                <a:r>
                  <a:rPr lang="en-US" sz="1600" b="1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/>
                      </a:rPr>
                      <m:t>𝒑</m:t>
                    </m:r>
                    <m:r>
                      <a:rPr lang="en-US" sz="1600" b="0" i="1" smtClean="0">
                        <a:latin typeface="Cambria Math"/>
                      </a:rPr>
                      <m:t>∈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1600" dirty="0">
                    <a:sym typeface="Wingdings" pitchFamily="2" charset="2"/>
                  </a:rPr>
                  <a:t>,</a:t>
                </a:r>
                <a:endParaRPr lang="en-US" sz="1600" b="1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                       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/>
                      </a:rPr>
                      <m:t>𝒚</m:t>
                    </m:r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1600" b="1" dirty="0">
                    <a:sym typeface="Wingdings" pitchFamily="2" charset="2"/>
                  </a:rPr>
                  <a:t>  </a:t>
                </a:r>
                <a:r>
                  <a:rPr lang="en-US" sz="1600" dirty="0">
                    <a:sym typeface="Wingdings" pitchFamily="2" charset="2"/>
                  </a:rPr>
                  <a:t>y-coordinate of </a:t>
                </a:r>
                <a14:m>
                  <m:oMath xmlns:m="http://schemas.openxmlformats.org/officeDocument/2006/math">
                    <m:r>
                      <a:rPr lang="en-US" sz="1600" b="1" i="1">
                        <a:latin typeface="Cambria Math"/>
                      </a:rPr>
                      <m:t>𝒑</m:t>
                    </m:r>
                  </m:oMath>
                </a14:m>
                <a:r>
                  <a:rPr lang="en-US" sz="1600" b="1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                       </a:t>
                </a:r>
                <a:r>
                  <a:rPr lang="en-US" sz="1600" dirty="0">
                    <a:sym typeface="Wingdings" pitchFamily="2" charset="2"/>
                  </a:rPr>
                  <a:t>Search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𝐴</m:t>
                    </m:r>
                    <m:r>
                      <a:rPr lang="en-US" sz="16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for points with y-coordinate within </a:t>
                </a:r>
                <a14:m>
                  <m:oMath xmlns:m="http://schemas.openxmlformats.org/officeDocument/2006/math">
                    <m:r>
                      <a:rPr lang="en-US" sz="1600" b="1" i="1">
                        <a:latin typeface="Cambria Math"/>
                      </a:rPr>
                      <m:t>𝒚</m:t>
                    </m:r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sz="1600" b="0" i="1" smtClean="0">
                        <a:latin typeface="Cambria Math"/>
                      </a:rPr>
                      <m:t>±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</m:oMath>
                </a14:m>
                <a:r>
                  <a:rPr lang="en-US" sz="1600" b="1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                       </a:t>
                </a:r>
                <a:r>
                  <a:rPr lang="en-US" sz="1600" dirty="0">
                    <a:sym typeface="Wingdings" pitchFamily="2" charset="2"/>
                  </a:rPr>
                  <a:t>Compute distance from </a:t>
                </a:r>
                <a14:m>
                  <m:oMath xmlns:m="http://schemas.openxmlformats.org/officeDocument/2006/math">
                    <m:r>
                      <a:rPr lang="en-US" sz="1600" b="1" i="1">
                        <a:latin typeface="Cambria Math"/>
                      </a:rPr>
                      <m:t>𝒑</m:t>
                    </m:r>
                    <m:r>
                      <a:rPr lang="en-US" sz="16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to each of these points;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                        Update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</m:oMath>
                </a14:m>
                <a:r>
                  <a:rPr lang="en-US" sz="1600" b="1" dirty="0">
                    <a:sym typeface="Wingdings" pitchFamily="2" charset="2"/>
                  </a:rPr>
                  <a:t> </a:t>
                </a:r>
                <a:r>
                  <a:rPr lang="en-US" sz="1600" dirty="0">
                    <a:sym typeface="Wingdings" pitchFamily="2" charset="2"/>
                  </a:rPr>
                  <a:t>accordingly;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                 return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;</a:t>
                </a:r>
                <a:endParaRPr lang="en-US" sz="1600" b="1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}</a:t>
                </a:r>
                <a:r>
                  <a:rPr lang="en-US" sz="1600" dirty="0">
                    <a:sym typeface="Wingdings" pitchFamily="2" charset="2"/>
                  </a:rPr>
                  <a:t>             </a:t>
                </a:r>
                <a:endParaRPr lang="en-US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  <a:blipFill>
                <a:blip r:embed="rId5"/>
                <a:stretch>
                  <a:fillRect l="-463" t="-510" b="-2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5029200" y="1828800"/>
            <a:ext cx="2902760" cy="1239798"/>
            <a:chOff x="1371601" y="2025134"/>
            <a:chExt cx="2902760" cy="1239798"/>
          </a:xfrm>
        </p:grpSpPr>
        <p:sp>
          <p:nvSpPr>
            <p:cNvPr id="5" name="Right Brace 4"/>
            <p:cNvSpPr/>
            <p:nvPr/>
          </p:nvSpPr>
          <p:spPr>
            <a:xfrm>
              <a:off x="1371601" y="2025134"/>
              <a:ext cx="1752600" cy="1239798"/>
            </a:xfrm>
            <a:prstGeom prst="rightBrace">
              <a:avLst>
                <a:gd name="adj1" fmla="val 0"/>
                <a:gd name="adj2" fmla="val 50000"/>
              </a:avLst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048000" y="2494002"/>
              <a:ext cx="12263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2060"/>
                  </a:solidFill>
                </a:rPr>
                <a:t>Divide step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5029200" y="3200400"/>
            <a:ext cx="3962400" cy="2819400"/>
            <a:chOff x="1808973" y="1295400"/>
            <a:chExt cx="3962400" cy="2819400"/>
          </a:xfrm>
        </p:grpSpPr>
        <p:sp>
          <p:nvSpPr>
            <p:cNvPr id="9" name="Right Brace 8"/>
            <p:cNvSpPr/>
            <p:nvPr/>
          </p:nvSpPr>
          <p:spPr>
            <a:xfrm>
              <a:off x="1808973" y="1295400"/>
              <a:ext cx="1676400" cy="2819400"/>
            </a:xfrm>
            <a:prstGeom prst="rightBrace">
              <a:avLst>
                <a:gd name="adj1" fmla="val 646"/>
                <a:gd name="adj2" fmla="val 50000"/>
              </a:avLst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429000" y="2678668"/>
              <a:ext cx="23423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2060"/>
                  </a:solidFill>
                </a:rPr>
                <a:t>Combine/conquer step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160754" y="4126468"/>
                <a:ext cx="2036327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/>
                      </a:rPr>
                      <m:t>𝑶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/>
                          </a:rPr>
                          <m:t>𝐏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 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/>
                          </a:rPr>
                          <m:t>log</m:t>
                        </m:r>
                      </m:fName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1" i="0" smtClean="0">
                            <a:latin typeface="Cambria Math"/>
                          </a:rPr>
                          <m:t>𝐏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func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time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0754" y="4126468"/>
                <a:ext cx="2036327" cy="369332"/>
              </a:xfrm>
              <a:prstGeom prst="rect">
                <a:avLst/>
              </a:prstGeom>
              <a:blipFill>
                <a:blip r:embed="rId6"/>
                <a:stretch>
                  <a:fillRect t="-6452" r="-1242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172200" y="1981200"/>
                <a:ext cx="2526846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/>
                      </a:rPr>
                      <m:t>𝑶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/>
                          </a:rPr>
                          <m:t>𝐏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+ 2 </a:t>
                </a:r>
                <a:r>
                  <a:rPr lang="en-US" b="1" dirty="0"/>
                  <a:t>T</a:t>
                </a:r>
                <a:r>
                  <a:rPr lang="en-US" dirty="0"/>
                  <a:t>(|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/>
                      </a:rPr>
                      <m:t>𝐏</m:t>
                    </m:r>
                  </m:oMath>
                </a14:m>
                <a:r>
                  <a:rPr lang="en-US" dirty="0"/>
                  <a:t>|/2) time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1981200"/>
                <a:ext cx="2526846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8197" r="-362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802889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11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Running time </a:t>
            </a:r>
            <a:r>
              <a:rPr lang="en-US" sz="3600" b="1" dirty="0"/>
              <a:t>of the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534400" cy="4525963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US" sz="2000" dirty="0"/>
                  <a:t>What is the recurrence for running time?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     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           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 = c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 log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  +  2 </a:t>
                </a:r>
                <a:r>
                  <a:rPr lang="en-US" sz="2000" b="1" dirty="0"/>
                  <a:t>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/2)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           </a:t>
                </a:r>
                <a:r>
                  <a:rPr lang="en-US" sz="2000" b="1" dirty="0"/>
                  <a:t>        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          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 = </a:t>
                </a:r>
                <a:r>
                  <a:rPr lang="en-US" sz="2000" b="1" i="1" dirty="0"/>
                  <a:t>O</a:t>
                </a:r>
                <a:r>
                  <a:rPr lang="en-US" sz="2000" dirty="0"/>
                  <a:t>(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log</m:t>
                        </m:r>
                      </m:e>
                      <m:sup>
                        <m:r>
                          <a:rPr lang="en-US" sz="2000" b="0" i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</a:t>
                </a:r>
              </a:p>
              <a:p>
                <a:pPr marL="0" indent="0">
                  <a:buNone/>
                </a:pPr>
                <a:endParaRPr lang="en-US" sz="20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Theorem:</a:t>
                </a:r>
              </a:p>
              <a:p>
                <a:pPr marL="0" indent="0">
                  <a:buNone/>
                </a:pPr>
                <a:r>
                  <a:rPr lang="en-US" sz="2000" dirty="0"/>
                  <a:t>There exists an </a:t>
                </a:r>
                <a:r>
                  <a:rPr lang="en-US" sz="2000" b="1" i="1" dirty="0"/>
                  <a:t>O</a:t>
                </a:r>
                <a:r>
                  <a:rPr lang="en-US" sz="2000" dirty="0"/>
                  <a:t>(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/>
                          </a:rPr>
                          <m:t>log</m:t>
                        </m:r>
                      </m:e>
                      <m:sup>
                        <m:r>
                          <a:rPr lang="en-US" sz="200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 time </a:t>
                </a:r>
                <a:r>
                  <a:rPr lang="en-US" sz="2000" dirty="0"/>
                  <a:t>algorithm  to compute the closest pair distance of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points in plane.</a:t>
                </a:r>
                <a:endParaRPr lang="en-US" sz="2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534400" cy="4525963"/>
              </a:xfrm>
              <a:blipFill>
                <a:blip r:embed="rId5"/>
                <a:stretch>
                  <a:fillRect l="-714" t="-809" r="-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86000" y="2286000"/>
            <a:ext cx="1066800" cy="6096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>
            <a:stCxn id="5" idx="5"/>
          </p:cNvCxnSpPr>
          <p:nvPr/>
        </p:nvCxnSpPr>
        <p:spPr>
          <a:xfrm>
            <a:off x="3196571" y="2806326"/>
            <a:ext cx="1756429" cy="394074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own Arrow 10"/>
          <p:cNvSpPr/>
          <p:nvPr/>
        </p:nvSpPr>
        <p:spPr>
          <a:xfrm>
            <a:off x="4952999" y="3276600"/>
            <a:ext cx="503215" cy="7620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953000" y="4038600"/>
                <a:ext cx="503215" cy="400110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c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4038600"/>
                <a:ext cx="503215" cy="400110"/>
              </a:xfrm>
              <a:prstGeom prst="rect">
                <a:avLst/>
              </a:prstGeom>
              <a:blipFill>
                <a:blip r:embed="rId6"/>
                <a:stretch>
                  <a:fillRect l="-11905" t="-7463" b="-2388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400045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  <p:bldP spid="11" grpId="0" animBg="1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/>
          <p:cNvSpPr/>
          <p:nvPr/>
        </p:nvSpPr>
        <p:spPr>
          <a:xfrm>
            <a:off x="4610100" y="1623218"/>
            <a:ext cx="381000" cy="45259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191000" y="1600199"/>
            <a:ext cx="381000" cy="45259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4000" b="1" dirty="0"/>
                  <a:t>The </a:t>
                </a:r>
                <a:r>
                  <a:rPr lang="en-US" sz="4000" b="1" dirty="0">
                    <a:solidFill>
                      <a:srgbClr val="7030A0"/>
                    </a:solidFill>
                  </a:rPr>
                  <a:t>combine</a:t>
                </a:r>
                <a:r>
                  <a:rPr lang="en-US" sz="4000" b="1" dirty="0"/>
                  <a:t> step in </a:t>
                </a:r>
                <a:r>
                  <a:rPr lang="en-US" sz="4000" b="1" i="1" dirty="0"/>
                  <a:t>O</a:t>
                </a:r>
                <a:r>
                  <a:rPr lang="en-US" sz="4000" dirty="0"/>
                  <a:t>(</a:t>
                </a:r>
                <a14:m>
                  <m:oMath xmlns:m="http://schemas.openxmlformats.org/officeDocument/2006/math">
                    <m:r>
                      <a:rPr lang="en-US" sz="4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4000" dirty="0"/>
                  <a:t>) </a:t>
                </a:r>
                <a:r>
                  <a:rPr lang="en-US" sz="4000" b="1" dirty="0"/>
                  <a:t>time</a:t>
                </a:r>
                <a:r>
                  <a:rPr lang="en-US" sz="4000" dirty="0"/>
                  <a:t> 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b="-43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76600" y="2895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6576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629400" y="3505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4267200" y="5105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60198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6019800" y="5257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1816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" name="Straight Arrow Connector 43"/>
          <p:cNvCxnSpPr>
            <a:stCxn id="49" idx="1"/>
            <a:endCxn id="56" idx="7"/>
          </p:cNvCxnSpPr>
          <p:nvPr/>
        </p:nvCxnSpPr>
        <p:spPr>
          <a:xfrm flipH="1" flipV="1">
            <a:off x="1741441" y="3211559"/>
            <a:ext cx="250918" cy="762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3124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2743200" y="3657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69342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77000" y="2590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5105400" y="5410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333" r="-1645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Oval 46"/>
          <p:cNvSpPr/>
          <p:nvPr/>
        </p:nvSpPr>
        <p:spPr>
          <a:xfrm>
            <a:off x="2438400" y="2667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981200" y="3276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133600" y="3962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6764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7" name="Oval 56"/>
          <p:cNvSpPr/>
          <p:nvPr/>
        </p:nvSpPr>
        <p:spPr>
          <a:xfrm>
            <a:off x="19050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8" name="Oval 57"/>
          <p:cNvSpPr/>
          <p:nvPr/>
        </p:nvSpPr>
        <p:spPr>
          <a:xfrm>
            <a:off x="1752600" y="2514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9" name="Oval 58"/>
          <p:cNvSpPr/>
          <p:nvPr/>
        </p:nvSpPr>
        <p:spPr>
          <a:xfrm>
            <a:off x="4267200" y="220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0" name="Oval 59"/>
          <p:cNvSpPr/>
          <p:nvPr/>
        </p:nvSpPr>
        <p:spPr>
          <a:xfrm>
            <a:off x="5486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1" name="Oval 60"/>
          <p:cNvSpPr/>
          <p:nvPr/>
        </p:nvSpPr>
        <p:spPr>
          <a:xfrm>
            <a:off x="54864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2" name="Oval 61"/>
          <p:cNvSpPr/>
          <p:nvPr/>
        </p:nvSpPr>
        <p:spPr>
          <a:xfrm>
            <a:off x="5638800" y="556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Oval 62"/>
          <p:cNvSpPr/>
          <p:nvPr/>
        </p:nvSpPr>
        <p:spPr>
          <a:xfrm>
            <a:off x="57912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66294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5" name="Oval 64"/>
          <p:cNvSpPr/>
          <p:nvPr/>
        </p:nvSpPr>
        <p:spPr>
          <a:xfrm>
            <a:off x="7772400" y="3124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Oval 65"/>
          <p:cNvSpPr/>
          <p:nvPr/>
        </p:nvSpPr>
        <p:spPr>
          <a:xfrm>
            <a:off x="79248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7924800" y="205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77724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70" name="Straight Arrow Connector 69"/>
          <p:cNvCxnSpPr>
            <a:endCxn id="62" idx="6"/>
          </p:cNvCxnSpPr>
          <p:nvPr/>
        </p:nvCxnSpPr>
        <p:spPr>
          <a:xfrm flipH="1">
            <a:off x="5715000" y="5334000"/>
            <a:ext cx="304800" cy="2667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5715000" y="5421868"/>
                <a:ext cx="4987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𝑹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5421868"/>
                <a:ext cx="498791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8197" r="-16049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Oval 74"/>
          <p:cNvSpPr/>
          <p:nvPr/>
        </p:nvSpPr>
        <p:spPr>
          <a:xfrm>
            <a:off x="13716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Oval 75"/>
          <p:cNvSpPr/>
          <p:nvPr/>
        </p:nvSpPr>
        <p:spPr>
          <a:xfrm>
            <a:off x="838200" y="5791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7" name="Oval 76"/>
          <p:cNvSpPr/>
          <p:nvPr/>
        </p:nvSpPr>
        <p:spPr>
          <a:xfrm>
            <a:off x="42672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Oval 77"/>
          <p:cNvSpPr/>
          <p:nvPr/>
        </p:nvSpPr>
        <p:spPr>
          <a:xfrm>
            <a:off x="4419600" y="563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Oval 78"/>
          <p:cNvSpPr/>
          <p:nvPr/>
        </p:nvSpPr>
        <p:spPr>
          <a:xfrm>
            <a:off x="4800600" y="586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Oval 79"/>
          <p:cNvSpPr/>
          <p:nvPr/>
        </p:nvSpPr>
        <p:spPr>
          <a:xfrm>
            <a:off x="4838700" y="5257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Oval 80"/>
          <p:cNvSpPr/>
          <p:nvPr/>
        </p:nvSpPr>
        <p:spPr>
          <a:xfrm>
            <a:off x="44196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Oval 82"/>
          <p:cNvSpPr/>
          <p:nvPr/>
        </p:nvSpPr>
        <p:spPr>
          <a:xfrm>
            <a:off x="4724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Oval 83"/>
          <p:cNvSpPr/>
          <p:nvPr/>
        </p:nvSpPr>
        <p:spPr>
          <a:xfrm>
            <a:off x="4724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Oval 84"/>
          <p:cNvSpPr/>
          <p:nvPr/>
        </p:nvSpPr>
        <p:spPr>
          <a:xfrm>
            <a:off x="4267200" y="2743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/>
          <p:cNvSpPr/>
          <p:nvPr/>
        </p:nvSpPr>
        <p:spPr>
          <a:xfrm>
            <a:off x="40386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Oval 86"/>
          <p:cNvSpPr/>
          <p:nvPr/>
        </p:nvSpPr>
        <p:spPr>
          <a:xfrm>
            <a:off x="51816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4191000" y="1600199"/>
            <a:ext cx="0" cy="44958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4964151" y="1600200"/>
            <a:ext cx="0" cy="44958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>
            <a:off x="4572000" y="6096000"/>
            <a:ext cx="392151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4552851" y="6096000"/>
                <a:ext cx="37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𝜹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2851" y="6096000"/>
                <a:ext cx="37221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4191000" y="6107668"/>
                <a:ext cx="37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𝜹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6107668"/>
                <a:ext cx="37221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Straight Arrow Connector 89"/>
          <p:cNvCxnSpPr/>
          <p:nvPr/>
        </p:nvCxnSpPr>
        <p:spPr>
          <a:xfrm flipH="1">
            <a:off x="4179849" y="6096000"/>
            <a:ext cx="392151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3" idx="0"/>
            <a:endCxn id="3" idx="2"/>
          </p:cNvCxnSpPr>
          <p:nvPr/>
        </p:nvCxnSpPr>
        <p:spPr>
          <a:xfrm>
            <a:off x="4572000" y="1600200"/>
            <a:ext cx="0" cy="4525963"/>
          </a:xfrm>
          <a:prstGeom prst="line">
            <a:avLst/>
          </a:prstGeom>
          <a:ln w="3810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Oval 92"/>
          <p:cNvSpPr/>
          <p:nvPr/>
        </p:nvSpPr>
        <p:spPr>
          <a:xfrm>
            <a:off x="4724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4" name="Oval 93"/>
          <p:cNvSpPr/>
          <p:nvPr/>
        </p:nvSpPr>
        <p:spPr>
          <a:xfrm>
            <a:off x="4724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7" name="Oval 116"/>
          <p:cNvSpPr/>
          <p:nvPr/>
        </p:nvSpPr>
        <p:spPr>
          <a:xfrm>
            <a:off x="4876800" y="4191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9" name="Oval 118"/>
          <p:cNvSpPr/>
          <p:nvPr/>
        </p:nvSpPr>
        <p:spPr>
          <a:xfrm>
            <a:off x="4648200" y="4724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/>
          <p:cNvSpPr/>
          <p:nvPr/>
        </p:nvSpPr>
        <p:spPr>
          <a:xfrm>
            <a:off x="4724400" y="3733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6" name="Oval 105"/>
          <p:cNvSpPr/>
          <p:nvPr/>
        </p:nvSpPr>
        <p:spPr>
          <a:xfrm>
            <a:off x="4876800" y="205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7" name="Oval 106"/>
          <p:cNvSpPr/>
          <p:nvPr/>
        </p:nvSpPr>
        <p:spPr>
          <a:xfrm>
            <a:off x="4648200" y="1676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8" name="Oval 107"/>
          <p:cNvSpPr/>
          <p:nvPr/>
        </p:nvSpPr>
        <p:spPr>
          <a:xfrm>
            <a:off x="4343400" y="1676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9" name="Oval 108"/>
          <p:cNvSpPr/>
          <p:nvPr/>
        </p:nvSpPr>
        <p:spPr>
          <a:xfrm>
            <a:off x="4419600" y="3352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8" name="Group 137"/>
          <p:cNvGrpSpPr/>
          <p:nvPr/>
        </p:nvGrpSpPr>
        <p:grpSpPr>
          <a:xfrm>
            <a:off x="4305300" y="1741441"/>
            <a:ext cx="152400" cy="3897359"/>
            <a:chOff x="4305300" y="1741441"/>
            <a:chExt cx="152400" cy="3897359"/>
          </a:xfrm>
        </p:grpSpPr>
        <p:cxnSp>
          <p:nvCxnSpPr>
            <p:cNvPr id="12" name="Straight Connector 11"/>
            <p:cNvCxnSpPr>
              <a:stCxn id="78" idx="0"/>
              <a:endCxn id="38" idx="4"/>
            </p:cNvCxnSpPr>
            <p:nvPr/>
          </p:nvCxnSpPr>
          <p:spPr>
            <a:xfrm flipH="1" flipV="1">
              <a:off x="4305300" y="5181600"/>
              <a:ext cx="152400" cy="457200"/>
            </a:xfrm>
            <a:prstGeom prst="line">
              <a:avLst/>
            </a:prstGeom>
            <a:ln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>
              <a:stCxn id="38" idx="7"/>
              <a:endCxn id="81" idx="3"/>
            </p:cNvCxnSpPr>
            <p:nvPr/>
          </p:nvCxnSpPr>
          <p:spPr>
            <a:xfrm flipV="1">
              <a:off x="4332241" y="4560841"/>
              <a:ext cx="98518" cy="555718"/>
            </a:xfrm>
            <a:prstGeom prst="line">
              <a:avLst/>
            </a:prstGeom>
            <a:ln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>
              <a:stCxn id="77" idx="4"/>
              <a:endCxn id="81" idx="1"/>
            </p:cNvCxnSpPr>
            <p:nvPr/>
          </p:nvCxnSpPr>
          <p:spPr>
            <a:xfrm>
              <a:off x="4305300" y="3962400"/>
              <a:ext cx="125459" cy="544559"/>
            </a:xfrm>
            <a:prstGeom prst="line">
              <a:avLst/>
            </a:prstGeom>
            <a:ln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>
              <a:stCxn id="109" idx="2"/>
              <a:endCxn id="77" idx="0"/>
            </p:cNvCxnSpPr>
            <p:nvPr/>
          </p:nvCxnSpPr>
          <p:spPr>
            <a:xfrm flipH="1">
              <a:off x="4305300" y="3390900"/>
              <a:ext cx="114300" cy="495300"/>
            </a:xfrm>
            <a:prstGeom prst="line">
              <a:avLst/>
            </a:prstGeom>
            <a:ln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>
              <a:stCxn id="85" idx="4"/>
              <a:endCxn id="109" idx="0"/>
            </p:cNvCxnSpPr>
            <p:nvPr/>
          </p:nvCxnSpPr>
          <p:spPr>
            <a:xfrm>
              <a:off x="4305300" y="2819400"/>
              <a:ext cx="152400" cy="533400"/>
            </a:xfrm>
            <a:prstGeom prst="line">
              <a:avLst/>
            </a:prstGeom>
            <a:ln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>
              <a:stCxn id="59" idx="4"/>
              <a:endCxn id="85" idx="0"/>
            </p:cNvCxnSpPr>
            <p:nvPr/>
          </p:nvCxnSpPr>
          <p:spPr>
            <a:xfrm>
              <a:off x="4305300" y="2286000"/>
              <a:ext cx="0" cy="457200"/>
            </a:xfrm>
            <a:prstGeom prst="line">
              <a:avLst/>
            </a:prstGeom>
            <a:ln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>
              <a:stCxn id="108" idx="3"/>
              <a:endCxn id="59" idx="0"/>
            </p:cNvCxnSpPr>
            <p:nvPr/>
          </p:nvCxnSpPr>
          <p:spPr>
            <a:xfrm flipH="1">
              <a:off x="4305300" y="1741441"/>
              <a:ext cx="49259" cy="468359"/>
            </a:xfrm>
            <a:prstGeom prst="line">
              <a:avLst/>
            </a:prstGeom>
            <a:ln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9" name="Group 138"/>
          <p:cNvGrpSpPr/>
          <p:nvPr/>
        </p:nvGrpSpPr>
        <p:grpSpPr>
          <a:xfrm>
            <a:off x="4686300" y="1714500"/>
            <a:ext cx="201659" cy="4152900"/>
            <a:chOff x="4686300" y="1714500"/>
            <a:chExt cx="201659" cy="4152900"/>
          </a:xfrm>
        </p:grpSpPr>
        <p:cxnSp>
          <p:nvCxnSpPr>
            <p:cNvPr id="125" name="Straight Connector 124"/>
            <p:cNvCxnSpPr>
              <a:stCxn id="79" idx="0"/>
              <a:endCxn id="80" idx="4"/>
            </p:cNvCxnSpPr>
            <p:nvPr/>
          </p:nvCxnSpPr>
          <p:spPr>
            <a:xfrm flipV="1">
              <a:off x="4838700" y="5334000"/>
              <a:ext cx="38100" cy="53340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/>
            <p:cNvCxnSpPr>
              <a:stCxn id="80" idx="4"/>
              <a:endCxn id="119" idx="5"/>
            </p:cNvCxnSpPr>
            <p:nvPr/>
          </p:nvCxnSpPr>
          <p:spPr>
            <a:xfrm flipH="1" flipV="1">
              <a:off x="4713241" y="4789441"/>
              <a:ext cx="163559" cy="544559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>
              <a:stCxn id="119" idx="0"/>
              <a:endCxn id="117" idx="3"/>
            </p:cNvCxnSpPr>
            <p:nvPr/>
          </p:nvCxnSpPr>
          <p:spPr>
            <a:xfrm flipV="1">
              <a:off x="4686300" y="4256041"/>
              <a:ext cx="201659" cy="468359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>
              <a:stCxn id="117" idx="1"/>
              <a:endCxn id="105" idx="5"/>
            </p:cNvCxnSpPr>
            <p:nvPr/>
          </p:nvCxnSpPr>
          <p:spPr>
            <a:xfrm flipH="1" flipV="1">
              <a:off x="4789441" y="3798841"/>
              <a:ext cx="98518" cy="403318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>
              <a:stCxn id="105" idx="1"/>
              <a:endCxn id="94" idx="5"/>
            </p:cNvCxnSpPr>
            <p:nvPr/>
          </p:nvCxnSpPr>
          <p:spPr>
            <a:xfrm flipV="1">
              <a:off x="4735559" y="3113041"/>
              <a:ext cx="53882" cy="631918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>
              <a:stCxn id="94" idx="0"/>
            </p:cNvCxnSpPr>
            <p:nvPr/>
          </p:nvCxnSpPr>
          <p:spPr>
            <a:xfrm flipV="1">
              <a:off x="4762500" y="2514601"/>
              <a:ext cx="5575" cy="533399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>
              <a:stCxn id="93" idx="0"/>
              <a:endCxn id="106" idx="3"/>
            </p:cNvCxnSpPr>
            <p:nvPr/>
          </p:nvCxnSpPr>
          <p:spPr>
            <a:xfrm flipV="1">
              <a:off x="4762500" y="2122441"/>
              <a:ext cx="125459" cy="315959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/>
            <p:cNvCxnSpPr>
              <a:stCxn id="106" idx="3"/>
              <a:endCxn id="107" idx="6"/>
            </p:cNvCxnSpPr>
            <p:nvPr/>
          </p:nvCxnSpPr>
          <p:spPr>
            <a:xfrm flipH="1" flipV="1">
              <a:off x="4724400" y="1714500"/>
              <a:ext cx="163559" cy="40794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5" name="TextBox 154"/>
          <p:cNvSpPr txBox="1"/>
          <p:nvPr/>
        </p:nvSpPr>
        <p:spPr>
          <a:xfrm>
            <a:off x="3048000" y="1219200"/>
            <a:ext cx="3413178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If the two strips are already sorted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0D71199B-B8B0-A14A-9B8C-CC7145226FDD}"/>
                  </a:ext>
                </a:extLst>
              </p:cNvPr>
              <p:cNvSpPr txBox="1"/>
              <p:nvPr/>
            </p:nvSpPr>
            <p:spPr>
              <a:xfrm>
                <a:off x="3657600" y="6400800"/>
                <a:ext cx="1800365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/>
                      </a:rPr>
                      <m:t>𝜹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b="1" dirty="0">
                    <a:sym typeface="Wingdings" panose="05000000000000000000" pitchFamily="2" charset="2"/>
                  </a:rPr>
                  <a:t>  min</a:t>
                </a:r>
                <a:r>
                  <a:rPr lang="en-US" dirty="0">
                    <a:sym typeface="Wingdings" panose="05000000000000000000" pitchFamily="2" charset="2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0D71199B-B8B0-A14A-9B8C-CC7145226F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6400800"/>
                <a:ext cx="1800365" cy="369332"/>
              </a:xfrm>
              <a:prstGeom prst="rect">
                <a:avLst/>
              </a:prstGeom>
              <a:blipFill>
                <a:blip r:embed="rId10"/>
                <a:stretch>
                  <a:fillRect t="-3333" r="-1399" b="-2333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76560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3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3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5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/>
          <p:cNvSpPr/>
          <p:nvPr/>
        </p:nvSpPr>
        <p:spPr>
          <a:xfrm>
            <a:off x="4610100" y="1623218"/>
            <a:ext cx="381000" cy="45259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/>
          <p:cNvSpPr/>
          <p:nvPr/>
        </p:nvSpPr>
        <p:spPr>
          <a:xfrm>
            <a:off x="4592886" y="4148984"/>
            <a:ext cx="371265" cy="42285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191000" y="1600199"/>
            <a:ext cx="381000" cy="45259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4000" b="1" dirty="0"/>
                  <a:t>The </a:t>
                </a:r>
                <a:r>
                  <a:rPr lang="en-US" sz="4000" b="1" dirty="0">
                    <a:solidFill>
                      <a:srgbClr val="7030A0"/>
                    </a:solidFill>
                  </a:rPr>
                  <a:t>combine</a:t>
                </a:r>
                <a:r>
                  <a:rPr lang="en-US" sz="4000" b="1" dirty="0"/>
                  <a:t> step in </a:t>
                </a:r>
                <a:r>
                  <a:rPr lang="en-US" sz="4000" b="1" i="1" dirty="0"/>
                  <a:t>O</a:t>
                </a:r>
                <a:r>
                  <a:rPr lang="en-US" sz="4000" dirty="0"/>
                  <a:t>(</a:t>
                </a:r>
                <a14:m>
                  <m:oMath xmlns:m="http://schemas.openxmlformats.org/officeDocument/2006/math">
                    <m:r>
                      <a:rPr lang="en-US" sz="4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4000" dirty="0"/>
                  <a:t>) </a:t>
                </a:r>
                <a:r>
                  <a:rPr lang="en-US" sz="4000" b="1" dirty="0"/>
                  <a:t>time</a:t>
                </a:r>
                <a:r>
                  <a:rPr lang="en-US" sz="4000" dirty="0"/>
                  <a:t> 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4"/>
                <a:stretch>
                  <a:fillRect b="-43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76600" y="2895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6576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629400" y="3505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4267200" y="5105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60198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6019800" y="5257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1816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" name="Straight Arrow Connector 43"/>
          <p:cNvCxnSpPr>
            <a:stCxn id="49" idx="1"/>
            <a:endCxn id="56" idx="7"/>
          </p:cNvCxnSpPr>
          <p:nvPr/>
        </p:nvCxnSpPr>
        <p:spPr>
          <a:xfrm flipH="1" flipV="1">
            <a:off x="1741441" y="3211559"/>
            <a:ext cx="250918" cy="762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3124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2743200" y="3657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69342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77000" y="2590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5105400" y="5410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8333" r="-1645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Oval 46"/>
          <p:cNvSpPr/>
          <p:nvPr/>
        </p:nvSpPr>
        <p:spPr>
          <a:xfrm>
            <a:off x="2438400" y="2667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981200" y="3276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133600" y="3962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6764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7" name="Oval 56"/>
          <p:cNvSpPr/>
          <p:nvPr/>
        </p:nvSpPr>
        <p:spPr>
          <a:xfrm>
            <a:off x="19050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8" name="Oval 57"/>
          <p:cNvSpPr/>
          <p:nvPr/>
        </p:nvSpPr>
        <p:spPr>
          <a:xfrm>
            <a:off x="1752600" y="2514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9" name="Oval 58"/>
          <p:cNvSpPr/>
          <p:nvPr/>
        </p:nvSpPr>
        <p:spPr>
          <a:xfrm>
            <a:off x="4267200" y="220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0" name="Oval 59"/>
          <p:cNvSpPr/>
          <p:nvPr/>
        </p:nvSpPr>
        <p:spPr>
          <a:xfrm>
            <a:off x="5486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1" name="Oval 60"/>
          <p:cNvSpPr/>
          <p:nvPr/>
        </p:nvSpPr>
        <p:spPr>
          <a:xfrm>
            <a:off x="54864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2" name="Oval 61"/>
          <p:cNvSpPr/>
          <p:nvPr/>
        </p:nvSpPr>
        <p:spPr>
          <a:xfrm>
            <a:off x="5638800" y="556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Oval 62"/>
          <p:cNvSpPr/>
          <p:nvPr/>
        </p:nvSpPr>
        <p:spPr>
          <a:xfrm>
            <a:off x="57912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66294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5" name="Oval 64"/>
          <p:cNvSpPr/>
          <p:nvPr/>
        </p:nvSpPr>
        <p:spPr>
          <a:xfrm>
            <a:off x="7772400" y="3124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Oval 65"/>
          <p:cNvSpPr/>
          <p:nvPr/>
        </p:nvSpPr>
        <p:spPr>
          <a:xfrm>
            <a:off x="79248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7924800" y="205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77724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70" name="Straight Arrow Connector 69"/>
          <p:cNvCxnSpPr>
            <a:endCxn id="62" idx="6"/>
          </p:cNvCxnSpPr>
          <p:nvPr/>
        </p:nvCxnSpPr>
        <p:spPr>
          <a:xfrm flipH="1">
            <a:off x="5715000" y="5334000"/>
            <a:ext cx="304800" cy="2667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5715000" y="5421868"/>
                <a:ext cx="4987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𝑹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5421868"/>
                <a:ext cx="498791" cy="369332"/>
              </a:xfrm>
              <a:prstGeom prst="rect">
                <a:avLst/>
              </a:prstGeom>
              <a:blipFill rotWithShape="1">
                <a:blip r:embed="rId8"/>
                <a:stretch>
                  <a:fillRect t="-8197" r="-16049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Oval 74"/>
          <p:cNvSpPr/>
          <p:nvPr/>
        </p:nvSpPr>
        <p:spPr>
          <a:xfrm>
            <a:off x="13716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Oval 75"/>
          <p:cNvSpPr/>
          <p:nvPr/>
        </p:nvSpPr>
        <p:spPr>
          <a:xfrm>
            <a:off x="838200" y="5791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7" name="Oval 76"/>
          <p:cNvSpPr/>
          <p:nvPr/>
        </p:nvSpPr>
        <p:spPr>
          <a:xfrm>
            <a:off x="42672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Oval 78"/>
          <p:cNvSpPr/>
          <p:nvPr/>
        </p:nvSpPr>
        <p:spPr>
          <a:xfrm>
            <a:off x="4800600" y="586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Oval 80"/>
          <p:cNvSpPr/>
          <p:nvPr/>
        </p:nvSpPr>
        <p:spPr>
          <a:xfrm>
            <a:off x="44196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Oval 82"/>
          <p:cNvSpPr/>
          <p:nvPr/>
        </p:nvSpPr>
        <p:spPr>
          <a:xfrm>
            <a:off x="4724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Oval 83"/>
          <p:cNvSpPr/>
          <p:nvPr/>
        </p:nvSpPr>
        <p:spPr>
          <a:xfrm>
            <a:off x="4724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/>
          <p:cNvSpPr/>
          <p:nvPr/>
        </p:nvSpPr>
        <p:spPr>
          <a:xfrm>
            <a:off x="40386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Oval 86"/>
          <p:cNvSpPr/>
          <p:nvPr/>
        </p:nvSpPr>
        <p:spPr>
          <a:xfrm>
            <a:off x="51816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4191000" y="1600199"/>
            <a:ext cx="0" cy="44958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4964151" y="1600200"/>
            <a:ext cx="0" cy="44958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>
            <a:off x="4572000" y="6096000"/>
            <a:ext cx="392151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4552851" y="6096000"/>
                <a:ext cx="37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𝜹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2851" y="6096000"/>
                <a:ext cx="37221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4191000" y="6107668"/>
                <a:ext cx="37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𝜹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6107668"/>
                <a:ext cx="372218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Straight Arrow Connector 89"/>
          <p:cNvCxnSpPr/>
          <p:nvPr/>
        </p:nvCxnSpPr>
        <p:spPr>
          <a:xfrm flipH="1">
            <a:off x="4179849" y="6096000"/>
            <a:ext cx="392151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4572000" y="1600200"/>
            <a:ext cx="0" cy="4525963"/>
          </a:xfrm>
          <a:prstGeom prst="line">
            <a:avLst/>
          </a:prstGeom>
          <a:ln w="3810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Oval 92"/>
          <p:cNvSpPr/>
          <p:nvPr/>
        </p:nvSpPr>
        <p:spPr>
          <a:xfrm>
            <a:off x="4724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4" name="Oval 93"/>
          <p:cNvSpPr/>
          <p:nvPr/>
        </p:nvSpPr>
        <p:spPr>
          <a:xfrm>
            <a:off x="4724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7" name="Oval 116"/>
          <p:cNvSpPr/>
          <p:nvPr/>
        </p:nvSpPr>
        <p:spPr>
          <a:xfrm>
            <a:off x="4876800" y="4191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9" name="Oval 118"/>
          <p:cNvSpPr/>
          <p:nvPr/>
        </p:nvSpPr>
        <p:spPr>
          <a:xfrm>
            <a:off x="4648200" y="4724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/>
          <p:cNvSpPr/>
          <p:nvPr/>
        </p:nvSpPr>
        <p:spPr>
          <a:xfrm>
            <a:off x="4724400" y="3733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6" name="Oval 105"/>
          <p:cNvSpPr/>
          <p:nvPr/>
        </p:nvSpPr>
        <p:spPr>
          <a:xfrm>
            <a:off x="4876800" y="205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7" name="Oval 106"/>
          <p:cNvSpPr/>
          <p:nvPr/>
        </p:nvSpPr>
        <p:spPr>
          <a:xfrm>
            <a:off x="4648200" y="1676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8" name="Oval 107"/>
          <p:cNvSpPr/>
          <p:nvPr/>
        </p:nvSpPr>
        <p:spPr>
          <a:xfrm>
            <a:off x="4343400" y="1676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9" name="Oval 108"/>
          <p:cNvSpPr/>
          <p:nvPr/>
        </p:nvSpPr>
        <p:spPr>
          <a:xfrm>
            <a:off x="4419600" y="3352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2" name="Rectangle 141"/>
          <p:cNvSpPr/>
          <p:nvPr/>
        </p:nvSpPr>
        <p:spPr>
          <a:xfrm>
            <a:off x="4201085" y="2706481"/>
            <a:ext cx="371265" cy="381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3" name="Straight Connector 142"/>
          <p:cNvCxnSpPr/>
          <p:nvPr/>
        </p:nvCxnSpPr>
        <p:spPr>
          <a:xfrm flipV="1">
            <a:off x="4191000" y="3085934"/>
            <a:ext cx="624840" cy="166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4" name="Group 153"/>
          <p:cNvGrpSpPr/>
          <p:nvPr/>
        </p:nvGrpSpPr>
        <p:grpSpPr>
          <a:xfrm>
            <a:off x="3715399" y="2697591"/>
            <a:ext cx="411299" cy="381000"/>
            <a:chOff x="6610251" y="5486400"/>
            <a:chExt cx="411299" cy="381000"/>
          </a:xfrm>
        </p:grpSpPr>
        <p:cxnSp>
          <p:nvCxnSpPr>
            <p:cNvPr id="148" name="Straight Arrow Connector 147"/>
            <p:cNvCxnSpPr/>
            <p:nvPr/>
          </p:nvCxnSpPr>
          <p:spPr>
            <a:xfrm flipH="1">
              <a:off x="7010400" y="5486400"/>
              <a:ext cx="11150" cy="381000"/>
            </a:xfrm>
            <a:prstGeom prst="straightConnector1">
              <a:avLst/>
            </a:prstGeom>
            <a:ln w="19050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/>
                <p:cNvSpPr txBox="1"/>
                <p:nvPr/>
              </p:nvSpPr>
              <p:spPr>
                <a:xfrm>
                  <a:off x="6610251" y="5486400"/>
                  <a:ext cx="3722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𝜹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50" name="TextBox 14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10251" y="5486400"/>
                  <a:ext cx="372218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5" name="Oval 94"/>
          <p:cNvSpPr/>
          <p:nvPr/>
        </p:nvSpPr>
        <p:spPr>
          <a:xfrm>
            <a:off x="4419600" y="563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6" name="Group 95"/>
          <p:cNvGrpSpPr/>
          <p:nvPr/>
        </p:nvGrpSpPr>
        <p:grpSpPr>
          <a:xfrm>
            <a:off x="4305300" y="1741441"/>
            <a:ext cx="152400" cy="3897359"/>
            <a:chOff x="4305300" y="1741441"/>
            <a:chExt cx="152400" cy="3897359"/>
          </a:xfrm>
        </p:grpSpPr>
        <p:cxnSp>
          <p:nvCxnSpPr>
            <p:cNvPr id="97" name="Straight Connector 96"/>
            <p:cNvCxnSpPr/>
            <p:nvPr/>
          </p:nvCxnSpPr>
          <p:spPr>
            <a:xfrm flipH="1" flipV="1">
              <a:off x="4305300" y="5181600"/>
              <a:ext cx="152400" cy="457200"/>
            </a:xfrm>
            <a:prstGeom prst="line">
              <a:avLst/>
            </a:prstGeom>
            <a:ln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 flipV="1">
              <a:off x="4332241" y="4560841"/>
              <a:ext cx="98518" cy="555718"/>
            </a:xfrm>
            <a:prstGeom prst="line">
              <a:avLst/>
            </a:prstGeom>
            <a:ln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>
              <a:off x="4305300" y="3962400"/>
              <a:ext cx="125459" cy="544559"/>
            </a:xfrm>
            <a:prstGeom prst="line">
              <a:avLst/>
            </a:prstGeom>
            <a:ln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flipH="1">
              <a:off x="4305300" y="3390900"/>
              <a:ext cx="114300" cy="495300"/>
            </a:xfrm>
            <a:prstGeom prst="line">
              <a:avLst/>
            </a:prstGeom>
            <a:ln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>
              <a:off x="4305300" y="2819400"/>
              <a:ext cx="152400" cy="533400"/>
            </a:xfrm>
            <a:prstGeom prst="line">
              <a:avLst/>
            </a:prstGeom>
            <a:ln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>
              <a:off x="4305300" y="2286000"/>
              <a:ext cx="0" cy="457200"/>
            </a:xfrm>
            <a:prstGeom prst="line">
              <a:avLst/>
            </a:prstGeom>
            <a:ln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flipH="1">
              <a:off x="4305300" y="1741441"/>
              <a:ext cx="49259" cy="468359"/>
            </a:xfrm>
            <a:prstGeom prst="line">
              <a:avLst/>
            </a:prstGeom>
            <a:ln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2" name="Straight Connector 111"/>
          <p:cNvCxnSpPr/>
          <p:nvPr/>
        </p:nvCxnSpPr>
        <p:spPr>
          <a:xfrm>
            <a:off x="4457700" y="4572000"/>
            <a:ext cx="511956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Oval 115"/>
          <p:cNvSpPr/>
          <p:nvPr/>
        </p:nvSpPr>
        <p:spPr>
          <a:xfrm>
            <a:off x="4267200" y="4419600"/>
            <a:ext cx="266700" cy="228600"/>
          </a:xfrm>
          <a:prstGeom prst="ellipse">
            <a:avLst/>
          </a:prstGeom>
          <a:noFill/>
          <a:ln>
            <a:solidFill>
              <a:srgbClr val="006C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val 151"/>
          <p:cNvSpPr/>
          <p:nvPr/>
        </p:nvSpPr>
        <p:spPr>
          <a:xfrm>
            <a:off x="4838700" y="5257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2" name="Group 171"/>
          <p:cNvGrpSpPr/>
          <p:nvPr/>
        </p:nvGrpSpPr>
        <p:grpSpPr>
          <a:xfrm>
            <a:off x="4686300" y="1714500"/>
            <a:ext cx="201659" cy="4152900"/>
            <a:chOff x="4686300" y="1714500"/>
            <a:chExt cx="201659" cy="4152900"/>
          </a:xfrm>
        </p:grpSpPr>
        <p:cxnSp>
          <p:nvCxnSpPr>
            <p:cNvPr id="173" name="Straight Connector 172"/>
            <p:cNvCxnSpPr/>
            <p:nvPr/>
          </p:nvCxnSpPr>
          <p:spPr>
            <a:xfrm flipV="1">
              <a:off x="4838700" y="5334000"/>
              <a:ext cx="38100" cy="53340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>
            <a:xfrm flipH="1" flipV="1">
              <a:off x="4713241" y="4789441"/>
              <a:ext cx="163559" cy="544559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>
            <a:xfrm flipV="1">
              <a:off x="4686300" y="4256041"/>
              <a:ext cx="201659" cy="468359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>
            <a:xfrm flipH="1" flipV="1">
              <a:off x="4789441" y="3798841"/>
              <a:ext cx="98518" cy="403318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>
            <a:xfrm flipV="1">
              <a:off x="4735559" y="3113041"/>
              <a:ext cx="53882" cy="631918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/>
          </p:nvCxnSpPr>
          <p:spPr>
            <a:xfrm flipV="1">
              <a:off x="4762500" y="2514601"/>
              <a:ext cx="5575" cy="533399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/>
            <p:cNvCxnSpPr/>
            <p:nvPr/>
          </p:nvCxnSpPr>
          <p:spPr>
            <a:xfrm flipV="1">
              <a:off x="4762500" y="2122441"/>
              <a:ext cx="125459" cy="315959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/>
            <p:nvPr/>
          </p:nvCxnSpPr>
          <p:spPr>
            <a:xfrm flipH="1" flipV="1">
              <a:off x="4724400" y="1714500"/>
              <a:ext cx="163559" cy="40794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1" name="Oval 180"/>
          <p:cNvSpPr/>
          <p:nvPr/>
        </p:nvSpPr>
        <p:spPr>
          <a:xfrm>
            <a:off x="4724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8" name="TextBox 117"/>
          <p:cNvSpPr txBox="1"/>
          <p:nvPr/>
        </p:nvSpPr>
        <p:spPr>
          <a:xfrm>
            <a:off x="3048000" y="1219200"/>
            <a:ext cx="3413178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If the two strips are already sorted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/>
              <p:cNvSpPr txBox="1"/>
              <p:nvPr/>
            </p:nvSpPr>
            <p:spPr>
              <a:xfrm>
                <a:off x="3657600" y="6400800"/>
                <a:ext cx="1800365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/>
                      </a:rPr>
                      <m:t>𝜹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b="1" dirty="0">
                    <a:sym typeface="Wingdings" panose="05000000000000000000" pitchFamily="2" charset="2"/>
                  </a:rPr>
                  <a:t>  min</a:t>
                </a:r>
                <a:r>
                  <a:rPr lang="en-US" dirty="0">
                    <a:sym typeface="Wingdings" panose="05000000000000000000" pitchFamily="2" charset="2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120" name="TextBox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6400800"/>
                <a:ext cx="1800365" cy="369332"/>
              </a:xfrm>
              <a:prstGeom prst="rect">
                <a:avLst/>
              </a:prstGeom>
              <a:blipFill>
                <a:blip r:embed="rId12"/>
                <a:stretch>
                  <a:fillRect t="-7937" r="-2020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" name="Rectangle 120"/>
          <p:cNvSpPr/>
          <p:nvPr/>
        </p:nvSpPr>
        <p:spPr>
          <a:xfrm>
            <a:off x="76200" y="1600199"/>
            <a:ext cx="3711499" cy="4495801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/>
          <p:cNvSpPr/>
          <p:nvPr/>
        </p:nvSpPr>
        <p:spPr>
          <a:xfrm>
            <a:off x="5105400" y="1588532"/>
            <a:ext cx="3711499" cy="4495801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3" name="Group 112"/>
          <p:cNvGrpSpPr/>
          <p:nvPr/>
        </p:nvGrpSpPr>
        <p:grpSpPr>
          <a:xfrm>
            <a:off x="4957612" y="4125959"/>
            <a:ext cx="425116" cy="446041"/>
            <a:chOff x="6878915" y="5497559"/>
            <a:chExt cx="425116" cy="446041"/>
          </a:xfrm>
        </p:grpSpPr>
        <p:cxnSp>
          <p:nvCxnSpPr>
            <p:cNvPr id="114" name="Straight Arrow Connector 113"/>
            <p:cNvCxnSpPr/>
            <p:nvPr/>
          </p:nvCxnSpPr>
          <p:spPr>
            <a:xfrm flipH="1">
              <a:off x="7015551" y="5497559"/>
              <a:ext cx="5999" cy="446041"/>
            </a:xfrm>
            <a:prstGeom prst="straightConnector1">
              <a:avLst/>
            </a:prstGeom>
            <a:ln w="19050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TextBox 114"/>
                <p:cNvSpPr txBox="1"/>
                <p:nvPr/>
              </p:nvSpPr>
              <p:spPr>
                <a:xfrm>
                  <a:off x="6878915" y="5524222"/>
                  <a:ext cx="4251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/>
                    <a:t>  </a:t>
                  </a:r>
                  <a14:m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𝜹</m:t>
                      </m:r>
                    </m:oMath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15" name="TextBox 1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8915" y="5524222"/>
                  <a:ext cx="425116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5" name="Oval 84"/>
          <p:cNvSpPr/>
          <p:nvPr/>
        </p:nvSpPr>
        <p:spPr>
          <a:xfrm>
            <a:off x="4267200" y="2743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3" name="Oval 122"/>
          <p:cNvSpPr/>
          <p:nvPr/>
        </p:nvSpPr>
        <p:spPr>
          <a:xfrm>
            <a:off x="4610100" y="2971800"/>
            <a:ext cx="266700" cy="2286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/>
              <p:cNvSpPr txBox="1"/>
              <p:nvPr/>
            </p:nvSpPr>
            <p:spPr>
              <a:xfrm>
                <a:off x="4720861" y="3069616"/>
                <a:ext cx="3802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4" name="TextBox 1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0861" y="3069616"/>
                <a:ext cx="380232" cy="369332"/>
              </a:xfrm>
              <a:prstGeom prst="rect">
                <a:avLst/>
              </a:prstGeom>
              <a:blipFill>
                <a:blip r:embed="rId1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/>
              <p:cNvSpPr txBox="1"/>
              <p:nvPr/>
            </p:nvSpPr>
            <p:spPr>
              <a:xfrm>
                <a:off x="4018483" y="4530680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0" name="TextBox 10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8483" y="4530680"/>
                <a:ext cx="377026" cy="369332"/>
              </a:xfrm>
              <a:prstGeom prst="rect">
                <a:avLst/>
              </a:prstGeom>
              <a:blipFill>
                <a:blip r:embed="rId1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730386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 animBg="1"/>
      <p:bldP spid="142" grpId="0" animBg="1"/>
      <p:bldP spid="116" grpId="0" animBg="1"/>
      <p:bldP spid="123" grpId="0" animBg="1"/>
      <p:bldP spid="104" grpId="0"/>
      <p:bldP spid="1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4000" b="1" dirty="0"/>
                  <a:t>The </a:t>
                </a:r>
                <a:r>
                  <a:rPr lang="en-US" sz="4000" b="1" dirty="0">
                    <a:solidFill>
                      <a:srgbClr val="7030A0"/>
                    </a:solidFill>
                  </a:rPr>
                  <a:t>combine</a:t>
                </a:r>
                <a:r>
                  <a:rPr lang="en-US" sz="4000" b="1" dirty="0"/>
                  <a:t> step in </a:t>
                </a:r>
                <a:r>
                  <a:rPr lang="en-US" sz="4000" b="1" i="1" dirty="0"/>
                  <a:t>O</a:t>
                </a:r>
                <a:r>
                  <a:rPr lang="en-US" sz="4000" dirty="0"/>
                  <a:t>(</a:t>
                </a:r>
                <a14:m>
                  <m:oMath xmlns:m="http://schemas.openxmlformats.org/officeDocument/2006/math">
                    <m:r>
                      <a:rPr lang="en-US" sz="4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4000" dirty="0"/>
                  <a:t>) </a:t>
                </a:r>
                <a:r>
                  <a:rPr lang="en-US" sz="4000" b="1" dirty="0"/>
                  <a:t>time</a:t>
                </a:r>
                <a:r>
                  <a:rPr lang="en-US" sz="4000" dirty="0"/>
                  <a:t> 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b="-43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FF0000"/>
                    </a:solidFill>
                  </a:rPr>
                  <a:t>       </a:t>
                </a:r>
                <a:r>
                  <a:rPr lang="en-US" sz="2000" dirty="0"/>
                  <a:t>At most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en-US" sz="2000" dirty="0"/>
                  <a:t> consecutive points need to be considered. 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572000" y="1600200"/>
            <a:ext cx="2590800" cy="3352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>
            <a:cxnSpLocks/>
          </p:cNvCxnSpPr>
          <p:nvPr/>
        </p:nvCxnSpPr>
        <p:spPr>
          <a:xfrm flipH="1">
            <a:off x="7122837" y="1432879"/>
            <a:ext cx="39961" cy="381886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2019223" y="1600200"/>
            <a:ext cx="2552778" cy="3352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/>
          <p:cNvCxnSpPr>
            <a:cxnSpLocks/>
          </p:cNvCxnSpPr>
          <p:nvPr/>
        </p:nvCxnSpPr>
        <p:spPr>
          <a:xfrm flipH="1">
            <a:off x="2007868" y="1417638"/>
            <a:ext cx="11355" cy="383410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4561840" y="1600200"/>
            <a:ext cx="10160" cy="3368040"/>
          </a:xfrm>
          <a:prstGeom prst="line">
            <a:avLst/>
          </a:prstGeom>
          <a:ln w="3810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5125388" y="4560490"/>
            <a:ext cx="163551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0" name="Straight Connector 59"/>
          <p:cNvCxnSpPr>
            <a:cxnSpLocks/>
          </p:cNvCxnSpPr>
          <p:nvPr/>
        </p:nvCxnSpPr>
        <p:spPr>
          <a:xfrm>
            <a:off x="1409761" y="4658360"/>
            <a:ext cx="3693699" cy="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Group 67"/>
          <p:cNvGrpSpPr/>
          <p:nvPr/>
        </p:nvGrpSpPr>
        <p:grpSpPr>
          <a:xfrm>
            <a:off x="3276600" y="1432879"/>
            <a:ext cx="1001751" cy="3666461"/>
            <a:chOff x="3276600" y="1432879"/>
            <a:chExt cx="1001751" cy="3666461"/>
          </a:xfrm>
        </p:grpSpPr>
        <p:sp>
          <p:nvSpPr>
            <p:cNvPr id="36" name="Oval 35"/>
            <p:cNvSpPr/>
            <p:nvPr/>
          </p:nvSpPr>
          <p:spPr>
            <a:xfrm>
              <a:off x="3962400" y="2650219"/>
              <a:ext cx="163551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38" name="Oval 37"/>
            <p:cNvSpPr/>
            <p:nvPr/>
          </p:nvSpPr>
          <p:spPr>
            <a:xfrm>
              <a:off x="4114800" y="3793219"/>
              <a:ext cx="163551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Oval 38"/>
            <p:cNvSpPr/>
            <p:nvPr/>
          </p:nvSpPr>
          <p:spPr>
            <a:xfrm>
              <a:off x="3505200" y="3183619"/>
              <a:ext cx="163551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0" name="Straight Connector 39"/>
            <p:cNvCxnSpPr>
              <a:stCxn id="38" idx="4"/>
              <a:endCxn id="37" idx="0"/>
            </p:cNvCxnSpPr>
            <p:nvPr/>
          </p:nvCxnSpPr>
          <p:spPr>
            <a:xfrm flipH="1">
              <a:off x="3358376" y="3945619"/>
              <a:ext cx="838200" cy="38100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>
              <a:stCxn id="39" idx="4"/>
              <a:endCxn id="38" idx="1"/>
            </p:cNvCxnSpPr>
            <p:nvPr/>
          </p:nvCxnSpPr>
          <p:spPr>
            <a:xfrm>
              <a:off x="3586976" y="3336019"/>
              <a:ext cx="551775" cy="479518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>
              <a:stCxn id="36" idx="4"/>
              <a:endCxn id="39" idx="0"/>
            </p:cNvCxnSpPr>
            <p:nvPr/>
          </p:nvCxnSpPr>
          <p:spPr>
            <a:xfrm flipH="1">
              <a:off x="3586976" y="2802619"/>
              <a:ext cx="457200" cy="38100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>
              <a:cxnSpLocks/>
              <a:endCxn id="55" idx="0"/>
            </p:cNvCxnSpPr>
            <p:nvPr/>
          </p:nvCxnSpPr>
          <p:spPr>
            <a:xfrm>
              <a:off x="4000500" y="1432879"/>
              <a:ext cx="56476" cy="548321"/>
            </a:xfrm>
            <a:prstGeom prst="line">
              <a:avLst/>
            </a:prstGeom>
            <a:ln w="19050">
              <a:solidFill>
                <a:srgbClr val="006C3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Oval 54"/>
            <p:cNvSpPr/>
            <p:nvPr/>
          </p:nvSpPr>
          <p:spPr>
            <a:xfrm>
              <a:off x="3975200" y="1981200"/>
              <a:ext cx="163551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cxnSp>
          <p:nvCxnSpPr>
            <p:cNvPr id="58" name="Straight Connector 57"/>
            <p:cNvCxnSpPr/>
            <p:nvPr/>
          </p:nvCxnSpPr>
          <p:spPr>
            <a:xfrm flipH="1">
              <a:off x="4038600" y="2133600"/>
              <a:ext cx="18375" cy="516619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>
              <a:cxnSpLocks/>
              <a:stCxn id="37" idx="5"/>
              <a:endCxn id="13" idx="0"/>
            </p:cNvCxnSpPr>
            <p:nvPr/>
          </p:nvCxnSpPr>
          <p:spPr>
            <a:xfrm>
              <a:off x="3416200" y="4456701"/>
              <a:ext cx="429327" cy="642639"/>
            </a:xfrm>
            <a:prstGeom prst="line">
              <a:avLst/>
            </a:prstGeom>
            <a:ln w="19050">
              <a:solidFill>
                <a:srgbClr val="006C3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/>
            <p:cNvSpPr/>
            <p:nvPr/>
          </p:nvSpPr>
          <p:spPr>
            <a:xfrm>
              <a:off x="3276600" y="4326619"/>
              <a:ext cx="163551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72" name="Straight Connector 71"/>
          <p:cNvCxnSpPr>
            <a:cxnSpLocks/>
          </p:cNvCxnSpPr>
          <p:nvPr/>
        </p:nvCxnSpPr>
        <p:spPr>
          <a:xfrm flipH="1">
            <a:off x="4561840" y="1295400"/>
            <a:ext cx="10160" cy="4114800"/>
          </a:xfrm>
          <a:prstGeom prst="line">
            <a:avLst/>
          </a:prstGeom>
          <a:ln w="38100">
            <a:solidFill>
              <a:srgbClr val="006C3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5010035" y="4500704"/>
            <a:ext cx="332246" cy="27197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/>
          <p:cNvSpPr/>
          <p:nvPr/>
        </p:nvSpPr>
        <p:spPr>
          <a:xfrm>
            <a:off x="3172954" y="4267009"/>
            <a:ext cx="332246" cy="271971"/>
          </a:xfrm>
          <a:prstGeom prst="ellipse">
            <a:avLst/>
          </a:prstGeom>
          <a:noFill/>
          <a:ln>
            <a:solidFill>
              <a:srgbClr val="006C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/>
          <p:cNvSpPr/>
          <p:nvPr/>
        </p:nvSpPr>
        <p:spPr>
          <a:xfrm>
            <a:off x="4000500" y="3727195"/>
            <a:ext cx="332246" cy="271971"/>
          </a:xfrm>
          <a:prstGeom prst="ellipse">
            <a:avLst/>
          </a:prstGeom>
          <a:noFill/>
          <a:ln>
            <a:solidFill>
              <a:srgbClr val="006C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/>
          <p:cNvSpPr/>
          <p:nvPr/>
        </p:nvSpPr>
        <p:spPr>
          <a:xfrm>
            <a:off x="3401554" y="3107324"/>
            <a:ext cx="332246" cy="271971"/>
          </a:xfrm>
          <a:prstGeom prst="ellipse">
            <a:avLst/>
          </a:prstGeom>
          <a:noFill/>
          <a:ln>
            <a:solidFill>
              <a:srgbClr val="006C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/>
          <p:cNvSpPr/>
          <p:nvPr/>
        </p:nvSpPr>
        <p:spPr>
          <a:xfrm>
            <a:off x="3845527" y="2589821"/>
            <a:ext cx="332246" cy="271971"/>
          </a:xfrm>
          <a:prstGeom prst="ellipse">
            <a:avLst/>
          </a:prstGeom>
          <a:noFill/>
          <a:ln>
            <a:solidFill>
              <a:srgbClr val="006C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/>
              <p:cNvSpPr txBox="1"/>
              <p:nvPr/>
            </p:nvSpPr>
            <p:spPr>
              <a:xfrm>
                <a:off x="5146863" y="4675693"/>
                <a:ext cx="3802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2" name="TextBox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6863" y="4675693"/>
                <a:ext cx="380232" cy="369332"/>
              </a:xfrm>
              <a:prstGeom prst="rect">
                <a:avLst/>
              </a:prstGeom>
              <a:blipFill>
                <a:blip r:embed="rId7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ounded Rectangle 101">
            <a:extLst>
              <a:ext uri="{FF2B5EF4-FFF2-40B4-BE49-F238E27FC236}">
                <a16:creationId xmlns:a16="http://schemas.microsoft.com/office/drawing/2014/main" id="{D5956B2B-5B9E-7521-3B53-C4ABE13B492F}"/>
              </a:ext>
            </a:extLst>
          </p:cNvPr>
          <p:cNvSpPr/>
          <p:nvPr/>
        </p:nvSpPr>
        <p:spPr>
          <a:xfrm>
            <a:off x="11152" y="1970041"/>
            <a:ext cx="1066800" cy="5334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Tool </a:t>
            </a:r>
            <a:r>
              <a:rPr lang="en-US" sz="2400" b="1" dirty="0">
                <a:solidFill>
                  <a:srgbClr val="00B0F0"/>
                </a:solidFill>
              </a:rPr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CCA06B-A62C-AA75-30C3-AAC3D2718146}"/>
              </a:ext>
            </a:extLst>
          </p:cNvPr>
          <p:cNvSpPr txBox="1"/>
          <p:nvPr/>
        </p:nvSpPr>
        <p:spPr>
          <a:xfrm>
            <a:off x="3678982" y="1799296"/>
            <a:ext cx="304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?</a:t>
            </a:r>
            <a:endParaRPr lang="en-IN" sz="3200" b="1" dirty="0">
              <a:solidFill>
                <a:srgbClr val="FF0000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B73B6A0-72E9-BB95-D99C-3C97A91CDF88}"/>
              </a:ext>
            </a:extLst>
          </p:cNvPr>
          <p:cNvCxnSpPr>
            <a:cxnSpLocks/>
          </p:cNvCxnSpPr>
          <p:nvPr/>
        </p:nvCxnSpPr>
        <p:spPr>
          <a:xfrm>
            <a:off x="1524000" y="1905000"/>
            <a:ext cx="3048000" cy="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F6B40F6-B2C7-57A4-4E7D-260B54681FC8}"/>
                  </a:ext>
                </a:extLst>
              </p:cNvPr>
              <p:cNvSpPr txBox="1"/>
              <p:nvPr/>
            </p:nvSpPr>
            <p:spPr>
              <a:xfrm>
                <a:off x="2846155" y="4860359"/>
                <a:ext cx="37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𝜹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F6B40F6-B2C7-57A4-4E7D-260B54681F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6155" y="4860359"/>
                <a:ext cx="37221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A6925FC-93E0-D7A3-E5FA-18F78C8A72E2}"/>
              </a:ext>
            </a:extLst>
          </p:cNvPr>
          <p:cNvCxnSpPr>
            <a:cxnSpLocks/>
          </p:cNvCxnSpPr>
          <p:nvPr/>
        </p:nvCxnSpPr>
        <p:spPr>
          <a:xfrm flipH="1">
            <a:off x="1981200" y="4952999"/>
            <a:ext cx="2590800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E3DC898-51C4-6B24-6DD3-61868A99465C}"/>
              </a:ext>
            </a:extLst>
          </p:cNvPr>
          <p:cNvCxnSpPr>
            <a:cxnSpLocks/>
          </p:cNvCxnSpPr>
          <p:nvPr/>
        </p:nvCxnSpPr>
        <p:spPr>
          <a:xfrm flipV="1">
            <a:off x="1600200" y="1904998"/>
            <a:ext cx="0" cy="2753362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0F6D882-A068-C158-8590-D647D45670EC}"/>
                  </a:ext>
                </a:extLst>
              </p:cNvPr>
              <p:cNvSpPr txBox="1"/>
              <p:nvPr/>
            </p:nvSpPr>
            <p:spPr>
              <a:xfrm>
                <a:off x="1107826" y="3099554"/>
                <a:ext cx="37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𝜹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0F6D882-A068-C158-8590-D647D45670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26" y="3099554"/>
                <a:ext cx="37221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6009C17-407F-3406-5F21-259AC1FD62B4}"/>
              </a:ext>
            </a:extLst>
          </p:cNvPr>
          <p:cNvCxnSpPr>
            <a:cxnSpLocks/>
            <a:stCxn id="56" idx="1"/>
            <a:endCxn id="55" idx="5"/>
          </p:cNvCxnSpPr>
          <p:nvPr/>
        </p:nvCxnSpPr>
        <p:spPr>
          <a:xfrm flipH="1" flipV="1">
            <a:off x="4114800" y="2111282"/>
            <a:ext cx="1034539" cy="2471526"/>
          </a:xfrm>
          <a:prstGeom prst="straightConnector1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63FE034-C346-DAEC-3620-AE69ED19E4E2}"/>
                  </a:ext>
                </a:extLst>
              </p:cNvPr>
              <p:cNvSpPr txBox="1"/>
              <p:nvPr/>
            </p:nvSpPr>
            <p:spPr>
              <a:xfrm>
                <a:off x="4723767" y="3284220"/>
                <a:ext cx="6094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𝜹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63FE034-C346-DAEC-3620-AE69ED19E4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3767" y="3284220"/>
                <a:ext cx="60946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8C06ED5C-642A-0EB7-2DEB-A1C2824A8BE5}"/>
              </a:ext>
            </a:extLst>
          </p:cNvPr>
          <p:cNvSpPr/>
          <p:nvPr/>
        </p:nvSpPr>
        <p:spPr>
          <a:xfrm>
            <a:off x="2019221" y="1904998"/>
            <a:ext cx="2531654" cy="2749261"/>
          </a:xfrm>
          <a:prstGeom prst="rect">
            <a:avLst/>
          </a:prstGeom>
          <a:solidFill>
            <a:schemeClr val="accent2">
              <a:lumMod val="60000"/>
              <a:lumOff val="4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9013212-778D-5841-9AEF-D64F3891E487}"/>
              </a:ext>
            </a:extLst>
          </p:cNvPr>
          <p:cNvSpPr/>
          <p:nvPr/>
        </p:nvSpPr>
        <p:spPr>
          <a:xfrm>
            <a:off x="3763751" y="5099340"/>
            <a:ext cx="163551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0AD9896-DD48-9E51-9E36-B7C240AF00AF}"/>
              </a:ext>
            </a:extLst>
          </p:cNvPr>
          <p:cNvCxnSpPr>
            <a:cxnSpLocks/>
            <a:stCxn id="13" idx="3"/>
          </p:cNvCxnSpPr>
          <p:nvPr/>
        </p:nvCxnSpPr>
        <p:spPr>
          <a:xfrm flipH="1">
            <a:off x="3567677" y="5229422"/>
            <a:ext cx="220025" cy="289901"/>
          </a:xfrm>
          <a:prstGeom prst="line">
            <a:avLst/>
          </a:prstGeom>
          <a:ln w="19050">
            <a:solidFill>
              <a:srgbClr val="006C3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miley Face 11">
            <a:extLst>
              <a:ext uri="{FF2B5EF4-FFF2-40B4-BE49-F238E27FC236}">
                <a16:creationId xmlns:a16="http://schemas.microsoft.com/office/drawing/2014/main" id="{A2392A73-3741-F79F-F2D2-A155D6210F88}"/>
              </a:ext>
            </a:extLst>
          </p:cNvPr>
          <p:cNvSpPr/>
          <p:nvPr/>
        </p:nvSpPr>
        <p:spPr>
          <a:xfrm>
            <a:off x="6705598" y="5635770"/>
            <a:ext cx="457200" cy="403658"/>
          </a:xfrm>
          <a:prstGeom prst="smileyFac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6404C5-A0A4-E040-0433-A39ABF035979}"/>
              </a:ext>
            </a:extLst>
          </p:cNvPr>
          <p:cNvSpPr txBox="1"/>
          <p:nvPr/>
        </p:nvSpPr>
        <p:spPr>
          <a:xfrm>
            <a:off x="398856" y="6108818"/>
            <a:ext cx="1358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6C31"/>
                </a:solidFill>
              </a:rPr>
              <a:t>Homework: </a:t>
            </a:r>
            <a:endParaRPr lang="en-IN" b="1" dirty="0">
              <a:solidFill>
                <a:srgbClr val="006C3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28FA2B-93D9-175F-673D-3886A5BA2D61}"/>
              </a:ext>
            </a:extLst>
          </p:cNvPr>
          <p:cNvSpPr txBox="1"/>
          <p:nvPr/>
        </p:nvSpPr>
        <p:spPr>
          <a:xfrm>
            <a:off x="1711356" y="6114289"/>
            <a:ext cx="54114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Give precise and formal arguments we gave in the class </a:t>
            </a:r>
          </a:p>
          <a:p>
            <a:r>
              <a:rPr lang="en-US" dirty="0"/>
              <a:t>to prove the above claim.</a:t>
            </a:r>
            <a:endParaRPr lang="en-I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72268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6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6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2" grpId="0"/>
      <p:bldP spid="33" grpId="0" animBg="1"/>
      <p:bldP spid="33" grpId="1" animBg="1"/>
      <p:bldP spid="6" grpId="0"/>
      <p:bldP spid="14" grpId="0"/>
      <p:bldP spid="21" grpId="0"/>
      <p:bldP spid="16" grpId="0"/>
      <p:bldP spid="8" grpId="0" animBg="1"/>
      <p:bldP spid="13" grpId="0" animBg="1"/>
      <p:bldP spid="12" grpId="0" animBg="1"/>
      <p:bldP spid="17" grpId="0"/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/>
          <p:cNvSpPr/>
          <p:nvPr/>
        </p:nvSpPr>
        <p:spPr>
          <a:xfrm>
            <a:off x="4610100" y="1623218"/>
            <a:ext cx="381000" cy="45259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191000" y="1600199"/>
            <a:ext cx="381000" cy="45259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4000" b="1" dirty="0"/>
                  <a:t>The </a:t>
                </a:r>
                <a:r>
                  <a:rPr lang="en-US" sz="4000" b="1" dirty="0">
                    <a:solidFill>
                      <a:srgbClr val="7030A0"/>
                    </a:solidFill>
                  </a:rPr>
                  <a:t>combine</a:t>
                </a:r>
                <a:r>
                  <a:rPr lang="en-US" sz="4000" b="1" dirty="0"/>
                  <a:t> step in </a:t>
                </a:r>
                <a:r>
                  <a:rPr lang="en-US" sz="4000" b="1" i="1" dirty="0"/>
                  <a:t>O</a:t>
                </a:r>
                <a:r>
                  <a:rPr lang="en-US" sz="4000" dirty="0"/>
                  <a:t>(</a:t>
                </a:r>
                <a14:m>
                  <m:oMath xmlns:m="http://schemas.openxmlformats.org/officeDocument/2006/math">
                    <m:r>
                      <a:rPr lang="en-US" sz="4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4000" dirty="0"/>
                  <a:t>) </a:t>
                </a:r>
                <a:r>
                  <a:rPr lang="en-US" sz="4000" b="1" dirty="0"/>
                  <a:t>time</a:t>
                </a:r>
                <a:r>
                  <a:rPr lang="en-US" sz="4000" dirty="0"/>
                  <a:t> 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b="-43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76600" y="2895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6576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629400" y="3505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4267200" y="5105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60198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6019800" y="5257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1816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" name="Straight Arrow Connector 43"/>
          <p:cNvCxnSpPr>
            <a:stCxn id="49" idx="1"/>
            <a:endCxn id="56" idx="7"/>
          </p:cNvCxnSpPr>
          <p:nvPr/>
        </p:nvCxnSpPr>
        <p:spPr>
          <a:xfrm flipH="1" flipV="1">
            <a:off x="1741441" y="3211559"/>
            <a:ext cx="250918" cy="762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3124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2743200" y="3657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69342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77000" y="2590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5105400" y="5410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333" r="-1645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Oval 46"/>
          <p:cNvSpPr/>
          <p:nvPr/>
        </p:nvSpPr>
        <p:spPr>
          <a:xfrm>
            <a:off x="2438400" y="2667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981200" y="3276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133600" y="3962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6764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7" name="Oval 56"/>
          <p:cNvSpPr/>
          <p:nvPr/>
        </p:nvSpPr>
        <p:spPr>
          <a:xfrm>
            <a:off x="19050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8" name="Oval 57"/>
          <p:cNvSpPr/>
          <p:nvPr/>
        </p:nvSpPr>
        <p:spPr>
          <a:xfrm>
            <a:off x="1752600" y="2514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9" name="Oval 58"/>
          <p:cNvSpPr/>
          <p:nvPr/>
        </p:nvSpPr>
        <p:spPr>
          <a:xfrm>
            <a:off x="4267200" y="220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0" name="Oval 59"/>
          <p:cNvSpPr/>
          <p:nvPr/>
        </p:nvSpPr>
        <p:spPr>
          <a:xfrm>
            <a:off x="5486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1" name="Oval 60"/>
          <p:cNvSpPr/>
          <p:nvPr/>
        </p:nvSpPr>
        <p:spPr>
          <a:xfrm>
            <a:off x="54864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2" name="Oval 61"/>
          <p:cNvSpPr/>
          <p:nvPr/>
        </p:nvSpPr>
        <p:spPr>
          <a:xfrm>
            <a:off x="5638800" y="556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Oval 62"/>
          <p:cNvSpPr/>
          <p:nvPr/>
        </p:nvSpPr>
        <p:spPr>
          <a:xfrm>
            <a:off x="57912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66294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5" name="Oval 64"/>
          <p:cNvSpPr/>
          <p:nvPr/>
        </p:nvSpPr>
        <p:spPr>
          <a:xfrm>
            <a:off x="7772400" y="3124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Oval 65"/>
          <p:cNvSpPr/>
          <p:nvPr/>
        </p:nvSpPr>
        <p:spPr>
          <a:xfrm>
            <a:off x="79248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7924800" y="205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77724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70" name="Straight Arrow Connector 69"/>
          <p:cNvCxnSpPr>
            <a:endCxn id="62" idx="6"/>
          </p:cNvCxnSpPr>
          <p:nvPr/>
        </p:nvCxnSpPr>
        <p:spPr>
          <a:xfrm flipH="1">
            <a:off x="5715000" y="5334000"/>
            <a:ext cx="304800" cy="2667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5715000" y="5421868"/>
                <a:ext cx="4987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𝑹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5421868"/>
                <a:ext cx="498791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8197" r="-16049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Oval 74"/>
          <p:cNvSpPr/>
          <p:nvPr/>
        </p:nvSpPr>
        <p:spPr>
          <a:xfrm>
            <a:off x="13716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Oval 75"/>
          <p:cNvSpPr/>
          <p:nvPr/>
        </p:nvSpPr>
        <p:spPr>
          <a:xfrm>
            <a:off x="838200" y="5791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7" name="Oval 76"/>
          <p:cNvSpPr/>
          <p:nvPr/>
        </p:nvSpPr>
        <p:spPr>
          <a:xfrm>
            <a:off x="42672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Oval 77"/>
          <p:cNvSpPr/>
          <p:nvPr/>
        </p:nvSpPr>
        <p:spPr>
          <a:xfrm>
            <a:off x="4419600" y="563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Oval 78"/>
          <p:cNvSpPr/>
          <p:nvPr/>
        </p:nvSpPr>
        <p:spPr>
          <a:xfrm>
            <a:off x="4800600" y="586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Oval 79"/>
          <p:cNvSpPr/>
          <p:nvPr/>
        </p:nvSpPr>
        <p:spPr>
          <a:xfrm>
            <a:off x="4838700" y="5257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Oval 80"/>
          <p:cNvSpPr/>
          <p:nvPr/>
        </p:nvSpPr>
        <p:spPr>
          <a:xfrm>
            <a:off x="44196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Oval 82"/>
          <p:cNvSpPr/>
          <p:nvPr/>
        </p:nvSpPr>
        <p:spPr>
          <a:xfrm>
            <a:off x="4724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Oval 83"/>
          <p:cNvSpPr/>
          <p:nvPr/>
        </p:nvSpPr>
        <p:spPr>
          <a:xfrm>
            <a:off x="4724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Oval 84"/>
          <p:cNvSpPr/>
          <p:nvPr/>
        </p:nvSpPr>
        <p:spPr>
          <a:xfrm>
            <a:off x="4267200" y="2743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/>
          <p:cNvSpPr/>
          <p:nvPr/>
        </p:nvSpPr>
        <p:spPr>
          <a:xfrm>
            <a:off x="40386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Oval 86"/>
          <p:cNvSpPr/>
          <p:nvPr/>
        </p:nvSpPr>
        <p:spPr>
          <a:xfrm>
            <a:off x="51816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4191000" y="1600199"/>
            <a:ext cx="0" cy="44958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4964151" y="1600200"/>
            <a:ext cx="0" cy="44958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>
            <a:off x="4572000" y="6096000"/>
            <a:ext cx="392151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4552851" y="6096000"/>
                <a:ext cx="37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𝜹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2851" y="6096000"/>
                <a:ext cx="37221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4191000" y="6107668"/>
                <a:ext cx="37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𝜹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6107668"/>
                <a:ext cx="37221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Straight Arrow Connector 89"/>
          <p:cNvCxnSpPr/>
          <p:nvPr/>
        </p:nvCxnSpPr>
        <p:spPr>
          <a:xfrm flipH="1">
            <a:off x="4179849" y="6096000"/>
            <a:ext cx="392151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3" idx="0"/>
            <a:endCxn id="3" idx="2"/>
          </p:cNvCxnSpPr>
          <p:nvPr/>
        </p:nvCxnSpPr>
        <p:spPr>
          <a:xfrm>
            <a:off x="4572000" y="1600200"/>
            <a:ext cx="0" cy="4525963"/>
          </a:xfrm>
          <a:prstGeom prst="line">
            <a:avLst/>
          </a:prstGeom>
          <a:ln w="3810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Oval 92"/>
          <p:cNvSpPr/>
          <p:nvPr/>
        </p:nvSpPr>
        <p:spPr>
          <a:xfrm>
            <a:off x="4724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4" name="Oval 93"/>
          <p:cNvSpPr/>
          <p:nvPr/>
        </p:nvSpPr>
        <p:spPr>
          <a:xfrm>
            <a:off x="4724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7" name="Oval 116"/>
          <p:cNvSpPr/>
          <p:nvPr/>
        </p:nvSpPr>
        <p:spPr>
          <a:xfrm>
            <a:off x="4876800" y="4191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9" name="Oval 118"/>
          <p:cNvSpPr/>
          <p:nvPr/>
        </p:nvSpPr>
        <p:spPr>
          <a:xfrm>
            <a:off x="4648200" y="4724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/>
          <p:cNvSpPr/>
          <p:nvPr/>
        </p:nvSpPr>
        <p:spPr>
          <a:xfrm>
            <a:off x="4724400" y="3733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6" name="Oval 105"/>
          <p:cNvSpPr/>
          <p:nvPr/>
        </p:nvSpPr>
        <p:spPr>
          <a:xfrm>
            <a:off x="4876800" y="205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7" name="Oval 106"/>
          <p:cNvSpPr/>
          <p:nvPr/>
        </p:nvSpPr>
        <p:spPr>
          <a:xfrm>
            <a:off x="4648200" y="1676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8" name="Oval 107"/>
          <p:cNvSpPr/>
          <p:nvPr/>
        </p:nvSpPr>
        <p:spPr>
          <a:xfrm>
            <a:off x="4343400" y="1676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9" name="Oval 108"/>
          <p:cNvSpPr/>
          <p:nvPr/>
        </p:nvSpPr>
        <p:spPr>
          <a:xfrm>
            <a:off x="4419600" y="3352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8" name="Group 137"/>
          <p:cNvGrpSpPr/>
          <p:nvPr/>
        </p:nvGrpSpPr>
        <p:grpSpPr>
          <a:xfrm>
            <a:off x="4305300" y="1741441"/>
            <a:ext cx="152400" cy="3897359"/>
            <a:chOff x="4305300" y="1741441"/>
            <a:chExt cx="152400" cy="3897359"/>
          </a:xfrm>
        </p:grpSpPr>
        <p:cxnSp>
          <p:nvCxnSpPr>
            <p:cNvPr id="12" name="Straight Connector 11"/>
            <p:cNvCxnSpPr>
              <a:stCxn id="78" idx="0"/>
              <a:endCxn id="38" idx="4"/>
            </p:cNvCxnSpPr>
            <p:nvPr/>
          </p:nvCxnSpPr>
          <p:spPr>
            <a:xfrm flipH="1" flipV="1">
              <a:off x="4305300" y="5181600"/>
              <a:ext cx="152400" cy="457200"/>
            </a:xfrm>
            <a:prstGeom prst="line">
              <a:avLst/>
            </a:prstGeom>
            <a:ln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>
              <a:stCxn id="38" idx="7"/>
              <a:endCxn id="81" idx="3"/>
            </p:cNvCxnSpPr>
            <p:nvPr/>
          </p:nvCxnSpPr>
          <p:spPr>
            <a:xfrm flipV="1">
              <a:off x="4332241" y="4560841"/>
              <a:ext cx="98518" cy="555718"/>
            </a:xfrm>
            <a:prstGeom prst="line">
              <a:avLst/>
            </a:prstGeom>
            <a:ln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>
              <a:stCxn id="77" idx="4"/>
              <a:endCxn id="81" idx="1"/>
            </p:cNvCxnSpPr>
            <p:nvPr/>
          </p:nvCxnSpPr>
          <p:spPr>
            <a:xfrm>
              <a:off x="4305300" y="3962400"/>
              <a:ext cx="125459" cy="544559"/>
            </a:xfrm>
            <a:prstGeom prst="line">
              <a:avLst/>
            </a:prstGeom>
            <a:ln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>
              <a:stCxn id="109" idx="2"/>
              <a:endCxn id="77" idx="0"/>
            </p:cNvCxnSpPr>
            <p:nvPr/>
          </p:nvCxnSpPr>
          <p:spPr>
            <a:xfrm flipH="1">
              <a:off x="4305300" y="3390900"/>
              <a:ext cx="114300" cy="495300"/>
            </a:xfrm>
            <a:prstGeom prst="line">
              <a:avLst/>
            </a:prstGeom>
            <a:ln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>
              <a:stCxn id="85" idx="4"/>
              <a:endCxn id="109" idx="0"/>
            </p:cNvCxnSpPr>
            <p:nvPr/>
          </p:nvCxnSpPr>
          <p:spPr>
            <a:xfrm>
              <a:off x="4305300" y="2819400"/>
              <a:ext cx="152400" cy="533400"/>
            </a:xfrm>
            <a:prstGeom prst="line">
              <a:avLst/>
            </a:prstGeom>
            <a:ln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>
              <a:stCxn id="59" idx="4"/>
              <a:endCxn id="85" idx="0"/>
            </p:cNvCxnSpPr>
            <p:nvPr/>
          </p:nvCxnSpPr>
          <p:spPr>
            <a:xfrm>
              <a:off x="4305300" y="2286000"/>
              <a:ext cx="0" cy="457200"/>
            </a:xfrm>
            <a:prstGeom prst="line">
              <a:avLst/>
            </a:prstGeom>
            <a:ln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>
              <a:stCxn id="108" idx="3"/>
              <a:endCxn id="59" idx="0"/>
            </p:cNvCxnSpPr>
            <p:nvPr/>
          </p:nvCxnSpPr>
          <p:spPr>
            <a:xfrm flipH="1">
              <a:off x="4305300" y="1741441"/>
              <a:ext cx="49259" cy="468359"/>
            </a:xfrm>
            <a:prstGeom prst="line">
              <a:avLst/>
            </a:prstGeom>
            <a:ln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5" name="Straight Connector 124"/>
          <p:cNvCxnSpPr>
            <a:stCxn id="79" idx="0"/>
            <a:endCxn id="80" idx="4"/>
          </p:cNvCxnSpPr>
          <p:nvPr/>
        </p:nvCxnSpPr>
        <p:spPr>
          <a:xfrm flipV="1">
            <a:off x="4838700" y="5334000"/>
            <a:ext cx="38100" cy="53340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/>
          <p:cNvCxnSpPr>
            <a:stCxn id="80" idx="4"/>
            <a:endCxn id="119" idx="5"/>
          </p:cNvCxnSpPr>
          <p:nvPr/>
        </p:nvCxnSpPr>
        <p:spPr>
          <a:xfrm flipH="1" flipV="1">
            <a:off x="4713241" y="4789441"/>
            <a:ext cx="163559" cy="54455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/>
          <p:cNvCxnSpPr>
            <a:stCxn id="119" idx="0"/>
            <a:endCxn id="117" idx="3"/>
          </p:cNvCxnSpPr>
          <p:nvPr/>
        </p:nvCxnSpPr>
        <p:spPr>
          <a:xfrm flipV="1">
            <a:off x="4686300" y="4256041"/>
            <a:ext cx="201659" cy="46835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/>
          <p:cNvCxnSpPr>
            <a:stCxn id="117" idx="1"/>
            <a:endCxn id="105" idx="5"/>
          </p:cNvCxnSpPr>
          <p:nvPr/>
        </p:nvCxnSpPr>
        <p:spPr>
          <a:xfrm flipH="1" flipV="1">
            <a:off x="4789441" y="3798841"/>
            <a:ext cx="98518" cy="40331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/>
          <p:cNvCxnSpPr>
            <a:stCxn id="105" idx="1"/>
            <a:endCxn id="94" idx="5"/>
          </p:cNvCxnSpPr>
          <p:nvPr/>
        </p:nvCxnSpPr>
        <p:spPr>
          <a:xfrm flipV="1">
            <a:off x="4735559" y="3113041"/>
            <a:ext cx="53882" cy="63191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/>
          <p:cNvCxnSpPr>
            <a:stCxn id="94" idx="0"/>
          </p:cNvCxnSpPr>
          <p:nvPr/>
        </p:nvCxnSpPr>
        <p:spPr>
          <a:xfrm flipV="1">
            <a:off x="4762500" y="2514601"/>
            <a:ext cx="5575" cy="53339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/>
          <p:cNvCxnSpPr>
            <a:stCxn id="93" idx="0"/>
            <a:endCxn id="106" idx="3"/>
          </p:cNvCxnSpPr>
          <p:nvPr/>
        </p:nvCxnSpPr>
        <p:spPr>
          <a:xfrm flipV="1">
            <a:off x="4762500" y="2122441"/>
            <a:ext cx="125459" cy="31595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/>
          <p:cNvCxnSpPr>
            <a:stCxn id="106" idx="3"/>
            <a:endCxn id="107" idx="6"/>
          </p:cNvCxnSpPr>
          <p:nvPr/>
        </p:nvCxnSpPr>
        <p:spPr>
          <a:xfrm flipH="1" flipV="1">
            <a:off x="4724400" y="1714500"/>
            <a:ext cx="163559" cy="40794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/>
          <p:cNvSpPr txBox="1"/>
          <p:nvPr/>
        </p:nvSpPr>
        <p:spPr>
          <a:xfrm>
            <a:off x="3048000" y="1219200"/>
            <a:ext cx="3413178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If the two strips are already sorted</a:t>
            </a:r>
          </a:p>
        </p:txBody>
      </p:sp>
      <p:sp>
        <p:nvSpPr>
          <p:cNvPr id="91" name="Oval 90"/>
          <p:cNvSpPr/>
          <p:nvPr/>
        </p:nvSpPr>
        <p:spPr>
          <a:xfrm>
            <a:off x="4724400" y="5791200"/>
            <a:ext cx="266700" cy="2286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/>
          <p:cNvSpPr/>
          <p:nvPr/>
        </p:nvSpPr>
        <p:spPr>
          <a:xfrm>
            <a:off x="4305300" y="5562600"/>
            <a:ext cx="266700" cy="228600"/>
          </a:xfrm>
          <a:prstGeom prst="ellipse">
            <a:avLst/>
          </a:prstGeom>
          <a:noFill/>
          <a:ln>
            <a:solidFill>
              <a:srgbClr val="006C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/>
          <p:cNvSpPr/>
          <p:nvPr/>
        </p:nvSpPr>
        <p:spPr>
          <a:xfrm>
            <a:off x="4191000" y="5029200"/>
            <a:ext cx="266700" cy="228600"/>
          </a:xfrm>
          <a:prstGeom prst="ellipse">
            <a:avLst/>
          </a:prstGeom>
          <a:noFill/>
          <a:ln>
            <a:solidFill>
              <a:srgbClr val="006C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7" name="Oval 96"/>
          <p:cNvSpPr/>
          <p:nvPr/>
        </p:nvSpPr>
        <p:spPr>
          <a:xfrm>
            <a:off x="4343400" y="4419600"/>
            <a:ext cx="266700" cy="228600"/>
          </a:xfrm>
          <a:prstGeom prst="ellipse">
            <a:avLst/>
          </a:prstGeom>
          <a:noFill/>
          <a:ln>
            <a:solidFill>
              <a:srgbClr val="006C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8" name="Oval 97"/>
          <p:cNvSpPr/>
          <p:nvPr/>
        </p:nvSpPr>
        <p:spPr>
          <a:xfrm>
            <a:off x="4152900" y="3810000"/>
            <a:ext cx="266700" cy="228600"/>
          </a:xfrm>
          <a:prstGeom prst="ellipse">
            <a:avLst/>
          </a:prstGeom>
          <a:noFill/>
          <a:ln>
            <a:solidFill>
              <a:srgbClr val="006C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/>
              <p:cNvSpPr txBox="1"/>
              <p:nvPr/>
            </p:nvSpPr>
            <p:spPr>
              <a:xfrm>
                <a:off x="3657600" y="6400800"/>
                <a:ext cx="1800365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/>
                      </a:rPr>
                      <m:t>𝜹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b="1" dirty="0">
                    <a:sym typeface="Wingdings" panose="05000000000000000000" pitchFamily="2" charset="2"/>
                  </a:rPr>
                  <a:t>  min</a:t>
                </a:r>
                <a:r>
                  <a:rPr lang="en-US" dirty="0">
                    <a:sym typeface="Wingdings" panose="05000000000000000000" pitchFamily="2" charset="2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96" name="TextBox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6400800"/>
                <a:ext cx="1800365" cy="369332"/>
              </a:xfrm>
              <a:prstGeom prst="rect">
                <a:avLst/>
              </a:prstGeom>
              <a:blipFill>
                <a:blip r:embed="rId10"/>
                <a:stretch>
                  <a:fillRect t="-7937" r="-2020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Rectangle 98"/>
          <p:cNvSpPr/>
          <p:nvPr/>
        </p:nvSpPr>
        <p:spPr>
          <a:xfrm>
            <a:off x="429269" y="1600199"/>
            <a:ext cx="3711499" cy="4495801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/>
          <p:cNvSpPr/>
          <p:nvPr/>
        </p:nvSpPr>
        <p:spPr>
          <a:xfrm>
            <a:off x="5082585" y="1582354"/>
            <a:ext cx="3711499" cy="4495801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89762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91" grpId="0" animBg="1"/>
      <p:bldP spid="91" grpId="1" animBg="1"/>
      <p:bldP spid="92" grpId="0" animBg="1"/>
      <p:bldP spid="92" grpId="1" animBg="1"/>
      <p:bldP spid="95" grpId="0" animBg="1"/>
      <p:bldP spid="95" grpId="1" animBg="1"/>
      <p:bldP spid="97" grpId="0" animBg="1"/>
      <p:bldP spid="97" grpId="1" animBg="1"/>
      <p:bldP spid="98" grpId="0" animBg="1"/>
      <p:bldP spid="98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/>
          <p:cNvSpPr/>
          <p:nvPr/>
        </p:nvSpPr>
        <p:spPr>
          <a:xfrm>
            <a:off x="4610100" y="1623218"/>
            <a:ext cx="381000" cy="45259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191000" y="1600199"/>
            <a:ext cx="381000" cy="45259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4000" b="1" dirty="0"/>
                  <a:t>The </a:t>
                </a:r>
                <a:r>
                  <a:rPr lang="en-US" sz="4000" b="1" dirty="0">
                    <a:solidFill>
                      <a:srgbClr val="7030A0"/>
                    </a:solidFill>
                  </a:rPr>
                  <a:t>combine</a:t>
                </a:r>
                <a:r>
                  <a:rPr lang="en-US" sz="4000" b="1" dirty="0"/>
                  <a:t> step in </a:t>
                </a:r>
                <a:r>
                  <a:rPr lang="en-US" sz="4000" b="1" i="1" dirty="0"/>
                  <a:t>O</a:t>
                </a:r>
                <a:r>
                  <a:rPr lang="en-US" sz="4000" dirty="0"/>
                  <a:t>(</a:t>
                </a:r>
                <a14:m>
                  <m:oMath xmlns:m="http://schemas.openxmlformats.org/officeDocument/2006/math">
                    <m:r>
                      <a:rPr lang="en-US" sz="4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4000" dirty="0"/>
                  <a:t>) </a:t>
                </a:r>
                <a:r>
                  <a:rPr lang="en-US" sz="4000" b="1" dirty="0"/>
                  <a:t>time</a:t>
                </a:r>
                <a:r>
                  <a:rPr lang="en-US" sz="4000" dirty="0"/>
                  <a:t> 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b="-43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76600" y="2895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6576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629400" y="3505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4267200" y="5105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60198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6019800" y="5257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1816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" name="Straight Arrow Connector 43"/>
          <p:cNvCxnSpPr>
            <a:stCxn id="49" idx="1"/>
            <a:endCxn id="56" idx="7"/>
          </p:cNvCxnSpPr>
          <p:nvPr/>
        </p:nvCxnSpPr>
        <p:spPr>
          <a:xfrm flipH="1" flipV="1">
            <a:off x="1741441" y="3211559"/>
            <a:ext cx="250918" cy="762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3124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2743200" y="3657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69342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77000" y="2590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5105400" y="5410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333" r="-1645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Oval 46"/>
          <p:cNvSpPr/>
          <p:nvPr/>
        </p:nvSpPr>
        <p:spPr>
          <a:xfrm>
            <a:off x="2438400" y="2667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981200" y="3276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133600" y="3962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6764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7" name="Oval 56"/>
          <p:cNvSpPr/>
          <p:nvPr/>
        </p:nvSpPr>
        <p:spPr>
          <a:xfrm>
            <a:off x="19050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8" name="Oval 57"/>
          <p:cNvSpPr/>
          <p:nvPr/>
        </p:nvSpPr>
        <p:spPr>
          <a:xfrm>
            <a:off x="1752600" y="2514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9" name="Oval 58"/>
          <p:cNvSpPr/>
          <p:nvPr/>
        </p:nvSpPr>
        <p:spPr>
          <a:xfrm>
            <a:off x="4267200" y="220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0" name="Oval 59"/>
          <p:cNvSpPr/>
          <p:nvPr/>
        </p:nvSpPr>
        <p:spPr>
          <a:xfrm>
            <a:off x="5486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1" name="Oval 60"/>
          <p:cNvSpPr/>
          <p:nvPr/>
        </p:nvSpPr>
        <p:spPr>
          <a:xfrm>
            <a:off x="54864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2" name="Oval 61"/>
          <p:cNvSpPr/>
          <p:nvPr/>
        </p:nvSpPr>
        <p:spPr>
          <a:xfrm>
            <a:off x="5638800" y="556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Oval 62"/>
          <p:cNvSpPr/>
          <p:nvPr/>
        </p:nvSpPr>
        <p:spPr>
          <a:xfrm>
            <a:off x="57912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66294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5" name="Oval 64"/>
          <p:cNvSpPr/>
          <p:nvPr/>
        </p:nvSpPr>
        <p:spPr>
          <a:xfrm>
            <a:off x="7772400" y="3124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Oval 65"/>
          <p:cNvSpPr/>
          <p:nvPr/>
        </p:nvSpPr>
        <p:spPr>
          <a:xfrm>
            <a:off x="79248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7924800" y="205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77724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70" name="Straight Arrow Connector 69"/>
          <p:cNvCxnSpPr>
            <a:endCxn id="62" idx="6"/>
          </p:cNvCxnSpPr>
          <p:nvPr/>
        </p:nvCxnSpPr>
        <p:spPr>
          <a:xfrm flipH="1">
            <a:off x="5715000" y="5334000"/>
            <a:ext cx="304800" cy="2667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5715000" y="5421868"/>
                <a:ext cx="4987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𝑹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5421868"/>
                <a:ext cx="498791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8197" r="-16049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Oval 74"/>
          <p:cNvSpPr/>
          <p:nvPr/>
        </p:nvSpPr>
        <p:spPr>
          <a:xfrm>
            <a:off x="13716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Oval 75"/>
          <p:cNvSpPr/>
          <p:nvPr/>
        </p:nvSpPr>
        <p:spPr>
          <a:xfrm>
            <a:off x="838200" y="5791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7" name="Oval 76"/>
          <p:cNvSpPr/>
          <p:nvPr/>
        </p:nvSpPr>
        <p:spPr>
          <a:xfrm>
            <a:off x="42672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Oval 77"/>
          <p:cNvSpPr/>
          <p:nvPr/>
        </p:nvSpPr>
        <p:spPr>
          <a:xfrm>
            <a:off x="4419600" y="563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Oval 79"/>
          <p:cNvSpPr/>
          <p:nvPr/>
        </p:nvSpPr>
        <p:spPr>
          <a:xfrm>
            <a:off x="4838700" y="5257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Oval 80"/>
          <p:cNvSpPr/>
          <p:nvPr/>
        </p:nvSpPr>
        <p:spPr>
          <a:xfrm>
            <a:off x="44196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Oval 82"/>
          <p:cNvSpPr/>
          <p:nvPr/>
        </p:nvSpPr>
        <p:spPr>
          <a:xfrm>
            <a:off x="4724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Oval 83"/>
          <p:cNvSpPr/>
          <p:nvPr/>
        </p:nvSpPr>
        <p:spPr>
          <a:xfrm>
            <a:off x="4724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Oval 84"/>
          <p:cNvSpPr/>
          <p:nvPr/>
        </p:nvSpPr>
        <p:spPr>
          <a:xfrm>
            <a:off x="4267200" y="2743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/>
          <p:cNvSpPr/>
          <p:nvPr/>
        </p:nvSpPr>
        <p:spPr>
          <a:xfrm>
            <a:off x="40386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Oval 86"/>
          <p:cNvSpPr/>
          <p:nvPr/>
        </p:nvSpPr>
        <p:spPr>
          <a:xfrm>
            <a:off x="51816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4191000" y="1600199"/>
            <a:ext cx="0" cy="44958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4964151" y="1600200"/>
            <a:ext cx="0" cy="44958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>
            <a:off x="4572000" y="6096000"/>
            <a:ext cx="392151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4552851" y="6096000"/>
                <a:ext cx="37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𝜹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2851" y="6096000"/>
                <a:ext cx="37221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4191000" y="6107668"/>
                <a:ext cx="37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𝜹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6107668"/>
                <a:ext cx="37221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Straight Arrow Connector 89"/>
          <p:cNvCxnSpPr/>
          <p:nvPr/>
        </p:nvCxnSpPr>
        <p:spPr>
          <a:xfrm flipH="1">
            <a:off x="4179849" y="6096000"/>
            <a:ext cx="392151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3" idx="0"/>
            <a:endCxn id="3" idx="2"/>
          </p:cNvCxnSpPr>
          <p:nvPr/>
        </p:nvCxnSpPr>
        <p:spPr>
          <a:xfrm>
            <a:off x="4572000" y="1600200"/>
            <a:ext cx="0" cy="4525963"/>
          </a:xfrm>
          <a:prstGeom prst="line">
            <a:avLst/>
          </a:prstGeom>
          <a:ln w="3810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Oval 92"/>
          <p:cNvSpPr/>
          <p:nvPr/>
        </p:nvSpPr>
        <p:spPr>
          <a:xfrm>
            <a:off x="4724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4" name="Oval 93"/>
          <p:cNvSpPr/>
          <p:nvPr/>
        </p:nvSpPr>
        <p:spPr>
          <a:xfrm>
            <a:off x="4724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7" name="Oval 116"/>
          <p:cNvSpPr/>
          <p:nvPr/>
        </p:nvSpPr>
        <p:spPr>
          <a:xfrm>
            <a:off x="4876800" y="4191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9" name="Oval 118"/>
          <p:cNvSpPr/>
          <p:nvPr/>
        </p:nvSpPr>
        <p:spPr>
          <a:xfrm>
            <a:off x="4648200" y="4724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/>
          <p:cNvSpPr/>
          <p:nvPr/>
        </p:nvSpPr>
        <p:spPr>
          <a:xfrm>
            <a:off x="4724400" y="3733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6" name="Oval 105"/>
          <p:cNvSpPr/>
          <p:nvPr/>
        </p:nvSpPr>
        <p:spPr>
          <a:xfrm>
            <a:off x="4876800" y="205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7" name="Oval 106"/>
          <p:cNvSpPr/>
          <p:nvPr/>
        </p:nvSpPr>
        <p:spPr>
          <a:xfrm>
            <a:off x="4648200" y="1676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8" name="Oval 107"/>
          <p:cNvSpPr/>
          <p:nvPr/>
        </p:nvSpPr>
        <p:spPr>
          <a:xfrm>
            <a:off x="4343400" y="1676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9" name="Oval 108"/>
          <p:cNvSpPr/>
          <p:nvPr/>
        </p:nvSpPr>
        <p:spPr>
          <a:xfrm>
            <a:off x="4419600" y="3352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Connector 11"/>
          <p:cNvCxnSpPr>
            <a:stCxn id="78" idx="0"/>
            <a:endCxn id="38" idx="4"/>
          </p:cNvCxnSpPr>
          <p:nvPr/>
        </p:nvCxnSpPr>
        <p:spPr>
          <a:xfrm flipH="1" flipV="1">
            <a:off x="4305300" y="5181600"/>
            <a:ext cx="152400" cy="457200"/>
          </a:xfrm>
          <a:prstGeom prst="line">
            <a:avLst/>
          </a:prstGeom>
          <a:ln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>
            <a:stCxn id="38" idx="7"/>
            <a:endCxn id="81" idx="3"/>
          </p:cNvCxnSpPr>
          <p:nvPr/>
        </p:nvCxnSpPr>
        <p:spPr>
          <a:xfrm flipV="1">
            <a:off x="4332241" y="4560841"/>
            <a:ext cx="98518" cy="555718"/>
          </a:xfrm>
          <a:prstGeom prst="line">
            <a:avLst/>
          </a:prstGeom>
          <a:ln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/>
          <p:cNvCxnSpPr>
            <a:stCxn id="77" idx="4"/>
            <a:endCxn id="81" idx="1"/>
          </p:cNvCxnSpPr>
          <p:nvPr/>
        </p:nvCxnSpPr>
        <p:spPr>
          <a:xfrm>
            <a:off x="4305300" y="3962400"/>
            <a:ext cx="125459" cy="544559"/>
          </a:xfrm>
          <a:prstGeom prst="line">
            <a:avLst/>
          </a:prstGeom>
          <a:ln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>
            <a:stCxn id="109" idx="2"/>
            <a:endCxn id="77" idx="0"/>
          </p:cNvCxnSpPr>
          <p:nvPr/>
        </p:nvCxnSpPr>
        <p:spPr>
          <a:xfrm flipH="1">
            <a:off x="4305300" y="3390900"/>
            <a:ext cx="114300" cy="495300"/>
          </a:xfrm>
          <a:prstGeom prst="line">
            <a:avLst/>
          </a:prstGeom>
          <a:ln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/>
          <p:cNvCxnSpPr>
            <a:stCxn id="85" idx="4"/>
            <a:endCxn id="109" idx="0"/>
          </p:cNvCxnSpPr>
          <p:nvPr/>
        </p:nvCxnSpPr>
        <p:spPr>
          <a:xfrm>
            <a:off x="4305300" y="2819400"/>
            <a:ext cx="152400" cy="533400"/>
          </a:xfrm>
          <a:prstGeom prst="line">
            <a:avLst/>
          </a:prstGeom>
          <a:ln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/>
          <p:cNvCxnSpPr>
            <a:stCxn id="59" idx="4"/>
            <a:endCxn id="85" idx="0"/>
          </p:cNvCxnSpPr>
          <p:nvPr/>
        </p:nvCxnSpPr>
        <p:spPr>
          <a:xfrm>
            <a:off x="4305300" y="2286000"/>
            <a:ext cx="0" cy="457200"/>
          </a:xfrm>
          <a:prstGeom prst="line">
            <a:avLst/>
          </a:prstGeom>
          <a:ln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/>
          <p:cNvCxnSpPr>
            <a:stCxn id="108" idx="3"/>
            <a:endCxn id="59" idx="0"/>
          </p:cNvCxnSpPr>
          <p:nvPr/>
        </p:nvCxnSpPr>
        <p:spPr>
          <a:xfrm flipH="1">
            <a:off x="4305300" y="1741441"/>
            <a:ext cx="49259" cy="468359"/>
          </a:xfrm>
          <a:prstGeom prst="line">
            <a:avLst/>
          </a:prstGeom>
          <a:ln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/>
          <p:cNvCxnSpPr>
            <a:stCxn id="80" idx="4"/>
            <a:endCxn id="119" idx="5"/>
          </p:cNvCxnSpPr>
          <p:nvPr/>
        </p:nvCxnSpPr>
        <p:spPr>
          <a:xfrm flipH="1" flipV="1">
            <a:off x="4713241" y="4789441"/>
            <a:ext cx="163559" cy="54455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/>
          <p:cNvCxnSpPr>
            <a:stCxn id="119" idx="0"/>
            <a:endCxn id="117" idx="3"/>
          </p:cNvCxnSpPr>
          <p:nvPr/>
        </p:nvCxnSpPr>
        <p:spPr>
          <a:xfrm flipV="1">
            <a:off x="4686300" y="4256041"/>
            <a:ext cx="201659" cy="46835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/>
          <p:cNvCxnSpPr>
            <a:stCxn id="117" idx="1"/>
            <a:endCxn id="105" idx="5"/>
          </p:cNvCxnSpPr>
          <p:nvPr/>
        </p:nvCxnSpPr>
        <p:spPr>
          <a:xfrm flipH="1" flipV="1">
            <a:off x="4789441" y="3798841"/>
            <a:ext cx="98518" cy="40331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/>
          <p:cNvCxnSpPr>
            <a:stCxn id="105" idx="1"/>
            <a:endCxn id="94" idx="5"/>
          </p:cNvCxnSpPr>
          <p:nvPr/>
        </p:nvCxnSpPr>
        <p:spPr>
          <a:xfrm flipV="1">
            <a:off x="4735559" y="3113041"/>
            <a:ext cx="53882" cy="63191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/>
          <p:cNvCxnSpPr>
            <a:stCxn id="94" idx="0"/>
          </p:cNvCxnSpPr>
          <p:nvPr/>
        </p:nvCxnSpPr>
        <p:spPr>
          <a:xfrm flipV="1">
            <a:off x="4762500" y="2514601"/>
            <a:ext cx="5575" cy="53339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/>
          <p:cNvCxnSpPr>
            <a:stCxn id="93" idx="0"/>
            <a:endCxn id="106" idx="3"/>
          </p:cNvCxnSpPr>
          <p:nvPr/>
        </p:nvCxnSpPr>
        <p:spPr>
          <a:xfrm flipV="1">
            <a:off x="4762500" y="2122441"/>
            <a:ext cx="125459" cy="31595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/>
          <p:cNvCxnSpPr>
            <a:stCxn id="106" idx="3"/>
            <a:endCxn id="107" idx="6"/>
          </p:cNvCxnSpPr>
          <p:nvPr/>
        </p:nvCxnSpPr>
        <p:spPr>
          <a:xfrm flipH="1" flipV="1">
            <a:off x="4724400" y="1714500"/>
            <a:ext cx="163559" cy="40794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/>
          <p:cNvSpPr txBox="1"/>
          <p:nvPr/>
        </p:nvSpPr>
        <p:spPr>
          <a:xfrm>
            <a:off x="3048000" y="1219200"/>
            <a:ext cx="3413178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If the two strips are already sorted</a:t>
            </a:r>
          </a:p>
        </p:txBody>
      </p:sp>
      <p:sp>
        <p:nvSpPr>
          <p:cNvPr id="91" name="Oval 90"/>
          <p:cNvSpPr/>
          <p:nvPr/>
        </p:nvSpPr>
        <p:spPr>
          <a:xfrm>
            <a:off x="4305300" y="5562600"/>
            <a:ext cx="266700" cy="228600"/>
          </a:xfrm>
          <a:prstGeom prst="ellipse">
            <a:avLst/>
          </a:prstGeom>
          <a:noFill/>
          <a:ln>
            <a:solidFill>
              <a:srgbClr val="006C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/>
          <p:cNvSpPr/>
          <p:nvPr/>
        </p:nvSpPr>
        <p:spPr>
          <a:xfrm>
            <a:off x="4762500" y="5181600"/>
            <a:ext cx="266700" cy="2286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/>
          <p:cNvSpPr/>
          <p:nvPr/>
        </p:nvSpPr>
        <p:spPr>
          <a:xfrm>
            <a:off x="4533900" y="4648200"/>
            <a:ext cx="266700" cy="2286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7" name="Oval 96"/>
          <p:cNvSpPr/>
          <p:nvPr/>
        </p:nvSpPr>
        <p:spPr>
          <a:xfrm>
            <a:off x="4800600" y="4114800"/>
            <a:ext cx="266700" cy="2286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8" name="Oval 97"/>
          <p:cNvSpPr/>
          <p:nvPr/>
        </p:nvSpPr>
        <p:spPr>
          <a:xfrm>
            <a:off x="4648200" y="3657600"/>
            <a:ext cx="266700" cy="2286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/>
              <p:cNvSpPr txBox="1"/>
              <p:nvPr/>
            </p:nvSpPr>
            <p:spPr>
              <a:xfrm>
                <a:off x="3657600" y="6400800"/>
                <a:ext cx="1800365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/>
                      </a:rPr>
                      <m:t>𝜹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b="1" dirty="0">
                    <a:sym typeface="Wingdings" panose="05000000000000000000" pitchFamily="2" charset="2"/>
                  </a:rPr>
                  <a:t>  min</a:t>
                </a:r>
                <a:r>
                  <a:rPr lang="en-US" dirty="0">
                    <a:sym typeface="Wingdings" panose="05000000000000000000" pitchFamily="2" charset="2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100" name="TextBox 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6400800"/>
                <a:ext cx="1800365" cy="369332"/>
              </a:xfrm>
              <a:prstGeom prst="rect">
                <a:avLst/>
              </a:prstGeom>
              <a:blipFill>
                <a:blip r:embed="rId10"/>
                <a:stretch>
                  <a:fillRect t="-7937" r="-2020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ectangle 100"/>
          <p:cNvSpPr/>
          <p:nvPr/>
        </p:nvSpPr>
        <p:spPr>
          <a:xfrm>
            <a:off x="429269" y="1600199"/>
            <a:ext cx="3711499" cy="4495801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5082585" y="1582354"/>
            <a:ext cx="3711499" cy="4495801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0D9F9C-E4C9-678B-9C31-64C5D0E853C2}"/>
              </a:ext>
            </a:extLst>
          </p:cNvPr>
          <p:cNvSpPr txBox="1"/>
          <p:nvPr/>
        </p:nvSpPr>
        <p:spPr>
          <a:xfrm>
            <a:off x="6502066" y="1111478"/>
            <a:ext cx="3754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1A81E0A-25D4-C197-E914-C35BBA4A9BE9}"/>
              </a:ext>
            </a:extLst>
          </p:cNvPr>
          <p:cNvSpPr/>
          <p:nvPr/>
        </p:nvSpPr>
        <p:spPr>
          <a:xfrm>
            <a:off x="3036840" y="1196181"/>
            <a:ext cx="3413177" cy="377777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51435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91" grpId="0" animBg="1"/>
      <p:bldP spid="91" grpId="1" animBg="1"/>
      <p:bldP spid="92" grpId="0" animBg="1"/>
      <p:bldP spid="92" grpId="1" animBg="1"/>
      <p:bldP spid="95" grpId="0" animBg="1"/>
      <p:bldP spid="95" grpId="1" animBg="1"/>
      <p:bldP spid="97" grpId="0" animBg="1"/>
      <p:bldP spid="97" grpId="1" animBg="1"/>
      <p:bldP spid="98" grpId="0" animBg="1"/>
      <p:bldP spid="98" grpId="1" animBg="1"/>
      <p:bldP spid="6" grpId="0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Inspiration</a:t>
            </a:r>
            <a:r>
              <a:rPr lang="en-US" sz="3600" b="1" dirty="0"/>
              <a:t> from </a:t>
            </a:r>
            <a:r>
              <a:rPr lang="en-US" sz="3600" b="1" dirty="0">
                <a:solidFill>
                  <a:srgbClr val="006C31"/>
                </a:solidFill>
              </a:rPr>
              <a:t>Merge sort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4419600" y="3276600"/>
            <a:ext cx="457200" cy="457200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/>
          <p:cNvGrpSpPr/>
          <p:nvPr/>
        </p:nvGrpSpPr>
        <p:grpSpPr>
          <a:xfrm>
            <a:off x="3352800" y="4419600"/>
            <a:ext cx="2590800" cy="457200"/>
            <a:chOff x="3352800" y="3962400"/>
            <a:chExt cx="2590800" cy="457200"/>
          </a:xfrm>
        </p:grpSpPr>
        <p:sp>
          <p:nvSpPr>
            <p:cNvPr id="6" name="Oval 5"/>
            <p:cNvSpPr/>
            <p:nvPr/>
          </p:nvSpPr>
          <p:spPr>
            <a:xfrm>
              <a:off x="3352800" y="3962400"/>
              <a:ext cx="457200" cy="4572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5486400" y="3962400"/>
              <a:ext cx="457200" cy="4572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5638800" y="3352800"/>
            <a:ext cx="228600" cy="914400"/>
            <a:chOff x="6705600" y="2514600"/>
            <a:chExt cx="228600" cy="914400"/>
          </a:xfrm>
        </p:grpSpPr>
        <p:sp>
          <p:nvSpPr>
            <p:cNvPr id="8" name="Rectangle 7"/>
            <p:cNvSpPr/>
            <p:nvPr/>
          </p:nvSpPr>
          <p:spPr>
            <a:xfrm>
              <a:off x="6705600" y="2514600"/>
              <a:ext cx="228600" cy="9144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/>
            <p:cNvCxnSpPr>
              <a:stCxn id="8" idx="1"/>
              <a:endCxn id="8" idx="3"/>
            </p:cNvCxnSpPr>
            <p:nvPr/>
          </p:nvCxnSpPr>
          <p:spPr>
            <a:xfrm>
              <a:off x="6705600" y="2971800"/>
              <a:ext cx="228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6705600" y="2743200"/>
              <a:ext cx="228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6705600" y="3200400"/>
              <a:ext cx="228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/>
          <p:cNvGrpSpPr/>
          <p:nvPr/>
        </p:nvGrpSpPr>
        <p:grpSpPr>
          <a:xfrm>
            <a:off x="3743045" y="3666845"/>
            <a:ext cx="1810310" cy="819710"/>
            <a:chOff x="3743045" y="3209645"/>
            <a:chExt cx="1810310" cy="819710"/>
          </a:xfrm>
        </p:grpSpPr>
        <p:cxnSp>
          <p:nvCxnSpPr>
            <p:cNvPr id="17" name="Straight Arrow Connector 16"/>
            <p:cNvCxnSpPr>
              <a:stCxn id="5" idx="3"/>
              <a:endCxn id="6" idx="7"/>
            </p:cNvCxnSpPr>
            <p:nvPr/>
          </p:nvCxnSpPr>
          <p:spPr>
            <a:xfrm flipH="1">
              <a:off x="3743045" y="3209645"/>
              <a:ext cx="743510" cy="81971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5" idx="5"/>
              <a:endCxn id="7" idx="1"/>
            </p:cNvCxnSpPr>
            <p:nvPr/>
          </p:nvCxnSpPr>
          <p:spPr>
            <a:xfrm>
              <a:off x="4809845" y="3209645"/>
              <a:ext cx="743510" cy="81971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3429000" y="3352800"/>
            <a:ext cx="228600" cy="914400"/>
            <a:chOff x="6705600" y="2514600"/>
            <a:chExt cx="228600" cy="914400"/>
          </a:xfrm>
        </p:grpSpPr>
        <p:sp>
          <p:nvSpPr>
            <p:cNvPr id="24" name="Rectangle 23"/>
            <p:cNvSpPr/>
            <p:nvPr/>
          </p:nvSpPr>
          <p:spPr>
            <a:xfrm>
              <a:off x="6705600" y="2514600"/>
              <a:ext cx="228600" cy="9144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Connector 24"/>
            <p:cNvCxnSpPr>
              <a:stCxn id="24" idx="1"/>
              <a:endCxn id="24" idx="3"/>
            </p:cNvCxnSpPr>
            <p:nvPr/>
          </p:nvCxnSpPr>
          <p:spPr>
            <a:xfrm>
              <a:off x="6705600" y="2971800"/>
              <a:ext cx="228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6705600" y="2743200"/>
              <a:ext cx="228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6705600" y="3200400"/>
              <a:ext cx="228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/>
          <p:cNvGrpSpPr/>
          <p:nvPr/>
        </p:nvGrpSpPr>
        <p:grpSpPr>
          <a:xfrm>
            <a:off x="4572000" y="1371600"/>
            <a:ext cx="228600" cy="1828800"/>
            <a:chOff x="4572000" y="914400"/>
            <a:chExt cx="228600" cy="1828800"/>
          </a:xfrm>
        </p:grpSpPr>
        <p:grpSp>
          <p:nvGrpSpPr>
            <p:cNvPr id="28" name="Group 27"/>
            <p:cNvGrpSpPr/>
            <p:nvPr/>
          </p:nvGrpSpPr>
          <p:grpSpPr>
            <a:xfrm>
              <a:off x="4572000" y="914400"/>
              <a:ext cx="228600" cy="1828800"/>
              <a:chOff x="6705600" y="1600200"/>
              <a:chExt cx="228600" cy="1828800"/>
            </a:xfrm>
          </p:grpSpPr>
          <p:sp>
            <p:nvSpPr>
              <p:cNvPr id="29" name="Rectangle 28"/>
              <p:cNvSpPr/>
              <p:nvPr/>
            </p:nvSpPr>
            <p:spPr>
              <a:xfrm>
                <a:off x="6705600" y="1600200"/>
                <a:ext cx="228600" cy="18288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0" name="Straight Connector 29"/>
              <p:cNvCxnSpPr>
                <a:stCxn id="29" idx="1"/>
                <a:endCxn id="29" idx="3"/>
              </p:cNvCxnSpPr>
              <p:nvPr/>
            </p:nvCxnSpPr>
            <p:spPr>
              <a:xfrm>
                <a:off x="6705600" y="2514600"/>
                <a:ext cx="2286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>
              <a:xfrm>
                <a:off x="6705600" y="2743200"/>
                <a:ext cx="2286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>
                <a:off x="6705600" y="3200400"/>
                <a:ext cx="2286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Straight Connector 33"/>
            <p:cNvCxnSpPr/>
            <p:nvPr/>
          </p:nvCxnSpPr>
          <p:spPr>
            <a:xfrm>
              <a:off x="4572000" y="2286000"/>
              <a:ext cx="228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4572000" y="1600200"/>
              <a:ext cx="228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4572000" y="1371600"/>
              <a:ext cx="228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4572000" y="1143000"/>
              <a:ext cx="228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Left-Right Arrow 8"/>
          <p:cNvSpPr/>
          <p:nvPr/>
        </p:nvSpPr>
        <p:spPr>
          <a:xfrm>
            <a:off x="3660648" y="3674046"/>
            <a:ext cx="1978152" cy="48463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Merge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46699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/>
          <p:cNvSpPr/>
          <p:nvPr/>
        </p:nvSpPr>
        <p:spPr>
          <a:xfrm>
            <a:off x="4610100" y="1623218"/>
            <a:ext cx="381000" cy="45259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191000" y="1600199"/>
            <a:ext cx="381000" cy="45259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4000" b="1" dirty="0"/>
                  <a:t>The </a:t>
                </a:r>
                <a:r>
                  <a:rPr lang="en-US" sz="4000" b="1" dirty="0">
                    <a:solidFill>
                      <a:srgbClr val="7030A0"/>
                    </a:solidFill>
                  </a:rPr>
                  <a:t>combine</a:t>
                </a:r>
                <a:r>
                  <a:rPr lang="en-US" sz="4000" b="1" dirty="0"/>
                  <a:t> step in </a:t>
                </a:r>
                <a:r>
                  <a:rPr lang="en-US" sz="4000" b="1" i="1" dirty="0"/>
                  <a:t>O</a:t>
                </a:r>
                <a:r>
                  <a:rPr lang="en-US" sz="4000" dirty="0"/>
                  <a:t>(</a:t>
                </a:r>
                <a14:m>
                  <m:oMath xmlns:m="http://schemas.openxmlformats.org/officeDocument/2006/math">
                    <m:r>
                      <a:rPr lang="en-US" sz="4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4000" dirty="0"/>
                  <a:t>) </a:t>
                </a:r>
                <a:r>
                  <a:rPr lang="en-US" sz="4000" b="1" dirty="0"/>
                  <a:t>time</a:t>
                </a:r>
                <a:r>
                  <a:rPr lang="en-US" sz="4000" dirty="0"/>
                  <a:t> 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4"/>
                <a:stretch>
                  <a:fillRect b="-43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76600" y="2895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6576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629400" y="3505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4267200" y="5105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60198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6019800" y="5257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181600" y="2514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" name="Straight Arrow Connector 43"/>
          <p:cNvCxnSpPr>
            <a:stCxn id="49" idx="1"/>
            <a:endCxn id="56" idx="7"/>
          </p:cNvCxnSpPr>
          <p:nvPr/>
        </p:nvCxnSpPr>
        <p:spPr>
          <a:xfrm flipH="1" flipV="1">
            <a:off x="1741441" y="3211559"/>
            <a:ext cx="250918" cy="762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3124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2743200" y="3657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69342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77000" y="2590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5105400" y="5410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8333" r="-1645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Oval 46"/>
          <p:cNvSpPr/>
          <p:nvPr/>
        </p:nvSpPr>
        <p:spPr>
          <a:xfrm>
            <a:off x="2438400" y="2667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981200" y="3276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133600" y="3962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6764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7" name="Oval 56"/>
          <p:cNvSpPr/>
          <p:nvPr/>
        </p:nvSpPr>
        <p:spPr>
          <a:xfrm>
            <a:off x="1905000" y="4953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8" name="Oval 57"/>
          <p:cNvSpPr/>
          <p:nvPr/>
        </p:nvSpPr>
        <p:spPr>
          <a:xfrm>
            <a:off x="1752600" y="2514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9" name="Oval 58"/>
          <p:cNvSpPr/>
          <p:nvPr/>
        </p:nvSpPr>
        <p:spPr>
          <a:xfrm>
            <a:off x="4267200" y="220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0" name="Oval 59"/>
          <p:cNvSpPr/>
          <p:nvPr/>
        </p:nvSpPr>
        <p:spPr>
          <a:xfrm>
            <a:off x="5486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1" name="Oval 60"/>
          <p:cNvSpPr/>
          <p:nvPr/>
        </p:nvSpPr>
        <p:spPr>
          <a:xfrm>
            <a:off x="54864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2" name="Oval 61"/>
          <p:cNvSpPr/>
          <p:nvPr/>
        </p:nvSpPr>
        <p:spPr>
          <a:xfrm>
            <a:off x="5638800" y="556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Oval 62"/>
          <p:cNvSpPr/>
          <p:nvPr/>
        </p:nvSpPr>
        <p:spPr>
          <a:xfrm>
            <a:off x="57912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66294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5" name="Oval 64"/>
          <p:cNvSpPr/>
          <p:nvPr/>
        </p:nvSpPr>
        <p:spPr>
          <a:xfrm>
            <a:off x="7772400" y="3124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Oval 65"/>
          <p:cNvSpPr/>
          <p:nvPr/>
        </p:nvSpPr>
        <p:spPr>
          <a:xfrm>
            <a:off x="79248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7924800" y="205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77724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70" name="Straight Arrow Connector 69"/>
          <p:cNvCxnSpPr>
            <a:endCxn id="62" idx="6"/>
          </p:cNvCxnSpPr>
          <p:nvPr/>
        </p:nvCxnSpPr>
        <p:spPr>
          <a:xfrm flipH="1">
            <a:off x="5715000" y="5334000"/>
            <a:ext cx="304800" cy="2667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5715000" y="5421868"/>
                <a:ext cx="4987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𝑹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5421868"/>
                <a:ext cx="498791" cy="369332"/>
              </a:xfrm>
              <a:prstGeom prst="rect">
                <a:avLst/>
              </a:prstGeom>
              <a:blipFill rotWithShape="1">
                <a:blip r:embed="rId8"/>
                <a:stretch>
                  <a:fillRect t="-8197" r="-16049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Oval 74"/>
          <p:cNvSpPr/>
          <p:nvPr/>
        </p:nvSpPr>
        <p:spPr>
          <a:xfrm>
            <a:off x="1371600" y="4800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Oval 75"/>
          <p:cNvSpPr/>
          <p:nvPr/>
        </p:nvSpPr>
        <p:spPr>
          <a:xfrm>
            <a:off x="838200" y="5791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7" name="Oval 76"/>
          <p:cNvSpPr/>
          <p:nvPr/>
        </p:nvSpPr>
        <p:spPr>
          <a:xfrm>
            <a:off x="42672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Oval 77"/>
          <p:cNvSpPr/>
          <p:nvPr/>
        </p:nvSpPr>
        <p:spPr>
          <a:xfrm>
            <a:off x="4419600" y="563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Oval 78"/>
          <p:cNvSpPr/>
          <p:nvPr/>
        </p:nvSpPr>
        <p:spPr>
          <a:xfrm>
            <a:off x="4800600" y="586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Oval 79"/>
          <p:cNvSpPr/>
          <p:nvPr/>
        </p:nvSpPr>
        <p:spPr>
          <a:xfrm>
            <a:off x="4838700" y="5257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Oval 80"/>
          <p:cNvSpPr/>
          <p:nvPr/>
        </p:nvSpPr>
        <p:spPr>
          <a:xfrm>
            <a:off x="44196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Oval 82"/>
          <p:cNvSpPr/>
          <p:nvPr/>
        </p:nvSpPr>
        <p:spPr>
          <a:xfrm>
            <a:off x="4724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Oval 83"/>
          <p:cNvSpPr/>
          <p:nvPr/>
        </p:nvSpPr>
        <p:spPr>
          <a:xfrm>
            <a:off x="4724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Oval 84"/>
          <p:cNvSpPr/>
          <p:nvPr/>
        </p:nvSpPr>
        <p:spPr>
          <a:xfrm>
            <a:off x="4267200" y="2743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/>
          <p:cNvSpPr/>
          <p:nvPr/>
        </p:nvSpPr>
        <p:spPr>
          <a:xfrm>
            <a:off x="40386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Oval 86"/>
          <p:cNvSpPr/>
          <p:nvPr/>
        </p:nvSpPr>
        <p:spPr>
          <a:xfrm>
            <a:off x="51816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4191000" y="1600199"/>
            <a:ext cx="0" cy="44958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4964151" y="1600200"/>
            <a:ext cx="0" cy="44958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>
            <a:off x="4572000" y="6096000"/>
            <a:ext cx="392151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4552851" y="6096000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2851" y="6096000"/>
                <a:ext cx="476349" cy="369332"/>
              </a:xfrm>
              <a:prstGeom prst="rect">
                <a:avLst/>
              </a:prstGeom>
              <a:blipFill rotWithShape="1">
                <a:blip r:embed="rId9"/>
                <a:stretch>
                  <a:fillRect t="-8197" r="-1666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4191000" y="6107668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6107668"/>
                <a:ext cx="476349" cy="369332"/>
              </a:xfrm>
              <a:prstGeom prst="rect">
                <a:avLst/>
              </a:prstGeom>
              <a:blipFill rotWithShape="1">
                <a:blip r:embed="rId10"/>
                <a:stretch>
                  <a:fillRect t="-8197" r="-1666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Straight Arrow Connector 89"/>
          <p:cNvCxnSpPr/>
          <p:nvPr/>
        </p:nvCxnSpPr>
        <p:spPr>
          <a:xfrm flipH="1">
            <a:off x="4179849" y="6096000"/>
            <a:ext cx="392151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3" idx="0"/>
            <a:endCxn id="3" idx="2"/>
          </p:cNvCxnSpPr>
          <p:nvPr/>
        </p:nvCxnSpPr>
        <p:spPr>
          <a:xfrm>
            <a:off x="4572000" y="1600200"/>
            <a:ext cx="0" cy="4525963"/>
          </a:xfrm>
          <a:prstGeom prst="line">
            <a:avLst/>
          </a:prstGeom>
          <a:ln w="3810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Oval 92"/>
          <p:cNvSpPr/>
          <p:nvPr/>
        </p:nvSpPr>
        <p:spPr>
          <a:xfrm>
            <a:off x="4724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4" name="Oval 93"/>
          <p:cNvSpPr/>
          <p:nvPr/>
        </p:nvSpPr>
        <p:spPr>
          <a:xfrm>
            <a:off x="4724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7" name="Oval 116"/>
          <p:cNvSpPr/>
          <p:nvPr/>
        </p:nvSpPr>
        <p:spPr>
          <a:xfrm>
            <a:off x="4876800" y="4191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9" name="Oval 118"/>
          <p:cNvSpPr/>
          <p:nvPr/>
        </p:nvSpPr>
        <p:spPr>
          <a:xfrm>
            <a:off x="4648200" y="4724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/>
          <p:cNvSpPr/>
          <p:nvPr/>
        </p:nvSpPr>
        <p:spPr>
          <a:xfrm>
            <a:off x="4724400" y="3733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6" name="Oval 105"/>
          <p:cNvSpPr/>
          <p:nvPr/>
        </p:nvSpPr>
        <p:spPr>
          <a:xfrm>
            <a:off x="4876800" y="205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7" name="Oval 106"/>
          <p:cNvSpPr/>
          <p:nvPr/>
        </p:nvSpPr>
        <p:spPr>
          <a:xfrm>
            <a:off x="4648200" y="1676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8" name="Oval 107"/>
          <p:cNvSpPr/>
          <p:nvPr/>
        </p:nvSpPr>
        <p:spPr>
          <a:xfrm>
            <a:off x="4343400" y="1676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9" name="Oval 108"/>
          <p:cNvSpPr/>
          <p:nvPr/>
        </p:nvSpPr>
        <p:spPr>
          <a:xfrm>
            <a:off x="4419600" y="3352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19" name="Group 218"/>
          <p:cNvGrpSpPr/>
          <p:nvPr/>
        </p:nvGrpSpPr>
        <p:grpSpPr>
          <a:xfrm>
            <a:off x="4713241" y="1687559"/>
            <a:ext cx="3276600" cy="4179841"/>
            <a:chOff x="4713241" y="1687559"/>
            <a:chExt cx="3276600" cy="4179841"/>
          </a:xfrm>
        </p:grpSpPr>
        <p:cxnSp>
          <p:nvCxnSpPr>
            <p:cNvPr id="125" name="Straight Connector 124"/>
            <p:cNvCxnSpPr>
              <a:stCxn id="79" idx="0"/>
              <a:endCxn id="62" idx="3"/>
            </p:cNvCxnSpPr>
            <p:nvPr/>
          </p:nvCxnSpPr>
          <p:spPr>
            <a:xfrm flipV="1">
              <a:off x="4838700" y="5627641"/>
              <a:ext cx="811259" cy="23975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>
              <a:stCxn id="117" idx="1"/>
              <a:endCxn id="66" idx="2"/>
            </p:cNvCxnSpPr>
            <p:nvPr/>
          </p:nvCxnSpPr>
          <p:spPr>
            <a:xfrm flipV="1">
              <a:off x="4887959" y="4076700"/>
              <a:ext cx="3036841" cy="12545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>
              <a:stCxn id="60" idx="3"/>
              <a:endCxn id="94" idx="5"/>
            </p:cNvCxnSpPr>
            <p:nvPr/>
          </p:nvCxnSpPr>
          <p:spPr>
            <a:xfrm flipH="1">
              <a:off x="4789441" y="3113041"/>
              <a:ext cx="70811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>
              <a:stCxn id="94" idx="0"/>
              <a:endCxn id="53" idx="2"/>
            </p:cNvCxnSpPr>
            <p:nvPr/>
          </p:nvCxnSpPr>
          <p:spPr>
            <a:xfrm flipV="1">
              <a:off x="4762500" y="2628900"/>
              <a:ext cx="1714500" cy="4191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>
              <a:stCxn id="93" idx="0"/>
              <a:endCxn id="42" idx="1"/>
            </p:cNvCxnSpPr>
            <p:nvPr/>
          </p:nvCxnSpPr>
          <p:spPr>
            <a:xfrm>
              <a:off x="4762500" y="2438400"/>
              <a:ext cx="430259" cy="8735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/>
            <p:cNvCxnSpPr>
              <a:stCxn id="106" idx="3"/>
              <a:endCxn id="93" idx="7"/>
            </p:cNvCxnSpPr>
            <p:nvPr/>
          </p:nvCxnSpPr>
          <p:spPr>
            <a:xfrm flipH="1">
              <a:off x="4789441" y="2122441"/>
              <a:ext cx="98518" cy="32711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/>
            <p:cNvCxnSpPr>
              <a:stCxn id="62" idx="5"/>
              <a:endCxn id="54" idx="5"/>
            </p:cNvCxnSpPr>
            <p:nvPr/>
          </p:nvCxnSpPr>
          <p:spPr>
            <a:xfrm flipH="1" flipV="1">
              <a:off x="5170441" y="5475241"/>
              <a:ext cx="533400" cy="152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/>
            <p:cNvCxnSpPr>
              <a:stCxn id="54" idx="2"/>
              <a:endCxn id="80" idx="5"/>
            </p:cNvCxnSpPr>
            <p:nvPr/>
          </p:nvCxnSpPr>
          <p:spPr>
            <a:xfrm flipH="1" flipV="1">
              <a:off x="4903741" y="5322841"/>
              <a:ext cx="201659" cy="12545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/>
            <p:cNvCxnSpPr>
              <a:stCxn id="41" idx="2"/>
              <a:endCxn id="80" idx="5"/>
            </p:cNvCxnSpPr>
            <p:nvPr/>
          </p:nvCxnSpPr>
          <p:spPr>
            <a:xfrm flipH="1">
              <a:off x="4903741" y="5295900"/>
              <a:ext cx="1116059" cy="2694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/>
            <p:cNvCxnSpPr>
              <a:stCxn id="68" idx="1"/>
              <a:endCxn id="41" idx="7"/>
            </p:cNvCxnSpPr>
            <p:nvPr/>
          </p:nvCxnSpPr>
          <p:spPr>
            <a:xfrm flipH="1">
              <a:off x="6084841" y="5040359"/>
              <a:ext cx="1698718" cy="2286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>
              <a:stCxn id="68" idx="7"/>
              <a:endCxn id="119" idx="5"/>
            </p:cNvCxnSpPr>
            <p:nvPr/>
          </p:nvCxnSpPr>
          <p:spPr>
            <a:xfrm flipH="1" flipV="1">
              <a:off x="4713241" y="4789441"/>
              <a:ext cx="3124200" cy="25091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>
              <a:stCxn id="52" idx="3"/>
              <a:endCxn id="119" idx="6"/>
            </p:cNvCxnSpPr>
            <p:nvPr/>
          </p:nvCxnSpPr>
          <p:spPr>
            <a:xfrm flipH="1">
              <a:off x="4724400" y="4560841"/>
              <a:ext cx="2220959" cy="20165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>
              <a:endCxn id="61" idx="7"/>
            </p:cNvCxnSpPr>
            <p:nvPr/>
          </p:nvCxnSpPr>
          <p:spPr>
            <a:xfrm flipH="1" flipV="1">
              <a:off x="5551441" y="4506959"/>
              <a:ext cx="1458959" cy="2694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>
              <a:stCxn id="61" idx="2"/>
              <a:endCxn id="117" idx="5"/>
            </p:cNvCxnSpPr>
            <p:nvPr/>
          </p:nvCxnSpPr>
          <p:spPr>
            <a:xfrm flipH="1" flipV="1">
              <a:off x="4941841" y="4256041"/>
              <a:ext cx="544559" cy="27785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>
              <a:stCxn id="40" idx="6"/>
              <a:endCxn id="66" idx="5"/>
            </p:cNvCxnSpPr>
            <p:nvPr/>
          </p:nvCxnSpPr>
          <p:spPr>
            <a:xfrm>
              <a:off x="6096000" y="3924300"/>
              <a:ext cx="1893841" cy="17934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/>
            <p:cNvCxnSpPr>
              <a:stCxn id="105" idx="7"/>
              <a:endCxn id="40" idx="6"/>
            </p:cNvCxnSpPr>
            <p:nvPr/>
          </p:nvCxnSpPr>
          <p:spPr>
            <a:xfrm>
              <a:off x="4789441" y="3744959"/>
              <a:ext cx="1306559" cy="17934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>
              <a:stCxn id="105" idx="0"/>
              <a:endCxn id="87" idx="4"/>
            </p:cNvCxnSpPr>
            <p:nvPr/>
          </p:nvCxnSpPr>
          <p:spPr>
            <a:xfrm flipV="1">
              <a:off x="4762500" y="3657600"/>
              <a:ext cx="457200" cy="762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/>
            <p:cNvCxnSpPr>
              <a:stCxn id="36" idx="7"/>
              <a:endCxn id="87" idx="4"/>
            </p:cNvCxnSpPr>
            <p:nvPr/>
          </p:nvCxnSpPr>
          <p:spPr>
            <a:xfrm flipH="1">
              <a:off x="5219700" y="3516359"/>
              <a:ext cx="1474741" cy="14124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>
              <a:stCxn id="65" idx="2"/>
              <a:endCxn id="36" idx="7"/>
            </p:cNvCxnSpPr>
            <p:nvPr/>
          </p:nvCxnSpPr>
          <p:spPr>
            <a:xfrm flipH="1">
              <a:off x="6694441" y="3162300"/>
              <a:ext cx="1077959" cy="35405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>
              <a:stCxn id="65" idx="5"/>
              <a:endCxn id="60" idx="7"/>
            </p:cNvCxnSpPr>
            <p:nvPr/>
          </p:nvCxnSpPr>
          <p:spPr>
            <a:xfrm flipH="1" flipV="1">
              <a:off x="5551441" y="3059159"/>
              <a:ext cx="2286000" cy="13008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>
              <a:cxnSpLocks/>
              <a:stCxn id="42" idx="6"/>
              <a:endCxn id="53" idx="1"/>
            </p:cNvCxnSpPr>
            <p:nvPr/>
          </p:nvCxnSpPr>
          <p:spPr>
            <a:xfrm>
              <a:off x="5257800" y="2552700"/>
              <a:ext cx="1230359" cy="4925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>
              <a:stCxn id="67" idx="1"/>
              <a:endCxn id="106" idx="7"/>
            </p:cNvCxnSpPr>
            <p:nvPr/>
          </p:nvCxnSpPr>
          <p:spPr>
            <a:xfrm flipH="1">
              <a:off x="4941841" y="2068559"/>
              <a:ext cx="299411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/>
            <p:cNvCxnSpPr>
              <a:stCxn id="67" idx="7"/>
              <a:endCxn id="64" idx="6"/>
            </p:cNvCxnSpPr>
            <p:nvPr/>
          </p:nvCxnSpPr>
          <p:spPr>
            <a:xfrm flipH="1" flipV="1">
              <a:off x="6705600" y="1866900"/>
              <a:ext cx="1284241" cy="20165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>
              <a:stCxn id="64" idx="4"/>
              <a:endCxn id="63" idx="7"/>
            </p:cNvCxnSpPr>
            <p:nvPr/>
          </p:nvCxnSpPr>
          <p:spPr>
            <a:xfrm flipH="1" flipV="1">
              <a:off x="5856241" y="1839959"/>
              <a:ext cx="811259" cy="6504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>
              <a:stCxn id="63" idx="1"/>
              <a:endCxn id="107" idx="7"/>
            </p:cNvCxnSpPr>
            <p:nvPr/>
          </p:nvCxnSpPr>
          <p:spPr>
            <a:xfrm flipH="1" flipV="1">
              <a:off x="4713241" y="1687559"/>
              <a:ext cx="1089118" cy="152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1" name="Group 220"/>
          <p:cNvGrpSpPr/>
          <p:nvPr/>
        </p:nvGrpSpPr>
        <p:grpSpPr>
          <a:xfrm>
            <a:off x="903241" y="1741441"/>
            <a:ext cx="3592559" cy="4114800"/>
            <a:chOff x="903241" y="1741441"/>
            <a:chExt cx="3592559" cy="4114800"/>
          </a:xfrm>
        </p:grpSpPr>
        <p:cxnSp>
          <p:nvCxnSpPr>
            <p:cNvPr id="136" name="Straight Connector 135"/>
            <p:cNvCxnSpPr>
              <a:stCxn id="49" idx="6"/>
              <a:endCxn id="109" idx="6"/>
            </p:cNvCxnSpPr>
            <p:nvPr/>
          </p:nvCxnSpPr>
          <p:spPr>
            <a:xfrm>
              <a:off x="2057400" y="3314700"/>
              <a:ext cx="2438400" cy="762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7" name="Group 216"/>
            <p:cNvGrpSpPr/>
            <p:nvPr/>
          </p:nvGrpSpPr>
          <p:grpSpPr>
            <a:xfrm>
              <a:off x="903241" y="1741441"/>
              <a:ext cx="3592559" cy="4114800"/>
              <a:chOff x="903241" y="1741441"/>
              <a:chExt cx="3592559" cy="4114800"/>
            </a:xfrm>
          </p:grpSpPr>
          <p:cxnSp>
            <p:nvCxnSpPr>
              <p:cNvPr id="96" name="Straight Connector 95"/>
              <p:cNvCxnSpPr>
                <a:cxnSpLocks/>
                <a:stCxn id="76" idx="5"/>
                <a:endCxn id="78" idx="1"/>
              </p:cNvCxnSpPr>
              <p:nvPr/>
            </p:nvCxnSpPr>
            <p:spPr>
              <a:xfrm flipV="1">
                <a:off x="903241" y="5649959"/>
                <a:ext cx="3527518" cy="20628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/>
              <p:cNvCxnSpPr>
                <a:cxnSpLocks/>
                <a:stCxn id="50" idx="5"/>
                <a:endCxn id="78" idx="1"/>
              </p:cNvCxnSpPr>
              <p:nvPr/>
            </p:nvCxnSpPr>
            <p:spPr>
              <a:xfrm>
                <a:off x="3189241" y="5399041"/>
                <a:ext cx="1241518" cy="25091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/>
              <p:cNvCxnSpPr>
                <a:stCxn id="38" idx="2"/>
                <a:endCxn id="50" idx="7"/>
              </p:cNvCxnSpPr>
              <p:nvPr/>
            </p:nvCxnSpPr>
            <p:spPr>
              <a:xfrm flipH="1">
                <a:off x="3189241" y="5143500"/>
                <a:ext cx="1077959" cy="20165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/>
              <p:cNvCxnSpPr>
                <a:stCxn id="38" idx="1"/>
                <a:endCxn id="57" idx="5"/>
              </p:cNvCxnSpPr>
              <p:nvPr/>
            </p:nvCxnSpPr>
            <p:spPr>
              <a:xfrm flipH="1" flipV="1">
                <a:off x="1970041" y="5018041"/>
                <a:ext cx="2308318" cy="9851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/>
              <p:cNvCxnSpPr>
                <a:stCxn id="57" idx="2"/>
                <a:endCxn id="75" idx="2"/>
              </p:cNvCxnSpPr>
              <p:nvPr/>
            </p:nvCxnSpPr>
            <p:spPr>
              <a:xfrm flipH="1" flipV="1">
                <a:off x="1371600" y="4838700"/>
                <a:ext cx="533400" cy="1524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>
                <a:stCxn id="75" idx="6"/>
                <a:endCxn id="81" idx="2"/>
              </p:cNvCxnSpPr>
              <p:nvPr/>
            </p:nvCxnSpPr>
            <p:spPr>
              <a:xfrm flipV="1">
                <a:off x="1447800" y="4533900"/>
                <a:ext cx="2971800" cy="3048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>
                <a:stCxn id="55" idx="6"/>
                <a:endCxn id="81" idx="6"/>
              </p:cNvCxnSpPr>
              <p:nvPr/>
            </p:nvCxnSpPr>
            <p:spPr>
              <a:xfrm>
                <a:off x="2209800" y="4000500"/>
                <a:ext cx="2286000" cy="5334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>
                <a:stCxn id="55" idx="6"/>
                <a:endCxn id="35" idx="3"/>
              </p:cNvCxnSpPr>
              <p:nvPr/>
            </p:nvCxnSpPr>
            <p:spPr>
              <a:xfrm flipV="1">
                <a:off x="2209800" y="3951241"/>
                <a:ext cx="1458959" cy="4925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>
                <a:endCxn id="77" idx="2"/>
              </p:cNvCxnSpPr>
              <p:nvPr/>
            </p:nvCxnSpPr>
            <p:spPr>
              <a:xfrm>
                <a:off x="3728220" y="3924300"/>
                <a:ext cx="53898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/>
              <p:cNvCxnSpPr>
                <a:stCxn id="51" idx="7"/>
                <a:endCxn id="77" idx="6"/>
              </p:cNvCxnSpPr>
              <p:nvPr/>
            </p:nvCxnSpPr>
            <p:spPr>
              <a:xfrm>
                <a:off x="2808241" y="3668759"/>
                <a:ext cx="1535159" cy="2555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>
                <a:stCxn id="51" idx="7"/>
                <a:endCxn id="86" idx="3"/>
              </p:cNvCxnSpPr>
              <p:nvPr/>
            </p:nvCxnSpPr>
            <p:spPr>
              <a:xfrm flipV="1">
                <a:off x="2808241" y="3494041"/>
                <a:ext cx="1241518" cy="17471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>
                <a:endCxn id="34" idx="3"/>
              </p:cNvCxnSpPr>
              <p:nvPr/>
            </p:nvCxnSpPr>
            <p:spPr>
              <a:xfrm flipV="1">
                <a:off x="1752600" y="2960641"/>
                <a:ext cx="1535159" cy="25091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>
                <a:stCxn id="34" idx="7"/>
                <a:endCxn id="85" idx="2"/>
              </p:cNvCxnSpPr>
              <p:nvPr/>
            </p:nvCxnSpPr>
            <p:spPr>
              <a:xfrm flipV="1">
                <a:off x="3341641" y="2781300"/>
                <a:ext cx="925559" cy="12545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>
                <a:stCxn id="47" idx="6"/>
                <a:endCxn id="85" idx="7"/>
              </p:cNvCxnSpPr>
              <p:nvPr/>
            </p:nvCxnSpPr>
            <p:spPr>
              <a:xfrm>
                <a:off x="2514600" y="2705100"/>
                <a:ext cx="1817641" cy="4925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Straight Connector 141"/>
              <p:cNvCxnSpPr>
                <a:stCxn id="58" idx="6"/>
                <a:endCxn id="47" idx="7"/>
              </p:cNvCxnSpPr>
              <p:nvPr/>
            </p:nvCxnSpPr>
            <p:spPr>
              <a:xfrm>
                <a:off x="1828800" y="2552700"/>
                <a:ext cx="674641" cy="12545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Connector 143"/>
              <p:cNvCxnSpPr>
                <a:stCxn id="58" idx="7"/>
                <a:endCxn id="59" idx="4"/>
              </p:cNvCxnSpPr>
              <p:nvPr/>
            </p:nvCxnSpPr>
            <p:spPr>
              <a:xfrm flipV="1">
                <a:off x="1817641" y="2286000"/>
                <a:ext cx="2487659" cy="23975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Straight Connector 146"/>
              <p:cNvCxnSpPr>
                <a:stCxn id="59" idx="0"/>
                <a:endCxn id="108" idx="5"/>
              </p:cNvCxnSpPr>
              <p:nvPr/>
            </p:nvCxnSpPr>
            <p:spPr>
              <a:xfrm flipV="1">
                <a:off x="4305300" y="1741441"/>
                <a:ext cx="103141" cy="46835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20" name="Straight Connector 219"/>
            <p:cNvCxnSpPr/>
            <p:nvPr/>
          </p:nvCxnSpPr>
          <p:spPr>
            <a:xfrm flipV="1">
              <a:off x="4049759" y="3390900"/>
              <a:ext cx="369841" cy="4925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B2B30EB-E318-730D-41C7-D88CFDB47031}"/>
              </a:ext>
            </a:extLst>
          </p:cNvPr>
          <p:cNvGrpSpPr/>
          <p:nvPr/>
        </p:nvGrpSpPr>
        <p:grpSpPr>
          <a:xfrm>
            <a:off x="4686300" y="1714500"/>
            <a:ext cx="201659" cy="4152900"/>
            <a:chOff x="4686300" y="1714500"/>
            <a:chExt cx="201659" cy="415290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5FE7F8F-EB7D-E255-D1CB-ED59EAD57DA8}"/>
                </a:ext>
              </a:extLst>
            </p:cNvPr>
            <p:cNvCxnSpPr/>
            <p:nvPr/>
          </p:nvCxnSpPr>
          <p:spPr>
            <a:xfrm flipV="1">
              <a:off x="4838700" y="5334000"/>
              <a:ext cx="38100" cy="53340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51A00D4-B684-29E9-0568-AB932CFF5277}"/>
                </a:ext>
              </a:extLst>
            </p:cNvPr>
            <p:cNvCxnSpPr/>
            <p:nvPr/>
          </p:nvCxnSpPr>
          <p:spPr>
            <a:xfrm flipH="1" flipV="1">
              <a:off x="4713241" y="4789441"/>
              <a:ext cx="163559" cy="544559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9FB87D6-D921-B715-E470-39ABBBC7551A}"/>
                </a:ext>
              </a:extLst>
            </p:cNvPr>
            <p:cNvCxnSpPr/>
            <p:nvPr/>
          </p:nvCxnSpPr>
          <p:spPr>
            <a:xfrm flipV="1">
              <a:off x="4686300" y="4256041"/>
              <a:ext cx="201659" cy="468359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7FC3773-8D74-94F8-2B16-FFB72E4D3129}"/>
                </a:ext>
              </a:extLst>
            </p:cNvPr>
            <p:cNvCxnSpPr/>
            <p:nvPr/>
          </p:nvCxnSpPr>
          <p:spPr>
            <a:xfrm flipH="1" flipV="1">
              <a:off x="4789441" y="3798841"/>
              <a:ext cx="98518" cy="403318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1DDE5C6-1251-9D7A-576D-EEE6071A1531}"/>
                </a:ext>
              </a:extLst>
            </p:cNvPr>
            <p:cNvCxnSpPr/>
            <p:nvPr/>
          </p:nvCxnSpPr>
          <p:spPr>
            <a:xfrm flipV="1">
              <a:off x="4735559" y="3113041"/>
              <a:ext cx="53882" cy="631918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1FEDDCC-0061-693F-98D7-649282104E5E}"/>
                </a:ext>
              </a:extLst>
            </p:cNvPr>
            <p:cNvCxnSpPr/>
            <p:nvPr/>
          </p:nvCxnSpPr>
          <p:spPr>
            <a:xfrm flipV="1">
              <a:off x="4762500" y="2514601"/>
              <a:ext cx="5575" cy="533399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12D38C-ACC7-3FB1-CBFE-4B5F1B3C67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00600" y="2122441"/>
              <a:ext cx="87359" cy="315959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0F83D8A-D8DD-BB9E-45CF-2847BB799703}"/>
                </a:ext>
              </a:extLst>
            </p:cNvPr>
            <p:cNvCxnSpPr/>
            <p:nvPr/>
          </p:nvCxnSpPr>
          <p:spPr>
            <a:xfrm flipH="1" flipV="1">
              <a:off x="4724400" y="1714500"/>
              <a:ext cx="163559" cy="407941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1768AA9-7F6B-57D1-5864-5BAABC87594D}"/>
              </a:ext>
            </a:extLst>
          </p:cNvPr>
          <p:cNvGrpSpPr/>
          <p:nvPr/>
        </p:nvGrpSpPr>
        <p:grpSpPr>
          <a:xfrm>
            <a:off x="4305300" y="1752600"/>
            <a:ext cx="152400" cy="3886200"/>
            <a:chOff x="4305300" y="1752600"/>
            <a:chExt cx="152400" cy="388620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3322B4B-78ED-AC51-4D39-26B8624957E7}"/>
                </a:ext>
              </a:extLst>
            </p:cNvPr>
            <p:cNvCxnSpPr/>
            <p:nvPr/>
          </p:nvCxnSpPr>
          <p:spPr>
            <a:xfrm flipH="1" flipV="1">
              <a:off x="4305300" y="5181600"/>
              <a:ext cx="152400" cy="457200"/>
            </a:xfrm>
            <a:prstGeom prst="line">
              <a:avLst/>
            </a:prstGeom>
            <a:ln w="28575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E0BCF4-FD62-38B7-004F-C880DD09FD95}"/>
                </a:ext>
              </a:extLst>
            </p:cNvPr>
            <p:cNvCxnSpPr/>
            <p:nvPr/>
          </p:nvCxnSpPr>
          <p:spPr>
            <a:xfrm flipV="1">
              <a:off x="4332241" y="4560841"/>
              <a:ext cx="98518" cy="555718"/>
            </a:xfrm>
            <a:prstGeom prst="line">
              <a:avLst/>
            </a:prstGeom>
            <a:ln w="28575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BD31DD7-AF81-6C15-E01B-D84A7DEF2E3B}"/>
                </a:ext>
              </a:extLst>
            </p:cNvPr>
            <p:cNvCxnSpPr/>
            <p:nvPr/>
          </p:nvCxnSpPr>
          <p:spPr>
            <a:xfrm>
              <a:off x="4305300" y="3962400"/>
              <a:ext cx="125459" cy="544559"/>
            </a:xfrm>
            <a:prstGeom prst="line">
              <a:avLst/>
            </a:prstGeom>
            <a:ln w="28575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2D3CB2A-0360-4E8D-1939-B61FF6BD4063}"/>
                </a:ext>
              </a:extLst>
            </p:cNvPr>
            <p:cNvCxnSpPr/>
            <p:nvPr/>
          </p:nvCxnSpPr>
          <p:spPr>
            <a:xfrm flipH="1">
              <a:off x="4305300" y="3390900"/>
              <a:ext cx="114300" cy="495300"/>
            </a:xfrm>
            <a:prstGeom prst="line">
              <a:avLst/>
            </a:prstGeom>
            <a:ln w="28575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C1E6B73-98FD-DCC2-9E37-5D7D34C055F4}"/>
                </a:ext>
              </a:extLst>
            </p:cNvPr>
            <p:cNvCxnSpPr/>
            <p:nvPr/>
          </p:nvCxnSpPr>
          <p:spPr>
            <a:xfrm>
              <a:off x="4305300" y="2819400"/>
              <a:ext cx="152400" cy="533400"/>
            </a:xfrm>
            <a:prstGeom prst="line">
              <a:avLst/>
            </a:prstGeom>
            <a:ln w="28575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9410374-D719-A812-9F7E-75DC65E5D677}"/>
                </a:ext>
              </a:extLst>
            </p:cNvPr>
            <p:cNvCxnSpPr/>
            <p:nvPr/>
          </p:nvCxnSpPr>
          <p:spPr>
            <a:xfrm>
              <a:off x="4305300" y="2286000"/>
              <a:ext cx="0" cy="457200"/>
            </a:xfrm>
            <a:prstGeom prst="line">
              <a:avLst/>
            </a:prstGeom>
            <a:ln w="28575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D7B82AB-4C28-7B26-27FC-468A0D2153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05300" y="1752600"/>
              <a:ext cx="103141" cy="457200"/>
            </a:xfrm>
            <a:prstGeom prst="line">
              <a:avLst/>
            </a:prstGeom>
            <a:ln w="28575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3786012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3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3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3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Divide and Conquer based algorithm</a:t>
            </a:r>
            <a:br>
              <a:rPr lang="en-US" sz="3200" b="1" dirty="0"/>
            </a:br>
            <a:br>
              <a:rPr lang="en-US" sz="3200" b="1" dirty="0"/>
            </a:b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685800"/>
                <a:ext cx="8229600" cy="54403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7030A0"/>
                    </a:solidFill>
                  </a:rPr>
                  <a:t>CP-Distance</a:t>
                </a:r>
                <a:r>
                  <a:rPr lang="en-US" sz="1600" dirty="0"/>
                  <a:t>(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𝑃</m:t>
                    </m:r>
                  </m:oMath>
                </a14:m>
                <a:r>
                  <a:rPr lang="en-US" sz="1600" dirty="0"/>
                  <a:t>) </a:t>
                </a:r>
              </a:p>
              <a:p>
                <a:pPr marL="0" indent="0">
                  <a:buNone/>
                </a:pPr>
                <a:r>
                  <a:rPr lang="en-US" sz="1600" dirty="0"/>
                  <a:t>{   </a:t>
                </a:r>
                <a:r>
                  <a:rPr lang="en-US" sz="1600" b="1" dirty="0"/>
                  <a:t>If</a:t>
                </a:r>
                <a:r>
                  <a:rPr lang="en-US" sz="1600" dirty="0"/>
                  <a:t> (|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𝑃</m:t>
                    </m:r>
                    <m:r>
                      <a:rPr lang="en-US" sz="16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1600" dirty="0"/>
                  <a:t>|=1 ) return (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/>
                        <a:ea typeface="Cambria Math"/>
                      </a:rPr>
                      <m:t>∞</m:t>
                    </m:r>
                  </m:oMath>
                </a14:m>
                <a:r>
                  <a:rPr lang="en-US" sz="1600" dirty="0"/>
                  <a:t>,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𝑃</m:t>
                    </m:r>
                  </m:oMath>
                </a14:m>
                <a:r>
                  <a:rPr lang="en-US" sz="1600" dirty="0"/>
                  <a:t>);</a:t>
                </a:r>
              </a:p>
              <a:p>
                <a:pPr marL="0" indent="0">
                  <a:buNone/>
                </a:pPr>
                <a:r>
                  <a:rPr lang="en-US" sz="1600" dirty="0"/>
                  <a:t>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𝑚𝑒𝑑</m:t>
                        </m:r>
                      </m:sub>
                    </m:sSub>
                    <m:r>
                      <a:rPr lang="en-US" sz="16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</a:t>
                </a:r>
                <a:r>
                  <a:rPr lang="en-US" sz="1600" dirty="0"/>
                  <a:t>Compute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US" sz="1600" dirty="0"/>
                  <a:t>-median of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𝑃</m:t>
                    </m:r>
                  </m:oMath>
                </a14:m>
                <a:r>
                  <a:rPr lang="en-US" sz="1600" dirty="0"/>
                  <a:t>;</a:t>
                </a:r>
              </a:p>
              <a:p>
                <a:pPr marL="0" indent="0">
                  <a:buNone/>
                </a:pPr>
                <a:r>
                  <a:rPr lang="en-US" sz="1600" b="0" dirty="0"/>
                  <a:t>           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𝐿</m:t>
                        </m:r>
                      </m:sub>
                    </m:sSub>
                    <m:r>
                      <a:rPr lang="en-US" sz="1600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𝑅</m:t>
                        </m:r>
                      </m:sub>
                    </m:sSub>
                    <m:r>
                      <a:rPr lang="en-US" sz="16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Split-by-</a:t>
                </a: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-median(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𝑃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);</a:t>
                </a:r>
              </a:p>
              <a:p>
                <a:pPr marL="0" indent="0">
                  <a:buNone/>
                </a:pPr>
                <a:r>
                  <a:rPr lang="en-US" sz="1600" dirty="0">
                    <a:sym typeface="Wingdings" pitchFamily="2" charset="2"/>
                  </a:rPr>
                  <a:t>          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sz="16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sz="1600" dirty="0">
                    <a:sym typeface="Wingdings" pitchFamily="2" charset="2"/>
                  </a:rPr>
                  <a:t>,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1600" dirty="0">
                    <a:sym typeface="Wingdings" pitchFamily="2" charset="2"/>
                  </a:rPr>
                  <a:t>) </a:t>
                </a:r>
                <a:r>
                  <a:rPr lang="en-US" sz="1600" b="1" dirty="0">
                    <a:solidFill>
                      <a:srgbClr val="7030A0"/>
                    </a:solidFill>
                  </a:rPr>
                  <a:t>CP-Distance</a:t>
                </a:r>
                <a:r>
                  <a:rPr lang="en-US" sz="16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1600" dirty="0"/>
                  <a:t>) </a:t>
                </a:r>
                <a:r>
                  <a:rPr lang="en-US" sz="1600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0070C0"/>
                    </a:solidFill>
                  </a:rPr>
                  <a:t>           </a:t>
                </a:r>
                <a:r>
                  <a:rPr lang="en-US" sz="16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sz="16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en-US" sz="1600" dirty="0">
                    <a:sym typeface="Wingdings" pitchFamily="2" charset="2"/>
                  </a:rPr>
                  <a:t>,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1600" dirty="0">
                    <a:sym typeface="Wingdings" pitchFamily="2" charset="2"/>
                  </a:rPr>
                  <a:t>) </a:t>
                </a:r>
                <a:r>
                  <a:rPr lang="en-US" sz="1600" b="1" dirty="0">
                    <a:solidFill>
                      <a:srgbClr val="7030A0"/>
                    </a:solidFill>
                  </a:rPr>
                  <a:t>CP-Distance</a:t>
                </a:r>
                <a:r>
                  <a:rPr lang="en-US" sz="16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1600" dirty="0"/>
                  <a:t>) </a:t>
                </a:r>
                <a:r>
                  <a:rPr lang="en-US" sz="1600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1600" dirty="0">
                    <a:sym typeface="Wingdings" pitchFamily="2" charset="2"/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 min(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sz="1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sz="1600" dirty="0">
                    <a:sym typeface="Wingdings" pitchFamily="2" charset="2"/>
                  </a:rPr>
                  <a:t>,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sz="16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en-US" sz="1600" dirty="0">
                    <a:sym typeface="Wingdings" pitchFamily="2" charset="2"/>
                  </a:rPr>
                  <a:t>);</a:t>
                </a:r>
                <a:r>
                  <a:rPr lang="en-US" sz="1600" b="1" dirty="0">
                    <a:sym typeface="Wingdings" pitchFamily="2" charset="2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𝑃</m:t>
                    </m:r>
                    <m:r>
                      <a:rPr lang="en-US" sz="1600" i="1">
                        <a:latin typeface="Cambria Math"/>
                      </a:rPr>
                      <m:t>′</m:t>
                    </m:r>
                  </m:oMath>
                </a14:m>
                <a:r>
                  <a:rPr lang="en-US" sz="1600" b="1" dirty="0">
                    <a:sym typeface="Wingdings" pitchFamily="2" charset="2"/>
                  </a:rPr>
                  <a:t>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US" sz="1600" b="1" dirty="0">
                    <a:sym typeface="Wingdings" pitchFamily="2" charset="2"/>
                  </a:rPr>
                  <a:t>-Merge</a:t>
                </a:r>
                <a:r>
                  <a:rPr lang="en-US" sz="16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1600" dirty="0">
                    <a:sym typeface="Wingdings" pitchFamily="2" charset="2"/>
                  </a:rPr>
                  <a:t>,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1600" dirty="0">
                    <a:sym typeface="Wingdings" pitchFamily="2" charset="2"/>
                  </a:rPr>
                  <a:t>);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1600" b="1" dirty="0">
                    <a:sym typeface="Wingdings" pitchFamily="2" charset="2"/>
                  </a:rPr>
                  <a:t> </a:t>
                </a:r>
                <a:r>
                  <a:rPr lang="en-US" sz="1600" dirty="0">
                    <a:sym typeface="Wingdings" pitchFamily="2" charset="2"/>
                  </a:rPr>
                  <a:t></a:t>
                </a:r>
                <a:r>
                  <a:rPr lang="en-US" sz="1600" b="1" dirty="0">
                    <a:sym typeface="Wingdings" pitchFamily="2" charset="2"/>
                  </a:rPr>
                  <a:t> strip </a:t>
                </a:r>
                <a:r>
                  <a:rPr lang="en-US" sz="1600" dirty="0">
                    <a:sym typeface="Wingdings" pitchFamily="2" charset="2"/>
                  </a:rPr>
                  <a:t>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1600" b="1" dirty="0">
                    <a:sym typeface="Wingdings" pitchFamily="2" charset="2"/>
                  </a:rPr>
                  <a:t>;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1600" b="1" dirty="0">
                    <a:sym typeface="Wingdings" pitchFamily="2" charset="2"/>
                  </a:rPr>
                  <a:t> </a:t>
                </a:r>
                <a:r>
                  <a:rPr lang="en-US" sz="1600" dirty="0">
                    <a:sym typeface="Wingdings" pitchFamily="2" charset="2"/>
                  </a:rPr>
                  <a:t></a:t>
                </a:r>
                <a:r>
                  <a:rPr lang="en-US" sz="1600" b="1" dirty="0">
                    <a:sym typeface="Wingdings" pitchFamily="2" charset="2"/>
                  </a:rPr>
                  <a:t> strip </a:t>
                </a:r>
                <a:r>
                  <a:rPr lang="en-US" sz="1600" dirty="0">
                    <a:sym typeface="Wingdings" pitchFamily="2" charset="2"/>
                  </a:rPr>
                  <a:t>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1600" b="1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           While</a:t>
                </a:r>
                <a:r>
                  <a:rPr lang="en-US" sz="16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𝐿</m:t>
                        </m:r>
                      </m:sub>
                    </m:sSub>
                    <m:r>
                      <a:rPr lang="en-US" sz="1600" i="1">
                        <a:latin typeface="Cambria Math"/>
                      </a:rPr>
                      <m:t>≠</m:t>
                    </m:r>
                    <m:r>
                      <a:rPr lang="en-US" sz="1600" b="0" i="1" smtClean="0">
                        <a:latin typeface="Cambria Math"/>
                      </a:rPr>
                      <m:t>∅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 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𝑅</m:t>
                        </m:r>
                      </m:sub>
                    </m:sSub>
                    <m:r>
                      <a:rPr lang="en-US" sz="1600" i="1">
                        <a:latin typeface="Cambria Math"/>
                      </a:rPr>
                      <m:t>≠∅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 )</a:t>
                </a:r>
                <a:r>
                  <a:rPr lang="en-US" sz="1600" b="1" dirty="0">
                    <a:sym typeface="Wingdings" pitchFamily="2" charset="2"/>
                  </a:rPr>
                  <a:t>      </a:t>
                </a:r>
              </a:p>
              <a:p>
                <a:pPr marL="0" indent="0">
                  <a:buNone/>
                </a:pPr>
                <a:r>
                  <a:rPr lang="en-US" sz="1600" dirty="0">
                    <a:sym typeface="Wingdings" pitchFamily="2" charset="2"/>
                  </a:rPr>
                  <a:t>                    </a:t>
                </a:r>
                <a:r>
                  <a:rPr lang="en-US" sz="1600" b="1" dirty="0">
                    <a:sym typeface="Wingdings" pitchFamily="2" charset="2"/>
                  </a:rPr>
                  <a:t>{</a:t>
                </a:r>
                <a:r>
                  <a:rPr lang="en-US" sz="1600" dirty="0">
                    <a:sym typeface="Wingdings" pitchFamily="2" charset="2"/>
                  </a:rPr>
                  <a:t>  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𝑎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first(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1600" dirty="0">
                    <a:sym typeface="Wingdings" pitchFamily="2" charset="2"/>
                  </a:rPr>
                  <a:t>) ;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𝑏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first(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1600" dirty="0">
                    <a:sym typeface="Wingdings" pitchFamily="2" charset="2"/>
                  </a:rPr>
                  <a:t>); </a:t>
                </a:r>
              </a:p>
              <a:p>
                <a:pPr marL="0" indent="0">
                  <a:buNone/>
                </a:pPr>
                <a:r>
                  <a:rPr lang="en-US" sz="1600" dirty="0">
                    <a:sym typeface="Wingdings" pitchFamily="2" charset="2"/>
                  </a:rPr>
                  <a:t>                          </a:t>
                </a:r>
                <a:r>
                  <a:rPr lang="en-US" sz="1600" b="1" dirty="0">
                    <a:sym typeface="Wingdings" pitchFamily="2" charset="2"/>
                  </a:rPr>
                  <a:t>If</a:t>
                </a:r>
                <a:r>
                  <a:rPr lang="en-US" sz="1600" dirty="0">
                    <a:sym typeface="Wingdings" pitchFamily="2" charset="2"/>
                  </a:rPr>
                  <a:t>( </a:t>
                </a:r>
                <a:r>
                  <a:rPr lang="en-US" sz="1600" dirty="0">
                    <a:solidFill>
                      <a:srgbClr val="C00000"/>
                    </a:solidFill>
                    <a:sym typeface="Wingdings" pitchFamily="2" charset="2"/>
                  </a:rPr>
                  <a:t>y</a:t>
                </a:r>
                <a:r>
                  <a:rPr lang="en-US" sz="16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𝑎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) 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/>
                        <a:ea typeface="Cambria Math"/>
                        <a:sym typeface="Wingdings" pitchFamily="2" charset="2"/>
                      </a:rPr>
                      <m:t>≤</m:t>
                    </m:r>
                  </m:oMath>
                </a14:m>
                <a:r>
                  <a:rPr lang="en-US" sz="1600" dirty="0">
                    <a:solidFill>
                      <a:srgbClr val="C00000"/>
                    </a:solidFill>
                    <a:sym typeface="Wingdings" pitchFamily="2" charset="2"/>
                  </a:rPr>
                  <a:t> y</a:t>
                </a:r>
                <a:r>
                  <a:rPr lang="en-US" sz="16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𝑏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) ) </a:t>
                </a:r>
                <a:endParaRPr lang="en-US" sz="1600" b="1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                         {          </a:t>
                </a:r>
                <a:r>
                  <a:rPr lang="en-US" sz="1600" dirty="0">
                    <a:sym typeface="Wingdings" pitchFamily="2" charset="2"/>
                  </a:rPr>
                  <a:t>Compute distance from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𝑎</m:t>
                    </m:r>
                    <m:r>
                      <a:rPr lang="en-US" sz="16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to the first </a:t>
                </a:r>
                <a:r>
                  <a:rPr lang="en-US" sz="1600" b="1" dirty="0">
                    <a:solidFill>
                      <a:srgbClr val="0070C0"/>
                    </a:solidFill>
                    <a:sym typeface="Wingdings" pitchFamily="2" charset="2"/>
                  </a:rPr>
                  <a:t>4</a:t>
                </a:r>
                <a:r>
                  <a:rPr lang="en-US" sz="1600" dirty="0">
                    <a:sym typeface="Wingdings" pitchFamily="2" charset="2"/>
                  </a:rPr>
                  <a:t> points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1600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                                    Update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</m:oMath>
                </a14:m>
                <a:r>
                  <a:rPr lang="en-US" sz="1600" b="1" dirty="0">
                    <a:sym typeface="Wingdings" pitchFamily="2" charset="2"/>
                  </a:rPr>
                  <a:t> </a:t>
                </a:r>
                <a:r>
                  <a:rPr lang="en-US" sz="1600" dirty="0">
                    <a:sym typeface="Wingdings" pitchFamily="2" charset="2"/>
                  </a:rPr>
                  <a:t>accordingly;</a:t>
                </a:r>
              </a:p>
              <a:p>
                <a:pPr marL="0" indent="0">
                  <a:buNone/>
                </a:pPr>
                <a:r>
                  <a:rPr lang="en-US" sz="1600" dirty="0">
                    <a:sym typeface="Wingdings" pitchFamily="2" charset="2"/>
                  </a:rPr>
                  <a:t>                                    Remove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𝑎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1600" dirty="0">
                    <a:sym typeface="Wingdings" pitchFamily="2" charset="2"/>
                  </a:rPr>
                  <a:t> ;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                         } 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                         else … </a:t>
                </a:r>
                <a:r>
                  <a:rPr lang="en-US" sz="1600" dirty="0">
                    <a:solidFill>
                      <a:srgbClr val="006C31"/>
                    </a:solidFill>
                    <a:sym typeface="Wingdings" pitchFamily="2" charset="2"/>
                  </a:rPr>
                  <a:t>//similar processing for point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𝑏</m:t>
                    </m:r>
                  </m:oMath>
                </a14:m>
                <a:r>
                  <a:rPr lang="en-US" sz="1600" b="1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                    } 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           return </a:t>
                </a:r>
                <a:r>
                  <a:rPr lang="en-US" sz="16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,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𝑃</m:t>
                    </m:r>
                    <m:r>
                      <a:rPr lang="en-US" sz="1600" b="0" i="1" smtClean="0">
                        <a:latin typeface="Cambria Math"/>
                      </a:rPr>
                      <m:t>′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}</a:t>
                </a:r>
                <a:r>
                  <a:rPr lang="en-US" sz="1600" dirty="0">
                    <a:sym typeface="Wingdings" pitchFamily="2" charset="2"/>
                  </a:rPr>
                  <a:t>             </a:t>
                </a:r>
                <a:endParaRPr lang="en-US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685800"/>
                <a:ext cx="8229600" cy="5440363"/>
              </a:xfrm>
              <a:blipFill rotWithShape="1">
                <a:blip r:embed="rId5"/>
                <a:stretch>
                  <a:fillRect l="-370" t="-336" b="-43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5638800" y="1828800"/>
            <a:ext cx="2902760" cy="1239798"/>
            <a:chOff x="1371601" y="2025134"/>
            <a:chExt cx="2902760" cy="1239798"/>
          </a:xfrm>
        </p:grpSpPr>
        <p:sp>
          <p:nvSpPr>
            <p:cNvPr id="5" name="Right Brace 4"/>
            <p:cNvSpPr/>
            <p:nvPr/>
          </p:nvSpPr>
          <p:spPr>
            <a:xfrm>
              <a:off x="1371601" y="2025134"/>
              <a:ext cx="1752600" cy="1239798"/>
            </a:xfrm>
            <a:prstGeom prst="rightBrace">
              <a:avLst>
                <a:gd name="adj1" fmla="val 0"/>
                <a:gd name="adj2" fmla="val 50000"/>
              </a:avLst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048000" y="2494002"/>
              <a:ext cx="12263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2060"/>
                  </a:solidFill>
                </a:rPr>
                <a:t>Divide step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5638800" y="3200400"/>
            <a:ext cx="3035223" cy="2819400"/>
            <a:chOff x="1808973" y="1295400"/>
            <a:chExt cx="3035223" cy="2819400"/>
          </a:xfrm>
        </p:grpSpPr>
        <p:sp>
          <p:nvSpPr>
            <p:cNvPr id="9" name="Right Brace 8"/>
            <p:cNvSpPr/>
            <p:nvPr/>
          </p:nvSpPr>
          <p:spPr>
            <a:xfrm>
              <a:off x="1808973" y="1295400"/>
              <a:ext cx="1676400" cy="2819400"/>
            </a:xfrm>
            <a:prstGeom prst="rightBrace">
              <a:avLst>
                <a:gd name="adj1" fmla="val 646"/>
                <a:gd name="adj2" fmla="val 50000"/>
              </a:avLst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429000" y="2678668"/>
              <a:ext cx="14151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2060"/>
                  </a:solidFill>
                </a:rPr>
                <a:t>conquer step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721750" y="4214336"/>
                <a:ext cx="1318181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/>
                      </a:rPr>
                      <m:t>𝑶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/>
                          </a:rPr>
                          <m:t>𝐏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time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1750" y="4214336"/>
                <a:ext cx="1318181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197" r="-787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540954" y="1981200"/>
                <a:ext cx="2526846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/>
                      </a:rPr>
                      <m:t>𝑶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/>
                          </a:rPr>
                          <m:t>𝐏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+ 2 </a:t>
                </a:r>
                <a:r>
                  <a:rPr lang="en-US" b="1" dirty="0"/>
                  <a:t>T</a:t>
                </a:r>
                <a:r>
                  <a:rPr lang="en-US" dirty="0"/>
                  <a:t>(|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/>
                      </a:rPr>
                      <m:t>𝐏</m:t>
                    </m:r>
                  </m:oMath>
                </a14:m>
                <a:r>
                  <a:rPr lang="en-US" dirty="0"/>
                  <a:t>|/2) time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954" y="1981200"/>
                <a:ext cx="2526846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8197" r="-337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2514600" y="2438400"/>
            <a:ext cx="19050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33692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6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11" grpId="0" animBg="1"/>
      <p:bldP spid="12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b="1" dirty="0">
                <a:solidFill>
                  <a:srgbClr val="7030A0"/>
                </a:solidFill>
              </a:rPr>
              <a:t>Conclusion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Theorem:</a:t>
                </a:r>
              </a:p>
              <a:p>
                <a:pPr marL="0" indent="0">
                  <a:buNone/>
                </a:pPr>
                <a:r>
                  <a:rPr lang="en-US" sz="2000" dirty="0"/>
                  <a:t>There exists an </a:t>
                </a:r>
                <a:r>
                  <a:rPr lang="en-US" sz="2000" b="1" i="1" dirty="0"/>
                  <a:t>O</a:t>
                </a:r>
                <a:r>
                  <a:rPr lang="en-US" sz="2000" dirty="0"/>
                  <a:t>(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/>
                          </a:rPr>
                          <m:t>log</m:t>
                        </m:r>
                      </m:fName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sz="2000" dirty="0">
                    <a:sym typeface="Wingdings" pitchFamily="2" charset="2"/>
                  </a:rPr>
                  <a:t>) time </a:t>
                </a:r>
                <a:r>
                  <a:rPr lang="en-US" sz="2000" dirty="0"/>
                  <a:t>algorithm  to compute the closest pair distance of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points in plane.</a:t>
                </a: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6C31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/>
                  <a:t>Note:</a:t>
                </a:r>
                <a:r>
                  <a:rPr lang="en-US" sz="2000" b="1" dirty="0">
                    <a:solidFill>
                      <a:srgbClr val="006C31"/>
                    </a:solidFill>
                  </a:rPr>
                  <a:t> </a:t>
                </a:r>
                <a:r>
                  <a:rPr lang="en-US" sz="2000" dirty="0"/>
                  <a:t>There exists a randomized algorithm with </a:t>
                </a:r>
                <a:r>
                  <a:rPr lang="en-US" sz="2000" b="1" i="1" dirty="0"/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 expected time. </a:t>
                </a: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6C31"/>
                  </a:solidFill>
                </a:endParaRPr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                What are the important lessons you learnt from the algorithm ?</a:t>
                </a:r>
              </a:p>
              <a:p>
                <a:pPr marL="0" indent="0">
                  <a:buNone/>
                </a:pPr>
                <a:endParaRPr lang="en-US" sz="2000" b="1" dirty="0"/>
              </a:p>
              <a:p>
                <a:endParaRPr lang="en-IN" sz="2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41" t="-8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143000" y="3048000"/>
            <a:ext cx="3810000" cy="304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953000" y="3048000"/>
            <a:ext cx="3810000" cy="304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8206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587D7-1EC3-2797-7C1C-1A152179F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Lessons learnt</a:t>
            </a:r>
            <a:endParaRPr lang="en-IN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0B081-4EDF-6F79-C52F-F77659BD5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524000"/>
            <a:ext cx="8991600" cy="4525963"/>
          </a:xfrm>
        </p:spPr>
        <p:txBody>
          <a:bodyPr/>
          <a:lstStyle/>
          <a:p>
            <a:r>
              <a:rPr lang="en-US" sz="2000" dirty="0"/>
              <a:t>Data structures may play a crucial role in designing efficient algorithms.</a:t>
            </a:r>
          </a:p>
          <a:p>
            <a:endParaRPr lang="en-US" sz="2000" dirty="0"/>
          </a:p>
          <a:p>
            <a:r>
              <a:rPr lang="en-US" sz="2000" dirty="0"/>
              <a:t>Basic geometric facts may play an important role in designing an algorithm.</a:t>
            </a:r>
          </a:p>
          <a:p>
            <a:endParaRPr lang="en-US" sz="2000" dirty="0"/>
          </a:p>
          <a:p>
            <a:r>
              <a:rPr lang="en-US" sz="2000" dirty="0"/>
              <a:t>The final algorithm is arrived after many steps, each step </a:t>
            </a:r>
            <a:r>
              <a:rPr lang="en-US" sz="2000" dirty="0" err="1"/>
              <a:t>requireing</a:t>
            </a:r>
            <a:r>
              <a:rPr lang="en-US" sz="2000" dirty="0"/>
              <a:t> new insight.</a:t>
            </a:r>
          </a:p>
          <a:p>
            <a:endParaRPr lang="en-US" sz="2000" dirty="0"/>
          </a:p>
          <a:p>
            <a:r>
              <a:rPr lang="en-US" sz="2000" dirty="0" err="1"/>
              <a:t>Analysing</a:t>
            </a:r>
            <a:r>
              <a:rPr lang="en-US" sz="2000" dirty="0"/>
              <a:t> the recurrences of time complexity of an algorithm may sometime help you make the algorithm more efficient.</a:t>
            </a:r>
          </a:p>
          <a:p>
            <a:endParaRPr lang="en-US" sz="2000" dirty="0"/>
          </a:p>
          <a:p>
            <a:r>
              <a:rPr lang="en-US" sz="2000" dirty="0"/>
              <a:t>Perseverance is the key in designing an efficient algorithm.</a:t>
            </a:r>
            <a:endParaRPr lang="en-I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511A2-852F-B596-4B1F-A5F7FBF6F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104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22313" y="2133600"/>
            <a:ext cx="7772400" cy="1362075"/>
          </a:xfrm>
        </p:spPr>
        <p:txBody>
          <a:bodyPr/>
          <a:lstStyle/>
          <a:p>
            <a:pPr algn="ctr"/>
            <a:r>
              <a:rPr lang="en-US" sz="4400" dirty="0"/>
              <a:t>problem 2</a:t>
            </a:r>
            <a:br>
              <a:rPr lang="en-US" sz="4400" dirty="0"/>
            </a:br>
            <a:endParaRPr lang="en-US" sz="440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838200" y="2362200"/>
            <a:ext cx="7772400" cy="1500187"/>
          </a:xfrm>
        </p:spPr>
        <p:txBody>
          <a:bodyPr/>
          <a:lstStyle/>
          <a:p>
            <a:pPr algn="ctr"/>
            <a:r>
              <a:rPr lang="en-US" sz="3600" b="1" dirty="0">
                <a:solidFill>
                  <a:srgbClr val="7030A0"/>
                </a:solidFill>
              </a:rPr>
              <a:t>Non-dominated </a:t>
            </a:r>
            <a:r>
              <a:rPr lang="en-US" sz="3600" b="1" dirty="0">
                <a:solidFill>
                  <a:schemeClr val="tx1"/>
                </a:solidFill>
              </a:rPr>
              <a:t>Points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6354E2E-84BA-BEB9-E290-8449729BC15D}"/>
              </a:ext>
            </a:extLst>
          </p:cNvPr>
          <p:cNvSpPr/>
          <p:nvPr/>
        </p:nvSpPr>
        <p:spPr>
          <a:xfrm>
            <a:off x="1905000" y="3048000"/>
            <a:ext cx="5334000" cy="83820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99226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The </a:t>
            </a:r>
            <a:r>
              <a:rPr lang="en-US" sz="3200" b="1" dirty="0">
                <a:solidFill>
                  <a:srgbClr val="7030A0"/>
                </a:solidFill>
              </a:rPr>
              <a:t>Non-Dominated </a:t>
            </a:r>
            <a:r>
              <a:rPr lang="en-US" sz="3200" b="1" dirty="0"/>
              <a:t>Points</a:t>
            </a:r>
            <a:br>
              <a:rPr lang="en-US" sz="3200" b="1" dirty="0"/>
            </a:br>
            <a:br>
              <a:rPr lang="en-US" sz="3200" b="1" dirty="0"/>
            </a:b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14400"/>
                <a:ext cx="8229600" cy="52117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    </a:t>
                </a:r>
              </a:p>
              <a:p>
                <a:pPr marL="0" indent="0">
                  <a:buNone/>
                </a:pPr>
                <a:r>
                  <a:rPr lang="en-US" sz="2000" dirty="0"/>
                  <a:t> 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Definition</a:t>
                </a:r>
                <a:r>
                  <a:rPr lang="en-US" sz="2000" dirty="0"/>
                  <a:t>: point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sz="2000" dirty="0"/>
                  <a:t> is said to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dominate</a:t>
                </a:r>
                <a:r>
                  <a:rPr lang="en-US" sz="2000" dirty="0"/>
                  <a:t> point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𝑞</m:t>
                    </m:r>
                  </m:oMath>
                </a14:m>
                <a:r>
                  <a:rPr lang="en-US" sz="2000" dirty="0"/>
                  <a:t> if</a:t>
                </a:r>
              </a:p>
              <a:p>
                <a:pPr marL="0" indent="0">
                  <a:buNone/>
                </a:pPr>
                <a:r>
                  <a:rPr lang="en-US" sz="2000" dirty="0"/>
                  <a:t>			x(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sz="2000" dirty="0"/>
                  <a:t>) &gt; x(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𝑞</m:t>
                    </m:r>
                  </m:oMath>
                </a14:m>
                <a:r>
                  <a:rPr lang="en-US" sz="2000" dirty="0"/>
                  <a:t>) </a:t>
                </a:r>
              </a:p>
              <a:p>
                <a:pPr marL="0" indent="0">
                  <a:buNone/>
                </a:pPr>
                <a:r>
                  <a:rPr lang="en-US" sz="2000" dirty="0"/>
                  <a:t>		and         y(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sz="2000" dirty="0"/>
                  <a:t>) &gt; y(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𝑞</m:t>
                    </m:r>
                  </m:oMath>
                </a14:m>
                <a:r>
                  <a:rPr lang="en-US" sz="2000" dirty="0"/>
                  <a:t>)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14400"/>
                <a:ext cx="8229600" cy="5211763"/>
              </a:xfr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" y="990600"/>
            <a:ext cx="0" cy="5638800"/>
          </a:xfrm>
          <a:prstGeom prst="line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>
            <a:off x="152400" y="6126163"/>
            <a:ext cx="83820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3619500" y="3810000"/>
            <a:ext cx="1" cy="2316163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endCxn id="81" idx="3"/>
          </p:cNvCxnSpPr>
          <p:nvPr/>
        </p:nvCxnSpPr>
        <p:spPr>
          <a:xfrm>
            <a:off x="609600" y="3798841"/>
            <a:ext cx="2982959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/>
          <p:cNvGrpSpPr/>
          <p:nvPr/>
        </p:nvGrpSpPr>
        <p:grpSpPr>
          <a:xfrm>
            <a:off x="3581400" y="3515112"/>
            <a:ext cx="379786" cy="369332"/>
            <a:chOff x="3581400" y="3515112"/>
            <a:chExt cx="379786" cy="369332"/>
          </a:xfrm>
        </p:grpSpPr>
        <p:sp>
          <p:nvSpPr>
            <p:cNvPr id="81" name="Oval 80"/>
            <p:cNvSpPr/>
            <p:nvPr/>
          </p:nvSpPr>
          <p:spPr>
            <a:xfrm>
              <a:off x="3581400" y="37338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/>
                <p:cNvSpPr txBox="1"/>
                <p:nvPr/>
              </p:nvSpPr>
              <p:spPr>
                <a:xfrm>
                  <a:off x="3592559" y="3515112"/>
                  <a:ext cx="36862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𝑝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92559" y="3515112"/>
                  <a:ext cx="368627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Group 22"/>
          <p:cNvGrpSpPr/>
          <p:nvPr/>
        </p:nvGrpSpPr>
        <p:grpSpPr>
          <a:xfrm>
            <a:off x="2743200" y="4503476"/>
            <a:ext cx="369588" cy="369332"/>
            <a:chOff x="2743200" y="4503476"/>
            <a:chExt cx="369588" cy="369332"/>
          </a:xfrm>
        </p:grpSpPr>
        <p:sp>
          <p:nvSpPr>
            <p:cNvPr id="42" name="Oval 41"/>
            <p:cNvSpPr/>
            <p:nvPr/>
          </p:nvSpPr>
          <p:spPr>
            <a:xfrm>
              <a:off x="2743200" y="47244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/>
                <p:cNvSpPr txBox="1"/>
                <p:nvPr/>
              </p:nvSpPr>
              <p:spPr>
                <a:xfrm>
                  <a:off x="2743200" y="4503476"/>
                  <a:ext cx="3695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𝑞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8" name="TextBox 9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43200" y="4503476"/>
                  <a:ext cx="369588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Group 25"/>
          <p:cNvGrpSpPr/>
          <p:nvPr/>
        </p:nvGrpSpPr>
        <p:grpSpPr>
          <a:xfrm>
            <a:off x="4476751" y="5192689"/>
            <a:ext cx="369588" cy="369332"/>
            <a:chOff x="4476751" y="5192689"/>
            <a:chExt cx="369588" cy="369332"/>
          </a:xfrm>
        </p:grpSpPr>
        <p:sp>
          <p:nvSpPr>
            <p:cNvPr id="62" name="Oval 61"/>
            <p:cNvSpPr/>
            <p:nvPr/>
          </p:nvSpPr>
          <p:spPr>
            <a:xfrm>
              <a:off x="4495800" y="54102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TextBox 98"/>
                <p:cNvSpPr txBox="1"/>
                <p:nvPr/>
              </p:nvSpPr>
              <p:spPr>
                <a:xfrm>
                  <a:off x="4476751" y="5192689"/>
                  <a:ext cx="3695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𝑞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9" name="TextBox 9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76751" y="5192689"/>
                  <a:ext cx="369588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0" name="Rectangle 19"/>
          <p:cNvSpPr/>
          <p:nvPr/>
        </p:nvSpPr>
        <p:spPr>
          <a:xfrm>
            <a:off x="1828800" y="1295400"/>
            <a:ext cx="7620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2590800" y="1295400"/>
            <a:ext cx="32766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26576" y="863641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08322" y="6126162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0" y="6103411"/>
                <a:ext cx="7344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(0,0)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103411"/>
                <a:ext cx="734496" cy="369332"/>
              </a:xfrm>
              <a:prstGeom prst="rect">
                <a:avLst/>
              </a:prstGeom>
              <a:blipFill>
                <a:blip r:embed="rId9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633948" y="3796040"/>
            <a:ext cx="3009900" cy="2327321"/>
          </a:xfrm>
          <a:prstGeom prst="rect">
            <a:avLst/>
          </a:prstGeom>
          <a:solidFill>
            <a:schemeClr val="tx2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86825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" dur="1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20" grpId="0" animBg="1"/>
      <p:bldP spid="24" grpId="0" animBg="1"/>
      <p:bldP spid="8" grpId="0"/>
      <p:bldP spid="25" grpId="0"/>
      <p:bldP spid="9" grpId="0"/>
      <p:bldP spid="1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The </a:t>
            </a:r>
            <a:r>
              <a:rPr lang="en-US" sz="3200" b="1" dirty="0">
                <a:solidFill>
                  <a:srgbClr val="7030A0"/>
                </a:solidFill>
              </a:rPr>
              <a:t>Non-Dominated </a:t>
            </a:r>
            <a:r>
              <a:rPr lang="en-US" sz="3200" b="1" dirty="0"/>
              <a:t>Points</a:t>
            </a:r>
            <a:br>
              <a:rPr lang="en-US" sz="3200" b="1" dirty="0"/>
            </a:br>
            <a:br>
              <a:rPr lang="en-US" sz="3200" b="1" dirty="0"/>
            </a:b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14400"/>
                <a:ext cx="8229600" cy="52117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   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𝑃</m:t>
                    </m:r>
                  </m:oMath>
                </a14:m>
                <a:r>
                  <a:rPr lang="en-US" sz="2000" dirty="0"/>
                  <a:t> be a set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 points in x-y plane.</a:t>
                </a:r>
              </a:p>
              <a:p>
                <a:pPr marL="0" indent="0">
                  <a:buNone/>
                </a:pPr>
                <a:r>
                  <a:rPr lang="en-US" sz="2000" dirty="0"/>
                  <a:t> 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Definition</a:t>
                </a:r>
                <a:r>
                  <a:rPr lang="en-US" sz="2000" dirty="0"/>
                  <a:t>: point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𝑞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𝑃</m:t>
                    </m:r>
                  </m:oMath>
                </a14:m>
                <a:r>
                  <a:rPr lang="en-US" sz="2000" dirty="0"/>
                  <a:t> is said to be  a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non-dominated</a:t>
                </a:r>
                <a:r>
                  <a:rPr lang="en-US" sz="2000" dirty="0"/>
                  <a:t> point if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    there is no point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𝑝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𝑃</m:t>
                    </m:r>
                  </m:oMath>
                </a14:m>
                <a:r>
                  <a:rPr lang="en-US" sz="2000" dirty="0"/>
                  <a:t> such that</a:t>
                </a:r>
              </a:p>
              <a:p>
                <a:pPr marL="0" indent="0">
                  <a:buNone/>
                </a:pPr>
                <a:r>
                  <a:rPr lang="en-US" sz="2000" dirty="0"/>
                  <a:t>			x(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sz="2000" dirty="0"/>
                  <a:t>) &gt; x(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𝑞</m:t>
                    </m:r>
                  </m:oMath>
                </a14:m>
                <a:r>
                  <a:rPr lang="en-US" sz="2000" dirty="0"/>
                  <a:t>) </a:t>
                </a:r>
              </a:p>
              <a:p>
                <a:pPr marL="0" indent="0">
                  <a:buNone/>
                </a:pPr>
                <a:r>
                  <a:rPr lang="en-US" sz="2000" dirty="0"/>
                  <a:t>		and         y(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sz="2000" dirty="0"/>
                  <a:t>) &gt; y(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𝑞</m:t>
                    </m:r>
                  </m:oMath>
                </a14:m>
                <a:r>
                  <a:rPr lang="en-US" sz="2000" dirty="0"/>
                  <a:t>)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Problem</a:t>
                </a:r>
                <a:r>
                  <a:rPr lang="en-US" sz="2000" dirty="0"/>
                  <a:t>: Design an efficient algorithm to compute all non-dominated points </a:t>
                </a:r>
              </a:p>
              <a:p>
                <a:pPr marL="0" indent="0">
                  <a:buNone/>
                </a:pPr>
                <a:r>
                  <a:rPr lang="en-US" sz="2000" dirty="0"/>
                  <a:t>of set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𝑃</m:t>
                    </m:r>
                  </m:oMath>
                </a14:m>
                <a:r>
                  <a:rPr lang="en-US" sz="2000" dirty="0"/>
                  <a:t>.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Assumption</a:t>
                </a:r>
                <a:r>
                  <a:rPr lang="en-US" sz="2000" dirty="0"/>
                  <a:t>: No 2 points have the same x-coordinates or y-coordinates.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Trivial algorithm: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14400"/>
                <a:ext cx="8229600" cy="5211763"/>
              </a:xfrm>
              <a:blipFill>
                <a:blip r:embed="rId3"/>
                <a:stretch>
                  <a:fillRect l="-741" t="-585" b="-9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828800" y="1295400"/>
            <a:ext cx="25146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4419600" y="1295400"/>
            <a:ext cx="27432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524000" y="3810000"/>
            <a:ext cx="30480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4572000" y="3886200"/>
            <a:ext cx="39624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905000" y="5029200"/>
            <a:ext cx="4246536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6151536" y="4999722"/>
            <a:ext cx="39624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A76273B-6662-BB36-54E7-D11D2954C91C}"/>
                  </a:ext>
                </a:extLst>
              </p:cNvPr>
              <p:cNvSpPr txBox="1"/>
              <p:nvPr/>
            </p:nvSpPr>
            <p:spPr>
              <a:xfrm>
                <a:off x="2324019" y="5687259"/>
                <a:ext cx="7239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/>
                  <a:t>O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A76273B-6662-BB36-54E7-D11D2954C9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4019" y="5687259"/>
                <a:ext cx="723981" cy="369332"/>
              </a:xfrm>
              <a:prstGeom prst="rect">
                <a:avLst/>
              </a:prstGeom>
              <a:blipFill>
                <a:blip r:embed="rId4"/>
                <a:stretch>
                  <a:fillRect l="-6723" t="-9836" r="-7563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251961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The </a:t>
            </a:r>
            <a:r>
              <a:rPr lang="en-US" sz="3200" b="1" dirty="0">
                <a:solidFill>
                  <a:srgbClr val="7030A0"/>
                </a:solidFill>
              </a:rPr>
              <a:t>Non-Dominated </a:t>
            </a:r>
            <a:r>
              <a:rPr lang="en-US" sz="3200" b="1" dirty="0"/>
              <a:t>Points</a:t>
            </a:r>
            <a:br>
              <a:rPr lang="en-US" sz="3200" b="1" dirty="0"/>
            </a:br>
            <a:br>
              <a:rPr lang="en-US" sz="3200" b="1" dirty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76600" y="2895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8862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324600" y="3505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1600200" y="4267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30480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60198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6096000" y="5181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1752600" y="1447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Oval 49"/>
          <p:cNvSpPr/>
          <p:nvPr/>
        </p:nvSpPr>
        <p:spPr>
          <a:xfrm>
            <a:off x="3124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2743200" y="3657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69342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770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5943600" y="4724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Oval 46"/>
          <p:cNvSpPr/>
          <p:nvPr/>
        </p:nvSpPr>
        <p:spPr>
          <a:xfrm>
            <a:off x="2438400" y="2667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981200" y="3276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133600" y="3962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6764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7" name="Oval 56"/>
          <p:cNvSpPr/>
          <p:nvPr/>
        </p:nvSpPr>
        <p:spPr>
          <a:xfrm>
            <a:off x="2590800" y="4800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8" name="Oval 57"/>
          <p:cNvSpPr/>
          <p:nvPr/>
        </p:nvSpPr>
        <p:spPr>
          <a:xfrm>
            <a:off x="1447800" y="220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9" name="Oval 58"/>
          <p:cNvSpPr/>
          <p:nvPr/>
        </p:nvSpPr>
        <p:spPr>
          <a:xfrm>
            <a:off x="60198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0" name="Oval 59"/>
          <p:cNvSpPr/>
          <p:nvPr/>
        </p:nvSpPr>
        <p:spPr>
          <a:xfrm>
            <a:off x="5486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1" name="Oval 60"/>
          <p:cNvSpPr/>
          <p:nvPr/>
        </p:nvSpPr>
        <p:spPr>
          <a:xfrm>
            <a:off x="54864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2" name="Oval 61"/>
          <p:cNvSpPr/>
          <p:nvPr/>
        </p:nvSpPr>
        <p:spPr>
          <a:xfrm>
            <a:off x="5638800" y="556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Oval 62"/>
          <p:cNvSpPr/>
          <p:nvPr/>
        </p:nvSpPr>
        <p:spPr>
          <a:xfrm>
            <a:off x="2590800" y="1981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35052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5" name="Oval 64"/>
          <p:cNvSpPr/>
          <p:nvPr/>
        </p:nvSpPr>
        <p:spPr>
          <a:xfrm>
            <a:off x="8458200" y="5486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Oval 65"/>
          <p:cNvSpPr/>
          <p:nvPr/>
        </p:nvSpPr>
        <p:spPr>
          <a:xfrm>
            <a:off x="79248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73152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81534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5" name="Oval 74"/>
          <p:cNvSpPr/>
          <p:nvPr/>
        </p:nvSpPr>
        <p:spPr>
          <a:xfrm>
            <a:off x="13716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Oval 75"/>
          <p:cNvSpPr/>
          <p:nvPr/>
        </p:nvSpPr>
        <p:spPr>
          <a:xfrm>
            <a:off x="7620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7" name="Oval 76"/>
          <p:cNvSpPr/>
          <p:nvPr/>
        </p:nvSpPr>
        <p:spPr>
          <a:xfrm>
            <a:off x="3962400" y="4267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Oval 77"/>
          <p:cNvSpPr/>
          <p:nvPr/>
        </p:nvSpPr>
        <p:spPr>
          <a:xfrm>
            <a:off x="6400800" y="4267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Oval 78"/>
          <p:cNvSpPr/>
          <p:nvPr/>
        </p:nvSpPr>
        <p:spPr>
          <a:xfrm>
            <a:off x="2667000" y="4114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Oval 79"/>
          <p:cNvSpPr/>
          <p:nvPr/>
        </p:nvSpPr>
        <p:spPr>
          <a:xfrm>
            <a:off x="3048000" y="3352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Oval 80"/>
          <p:cNvSpPr/>
          <p:nvPr/>
        </p:nvSpPr>
        <p:spPr>
          <a:xfrm>
            <a:off x="4343400" y="5715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Oval 81"/>
          <p:cNvSpPr/>
          <p:nvPr/>
        </p:nvSpPr>
        <p:spPr>
          <a:xfrm>
            <a:off x="4876800" y="4191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Oval 82"/>
          <p:cNvSpPr/>
          <p:nvPr/>
        </p:nvSpPr>
        <p:spPr>
          <a:xfrm>
            <a:off x="4724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Oval 83"/>
          <p:cNvSpPr/>
          <p:nvPr/>
        </p:nvSpPr>
        <p:spPr>
          <a:xfrm>
            <a:off x="5867400" y="2743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Oval 84"/>
          <p:cNvSpPr/>
          <p:nvPr/>
        </p:nvSpPr>
        <p:spPr>
          <a:xfrm>
            <a:off x="3657600" y="2514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/>
          <p:cNvSpPr/>
          <p:nvPr/>
        </p:nvSpPr>
        <p:spPr>
          <a:xfrm>
            <a:off x="4191000" y="5105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Oval 86"/>
          <p:cNvSpPr/>
          <p:nvPr/>
        </p:nvSpPr>
        <p:spPr>
          <a:xfrm>
            <a:off x="5181600" y="3733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2" name="Straight Connector 91"/>
          <p:cNvCxnSpPr/>
          <p:nvPr/>
        </p:nvCxnSpPr>
        <p:spPr>
          <a:xfrm>
            <a:off x="609600" y="990600"/>
            <a:ext cx="0" cy="5638800"/>
          </a:xfrm>
          <a:prstGeom prst="line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 flipV="1">
            <a:off x="152400" y="6123589"/>
            <a:ext cx="8534400" cy="2574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226576" y="863641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108322" y="6126162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/>
              <p:cNvSpPr txBox="1"/>
              <p:nvPr/>
            </p:nvSpPr>
            <p:spPr>
              <a:xfrm>
                <a:off x="0" y="6103411"/>
                <a:ext cx="7344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(0,0)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6" name="TextBox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103411"/>
                <a:ext cx="734496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/>
          <p:cNvSpPr/>
          <p:nvPr/>
        </p:nvSpPr>
        <p:spPr>
          <a:xfrm>
            <a:off x="3238500" y="2857499"/>
            <a:ext cx="152400" cy="15240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8" name="Straight Connector 107"/>
          <p:cNvCxnSpPr/>
          <p:nvPr/>
        </p:nvCxnSpPr>
        <p:spPr>
          <a:xfrm>
            <a:off x="3302144" y="2950787"/>
            <a:ext cx="5578" cy="3172802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/>
          <p:nvPr/>
        </p:nvCxnSpPr>
        <p:spPr>
          <a:xfrm flipV="1">
            <a:off x="609600" y="2942202"/>
            <a:ext cx="2667000" cy="17481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 flipV="1">
            <a:off x="609600" y="2557623"/>
            <a:ext cx="3048000" cy="9354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/>
          <p:nvPr/>
        </p:nvCxnSpPr>
        <p:spPr>
          <a:xfrm flipH="1">
            <a:off x="3683144" y="2595380"/>
            <a:ext cx="9767" cy="3508031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/>
              <p:cNvSpPr txBox="1"/>
              <p:nvPr/>
            </p:nvSpPr>
            <p:spPr>
              <a:xfrm>
                <a:off x="3042055" y="2915711"/>
                <a:ext cx="3695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2" name="TextBox 1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055" y="2915711"/>
                <a:ext cx="369588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" name="Oval 112"/>
          <p:cNvSpPr/>
          <p:nvPr/>
        </p:nvSpPr>
        <p:spPr>
          <a:xfrm>
            <a:off x="7277100" y="3531923"/>
            <a:ext cx="152400" cy="15240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/>
              <p:cNvSpPr txBox="1"/>
              <p:nvPr/>
            </p:nvSpPr>
            <p:spPr>
              <a:xfrm>
                <a:off x="7086600" y="3581400"/>
                <a:ext cx="3686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4" name="TextBox 1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6600" y="3581400"/>
                <a:ext cx="368626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5" name="Straight Connector 114"/>
          <p:cNvCxnSpPr/>
          <p:nvPr/>
        </p:nvCxnSpPr>
        <p:spPr>
          <a:xfrm flipV="1">
            <a:off x="609599" y="3608909"/>
            <a:ext cx="6705601" cy="21967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/>
          <p:cNvCxnSpPr/>
          <p:nvPr/>
        </p:nvCxnSpPr>
        <p:spPr>
          <a:xfrm>
            <a:off x="7352819" y="3638543"/>
            <a:ext cx="26025" cy="2485046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633948" y="2948214"/>
            <a:ext cx="2668196" cy="3175148"/>
          </a:xfrm>
          <a:prstGeom prst="rect">
            <a:avLst/>
          </a:prstGeom>
          <a:solidFill>
            <a:schemeClr val="tx2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609599" y="2557622"/>
            <a:ext cx="3066350" cy="3598703"/>
          </a:xfrm>
          <a:prstGeom prst="rect">
            <a:avLst/>
          </a:prstGeom>
          <a:solidFill>
            <a:schemeClr val="tx2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/>
          <p:cNvSpPr/>
          <p:nvPr/>
        </p:nvSpPr>
        <p:spPr>
          <a:xfrm>
            <a:off x="627950" y="3622270"/>
            <a:ext cx="6724869" cy="2471157"/>
          </a:xfrm>
          <a:prstGeom prst="rect">
            <a:avLst/>
          </a:prstGeom>
          <a:solidFill>
            <a:schemeClr val="tx2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07D9ADE-E15A-3054-D02F-AE7060C6D852}"/>
              </a:ext>
            </a:extLst>
          </p:cNvPr>
          <p:cNvSpPr/>
          <p:nvPr/>
        </p:nvSpPr>
        <p:spPr>
          <a:xfrm>
            <a:off x="6400800" y="2981652"/>
            <a:ext cx="207130" cy="2187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2E61BC2-09D8-DAC7-FB62-11FE491D6CE9}"/>
              </a:ext>
            </a:extLst>
          </p:cNvPr>
          <p:cNvSpPr/>
          <p:nvPr/>
        </p:nvSpPr>
        <p:spPr>
          <a:xfrm>
            <a:off x="5808132" y="2696961"/>
            <a:ext cx="207130" cy="2187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D05E095-FEDE-5429-E73E-90629BA879D3}"/>
              </a:ext>
            </a:extLst>
          </p:cNvPr>
          <p:cNvSpPr/>
          <p:nvPr/>
        </p:nvSpPr>
        <p:spPr>
          <a:xfrm>
            <a:off x="2525335" y="1901562"/>
            <a:ext cx="207130" cy="2187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668ED85-0AD0-8259-3C82-133961312F1E}"/>
              </a:ext>
            </a:extLst>
          </p:cNvPr>
          <p:cNvSpPr/>
          <p:nvPr/>
        </p:nvSpPr>
        <p:spPr>
          <a:xfrm>
            <a:off x="1687135" y="1395446"/>
            <a:ext cx="207130" cy="2187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CFB3CAA-E60E-2841-B5E1-F8311A8BBD7E}"/>
              </a:ext>
            </a:extLst>
          </p:cNvPr>
          <p:cNvSpPr/>
          <p:nvPr/>
        </p:nvSpPr>
        <p:spPr>
          <a:xfrm>
            <a:off x="7848600" y="3967325"/>
            <a:ext cx="207130" cy="2187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8350E8F-ED06-F37C-D178-CA02D25B7CC4}"/>
              </a:ext>
            </a:extLst>
          </p:cNvPr>
          <p:cNvSpPr/>
          <p:nvPr/>
        </p:nvSpPr>
        <p:spPr>
          <a:xfrm>
            <a:off x="8098670" y="4962850"/>
            <a:ext cx="207130" cy="2187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DF6D444-29AA-6D4F-A203-86C5C996C33B}"/>
              </a:ext>
            </a:extLst>
          </p:cNvPr>
          <p:cNvSpPr/>
          <p:nvPr/>
        </p:nvSpPr>
        <p:spPr>
          <a:xfrm>
            <a:off x="8403470" y="5420050"/>
            <a:ext cx="207130" cy="2187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4330016-CD36-8F50-68BF-9C91419D9D82}"/>
              </a:ext>
            </a:extLst>
          </p:cNvPr>
          <p:cNvSpPr/>
          <p:nvPr/>
        </p:nvSpPr>
        <p:spPr>
          <a:xfrm>
            <a:off x="3602870" y="2448250"/>
            <a:ext cx="207130" cy="2187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hought Bubble: Cloud 5">
            <a:extLst>
              <a:ext uri="{FF2B5EF4-FFF2-40B4-BE49-F238E27FC236}">
                <a16:creationId xmlns:a16="http://schemas.microsoft.com/office/drawing/2014/main" id="{BAB324F4-80C2-682A-24F8-9864EBC670E8}"/>
              </a:ext>
            </a:extLst>
          </p:cNvPr>
          <p:cNvSpPr/>
          <p:nvPr/>
        </p:nvSpPr>
        <p:spPr>
          <a:xfrm>
            <a:off x="5181599" y="1267811"/>
            <a:ext cx="3599361" cy="985453"/>
          </a:xfrm>
          <a:prstGeom prst="cloudCallout">
            <a:avLst>
              <a:gd name="adj1" fmla="val 49270"/>
              <a:gd name="adj2" fmla="val 59423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Can you spot all non-dominated points </a:t>
            </a:r>
            <a:endParaRPr lang="en-IN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052152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2" grpId="0"/>
      <p:bldP spid="113" grpId="0" animBg="1"/>
      <p:bldP spid="114" grpId="0"/>
      <p:bldP spid="70" grpId="0" animBg="1"/>
      <p:bldP spid="71" grpId="0" animBg="1"/>
      <p:bldP spid="72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6" grpId="0" animBg="1"/>
      <p:bldP spid="6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The </a:t>
            </a:r>
            <a:r>
              <a:rPr lang="en-US" sz="3200" b="1" dirty="0">
                <a:solidFill>
                  <a:srgbClr val="7030A0"/>
                </a:solidFill>
              </a:rPr>
              <a:t>Non-Dominated </a:t>
            </a:r>
            <a:r>
              <a:rPr lang="en-US" sz="3200" b="1" dirty="0"/>
              <a:t>Points</a:t>
            </a:r>
            <a:br>
              <a:rPr lang="en-US" sz="3200" b="1" dirty="0"/>
            </a:br>
            <a:br>
              <a:rPr lang="en-US" sz="3200" b="1" dirty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76600" y="2895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8862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324600" y="3505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1600200" y="4267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30480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60198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6096000" y="5181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1752600" y="1447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Oval 49"/>
          <p:cNvSpPr/>
          <p:nvPr/>
        </p:nvSpPr>
        <p:spPr>
          <a:xfrm>
            <a:off x="3124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2743200" y="3657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69342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770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5943600" y="4724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Oval 46"/>
          <p:cNvSpPr/>
          <p:nvPr/>
        </p:nvSpPr>
        <p:spPr>
          <a:xfrm>
            <a:off x="2438400" y="2667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981200" y="3276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133600" y="3962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6764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7" name="Oval 56"/>
          <p:cNvSpPr/>
          <p:nvPr/>
        </p:nvSpPr>
        <p:spPr>
          <a:xfrm>
            <a:off x="2590800" y="4800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8" name="Oval 57"/>
          <p:cNvSpPr/>
          <p:nvPr/>
        </p:nvSpPr>
        <p:spPr>
          <a:xfrm>
            <a:off x="1447800" y="220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9" name="Oval 58"/>
          <p:cNvSpPr/>
          <p:nvPr/>
        </p:nvSpPr>
        <p:spPr>
          <a:xfrm>
            <a:off x="60198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0" name="Oval 59"/>
          <p:cNvSpPr/>
          <p:nvPr/>
        </p:nvSpPr>
        <p:spPr>
          <a:xfrm>
            <a:off x="5486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1" name="Oval 60"/>
          <p:cNvSpPr/>
          <p:nvPr/>
        </p:nvSpPr>
        <p:spPr>
          <a:xfrm>
            <a:off x="54864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2" name="Oval 61"/>
          <p:cNvSpPr/>
          <p:nvPr/>
        </p:nvSpPr>
        <p:spPr>
          <a:xfrm>
            <a:off x="5638800" y="556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Oval 62"/>
          <p:cNvSpPr/>
          <p:nvPr/>
        </p:nvSpPr>
        <p:spPr>
          <a:xfrm>
            <a:off x="2590800" y="1981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35052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5" name="Oval 64"/>
          <p:cNvSpPr/>
          <p:nvPr/>
        </p:nvSpPr>
        <p:spPr>
          <a:xfrm>
            <a:off x="8458200" y="5486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Oval 65"/>
          <p:cNvSpPr/>
          <p:nvPr/>
        </p:nvSpPr>
        <p:spPr>
          <a:xfrm>
            <a:off x="79248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73152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81534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5" name="Oval 74"/>
          <p:cNvSpPr/>
          <p:nvPr/>
        </p:nvSpPr>
        <p:spPr>
          <a:xfrm>
            <a:off x="13716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Oval 75"/>
          <p:cNvSpPr/>
          <p:nvPr/>
        </p:nvSpPr>
        <p:spPr>
          <a:xfrm>
            <a:off x="7620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7" name="Oval 76"/>
          <p:cNvSpPr/>
          <p:nvPr/>
        </p:nvSpPr>
        <p:spPr>
          <a:xfrm>
            <a:off x="3962400" y="4267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Oval 77"/>
          <p:cNvSpPr/>
          <p:nvPr/>
        </p:nvSpPr>
        <p:spPr>
          <a:xfrm>
            <a:off x="6400800" y="4267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Oval 78"/>
          <p:cNvSpPr/>
          <p:nvPr/>
        </p:nvSpPr>
        <p:spPr>
          <a:xfrm>
            <a:off x="2667000" y="4114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Oval 79"/>
          <p:cNvSpPr/>
          <p:nvPr/>
        </p:nvSpPr>
        <p:spPr>
          <a:xfrm>
            <a:off x="3048000" y="3352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Oval 80"/>
          <p:cNvSpPr/>
          <p:nvPr/>
        </p:nvSpPr>
        <p:spPr>
          <a:xfrm>
            <a:off x="4343400" y="5715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Oval 81"/>
          <p:cNvSpPr/>
          <p:nvPr/>
        </p:nvSpPr>
        <p:spPr>
          <a:xfrm>
            <a:off x="4876800" y="4191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Oval 82"/>
          <p:cNvSpPr/>
          <p:nvPr/>
        </p:nvSpPr>
        <p:spPr>
          <a:xfrm>
            <a:off x="4724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Oval 83"/>
          <p:cNvSpPr/>
          <p:nvPr/>
        </p:nvSpPr>
        <p:spPr>
          <a:xfrm>
            <a:off x="5867400" y="2743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Oval 84"/>
          <p:cNvSpPr/>
          <p:nvPr/>
        </p:nvSpPr>
        <p:spPr>
          <a:xfrm>
            <a:off x="3657600" y="2514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/>
          <p:cNvSpPr/>
          <p:nvPr/>
        </p:nvSpPr>
        <p:spPr>
          <a:xfrm>
            <a:off x="4191000" y="5105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Oval 86"/>
          <p:cNvSpPr/>
          <p:nvPr/>
        </p:nvSpPr>
        <p:spPr>
          <a:xfrm>
            <a:off x="5181600" y="3733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2" name="Straight Connector 91"/>
          <p:cNvCxnSpPr/>
          <p:nvPr/>
        </p:nvCxnSpPr>
        <p:spPr>
          <a:xfrm>
            <a:off x="609600" y="990600"/>
            <a:ext cx="0" cy="5638800"/>
          </a:xfrm>
          <a:prstGeom prst="line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 flipV="1">
            <a:off x="152400" y="6123589"/>
            <a:ext cx="8534400" cy="2574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226576" y="863641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108322" y="6126162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/>
              <p:cNvSpPr txBox="1"/>
              <p:nvPr/>
            </p:nvSpPr>
            <p:spPr>
              <a:xfrm>
                <a:off x="0" y="6103411"/>
                <a:ext cx="7344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(0,0)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6" name="TextBox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103411"/>
                <a:ext cx="734496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" name="Oval 112"/>
          <p:cNvSpPr/>
          <p:nvPr/>
        </p:nvSpPr>
        <p:spPr>
          <a:xfrm>
            <a:off x="7277100" y="3531923"/>
            <a:ext cx="152400" cy="15240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07D9ADE-E15A-3054-D02F-AE7060C6D852}"/>
              </a:ext>
            </a:extLst>
          </p:cNvPr>
          <p:cNvSpPr/>
          <p:nvPr/>
        </p:nvSpPr>
        <p:spPr>
          <a:xfrm>
            <a:off x="6400800" y="2981652"/>
            <a:ext cx="207130" cy="2187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2E61BC2-09D8-DAC7-FB62-11FE491D6CE9}"/>
              </a:ext>
            </a:extLst>
          </p:cNvPr>
          <p:cNvSpPr/>
          <p:nvPr/>
        </p:nvSpPr>
        <p:spPr>
          <a:xfrm>
            <a:off x="5808132" y="2696961"/>
            <a:ext cx="207130" cy="2187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D05E095-FEDE-5429-E73E-90629BA879D3}"/>
              </a:ext>
            </a:extLst>
          </p:cNvPr>
          <p:cNvSpPr/>
          <p:nvPr/>
        </p:nvSpPr>
        <p:spPr>
          <a:xfrm>
            <a:off x="2525335" y="1901562"/>
            <a:ext cx="207130" cy="2187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668ED85-0AD0-8259-3C82-133961312F1E}"/>
              </a:ext>
            </a:extLst>
          </p:cNvPr>
          <p:cNvSpPr/>
          <p:nvPr/>
        </p:nvSpPr>
        <p:spPr>
          <a:xfrm>
            <a:off x="1687135" y="1395446"/>
            <a:ext cx="207130" cy="2187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CFB3CAA-E60E-2841-B5E1-F8311A8BBD7E}"/>
              </a:ext>
            </a:extLst>
          </p:cNvPr>
          <p:cNvSpPr/>
          <p:nvPr/>
        </p:nvSpPr>
        <p:spPr>
          <a:xfrm>
            <a:off x="7848600" y="3967325"/>
            <a:ext cx="207130" cy="2187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8350E8F-ED06-F37C-D178-CA02D25B7CC4}"/>
              </a:ext>
            </a:extLst>
          </p:cNvPr>
          <p:cNvSpPr/>
          <p:nvPr/>
        </p:nvSpPr>
        <p:spPr>
          <a:xfrm>
            <a:off x="8098670" y="4962850"/>
            <a:ext cx="207130" cy="2187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DF6D444-29AA-6D4F-A203-86C5C996C33B}"/>
              </a:ext>
            </a:extLst>
          </p:cNvPr>
          <p:cNvSpPr/>
          <p:nvPr/>
        </p:nvSpPr>
        <p:spPr>
          <a:xfrm>
            <a:off x="8403470" y="5420050"/>
            <a:ext cx="207130" cy="2187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4330016-CD36-8F50-68BF-9C91419D9D82}"/>
              </a:ext>
            </a:extLst>
          </p:cNvPr>
          <p:cNvSpPr/>
          <p:nvPr/>
        </p:nvSpPr>
        <p:spPr>
          <a:xfrm>
            <a:off x="3602870" y="2448250"/>
            <a:ext cx="207130" cy="2187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hought Bubble: Cloud 5">
            <a:extLst>
              <a:ext uri="{FF2B5EF4-FFF2-40B4-BE49-F238E27FC236}">
                <a16:creationId xmlns:a16="http://schemas.microsoft.com/office/drawing/2014/main" id="{4172B45F-C0CF-1EFB-442B-B76A70CDDADE}"/>
              </a:ext>
            </a:extLst>
          </p:cNvPr>
          <p:cNvSpPr/>
          <p:nvPr/>
        </p:nvSpPr>
        <p:spPr>
          <a:xfrm>
            <a:off x="5181599" y="1267811"/>
            <a:ext cx="3599361" cy="985453"/>
          </a:xfrm>
          <a:prstGeom prst="cloudCallout">
            <a:avLst>
              <a:gd name="adj1" fmla="val 49270"/>
              <a:gd name="adj2" fmla="val 59423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What structure emerges ?</a:t>
            </a:r>
            <a:endParaRPr lang="en-IN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419022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The </a:t>
            </a:r>
            <a:r>
              <a:rPr lang="en-US" sz="3200" b="1" dirty="0">
                <a:solidFill>
                  <a:srgbClr val="7030A0"/>
                </a:solidFill>
              </a:rPr>
              <a:t>Non-Dominated </a:t>
            </a:r>
            <a:r>
              <a:rPr lang="en-US" sz="3200" b="1" dirty="0"/>
              <a:t>Points</a:t>
            </a:r>
            <a:br>
              <a:rPr lang="en-US" sz="3200" b="1" dirty="0"/>
            </a:br>
            <a:br>
              <a:rPr lang="en-US" sz="3200" b="1" dirty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76600" y="2895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8862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324600" y="3505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1600200" y="4267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30480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60198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6096000" y="5181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1752600" y="1447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Oval 49"/>
          <p:cNvSpPr/>
          <p:nvPr/>
        </p:nvSpPr>
        <p:spPr>
          <a:xfrm>
            <a:off x="3124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2743200" y="3657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69342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770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5943600" y="4724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Oval 46"/>
          <p:cNvSpPr/>
          <p:nvPr/>
        </p:nvSpPr>
        <p:spPr>
          <a:xfrm>
            <a:off x="2438400" y="2667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981200" y="3276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133600" y="3962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6764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7" name="Oval 56"/>
          <p:cNvSpPr/>
          <p:nvPr/>
        </p:nvSpPr>
        <p:spPr>
          <a:xfrm>
            <a:off x="2590800" y="4800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8" name="Oval 57"/>
          <p:cNvSpPr/>
          <p:nvPr/>
        </p:nvSpPr>
        <p:spPr>
          <a:xfrm>
            <a:off x="1447800" y="220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9" name="Oval 58"/>
          <p:cNvSpPr/>
          <p:nvPr/>
        </p:nvSpPr>
        <p:spPr>
          <a:xfrm>
            <a:off x="60198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0" name="Oval 59"/>
          <p:cNvSpPr/>
          <p:nvPr/>
        </p:nvSpPr>
        <p:spPr>
          <a:xfrm>
            <a:off x="5486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1" name="Oval 60"/>
          <p:cNvSpPr/>
          <p:nvPr/>
        </p:nvSpPr>
        <p:spPr>
          <a:xfrm>
            <a:off x="54864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2" name="Oval 61"/>
          <p:cNvSpPr/>
          <p:nvPr/>
        </p:nvSpPr>
        <p:spPr>
          <a:xfrm>
            <a:off x="5638800" y="556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Oval 62"/>
          <p:cNvSpPr/>
          <p:nvPr/>
        </p:nvSpPr>
        <p:spPr>
          <a:xfrm>
            <a:off x="2590800" y="1981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35052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5" name="Oval 64"/>
          <p:cNvSpPr/>
          <p:nvPr/>
        </p:nvSpPr>
        <p:spPr>
          <a:xfrm>
            <a:off x="8458200" y="5486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Oval 65"/>
          <p:cNvSpPr/>
          <p:nvPr/>
        </p:nvSpPr>
        <p:spPr>
          <a:xfrm>
            <a:off x="79248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73152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81534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5" name="Oval 74"/>
          <p:cNvSpPr/>
          <p:nvPr/>
        </p:nvSpPr>
        <p:spPr>
          <a:xfrm>
            <a:off x="13716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Oval 75"/>
          <p:cNvSpPr/>
          <p:nvPr/>
        </p:nvSpPr>
        <p:spPr>
          <a:xfrm>
            <a:off x="7620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7" name="Oval 76"/>
          <p:cNvSpPr/>
          <p:nvPr/>
        </p:nvSpPr>
        <p:spPr>
          <a:xfrm>
            <a:off x="3962400" y="4267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Oval 77"/>
          <p:cNvSpPr/>
          <p:nvPr/>
        </p:nvSpPr>
        <p:spPr>
          <a:xfrm>
            <a:off x="6400800" y="4267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Oval 78"/>
          <p:cNvSpPr/>
          <p:nvPr/>
        </p:nvSpPr>
        <p:spPr>
          <a:xfrm>
            <a:off x="2667000" y="4114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Oval 79"/>
          <p:cNvSpPr/>
          <p:nvPr/>
        </p:nvSpPr>
        <p:spPr>
          <a:xfrm>
            <a:off x="3048000" y="3352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Oval 80"/>
          <p:cNvSpPr/>
          <p:nvPr/>
        </p:nvSpPr>
        <p:spPr>
          <a:xfrm>
            <a:off x="4343400" y="5715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Oval 81"/>
          <p:cNvSpPr/>
          <p:nvPr/>
        </p:nvSpPr>
        <p:spPr>
          <a:xfrm>
            <a:off x="4876800" y="4191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Oval 82"/>
          <p:cNvSpPr/>
          <p:nvPr/>
        </p:nvSpPr>
        <p:spPr>
          <a:xfrm>
            <a:off x="4724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Oval 83"/>
          <p:cNvSpPr/>
          <p:nvPr/>
        </p:nvSpPr>
        <p:spPr>
          <a:xfrm>
            <a:off x="5867400" y="2743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Oval 84"/>
          <p:cNvSpPr/>
          <p:nvPr/>
        </p:nvSpPr>
        <p:spPr>
          <a:xfrm>
            <a:off x="3657600" y="2514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/>
          <p:cNvSpPr/>
          <p:nvPr/>
        </p:nvSpPr>
        <p:spPr>
          <a:xfrm>
            <a:off x="4191000" y="5105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Oval 86"/>
          <p:cNvSpPr/>
          <p:nvPr/>
        </p:nvSpPr>
        <p:spPr>
          <a:xfrm>
            <a:off x="5181600" y="3733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2" name="Straight Connector 91"/>
          <p:cNvCxnSpPr/>
          <p:nvPr/>
        </p:nvCxnSpPr>
        <p:spPr>
          <a:xfrm>
            <a:off x="609600" y="990600"/>
            <a:ext cx="0" cy="5638800"/>
          </a:xfrm>
          <a:prstGeom prst="line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 flipV="1">
            <a:off x="152400" y="6123589"/>
            <a:ext cx="8534400" cy="2574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226576" y="863641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108322" y="6126162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/>
              <p:cNvSpPr txBox="1"/>
              <p:nvPr/>
            </p:nvSpPr>
            <p:spPr>
              <a:xfrm>
                <a:off x="0" y="6103411"/>
                <a:ext cx="7344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(0,0)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6" name="TextBox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103411"/>
                <a:ext cx="734496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" name="Oval 112"/>
          <p:cNvSpPr/>
          <p:nvPr/>
        </p:nvSpPr>
        <p:spPr>
          <a:xfrm>
            <a:off x="7277100" y="3531923"/>
            <a:ext cx="152400" cy="15240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/>
              <p:cNvSpPr txBox="1"/>
              <p:nvPr/>
            </p:nvSpPr>
            <p:spPr>
              <a:xfrm>
                <a:off x="7086600" y="3581400"/>
                <a:ext cx="3686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4" name="TextBox 1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6600" y="3581400"/>
                <a:ext cx="368626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Rectangle 69"/>
          <p:cNvSpPr/>
          <p:nvPr/>
        </p:nvSpPr>
        <p:spPr>
          <a:xfrm>
            <a:off x="633948" y="1524000"/>
            <a:ext cx="1173382" cy="4599362"/>
          </a:xfrm>
          <a:prstGeom prst="rect">
            <a:avLst/>
          </a:prstGeom>
          <a:solidFill>
            <a:schemeClr val="tx2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/>
          <p:cNvSpPr/>
          <p:nvPr/>
        </p:nvSpPr>
        <p:spPr>
          <a:xfrm>
            <a:off x="627950" y="3622270"/>
            <a:ext cx="6724869" cy="2471157"/>
          </a:xfrm>
          <a:prstGeom prst="rect">
            <a:avLst/>
          </a:prstGeom>
          <a:solidFill>
            <a:schemeClr val="tx2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07D9ADE-E15A-3054-D02F-AE7060C6D852}"/>
              </a:ext>
            </a:extLst>
          </p:cNvPr>
          <p:cNvSpPr/>
          <p:nvPr/>
        </p:nvSpPr>
        <p:spPr>
          <a:xfrm>
            <a:off x="6400800" y="2981652"/>
            <a:ext cx="207130" cy="2187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2E61BC2-09D8-DAC7-FB62-11FE491D6CE9}"/>
              </a:ext>
            </a:extLst>
          </p:cNvPr>
          <p:cNvSpPr/>
          <p:nvPr/>
        </p:nvSpPr>
        <p:spPr>
          <a:xfrm>
            <a:off x="5808132" y="2696961"/>
            <a:ext cx="207130" cy="2187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D05E095-FEDE-5429-E73E-90629BA879D3}"/>
              </a:ext>
            </a:extLst>
          </p:cNvPr>
          <p:cNvSpPr/>
          <p:nvPr/>
        </p:nvSpPr>
        <p:spPr>
          <a:xfrm>
            <a:off x="2525335" y="1901562"/>
            <a:ext cx="207130" cy="2187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668ED85-0AD0-8259-3C82-133961312F1E}"/>
              </a:ext>
            </a:extLst>
          </p:cNvPr>
          <p:cNvSpPr/>
          <p:nvPr/>
        </p:nvSpPr>
        <p:spPr>
          <a:xfrm>
            <a:off x="1687135" y="1395446"/>
            <a:ext cx="207130" cy="2187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CFB3CAA-E60E-2841-B5E1-F8311A8BBD7E}"/>
              </a:ext>
            </a:extLst>
          </p:cNvPr>
          <p:cNvSpPr/>
          <p:nvPr/>
        </p:nvSpPr>
        <p:spPr>
          <a:xfrm>
            <a:off x="7848600" y="3967325"/>
            <a:ext cx="207130" cy="2187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8350E8F-ED06-F37C-D178-CA02D25B7CC4}"/>
              </a:ext>
            </a:extLst>
          </p:cNvPr>
          <p:cNvSpPr/>
          <p:nvPr/>
        </p:nvSpPr>
        <p:spPr>
          <a:xfrm>
            <a:off x="8098670" y="4962850"/>
            <a:ext cx="207130" cy="2187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DF6D444-29AA-6D4F-A203-86C5C996C33B}"/>
              </a:ext>
            </a:extLst>
          </p:cNvPr>
          <p:cNvSpPr/>
          <p:nvPr/>
        </p:nvSpPr>
        <p:spPr>
          <a:xfrm>
            <a:off x="8403470" y="5420050"/>
            <a:ext cx="207130" cy="2187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7657E9F-D4EA-222E-4635-7996B430659E}"/>
              </a:ext>
            </a:extLst>
          </p:cNvPr>
          <p:cNvSpPr/>
          <p:nvPr/>
        </p:nvSpPr>
        <p:spPr>
          <a:xfrm>
            <a:off x="3602870" y="2448250"/>
            <a:ext cx="207130" cy="2187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ADB037-DEFD-1D8B-DDD5-9432EB8D091E}"/>
              </a:ext>
            </a:extLst>
          </p:cNvPr>
          <p:cNvSpPr/>
          <p:nvPr/>
        </p:nvSpPr>
        <p:spPr>
          <a:xfrm>
            <a:off x="664331" y="1981200"/>
            <a:ext cx="1964088" cy="4015849"/>
          </a:xfrm>
          <a:prstGeom prst="rect">
            <a:avLst/>
          </a:prstGeom>
          <a:solidFill>
            <a:schemeClr val="tx2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1053283-26CB-7C59-CA70-D4F1B68EE6E4}"/>
              </a:ext>
            </a:extLst>
          </p:cNvPr>
          <p:cNvSpPr/>
          <p:nvPr/>
        </p:nvSpPr>
        <p:spPr>
          <a:xfrm>
            <a:off x="589370" y="2554612"/>
            <a:ext cx="3122960" cy="3622310"/>
          </a:xfrm>
          <a:prstGeom prst="rect">
            <a:avLst/>
          </a:prstGeom>
          <a:solidFill>
            <a:schemeClr val="tx2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9C7B45-BC6F-0C90-0C18-E8034230C230}"/>
              </a:ext>
            </a:extLst>
          </p:cNvPr>
          <p:cNvSpPr/>
          <p:nvPr/>
        </p:nvSpPr>
        <p:spPr>
          <a:xfrm>
            <a:off x="627951" y="2789438"/>
            <a:ext cx="5277068" cy="3366887"/>
          </a:xfrm>
          <a:prstGeom prst="rect">
            <a:avLst/>
          </a:prstGeom>
          <a:solidFill>
            <a:schemeClr val="tx2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8E2C2B-EA22-735B-48E5-4FF5B1B8F535}"/>
              </a:ext>
            </a:extLst>
          </p:cNvPr>
          <p:cNvSpPr/>
          <p:nvPr/>
        </p:nvSpPr>
        <p:spPr>
          <a:xfrm>
            <a:off x="627950" y="3077962"/>
            <a:ext cx="5887150" cy="3078363"/>
          </a:xfrm>
          <a:prstGeom prst="rect">
            <a:avLst/>
          </a:prstGeom>
          <a:solidFill>
            <a:schemeClr val="tx2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B3B1377-895F-45E6-F556-F89E2D680E67}"/>
              </a:ext>
            </a:extLst>
          </p:cNvPr>
          <p:cNvSpPr/>
          <p:nvPr/>
        </p:nvSpPr>
        <p:spPr>
          <a:xfrm>
            <a:off x="609599" y="4073686"/>
            <a:ext cx="7373827" cy="2089687"/>
          </a:xfrm>
          <a:prstGeom prst="rect">
            <a:avLst/>
          </a:prstGeom>
          <a:solidFill>
            <a:schemeClr val="tx2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71DAA7A-86AB-EA19-BF31-4FEB716F2298}"/>
              </a:ext>
            </a:extLst>
          </p:cNvPr>
          <p:cNvSpPr/>
          <p:nvPr/>
        </p:nvSpPr>
        <p:spPr>
          <a:xfrm>
            <a:off x="609599" y="5069212"/>
            <a:ext cx="7543801" cy="1117075"/>
          </a:xfrm>
          <a:prstGeom prst="rect">
            <a:avLst/>
          </a:prstGeom>
          <a:solidFill>
            <a:schemeClr val="tx2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9B97D4-5AD8-7E42-EA4D-3B4829BD9B67}"/>
              </a:ext>
            </a:extLst>
          </p:cNvPr>
          <p:cNvSpPr/>
          <p:nvPr/>
        </p:nvSpPr>
        <p:spPr>
          <a:xfrm>
            <a:off x="589371" y="5516562"/>
            <a:ext cx="7920682" cy="646811"/>
          </a:xfrm>
          <a:prstGeom prst="rect">
            <a:avLst/>
          </a:prstGeom>
          <a:solidFill>
            <a:schemeClr val="tx2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86AC0B2-ADCF-B928-75C5-8ED6CBDC72CF}"/>
              </a:ext>
            </a:extLst>
          </p:cNvPr>
          <p:cNvCxnSpPr/>
          <p:nvPr/>
        </p:nvCxnSpPr>
        <p:spPr>
          <a:xfrm>
            <a:off x="609600" y="1512841"/>
            <a:ext cx="1154159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D36E42D-A9A2-9C14-B5CB-09C4EF7D8EB0}"/>
              </a:ext>
            </a:extLst>
          </p:cNvPr>
          <p:cNvCxnSpPr/>
          <p:nvPr/>
        </p:nvCxnSpPr>
        <p:spPr>
          <a:xfrm flipV="1">
            <a:off x="1790700" y="1512842"/>
            <a:ext cx="0" cy="506458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0BDACC1-8678-DACD-9AA8-DEFD5388F697}"/>
              </a:ext>
            </a:extLst>
          </p:cNvPr>
          <p:cNvCxnSpPr/>
          <p:nvPr/>
        </p:nvCxnSpPr>
        <p:spPr>
          <a:xfrm>
            <a:off x="1790700" y="2019300"/>
            <a:ext cx="811259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D5C951B-8795-B922-8B60-B75832C1C50F}"/>
              </a:ext>
            </a:extLst>
          </p:cNvPr>
          <p:cNvCxnSpPr/>
          <p:nvPr/>
        </p:nvCxnSpPr>
        <p:spPr>
          <a:xfrm flipV="1">
            <a:off x="2667000" y="2046242"/>
            <a:ext cx="0" cy="506458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95E6457-A6FA-80BF-378D-7899F8A7330C}"/>
              </a:ext>
            </a:extLst>
          </p:cNvPr>
          <p:cNvCxnSpPr/>
          <p:nvPr/>
        </p:nvCxnSpPr>
        <p:spPr>
          <a:xfrm flipV="1">
            <a:off x="3733800" y="2579642"/>
            <a:ext cx="0" cy="174717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AB61F66-8162-ECBE-AECE-C0C35B08EDF8}"/>
              </a:ext>
            </a:extLst>
          </p:cNvPr>
          <p:cNvCxnSpPr/>
          <p:nvPr/>
        </p:nvCxnSpPr>
        <p:spPr>
          <a:xfrm>
            <a:off x="2667000" y="2552700"/>
            <a:ext cx="9906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0E7BE36-D5E4-0C17-C6EA-1376C9DC0781}"/>
              </a:ext>
            </a:extLst>
          </p:cNvPr>
          <p:cNvCxnSpPr/>
          <p:nvPr/>
        </p:nvCxnSpPr>
        <p:spPr>
          <a:xfrm>
            <a:off x="3733800" y="2754359"/>
            <a:ext cx="2144759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037734D-5EA6-B881-45ED-BE01F6FF70B0}"/>
              </a:ext>
            </a:extLst>
          </p:cNvPr>
          <p:cNvCxnSpPr/>
          <p:nvPr/>
        </p:nvCxnSpPr>
        <p:spPr>
          <a:xfrm>
            <a:off x="5905500" y="3048000"/>
            <a:ext cx="582659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8E27823-A2EF-B399-40CC-70A7E0A9A23F}"/>
              </a:ext>
            </a:extLst>
          </p:cNvPr>
          <p:cNvCxnSpPr/>
          <p:nvPr/>
        </p:nvCxnSpPr>
        <p:spPr>
          <a:xfrm>
            <a:off x="6553200" y="3657600"/>
            <a:ext cx="7620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AC204CE-0493-3CCE-4B26-F145A7883BF1}"/>
              </a:ext>
            </a:extLst>
          </p:cNvPr>
          <p:cNvCxnSpPr/>
          <p:nvPr/>
        </p:nvCxnSpPr>
        <p:spPr>
          <a:xfrm>
            <a:off x="7315200" y="4038600"/>
            <a:ext cx="6096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EE2DE9E-CAAB-6D37-FB3D-8DE56E01FDC9}"/>
              </a:ext>
            </a:extLst>
          </p:cNvPr>
          <p:cNvCxnSpPr/>
          <p:nvPr/>
        </p:nvCxnSpPr>
        <p:spPr>
          <a:xfrm>
            <a:off x="7962900" y="5029200"/>
            <a:ext cx="1905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687B143-54AF-7A17-47F0-F1512709A7C5}"/>
              </a:ext>
            </a:extLst>
          </p:cNvPr>
          <p:cNvCxnSpPr/>
          <p:nvPr/>
        </p:nvCxnSpPr>
        <p:spPr>
          <a:xfrm>
            <a:off x="8153400" y="5536532"/>
            <a:ext cx="3429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500C5FA-9039-DE0D-99A6-58D439DAEBB5}"/>
              </a:ext>
            </a:extLst>
          </p:cNvPr>
          <p:cNvCxnSpPr/>
          <p:nvPr/>
        </p:nvCxnSpPr>
        <p:spPr>
          <a:xfrm flipV="1">
            <a:off x="5905500" y="2819401"/>
            <a:ext cx="0" cy="228599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585FDEE-3CB6-86E5-6E4F-AE54453E5BF4}"/>
              </a:ext>
            </a:extLst>
          </p:cNvPr>
          <p:cNvCxnSpPr/>
          <p:nvPr/>
        </p:nvCxnSpPr>
        <p:spPr>
          <a:xfrm flipV="1">
            <a:off x="6553200" y="3124201"/>
            <a:ext cx="0" cy="533399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001AF2D-0216-ED52-B031-04A012CD9A63}"/>
              </a:ext>
            </a:extLst>
          </p:cNvPr>
          <p:cNvCxnSpPr/>
          <p:nvPr/>
        </p:nvCxnSpPr>
        <p:spPr>
          <a:xfrm flipV="1">
            <a:off x="7315200" y="3657602"/>
            <a:ext cx="0" cy="380998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825C4B8-AD1D-7DE9-9195-4619D9EC9750}"/>
              </a:ext>
            </a:extLst>
          </p:cNvPr>
          <p:cNvCxnSpPr/>
          <p:nvPr/>
        </p:nvCxnSpPr>
        <p:spPr>
          <a:xfrm flipV="1">
            <a:off x="7962900" y="4114800"/>
            <a:ext cx="0" cy="91440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C03C300-5AEF-DCE1-F34C-72B306B0E79A}"/>
              </a:ext>
            </a:extLst>
          </p:cNvPr>
          <p:cNvCxnSpPr/>
          <p:nvPr/>
        </p:nvCxnSpPr>
        <p:spPr>
          <a:xfrm flipV="1">
            <a:off x="8153400" y="5105400"/>
            <a:ext cx="0" cy="431132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3FE099E-2384-B512-A34D-AD5362A675C7}"/>
              </a:ext>
            </a:extLst>
          </p:cNvPr>
          <p:cNvCxnSpPr/>
          <p:nvPr/>
        </p:nvCxnSpPr>
        <p:spPr>
          <a:xfrm flipV="1">
            <a:off x="8496300" y="5562600"/>
            <a:ext cx="0" cy="563564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193776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5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The </a:t>
            </a:r>
            <a:r>
              <a:rPr lang="en-US" sz="3200" b="1" dirty="0">
                <a:solidFill>
                  <a:srgbClr val="7030A0"/>
                </a:solidFill>
              </a:rPr>
              <a:t>Non-Dominated </a:t>
            </a:r>
            <a:r>
              <a:rPr lang="en-US" sz="3200" b="1" dirty="0"/>
              <a:t>Points</a:t>
            </a:r>
            <a:br>
              <a:rPr lang="en-US" sz="3200" b="1" dirty="0"/>
            </a:br>
            <a:br>
              <a:rPr lang="en-US" sz="3200" b="1" dirty="0"/>
            </a:b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𝑃</m:t>
                    </m:r>
                  </m:oMath>
                </a14:m>
                <a:r>
                  <a:rPr lang="en-US" sz="2000" dirty="0"/>
                  <a:t> be a set of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 points in x-y plane.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A simpler problem</a:t>
                </a:r>
                <a:r>
                  <a:rPr lang="en-US" sz="2000" dirty="0"/>
                  <a:t>: </a:t>
                </a:r>
              </a:p>
              <a:p>
                <a:pPr marL="0" indent="0">
                  <a:buNone/>
                </a:pPr>
                <a:r>
                  <a:rPr lang="en-US" sz="2000" dirty="0"/>
                  <a:t>Design an efficient algorithm to report  </a:t>
                </a:r>
                <a:r>
                  <a:rPr lang="en-US" sz="2000" i="1" dirty="0"/>
                  <a:t>any </a:t>
                </a:r>
                <a:r>
                  <a:rPr lang="en-US" sz="2000" dirty="0"/>
                  <a:t> non-dominated point from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𝑃</m:t>
                    </m:r>
                  </m:oMath>
                </a14:m>
                <a:r>
                  <a:rPr lang="en-US" sz="2000" dirty="0"/>
                  <a:t>. 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741" t="-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33400" y="2743200"/>
            <a:ext cx="39624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572000" y="2743200"/>
            <a:ext cx="38100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44841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The </a:t>
            </a:r>
            <a:r>
              <a:rPr lang="en-US" sz="3200" b="1" dirty="0">
                <a:solidFill>
                  <a:srgbClr val="7030A0"/>
                </a:solidFill>
              </a:rPr>
              <a:t>Non-Dominated </a:t>
            </a:r>
            <a:r>
              <a:rPr lang="en-US" sz="3200" b="1" dirty="0"/>
              <a:t>Points</a:t>
            </a:r>
            <a:br>
              <a:rPr lang="en-US" sz="3200" b="1" dirty="0"/>
            </a:br>
            <a:br>
              <a:rPr lang="en-US" sz="3200" b="1" dirty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76600" y="2895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8862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324600" y="3505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1600200" y="4267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60198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6096000" y="5181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1752600" y="1447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Oval 49"/>
          <p:cNvSpPr/>
          <p:nvPr/>
        </p:nvSpPr>
        <p:spPr>
          <a:xfrm>
            <a:off x="3124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2743200" y="3657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69342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770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5943600" y="4724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Oval 46"/>
          <p:cNvSpPr/>
          <p:nvPr/>
        </p:nvSpPr>
        <p:spPr>
          <a:xfrm>
            <a:off x="2438400" y="2667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981200" y="3276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133600" y="3962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6764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7" name="Oval 56"/>
          <p:cNvSpPr/>
          <p:nvPr/>
        </p:nvSpPr>
        <p:spPr>
          <a:xfrm>
            <a:off x="2590800" y="4800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8" name="Oval 57"/>
          <p:cNvSpPr/>
          <p:nvPr/>
        </p:nvSpPr>
        <p:spPr>
          <a:xfrm>
            <a:off x="1447800" y="220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9" name="Oval 58"/>
          <p:cNvSpPr/>
          <p:nvPr/>
        </p:nvSpPr>
        <p:spPr>
          <a:xfrm>
            <a:off x="60198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0" name="Oval 59"/>
          <p:cNvSpPr/>
          <p:nvPr/>
        </p:nvSpPr>
        <p:spPr>
          <a:xfrm>
            <a:off x="5486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1" name="Oval 60"/>
          <p:cNvSpPr/>
          <p:nvPr/>
        </p:nvSpPr>
        <p:spPr>
          <a:xfrm>
            <a:off x="54864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2" name="Oval 61"/>
          <p:cNvSpPr/>
          <p:nvPr/>
        </p:nvSpPr>
        <p:spPr>
          <a:xfrm>
            <a:off x="5638800" y="556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Oval 62"/>
          <p:cNvSpPr/>
          <p:nvPr/>
        </p:nvSpPr>
        <p:spPr>
          <a:xfrm>
            <a:off x="2590800" y="1981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35052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5" name="Oval 64"/>
          <p:cNvSpPr/>
          <p:nvPr/>
        </p:nvSpPr>
        <p:spPr>
          <a:xfrm>
            <a:off x="8458200" y="5486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Oval 65"/>
          <p:cNvSpPr/>
          <p:nvPr/>
        </p:nvSpPr>
        <p:spPr>
          <a:xfrm>
            <a:off x="79248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73152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81534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5" name="Oval 74"/>
          <p:cNvSpPr/>
          <p:nvPr/>
        </p:nvSpPr>
        <p:spPr>
          <a:xfrm>
            <a:off x="13716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Oval 75"/>
          <p:cNvSpPr/>
          <p:nvPr/>
        </p:nvSpPr>
        <p:spPr>
          <a:xfrm>
            <a:off x="7620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8" name="Oval 77"/>
          <p:cNvSpPr/>
          <p:nvPr/>
        </p:nvSpPr>
        <p:spPr>
          <a:xfrm>
            <a:off x="6400800" y="4267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Oval 78"/>
          <p:cNvSpPr/>
          <p:nvPr/>
        </p:nvSpPr>
        <p:spPr>
          <a:xfrm>
            <a:off x="2667000" y="4114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Oval 79"/>
          <p:cNvSpPr/>
          <p:nvPr/>
        </p:nvSpPr>
        <p:spPr>
          <a:xfrm>
            <a:off x="3048000" y="3352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Oval 80"/>
          <p:cNvSpPr/>
          <p:nvPr/>
        </p:nvSpPr>
        <p:spPr>
          <a:xfrm>
            <a:off x="4343400" y="5715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Oval 81"/>
          <p:cNvSpPr/>
          <p:nvPr/>
        </p:nvSpPr>
        <p:spPr>
          <a:xfrm>
            <a:off x="4876800" y="4191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Oval 82"/>
          <p:cNvSpPr/>
          <p:nvPr/>
        </p:nvSpPr>
        <p:spPr>
          <a:xfrm>
            <a:off x="4724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Oval 83"/>
          <p:cNvSpPr/>
          <p:nvPr/>
        </p:nvSpPr>
        <p:spPr>
          <a:xfrm>
            <a:off x="5867400" y="2743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Oval 84"/>
          <p:cNvSpPr/>
          <p:nvPr/>
        </p:nvSpPr>
        <p:spPr>
          <a:xfrm>
            <a:off x="3657600" y="2514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/>
          <p:cNvSpPr/>
          <p:nvPr/>
        </p:nvSpPr>
        <p:spPr>
          <a:xfrm>
            <a:off x="4191000" y="5105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1" name="Straight Connector 70"/>
          <p:cNvCxnSpPr/>
          <p:nvPr/>
        </p:nvCxnSpPr>
        <p:spPr>
          <a:xfrm flipV="1">
            <a:off x="1790700" y="1512842"/>
            <a:ext cx="0" cy="506458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>
            <a:off x="609600" y="990600"/>
            <a:ext cx="0" cy="5638800"/>
          </a:xfrm>
          <a:prstGeom prst="line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 flipV="1">
            <a:off x="152400" y="6126162"/>
            <a:ext cx="8534400" cy="1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226576" y="863641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108322" y="6126162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/>
              <p:cNvSpPr txBox="1"/>
              <p:nvPr/>
            </p:nvSpPr>
            <p:spPr>
              <a:xfrm>
                <a:off x="0" y="6103411"/>
                <a:ext cx="7344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(0,0)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6" name="TextBox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103411"/>
                <a:ext cx="734496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Oval 107"/>
          <p:cNvSpPr/>
          <p:nvPr/>
        </p:nvSpPr>
        <p:spPr>
          <a:xfrm>
            <a:off x="3962400" y="4267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9" name="Oval 108"/>
          <p:cNvSpPr/>
          <p:nvPr/>
        </p:nvSpPr>
        <p:spPr>
          <a:xfrm>
            <a:off x="30480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0" name="Oval 109"/>
          <p:cNvSpPr/>
          <p:nvPr/>
        </p:nvSpPr>
        <p:spPr>
          <a:xfrm>
            <a:off x="5181600" y="3733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Oval 76"/>
          <p:cNvSpPr/>
          <p:nvPr/>
        </p:nvSpPr>
        <p:spPr>
          <a:xfrm>
            <a:off x="8424496" y="5448298"/>
            <a:ext cx="152400" cy="15240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609600" y="1512841"/>
            <a:ext cx="7886700" cy="4613323"/>
            <a:chOff x="609600" y="1512841"/>
            <a:chExt cx="7886700" cy="4613323"/>
          </a:xfrm>
        </p:grpSpPr>
        <p:cxnSp>
          <p:nvCxnSpPr>
            <p:cNvPr id="69" name="Straight Connector 68"/>
            <p:cNvCxnSpPr>
              <a:endCxn id="42" idx="3"/>
            </p:cNvCxnSpPr>
            <p:nvPr/>
          </p:nvCxnSpPr>
          <p:spPr>
            <a:xfrm>
              <a:off x="609600" y="1512841"/>
              <a:ext cx="1154159" cy="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1790700" y="2019300"/>
              <a:ext cx="811259" cy="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 flipV="1">
              <a:off x="2667000" y="2046242"/>
              <a:ext cx="0" cy="506458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 flipV="1">
              <a:off x="3733800" y="2579642"/>
              <a:ext cx="0" cy="174717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>
              <a:endCxn id="85" idx="2"/>
            </p:cNvCxnSpPr>
            <p:nvPr/>
          </p:nvCxnSpPr>
          <p:spPr>
            <a:xfrm>
              <a:off x="2667000" y="2552700"/>
              <a:ext cx="990600" cy="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>
              <a:endCxn id="84" idx="1"/>
            </p:cNvCxnSpPr>
            <p:nvPr/>
          </p:nvCxnSpPr>
          <p:spPr>
            <a:xfrm>
              <a:off x="3733800" y="2754359"/>
              <a:ext cx="2144759" cy="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/>
            <p:nvPr/>
          </p:nvCxnSpPr>
          <p:spPr>
            <a:xfrm>
              <a:off x="5905500" y="3048000"/>
              <a:ext cx="582659" cy="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>
              <a:off x="6553200" y="3657600"/>
              <a:ext cx="762000" cy="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>
              <a:off x="7315200" y="4038600"/>
              <a:ext cx="609600" cy="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>
              <a:off x="7962900" y="5029200"/>
              <a:ext cx="190500" cy="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>
              <a:off x="8153400" y="5536532"/>
              <a:ext cx="342900" cy="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flipV="1">
              <a:off x="5905500" y="2819401"/>
              <a:ext cx="0" cy="228599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flipV="1">
              <a:off x="6553200" y="3124201"/>
              <a:ext cx="0" cy="533399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 flipV="1">
              <a:off x="7315200" y="3657602"/>
              <a:ext cx="0" cy="380998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 flipV="1">
              <a:off x="7962900" y="4114800"/>
              <a:ext cx="0" cy="91440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 flipV="1">
              <a:off x="8153400" y="5105400"/>
              <a:ext cx="0" cy="431132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>
            <a:xfrm flipV="1">
              <a:off x="8496300" y="5562600"/>
              <a:ext cx="0" cy="563564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Oval 89"/>
          <p:cNvSpPr/>
          <p:nvPr/>
        </p:nvSpPr>
        <p:spPr>
          <a:xfrm>
            <a:off x="1701030" y="1417638"/>
            <a:ext cx="152400" cy="15240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Rounded Rectangle 110"/>
              <p:cNvSpPr/>
              <p:nvPr/>
            </p:nvSpPr>
            <p:spPr>
              <a:xfrm>
                <a:off x="6400800" y="1055193"/>
                <a:ext cx="1219200" cy="489466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i="1" dirty="0">
                    <a:solidFill>
                      <a:schemeClr val="tx1"/>
                    </a:solidFill>
                  </a:rPr>
                  <a:t>O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 time</a:t>
                </a:r>
              </a:p>
            </p:txBody>
          </p:sp>
        </mc:Choice>
        <mc:Fallback xmlns="">
          <p:sp>
            <p:nvSpPr>
              <p:cNvPr id="111" name="Rounded Rectangle 1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1055193"/>
                <a:ext cx="1219200" cy="489466"/>
              </a:xfrm>
              <a:prstGeom prst="roundRect">
                <a:avLst/>
              </a:prstGeom>
              <a:blipFill>
                <a:blip r:embed="rId6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300154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90" grpId="0" animBg="1"/>
      <p:bldP spid="1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/>
              <a:t>A</a:t>
            </a:r>
            <a:r>
              <a:rPr lang="en-US" sz="3600" b="1" dirty="0">
                <a:solidFill>
                  <a:srgbClr val="7030A0"/>
                </a:solidFill>
              </a:rPr>
              <a:t> simple </a:t>
            </a:r>
            <a:r>
              <a:rPr lang="en-US" sz="3600" b="1" dirty="0"/>
              <a:t>algorithm for</a:t>
            </a:r>
            <a:br>
              <a:rPr lang="en-US" sz="3600" b="1" dirty="0"/>
            </a:br>
            <a:r>
              <a:rPr lang="en-US" sz="3600" b="1" dirty="0"/>
              <a:t>all non-dominated points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88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A </a:t>
            </a:r>
            <a:r>
              <a:rPr lang="en-US" sz="3200" b="1" dirty="0">
                <a:solidFill>
                  <a:srgbClr val="7030A0"/>
                </a:solidFill>
              </a:rPr>
              <a:t>Simple Algorithm</a:t>
            </a:r>
            <a:br>
              <a:rPr lang="en-US" sz="4000" b="1" dirty="0"/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76600" y="2895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8862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324600" y="3505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60198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1752600" y="1447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2743200" y="3657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770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Oval 46"/>
          <p:cNvSpPr/>
          <p:nvPr/>
        </p:nvSpPr>
        <p:spPr>
          <a:xfrm>
            <a:off x="2438400" y="2667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981200" y="3276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133600" y="3962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6764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8" name="Oval 57"/>
          <p:cNvSpPr/>
          <p:nvPr/>
        </p:nvSpPr>
        <p:spPr>
          <a:xfrm>
            <a:off x="1447800" y="220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9" name="Oval 58"/>
          <p:cNvSpPr/>
          <p:nvPr/>
        </p:nvSpPr>
        <p:spPr>
          <a:xfrm>
            <a:off x="60198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0" name="Oval 59"/>
          <p:cNvSpPr/>
          <p:nvPr/>
        </p:nvSpPr>
        <p:spPr>
          <a:xfrm>
            <a:off x="5486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Oval 62"/>
          <p:cNvSpPr/>
          <p:nvPr/>
        </p:nvSpPr>
        <p:spPr>
          <a:xfrm>
            <a:off x="2590800" y="1981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35052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5" name="Oval 64"/>
          <p:cNvSpPr/>
          <p:nvPr/>
        </p:nvSpPr>
        <p:spPr>
          <a:xfrm>
            <a:off x="8458200" y="5486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Oval 65"/>
          <p:cNvSpPr/>
          <p:nvPr/>
        </p:nvSpPr>
        <p:spPr>
          <a:xfrm>
            <a:off x="79248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73152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81534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Oval 75"/>
          <p:cNvSpPr/>
          <p:nvPr/>
        </p:nvSpPr>
        <p:spPr>
          <a:xfrm>
            <a:off x="7620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0" name="Oval 79"/>
          <p:cNvSpPr/>
          <p:nvPr/>
        </p:nvSpPr>
        <p:spPr>
          <a:xfrm>
            <a:off x="3048000" y="3352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4603750" y="5703382"/>
            <a:ext cx="3773143" cy="285460"/>
            <a:chOff x="4566559" y="5703382"/>
            <a:chExt cx="3234125" cy="285460"/>
          </a:xfrm>
        </p:grpSpPr>
        <p:sp>
          <p:nvSpPr>
            <p:cNvPr id="62" name="Oval 61"/>
            <p:cNvSpPr/>
            <p:nvPr/>
          </p:nvSpPr>
          <p:spPr>
            <a:xfrm>
              <a:off x="7724484" y="5703382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1" name="Oval 80"/>
            <p:cNvSpPr/>
            <p:nvPr/>
          </p:nvSpPr>
          <p:spPr>
            <a:xfrm>
              <a:off x="4566559" y="5912642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1600200" y="4114800"/>
            <a:ext cx="6255184" cy="762000"/>
            <a:chOff x="1600200" y="4114800"/>
            <a:chExt cx="6255184" cy="762000"/>
          </a:xfrm>
        </p:grpSpPr>
        <p:sp>
          <p:nvSpPr>
            <p:cNvPr id="37" name="Oval 36"/>
            <p:cNvSpPr/>
            <p:nvPr/>
          </p:nvSpPr>
          <p:spPr>
            <a:xfrm>
              <a:off x="1600200" y="42672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3276600" y="44958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Oval 51"/>
            <p:cNvSpPr/>
            <p:nvPr/>
          </p:nvSpPr>
          <p:spPr>
            <a:xfrm>
              <a:off x="7472845" y="4370943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Oval 53"/>
            <p:cNvSpPr/>
            <p:nvPr/>
          </p:nvSpPr>
          <p:spPr>
            <a:xfrm>
              <a:off x="7779184" y="4705371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Oval 56"/>
            <p:cNvSpPr/>
            <p:nvPr/>
          </p:nvSpPr>
          <p:spPr>
            <a:xfrm>
              <a:off x="2590800" y="48006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61" name="Oval 60"/>
            <p:cNvSpPr/>
            <p:nvPr/>
          </p:nvSpPr>
          <p:spPr>
            <a:xfrm>
              <a:off x="5486400" y="44958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77" name="Oval 76"/>
            <p:cNvSpPr/>
            <p:nvPr/>
          </p:nvSpPr>
          <p:spPr>
            <a:xfrm>
              <a:off x="3657600" y="42672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Oval 77"/>
            <p:cNvSpPr/>
            <p:nvPr/>
          </p:nvSpPr>
          <p:spPr>
            <a:xfrm>
              <a:off x="6400800" y="42672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Oval 78"/>
            <p:cNvSpPr/>
            <p:nvPr/>
          </p:nvSpPr>
          <p:spPr>
            <a:xfrm>
              <a:off x="2667000" y="41148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Oval 81"/>
            <p:cNvSpPr/>
            <p:nvPr/>
          </p:nvSpPr>
          <p:spPr>
            <a:xfrm>
              <a:off x="4876800" y="41910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3" name="Oval 82"/>
          <p:cNvSpPr/>
          <p:nvPr/>
        </p:nvSpPr>
        <p:spPr>
          <a:xfrm>
            <a:off x="4724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Oval 83"/>
          <p:cNvSpPr/>
          <p:nvPr/>
        </p:nvSpPr>
        <p:spPr>
          <a:xfrm>
            <a:off x="5867400" y="2743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Oval 84"/>
          <p:cNvSpPr/>
          <p:nvPr/>
        </p:nvSpPr>
        <p:spPr>
          <a:xfrm>
            <a:off x="3657600" y="2514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1371600" y="5105400"/>
            <a:ext cx="6724546" cy="304800"/>
            <a:chOff x="1371600" y="5105400"/>
            <a:chExt cx="6724546" cy="304800"/>
          </a:xfrm>
        </p:grpSpPr>
        <p:sp>
          <p:nvSpPr>
            <p:cNvPr id="41" name="Oval 40"/>
            <p:cNvSpPr/>
            <p:nvPr/>
          </p:nvSpPr>
          <p:spPr>
            <a:xfrm>
              <a:off x="8019946" y="5266658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Oval 49"/>
            <p:cNvSpPr/>
            <p:nvPr/>
          </p:nvSpPr>
          <p:spPr>
            <a:xfrm>
              <a:off x="3124200" y="53340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/>
            <p:cNvSpPr/>
            <p:nvPr/>
          </p:nvSpPr>
          <p:spPr>
            <a:xfrm>
              <a:off x="1371600" y="51816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6" name="Oval 85"/>
            <p:cNvSpPr/>
            <p:nvPr/>
          </p:nvSpPr>
          <p:spPr>
            <a:xfrm>
              <a:off x="4191000" y="51054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7" name="Oval 86"/>
          <p:cNvSpPr/>
          <p:nvPr/>
        </p:nvSpPr>
        <p:spPr>
          <a:xfrm>
            <a:off x="51816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9" name="Straight Connector 68"/>
          <p:cNvCxnSpPr>
            <a:endCxn id="42" idx="3"/>
          </p:cNvCxnSpPr>
          <p:nvPr/>
        </p:nvCxnSpPr>
        <p:spPr>
          <a:xfrm>
            <a:off x="609600" y="1512841"/>
            <a:ext cx="1154159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 flipV="1">
            <a:off x="1790700" y="1512842"/>
            <a:ext cx="0" cy="506458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1790700" y="2019300"/>
            <a:ext cx="811259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 flipV="1">
            <a:off x="2667000" y="2046242"/>
            <a:ext cx="0" cy="506458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 flipV="1">
            <a:off x="3733800" y="2579642"/>
            <a:ext cx="0" cy="174717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endCxn id="85" idx="2"/>
          </p:cNvCxnSpPr>
          <p:nvPr/>
        </p:nvCxnSpPr>
        <p:spPr>
          <a:xfrm>
            <a:off x="2667000" y="2552700"/>
            <a:ext cx="9906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>
            <a:endCxn id="84" idx="1"/>
          </p:cNvCxnSpPr>
          <p:nvPr/>
        </p:nvCxnSpPr>
        <p:spPr>
          <a:xfrm>
            <a:off x="3733800" y="2754359"/>
            <a:ext cx="2144759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>
            <a:off x="5905500" y="3048000"/>
            <a:ext cx="582659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/>
        </p:nvCxnSpPr>
        <p:spPr>
          <a:xfrm>
            <a:off x="6553200" y="3657600"/>
            <a:ext cx="7620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/>
          <p:nvPr/>
        </p:nvCxnSpPr>
        <p:spPr>
          <a:xfrm>
            <a:off x="7315200" y="4038600"/>
            <a:ext cx="6096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/>
          <p:nvPr/>
        </p:nvCxnSpPr>
        <p:spPr>
          <a:xfrm>
            <a:off x="7962900" y="5029200"/>
            <a:ext cx="1905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>
            <a:off x="8181063" y="5536532"/>
            <a:ext cx="315237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>
          <a:xfrm flipV="1">
            <a:off x="5905500" y="2819401"/>
            <a:ext cx="0" cy="228599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flipV="1">
            <a:off x="6553200" y="3124201"/>
            <a:ext cx="0" cy="533399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 flipV="1">
            <a:off x="7315200" y="3657602"/>
            <a:ext cx="0" cy="380998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/>
          <p:nvPr/>
        </p:nvCxnSpPr>
        <p:spPr>
          <a:xfrm flipV="1">
            <a:off x="7962900" y="4114800"/>
            <a:ext cx="0" cy="91440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>
            <a:cxnSpLocks/>
            <a:endCxn id="68" idx="4"/>
          </p:cNvCxnSpPr>
          <p:nvPr/>
        </p:nvCxnSpPr>
        <p:spPr>
          <a:xfrm flipV="1">
            <a:off x="8191500" y="5105400"/>
            <a:ext cx="0" cy="413593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 flipV="1">
            <a:off x="8496300" y="5562600"/>
            <a:ext cx="0" cy="563564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8382000" y="5410200"/>
            <a:ext cx="228600" cy="25466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/>
          <p:cNvSpPr/>
          <p:nvPr/>
        </p:nvSpPr>
        <p:spPr>
          <a:xfrm>
            <a:off x="8077200" y="4953000"/>
            <a:ext cx="228600" cy="25466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1" name="Oval 90"/>
          <p:cNvSpPr/>
          <p:nvPr/>
        </p:nvSpPr>
        <p:spPr>
          <a:xfrm>
            <a:off x="7848600" y="3936332"/>
            <a:ext cx="228600" cy="25466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2" name="Straight Connector 91"/>
          <p:cNvCxnSpPr/>
          <p:nvPr/>
        </p:nvCxnSpPr>
        <p:spPr>
          <a:xfrm>
            <a:off x="609600" y="990600"/>
            <a:ext cx="0" cy="5638800"/>
          </a:xfrm>
          <a:prstGeom prst="line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 flipV="1">
            <a:off x="152400" y="6126162"/>
            <a:ext cx="8534400" cy="1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226576" y="863641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108322" y="6126162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/>
              <p:cNvSpPr txBox="1"/>
              <p:nvPr/>
            </p:nvSpPr>
            <p:spPr>
              <a:xfrm>
                <a:off x="0" y="6103411"/>
                <a:ext cx="7344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(0,0)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6" name="TextBox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103411"/>
                <a:ext cx="734496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Rectangle 89">
            <a:extLst>
              <a:ext uri="{FF2B5EF4-FFF2-40B4-BE49-F238E27FC236}">
                <a16:creationId xmlns:a16="http://schemas.microsoft.com/office/drawing/2014/main" id="{110F5A87-93E1-9546-BE99-A61600F2118B}"/>
              </a:ext>
            </a:extLst>
          </p:cNvPr>
          <p:cNvSpPr/>
          <p:nvPr/>
        </p:nvSpPr>
        <p:spPr>
          <a:xfrm>
            <a:off x="608902" y="5552042"/>
            <a:ext cx="7868348" cy="583530"/>
          </a:xfrm>
          <a:prstGeom prst="rect">
            <a:avLst/>
          </a:prstGeom>
          <a:solidFill>
            <a:schemeClr val="tx2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9E7935C5-A2E5-C54A-8B9A-463F01314D21}"/>
              </a:ext>
            </a:extLst>
          </p:cNvPr>
          <p:cNvSpPr/>
          <p:nvPr/>
        </p:nvSpPr>
        <p:spPr>
          <a:xfrm>
            <a:off x="608902" y="5051951"/>
            <a:ext cx="7555579" cy="1061344"/>
          </a:xfrm>
          <a:prstGeom prst="rect">
            <a:avLst/>
          </a:prstGeom>
          <a:solidFill>
            <a:schemeClr val="tx2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7BE3BCB4-1F6A-6C46-918A-58BACF4B2576}"/>
              </a:ext>
            </a:extLst>
          </p:cNvPr>
          <p:cNvSpPr/>
          <p:nvPr/>
        </p:nvSpPr>
        <p:spPr>
          <a:xfrm>
            <a:off x="629615" y="4051467"/>
            <a:ext cx="7321984" cy="2082632"/>
          </a:xfrm>
          <a:prstGeom prst="rect">
            <a:avLst/>
          </a:prstGeom>
          <a:solidFill>
            <a:schemeClr val="tx2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264C4CA-B91E-C7A7-85BB-90821312A3F9}"/>
              </a:ext>
            </a:extLst>
          </p:cNvPr>
          <p:cNvCxnSpPr>
            <a:cxnSpLocks/>
          </p:cNvCxnSpPr>
          <p:nvPr/>
        </p:nvCxnSpPr>
        <p:spPr>
          <a:xfrm flipH="1">
            <a:off x="8182223" y="5518993"/>
            <a:ext cx="9277" cy="605307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FAF5181-03FF-8BBA-E636-0FC63E6B3DF7}"/>
              </a:ext>
            </a:extLst>
          </p:cNvPr>
          <p:cNvCxnSpPr>
            <a:cxnSpLocks/>
          </p:cNvCxnSpPr>
          <p:nvPr/>
        </p:nvCxnSpPr>
        <p:spPr>
          <a:xfrm flipV="1">
            <a:off x="7951599" y="5029200"/>
            <a:ext cx="11301" cy="1104899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0755862-BFF3-1476-F651-FB5DB68B3FF1}"/>
              </a:ext>
            </a:extLst>
          </p:cNvPr>
          <p:cNvCxnSpPr>
            <a:cxnSpLocks/>
          </p:cNvCxnSpPr>
          <p:nvPr/>
        </p:nvCxnSpPr>
        <p:spPr>
          <a:xfrm flipV="1">
            <a:off x="7315200" y="4032613"/>
            <a:ext cx="0" cy="91440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1FC8ABE-0A2A-27DA-5447-E9345D0593B8}"/>
              </a:ext>
            </a:extLst>
          </p:cNvPr>
          <p:cNvCxnSpPr>
            <a:cxnSpLocks/>
          </p:cNvCxnSpPr>
          <p:nvPr/>
        </p:nvCxnSpPr>
        <p:spPr>
          <a:xfrm flipV="1">
            <a:off x="7315200" y="4947013"/>
            <a:ext cx="0" cy="1166282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86370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" dur="125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25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250"/>
                            </p:stCondLst>
                            <p:childTnLst>
                              <p:par>
                                <p:cTn id="27" presetID="14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14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000"/>
                            </p:stCondLst>
                            <p:childTnLst>
                              <p:par>
                                <p:cTn id="108" presetID="14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5" grpId="0" animBg="1"/>
      <p:bldP spid="66" grpId="0" animBg="1"/>
      <p:bldP spid="68" grpId="0" animBg="1"/>
      <p:bldP spid="5" grpId="0" animBg="1"/>
      <p:bldP spid="5" grpId="1" animBg="1"/>
      <p:bldP spid="70" grpId="0" animBg="1"/>
      <p:bldP spid="70" grpId="1" animBg="1"/>
      <p:bldP spid="91" grpId="0" animBg="1"/>
      <p:bldP spid="91" grpId="1" animBg="1"/>
      <p:bldP spid="90" grpId="0" animBg="1"/>
      <p:bldP spid="90" grpId="1" animBg="1"/>
      <p:bldP spid="108" grpId="0" animBg="1"/>
      <p:bldP spid="108" grpId="1" animBg="1"/>
      <p:bldP spid="109" grpId="0" animBg="1"/>
      <p:bldP spid="109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A </a:t>
            </a:r>
            <a:r>
              <a:rPr lang="en-US" sz="3200" b="1" dirty="0">
                <a:solidFill>
                  <a:srgbClr val="7030A0"/>
                </a:solidFill>
              </a:rPr>
              <a:t>Simple Algorithm</a:t>
            </a:r>
            <a:br>
              <a:rPr lang="en-US" sz="4000" b="1" dirty="0"/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76600" y="2895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8862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324600" y="3505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60198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1752600" y="1447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2743200" y="3657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770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Oval 46"/>
          <p:cNvSpPr/>
          <p:nvPr/>
        </p:nvSpPr>
        <p:spPr>
          <a:xfrm>
            <a:off x="2438400" y="2667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981200" y="3276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133600" y="3962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6764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8" name="Oval 57"/>
          <p:cNvSpPr/>
          <p:nvPr/>
        </p:nvSpPr>
        <p:spPr>
          <a:xfrm>
            <a:off x="1447800" y="220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9" name="Oval 58"/>
          <p:cNvSpPr/>
          <p:nvPr/>
        </p:nvSpPr>
        <p:spPr>
          <a:xfrm>
            <a:off x="60198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0" name="Oval 59"/>
          <p:cNvSpPr/>
          <p:nvPr/>
        </p:nvSpPr>
        <p:spPr>
          <a:xfrm>
            <a:off x="5486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Oval 62"/>
          <p:cNvSpPr/>
          <p:nvPr/>
        </p:nvSpPr>
        <p:spPr>
          <a:xfrm>
            <a:off x="2590800" y="1981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35052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73152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Oval 75"/>
          <p:cNvSpPr/>
          <p:nvPr/>
        </p:nvSpPr>
        <p:spPr>
          <a:xfrm>
            <a:off x="7620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0" name="Oval 79"/>
          <p:cNvSpPr/>
          <p:nvPr/>
        </p:nvSpPr>
        <p:spPr>
          <a:xfrm>
            <a:off x="3048000" y="3352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Oval 82"/>
          <p:cNvSpPr/>
          <p:nvPr/>
        </p:nvSpPr>
        <p:spPr>
          <a:xfrm>
            <a:off x="4724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Oval 83"/>
          <p:cNvSpPr/>
          <p:nvPr/>
        </p:nvSpPr>
        <p:spPr>
          <a:xfrm>
            <a:off x="5867400" y="2743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Oval 84"/>
          <p:cNvSpPr/>
          <p:nvPr/>
        </p:nvSpPr>
        <p:spPr>
          <a:xfrm>
            <a:off x="3657600" y="2514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Oval 86"/>
          <p:cNvSpPr/>
          <p:nvPr/>
        </p:nvSpPr>
        <p:spPr>
          <a:xfrm>
            <a:off x="51816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9" name="Straight Connector 68"/>
          <p:cNvCxnSpPr>
            <a:endCxn id="42" idx="3"/>
          </p:cNvCxnSpPr>
          <p:nvPr/>
        </p:nvCxnSpPr>
        <p:spPr>
          <a:xfrm>
            <a:off x="609600" y="1512841"/>
            <a:ext cx="1154159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 flipV="1">
            <a:off x="1790700" y="1512842"/>
            <a:ext cx="0" cy="506458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1790700" y="2019300"/>
            <a:ext cx="811259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 flipV="1">
            <a:off x="2667000" y="2046242"/>
            <a:ext cx="0" cy="506458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 flipV="1">
            <a:off x="3733800" y="2579642"/>
            <a:ext cx="0" cy="174717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endCxn id="85" idx="2"/>
          </p:cNvCxnSpPr>
          <p:nvPr/>
        </p:nvCxnSpPr>
        <p:spPr>
          <a:xfrm>
            <a:off x="2667000" y="2552700"/>
            <a:ext cx="9906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>
            <a:endCxn id="84" idx="1"/>
          </p:cNvCxnSpPr>
          <p:nvPr/>
        </p:nvCxnSpPr>
        <p:spPr>
          <a:xfrm>
            <a:off x="3733800" y="2754359"/>
            <a:ext cx="2144759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>
            <a:off x="5905500" y="3048000"/>
            <a:ext cx="582659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/>
        </p:nvCxnSpPr>
        <p:spPr>
          <a:xfrm>
            <a:off x="6553200" y="3657600"/>
            <a:ext cx="7620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>
          <a:xfrm flipV="1">
            <a:off x="5905500" y="2819401"/>
            <a:ext cx="0" cy="228599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flipV="1">
            <a:off x="6553200" y="3124201"/>
            <a:ext cx="0" cy="533399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 flipV="1">
            <a:off x="7315200" y="3657602"/>
            <a:ext cx="0" cy="380998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524500" y="914400"/>
                <a:ext cx="3179525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h</m:t>
                    </m:r>
                  </m:oMath>
                </a14:m>
                <a:r>
                  <a:rPr lang="en-US" dirty="0"/>
                  <a:t> : no. of non-dominated points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4500" y="914400"/>
                <a:ext cx="3179525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6349" r="-2481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/>
              <p:cNvSpPr txBox="1"/>
              <p:nvPr/>
            </p:nvSpPr>
            <p:spPr>
              <a:xfrm>
                <a:off x="5486400" y="1889165"/>
                <a:ext cx="885884" cy="369332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O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) ?</a:t>
                </a:r>
                <a:endParaRPr lang="en-US" b="1" dirty="0"/>
              </a:p>
            </p:txBody>
          </p:sp>
        </mc:Choice>
        <mc:Fallback xmlns="">
          <p:sp>
            <p:nvSpPr>
              <p:cNvPr id="92" name="TextBox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0" y="1889165"/>
                <a:ext cx="885884" cy="369332"/>
              </a:xfrm>
              <a:prstGeom prst="rect">
                <a:avLst/>
              </a:prstGeom>
              <a:blipFill>
                <a:blip r:embed="rId6"/>
                <a:stretch>
                  <a:fillRect l="-4762" t="-8065" r="-4762" b="-241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 flipH="1">
            <a:off x="3397944" y="1889728"/>
            <a:ext cx="1999572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Time  complexity 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482678" y="1889807"/>
                <a:ext cx="885884" cy="366856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O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h</m:t>
                    </m:r>
                  </m:oMath>
                </a14:m>
                <a:r>
                  <a:rPr lang="en-US" dirty="0"/>
                  <a:t>)</a:t>
                </a:r>
                <a:endParaRPr lang="en-US" b="1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2678" y="1889807"/>
                <a:ext cx="885884" cy="366856"/>
              </a:xfrm>
              <a:prstGeom prst="rect">
                <a:avLst/>
              </a:prstGeom>
              <a:blipFill>
                <a:blip r:embed="rId7"/>
                <a:stretch>
                  <a:fillRect l="-4730" t="-6452" b="-241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Connector 60"/>
          <p:cNvCxnSpPr/>
          <p:nvPr/>
        </p:nvCxnSpPr>
        <p:spPr>
          <a:xfrm>
            <a:off x="609600" y="990600"/>
            <a:ext cx="0" cy="5638800"/>
          </a:xfrm>
          <a:prstGeom prst="line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V="1">
            <a:off x="152400" y="6126162"/>
            <a:ext cx="8534400" cy="1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226576" y="863641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108322" y="6126162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0" y="6103411"/>
                <a:ext cx="7344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(0,0)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103411"/>
                <a:ext cx="734496" cy="369332"/>
              </a:xfrm>
              <a:prstGeom prst="rect">
                <a:avLst/>
              </a:prstGeom>
              <a:blipFill>
                <a:blip r:embed="rId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DEC60D0-0A06-FE7A-5DD4-82095B14615F}"/>
              </a:ext>
            </a:extLst>
          </p:cNvPr>
          <p:cNvCxnSpPr>
            <a:cxnSpLocks/>
          </p:cNvCxnSpPr>
          <p:nvPr/>
        </p:nvCxnSpPr>
        <p:spPr>
          <a:xfrm flipV="1">
            <a:off x="7315200" y="4032613"/>
            <a:ext cx="0" cy="2093549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548354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2" grpId="0" animBg="1"/>
      <p:bldP spid="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A Divide and Conquer </a:t>
            </a:r>
            <a:r>
              <a:rPr lang="en-US" sz="3600" b="1" dirty="0"/>
              <a:t>algorithm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848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A Divide and Conquer </a:t>
            </a:r>
            <a:r>
              <a:rPr lang="en-US" sz="3600" b="1" dirty="0"/>
              <a:t>algorithm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031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The </a:t>
            </a:r>
            <a:r>
              <a:rPr lang="en-US" sz="3200" b="1" dirty="0">
                <a:solidFill>
                  <a:srgbClr val="7030A0"/>
                </a:solidFill>
              </a:rPr>
              <a:t>Divide </a:t>
            </a:r>
            <a:r>
              <a:rPr lang="en-US" sz="3200" b="1" dirty="0"/>
              <a:t>step</a:t>
            </a:r>
            <a:br>
              <a:rPr lang="en-US" sz="3200" b="1" dirty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76600" y="2895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324600" y="3505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1600200" y="4267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32766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60198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6096000" y="5181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1752600" y="1447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Oval 49"/>
          <p:cNvSpPr/>
          <p:nvPr/>
        </p:nvSpPr>
        <p:spPr>
          <a:xfrm>
            <a:off x="3124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2743200" y="3657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69342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770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5943600" y="4724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Oval 46"/>
          <p:cNvSpPr/>
          <p:nvPr/>
        </p:nvSpPr>
        <p:spPr>
          <a:xfrm>
            <a:off x="2438400" y="2667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981200" y="3276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133600" y="3962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6764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7" name="Oval 56"/>
          <p:cNvSpPr/>
          <p:nvPr/>
        </p:nvSpPr>
        <p:spPr>
          <a:xfrm>
            <a:off x="2590800" y="4800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8" name="Oval 57"/>
          <p:cNvSpPr/>
          <p:nvPr/>
        </p:nvSpPr>
        <p:spPr>
          <a:xfrm>
            <a:off x="1447800" y="220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9" name="Oval 58"/>
          <p:cNvSpPr/>
          <p:nvPr/>
        </p:nvSpPr>
        <p:spPr>
          <a:xfrm>
            <a:off x="60198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0" name="Oval 59"/>
          <p:cNvSpPr/>
          <p:nvPr/>
        </p:nvSpPr>
        <p:spPr>
          <a:xfrm>
            <a:off x="5486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1" name="Oval 60"/>
          <p:cNvSpPr/>
          <p:nvPr/>
        </p:nvSpPr>
        <p:spPr>
          <a:xfrm>
            <a:off x="54864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2" name="Oval 61"/>
          <p:cNvSpPr/>
          <p:nvPr/>
        </p:nvSpPr>
        <p:spPr>
          <a:xfrm>
            <a:off x="5638800" y="556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Oval 62"/>
          <p:cNvSpPr/>
          <p:nvPr/>
        </p:nvSpPr>
        <p:spPr>
          <a:xfrm>
            <a:off x="2590800" y="1981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35052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5" name="Oval 64"/>
          <p:cNvSpPr/>
          <p:nvPr/>
        </p:nvSpPr>
        <p:spPr>
          <a:xfrm>
            <a:off x="8458200" y="5486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Oval 65"/>
          <p:cNvSpPr/>
          <p:nvPr/>
        </p:nvSpPr>
        <p:spPr>
          <a:xfrm>
            <a:off x="79248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73152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81534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5" name="Oval 74"/>
          <p:cNvSpPr/>
          <p:nvPr/>
        </p:nvSpPr>
        <p:spPr>
          <a:xfrm>
            <a:off x="13716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Oval 75"/>
          <p:cNvSpPr/>
          <p:nvPr/>
        </p:nvSpPr>
        <p:spPr>
          <a:xfrm>
            <a:off x="7620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7" name="Oval 76"/>
          <p:cNvSpPr/>
          <p:nvPr/>
        </p:nvSpPr>
        <p:spPr>
          <a:xfrm>
            <a:off x="3657600" y="4267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Oval 77"/>
          <p:cNvSpPr/>
          <p:nvPr/>
        </p:nvSpPr>
        <p:spPr>
          <a:xfrm>
            <a:off x="6400800" y="4267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Oval 78"/>
          <p:cNvSpPr/>
          <p:nvPr/>
        </p:nvSpPr>
        <p:spPr>
          <a:xfrm>
            <a:off x="2667000" y="4114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Oval 79"/>
          <p:cNvSpPr/>
          <p:nvPr/>
        </p:nvSpPr>
        <p:spPr>
          <a:xfrm>
            <a:off x="3048000" y="3352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Oval 80"/>
          <p:cNvSpPr/>
          <p:nvPr/>
        </p:nvSpPr>
        <p:spPr>
          <a:xfrm>
            <a:off x="4343400" y="5715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Oval 81"/>
          <p:cNvSpPr/>
          <p:nvPr/>
        </p:nvSpPr>
        <p:spPr>
          <a:xfrm>
            <a:off x="4876800" y="4191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Oval 83"/>
          <p:cNvSpPr/>
          <p:nvPr/>
        </p:nvSpPr>
        <p:spPr>
          <a:xfrm>
            <a:off x="5867400" y="2743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Oval 84"/>
          <p:cNvSpPr/>
          <p:nvPr/>
        </p:nvSpPr>
        <p:spPr>
          <a:xfrm>
            <a:off x="3657600" y="2514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/>
          <p:cNvSpPr/>
          <p:nvPr/>
        </p:nvSpPr>
        <p:spPr>
          <a:xfrm>
            <a:off x="4191000" y="5105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Oval 86"/>
          <p:cNvSpPr/>
          <p:nvPr/>
        </p:nvSpPr>
        <p:spPr>
          <a:xfrm>
            <a:off x="51816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8" name="Straight Connector 47"/>
          <p:cNvCxnSpPr/>
          <p:nvPr/>
        </p:nvCxnSpPr>
        <p:spPr>
          <a:xfrm>
            <a:off x="4414684" y="1627239"/>
            <a:ext cx="0" cy="4525963"/>
          </a:xfrm>
          <a:prstGeom prst="line">
            <a:avLst/>
          </a:prstGeom>
          <a:ln w="3810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" name="Group 90"/>
          <p:cNvGrpSpPr/>
          <p:nvPr/>
        </p:nvGrpSpPr>
        <p:grpSpPr>
          <a:xfrm>
            <a:off x="685800" y="6135408"/>
            <a:ext cx="3742333" cy="649574"/>
            <a:chOff x="685800" y="6018060"/>
            <a:chExt cx="3742333" cy="649574"/>
          </a:xfrm>
        </p:grpSpPr>
        <p:sp>
          <p:nvSpPr>
            <p:cNvPr id="92" name="Right Brace 91"/>
            <p:cNvSpPr/>
            <p:nvPr/>
          </p:nvSpPr>
          <p:spPr>
            <a:xfrm rot="5400000">
              <a:off x="2403697" y="4300163"/>
              <a:ext cx="306539" cy="3742333"/>
            </a:xfrm>
            <a:prstGeom prst="righ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6C3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/>
                <p:cNvSpPr txBox="1"/>
                <p:nvPr/>
              </p:nvSpPr>
              <p:spPr>
                <a:xfrm>
                  <a:off x="2209800" y="6207252"/>
                  <a:ext cx="1036951" cy="4603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⌈</m:t>
                      </m:r>
                      <m:f>
                        <m:f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𝒏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𝟐</m:t>
                          </m:r>
                        </m:den>
                      </m:f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⌉</m:t>
                      </m:r>
                    </m:oMath>
                  </a14:m>
                  <a:r>
                    <a:rPr lang="en-US" dirty="0"/>
                    <a:t>points</a:t>
                  </a:r>
                </a:p>
              </p:txBody>
            </p:sp>
          </mc:Choice>
          <mc:Fallback xmlns="">
            <p:sp>
              <p:nvSpPr>
                <p:cNvPr id="93" name="TextBox 9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9800" y="6207252"/>
                  <a:ext cx="1036951" cy="460382"/>
                </a:xfrm>
                <a:prstGeom prst="rect">
                  <a:avLst/>
                </a:prstGeom>
                <a:blipFill>
                  <a:blip r:embed="rId5"/>
                  <a:stretch>
                    <a:fillRect l="-1765" r="-5294"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4" name="Group 93"/>
          <p:cNvGrpSpPr/>
          <p:nvPr/>
        </p:nvGrpSpPr>
        <p:grpSpPr>
          <a:xfrm>
            <a:off x="4571350" y="6148914"/>
            <a:ext cx="3886850" cy="636068"/>
            <a:chOff x="608950" y="6031566"/>
            <a:chExt cx="3886850" cy="636068"/>
          </a:xfrm>
        </p:grpSpPr>
        <p:sp>
          <p:nvSpPr>
            <p:cNvPr id="95" name="Right Brace 94"/>
            <p:cNvSpPr/>
            <p:nvPr/>
          </p:nvSpPr>
          <p:spPr>
            <a:xfrm rot="5400000">
              <a:off x="2405858" y="4234658"/>
              <a:ext cx="293034" cy="3886850"/>
            </a:xfrm>
            <a:prstGeom prst="righ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6C3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/>
                <p:cNvSpPr txBox="1"/>
                <p:nvPr/>
              </p:nvSpPr>
              <p:spPr>
                <a:xfrm>
                  <a:off x="2209800" y="6207252"/>
                  <a:ext cx="1036951" cy="4603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⌊</m:t>
                      </m:r>
                      <m:f>
                        <m:f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𝒏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𝟐</m:t>
                          </m:r>
                        </m:den>
                      </m:f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⌋</m:t>
                      </m:r>
                    </m:oMath>
                  </a14:m>
                  <a:r>
                    <a:rPr lang="en-US" dirty="0"/>
                    <a:t>points</a:t>
                  </a:r>
                </a:p>
              </p:txBody>
            </p:sp>
          </mc:Choice>
          <mc:Fallback xmlns="">
            <p:sp>
              <p:nvSpPr>
                <p:cNvPr id="96" name="TextBox 9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9800" y="6207252"/>
                  <a:ext cx="1036951" cy="460382"/>
                </a:xfrm>
                <a:prstGeom prst="rect">
                  <a:avLst/>
                </a:prstGeom>
                <a:blipFill>
                  <a:blip r:embed="rId6"/>
                  <a:stretch>
                    <a:fillRect l="-1765" r="-5294"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5" name="Oval 34"/>
          <p:cNvSpPr/>
          <p:nvPr/>
        </p:nvSpPr>
        <p:spPr>
          <a:xfrm>
            <a:off x="38862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TextBox 113"/>
          <p:cNvSpPr txBox="1"/>
          <p:nvPr/>
        </p:nvSpPr>
        <p:spPr>
          <a:xfrm>
            <a:off x="609600" y="6336268"/>
            <a:ext cx="1338764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Left half set 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365816" y="6310805"/>
            <a:ext cx="1463734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Right half set </a:t>
            </a:r>
          </a:p>
        </p:txBody>
      </p:sp>
      <p:sp>
        <p:nvSpPr>
          <p:cNvPr id="116" name="Oval 115"/>
          <p:cNvSpPr/>
          <p:nvPr/>
        </p:nvSpPr>
        <p:spPr>
          <a:xfrm>
            <a:off x="4267200" y="5612732"/>
            <a:ext cx="228600" cy="25466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 68"/>
              <p:cNvSpPr/>
              <p:nvPr/>
            </p:nvSpPr>
            <p:spPr>
              <a:xfrm>
                <a:off x="7612766" y="1678821"/>
                <a:ext cx="1165704" cy="36933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r>
                  <a:rPr lang="en-US" b="1" dirty="0"/>
                  <a:t>O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dirty="0"/>
                  <a:t>) time </a:t>
                </a:r>
              </a:p>
            </p:txBody>
          </p:sp>
        </mc:Choice>
        <mc:Fallback xmlns="">
          <p:sp>
            <p:nvSpPr>
              <p:cNvPr id="69" name="Rectangle 6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2766" y="1678821"/>
                <a:ext cx="1165704" cy="369332"/>
              </a:xfrm>
              <a:prstGeom prst="rect">
                <a:avLst/>
              </a:prstGeom>
              <a:blipFill>
                <a:blip r:embed="rId7"/>
                <a:stretch>
                  <a:fillRect l="-4145" t="-6349" r="-2591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Straight Connector 69"/>
          <p:cNvCxnSpPr/>
          <p:nvPr/>
        </p:nvCxnSpPr>
        <p:spPr>
          <a:xfrm>
            <a:off x="609600" y="990600"/>
            <a:ext cx="0" cy="5638800"/>
          </a:xfrm>
          <a:prstGeom prst="line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 flipV="1">
            <a:off x="152400" y="6126162"/>
            <a:ext cx="8534400" cy="1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226576" y="863641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108322" y="6126162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0" y="6103411"/>
                <a:ext cx="7344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(0,0)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103411"/>
                <a:ext cx="734496" cy="369332"/>
              </a:xfrm>
              <a:prstGeom prst="rect">
                <a:avLst/>
              </a:prstGeom>
              <a:blipFill>
                <a:blip r:embed="rId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776854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4" grpId="0" animBg="1"/>
      <p:bldP spid="115" grpId="0" animBg="1"/>
      <p:bldP spid="116" grpId="0" animBg="1"/>
      <p:bldP spid="116" grpId="1" animBg="1"/>
      <p:bldP spid="6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Solving the </a:t>
            </a:r>
            <a:r>
              <a:rPr lang="en-US" sz="3200" b="1" dirty="0" err="1">
                <a:solidFill>
                  <a:srgbClr val="7030A0"/>
                </a:solidFill>
              </a:rPr>
              <a:t>Subproblems</a:t>
            </a:r>
            <a:r>
              <a:rPr lang="en-US" sz="3200" b="1" dirty="0">
                <a:solidFill>
                  <a:srgbClr val="7030A0"/>
                </a:solidFill>
              </a:rPr>
              <a:t> </a:t>
            </a:r>
            <a:r>
              <a:rPr lang="en-US" sz="3200" b="1" dirty="0"/>
              <a:t>recursively</a:t>
            </a:r>
            <a:br>
              <a:rPr lang="en-US" sz="3200" b="1" dirty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76600" y="2895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324600" y="3505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1600200" y="4267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32766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60198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6096000" y="5181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1752600" y="1447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Oval 49"/>
          <p:cNvSpPr/>
          <p:nvPr/>
        </p:nvSpPr>
        <p:spPr>
          <a:xfrm>
            <a:off x="3124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2743200" y="3657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69342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770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5943600" y="4724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Oval 46"/>
          <p:cNvSpPr/>
          <p:nvPr/>
        </p:nvSpPr>
        <p:spPr>
          <a:xfrm>
            <a:off x="2438400" y="2667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981200" y="3276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133600" y="3962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6764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7" name="Oval 56"/>
          <p:cNvSpPr/>
          <p:nvPr/>
        </p:nvSpPr>
        <p:spPr>
          <a:xfrm>
            <a:off x="2590800" y="4800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8" name="Oval 57"/>
          <p:cNvSpPr/>
          <p:nvPr/>
        </p:nvSpPr>
        <p:spPr>
          <a:xfrm>
            <a:off x="1447800" y="220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9" name="Oval 58"/>
          <p:cNvSpPr/>
          <p:nvPr/>
        </p:nvSpPr>
        <p:spPr>
          <a:xfrm>
            <a:off x="60198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0" name="Oval 59"/>
          <p:cNvSpPr/>
          <p:nvPr/>
        </p:nvSpPr>
        <p:spPr>
          <a:xfrm>
            <a:off x="5486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1" name="Oval 60"/>
          <p:cNvSpPr/>
          <p:nvPr/>
        </p:nvSpPr>
        <p:spPr>
          <a:xfrm>
            <a:off x="54864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2" name="Oval 61"/>
          <p:cNvSpPr/>
          <p:nvPr/>
        </p:nvSpPr>
        <p:spPr>
          <a:xfrm>
            <a:off x="5638800" y="556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Oval 62"/>
          <p:cNvSpPr/>
          <p:nvPr/>
        </p:nvSpPr>
        <p:spPr>
          <a:xfrm>
            <a:off x="2590800" y="1981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35052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5" name="Oval 64"/>
          <p:cNvSpPr/>
          <p:nvPr/>
        </p:nvSpPr>
        <p:spPr>
          <a:xfrm>
            <a:off x="8458200" y="5486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Oval 65"/>
          <p:cNvSpPr/>
          <p:nvPr/>
        </p:nvSpPr>
        <p:spPr>
          <a:xfrm>
            <a:off x="79248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73152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81534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5" name="Oval 74"/>
          <p:cNvSpPr/>
          <p:nvPr/>
        </p:nvSpPr>
        <p:spPr>
          <a:xfrm>
            <a:off x="13716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Oval 75"/>
          <p:cNvSpPr/>
          <p:nvPr/>
        </p:nvSpPr>
        <p:spPr>
          <a:xfrm>
            <a:off x="7620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7" name="Oval 76"/>
          <p:cNvSpPr/>
          <p:nvPr/>
        </p:nvSpPr>
        <p:spPr>
          <a:xfrm>
            <a:off x="3657600" y="4267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Oval 77"/>
          <p:cNvSpPr/>
          <p:nvPr/>
        </p:nvSpPr>
        <p:spPr>
          <a:xfrm>
            <a:off x="6400800" y="4267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Oval 78"/>
          <p:cNvSpPr/>
          <p:nvPr/>
        </p:nvSpPr>
        <p:spPr>
          <a:xfrm>
            <a:off x="2667000" y="4114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Oval 79"/>
          <p:cNvSpPr/>
          <p:nvPr/>
        </p:nvSpPr>
        <p:spPr>
          <a:xfrm>
            <a:off x="3048000" y="3352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Oval 81"/>
          <p:cNvSpPr/>
          <p:nvPr/>
        </p:nvSpPr>
        <p:spPr>
          <a:xfrm>
            <a:off x="4876800" y="4191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Oval 83"/>
          <p:cNvSpPr/>
          <p:nvPr/>
        </p:nvSpPr>
        <p:spPr>
          <a:xfrm>
            <a:off x="5867400" y="2743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Oval 84"/>
          <p:cNvSpPr/>
          <p:nvPr/>
        </p:nvSpPr>
        <p:spPr>
          <a:xfrm>
            <a:off x="3657600" y="2514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/>
          <p:cNvSpPr/>
          <p:nvPr/>
        </p:nvSpPr>
        <p:spPr>
          <a:xfrm>
            <a:off x="4191000" y="5105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Oval 86"/>
          <p:cNvSpPr/>
          <p:nvPr/>
        </p:nvSpPr>
        <p:spPr>
          <a:xfrm>
            <a:off x="51816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/>
          <p:cNvGrpSpPr/>
          <p:nvPr/>
        </p:nvGrpSpPr>
        <p:grpSpPr>
          <a:xfrm>
            <a:off x="609600" y="1512841"/>
            <a:ext cx="3798841" cy="4613322"/>
            <a:chOff x="609600" y="1512841"/>
            <a:chExt cx="3798841" cy="4613322"/>
          </a:xfrm>
        </p:grpSpPr>
        <p:grpSp>
          <p:nvGrpSpPr>
            <p:cNvPr id="5" name="Group 4"/>
            <p:cNvGrpSpPr/>
            <p:nvPr/>
          </p:nvGrpSpPr>
          <p:grpSpPr>
            <a:xfrm>
              <a:off x="609600" y="1512841"/>
              <a:ext cx="3124200" cy="2563859"/>
              <a:chOff x="609600" y="1512841"/>
              <a:chExt cx="3124200" cy="2563859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609600" y="1512841"/>
                <a:ext cx="1154159" cy="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 flipV="1">
                <a:off x="1790700" y="1512842"/>
                <a:ext cx="0" cy="506458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>
                <a:off x="1790700" y="2019300"/>
                <a:ext cx="811259" cy="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flipV="1">
                <a:off x="2667000" y="2046242"/>
                <a:ext cx="0" cy="506458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/>
              <p:nvPr/>
            </p:nvCxnSpPr>
            <p:spPr>
              <a:xfrm flipV="1">
                <a:off x="3733800" y="2579644"/>
                <a:ext cx="0" cy="1497056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>
                <a:off x="2667000" y="2552700"/>
                <a:ext cx="990600" cy="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8" name="Straight Connector 87"/>
            <p:cNvCxnSpPr/>
            <p:nvPr/>
          </p:nvCxnSpPr>
          <p:spPr>
            <a:xfrm>
              <a:off x="3733800" y="4076700"/>
              <a:ext cx="228600" cy="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/>
          </p:nvCxnSpPr>
          <p:spPr>
            <a:xfrm flipV="1">
              <a:off x="3962400" y="4065544"/>
              <a:ext cx="0" cy="1077956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/>
            <p:nvPr/>
          </p:nvCxnSpPr>
          <p:spPr>
            <a:xfrm>
              <a:off x="3962400" y="5143500"/>
              <a:ext cx="228600" cy="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 flipV="1">
              <a:off x="4267200" y="5170444"/>
              <a:ext cx="0" cy="582656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>
              <a:off x="4267200" y="5753100"/>
              <a:ext cx="96253" cy="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>
              <a:cxnSpLocks/>
            </p:cNvCxnSpPr>
            <p:nvPr/>
          </p:nvCxnSpPr>
          <p:spPr>
            <a:xfrm flipV="1">
              <a:off x="4408441" y="5780041"/>
              <a:ext cx="0" cy="346122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>
            <a:off x="4408441" y="2781300"/>
            <a:ext cx="4087859" cy="3344864"/>
            <a:chOff x="4408441" y="2781300"/>
            <a:chExt cx="4087859" cy="3344864"/>
          </a:xfrm>
        </p:grpSpPr>
        <p:grpSp>
          <p:nvGrpSpPr>
            <p:cNvPr id="14" name="Group 13"/>
            <p:cNvGrpSpPr/>
            <p:nvPr/>
          </p:nvGrpSpPr>
          <p:grpSpPr>
            <a:xfrm>
              <a:off x="5905500" y="2819401"/>
              <a:ext cx="2590800" cy="3306763"/>
              <a:chOff x="5905500" y="2819401"/>
              <a:chExt cx="2590800" cy="3306763"/>
            </a:xfrm>
          </p:grpSpPr>
          <p:cxnSp>
            <p:nvCxnSpPr>
              <p:cNvPr id="101" name="Straight Connector 100"/>
              <p:cNvCxnSpPr/>
              <p:nvPr/>
            </p:nvCxnSpPr>
            <p:spPr>
              <a:xfrm>
                <a:off x="5905500" y="3048000"/>
                <a:ext cx="582659" cy="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/>
              <p:cNvCxnSpPr/>
              <p:nvPr/>
            </p:nvCxnSpPr>
            <p:spPr>
              <a:xfrm>
                <a:off x="6553200" y="3657600"/>
                <a:ext cx="762000" cy="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/>
              <p:cNvCxnSpPr/>
              <p:nvPr/>
            </p:nvCxnSpPr>
            <p:spPr>
              <a:xfrm>
                <a:off x="7315200" y="4038600"/>
                <a:ext cx="609600" cy="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/>
              <p:cNvCxnSpPr/>
              <p:nvPr/>
            </p:nvCxnSpPr>
            <p:spPr>
              <a:xfrm>
                <a:off x="7962900" y="5029200"/>
                <a:ext cx="190500" cy="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/>
              <p:cNvCxnSpPr/>
              <p:nvPr/>
            </p:nvCxnSpPr>
            <p:spPr>
              <a:xfrm>
                <a:off x="8153400" y="5536532"/>
                <a:ext cx="342900" cy="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/>
              <p:cNvCxnSpPr/>
              <p:nvPr/>
            </p:nvCxnSpPr>
            <p:spPr>
              <a:xfrm flipV="1">
                <a:off x="5905500" y="2819401"/>
                <a:ext cx="0" cy="228599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 flipV="1">
                <a:off x="6553200" y="3124201"/>
                <a:ext cx="0" cy="533399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 flipV="1">
                <a:off x="7315200" y="3657602"/>
                <a:ext cx="0" cy="380998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/>
              <p:cNvCxnSpPr/>
              <p:nvPr/>
            </p:nvCxnSpPr>
            <p:spPr>
              <a:xfrm flipV="1">
                <a:off x="7962900" y="4114800"/>
                <a:ext cx="0" cy="91440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 flipV="1">
                <a:off x="8153400" y="5105400"/>
                <a:ext cx="0" cy="431132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/>
              <p:nvPr/>
            </p:nvCxnSpPr>
            <p:spPr>
              <a:xfrm flipV="1">
                <a:off x="8496300" y="5562600"/>
                <a:ext cx="0" cy="563564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2" name="Straight Connector 111"/>
            <p:cNvCxnSpPr>
              <a:cxnSpLocks/>
              <a:endCxn id="84" idx="6"/>
            </p:cNvCxnSpPr>
            <p:nvPr/>
          </p:nvCxnSpPr>
          <p:spPr>
            <a:xfrm>
              <a:off x="4408441" y="2781300"/>
              <a:ext cx="1535159" cy="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Oval 34"/>
          <p:cNvSpPr/>
          <p:nvPr/>
        </p:nvSpPr>
        <p:spPr>
          <a:xfrm>
            <a:off x="38862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TextBox 113"/>
          <p:cNvSpPr txBox="1"/>
          <p:nvPr/>
        </p:nvSpPr>
        <p:spPr>
          <a:xfrm>
            <a:off x="609600" y="6336268"/>
            <a:ext cx="1338764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Left half set 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365816" y="6310805"/>
            <a:ext cx="1463734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Right half set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Rectangle 115"/>
              <p:cNvSpPr/>
              <p:nvPr/>
            </p:nvSpPr>
            <p:spPr>
              <a:xfrm>
                <a:off x="7612766" y="1678821"/>
                <a:ext cx="1253869" cy="46038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r>
                  <a:rPr lang="en-US" b="1" dirty="0"/>
                  <a:t>2 T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num>
                      <m:den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dirty="0"/>
                  <a:t>) time </a:t>
                </a:r>
              </a:p>
            </p:txBody>
          </p:sp>
        </mc:Choice>
        <mc:Fallback xmlns="">
          <p:sp>
            <p:nvSpPr>
              <p:cNvPr id="116" name="Rectangle 1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2766" y="1678821"/>
                <a:ext cx="1253869" cy="460382"/>
              </a:xfrm>
              <a:prstGeom prst="rect">
                <a:avLst/>
              </a:prstGeom>
              <a:blipFill>
                <a:blip r:embed="rId5"/>
                <a:stretch>
                  <a:fillRect l="-3846" r="-2404" b="-64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7" name="Straight Connector 116"/>
          <p:cNvCxnSpPr/>
          <p:nvPr/>
        </p:nvCxnSpPr>
        <p:spPr>
          <a:xfrm>
            <a:off x="609600" y="990600"/>
            <a:ext cx="0" cy="5638800"/>
          </a:xfrm>
          <a:prstGeom prst="line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 flipV="1">
            <a:off x="152400" y="6126162"/>
            <a:ext cx="8534400" cy="1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226576" y="863641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108322" y="6126162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/>
              <p:cNvSpPr txBox="1"/>
              <p:nvPr/>
            </p:nvSpPr>
            <p:spPr>
              <a:xfrm>
                <a:off x="0" y="6103411"/>
                <a:ext cx="7344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(0,0)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1" name="TextBox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103411"/>
                <a:ext cx="734496" cy="369332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4" name="Oval 123">
            <a:extLst>
              <a:ext uri="{FF2B5EF4-FFF2-40B4-BE49-F238E27FC236}">
                <a16:creationId xmlns:a16="http://schemas.microsoft.com/office/drawing/2014/main" id="{694EBE52-6D33-C749-8B73-FC0C4B2A4218}"/>
              </a:ext>
            </a:extLst>
          </p:cNvPr>
          <p:cNvSpPr/>
          <p:nvPr/>
        </p:nvSpPr>
        <p:spPr>
          <a:xfrm>
            <a:off x="4343400" y="5715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8553A645-DA98-F747-B04B-1D705F74F71A}"/>
              </a:ext>
            </a:extLst>
          </p:cNvPr>
          <p:cNvCxnSpPr/>
          <p:nvPr/>
        </p:nvCxnSpPr>
        <p:spPr>
          <a:xfrm>
            <a:off x="4414684" y="1627239"/>
            <a:ext cx="0" cy="4525963"/>
          </a:xfrm>
          <a:prstGeom prst="line">
            <a:avLst/>
          </a:prstGeom>
          <a:ln w="3810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33D9E9EA-7482-7441-B6A2-2E4799DC6242}"/>
              </a:ext>
            </a:extLst>
          </p:cNvPr>
          <p:cNvGrpSpPr/>
          <p:nvPr/>
        </p:nvGrpSpPr>
        <p:grpSpPr>
          <a:xfrm>
            <a:off x="685800" y="6135408"/>
            <a:ext cx="3742333" cy="649574"/>
            <a:chOff x="685800" y="6018060"/>
            <a:chExt cx="3742333" cy="649574"/>
          </a:xfrm>
        </p:grpSpPr>
        <p:sp>
          <p:nvSpPr>
            <p:cNvPr id="127" name="Right Brace 126">
              <a:extLst>
                <a:ext uri="{FF2B5EF4-FFF2-40B4-BE49-F238E27FC236}">
                  <a16:creationId xmlns:a16="http://schemas.microsoft.com/office/drawing/2014/main" id="{2D1568F1-EC93-7B4E-9FA3-925B209AD72A}"/>
                </a:ext>
              </a:extLst>
            </p:cNvPr>
            <p:cNvSpPr/>
            <p:nvPr/>
          </p:nvSpPr>
          <p:spPr>
            <a:xfrm rot="5400000">
              <a:off x="2403697" y="4300163"/>
              <a:ext cx="306539" cy="3742333"/>
            </a:xfrm>
            <a:prstGeom prst="righ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6C3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611A0F99-E071-044D-B0EC-67AB01D82E2F}"/>
                    </a:ext>
                  </a:extLst>
                </p:cNvPr>
                <p:cNvSpPr txBox="1"/>
                <p:nvPr/>
              </p:nvSpPr>
              <p:spPr>
                <a:xfrm>
                  <a:off x="2209800" y="6207252"/>
                  <a:ext cx="1036951" cy="4603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⌈</m:t>
                      </m:r>
                      <m:f>
                        <m:f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𝒏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𝟐</m:t>
                          </m:r>
                        </m:den>
                      </m:f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⌉</m:t>
                      </m:r>
                    </m:oMath>
                  </a14:m>
                  <a:r>
                    <a:rPr lang="en-US" dirty="0"/>
                    <a:t>points</a:t>
                  </a:r>
                </a:p>
              </p:txBody>
            </p:sp>
          </mc:Choice>
          <mc:Fallback xmlns="">
            <p:sp>
              <p:nvSpPr>
                <p:cNvPr id="93" name="TextBox 9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9800" y="6207252"/>
                  <a:ext cx="1036951" cy="460382"/>
                </a:xfrm>
                <a:prstGeom prst="rect">
                  <a:avLst/>
                </a:prstGeom>
                <a:blipFill>
                  <a:blip r:embed="rId7"/>
                  <a:stretch>
                    <a:fillRect l="-1765" r="-5294"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CBE97E50-8E80-754E-BCA6-851A14C8F156}"/>
              </a:ext>
            </a:extLst>
          </p:cNvPr>
          <p:cNvGrpSpPr/>
          <p:nvPr/>
        </p:nvGrpSpPr>
        <p:grpSpPr>
          <a:xfrm>
            <a:off x="4571350" y="6148914"/>
            <a:ext cx="3886850" cy="636068"/>
            <a:chOff x="608950" y="6031566"/>
            <a:chExt cx="3886850" cy="636068"/>
          </a:xfrm>
        </p:grpSpPr>
        <p:sp>
          <p:nvSpPr>
            <p:cNvPr id="130" name="Right Brace 129">
              <a:extLst>
                <a:ext uri="{FF2B5EF4-FFF2-40B4-BE49-F238E27FC236}">
                  <a16:creationId xmlns:a16="http://schemas.microsoft.com/office/drawing/2014/main" id="{3B46C5D7-1A9F-EF47-AC1B-E653D410264E}"/>
                </a:ext>
              </a:extLst>
            </p:cNvPr>
            <p:cNvSpPr/>
            <p:nvPr/>
          </p:nvSpPr>
          <p:spPr>
            <a:xfrm rot="5400000">
              <a:off x="2405858" y="4234658"/>
              <a:ext cx="293034" cy="3886850"/>
            </a:xfrm>
            <a:prstGeom prst="righ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6C3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8CE0C290-7670-9040-8552-8B0F9A98E298}"/>
                    </a:ext>
                  </a:extLst>
                </p:cNvPr>
                <p:cNvSpPr txBox="1"/>
                <p:nvPr/>
              </p:nvSpPr>
              <p:spPr>
                <a:xfrm>
                  <a:off x="2209800" y="6207252"/>
                  <a:ext cx="1036951" cy="4603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⌊</m:t>
                      </m:r>
                      <m:f>
                        <m:f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𝒏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𝟐</m:t>
                          </m:r>
                        </m:den>
                      </m:f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⌋</m:t>
                      </m:r>
                    </m:oMath>
                  </a14:m>
                  <a:r>
                    <a:rPr lang="en-US" dirty="0"/>
                    <a:t>points</a:t>
                  </a:r>
                </a:p>
              </p:txBody>
            </p:sp>
          </mc:Choice>
          <mc:Fallback xmlns="">
            <p:sp>
              <p:nvSpPr>
                <p:cNvPr id="96" name="TextBox 9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9800" y="6207252"/>
                  <a:ext cx="1036951" cy="460382"/>
                </a:xfrm>
                <a:prstGeom prst="rect">
                  <a:avLst/>
                </a:prstGeom>
                <a:blipFill>
                  <a:blip r:embed="rId8"/>
                  <a:stretch>
                    <a:fillRect l="-1765" r="-5294"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2814618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The </a:t>
            </a:r>
            <a:r>
              <a:rPr lang="en-US" sz="3200" b="1" dirty="0">
                <a:solidFill>
                  <a:srgbClr val="7030A0"/>
                </a:solidFill>
              </a:rPr>
              <a:t>conquer </a:t>
            </a:r>
            <a:r>
              <a:rPr lang="en-US" sz="3200" b="1" dirty="0"/>
              <a:t>step</a:t>
            </a:r>
            <a:br>
              <a:rPr lang="en-US" sz="4000" b="1" dirty="0"/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76600" y="2895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324600" y="3505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1600200" y="4267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32766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60198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6096000" y="5181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1752600" y="1447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Oval 49"/>
          <p:cNvSpPr/>
          <p:nvPr/>
        </p:nvSpPr>
        <p:spPr>
          <a:xfrm>
            <a:off x="3124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2743200" y="3657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69342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770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5943600" y="4724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Oval 46"/>
          <p:cNvSpPr/>
          <p:nvPr/>
        </p:nvSpPr>
        <p:spPr>
          <a:xfrm>
            <a:off x="2438400" y="2667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981200" y="3276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133600" y="3962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6764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7" name="Oval 56"/>
          <p:cNvSpPr/>
          <p:nvPr/>
        </p:nvSpPr>
        <p:spPr>
          <a:xfrm>
            <a:off x="2590800" y="4800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8" name="Oval 57"/>
          <p:cNvSpPr/>
          <p:nvPr/>
        </p:nvSpPr>
        <p:spPr>
          <a:xfrm>
            <a:off x="1447800" y="220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9" name="Oval 58"/>
          <p:cNvSpPr/>
          <p:nvPr/>
        </p:nvSpPr>
        <p:spPr>
          <a:xfrm>
            <a:off x="60198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0" name="Oval 59"/>
          <p:cNvSpPr/>
          <p:nvPr/>
        </p:nvSpPr>
        <p:spPr>
          <a:xfrm>
            <a:off x="5486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1" name="Oval 60"/>
          <p:cNvSpPr/>
          <p:nvPr/>
        </p:nvSpPr>
        <p:spPr>
          <a:xfrm>
            <a:off x="54864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2" name="Oval 61"/>
          <p:cNvSpPr/>
          <p:nvPr/>
        </p:nvSpPr>
        <p:spPr>
          <a:xfrm>
            <a:off x="5638800" y="556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Oval 62"/>
          <p:cNvSpPr/>
          <p:nvPr/>
        </p:nvSpPr>
        <p:spPr>
          <a:xfrm>
            <a:off x="2590800" y="1981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35052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5" name="Oval 64"/>
          <p:cNvSpPr/>
          <p:nvPr/>
        </p:nvSpPr>
        <p:spPr>
          <a:xfrm>
            <a:off x="8458200" y="5486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Oval 65"/>
          <p:cNvSpPr/>
          <p:nvPr/>
        </p:nvSpPr>
        <p:spPr>
          <a:xfrm>
            <a:off x="79248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73152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81534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5" name="Oval 74"/>
          <p:cNvSpPr/>
          <p:nvPr/>
        </p:nvSpPr>
        <p:spPr>
          <a:xfrm>
            <a:off x="13716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Oval 75"/>
          <p:cNvSpPr/>
          <p:nvPr/>
        </p:nvSpPr>
        <p:spPr>
          <a:xfrm>
            <a:off x="7620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7" name="Oval 76"/>
          <p:cNvSpPr/>
          <p:nvPr/>
        </p:nvSpPr>
        <p:spPr>
          <a:xfrm>
            <a:off x="3657600" y="4267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Oval 77"/>
          <p:cNvSpPr/>
          <p:nvPr/>
        </p:nvSpPr>
        <p:spPr>
          <a:xfrm>
            <a:off x="6400800" y="4267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Oval 78"/>
          <p:cNvSpPr/>
          <p:nvPr/>
        </p:nvSpPr>
        <p:spPr>
          <a:xfrm>
            <a:off x="2667000" y="4114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Oval 79"/>
          <p:cNvSpPr/>
          <p:nvPr/>
        </p:nvSpPr>
        <p:spPr>
          <a:xfrm>
            <a:off x="3048000" y="3352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Oval 80"/>
          <p:cNvSpPr/>
          <p:nvPr/>
        </p:nvSpPr>
        <p:spPr>
          <a:xfrm>
            <a:off x="4343400" y="5715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Oval 81"/>
          <p:cNvSpPr/>
          <p:nvPr/>
        </p:nvSpPr>
        <p:spPr>
          <a:xfrm>
            <a:off x="4876800" y="4191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Oval 83"/>
          <p:cNvSpPr/>
          <p:nvPr/>
        </p:nvSpPr>
        <p:spPr>
          <a:xfrm>
            <a:off x="5867400" y="2743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Oval 84"/>
          <p:cNvSpPr/>
          <p:nvPr/>
        </p:nvSpPr>
        <p:spPr>
          <a:xfrm>
            <a:off x="3657600" y="2514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/>
          <p:cNvSpPr/>
          <p:nvPr/>
        </p:nvSpPr>
        <p:spPr>
          <a:xfrm>
            <a:off x="4191000" y="5105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Oval 86"/>
          <p:cNvSpPr/>
          <p:nvPr/>
        </p:nvSpPr>
        <p:spPr>
          <a:xfrm>
            <a:off x="51816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609600" y="1512841"/>
            <a:ext cx="3124200" cy="1268459"/>
            <a:chOff x="609600" y="1512841"/>
            <a:chExt cx="3124200" cy="1268459"/>
          </a:xfrm>
        </p:grpSpPr>
        <p:cxnSp>
          <p:nvCxnSpPr>
            <p:cNvPr id="69" name="Straight Connector 68"/>
            <p:cNvCxnSpPr/>
            <p:nvPr/>
          </p:nvCxnSpPr>
          <p:spPr>
            <a:xfrm>
              <a:off x="609600" y="1512841"/>
              <a:ext cx="1154159" cy="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flipV="1">
              <a:off x="1790700" y="1512842"/>
              <a:ext cx="0" cy="506458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>
              <a:off x="1790700" y="2019300"/>
              <a:ext cx="811259" cy="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 flipV="1">
              <a:off x="2667000" y="2046242"/>
              <a:ext cx="0" cy="506458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 flipV="1">
              <a:off x="3733800" y="2579644"/>
              <a:ext cx="0" cy="201656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2667000" y="2552700"/>
              <a:ext cx="990600" cy="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>
            <a:off x="4419600" y="2767263"/>
            <a:ext cx="4076700" cy="3358901"/>
            <a:chOff x="4419600" y="2767263"/>
            <a:chExt cx="4076700" cy="3358901"/>
          </a:xfrm>
        </p:grpSpPr>
        <p:grpSp>
          <p:nvGrpSpPr>
            <p:cNvPr id="14" name="Group 13"/>
            <p:cNvGrpSpPr/>
            <p:nvPr/>
          </p:nvGrpSpPr>
          <p:grpSpPr>
            <a:xfrm>
              <a:off x="5905500" y="2819401"/>
              <a:ext cx="2590800" cy="3306763"/>
              <a:chOff x="5905500" y="2819401"/>
              <a:chExt cx="2590800" cy="3306763"/>
            </a:xfrm>
          </p:grpSpPr>
          <p:cxnSp>
            <p:nvCxnSpPr>
              <p:cNvPr id="101" name="Straight Connector 100"/>
              <p:cNvCxnSpPr/>
              <p:nvPr/>
            </p:nvCxnSpPr>
            <p:spPr>
              <a:xfrm>
                <a:off x="5905500" y="3048000"/>
                <a:ext cx="582659" cy="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/>
              <p:cNvCxnSpPr/>
              <p:nvPr/>
            </p:nvCxnSpPr>
            <p:spPr>
              <a:xfrm>
                <a:off x="6553200" y="3657600"/>
                <a:ext cx="762000" cy="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/>
              <p:cNvCxnSpPr/>
              <p:nvPr/>
            </p:nvCxnSpPr>
            <p:spPr>
              <a:xfrm>
                <a:off x="7315200" y="4038600"/>
                <a:ext cx="609600" cy="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/>
              <p:cNvCxnSpPr/>
              <p:nvPr/>
            </p:nvCxnSpPr>
            <p:spPr>
              <a:xfrm>
                <a:off x="7962900" y="5029200"/>
                <a:ext cx="190500" cy="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/>
              <p:cNvCxnSpPr/>
              <p:nvPr/>
            </p:nvCxnSpPr>
            <p:spPr>
              <a:xfrm>
                <a:off x="8153400" y="5536532"/>
                <a:ext cx="342900" cy="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/>
              <p:cNvCxnSpPr/>
              <p:nvPr/>
            </p:nvCxnSpPr>
            <p:spPr>
              <a:xfrm flipV="1">
                <a:off x="5905500" y="2819401"/>
                <a:ext cx="0" cy="228599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 flipV="1">
                <a:off x="6553200" y="3124201"/>
                <a:ext cx="0" cy="533399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 flipV="1">
                <a:off x="7315200" y="3657602"/>
                <a:ext cx="0" cy="380998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/>
              <p:cNvCxnSpPr/>
              <p:nvPr/>
            </p:nvCxnSpPr>
            <p:spPr>
              <a:xfrm flipV="1">
                <a:off x="7962900" y="4114800"/>
                <a:ext cx="0" cy="91440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 flipV="1">
                <a:off x="8153400" y="5105400"/>
                <a:ext cx="0" cy="431132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/>
              <p:nvPr/>
            </p:nvCxnSpPr>
            <p:spPr>
              <a:xfrm flipV="1">
                <a:off x="8496300" y="5562600"/>
                <a:ext cx="0" cy="563564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2" name="Straight Connector 111"/>
            <p:cNvCxnSpPr>
              <a:cxnSpLocks/>
              <a:endCxn id="84" idx="2"/>
            </p:cNvCxnSpPr>
            <p:nvPr/>
          </p:nvCxnSpPr>
          <p:spPr>
            <a:xfrm>
              <a:off x="4419600" y="2767263"/>
              <a:ext cx="1447800" cy="14037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3" name="Straight Connector 112"/>
          <p:cNvCxnSpPr>
            <a:cxnSpLocks/>
          </p:cNvCxnSpPr>
          <p:nvPr/>
        </p:nvCxnSpPr>
        <p:spPr>
          <a:xfrm>
            <a:off x="3733800" y="2767263"/>
            <a:ext cx="6858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/>
          <p:cNvGrpSpPr/>
          <p:nvPr/>
        </p:nvGrpSpPr>
        <p:grpSpPr>
          <a:xfrm>
            <a:off x="3733800" y="2732044"/>
            <a:ext cx="674641" cy="3394119"/>
            <a:chOff x="3733800" y="2732044"/>
            <a:chExt cx="674641" cy="3394119"/>
          </a:xfrm>
        </p:grpSpPr>
        <p:cxnSp>
          <p:nvCxnSpPr>
            <p:cNvPr id="88" name="Straight Connector 87"/>
            <p:cNvCxnSpPr/>
            <p:nvPr/>
          </p:nvCxnSpPr>
          <p:spPr>
            <a:xfrm>
              <a:off x="3733800" y="4065544"/>
              <a:ext cx="228600" cy="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/>
          </p:nvCxnSpPr>
          <p:spPr>
            <a:xfrm flipV="1">
              <a:off x="3962400" y="4065544"/>
              <a:ext cx="0" cy="1077956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/>
            <p:nvPr/>
          </p:nvCxnSpPr>
          <p:spPr>
            <a:xfrm>
              <a:off x="3962400" y="5143500"/>
              <a:ext cx="228600" cy="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 flipV="1">
              <a:off x="4267200" y="5170444"/>
              <a:ext cx="0" cy="582656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>
              <a:off x="4267200" y="5753100"/>
              <a:ext cx="96253" cy="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>
              <a:endCxn id="81" idx="5"/>
            </p:cNvCxnSpPr>
            <p:nvPr/>
          </p:nvCxnSpPr>
          <p:spPr>
            <a:xfrm flipV="1">
              <a:off x="4408441" y="5780041"/>
              <a:ext cx="0" cy="346122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 flipV="1">
              <a:off x="3733800" y="2732044"/>
              <a:ext cx="0" cy="133350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Oval 34"/>
          <p:cNvSpPr/>
          <p:nvPr/>
        </p:nvSpPr>
        <p:spPr>
          <a:xfrm>
            <a:off x="38862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TextBox 123"/>
          <p:cNvSpPr txBox="1"/>
          <p:nvPr/>
        </p:nvSpPr>
        <p:spPr>
          <a:xfrm>
            <a:off x="609600" y="6336268"/>
            <a:ext cx="1338764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Left half set 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365816" y="6310805"/>
            <a:ext cx="1463734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Right half set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5" name="Rectangle 94"/>
              <p:cNvSpPr/>
              <p:nvPr/>
            </p:nvSpPr>
            <p:spPr>
              <a:xfrm>
                <a:off x="7761245" y="2558812"/>
                <a:ext cx="1165704" cy="36933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r>
                  <a:rPr lang="en-US" b="1" dirty="0"/>
                  <a:t>O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dirty="0"/>
                  <a:t>) time </a:t>
                </a:r>
              </a:p>
            </p:txBody>
          </p:sp>
        </mc:Choice>
        <mc:Fallback>
          <p:sp>
            <p:nvSpPr>
              <p:cNvPr id="95" name="Rectangle 9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1245" y="2558812"/>
                <a:ext cx="1165704" cy="369332"/>
              </a:xfrm>
              <a:prstGeom prst="rect">
                <a:avLst/>
              </a:prstGeom>
              <a:blipFill>
                <a:blip r:embed="rId3"/>
                <a:stretch>
                  <a:fillRect l="-3627" t="-8065" r="-3109" b="-241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6" name="Straight Connector 95"/>
          <p:cNvCxnSpPr/>
          <p:nvPr/>
        </p:nvCxnSpPr>
        <p:spPr>
          <a:xfrm>
            <a:off x="609600" y="990600"/>
            <a:ext cx="0" cy="5638800"/>
          </a:xfrm>
          <a:prstGeom prst="line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/>
          <p:nvPr/>
        </p:nvCxnSpPr>
        <p:spPr>
          <a:xfrm flipV="1">
            <a:off x="152400" y="6126162"/>
            <a:ext cx="8534400" cy="1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226576" y="863641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108322" y="6126162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/>
              <p:cNvSpPr txBox="1"/>
              <p:nvPr/>
            </p:nvSpPr>
            <p:spPr>
              <a:xfrm>
                <a:off x="0" y="6103411"/>
                <a:ext cx="7344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(0,0)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7" name="TextBox 1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103411"/>
                <a:ext cx="734496" cy="369332"/>
              </a:xfrm>
              <a:prstGeom prst="rect">
                <a:avLst/>
              </a:prstGeom>
              <a:blipFill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" name="Rectangle 125">
            <a:extLst>
              <a:ext uri="{FF2B5EF4-FFF2-40B4-BE49-F238E27FC236}">
                <a16:creationId xmlns:a16="http://schemas.microsoft.com/office/drawing/2014/main" id="{878124BA-5AFD-3441-857C-77A849D4BD33}"/>
              </a:ext>
            </a:extLst>
          </p:cNvPr>
          <p:cNvSpPr/>
          <p:nvPr/>
        </p:nvSpPr>
        <p:spPr>
          <a:xfrm>
            <a:off x="609599" y="2781828"/>
            <a:ext cx="5285244" cy="3314172"/>
          </a:xfrm>
          <a:prstGeom prst="rect">
            <a:avLst/>
          </a:prstGeom>
          <a:solidFill>
            <a:schemeClr val="tx2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7232EA34-976D-C240-AB4C-1E2FC14FD7B9}"/>
              </a:ext>
            </a:extLst>
          </p:cNvPr>
          <p:cNvSpPr/>
          <p:nvPr/>
        </p:nvSpPr>
        <p:spPr>
          <a:xfrm>
            <a:off x="4343400" y="5715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63894AC8-241B-E642-929C-C4DB808A70E5}"/>
              </a:ext>
            </a:extLst>
          </p:cNvPr>
          <p:cNvCxnSpPr/>
          <p:nvPr/>
        </p:nvCxnSpPr>
        <p:spPr>
          <a:xfrm>
            <a:off x="4414684" y="1627239"/>
            <a:ext cx="0" cy="4525963"/>
          </a:xfrm>
          <a:prstGeom prst="line">
            <a:avLst/>
          </a:prstGeom>
          <a:ln w="3810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/>
              <p:cNvSpPr txBox="1"/>
              <p:nvPr/>
            </p:nvSpPr>
            <p:spPr>
              <a:xfrm>
                <a:off x="5638800" y="2743200"/>
                <a:ext cx="3686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4" name="TextBox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2743200"/>
                <a:ext cx="368626" cy="369332"/>
              </a:xfrm>
              <a:prstGeom prst="rect">
                <a:avLst/>
              </a:prstGeom>
              <a:blipFill>
                <a:blip r:embed="rId8"/>
                <a:stretch>
                  <a:fillRect b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Oval 91"/>
          <p:cNvSpPr/>
          <p:nvPr/>
        </p:nvSpPr>
        <p:spPr>
          <a:xfrm>
            <a:off x="5811715" y="2697163"/>
            <a:ext cx="152400" cy="15240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0FE0B94D-DAAB-0848-A7BB-E74DB5496E16}"/>
              </a:ext>
            </a:extLst>
          </p:cNvPr>
          <p:cNvGrpSpPr/>
          <p:nvPr/>
        </p:nvGrpSpPr>
        <p:grpSpPr>
          <a:xfrm>
            <a:off x="685800" y="6135408"/>
            <a:ext cx="3742333" cy="649574"/>
            <a:chOff x="685800" y="6018060"/>
            <a:chExt cx="3742333" cy="649574"/>
          </a:xfrm>
        </p:grpSpPr>
        <p:sp>
          <p:nvSpPr>
            <p:cNvPr id="131" name="Right Brace 130">
              <a:extLst>
                <a:ext uri="{FF2B5EF4-FFF2-40B4-BE49-F238E27FC236}">
                  <a16:creationId xmlns:a16="http://schemas.microsoft.com/office/drawing/2014/main" id="{A75FE884-B467-C74F-9A36-771D50314F94}"/>
                </a:ext>
              </a:extLst>
            </p:cNvPr>
            <p:cNvSpPr/>
            <p:nvPr/>
          </p:nvSpPr>
          <p:spPr>
            <a:xfrm rot="5400000">
              <a:off x="2403697" y="4300163"/>
              <a:ext cx="306539" cy="3742333"/>
            </a:xfrm>
            <a:prstGeom prst="righ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6C3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86D0114F-3554-434B-B715-3D697BDEF9BB}"/>
                    </a:ext>
                  </a:extLst>
                </p:cNvPr>
                <p:cNvSpPr txBox="1"/>
                <p:nvPr/>
              </p:nvSpPr>
              <p:spPr>
                <a:xfrm>
                  <a:off x="2209800" y="6207252"/>
                  <a:ext cx="1036951" cy="4603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⌈</m:t>
                      </m:r>
                      <m:f>
                        <m:f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𝒏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𝟐</m:t>
                          </m:r>
                        </m:den>
                      </m:f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⌉</m:t>
                      </m:r>
                    </m:oMath>
                  </a14:m>
                  <a:r>
                    <a:rPr lang="en-US" dirty="0"/>
                    <a:t>points</a:t>
                  </a:r>
                </a:p>
              </p:txBody>
            </p:sp>
          </mc:Choice>
          <mc:Fallback xmlns="">
            <p:sp>
              <p:nvSpPr>
                <p:cNvPr id="93" name="TextBox 9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9800" y="6207252"/>
                  <a:ext cx="1036951" cy="460382"/>
                </a:xfrm>
                <a:prstGeom prst="rect">
                  <a:avLst/>
                </a:prstGeom>
                <a:blipFill>
                  <a:blip r:embed="rId9"/>
                  <a:stretch>
                    <a:fillRect l="-1765" r="-5294"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278634D5-AEE2-5E4C-8024-165231015315}"/>
              </a:ext>
            </a:extLst>
          </p:cNvPr>
          <p:cNvGrpSpPr/>
          <p:nvPr/>
        </p:nvGrpSpPr>
        <p:grpSpPr>
          <a:xfrm>
            <a:off x="4571350" y="6148914"/>
            <a:ext cx="3886850" cy="636068"/>
            <a:chOff x="608950" y="6031566"/>
            <a:chExt cx="3886850" cy="636068"/>
          </a:xfrm>
        </p:grpSpPr>
        <p:sp>
          <p:nvSpPr>
            <p:cNvPr id="134" name="Right Brace 133">
              <a:extLst>
                <a:ext uri="{FF2B5EF4-FFF2-40B4-BE49-F238E27FC236}">
                  <a16:creationId xmlns:a16="http://schemas.microsoft.com/office/drawing/2014/main" id="{63D0D754-8107-5249-96C7-81862760B192}"/>
                </a:ext>
              </a:extLst>
            </p:cNvPr>
            <p:cNvSpPr/>
            <p:nvPr/>
          </p:nvSpPr>
          <p:spPr>
            <a:xfrm rot="5400000">
              <a:off x="2405858" y="4234658"/>
              <a:ext cx="293034" cy="3886850"/>
            </a:xfrm>
            <a:prstGeom prst="righ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6C3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8E09AB80-C0CB-0946-AB56-5658798FA224}"/>
                    </a:ext>
                  </a:extLst>
                </p:cNvPr>
                <p:cNvSpPr txBox="1"/>
                <p:nvPr/>
              </p:nvSpPr>
              <p:spPr>
                <a:xfrm>
                  <a:off x="2209800" y="6207252"/>
                  <a:ext cx="1036951" cy="4603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⌊</m:t>
                      </m:r>
                      <m:f>
                        <m:f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𝒏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𝟐</m:t>
                          </m:r>
                        </m:den>
                      </m:f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⌋</m:t>
                      </m:r>
                    </m:oMath>
                  </a14:m>
                  <a:r>
                    <a:rPr lang="en-US" dirty="0"/>
                    <a:t>points</a:t>
                  </a:r>
                </a:p>
              </p:txBody>
            </p:sp>
          </mc:Choice>
          <mc:Fallback xmlns="">
            <p:sp>
              <p:nvSpPr>
                <p:cNvPr id="96" name="TextBox 9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9800" y="6207252"/>
                  <a:ext cx="1036951" cy="460382"/>
                </a:xfrm>
                <a:prstGeom prst="rect">
                  <a:avLst/>
                </a:prstGeom>
                <a:blipFill>
                  <a:blip r:embed="rId10"/>
                  <a:stretch>
                    <a:fillRect l="-1765" r="-5294"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8" name="Oval 117">
            <a:extLst>
              <a:ext uri="{FF2B5EF4-FFF2-40B4-BE49-F238E27FC236}">
                <a16:creationId xmlns:a16="http://schemas.microsoft.com/office/drawing/2014/main" id="{0AF04E5E-6178-79C2-063C-F407973A9FF7}"/>
              </a:ext>
            </a:extLst>
          </p:cNvPr>
          <p:cNvSpPr/>
          <p:nvPr/>
        </p:nvSpPr>
        <p:spPr>
          <a:xfrm>
            <a:off x="7266442" y="3543300"/>
            <a:ext cx="152400" cy="15240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9767F00E-6227-76BA-3253-A40116B7741B}"/>
              </a:ext>
            </a:extLst>
          </p:cNvPr>
          <p:cNvSpPr/>
          <p:nvPr/>
        </p:nvSpPr>
        <p:spPr>
          <a:xfrm>
            <a:off x="761999" y="3657599"/>
            <a:ext cx="6525760" cy="2477030"/>
          </a:xfrm>
          <a:prstGeom prst="rect">
            <a:avLst/>
          </a:prstGeom>
          <a:solidFill>
            <a:schemeClr val="tx2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29FCFE-085F-F8E5-56E0-963001770FE2}"/>
              </a:ext>
            </a:extLst>
          </p:cNvPr>
          <p:cNvSpPr/>
          <p:nvPr/>
        </p:nvSpPr>
        <p:spPr>
          <a:xfrm>
            <a:off x="609598" y="5051951"/>
            <a:ext cx="7543799" cy="1058334"/>
          </a:xfrm>
          <a:prstGeom prst="rect">
            <a:avLst/>
          </a:prstGeom>
          <a:solidFill>
            <a:schemeClr val="tx2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261E9A3-9158-70E8-60D3-1D0B2AE9DAEB}"/>
              </a:ext>
            </a:extLst>
          </p:cNvPr>
          <p:cNvSpPr/>
          <p:nvPr/>
        </p:nvSpPr>
        <p:spPr>
          <a:xfrm>
            <a:off x="8115301" y="4998406"/>
            <a:ext cx="152400" cy="15240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hought Bubble: Cloud 7">
            <a:extLst>
              <a:ext uri="{FF2B5EF4-FFF2-40B4-BE49-F238E27FC236}">
                <a16:creationId xmlns:a16="http://schemas.microsoft.com/office/drawing/2014/main" id="{E0B39449-D18E-DAC4-8198-398E90A6ED26}"/>
              </a:ext>
            </a:extLst>
          </p:cNvPr>
          <p:cNvSpPr/>
          <p:nvPr/>
        </p:nvSpPr>
        <p:spPr>
          <a:xfrm>
            <a:off x="3762920" y="1007754"/>
            <a:ext cx="5123360" cy="683226"/>
          </a:xfrm>
          <a:prstGeom prst="cloudCallout">
            <a:avLst>
              <a:gd name="adj1" fmla="val 40346"/>
              <a:gd name="adj2" fmla="val 106823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What about the non-dominated points of the left half set ?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354775-1051-ECA9-DC7C-5A5513E4E795}"/>
              </a:ext>
            </a:extLst>
          </p:cNvPr>
          <p:cNvSpPr txBox="1"/>
          <p:nvPr/>
        </p:nvSpPr>
        <p:spPr>
          <a:xfrm>
            <a:off x="4115712" y="869498"/>
            <a:ext cx="4580613" cy="646331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Each non-dominated point of the right half set </a:t>
            </a:r>
          </a:p>
          <a:p>
            <a:r>
              <a:rPr lang="en-US" dirty="0"/>
              <a:t>is a non-dominated point of the entire set.</a:t>
            </a:r>
            <a:endParaRPr lang="en-IN" dirty="0"/>
          </a:p>
        </p:txBody>
      </p:sp>
      <p:sp>
        <p:nvSpPr>
          <p:cNvPr id="10" name="Thought Bubble: Cloud 9">
            <a:extLst>
              <a:ext uri="{FF2B5EF4-FFF2-40B4-BE49-F238E27FC236}">
                <a16:creationId xmlns:a16="http://schemas.microsoft.com/office/drawing/2014/main" id="{8A1114D9-4122-BA62-4FC7-8E5298776543}"/>
              </a:ext>
            </a:extLst>
          </p:cNvPr>
          <p:cNvSpPr/>
          <p:nvPr/>
        </p:nvSpPr>
        <p:spPr>
          <a:xfrm>
            <a:off x="3563440" y="1293647"/>
            <a:ext cx="5123360" cy="683226"/>
          </a:xfrm>
          <a:prstGeom prst="cloudCallout">
            <a:avLst>
              <a:gd name="adj1" fmla="val 40346"/>
              <a:gd name="adj2" fmla="val 106823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Think of an efficient way to perform conquer step ?</a:t>
            </a:r>
            <a:endParaRPr lang="en-IN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2247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3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14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5" grpId="0" animBg="1"/>
      <p:bldP spid="126" grpId="0" animBg="1"/>
      <p:bldP spid="126" grpId="1" animBg="1"/>
      <p:bldP spid="94" grpId="0"/>
      <p:bldP spid="92" grpId="0" animBg="1"/>
      <p:bldP spid="118" grpId="0" animBg="1"/>
      <p:bldP spid="118" grpId="1" animBg="1"/>
      <p:bldP spid="119" grpId="0" animBg="1"/>
      <p:bldP spid="119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76600" y="2895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324600" y="3505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1600200" y="4267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32766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60198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6096000" y="5181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1752600" y="1447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Oval 49"/>
          <p:cNvSpPr/>
          <p:nvPr/>
        </p:nvSpPr>
        <p:spPr>
          <a:xfrm>
            <a:off x="3124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2743200" y="3657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69342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770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5943600" y="4724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Oval 46"/>
          <p:cNvSpPr/>
          <p:nvPr/>
        </p:nvSpPr>
        <p:spPr>
          <a:xfrm>
            <a:off x="2438400" y="2667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981200" y="3276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133600" y="3962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6764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7" name="Oval 56"/>
          <p:cNvSpPr/>
          <p:nvPr/>
        </p:nvSpPr>
        <p:spPr>
          <a:xfrm>
            <a:off x="2590800" y="4800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8" name="Oval 57"/>
          <p:cNvSpPr/>
          <p:nvPr/>
        </p:nvSpPr>
        <p:spPr>
          <a:xfrm>
            <a:off x="1447800" y="220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9" name="Oval 58"/>
          <p:cNvSpPr/>
          <p:nvPr/>
        </p:nvSpPr>
        <p:spPr>
          <a:xfrm>
            <a:off x="60198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0" name="Oval 59"/>
          <p:cNvSpPr/>
          <p:nvPr/>
        </p:nvSpPr>
        <p:spPr>
          <a:xfrm>
            <a:off x="5486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1" name="Oval 60"/>
          <p:cNvSpPr/>
          <p:nvPr/>
        </p:nvSpPr>
        <p:spPr>
          <a:xfrm>
            <a:off x="54864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2" name="Oval 61"/>
          <p:cNvSpPr/>
          <p:nvPr/>
        </p:nvSpPr>
        <p:spPr>
          <a:xfrm>
            <a:off x="5638800" y="556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Oval 62"/>
          <p:cNvSpPr/>
          <p:nvPr/>
        </p:nvSpPr>
        <p:spPr>
          <a:xfrm>
            <a:off x="2590800" y="1981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35052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5" name="Oval 64"/>
          <p:cNvSpPr/>
          <p:nvPr/>
        </p:nvSpPr>
        <p:spPr>
          <a:xfrm>
            <a:off x="8458200" y="5486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Oval 65"/>
          <p:cNvSpPr/>
          <p:nvPr/>
        </p:nvSpPr>
        <p:spPr>
          <a:xfrm>
            <a:off x="79248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73152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81534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5" name="Oval 74"/>
          <p:cNvSpPr/>
          <p:nvPr/>
        </p:nvSpPr>
        <p:spPr>
          <a:xfrm>
            <a:off x="13716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Oval 75"/>
          <p:cNvSpPr/>
          <p:nvPr/>
        </p:nvSpPr>
        <p:spPr>
          <a:xfrm>
            <a:off x="7620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7" name="Oval 76"/>
          <p:cNvSpPr/>
          <p:nvPr/>
        </p:nvSpPr>
        <p:spPr>
          <a:xfrm>
            <a:off x="3657600" y="4267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Oval 77"/>
          <p:cNvSpPr/>
          <p:nvPr/>
        </p:nvSpPr>
        <p:spPr>
          <a:xfrm>
            <a:off x="6400800" y="4267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Oval 78"/>
          <p:cNvSpPr/>
          <p:nvPr/>
        </p:nvSpPr>
        <p:spPr>
          <a:xfrm>
            <a:off x="2667000" y="4114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Oval 79"/>
          <p:cNvSpPr/>
          <p:nvPr/>
        </p:nvSpPr>
        <p:spPr>
          <a:xfrm>
            <a:off x="3048000" y="3352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Oval 80"/>
          <p:cNvSpPr/>
          <p:nvPr/>
        </p:nvSpPr>
        <p:spPr>
          <a:xfrm>
            <a:off x="4343400" y="5715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Oval 81"/>
          <p:cNvSpPr/>
          <p:nvPr/>
        </p:nvSpPr>
        <p:spPr>
          <a:xfrm>
            <a:off x="4876800" y="4191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Oval 83"/>
          <p:cNvSpPr/>
          <p:nvPr/>
        </p:nvSpPr>
        <p:spPr>
          <a:xfrm>
            <a:off x="5867400" y="2743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Oval 84"/>
          <p:cNvSpPr/>
          <p:nvPr/>
        </p:nvSpPr>
        <p:spPr>
          <a:xfrm>
            <a:off x="3657600" y="2514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/>
          <p:cNvSpPr/>
          <p:nvPr/>
        </p:nvSpPr>
        <p:spPr>
          <a:xfrm>
            <a:off x="4191000" y="5105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Oval 86"/>
          <p:cNvSpPr/>
          <p:nvPr/>
        </p:nvSpPr>
        <p:spPr>
          <a:xfrm>
            <a:off x="51816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609600" y="1512841"/>
            <a:ext cx="3124200" cy="1268459"/>
            <a:chOff x="609600" y="1512841"/>
            <a:chExt cx="3124200" cy="1268459"/>
          </a:xfrm>
        </p:grpSpPr>
        <p:cxnSp>
          <p:nvCxnSpPr>
            <p:cNvPr id="69" name="Straight Connector 68"/>
            <p:cNvCxnSpPr/>
            <p:nvPr/>
          </p:nvCxnSpPr>
          <p:spPr>
            <a:xfrm>
              <a:off x="609600" y="1512841"/>
              <a:ext cx="1154159" cy="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flipV="1">
              <a:off x="1790700" y="1512842"/>
              <a:ext cx="0" cy="506458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>
              <a:off x="1790700" y="2019300"/>
              <a:ext cx="811259" cy="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 flipV="1">
              <a:off x="2667000" y="2046242"/>
              <a:ext cx="0" cy="506458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 flipV="1">
              <a:off x="3733800" y="2579644"/>
              <a:ext cx="0" cy="201656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2667000" y="2552700"/>
              <a:ext cx="990600" cy="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>
            <a:off x="4419600" y="2767263"/>
            <a:ext cx="4076700" cy="3358901"/>
            <a:chOff x="4419600" y="2767263"/>
            <a:chExt cx="4076700" cy="3358901"/>
          </a:xfrm>
        </p:grpSpPr>
        <p:grpSp>
          <p:nvGrpSpPr>
            <p:cNvPr id="14" name="Group 13"/>
            <p:cNvGrpSpPr/>
            <p:nvPr/>
          </p:nvGrpSpPr>
          <p:grpSpPr>
            <a:xfrm>
              <a:off x="5905500" y="2819401"/>
              <a:ext cx="2590800" cy="3306763"/>
              <a:chOff x="5905500" y="2819401"/>
              <a:chExt cx="2590800" cy="3306763"/>
            </a:xfrm>
          </p:grpSpPr>
          <p:cxnSp>
            <p:nvCxnSpPr>
              <p:cNvPr id="101" name="Straight Connector 100"/>
              <p:cNvCxnSpPr/>
              <p:nvPr/>
            </p:nvCxnSpPr>
            <p:spPr>
              <a:xfrm>
                <a:off x="5905500" y="3048000"/>
                <a:ext cx="582659" cy="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/>
              <p:cNvCxnSpPr/>
              <p:nvPr/>
            </p:nvCxnSpPr>
            <p:spPr>
              <a:xfrm>
                <a:off x="6553200" y="3657600"/>
                <a:ext cx="762000" cy="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/>
              <p:cNvCxnSpPr/>
              <p:nvPr/>
            </p:nvCxnSpPr>
            <p:spPr>
              <a:xfrm>
                <a:off x="7315200" y="4038600"/>
                <a:ext cx="609600" cy="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/>
              <p:cNvCxnSpPr/>
              <p:nvPr/>
            </p:nvCxnSpPr>
            <p:spPr>
              <a:xfrm>
                <a:off x="7962900" y="5029200"/>
                <a:ext cx="190500" cy="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/>
              <p:cNvCxnSpPr/>
              <p:nvPr/>
            </p:nvCxnSpPr>
            <p:spPr>
              <a:xfrm>
                <a:off x="8153400" y="5536532"/>
                <a:ext cx="342900" cy="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/>
              <p:cNvCxnSpPr/>
              <p:nvPr/>
            </p:nvCxnSpPr>
            <p:spPr>
              <a:xfrm flipV="1">
                <a:off x="5905500" y="2819401"/>
                <a:ext cx="0" cy="228599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 flipV="1">
                <a:off x="6553200" y="3124201"/>
                <a:ext cx="0" cy="533399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 flipV="1">
                <a:off x="7315200" y="3657602"/>
                <a:ext cx="0" cy="380998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/>
              <p:cNvCxnSpPr/>
              <p:nvPr/>
            </p:nvCxnSpPr>
            <p:spPr>
              <a:xfrm flipV="1">
                <a:off x="7962900" y="4114800"/>
                <a:ext cx="0" cy="91440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 flipV="1">
                <a:off x="8153400" y="5105400"/>
                <a:ext cx="0" cy="431132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/>
              <p:nvPr/>
            </p:nvCxnSpPr>
            <p:spPr>
              <a:xfrm flipV="1">
                <a:off x="8496300" y="5562600"/>
                <a:ext cx="0" cy="563564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2" name="Straight Connector 111"/>
            <p:cNvCxnSpPr>
              <a:cxnSpLocks/>
              <a:endCxn id="84" idx="2"/>
            </p:cNvCxnSpPr>
            <p:nvPr/>
          </p:nvCxnSpPr>
          <p:spPr>
            <a:xfrm>
              <a:off x="4419600" y="2767263"/>
              <a:ext cx="1447800" cy="14037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3" name="Straight Connector 112"/>
          <p:cNvCxnSpPr>
            <a:cxnSpLocks/>
          </p:cNvCxnSpPr>
          <p:nvPr/>
        </p:nvCxnSpPr>
        <p:spPr>
          <a:xfrm>
            <a:off x="3733800" y="2767263"/>
            <a:ext cx="6858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38862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TextBox 123"/>
          <p:cNvSpPr txBox="1"/>
          <p:nvPr/>
        </p:nvSpPr>
        <p:spPr>
          <a:xfrm>
            <a:off x="609600" y="6336268"/>
            <a:ext cx="1338764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Left half set 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365816" y="6310805"/>
            <a:ext cx="1463734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Right half set </a:t>
            </a:r>
          </a:p>
        </p:txBody>
      </p:sp>
      <p:cxnSp>
        <p:nvCxnSpPr>
          <p:cNvPr id="96" name="Straight Connector 95"/>
          <p:cNvCxnSpPr/>
          <p:nvPr/>
        </p:nvCxnSpPr>
        <p:spPr>
          <a:xfrm>
            <a:off x="609600" y="990600"/>
            <a:ext cx="0" cy="5638800"/>
          </a:xfrm>
          <a:prstGeom prst="line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/>
          <p:nvPr/>
        </p:nvCxnSpPr>
        <p:spPr>
          <a:xfrm flipV="1">
            <a:off x="152400" y="6126162"/>
            <a:ext cx="8534400" cy="1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226576" y="863641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108322" y="6126162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/>
              <p:cNvSpPr txBox="1"/>
              <p:nvPr/>
            </p:nvSpPr>
            <p:spPr>
              <a:xfrm>
                <a:off x="0" y="6103411"/>
                <a:ext cx="7344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(0,0)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7" name="TextBox 1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103411"/>
                <a:ext cx="734496" cy="369332"/>
              </a:xfrm>
              <a:prstGeom prst="rect">
                <a:avLst/>
              </a:prstGeom>
              <a:blipFill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" name="Oval 127">
            <a:extLst>
              <a:ext uri="{FF2B5EF4-FFF2-40B4-BE49-F238E27FC236}">
                <a16:creationId xmlns:a16="http://schemas.microsoft.com/office/drawing/2014/main" id="{7232EA34-976D-C240-AB4C-1E2FC14FD7B9}"/>
              </a:ext>
            </a:extLst>
          </p:cNvPr>
          <p:cNvSpPr/>
          <p:nvPr/>
        </p:nvSpPr>
        <p:spPr>
          <a:xfrm>
            <a:off x="4343400" y="5715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63894AC8-241B-E642-929C-C4DB808A70E5}"/>
              </a:ext>
            </a:extLst>
          </p:cNvPr>
          <p:cNvCxnSpPr/>
          <p:nvPr/>
        </p:nvCxnSpPr>
        <p:spPr>
          <a:xfrm>
            <a:off x="4414684" y="1627239"/>
            <a:ext cx="0" cy="4525963"/>
          </a:xfrm>
          <a:prstGeom prst="line">
            <a:avLst/>
          </a:prstGeom>
          <a:ln w="3810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/>
              <p:cNvSpPr txBox="1"/>
              <p:nvPr/>
            </p:nvSpPr>
            <p:spPr>
              <a:xfrm>
                <a:off x="5638800" y="2743200"/>
                <a:ext cx="3686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4" name="TextBox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2743200"/>
                <a:ext cx="368626" cy="369332"/>
              </a:xfrm>
              <a:prstGeom prst="rect">
                <a:avLst/>
              </a:prstGeom>
              <a:blipFill>
                <a:blip r:embed="rId8"/>
                <a:stretch>
                  <a:fillRect b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0FE0B94D-DAAB-0848-A7BB-E74DB5496E16}"/>
              </a:ext>
            </a:extLst>
          </p:cNvPr>
          <p:cNvGrpSpPr/>
          <p:nvPr/>
        </p:nvGrpSpPr>
        <p:grpSpPr>
          <a:xfrm>
            <a:off x="685800" y="6135408"/>
            <a:ext cx="3742333" cy="649574"/>
            <a:chOff x="685800" y="6018060"/>
            <a:chExt cx="3742333" cy="649574"/>
          </a:xfrm>
        </p:grpSpPr>
        <p:sp>
          <p:nvSpPr>
            <p:cNvPr id="131" name="Right Brace 130">
              <a:extLst>
                <a:ext uri="{FF2B5EF4-FFF2-40B4-BE49-F238E27FC236}">
                  <a16:creationId xmlns:a16="http://schemas.microsoft.com/office/drawing/2014/main" id="{A75FE884-B467-C74F-9A36-771D50314F94}"/>
                </a:ext>
              </a:extLst>
            </p:cNvPr>
            <p:cNvSpPr/>
            <p:nvPr/>
          </p:nvSpPr>
          <p:spPr>
            <a:xfrm rot="5400000">
              <a:off x="2403697" y="4300163"/>
              <a:ext cx="306539" cy="3742333"/>
            </a:xfrm>
            <a:prstGeom prst="righ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6C3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86D0114F-3554-434B-B715-3D697BDEF9BB}"/>
                    </a:ext>
                  </a:extLst>
                </p:cNvPr>
                <p:cNvSpPr txBox="1"/>
                <p:nvPr/>
              </p:nvSpPr>
              <p:spPr>
                <a:xfrm>
                  <a:off x="2209800" y="6207252"/>
                  <a:ext cx="1036951" cy="4603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⌈</m:t>
                      </m:r>
                      <m:f>
                        <m:f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𝒏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𝟐</m:t>
                          </m:r>
                        </m:den>
                      </m:f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⌉</m:t>
                      </m:r>
                    </m:oMath>
                  </a14:m>
                  <a:r>
                    <a:rPr lang="en-US" dirty="0"/>
                    <a:t>points</a:t>
                  </a:r>
                </a:p>
              </p:txBody>
            </p:sp>
          </mc:Choice>
          <mc:Fallback xmlns="">
            <p:sp>
              <p:nvSpPr>
                <p:cNvPr id="93" name="TextBox 9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9800" y="6207252"/>
                  <a:ext cx="1036951" cy="460382"/>
                </a:xfrm>
                <a:prstGeom prst="rect">
                  <a:avLst/>
                </a:prstGeom>
                <a:blipFill>
                  <a:blip r:embed="rId9"/>
                  <a:stretch>
                    <a:fillRect l="-1765" r="-5294"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278634D5-AEE2-5E4C-8024-165231015315}"/>
              </a:ext>
            </a:extLst>
          </p:cNvPr>
          <p:cNvGrpSpPr/>
          <p:nvPr/>
        </p:nvGrpSpPr>
        <p:grpSpPr>
          <a:xfrm>
            <a:off x="4571350" y="6148914"/>
            <a:ext cx="3886850" cy="636068"/>
            <a:chOff x="608950" y="6031566"/>
            <a:chExt cx="3886850" cy="636068"/>
          </a:xfrm>
        </p:grpSpPr>
        <p:sp>
          <p:nvSpPr>
            <p:cNvPr id="134" name="Right Brace 133">
              <a:extLst>
                <a:ext uri="{FF2B5EF4-FFF2-40B4-BE49-F238E27FC236}">
                  <a16:creationId xmlns:a16="http://schemas.microsoft.com/office/drawing/2014/main" id="{63D0D754-8107-5249-96C7-81862760B192}"/>
                </a:ext>
              </a:extLst>
            </p:cNvPr>
            <p:cNvSpPr/>
            <p:nvPr/>
          </p:nvSpPr>
          <p:spPr>
            <a:xfrm rot="5400000">
              <a:off x="2405858" y="4234658"/>
              <a:ext cx="293034" cy="3886850"/>
            </a:xfrm>
            <a:prstGeom prst="righ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6C3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8E09AB80-C0CB-0946-AB56-5658798FA224}"/>
                    </a:ext>
                  </a:extLst>
                </p:cNvPr>
                <p:cNvSpPr txBox="1"/>
                <p:nvPr/>
              </p:nvSpPr>
              <p:spPr>
                <a:xfrm>
                  <a:off x="2209800" y="6207252"/>
                  <a:ext cx="1036951" cy="4603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⌊</m:t>
                      </m:r>
                      <m:f>
                        <m:f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𝒏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𝟐</m:t>
                          </m:r>
                        </m:den>
                      </m:f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⌋</m:t>
                      </m:r>
                    </m:oMath>
                  </a14:m>
                  <a:r>
                    <a:rPr lang="en-US" dirty="0"/>
                    <a:t>points</a:t>
                  </a:r>
                </a:p>
              </p:txBody>
            </p:sp>
          </mc:Choice>
          <mc:Fallback xmlns="">
            <p:sp>
              <p:nvSpPr>
                <p:cNvPr id="96" name="TextBox 9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9800" y="6207252"/>
                  <a:ext cx="1036951" cy="460382"/>
                </a:xfrm>
                <a:prstGeom prst="rect">
                  <a:avLst/>
                </a:prstGeom>
                <a:blipFill>
                  <a:blip r:embed="rId10"/>
                  <a:stretch>
                    <a:fillRect l="-1765" r="-5294"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9" name="Title 1">
            <a:extLst>
              <a:ext uri="{FF2B5EF4-FFF2-40B4-BE49-F238E27FC236}">
                <a16:creationId xmlns:a16="http://schemas.microsoft.com/office/drawing/2014/main" id="{6ECFAD08-F225-818F-7E30-3E6D7514D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200" b="1" dirty="0"/>
              <a:t>The </a:t>
            </a:r>
            <a:r>
              <a:rPr lang="en-US" sz="3200" b="1" dirty="0">
                <a:solidFill>
                  <a:srgbClr val="0070C0"/>
                </a:solidFill>
              </a:rPr>
              <a:t>time complexity </a:t>
            </a:r>
            <a:r>
              <a:rPr lang="en-US" sz="3200" b="1" dirty="0"/>
              <a:t>of the algorithm</a:t>
            </a:r>
            <a:br>
              <a:rPr lang="en-US" sz="3200" b="1" dirty="0"/>
            </a:b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Rounded Rectangle 5">
                <a:extLst>
                  <a:ext uri="{FF2B5EF4-FFF2-40B4-BE49-F238E27FC236}">
                    <a16:creationId xmlns:a16="http://schemas.microsoft.com/office/drawing/2014/main" id="{56CB3E16-C508-E75D-BF0F-353D85CAF78D}"/>
                  </a:ext>
                </a:extLst>
              </p:cNvPr>
              <p:cNvSpPr/>
              <p:nvPr/>
            </p:nvSpPr>
            <p:spPr>
              <a:xfrm>
                <a:off x="6981486" y="1869602"/>
                <a:ext cx="1638300" cy="489466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i="1" dirty="0">
                    <a:solidFill>
                      <a:schemeClr val="tx1"/>
                    </a:solidFill>
                  </a:rPr>
                  <a:t>O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/>
                          </a:rPr>
                          <m:t> </m:t>
                        </m:r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</m:func>
                  </m:oMath>
                </a14:m>
                <a:r>
                  <a:rPr lang="en-US" dirty="0">
                    <a:solidFill>
                      <a:schemeClr val="tx1"/>
                    </a:solidFill>
                    <a:sym typeface="Wingdings" pitchFamily="2" charset="2"/>
                  </a:rPr>
                  <a:t>)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0" name="Rounded Rectangle 5">
                <a:extLst>
                  <a:ext uri="{FF2B5EF4-FFF2-40B4-BE49-F238E27FC236}">
                    <a16:creationId xmlns:a16="http://schemas.microsoft.com/office/drawing/2014/main" id="{56CB3E16-C508-E75D-BF0F-353D85CAF7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1486" y="1869602"/>
                <a:ext cx="1638300" cy="489466"/>
              </a:xfrm>
              <a:prstGeom prst="roundRect">
                <a:avLst/>
              </a:prstGeom>
              <a:blipFill>
                <a:blip r:embed="rId11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D8EA8867-4B26-F45C-F671-A37AC24BE5D0}"/>
                  </a:ext>
                </a:extLst>
              </p:cNvPr>
              <p:cNvSpPr txBox="1"/>
              <p:nvPr/>
            </p:nvSpPr>
            <p:spPr>
              <a:xfrm>
                <a:off x="6897884" y="1213513"/>
                <a:ext cx="2234010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T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) = c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  +  2 </a:t>
                </a:r>
                <a:r>
                  <a:rPr lang="en-US" b="1" dirty="0"/>
                  <a:t>T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/2)</a:t>
                </a:r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D8EA8867-4B26-F45C-F671-A37AC24BE5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7884" y="1213513"/>
                <a:ext cx="2234010" cy="369332"/>
              </a:xfrm>
              <a:prstGeom prst="rect">
                <a:avLst/>
              </a:prstGeom>
              <a:blipFill>
                <a:blip r:embed="rId12"/>
                <a:stretch>
                  <a:fillRect l="-2174" t="-6349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TextBox 121">
            <a:extLst>
              <a:ext uri="{FF2B5EF4-FFF2-40B4-BE49-F238E27FC236}">
                <a16:creationId xmlns:a16="http://schemas.microsoft.com/office/drawing/2014/main" id="{CD375F83-3E86-69E3-D447-2EBA91BD8FD7}"/>
              </a:ext>
            </a:extLst>
          </p:cNvPr>
          <p:cNvSpPr txBox="1"/>
          <p:nvPr/>
        </p:nvSpPr>
        <p:spPr>
          <a:xfrm flipH="1">
            <a:off x="4876800" y="1923927"/>
            <a:ext cx="1999572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Time  complexity =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24345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10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0"/>
      <p:bldP spid="120" grpId="0" animBg="1"/>
      <p:bldP spid="121" grpId="0" animBg="1"/>
      <p:bldP spid="121" grpId="1" animBg="1"/>
      <p:bldP spid="12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sz="4000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Theorem:</a:t>
                </a:r>
              </a:p>
              <a:p>
                <a:pPr marL="0" indent="0">
                  <a:buNone/>
                </a:pPr>
                <a:r>
                  <a:rPr lang="en-US" sz="2000" dirty="0"/>
                  <a:t>There exists an </a:t>
                </a:r>
                <a:r>
                  <a:rPr lang="en-US" sz="2000" b="1" i="1" dirty="0"/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/>
                          </a:rPr>
                          <m:t>log</m:t>
                        </m:r>
                      </m:fName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sz="2000" dirty="0">
                    <a:sym typeface="Wingdings" pitchFamily="2" charset="2"/>
                  </a:rPr>
                  <a:t>) time </a:t>
                </a:r>
                <a:r>
                  <a:rPr lang="en-US" sz="2000" dirty="0"/>
                  <a:t>algorithm  to compute </a:t>
                </a:r>
                <a:r>
                  <a:rPr lang="en-US" sz="2000" b="1" dirty="0"/>
                  <a:t>non-dominated</a:t>
                </a:r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r>
                  <a:rPr lang="en-US" sz="2000" dirty="0"/>
                  <a:t>points for a given set of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points in a plane.</a:t>
                </a: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6C31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6C31"/>
                    </a:solidFill>
                  </a:rPr>
                  <a:t>Homework</a:t>
                </a:r>
                <a:r>
                  <a:rPr lang="en-US" sz="2000" b="1" dirty="0"/>
                  <a:t>: </a:t>
                </a:r>
              </a:p>
              <a:p>
                <a:pPr marL="457200" indent="-457200">
                  <a:buAutoNum type="arabicPeriod"/>
                </a:pPr>
                <a:r>
                  <a:rPr lang="en-US" sz="2000" dirty="0"/>
                  <a:t>Write a neat and complete pseudocode of the algorithm.</a:t>
                </a:r>
              </a:p>
              <a:p>
                <a:pPr marL="457200" indent="-457200">
                  <a:buAutoNum type="arabicPeriod"/>
                </a:pPr>
                <a:endParaRPr lang="en-US" sz="2000" dirty="0">
                  <a:sym typeface="Wingdings" pitchFamily="2" charset="2"/>
                </a:endParaRPr>
              </a:p>
              <a:p>
                <a:pPr marL="457200" indent="-457200">
                  <a:buAutoNum type="arabicPeriod"/>
                </a:pPr>
                <a:r>
                  <a:rPr lang="en-US" sz="2000" dirty="0">
                    <a:sym typeface="Wingdings" pitchFamily="2" charset="2"/>
                  </a:rPr>
                  <a:t>Can we improve the time complexity beyond </a:t>
                </a:r>
                <a:r>
                  <a:rPr lang="en-US" sz="2000" b="1" i="1" dirty="0"/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latin typeface="Cambria Math"/>
                          </a:rPr>
                          <m:t>log</m:t>
                        </m:r>
                      </m:fName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sz="2000" dirty="0">
                    <a:sym typeface="Wingdings" pitchFamily="2" charset="2"/>
                  </a:rPr>
                  <a:t>) ? 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Ponder over it. </a:t>
                </a:r>
              </a:p>
              <a:p>
                <a:pPr marL="0" indent="0">
                  <a:buNone/>
                </a:pPr>
                <a:endParaRPr lang="en-US" sz="20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Check out the first worked out assignment on the course website that addresses the above question.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</a:t>
                </a:r>
              </a:p>
              <a:p>
                <a:pPr marL="0" indent="0">
                  <a:buNone/>
                </a:pPr>
                <a:endParaRPr lang="en-US" sz="20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endParaRPr lang="en-IN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5" t="-8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876800" y="1981200"/>
            <a:ext cx="39624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54832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840BF-6A0B-1A47-8718-085354CF6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6C31"/>
                </a:solidFill>
              </a:rPr>
              <a:t>Homework </a:t>
            </a:r>
            <a:r>
              <a:rPr lang="en-US" b="1" dirty="0"/>
              <a:t>from 1st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F97C5-916D-B54C-BBCE-DD883D62E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dirty="0"/>
          </a:p>
          <a:p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The seat allocation algorithm for the </a:t>
            </a:r>
            <a:r>
              <a:rPr lang="en-US" sz="2400" b="1" dirty="0"/>
              <a:t>single merit list</a:t>
            </a:r>
            <a:r>
              <a:rPr lang="en-US" sz="2400" dirty="0"/>
              <a:t>.?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Can you now </a:t>
            </a:r>
            <a:r>
              <a:rPr lang="en-US" sz="2400" u="sng" dirty="0"/>
              <a:t>tackle the problem</a:t>
            </a:r>
            <a:r>
              <a:rPr lang="en-US" sz="2400" dirty="0"/>
              <a:t> of multiple merit lists ?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258856-2A32-BA46-A7C3-602187ED9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19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2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Shape 367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>
            <a:normAutofit/>
          </a:bodyPr>
          <a:lstStyle/>
          <a:p>
            <a:pPr lvl="0">
              <a:defRPr sz="1800"/>
            </a:pPr>
            <a:r>
              <a:rPr sz="4400"/>
              <a:t> </a:t>
            </a:r>
          </a:p>
        </p:txBody>
      </p:sp>
      <p:pic>
        <p:nvPicPr>
          <p:cNvPr id="368" name="image1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5343368" y="1985665"/>
            <a:ext cx="905032" cy="1367135"/>
          </a:xfrm>
          <a:prstGeom prst="rect">
            <a:avLst/>
          </a:prstGeom>
          <a:ln w="12700">
            <a:miter lim="400000"/>
          </a:ln>
        </p:spPr>
      </p:pic>
      <p:sp>
        <p:nvSpPr>
          <p:cNvPr id="369" name="Shape 369"/>
          <p:cNvSpPr>
            <a:spLocks noGrp="1"/>
          </p:cNvSpPr>
          <p:nvPr>
            <p:ph type="sldNum" sz="quarter" idx="2"/>
          </p:nvPr>
        </p:nvSpPr>
        <p:spPr>
          <a:xfrm>
            <a:off x="6553200" y="6404292"/>
            <a:ext cx="2133600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tIns="0" rIns="45719" bIns="0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457200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914400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371600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1828800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2286000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2743200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3200400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3657600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lang="en-IN" smtClean="0"/>
              <a:pPr lvl="0">
                <a:defRPr sz="1800">
                  <a:solidFill>
                    <a:srgbClr val="000000"/>
                  </a:solidFill>
                </a:defRPr>
              </a:pPr>
              <a:t>37</a:t>
            </a:fld>
            <a:endParaRPr sz="1200">
              <a:solidFill>
                <a:srgbClr val="888888"/>
              </a:solidFill>
            </a:endParaRPr>
          </a:p>
        </p:txBody>
      </p:sp>
      <p:pic>
        <p:nvPicPr>
          <p:cNvPr id="370" name="image5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7239000" y="2630700"/>
            <a:ext cx="990600" cy="1463389"/>
          </a:xfrm>
          <a:prstGeom prst="rect">
            <a:avLst/>
          </a:prstGeom>
          <a:ln w="12700">
            <a:miter lim="400000"/>
          </a:ln>
        </p:spPr>
      </p:pic>
      <p:pic>
        <p:nvPicPr>
          <p:cNvPr id="371" name="image6.png"/>
          <p:cNvPicPr/>
          <p:nvPr/>
        </p:nvPicPr>
        <p:blipFill>
          <a:blip r:embed="rId5"/>
          <a:stretch>
            <a:fillRect/>
          </a:stretch>
        </p:blipFill>
        <p:spPr>
          <a:xfrm>
            <a:off x="3000375" y="2833686"/>
            <a:ext cx="1495425" cy="1495426"/>
          </a:xfrm>
          <a:prstGeom prst="rect">
            <a:avLst/>
          </a:prstGeom>
          <a:ln w="12700">
            <a:miter lim="400000"/>
          </a:ln>
        </p:spPr>
      </p:pic>
      <p:pic>
        <p:nvPicPr>
          <p:cNvPr id="372" name="image7.png"/>
          <p:cNvPicPr/>
          <p:nvPr/>
        </p:nvPicPr>
        <p:blipFill>
          <a:blip r:embed="rId6"/>
          <a:stretch>
            <a:fillRect/>
          </a:stretch>
        </p:blipFill>
        <p:spPr>
          <a:xfrm>
            <a:off x="3657600" y="3200400"/>
            <a:ext cx="533400" cy="533400"/>
          </a:xfrm>
          <a:prstGeom prst="rect">
            <a:avLst/>
          </a:prstGeom>
          <a:ln w="12700">
            <a:miter lim="400000"/>
          </a:ln>
        </p:spPr>
      </p:pic>
      <p:sp>
        <p:nvSpPr>
          <p:cNvPr id="373" name="Shape 373"/>
          <p:cNvSpPr/>
          <p:nvPr/>
        </p:nvSpPr>
        <p:spPr>
          <a:xfrm>
            <a:off x="4572000" y="3200400"/>
            <a:ext cx="2438400" cy="53340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006C31"/>
          </a:solidFill>
          <a:ln w="25400">
            <a:solidFill/>
          </a:ln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378" name="Group 378"/>
          <p:cNvGrpSpPr/>
          <p:nvPr/>
        </p:nvGrpSpPr>
        <p:grpSpPr>
          <a:xfrm>
            <a:off x="1523999" y="2436166"/>
            <a:ext cx="1219202" cy="2804758"/>
            <a:chOff x="0" y="0"/>
            <a:chExt cx="1219200" cy="2804756"/>
          </a:xfrm>
        </p:grpSpPr>
        <p:sp>
          <p:nvSpPr>
            <p:cNvPr id="374" name="Shape 374"/>
            <p:cNvSpPr/>
            <p:nvPr/>
          </p:nvSpPr>
          <p:spPr>
            <a:xfrm>
              <a:off x="152400" y="-1"/>
              <a:ext cx="1066801" cy="9444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0800" y="0"/>
                  </a:lnTo>
                  <a:lnTo>
                    <a:pt x="10800" y="21600"/>
                  </a:lnTo>
                  <a:lnTo>
                    <a:pt x="21600" y="21600"/>
                  </a:lnTo>
                </a:path>
              </a:pathLst>
            </a:custGeom>
            <a:noFill/>
            <a:ln w="28575" cap="flat">
              <a:solidFill>
                <a:srgbClr val="002060"/>
              </a:solidFill>
              <a:prstDash val="solid"/>
              <a:bevel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/>
            </a:p>
          </p:txBody>
        </p:sp>
        <p:sp>
          <p:nvSpPr>
            <p:cNvPr id="375" name="Shape 375"/>
            <p:cNvSpPr/>
            <p:nvPr/>
          </p:nvSpPr>
          <p:spPr>
            <a:xfrm rot="10800000" flipH="1">
              <a:off x="-1" y="1554034"/>
              <a:ext cx="1200498" cy="12507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0800" y="0"/>
                  </a:lnTo>
                  <a:lnTo>
                    <a:pt x="10800" y="21600"/>
                  </a:lnTo>
                  <a:lnTo>
                    <a:pt x="21600" y="21600"/>
                  </a:lnTo>
                </a:path>
              </a:pathLst>
            </a:custGeom>
            <a:noFill/>
            <a:ln w="28575" cap="flat">
              <a:solidFill>
                <a:srgbClr val="002060"/>
              </a:solidFill>
              <a:prstDash val="solid"/>
              <a:bevel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/>
            </a:p>
          </p:txBody>
        </p:sp>
        <p:sp>
          <p:nvSpPr>
            <p:cNvPr id="376" name="Shape 376"/>
            <p:cNvSpPr/>
            <p:nvPr/>
          </p:nvSpPr>
          <p:spPr>
            <a:xfrm>
              <a:off x="218026" y="759766"/>
              <a:ext cx="990948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6466" y="0"/>
                  </a:lnTo>
                  <a:lnTo>
                    <a:pt x="6466" y="21600"/>
                  </a:lnTo>
                  <a:lnTo>
                    <a:pt x="21600" y="21600"/>
                  </a:lnTo>
                </a:path>
              </a:pathLst>
            </a:custGeom>
            <a:noFill/>
            <a:ln w="28575" cap="flat">
              <a:solidFill>
                <a:srgbClr val="002060"/>
              </a:solidFill>
              <a:prstDash val="solid"/>
              <a:bevel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/>
            </a:p>
          </p:txBody>
        </p:sp>
        <p:sp>
          <p:nvSpPr>
            <p:cNvPr id="377" name="Shape 377"/>
            <p:cNvSpPr/>
            <p:nvPr/>
          </p:nvSpPr>
          <p:spPr>
            <a:xfrm rot="10800000" flipH="1">
              <a:off x="179553" y="1293166"/>
              <a:ext cx="1029420" cy="4572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6644" y="0"/>
                  </a:lnTo>
                  <a:lnTo>
                    <a:pt x="6644" y="21600"/>
                  </a:lnTo>
                  <a:lnTo>
                    <a:pt x="21600" y="21600"/>
                  </a:lnTo>
                </a:path>
              </a:pathLst>
            </a:custGeom>
            <a:noFill/>
            <a:ln w="28575" cap="flat">
              <a:solidFill>
                <a:srgbClr val="002060"/>
              </a:solidFill>
              <a:prstDash val="solid"/>
              <a:bevel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/>
            </a:p>
          </p:txBody>
        </p:sp>
      </p:grpSp>
      <p:sp>
        <p:nvSpPr>
          <p:cNvPr id="379" name="Shape 379"/>
          <p:cNvSpPr/>
          <p:nvPr/>
        </p:nvSpPr>
        <p:spPr>
          <a:xfrm>
            <a:off x="4724400" y="1611867"/>
            <a:ext cx="2155327" cy="367666"/>
          </a:xfrm>
          <a:prstGeom prst="rect">
            <a:avLst/>
          </a:prstGeom>
          <a:solidFill>
            <a:srgbClr val="F2DCDB"/>
          </a:solidFill>
          <a:ln>
            <a:solidFill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>
                <a:solidFill>
                  <a:srgbClr val="C00000"/>
                </a:solidFill>
              </a:defRPr>
            </a:lvl1pPr>
          </a:lstStyle>
          <a:p>
            <a:pPr lvl="0">
              <a:defRPr b="0">
                <a:solidFill>
                  <a:srgbClr val="000000"/>
                </a:solidFill>
              </a:defRPr>
            </a:pPr>
            <a:r>
              <a:rPr b="1">
                <a:solidFill>
                  <a:srgbClr val="C00000"/>
                </a:solidFill>
              </a:rPr>
              <a:t>Multiple Merit Lists</a:t>
            </a:r>
          </a:p>
        </p:txBody>
      </p:sp>
      <p:sp>
        <p:nvSpPr>
          <p:cNvPr id="380" name="Shape 380"/>
          <p:cNvSpPr/>
          <p:nvPr/>
        </p:nvSpPr>
        <p:spPr>
          <a:xfrm>
            <a:off x="1000882" y="2246629"/>
            <a:ext cx="754533" cy="370841"/>
          </a:xfrm>
          <a:prstGeom prst="rect">
            <a:avLst/>
          </a:prstGeom>
          <a:solidFill>
            <a:srgbClr val="CDDDAC"/>
          </a:solidFill>
          <a:ln w="12700">
            <a:solidFill/>
            <a:miter lim="400000"/>
          </a:ln>
          <a:effectLst>
            <a:outerShdw blurRad="381000" dist="119618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lvl="0"/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19</a:t>
            </a:r>
            <a:r>
              <a:t> </a:t>
            </a:r>
            <a:r>
              <a:rPr b="1">
                <a:solidFill>
                  <a:srgbClr val="2B8B22"/>
                </a:solidFill>
              </a:rPr>
              <a:t>IITs</a:t>
            </a:r>
          </a:p>
        </p:txBody>
      </p:sp>
      <p:sp>
        <p:nvSpPr>
          <p:cNvPr id="381" name="Shape 381"/>
          <p:cNvSpPr/>
          <p:nvPr/>
        </p:nvSpPr>
        <p:spPr>
          <a:xfrm>
            <a:off x="937382" y="3008629"/>
            <a:ext cx="843495" cy="370841"/>
          </a:xfrm>
          <a:prstGeom prst="rect">
            <a:avLst/>
          </a:prstGeom>
          <a:solidFill>
            <a:srgbClr val="A5D6E3"/>
          </a:solidFill>
          <a:ln w="12700">
            <a:solidFill/>
            <a:miter lim="400000"/>
          </a:ln>
          <a:effectLst>
            <a:outerShdw blurRad="381000" dist="119618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lvl="0"/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31</a:t>
            </a:r>
            <a:r>
              <a:t> </a:t>
            </a:r>
            <a:r>
              <a:rPr b="1">
                <a:solidFill>
                  <a:srgbClr val="0F48F9"/>
                </a:solidFill>
              </a:rPr>
              <a:t>NITs</a:t>
            </a:r>
          </a:p>
        </p:txBody>
      </p:sp>
      <p:sp>
        <p:nvSpPr>
          <p:cNvPr id="382" name="Shape 382"/>
          <p:cNvSpPr/>
          <p:nvPr/>
        </p:nvSpPr>
        <p:spPr>
          <a:xfrm>
            <a:off x="950082" y="3999229"/>
            <a:ext cx="818157" cy="370841"/>
          </a:xfrm>
          <a:prstGeom prst="rect">
            <a:avLst/>
          </a:prstGeom>
          <a:solidFill>
            <a:srgbClr val="CDDDAC"/>
          </a:solidFill>
          <a:ln w="12700">
            <a:solidFill/>
            <a:miter lim="400000"/>
          </a:ln>
          <a:effectLst>
            <a:outerShdw blurRad="381000" dist="119618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lvl="0"/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18</a:t>
            </a:r>
            <a:r>
              <a:t> </a:t>
            </a:r>
            <a:r>
              <a:rPr b="1">
                <a:solidFill>
                  <a:srgbClr val="0D31F9"/>
                </a:solidFill>
              </a:rPr>
              <a:t>IIITs</a:t>
            </a:r>
          </a:p>
        </p:txBody>
      </p:sp>
      <p:sp>
        <p:nvSpPr>
          <p:cNvPr id="383" name="Shape 383"/>
          <p:cNvSpPr/>
          <p:nvPr/>
        </p:nvSpPr>
        <p:spPr>
          <a:xfrm>
            <a:off x="149982" y="5053329"/>
            <a:ext cx="1619038" cy="370841"/>
          </a:xfrm>
          <a:prstGeom prst="rect">
            <a:avLst/>
          </a:prstGeom>
          <a:solidFill>
            <a:srgbClr val="A5D6E3"/>
          </a:solidFill>
          <a:ln w="12700">
            <a:solidFill/>
            <a:miter lim="400000"/>
          </a:ln>
          <a:effectLst>
            <a:outerShdw blurRad="381000" dist="119618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lvl="0"/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18</a:t>
            </a:r>
            <a:r>
              <a:t> </a:t>
            </a:r>
            <a:r>
              <a:rPr b="1">
                <a:solidFill>
                  <a:srgbClr val="0F48F9"/>
                </a:solidFill>
              </a:rPr>
              <a:t>OtherGFTIs</a:t>
            </a:r>
          </a:p>
        </p:txBody>
      </p:sp>
      <p:sp>
        <p:nvSpPr>
          <p:cNvPr id="384" name="Shape 384"/>
          <p:cNvSpPr/>
          <p:nvPr/>
        </p:nvSpPr>
        <p:spPr>
          <a:xfrm>
            <a:off x="3115587" y="4133264"/>
            <a:ext cx="1274526" cy="367666"/>
          </a:xfrm>
          <a:prstGeom prst="rect">
            <a:avLst/>
          </a:prstGeom>
          <a:gradFill>
            <a:gsLst>
              <a:gs pos="0">
                <a:srgbClr val="2A869F"/>
              </a:gs>
              <a:gs pos="80000">
                <a:srgbClr val="37B1D1"/>
              </a:gs>
              <a:gs pos="100000">
                <a:srgbClr val="34B3D5"/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lvl="0"/>
            <a:r>
              <a:rPr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33989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3F6797"/>
                </a:solidFill>
              </a:rPr>
              <a:t>seats</a:t>
            </a:r>
          </a:p>
        </p:txBody>
      </p:sp>
      <p:sp>
        <p:nvSpPr>
          <p:cNvPr id="385" name="Shape 385"/>
          <p:cNvSpPr/>
          <p:nvPr/>
        </p:nvSpPr>
        <p:spPr>
          <a:xfrm>
            <a:off x="6689955" y="4133264"/>
            <a:ext cx="2088690" cy="367666"/>
          </a:xfrm>
          <a:prstGeom prst="rect">
            <a:avLst/>
          </a:prstGeom>
          <a:gradFill>
            <a:gsLst>
              <a:gs pos="0">
                <a:srgbClr val="C8B2E9"/>
              </a:gs>
              <a:gs pos="35000">
                <a:srgbClr val="D8C9EE"/>
              </a:gs>
              <a:gs pos="100000">
                <a:srgbClr val="F0EAF9"/>
              </a:gs>
            </a:gsLst>
            <a:lin ang="16200000"/>
          </a:gradFill>
          <a:ln>
            <a:solidFill>
              <a:srgbClr val="7D60A0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lvl="0"/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1304127</a:t>
            </a:r>
            <a:r>
              <a:t> </a:t>
            </a:r>
            <a:r>
              <a:rPr>
                <a:solidFill>
                  <a:srgbClr val="3F6797"/>
                </a:solidFill>
              </a:rPr>
              <a:t>candidates</a:t>
            </a:r>
          </a:p>
        </p:txBody>
      </p:sp>
    </p:spTree>
    <p:extLst>
      <p:ext uri="{BB962C8B-B14F-4D97-AF65-F5344CB8AC3E}">
        <p14:creationId xmlns:p14="http://schemas.microsoft.com/office/powerpoint/2010/main" val="3445333749"/>
      </p:ext>
    </p:extLst>
  </p:cSld>
  <p:clrMapOvr>
    <a:masterClrMapping/>
  </p:clrMapOvr>
  <p:transition spd="med">
    <p:dissolve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3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3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3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3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3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3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10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10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fill="hold"/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fill="hold"/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10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2" fill="hold"/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7" grpId="0" animBg="1" advAuto="0"/>
      <p:bldP spid="368" grpId="0" animBg="1" advAuto="0"/>
      <p:bldP spid="370" grpId="0" animBg="1" advAuto="0"/>
      <p:bldP spid="371" grpId="0" animBg="1" advAuto="0"/>
      <p:bldP spid="372" grpId="0" animBg="1" advAuto="0"/>
      <p:bldP spid="373" grpId="0" animBg="1" advAuto="0"/>
      <p:bldP spid="378" grpId="0" animBg="1" advAuto="0"/>
      <p:bldP spid="379" grpId="0" animBg="1" advAuto="0"/>
      <p:bldP spid="380" grpId="0" animBg="1" advAuto="0"/>
      <p:bldP spid="381" grpId="0" animBg="1" advAuto="0"/>
      <p:bldP spid="382" grpId="0" animBg="1" advAuto="0"/>
      <p:bldP spid="383" grpId="0" animBg="1" advAuto="0"/>
      <p:bldP spid="384" grpId="0" animBg="1" advAuto="0"/>
      <p:bldP spid="385" grpId="0" animBg="1" advAuto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Shape 40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rgbClr val="7030A0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600" b="1">
                <a:solidFill>
                  <a:srgbClr val="7030A0"/>
                </a:solidFill>
              </a:rPr>
              <a:t>Fairness</a:t>
            </a:r>
          </a:p>
        </p:txBody>
      </p:sp>
      <p:graphicFrame>
        <p:nvGraphicFramePr>
          <p:cNvPr id="407" name="Table 407"/>
          <p:cNvGraphicFramePr/>
          <p:nvPr/>
        </p:nvGraphicFramePr>
        <p:xfrm>
          <a:off x="3225800" y="1864878"/>
          <a:ext cx="5633030" cy="480610"/>
        </p:xfrm>
        <a:graphic>
          <a:graphicData uri="http://schemas.openxmlformats.org/drawingml/2006/table">
            <a:tbl>
              <a:tblPr bandRow="1"/>
              <a:tblGrid>
                <a:gridCol w="5633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3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3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3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3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33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330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330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330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330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80610"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endParaRPr/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endParaRPr/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endParaRPr/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endParaRPr/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endParaRPr/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endParaRPr/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endParaRPr/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endParaRPr/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endParaRPr/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endParaRPr dirty="0"/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08" name="Shape 408"/>
          <p:cNvSpPr>
            <a:spLocks noGrp="1"/>
          </p:cNvSpPr>
          <p:nvPr>
            <p:ph type="sldNum" sz="quarter" idx="2"/>
          </p:nvPr>
        </p:nvSpPr>
        <p:spPr>
          <a:xfrm>
            <a:off x="6553200" y="6404292"/>
            <a:ext cx="2133600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tIns="0" rIns="45719" bIns="0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457200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914400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371600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1828800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2286000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2743200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3200400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3657600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lang="en-IN" smtClean="0"/>
              <a:pPr lvl="0">
                <a:defRPr sz="1800">
                  <a:solidFill>
                    <a:srgbClr val="000000"/>
                  </a:solidFill>
                </a:defRPr>
              </a:pPr>
              <a:t>38</a:t>
            </a:fld>
            <a:endParaRPr sz="1200">
              <a:solidFill>
                <a:srgbClr val="888888"/>
              </a:solidFill>
            </a:endParaRPr>
          </a:p>
        </p:txBody>
      </p:sp>
      <p:pic>
        <p:nvPicPr>
          <p:cNvPr id="409" name="image5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1435100" y="1779432"/>
            <a:ext cx="381000" cy="56284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12" name="Group 412"/>
          <p:cNvGrpSpPr/>
          <p:nvPr/>
        </p:nvGrpSpPr>
        <p:grpSpPr>
          <a:xfrm>
            <a:off x="1527499" y="3035775"/>
            <a:ext cx="304801" cy="533401"/>
            <a:chOff x="0" y="0"/>
            <a:chExt cx="304800" cy="533400"/>
          </a:xfrm>
        </p:grpSpPr>
        <p:sp>
          <p:nvSpPr>
            <p:cNvPr id="410" name="Shape 410"/>
            <p:cNvSpPr/>
            <p:nvPr/>
          </p:nvSpPr>
          <p:spPr>
            <a:xfrm>
              <a:off x="38100" y="-1"/>
              <a:ext cx="228600" cy="2286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95373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11" name="Shape 411"/>
            <p:cNvSpPr/>
            <p:nvPr/>
          </p:nvSpPr>
          <p:spPr>
            <a:xfrm>
              <a:off x="0" y="228600"/>
              <a:ext cx="304800" cy="304800"/>
            </a:xfrm>
            <a:prstGeom prst="roundRect">
              <a:avLst>
                <a:gd name="adj" fmla="val 16667"/>
              </a:avLst>
            </a:prstGeom>
            <a:solidFill>
              <a:srgbClr val="95373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aphicFrame>
        <p:nvGraphicFramePr>
          <p:cNvPr id="413" name="Table 413"/>
          <p:cNvGraphicFramePr/>
          <p:nvPr/>
        </p:nvGraphicFramePr>
        <p:xfrm>
          <a:off x="3156530" y="4496353"/>
          <a:ext cx="5771560" cy="533400"/>
        </p:xfrm>
        <a:graphic>
          <a:graphicData uri="http://schemas.openxmlformats.org/drawingml/2006/table">
            <a:tbl>
              <a:tblPr bandRow="1"/>
              <a:tblGrid>
                <a:gridCol w="577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1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1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7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1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71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71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71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715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715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endParaRPr/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endParaRPr/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endParaRPr/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endParaRPr/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endParaRPr/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endParaRPr/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endParaRPr/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endParaRPr/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endParaRPr/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endParaRPr dirty="0"/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B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14" name="Shape 414"/>
          <p:cNvSpPr/>
          <p:nvPr/>
        </p:nvSpPr>
        <p:spPr>
          <a:xfrm>
            <a:off x="5077593" y="3999865"/>
            <a:ext cx="1020327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 lvl="0"/>
            <a:r>
              <a:t>Merit list</a:t>
            </a:r>
          </a:p>
        </p:txBody>
      </p:sp>
      <p:sp>
        <p:nvSpPr>
          <p:cNvPr id="415" name="Shape 415"/>
          <p:cNvSpPr/>
          <p:nvPr/>
        </p:nvSpPr>
        <p:spPr>
          <a:xfrm>
            <a:off x="712282" y="3200121"/>
            <a:ext cx="255360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100" b="1" i="1">
                <a:solidFill>
                  <a:srgbClr val="3F6797"/>
                </a:solidFill>
                <a:latin typeface="Seravek"/>
                <a:ea typeface="Seravek"/>
                <a:cs typeface="Seravek"/>
                <a:sym typeface="Seravek"/>
              </a:defRPr>
            </a:lvl1pPr>
          </a:lstStyle>
          <a:p>
            <a:pPr lvl="0">
              <a:defRPr sz="1800" b="0" i="0">
                <a:solidFill>
                  <a:srgbClr val="000000"/>
                </a:solidFill>
              </a:defRPr>
            </a:pPr>
            <a:r>
              <a:rPr sz="2100" b="1" i="1">
                <a:solidFill>
                  <a:srgbClr val="3F6797"/>
                </a:solidFill>
              </a:rPr>
              <a:t>q</a:t>
            </a:r>
          </a:p>
        </p:txBody>
      </p:sp>
      <p:sp>
        <p:nvSpPr>
          <p:cNvPr id="416" name="Shape 416"/>
          <p:cNvSpPr/>
          <p:nvPr/>
        </p:nvSpPr>
        <p:spPr>
          <a:xfrm flipV="1">
            <a:off x="1006328" y="2156618"/>
            <a:ext cx="413897" cy="1"/>
          </a:xfrm>
          <a:prstGeom prst="line">
            <a:avLst/>
          </a:prstGeom>
          <a:ln w="28575">
            <a:solidFill/>
            <a:tailEnd type="triangle"/>
          </a:ln>
        </p:spPr>
        <p:txBody>
          <a:bodyPr lIns="45719" rIns="45719"/>
          <a:lstStyle/>
          <a:p>
            <a:pPr lvl="0"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417" name="Shape 417"/>
          <p:cNvSpPr/>
          <p:nvPr/>
        </p:nvSpPr>
        <p:spPr>
          <a:xfrm>
            <a:off x="736628" y="1914049"/>
            <a:ext cx="254826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100" b="1" i="1">
                <a:solidFill>
                  <a:srgbClr val="3F6797"/>
                </a:solidFill>
                <a:latin typeface="Seravek"/>
                <a:ea typeface="Seravek"/>
                <a:cs typeface="Seravek"/>
                <a:sym typeface="Seravek"/>
              </a:defRPr>
            </a:lvl1pPr>
          </a:lstStyle>
          <a:p>
            <a:pPr lvl="0">
              <a:defRPr sz="1800" b="0" i="0">
                <a:solidFill>
                  <a:srgbClr val="000000"/>
                </a:solidFill>
              </a:defRPr>
            </a:pPr>
            <a:r>
              <a:rPr sz="2100" b="1" i="1">
                <a:solidFill>
                  <a:srgbClr val="3F6797"/>
                </a:solidFill>
              </a:rPr>
              <a:t>p</a:t>
            </a:r>
          </a:p>
        </p:txBody>
      </p:sp>
      <p:sp>
        <p:nvSpPr>
          <p:cNvPr id="418" name="Shape 418"/>
          <p:cNvSpPr/>
          <p:nvPr/>
        </p:nvSpPr>
        <p:spPr>
          <a:xfrm>
            <a:off x="1024174" y="3449041"/>
            <a:ext cx="413897" cy="1"/>
          </a:xfrm>
          <a:prstGeom prst="line">
            <a:avLst/>
          </a:prstGeom>
          <a:ln w="28575">
            <a:solidFill/>
            <a:tailEnd type="triangle"/>
          </a:ln>
        </p:spPr>
        <p:txBody>
          <a:bodyPr lIns="45719" rIns="45719"/>
          <a:lstStyle/>
          <a:p>
            <a:pPr lvl="0"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419" name="Shape 419"/>
          <p:cNvSpPr/>
          <p:nvPr/>
        </p:nvSpPr>
        <p:spPr>
          <a:xfrm>
            <a:off x="5600543" y="1863608"/>
            <a:ext cx="255360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100" b="1" i="1">
                <a:solidFill>
                  <a:srgbClr val="3F6797"/>
                </a:solidFill>
                <a:latin typeface="Seravek"/>
                <a:ea typeface="Seravek"/>
                <a:cs typeface="Seravek"/>
                <a:sym typeface="Seravek"/>
              </a:defRPr>
            </a:lvl1pPr>
          </a:lstStyle>
          <a:p>
            <a:pPr lvl="0">
              <a:defRPr sz="1800" b="0" i="0">
                <a:solidFill>
                  <a:srgbClr val="000000"/>
                </a:solidFill>
              </a:defRPr>
            </a:pPr>
            <a:r>
              <a:rPr sz="2100" b="1" i="1">
                <a:solidFill>
                  <a:srgbClr val="3F6797"/>
                </a:solidFill>
              </a:rPr>
              <a:t>q</a:t>
            </a:r>
          </a:p>
        </p:txBody>
      </p:sp>
      <p:sp>
        <p:nvSpPr>
          <p:cNvPr id="420" name="Shape 420"/>
          <p:cNvSpPr/>
          <p:nvPr/>
        </p:nvSpPr>
        <p:spPr>
          <a:xfrm>
            <a:off x="7267592" y="1863608"/>
            <a:ext cx="254826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100" b="1" i="1">
                <a:solidFill>
                  <a:srgbClr val="3F6797"/>
                </a:solidFill>
                <a:latin typeface="Seravek"/>
                <a:ea typeface="Seravek"/>
                <a:cs typeface="Seravek"/>
                <a:sym typeface="Seravek"/>
              </a:defRPr>
            </a:lvl1pPr>
          </a:lstStyle>
          <a:p>
            <a:pPr lvl="0">
              <a:defRPr sz="1800" b="0" i="0">
                <a:solidFill>
                  <a:srgbClr val="000000"/>
                </a:solidFill>
              </a:defRPr>
            </a:pPr>
            <a:r>
              <a:rPr sz="2100" b="1" i="1">
                <a:solidFill>
                  <a:srgbClr val="3F6797"/>
                </a:solidFill>
              </a:rPr>
              <a:t>p</a:t>
            </a:r>
          </a:p>
        </p:txBody>
      </p:sp>
      <p:sp>
        <p:nvSpPr>
          <p:cNvPr id="421" name="Shape 421"/>
          <p:cNvSpPr/>
          <p:nvPr/>
        </p:nvSpPr>
        <p:spPr>
          <a:xfrm>
            <a:off x="1406373" y="3544453"/>
            <a:ext cx="485699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500" b="1"/>
            </a:lvl1pPr>
          </a:lstStyle>
          <a:p>
            <a:pPr lvl="0">
              <a:defRPr sz="1800" b="0"/>
            </a:pPr>
            <a:r>
              <a:rPr sz="1500" b="1"/>
              <a:t>Ram</a:t>
            </a:r>
          </a:p>
        </p:txBody>
      </p:sp>
      <p:sp>
        <p:nvSpPr>
          <p:cNvPr id="422" name="Shape 422"/>
          <p:cNvSpPr/>
          <p:nvPr/>
        </p:nvSpPr>
        <p:spPr>
          <a:xfrm>
            <a:off x="1246145" y="2366641"/>
            <a:ext cx="680757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500" b="1"/>
            </a:lvl1pPr>
          </a:lstStyle>
          <a:p>
            <a:pPr lvl="0">
              <a:defRPr sz="1800" b="0"/>
            </a:pPr>
            <a:r>
              <a:rPr sz="1500" b="1"/>
              <a:t>Mohan</a:t>
            </a:r>
          </a:p>
        </p:txBody>
      </p:sp>
      <p:sp>
        <p:nvSpPr>
          <p:cNvPr id="423" name="Shape 423"/>
          <p:cNvSpPr/>
          <p:nvPr/>
        </p:nvSpPr>
        <p:spPr>
          <a:xfrm>
            <a:off x="5268093" y="1447800"/>
            <a:ext cx="2136117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lvl="0"/>
            <a:r>
              <a:t>Choice list of </a:t>
            </a:r>
            <a:r>
              <a:rPr sz="1600" b="1"/>
              <a:t>Mohan</a:t>
            </a:r>
          </a:p>
        </p:txBody>
      </p:sp>
      <p:sp>
        <p:nvSpPr>
          <p:cNvPr id="424" name="Shape 424"/>
          <p:cNvSpPr/>
          <p:nvPr/>
        </p:nvSpPr>
        <p:spPr>
          <a:xfrm>
            <a:off x="6186688" y="4043209"/>
            <a:ext cx="1814312" cy="376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lvl="0"/>
            <a:r>
              <a:rPr dirty="0"/>
              <a:t>of </a:t>
            </a:r>
            <a:r>
              <a:rPr dirty="0" err="1"/>
              <a:t>programme</a:t>
            </a:r>
            <a:r>
              <a:rPr dirty="0"/>
              <a:t> </a:t>
            </a:r>
            <a:r>
              <a:rPr b="1" i="1" dirty="0">
                <a:solidFill>
                  <a:srgbClr val="3F6797"/>
                </a:solidFill>
                <a:latin typeface="Seravek"/>
                <a:ea typeface="Seravek"/>
                <a:cs typeface="Seravek"/>
                <a:sym typeface="Seravek"/>
              </a:rPr>
              <a:t>q</a:t>
            </a:r>
            <a:r>
              <a:rPr dirty="0"/>
              <a:t> </a:t>
            </a:r>
          </a:p>
        </p:txBody>
      </p:sp>
      <p:sp>
        <p:nvSpPr>
          <p:cNvPr id="425" name="Shape 425"/>
          <p:cNvSpPr/>
          <p:nvPr/>
        </p:nvSpPr>
        <p:spPr>
          <a:xfrm>
            <a:off x="5485374" y="4615732"/>
            <a:ext cx="485699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500" b="1"/>
            </a:lvl1pPr>
          </a:lstStyle>
          <a:p>
            <a:pPr lvl="0">
              <a:defRPr sz="1800" b="0"/>
            </a:pPr>
            <a:r>
              <a:rPr sz="1500" b="1"/>
              <a:t>Ram</a:t>
            </a:r>
          </a:p>
        </p:txBody>
      </p:sp>
      <p:sp>
        <p:nvSpPr>
          <p:cNvPr id="426" name="Shape 426"/>
          <p:cNvSpPr/>
          <p:nvPr/>
        </p:nvSpPr>
        <p:spPr>
          <a:xfrm>
            <a:off x="7158983" y="4591603"/>
            <a:ext cx="680757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500" b="1"/>
            </a:lvl1pPr>
          </a:lstStyle>
          <a:p>
            <a:pPr lvl="0">
              <a:defRPr sz="1800" b="0"/>
            </a:pPr>
            <a:r>
              <a:rPr sz="1500" b="1"/>
              <a:t>Mohan</a:t>
            </a:r>
          </a:p>
        </p:txBody>
      </p:sp>
    </p:spTree>
    <p:extLst>
      <p:ext uri="{BB962C8B-B14F-4D97-AF65-F5344CB8AC3E}">
        <p14:creationId xmlns:p14="http://schemas.microsoft.com/office/powerpoint/2010/main" val="2152155591"/>
      </p:ext>
    </p:extLst>
  </p:cSld>
  <p:clrMapOvr>
    <a:masterClrMapping/>
  </p:clrMapOvr>
  <p:transition spd="med">
    <p:wipe dir="r"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10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4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6"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4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4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4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4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10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5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4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0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5"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9" fill="hold"/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0"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4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6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9" fill="hold"/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6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6" grpId="0" animBg="1" advAuto="0"/>
      <p:bldP spid="407" grpId="0" animBg="1" advAuto="0"/>
      <p:bldP spid="409" grpId="0" animBg="1" advAuto="0"/>
      <p:bldP spid="412" grpId="0" animBg="1" advAuto="0"/>
      <p:bldP spid="413" grpId="0" animBg="1" advAuto="0"/>
      <p:bldP spid="414" grpId="0" animBg="1" advAuto="0"/>
      <p:bldP spid="415" grpId="0" animBg="1" advAuto="0"/>
      <p:bldP spid="416" grpId="0" animBg="1" advAuto="0"/>
      <p:bldP spid="417" grpId="0" animBg="1" advAuto="0"/>
      <p:bldP spid="418" grpId="0" animBg="1" advAuto="0"/>
      <p:bldP spid="419" grpId="0" animBg="1" advAuto="0"/>
      <p:bldP spid="420" grpId="0" animBg="1" advAuto="0"/>
      <p:bldP spid="421" grpId="0" animBg="1" advAuto="0"/>
      <p:bldP spid="422" grpId="0" animBg="1" advAuto="0"/>
      <p:bldP spid="423" grpId="0" animBg="1" advAuto="0"/>
      <p:bldP spid="424" grpId="0" animBg="1" advAuto="0"/>
      <p:bldP spid="425" grpId="0" animBg="1" advAuto="0"/>
      <p:bldP spid="426" grpId="0" animBg="1" advAuto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A2379EE-C3A1-C79F-61EF-263959F419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 b="1" dirty="0"/>
              <a:t>How to tackle </a:t>
            </a:r>
            <a:r>
              <a:rPr lang="en-US" sz="3200" b="1" dirty="0">
                <a:solidFill>
                  <a:srgbClr val="7030A0"/>
                </a:solidFill>
              </a:rPr>
              <a:t>Multiple Merit Lists </a:t>
            </a:r>
            <a:r>
              <a:rPr lang="en-US" sz="3200" b="1" dirty="0"/>
              <a:t>using “</a:t>
            </a:r>
            <a:r>
              <a:rPr lang="en-US" sz="3200" b="1" dirty="0">
                <a:solidFill>
                  <a:srgbClr val="006C31"/>
                </a:solidFill>
              </a:rPr>
              <a:t>Single Merit list algorithm</a:t>
            </a:r>
            <a:r>
              <a:rPr lang="en-US" sz="3200" b="1" dirty="0"/>
              <a:t>”</a:t>
            </a:r>
            <a:endParaRPr lang="en-IN" sz="3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6B2DBB-6325-2541-ACEB-230FC43FC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276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A </a:t>
            </a:r>
            <a:r>
              <a:rPr lang="en-US" sz="3600" b="1" dirty="0">
                <a:solidFill>
                  <a:srgbClr val="006C31"/>
                </a:solidFill>
              </a:rPr>
              <a:t>common man</a:t>
            </a:r>
            <a:r>
              <a:rPr lang="en-US" sz="3600" b="1" dirty="0"/>
              <a:t>’s</a:t>
            </a:r>
            <a:r>
              <a:rPr lang="en-US" sz="3600" b="1" dirty="0">
                <a:solidFill>
                  <a:srgbClr val="7030A0"/>
                </a:solidFill>
              </a:rPr>
              <a:t> </a:t>
            </a:r>
            <a:r>
              <a:rPr lang="en-US" sz="3600" b="1" dirty="0"/>
              <a:t>algorithm</a:t>
            </a:r>
            <a:br>
              <a:rPr lang="en-US" sz="3600" b="1" dirty="0"/>
            </a:br>
            <a:endParaRPr lang="en-US" sz="3600" b="1" dirty="0"/>
          </a:p>
        </p:txBody>
      </p:sp>
      <p:graphicFrame>
        <p:nvGraphicFramePr>
          <p:cNvPr id="104" name="Content Placeholder 103"/>
          <p:cNvGraphicFramePr>
            <a:graphicFrameLocks noGrp="1"/>
          </p:cNvGraphicFramePr>
          <p:nvPr>
            <p:ph idx="1"/>
          </p:nvPr>
        </p:nvGraphicFramePr>
        <p:xfrm>
          <a:off x="536740" y="6253163"/>
          <a:ext cx="1369930" cy="36576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739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9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9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9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39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179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57400" y="1783080"/>
          <a:ext cx="914400" cy="438912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92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92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92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92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92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292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292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292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292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292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292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292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569836" y="1752600"/>
          <a:ext cx="914400" cy="438912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57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57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57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57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57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57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57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57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57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57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57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57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059689" y="1260157"/>
            <a:ext cx="912111" cy="49244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7030A0"/>
                </a:solidFill>
              </a:rPr>
              <a:t>Allocation</a:t>
            </a:r>
          </a:p>
          <a:p>
            <a:pPr algn="ctr"/>
            <a:r>
              <a:rPr lang="en-US" sz="1400" b="1" dirty="0">
                <a:solidFill>
                  <a:srgbClr val="C00000"/>
                </a:solidFill>
              </a:rPr>
              <a:t>IITs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2125" y="1260157"/>
            <a:ext cx="912111" cy="49244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7030A0"/>
                </a:solidFill>
              </a:rPr>
              <a:t>Allocation</a:t>
            </a:r>
          </a:p>
          <a:p>
            <a:pPr algn="ctr"/>
            <a:r>
              <a:rPr lang="en-US" sz="1400" b="1" dirty="0">
                <a:solidFill>
                  <a:srgbClr val="0070C0"/>
                </a:solidFill>
              </a:rPr>
              <a:t>NITs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4267200" y="914400"/>
            <a:ext cx="0" cy="521684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981200" y="4278868"/>
                <a:ext cx="6062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6C31"/>
                        </a:solidFill>
                        <a:latin typeface="Cambria Math"/>
                      </a:rPr>
                      <m:t>𝒑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 </a:t>
                </a:r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4278868"/>
                <a:ext cx="606256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9836" r="-17172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486400" y="2819400"/>
                <a:ext cx="6030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6C31"/>
                        </a:solidFill>
                        <a:latin typeface="Cambria Math"/>
                      </a:rPr>
                      <m:t>𝒒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 </a:t>
                </a:r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0" y="2819400"/>
                <a:ext cx="603050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10000" r="-17172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5" name="Content Placeholder 103"/>
          <p:cNvGraphicFramePr>
            <a:graphicFrameLocks/>
          </p:cNvGraphicFramePr>
          <p:nvPr/>
        </p:nvGraphicFramePr>
        <p:xfrm>
          <a:off x="1906670" y="6248400"/>
          <a:ext cx="1369930" cy="370523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739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9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9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9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39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52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6" name="Content Placeholder 103"/>
          <p:cNvGraphicFramePr>
            <a:graphicFrameLocks/>
          </p:cNvGraphicFramePr>
          <p:nvPr/>
        </p:nvGraphicFramePr>
        <p:xfrm>
          <a:off x="6081426" y="6248400"/>
          <a:ext cx="1614774" cy="3810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69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1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1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91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91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7" name="Content Placeholder 103"/>
          <p:cNvGraphicFramePr>
            <a:graphicFrameLocks/>
          </p:cNvGraphicFramePr>
          <p:nvPr/>
        </p:nvGraphicFramePr>
        <p:xfrm>
          <a:off x="5257802" y="6248400"/>
          <a:ext cx="821958" cy="3810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739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9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9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/>
              <p:cNvSpPr txBox="1"/>
              <p:nvPr/>
            </p:nvSpPr>
            <p:spPr>
              <a:xfrm>
                <a:off x="6019802" y="6183868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6C31"/>
                          </a:solidFill>
                          <a:latin typeface="Cambria Math"/>
                        </a:rPr>
                        <m:t>𝒒</m:t>
                      </m:r>
                    </m:oMath>
                  </m:oMathPara>
                </a14:m>
                <a:endParaRPr lang="en-US" b="1" dirty="0">
                  <a:solidFill>
                    <a:srgbClr val="006C31"/>
                  </a:solidFill>
                </a:endParaRPr>
              </a:p>
            </p:txBody>
          </p:sp>
        </mc:Choice>
        <mc:Fallback xmlns="">
          <p:sp>
            <p:nvSpPr>
              <p:cNvPr id="108" name="TextBox 1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02" y="6183868"/>
                <a:ext cx="377026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197" r="-2295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/>
              <p:cNvSpPr txBox="1"/>
              <p:nvPr/>
            </p:nvSpPr>
            <p:spPr>
              <a:xfrm>
                <a:off x="1600200" y="6183868"/>
                <a:ext cx="3802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6C31"/>
                          </a:solidFill>
                          <a:latin typeface="Cambria Math"/>
                        </a:rPr>
                        <m:t>𝒑</m:t>
                      </m:r>
                    </m:oMath>
                  </m:oMathPara>
                </a14:m>
                <a:endParaRPr lang="en-US" b="1" dirty="0">
                  <a:solidFill>
                    <a:srgbClr val="006C31"/>
                  </a:solidFill>
                </a:endParaRPr>
              </a:p>
            </p:txBody>
          </p:sp>
        </mc:Choice>
        <mc:Fallback xmlns="">
          <p:sp>
            <p:nvSpPr>
              <p:cNvPr id="129" name="TextBox 1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0" y="6183868"/>
                <a:ext cx="380232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197" r="-2096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/>
          <p:cNvGrpSpPr/>
          <p:nvPr/>
        </p:nvGrpSpPr>
        <p:grpSpPr>
          <a:xfrm>
            <a:off x="2667000" y="1828800"/>
            <a:ext cx="152400" cy="4267200"/>
            <a:chOff x="2667000" y="1828800"/>
            <a:chExt cx="152400" cy="4267200"/>
          </a:xfrm>
          <a:solidFill>
            <a:schemeClr val="accent2">
              <a:lumMod val="40000"/>
              <a:lumOff val="60000"/>
            </a:schemeClr>
          </a:solidFill>
        </p:grpSpPr>
        <p:grpSp>
          <p:nvGrpSpPr>
            <p:cNvPr id="25" name="Group 24"/>
            <p:cNvGrpSpPr/>
            <p:nvPr/>
          </p:nvGrpSpPr>
          <p:grpSpPr>
            <a:xfrm>
              <a:off x="2667000" y="2166257"/>
              <a:ext cx="152400" cy="272143"/>
              <a:chOff x="2895600" y="2743200"/>
              <a:chExt cx="304800" cy="533400"/>
            </a:xfrm>
            <a:grpFill/>
          </p:grpSpPr>
          <p:sp>
            <p:nvSpPr>
              <p:cNvPr id="26" name="Oval 25"/>
              <p:cNvSpPr/>
              <p:nvPr/>
            </p:nvSpPr>
            <p:spPr>
              <a:xfrm>
                <a:off x="2933700" y="2743200"/>
                <a:ext cx="228600" cy="22860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ounded Rectangle 26"/>
              <p:cNvSpPr/>
              <p:nvPr/>
            </p:nvSpPr>
            <p:spPr>
              <a:xfrm>
                <a:off x="2895600" y="2971800"/>
                <a:ext cx="304800" cy="3048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" name="Group 27"/>
            <p:cNvGrpSpPr/>
            <p:nvPr/>
          </p:nvGrpSpPr>
          <p:grpSpPr>
            <a:xfrm>
              <a:off x="2667000" y="2547257"/>
              <a:ext cx="152400" cy="272143"/>
              <a:chOff x="2895600" y="2743200"/>
              <a:chExt cx="304800" cy="533400"/>
            </a:xfrm>
            <a:grpFill/>
          </p:grpSpPr>
          <p:sp>
            <p:nvSpPr>
              <p:cNvPr id="29" name="Oval 28"/>
              <p:cNvSpPr/>
              <p:nvPr/>
            </p:nvSpPr>
            <p:spPr>
              <a:xfrm>
                <a:off x="2933700" y="2743200"/>
                <a:ext cx="228600" cy="22860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ounded Rectangle 29"/>
              <p:cNvSpPr/>
              <p:nvPr/>
            </p:nvSpPr>
            <p:spPr>
              <a:xfrm>
                <a:off x="2895600" y="2971800"/>
                <a:ext cx="304800" cy="3048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1" name="Group 30"/>
            <p:cNvGrpSpPr/>
            <p:nvPr/>
          </p:nvGrpSpPr>
          <p:grpSpPr>
            <a:xfrm>
              <a:off x="2667000" y="2928257"/>
              <a:ext cx="152400" cy="272143"/>
              <a:chOff x="2895600" y="2743200"/>
              <a:chExt cx="304800" cy="533400"/>
            </a:xfrm>
            <a:grpFill/>
          </p:grpSpPr>
          <p:sp>
            <p:nvSpPr>
              <p:cNvPr id="32" name="Oval 31"/>
              <p:cNvSpPr/>
              <p:nvPr/>
            </p:nvSpPr>
            <p:spPr>
              <a:xfrm>
                <a:off x="2933700" y="2743200"/>
                <a:ext cx="228600" cy="22860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ounded Rectangle 32"/>
              <p:cNvSpPr/>
              <p:nvPr/>
            </p:nvSpPr>
            <p:spPr>
              <a:xfrm>
                <a:off x="2895600" y="2971800"/>
                <a:ext cx="304800" cy="3048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4" name="Group 33"/>
            <p:cNvGrpSpPr/>
            <p:nvPr/>
          </p:nvGrpSpPr>
          <p:grpSpPr>
            <a:xfrm>
              <a:off x="2667000" y="3276600"/>
              <a:ext cx="152400" cy="272143"/>
              <a:chOff x="2895600" y="2743200"/>
              <a:chExt cx="304800" cy="533400"/>
            </a:xfrm>
            <a:grpFill/>
          </p:grpSpPr>
          <p:sp>
            <p:nvSpPr>
              <p:cNvPr id="35" name="Oval 34"/>
              <p:cNvSpPr/>
              <p:nvPr/>
            </p:nvSpPr>
            <p:spPr>
              <a:xfrm>
                <a:off x="2933700" y="2743200"/>
                <a:ext cx="228600" cy="22860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ounded Rectangle 35"/>
              <p:cNvSpPr/>
              <p:nvPr/>
            </p:nvSpPr>
            <p:spPr>
              <a:xfrm>
                <a:off x="2895600" y="2971800"/>
                <a:ext cx="304800" cy="3048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7" name="Group 36"/>
            <p:cNvGrpSpPr/>
            <p:nvPr/>
          </p:nvGrpSpPr>
          <p:grpSpPr>
            <a:xfrm>
              <a:off x="2667000" y="3614057"/>
              <a:ext cx="152400" cy="272143"/>
              <a:chOff x="2895600" y="2743200"/>
              <a:chExt cx="304800" cy="533400"/>
            </a:xfrm>
            <a:grpFill/>
          </p:grpSpPr>
          <p:sp>
            <p:nvSpPr>
              <p:cNvPr id="38" name="Oval 37"/>
              <p:cNvSpPr/>
              <p:nvPr/>
            </p:nvSpPr>
            <p:spPr>
              <a:xfrm>
                <a:off x="2933700" y="2743200"/>
                <a:ext cx="228600" cy="22860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ounded Rectangle 38"/>
              <p:cNvSpPr/>
              <p:nvPr/>
            </p:nvSpPr>
            <p:spPr>
              <a:xfrm>
                <a:off x="2895600" y="2971800"/>
                <a:ext cx="304800" cy="3048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" name="Group 39"/>
            <p:cNvGrpSpPr/>
            <p:nvPr/>
          </p:nvGrpSpPr>
          <p:grpSpPr>
            <a:xfrm>
              <a:off x="2667000" y="3995057"/>
              <a:ext cx="152400" cy="272143"/>
              <a:chOff x="2895600" y="2743200"/>
              <a:chExt cx="304800" cy="533400"/>
            </a:xfrm>
            <a:grpFill/>
          </p:grpSpPr>
          <p:sp>
            <p:nvSpPr>
              <p:cNvPr id="41" name="Oval 40"/>
              <p:cNvSpPr/>
              <p:nvPr/>
            </p:nvSpPr>
            <p:spPr>
              <a:xfrm>
                <a:off x="2933700" y="2743200"/>
                <a:ext cx="228600" cy="22860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ounded Rectangle 41"/>
              <p:cNvSpPr/>
              <p:nvPr/>
            </p:nvSpPr>
            <p:spPr>
              <a:xfrm>
                <a:off x="2895600" y="2971800"/>
                <a:ext cx="304800" cy="3048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3" name="Group 42"/>
            <p:cNvGrpSpPr/>
            <p:nvPr/>
          </p:nvGrpSpPr>
          <p:grpSpPr>
            <a:xfrm>
              <a:off x="2667000" y="4724400"/>
              <a:ext cx="152400" cy="272143"/>
              <a:chOff x="2895600" y="2743200"/>
              <a:chExt cx="304800" cy="533400"/>
            </a:xfrm>
            <a:grpFill/>
          </p:grpSpPr>
          <p:sp>
            <p:nvSpPr>
              <p:cNvPr id="44" name="Oval 43"/>
              <p:cNvSpPr/>
              <p:nvPr/>
            </p:nvSpPr>
            <p:spPr>
              <a:xfrm>
                <a:off x="2933700" y="2743200"/>
                <a:ext cx="228600" cy="22860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ounded Rectangle 44"/>
              <p:cNvSpPr/>
              <p:nvPr/>
            </p:nvSpPr>
            <p:spPr>
              <a:xfrm>
                <a:off x="2895600" y="2971800"/>
                <a:ext cx="304800" cy="3048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6" name="Group 45"/>
            <p:cNvGrpSpPr/>
            <p:nvPr/>
          </p:nvGrpSpPr>
          <p:grpSpPr>
            <a:xfrm>
              <a:off x="2667000" y="5105400"/>
              <a:ext cx="152400" cy="272143"/>
              <a:chOff x="2895600" y="2743200"/>
              <a:chExt cx="304800" cy="533400"/>
            </a:xfrm>
            <a:grpFill/>
          </p:grpSpPr>
          <p:sp>
            <p:nvSpPr>
              <p:cNvPr id="47" name="Oval 46"/>
              <p:cNvSpPr/>
              <p:nvPr/>
            </p:nvSpPr>
            <p:spPr>
              <a:xfrm>
                <a:off x="2933700" y="2743200"/>
                <a:ext cx="228600" cy="22860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ounded Rectangle 47"/>
              <p:cNvSpPr/>
              <p:nvPr/>
            </p:nvSpPr>
            <p:spPr>
              <a:xfrm>
                <a:off x="2895600" y="2971800"/>
                <a:ext cx="304800" cy="3048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9" name="Group 48"/>
            <p:cNvGrpSpPr/>
            <p:nvPr/>
          </p:nvGrpSpPr>
          <p:grpSpPr>
            <a:xfrm>
              <a:off x="2667000" y="5486400"/>
              <a:ext cx="152400" cy="272143"/>
              <a:chOff x="2895600" y="2743200"/>
              <a:chExt cx="304800" cy="533400"/>
            </a:xfrm>
            <a:grpFill/>
          </p:grpSpPr>
          <p:sp>
            <p:nvSpPr>
              <p:cNvPr id="50" name="Oval 49"/>
              <p:cNvSpPr/>
              <p:nvPr/>
            </p:nvSpPr>
            <p:spPr>
              <a:xfrm>
                <a:off x="2933700" y="2743200"/>
                <a:ext cx="228600" cy="22860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Rounded Rectangle 50"/>
              <p:cNvSpPr/>
              <p:nvPr/>
            </p:nvSpPr>
            <p:spPr>
              <a:xfrm>
                <a:off x="2895600" y="2971800"/>
                <a:ext cx="304800" cy="3048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2" name="Group 51"/>
            <p:cNvGrpSpPr/>
            <p:nvPr/>
          </p:nvGrpSpPr>
          <p:grpSpPr>
            <a:xfrm>
              <a:off x="2667000" y="5823857"/>
              <a:ext cx="152400" cy="272143"/>
              <a:chOff x="2895600" y="2743200"/>
              <a:chExt cx="304800" cy="533400"/>
            </a:xfrm>
            <a:grpFill/>
          </p:grpSpPr>
          <p:sp>
            <p:nvSpPr>
              <p:cNvPr id="53" name="Oval 52"/>
              <p:cNvSpPr/>
              <p:nvPr/>
            </p:nvSpPr>
            <p:spPr>
              <a:xfrm>
                <a:off x="2933700" y="2743200"/>
                <a:ext cx="228600" cy="22860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Rounded Rectangle 53"/>
              <p:cNvSpPr/>
              <p:nvPr/>
            </p:nvSpPr>
            <p:spPr>
              <a:xfrm>
                <a:off x="2895600" y="2971800"/>
                <a:ext cx="304800" cy="3048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1" name="Group 90"/>
            <p:cNvGrpSpPr/>
            <p:nvPr/>
          </p:nvGrpSpPr>
          <p:grpSpPr>
            <a:xfrm>
              <a:off x="2667000" y="1828800"/>
              <a:ext cx="152400" cy="272143"/>
              <a:chOff x="2895600" y="2743200"/>
              <a:chExt cx="304800" cy="533400"/>
            </a:xfrm>
            <a:grpFill/>
          </p:grpSpPr>
          <p:sp>
            <p:nvSpPr>
              <p:cNvPr id="92" name="Oval 91"/>
              <p:cNvSpPr/>
              <p:nvPr/>
            </p:nvSpPr>
            <p:spPr>
              <a:xfrm>
                <a:off x="2933700" y="2743200"/>
                <a:ext cx="228600" cy="22860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Rounded Rectangle 92"/>
              <p:cNvSpPr/>
              <p:nvPr/>
            </p:nvSpPr>
            <p:spPr>
              <a:xfrm>
                <a:off x="2895600" y="2971800"/>
                <a:ext cx="304800" cy="3048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4" name="Group 93"/>
            <p:cNvGrpSpPr/>
            <p:nvPr/>
          </p:nvGrpSpPr>
          <p:grpSpPr>
            <a:xfrm>
              <a:off x="2667000" y="4376057"/>
              <a:ext cx="152400" cy="272143"/>
              <a:chOff x="2895600" y="2743200"/>
              <a:chExt cx="304800" cy="533400"/>
            </a:xfrm>
            <a:grpFill/>
          </p:grpSpPr>
          <p:sp>
            <p:nvSpPr>
              <p:cNvPr id="95" name="Oval 94"/>
              <p:cNvSpPr/>
              <p:nvPr/>
            </p:nvSpPr>
            <p:spPr>
              <a:xfrm>
                <a:off x="2933700" y="2743200"/>
                <a:ext cx="228600" cy="22860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Rounded Rectangle 95"/>
              <p:cNvSpPr/>
              <p:nvPr/>
            </p:nvSpPr>
            <p:spPr>
              <a:xfrm>
                <a:off x="2895600" y="2971800"/>
                <a:ext cx="304800" cy="3048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9" name="Group 18"/>
          <p:cNvGrpSpPr/>
          <p:nvPr/>
        </p:nvGrpSpPr>
        <p:grpSpPr>
          <a:xfrm>
            <a:off x="2667000" y="4376057"/>
            <a:ext cx="152400" cy="272143"/>
            <a:chOff x="2895600" y="2743200"/>
            <a:chExt cx="304800" cy="533400"/>
          </a:xfrm>
          <a:solidFill>
            <a:srgbClr val="0070C0"/>
          </a:solidFill>
        </p:grpSpPr>
        <p:sp>
          <p:nvSpPr>
            <p:cNvPr id="20" name="Oval 19"/>
            <p:cNvSpPr/>
            <p:nvPr/>
          </p:nvSpPr>
          <p:spPr>
            <a:xfrm>
              <a:off x="2933700" y="2743200"/>
              <a:ext cx="228600" cy="22860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2895600" y="2971800"/>
              <a:ext cx="304800" cy="30480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6172200" y="1828800"/>
            <a:ext cx="159636" cy="4267200"/>
            <a:chOff x="6172200" y="1828800"/>
            <a:chExt cx="159636" cy="4267200"/>
          </a:xfrm>
        </p:grpSpPr>
        <p:grpSp>
          <p:nvGrpSpPr>
            <p:cNvPr id="55" name="Group 54"/>
            <p:cNvGrpSpPr/>
            <p:nvPr/>
          </p:nvGrpSpPr>
          <p:grpSpPr>
            <a:xfrm>
              <a:off x="6179436" y="1828800"/>
              <a:ext cx="152400" cy="272143"/>
              <a:chOff x="2895600" y="2743200"/>
              <a:chExt cx="304800" cy="533400"/>
            </a:xfrm>
            <a:solidFill>
              <a:schemeClr val="tx2">
                <a:lumMod val="20000"/>
                <a:lumOff val="80000"/>
              </a:schemeClr>
            </a:solidFill>
          </p:grpSpPr>
          <p:sp>
            <p:nvSpPr>
              <p:cNvPr id="56" name="Oval 55"/>
              <p:cNvSpPr/>
              <p:nvPr/>
            </p:nvSpPr>
            <p:spPr>
              <a:xfrm>
                <a:off x="2933700" y="2743200"/>
                <a:ext cx="228600" cy="22860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ounded Rectangle 56"/>
              <p:cNvSpPr/>
              <p:nvPr/>
            </p:nvSpPr>
            <p:spPr>
              <a:xfrm>
                <a:off x="2895600" y="2971800"/>
                <a:ext cx="304800" cy="3048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8" name="Group 57"/>
            <p:cNvGrpSpPr/>
            <p:nvPr/>
          </p:nvGrpSpPr>
          <p:grpSpPr>
            <a:xfrm>
              <a:off x="6179436" y="2166257"/>
              <a:ext cx="152400" cy="272143"/>
              <a:chOff x="2895600" y="2743200"/>
              <a:chExt cx="304800" cy="533400"/>
            </a:xfrm>
            <a:solidFill>
              <a:schemeClr val="accent1">
                <a:lumMod val="40000"/>
                <a:lumOff val="60000"/>
              </a:schemeClr>
            </a:solidFill>
          </p:grpSpPr>
          <p:sp>
            <p:nvSpPr>
              <p:cNvPr id="59" name="Oval 58"/>
              <p:cNvSpPr/>
              <p:nvPr/>
            </p:nvSpPr>
            <p:spPr>
              <a:xfrm>
                <a:off x="2933700" y="2743200"/>
                <a:ext cx="228600" cy="22860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Rounded Rectangle 59"/>
              <p:cNvSpPr/>
              <p:nvPr/>
            </p:nvSpPr>
            <p:spPr>
              <a:xfrm>
                <a:off x="2895600" y="2971800"/>
                <a:ext cx="304800" cy="3048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1" name="Group 60"/>
            <p:cNvGrpSpPr/>
            <p:nvPr/>
          </p:nvGrpSpPr>
          <p:grpSpPr>
            <a:xfrm>
              <a:off x="6179436" y="2547257"/>
              <a:ext cx="152400" cy="272143"/>
              <a:chOff x="2895600" y="2743200"/>
              <a:chExt cx="304800" cy="533400"/>
            </a:xfrm>
            <a:solidFill>
              <a:schemeClr val="tx2">
                <a:lumMod val="20000"/>
                <a:lumOff val="80000"/>
              </a:schemeClr>
            </a:solidFill>
          </p:grpSpPr>
          <p:sp>
            <p:nvSpPr>
              <p:cNvPr id="62" name="Oval 61"/>
              <p:cNvSpPr/>
              <p:nvPr/>
            </p:nvSpPr>
            <p:spPr>
              <a:xfrm>
                <a:off x="2933700" y="2743200"/>
                <a:ext cx="228600" cy="22860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Rounded Rectangle 62"/>
              <p:cNvSpPr/>
              <p:nvPr/>
            </p:nvSpPr>
            <p:spPr>
              <a:xfrm>
                <a:off x="2895600" y="2971800"/>
                <a:ext cx="304800" cy="3048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6179436" y="3276600"/>
              <a:ext cx="152400" cy="272143"/>
              <a:chOff x="2895600" y="2743200"/>
              <a:chExt cx="304800" cy="533400"/>
            </a:xfrm>
            <a:solidFill>
              <a:schemeClr val="tx2">
                <a:lumMod val="20000"/>
                <a:lumOff val="80000"/>
              </a:schemeClr>
            </a:solidFill>
          </p:grpSpPr>
          <p:sp>
            <p:nvSpPr>
              <p:cNvPr id="68" name="Oval 67"/>
              <p:cNvSpPr/>
              <p:nvPr/>
            </p:nvSpPr>
            <p:spPr>
              <a:xfrm>
                <a:off x="2933700" y="2743200"/>
                <a:ext cx="228600" cy="22860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Rounded Rectangle 68"/>
              <p:cNvSpPr/>
              <p:nvPr/>
            </p:nvSpPr>
            <p:spPr>
              <a:xfrm>
                <a:off x="2895600" y="2971800"/>
                <a:ext cx="304800" cy="3048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0" name="Group 69"/>
            <p:cNvGrpSpPr/>
            <p:nvPr/>
          </p:nvGrpSpPr>
          <p:grpSpPr>
            <a:xfrm>
              <a:off x="6179436" y="3657600"/>
              <a:ext cx="152400" cy="272143"/>
              <a:chOff x="2895600" y="2743200"/>
              <a:chExt cx="304800" cy="533400"/>
            </a:xfrm>
            <a:solidFill>
              <a:schemeClr val="accent1">
                <a:lumMod val="40000"/>
                <a:lumOff val="60000"/>
              </a:schemeClr>
            </a:solidFill>
          </p:grpSpPr>
          <p:sp>
            <p:nvSpPr>
              <p:cNvPr id="71" name="Oval 70"/>
              <p:cNvSpPr/>
              <p:nvPr/>
            </p:nvSpPr>
            <p:spPr>
              <a:xfrm>
                <a:off x="2933700" y="2743200"/>
                <a:ext cx="228600" cy="22860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Rounded Rectangle 71"/>
              <p:cNvSpPr/>
              <p:nvPr/>
            </p:nvSpPr>
            <p:spPr>
              <a:xfrm>
                <a:off x="2895600" y="2971800"/>
                <a:ext cx="304800" cy="3048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3" name="Group 72"/>
            <p:cNvGrpSpPr/>
            <p:nvPr/>
          </p:nvGrpSpPr>
          <p:grpSpPr>
            <a:xfrm>
              <a:off x="6179436" y="3995057"/>
              <a:ext cx="152400" cy="272143"/>
              <a:chOff x="2895600" y="2743200"/>
              <a:chExt cx="304800" cy="533400"/>
            </a:xfrm>
            <a:solidFill>
              <a:schemeClr val="tx2">
                <a:lumMod val="20000"/>
                <a:lumOff val="80000"/>
              </a:schemeClr>
            </a:solidFill>
          </p:grpSpPr>
          <p:sp>
            <p:nvSpPr>
              <p:cNvPr id="74" name="Oval 73"/>
              <p:cNvSpPr/>
              <p:nvPr/>
            </p:nvSpPr>
            <p:spPr>
              <a:xfrm>
                <a:off x="2933700" y="2743200"/>
                <a:ext cx="228600" cy="22860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Rounded Rectangle 74"/>
              <p:cNvSpPr/>
              <p:nvPr/>
            </p:nvSpPr>
            <p:spPr>
              <a:xfrm>
                <a:off x="2895600" y="2971800"/>
                <a:ext cx="304800" cy="3048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6" name="Group 75"/>
            <p:cNvGrpSpPr/>
            <p:nvPr/>
          </p:nvGrpSpPr>
          <p:grpSpPr>
            <a:xfrm>
              <a:off x="6179436" y="4343400"/>
              <a:ext cx="152400" cy="272143"/>
              <a:chOff x="2895600" y="2743200"/>
              <a:chExt cx="304800" cy="533400"/>
            </a:xfrm>
            <a:solidFill>
              <a:schemeClr val="accent1">
                <a:lumMod val="40000"/>
                <a:lumOff val="60000"/>
              </a:schemeClr>
            </a:solidFill>
          </p:grpSpPr>
          <p:sp>
            <p:nvSpPr>
              <p:cNvPr id="77" name="Oval 76"/>
              <p:cNvSpPr/>
              <p:nvPr/>
            </p:nvSpPr>
            <p:spPr>
              <a:xfrm>
                <a:off x="2933700" y="2743200"/>
                <a:ext cx="228600" cy="22860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Rounded Rectangle 77"/>
              <p:cNvSpPr/>
              <p:nvPr/>
            </p:nvSpPr>
            <p:spPr>
              <a:xfrm>
                <a:off x="2895600" y="2971800"/>
                <a:ext cx="304800" cy="3048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9" name="Group 78"/>
            <p:cNvGrpSpPr/>
            <p:nvPr/>
          </p:nvGrpSpPr>
          <p:grpSpPr>
            <a:xfrm>
              <a:off x="6179436" y="4724400"/>
              <a:ext cx="152400" cy="272143"/>
              <a:chOff x="2895600" y="2743200"/>
              <a:chExt cx="304800" cy="533400"/>
            </a:xfrm>
            <a:solidFill>
              <a:schemeClr val="tx2">
                <a:lumMod val="20000"/>
                <a:lumOff val="80000"/>
              </a:schemeClr>
            </a:solidFill>
          </p:grpSpPr>
          <p:sp>
            <p:nvSpPr>
              <p:cNvPr id="80" name="Oval 79"/>
              <p:cNvSpPr/>
              <p:nvPr/>
            </p:nvSpPr>
            <p:spPr>
              <a:xfrm>
                <a:off x="2933700" y="2743200"/>
                <a:ext cx="228600" cy="22860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Rounded Rectangle 80"/>
              <p:cNvSpPr/>
              <p:nvPr/>
            </p:nvSpPr>
            <p:spPr>
              <a:xfrm>
                <a:off x="2895600" y="2971800"/>
                <a:ext cx="304800" cy="3048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2" name="Group 81"/>
            <p:cNvGrpSpPr/>
            <p:nvPr/>
          </p:nvGrpSpPr>
          <p:grpSpPr>
            <a:xfrm>
              <a:off x="6179436" y="5105400"/>
              <a:ext cx="152400" cy="272143"/>
              <a:chOff x="2895600" y="2743200"/>
              <a:chExt cx="304800" cy="533400"/>
            </a:xfrm>
            <a:solidFill>
              <a:schemeClr val="accent1">
                <a:lumMod val="40000"/>
                <a:lumOff val="60000"/>
              </a:schemeClr>
            </a:solidFill>
          </p:grpSpPr>
          <p:sp>
            <p:nvSpPr>
              <p:cNvPr id="83" name="Oval 82"/>
              <p:cNvSpPr/>
              <p:nvPr/>
            </p:nvSpPr>
            <p:spPr>
              <a:xfrm>
                <a:off x="2933700" y="2743200"/>
                <a:ext cx="228600" cy="22860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Rounded Rectangle 83"/>
              <p:cNvSpPr/>
              <p:nvPr/>
            </p:nvSpPr>
            <p:spPr>
              <a:xfrm>
                <a:off x="2895600" y="2971800"/>
                <a:ext cx="304800" cy="3048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5" name="Group 84"/>
            <p:cNvGrpSpPr/>
            <p:nvPr/>
          </p:nvGrpSpPr>
          <p:grpSpPr>
            <a:xfrm>
              <a:off x="6179436" y="5486400"/>
              <a:ext cx="152400" cy="272143"/>
              <a:chOff x="2895600" y="2743200"/>
              <a:chExt cx="304800" cy="533400"/>
            </a:xfrm>
            <a:solidFill>
              <a:schemeClr val="tx2">
                <a:lumMod val="20000"/>
                <a:lumOff val="80000"/>
              </a:schemeClr>
            </a:solidFill>
          </p:grpSpPr>
          <p:sp>
            <p:nvSpPr>
              <p:cNvPr id="86" name="Oval 85"/>
              <p:cNvSpPr/>
              <p:nvPr/>
            </p:nvSpPr>
            <p:spPr>
              <a:xfrm>
                <a:off x="2933700" y="2743200"/>
                <a:ext cx="228600" cy="22860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Rounded Rectangle 86"/>
              <p:cNvSpPr/>
              <p:nvPr/>
            </p:nvSpPr>
            <p:spPr>
              <a:xfrm>
                <a:off x="2895600" y="2971800"/>
                <a:ext cx="304800" cy="3048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1" name="Group 100"/>
            <p:cNvGrpSpPr/>
            <p:nvPr/>
          </p:nvGrpSpPr>
          <p:grpSpPr>
            <a:xfrm>
              <a:off x="6179436" y="5823857"/>
              <a:ext cx="152400" cy="272143"/>
              <a:chOff x="2895600" y="2743200"/>
              <a:chExt cx="304800" cy="533400"/>
            </a:xfrm>
            <a:solidFill>
              <a:schemeClr val="accent1">
                <a:lumMod val="40000"/>
                <a:lumOff val="60000"/>
              </a:schemeClr>
            </a:solidFill>
          </p:grpSpPr>
          <p:sp>
            <p:nvSpPr>
              <p:cNvPr id="102" name="Oval 101"/>
              <p:cNvSpPr/>
              <p:nvPr/>
            </p:nvSpPr>
            <p:spPr>
              <a:xfrm>
                <a:off x="2933700" y="2743200"/>
                <a:ext cx="228600" cy="22860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Rounded Rectangle 102"/>
              <p:cNvSpPr/>
              <p:nvPr/>
            </p:nvSpPr>
            <p:spPr>
              <a:xfrm>
                <a:off x="2895600" y="2971800"/>
                <a:ext cx="304800" cy="3048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1" name="Group 110"/>
            <p:cNvGrpSpPr/>
            <p:nvPr/>
          </p:nvGrpSpPr>
          <p:grpSpPr>
            <a:xfrm>
              <a:off x="6172200" y="2895600"/>
              <a:ext cx="152400" cy="272143"/>
              <a:chOff x="2895600" y="2743200"/>
              <a:chExt cx="304800" cy="533400"/>
            </a:xfrm>
            <a:solidFill>
              <a:schemeClr val="accent1">
                <a:lumMod val="40000"/>
                <a:lumOff val="60000"/>
              </a:schemeClr>
            </a:solidFill>
          </p:grpSpPr>
          <p:sp>
            <p:nvSpPr>
              <p:cNvPr id="112" name="Oval 111"/>
              <p:cNvSpPr/>
              <p:nvPr/>
            </p:nvSpPr>
            <p:spPr>
              <a:xfrm>
                <a:off x="2933700" y="2743200"/>
                <a:ext cx="228600" cy="22860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Rounded Rectangle 112"/>
              <p:cNvSpPr/>
              <p:nvPr/>
            </p:nvSpPr>
            <p:spPr>
              <a:xfrm>
                <a:off x="2895600" y="2971800"/>
                <a:ext cx="304800" cy="3048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88" name="Group 87"/>
          <p:cNvGrpSpPr/>
          <p:nvPr/>
        </p:nvGrpSpPr>
        <p:grpSpPr>
          <a:xfrm>
            <a:off x="6172200" y="2895600"/>
            <a:ext cx="152400" cy="272143"/>
            <a:chOff x="2895600" y="2743200"/>
            <a:chExt cx="304800" cy="533400"/>
          </a:xfrm>
          <a:solidFill>
            <a:srgbClr val="0070C0"/>
          </a:solidFill>
        </p:grpSpPr>
        <p:sp>
          <p:nvSpPr>
            <p:cNvPr id="89" name="Oval 88"/>
            <p:cNvSpPr/>
            <p:nvPr/>
          </p:nvSpPr>
          <p:spPr>
            <a:xfrm>
              <a:off x="2933700" y="2743200"/>
              <a:ext cx="228600" cy="22860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ounded Rectangle 89"/>
            <p:cNvSpPr/>
            <p:nvPr/>
          </p:nvSpPr>
          <p:spPr>
            <a:xfrm>
              <a:off x="2895600" y="2971800"/>
              <a:ext cx="304800" cy="30480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4" name="Group 113"/>
          <p:cNvGrpSpPr/>
          <p:nvPr/>
        </p:nvGrpSpPr>
        <p:grpSpPr>
          <a:xfrm>
            <a:off x="7086599" y="4757057"/>
            <a:ext cx="287365" cy="542731"/>
            <a:chOff x="2895600" y="2743200"/>
            <a:chExt cx="304800" cy="533400"/>
          </a:xfrm>
          <a:solidFill>
            <a:srgbClr val="0070C0"/>
          </a:solidFill>
        </p:grpSpPr>
        <p:sp>
          <p:nvSpPr>
            <p:cNvPr id="115" name="Oval 114"/>
            <p:cNvSpPr/>
            <p:nvPr/>
          </p:nvSpPr>
          <p:spPr>
            <a:xfrm>
              <a:off x="2933700" y="2743200"/>
              <a:ext cx="228600" cy="22860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ounded Rectangle 115"/>
            <p:cNvSpPr/>
            <p:nvPr/>
          </p:nvSpPr>
          <p:spPr>
            <a:xfrm>
              <a:off x="2895600" y="2971800"/>
              <a:ext cx="304800" cy="30480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1280586" y="6553200"/>
            <a:ext cx="14527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Choice list for </a:t>
            </a:r>
            <a:r>
              <a:rPr lang="en-US" sz="1400" b="1" dirty="0">
                <a:solidFill>
                  <a:srgbClr val="C00000"/>
                </a:solidFill>
              </a:rPr>
              <a:t>IITs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938695" y="6553200"/>
            <a:ext cx="15232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Choice list for </a:t>
            </a:r>
            <a:r>
              <a:rPr lang="en-US" sz="1400" b="1" dirty="0">
                <a:solidFill>
                  <a:srgbClr val="0070C0"/>
                </a:solidFill>
              </a:rPr>
              <a:t>NITs</a:t>
            </a:r>
          </a:p>
        </p:txBody>
      </p:sp>
      <p:sp>
        <p:nvSpPr>
          <p:cNvPr id="15" name="Oval 14"/>
          <p:cNvSpPr/>
          <p:nvPr/>
        </p:nvSpPr>
        <p:spPr>
          <a:xfrm>
            <a:off x="6096000" y="2883932"/>
            <a:ext cx="304800" cy="3048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Oval 120"/>
          <p:cNvSpPr/>
          <p:nvPr/>
        </p:nvSpPr>
        <p:spPr>
          <a:xfrm>
            <a:off x="2580891" y="2166257"/>
            <a:ext cx="304800" cy="3048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Oval 121"/>
          <p:cNvSpPr/>
          <p:nvPr/>
        </p:nvSpPr>
        <p:spPr>
          <a:xfrm>
            <a:off x="6096000" y="4343400"/>
            <a:ext cx="304800" cy="3048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Oval 122"/>
          <p:cNvSpPr/>
          <p:nvPr/>
        </p:nvSpPr>
        <p:spPr>
          <a:xfrm>
            <a:off x="6096000" y="5410200"/>
            <a:ext cx="304800" cy="3048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Oval 124"/>
          <p:cNvSpPr/>
          <p:nvPr/>
        </p:nvSpPr>
        <p:spPr>
          <a:xfrm>
            <a:off x="2590800" y="3276600"/>
            <a:ext cx="304800" cy="3048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Oval 125"/>
          <p:cNvSpPr/>
          <p:nvPr/>
        </p:nvSpPr>
        <p:spPr>
          <a:xfrm>
            <a:off x="2590800" y="5867400"/>
            <a:ext cx="304800" cy="3048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/>
          <p:cNvGrpSpPr/>
          <p:nvPr/>
        </p:nvGrpSpPr>
        <p:grpSpPr>
          <a:xfrm>
            <a:off x="6476999" y="1847834"/>
            <a:ext cx="3352800" cy="1319910"/>
            <a:chOff x="6671903" y="1762998"/>
            <a:chExt cx="2438400" cy="915251"/>
          </a:xfrm>
        </p:grpSpPr>
        <p:sp>
          <p:nvSpPr>
            <p:cNvPr id="23" name="Cloud Callout 22"/>
            <p:cNvSpPr/>
            <p:nvPr/>
          </p:nvSpPr>
          <p:spPr>
            <a:xfrm>
              <a:off x="6671903" y="1762998"/>
              <a:ext cx="2438400" cy="915251"/>
            </a:xfrm>
            <a:prstGeom prst="cloudCallout">
              <a:avLst>
                <a:gd name="adj1" fmla="val 32292"/>
                <a:gd name="adj2" fmla="val 85821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Should we remove      from seat allocation in </a:t>
              </a:r>
              <a:r>
                <a:rPr lang="en-US" sz="1600" b="1" dirty="0">
                  <a:solidFill>
                    <a:srgbClr val="0070C0"/>
                  </a:solidFill>
                </a:rPr>
                <a:t>NIT</a:t>
              </a:r>
              <a:r>
                <a:rPr lang="en-US" sz="1600" dirty="0">
                  <a:solidFill>
                    <a:schemeClr val="tx1"/>
                  </a:solidFill>
                </a:rPr>
                <a:t>s for future rounds ?</a:t>
              </a:r>
            </a:p>
          </p:txBody>
        </p:sp>
        <p:grpSp>
          <p:nvGrpSpPr>
            <p:cNvPr id="127" name="Group 126"/>
            <p:cNvGrpSpPr/>
            <p:nvPr/>
          </p:nvGrpSpPr>
          <p:grpSpPr>
            <a:xfrm>
              <a:off x="8390593" y="1844521"/>
              <a:ext cx="152400" cy="265537"/>
              <a:chOff x="4131986" y="2475307"/>
              <a:chExt cx="304800" cy="520452"/>
            </a:xfrm>
            <a:solidFill>
              <a:srgbClr val="0070C0"/>
            </a:solidFill>
          </p:grpSpPr>
          <p:sp>
            <p:nvSpPr>
              <p:cNvPr id="128" name="Oval 127"/>
              <p:cNvSpPr/>
              <p:nvPr/>
            </p:nvSpPr>
            <p:spPr>
              <a:xfrm>
                <a:off x="4159958" y="2475307"/>
                <a:ext cx="228601" cy="2286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Rounded Rectangle 129"/>
              <p:cNvSpPr/>
              <p:nvPr/>
            </p:nvSpPr>
            <p:spPr>
              <a:xfrm>
                <a:off x="4131986" y="2690960"/>
                <a:ext cx="304800" cy="304799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64" name="TextBox 63"/>
          <p:cNvSpPr txBox="1"/>
          <p:nvPr/>
        </p:nvSpPr>
        <p:spPr>
          <a:xfrm>
            <a:off x="7620813" y="1137046"/>
            <a:ext cx="455574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No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/>
              <p:cNvSpPr txBox="1"/>
              <p:nvPr/>
            </p:nvSpPr>
            <p:spPr>
              <a:xfrm>
                <a:off x="5506263" y="6246257"/>
                <a:ext cx="360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6C31"/>
                          </a:solidFill>
                          <a:latin typeface="Cambria Math"/>
                        </a:rPr>
                        <m:t>𝒓</m:t>
                      </m:r>
                    </m:oMath>
                  </m:oMathPara>
                </a14:m>
                <a:endParaRPr lang="en-US" b="1" dirty="0">
                  <a:solidFill>
                    <a:srgbClr val="006C31"/>
                  </a:solidFill>
                </a:endParaRPr>
              </a:p>
            </p:txBody>
          </p:sp>
        </mc:Choice>
        <mc:Fallback xmlns="">
          <p:sp>
            <p:nvSpPr>
              <p:cNvPr id="131" name="TextBox 1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263" y="6246257"/>
                <a:ext cx="360996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333" r="-2372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/>
              <p:cNvSpPr txBox="1"/>
              <p:nvPr/>
            </p:nvSpPr>
            <p:spPr>
              <a:xfrm>
                <a:off x="5486400" y="2133600"/>
                <a:ext cx="5870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6C31"/>
                        </a:solidFill>
                        <a:latin typeface="Cambria Math"/>
                      </a:rPr>
                      <m:t>𝒓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 </a:t>
                </a:r>
                <a:endParaRPr lang="en-US" dirty="0"/>
              </a:p>
            </p:txBody>
          </p:sp>
        </mc:Choice>
        <mc:Fallback xmlns="">
          <p:sp>
            <p:nvSpPr>
              <p:cNvPr id="132" name="TextBox 1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0" y="2133600"/>
                <a:ext cx="587020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9836" r="-1770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Oval 132"/>
          <p:cNvSpPr/>
          <p:nvPr/>
        </p:nvSpPr>
        <p:spPr>
          <a:xfrm>
            <a:off x="6096000" y="2165866"/>
            <a:ext cx="304800" cy="3048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Oval Callout 65"/>
              <p:cNvSpPr/>
              <p:nvPr/>
            </p:nvSpPr>
            <p:spPr>
              <a:xfrm>
                <a:off x="6858000" y="3806952"/>
                <a:ext cx="1980432" cy="609538"/>
              </a:xfrm>
              <a:prstGeom prst="wedgeEllipseCallout">
                <a:avLst>
                  <a:gd name="adj1" fmla="val -36939"/>
                  <a:gd name="adj2" fmla="val 90525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I prefer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6C31"/>
                        </a:solidFill>
                        <a:latin typeface="Cambria Math"/>
                      </a:rPr>
                      <m:t>𝒑</m:t>
                    </m:r>
                    <m:r>
                      <a:rPr lang="en-US" sz="1600" b="1" i="1">
                        <a:solidFill>
                          <a:srgbClr val="006C3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to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6C31"/>
                        </a:solidFill>
                        <a:latin typeface="Cambria Math"/>
                      </a:rPr>
                      <m:t>𝒒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66" name="Oval Callout 6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0" y="3806952"/>
                <a:ext cx="1980432" cy="609538"/>
              </a:xfrm>
              <a:prstGeom prst="wedgeEllipseCallout">
                <a:avLst>
                  <a:gd name="adj1" fmla="val -36939"/>
                  <a:gd name="adj2" fmla="val 90525"/>
                </a:avLst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3886200" y="2883932"/>
            <a:ext cx="843757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Repeat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3801642"/>
            <a:ext cx="1085988" cy="8465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7086600" y="3886200"/>
                <a:ext cx="684803" cy="2769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1" i="1" smtClean="0">
                        <a:solidFill>
                          <a:srgbClr val="006C31"/>
                        </a:solidFill>
                        <a:latin typeface="Cambria Math"/>
                      </a:rPr>
                      <m:t>𝒑</m:t>
                    </m:r>
                  </m:oMath>
                </a14:m>
                <a:r>
                  <a:rPr lang="en-US" sz="1200" dirty="0"/>
                  <a:t> or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solidFill>
                          <a:srgbClr val="006C31"/>
                        </a:solidFill>
                        <a:latin typeface="Cambria Math"/>
                      </a:rPr>
                      <m:t>𝒒</m:t>
                    </m:r>
                  </m:oMath>
                </a14:m>
                <a:r>
                  <a:rPr lang="en-US" sz="1200" dirty="0"/>
                  <a:t> ?</a:t>
                </a: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6600" y="3886200"/>
                <a:ext cx="684803" cy="276999"/>
              </a:xfrm>
              <a:prstGeom prst="rect">
                <a:avLst/>
              </a:prstGeom>
              <a:blipFill rotWithShape="1">
                <a:blip r:embed="rId10"/>
                <a:stretch>
                  <a:fillRect r="-5357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2363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0" dur="5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00"/>
                            </p:stCondLst>
                            <p:childTnLst>
                              <p:par>
                                <p:cTn id="1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500"/>
                            </p:stCondLst>
                            <p:childTnLst>
                              <p:par>
                                <p:cTn id="14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3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3" grpId="0"/>
      <p:bldP spid="14" grpId="0"/>
      <p:bldP spid="108" grpId="0"/>
      <p:bldP spid="108" grpId="1"/>
      <p:bldP spid="129" grpId="0"/>
      <p:bldP spid="12" grpId="0"/>
      <p:bldP spid="120" grpId="0"/>
      <p:bldP spid="15" grpId="0" animBg="1"/>
      <p:bldP spid="121" grpId="0" animBg="1"/>
      <p:bldP spid="122" grpId="0" animBg="1"/>
      <p:bldP spid="123" grpId="0" animBg="1"/>
      <p:bldP spid="125" grpId="0" animBg="1"/>
      <p:bldP spid="126" grpId="0" animBg="1"/>
      <p:bldP spid="64" grpId="0" animBg="1"/>
      <p:bldP spid="64" grpId="1" animBg="1"/>
      <p:bldP spid="131" grpId="0"/>
      <p:bldP spid="132" grpId="0"/>
      <p:bldP spid="133" grpId="0" animBg="1"/>
      <p:bldP spid="66" grpId="0" animBg="1"/>
      <p:bldP spid="3" grpId="0" animBg="1"/>
      <p:bldP spid="17" grpId="0" animBg="1"/>
      <p:bldP spid="17" grpId="1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A </a:t>
            </a:r>
            <a:r>
              <a:rPr lang="en-US" sz="3600" b="1" dirty="0">
                <a:solidFill>
                  <a:srgbClr val="006C31"/>
                </a:solidFill>
              </a:rPr>
              <a:t>common man</a:t>
            </a:r>
            <a:r>
              <a:rPr lang="en-US" sz="3600" b="1" dirty="0"/>
              <a:t>’s</a:t>
            </a:r>
            <a:r>
              <a:rPr lang="en-US" sz="3600" b="1" dirty="0">
                <a:solidFill>
                  <a:srgbClr val="7030A0"/>
                </a:solidFill>
              </a:rPr>
              <a:t> </a:t>
            </a:r>
            <a:r>
              <a:rPr lang="en-US" sz="3600" b="1" dirty="0"/>
              <a:t>algorithm</a:t>
            </a:r>
            <a:br>
              <a:rPr lang="en-US" sz="3600" b="1" dirty="0"/>
            </a:b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/>
                            <a:sym typeface="Wingdings" pitchFamily="2" charset="2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/>
                            <a:sym typeface="Wingdings" pitchFamily="2" charset="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sym typeface="Wingdings" pitchFamily="2" charset="2"/>
                  </a:rPr>
                  <a:t> </a:t>
                </a:r>
                <a:r>
                  <a:rPr lang="en-US" sz="2000" dirty="0" err="1">
                    <a:sym typeface="Wingdings" pitchFamily="2" charset="2"/>
                  </a:rPr>
                  <a:t>Allocation_</a:t>
                </a:r>
                <a:r>
                  <a:rPr lang="en-US" sz="2000" dirty="0" err="1">
                    <a:solidFill>
                      <a:srgbClr val="C00000"/>
                    </a:solidFill>
                    <a:sym typeface="Wingdings" pitchFamily="2" charset="2"/>
                  </a:rPr>
                  <a:t>IIT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sym typeface="Wingdings" pitchFamily="2" charset="2"/>
                      </a:rPr>
                      <m:t>𝐶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);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  <a:sym typeface="Wingdings" pitchFamily="2" charset="2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  <a:sym typeface="Wingdings" pitchFamily="2" charset="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sym typeface="Wingdings" pitchFamily="2" charset="2"/>
                  </a:rPr>
                  <a:t> </a:t>
                </a:r>
                <a:r>
                  <a:rPr lang="en-US" sz="2000" dirty="0" err="1">
                    <a:sym typeface="Wingdings" pitchFamily="2" charset="2"/>
                  </a:rPr>
                  <a:t>Allocation_</a:t>
                </a:r>
                <a:r>
                  <a:rPr lang="en-US" sz="2000" dirty="0" err="1">
                    <a:solidFill>
                      <a:srgbClr val="0070C0"/>
                    </a:solidFill>
                    <a:sym typeface="Wingdings" pitchFamily="2" charset="2"/>
                  </a:rPr>
                  <a:t>NIT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sym typeface="Wingdings" pitchFamily="2" charset="2"/>
                      </a:rPr>
                      <m:t>𝐶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);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/>
                        <a:sym typeface="Wingdings" pitchFamily="2" charset="2"/>
                      </a:rPr>
                      <m:t>𝑆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 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/>
                        <a:sym typeface="Wingdings" pitchFamily="2" charset="2"/>
                      </a:rPr>
                      <m:t>Candidates</m:t>
                    </m:r>
                    <m:r>
                      <a:rPr lang="en-US" sz="2000" b="0" i="0" smtClean="0">
                        <a:latin typeface="Cambria Math"/>
                        <a:sym typeface="Wingdings" pitchFamily="2" charset="2"/>
                      </a:rPr>
                      <m:t>(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/>
                            <a:sym typeface="Wingdings" pitchFamily="2" charset="2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/>
                            <a:sym typeface="Wingdings" pitchFamily="2" charset="2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  <a:sym typeface="Wingdings" pitchFamily="2" charset="2"/>
                      </a:rPr>
                      <m:t>)∩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/>
                        <a:sym typeface="Wingdings" pitchFamily="2" charset="2"/>
                      </a:rPr>
                      <m:t>Candidates</m:t>
                    </m:r>
                    <m:r>
                      <a:rPr lang="en-US" sz="2000" b="0" i="0" smtClean="0">
                        <a:latin typeface="Cambria Math"/>
                        <a:sym typeface="Wingdings" pitchFamily="2" charset="2"/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/>
                            <a:sym typeface="Wingdings" pitchFamily="2" charset="2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/>
                            <a:sym typeface="Wingdings" pitchFamily="2" charset="2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  <a:sym typeface="Wingdings" pitchFamily="2" charset="2"/>
                      </a:rPr>
                      <m:t>)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While</a:t>
                </a:r>
                <a:r>
                  <a:rPr lang="en-US" sz="2000" dirty="0"/>
                  <a:t> (  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/>
                        <a:sym typeface="Wingdings" pitchFamily="2" charset="2"/>
                      </a:rPr>
                      <m:t> </m:t>
                    </m:r>
                    <m:r>
                      <a:rPr lang="en-US" sz="2000" i="1">
                        <a:latin typeface="Cambria Math"/>
                        <a:sym typeface="Wingdings" pitchFamily="2" charset="2"/>
                      </a:rPr>
                      <m:t>𝑆</m:t>
                    </m:r>
                    <m:r>
                      <a:rPr lang="en-US" sz="2000" i="1">
                        <a:latin typeface="Cambria Math"/>
                        <a:sym typeface="Wingdings" pitchFamily="2" charset="2"/>
                      </a:rPr>
                      <m:t>≠∅</m:t>
                    </m:r>
                  </m:oMath>
                </a14:m>
                <a:r>
                  <a:rPr lang="en-US" sz="2000" dirty="0"/>
                  <a:t>    )</a:t>
                </a:r>
              </a:p>
              <a:p>
                <a:pPr marL="0" indent="0">
                  <a:buNone/>
                </a:pPr>
                <a:r>
                  <a:rPr lang="en-US" sz="2000" dirty="0"/>
                  <a:t>{      </a:t>
                </a:r>
                <a:r>
                  <a:rPr lang="en-US" sz="2000" b="1" dirty="0"/>
                  <a:t>For</a:t>
                </a:r>
                <a:r>
                  <a:rPr lang="en-US" sz="2000" dirty="0"/>
                  <a:t> each 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solidFill>
                          <a:srgbClr val="006C31"/>
                        </a:solidFill>
                        <a:latin typeface="Cambria Math"/>
                        <a:sym typeface="Wingdings" pitchFamily="2" charset="2"/>
                      </a:rPr>
                      <m:t>𝐜</m:t>
                    </m:r>
                    <m:r>
                      <a:rPr lang="en-US" sz="2000" b="0" i="1" smtClean="0">
                        <a:latin typeface="Cambria Math"/>
                        <a:sym typeface="Wingdings" pitchFamily="2" charset="2"/>
                      </a:rPr>
                      <m:t>∈</m:t>
                    </m:r>
                    <m:r>
                      <a:rPr lang="en-US" sz="2000" i="1">
                        <a:latin typeface="Cambria Math"/>
                        <a:sym typeface="Wingdings" pitchFamily="2" charset="2"/>
                      </a:rPr>
                      <m:t>𝑆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b="1" dirty="0"/>
                  <a:t>do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{	</a:t>
                </a:r>
                <a:r>
                  <a:rPr lang="en-US" sz="2000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6C31"/>
                        </a:solidFill>
                        <a:latin typeface="Cambria Math"/>
                        <a:sym typeface="Wingdings" pitchFamily="2" charset="2"/>
                      </a:rPr>
                      <m:t>𝐜</m:t>
                    </m:r>
                  </m:oMath>
                </a14:m>
                <a:r>
                  <a:rPr lang="en-US" sz="2000" b="1" dirty="0">
                    <a:solidFill>
                      <a:srgbClr val="006C31"/>
                    </a:solidFill>
                  </a:rPr>
                  <a:t> </a:t>
                </a:r>
                <a:r>
                  <a:rPr lang="en-US" sz="2000" dirty="0"/>
                  <a:t>is asked to choose between the </a:t>
                </a:r>
                <a:r>
                  <a:rPr lang="en-US" sz="2000" b="1" u="sng" dirty="0"/>
                  <a:t>two</a:t>
                </a:r>
                <a:r>
                  <a:rPr lang="en-US" sz="2000" dirty="0"/>
                  <a:t> choices;</a:t>
                </a:r>
              </a:p>
              <a:p>
                <a:pPr marL="0" indent="0">
                  <a:buNone/>
                </a:pPr>
                <a:r>
                  <a:rPr lang="en-US" sz="2000" dirty="0"/>
                  <a:t>	The preference list of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6C31"/>
                        </a:solidFill>
                        <a:latin typeface="Cambria Math"/>
                        <a:sym typeface="Wingdings" pitchFamily="2" charset="2"/>
                      </a:rPr>
                      <m:t>𝐜</m:t>
                    </m:r>
                  </m:oMath>
                </a14:m>
                <a:r>
                  <a:rPr lang="en-US" sz="2000" dirty="0"/>
                  <a:t> is trimmed accordingly;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}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/>
                            <a:sym typeface="Wingdings" pitchFamily="2" charset="2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/>
                            <a:sym typeface="Wingdings" pitchFamily="2" charset="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sym typeface="Wingdings" pitchFamily="2" charset="2"/>
                  </a:rPr>
                  <a:t> </a:t>
                </a:r>
                <a:r>
                  <a:rPr lang="en-US" sz="2000" dirty="0" err="1">
                    <a:sym typeface="Wingdings" pitchFamily="2" charset="2"/>
                  </a:rPr>
                  <a:t>Allocation_</a:t>
                </a:r>
                <a:r>
                  <a:rPr lang="en-US" sz="2000" dirty="0" err="1">
                    <a:solidFill>
                      <a:srgbClr val="C00000"/>
                    </a:solidFill>
                    <a:sym typeface="Wingdings" pitchFamily="2" charset="2"/>
                  </a:rPr>
                  <a:t>IIT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sym typeface="Wingdings" pitchFamily="2" charset="2"/>
                      </a:rPr>
                      <m:t>𝐶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);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  <a:sym typeface="Wingdings" pitchFamily="2" charset="2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  <a:sym typeface="Wingdings" pitchFamily="2" charset="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sym typeface="Wingdings" pitchFamily="2" charset="2"/>
                  </a:rPr>
                  <a:t> </a:t>
                </a:r>
                <a:r>
                  <a:rPr lang="en-US" sz="2000" dirty="0" err="1">
                    <a:sym typeface="Wingdings" pitchFamily="2" charset="2"/>
                  </a:rPr>
                  <a:t>Allocation_</a:t>
                </a:r>
                <a:r>
                  <a:rPr lang="en-US" sz="2000" dirty="0" err="1">
                    <a:solidFill>
                      <a:srgbClr val="0070C0"/>
                    </a:solidFill>
                    <a:sym typeface="Wingdings" pitchFamily="2" charset="2"/>
                  </a:rPr>
                  <a:t>NIT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sym typeface="Wingdings" pitchFamily="2" charset="2"/>
                      </a:rPr>
                      <m:t>𝐶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);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sym typeface="Wingdings" pitchFamily="2" charset="2"/>
                      </a:rPr>
                      <m:t>𝑆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 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/>
                        <a:sym typeface="Wingdings" pitchFamily="2" charset="2"/>
                      </a:rPr>
                      <m:t>Candidates</m:t>
                    </m:r>
                    <m:r>
                      <a:rPr lang="en-US" sz="2000">
                        <a:latin typeface="Cambria Math"/>
                        <a:sym typeface="Wingdings" pitchFamily="2" charset="2"/>
                      </a:rPr>
                      <m:t>(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/>
                            <a:sym typeface="Wingdings" pitchFamily="2" charset="2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/>
                            <a:sym typeface="Wingdings" pitchFamily="2" charset="2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/>
                        <a:sym typeface="Wingdings" pitchFamily="2" charset="2"/>
                      </a:rPr>
                      <m:t>)∩</m:t>
                    </m:r>
                    <m:r>
                      <m:rPr>
                        <m:sty m:val="p"/>
                      </m:rPr>
                      <a:rPr lang="en-US" sz="2000">
                        <a:latin typeface="Cambria Math"/>
                        <a:sym typeface="Wingdings" pitchFamily="2" charset="2"/>
                      </a:rPr>
                      <m:t>Candidates</m:t>
                    </m:r>
                    <m:r>
                      <a:rPr lang="en-US" sz="2000">
                        <a:latin typeface="Cambria Math"/>
                        <a:sym typeface="Wingdings" pitchFamily="2" charset="2"/>
                      </a:rPr>
                      <m:t>(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/>
                            <a:sym typeface="Wingdings" pitchFamily="2" charset="2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/>
                            <a:sym typeface="Wingdings" pitchFamily="2" charset="2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/>
                        <a:sym typeface="Wingdings" pitchFamily="2" charset="2"/>
                      </a:rPr>
                      <m:t>)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dirty="0"/>
                  <a:t>}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809" b="-161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800600" y="2373868"/>
                <a:ext cx="1241109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Round </a:t>
                </a:r>
                <a:r>
                  <a:rPr lang="en-US" dirty="0">
                    <a:sym typeface="Wingdings" pitchFamily="2" charset="2"/>
                  </a:rPr>
                  <a:t>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600" y="2373868"/>
                <a:ext cx="1241109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4433" t="-9836" r="-886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581400" y="4953000"/>
                <a:ext cx="2081147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Round </a:t>
                </a:r>
                <a:r>
                  <a:rPr lang="en-US" dirty="0">
                    <a:sym typeface="Wingdings" pitchFamily="2" charset="2"/>
                  </a:rPr>
                  <a:t> Round +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400" y="4953000"/>
                <a:ext cx="2081147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2639" t="-10000" r="-410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819400" y="2743200"/>
                <a:ext cx="1210652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Round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≤5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2743200"/>
                <a:ext cx="1210652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4545" t="-8197" r="-757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2286000" y="2743200"/>
            <a:ext cx="538930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8600" y="2743200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518B8F-D2E8-1D00-F6F2-6C09FE4A9C56}"/>
              </a:ext>
            </a:extLst>
          </p:cNvPr>
          <p:cNvSpPr txBox="1"/>
          <p:nvPr/>
        </p:nvSpPr>
        <p:spPr>
          <a:xfrm>
            <a:off x="443401" y="6096000"/>
            <a:ext cx="7879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6C31"/>
                </a:solidFill>
              </a:rPr>
              <a:t>Homework </a:t>
            </a:r>
            <a:r>
              <a:rPr lang="en-US" dirty="0"/>
              <a:t>(not for exam): Prove that the algorithm outputs a fair seat allocation.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6590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  <p:bldP spid="7" grpId="0" animBg="1"/>
      <p:bldP spid="8" grpId="0" animBg="1"/>
      <p:bldP spid="9" grpId="0"/>
      <p:bldP spid="10" grpId="0"/>
      <p:bldP spid="10" grpId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840BF-6A0B-1A47-8718-085354CF6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6C31"/>
                </a:solidFill>
              </a:rPr>
              <a:t>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F97C5-916D-B54C-BBCE-DD883D62E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Transform the common man’s algorithm to just 1 round ?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258856-2A32-BA46-A7C3-602187ED9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633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5|1.5|21.9|8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5|1.5|21.9|8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2|1|0.8|0.7|0.8|0.7|4.2|16.4|1.4|4.8|9.4|6.9|2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5.7|2|5.2|4.3|7.1|5.2|6.2|4.4|2|3.6|9.1|3.4|3.4|10.8|8.7|2.6|1.5|4.5|1.6|21.7|23.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11.2|4.5|15.9|0.9|3.5|1.6|11.6|12.2|2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33.1|4.5|9.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9|4.2|11.3|4.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3.3|1.2|4.9|12.5|1.8|1.3|1.3|4|13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6|6.3|3.7|2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3.3|5.9|1.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3.8|3.3|10.5|1.5|2|1.7|1.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9|4.7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0|4.1|8|12.8|3.2|2.4|4.9|8.3|8.8|5.1|5.1|2.2|2.3|1.1|5.7|0.8|1.1|8.9|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0.8|7|1.1|3.7|9|3.5|3.2|5.3|9.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4.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1.6|0.7|1.4|5.4|3.5|11.3|0.9|0.8|8.5|1.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3.9|5.1|2.5|8.5|4.2|3.9|8.5|1.1|2.2|2.9|5.5|3.6|2.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7|3.8|12.9|5.1|4.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7|3.8|12.9|5.1|4.6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7|3.8|12.9|5.1|4.6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1.4|2.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8.1|6.9|39.6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|26.9|11.8|11.9|15.8|8.6|3.8|17.5|2.1|4.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|13.8|41.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2|12.4|3.5|7.8|4.2|2.8|4.9|4.7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13.5|9.3|8.7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82.3|17.2|13.8|6.3|14.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82.3|17.2|13.8|6.3|14.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1.8|4.1|2.4|4.4|0.5|4.9|5.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6461</TotalTime>
  <Words>1952</Words>
  <Application>Microsoft Office PowerPoint</Application>
  <PresentationFormat>On-screen Show (4:3)</PresentationFormat>
  <Paragraphs>463</Paragraphs>
  <Slides>42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Arial</vt:lpstr>
      <vt:lpstr>Calibri</vt:lpstr>
      <vt:lpstr>Cambria Math</vt:lpstr>
      <vt:lpstr>Seravek</vt:lpstr>
      <vt:lpstr>Times New Roman</vt:lpstr>
      <vt:lpstr>Wingdings</vt:lpstr>
      <vt:lpstr>Office Theme</vt:lpstr>
      <vt:lpstr>Design and Analysis of Algorithms </vt:lpstr>
      <vt:lpstr>Recap of the last lecture</vt:lpstr>
      <vt:lpstr>The combine step</vt:lpstr>
      <vt:lpstr>The combine step</vt:lpstr>
      <vt:lpstr>The combine step</vt:lpstr>
      <vt:lpstr>Divide and Conquer based algorithm </vt:lpstr>
      <vt:lpstr>Running time of the algorithm</vt:lpstr>
      <vt:lpstr>The combine step in O(n) time </vt:lpstr>
      <vt:lpstr>The combine step in O(n) time </vt:lpstr>
      <vt:lpstr>The combine step in O(n) time </vt:lpstr>
      <vt:lpstr>The combine step in O(n) time </vt:lpstr>
      <vt:lpstr>The combine step in O(n) time </vt:lpstr>
      <vt:lpstr>Inspiration from Merge sort </vt:lpstr>
      <vt:lpstr>The combine step in O(n) time </vt:lpstr>
      <vt:lpstr>Divide and Conquer based algorithm  </vt:lpstr>
      <vt:lpstr>Conclusion</vt:lpstr>
      <vt:lpstr>Lessons learnt</vt:lpstr>
      <vt:lpstr>problem 2 </vt:lpstr>
      <vt:lpstr>The Non-Dominated Points  </vt:lpstr>
      <vt:lpstr>The Non-Dominated Points  </vt:lpstr>
      <vt:lpstr>The Non-Dominated Points  </vt:lpstr>
      <vt:lpstr>The Non-Dominated Points  </vt:lpstr>
      <vt:lpstr>The Non-Dominated Points  </vt:lpstr>
      <vt:lpstr>The Non-Dominated Points  </vt:lpstr>
      <vt:lpstr>The Non-Dominated Points  </vt:lpstr>
      <vt:lpstr>A simple algorithm for all non-dominated points</vt:lpstr>
      <vt:lpstr>A Simple Algorithm </vt:lpstr>
      <vt:lpstr>A Simple Algorithm </vt:lpstr>
      <vt:lpstr>A Divide and Conquer algorithm</vt:lpstr>
      <vt:lpstr>A Divide and Conquer algorithm</vt:lpstr>
      <vt:lpstr>The Divide step </vt:lpstr>
      <vt:lpstr>Solving the Subproblems recursively </vt:lpstr>
      <vt:lpstr>The conquer step </vt:lpstr>
      <vt:lpstr>The time complexity of the algorithm </vt:lpstr>
      <vt:lpstr>PowerPoint Presentation</vt:lpstr>
      <vt:lpstr>Homework from 1st class</vt:lpstr>
      <vt:lpstr> </vt:lpstr>
      <vt:lpstr>Fairness</vt:lpstr>
      <vt:lpstr>How to tackle Multiple Merit Lists using “Single Merit list algorithm”</vt:lpstr>
      <vt:lpstr>A common man’s algorithm </vt:lpstr>
      <vt:lpstr>A common man’s algorithm </vt:lpstr>
      <vt:lpstr>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Surender Baswana</dc:creator>
  <cp:lastModifiedBy>Surender Baswana</cp:lastModifiedBy>
  <cp:revision>806</cp:revision>
  <dcterms:created xsi:type="dcterms:W3CDTF">2011-12-03T04:13:03Z</dcterms:created>
  <dcterms:modified xsi:type="dcterms:W3CDTF">2025-08-06T07:34:31Z</dcterms:modified>
</cp:coreProperties>
</file>