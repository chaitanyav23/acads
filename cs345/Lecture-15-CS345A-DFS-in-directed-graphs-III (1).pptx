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0"/>
  </p:notesMasterIdLst>
  <p:sldIdLst>
    <p:sldId id="492" r:id="rId2"/>
    <p:sldId id="527" r:id="rId3"/>
    <p:sldId id="425" r:id="rId4"/>
    <p:sldId id="573" r:id="rId5"/>
    <p:sldId id="555" r:id="rId6"/>
    <p:sldId id="456" r:id="rId7"/>
    <p:sldId id="553" r:id="rId8"/>
    <p:sldId id="545" r:id="rId9"/>
    <p:sldId id="554" r:id="rId10"/>
    <p:sldId id="562" r:id="rId11"/>
    <p:sldId id="550" r:id="rId12"/>
    <p:sldId id="441" r:id="rId13"/>
    <p:sldId id="544" r:id="rId14"/>
    <p:sldId id="558" r:id="rId15"/>
    <p:sldId id="571" r:id="rId16"/>
    <p:sldId id="572" r:id="rId17"/>
    <p:sldId id="569" r:id="rId18"/>
    <p:sldId id="565" r:id="rId19"/>
    <p:sldId id="532" r:id="rId20"/>
    <p:sldId id="445" r:id="rId21"/>
    <p:sldId id="461" r:id="rId22"/>
    <p:sldId id="462" r:id="rId23"/>
    <p:sldId id="463" r:id="rId24"/>
    <p:sldId id="464" r:id="rId25"/>
    <p:sldId id="446" r:id="rId26"/>
    <p:sldId id="575" r:id="rId27"/>
    <p:sldId id="576" r:id="rId28"/>
    <p:sldId id="609" r:id="rId29"/>
    <p:sldId id="610" r:id="rId30"/>
    <p:sldId id="614" r:id="rId31"/>
    <p:sldId id="611" r:id="rId32"/>
    <p:sldId id="612" r:id="rId33"/>
    <p:sldId id="613" r:id="rId34"/>
    <p:sldId id="625" r:id="rId35"/>
    <p:sldId id="620" r:id="rId36"/>
    <p:sldId id="413" r:id="rId37"/>
    <p:sldId id="418" r:id="rId38"/>
    <p:sldId id="621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34" autoAdjust="0"/>
    <p:restoredTop sz="94085" autoAdjust="0"/>
  </p:normalViewPr>
  <p:slideViewPr>
    <p:cSldViewPr>
      <p:cViewPr varScale="1">
        <p:scale>
          <a:sx n="105" d="100"/>
          <a:sy n="105" d="100"/>
        </p:scale>
        <p:origin x="195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No. since such a path would imply that A and B together form a single SCC.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EC465-8393-41C9-A06D-CEF1E64A53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99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9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2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93.png"/><Relationship Id="rId4" Type="http://schemas.openxmlformats.org/officeDocument/2006/relationships/image" Target="../media/image83.png"/><Relationship Id="rId9" Type="http://schemas.openxmlformats.org/officeDocument/2006/relationships/image" Target="../media/image1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3.png"/><Relationship Id="rId7" Type="http://schemas.openxmlformats.org/officeDocument/2006/relationships/image" Target="../media/image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200.png"/><Relationship Id="rId4" Type="http://schemas.openxmlformats.org/officeDocument/2006/relationships/image" Target="../media/image9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200.png"/><Relationship Id="rId4" Type="http://schemas.openxmlformats.org/officeDocument/2006/relationships/image" Target="../media/image9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1.png"/><Relationship Id="rId7" Type="http://schemas.openxmlformats.org/officeDocument/2006/relationships/image" Target="../media/image2400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0.png"/><Relationship Id="rId5" Type="http://schemas.openxmlformats.org/officeDocument/2006/relationships/image" Target="../media/image90.png"/><Relationship Id="rId4" Type="http://schemas.openxmlformats.org/officeDocument/2006/relationships/image" Target="../media/image1.png"/><Relationship Id="rId9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213.png"/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10.png"/><Relationship Id="rId5" Type="http://schemas.openxmlformats.org/officeDocument/2006/relationships/image" Target="../media/image24000.png"/><Relationship Id="rId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250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0.png"/><Relationship Id="rId4" Type="http://schemas.openxmlformats.org/officeDocument/2006/relationships/image" Target="../media/image2600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00.png"/><Relationship Id="rId5" Type="http://schemas.openxmlformats.org/officeDocument/2006/relationships/image" Target="../media/image2700.png"/><Relationship Id="rId4" Type="http://schemas.openxmlformats.org/officeDocument/2006/relationships/image" Target="../media/image2800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0.png"/><Relationship Id="rId2" Type="http://schemas.openxmlformats.org/officeDocument/2006/relationships/image" Target="../media/image300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21" Type="http://schemas.openxmlformats.org/officeDocument/2006/relationships/image" Target="../media/image180.png"/><Relationship Id="rId12" Type="http://schemas.openxmlformats.org/officeDocument/2006/relationships/image" Target="../media/image94.png"/><Relationship Id="rId17" Type="http://schemas.openxmlformats.org/officeDocument/2006/relationships/image" Target="../media/image14.png"/><Relationship Id="rId2" Type="http://schemas.openxmlformats.org/officeDocument/2006/relationships/image" Target="../media/image80.png"/><Relationship Id="rId20" Type="http://schemas.openxmlformats.org/officeDocument/2006/relationships/image" Target="../media/image17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15" Type="http://schemas.openxmlformats.org/officeDocument/2006/relationships/image" Target="../media/image12.png"/><Relationship Id="rId19" Type="http://schemas.openxmlformats.org/officeDocument/2006/relationships/image" Target="../media/image16.png"/><Relationship Id="rId4" Type="http://schemas.openxmlformats.org/officeDocument/2006/relationships/image" Target="../media/image92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15 </a:t>
            </a:r>
          </a:p>
          <a:p>
            <a:pPr>
              <a:defRPr/>
            </a:pPr>
            <a:endParaRPr lang="en-US" sz="24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400" b="1" dirty="0">
                <a:solidFill>
                  <a:srgbClr val="7030A0"/>
                </a:solidFill>
              </a:rPr>
              <a:t>Depth First Search in Directed Graph - 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                   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FBA22F-6FC8-5D42-8AC5-A912A180A4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Recap</a:t>
            </a:r>
            <a:r>
              <a:rPr lang="en-US" b="1" dirty="0"/>
              <a:t> of the last lecture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48C61D0-144A-944F-BA18-148FCC664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9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Strongly connected components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:</a:t>
                </a:r>
                <a:r>
                  <a:rPr lang="en-US" sz="2000" dirty="0"/>
                  <a:t> Two vertices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are said to be </a:t>
                </a:r>
                <a:r>
                  <a:rPr lang="en-US" sz="2000" b="1" dirty="0"/>
                  <a:t>strongly connected </a:t>
                </a:r>
                <a:r>
                  <a:rPr lang="en-US" sz="2000" dirty="0"/>
                  <a:t>if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is reachable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is reachable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 strongly connected component</a:t>
                </a:r>
                <a:r>
                  <a:rPr lang="en-US" sz="2000" b="1" dirty="0"/>
                  <a:t>: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a maximal subset of “strongly connected vertices”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/>
          <p:cNvGrpSpPr/>
          <p:nvPr/>
        </p:nvGrpSpPr>
        <p:grpSpPr>
          <a:xfrm>
            <a:off x="988906" y="3124200"/>
            <a:ext cx="7088294" cy="3505200"/>
            <a:chOff x="988906" y="3124200"/>
            <a:chExt cx="7088294" cy="3505200"/>
          </a:xfrm>
        </p:grpSpPr>
        <p:grpSp>
          <p:nvGrpSpPr>
            <p:cNvPr id="49" name="Group 48"/>
            <p:cNvGrpSpPr/>
            <p:nvPr/>
          </p:nvGrpSpPr>
          <p:grpSpPr>
            <a:xfrm>
              <a:off x="988906" y="4050268"/>
              <a:ext cx="2592494" cy="2579132"/>
              <a:chOff x="988906" y="1459468"/>
              <a:chExt cx="2592494" cy="2579132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1979506" y="14594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447800" y="1905000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065106" y="2754868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988906" y="366926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131906" y="3657600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3046306" y="19812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274906" y="29072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905000" y="2754868"/>
                <a:ext cx="239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j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590800" y="2971800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1150436" y="3124200"/>
              <a:ext cx="6926764" cy="3276600"/>
              <a:chOff x="1150436" y="3124200"/>
              <a:chExt cx="6926764" cy="3276600"/>
            </a:xfrm>
          </p:grpSpPr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05600" y="4899103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05599" y="5910147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96200" y="5910147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96198" y="4951142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0" name="Straight Arrow Connector 9"/>
              <p:cNvCxnSpPr>
                <a:endCxn id="7" idx="0"/>
              </p:cNvCxnSpPr>
              <p:nvPr/>
            </p:nvCxnSpPr>
            <p:spPr>
              <a:xfrm flipH="1">
                <a:off x="6783658" y="5029200"/>
                <a:ext cx="24668" cy="88094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stCxn id="9" idx="2"/>
                <a:endCxn id="8" idx="0"/>
              </p:cNvCxnSpPr>
              <p:nvPr/>
            </p:nvCxnSpPr>
            <p:spPr>
              <a:xfrm>
                <a:off x="7774257" y="5103542"/>
                <a:ext cx="2" cy="806605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>
                <a:stCxn id="6" idx="3"/>
                <a:endCxn id="9" idx="1"/>
              </p:cNvCxnSpPr>
              <p:nvPr/>
            </p:nvCxnSpPr>
            <p:spPr>
              <a:xfrm>
                <a:off x="6861717" y="4975303"/>
                <a:ext cx="834481" cy="5203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>
                <a:stCxn id="6" idx="3"/>
                <a:endCxn id="8" idx="1"/>
              </p:cNvCxnSpPr>
              <p:nvPr/>
            </p:nvCxnSpPr>
            <p:spPr>
              <a:xfrm>
                <a:off x="6861717" y="4975303"/>
                <a:ext cx="834483" cy="101104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urved Connector 13"/>
              <p:cNvCxnSpPr>
                <a:stCxn id="8" idx="3"/>
              </p:cNvCxnSpPr>
              <p:nvPr/>
            </p:nvCxnSpPr>
            <p:spPr>
              <a:xfrm flipH="1" flipV="1">
                <a:off x="6854282" y="4939061"/>
                <a:ext cx="998035" cy="1047286"/>
              </a:xfrm>
              <a:prstGeom prst="curvedConnector4">
                <a:avLst>
                  <a:gd name="adj1" fmla="val -22905"/>
                  <a:gd name="adj2" fmla="val 144144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3276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6" name="Straight Arrow Connector 15"/>
              <p:cNvCxnSpPr>
                <a:stCxn id="15" idx="2"/>
                <a:endCxn id="17" idx="0"/>
              </p:cNvCxnSpPr>
              <p:nvPr/>
            </p:nvCxnSpPr>
            <p:spPr>
              <a:xfrm flipH="1">
                <a:off x="2064836" y="3429000"/>
                <a:ext cx="411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86777" y="3962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8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4038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9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3836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0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8255" y="466121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9036" y="5486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2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49822" y="5486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3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2883" y="5486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4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0436" y="6248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5" name="Straight Arrow Connector 24"/>
              <p:cNvCxnSpPr>
                <a:stCxn id="15" idx="2"/>
                <a:endCxn id="18" idx="0"/>
              </p:cNvCxnSpPr>
              <p:nvPr/>
            </p:nvCxnSpPr>
            <p:spPr>
              <a:xfrm>
                <a:off x="2476545" y="3429000"/>
                <a:ext cx="41247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73678" y="5486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7" name="Straight Arrow Connector 26"/>
              <p:cNvCxnSpPr>
                <a:stCxn id="17" idx="2"/>
                <a:endCxn id="19" idx="0"/>
              </p:cNvCxnSpPr>
              <p:nvPr/>
            </p:nvCxnSpPr>
            <p:spPr>
              <a:xfrm flipH="1">
                <a:off x="1761895" y="4114800"/>
                <a:ext cx="302941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>
                <a:stCxn id="19" idx="2"/>
                <a:endCxn id="21" idx="0"/>
              </p:cNvCxnSpPr>
              <p:nvPr/>
            </p:nvCxnSpPr>
            <p:spPr>
              <a:xfrm flipH="1">
                <a:off x="1457095" y="4800600"/>
                <a:ext cx="304800" cy="685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stCxn id="19" idx="2"/>
                <a:endCxn id="22" idx="0"/>
              </p:cNvCxnSpPr>
              <p:nvPr/>
            </p:nvCxnSpPr>
            <p:spPr>
              <a:xfrm>
                <a:off x="1761895" y="4800600"/>
                <a:ext cx="465986" cy="685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stCxn id="26" idx="0"/>
                <a:endCxn id="20" idx="1"/>
              </p:cNvCxnSpPr>
              <p:nvPr/>
            </p:nvCxnSpPr>
            <p:spPr>
              <a:xfrm flipV="1">
                <a:off x="2751737" y="4737410"/>
                <a:ext cx="136518" cy="7489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>
                <a:stCxn id="20" idx="2"/>
                <a:endCxn id="23" idx="0"/>
              </p:cNvCxnSpPr>
              <p:nvPr/>
            </p:nvCxnSpPr>
            <p:spPr>
              <a:xfrm>
                <a:off x="2966314" y="4813610"/>
                <a:ext cx="384628" cy="6727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>
                <a:stCxn id="17" idx="2"/>
                <a:endCxn id="20" idx="1"/>
              </p:cNvCxnSpPr>
              <p:nvPr/>
            </p:nvCxnSpPr>
            <p:spPr>
              <a:xfrm>
                <a:off x="2064836" y="4114800"/>
                <a:ext cx="823419" cy="6226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>
                <a:stCxn id="21" idx="2"/>
                <a:endCxn id="24" idx="0"/>
              </p:cNvCxnSpPr>
              <p:nvPr/>
            </p:nvCxnSpPr>
            <p:spPr>
              <a:xfrm flipH="1">
                <a:off x="1228495" y="5638800"/>
                <a:ext cx="22860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8" idx="1"/>
                <a:endCxn id="17" idx="3"/>
              </p:cNvCxnSpPr>
              <p:nvPr/>
            </p:nvCxnSpPr>
            <p:spPr>
              <a:xfrm flipH="1" flipV="1">
                <a:off x="2142894" y="4038600"/>
                <a:ext cx="668062" cy="76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>
                <a:stCxn id="18" idx="2"/>
                <a:endCxn id="20" idx="0"/>
              </p:cNvCxnSpPr>
              <p:nvPr/>
            </p:nvCxnSpPr>
            <p:spPr>
              <a:xfrm>
                <a:off x="2889015" y="4191000"/>
                <a:ext cx="77299" cy="4702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urved Connector 35"/>
              <p:cNvCxnSpPr>
                <a:endCxn id="17" idx="1"/>
              </p:cNvCxnSpPr>
              <p:nvPr/>
            </p:nvCxnSpPr>
            <p:spPr>
              <a:xfrm flipV="1">
                <a:off x="1414882" y="4038600"/>
                <a:ext cx="571895" cy="1491734"/>
              </a:xfrm>
              <a:prstGeom prst="curvedConnector3">
                <a:avLst>
                  <a:gd name="adj1" fmla="val -55293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>
                <a:stCxn id="22" idx="1"/>
                <a:endCxn id="24" idx="3"/>
              </p:cNvCxnSpPr>
              <p:nvPr/>
            </p:nvCxnSpPr>
            <p:spPr>
              <a:xfrm flipH="1">
                <a:off x="1306553" y="5562600"/>
                <a:ext cx="843269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stCxn id="22" idx="2"/>
                <a:endCxn id="39" idx="0"/>
              </p:cNvCxnSpPr>
              <p:nvPr/>
            </p:nvCxnSpPr>
            <p:spPr>
              <a:xfrm>
                <a:off x="2227881" y="5638800"/>
                <a:ext cx="63697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9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13519" y="6172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40" name="Straight Arrow Connector 39"/>
              <p:cNvCxnSpPr>
                <a:stCxn id="23" idx="1"/>
                <a:endCxn id="26" idx="3"/>
              </p:cNvCxnSpPr>
              <p:nvPr/>
            </p:nvCxnSpPr>
            <p:spPr>
              <a:xfrm flipH="1">
                <a:off x="2829795" y="5562600"/>
                <a:ext cx="443088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>
              <a:xfrm>
                <a:off x="2209800" y="3124200"/>
                <a:ext cx="974662" cy="1143000"/>
                <a:chOff x="2209800" y="533400"/>
                <a:chExt cx="974662" cy="1143000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2209800" y="533400"/>
                  <a:ext cx="2840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x</a:t>
                  </a: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2895600" y="13070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6475306" y="4800600"/>
                <a:ext cx="1601894" cy="1600200"/>
                <a:chOff x="6475306" y="2209800"/>
                <a:chExt cx="1601894" cy="1600200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6475306" y="22098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b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6475306" y="32120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7770706" y="22860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7694506" y="3440668"/>
                  <a:ext cx="2824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c</a:t>
                  </a:r>
                </a:p>
              </p:txBody>
            </p:sp>
          </p:grpSp>
          <p:cxnSp>
            <p:nvCxnSpPr>
              <p:cNvPr id="59" name="Straight Arrow Connector 58"/>
              <p:cNvCxnSpPr>
                <a:stCxn id="22" idx="1"/>
                <a:endCxn id="21" idx="3"/>
              </p:cNvCxnSpPr>
              <p:nvPr/>
            </p:nvCxnSpPr>
            <p:spPr>
              <a:xfrm flipH="1">
                <a:off x="1535153" y="5562600"/>
                <a:ext cx="614669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urved Connector 59"/>
              <p:cNvCxnSpPr/>
              <p:nvPr/>
            </p:nvCxnSpPr>
            <p:spPr>
              <a:xfrm rot="10800000">
                <a:off x="2504553" y="3388112"/>
                <a:ext cx="436452" cy="685800"/>
              </a:xfrm>
              <a:prstGeom prst="curvedConnector3">
                <a:avLst>
                  <a:gd name="adj1" fmla="val -57131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 flipH="1">
                <a:off x="1317452" y="6286500"/>
                <a:ext cx="906966" cy="76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Freeform 72"/>
          <p:cNvSpPr/>
          <p:nvPr/>
        </p:nvSpPr>
        <p:spPr>
          <a:xfrm>
            <a:off x="2587083" y="4319239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>
            <a:off x="1150437" y="3873191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>
            <a:off x="6612673" y="4787590"/>
            <a:ext cx="1438507" cy="1382751"/>
          </a:xfrm>
          <a:custGeom>
            <a:avLst/>
            <a:gdLst>
              <a:gd name="connsiteX0" fmla="*/ 22303 w 1438507"/>
              <a:gd name="connsiteY0" fmla="*/ 33454 h 1382751"/>
              <a:gd name="connsiteX1" fmla="*/ 0 w 1438507"/>
              <a:gd name="connsiteY1" fmla="*/ 234176 h 1382751"/>
              <a:gd name="connsiteX2" fmla="*/ 936703 w 1438507"/>
              <a:gd name="connsiteY2" fmla="*/ 1293542 h 1382751"/>
              <a:gd name="connsiteX3" fmla="*/ 1226634 w 1438507"/>
              <a:gd name="connsiteY3" fmla="*/ 1382751 h 1382751"/>
              <a:gd name="connsiteX4" fmla="*/ 1438507 w 1438507"/>
              <a:gd name="connsiteY4" fmla="*/ 1260088 h 1382751"/>
              <a:gd name="connsiteX5" fmla="*/ 1427356 w 1438507"/>
              <a:gd name="connsiteY5" fmla="*/ 0 h 1382751"/>
              <a:gd name="connsiteX6" fmla="*/ 22303 w 1438507"/>
              <a:gd name="connsiteY6" fmla="*/ 33454 h 138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8507" h="1382751">
                <a:moveTo>
                  <a:pt x="22303" y="33454"/>
                </a:moveTo>
                <a:lnTo>
                  <a:pt x="0" y="234176"/>
                </a:lnTo>
                <a:lnTo>
                  <a:pt x="936703" y="1293542"/>
                </a:lnTo>
                <a:lnTo>
                  <a:pt x="1226634" y="1382751"/>
                </a:lnTo>
                <a:lnTo>
                  <a:pt x="1438507" y="1260088"/>
                </a:lnTo>
                <a:lnTo>
                  <a:pt x="1427356" y="0"/>
                </a:lnTo>
                <a:lnTo>
                  <a:pt x="22303" y="33454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553200" y="5867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2133600" y="60960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 77"/>
          <p:cNvSpPr/>
          <p:nvPr/>
        </p:nvSpPr>
        <p:spPr>
          <a:xfrm>
            <a:off x="2185639" y="3137210"/>
            <a:ext cx="959005" cy="1092819"/>
          </a:xfrm>
          <a:custGeom>
            <a:avLst/>
            <a:gdLst>
              <a:gd name="connsiteX0" fmla="*/ 44605 w 959005"/>
              <a:gd name="connsiteY0" fmla="*/ 44605 h 1092819"/>
              <a:gd name="connsiteX1" fmla="*/ 0 w 959005"/>
              <a:gd name="connsiteY1" fmla="*/ 312234 h 1092819"/>
              <a:gd name="connsiteX2" fmla="*/ 546410 w 959005"/>
              <a:gd name="connsiteY2" fmla="*/ 1092819 h 1092819"/>
              <a:gd name="connsiteX3" fmla="*/ 959005 w 959005"/>
              <a:gd name="connsiteY3" fmla="*/ 1092819 h 1092819"/>
              <a:gd name="connsiteX4" fmla="*/ 869795 w 959005"/>
              <a:gd name="connsiteY4" fmla="*/ 546410 h 1092819"/>
              <a:gd name="connsiteX5" fmla="*/ 256478 w 959005"/>
              <a:gd name="connsiteY5" fmla="*/ 0 h 1092819"/>
              <a:gd name="connsiteX6" fmla="*/ 44605 w 959005"/>
              <a:gd name="connsiteY6" fmla="*/ 44605 h 109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9005" h="1092819">
                <a:moveTo>
                  <a:pt x="44605" y="44605"/>
                </a:moveTo>
                <a:lnTo>
                  <a:pt x="0" y="312234"/>
                </a:lnTo>
                <a:lnTo>
                  <a:pt x="546410" y="1092819"/>
                </a:lnTo>
                <a:lnTo>
                  <a:pt x="959005" y="1092819"/>
                </a:lnTo>
                <a:lnTo>
                  <a:pt x="869795" y="546410"/>
                </a:lnTo>
                <a:lnTo>
                  <a:pt x="256478" y="0"/>
                </a:lnTo>
                <a:lnTo>
                  <a:pt x="44605" y="44605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990600" y="61722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3962400" y="1219200"/>
            <a:ext cx="4953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728187" y="1169949"/>
            <a:ext cx="4953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1211090" y="2591729"/>
            <a:ext cx="183691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718511" y="3352800"/>
                <a:ext cx="2249270" cy="65255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</a:t>
                </a:r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 </a:t>
                </a:r>
              </a:p>
              <a:p>
                <a:pPr algn="ctr"/>
                <a:r>
                  <a:rPr lang="en-US" dirty="0"/>
                  <a:t>algorithm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511" y="3352800"/>
                <a:ext cx="2249270" cy="652551"/>
              </a:xfrm>
              <a:prstGeom prst="rect">
                <a:avLst/>
              </a:prstGeom>
              <a:blipFill rotWithShape="1">
                <a:blip r:embed="rId4"/>
                <a:stretch>
                  <a:fillRect l="-1887" t="-2752" r="-3774" b="-128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Down Ribbon 80"/>
              <p:cNvSpPr/>
              <p:nvPr/>
            </p:nvSpPr>
            <p:spPr>
              <a:xfrm>
                <a:off x="6273631" y="3169475"/>
                <a:ext cx="3124200" cy="904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 O(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time algorithm</a:t>
                </a:r>
              </a:p>
            </p:txBody>
          </p:sp>
        </mc:Choice>
        <mc:Fallback xmlns="">
          <p:sp>
            <p:nvSpPr>
              <p:cNvPr id="81" name="Down Ribbon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631" y="3169475"/>
                <a:ext cx="3124200" cy="904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5"/>
                <a:stretch>
                  <a:fillRect b="-3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77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70" grpId="0" animBg="1"/>
      <p:bldP spid="71" grpId="0" animBg="1"/>
      <p:bldP spid="80" grpId="0" animBg="1"/>
      <p:bldP spid="2" grpId="0" animBg="1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8632-B2CB-ECCD-9409-5B84AFF0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26" y="33339"/>
            <a:ext cx="3968748" cy="1628775"/>
          </a:xfrm>
        </p:spPr>
        <p:txBody>
          <a:bodyPr anchor="b">
            <a:normAutofit fontScale="90000"/>
          </a:bodyPr>
          <a:lstStyle/>
          <a:p>
            <a:r>
              <a:rPr lang="en-US" sz="3500" b="1" dirty="0">
                <a:solidFill>
                  <a:srgbClr val="7030A0"/>
                </a:solidFill>
              </a:rPr>
              <a:t>Kosaraju</a:t>
            </a:r>
            <a:r>
              <a:rPr lang="en-US" sz="3500" b="1" dirty="0"/>
              <a:t>’s Algorithm</a:t>
            </a:r>
            <a:br>
              <a:rPr lang="en-US" sz="3500" dirty="0"/>
            </a:br>
            <a:endParaRPr lang="en-IN" sz="3500" dirty="0"/>
          </a:p>
        </p:txBody>
      </p:sp>
      <p:pic>
        <p:nvPicPr>
          <p:cNvPr id="5" name="Content Placeholder 4" descr="A person in a suit&#10;&#10;Description automatically generated">
            <a:extLst>
              <a:ext uri="{FF2B5EF4-FFF2-40B4-BE49-F238E27FC236}">
                <a16:creationId xmlns:a16="http://schemas.microsoft.com/office/drawing/2014/main" id="{96A54F75-3461-993E-C0F1-79680050F7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9" r="17159"/>
          <a:stretch/>
        </p:blipFill>
        <p:spPr>
          <a:xfrm>
            <a:off x="0" y="1600623"/>
            <a:ext cx="2438399" cy="365675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5776AD-181C-A73D-01F4-F37B587B2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609588"/>
            <a:ext cx="3968747" cy="37528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DFS Traversal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5C9EB-8F30-3BAF-B626-07D2B948C655}"/>
              </a:ext>
            </a:extLst>
          </p:cNvPr>
          <p:cNvSpPr txBox="1"/>
          <p:nvPr/>
        </p:nvSpPr>
        <p:spPr>
          <a:xfrm>
            <a:off x="0" y="5257800"/>
            <a:ext cx="33809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Mtech</a:t>
            </a:r>
            <a:r>
              <a:rPr lang="en-US" dirty="0"/>
              <a:t> IIT KGP</a:t>
            </a:r>
          </a:p>
          <a:p>
            <a:r>
              <a:rPr lang="en-US" dirty="0"/>
              <a:t>PhD Uni. Pennsylvania</a:t>
            </a:r>
          </a:p>
          <a:p>
            <a:r>
              <a:rPr lang="en-US" dirty="0"/>
              <a:t>Faculty at John Hopkins University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FF9785-C6AB-8ED5-CF7B-916B1FEC480A}"/>
              </a:ext>
            </a:extLst>
          </p:cNvPr>
          <p:cNvSpPr txBox="1">
            <a:spLocks/>
          </p:cNvSpPr>
          <p:nvPr/>
        </p:nvSpPr>
        <p:spPr>
          <a:xfrm>
            <a:off x="1969404" y="321146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A </a:t>
            </a:r>
            <a:r>
              <a:rPr lang="en-US" sz="2800" b="1" u="sng" dirty="0"/>
              <a:t>simple</a:t>
            </a:r>
            <a:r>
              <a:rPr lang="en-US" sz="2800" b="1" dirty="0"/>
              <a:t> but very </a:t>
            </a:r>
            <a:r>
              <a:rPr lang="en-US" sz="2800" b="1" u="sng" dirty="0"/>
              <a:t>powerful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7030A0"/>
                </a:solidFill>
              </a:rPr>
              <a:t>idea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3F4E3EBC-905D-CF12-B085-8A5081BB9085}"/>
              </a:ext>
            </a:extLst>
          </p:cNvPr>
          <p:cNvSpPr/>
          <p:nvPr/>
        </p:nvSpPr>
        <p:spPr>
          <a:xfrm>
            <a:off x="5260973" y="2363042"/>
            <a:ext cx="914400" cy="914400"/>
          </a:xfrm>
          <a:prstGeom prst="mathPlus">
            <a:avLst>
              <a:gd name="adj1" fmla="val 117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73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6" grpId="0"/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562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400" dirty="0"/>
                  <a:t>   : the given directed graph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  <m:r>
                      <a:rPr lang="en-US" sz="2400" b="1" i="1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: the graph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400" dirty="0"/>
                  <a:t> after reversing edge directions;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Let us see whether you can use it in today’s lecture </a:t>
                </a:r>
                <a:r>
                  <a:rPr lang="en-US" sz="2400" dirty="0">
                    <a:sym typeface="Wingdings" pitchFamily="2" charset="2"/>
                  </a:rPr>
                  <a:t>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562600"/>
              </a:xfrm>
              <a:blipFill>
                <a:blip r:embed="rId2"/>
                <a:stretch>
                  <a:fillRect l="-1111" t="-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66800" y="2057400"/>
            <a:ext cx="57912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62200" y="3704064"/>
                <a:ext cx="1188146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b="1" dirty="0"/>
                  <a:t>s</a:t>
                </a:r>
                <a:r>
                  <a:rPr lang="en-US" dirty="0"/>
                  <a:t> of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704064"/>
                <a:ext cx="118814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082" t="-6452" r="-7653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9200" y="3739376"/>
                <a:ext cx="1287468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b="1" dirty="0"/>
                  <a:t>s</a:t>
                </a:r>
                <a:r>
                  <a:rPr lang="en-US" dirty="0"/>
                  <a:t> of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739376"/>
                <a:ext cx="128746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286" t="-6349" r="-657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qual 9"/>
          <p:cNvSpPr/>
          <p:nvPr/>
        </p:nvSpPr>
        <p:spPr>
          <a:xfrm>
            <a:off x="3810000" y="3604632"/>
            <a:ext cx="914400" cy="568196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Graphic 14" descr="A lightbulb">
            <a:extLst>
              <a:ext uri="{FF2B5EF4-FFF2-40B4-BE49-F238E27FC236}">
                <a16:creationId xmlns:a16="http://schemas.microsoft.com/office/drawing/2014/main" id="{AA2097A7-E6C2-5880-98CF-091F4AD4D1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38500" y="4572000"/>
            <a:ext cx="2057400" cy="2057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1719B22-DB0B-F4EE-2EB2-6023ED1F679E}"/>
              </a:ext>
            </a:extLst>
          </p:cNvPr>
          <p:cNvSpPr txBox="1">
            <a:spLocks/>
          </p:cNvSpPr>
          <p:nvPr/>
        </p:nvSpPr>
        <p:spPr>
          <a:xfrm>
            <a:off x="304800" y="580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A </a:t>
            </a:r>
            <a:r>
              <a:rPr lang="en-US" sz="2800" b="1" u="sng" dirty="0"/>
              <a:t>simple</a:t>
            </a:r>
            <a:r>
              <a:rPr lang="en-US" sz="2800" b="1" dirty="0"/>
              <a:t> but very </a:t>
            </a:r>
            <a:r>
              <a:rPr lang="en-US" sz="2800" b="1" u="sng" dirty="0"/>
              <a:t>powerful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7030A0"/>
                </a:solidFill>
              </a:rPr>
              <a:t>idea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CE05F8-D374-1ED7-4792-2A2E608C20FA}"/>
              </a:ext>
            </a:extLst>
          </p:cNvPr>
          <p:cNvSpPr/>
          <p:nvPr/>
        </p:nvSpPr>
        <p:spPr>
          <a:xfrm>
            <a:off x="1066800" y="1447800"/>
            <a:ext cx="57912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6CCEE-BD45-BC90-985D-6A6930B1A410}"/>
              </a:ext>
            </a:extLst>
          </p:cNvPr>
          <p:cNvSpPr txBox="1"/>
          <p:nvPr/>
        </p:nvSpPr>
        <p:spPr>
          <a:xfrm>
            <a:off x="4079488" y="3588053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IN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25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9" grpId="0" animBg="1"/>
      <p:bldP spid="10" grpId="0" animBg="1"/>
      <p:bldP spid="2" grpId="0" animBg="1"/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Computing</a:t>
            </a:r>
            <a:r>
              <a:rPr lang="en-US" sz="3600" b="1" dirty="0">
                <a:solidFill>
                  <a:srgbClr val="7030A0"/>
                </a:solidFill>
              </a:rPr>
              <a:t> SCC</a:t>
            </a:r>
            <a:r>
              <a:rPr lang="en-US" sz="3600" b="1" dirty="0"/>
              <a:t>s efficiently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e 1"/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An O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time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Sub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 rotWithShape="1">
                <a:blip r:embed="rId2"/>
                <a:stretch>
                  <a:fillRect t="-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423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3641-C2F9-7EF5-10E7-B87C2705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63E4-154C-4C16-33FB-C39FDAC6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C30800E-FB4B-A1C5-BA45-BA4B4FE3C119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C4C3824-0CB4-0BAC-77F6-FB801A3D89CC}"/>
              </a:ext>
            </a:extLst>
          </p:cNvPr>
          <p:cNvSpPr/>
          <p:nvPr/>
        </p:nvSpPr>
        <p:spPr>
          <a:xfrm>
            <a:off x="1278551" y="2286000"/>
            <a:ext cx="986672" cy="35388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9E34F8-73A8-1A9B-BCD0-AE39F58CD3E4}"/>
              </a:ext>
            </a:extLst>
          </p:cNvPr>
          <p:cNvCxnSpPr>
            <a:cxnSpLocks/>
          </p:cNvCxnSpPr>
          <p:nvPr/>
        </p:nvCxnSpPr>
        <p:spPr>
          <a:xfrm>
            <a:off x="1733578" y="275148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17AD01-589D-530D-E6DA-E4EF2776728F}"/>
              </a:ext>
            </a:extLst>
          </p:cNvPr>
          <p:cNvSpPr txBox="1"/>
          <p:nvPr/>
        </p:nvSpPr>
        <p:spPr>
          <a:xfrm>
            <a:off x="1794960" y="2504387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492385-6B77-28A0-0E2E-AE7EE40248A3}"/>
              </a:ext>
            </a:extLst>
          </p:cNvPr>
          <p:cNvSpPr txBox="1"/>
          <p:nvPr/>
        </p:nvSpPr>
        <p:spPr>
          <a:xfrm>
            <a:off x="1836830" y="5174309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31B6A2-A8E5-5495-8855-17F122401C71}"/>
              </a:ext>
            </a:extLst>
          </p:cNvPr>
          <p:cNvSpPr txBox="1"/>
          <p:nvPr/>
        </p:nvSpPr>
        <p:spPr>
          <a:xfrm>
            <a:off x="5953974" y="29718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31F4FF-EC3E-88F5-31BE-621E8E71ED47}"/>
              </a:ext>
            </a:extLst>
          </p:cNvPr>
          <p:cNvSpPr txBox="1"/>
          <p:nvPr/>
        </p:nvSpPr>
        <p:spPr>
          <a:xfrm>
            <a:off x="7556454" y="4125223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A7BA75-4A26-4DAE-385A-9DCC2F89CF29}"/>
              </a:ext>
            </a:extLst>
          </p:cNvPr>
          <p:cNvSpPr txBox="1"/>
          <p:nvPr/>
        </p:nvSpPr>
        <p:spPr>
          <a:xfrm>
            <a:off x="1356816" y="3796135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D85A9F63-9B49-FBFA-DBB8-8F9F3E9CA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06795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99BFC133-40D5-350C-4260-7BF1C31DA6CF}"/>
              </a:ext>
            </a:extLst>
          </p:cNvPr>
          <p:cNvSpPr/>
          <p:nvPr/>
        </p:nvSpPr>
        <p:spPr>
          <a:xfrm flipV="1">
            <a:off x="1657378" y="262079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0A3ECF3-A25F-971C-D513-5AE964353E50}"/>
              </a:ext>
            </a:extLst>
          </p:cNvPr>
          <p:cNvSpPr/>
          <p:nvPr/>
        </p:nvSpPr>
        <p:spPr>
          <a:xfrm flipV="1">
            <a:off x="1657378" y="530372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611FF919-5F29-062E-4C55-5ED91A80F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51510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3A1E3731-C4F3-0DD9-A85F-5F03ADC5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96226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ADD89218-B0CF-90EF-C812-B1A38B3C6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40941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461326D1-F2B3-E4EC-88BB-EE68F4826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85657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5CBCDF1-96BF-0D2F-BB25-7C872CC5DC2D}"/>
              </a:ext>
            </a:extLst>
          </p:cNvPr>
          <p:cNvCxnSpPr>
            <a:cxnSpLocks/>
          </p:cNvCxnSpPr>
          <p:nvPr/>
        </p:nvCxnSpPr>
        <p:spPr>
          <a:xfrm>
            <a:off x="1733578" y="320650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AFE2BF-5B57-EACF-C1A8-66D9B344ED58}"/>
              </a:ext>
            </a:extLst>
          </p:cNvPr>
          <p:cNvCxnSpPr>
            <a:cxnSpLocks/>
          </p:cNvCxnSpPr>
          <p:nvPr/>
        </p:nvCxnSpPr>
        <p:spPr>
          <a:xfrm>
            <a:off x="1733578" y="3663434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9AA387E-8828-0DE8-F512-B2DFA3EB8415}"/>
              </a:ext>
            </a:extLst>
          </p:cNvPr>
          <p:cNvCxnSpPr>
            <a:cxnSpLocks/>
          </p:cNvCxnSpPr>
          <p:nvPr/>
        </p:nvCxnSpPr>
        <p:spPr>
          <a:xfrm>
            <a:off x="1727133" y="409294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C87F1C9-872E-0D57-1924-63AF33CD878E}"/>
              </a:ext>
            </a:extLst>
          </p:cNvPr>
          <p:cNvCxnSpPr>
            <a:cxnSpLocks/>
          </p:cNvCxnSpPr>
          <p:nvPr/>
        </p:nvCxnSpPr>
        <p:spPr>
          <a:xfrm>
            <a:off x="1724600" y="4561815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6F12E17-A6BB-FB18-F0FD-62F43EF77292}"/>
              </a:ext>
            </a:extLst>
          </p:cNvPr>
          <p:cNvCxnSpPr>
            <a:cxnSpLocks/>
          </p:cNvCxnSpPr>
          <p:nvPr/>
        </p:nvCxnSpPr>
        <p:spPr>
          <a:xfrm>
            <a:off x="1724600" y="498725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ADA977C-5407-E8DE-4458-054888F36B38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0F205-D161-0FC5-7A97-0590EE32AC5D}"/>
              </a:ext>
            </a:extLst>
          </p:cNvPr>
          <p:cNvSpPr txBox="1"/>
          <p:nvPr/>
        </p:nvSpPr>
        <p:spPr>
          <a:xfrm>
            <a:off x="629718" y="1774782"/>
            <a:ext cx="220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path in the graph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5F8079-56E4-D7BC-33AF-B6D97020B8B3}"/>
              </a:ext>
            </a:extLst>
          </p:cNvPr>
          <p:cNvGrpSpPr/>
          <p:nvPr/>
        </p:nvGrpSpPr>
        <p:grpSpPr>
          <a:xfrm>
            <a:off x="5710133" y="2869378"/>
            <a:ext cx="2015032" cy="1714290"/>
            <a:chOff x="5710133" y="2869378"/>
            <a:chExt cx="2015032" cy="171429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9E3AF58-8F0C-1ADE-D706-FBF7AB13EDDF}"/>
                </a:ext>
              </a:extLst>
            </p:cNvPr>
            <p:cNvGrpSpPr/>
            <p:nvPr/>
          </p:nvGrpSpPr>
          <p:grpSpPr>
            <a:xfrm>
              <a:off x="5710133" y="2869378"/>
              <a:ext cx="2015032" cy="1714290"/>
              <a:chOff x="5710133" y="2869378"/>
              <a:chExt cx="2015032" cy="171429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CB8272A-05D7-606D-C3C7-F928F50AADBA}"/>
                  </a:ext>
                </a:extLst>
              </p:cNvPr>
              <p:cNvSpPr/>
              <p:nvPr/>
            </p:nvSpPr>
            <p:spPr>
              <a:xfrm flipV="1">
                <a:off x="6019800" y="2895600"/>
                <a:ext cx="152400" cy="1524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E1C04CA-830D-B087-8EA7-020131B69290}"/>
                  </a:ext>
                </a:extLst>
              </p:cNvPr>
              <p:cNvSpPr/>
              <p:nvPr/>
            </p:nvSpPr>
            <p:spPr>
              <a:xfrm flipV="1">
                <a:off x="5710133" y="4064896"/>
                <a:ext cx="152400" cy="1524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1C83D64-36E8-F5F0-8721-56A210B2D64E}"/>
                  </a:ext>
                </a:extLst>
              </p:cNvPr>
              <p:cNvSpPr/>
              <p:nvPr/>
            </p:nvSpPr>
            <p:spPr>
              <a:xfrm flipV="1">
                <a:off x="6948256" y="2869378"/>
                <a:ext cx="152400" cy="1524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036AB1E-1EC8-FEDB-2CB0-7A6F3936B144}"/>
                  </a:ext>
                </a:extLst>
              </p:cNvPr>
              <p:cNvSpPr/>
              <p:nvPr/>
            </p:nvSpPr>
            <p:spPr>
              <a:xfrm flipV="1">
                <a:off x="7568992" y="3364736"/>
                <a:ext cx="152400" cy="1524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DAC5BF4-549E-0E14-CF5E-95373B3C4BBD}"/>
                  </a:ext>
                </a:extLst>
              </p:cNvPr>
              <p:cNvSpPr/>
              <p:nvPr/>
            </p:nvSpPr>
            <p:spPr>
              <a:xfrm flipV="1">
                <a:off x="6700914" y="3674546"/>
                <a:ext cx="152400" cy="1524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133002F-0D3E-7A8E-FAAC-5B325D019DE6}"/>
                  </a:ext>
                </a:extLst>
              </p:cNvPr>
              <p:cNvSpPr/>
              <p:nvPr/>
            </p:nvSpPr>
            <p:spPr>
              <a:xfrm flipV="1">
                <a:off x="7572765" y="4064896"/>
                <a:ext cx="152400" cy="1524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DBD8C80D-8EED-3155-5A67-A5CD9218537F}"/>
                  </a:ext>
                </a:extLst>
              </p:cNvPr>
              <p:cNvSpPr/>
              <p:nvPr/>
            </p:nvSpPr>
            <p:spPr>
              <a:xfrm flipV="1">
                <a:off x="6437152" y="4431268"/>
                <a:ext cx="152400" cy="15240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3ADB2D5-2528-9391-5CE6-69A546208685}"/>
                </a:ext>
              </a:extLst>
            </p:cNvPr>
            <p:cNvSpPr/>
            <p:nvPr/>
          </p:nvSpPr>
          <p:spPr>
            <a:xfrm flipV="1">
              <a:off x="6155680" y="3758300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872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500"/>
                            </p:stCondLst>
                            <p:childTnLst>
                              <p:par>
                                <p:cTn id="8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3" grpId="0" animBg="1"/>
      <p:bldP spid="22" grpId="0"/>
      <p:bldP spid="24" grpId="0"/>
      <p:bldP spid="40" grpId="0"/>
      <p:bldP spid="41" grpId="0"/>
      <p:bldP spid="42" grpId="0"/>
      <p:bldP spid="46" grpId="0" animBg="1"/>
      <p:bldP spid="49" grpId="0" animBg="1"/>
      <p:bldP spid="68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3641-C2F9-7EF5-10E7-B87C2705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63E4-154C-4C16-33FB-C39FDAC6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All vertices on the x-z path belong to the </a:t>
            </a:r>
            <a:r>
              <a:rPr lang="en-US" sz="2000" u="sng" dirty="0"/>
              <a:t>same</a:t>
            </a:r>
            <a:r>
              <a:rPr lang="en-US" sz="2000" dirty="0"/>
              <a:t> SCC.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C30800E-FB4B-A1C5-BA45-BA4B4FE3C119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C4C3824-0CB4-0BAC-77F6-FB801A3D89CC}"/>
              </a:ext>
            </a:extLst>
          </p:cNvPr>
          <p:cNvSpPr/>
          <p:nvPr/>
        </p:nvSpPr>
        <p:spPr>
          <a:xfrm>
            <a:off x="1278551" y="2286000"/>
            <a:ext cx="986672" cy="35388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9E34F8-73A8-1A9B-BCD0-AE39F58CD3E4}"/>
              </a:ext>
            </a:extLst>
          </p:cNvPr>
          <p:cNvCxnSpPr>
            <a:cxnSpLocks/>
          </p:cNvCxnSpPr>
          <p:nvPr/>
        </p:nvCxnSpPr>
        <p:spPr>
          <a:xfrm>
            <a:off x="1733578" y="275148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17AD01-589D-530D-E6DA-E4EF2776728F}"/>
              </a:ext>
            </a:extLst>
          </p:cNvPr>
          <p:cNvSpPr txBox="1"/>
          <p:nvPr/>
        </p:nvSpPr>
        <p:spPr>
          <a:xfrm>
            <a:off x="1794960" y="2504387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492385-6B77-28A0-0E2E-AE7EE40248A3}"/>
              </a:ext>
            </a:extLst>
          </p:cNvPr>
          <p:cNvSpPr txBox="1"/>
          <p:nvPr/>
        </p:nvSpPr>
        <p:spPr>
          <a:xfrm>
            <a:off x="1836830" y="5174309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31B6A2-A8E5-5495-8855-17F122401C71}"/>
              </a:ext>
            </a:extLst>
          </p:cNvPr>
          <p:cNvSpPr txBox="1"/>
          <p:nvPr/>
        </p:nvSpPr>
        <p:spPr>
          <a:xfrm>
            <a:off x="5953974" y="29718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31F4FF-EC3E-88F5-31BE-621E8E71ED47}"/>
              </a:ext>
            </a:extLst>
          </p:cNvPr>
          <p:cNvSpPr txBox="1"/>
          <p:nvPr/>
        </p:nvSpPr>
        <p:spPr>
          <a:xfrm>
            <a:off x="7556454" y="4125223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D85A9F63-9B49-FBFA-DBB8-8F9F3E9CA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06795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99BFC133-40D5-350C-4260-7BF1C31DA6CF}"/>
              </a:ext>
            </a:extLst>
          </p:cNvPr>
          <p:cNvSpPr/>
          <p:nvPr/>
        </p:nvSpPr>
        <p:spPr>
          <a:xfrm flipV="1">
            <a:off x="1657378" y="262079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E3AF58-8F0C-1ADE-D706-FBF7AB13EDDF}"/>
              </a:ext>
            </a:extLst>
          </p:cNvPr>
          <p:cNvGrpSpPr/>
          <p:nvPr/>
        </p:nvGrpSpPr>
        <p:grpSpPr>
          <a:xfrm>
            <a:off x="5710133" y="2869378"/>
            <a:ext cx="2015032" cy="1714290"/>
            <a:chOff x="5710133" y="2869378"/>
            <a:chExt cx="2015032" cy="171429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CB8272A-05D7-606D-C3C7-F928F50AADBA}"/>
                </a:ext>
              </a:extLst>
            </p:cNvPr>
            <p:cNvSpPr/>
            <p:nvPr/>
          </p:nvSpPr>
          <p:spPr>
            <a:xfrm flipV="1">
              <a:off x="6019800" y="2895600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E1C04CA-830D-B087-8EA7-020131B69290}"/>
                </a:ext>
              </a:extLst>
            </p:cNvPr>
            <p:cNvSpPr/>
            <p:nvPr/>
          </p:nvSpPr>
          <p:spPr>
            <a:xfrm flipV="1">
              <a:off x="5710133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1C83D64-36E8-F5F0-8721-56A210B2D64E}"/>
                </a:ext>
              </a:extLst>
            </p:cNvPr>
            <p:cNvSpPr/>
            <p:nvPr/>
          </p:nvSpPr>
          <p:spPr>
            <a:xfrm flipV="1">
              <a:off x="6948256" y="286937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036AB1E-1EC8-FEDB-2CB0-7A6F3936B144}"/>
                </a:ext>
              </a:extLst>
            </p:cNvPr>
            <p:cNvSpPr/>
            <p:nvPr/>
          </p:nvSpPr>
          <p:spPr>
            <a:xfrm flipV="1">
              <a:off x="7568992" y="336473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DAC5BF4-549E-0E14-CF5E-95373B3C4BBD}"/>
                </a:ext>
              </a:extLst>
            </p:cNvPr>
            <p:cNvSpPr/>
            <p:nvPr/>
          </p:nvSpPr>
          <p:spPr>
            <a:xfrm flipV="1">
              <a:off x="6700914" y="367454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33002F-0D3E-7A8E-FAAC-5B325D019DE6}"/>
                </a:ext>
              </a:extLst>
            </p:cNvPr>
            <p:cNvSpPr/>
            <p:nvPr/>
          </p:nvSpPr>
          <p:spPr>
            <a:xfrm flipV="1">
              <a:off x="7572765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BD8C80D-8EED-3155-5A67-A5CD9218537F}"/>
                </a:ext>
              </a:extLst>
            </p:cNvPr>
            <p:cNvSpPr/>
            <p:nvPr/>
          </p:nvSpPr>
          <p:spPr>
            <a:xfrm flipV="1">
              <a:off x="6437152" y="443126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90A3ECF3-A25F-971C-D513-5AE964353E50}"/>
              </a:ext>
            </a:extLst>
          </p:cNvPr>
          <p:cNvSpPr/>
          <p:nvPr/>
        </p:nvSpPr>
        <p:spPr>
          <a:xfrm flipV="1">
            <a:off x="1657378" y="530372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611FF919-5F29-062E-4C55-5ED91A80F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51510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3A1E3731-C4F3-0DD9-A85F-5F03ADC5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96226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ADD89218-B0CF-90EF-C812-B1A38B3C6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40941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461326D1-F2B3-E4EC-88BB-EE68F4826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85657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5CBCDF1-96BF-0D2F-BB25-7C872CC5DC2D}"/>
              </a:ext>
            </a:extLst>
          </p:cNvPr>
          <p:cNvCxnSpPr>
            <a:cxnSpLocks/>
          </p:cNvCxnSpPr>
          <p:nvPr/>
        </p:nvCxnSpPr>
        <p:spPr>
          <a:xfrm>
            <a:off x="1733578" y="320650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AFE2BF-5B57-EACF-C1A8-66D9B344ED58}"/>
              </a:ext>
            </a:extLst>
          </p:cNvPr>
          <p:cNvCxnSpPr>
            <a:cxnSpLocks/>
          </p:cNvCxnSpPr>
          <p:nvPr/>
        </p:nvCxnSpPr>
        <p:spPr>
          <a:xfrm>
            <a:off x="1733578" y="3663434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9AA387E-8828-0DE8-F512-B2DFA3EB8415}"/>
              </a:ext>
            </a:extLst>
          </p:cNvPr>
          <p:cNvCxnSpPr>
            <a:cxnSpLocks/>
          </p:cNvCxnSpPr>
          <p:nvPr/>
        </p:nvCxnSpPr>
        <p:spPr>
          <a:xfrm>
            <a:off x="1727133" y="409294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C87F1C9-872E-0D57-1924-63AF33CD878E}"/>
              </a:ext>
            </a:extLst>
          </p:cNvPr>
          <p:cNvCxnSpPr>
            <a:cxnSpLocks/>
          </p:cNvCxnSpPr>
          <p:nvPr/>
        </p:nvCxnSpPr>
        <p:spPr>
          <a:xfrm>
            <a:off x="1724600" y="4561815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6F12E17-A6BB-FB18-F0FD-62F43EF77292}"/>
              </a:ext>
            </a:extLst>
          </p:cNvPr>
          <p:cNvCxnSpPr>
            <a:cxnSpLocks/>
          </p:cNvCxnSpPr>
          <p:nvPr/>
        </p:nvCxnSpPr>
        <p:spPr>
          <a:xfrm>
            <a:off x="1724600" y="498725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ADA977C-5407-E8DE-4458-054888F36B38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7D4D0B-9904-20A4-C9EF-AD6F3B368A38}"/>
              </a:ext>
            </a:extLst>
          </p:cNvPr>
          <p:cNvSpPr/>
          <p:nvPr/>
        </p:nvSpPr>
        <p:spPr>
          <a:xfrm flipV="1">
            <a:off x="1651268" y="3960557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8C7CC8-7BDD-528F-F88A-8C599E007066}"/>
              </a:ext>
            </a:extLst>
          </p:cNvPr>
          <p:cNvSpPr/>
          <p:nvPr/>
        </p:nvSpPr>
        <p:spPr>
          <a:xfrm flipV="1">
            <a:off x="1653696" y="351510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C4B580-4D8E-4258-FE88-EC87B023C2F9}"/>
              </a:ext>
            </a:extLst>
          </p:cNvPr>
          <p:cNvSpPr/>
          <p:nvPr/>
        </p:nvSpPr>
        <p:spPr>
          <a:xfrm flipV="1">
            <a:off x="1655154" y="307581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2B8B1F-229B-A5E0-739F-B6CD904FCEF5}"/>
              </a:ext>
            </a:extLst>
          </p:cNvPr>
          <p:cNvSpPr/>
          <p:nvPr/>
        </p:nvSpPr>
        <p:spPr>
          <a:xfrm flipV="1">
            <a:off x="1655154" y="440103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1136A8-99DA-027A-B4C4-F60DEF48810E}"/>
              </a:ext>
            </a:extLst>
          </p:cNvPr>
          <p:cNvSpPr/>
          <p:nvPr/>
        </p:nvSpPr>
        <p:spPr>
          <a:xfrm flipV="1">
            <a:off x="1645458" y="485657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32D7F2-6A85-6181-FAE7-BEFE3118A3EB}"/>
              </a:ext>
            </a:extLst>
          </p:cNvPr>
          <p:cNvSpPr/>
          <p:nvPr/>
        </p:nvSpPr>
        <p:spPr>
          <a:xfrm flipV="1">
            <a:off x="6155680" y="37583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C57B6-0D5D-B5BB-C00F-D7C127D3A3FA}"/>
              </a:ext>
            </a:extLst>
          </p:cNvPr>
          <p:cNvSpPr txBox="1"/>
          <p:nvPr/>
        </p:nvSpPr>
        <p:spPr>
          <a:xfrm>
            <a:off x="629718" y="1774782"/>
            <a:ext cx="220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path in the graph</a:t>
            </a:r>
          </a:p>
        </p:txBody>
      </p:sp>
    </p:spTree>
    <p:extLst>
      <p:ext uri="{BB962C8B-B14F-4D97-AF65-F5344CB8AC3E}">
        <p14:creationId xmlns:p14="http://schemas.microsoft.com/office/powerpoint/2010/main" val="223078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3641-C2F9-7EF5-10E7-B87C2705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Inference </a:t>
            </a:r>
            <a:r>
              <a:rPr lang="en-US" sz="3600" b="1" dirty="0"/>
              <a:t>of </a:t>
            </a:r>
            <a:r>
              <a:rPr lang="en-US" sz="3600" b="1" dirty="0">
                <a:solidFill>
                  <a:srgbClr val="7030A0"/>
                </a:solidFill>
              </a:rPr>
              <a:t>Observation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63E4-154C-4C16-33FB-C39FDAC6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Notation </a:t>
            </a:r>
            <a:r>
              <a:rPr lang="en-US" sz="2000" dirty="0"/>
              <a:t>(</a:t>
            </a:r>
            <a:r>
              <a:rPr lang="en-US" sz="2000" b="1" dirty="0"/>
              <a:t>root</a:t>
            </a:r>
            <a:r>
              <a:rPr lang="en-US" sz="2000" dirty="0"/>
              <a:t> of an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>
                <a:sym typeface="Wingdings" pitchFamily="2" charset="2"/>
              </a:rPr>
              <a:t>):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the vertex of the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which is visited first during the </a:t>
            </a:r>
            <a:r>
              <a:rPr lang="en-US" sz="2000" b="1" dirty="0"/>
              <a:t>DFS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C30800E-FB4B-A1C5-BA45-BA4B4FE3C119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CB8272A-05D7-606D-C3C7-F928F50AADBA}"/>
              </a:ext>
            </a:extLst>
          </p:cNvPr>
          <p:cNvSpPr/>
          <p:nvPr/>
        </p:nvSpPr>
        <p:spPr>
          <a:xfrm flipV="1">
            <a:off x="6019800" y="28956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E1C04CA-830D-B087-8EA7-020131B69290}"/>
              </a:ext>
            </a:extLst>
          </p:cNvPr>
          <p:cNvSpPr/>
          <p:nvPr/>
        </p:nvSpPr>
        <p:spPr>
          <a:xfrm flipV="1">
            <a:off x="5710133" y="406489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C83D64-36E8-F5F0-8721-56A210B2D64E}"/>
              </a:ext>
            </a:extLst>
          </p:cNvPr>
          <p:cNvSpPr/>
          <p:nvPr/>
        </p:nvSpPr>
        <p:spPr>
          <a:xfrm flipV="1">
            <a:off x="6948256" y="286937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036AB1E-1EC8-FEDB-2CB0-7A6F3936B144}"/>
              </a:ext>
            </a:extLst>
          </p:cNvPr>
          <p:cNvSpPr/>
          <p:nvPr/>
        </p:nvSpPr>
        <p:spPr>
          <a:xfrm flipV="1">
            <a:off x="7568992" y="336473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DAC5BF4-549E-0E14-CF5E-95373B3C4BBD}"/>
              </a:ext>
            </a:extLst>
          </p:cNvPr>
          <p:cNvSpPr/>
          <p:nvPr/>
        </p:nvSpPr>
        <p:spPr>
          <a:xfrm flipV="1">
            <a:off x="6700914" y="367454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33002F-0D3E-7A8E-FAAC-5B325D019DE6}"/>
              </a:ext>
            </a:extLst>
          </p:cNvPr>
          <p:cNvSpPr/>
          <p:nvPr/>
        </p:nvSpPr>
        <p:spPr>
          <a:xfrm flipV="1">
            <a:off x="7572765" y="406489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BD8C80D-8EED-3155-5A67-A5CD9218537F}"/>
              </a:ext>
            </a:extLst>
          </p:cNvPr>
          <p:cNvSpPr/>
          <p:nvPr/>
        </p:nvSpPr>
        <p:spPr>
          <a:xfrm flipV="1">
            <a:off x="6437152" y="443126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DA977C-5407-E8DE-4458-054888F36B38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3FAAB3-62F1-576C-5534-EE918F974DBA}"/>
              </a:ext>
            </a:extLst>
          </p:cNvPr>
          <p:cNvSpPr/>
          <p:nvPr/>
        </p:nvSpPr>
        <p:spPr>
          <a:xfrm>
            <a:off x="6937882" y="2859314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890E5-C337-B6C5-DF3D-E8B25A1EBB01}"/>
              </a:ext>
            </a:extLst>
          </p:cNvPr>
          <p:cNvSpPr txBox="1"/>
          <p:nvPr/>
        </p:nvSpPr>
        <p:spPr>
          <a:xfrm>
            <a:off x="7093291" y="2734084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5" name="Flowchart: Extract 4">
            <a:extLst>
              <a:ext uri="{FF2B5EF4-FFF2-40B4-BE49-F238E27FC236}">
                <a16:creationId xmlns:a16="http://schemas.microsoft.com/office/drawing/2014/main" id="{130E70CA-BFDA-B66E-5D3D-B0F18056058D}"/>
              </a:ext>
            </a:extLst>
          </p:cNvPr>
          <p:cNvSpPr/>
          <p:nvPr/>
        </p:nvSpPr>
        <p:spPr>
          <a:xfrm>
            <a:off x="2365282" y="3939988"/>
            <a:ext cx="1252440" cy="1573905"/>
          </a:xfrm>
          <a:prstGeom prst="flowChartExtra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7F119E-093D-84B2-0E49-DCB659E6B29E}"/>
              </a:ext>
            </a:extLst>
          </p:cNvPr>
          <p:cNvGrpSpPr/>
          <p:nvPr/>
        </p:nvGrpSpPr>
        <p:grpSpPr>
          <a:xfrm>
            <a:off x="2903301" y="2357264"/>
            <a:ext cx="314097" cy="1415145"/>
            <a:chOff x="4255834" y="1457324"/>
            <a:chExt cx="258468" cy="1689047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346D2FD-A764-C466-4988-DB68A8E1DC65}"/>
                </a:ext>
              </a:extLst>
            </p:cNvPr>
            <p:cNvSpPr/>
            <p:nvPr/>
          </p:nvSpPr>
          <p:spPr>
            <a:xfrm>
              <a:off x="4270917" y="1457324"/>
              <a:ext cx="205833" cy="1447801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38EE581-5D23-4C1B-60D6-0BAAD52B094E}"/>
                </a:ext>
              </a:extLst>
            </p:cNvPr>
            <p:cNvCxnSpPr>
              <a:cxnSpLocks/>
              <a:stCxn id="11" idx="23"/>
            </p:cNvCxnSpPr>
            <p:nvPr/>
          </p:nvCxnSpPr>
          <p:spPr>
            <a:xfrm rot="19908639" flipH="1">
              <a:off x="4255834" y="2858621"/>
              <a:ext cx="258468" cy="28775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9CCD0956-E5AF-4170-9E24-F005DB68B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697" y="228106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DC11DD0-869F-1D4E-D733-03A42307CEE1}"/>
              </a:ext>
            </a:extLst>
          </p:cNvPr>
          <p:cNvSpPr/>
          <p:nvPr/>
        </p:nvSpPr>
        <p:spPr>
          <a:xfrm>
            <a:off x="2915587" y="3836330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371530-A24A-3878-8EB9-F2AF02928DAB}"/>
              </a:ext>
            </a:extLst>
          </p:cNvPr>
          <p:cNvSpPr/>
          <p:nvPr/>
        </p:nvSpPr>
        <p:spPr>
          <a:xfrm flipV="1">
            <a:off x="6030174" y="28956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329349B-0EAA-6ED9-4444-3D8F3CA844CE}"/>
              </a:ext>
            </a:extLst>
          </p:cNvPr>
          <p:cNvSpPr/>
          <p:nvPr/>
        </p:nvSpPr>
        <p:spPr>
          <a:xfrm flipV="1">
            <a:off x="6700914" y="368393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DAEDD7-1F44-5DDB-3536-6BCE001B8AF1}"/>
              </a:ext>
            </a:extLst>
          </p:cNvPr>
          <p:cNvSpPr/>
          <p:nvPr/>
        </p:nvSpPr>
        <p:spPr>
          <a:xfrm flipV="1">
            <a:off x="7568992" y="336473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2DEA95-C917-EF85-EE49-D11EF69F280E}"/>
              </a:ext>
            </a:extLst>
          </p:cNvPr>
          <p:cNvSpPr/>
          <p:nvPr/>
        </p:nvSpPr>
        <p:spPr>
          <a:xfrm flipV="1">
            <a:off x="7579119" y="4064484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837DA6-3E8E-E83E-283F-95A3F6133289}"/>
              </a:ext>
            </a:extLst>
          </p:cNvPr>
          <p:cNvSpPr/>
          <p:nvPr/>
        </p:nvSpPr>
        <p:spPr>
          <a:xfrm flipV="1">
            <a:off x="6437152" y="4430704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5E2D75-818C-7E65-1005-82164E9DE395}"/>
              </a:ext>
            </a:extLst>
          </p:cNvPr>
          <p:cNvSpPr/>
          <p:nvPr/>
        </p:nvSpPr>
        <p:spPr>
          <a:xfrm flipV="1">
            <a:off x="5710133" y="4064484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EE77E71-D7FE-1DB4-40BA-E005DC087032}"/>
              </a:ext>
            </a:extLst>
          </p:cNvPr>
          <p:cNvSpPr/>
          <p:nvPr/>
        </p:nvSpPr>
        <p:spPr>
          <a:xfrm>
            <a:off x="6937882" y="2859314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688109-5304-C0D8-1973-103F5654A8A6}"/>
              </a:ext>
            </a:extLst>
          </p:cNvPr>
          <p:cNvSpPr txBox="1"/>
          <p:nvPr/>
        </p:nvSpPr>
        <p:spPr>
          <a:xfrm>
            <a:off x="3085047" y="370147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D19E2D-AC0B-2469-EEFD-26E4A2EFD26C}"/>
              </a:ext>
            </a:extLst>
          </p:cNvPr>
          <p:cNvSpPr/>
          <p:nvPr/>
        </p:nvSpPr>
        <p:spPr>
          <a:xfrm flipV="1">
            <a:off x="6155680" y="37583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ECC9B7-6211-4163-7AE5-77DD28BE30BD}"/>
              </a:ext>
            </a:extLst>
          </p:cNvPr>
          <p:cNvSpPr/>
          <p:nvPr/>
        </p:nvSpPr>
        <p:spPr>
          <a:xfrm flipV="1">
            <a:off x="6155680" y="376002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8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/>
      <p:bldP spid="5" grpId="0" animBg="1"/>
      <p:bldP spid="14" grpId="0" animBg="1"/>
      <p:bldP spid="22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3641-C2F9-7EF5-10E7-B87C2705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Inference </a:t>
            </a:r>
            <a:r>
              <a:rPr lang="en-US" sz="3600" b="1" dirty="0"/>
              <a:t>of </a:t>
            </a:r>
            <a:r>
              <a:rPr lang="en-US" sz="3600" b="1" dirty="0">
                <a:solidFill>
                  <a:srgbClr val="7030A0"/>
                </a:solidFill>
              </a:rPr>
              <a:t>Observation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63E4-154C-4C16-33FB-C39FDAC6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Notation </a:t>
            </a:r>
            <a:r>
              <a:rPr lang="en-US" sz="2000" dirty="0"/>
              <a:t>(</a:t>
            </a:r>
            <a:r>
              <a:rPr lang="en-US" sz="2000" b="1" dirty="0"/>
              <a:t>root</a:t>
            </a:r>
            <a:r>
              <a:rPr lang="en-US" sz="2000" dirty="0"/>
              <a:t> of an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>
                <a:sym typeface="Wingdings" pitchFamily="2" charset="2"/>
              </a:rPr>
              <a:t>):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the vertex of the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which is visited first during the </a:t>
            </a:r>
            <a:r>
              <a:rPr lang="en-US" sz="2000" b="1" dirty="0"/>
              <a:t>DFS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All vertices of the </a:t>
            </a:r>
            <a:r>
              <a:rPr lang="en-US" sz="2000" b="1" dirty="0"/>
              <a:t>SCC</a:t>
            </a:r>
            <a:r>
              <a:rPr lang="en-US" sz="2000" dirty="0"/>
              <a:t> will be </a:t>
            </a:r>
            <a:r>
              <a:rPr lang="en-US" sz="2000" b="1" dirty="0"/>
              <a:t>descendants of r </a:t>
            </a:r>
            <a:r>
              <a:rPr lang="en-US" sz="2000" dirty="0"/>
              <a:t>in the DFS tree.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There may be vertices from </a:t>
            </a:r>
            <a:r>
              <a:rPr lang="en-US" sz="2000" u="sng" dirty="0"/>
              <a:t>other SCCs</a:t>
            </a:r>
            <a:r>
              <a:rPr lang="en-US" sz="2000" dirty="0"/>
              <a:t> that will be descendant of 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But, the entire SCC appears </a:t>
            </a:r>
            <a:r>
              <a:rPr lang="en-US" sz="2000" b="1" u="sng" dirty="0"/>
              <a:t>contiguously</a:t>
            </a:r>
            <a:r>
              <a:rPr lang="en-US" sz="2000" dirty="0"/>
              <a:t> in the subtree rooted at 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C30800E-FB4B-A1C5-BA45-BA4B4FE3C119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CB8272A-05D7-606D-C3C7-F928F50AADBA}"/>
              </a:ext>
            </a:extLst>
          </p:cNvPr>
          <p:cNvSpPr/>
          <p:nvPr/>
        </p:nvSpPr>
        <p:spPr>
          <a:xfrm flipV="1">
            <a:off x="6019800" y="28956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E1C04CA-830D-B087-8EA7-020131B69290}"/>
              </a:ext>
            </a:extLst>
          </p:cNvPr>
          <p:cNvSpPr/>
          <p:nvPr/>
        </p:nvSpPr>
        <p:spPr>
          <a:xfrm flipV="1">
            <a:off x="5710133" y="406489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C83D64-36E8-F5F0-8721-56A210B2D64E}"/>
              </a:ext>
            </a:extLst>
          </p:cNvPr>
          <p:cNvSpPr/>
          <p:nvPr/>
        </p:nvSpPr>
        <p:spPr>
          <a:xfrm flipV="1">
            <a:off x="6948256" y="286937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036AB1E-1EC8-FEDB-2CB0-7A6F3936B144}"/>
              </a:ext>
            </a:extLst>
          </p:cNvPr>
          <p:cNvSpPr/>
          <p:nvPr/>
        </p:nvSpPr>
        <p:spPr>
          <a:xfrm flipV="1">
            <a:off x="7568992" y="336473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DAC5BF4-549E-0E14-CF5E-95373B3C4BBD}"/>
              </a:ext>
            </a:extLst>
          </p:cNvPr>
          <p:cNvSpPr/>
          <p:nvPr/>
        </p:nvSpPr>
        <p:spPr>
          <a:xfrm flipV="1">
            <a:off x="6700914" y="367454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33002F-0D3E-7A8E-FAAC-5B325D019DE6}"/>
              </a:ext>
            </a:extLst>
          </p:cNvPr>
          <p:cNvSpPr/>
          <p:nvPr/>
        </p:nvSpPr>
        <p:spPr>
          <a:xfrm flipV="1">
            <a:off x="7572765" y="406489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BD8C80D-8EED-3155-5A67-A5CD9218537F}"/>
              </a:ext>
            </a:extLst>
          </p:cNvPr>
          <p:cNvSpPr/>
          <p:nvPr/>
        </p:nvSpPr>
        <p:spPr>
          <a:xfrm flipV="1">
            <a:off x="6437152" y="443126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DA977C-5407-E8DE-4458-054888F36B38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890E5-C337-B6C5-DF3D-E8B25A1EBB01}"/>
              </a:ext>
            </a:extLst>
          </p:cNvPr>
          <p:cNvSpPr txBox="1"/>
          <p:nvPr/>
        </p:nvSpPr>
        <p:spPr>
          <a:xfrm>
            <a:off x="7093291" y="2734084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5" name="Flowchart: Extract 4">
            <a:extLst>
              <a:ext uri="{FF2B5EF4-FFF2-40B4-BE49-F238E27FC236}">
                <a16:creationId xmlns:a16="http://schemas.microsoft.com/office/drawing/2014/main" id="{130E70CA-BFDA-B66E-5D3D-B0F18056058D}"/>
              </a:ext>
            </a:extLst>
          </p:cNvPr>
          <p:cNvSpPr/>
          <p:nvPr/>
        </p:nvSpPr>
        <p:spPr>
          <a:xfrm>
            <a:off x="2365282" y="3939988"/>
            <a:ext cx="1252440" cy="1573905"/>
          </a:xfrm>
          <a:prstGeom prst="flowChartExtra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7F119E-093D-84B2-0E49-DCB659E6B29E}"/>
              </a:ext>
            </a:extLst>
          </p:cNvPr>
          <p:cNvGrpSpPr/>
          <p:nvPr/>
        </p:nvGrpSpPr>
        <p:grpSpPr>
          <a:xfrm>
            <a:off x="2903301" y="2357264"/>
            <a:ext cx="314097" cy="1415145"/>
            <a:chOff x="4255834" y="1457324"/>
            <a:chExt cx="258468" cy="1689047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346D2FD-A764-C466-4988-DB68A8E1DC65}"/>
                </a:ext>
              </a:extLst>
            </p:cNvPr>
            <p:cNvSpPr/>
            <p:nvPr/>
          </p:nvSpPr>
          <p:spPr>
            <a:xfrm>
              <a:off x="4270917" y="1457324"/>
              <a:ext cx="205833" cy="1447801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38EE581-5D23-4C1B-60D6-0BAAD52B094E}"/>
                </a:ext>
              </a:extLst>
            </p:cNvPr>
            <p:cNvCxnSpPr>
              <a:cxnSpLocks/>
              <a:stCxn id="11" idx="23"/>
            </p:cNvCxnSpPr>
            <p:nvPr/>
          </p:nvCxnSpPr>
          <p:spPr>
            <a:xfrm rot="19908639" flipH="1">
              <a:off x="4255834" y="2858621"/>
              <a:ext cx="258468" cy="28775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9CCD0956-E5AF-4170-9E24-F005DB68B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697" y="228106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DC11DD0-869F-1D4E-D733-03A42307CEE1}"/>
              </a:ext>
            </a:extLst>
          </p:cNvPr>
          <p:cNvSpPr/>
          <p:nvPr/>
        </p:nvSpPr>
        <p:spPr>
          <a:xfrm>
            <a:off x="2915587" y="3836330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371530-A24A-3878-8EB9-F2AF02928DAB}"/>
              </a:ext>
            </a:extLst>
          </p:cNvPr>
          <p:cNvSpPr/>
          <p:nvPr/>
        </p:nvSpPr>
        <p:spPr>
          <a:xfrm flipV="1">
            <a:off x="2889953" y="4275753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329349B-0EAA-6ED9-4444-3D8F3CA844CE}"/>
              </a:ext>
            </a:extLst>
          </p:cNvPr>
          <p:cNvSpPr/>
          <p:nvPr/>
        </p:nvSpPr>
        <p:spPr>
          <a:xfrm flipV="1">
            <a:off x="3123769" y="472818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DAEDD7-1F44-5DDB-3536-6BCE001B8AF1}"/>
              </a:ext>
            </a:extLst>
          </p:cNvPr>
          <p:cNvSpPr/>
          <p:nvPr/>
        </p:nvSpPr>
        <p:spPr>
          <a:xfrm flipV="1">
            <a:off x="2963877" y="4935532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2DEA95-C917-EF85-EE49-D11EF69F280E}"/>
              </a:ext>
            </a:extLst>
          </p:cNvPr>
          <p:cNvSpPr/>
          <p:nvPr/>
        </p:nvSpPr>
        <p:spPr>
          <a:xfrm flipV="1">
            <a:off x="2813753" y="4563297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837DA6-3E8E-E83E-283F-95A3F6133289}"/>
              </a:ext>
            </a:extLst>
          </p:cNvPr>
          <p:cNvSpPr/>
          <p:nvPr/>
        </p:nvSpPr>
        <p:spPr>
          <a:xfrm flipV="1">
            <a:off x="3031462" y="4517609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5E2D75-818C-7E65-1005-82164E9DE395}"/>
              </a:ext>
            </a:extLst>
          </p:cNvPr>
          <p:cNvSpPr/>
          <p:nvPr/>
        </p:nvSpPr>
        <p:spPr>
          <a:xfrm flipV="1">
            <a:off x="2712585" y="480438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5EEF08-C057-93E7-7289-A097B8509AA5}"/>
              </a:ext>
            </a:extLst>
          </p:cNvPr>
          <p:cNvSpPr/>
          <p:nvPr/>
        </p:nvSpPr>
        <p:spPr>
          <a:xfrm flipV="1">
            <a:off x="3018417" y="5257800"/>
            <a:ext cx="152400" cy="152400"/>
          </a:xfrm>
          <a:prstGeom prst="ellipse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BBD471-4FD9-5D73-FE13-7E6E6D04EBC2}"/>
              </a:ext>
            </a:extLst>
          </p:cNvPr>
          <p:cNvSpPr/>
          <p:nvPr/>
        </p:nvSpPr>
        <p:spPr>
          <a:xfrm flipV="1">
            <a:off x="2743200" y="5181600"/>
            <a:ext cx="152400" cy="152400"/>
          </a:xfrm>
          <a:prstGeom prst="ellipse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19AD41-6416-1E8C-8176-74D2FF9CFD95}"/>
              </a:ext>
            </a:extLst>
          </p:cNvPr>
          <p:cNvSpPr/>
          <p:nvPr/>
        </p:nvSpPr>
        <p:spPr>
          <a:xfrm flipV="1">
            <a:off x="3357933" y="5282775"/>
            <a:ext cx="152400" cy="152400"/>
          </a:xfrm>
          <a:prstGeom prst="ellipse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1B45BC-1765-0D4C-E9AB-94FC1B52F470}"/>
              </a:ext>
            </a:extLst>
          </p:cNvPr>
          <p:cNvSpPr/>
          <p:nvPr/>
        </p:nvSpPr>
        <p:spPr>
          <a:xfrm flipV="1">
            <a:off x="2539450" y="5282775"/>
            <a:ext cx="152400" cy="152400"/>
          </a:xfrm>
          <a:prstGeom prst="ellipse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FD5D4DE-51F8-4534-1998-F201EA9B0D98}"/>
              </a:ext>
            </a:extLst>
          </p:cNvPr>
          <p:cNvGrpSpPr/>
          <p:nvPr/>
        </p:nvGrpSpPr>
        <p:grpSpPr>
          <a:xfrm>
            <a:off x="2539450" y="5066679"/>
            <a:ext cx="899826" cy="107630"/>
            <a:chOff x="2539451" y="5029200"/>
            <a:chExt cx="811122" cy="14510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B45FA4E-AFE7-DB40-7CE6-F7A168457D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9451" y="5037016"/>
              <a:ext cx="325534" cy="3979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A06C137-9172-C274-15CD-E932AE699090}"/>
                </a:ext>
              </a:extLst>
            </p:cNvPr>
            <p:cNvCxnSpPr>
              <a:cxnSpLocks/>
            </p:cNvCxnSpPr>
            <p:nvPr/>
          </p:nvCxnSpPr>
          <p:spPr>
            <a:xfrm>
              <a:off x="2835737" y="5029200"/>
              <a:ext cx="210252" cy="1451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E813587-9527-B0E9-D930-9130F2C066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9153" y="5076808"/>
              <a:ext cx="114116" cy="904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BF0CEF7-4481-2C0A-9231-1B855A18D6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0321" y="5057854"/>
              <a:ext cx="210252" cy="2623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5FCE44E-7342-75BD-4FAD-07F10276F5B5}"/>
              </a:ext>
            </a:extLst>
          </p:cNvPr>
          <p:cNvSpPr/>
          <p:nvPr/>
        </p:nvSpPr>
        <p:spPr>
          <a:xfrm flipV="1">
            <a:off x="6155680" y="37583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2CA5878-146F-638C-D984-A5D161C11829}"/>
              </a:ext>
            </a:extLst>
          </p:cNvPr>
          <p:cNvSpPr/>
          <p:nvPr/>
        </p:nvSpPr>
        <p:spPr>
          <a:xfrm flipV="1">
            <a:off x="2910255" y="472818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BDC13-B7F6-300A-AEF4-F346B19FF0B0}"/>
              </a:ext>
            </a:extLst>
          </p:cNvPr>
          <p:cNvSpPr txBox="1"/>
          <p:nvPr/>
        </p:nvSpPr>
        <p:spPr>
          <a:xfrm>
            <a:off x="3085047" y="370147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56716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15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798637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1752599" y="4594303"/>
            <a:ext cx="1146718" cy="1163444"/>
            <a:chOff x="6705599" y="2308303"/>
            <a:chExt cx="1146718" cy="1163444"/>
          </a:xfrm>
        </p:grpSpPr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73" name="Straight Arrow Connector 72"/>
          <p:cNvCxnSpPr/>
          <p:nvPr/>
        </p:nvCxnSpPr>
        <p:spPr>
          <a:xfrm flipH="1">
            <a:off x="1830658" y="47244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2821257" y="47987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1908717" y="46705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1908717" y="46705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Curved Connector 1042"/>
          <p:cNvCxnSpPr/>
          <p:nvPr/>
        </p:nvCxnSpPr>
        <p:spPr>
          <a:xfrm flipH="1" flipV="1">
            <a:off x="1901282" y="46342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20" idx="2"/>
            <a:endCxn id="122" idx="0"/>
          </p:cNvCxnSpPr>
          <p:nvPr/>
        </p:nvCxnSpPr>
        <p:spPr>
          <a:xfrm flipH="1">
            <a:off x="2064836" y="838200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/>
          <p:cNvGrpSpPr/>
          <p:nvPr/>
        </p:nvGrpSpPr>
        <p:grpSpPr>
          <a:xfrm>
            <a:off x="2398486" y="685800"/>
            <a:ext cx="568587" cy="914400"/>
            <a:chOff x="2398486" y="685800"/>
            <a:chExt cx="568587" cy="914400"/>
          </a:xfrm>
        </p:grpSpPr>
        <p:pic>
          <p:nvPicPr>
            <p:cNvPr id="12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86" y="685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956" y="1447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30" name="Straight Arrow Connector 129"/>
          <p:cNvCxnSpPr>
            <a:stCxn id="120" idx="2"/>
            <a:endCxn id="123" idx="0"/>
          </p:cNvCxnSpPr>
          <p:nvPr/>
        </p:nvCxnSpPr>
        <p:spPr>
          <a:xfrm>
            <a:off x="2476545" y="838200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122" idx="2"/>
            <a:endCxn id="124" idx="0"/>
          </p:cNvCxnSpPr>
          <p:nvPr/>
        </p:nvCxnSpPr>
        <p:spPr>
          <a:xfrm flipH="1">
            <a:off x="1761895" y="1524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>
            <a:stCxn id="124" idx="2"/>
            <a:endCxn id="126" idx="0"/>
          </p:cNvCxnSpPr>
          <p:nvPr/>
        </p:nvCxnSpPr>
        <p:spPr>
          <a:xfrm flipH="1">
            <a:off x="1457095" y="2209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4" idx="2"/>
            <a:endCxn id="127" idx="0"/>
          </p:cNvCxnSpPr>
          <p:nvPr/>
        </p:nvCxnSpPr>
        <p:spPr>
          <a:xfrm>
            <a:off x="1761895" y="2209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>
            <a:stCxn id="131" idx="0"/>
            <a:endCxn id="125" idx="1"/>
          </p:cNvCxnSpPr>
          <p:nvPr/>
        </p:nvCxnSpPr>
        <p:spPr>
          <a:xfrm flipV="1">
            <a:off x="2751737" y="2146610"/>
            <a:ext cx="136518" cy="7489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>
            <a:stCxn id="125" idx="2"/>
            <a:endCxn id="128" idx="0"/>
          </p:cNvCxnSpPr>
          <p:nvPr/>
        </p:nvCxnSpPr>
        <p:spPr>
          <a:xfrm>
            <a:off x="2966314" y="2222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25" idx="1"/>
          </p:cNvCxnSpPr>
          <p:nvPr/>
        </p:nvCxnSpPr>
        <p:spPr>
          <a:xfrm>
            <a:off x="2064836" y="1524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stCxn id="126" idx="2"/>
            <a:endCxn id="129" idx="0"/>
          </p:cNvCxnSpPr>
          <p:nvPr/>
        </p:nvCxnSpPr>
        <p:spPr>
          <a:xfrm flipH="1">
            <a:off x="1228495" y="3048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>
            <a:stCxn id="123" idx="1"/>
            <a:endCxn id="122" idx="3"/>
          </p:cNvCxnSpPr>
          <p:nvPr/>
        </p:nvCxnSpPr>
        <p:spPr>
          <a:xfrm flipH="1" flipV="1">
            <a:off x="2142894" y="1447800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stCxn id="123" idx="2"/>
            <a:endCxn id="125" idx="0"/>
          </p:cNvCxnSpPr>
          <p:nvPr/>
        </p:nvCxnSpPr>
        <p:spPr>
          <a:xfrm>
            <a:off x="2889015" y="1600200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127" idx="1"/>
            <a:endCxn id="129" idx="3"/>
          </p:cNvCxnSpPr>
          <p:nvPr/>
        </p:nvCxnSpPr>
        <p:spPr>
          <a:xfrm flipH="1">
            <a:off x="1306553" y="2971800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27" idx="2"/>
            <a:endCxn id="145" idx="0"/>
          </p:cNvCxnSpPr>
          <p:nvPr/>
        </p:nvCxnSpPr>
        <p:spPr>
          <a:xfrm>
            <a:off x="2227881" y="3048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/>
          <p:cNvGrpSpPr/>
          <p:nvPr/>
        </p:nvGrpSpPr>
        <p:grpSpPr>
          <a:xfrm>
            <a:off x="1150436" y="1371600"/>
            <a:ext cx="2278564" cy="2438400"/>
            <a:chOff x="1150436" y="1371600"/>
            <a:chExt cx="2278564" cy="2438400"/>
          </a:xfrm>
        </p:grpSpPr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6777" y="1371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836" y="2057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8255" y="20704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9036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9822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2883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436" y="3657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678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3519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46" name="Straight Arrow Connector 145"/>
          <p:cNvCxnSpPr>
            <a:stCxn id="128" idx="1"/>
            <a:endCxn id="131" idx="3"/>
          </p:cNvCxnSpPr>
          <p:nvPr/>
        </p:nvCxnSpPr>
        <p:spPr>
          <a:xfrm flipH="1">
            <a:off x="2829795" y="2971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6477000" y="4431268"/>
            <a:ext cx="1601894" cy="1436132"/>
            <a:chOff x="6477000" y="4431268"/>
            <a:chExt cx="1601894" cy="1436132"/>
          </a:xfrm>
        </p:grpSpPr>
        <p:pic>
          <p:nvPicPr>
            <p:cNvPr id="15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1" y="4551556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5562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1" y="5562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9" y="4603595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56" name="Straight Arrow Connector 155"/>
            <p:cNvCxnSpPr>
              <a:endCxn id="153" idx="0"/>
            </p:cNvCxnSpPr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stCxn id="155" idx="2"/>
              <a:endCxn id="154" idx="0"/>
            </p:cNvCxnSpPr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/>
            <p:cNvCxnSpPr>
              <a:stCxn id="152" idx="3"/>
              <a:endCxn id="155" idx="1"/>
            </p:cNvCxnSpPr>
            <p:nvPr/>
          </p:nvCxnSpPr>
          <p:spPr>
            <a:xfrm>
              <a:off x="6861718" y="4627756"/>
              <a:ext cx="834481" cy="5203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Box 170"/>
            <p:cNvSpPr txBox="1"/>
            <p:nvPr/>
          </p:nvSpPr>
          <p:spPr>
            <a:xfrm>
              <a:off x="6477000" y="4431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7772400" y="45074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7772400" y="5421868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6477000" y="5498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sp>
        <p:nvSpPr>
          <p:cNvPr id="187" name="TextBox 186"/>
          <p:cNvSpPr txBox="1"/>
          <p:nvPr/>
        </p:nvSpPr>
        <p:spPr>
          <a:xfrm>
            <a:off x="2590800" y="2971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79506" y="14594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459148" y="6212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522306" y="4495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895600" y="13070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522306" y="5498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817706" y="4572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447800" y="19050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65106" y="2754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88906" y="3669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131906" y="36576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046306" y="1981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274906" y="2907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905000" y="2754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101" name="Group 100"/>
          <p:cNvGrpSpPr/>
          <p:nvPr/>
        </p:nvGrpSpPr>
        <p:grpSpPr>
          <a:xfrm>
            <a:off x="6442296" y="1230868"/>
            <a:ext cx="2549304" cy="2731532"/>
            <a:chOff x="957590" y="4050268"/>
            <a:chExt cx="2549304" cy="2731532"/>
          </a:xfrm>
        </p:grpSpPr>
        <p:sp>
          <p:nvSpPr>
            <p:cNvPr id="190" name="TextBox 189"/>
            <p:cNvSpPr txBox="1"/>
            <p:nvPr/>
          </p:nvSpPr>
          <p:spPr>
            <a:xfrm>
              <a:off x="1752600" y="4050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957590" y="4191000"/>
              <a:ext cx="2549304" cy="2590800"/>
              <a:chOff x="957590" y="4191000"/>
              <a:chExt cx="2549304" cy="2590800"/>
            </a:xfrm>
          </p:grpSpPr>
          <p:sp>
            <p:nvSpPr>
              <p:cNvPr id="195" name="TextBox 194"/>
              <p:cNvSpPr txBox="1"/>
              <p:nvPr/>
            </p:nvSpPr>
            <p:spPr>
              <a:xfrm>
                <a:off x="957590" y="641246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grpSp>
            <p:nvGrpSpPr>
              <p:cNvPr id="96" name="Group 95"/>
              <p:cNvGrpSpPr/>
              <p:nvPr/>
            </p:nvGrpSpPr>
            <p:grpSpPr>
              <a:xfrm>
                <a:off x="1098024" y="4191000"/>
                <a:ext cx="2408870" cy="2438400"/>
                <a:chOff x="1098024" y="4191000"/>
                <a:chExt cx="2408870" cy="2438400"/>
              </a:xfrm>
            </p:grpSpPr>
            <p:pic>
              <p:nvPicPr>
                <p:cNvPr id="9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79341" y="4191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1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76400" y="4876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2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0819" y="488981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3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71600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142386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5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65447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6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3000" y="6477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66242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29" name="Straight Arrow Connector 28"/>
                <p:cNvCxnSpPr>
                  <a:stCxn id="9" idx="2"/>
                  <a:endCxn id="11" idx="0"/>
                </p:cNvCxnSpPr>
                <p:nvPr/>
              </p:nvCxnSpPr>
              <p:spPr>
                <a:xfrm flipH="1">
                  <a:off x="1754459" y="4343400"/>
                  <a:ext cx="302941" cy="5334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/>
                <p:cNvCxnSpPr>
                  <a:stCxn id="11" idx="2"/>
                  <a:endCxn id="13" idx="0"/>
                </p:cNvCxnSpPr>
                <p:nvPr/>
              </p:nvCxnSpPr>
              <p:spPr>
                <a:xfrm flipH="1">
                  <a:off x="1449659" y="5029200"/>
                  <a:ext cx="304800" cy="6858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/>
                <p:cNvCxnSpPr>
                  <a:stCxn id="11" idx="2"/>
                  <a:endCxn id="14" idx="0"/>
                </p:cNvCxnSpPr>
                <p:nvPr/>
              </p:nvCxnSpPr>
              <p:spPr>
                <a:xfrm>
                  <a:off x="1754459" y="5029200"/>
                  <a:ext cx="465986" cy="6858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/>
                <p:cNvCxnSpPr>
                  <a:stCxn id="12" idx="2"/>
                  <a:endCxn id="15" idx="0"/>
                </p:cNvCxnSpPr>
                <p:nvPr/>
              </p:nvCxnSpPr>
              <p:spPr>
                <a:xfrm>
                  <a:off x="2958878" y="5042210"/>
                  <a:ext cx="384628" cy="67279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/>
                <p:cNvCxnSpPr>
                  <a:stCxn id="9" idx="2"/>
                  <a:endCxn id="12" idx="1"/>
                </p:cNvCxnSpPr>
                <p:nvPr/>
              </p:nvCxnSpPr>
              <p:spPr>
                <a:xfrm>
                  <a:off x="2057400" y="4343400"/>
                  <a:ext cx="823419" cy="62261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/>
                <p:cNvCxnSpPr>
                  <a:stCxn id="13" idx="2"/>
                  <a:endCxn id="16" idx="0"/>
                </p:cNvCxnSpPr>
                <p:nvPr/>
              </p:nvCxnSpPr>
              <p:spPr>
                <a:xfrm flipH="1">
                  <a:off x="1221059" y="5867400"/>
                  <a:ext cx="228600" cy="6096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/>
                <p:cNvCxnSpPr>
                  <a:stCxn id="14" idx="2"/>
                  <a:endCxn id="114" idx="0"/>
                </p:cNvCxnSpPr>
                <p:nvPr/>
              </p:nvCxnSpPr>
              <p:spPr>
                <a:xfrm>
                  <a:off x="2220445" y="5867400"/>
                  <a:ext cx="63697" cy="5334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14" name="Picture 2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6083" y="6400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17" name="Straight Arrow Connector 116"/>
                <p:cNvCxnSpPr>
                  <a:stCxn id="15" idx="1"/>
                  <a:endCxn id="24" idx="3"/>
                </p:cNvCxnSpPr>
                <p:nvPr/>
              </p:nvCxnSpPr>
              <p:spPr>
                <a:xfrm flipH="1">
                  <a:off x="2822359" y="5791200"/>
                  <a:ext cx="443088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TextBox 188"/>
                <p:cNvSpPr txBox="1"/>
                <p:nvPr/>
              </p:nvSpPr>
              <p:spPr>
                <a:xfrm>
                  <a:off x="1387538" y="47360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v</a:t>
                  </a:r>
                </a:p>
              </p:txBody>
            </p:sp>
            <p:sp>
              <p:nvSpPr>
                <p:cNvPr id="191" name="TextBox 190"/>
                <p:cNvSpPr txBox="1"/>
                <p:nvPr/>
              </p:nvSpPr>
              <p:spPr>
                <a:xfrm>
                  <a:off x="2971800" y="47360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q</a:t>
                  </a:r>
                </a:p>
              </p:txBody>
            </p:sp>
            <p:sp>
              <p:nvSpPr>
                <p:cNvPr id="192" name="TextBox 191"/>
                <p:cNvSpPr txBox="1"/>
                <p:nvPr/>
              </p:nvSpPr>
              <p:spPr>
                <a:xfrm>
                  <a:off x="3200400" y="57266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</a:t>
                  </a:r>
                </a:p>
              </p:txBody>
            </p:sp>
            <p:sp>
              <p:nvSpPr>
                <p:cNvPr id="193" name="TextBox 192"/>
                <p:cNvSpPr txBox="1"/>
                <p:nvPr/>
              </p:nvSpPr>
              <p:spPr>
                <a:xfrm>
                  <a:off x="2630784" y="5726668"/>
                  <a:ext cx="2648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r</a:t>
                  </a:r>
                </a:p>
              </p:txBody>
            </p:sp>
            <p:sp>
              <p:nvSpPr>
                <p:cNvPr id="194" name="TextBox 193"/>
                <p:cNvSpPr txBox="1"/>
                <p:nvPr/>
              </p:nvSpPr>
              <p:spPr>
                <a:xfrm>
                  <a:off x="1098024" y="5574268"/>
                  <a:ext cx="3497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w</a:t>
                  </a:r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1970632" y="5650468"/>
                  <a:ext cx="2391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j</a:t>
                  </a:r>
                </a:p>
              </p:txBody>
            </p:sp>
            <p:sp>
              <p:nvSpPr>
                <p:cNvPr id="197" name="TextBox 196"/>
                <p:cNvSpPr txBox="1"/>
                <p:nvPr/>
              </p:nvSpPr>
              <p:spPr>
                <a:xfrm>
                  <a:off x="1981200" y="62600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k</a:t>
                  </a:r>
                </a:p>
              </p:txBody>
            </p:sp>
          </p:grpSp>
        </p:grpSp>
      </p:grpSp>
      <p:grpSp>
        <p:nvGrpSpPr>
          <p:cNvPr id="97" name="Group 96"/>
          <p:cNvGrpSpPr/>
          <p:nvPr/>
        </p:nvGrpSpPr>
        <p:grpSpPr>
          <a:xfrm>
            <a:off x="6830991" y="152400"/>
            <a:ext cx="1017609" cy="1055803"/>
            <a:chOff x="4605253" y="4571329"/>
            <a:chExt cx="1017609" cy="1055803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5069" y="54102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1" name="Straight Arrow Connector 20"/>
            <p:cNvCxnSpPr/>
            <p:nvPr/>
          </p:nvCxnSpPr>
          <p:spPr>
            <a:xfrm>
              <a:off x="4889305" y="4827549"/>
              <a:ext cx="430674" cy="6096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4713249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8" name="TextBox 197"/>
            <p:cNvSpPr txBox="1"/>
            <p:nvPr/>
          </p:nvSpPr>
          <p:spPr>
            <a:xfrm>
              <a:off x="4605253" y="4571329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5334000" y="52578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sp>
        <p:nvSpPr>
          <p:cNvPr id="99" name="Right Arrow 98"/>
          <p:cNvSpPr/>
          <p:nvPr/>
        </p:nvSpPr>
        <p:spPr>
          <a:xfrm rot="1556459">
            <a:off x="1760117" y="1184012"/>
            <a:ext cx="250464" cy="273326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ight Arrow 204"/>
          <p:cNvSpPr/>
          <p:nvPr/>
        </p:nvSpPr>
        <p:spPr>
          <a:xfrm rot="1556459">
            <a:off x="2197446" y="495684"/>
            <a:ext cx="245977" cy="30403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ight Arrow 205"/>
          <p:cNvSpPr/>
          <p:nvPr/>
        </p:nvSpPr>
        <p:spPr>
          <a:xfrm rot="1556459">
            <a:off x="1500843" y="4315277"/>
            <a:ext cx="285418" cy="28484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/>
          <p:cNvCxnSpPr/>
          <p:nvPr/>
        </p:nvCxnSpPr>
        <p:spPr>
          <a:xfrm>
            <a:off x="1527717" y="762000"/>
            <a:ext cx="2053683" cy="1403866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Freeform 107"/>
          <p:cNvSpPr/>
          <p:nvPr/>
        </p:nvSpPr>
        <p:spPr>
          <a:xfrm>
            <a:off x="1150437" y="1270722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2133600" y="35052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 109"/>
          <p:cNvSpPr/>
          <p:nvPr/>
        </p:nvSpPr>
        <p:spPr>
          <a:xfrm>
            <a:off x="2185639" y="457200"/>
            <a:ext cx="959005" cy="1092819"/>
          </a:xfrm>
          <a:custGeom>
            <a:avLst/>
            <a:gdLst>
              <a:gd name="connsiteX0" fmla="*/ 44605 w 959005"/>
              <a:gd name="connsiteY0" fmla="*/ 44605 h 1092819"/>
              <a:gd name="connsiteX1" fmla="*/ 0 w 959005"/>
              <a:gd name="connsiteY1" fmla="*/ 312234 h 1092819"/>
              <a:gd name="connsiteX2" fmla="*/ 546410 w 959005"/>
              <a:gd name="connsiteY2" fmla="*/ 1092819 h 1092819"/>
              <a:gd name="connsiteX3" fmla="*/ 959005 w 959005"/>
              <a:gd name="connsiteY3" fmla="*/ 1092819 h 1092819"/>
              <a:gd name="connsiteX4" fmla="*/ 869795 w 959005"/>
              <a:gd name="connsiteY4" fmla="*/ 546410 h 1092819"/>
              <a:gd name="connsiteX5" fmla="*/ 256478 w 959005"/>
              <a:gd name="connsiteY5" fmla="*/ 0 h 1092819"/>
              <a:gd name="connsiteX6" fmla="*/ 44605 w 959005"/>
              <a:gd name="connsiteY6" fmla="*/ 44605 h 109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9005" h="1092819">
                <a:moveTo>
                  <a:pt x="44605" y="44605"/>
                </a:moveTo>
                <a:lnTo>
                  <a:pt x="0" y="312234"/>
                </a:lnTo>
                <a:lnTo>
                  <a:pt x="546410" y="1092819"/>
                </a:lnTo>
                <a:lnTo>
                  <a:pt x="959005" y="1092819"/>
                </a:lnTo>
                <a:lnTo>
                  <a:pt x="869795" y="546410"/>
                </a:lnTo>
                <a:lnTo>
                  <a:pt x="256478" y="0"/>
                </a:lnTo>
                <a:lnTo>
                  <a:pt x="44605" y="44605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990600" y="3581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2"/>
          <p:cNvSpPr/>
          <p:nvPr/>
        </p:nvSpPr>
        <p:spPr>
          <a:xfrm>
            <a:off x="6858000" y="152400"/>
            <a:ext cx="959005" cy="1092819"/>
          </a:xfrm>
          <a:custGeom>
            <a:avLst/>
            <a:gdLst>
              <a:gd name="connsiteX0" fmla="*/ 44605 w 959005"/>
              <a:gd name="connsiteY0" fmla="*/ 44605 h 1092819"/>
              <a:gd name="connsiteX1" fmla="*/ 0 w 959005"/>
              <a:gd name="connsiteY1" fmla="*/ 312234 h 1092819"/>
              <a:gd name="connsiteX2" fmla="*/ 546410 w 959005"/>
              <a:gd name="connsiteY2" fmla="*/ 1092819 h 1092819"/>
              <a:gd name="connsiteX3" fmla="*/ 959005 w 959005"/>
              <a:gd name="connsiteY3" fmla="*/ 1092819 h 1092819"/>
              <a:gd name="connsiteX4" fmla="*/ 869795 w 959005"/>
              <a:gd name="connsiteY4" fmla="*/ 546410 h 1092819"/>
              <a:gd name="connsiteX5" fmla="*/ 256478 w 959005"/>
              <a:gd name="connsiteY5" fmla="*/ 0 h 1092819"/>
              <a:gd name="connsiteX6" fmla="*/ 44605 w 959005"/>
              <a:gd name="connsiteY6" fmla="*/ 44605 h 109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9005" h="1092819">
                <a:moveTo>
                  <a:pt x="44605" y="44605"/>
                </a:moveTo>
                <a:lnTo>
                  <a:pt x="0" y="312234"/>
                </a:lnTo>
                <a:lnTo>
                  <a:pt x="546410" y="1092819"/>
                </a:lnTo>
                <a:lnTo>
                  <a:pt x="959005" y="1092819"/>
                </a:lnTo>
                <a:lnTo>
                  <a:pt x="869795" y="546410"/>
                </a:lnTo>
                <a:lnTo>
                  <a:pt x="256478" y="0"/>
                </a:lnTo>
                <a:lnTo>
                  <a:pt x="44605" y="44605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 114"/>
          <p:cNvSpPr/>
          <p:nvPr/>
        </p:nvSpPr>
        <p:spPr>
          <a:xfrm>
            <a:off x="6553200" y="1295400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 115"/>
          <p:cNvSpPr/>
          <p:nvPr/>
        </p:nvSpPr>
        <p:spPr>
          <a:xfrm>
            <a:off x="2507166" y="1981200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/>
          <p:cNvSpPr/>
          <p:nvPr/>
        </p:nvSpPr>
        <p:spPr>
          <a:xfrm>
            <a:off x="7560020" y="35052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/>
          <p:nvPr/>
        </p:nvSpPr>
        <p:spPr>
          <a:xfrm>
            <a:off x="6417020" y="3581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reeform 146"/>
          <p:cNvSpPr/>
          <p:nvPr/>
        </p:nvSpPr>
        <p:spPr>
          <a:xfrm>
            <a:off x="6553200" y="4419600"/>
            <a:ext cx="1438507" cy="1382751"/>
          </a:xfrm>
          <a:custGeom>
            <a:avLst/>
            <a:gdLst>
              <a:gd name="connsiteX0" fmla="*/ 22303 w 1438507"/>
              <a:gd name="connsiteY0" fmla="*/ 33454 h 1382751"/>
              <a:gd name="connsiteX1" fmla="*/ 0 w 1438507"/>
              <a:gd name="connsiteY1" fmla="*/ 234176 h 1382751"/>
              <a:gd name="connsiteX2" fmla="*/ 936703 w 1438507"/>
              <a:gd name="connsiteY2" fmla="*/ 1293542 h 1382751"/>
              <a:gd name="connsiteX3" fmla="*/ 1226634 w 1438507"/>
              <a:gd name="connsiteY3" fmla="*/ 1382751 h 1382751"/>
              <a:gd name="connsiteX4" fmla="*/ 1438507 w 1438507"/>
              <a:gd name="connsiteY4" fmla="*/ 1260088 h 1382751"/>
              <a:gd name="connsiteX5" fmla="*/ 1427356 w 1438507"/>
              <a:gd name="connsiteY5" fmla="*/ 0 h 1382751"/>
              <a:gd name="connsiteX6" fmla="*/ 22303 w 1438507"/>
              <a:gd name="connsiteY6" fmla="*/ 33454 h 138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8507" h="1382751">
                <a:moveTo>
                  <a:pt x="22303" y="33454"/>
                </a:moveTo>
                <a:lnTo>
                  <a:pt x="0" y="234176"/>
                </a:lnTo>
                <a:lnTo>
                  <a:pt x="936703" y="1293542"/>
                </a:lnTo>
                <a:lnTo>
                  <a:pt x="1226634" y="1382751"/>
                </a:lnTo>
                <a:lnTo>
                  <a:pt x="1438507" y="1260088"/>
                </a:lnTo>
                <a:lnTo>
                  <a:pt x="1427356" y="0"/>
                </a:lnTo>
                <a:lnTo>
                  <a:pt x="22303" y="33454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6477000" y="5486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eform 149"/>
          <p:cNvSpPr/>
          <p:nvPr/>
        </p:nvSpPr>
        <p:spPr>
          <a:xfrm>
            <a:off x="7917366" y="1813932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 150"/>
          <p:cNvSpPr/>
          <p:nvPr/>
        </p:nvSpPr>
        <p:spPr>
          <a:xfrm>
            <a:off x="1685693" y="4484649"/>
            <a:ext cx="1438507" cy="1382751"/>
          </a:xfrm>
          <a:custGeom>
            <a:avLst/>
            <a:gdLst>
              <a:gd name="connsiteX0" fmla="*/ 22303 w 1438507"/>
              <a:gd name="connsiteY0" fmla="*/ 33454 h 1382751"/>
              <a:gd name="connsiteX1" fmla="*/ 0 w 1438507"/>
              <a:gd name="connsiteY1" fmla="*/ 234176 h 1382751"/>
              <a:gd name="connsiteX2" fmla="*/ 936703 w 1438507"/>
              <a:gd name="connsiteY2" fmla="*/ 1293542 h 1382751"/>
              <a:gd name="connsiteX3" fmla="*/ 1226634 w 1438507"/>
              <a:gd name="connsiteY3" fmla="*/ 1382751 h 1382751"/>
              <a:gd name="connsiteX4" fmla="*/ 1438507 w 1438507"/>
              <a:gd name="connsiteY4" fmla="*/ 1260088 h 1382751"/>
              <a:gd name="connsiteX5" fmla="*/ 1427356 w 1438507"/>
              <a:gd name="connsiteY5" fmla="*/ 0 h 1382751"/>
              <a:gd name="connsiteX6" fmla="*/ 22303 w 1438507"/>
              <a:gd name="connsiteY6" fmla="*/ 33454 h 138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8507" h="1382751">
                <a:moveTo>
                  <a:pt x="22303" y="33454"/>
                </a:moveTo>
                <a:lnTo>
                  <a:pt x="0" y="234176"/>
                </a:lnTo>
                <a:lnTo>
                  <a:pt x="936703" y="1293542"/>
                </a:lnTo>
                <a:lnTo>
                  <a:pt x="1226634" y="1382751"/>
                </a:lnTo>
                <a:lnTo>
                  <a:pt x="1438507" y="1260088"/>
                </a:lnTo>
                <a:lnTo>
                  <a:pt x="1427356" y="0"/>
                </a:lnTo>
                <a:lnTo>
                  <a:pt x="22303" y="33454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1609493" y="5551449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" name="Curved Connector 159"/>
          <p:cNvCxnSpPr/>
          <p:nvPr/>
        </p:nvCxnSpPr>
        <p:spPr>
          <a:xfrm rot="10800000">
            <a:off x="2504553" y="762000"/>
            <a:ext cx="436452" cy="685800"/>
          </a:xfrm>
          <a:prstGeom prst="curvedConnector3">
            <a:avLst>
              <a:gd name="adj1" fmla="val -57131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urved Connector 160"/>
          <p:cNvCxnSpPr/>
          <p:nvPr/>
        </p:nvCxnSpPr>
        <p:spPr>
          <a:xfrm flipV="1">
            <a:off x="1414882" y="1447800"/>
            <a:ext cx="571895" cy="1491734"/>
          </a:xfrm>
          <a:prstGeom prst="curvedConnector3">
            <a:avLst>
              <a:gd name="adj1" fmla="val -5529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 flipH="1">
            <a:off x="1535153" y="2971800"/>
            <a:ext cx="614669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 flipH="1">
            <a:off x="1899932" y="5681547"/>
            <a:ext cx="843268" cy="3345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8F2C2E2C-489F-301F-6212-D2186001D921}"/>
              </a:ext>
            </a:extLst>
          </p:cNvPr>
          <p:cNvSpPr/>
          <p:nvPr/>
        </p:nvSpPr>
        <p:spPr>
          <a:xfrm>
            <a:off x="7467600" y="13716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A263740-49B8-2090-6DFE-5D1DBB8D09AC}"/>
              </a:ext>
            </a:extLst>
          </p:cNvPr>
          <p:cNvSpPr/>
          <p:nvPr/>
        </p:nvSpPr>
        <p:spPr>
          <a:xfrm>
            <a:off x="7010400" y="3048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630B44-4F9F-E7BE-E9FF-C4C6E81DF4E0}"/>
              </a:ext>
            </a:extLst>
          </p:cNvPr>
          <p:cNvSpPr/>
          <p:nvPr/>
        </p:nvSpPr>
        <p:spPr>
          <a:xfrm>
            <a:off x="8382000" y="20574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D56DB4-3D09-7FD7-06B2-B259A5D1383C}"/>
              </a:ext>
            </a:extLst>
          </p:cNvPr>
          <p:cNvSpPr/>
          <p:nvPr/>
        </p:nvSpPr>
        <p:spPr>
          <a:xfrm>
            <a:off x="6705600" y="45720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68AF7B-8D40-6B88-68B9-14697A3BC8BF}"/>
              </a:ext>
            </a:extLst>
          </p:cNvPr>
          <p:cNvSpPr/>
          <p:nvPr/>
        </p:nvSpPr>
        <p:spPr>
          <a:xfrm>
            <a:off x="6629400" y="3665034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585A27-5031-5846-5936-4D7191BEEC8B}"/>
              </a:ext>
            </a:extLst>
          </p:cNvPr>
          <p:cNvSpPr/>
          <p:nvPr/>
        </p:nvSpPr>
        <p:spPr>
          <a:xfrm>
            <a:off x="7696200" y="35814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9643CC-0EFC-EE0C-0524-D29BE19EE829}"/>
              </a:ext>
            </a:extLst>
          </p:cNvPr>
          <p:cNvSpPr/>
          <p:nvPr/>
        </p:nvSpPr>
        <p:spPr>
          <a:xfrm>
            <a:off x="6705600" y="5570034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loud Callout 73">
            <a:extLst>
              <a:ext uri="{FF2B5EF4-FFF2-40B4-BE49-F238E27FC236}">
                <a16:creationId xmlns:a16="http://schemas.microsoft.com/office/drawing/2014/main" id="{91DAC1E7-2C44-306E-21A6-CB1077C16491}"/>
              </a:ext>
            </a:extLst>
          </p:cNvPr>
          <p:cNvSpPr/>
          <p:nvPr/>
        </p:nvSpPr>
        <p:spPr>
          <a:xfrm>
            <a:off x="152400" y="5819286"/>
            <a:ext cx="9296400" cy="959919"/>
          </a:xfrm>
          <a:prstGeom prst="cloudCallout">
            <a:avLst>
              <a:gd name="adj1" fmla="val -23908"/>
              <a:gd name="adj2" fmla="val 5591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Having seen nice structure of </a:t>
            </a:r>
            <a:r>
              <a:rPr lang="en-US" sz="1600" b="1" dirty="0">
                <a:solidFill>
                  <a:schemeClr val="tx1"/>
                </a:solidFill>
              </a:rPr>
              <a:t>SCC</a:t>
            </a:r>
            <a:r>
              <a:rPr lang="en-US" sz="1600" dirty="0">
                <a:solidFill>
                  <a:schemeClr val="tx1"/>
                </a:solidFill>
              </a:rPr>
              <a:t>s in the </a:t>
            </a:r>
            <a:r>
              <a:rPr lang="en-US" sz="1600" b="1" dirty="0">
                <a:solidFill>
                  <a:schemeClr val="tx1"/>
                </a:solidFill>
              </a:rPr>
              <a:t>DFS</a:t>
            </a:r>
            <a:r>
              <a:rPr lang="en-US" sz="1600" dirty="0">
                <a:solidFill>
                  <a:schemeClr val="tx1"/>
                </a:solidFill>
              </a:rPr>
              <a:t> forest, we feel motivated to design an efficient algorithm based on </a:t>
            </a:r>
            <a:r>
              <a:rPr lang="en-US" sz="1600" b="1" dirty="0">
                <a:solidFill>
                  <a:schemeClr val="tx1"/>
                </a:solidFill>
              </a:rPr>
              <a:t>DFS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But how should we start with ?</a:t>
            </a:r>
          </a:p>
        </p:txBody>
      </p:sp>
      <p:sp>
        <p:nvSpPr>
          <p:cNvPr id="20" name="Down Ribbon 74">
            <a:extLst>
              <a:ext uri="{FF2B5EF4-FFF2-40B4-BE49-F238E27FC236}">
                <a16:creationId xmlns:a16="http://schemas.microsoft.com/office/drawing/2014/main" id="{B3D0EF87-7E33-5EE1-8903-93615CA27A83}"/>
              </a:ext>
            </a:extLst>
          </p:cNvPr>
          <p:cNvSpPr/>
          <p:nvPr/>
        </p:nvSpPr>
        <p:spPr>
          <a:xfrm>
            <a:off x="3167738" y="43753"/>
            <a:ext cx="3124200" cy="729734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Try to spot the roots of </a:t>
            </a:r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>
                <a:solidFill>
                  <a:schemeClr val="tx1"/>
                </a:solidFill>
              </a:rPr>
              <a:t> in the </a:t>
            </a:r>
            <a:r>
              <a:rPr lang="en-US" b="1" dirty="0">
                <a:solidFill>
                  <a:schemeClr val="tx1"/>
                </a:solidFill>
              </a:rPr>
              <a:t>DFS</a:t>
            </a:r>
            <a:r>
              <a:rPr lang="en-US" dirty="0">
                <a:solidFill>
                  <a:schemeClr val="tx1"/>
                </a:solidFill>
              </a:rPr>
              <a:t> forest.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64D62B-9020-00B7-D252-F657E5812963}"/>
              </a:ext>
            </a:extLst>
          </p:cNvPr>
          <p:cNvSpPr txBox="1"/>
          <p:nvPr/>
        </p:nvSpPr>
        <p:spPr>
          <a:xfrm>
            <a:off x="1790479" y="6059543"/>
            <a:ext cx="6376104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we can find out the roots of SCCs, we can find respective SCCs. </a:t>
            </a:r>
          </a:p>
          <a:p>
            <a:r>
              <a:rPr lang="en-US" dirty="0"/>
              <a:t>But this appears to be as difficult as computing SCCs.</a:t>
            </a:r>
            <a:endParaRPr lang="en-IN" dirty="0"/>
          </a:p>
        </p:txBody>
      </p:sp>
      <p:sp>
        <p:nvSpPr>
          <p:cNvPr id="22" name="Cloud Callout 49">
            <a:extLst>
              <a:ext uri="{FF2B5EF4-FFF2-40B4-BE49-F238E27FC236}">
                <a16:creationId xmlns:a16="http://schemas.microsoft.com/office/drawing/2014/main" id="{6F9DAB16-41EE-290E-953E-DBAC95BFB938}"/>
              </a:ext>
            </a:extLst>
          </p:cNvPr>
          <p:cNvSpPr/>
          <p:nvPr/>
        </p:nvSpPr>
        <p:spPr>
          <a:xfrm>
            <a:off x="2601174" y="5651581"/>
            <a:ext cx="3998640" cy="1116980"/>
          </a:xfrm>
          <a:prstGeom prst="cloudCallout">
            <a:avLst>
              <a:gd name="adj1" fmla="val 20441"/>
              <a:gd name="adj2" fmla="val 6948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should we do ?</a:t>
            </a:r>
          </a:p>
        </p:txBody>
      </p:sp>
      <p:sp>
        <p:nvSpPr>
          <p:cNvPr id="23" name="Ribbon: Curved and Tilted Down 22">
            <a:extLst>
              <a:ext uri="{FF2B5EF4-FFF2-40B4-BE49-F238E27FC236}">
                <a16:creationId xmlns:a16="http://schemas.microsoft.com/office/drawing/2014/main" id="{1941E8EA-547A-4001-29CA-FAB80CDDEF3B}"/>
              </a:ext>
            </a:extLst>
          </p:cNvPr>
          <p:cNvSpPr/>
          <p:nvPr/>
        </p:nvSpPr>
        <p:spPr>
          <a:xfrm>
            <a:off x="2650780" y="3525217"/>
            <a:ext cx="4120033" cy="1109044"/>
          </a:xfrm>
          <a:prstGeom prst="ellipseRibbon">
            <a:avLst>
              <a:gd name="adj1" fmla="val 25000"/>
              <a:gd name="adj2" fmla="val 75000"/>
              <a:gd name="adj3" fmla="val 125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Let us </a:t>
            </a:r>
            <a:r>
              <a:rPr lang="en-US" sz="1600" dirty="0" err="1">
                <a:solidFill>
                  <a:schemeClr val="tx1"/>
                </a:solidFill>
              </a:rPr>
              <a:t>analyse</a:t>
            </a:r>
            <a:r>
              <a:rPr lang="en-US" sz="1600" dirty="0">
                <a:solidFill>
                  <a:schemeClr val="tx1"/>
                </a:solidFill>
              </a:rPr>
              <a:t> the finish time.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Since it worked for topological ordering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010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1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3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3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9" grpId="1" animBg="1"/>
      <p:bldP spid="205" grpId="0" animBg="1"/>
      <p:bldP spid="205" grpId="1" animBg="1"/>
      <p:bldP spid="206" grpId="0" animBg="1"/>
      <p:bldP spid="206" grpId="1" animBg="1"/>
      <p:bldP spid="108" grpId="0" animBg="1"/>
      <p:bldP spid="109" grpId="0" animBg="1"/>
      <p:bldP spid="110" grpId="0" animBg="1"/>
      <p:bldP spid="112" grpId="0" animBg="1"/>
      <p:bldP spid="113" grpId="0" animBg="1"/>
      <p:bldP spid="115" grpId="0" animBg="1"/>
      <p:bldP spid="116" grpId="0" animBg="1"/>
      <p:bldP spid="118" grpId="0" animBg="1"/>
      <p:bldP spid="119" grpId="0" animBg="1"/>
      <p:bldP spid="147" grpId="0" animBg="1"/>
      <p:bldP spid="148" grpId="0" animBg="1"/>
      <p:bldP spid="150" grpId="0" animBg="1"/>
      <p:bldP spid="151" grpId="0" animBg="1"/>
      <p:bldP spid="159" grpId="0" animBg="1"/>
      <p:bldP spid="3" grpId="0" animBg="1"/>
      <p:bldP spid="4" grpId="0" animBg="1"/>
      <p:bldP spid="6" grpId="0" animBg="1"/>
      <p:bldP spid="7" grpId="0" animBg="1"/>
      <p:bldP spid="8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" grpId="0" uiExpand="1" build="allAtOnce"/>
      <p:bldP spid="2" grpId="1" uiExpand="1" build="allAtOnce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Study</a:t>
            </a:r>
            <a:r>
              <a:rPr lang="en-US" sz="4000" b="1" dirty="0">
                <a:solidFill>
                  <a:srgbClr val="7030A0"/>
                </a:solidFill>
              </a:rPr>
              <a:t> Finish time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There does not appear to be any order </a:t>
            </a:r>
            <a:r>
              <a:rPr lang="en-US" sz="2000" dirty="0">
                <a:sym typeface="Wingdings" panose="05000000000000000000" pitchFamily="2" charset="2"/>
              </a:rPr>
              <a:t>.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875" y="1471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934" y="21577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353" y="217077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134" y="2995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920" y="2995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81" y="2995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534" y="3757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776" y="2995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Straight Arrow Connector 15"/>
          <p:cNvCxnSpPr>
            <a:stCxn id="6" idx="2"/>
            <a:endCxn id="8" idx="0"/>
          </p:cNvCxnSpPr>
          <p:nvPr/>
        </p:nvCxnSpPr>
        <p:spPr>
          <a:xfrm flipH="1">
            <a:off x="2987993" y="1624361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10" idx="0"/>
          </p:cNvCxnSpPr>
          <p:nvPr/>
        </p:nvCxnSpPr>
        <p:spPr>
          <a:xfrm flipH="1">
            <a:off x="2683193" y="2310161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2"/>
            <a:endCxn id="11" idx="0"/>
          </p:cNvCxnSpPr>
          <p:nvPr/>
        </p:nvCxnSpPr>
        <p:spPr>
          <a:xfrm>
            <a:off x="2987993" y="2310161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0"/>
            <a:endCxn id="9" idx="1"/>
          </p:cNvCxnSpPr>
          <p:nvPr/>
        </p:nvCxnSpPr>
        <p:spPr>
          <a:xfrm flipV="1">
            <a:off x="3977835" y="2246971"/>
            <a:ext cx="136518" cy="7489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  <a:endCxn id="12" idx="0"/>
          </p:cNvCxnSpPr>
          <p:nvPr/>
        </p:nvCxnSpPr>
        <p:spPr>
          <a:xfrm>
            <a:off x="4192412" y="2323171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" idx="2"/>
            <a:endCxn id="9" idx="1"/>
          </p:cNvCxnSpPr>
          <p:nvPr/>
        </p:nvCxnSpPr>
        <p:spPr>
          <a:xfrm>
            <a:off x="3290934" y="1624361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2"/>
            <a:endCxn id="13" idx="0"/>
          </p:cNvCxnSpPr>
          <p:nvPr/>
        </p:nvCxnSpPr>
        <p:spPr>
          <a:xfrm flipH="1">
            <a:off x="2454593" y="3148361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endCxn id="6" idx="1"/>
          </p:cNvCxnSpPr>
          <p:nvPr/>
        </p:nvCxnSpPr>
        <p:spPr>
          <a:xfrm flipV="1">
            <a:off x="2640980" y="1548161"/>
            <a:ext cx="571895" cy="1491734"/>
          </a:xfrm>
          <a:prstGeom prst="curvedConnector3">
            <a:avLst>
              <a:gd name="adj1" fmla="val -5529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1"/>
            <a:endCxn id="13" idx="3"/>
          </p:cNvCxnSpPr>
          <p:nvPr/>
        </p:nvCxnSpPr>
        <p:spPr>
          <a:xfrm flipH="1">
            <a:off x="2532651" y="3072161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1" idx="2"/>
            <a:endCxn id="28" idx="0"/>
          </p:cNvCxnSpPr>
          <p:nvPr/>
        </p:nvCxnSpPr>
        <p:spPr>
          <a:xfrm>
            <a:off x="3453979" y="3148361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617" y="36817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9" name="Straight Arrow Connector 28"/>
          <p:cNvCxnSpPr>
            <a:stCxn id="12" idx="1"/>
            <a:endCxn id="15" idx="3"/>
          </p:cNvCxnSpPr>
          <p:nvPr/>
        </p:nvCxnSpPr>
        <p:spPr>
          <a:xfrm flipH="1">
            <a:off x="4055893" y="3072161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2215004" y="1559829"/>
            <a:ext cx="2592494" cy="2579132"/>
            <a:chOff x="988906" y="1459468"/>
            <a:chExt cx="2592494" cy="2579132"/>
          </a:xfrm>
        </p:grpSpPr>
        <p:sp>
          <p:nvSpPr>
            <p:cNvPr id="34" name="TextBox 33"/>
            <p:cNvSpPr txBox="1"/>
            <p:nvPr/>
          </p:nvSpPr>
          <p:spPr>
            <a:xfrm>
              <a:off x="1979506" y="14594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47800" y="19050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65106" y="27548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88906" y="36692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131906" y="36576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46306" y="1981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74906" y="2907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905000" y="27548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590800" y="29718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</p:grpSp>
      <p:cxnSp>
        <p:nvCxnSpPr>
          <p:cNvPr id="43" name="Straight Arrow Connector 42"/>
          <p:cNvCxnSpPr>
            <a:stCxn id="11" idx="1"/>
            <a:endCxn id="10" idx="3"/>
          </p:cNvCxnSpPr>
          <p:nvPr/>
        </p:nvCxnSpPr>
        <p:spPr>
          <a:xfrm flipH="1">
            <a:off x="2761251" y="3072161"/>
            <a:ext cx="614669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2543550" y="3796061"/>
            <a:ext cx="906966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2209800" y="3681761"/>
            <a:ext cx="967482" cy="966439"/>
            <a:chOff x="2209800" y="3681761"/>
            <a:chExt cx="967482" cy="966439"/>
          </a:xfrm>
        </p:grpSpPr>
        <p:sp>
          <p:nvSpPr>
            <p:cNvPr id="52" name="Oval 51"/>
            <p:cNvSpPr/>
            <p:nvPr/>
          </p:nvSpPr>
          <p:spPr>
            <a:xfrm>
              <a:off x="2209800" y="3681761"/>
              <a:ext cx="440980" cy="3048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2736302" y="4343400"/>
              <a:ext cx="440980" cy="3048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265337" y="3630910"/>
            <a:ext cx="842565" cy="1017290"/>
            <a:chOff x="3265337" y="3630910"/>
            <a:chExt cx="842565" cy="1017290"/>
          </a:xfrm>
        </p:grpSpPr>
        <p:sp>
          <p:nvSpPr>
            <p:cNvPr id="53" name="Oval 52"/>
            <p:cNvSpPr/>
            <p:nvPr/>
          </p:nvSpPr>
          <p:spPr>
            <a:xfrm>
              <a:off x="3265337" y="3630910"/>
              <a:ext cx="440980" cy="323385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3666922" y="4343400"/>
              <a:ext cx="440980" cy="3048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733264" y="1852961"/>
            <a:ext cx="1829336" cy="2947639"/>
            <a:chOff x="3733264" y="1852961"/>
            <a:chExt cx="1829336" cy="2947639"/>
          </a:xfrm>
        </p:grpSpPr>
        <p:sp>
          <p:nvSpPr>
            <p:cNvPr id="47" name="Freeform 46"/>
            <p:cNvSpPr/>
            <p:nvPr/>
          </p:nvSpPr>
          <p:spPr>
            <a:xfrm>
              <a:off x="3733264" y="1852961"/>
              <a:ext cx="1226634" cy="1538868"/>
            </a:xfrm>
            <a:custGeom>
              <a:avLst/>
              <a:gdLst>
                <a:gd name="connsiteX0" fmla="*/ 178419 w 1226634"/>
                <a:gd name="connsiteY0" fmla="*/ 144966 h 1538868"/>
                <a:gd name="connsiteX1" fmla="*/ 33454 w 1226634"/>
                <a:gd name="connsiteY1" fmla="*/ 546410 h 1538868"/>
                <a:gd name="connsiteX2" fmla="*/ 0 w 1226634"/>
                <a:gd name="connsiteY2" fmla="*/ 1092820 h 1538868"/>
                <a:gd name="connsiteX3" fmla="*/ 0 w 1226634"/>
                <a:gd name="connsiteY3" fmla="*/ 1505415 h 1538868"/>
                <a:gd name="connsiteX4" fmla="*/ 691376 w 1226634"/>
                <a:gd name="connsiteY4" fmla="*/ 1538868 h 1538868"/>
                <a:gd name="connsiteX5" fmla="*/ 1226634 w 1226634"/>
                <a:gd name="connsiteY5" fmla="*/ 1193181 h 1538868"/>
                <a:gd name="connsiteX6" fmla="*/ 1126273 w 1226634"/>
                <a:gd name="connsiteY6" fmla="*/ 780585 h 1538868"/>
                <a:gd name="connsiteX7" fmla="*/ 1025912 w 1226634"/>
                <a:gd name="connsiteY7" fmla="*/ 412595 h 1538868"/>
                <a:gd name="connsiteX8" fmla="*/ 713678 w 1226634"/>
                <a:gd name="connsiteY8" fmla="*/ 33454 h 1538868"/>
                <a:gd name="connsiteX9" fmla="*/ 345688 w 1226634"/>
                <a:gd name="connsiteY9" fmla="*/ 0 h 1538868"/>
                <a:gd name="connsiteX10" fmla="*/ 178419 w 1226634"/>
                <a:gd name="connsiteY10" fmla="*/ 144966 h 153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6634" h="1538868">
                  <a:moveTo>
                    <a:pt x="178419" y="144966"/>
                  </a:moveTo>
                  <a:lnTo>
                    <a:pt x="33454" y="546410"/>
                  </a:lnTo>
                  <a:lnTo>
                    <a:pt x="0" y="1092820"/>
                  </a:lnTo>
                  <a:lnTo>
                    <a:pt x="0" y="1505415"/>
                  </a:lnTo>
                  <a:lnTo>
                    <a:pt x="691376" y="1538868"/>
                  </a:lnTo>
                  <a:lnTo>
                    <a:pt x="1226634" y="1193181"/>
                  </a:lnTo>
                  <a:lnTo>
                    <a:pt x="1126273" y="780585"/>
                  </a:lnTo>
                  <a:lnTo>
                    <a:pt x="1025912" y="412595"/>
                  </a:lnTo>
                  <a:lnTo>
                    <a:pt x="713678" y="33454"/>
                  </a:lnTo>
                  <a:lnTo>
                    <a:pt x="345688" y="0"/>
                  </a:lnTo>
                  <a:lnTo>
                    <a:pt x="178419" y="144966"/>
                  </a:lnTo>
                  <a:close/>
                </a:path>
              </a:pathLst>
            </a:cu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4641302" y="4191000"/>
              <a:ext cx="921298" cy="6096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2796027" y="4343400"/>
            <a:ext cx="4519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     w      k      j    v    r    p    q    u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103706" y="1295400"/>
            <a:ext cx="2592494" cy="2667000"/>
            <a:chOff x="5103706" y="1295400"/>
            <a:chExt cx="2592494" cy="2667000"/>
          </a:xfrm>
        </p:grpSpPr>
        <p:grpSp>
          <p:nvGrpSpPr>
            <p:cNvPr id="58" name="Group 57"/>
            <p:cNvGrpSpPr/>
            <p:nvPr/>
          </p:nvGrpSpPr>
          <p:grpSpPr>
            <a:xfrm>
              <a:off x="5341436" y="1371600"/>
              <a:ext cx="2278564" cy="2438400"/>
              <a:chOff x="1683836" y="4191000"/>
              <a:chExt cx="2278564" cy="2438400"/>
            </a:xfrm>
          </p:grpSpPr>
          <p:pic>
            <p:nvPicPr>
              <p:cNvPr id="59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0177" y="4191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17236" y="4876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1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21655" y="488981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2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2436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83222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4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6283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5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3836" y="6477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6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7078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67" name="Straight Arrow Connector 66"/>
              <p:cNvCxnSpPr>
                <a:stCxn id="59" idx="2"/>
                <a:endCxn id="60" idx="0"/>
              </p:cNvCxnSpPr>
              <p:nvPr/>
            </p:nvCxnSpPr>
            <p:spPr>
              <a:xfrm flipH="1">
                <a:off x="2295295" y="4343400"/>
                <a:ext cx="302941" cy="5334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>
                <a:stCxn id="60" idx="2"/>
                <a:endCxn id="62" idx="0"/>
              </p:cNvCxnSpPr>
              <p:nvPr/>
            </p:nvCxnSpPr>
            <p:spPr>
              <a:xfrm flipH="1">
                <a:off x="1990495" y="5029200"/>
                <a:ext cx="304800" cy="6858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>
                <a:stCxn id="60" idx="2"/>
                <a:endCxn id="63" idx="0"/>
              </p:cNvCxnSpPr>
              <p:nvPr/>
            </p:nvCxnSpPr>
            <p:spPr>
              <a:xfrm>
                <a:off x="2295295" y="5029200"/>
                <a:ext cx="465986" cy="6858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>
                <a:stCxn id="61" idx="2"/>
                <a:endCxn id="64" idx="0"/>
              </p:cNvCxnSpPr>
              <p:nvPr/>
            </p:nvCxnSpPr>
            <p:spPr>
              <a:xfrm>
                <a:off x="3499714" y="5042210"/>
                <a:ext cx="384628" cy="67279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>
                <a:stCxn id="59" idx="2"/>
                <a:endCxn id="61" idx="1"/>
              </p:cNvCxnSpPr>
              <p:nvPr/>
            </p:nvCxnSpPr>
            <p:spPr>
              <a:xfrm>
                <a:off x="2598236" y="4343400"/>
                <a:ext cx="823419" cy="62261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stCxn id="62" idx="2"/>
                <a:endCxn id="65" idx="0"/>
              </p:cNvCxnSpPr>
              <p:nvPr/>
            </p:nvCxnSpPr>
            <p:spPr>
              <a:xfrm flipH="1">
                <a:off x="1761895" y="5867400"/>
                <a:ext cx="228600" cy="6096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stCxn id="63" idx="2"/>
                <a:endCxn id="74" idx="0"/>
              </p:cNvCxnSpPr>
              <p:nvPr/>
            </p:nvCxnSpPr>
            <p:spPr>
              <a:xfrm>
                <a:off x="2761281" y="5867400"/>
                <a:ext cx="63697" cy="5334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4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6919" y="6400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75" name="Straight Arrow Connector 74"/>
              <p:cNvCxnSpPr>
                <a:stCxn id="64" idx="1"/>
                <a:endCxn id="66" idx="3"/>
              </p:cNvCxnSpPr>
              <p:nvPr/>
            </p:nvCxnSpPr>
            <p:spPr>
              <a:xfrm flipH="1">
                <a:off x="3363195" y="5791200"/>
                <a:ext cx="443088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/>
            <p:cNvSpPr txBox="1"/>
            <p:nvPr/>
          </p:nvSpPr>
          <p:spPr>
            <a:xfrm>
              <a:off x="5941906" y="12954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638800" y="19050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257800" y="27548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103706" y="35814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322906" y="35930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085598" y="2834114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7237306" y="1905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389706" y="29834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6781800" y="2971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369098" y="1395761"/>
            <a:ext cx="3735266" cy="3521927"/>
            <a:chOff x="2369098" y="1395761"/>
            <a:chExt cx="3735266" cy="3521927"/>
          </a:xfrm>
        </p:grpSpPr>
        <p:sp>
          <p:nvSpPr>
            <p:cNvPr id="48" name="Freeform 47"/>
            <p:cNvSpPr/>
            <p:nvPr/>
          </p:nvSpPr>
          <p:spPr>
            <a:xfrm>
              <a:off x="2369098" y="1395761"/>
              <a:ext cx="1280084" cy="1929678"/>
            </a:xfrm>
            <a:custGeom>
              <a:avLst/>
              <a:gdLst>
                <a:gd name="connsiteX0" fmla="*/ 1048214 w 1516565"/>
                <a:gd name="connsiteY0" fmla="*/ 0 h 2709747"/>
                <a:gd name="connsiteX1" fmla="*/ 0 w 1516565"/>
                <a:gd name="connsiteY1" fmla="*/ 2553630 h 2709747"/>
                <a:gd name="connsiteX2" fmla="*/ 267629 w 1516565"/>
                <a:gd name="connsiteY2" fmla="*/ 2709747 h 2709747"/>
                <a:gd name="connsiteX3" fmla="*/ 579863 w 1516565"/>
                <a:gd name="connsiteY3" fmla="*/ 2676293 h 2709747"/>
                <a:gd name="connsiteX4" fmla="*/ 1516565 w 1516565"/>
                <a:gd name="connsiteY4" fmla="*/ 1773044 h 2709747"/>
                <a:gd name="connsiteX5" fmla="*/ 1360448 w 1516565"/>
                <a:gd name="connsiteY5" fmla="*/ 33454 h 2709747"/>
                <a:gd name="connsiteX6" fmla="*/ 1048214 w 1516565"/>
                <a:gd name="connsiteY6" fmla="*/ 0 h 2709747"/>
                <a:gd name="connsiteX0" fmla="*/ 1048214 w 1555491"/>
                <a:gd name="connsiteY0" fmla="*/ 0 h 2709747"/>
                <a:gd name="connsiteX1" fmla="*/ 0 w 1555491"/>
                <a:gd name="connsiteY1" fmla="*/ 2553630 h 2709747"/>
                <a:gd name="connsiteX2" fmla="*/ 267629 w 1555491"/>
                <a:gd name="connsiteY2" fmla="*/ 2709747 h 2709747"/>
                <a:gd name="connsiteX3" fmla="*/ 1555491 w 1555491"/>
                <a:gd name="connsiteY3" fmla="*/ 2535362 h 2709747"/>
                <a:gd name="connsiteX4" fmla="*/ 1516565 w 1555491"/>
                <a:gd name="connsiteY4" fmla="*/ 1773044 h 2709747"/>
                <a:gd name="connsiteX5" fmla="*/ 1360448 w 1555491"/>
                <a:gd name="connsiteY5" fmla="*/ 33454 h 2709747"/>
                <a:gd name="connsiteX6" fmla="*/ 1048214 w 1555491"/>
                <a:gd name="connsiteY6" fmla="*/ 0 h 270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5491" h="2709747">
                  <a:moveTo>
                    <a:pt x="1048214" y="0"/>
                  </a:moveTo>
                  <a:lnTo>
                    <a:pt x="0" y="2553630"/>
                  </a:lnTo>
                  <a:lnTo>
                    <a:pt x="267629" y="2709747"/>
                  </a:lnTo>
                  <a:lnTo>
                    <a:pt x="1555491" y="2535362"/>
                  </a:lnTo>
                  <a:lnTo>
                    <a:pt x="1516565" y="1773044"/>
                  </a:lnTo>
                  <a:lnTo>
                    <a:pt x="1360448" y="33454"/>
                  </a:lnTo>
                  <a:lnTo>
                    <a:pt x="1048214" y="0"/>
                  </a:lnTo>
                  <a:close/>
                </a:path>
              </a:pathLst>
            </a:custGeom>
            <a:noFill/>
            <a:ln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3233853" y="4192859"/>
              <a:ext cx="2870511" cy="724829"/>
            </a:xfrm>
            <a:custGeom>
              <a:avLst/>
              <a:gdLst>
                <a:gd name="connsiteX0" fmla="*/ 0 w 2732048"/>
                <a:gd name="connsiteY0" fmla="*/ 167268 h 724829"/>
                <a:gd name="connsiteX1" fmla="*/ 0 w 2732048"/>
                <a:gd name="connsiteY1" fmla="*/ 535258 h 724829"/>
                <a:gd name="connsiteX2" fmla="*/ 11151 w 2732048"/>
                <a:gd name="connsiteY2" fmla="*/ 669073 h 724829"/>
                <a:gd name="connsiteX3" fmla="*/ 2732048 w 2732048"/>
                <a:gd name="connsiteY3" fmla="*/ 724829 h 724829"/>
                <a:gd name="connsiteX4" fmla="*/ 2720897 w 2732048"/>
                <a:gd name="connsiteY4" fmla="*/ 0 h 724829"/>
                <a:gd name="connsiteX5" fmla="*/ 2419814 w 2732048"/>
                <a:gd name="connsiteY5" fmla="*/ 0 h 724829"/>
                <a:gd name="connsiteX6" fmla="*/ 2419814 w 2732048"/>
                <a:gd name="connsiteY6" fmla="*/ 635619 h 724829"/>
                <a:gd name="connsiteX7" fmla="*/ 1326995 w 2732048"/>
                <a:gd name="connsiteY7" fmla="*/ 613317 h 724829"/>
                <a:gd name="connsiteX8" fmla="*/ 1326995 w 2732048"/>
                <a:gd name="connsiteY8" fmla="*/ 22302 h 724829"/>
                <a:gd name="connsiteX9" fmla="*/ 880946 w 2732048"/>
                <a:gd name="connsiteY9" fmla="*/ 11151 h 724829"/>
                <a:gd name="connsiteX10" fmla="*/ 869795 w 2732048"/>
                <a:gd name="connsiteY10" fmla="*/ 579863 h 724829"/>
                <a:gd name="connsiteX11" fmla="*/ 323385 w 2732048"/>
                <a:gd name="connsiteY11" fmla="*/ 591014 h 724829"/>
                <a:gd name="connsiteX12" fmla="*/ 323385 w 2732048"/>
                <a:gd name="connsiteY12" fmla="*/ 156117 h 724829"/>
                <a:gd name="connsiteX13" fmla="*/ 0 w 2732048"/>
                <a:gd name="connsiteY13" fmla="*/ 167268 h 724829"/>
                <a:gd name="connsiteX0" fmla="*/ 0 w 2732048"/>
                <a:gd name="connsiteY0" fmla="*/ 167268 h 724829"/>
                <a:gd name="connsiteX1" fmla="*/ 0 w 2732048"/>
                <a:gd name="connsiteY1" fmla="*/ 535258 h 724829"/>
                <a:gd name="connsiteX2" fmla="*/ 11151 w 2732048"/>
                <a:gd name="connsiteY2" fmla="*/ 669073 h 724829"/>
                <a:gd name="connsiteX3" fmla="*/ 2732048 w 2732048"/>
                <a:gd name="connsiteY3" fmla="*/ 724829 h 724829"/>
                <a:gd name="connsiteX4" fmla="*/ 2720897 w 2732048"/>
                <a:gd name="connsiteY4" fmla="*/ 0 h 724829"/>
                <a:gd name="connsiteX5" fmla="*/ 2419814 w 2732048"/>
                <a:gd name="connsiteY5" fmla="*/ 0 h 724829"/>
                <a:gd name="connsiteX6" fmla="*/ 2281841 w 2732048"/>
                <a:gd name="connsiteY6" fmla="*/ 635619 h 724829"/>
                <a:gd name="connsiteX7" fmla="*/ 1326995 w 2732048"/>
                <a:gd name="connsiteY7" fmla="*/ 613317 h 724829"/>
                <a:gd name="connsiteX8" fmla="*/ 1326995 w 2732048"/>
                <a:gd name="connsiteY8" fmla="*/ 22302 h 724829"/>
                <a:gd name="connsiteX9" fmla="*/ 880946 w 2732048"/>
                <a:gd name="connsiteY9" fmla="*/ 11151 h 724829"/>
                <a:gd name="connsiteX10" fmla="*/ 869795 w 2732048"/>
                <a:gd name="connsiteY10" fmla="*/ 579863 h 724829"/>
                <a:gd name="connsiteX11" fmla="*/ 323385 w 2732048"/>
                <a:gd name="connsiteY11" fmla="*/ 591014 h 724829"/>
                <a:gd name="connsiteX12" fmla="*/ 323385 w 2732048"/>
                <a:gd name="connsiteY12" fmla="*/ 156117 h 724829"/>
                <a:gd name="connsiteX13" fmla="*/ 0 w 2732048"/>
                <a:gd name="connsiteY13" fmla="*/ 167268 h 724829"/>
                <a:gd name="connsiteX0" fmla="*/ 0 w 2732048"/>
                <a:gd name="connsiteY0" fmla="*/ 167268 h 724829"/>
                <a:gd name="connsiteX1" fmla="*/ 0 w 2732048"/>
                <a:gd name="connsiteY1" fmla="*/ 535258 h 724829"/>
                <a:gd name="connsiteX2" fmla="*/ 11151 w 2732048"/>
                <a:gd name="connsiteY2" fmla="*/ 669073 h 724829"/>
                <a:gd name="connsiteX3" fmla="*/ 2732048 w 2732048"/>
                <a:gd name="connsiteY3" fmla="*/ 724829 h 724829"/>
                <a:gd name="connsiteX4" fmla="*/ 2720897 w 2732048"/>
                <a:gd name="connsiteY4" fmla="*/ 0 h 724829"/>
                <a:gd name="connsiteX5" fmla="*/ 2292454 w 2732048"/>
                <a:gd name="connsiteY5" fmla="*/ 0 h 724829"/>
                <a:gd name="connsiteX6" fmla="*/ 2281841 w 2732048"/>
                <a:gd name="connsiteY6" fmla="*/ 635619 h 724829"/>
                <a:gd name="connsiteX7" fmla="*/ 1326995 w 2732048"/>
                <a:gd name="connsiteY7" fmla="*/ 613317 h 724829"/>
                <a:gd name="connsiteX8" fmla="*/ 1326995 w 2732048"/>
                <a:gd name="connsiteY8" fmla="*/ 22302 h 724829"/>
                <a:gd name="connsiteX9" fmla="*/ 880946 w 2732048"/>
                <a:gd name="connsiteY9" fmla="*/ 11151 h 724829"/>
                <a:gd name="connsiteX10" fmla="*/ 869795 w 2732048"/>
                <a:gd name="connsiteY10" fmla="*/ 579863 h 724829"/>
                <a:gd name="connsiteX11" fmla="*/ 323385 w 2732048"/>
                <a:gd name="connsiteY11" fmla="*/ 591014 h 724829"/>
                <a:gd name="connsiteX12" fmla="*/ 323385 w 2732048"/>
                <a:gd name="connsiteY12" fmla="*/ 156117 h 724829"/>
                <a:gd name="connsiteX13" fmla="*/ 0 w 2732048"/>
                <a:gd name="connsiteY13" fmla="*/ 167268 h 72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32048" h="724829">
                  <a:moveTo>
                    <a:pt x="0" y="167268"/>
                  </a:moveTo>
                  <a:lnTo>
                    <a:pt x="0" y="535258"/>
                  </a:lnTo>
                  <a:lnTo>
                    <a:pt x="11151" y="669073"/>
                  </a:lnTo>
                  <a:lnTo>
                    <a:pt x="2732048" y="724829"/>
                  </a:lnTo>
                  <a:lnTo>
                    <a:pt x="2720897" y="0"/>
                  </a:lnTo>
                  <a:lnTo>
                    <a:pt x="2292454" y="0"/>
                  </a:lnTo>
                  <a:lnTo>
                    <a:pt x="2281841" y="635619"/>
                  </a:lnTo>
                  <a:lnTo>
                    <a:pt x="1326995" y="613317"/>
                  </a:lnTo>
                  <a:lnTo>
                    <a:pt x="1326995" y="22302"/>
                  </a:lnTo>
                  <a:lnTo>
                    <a:pt x="880946" y="11151"/>
                  </a:lnTo>
                  <a:lnTo>
                    <a:pt x="869795" y="579863"/>
                  </a:lnTo>
                  <a:lnTo>
                    <a:pt x="323385" y="591014"/>
                  </a:lnTo>
                  <a:lnTo>
                    <a:pt x="323385" y="156117"/>
                  </a:lnTo>
                  <a:lnTo>
                    <a:pt x="0" y="167268"/>
                  </a:lnTo>
                  <a:close/>
                </a:path>
              </a:pathLst>
            </a:custGeom>
            <a:noFill/>
            <a:ln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Right Arrow 81"/>
          <p:cNvSpPr/>
          <p:nvPr/>
        </p:nvSpPr>
        <p:spPr>
          <a:xfrm>
            <a:off x="2790513" y="4798318"/>
            <a:ext cx="3229287" cy="82881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Increasing order of </a:t>
            </a:r>
            <a:r>
              <a:rPr lang="en-US" sz="2400" b="1" dirty="0">
                <a:solidFill>
                  <a:srgbClr val="0070C0"/>
                </a:solidFill>
              </a:rPr>
              <a:t>F</a:t>
            </a:r>
            <a:r>
              <a:rPr lang="en-US" b="1" dirty="0">
                <a:solidFill>
                  <a:schemeClr val="tx1"/>
                </a:solidFill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424899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build="p"/>
      <p:bldP spid="78" grpId="0"/>
      <p:bldP spid="92" grpId="0"/>
      <p:bldP spid="8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Searching for an </a:t>
            </a:r>
            <a:r>
              <a:rPr lang="en-US" sz="3200" b="1" dirty="0">
                <a:solidFill>
                  <a:srgbClr val="7030A0"/>
                </a:solidFill>
              </a:rPr>
              <a:t>order </a:t>
            </a:r>
            <a:r>
              <a:rPr lang="en-US" sz="3200" b="1" dirty="0"/>
              <a:t>using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0070C0"/>
                </a:solidFill>
              </a:rPr>
              <a:t>Finish time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9" y="3588834"/>
            <a:ext cx="156117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ight Arrow 15"/>
          <p:cNvSpPr/>
          <p:nvPr/>
        </p:nvSpPr>
        <p:spPr>
          <a:xfrm>
            <a:off x="3476313" y="4962386"/>
            <a:ext cx="3229287" cy="67641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Increasing order of </a:t>
            </a:r>
            <a:r>
              <a:rPr lang="en-US" sz="2400" b="1" dirty="0">
                <a:solidFill>
                  <a:srgbClr val="0070C0"/>
                </a:solidFill>
                <a:sym typeface="Wingdings" pitchFamily="2" charset="2"/>
              </a:rPr>
              <a:t>F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[]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8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19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Cloud Callout 49"/>
          <p:cNvSpPr/>
          <p:nvPr/>
        </p:nvSpPr>
        <p:spPr>
          <a:xfrm>
            <a:off x="731387" y="5575034"/>
            <a:ext cx="3998640" cy="1116980"/>
          </a:xfrm>
          <a:prstGeom prst="cloudCallout">
            <a:avLst>
              <a:gd name="adj1" fmla="val 20441"/>
              <a:gd name="adj2" fmla="val 6948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Where might be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roots of each SCC ?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1905000" y="1905000"/>
            <a:ext cx="2891802" cy="1828800"/>
            <a:chOff x="1905000" y="1905000"/>
            <a:chExt cx="2891802" cy="1828800"/>
          </a:xfrm>
        </p:grpSpPr>
        <p:sp>
          <p:nvSpPr>
            <p:cNvPr id="38" name="Oval 37"/>
            <p:cNvSpPr/>
            <p:nvPr/>
          </p:nvSpPr>
          <p:spPr>
            <a:xfrm>
              <a:off x="1905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2286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33528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82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/>
            <p:nvPr/>
          </p:nvCxnSpPr>
          <p:spPr>
            <a:xfrm flipH="1">
              <a:off x="2057402" y="2286000"/>
              <a:ext cx="765634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2388262" y="2286000"/>
              <a:ext cx="583538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0" y="2286000"/>
              <a:ext cx="30480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126058" y="2286000"/>
              <a:ext cx="1522142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2590800" y="1905000"/>
              <a:ext cx="7761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SCC</a:t>
              </a:r>
              <a:r>
                <a:rPr lang="en-US" dirty="0"/>
                <a:t> </a:t>
              </a:r>
              <a:r>
                <a:rPr lang="en-US" sz="2400" b="1" dirty="0">
                  <a:solidFill>
                    <a:srgbClr val="C00000"/>
                  </a:solidFill>
                </a:rPr>
                <a:t>A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524000" y="3581400"/>
            <a:ext cx="4191000" cy="1295400"/>
            <a:chOff x="1524000" y="3581400"/>
            <a:chExt cx="4191000" cy="1295400"/>
          </a:xfrm>
        </p:grpSpPr>
        <p:sp>
          <p:nvSpPr>
            <p:cNvPr id="37" name="Oval 36"/>
            <p:cNvSpPr/>
            <p:nvPr/>
          </p:nvSpPr>
          <p:spPr>
            <a:xfrm>
              <a:off x="3733800" y="3581400"/>
              <a:ext cx="148602" cy="152400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1524000" y="3581400"/>
              <a:ext cx="4191000" cy="1295400"/>
              <a:chOff x="1524000" y="3581400"/>
              <a:chExt cx="4191000" cy="1295400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5566398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048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524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/>
              <p:cNvCxnSpPr/>
              <p:nvPr/>
            </p:nvCxnSpPr>
            <p:spPr>
              <a:xfrm>
                <a:off x="1601977" y="3810000"/>
                <a:ext cx="988823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flipH="1">
                <a:off x="2743200" y="3876814"/>
                <a:ext cx="381000" cy="6283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>
                <a:off x="2823036" y="3810000"/>
                <a:ext cx="985066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H="1">
                <a:off x="2971800" y="3810000"/>
                <a:ext cx="2668858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2362200" y="4415135"/>
                <a:ext cx="7633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grpSp>
        <p:nvGrpSpPr>
          <p:cNvPr id="114" name="Group 113"/>
          <p:cNvGrpSpPr/>
          <p:nvPr/>
        </p:nvGrpSpPr>
        <p:grpSpPr>
          <a:xfrm>
            <a:off x="4114800" y="3581400"/>
            <a:ext cx="3733800" cy="1600200"/>
            <a:chOff x="4114800" y="3581400"/>
            <a:chExt cx="3733800" cy="1600200"/>
          </a:xfrm>
        </p:grpSpPr>
        <p:grpSp>
          <p:nvGrpSpPr>
            <p:cNvPr id="53" name="Group 52"/>
            <p:cNvGrpSpPr/>
            <p:nvPr/>
          </p:nvGrpSpPr>
          <p:grpSpPr>
            <a:xfrm>
              <a:off x="4114800" y="3581400"/>
              <a:ext cx="3733800" cy="1600200"/>
              <a:chOff x="1905000" y="3276600"/>
              <a:chExt cx="3733800" cy="1600200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4876800" y="3276600"/>
                <a:ext cx="148602" cy="152400"/>
              </a:xfrm>
              <a:prstGeom prst="ellipse">
                <a:avLst/>
              </a:prstGeom>
              <a:solidFill>
                <a:srgbClr val="006C3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/>
              <p:cNvGrpSpPr/>
              <p:nvPr/>
            </p:nvGrpSpPr>
            <p:grpSpPr>
              <a:xfrm>
                <a:off x="1905000" y="3276600"/>
                <a:ext cx="3733800" cy="1600200"/>
                <a:chOff x="1905000" y="3276600"/>
                <a:chExt cx="3733800" cy="1600200"/>
              </a:xfrm>
            </p:grpSpPr>
            <p:sp>
              <p:nvSpPr>
                <p:cNvPr id="58" name="Oval 57"/>
                <p:cNvSpPr/>
                <p:nvPr/>
              </p:nvSpPr>
              <p:spPr>
                <a:xfrm>
                  <a:off x="5490198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3048000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/>
                <p:cNvSpPr/>
                <p:nvPr/>
              </p:nvSpPr>
              <p:spPr>
                <a:xfrm>
                  <a:off x="1905000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2053602" y="3505200"/>
                  <a:ext cx="537198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 flipH="1">
                  <a:off x="2743200" y="3505200"/>
                  <a:ext cx="304800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 flipH="1">
                  <a:off x="2823036" y="3505200"/>
                  <a:ext cx="1135647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 flipH="1">
                  <a:off x="2971800" y="3505200"/>
                  <a:ext cx="1905000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/>
                <p:cNvSpPr txBox="1"/>
                <p:nvPr/>
              </p:nvSpPr>
              <p:spPr>
                <a:xfrm>
                  <a:off x="2362200" y="4415135"/>
                  <a:ext cx="75373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SCC</a:t>
                  </a:r>
                  <a:r>
                    <a:rPr lang="en-US" dirty="0"/>
                    <a:t> </a:t>
                  </a:r>
                  <a:r>
                    <a:rPr lang="en-US" sz="2400" b="1" dirty="0">
                      <a:solidFill>
                        <a:srgbClr val="006C31"/>
                      </a:solidFill>
                    </a:rPr>
                    <a:t>C</a:t>
                  </a:r>
                  <a:endParaRPr lang="en-US" b="1" dirty="0">
                    <a:solidFill>
                      <a:srgbClr val="006C31"/>
                    </a:solidFill>
                  </a:endParaRPr>
                </a:p>
              </p:txBody>
            </p:sp>
          </p:grpSp>
        </p:grpSp>
        <p:sp>
          <p:nvSpPr>
            <p:cNvPr id="67" name="Oval 66"/>
            <p:cNvSpPr/>
            <p:nvPr/>
          </p:nvSpPr>
          <p:spPr>
            <a:xfrm>
              <a:off x="6175998" y="3581400"/>
              <a:ext cx="148602" cy="152400"/>
            </a:xfrm>
            <a:prstGeom prst="ellipse">
              <a:avLst/>
            </a:prstGeom>
            <a:solidFill>
              <a:srgbClr val="006C3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/>
            <p:cNvCxnSpPr/>
            <p:nvPr/>
          </p:nvCxnSpPr>
          <p:spPr>
            <a:xfrm flipH="1">
              <a:off x="5332101" y="3810000"/>
              <a:ext cx="2360383" cy="1066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836342" y="1828800"/>
            <a:ext cx="6555058" cy="1676400"/>
            <a:chOff x="836342" y="1828800"/>
            <a:chExt cx="6555058" cy="1676400"/>
          </a:xfrm>
        </p:grpSpPr>
        <p:grpSp>
          <p:nvGrpSpPr>
            <p:cNvPr id="72" name="Group 71"/>
            <p:cNvGrpSpPr/>
            <p:nvPr/>
          </p:nvGrpSpPr>
          <p:grpSpPr>
            <a:xfrm>
              <a:off x="4419598" y="1828800"/>
              <a:ext cx="2971802" cy="1676400"/>
              <a:chOff x="2590800" y="1905000"/>
              <a:chExt cx="2971802" cy="167640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2823036" y="2286000"/>
                <a:ext cx="379143" cy="1295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2971800" y="2286000"/>
                <a:ext cx="1672685" cy="12512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3048000" y="2286000"/>
                <a:ext cx="1901285" cy="12512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3126058" y="2286000"/>
                <a:ext cx="2436544" cy="1295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/>
              <p:cNvSpPr txBox="1"/>
              <p:nvPr/>
            </p:nvSpPr>
            <p:spPr>
              <a:xfrm>
                <a:off x="2590800" y="1905000"/>
                <a:ext cx="7841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FFC000"/>
                    </a:solidFill>
                  </a:rPr>
                  <a:t>D</a:t>
                </a:r>
                <a:endParaRPr lang="en-US" b="1" dirty="0">
                  <a:solidFill>
                    <a:srgbClr val="FFC000"/>
                  </a:solidFill>
                </a:endParaRPr>
              </a:p>
            </p:txBody>
          </p:sp>
        </p:grpSp>
        <p:cxnSp>
          <p:nvCxnSpPr>
            <p:cNvPr id="94" name="Straight Connector 93"/>
            <p:cNvCxnSpPr/>
            <p:nvPr/>
          </p:nvCxnSpPr>
          <p:spPr>
            <a:xfrm>
              <a:off x="4722501" y="2209800"/>
              <a:ext cx="1144899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4457540" y="2209800"/>
              <a:ext cx="129112" cy="12512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2744977" y="2209800"/>
              <a:ext cx="1712562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flipH="1">
              <a:off x="1217341" y="2209800"/>
              <a:ext cx="3202257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836342" y="2135832"/>
              <a:ext cx="3543138" cy="13251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621634" y="3041359"/>
            <a:ext cx="3226966" cy="497718"/>
            <a:chOff x="4621634" y="3041359"/>
            <a:chExt cx="3226966" cy="497718"/>
          </a:xfrm>
        </p:grpSpPr>
        <p:grpSp>
          <p:nvGrpSpPr>
            <p:cNvPr id="89" name="Group 88"/>
            <p:cNvGrpSpPr/>
            <p:nvPr/>
          </p:nvGrpSpPr>
          <p:grpSpPr>
            <a:xfrm>
              <a:off x="4621634" y="3041359"/>
              <a:ext cx="1122280" cy="497718"/>
              <a:chOff x="4621634" y="3041359"/>
              <a:chExt cx="1122280" cy="497718"/>
            </a:xfrm>
          </p:grpSpPr>
          <p:sp>
            <p:nvSpPr>
              <p:cNvPr id="87" name="Right Arrow 86"/>
              <p:cNvSpPr/>
              <p:nvPr/>
            </p:nvSpPr>
            <p:spPr>
              <a:xfrm rot="5400000">
                <a:off x="4484006" y="3178987"/>
                <a:ext cx="489204" cy="213948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ight Arrow 87"/>
              <p:cNvSpPr/>
              <p:nvPr/>
            </p:nvSpPr>
            <p:spPr>
              <a:xfrm rot="5400000">
                <a:off x="5392338" y="3187501"/>
                <a:ext cx="489204" cy="213948"/>
              </a:xfrm>
              <a:prstGeom prst="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5" name="Right Arrow 104"/>
            <p:cNvSpPr/>
            <p:nvPr/>
          </p:nvSpPr>
          <p:spPr>
            <a:xfrm rot="5400000">
              <a:off x="7497024" y="3185628"/>
              <a:ext cx="489204" cy="213948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ight Arrow 105"/>
            <p:cNvSpPr/>
            <p:nvPr/>
          </p:nvSpPr>
          <p:spPr>
            <a:xfrm rot="5400000">
              <a:off x="7192224" y="3185628"/>
              <a:ext cx="489204" cy="21394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Oval 108"/>
          <p:cNvSpPr/>
          <p:nvPr/>
        </p:nvSpPr>
        <p:spPr>
          <a:xfrm>
            <a:off x="7696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73914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55626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4648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miley Face 2"/>
          <p:cNvSpPr/>
          <p:nvPr/>
        </p:nvSpPr>
        <p:spPr>
          <a:xfrm>
            <a:off x="914400" y="2133600"/>
            <a:ext cx="609519" cy="609600"/>
          </a:xfrm>
          <a:prstGeom prst="smileyFace">
            <a:avLst>
              <a:gd name="adj" fmla="val -46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Callout 3"/>
          <p:cNvSpPr/>
          <p:nvPr/>
        </p:nvSpPr>
        <p:spPr>
          <a:xfrm>
            <a:off x="152400" y="1371600"/>
            <a:ext cx="1943988" cy="612648"/>
          </a:xfrm>
          <a:prstGeom prst="wedgeEllipseCallout">
            <a:avLst>
              <a:gd name="adj1" fmla="val 10310"/>
              <a:gd name="adj2" fmla="val 7524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It looks too complex  !</a:t>
            </a:r>
          </a:p>
        </p:txBody>
      </p:sp>
      <p:sp>
        <p:nvSpPr>
          <p:cNvPr id="17" name="Oval Callout 16"/>
          <p:cNvSpPr/>
          <p:nvPr/>
        </p:nvSpPr>
        <p:spPr>
          <a:xfrm>
            <a:off x="397836" y="4754171"/>
            <a:ext cx="2985976" cy="776667"/>
          </a:xfrm>
          <a:prstGeom prst="wedgeEllipseCallout">
            <a:avLst>
              <a:gd name="adj1" fmla="val -70223"/>
              <a:gd name="adj2" fmla="val 6978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Have some perseverance, buddy !</a:t>
            </a:r>
          </a:p>
        </p:txBody>
      </p:sp>
      <p:sp>
        <p:nvSpPr>
          <p:cNvPr id="19" name="Ribbon: Curved and Tilted Down 18">
            <a:extLst>
              <a:ext uri="{FF2B5EF4-FFF2-40B4-BE49-F238E27FC236}">
                <a16:creationId xmlns:a16="http://schemas.microsoft.com/office/drawing/2014/main" id="{7B5BD81D-D557-3DDD-52C9-A5D771C48CE9}"/>
              </a:ext>
            </a:extLst>
          </p:cNvPr>
          <p:cNvSpPr/>
          <p:nvPr/>
        </p:nvSpPr>
        <p:spPr>
          <a:xfrm>
            <a:off x="4831100" y="5564206"/>
            <a:ext cx="4120033" cy="1109044"/>
          </a:xfrm>
          <a:prstGeom prst="ellipseRibbon">
            <a:avLst>
              <a:gd name="adj1" fmla="val 25000"/>
              <a:gd name="adj2" fmla="val 75000"/>
              <a:gd name="adj3" fmla="val 125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Let us </a:t>
            </a:r>
            <a:r>
              <a:rPr lang="en-US" sz="1600" dirty="0" err="1">
                <a:solidFill>
                  <a:schemeClr val="tx1"/>
                </a:solidFill>
              </a:rPr>
              <a:t>analyse</a:t>
            </a:r>
            <a:r>
              <a:rPr lang="en-US" sz="1600" dirty="0">
                <a:solidFill>
                  <a:schemeClr val="tx1"/>
                </a:solidFill>
              </a:rPr>
              <a:t> the finish time.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Of the </a:t>
            </a:r>
            <a:r>
              <a:rPr lang="en-US" sz="1600" b="1" dirty="0">
                <a:solidFill>
                  <a:schemeClr val="tx1"/>
                </a:solidFill>
              </a:rPr>
              <a:t>roots</a:t>
            </a:r>
            <a:r>
              <a:rPr lang="en-US" sz="1600" dirty="0">
                <a:solidFill>
                  <a:schemeClr val="tx1"/>
                </a:solidFill>
              </a:rPr>
              <a:t> of </a:t>
            </a:r>
            <a:r>
              <a:rPr lang="en-US" sz="1600" b="1" dirty="0">
                <a:solidFill>
                  <a:schemeClr val="tx1"/>
                </a:solidFill>
              </a:rPr>
              <a:t>SCC</a:t>
            </a:r>
            <a:r>
              <a:rPr lang="en-US" sz="1600" dirty="0">
                <a:solidFill>
                  <a:schemeClr val="tx1"/>
                </a:solidFill>
              </a:rPr>
              <a:t>s. May be there exists some order there !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85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1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50" grpId="0" animBg="1"/>
      <p:bldP spid="109" grpId="0" animBg="1"/>
      <p:bldP spid="111" grpId="0" animBg="1"/>
      <p:bldP spid="112" grpId="0" animBg="1"/>
      <p:bldP spid="113" grpId="0" animBg="1"/>
      <p:bldP spid="3" grpId="0" animBg="1"/>
      <p:bldP spid="3" grpId="1" animBg="1"/>
      <p:bldP spid="4" grpId="0" animBg="1"/>
      <p:bldP spid="4" grpId="1" animBg="1"/>
      <p:bldP spid="17" grpId="0" animBg="1"/>
      <p:bldP spid="17" grpId="1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 algn="ctr">
                  <a:buNone/>
                </a:pP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rgbClr val="C00000"/>
                        </a:solidFill>
                      </a:rPr>
                      <m:t>A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        </a:t>
                </a:r>
                <a:r>
                  <a:rPr lang="en-US" sz="2400" dirty="0">
                    <a:solidFill>
                      <a:srgbClr val="FF0000"/>
                    </a:solidFill>
                    <a:sym typeface="Wingdings" pitchFamily="2" charset="2"/>
                  </a:rPr>
                  <a:t>?</a:t>
                </a:r>
                <a:r>
                  <a:rPr lang="en-US" sz="2000" dirty="0">
                    <a:sym typeface="Wingdings" pitchFamily="2" charset="2"/>
                  </a:rPr>
                  <a:t>     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rgbClr val="7030A0"/>
                        </a:solidFill>
                      </a:rPr>
                      <m:t>B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52578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49AAE89D-B0FD-8BFE-10B0-69C986C68CB8}"/>
              </a:ext>
            </a:extLst>
          </p:cNvPr>
          <p:cNvSpPr/>
          <p:nvPr/>
        </p:nvSpPr>
        <p:spPr>
          <a:xfrm flipV="1">
            <a:off x="5562600" y="4401427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3A096C-4C48-FD14-5B70-F78BB16815E6}"/>
              </a:ext>
            </a:extLst>
          </p:cNvPr>
          <p:cNvSpPr/>
          <p:nvPr/>
        </p:nvSpPr>
        <p:spPr>
          <a:xfrm flipV="1">
            <a:off x="3505200" y="4038308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AC952F-4CCC-8645-E055-9D5B5EBD6FC4}"/>
              </a:ext>
            </a:extLst>
          </p:cNvPr>
          <p:cNvSpPr/>
          <p:nvPr/>
        </p:nvSpPr>
        <p:spPr>
          <a:xfrm flipV="1">
            <a:off x="3643354" y="5284937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F53888-7832-7E7B-47D1-003D3CA4140F}"/>
              </a:ext>
            </a:extLst>
          </p:cNvPr>
          <p:cNvSpPr/>
          <p:nvPr/>
        </p:nvSpPr>
        <p:spPr>
          <a:xfrm flipV="1">
            <a:off x="2823117" y="5364915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CE407D-6EA0-15BE-D509-ECCBB09F2137}"/>
              </a:ext>
            </a:extLst>
          </p:cNvPr>
          <p:cNvSpPr/>
          <p:nvPr/>
        </p:nvSpPr>
        <p:spPr>
          <a:xfrm flipV="1">
            <a:off x="3352800" y="4928322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DFS on Directed Graph</a:t>
            </a:r>
            <a:br>
              <a:rPr lang="en-US" sz="3600" b="1" dirty="0"/>
            </a:br>
            <a:r>
              <a:rPr lang="en-US" sz="2800" b="1" dirty="0"/>
              <a:t>Analyzing the </a:t>
            </a:r>
            <a:r>
              <a:rPr lang="en-US" sz="2800" b="1" dirty="0">
                <a:solidFill>
                  <a:srgbClr val="0070C0"/>
                </a:solidFill>
              </a:rPr>
              <a:t>finish time </a:t>
            </a:r>
            <a:r>
              <a:rPr lang="en-US" sz="2800" b="1" dirty="0"/>
              <a:t>of </a:t>
            </a:r>
            <a:r>
              <a:rPr lang="en-US" sz="2800" b="1" dirty="0">
                <a:solidFill>
                  <a:srgbClr val="7030A0"/>
                </a:solidFill>
              </a:rPr>
              <a:t>roots</a:t>
            </a:r>
            <a:r>
              <a:rPr lang="en-US" sz="2800" b="1" dirty="0"/>
              <a:t> of SCCs</a:t>
            </a:r>
            <a:endParaRPr lang="en-US" sz="2800" b="1" dirty="0">
              <a:solidFill>
                <a:srgbClr val="7030A0"/>
              </a:solidFill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H="1">
            <a:off x="3521946" y="4508810"/>
            <a:ext cx="1505502" cy="495712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105400" y="4343400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4343400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282176" y="50408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176" y="5040868"/>
                <a:ext cx="3754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/>
          <p:cNvSpPr/>
          <p:nvPr/>
        </p:nvSpPr>
        <p:spPr>
          <a:xfrm>
            <a:off x="4793166" y="3505200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2667000" y="3691193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352800" y="5562600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srgbClr val="7030A0"/>
                          </a:solidFill>
                        </a:rPr>
                        <m:t>B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562600"/>
                <a:ext cx="3674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311646" y="5029200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srgbClr val="C00000"/>
                          </a:solidFill>
                        </a:rPr>
                        <m:t>A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646" y="5029200"/>
                <a:ext cx="3770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643125" y="6096000"/>
            <a:ext cx="300082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&gt;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5562600" y="4419600"/>
            <a:ext cx="148602" cy="152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508998" y="4038600"/>
            <a:ext cx="148602" cy="152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&quot;No&quot; Symbol 24">
            <a:extLst>
              <a:ext uri="{FF2B5EF4-FFF2-40B4-BE49-F238E27FC236}">
                <a16:creationId xmlns:a16="http://schemas.microsoft.com/office/drawing/2014/main" id="{938F9860-5BB0-0C77-9A22-7D8C68B61657}"/>
              </a:ext>
            </a:extLst>
          </p:cNvPr>
          <p:cNvSpPr/>
          <p:nvPr/>
        </p:nvSpPr>
        <p:spPr>
          <a:xfrm>
            <a:off x="4214385" y="4153411"/>
            <a:ext cx="373565" cy="407744"/>
          </a:xfrm>
          <a:prstGeom prst="noSmoking">
            <a:avLst>
              <a:gd name="adj" fmla="val 102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8DD83D-6A38-3965-6A94-A32A3279B3AB}"/>
              </a:ext>
            </a:extLst>
          </p:cNvPr>
          <p:cNvGrpSpPr/>
          <p:nvPr/>
        </p:nvGrpSpPr>
        <p:grpSpPr>
          <a:xfrm rot="1691361">
            <a:off x="3966603" y="2455815"/>
            <a:ext cx="254670" cy="1688152"/>
            <a:chOff x="4259407" y="1457324"/>
            <a:chExt cx="254670" cy="1688152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53367F3-56C8-7C2F-1D1E-90CA486F2C9A}"/>
                </a:ext>
              </a:extLst>
            </p:cNvPr>
            <p:cNvSpPr/>
            <p:nvPr/>
          </p:nvSpPr>
          <p:spPr>
            <a:xfrm>
              <a:off x="4270917" y="1457324"/>
              <a:ext cx="205833" cy="1447801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2F816A2-E343-8722-B456-CDC718911492}"/>
                </a:ext>
              </a:extLst>
            </p:cNvPr>
            <p:cNvCxnSpPr>
              <a:cxnSpLocks/>
              <a:stCxn id="7" idx="23"/>
              <a:endCxn id="44" idx="7"/>
            </p:cNvCxnSpPr>
            <p:nvPr/>
          </p:nvCxnSpPr>
          <p:spPr>
            <a:xfrm rot="19908639" flipH="1">
              <a:off x="4259407" y="2857723"/>
              <a:ext cx="254670" cy="287753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B95CD831-7362-2A47-1C96-7CFFA3890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420" y="2364343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6226D2F-7910-FCF0-544D-994BB0A9DF2C}"/>
              </a:ext>
            </a:extLst>
          </p:cNvPr>
          <p:cNvSpPr/>
          <p:nvPr/>
        </p:nvSpPr>
        <p:spPr>
          <a:xfrm flipV="1">
            <a:off x="3406770" y="4531853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170008-4FB2-9E7E-8608-40A0BEF23666}"/>
              </a:ext>
            </a:extLst>
          </p:cNvPr>
          <p:cNvSpPr/>
          <p:nvPr/>
        </p:nvSpPr>
        <p:spPr>
          <a:xfrm flipV="1">
            <a:off x="5025602" y="4401427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CD399C-AE0F-15DA-B668-B8FBE88439C9}"/>
              </a:ext>
            </a:extLst>
          </p:cNvPr>
          <p:cNvSpPr/>
          <p:nvPr/>
        </p:nvSpPr>
        <p:spPr>
          <a:xfrm flipV="1">
            <a:off x="5179849" y="3968741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1019E4-1210-4282-5220-0E440D2931C3}"/>
              </a:ext>
            </a:extLst>
          </p:cNvPr>
          <p:cNvSpPr/>
          <p:nvPr/>
        </p:nvSpPr>
        <p:spPr>
          <a:xfrm flipV="1">
            <a:off x="5339644" y="4819094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C54D92-061E-E37B-2677-DC097D84158F}"/>
              </a:ext>
            </a:extLst>
          </p:cNvPr>
          <p:cNvSpPr/>
          <p:nvPr/>
        </p:nvSpPr>
        <p:spPr>
          <a:xfrm>
            <a:off x="968442" y="859816"/>
            <a:ext cx="2590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24D3C7-BB98-4309-7472-6897F259EB93}"/>
              </a:ext>
            </a:extLst>
          </p:cNvPr>
          <p:cNvSpPr/>
          <p:nvPr/>
        </p:nvSpPr>
        <p:spPr>
          <a:xfrm>
            <a:off x="3581400" y="838200"/>
            <a:ext cx="160993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C66C3D-8401-BA6E-925F-5CBB5FFC1EE2}"/>
              </a:ext>
            </a:extLst>
          </p:cNvPr>
          <p:cNvSpPr/>
          <p:nvPr/>
        </p:nvSpPr>
        <p:spPr>
          <a:xfrm>
            <a:off x="5298722" y="838200"/>
            <a:ext cx="2549878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6202952-F33E-2C9A-59C7-35E8EA71BF23}"/>
              </a:ext>
            </a:extLst>
          </p:cNvPr>
          <p:cNvGrpSpPr/>
          <p:nvPr/>
        </p:nvGrpSpPr>
        <p:grpSpPr>
          <a:xfrm>
            <a:off x="3558988" y="4044941"/>
            <a:ext cx="1622612" cy="571883"/>
            <a:chOff x="3558988" y="4044941"/>
            <a:chExt cx="1622612" cy="57188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A4F3A4-26EC-4AEE-5CCE-64E0061E5A0C}"/>
                </a:ext>
              </a:extLst>
            </p:cNvPr>
            <p:cNvSpPr/>
            <p:nvPr/>
          </p:nvSpPr>
          <p:spPr>
            <a:xfrm>
              <a:off x="3558988" y="4052047"/>
              <a:ext cx="1622612" cy="564777"/>
            </a:xfrm>
            <a:custGeom>
              <a:avLst/>
              <a:gdLst>
                <a:gd name="connsiteX0" fmla="*/ 0 w 1622612"/>
                <a:gd name="connsiteY0" fmla="*/ 564777 h 564777"/>
                <a:gd name="connsiteX1" fmla="*/ 152400 w 1622612"/>
                <a:gd name="connsiteY1" fmla="*/ 439271 h 564777"/>
                <a:gd name="connsiteX2" fmla="*/ 349624 w 1622612"/>
                <a:gd name="connsiteY2" fmla="*/ 466165 h 564777"/>
                <a:gd name="connsiteX3" fmla="*/ 510988 w 1622612"/>
                <a:gd name="connsiteY3" fmla="*/ 510988 h 564777"/>
                <a:gd name="connsiteX4" fmla="*/ 726141 w 1622612"/>
                <a:gd name="connsiteY4" fmla="*/ 331694 h 564777"/>
                <a:gd name="connsiteX5" fmla="*/ 959224 w 1622612"/>
                <a:gd name="connsiteY5" fmla="*/ 295835 h 564777"/>
                <a:gd name="connsiteX6" fmla="*/ 1246094 w 1622612"/>
                <a:gd name="connsiteY6" fmla="*/ 304800 h 564777"/>
                <a:gd name="connsiteX7" fmla="*/ 1407459 w 1622612"/>
                <a:gd name="connsiteY7" fmla="*/ 215153 h 564777"/>
                <a:gd name="connsiteX8" fmla="*/ 1497106 w 1622612"/>
                <a:gd name="connsiteY8" fmla="*/ 62753 h 564777"/>
                <a:gd name="connsiteX9" fmla="*/ 1622612 w 1622612"/>
                <a:gd name="connsiteY9" fmla="*/ 0 h 56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612" h="564777">
                  <a:moveTo>
                    <a:pt x="0" y="564777"/>
                  </a:moveTo>
                  <a:cubicBezTo>
                    <a:pt x="47064" y="510241"/>
                    <a:pt x="94129" y="455706"/>
                    <a:pt x="152400" y="439271"/>
                  </a:cubicBezTo>
                  <a:cubicBezTo>
                    <a:pt x="210671" y="422836"/>
                    <a:pt x="289859" y="454212"/>
                    <a:pt x="349624" y="466165"/>
                  </a:cubicBezTo>
                  <a:cubicBezTo>
                    <a:pt x="409389" y="478118"/>
                    <a:pt x="448235" y="533400"/>
                    <a:pt x="510988" y="510988"/>
                  </a:cubicBezTo>
                  <a:cubicBezTo>
                    <a:pt x="573741" y="488576"/>
                    <a:pt x="651435" y="367553"/>
                    <a:pt x="726141" y="331694"/>
                  </a:cubicBezTo>
                  <a:cubicBezTo>
                    <a:pt x="800847" y="295835"/>
                    <a:pt x="872565" y="300317"/>
                    <a:pt x="959224" y="295835"/>
                  </a:cubicBezTo>
                  <a:cubicBezTo>
                    <a:pt x="1045883" y="291353"/>
                    <a:pt x="1171388" y="318247"/>
                    <a:pt x="1246094" y="304800"/>
                  </a:cubicBezTo>
                  <a:cubicBezTo>
                    <a:pt x="1320800" y="291353"/>
                    <a:pt x="1365624" y="255494"/>
                    <a:pt x="1407459" y="215153"/>
                  </a:cubicBezTo>
                  <a:cubicBezTo>
                    <a:pt x="1449294" y="174812"/>
                    <a:pt x="1461247" y="98612"/>
                    <a:pt x="1497106" y="62753"/>
                  </a:cubicBezTo>
                  <a:cubicBezTo>
                    <a:pt x="1532965" y="26894"/>
                    <a:pt x="1577788" y="13447"/>
                    <a:pt x="1622612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3A5A367-D332-18AB-36FD-04848259EB19}"/>
                </a:ext>
              </a:extLst>
            </p:cNvPr>
            <p:cNvCxnSpPr>
              <a:cxnSpLocks/>
              <a:stCxn id="23" idx="8"/>
              <a:endCxn id="17" idx="2"/>
            </p:cNvCxnSpPr>
            <p:nvPr/>
          </p:nvCxnSpPr>
          <p:spPr>
            <a:xfrm flipV="1">
              <a:off x="5056094" y="4044941"/>
              <a:ext cx="123755" cy="698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loud Callout 49">
                <a:extLst>
                  <a:ext uri="{FF2B5EF4-FFF2-40B4-BE49-F238E27FC236}">
                    <a16:creationId xmlns:a16="http://schemas.microsoft.com/office/drawing/2014/main" id="{3F976DC5-7FA5-07BA-69F8-39D3761BD182}"/>
                  </a:ext>
                </a:extLst>
              </p:cNvPr>
              <p:cNvSpPr/>
              <p:nvPr/>
            </p:nvSpPr>
            <p:spPr>
              <a:xfrm>
                <a:off x="5103543" y="2038349"/>
                <a:ext cx="3998640" cy="1116980"/>
              </a:xfrm>
              <a:prstGeom prst="cloudCallout">
                <a:avLst>
                  <a:gd name="adj1" fmla="val 20441"/>
                  <a:gd name="adj2" fmla="val 6948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Can there be a path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from a vertex in </a:t>
                </a:r>
                <a:r>
                  <a:rPr lang="en-US" b="1" dirty="0">
                    <a:solidFill>
                      <a:srgbClr val="7030A0"/>
                    </a:solidFill>
                  </a:rPr>
                  <a:t>B</a:t>
                </a:r>
                <a:r>
                  <a:rPr lang="en-US" dirty="0">
                    <a:solidFill>
                      <a:schemeClr val="tx1"/>
                    </a:solidFill>
                  </a:rPr>
                  <a:t> to a vertex in </a:t>
                </a:r>
                <a:r>
                  <a:rPr lang="en-US" b="1" dirty="0">
                    <a:solidFill>
                      <a:srgbClr val="C00000"/>
                    </a:solidFill>
                  </a:rPr>
                  <a:t>A</a:t>
                </a:r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36" name="Cloud Callout 49">
                <a:extLst>
                  <a:ext uri="{FF2B5EF4-FFF2-40B4-BE49-F238E27FC236}">
                    <a16:creationId xmlns:a16="http://schemas.microsoft.com/office/drawing/2014/main" id="{3F976DC5-7FA5-07BA-69F8-39D3761BD1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543" y="2038349"/>
                <a:ext cx="3998640" cy="1116980"/>
              </a:xfrm>
              <a:prstGeom prst="cloudCallout">
                <a:avLst>
                  <a:gd name="adj1" fmla="val 20441"/>
                  <a:gd name="adj2" fmla="val 69488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AC8977FC-80F9-7274-AB5C-DF03E5C70906}"/>
              </a:ext>
            </a:extLst>
          </p:cNvPr>
          <p:cNvSpPr txBox="1"/>
          <p:nvPr/>
        </p:nvSpPr>
        <p:spPr>
          <a:xfrm>
            <a:off x="5813436" y="3212812"/>
            <a:ext cx="3399329" cy="58477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No. since such a path would imply that</a:t>
            </a:r>
          </a:p>
          <a:p>
            <a:r>
              <a:rPr lang="en-US" sz="1600" dirty="0"/>
              <a:t> </a:t>
            </a:r>
            <a:r>
              <a:rPr lang="en-US" sz="1600" b="1" dirty="0">
                <a:solidFill>
                  <a:srgbClr val="C00000"/>
                </a:solidFill>
              </a:rPr>
              <a:t>A</a:t>
            </a:r>
            <a:r>
              <a:rPr lang="en-US" sz="1600" dirty="0"/>
              <a:t> and </a:t>
            </a:r>
            <a:r>
              <a:rPr lang="en-US" sz="1600" b="1" dirty="0">
                <a:solidFill>
                  <a:srgbClr val="7030A0"/>
                </a:solidFill>
              </a:rPr>
              <a:t>B</a:t>
            </a:r>
            <a:r>
              <a:rPr lang="en-US" sz="1600" dirty="0"/>
              <a:t> together form a single SCC.</a:t>
            </a:r>
            <a:endParaRPr lang="en-IN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E76FA6-118E-89F0-F1E0-7607E431E246}"/>
              </a:ext>
            </a:extLst>
          </p:cNvPr>
          <p:cNvSpPr txBox="1"/>
          <p:nvPr/>
        </p:nvSpPr>
        <p:spPr>
          <a:xfrm>
            <a:off x="4820799" y="2836902"/>
            <a:ext cx="4345613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So </a:t>
            </a:r>
            <a:r>
              <a:rPr lang="en-US" b="1" dirty="0"/>
              <a:t>DFS</a:t>
            </a:r>
            <a:r>
              <a:rPr lang="en-US" dirty="0"/>
              <a:t> of </a:t>
            </a:r>
            <a:r>
              <a:rPr lang="en-US" b="1" dirty="0">
                <a:solidFill>
                  <a:srgbClr val="7030A0"/>
                </a:solidFill>
              </a:rPr>
              <a:t>B</a:t>
            </a:r>
            <a:r>
              <a:rPr lang="en-US" dirty="0"/>
              <a:t> will finish before DFS of </a:t>
            </a:r>
            <a:r>
              <a:rPr lang="en-US" b="1" dirty="0">
                <a:solidFill>
                  <a:srgbClr val="C00000"/>
                </a:solidFill>
              </a:rPr>
              <a:t>A </a:t>
            </a:r>
            <a:r>
              <a:rPr lang="en-US" dirty="0"/>
              <a:t>begins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69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 animBg="1"/>
      <p:bldP spid="15" grpId="0" animBg="1"/>
      <p:bldP spid="14" grpId="0" animBg="1"/>
      <p:bldP spid="13" grpId="0" animBg="1"/>
      <p:bldP spid="11" grpId="0" animBg="1"/>
      <p:bldP spid="28" grpId="0"/>
      <p:bldP spid="29" grpId="0"/>
      <p:bldP spid="31" grpId="0" animBg="1"/>
      <p:bldP spid="37" grpId="0" animBg="1"/>
      <p:bldP spid="20" grpId="0"/>
      <p:bldP spid="62" grpId="0"/>
      <p:bldP spid="4" grpId="0" animBg="1"/>
      <p:bldP spid="43" grpId="0" animBg="1"/>
      <p:bldP spid="44" grpId="0" animBg="1"/>
      <p:bldP spid="12" grpId="0" animBg="1"/>
      <p:bldP spid="12" grpId="1" animBg="1"/>
      <p:bldP spid="9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6" grpId="0" animBg="1"/>
      <p:bldP spid="36" grpId="0" animBg="1"/>
      <p:bldP spid="36" grpId="1" animBg="1"/>
      <p:bldP spid="38" grpId="0" animBg="1"/>
      <p:bldP spid="38" grpId="1" animBg="1"/>
      <p:bldP spid="3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 algn="ctr">
                  <a:buNone/>
                </a:pPr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rgbClr val="C00000"/>
                        </a:solidFill>
                      </a:rPr>
                      <m:t>A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        </a:t>
                </a:r>
                <a:r>
                  <a:rPr lang="en-US" sz="2400" dirty="0">
                    <a:solidFill>
                      <a:srgbClr val="FF0000"/>
                    </a:solidFill>
                    <a:sym typeface="Wingdings" pitchFamily="2" charset="2"/>
                  </a:rPr>
                  <a:t>?</a:t>
                </a:r>
                <a:r>
                  <a:rPr lang="en-US" sz="2000" dirty="0">
                    <a:sym typeface="Wingdings" pitchFamily="2" charset="2"/>
                  </a:rPr>
                  <a:t>     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rgbClr val="7030A0"/>
                        </a:solidFill>
                      </a:rPr>
                      <m:t>B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5257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49AAE89D-B0FD-8BFE-10B0-69C986C68CB8}"/>
              </a:ext>
            </a:extLst>
          </p:cNvPr>
          <p:cNvSpPr/>
          <p:nvPr/>
        </p:nvSpPr>
        <p:spPr>
          <a:xfrm flipV="1">
            <a:off x="5562600" y="4401427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3A096C-4C48-FD14-5B70-F78BB16815E6}"/>
              </a:ext>
            </a:extLst>
          </p:cNvPr>
          <p:cNvSpPr/>
          <p:nvPr/>
        </p:nvSpPr>
        <p:spPr>
          <a:xfrm flipV="1">
            <a:off x="3505200" y="4038308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AC952F-4CCC-8645-E055-9D5B5EBD6FC4}"/>
              </a:ext>
            </a:extLst>
          </p:cNvPr>
          <p:cNvSpPr/>
          <p:nvPr/>
        </p:nvSpPr>
        <p:spPr>
          <a:xfrm flipV="1">
            <a:off x="3643354" y="5284937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F53888-7832-7E7B-47D1-003D3CA4140F}"/>
              </a:ext>
            </a:extLst>
          </p:cNvPr>
          <p:cNvSpPr/>
          <p:nvPr/>
        </p:nvSpPr>
        <p:spPr>
          <a:xfrm flipV="1">
            <a:off x="2823117" y="5364915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CE407D-6EA0-15BE-D509-ECCBB09F2137}"/>
              </a:ext>
            </a:extLst>
          </p:cNvPr>
          <p:cNvSpPr/>
          <p:nvPr/>
        </p:nvSpPr>
        <p:spPr>
          <a:xfrm flipV="1">
            <a:off x="3352800" y="4928322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DFS on Directed Graph</a:t>
            </a:r>
            <a:br>
              <a:rPr lang="en-US" sz="3600" b="1" dirty="0"/>
            </a:br>
            <a:r>
              <a:rPr lang="en-US" sz="2800" b="1" dirty="0"/>
              <a:t>Analyzing the </a:t>
            </a:r>
            <a:r>
              <a:rPr lang="en-US" sz="2800" b="1" dirty="0">
                <a:solidFill>
                  <a:srgbClr val="0070C0"/>
                </a:solidFill>
              </a:rPr>
              <a:t>finish time </a:t>
            </a:r>
            <a:r>
              <a:rPr lang="en-US" sz="2800" b="1" dirty="0"/>
              <a:t>of </a:t>
            </a:r>
            <a:r>
              <a:rPr lang="en-US" sz="2800" b="1" dirty="0">
                <a:solidFill>
                  <a:srgbClr val="7030A0"/>
                </a:solidFill>
              </a:rPr>
              <a:t>roots</a:t>
            </a:r>
            <a:r>
              <a:rPr lang="en-US" sz="2800" b="1" dirty="0"/>
              <a:t> of SCCs</a:t>
            </a: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H="1">
            <a:off x="3521946" y="4508810"/>
            <a:ext cx="1505502" cy="495712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105400" y="4343400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4343400"/>
                <a:ext cx="38664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282176" y="50408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176" y="5040868"/>
                <a:ext cx="3754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/>
          <p:cNvSpPr/>
          <p:nvPr/>
        </p:nvSpPr>
        <p:spPr>
          <a:xfrm>
            <a:off x="4793166" y="3505200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2667000" y="3691193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352800" y="5562600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srgbClr val="7030A0"/>
                          </a:solidFill>
                        </a:rPr>
                        <m:t>B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562600"/>
                <a:ext cx="3770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311646" y="5029200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srgbClr val="C00000"/>
                          </a:solidFill>
                        </a:rPr>
                        <m:t>A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646" y="5029200"/>
                <a:ext cx="3770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643125" y="6096000"/>
            <a:ext cx="300082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&gt;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5562600" y="4419600"/>
            <a:ext cx="148602" cy="152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95CD831-7362-2A47-1C96-7CFFA3890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420" y="2364343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6226D2F-7910-FCF0-544D-994BB0A9DF2C}"/>
              </a:ext>
            </a:extLst>
          </p:cNvPr>
          <p:cNvSpPr/>
          <p:nvPr/>
        </p:nvSpPr>
        <p:spPr>
          <a:xfrm flipV="1">
            <a:off x="3429000" y="4518858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170008-4FB2-9E7E-8608-40A0BEF23666}"/>
              </a:ext>
            </a:extLst>
          </p:cNvPr>
          <p:cNvSpPr/>
          <p:nvPr/>
        </p:nvSpPr>
        <p:spPr>
          <a:xfrm flipV="1">
            <a:off x="5025602" y="4401427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CD399C-AE0F-15DA-B668-B8FBE88439C9}"/>
              </a:ext>
            </a:extLst>
          </p:cNvPr>
          <p:cNvSpPr/>
          <p:nvPr/>
        </p:nvSpPr>
        <p:spPr>
          <a:xfrm flipV="1">
            <a:off x="5179849" y="3968741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1019E4-1210-4282-5220-0E440D2931C3}"/>
              </a:ext>
            </a:extLst>
          </p:cNvPr>
          <p:cNvSpPr/>
          <p:nvPr/>
        </p:nvSpPr>
        <p:spPr>
          <a:xfrm flipV="1">
            <a:off x="5339644" y="4819094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72144A-A65C-B6E1-1408-0127FBD07F03}"/>
              </a:ext>
            </a:extLst>
          </p:cNvPr>
          <p:cNvGrpSpPr/>
          <p:nvPr/>
        </p:nvGrpSpPr>
        <p:grpSpPr>
          <a:xfrm rot="19904993">
            <a:off x="4926408" y="2264981"/>
            <a:ext cx="266101" cy="2274723"/>
            <a:chOff x="4270917" y="1457324"/>
            <a:chExt cx="205833" cy="166673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EC75E941-19BD-F4C0-B5FC-72CEE416A4DB}"/>
                </a:ext>
              </a:extLst>
            </p:cNvPr>
            <p:cNvSpPr/>
            <p:nvPr/>
          </p:nvSpPr>
          <p:spPr>
            <a:xfrm>
              <a:off x="4270917" y="1457324"/>
              <a:ext cx="205833" cy="1447801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1B103EE-E3A2-8F33-85B6-360414FD8B49}"/>
                </a:ext>
              </a:extLst>
            </p:cNvPr>
            <p:cNvCxnSpPr>
              <a:cxnSpLocks/>
              <a:stCxn id="22" idx="23"/>
            </p:cNvCxnSpPr>
            <p:nvPr/>
          </p:nvCxnSpPr>
          <p:spPr>
            <a:xfrm rot="1695007">
              <a:off x="4358932" y="2824101"/>
              <a:ext cx="106892" cy="29995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1E03B330-FFD6-423F-E37A-FD03155B2419}"/>
              </a:ext>
            </a:extLst>
          </p:cNvPr>
          <p:cNvSpPr/>
          <p:nvPr/>
        </p:nvSpPr>
        <p:spPr>
          <a:xfrm>
            <a:off x="3365829" y="4928322"/>
            <a:ext cx="148602" cy="152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4108EEC-E37A-4C7F-8FC5-D3D382B8BDEE}"/>
              </a:ext>
            </a:extLst>
          </p:cNvPr>
          <p:cNvSpPr/>
          <p:nvPr/>
        </p:nvSpPr>
        <p:spPr>
          <a:xfrm>
            <a:off x="3508998" y="4038600"/>
            <a:ext cx="148602" cy="152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07A27A-18A8-57BF-48C9-BF5CCBB4D568}"/>
                  </a:ext>
                </a:extLst>
              </p:cNvPr>
              <p:cNvSpPr txBox="1"/>
              <p:nvPr/>
            </p:nvSpPr>
            <p:spPr>
              <a:xfrm>
                <a:off x="4756819" y="2746963"/>
                <a:ext cx="4466800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SCC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solidFill>
                          <a:srgbClr val="7030A0"/>
                        </a:solidFill>
                      </a:rPr>
                      <m:t>B</m:t>
                    </m:r>
                  </m:oMath>
                </a14:m>
                <a:r>
                  <a:rPr lang="en-US" dirty="0"/>
                  <a:t> is bound to be traversed during DFS(   ) 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07A27A-18A8-57BF-48C9-BF5CCBB4D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819" y="2746963"/>
                <a:ext cx="4466800" cy="369332"/>
              </a:xfrm>
              <a:prstGeom prst="rect">
                <a:avLst/>
              </a:prstGeom>
              <a:blipFill>
                <a:blip r:embed="rId8"/>
                <a:stretch>
                  <a:fillRect l="-952" t="-8065" r="-136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6326420B-327F-709C-8999-B39159B396D0}"/>
              </a:ext>
            </a:extLst>
          </p:cNvPr>
          <p:cNvSpPr/>
          <p:nvPr/>
        </p:nvSpPr>
        <p:spPr>
          <a:xfrm>
            <a:off x="8816104" y="2855429"/>
            <a:ext cx="148602" cy="152400"/>
          </a:xfrm>
          <a:prstGeom prst="ellipse">
            <a:avLst/>
          </a:prstGeom>
          <a:solidFill>
            <a:srgbClr val="C000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2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4" grpId="1" animBg="1"/>
      <p:bldP spid="26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9372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3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C00000"/>
                        </a:solidFill>
                      </a:rPr>
                      <m:t>A</m:t>
                    </m:r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&amp;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B</m:t>
                    </m:r>
                  </m:oMath>
                </a14:m>
                <a:r>
                  <a:rPr lang="en-US" sz="2000" dirty="0"/>
                  <a:t> be any two </a:t>
                </a:r>
                <a:r>
                  <a:rPr lang="en-US" sz="2000" b="1" dirty="0"/>
                  <a:t>SCC</a:t>
                </a:r>
                <a:r>
                  <a:rPr lang="en-US" sz="2000" dirty="0"/>
                  <a:t>s. If there is an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with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&amp;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then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C00000"/>
                        </a:solidFill>
                      </a:rPr>
                      <m:t>A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</a:t>
                </a:r>
                <a:r>
                  <a:rPr lang="en-US" sz="2000" dirty="0"/>
                  <a:t> </a:t>
                </a:r>
                <a:r>
                  <a:rPr lang="en-US" sz="2000" b="1" dirty="0"/>
                  <a:t>&gt;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 smtClean="0">
                        <a:solidFill>
                          <a:srgbClr val="7030A0"/>
                        </a:solidFill>
                      </a:rPr>
                      <m:t>B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 </a:t>
                </a: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endParaRPr lang="en-US" sz="2000" b="1" dirty="0">
                  <a:solidFill>
                    <a:srgbClr val="0070C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9372600" cy="5257800"/>
              </a:xfrm>
              <a:blipFill>
                <a:blip r:embed="rId2"/>
                <a:stretch>
                  <a:fillRect l="-650" t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49AAE89D-B0FD-8BFE-10B0-69C986C68CB8}"/>
              </a:ext>
            </a:extLst>
          </p:cNvPr>
          <p:cNvSpPr/>
          <p:nvPr/>
        </p:nvSpPr>
        <p:spPr>
          <a:xfrm flipV="1">
            <a:off x="5562600" y="4401427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3A096C-4C48-FD14-5B70-F78BB16815E6}"/>
              </a:ext>
            </a:extLst>
          </p:cNvPr>
          <p:cNvSpPr/>
          <p:nvPr/>
        </p:nvSpPr>
        <p:spPr>
          <a:xfrm flipV="1">
            <a:off x="3505200" y="4038308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AC952F-4CCC-8645-E055-9D5B5EBD6FC4}"/>
              </a:ext>
            </a:extLst>
          </p:cNvPr>
          <p:cNvSpPr/>
          <p:nvPr/>
        </p:nvSpPr>
        <p:spPr>
          <a:xfrm flipV="1">
            <a:off x="3643354" y="5284937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F53888-7832-7E7B-47D1-003D3CA4140F}"/>
              </a:ext>
            </a:extLst>
          </p:cNvPr>
          <p:cNvSpPr/>
          <p:nvPr/>
        </p:nvSpPr>
        <p:spPr>
          <a:xfrm flipV="1">
            <a:off x="2823117" y="5364915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CE407D-6EA0-15BE-D509-ECCBB09F2137}"/>
              </a:ext>
            </a:extLst>
          </p:cNvPr>
          <p:cNvSpPr/>
          <p:nvPr/>
        </p:nvSpPr>
        <p:spPr>
          <a:xfrm flipV="1">
            <a:off x="3352800" y="4928322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DFS on Directed Graph</a:t>
            </a:r>
            <a:br>
              <a:rPr lang="en-US" sz="3600" b="1" dirty="0"/>
            </a:br>
            <a:r>
              <a:rPr lang="en-US" sz="2800" b="1" dirty="0"/>
              <a:t>Analyzing the </a:t>
            </a:r>
            <a:r>
              <a:rPr lang="en-US" sz="2800" b="1" dirty="0">
                <a:solidFill>
                  <a:srgbClr val="0070C0"/>
                </a:solidFill>
              </a:rPr>
              <a:t>finish time </a:t>
            </a:r>
            <a:r>
              <a:rPr lang="en-US" sz="2800" b="1" dirty="0"/>
              <a:t>of </a:t>
            </a:r>
            <a:r>
              <a:rPr lang="en-US" sz="2800" b="1" dirty="0">
                <a:solidFill>
                  <a:srgbClr val="7030A0"/>
                </a:solidFill>
              </a:rPr>
              <a:t>roots</a:t>
            </a:r>
            <a:r>
              <a:rPr lang="en-US" sz="2800" b="1" dirty="0"/>
              <a:t> of SCCs</a:t>
            </a:r>
            <a:endParaRPr lang="en-US" sz="2800" b="1" dirty="0">
              <a:solidFill>
                <a:srgbClr val="7030A0"/>
              </a:solidFill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H="1">
            <a:off x="3521946" y="4508810"/>
            <a:ext cx="1505502" cy="495712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105400" y="4343400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4343400"/>
                <a:ext cx="38664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282176" y="50408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176" y="5040868"/>
                <a:ext cx="3754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/>
          <p:cNvSpPr/>
          <p:nvPr/>
        </p:nvSpPr>
        <p:spPr>
          <a:xfrm>
            <a:off x="4793166" y="3505200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2667000" y="3691193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352800" y="5562600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srgbClr val="7030A0"/>
                          </a:solidFill>
                        </a:rPr>
                        <m:t>B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562600"/>
                <a:ext cx="3770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311646" y="5029200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solidFill>
                            <a:srgbClr val="C00000"/>
                          </a:solidFill>
                        </a:rPr>
                        <m:t>A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646" y="5029200"/>
                <a:ext cx="3770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5562600" y="4419600"/>
            <a:ext cx="148602" cy="152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226D2F-7910-FCF0-544D-994BB0A9DF2C}"/>
              </a:ext>
            </a:extLst>
          </p:cNvPr>
          <p:cNvSpPr/>
          <p:nvPr/>
        </p:nvSpPr>
        <p:spPr>
          <a:xfrm flipV="1">
            <a:off x="3406770" y="4531853"/>
            <a:ext cx="152400" cy="152400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170008-4FB2-9E7E-8608-40A0BEF23666}"/>
              </a:ext>
            </a:extLst>
          </p:cNvPr>
          <p:cNvSpPr/>
          <p:nvPr/>
        </p:nvSpPr>
        <p:spPr>
          <a:xfrm flipV="1">
            <a:off x="5025602" y="4401427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CD399C-AE0F-15DA-B668-B8FBE88439C9}"/>
              </a:ext>
            </a:extLst>
          </p:cNvPr>
          <p:cNvSpPr/>
          <p:nvPr/>
        </p:nvSpPr>
        <p:spPr>
          <a:xfrm flipV="1">
            <a:off x="5179849" y="3968741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1019E4-1210-4282-5220-0E440D2931C3}"/>
              </a:ext>
            </a:extLst>
          </p:cNvPr>
          <p:cNvSpPr/>
          <p:nvPr/>
        </p:nvSpPr>
        <p:spPr>
          <a:xfrm flipV="1">
            <a:off x="5339644" y="4819094"/>
            <a:ext cx="152400" cy="152400"/>
          </a:xfrm>
          <a:prstGeom prst="ellipse">
            <a:avLst/>
          </a:prstGeom>
          <a:solidFill>
            <a:srgbClr val="C0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1D7FBC-0023-B061-4D46-1BC3FDD835BA}"/>
              </a:ext>
            </a:extLst>
          </p:cNvPr>
          <p:cNvSpPr/>
          <p:nvPr/>
        </p:nvSpPr>
        <p:spPr>
          <a:xfrm>
            <a:off x="4419600" y="1600200"/>
            <a:ext cx="25146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B5871B-9782-8C18-083A-E778836CB8AF}"/>
              </a:ext>
            </a:extLst>
          </p:cNvPr>
          <p:cNvSpPr/>
          <p:nvPr/>
        </p:nvSpPr>
        <p:spPr>
          <a:xfrm>
            <a:off x="1644842" y="1524000"/>
            <a:ext cx="2774758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941A0-FA92-5635-BCE0-9ABBD76DF8B9}"/>
              </a:ext>
            </a:extLst>
          </p:cNvPr>
          <p:cNvSpPr/>
          <p:nvPr/>
        </p:nvSpPr>
        <p:spPr>
          <a:xfrm>
            <a:off x="6934200" y="1524000"/>
            <a:ext cx="24384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DD52C7-0879-8843-2E88-E6D6EBDF264E}"/>
              </a:ext>
            </a:extLst>
          </p:cNvPr>
          <p:cNvSpPr/>
          <p:nvPr/>
        </p:nvSpPr>
        <p:spPr>
          <a:xfrm>
            <a:off x="3508998" y="4038600"/>
            <a:ext cx="148602" cy="1524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4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9372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3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C00000"/>
                        </a:solidFill>
                      </a:rPr>
                      <m:t>A</m:t>
                    </m:r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&amp;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B</m:t>
                    </m:r>
                  </m:oMath>
                </a14:m>
                <a:r>
                  <a:rPr lang="en-US" sz="2000" dirty="0"/>
                  <a:t> be any two SCCs. If there is an edge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with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&amp;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C00000"/>
                        </a:solidFill>
                      </a:rPr>
                      <m:t>A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</a:t>
                </a:r>
                <a:r>
                  <a:rPr lang="en-US" sz="2000" dirty="0"/>
                  <a:t> </a:t>
                </a:r>
                <a:r>
                  <a:rPr lang="en-US" sz="2000" b="1" dirty="0"/>
                  <a:t>&gt;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B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 </a:t>
                </a: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endParaRPr lang="en-US" sz="2000" b="1" dirty="0">
                  <a:solidFill>
                    <a:srgbClr val="0070C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ym typeface="Wingdings" panose="05000000000000000000" pitchFamily="2" charset="2"/>
                  </a:rPr>
                  <a:t> If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C00000"/>
                        </a:solidFill>
                      </a:rPr>
                      <m:t>A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</a:t>
                </a:r>
                <a:r>
                  <a:rPr lang="en-US" sz="2000" dirty="0"/>
                  <a:t> </a:t>
                </a:r>
                <a:r>
                  <a:rPr lang="en-US" sz="2000" b="1" dirty="0"/>
                  <a:t>&lt;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:r>
                  <a:rPr lang="en-US" sz="2000" b="1" dirty="0">
                    <a:sym typeface="Wingdings" pitchFamily="2" charset="2"/>
                  </a:rPr>
                  <a:t>root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B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)], there </a:t>
                </a:r>
                <a:r>
                  <a:rPr lang="en-US" sz="2000" b="1" u="sng" dirty="0">
                    <a:sym typeface="Wingdings" pitchFamily="2" charset="2"/>
                  </a:rPr>
                  <a:t>cannot</a:t>
                </a:r>
                <a:r>
                  <a:rPr lang="en-US" sz="2000" dirty="0">
                    <a:sym typeface="Wingdings" pitchFamily="2" charset="2"/>
                  </a:rPr>
                  <a:t> be any edge from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C00000"/>
                        </a:solidFill>
                      </a:rPr>
                      <m:t>A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</a:rPr>
                      <m:t>B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.</a:t>
                </a: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9372600" cy="5257800"/>
              </a:xfrm>
              <a:blipFill>
                <a:blip r:embed="rId2"/>
                <a:stretch>
                  <a:fillRect l="-650" t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DFS on Directed Graph</a:t>
            </a:r>
            <a:br>
              <a:rPr lang="en-US" sz="3600" b="1" dirty="0"/>
            </a:br>
            <a:r>
              <a:rPr lang="en-US" sz="2800" b="1" dirty="0"/>
              <a:t>Analyzing the </a:t>
            </a:r>
            <a:r>
              <a:rPr lang="en-US" sz="2800" b="1" dirty="0">
                <a:solidFill>
                  <a:srgbClr val="0070C0"/>
                </a:solidFill>
              </a:rPr>
              <a:t>finish time </a:t>
            </a:r>
            <a:r>
              <a:rPr lang="en-US" sz="2800" b="1" dirty="0"/>
              <a:t>of </a:t>
            </a:r>
            <a:r>
              <a:rPr lang="en-US" sz="2800" b="1" dirty="0">
                <a:solidFill>
                  <a:srgbClr val="7030A0"/>
                </a:solidFill>
              </a:rPr>
              <a:t>roots</a:t>
            </a:r>
            <a:r>
              <a:rPr lang="en-US" sz="2800" b="1" dirty="0"/>
              <a:t> of SCCs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42FC4-801E-EE10-8F82-98BBC36DA625}"/>
              </a:ext>
            </a:extLst>
          </p:cNvPr>
          <p:cNvSpPr/>
          <p:nvPr/>
        </p:nvSpPr>
        <p:spPr>
          <a:xfrm>
            <a:off x="3352800" y="2895600"/>
            <a:ext cx="407894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731A39-71F1-10D6-9542-FCACE1127D86}"/>
              </a:ext>
            </a:extLst>
          </p:cNvPr>
          <p:cNvSpPr/>
          <p:nvPr/>
        </p:nvSpPr>
        <p:spPr>
          <a:xfrm>
            <a:off x="838201" y="2895600"/>
            <a:ext cx="2590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8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Searching for an </a:t>
            </a:r>
            <a:r>
              <a:rPr lang="en-US" sz="3200" b="1" dirty="0">
                <a:solidFill>
                  <a:srgbClr val="7030A0"/>
                </a:solidFill>
              </a:rPr>
              <a:t>order </a:t>
            </a:r>
            <a:r>
              <a:rPr lang="en-US" sz="3200" b="1" dirty="0"/>
              <a:t>using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Finish time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9" y="3588834"/>
            <a:ext cx="156117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ight Arrow 15"/>
          <p:cNvSpPr/>
          <p:nvPr/>
        </p:nvSpPr>
        <p:spPr>
          <a:xfrm>
            <a:off x="3476313" y="4343400"/>
            <a:ext cx="3229287" cy="67641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Increasing order of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F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[]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8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19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5" name="Group 84"/>
          <p:cNvGrpSpPr/>
          <p:nvPr/>
        </p:nvGrpSpPr>
        <p:grpSpPr>
          <a:xfrm>
            <a:off x="1905000" y="1905000"/>
            <a:ext cx="2891802" cy="1828800"/>
            <a:chOff x="1905000" y="1905000"/>
            <a:chExt cx="2891802" cy="1828800"/>
          </a:xfrm>
        </p:grpSpPr>
        <p:sp>
          <p:nvSpPr>
            <p:cNvPr id="38" name="Oval 37"/>
            <p:cNvSpPr/>
            <p:nvPr/>
          </p:nvSpPr>
          <p:spPr>
            <a:xfrm>
              <a:off x="1905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2286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33528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82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/>
            <p:nvPr/>
          </p:nvCxnSpPr>
          <p:spPr>
            <a:xfrm flipH="1">
              <a:off x="2057402" y="2286000"/>
              <a:ext cx="765634" cy="114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2388262" y="2286000"/>
              <a:ext cx="583538" cy="114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0" y="2286000"/>
              <a:ext cx="304800" cy="1219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126058" y="2286000"/>
              <a:ext cx="1522142" cy="114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2590800" y="1905000"/>
              <a:ext cx="776175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SCC</a:t>
              </a:r>
              <a:r>
                <a:rPr lang="en-US" dirty="0"/>
                <a:t> </a:t>
              </a:r>
              <a:r>
                <a:rPr lang="en-US" sz="2400" b="1" dirty="0">
                  <a:solidFill>
                    <a:srgbClr val="C00000"/>
                  </a:solidFill>
                </a:rPr>
                <a:t>A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524000" y="3581400"/>
            <a:ext cx="4191000" cy="1295400"/>
            <a:chOff x="1524000" y="3581400"/>
            <a:chExt cx="4191000" cy="1295400"/>
          </a:xfrm>
        </p:grpSpPr>
        <p:sp>
          <p:nvSpPr>
            <p:cNvPr id="37" name="Oval 36"/>
            <p:cNvSpPr/>
            <p:nvPr/>
          </p:nvSpPr>
          <p:spPr>
            <a:xfrm>
              <a:off x="3733800" y="3581400"/>
              <a:ext cx="148602" cy="152400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1524000" y="3581400"/>
              <a:ext cx="4191000" cy="1295400"/>
              <a:chOff x="1524000" y="3581400"/>
              <a:chExt cx="4191000" cy="1295400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5566398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048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524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/>
              <p:cNvCxnSpPr/>
              <p:nvPr/>
            </p:nvCxnSpPr>
            <p:spPr>
              <a:xfrm>
                <a:off x="1601977" y="3810000"/>
                <a:ext cx="988823" cy="6951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flipH="1">
                <a:off x="2743200" y="3876814"/>
                <a:ext cx="381000" cy="6283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>
                <a:off x="2823036" y="3810000"/>
                <a:ext cx="985066" cy="6951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H="1">
                <a:off x="2971800" y="3810000"/>
                <a:ext cx="2668858" cy="6951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2362200" y="4415135"/>
                <a:ext cx="763351" cy="46166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sp>
        <p:nvSpPr>
          <p:cNvPr id="84" name="Explosion 1 83"/>
          <p:cNvSpPr/>
          <p:nvPr/>
        </p:nvSpPr>
        <p:spPr>
          <a:xfrm>
            <a:off x="600287" y="2234528"/>
            <a:ext cx="1825083" cy="914400"/>
          </a:xfrm>
          <a:prstGeom prst="irregularSeal1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NEVER</a:t>
            </a:r>
          </a:p>
        </p:txBody>
      </p:sp>
      <p:grpSp>
        <p:nvGrpSpPr>
          <p:cNvPr id="89" name="Group 88"/>
          <p:cNvGrpSpPr/>
          <p:nvPr/>
        </p:nvGrpSpPr>
        <p:grpSpPr>
          <a:xfrm>
            <a:off x="4586652" y="2971800"/>
            <a:ext cx="1189896" cy="533400"/>
            <a:chOff x="4586652" y="2971800"/>
            <a:chExt cx="1189896" cy="533400"/>
          </a:xfrm>
        </p:grpSpPr>
        <p:sp>
          <p:nvSpPr>
            <p:cNvPr id="87" name="Right Arrow 86"/>
            <p:cNvSpPr/>
            <p:nvPr/>
          </p:nvSpPr>
          <p:spPr>
            <a:xfrm rot="5400000">
              <a:off x="4449024" y="3153624"/>
              <a:ext cx="489204" cy="213948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ight Arrow 87"/>
            <p:cNvSpPr/>
            <p:nvPr/>
          </p:nvSpPr>
          <p:spPr>
            <a:xfrm rot="5400000">
              <a:off x="5424972" y="3109428"/>
              <a:ext cx="489204" cy="213948"/>
            </a:xfrm>
            <a:prstGeom prst="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" name="Curved Connector 3"/>
          <p:cNvCxnSpPr>
            <a:stCxn id="39" idx="0"/>
            <a:endCxn id="44" idx="1"/>
          </p:cNvCxnSpPr>
          <p:nvPr/>
        </p:nvCxnSpPr>
        <p:spPr>
          <a:xfrm rot="16200000" flipH="1">
            <a:off x="2703872" y="3237829"/>
            <a:ext cx="22318" cy="709461"/>
          </a:xfrm>
          <a:prstGeom prst="curvedConnector3">
            <a:avLst>
              <a:gd name="adj1" fmla="val -206865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&quot;No&quot; Symbol 24"/>
          <p:cNvSpPr/>
          <p:nvPr/>
        </p:nvSpPr>
        <p:spPr>
          <a:xfrm>
            <a:off x="2590800" y="2945056"/>
            <a:ext cx="373565" cy="407744"/>
          </a:xfrm>
          <a:prstGeom prst="noSmoking">
            <a:avLst>
              <a:gd name="adj" fmla="val 102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loud Callout 52">
            <a:extLst>
              <a:ext uri="{FF2B5EF4-FFF2-40B4-BE49-F238E27FC236}">
                <a16:creationId xmlns:a16="http://schemas.microsoft.com/office/drawing/2014/main" id="{13F965F6-3006-2778-CB22-504CFDA97956}"/>
              </a:ext>
            </a:extLst>
          </p:cNvPr>
          <p:cNvSpPr/>
          <p:nvPr/>
        </p:nvSpPr>
        <p:spPr>
          <a:xfrm>
            <a:off x="1828800" y="5283820"/>
            <a:ext cx="5105400" cy="1193180"/>
          </a:xfrm>
          <a:prstGeom prst="cloudCallou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there be an edge from some vertex of 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some vertex of  </a:t>
            </a:r>
            <a:r>
              <a:rPr lang="en-US" b="1" dirty="0">
                <a:solidFill>
                  <a:srgbClr val="0070C0"/>
                </a:solidFill>
              </a:rPr>
              <a:t>B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157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84" grpId="0" animBg="1"/>
      <p:bldP spid="25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ud Callout 5"/>
          <p:cNvSpPr/>
          <p:nvPr/>
        </p:nvSpPr>
        <p:spPr>
          <a:xfrm>
            <a:off x="1295400" y="1447800"/>
            <a:ext cx="6477000" cy="1371600"/>
          </a:xfrm>
          <a:prstGeom prst="cloudCallout">
            <a:avLst>
              <a:gd name="adj1" fmla="val 22381"/>
              <a:gd name="adj2" fmla="val 8201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can we infer for the vertex with max finish time ?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Searching for an </a:t>
            </a:r>
            <a:r>
              <a:rPr lang="en-US" sz="3200" b="1" dirty="0">
                <a:solidFill>
                  <a:srgbClr val="7030A0"/>
                </a:solidFill>
              </a:rPr>
              <a:t>order </a:t>
            </a:r>
            <a:r>
              <a:rPr lang="en-US" sz="3200" b="1" dirty="0"/>
              <a:t>using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C00000"/>
                </a:solidFill>
              </a:rPr>
              <a:t>Finish time</a:t>
            </a:r>
            <a:endParaRPr 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Down Ribbon 7"/>
              <p:cNvSpPr/>
              <p:nvPr/>
            </p:nvSpPr>
            <p:spPr>
              <a:xfrm>
                <a:off x="1600200" y="4343400"/>
                <a:ext cx="5943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There won’t be any edge from some vertex outside </a:t>
                </a:r>
                <a:r>
                  <a:rPr lang="en-US" b="1" dirty="0">
                    <a:solidFill>
                      <a:srgbClr val="0070C0"/>
                    </a:solidFill>
                  </a:rPr>
                  <a:t>S</a:t>
                </a:r>
                <a:r>
                  <a:rPr lang="en-US" dirty="0">
                    <a:solidFill>
                      <a:schemeClr val="tx1"/>
                    </a:solidFill>
                  </a:rPr>
                  <a:t> into </a:t>
                </a:r>
                <a:r>
                  <a:rPr lang="en-US" b="1" dirty="0">
                    <a:solidFill>
                      <a:srgbClr val="0070C0"/>
                    </a:solidFill>
                  </a:rPr>
                  <a:t>S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Down Ribbon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343400"/>
                <a:ext cx="5943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loud Callout 9"/>
              <p:cNvSpPr/>
              <p:nvPr/>
            </p:nvSpPr>
            <p:spPr>
              <a:xfrm>
                <a:off x="4669470" y="5224265"/>
                <a:ext cx="4901949" cy="1219200"/>
              </a:xfrm>
              <a:prstGeom prst="cloudCallout">
                <a:avLst>
                  <a:gd name="adj1" fmla="val 20315"/>
                  <a:gd name="adj2" fmla="val 6432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does </a:t>
                </a:r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S</a:t>
                </a:r>
                <a:endParaRPr lang="en-US" b="1" dirty="0">
                  <a:solidFill>
                    <a:srgbClr val="0070C0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look  in the graph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10" name="Cloud Callou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70" y="5224265"/>
                <a:ext cx="4901949" cy="1219200"/>
              </a:xfrm>
              <a:prstGeom prst="cloudCallout">
                <a:avLst>
                  <a:gd name="adj1" fmla="val 20315"/>
                  <a:gd name="adj2" fmla="val 64329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9" y="3588834"/>
            <a:ext cx="156117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8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19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ight Arrow 32"/>
          <p:cNvSpPr/>
          <p:nvPr/>
        </p:nvSpPr>
        <p:spPr>
          <a:xfrm rot="5400000">
            <a:off x="7525939" y="3185628"/>
            <a:ext cx="489204" cy="21394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577219" y="2692702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219" y="2692702"/>
                <a:ext cx="3866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4648200" y="3576918"/>
            <a:ext cx="3200400" cy="847147"/>
            <a:chOff x="4648200" y="3576918"/>
            <a:chExt cx="3200400" cy="847147"/>
          </a:xfrm>
        </p:grpSpPr>
        <p:sp>
          <p:nvSpPr>
            <p:cNvPr id="36" name="Oval 35"/>
            <p:cNvSpPr/>
            <p:nvPr/>
          </p:nvSpPr>
          <p:spPr>
            <a:xfrm>
              <a:off x="7696200" y="3588834"/>
              <a:ext cx="152400" cy="144966"/>
            </a:xfrm>
            <a:prstGeom prst="ellipse">
              <a:avLst/>
            </a:prstGeom>
            <a:solidFill>
              <a:srgbClr val="00B0F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6468801" y="3576918"/>
              <a:ext cx="160599" cy="156882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648200" y="3588834"/>
              <a:ext cx="148683" cy="144966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5257800" y="3576918"/>
              <a:ext cx="147918" cy="156882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4837751" y="3810000"/>
              <a:ext cx="1029649" cy="347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5410200" y="3810000"/>
              <a:ext cx="535258" cy="2499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6097858" y="3810000"/>
              <a:ext cx="379142" cy="2499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6246541" y="3810000"/>
              <a:ext cx="1449659" cy="347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5562600" y="3962400"/>
              <a:ext cx="7360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SCC</a:t>
              </a:r>
              <a:r>
                <a:rPr lang="en-US" dirty="0"/>
                <a:t> </a:t>
              </a:r>
              <a:r>
                <a:rPr lang="en-US" sz="2400" b="1" dirty="0">
                  <a:solidFill>
                    <a:srgbClr val="0070C0"/>
                  </a:solidFill>
                </a:rPr>
                <a:t>S</a:t>
              </a:r>
              <a:endParaRPr lang="en-US" b="1" dirty="0">
                <a:solidFill>
                  <a:srgbClr val="0070C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Down Ribbon 53"/>
              <p:cNvSpPr/>
              <p:nvPr/>
            </p:nvSpPr>
            <p:spPr>
              <a:xfrm>
                <a:off x="0" y="5345899"/>
                <a:ext cx="38100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Time to use the </a:t>
                </a:r>
                <a:r>
                  <a:rPr lang="en-US" b="1" dirty="0">
                    <a:solidFill>
                      <a:schemeClr val="tx1"/>
                    </a:solidFill>
                  </a:rPr>
                  <a:t>!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dea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Get ready.</a:t>
                </a:r>
              </a:p>
            </p:txBody>
          </p:sp>
        </mc:Choice>
        <mc:Fallback xmlns="">
          <p:sp>
            <p:nvSpPr>
              <p:cNvPr id="54" name="Down Ribbon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45899"/>
                <a:ext cx="38100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4572000" y="1295400"/>
            <a:ext cx="1226634" cy="1538868"/>
            <a:chOff x="4572000" y="1295400"/>
            <a:chExt cx="1226634" cy="1538868"/>
          </a:xfrm>
        </p:grpSpPr>
        <p:sp>
          <p:nvSpPr>
            <p:cNvPr id="44" name="Freeform 43"/>
            <p:cNvSpPr/>
            <p:nvPr/>
          </p:nvSpPr>
          <p:spPr>
            <a:xfrm>
              <a:off x="4572000" y="1295400"/>
              <a:ext cx="1226634" cy="1538868"/>
            </a:xfrm>
            <a:custGeom>
              <a:avLst/>
              <a:gdLst>
                <a:gd name="connsiteX0" fmla="*/ 178419 w 1226634"/>
                <a:gd name="connsiteY0" fmla="*/ 144966 h 1538868"/>
                <a:gd name="connsiteX1" fmla="*/ 33454 w 1226634"/>
                <a:gd name="connsiteY1" fmla="*/ 546410 h 1538868"/>
                <a:gd name="connsiteX2" fmla="*/ 0 w 1226634"/>
                <a:gd name="connsiteY2" fmla="*/ 1092820 h 1538868"/>
                <a:gd name="connsiteX3" fmla="*/ 0 w 1226634"/>
                <a:gd name="connsiteY3" fmla="*/ 1505415 h 1538868"/>
                <a:gd name="connsiteX4" fmla="*/ 691376 w 1226634"/>
                <a:gd name="connsiteY4" fmla="*/ 1538868 h 1538868"/>
                <a:gd name="connsiteX5" fmla="*/ 1226634 w 1226634"/>
                <a:gd name="connsiteY5" fmla="*/ 1193181 h 1538868"/>
                <a:gd name="connsiteX6" fmla="*/ 1126273 w 1226634"/>
                <a:gd name="connsiteY6" fmla="*/ 780585 h 1538868"/>
                <a:gd name="connsiteX7" fmla="*/ 1025912 w 1226634"/>
                <a:gd name="connsiteY7" fmla="*/ 412595 h 1538868"/>
                <a:gd name="connsiteX8" fmla="*/ 713678 w 1226634"/>
                <a:gd name="connsiteY8" fmla="*/ 33454 h 1538868"/>
                <a:gd name="connsiteX9" fmla="*/ 345688 w 1226634"/>
                <a:gd name="connsiteY9" fmla="*/ 0 h 1538868"/>
                <a:gd name="connsiteX10" fmla="*/ 178419 w 1226634"/>
                <a:gd name="connsiteY10" fmla="*/ 144966 h 153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6634" h="1538868">
                  <a:moveTo>
                    <a:pt x="178419" y="144966"/>
                  </a:moveTo>
                  <a:lnTo>
                    <a:pt x="33454" y="546410"/>
                  </a:lnTo>
                  <a:lnTo>
                    <a:pt x="0" y="1092820"/>
                  </a:lnTo>
                  <a:lnTo>
                    <a:pt x="0" y="1505415"/>
                  </a:lnTo>
                  <a:lnTo>
                    <a:pt x="691376" y="1538868"/>
                  </a:lnTo>
                  <a:lnTo>
                    <a:pt x="1226634" y="1193181"/>
                  </a:lnTo>
                  <a:lnTo>
                    <a:pt x="1126273" y="780585"/>
                  </a:lnTo>
                  <a:lnTo>
                    <a:pt x="1025912" y="412595"/>
                  </a:lnTo>
                  <a:lnTo>
                    <a:pt x="713678" y="33454"/>
                  </a:lnTo>
                  <a:lnTo>
                    <a:pt x="345688" y="0"/>
                  </a:lnTo>
                  <a:lnTo>
                    <a:pt x="178419" y="144966"/>
                  </a:lnTo>
                  <a:close/>
                </a:path>
              </a:pathLst>
            </a:cu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4876800" y="1624770"/>
              <a:ext cx="152400" cy="12783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5334000" y="2362200"/>
              <a:ext cx="152400" cy="12783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5410200" y="1905000"/>
              <a:ext cx="152400" cy="12783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4953000" y="2386770"/>
              <a:ext cx="152400" cy="12783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4953000" y="14478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0" y="1447800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206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4189141" y="1143000"/>
            <a:ext cx="2131742" cy="1740932"/>
            <a:chOff x="4189141" y="1143000"/>
            <a:chExt cx="2131742" cy="1740932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4362092" y="2468680"/>
              <a:ext cx="613226" cy="3507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1" idx="1"/>
            </p:cNvCxnSpPr>
            <p:nvPr/>
          </p:nvCxnSpPr>
          <p:spPr>
            <a:xfrm flipH="1" flipV="1">
              <a:off x="4362092" y="1295400"/>
              <a:ext cx="537026" cy="3480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V="1">
              <a:off x="5410200" y="2032830"/>
              <a:ext cx="758283" cy="3293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5562600" y="1600200"/>
              <a:ext cx="758283" cy="3293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57" idx="0"/>
            </p:cNvCxnSpPr>
            <p:nvPr/>
          </p:nvCxnSpPr>
          <p:spPr>
            <a:xfrm flipH="1" flipV="1">
              <a:off x="4189141" y="2032830"/>
              <a:ext cx="840059" cy="3539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56" idx="2"/>
            </p:cNvCxnSpPr>
            <p:nvPr/>
          </p:nvCxnSpPr>
          <p:spPr>
            <a:xfrm flipV="1">
              <a:off x="5410200" y="1143000"/>
              <a:ext cx="152400" cy="8259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5432518" y="2471310"/>
              <a:ext cx="511082" cy="4126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/>
          <p:cNvSpPr txBox="1"/>
          <p:nvPr/>
        </p:nvSpPr>
        <p:spPr>
          <a:xfrm>
            <a:off x="5893301" y="2057400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3" name="Graphic 2" descr="A lightbulb">
            <a:extLst>
              <a:ext uri="{FF2B5EF4-FFF2-40B4-BE49-F238E27FC236}">
                <a16:creationId xmlns:a16="http://schemas.microsoft.com/office/drawing/2014/main" id="{F97DA3AD-6724-3CFD-1601-05DC3A4DEA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35847" y="4718203"/>
            <a:ext cx="2057400" cy="2057400"/>
          </a:xfrm>
          <a:prstGeom prst="rect">
            <a:avLst/>
          </a:prstGeom>
        </p:spPr>
      </p:pic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2B78DCEF-1CC5-CB8A-E1E0-A846027F51A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60642" y="3009900"/>
            <a:ext cx="12700" cy="1143000"/>
          </a:xfrm>
          <a:prstGeom prst="curvedConnector3">
            <a:avLst>
              <a:gd name="adj1" fmla="val 3564709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&quot;No&quot; Symbol 24">
            <a:extLst>
              <a:ext uri="{FF2B5EF4-FFF2-40B4-BE49-F238E27FC236}">
                <a16:creationId xmlns:a16="http://schemas.microsoft.com/office/drawing/2014/main" id="{F1A56D6D-53AB-6DC4-8ABB-C0BB2FB2D231}"/>
              </a:ext>
            </a:extLst>
          </p:cNvPr>
          <p:cNvSpPr/>
          <p:nvPr/>
        </p:nvSpPr>
        <p:spPr>
          <a:xfrm>
            <a:off x="4581430" y="2947079"/>
            <a:ext cx="373565" cy="407744"/>
          </a:xfrm>
          <a:prstGeom prst="noSmoking">
            <a:avLst>
              <a:gd name="adj" fmla="val 102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Curved Connector 3">
            <a:extLst>
              <a:ext uri="{FF2B5EF4-FFF2-40B4-BE49-F238E27FC236}">
                <a16:creationId xmlns:a16="http://schemas.microsoft.com/office/drawing/2014/main" id="{60588558-DBD4-510B-814D-FAA1BDEA1E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87798" y="2820098"/>
            <a:ext cx="4482" cy="1518123"/>
          </a:xfrm>
          <a:prstGeom prst="curvedConnector3">
            <a:avLst>
              <a:gd name="adj1" fmla="val 9600759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&quot;No&quot; Symbol 24">
            <a:extLst>
              <a:ext uri="{FF2B5EF4-FFF2-40B4-BE49-F238E27FC236}">
                <a16:creationId xmlns:a16="http://schemas.microsoft.com/office/drawing/2014/main" id="{D74EDB2C-20FD-F73F-321C-10451575EB18}"/>
              </a:ext>
            </a:extLst>
          </p:cNvPr>
          <p:cNvSpPr/>
          <p:nvPr/>
        </p:nvSpPr>
        <p:spPr>
          <a:xfrm>
            <a:off x="5602558" y="2945056"/>
            <a:ext cx="373565" cy="407744"/>
          </a:xfrm>
          <a:prstGeom prst="noSmoking">
            <a:avLst>
              <a:gd name="adj" fmla="val 102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14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8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  <p:bldP spid="33" grpId="0" animBg="1"/>
      <p:bldP spid="35" grpId="0"/>
      <p:bldP spid="54" grpId="0" animBg="1"/>
      <p:bldP spid="54" grpId="1" animBg="1"/>
      <p:bldP spid="73" grpId="0"/>
      <p:bldP spid="5" grpId="0" animBg="1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:r>
                  <a:rPr lang="en-US" sz="2000" b="1" dirty="0"/>
                  <a:t>SCC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Can you see an algorithm for computing SCCs now ? </a:t>
                </a:r>
              </a:p>
              <a:p>
                <a:pPr marL="0" indent="0">
                  <a:buNone/>
                </a:pPr>
                <a:r>
                  <a:rPr lang="en-US" sz="2000" dirty="0"/>
                  <a:t>It is just here …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1508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9" y="3588834"/>
            <a:ext cx="156117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8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19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ight Arrow 28"/>
          <p:cNvSpPr/>
          <p:nvPr/>
        </p:nvSpPr>
        <p:spPr>
          <a:xfrm rot="5400000">
            <a:off x="7525939" y="3185628"/>
            <a:ext cx="489204" cy="21394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77219" y="2678668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219" y="2678668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4648199" y="3581400"/>
            <a:ext cx="3204117" cy="842665"/>
            <a:chOff x="4648199" y="3581400"/>
            <a:chExt cx="3204117" cy="842665"/>
          </a:xfrm>
        </p:grpSpPr>
        <p:sp>
          <p:nvSpPr>
            <p:cNvPr id="33" name="Oval 32"/>
            <p:cNvSpPr/>
            <p:nvPr/>
          </p:nvSpPr>
          <p:spPr>
            <a:xfrm>
              <a:off x="7696199" y="3581400"/>
              <a:ext cx="156117" cy="159834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6476999" y="3581400"/>
              <a:ext cx="148683" cy="152400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4648199" y="3581400"/>
              <a:ext cx="148683" cy="152400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257799" y="3581400"/>
              <a:ext cx="148683" cy="152400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4837751" y="3810000"/>
              <a:ext cx="1029649" cy="347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410200" y="3810000"/>
              <a:ext cx="535258" cy="2499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6097858" y="3810000"/>
              <a:ext cx="379142" cy="2499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6246541" y="3810000"/>
              <a:ext cx="1449659" cy="347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5562600" y="3962400"/>
              <a:ext cx="7360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SCC</a:t>
              </a:r>
              <a:r>
                <a:rPr lang="en-US" dirty="0"/>
                <a:t> </a:t>
              </a:r>
              <a:r>
                <a:rPr lang="en-US" sz="2400" b="1" dirty="0">
                  <a:solidFill>
                    <a:srgbClr val="0070C0"/>
                  </a:solidFill>
                </a:rPr>
                <a:t>S</a:t>
              </a:r>
              <a:endParaRPr lang="en-US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572000" y="1295400"/>
            <a:ext cx="1226634" cy="1538868"/>
            <a:chOff x="4572000" y="1295400"/>
            <a:chExt cx="1226634" cy="1538868"/>
          </a:xfrm>
        </p:grpSpPr>
        <p:sp>
          <p:nvSpPr>
            <p:cNvPr id="59" name="Freeform 58"/>
            <p:cNvSpPr/>
            <p:nvPr/>
          </p:nvSpPr>
          <p:spPr>
            <a:xfrm>
              <a:off x="4572000" y="1295400"/>
              <a:ext cx="1226634" cy="1538868"/>
            </a:xfrm>
            <a:custGeom>
              <a:avLst/>
              <a:gdLst>
                <a:gd name="connsiteX0" fmla="*/ 178419 w 1226634"/>
                <a:gd name="connsiteY0" fmla="*/ 144966 h 1538868"/>
                <a:gd name="connsiteX1" fmla="*/ 33454 w 1226634"/>
                <a:gd name="connsiteY1" fmla="*/ 546410 h 1538868"/>
                <a:gd name="connsiteX2" fmla="*/ 0 w 1226634"/>
                <a:gd name="connsiteY2" fmla="*/ 1092820 h 1538868"/>
                <a:gd name="connsiteX3" fmla="*/ 0 w 1226634"/>
                <a:gd name="connsiteY3" fmla="*/ 1505415 h 1538868"/>
                <a:gd name="connsiteX4" fmla="*/ 691376 w 1226634"/>
                <a:gd name="connsiteY4" fmla="*/ 1538868 h 1538868"/>
                <a:gd name="connsiteX5" fmla="*/ 1226634 w 1226634"/>
                <a:gd name="connsiteY5" fmla="*/ 1193181 h 1538868"/>
                <a:gd name="connsiteX6" fmla="*/ 1126273 w 1226634"/>
                <a:gd name="connsiteY6" fmla="*/ 780585 h 1538868"/>
                <a:gd name="connsiteX7" fmla="*/ 1025912 w 1226634"/>
                <a:gd name="connsiteY7" fmla="*/ 412595 h 1538868"/>
                <a:gd name="connsiteX8" fmla="*/ 713678 w 1226634"/>
                <a:gd name="connsiteY8" fmla="*/ 33454 h 1538868"/>
                <a:gd name="connsiteX9" fmla="*/ 345688 w 1226634"/>
                <a:gd name="connsiteY9" fmla="*/ 0 h 1538868"/>
                <a:gd name="connsiteX10" fmla="*/ 178419 w 1226634"/>
                <a:gd name="connsiteY10" fmla="*/ 144966 h 153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6634" h="1538868">
                  <a:moveTo>
                    <a:pt x="178419" y="144966"/>
                  </a:moveTo>
                  <a:lnTo>
                    <a:pt x="33454" y="546410"/>
                  </a:lnTo>
                  <a:lnTo>
                    <a:pt x="0" y="1092820"/>
                  </a:lnTo>
                  <a:lnTo>
                    <a:pt x="0" y="1505415"/>
                  </a:lnTo>
                  <a:lnTo>
                    <a:pt x="691376" y="1538868"/>
                  </a:lnTo>
                  <a:lnTo>
                    <a:pt x="1226634" y="1193181"/>
                  </a:lnTo>
                  <a:lnTo>
                    <a:pt x="1126273" y="780585"/>
                  </a:lnTo>
                  <a:lnTo>
                    <a:pt x="1025912" y="412595"/>
                  </a:lnTo>
                  <a:lnTo>
                    <a:pt x="713678" y="33454"/>
                  </a:lnTo>
                  <a:lnTo>
                    <a:pt x="345688" y="0"/>
                  </a:lnTo>
                  <a:lnTo>
                    <a:pt x="178419" y="144966"/>
                  </a:lnTo>
                  <a:close/>
                </a:path>
              </a:pathLst>
            </a:cu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876800" y="1624770"/>
              <a:ext cx="152400" cy="12783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5334000" y="2362200"/>
              <a:ext cx="152400" cy="12783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5410200" y="1905000"/>
              <a:ext cx="152400" cy="12783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4953000" y="2386770"/>
              <a:ext cx="152400" cy="12783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4953000" y="14478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0" y="1447800"/>
                  <a:ext cx="38664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06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" name="TextBox 64"/>
          <p:cNvSpPr txBox="1"/>
          <p:nvPr/>
        </p:nvSpPr>
        <p:spPr>
          <a:xfrm>
            <a:off x="5893301" y="2057400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S</a:t>
            </a:r>
            <a:endParaRPr lang="en-US" b="1" dirty="0">
              <a:solidFill>
                <a:srgbClr val="0070C0"/>
              </a:solidFill>
            </a:endParaRPr>
          </a:p>
        </p:txBody>
      </p:sp>
      <p:grpSp>
        <p:nvGrpSpPr>
          <p:cNvPr id="85" name="Group 84"/>
          <p:cNvGrpSpPr/>
          <p:nvPr/>
        </p:nvGrpSpPr>
        <p:grpSpPr>
          <a:xfrm>
            <a:off x="4267200" y="1066800"/>
            <a:ext cx="2206084" cy="2149602"/>
            <a:chOff x="4267200" y="1066800"/>
            <a:chExt cx="2206084" cy="2149602"/>
          </a:xfrm>
        </p:grpSpPr>
        <p:cxnSp>
          <p:nvCxnSpPr>
            <p:cNvPr id="66" name="Straight Arrow Connector 65"/>
            <p:cNvCxnSpPr/>
            <p:nvPr/>
          </p:nvCxnSpPr>
          <p:spPr>
            <a:xfrm flipH="1">
              <a:off x="5562600" y="1546338"/>
              <a:ext cx="609681" cy="3586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H="1">
              <a:off x="5486400" y="1698738"/>
              <a:ext cx="838282" cy="6880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endCxn id="61" idx="5"/>
            </p:cNvCxnSpPr>
            <p:nvPr/>
          </p:nvCxnSpPr>
          <p:spPr>
            <a:xfrm flipH="1" flipV="1">
              <a:off x="5464082" y="2471310"/>
              <a:ext cx="1009202" cy="2279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H="1">
              <a:off x="5486400" y="1066800"/>
              <a:ext cx="304842" cy="8382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endCxn id="64" idx="1"/>
            </p:cNvCxnSpPr>
            <p:nvPr/>
          </p:nvCxnSpPr>
          <p:spPr>
            <a:xfrm>
              <a:off x="4379480" y="1219200"/>
              <a:ext cx="573520" cy="41326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endCxn id="63" idx="3"/>
            </p:cNvCxnSpPr>
            <p:nvPr/>
          </p:nvCxnSpPr>
          <p:spPr>
            <a:xfrm flipV="1">
              <a:off x="4726258" y="2495880"/>
              <a:ext cx="249060" cy="7205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endCxn id="63" idx="2"/>
            </p:cNvCxnSpPr>
            <p:nvPr/>
          </p:nvCxnSpPr>
          <p:spPr>
            <a:xfrm flipV="1">
              <a:off x="4267200" y="2450685"/>
              <a:ext cx="685800" cy="5578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loud Callout 4"/>
              <p:cNvSpPr/>
              <p:nvPr/>
            </p:nvSpPr>
            <p:spPr>
              <a:xfrm>
                <a:off x="723657" y="-7513"/>
                <a:ext cx="3955047" cy="1226713"/>
              </a:xfrm>
              <a:prstGeom prst="cloudCallout">
                <a:avLst>
                  <a:gd name="adj1" fmla="val -27119"/>
                  <a:gd name="adj2" fmla="val 87123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is the set of vertices reachable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Cloud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57" y="-7513"/>
                <a:ext cx="3955047" cy="1226713"/>
              </a:xfrm>
              <a:prstGeom prst="cloudCallout">
                <a:avLst>
                  <a:gd name="adj1" fmla="val -27119"/>
                  <a:gd name="adj2" fmla="val 87123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Down Ribbon 55"/>
              <p:cNvSpPr/>
              <p:nvPr/>
            </p:nvSpPr>
            <p:spPr>
              <a:xfrm>
                <a:off x="1600200" y="4343400"/>
                <a:ext cx="5943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There won’t be any edge from any vertex in </a:t>
                </a:r>
                <a:r>
                  <a:rPr lang="en-US" b="1" dirty="0">
                    <a:solidFill>
                      <a:srgbClr val="0070C0"/>
                    </a:solidFill>
                  </a:rPr>
                  <a:t>S</a:t>
                </a:r>
                <a:r>
                  <a:rPr lang="en-US" dirty="0">
                    <a:solidFill>
                      <a:schemeClr val="tx1"/>
                    </a:solidFill>
                  </a:rPr>
                  <a:t> to any vertex outside </a:t>
                </a:r>
                <a:r>
                  <a:rPr lang="en-US" b="1" dirty="0">
                    <a:solidFill>
                      <a:srgbClr val="0070C0"/>
                    </a:solidFill>
                  </a:rPr>
                  <a:t>S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6" name="Down Ribbon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4343400"/>
                <a:ext cx="5943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24E784-0D7D-8BA9-5143-06F1758604CD}"/>
                  </a:ext>
                </a:extLst>
              </p:cNvPr>
              <p:cNvSpPr txBox="1"/>
              <p:nvPr/>
            </p:nvSpPr>
            <p:spPr>
              <a:xfrm>
                <a:off x="4853566" y="937157"/>
                <a:ext cx="492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𝒓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24E784-0D7D-8BA9-5143-06F175860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566" y="937157"/>
                <a:ext cx="49237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67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6" grpId="0" animBg="1"/>
      <p:bldP spid="56" grpId="1" animBg="1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Algorithm for </a:t>
            </a:r>
            <a:r>
              <a:rPr lang="en-US" sz="3200" b="1" dirty="0">
                <a:solidFill>
                  <a:srgbClr val="0070C0"/>
                </a:solidFill>
              </a:rPr>
              <a:t>computing </a:t>
            </a:r>
            <a:r>
              <a:rPr lang="en-US" sz="3200" b="1" dirty="0">
                <a:solidFill>
                  <a:srgbClr val="7030A0"/>
                </a:solidFill>
              </a:rPr>
              <a:t>SCC</a:t>
            </a:r>
            <a:r>
              <a:rPr lang="en-US" sz="3200" b="1" dirty="0"/>
              <a:t>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9" y="3588834"/>
            <a:ext cx="156117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8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19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Cloud Callout 49"/>
          <p:cNvSpPr/>
          <p:nvPr/>
        </p:nvSpPr>
        <p:spPr>
          <a:xfrm>
            <a:off x="2554560" y="5283820"/>
            <a:ext cx="3998640" cy="111698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should we compute SCCs ?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1905000" y="1905000"/>
            <a:ext cx="2891802" cy="1828800"/>
            <a:chOff x="1905000" y="1905000"/>
            <a:chExt cx="2891802" cy="1828800"/>
          </a:xfrm>
        </p:grpSpPr>
        <p:sp>
          <p:nvSpPr>
            <p:cNvPr id="38" name="Oval 37"/>
            <p:cNvSpPr/>
            <p:nvPr/>
          </p:nvSpPr>
          <p:spPr>
            <a:xfrm>
              <a:off x="1905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2286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33528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82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/>
            <p:nvPr/>
          </p:nvCxnSpPr>
          <p:spPr>
            <a:xfrm flipH="1">
              <a:off x="2057402" y="2286000"/>
              <a:ext cx="765634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2388262" y="2286000"/>
              <a:ext cx="583538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0" y="2286000"/>
              <a:ext cx="30480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126058" y="2286000"/>
              <a:ext cx="1522142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2590800" y="1905000"/>
              <a:ext cx="7761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SCC</a:t>
              </a:r>
              <a:r>
                <a:rPr lang="en-US" dirty="0"/>
                <a:t> </a:t>
              </a:r>
              <a:r>
                <a:rPr lang="en-US" sz="2400" b="1" dirty="0">
                  <a:solidFill>
                    <a:srgbClr val="C00000"/>
                  </a:solidFill>
                </a:rPr>
                <a:t>A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524000" y="3581400"/>
            <a:ext cx="4191000" cy="1295400"/>
            <a:chOff x="1524000" y="3581400"/>
            <a:chExt cx="4191000" cy="1295400"/>
          </a:xfrm>
        </p:grpSpPr>
        <p:sp>
          <p:nvSpPr>
            <p:cNvPr id="37" name="Oval 36"/>
            <p:cNvSpPr/>
            <p:nvPr/>
          </p:nvSpPr>
          <p:spPr>
            <a:xfrm>
              <a:off x="3733800" y="3581400"/>
              <a:ext cx="148602" cy="1524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1524000" y="3581400"/>
              <a:ext cx="4191000" cy="1295400"/>
              <a:chOff x="1524000" y="3581400"/>
              <a:chExt cx="4191000" cy="1295400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5566398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048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524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/>
              <p:cNvCxnSpPr/>
              <p:nvPr/>
            </p:nvCxnSpPr>
            <p:spPr>
              <a:xfrm>
                <a:off x="1601977" y="3810000"/>
                <a:ext cx="988823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flipH="1">
                <a:off x="2743200" y="3876814"/>
                <a:ext cx="381000" cy="6283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>
                <a:off x="2823036" y="3810000"/>
                <a:ext cx="985066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H="1">
                <a:off x="2971800" y="3810000"/>
                <a:ext cx="2668858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2362200" y="4415135"/>
                <a:ext cx="7633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grpSp>
        <p:nvGrpSpPr>
          <p:cNvPr id="114" name="Group 113"/>
          <p:cNvGrpSpPr/>
          <p:nvPr/>
        </p:nvGrpSpPr>
        <p:grpSpPr>
          <a:xfrm>
            <a:off x="4114800" y="3581400"/>
            <a:ext cx="3733800" cy="1600200"/>
            <a:chOff x="4114800" y="3581400"/>
            <a:chExt cx="3733800" cy="1600200"/>
          </a:xfrm>
        </p:grpSpPr>
        <p:grpSp>
          <p:nvGrpSpPr>
            <p:cNvPr id="53" name="Group 52"/>
            <p:cNvGrpSpPr/>
            <p:nvPr/>
          </p:nvGrpSpPr>
          <p:grpSpPr>
            <a:xfrm>
              <a:off x="4114800" y="3581400"/>
              <a:ext cx="3733800" cy="1600200"/>
              <a:chOff x="1905000" y="3276600"/>
              <a:chExt cx="3733800" cy="1600200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4876800" y="3276600"/>
                <a:ext cx="148602" cy="152400"/>
              </a:xfrm>
              <a:prstGeom prst="ellipse">
                <a:avLst/>
              </a:prstGeom>
              <a:solidFill>
                <a:srgbClr val="006C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/>
              <p:cNvGrpSpPr/>
              <p:nvPr/>
            </p:nvGrpSpPr>
            <p:grpSpPr>
              <a:xfrm>
                <a:off x="1905000" y="3276600"/>
                <a:ext cx="3733800" cy="1600200"/>
                <a:chOff x="1905000" y="3276600"/>
                <a:chExt cx="3733800" cy="1600200"/>
              </a:xfrm>
            </p:grpSpPr>
            <p:sp>
              <p:nvSpPr>
                <p:cNvPr id="58" name="Oval 57"/>
                <p:cNvSpPr/>
                <p:nvPr/>
              </p:nvSpPr>
              <p:spPr>
                <a:xfrm>
                  <a:off x="5490198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3048000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/>
                <p:cNvSpPr/>
                <p:nvPr/>
              </p:nvSpPr>
              <p:spPr>
                <a:xfrm>
                  <a:off x="1905000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2053602" y="3505200"/>
                  <a:ext cx="537198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 flipH="1">
                  <a:off x="2743200" y="3505200"/>
                  <a:ext cx="304800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 flipH="1">
                  <a:off x="2823036" y="3505200"/>
                  <a:ext cx="1135647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 flipH="1">
                  <a:off x="2971800" y="3505200"/>
                  <a:ext cx="1905000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/>
                <p:cNvSpPr txBox="1"/>
                <p:nvPr/>
              </p:nvSpPr>
              <p:spPr>
                <a:xfrm>
                  <a:off x="2362200" y="4415135"/>
                  <a:ext cx="75373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SCC</a:t>
                  </a:r>
                  <a:r>
                    <a:rPr lang="en-US" dirty="0"/>
                    <a:t> </a:t>
                  </a:r>
                  <a:r>
                    <a:rPr lang="en-US" sz="2400" b="1" dirty="0">
                      <a:solidFill>
                        <a:srgbClr val="006C31"/>
                      </a:solidFill>
                    </a:rPr>
                    <a:t>C</a:t>
                  </a:r>
                  <a:endParaRPr lang="en-US" b="1" dirty="0">
                    <a:solidFill>
                      <a:srgbClr val="006C31"/>
                    </a:solidFill>
                  </a:endParaRPr>
                </a:p>
              </p:txBody>
            </p:sp>
          </p:grpSp>
        </p:grpSp>
        <p:sp>
          <p:nvSpPr>
            <p:cNvPr id="67" name="Oval 66"/>
            <p:cNvSpPr/>
            <p:nvPr/>
          </p:nvSpPr>
          <p:spPr>
            <a:xfrm>
              <a:off x="6175998" y="3581400"/>
              <a:ext cx="148602" cy="152400"/>
            </a:xfrm>
            <a:prstGeom prst="ellipse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/>
            <p:cNvCxnSpPr/>
            <p:nvPr/>
          </p:nvCxnSpPr>
          <p:spPr>
            <a:xfrm flipH="1">
              <a:off x="5332101" y="3810000"/>
              <a:ext cx="2360383" cy="1066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836342" y="1828800"/>
            <a:ext cx="6555058" cy="1676400"/>
            <a:chOff x="836342" y="1828800"/>
            <a:chExt cx="6555058" cy="1676400"/>
          </a:xfrm>
        </p:grpSpPr>
        <p:grpSp>
          <p:nvGrpSpPr>
            <p:cNvPr id="72" name="Group 71"/>
            <p:cNvGrpSpPr/>
            <p:nvPr/>
          </p:nvGrpSpPr>
          <p:grpSpPr>
            <a:xfrm>
              <a:off x="4419598" y="1828800"/>
              <a:ext cx="2971802" cy="1676400"/>
              <a:chOff x="2590800" y="1905000"/>
              <a:chExt cx="2971802" cy="167640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2823036" y="2286000"/>
                <a:ext cx="379143" cy="1295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2971800" y="2286000"/>
                <a:ext cx="1672685" cy="12512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3048000" y="2286000"/>
                <a:ext cx="1901285" cy="12512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3126058" y="2286000"/>
                <a:ext cx="2436544" cy="1295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/>
              <p:cNvSpPr txBox="1"/>
              <p:nvPr/>
            </p:nvSpPr>
            <p:spPr>
              <a:xfrm>
                <a:off x="2590800" y="1905000"/>
                <a:ext cx="7841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FFC000"/>
                    </a:solidFill>
                  </a:rPr>
                  <a:t>D</a:t>
                </a:r>
                <a:endParaRPr lang="en-US" b="1" dirty="0">
                  <a:solidFill>
                    <a:srgbClr val="FFC000"/>
                  </a:solidFill>
                </a:endParaRPr>
              </a:p>
            </p:txBody>
          </p:sp>
        </p:grpSp>
        <p:cxnSp>
          <p:nvCxnSpPr>
            <p:cNvPr id="94" name="Straight Connector 93"/>
            <p:cNvCxnSpPr/>
            <p:nvPr/>
          </p:nvCxnSpPr>
          <p:spPr>
            <a:xfrm>
              <a:off x="4722501" y="2209800"/>
              <a:ext cx="1144899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4457540" y="2209800"/>
              <a:ext cx="129112" cy="12512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2744977" y="2209800"/>
              <a:ext cx="1712562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flipH="1">
              <a:off x="1217341" y="2209800"/>
              <a:ext cx="3202257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836342" y="2135832"/>
              <a:ext cx="3543138" cy="13251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586652" y="2971800"/>
            <a:ext cx="3292642" cy="565404"/>
            <a:chOff x="4586652" y="2971800"/>
            <a:chExt cx="3292642" cy="565404"/>
          </a:xfrm>
        </p:grpSpPr>
        <p:grpSp>
          <p:nvGrpSpPr>
            <p:cNvPr id="89" name="Group 88"/>
            <p:cNvGrpSpPr/>
            <p:nvPr/>
          </p:nvGrpSpPr>
          <p:grpSpPr>
            <a:xfrm>
              <a:off x="4586652" y="2971800"/>
              <a:ext cx="1189896" cy="533400"/>
              <a:chOff x="4586652" y="2971800"/>
              <a:chExt cx="1189896" cy="533400"/>
            </a:xfrm>
          </p:grpSpPr>
          <p:sp>
            <p:nvSpPr>
              <p:cNvPr id="87" name="Right Arrow 86"/>
              <p:cNvSpPr/>
              <p:nvPr/>
            </p:nvSpPr>
            <p:spPr>
              <a:xfrm rot="5400000">
                <a:off x="4449024" y="3153624"/>
                <a:ext cx="489204" cy="213948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ight Arrow 87"/>
              <p:cNvSpPr/>
              <p:nvPr/>
            </p:nvSpPr>
            <p:spPr>
              <a:xfrm rot="5400000">
                <a:off x="5424972" y="3109428"/>
                <a:ext cx="489204" cy="213948"/>
              </a:xfrm>
              <a:prstGeom prst="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5" name="Right Arrow 104"/>
            <p:cNvSpPr/>
            <p:nvPr/>
          </p:nvSpPr>
          <p:spPr>
            <a:xfrm rot="5400000">
              <a:off x="7527718" y="3169626"/>
              <a:ext cx="489204" cy="213948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ight Arrow 105"/>
            <p:cNvSpPr/>
            <p:nvPr/>
          </p:nvSpPr>
          <p:spPr>
            <a:xfrm rot="5400000">
              <a:off x="7192224" y="3185628"/>
              <a:ext cx="489204" cy="21394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Oval 108"/>
          <p:cNvSpPr/>
          <p:nvPr/>
        </p:nvSpPr>
        <p:spPr>
          <a:xfrm>
            <a:off x="7696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73914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55626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4648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1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1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 animBg="1"/>
      <p:bldP spid="109" grpId="0" animBg="1"/>
      <p:bldP spid="111" grpId="0" animBg="1"/>
      <p:bldP spid="112" grpId="0" animBg="1"/>
      <p:bldP spid="1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Algorithm for </a:t>
            </a:r>
            <a:r>
              <a:rPr lang="en-US" sz="3200" b="1" dirty="0">
                <a:solidFill>
                  <a:srgbClr val="0070C0"/>
                </a:solidFill>
              </a:rPr>
              <a:t>computing </a:t>
            </a:r>
            <a:r>
              <a:rPr lang="en-US" sz="3200" b="1" dirty="0">
                <a:solidFill>
                  <a:srgbClr val="7030A0"/>
                </a:solidFill>
              </a:rPr>
              <a:t>SCC</a:t>
            </a:r>
            <a:r>
              <a:rPr lang="en-US" sz="3200" b="1" dirty="0"/>
              <a:t>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9" y="3588834"/>
            <a:ext cx="156117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8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19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5" name="Group 84"/>
          <p:cNvGrpSpPr/>
          <p:nvPr/>
        </p:nvGrpSpPr>
        <p:grpSpPr>
          <a:xfrm>
            <a:off x="1905000" y="3581400"/>
            <a:ext cx="2891802" cy="152400"/>
            <a:chOff x="1905000" y="3581400"/>
            <a:chExt cx="2891802" cy="152400"/>
          </a:xfrm>
        </p:grpSpPr>
        <p:sp>
          <p:nvSpPr>
            <p:cNvPr id="38" name="Oval 37"/>
            <p:cNvSpPr/>
            <p:nvPr/>
          </p:nvSpPr>
          <p:spPr>
            <a:xfrm>
              <a:off x="1905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2286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33528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82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524000" y="3581400"/>
            <a:ext cx="4191000" cy="152400"/>
            <a:chOff x="1524000" y="3581400"/>
            <a:chExt cx="4191000" cy="152400"/>
          </a:xfrm>
        </p:grpSpPr>
        <p:sp>
          <p:nvSpPr>
            <p:cNvPr id="37" name="Oval 36"/>
            <p:cNvSpPr/>
            <p:nvPr/>
          </p:nvSpPr>
          <p:spPr>
            <a:xfrm>
              <a:off x="3733800" y="3581400"/>
              <a:ext cx="148602" cy="1524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1524000" y="3581400"/>
              <a:ext cx="4191000" cy="152400"/>
              <a:chOff x="1524000" y="3581400"/>
              <a:chExt cx="4191000" cy="152400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5566398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048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524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7" name="Group 106"/>
          <p:cNvGrpSpPr/>
          <p:nvPr/>
        </p:nvGrpSpPr>
        <p:grpSpPr>
          <a:xfrm>
            <a:off x="4586652" y="2971800"/>
            <a:ext cx="2957148" cy="565404"/>
            <a:chOff x="4586652" y="2971800"/>
            <a:chExt cx="2957148" cy="565404"/>
          </a:xfrm>
        </p:grpSpPr>
        <p:grpSp>
          <p:nvGrpSpPr>
            <p:cNvPr id="89" name="Group 88"/>
            <p:cNvGrpSpPr/>
            <p:nvPr/>
          </p:nvGrpSpPr>
          <p:grpSpPr>
            <a:xfrm>
              <a:off x="4586652" y="2971800"/>
              <a:ext cx="1189896" cy="533400"/>
              <a:chOff x="4586652" y="2971800"/>
              <a:chExt cx="1189896" cy="533400"/>
            </a:xfrm>
          </p:grpSpPr>
          <p:sp>
            <p:nvSpPr>
              <p:cNvPr id="87" name="Right Arrow 86"/>
              <p:cNvSpPr/>
              <p:nvPr/>
            </p:nvSpPr>
            <p:spPr>
              <a:xfrm rot="5400000">
                <a:off x="4449024" y="3153624"/>
                <a:ext cx="489204" cy="213948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ight Arrow 87"/>
              <p:cNvSpPr/>
              <p:nvPr/>
            </p:nvSpPr>
            <p:spPr>
              <a:xfrm rot="5400000">
                <a:off x="5424972" y="3109428"/>
                <a:ext cx="489204" cy="213948"/>
              </a:xfrm>
              <a:prstGeom prst="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Right Arrow 105"/>
            <p:cNvSpPr/>
            <p:nvPr/>
          </p:nvSpPr>
          <p:spPr>
            <a:xfrm rot="5400000">
              <a:off x="7192224" y="3185628"/>
              <a:ext cx="489204" cy="21394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114800" y="3581400"/>
            <a:ext cx="3733800" cy="152400"/>
            <a:chOff x="4114800" y="3581400"/>
            <a:chExt cx="3733800" cy="152400"/>
          </a:xfrm>
        </p:grpSpPr>
        <p:grpSp>
          <p:nvGrpSpPr>
            <p:cNvPr id="114" name="Group 113"/>
            <p:cNvGrpSpPr/>
            <p:nvPr/>
          </p:nvGrpSpPr>
          <p:grpSpPr>
            <a:xfrm>
              <a:off x="4114800" y="3581400"/>
              <a:ext cx="3733800" cy="152400"/>
              <a:chOff x="4114800" y="3581400"/>
              <a:chExt cx="3733800" cy="152400"/>
            </a:xfrm>
          </p:grpSpPr>
          <p:grpSp>
            <p:nvGrpSpPr>
              <p:cNvPr id="53" name="Group 52"/>
              <p:cNvGrpSpPr/>
              <p:nvPr/>
            </p:nvGrpSpPr>
            <p:grpSpPr>
              <a:xfrm>
                <a:off x="4114800" y="3581400"/>
                <a:ext cx="3733800" cy="152400"/>
                <a:chOff x="1905000" y="3276600"/>
                <a:chExt cx="3733800" cy="152400"/>
              </a:xfrm>
            </p:grpSpPr>
            <p:sp>
              <p:nvSpPr>
                <p:cNvPr id="54" name="Oval 53"/>
                <p:cNvSpPr/>
                <p:nvPr/>
              </p:nvSpPr>
              <p:spPr>
                <a:xfrm>
                  <a:off x="4876800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6" name="Group 55"/>
                <p:cNvGrpSpPr/>
                <p:nvPr/>
              </p:nvGrpSpPr>
              <p:grpSpPr>
                <a:xfrm>
                  <a:off x="1905000" y="3276600"/>
                  <a:ext cx="3733800" cy="152400"/>
                  <a:chOff x="1905000" y="3276600"/>
                  <a:chExt cx="3733800" cy="152400"/>
                </a:xfrm>
              </p:grpSpPr>
              <p:sp>
                <p:nvSpPr>
                  <p:cNvPr id="58" name="Oval 57"/>
                  <p:cNvSpPr/>
                  <p:nvPr/>
                </p:nvSpPr>
                <p:spPr>
                  <a:xfrm>
                    <a:off x="5490198" y="3276600"/>
                    <a:ext cx="148602" cy="152400"/>
                  </a:xfrm>
                  <a:prstGeom prst="ellipse">
                    <a:avLst/>
                  </a:prstGeom>
                  <a:solidFill>
                    <a:srgbClr val="006C3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" name="Oval 58"/>
                  <p:cNvSpPr/>
                  <p:nvPr/>
                </p:nvSpPr>
                <p:spPr>
                  <a:xfrm>
                    <a:off x="3048000" y="3276600"/>
                    <a:ext cx="148602" cy="152400"/>
                  </a:xfrm>
                  <a:prstGeom prst="ellipse">
                    <a:avLst/>
                  </a:prstGeom>
                  <a:solidFill>
                    <a:srgbClr val="006C3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" name="Oval 60"/>
                  <p:cNvSpPr/>
                  <p:nvPr/>
                </p:nvSpPr>
                <p:spPr>
                  <a:xfrm>
                    <a:off x="1905000" y="3276600"/>
                    <a:ext cx="148602" cy="152400"/>
                  </a:xfrm>
                  <a:prstGeom prst="ellipse">
                    <a:avLst/>
                  </a:prstGeom>
                  <a:solidFill>
                    <a:srgbClr val="006C3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67" name="Oval 66"/>
              <p:cNvSpPr/>
              <p:nvPr/>
            </p:nvSpPr>
            <p:spPr>
              <a:xfrm>
                <a:off x="6175998" y="3581400"/>
                <a:ext cx="148602" cy="152400"/>
              </a:xfrm>
              <a:prstGeom prst="ellipse">
                <a:avLst/>
              </a:prstGeom>
              <a:solidFill>
                <a:srgbClr val="006C3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9" name="Oval 108"/>
            <p:cNvSpPr/>
            <p:nvPr/>
          </p:nvSpPr>
          <p:spPr>
            <a:xfrm>
              <a:off x="7696200" y="3581400"/>
              <a:ext cx="152400" cy="1449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1" name="Oval 110"/>
          <p:cNvSpPr/>
          <p:nvPr/>
        </p:nvSpPr>
        <p:spPr>
          <a:xfrm>
            <a:off x="73914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55626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4648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610491" y="3876814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491" y="3876814"/>
                <a:ext cx="367986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4263402" y="3810000"/>
            <a:ext cx="3429082" cy="1371600"/>
            <a:chOff x="4263402" y="3810000"/>
            <a:chExt cx="3429082" cy="1371600"/>
          </a:xfrm>
        </p:grpSpPr>
        <p:cxnSp>
          <p:nvCxnSpPr>
            <p:cNvPr id="115" name="Straight Connector 114"/>
            <p:cNvCxnSpPr/>
            <p:nvPr/>
          </p:nvCxnSpPr>
          <p:spPr>
            <a:xfrm>
              <a:off x="4263402" y="3810000"/>
              <a:ext cx="537198" cy="9999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flipH="1">
              <a:off x="4953000" y="3810000"/>
              <a:ext cx="304800" cy="9999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 flipH="1">
              <a:off x="5032836" y="3810000"/>
              <a:ext cx="1135647" cy="9999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 flipH="1">
              <a:off x="5181600" y="3810000"/>
              <a:ext cx="1905000" cy="9999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4572000" y="4719935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SCC</a:t>
              </a:r>
              <a:r>
                <a:rPr lang="en-US" dirty="0"/>
                <a:t> </a:t>
              </a:r>
              <a:r>
                <a:rPr lang="en-US" sz="2400" b="1" dirty="0">
                  <a:solidFill>
                    <a:srgbClr val="006C31"/>
                  </a:solidFill>
                </a:rPr>
                <a:t>C</a:t>
              </a:r>
              <a:endParaRPr lang="en-US" b="1" dirty="0">
                <a:solidFill>
                  <a:srgbClr val="006C31"/>
                </a:solidFill>
              </a:endParaRPr>
            </a:p>
          </p:txBody>
        </p:sp>
        <p:cxnSp>
          <p:nvCxnSpPr>
            <p:cNvPr id="120" name="Straight Connector 119"/>
            <p:cNvCxnSpPr/>
            <p:nvPr/>
          </p:nvCxnSpPr>
          <p:spPr>
            <a:xfrm flipH="1">
              <a:off x="5332101" y="3810000"/>
              <a:ext cx="2360383" cy="1066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TextBox 121"/>
          <p:cNvSpPr txBox="1"/>
          <p:nvPr/>
        </p:nvSpPr>
        <p:spPr>
          <a:xfrm>
            <a:off x="381000" y="1524000"/>
            <a:ext cx="159834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Remove </a:t>
            </a:r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6C31"/>
                </a:solidFill>
              </a:rPr>
              <a:t>C</a:t>
            </a:r>
            <a:endParaRPr lang="en-US" b="1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000" y="1230868"/>
                <a:ext cx="303083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Execute BFS or DFS on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30868"/>
                <a:ext cx="3030830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03" t="-6349" r="-240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Right Arrow 124"/>
          <p:cNvSpPr/>
          <p:nvPr/>
        </p:nvSpPr>
        <p:spPr>
          <a:xfrm rot="5400000">
            <a:off x="7527798" y="3185628"/>
            <a:ext cx="489204" cy="21394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67FF19-9BBA-E7E5-7EBC-D7C470238313}"/>
                  </a:ext>
                </a:extLst>
              </p:cNvPr>
              <p:cNvSpPr txBox="1"/>
              <p:nvPr/>
            </p:nvSpPr>
            <p:spPr>
              <a:xfrm>
                <a:off x="961952" y="5509060"/>
                <a:ext cx="7595221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reachability information of the rest of the graph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remains </a:t>
                </a:r>
                <a:r>
                  <a:rPr lang="en-US" b="1" dirty="0"/>
                  <a:t>unchanged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This is because there was </a:t>
                </a:r>
                <a:r>
                  <a:rPr lang="en-US" b="1" u="sng" dirty="0"/>
                  <a:t>no outgoing edge</a:t>
                </a:r>
                <a:r>
                  <a:rPr lang="en-US" dirty="0"/>
                  <a:t> from </a:t>
                </a:r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C</a:t>
                </a:r>
                <a:r>
                  <a:rPr lang="en-US" dirty="0"/>
                  <a:t> that we just removed.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67FF19-9BBA-E7E5-7EBC-D7C470238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52" y="5509060"/>
                <a:ext cx="7595221" cy="738664"/>
              </a:xfrm>
              <a:prstGeom prst="rect">
                <a:avLst/>
              </a:prstGeom>
              <a:blipFill>
                <a:blip r:embed="rId5"/>
                <a:stretch>
                  <a:fillRect l="-722" t="-4959" b="-181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B1461D6-D716-3981-DCBA-C96A2DAC08AA}"/>
              </a:ext>
            </a:extLst>
          </p:cNvPr>
          <p:cNvSpPr txBox="1"/>
          <p:nvPr/>
        </p:nvSpPr>
        <p:spPr>
          <a:xfrm>
            <a:off x="311387" y="2013501"/>
            <a:ext cx="2159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So, how to proceed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40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1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22" grpId="0" animBg="1"/>
      <p:bldP spid="4" grpId="0" animBg="1"/>
      <p:bldP spid="125" grpId="0" animBg="1"/>
      <p:bldP spid="5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Algorithm for </a:t>
            </a:r>
            <a:r>
              <a:rPr lang="en-US" sz="3200" b="1" dirty="0">
                <a:solidFill>
                  <a:srgbClr val="0070C0"/>
                </a:solidFill>
              </a:rPr>
              <a:t>computing </a:t>
            </a:r>
            <a:r>
              <a:rPr lang="en-US" sz="3200" b="1" dirty="0">
                <a:solidFill>
                  <a:srgbClr val="7030A0"/>
                </a:solidFill>
              </a:rPr>
              <a:t>SCC</a:t>
            </a:r>
            <a:r>
              <a:rPr lang="en-US" sz="3200" b="1" dirty="0"/>
              <a:t>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9" y="3588834"/>
            <a:ext cx="156117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758283" y="3581400"/>
            <a:ext cx="6785517" cy="159834"/>
            <a:chOff x="758283" y="3581400"/>
            <a:chExt cx="6785517" cy="159834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2919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8083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480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6919" y="3588834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7400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3283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283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283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7683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1905000" y="3581400"/>
            <a:ext cx="2891802" cy="152400"/>
            <a:chOff x="1905000" y="3581400"/>
            <a:chExt cx="2891802" cy="152400"/>
          </a:xfrm>
        </p:grpSpPr>
        <p:sp>
          <p:nvSpPr>
            <p:cNvPr id="38" name="Oval 37"/>
            <p:cNvSpPr/>
            <p:nvPr/>
          </p:nvSpPr>
          <p:spPr>
            <a:xfrm>
              <a:off x="1905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2286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33528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82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524000" y="3581400"/>
            <a:ext cx="4191000" cy="152400"/>
            <a:chOff x="1524000" y="3581400"/>
            <a:chExt cx="4191000" cy="152400"/>
          </a:xfrm>
        </p:grpSpPr>
        <p:sp>
          <p:nvSpPr>
            <p:cNvPr id="37" name="Oval 36"/>
            <p:cNvSpPr/>
            <p:nvPr/>
          </p:nvSpPr>
          <p:spPr>
            <a:xfrm>
              <a:off x="3733800" y="3581400"/>
              <a:ext cx="148602" cy="1524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1524000" y="3581400"/>
              <a:ext cx="4191000" cy="152400"/>
              <a:chOff x="1524000" y="3581400"/>
              <a:chExt cx="4191000" cy="152400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5566398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048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524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9" name="Group 88"/>
          <p:cNvGrpSpPr/>
          <p:nvPr/>
        </p:nvGrpSpPr>
        <p:grpSpPr>
          <a:xfrm>
            <a:off x="4586652" y="2971800"/>
            <a:ext cx="1189896" cy="533400"/>
            <a:chOff x="4586652" y="2971800"/>
            <a:chExt cx="1189896" cy="533400"/>
          </a:xfrm>
        </p:grpSpPr>
        <p:sp>
          <p:nvSpPr>
            <p:cNvPr id="87" name="Right Arrow 86"/>
            <p:cNvSpPr/>
            <p:nvPr/>
          </p:nvSpPr>
          <p:spPr>
            <a:xfrm rot="5400000">
              <a:off x="4449024" y="3153624"/>
              <a:ext cx="489204" cy="213948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ight Arrow 87"/>
            <p:cNvSpPr/>
            <p:nvPr/>
          </p:nvSpPr>
          <p:spPr>
            <a:xfrm rot="5400000">
              <a:off x="5424972" y="3109428"/>
              <a:ext cx="489204" cy="213948"/>
            </a:xfrm>
            <a:prstGeom prst="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1" name="Oval 110"/>
          <p:cNvSpPr/>
          <p:nvPr/>
        </p:nvSpPr>
        <p:spPr>
          <a:xfrm>
            <a:off x="73914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55626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4648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81000" y="1524000"/>
            <a:ext cx="159834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Remove </a:t>
            </a:r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6C31"/>
                </a:solidFill>
              </a:rPr>
              <a:t>C</a:t>
            </a:r>
            <a:endParaRPr lang="en-US" b="1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000" y="1230868"/>
                <a:ext cx="303083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Execute BFS or DFS on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30868"/>
                <a:ext cx="303083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603" t="-6349" r="-240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320777" y="37338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77" y="3733800"/>
                <a:ext cx="375423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935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oup 61"/>
          <p:cNvGrpSpPr/>
          <p:nvPr/>
        </p:nvGrpSpPr>
        <p:grpSpPr>
          <a:xfrm flipV="1">
            <a:off x="836342" y="3810000"/>
            <a:ext cx="6555058" cy="1752600"/>
            <a:chOff x="836342" y="1828800"/>
            <a:chExt cx="6555058" cy="1676400"/>
          </a:xfrm>
        </p:grpSpPr>
        <p:grpSp>
          <p:nvGrpSpPr>
            <p:cNvPr id="63" name="Group 62"/>
            <p:cNvGrpSpPr/>
            <p:nvPr/>
          </p:nvGrpSpPr>
          <p:grpSpPr>
            <a:xfrm>
              <a:off x="4419598" y="1828800"/>
              <a:ext cx="2971802" cy="1676400"/>
              <a:chOff x="2590800" y="1905000"/>
              <a:chExt cx="2971802" cy="1676400"/>
            </a:xfrm>
          </p:grpSpPr>
          <p:cxnSp>
            <p:nvCxnSpPr>
              <p:cNvPr id="70" name="Straight Connector 69"/>
              <p:cNvCxnSpPr/>
              <p:nvPr/>
            </p:nvCxnSpPr>
            <p:spPr>
              <a:xfrm>
                <a:off x="2823036" y="2286000"/>
                <a:ext cx="379143" cy="1295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2971800" y="2286000"/>
                <a:ext cx="1672685" cy="12512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3048000" y="2286000"/>
                <a:ext cx="1901285" cy="12512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3126058" y="2286000"/>
                <a:ext cx="2436544" cy="1295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/>
              <p:cNvSpPr txBox="1"/>
              <p:nvPr/>
            </p:nvSpPr>
            <p:spPr>
              <a:xfrm rot="10800000">
                <a:off x="2590800" y="1905000"/>
                <a:ext cx="7841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FFC000"/>
                    </a:solidFill>
                  </a:rPr>
                  <a:t>D</a:t>
                </a:r>
                <a:endParaRPr lang="en-US" b="1" dirty="0">
                  <a:solidFill>
                    <a:srgbClr val="FFC000"/>
                  </a:solidFill>
                </a:endParaRPr>
              </a:p>
            </p:txBody>
          </p:sp>
        </p:grpSp>
        <p:cxnSp>
          <p:nvCxnSpPr>
            <p:cNvPr id="64" name="Straight Connector 63"/>
            <p:cNvCxnSpPr/>
            <p:nvPr/>
          </p:nvCxnSpPr>
          <p:spPr>
            <a:xfrm>
              <a:off x="4722501" y="2209800"/>
              <a:ext cx="1144899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flipH="1">
              <a:off x="4457540" y="2209800"/>
              <a:ext cx="129112" cy="12512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H="1">
              <a:off x="2744977" y="2209800"/>
              <a:ext cx="1712562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1217341" y="2209800"/>
              <a:ext cx="3202257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flipH="1">
              <a:off x="836342" y="2135832"/>
              <a:ext cx="3543138" cy="13251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ight Arrow 74"/>
          <p:cNvSpPr/>
          <p:nvPr/>
        </p:nvSpPr>
        <p:spPr>
          <a:xfrm rot="5400000">
            <a:off x="7192224" y="3185628"/>
            <a:ext cx="489204" cy="213948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381000" y="1981200"/>
                <a:ext cx="3035639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Execute BFS or DFS 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81200"/>
                <a:ext cx="303563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603" t="-6349" r="-240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381000" y="2362200"/>
            <a:ext cx="159834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Remove </a:t>
            </a:r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/>
              <a:t> </a:t>
            </a:r>
            <a:r>
              <a:rPr lang="en-US" sz="2400" b="1" dirty="0">
                <a:solidFill>
                  <a:srgbClr val="FFC000"/>
                </a:solidFill>
              </a:rPr>
              <a:t>D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16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1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1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23" grpId="0"/>
      <p:bldP spid="123" grpId="1"/>
      <p:bldP spid="75" grpId="0" animBg="1"/>
      <p:bldP spid="121" grpId="0" animBg="1"/>
      <p:bldP spid="7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Algorithm for </a:t>
            </a:r>
            <a:r>
              <a:rPr lang="en-US" sz="3200" b="1" dirty="0">
                <a:solidFill>
                  <a:srgbClr val="0070C0"/>
                </a:solidFill>
              </a:rPr>
              <a:t>computing </a:t>
            </a:r>
            <a:r>
              <a:rPr lang="en-US" sz="3200" b="1" dirty="0">
                <a:solidFill>
                  <a:srgbClr val="7030A0"/>
                </a:solidFill>
              </a:rPr>
              <a:t>SCC</a:t>
            </a:r>
            <a:r>
              <a:rPr lang="en-US" sz="3200" b="1" dirty="0"/>
              <a:t>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5" name="Group 84"/>
          <p:cNvGrpSpPr/>
          <p:nvPr/>
        </p:nvGrpSpPr>
        <p:grpSpPr>
          <a:xfrm>
            <a:off x="1905000" y="3581400"/>
            <a:ext cx="2891802" cy="152400"/>
            <a:chOff x="1905000" y="3581400"/>
            <a:chExt cx="2891802" cy="152400"/>
          </a:xfrm>
        </p:grpSpPr>
        <p:sp>
          <p:nvSpPr>
            <p:cNvPr id="38" name="Oval 37"/>
            <p:cNvSpPr/>
            <p:nvPr/>
          </p:nvSpPr>
          <p:spPr>
            <a:xfrm>
              <a:off x="1905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2286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33528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82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Right Arrow 86"/>
          <p:cNvSpPr/>
          <p:nvPr/>
        </p:nvSpPr>
        <p:spPr>
          <a:xfrm rot="5400000">
            <a:off x="4449024" y="3153624"/>
            <a:ext cx="489204" cy="21394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4648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81000" y="1524000"/>
            <a:ext cx="159834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Remove </a:t>
            </a:r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6C31"/>
                </a:solidFill>
              </a:rPr>
              <a:t>C</a:t>
            </a:r>
            <a:endParaRPr lang="en-US" b="1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000" y="1230868"/>
                <a:ext cx="3030830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Execute BFS or DFS on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30868"/>
                <a:ext cx="303083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603" t="-6349" r="-240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5486400" y="3733800"/>
                <a:ext cx="356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𝒛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733800"/>
                <a:ext cx="35618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2241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381000" y="1981200"/>
                <a:ext cx="3035639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Execute BFS or DFS 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981200"/>
                <a:ext cx="303563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603" t="-6349" r="-240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381000" y="2362200"/>
            <a:ext cx="159834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Remove </a:t>
            </a:r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/>
              <a:t> </a:t>
            </a:r>
            <a:r>
              <a:rPr lang="en-US" sz="2400" b="1" dirty="0">
                <a:solidFill>
                  <a:srgbClr val="FFC000"/>
                </a:solidFill>
              </a:rPr>
              <a:t>D</a:t>
            </a:r>
            <a:endParaRPr lang="en-US" b="1" dirty="0">
              <a:solidFill>
                <a:srgbClr val="FFC000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524000" y="3581400"/>
            <a:ext cx="4191000" cy="152400"/>
            <a:chOff x="1524000" y="3581400"/>
            <a:chExt cx="4191000" cy="152400"/>
          </a:xfrm>
        </p:grpSpPr>
        <p:sp>
          <p:nvSpPr>
            <p:cNvPr id="57" name="Oval 56"/>
            <p:cNvSpPr/>
            <p:nvPr/>
          </p:nvSpPr>
          <p:spPr>
            <a:xfrm>
              <a:off x="3733800" y="3581400"/>
              <a:ext cx="148602" cy="1524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1524000" y="3581400"/>
              <a:ext cx="4191000" cy="152400"/>
              <a:chOff x="1524000" y="3581400"/>
              <a:chExt cx="4191000" cy="1524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5566398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3048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1524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1601977" y="3810000"/>
            <a:ext cx="4038681" cy="1066800"/>
            <a:chOff x="1601977" y="3810000"/>
            <a:chExt cx="4038681" cy="1066800"/>
          </a:xfrm>
        </p:grpSpPr>
        <p:cxnSp>
          <p:nvCxnSpPr>
            <p:cNvPr id="81" name="Straight Connector 80"/>
            <p:cNvCxnSpPr/>
            <p:nvPr/>
          </p:nvCxnSpPr>
          <p:spPr>
            <a:xfrm>
              <a:off x="1601977" y="3810000"/>
              <a:ext cx="988823" cy="695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H="1">
              <a:off x="2743200" y="3876814"/>
              <a:ext cx="381000" cy="6283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2823036" y="3810000"/>
              <a:ext cx="985066" cy="695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H="1">
              <a:off x="2971800" y="3810000"/>
              <a:ext cx="2668858" cy="695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2362200" y="4415135"/>
              <a:ext cx="7633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SCC</a:t>
              </a:r>
              <a:r>
                <a:rPr lang="en-US" dirty="0"/>
                <a:t> </a:t>
              </a:r>
              <a:r>
                <a:rPr lang="en-US" sz="2400" b="1" dirty="0">
                  <a:solidFill>
                    <a:srgbClr val="0070C0"/>
                  </a:solidFill>
                </a:rPr>
                <a:t>B</a:t>
              </a:r>
              <a:endParaRPr lang="en-US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93" name="TextBox 92"/>
          <p:cNvSpPr txBox="1"/>
          <p:nvPr/>
        </p:nvSpPr>
        <p:spPr>
          <a:xfrm>
            <a:off x="381000" y="3048000"/>
            <a:ext cx="159834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Remove </a:t>
            </a:r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B</a:t>
            </a:r>
            <a:endParaRPr lang="en-US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381000" y="2754868"/>
                <a:ext cx="3016403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Execute BFS or DFS 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𝒛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754868"/>
                <a:ext cx="301640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613" t="-6349" r="-241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Oval 111"/>
          <p:cNvSpPr/>
          <p:nvPr/>
        </p:nvSpPr>
        <p:spPr>
          <a:xfrm>
            <a:off x="55626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Right Arrow 93"/>
          <p:cNvSpPr/>
          <p:nvPr/>
        </p:nvSpPr>
        <p:spPr>
          <a:xfrm rot="5400000">
            <a:off x="5424972" y="3109428"/>
            <a:ext cx="489204" cy="21394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1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1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1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23" grpId="1"/>
      <p:bldP spid="93" grpId="0" animBg="1"/>
      <p:bldP spid="92" grpId="0" animBg="1"/>
      <p:bldP spid="112" grpId="0" animBg="1"/>
      <p:bldP spid="9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Algorithm for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0070C0"/>
                </a:solidFill>
              </a:rPr>
              <a:t>computing</a:t>
            </a:r>
            <a:r>
              <a:rPr lang="en-US" sz="3200" b="1" dirty="0">
                <a:solidFill>
                  <a:srgbClr val="7030A0"/>
                </a:solidFill>
              </a:rPr>
              <a:t> SCC</a:t>
            </a:r>
            <a:r>
              <a:rPr lang="en-US" sz="3200" b="1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82390"/>
                <a:ext cx="8229600" cy="534701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Execute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DFS</a:t>
                </a:r>
                <a:r>
                  <a:rPr lang="en-US" sz="1800" dirty="0"/>
                  <a:t> in the graph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 and compute  </a:t>
                </a:r>
                <a:r>
                  <a:rPr lang="en-US" sz="1800" b="1" dirty="0">
                    <a:solidFill>
                      <a:srgbClr val="C00000"/>
                    </a:solidFill>
                    <a:sym typeface="Wingdings" pitchFamily="2" charset="2"/>
                  </a:rPr>
                  <a:t>Finish time </a:t>
                </a:r>
                <a:r>
                  <a:rPr lang="en-US" sz="1800" dirty="0">
                    <a:sym typeface="Wingdings" pitchFamily="2" charset="2"/>
                  </a:rPr>
                  <a:t>of all vertices;</a:t>
                </a:r>
                <a:r>
                  <a:rPr lang="en-US" sz="1800" b="1" dirty="0"/>
                  <a:t>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Let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L</a:t>
                </a:r>
                <a:r>
                  <a:rPr lang="en-US" sz="1800" dirty="0"/>
                  <a:t> stores the vertices in </a:t>
                </a:r>
                <a:r>
                  <a:rPr lang="en-US" sz="1800" b="1" dirty="0"/>
                  <a:t>decreasing order </a:t>
                </a:r>
                <a:r>
                  <a:rPr lang="en-US" sz="1800" dirty="0"/>
                  <a:t>of</a:t>
                </a:r>
                <a:r>
                  <a:rPr lang="en-US" sz="1800" b="1" dirty="0"/>
                  <a:t> </a:t>
                </a:r>
                <a:r>
                  <a:rPr lang="en-US" sz="1800" b="1" dirty="0">
                    <a:solidFill>
                      <a:srgbClr val="C00000"/>
                    </a:solidFill>
                    <a:sym typeface="Wingdings" pitchFamily="2" charset="2"/>
                  </a:rPr>
                  <a:t>Finish time</a:t>
                </a:r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  <m:r>
                      <a:rPr lang="en-US" sz="1800" b="1" i="1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denote the graph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 after reversing edge directions;</a:t>
                </a:r>
              </a:p>
              <a:p>
                <a:pPr marL="0" indent="0">
                  <a:buNone/>
                </a:pPr>
                <a:r>
                  <a:rPr lang="en-US" sz="1800" dirty="0"/>
                  <a:t>For each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                              </a:t>
                </a:r>
                <a:endParaRPr lang="en-US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>
                    <a:sym typeface="Wingdings" pitchFamily="2" charset="2"/>
                  </a:rPr>
                  <a:t> </a:t>
                </a:r>
                <a:r>
                  <a:rPr lang="en-US" sz="18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1800" dirty="0">
                    <a:sym typeface="Wingdings" pitchFamily="2" charset="2"/>
                  </a:rPr>
                  <a:t>;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For each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L</a:t>
                </a:r>
                <a:r>
                  <a:rPr lang="en-US" sz="1800" dirty="0"/>
                  <a:t> do</a:t>
                </a:r>
              </a:p>
              <a:p>
                <a:pPr marL="0" indent="0">
                  <a:buNone/>
                </a:pPr>
                <a:r>
                  <a:rPr lang="en-US" sz="1800" dirty="0"/>
                  <a:t>{      If (not </a:t>
                </a:r>
                <a:r>
                  <a:rPr lang="en-US" sz="1800" i="1" dirty="0">
                    <a:solidFill>
                      <a:srgbClr val="7030A0"/>
                    </a:solidFill>
                  </a:rPr>
                  <a:t>SCC-found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])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{    Execute </a:t>
                </a:r>
                <a:r>
                  <a:rPr lang="en-US" sz="1800" b="1" dirty="0"/>
                  <a:t>BFS/DFS</a:t>
                </a:r>
                <a:r>
                  <a:rPr lang="en-US" sz="1800" dirty="0"/>
                  <a:t> from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Let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A</a:t>
                </a:r>
                <a:r>
                  <a:rPr lang="en-US" sz="1800" dirty="0"/>
                  <a:t> be the set of vertices reachable from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For (each vertex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A</a:t>
                </a:r>
                <a:r>
                  <a:rPr lang="en-US" sz="1800" dirty="0"/>
                  <a:t>){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{       </a:t>
                </a:r>
                <a:r>
                  <a:rPr lang="en-US" sz="1800" i="1" dirty="0">
                    <a:solidFill>
                      <a:srgbClr val="7030A0"/>
                    </a:solidFill>
                  </a:rPr>
                  <a:t>SCC-found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] </a:t>
                </a:r>
                <a:r>
                  <a:rPr lang="en-US" sz="1800" dirty="0">
                    <a:sym typeface="Wingdings" pitchFamily="2" charset="2"/>
                  </a:rPr>
                  <a:t> true;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                    </a:t>
                </a:r>
                <a:r>
                  <a:rPr lang="en-US" sz="1800" i="1" dirty="0">
                    <a:solidFill>
                      <a:srgbClr val="7030A0"/>
                    </a:solidFill>
                    <a:sym typeface="Wingdings" pitchFamily="2" charset="2"/>
                  </a:rPr>
                  <a:t>SCC-</a:t>
                </a:r>
                <a:r>
                  <a:rPr lang="en-US" sz="1800" i="1" dirty="0" err="1">
                    <a:solidFill>
                      <a:srgbClr val="7030A0"/>
                    </a:solidFill>
                    <a:sym typeface="Wingdings" pitchFamily="2" charset="2"/>
                  </a:rPr>
                  <a:t>num</a:t>
                </a:r>
                <a:r>
                  <a:rPr lang="en-US" sz="1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]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;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            </a:t>
                </a:r>
                <a:r>
                  <a:rPr lang="en-US" sz="1800" u="sng" dirty="0"/>
                  <a:t>remove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  <m:r>
                      <a:rPr lang="en-US" sz="1800" b="1" i="1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along with all its edges}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}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++;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} </a:t>
                </a:r>
              </a:p>
              <a:p>
                <a:pPr marL="0" indent="0">
                  <a:buNone/>
                </a:pPr>
                <a:r>
                  <a:rPr lang="en-US" sz="1800" dirty="0"/>
                  <a:t>} 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82390"/>
                <a:ext cx="8229600" cy="5347010"/>
              </a:xfrm>
              <a:blipFill rotWithShape="1">
                <a:blip r:embed="rId2"/>
                <a:stretch>
                  <a:fillRect l="-593" t="-1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03068" y="2209800"/>
                <a:ext cx="1420966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solidFill>
                      <a:srgbClr val="7030A0"/>
                    </a:solidFill>
                  </a:rPr>
                  <a:t>SCC-found</a:t>
                </a:r>
                <a:r>
                  <a:rPr lang="en-US" dirty="0"/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068" y="2209800"/>
                <a:ext cx="1420966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863" t="-8333" r="-729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470070" y="2209800"/>
            <a:ext cx="102573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 </a:t>
            </a:r>
            <a:r>
              <a:rPr lang="en-US" b="1" dirty="0">
                <a:sym typeface="Wingdings" pitchFamily="2" charset="2"/>
              </a:rPr>
              <a:t>false </a:t>
            </a:r>
            <a:r>
              <a:rPr lang="en-US" dirty="0">
                <a:sym typeface="Wingdings" pitchFamily="2" charset="2"/>
              </a:rPr>
              <a:t>;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124200" y="1143000"/>
            <a:ext cx="3886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743200" y="1600200"/>
            <a:ext cx="3886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8F3681-B9A0-E66E-648A-50BF47739B19}"/>
              </a:ext>
            </a:extLst>
          </p:cNvPr>
          <p:cNvSpPr/>
          <p:nvPr/>
        </p:nvSpPr>
        <p:spPr>
          <a:xfrm>
            <a:off x="1447800" y="4953000"/>
            <a:ext cx="10668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70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 animBg="1"/>
      <p:bldP spid="6" grpId="0" animBg="1"/>
      <p:bldP spid="7" grpId="0" animBg="1"/>
      <p:bldP spid="8" grpId="0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5B39-1028-1BD4-2D97-03789CBF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6C31"/>
                </a:solidFill>
              </a:rPr>
              <a:t>Optional </a:t>
            </a:r>
            <a:r>
              <a:rPr lang="en-US" sz="3200" b="1" dirty="0"/>
              <a:t>Programming Assignment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1C259-8507-4203-5745-84F9C9CBF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Design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u="sng" dirty="0"/>
              <a:t>neat</a:t>
            </a:r>
            <a:r>
              <a:rPr lang="en-US" sz="2400" dirty="0"/>
              <a:t>, </a:t>
            </a:r>
          </a:p>
          <a:p>
            <a:r>
              <a:rPr lang="en-US" sz="2400" u="sng" dirty="0"/>
              <a:t>compact</a:t>
            </a:r>
            <a:r>
              <a:rPr lang="en-US" sz="2400" dirty="0"/>
              <a:t>, </a:t>
            </a:r>
          </a:p>
          <a:p>
            <a:r>
              <a:rPr lang="en-US" sz="2400" dirty="0"/>
              <a:t>and </a:t>
            </a:r>
            <a:r>
              <a:rPr lang="en-US" sz="2400" u="sng" dirty="0"/>
              <a:t>efficient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implementation of the </a:t>
            </a:r>
            <a:r>
              <a:rPr lang="en-US" sz="2400" b="1" dirty="0">
                <a:solidFill>
                  <a:srgbClr val="7030A0"/>
                </a:solidFill>
              </a:rPr>
              <a:t>Kosaraju</a:t>
            </a:r>
            <a:r>
              <a:rPr lang="en-US" sz="2400" dirty="0"/>
              <a:t>’s algorithm.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4308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3569B-17DE-56E4-2D53-A5D2D0A8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Novel </a:t>
            </a:r>
            <a:r>
              <a:rPr lang="en-US" sz="3600" b="1" dirty="0"/>
              <a:t>ideas used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4CA10-F8C0-5C26-268A-AB994A8B3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Analyzing </a:t>
            </a:r>
            <a:r>
              <a:rPr lang="en-US" sz="2400" b="1" dirty="0">
                <a:solidFill>
                  <a:srgbClr val="0070C0"/>
                </a:solidFill>
              </a:rPr>
              <a:t>Finish time</a:t>
            </a:r>
            <a:r>
              <a:rPr lang="en-US" sz="2400" dirty="0"/>
              <a:t> of </a:t>
            </a:r>
            <a:r>
              <a:rPr lang="en-US" sz="2400" b="1" dirty="0"/>
              <a:t>roots</a:t>
            </a:r>
            <a:r>
              <a:rPr lang="en-US" sz="2400" dirty="0"/>
              <a:t> of SCCs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F60DE7-A74A-275E-D475-9D33D7FA7200}"/>
                  </a:ext>
                </a:extLst>
              </p:cNvPr>
              <p:cNvSpPr txBox="1"/>
              <p:nvPr/>
            </p:nvSpPr>
            <p:spPr>
              <a:xfrm>
                <a:off x="2362200" y="3798436"/>
                <a:ext cx="1188146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b="1" dirty="0"/>
                  <a:t>s</a:t>
                </a:r>
                <a:r>
                  <a:rPr lang="en-US" dirty="0"/>
                  <a:t> of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F60DE7-A74A-275E-D475-9D33D7FA7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798436"/>
                <a:ext cx="1188146" cy="369332"/>
              </a:xfrm>
              <a:prstGeom prst="rect">
                <a:avLst/>
              </a:prstGeom>
              <a:blipFill>
                <a:blip r:embed="rId2"/>
                <a:stretch>
                  <a:fillRect l="-4082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C210EB-566C-A31C-81F3-9BB7E2CBE6A5}"/>
                  </a:ext>
                </a:extLst>
              </p:cNvPr>
              <p:cNvSpPr txBox="1"/>
              <p:nvPr/>
            </p:nvSpPr>
            <p:spPr>
              <a:xfrm>
                <a:off x="5029200" y="3833748"/>
                <a:ext cx="1287468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b="1" dirty="0"/>
                  <a:t>s</a:t>
                </a:r>
                <a:r>
                  <a:rPr lang="en-US" dirty="0"/>
                  <a:t> of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C210EB-566C-A31C-81F3-9BB7E2CBE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833748"/>
                <a:ext cx="1287468" cy="369332"/>
              </a:xfrm>
              <a:prstGeom prst="rect">
                <a:avLst/>
              </a:prstGeom>
              <a:blipFill>
                <a:blip r:embed="rId3"/>
                <a:stretch>
                  <a:fillRect l="-3286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qual 9">
            <a:extLst>
              <a:ext uri="{FF2B5EF4-FFF2-40B4-BE49-F238E27FC236}">
                <a16:creationId xmlns:a16="http://schemas.microsoft.com/office/drawing/2014/main" id="{42BF1BB2-1807-3D44-F8E8-E74BD67494D5}"/>
              </a:ext>
            </a:extLst>
          </p:cNvPr>
          <p:cNvSpPr/>
          <p:nvPr/>
        </p:nvSpPr>
        <p:spPr>
          <a:xfrm>
            <a:off x="3810000" y="3699004"/>
            <a:ext cx="914400" cy="568196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C9BD5-1242-DB4C-3331-EA7BFFA3C6B1}"/>
              </a:ext>
            </a:extLst>
          </p:cNvPr>
          <p:cNvSpPr txBox="1"/>
          <p:nvPr/>
        </p:nvSpPr>
        <p:spPr>
          <a:xfrm>
            <a:off x="96640" y="5467640"/>
            <a:ext cx="7837082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entire algorithm looks so </a:t>
            </a:r>
            <a:r>
              <a:rPr lang="en-US" i="1" dirty="0"/>
              <a:t>simple</a:t>
            </a:r>
            <a:r>
              <a:rPr lang="en-US" dirty="0"/>
              <a:t> and </a:t>
            </a:r>
            <a:r>
              <a:rPr lang="en-US" i="1" dirty="0"/>
              <a:t>elegant</a:t>
            </a:r>
            <a:r>
              <a:rPr lang="en-US" dirty="0"/>
              <a:t>. These ideas also look </a:t>
            </a:r>
            <a:r>
              <a:rPr lang="en-US" i="1" dirty="0"/>
              <a:t>simple</a:t>
            </a:r>
            <a:r>
              <a:rPr lang="en-US" dirty="0"/>
              <a:t>. </a:t>
            </a:r>
          </a:p>
          <a:p>
            <a:r>
              <a:rPr lang="en-US" dirty="0"/>
              <a:t>But it might have taken enormous amount of time to combine them so effectively.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090F4-1285-41F8-571B-B35DBEC72EDE}"/>
              </a:ext>
            </a:extLst>
          </p:cNvPr>
          <p:cNvSpPr txBox="1"/>
          <p:nvPr/>
        </p:nvSpPr>
        <p:spPr>
          <a:xfrm>
            <a:off x="2166295" y="6366004"/>
            <a:ext cx="5247655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And, of course, enormous amount of perseverance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42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99DB5-6FD9-D574-77FA-5B311AA6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5BAC7-7E13-0566-C08F-74E6ADE4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01D62D-1EEE-A8CC-0666-810770E5B5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334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b="1" dirty="0"/>
                  <a:t>:</a:t>
                </a:r>
                <a:r>
                  <a:rPr lang="en-US" sz="2000" dirty="0"/>
                  <a:t> We can compute SCCs of a directed graph in </a:t>
                </a:r>
                <a:r>
                  <a:rPr lang="en-US" sz="2000" b="1" dirty="0"/>
                  <a:t>O(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1800" i="1" dirty="0"/>
              </a:p>
              <a:p>
                <a:pPr marL="0" indent="0">
                  <a:buNone/>
                </a:pPr>
                <a:r>
                  <a:rPr lang="en-US" sz="1800" i="1" dirty="0"/>
                  <a:t>This algorithm we discussed was designed by </a:t>
                </a:r>
                <a:r>
                  <a:rPr lang="en-US" sz="1800" b="1" i="1" dirty="0"/>
                  <a:t>S. </a:t>
                </a:r>
                <a:r>
                  <a:rPr lang="en-US" sz="1800" b="1" i="1" dirty="0" err="1"/>
                  <a:t>Rao</a:t>
                </a:r>
                <a:r>
                  <a:rPr lang="en-US" sz="1800" b="1" i="1" dirty="0"/>
                  <a:t> </a:t>
                </a:r>
                <a:r>
                  <a:rPr lang="en-US" sz="1800" b="1" i="1" dirty="0" err="1"/>
                  <a:t>Kosaraju</a:t>
                </a:r>
                <a:r>
                  <a:rPr lang="en-US" sz="1800" i="1" dirty="0"/>
                  <a:t> in 1978. It is the simplest as well as the optimal algorithm for this problem till date. However, there also exist two more algorithms for this problem. They make a single DFS traversal but are slightly more involved/complex. </a:t>
                </a:r>
              </a:p>
              <a:p>
                <a:r>
                  <a:rPr lang="en-US" sz="1800" dirty="0"/>
                  <a:t>One such algorithm make use of a </a:t>
                </a:r>
                <a:r>
                  <a:rPr lang="en-US" sz="1800" u="sng" dirty="0"/>
                  <a:t>stack</a:t>
                </a:r>
                <a:r>
                  <a:rPr lang="en-US" sz="1800" dirty="0"/>
                  <a:t> and the </a:t>
                </a:r>
                <a:r>
                  <a:rPr lang="en-US" sz="1800" u="sng" dirty="0"/>
                  <a:t>classification of edges</a:t>
                </a:r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This algorithm is similar in spirit to the “algorithm for </a:t>
                </a:r>
                <a:r>
                  <a:rPr lang="en-US" sz="1800" dirty="0" err="1"/>
                  <a:t>biconnected</a:t>
                </a:r>
                <a:r>
                  <a:rPr lang="en-US" sz="1800" dirty="0"/>
                  <a:t> components” which you might have done in </a:t>
                </a:r>
                <a:r>
                  <a:rPr lang="en-US" sz="1800" b="1" dirty="0"/>
                  <a:t>ESO207</a:t>
                </a:r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It will be really fun to re-invent this algorithm.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Note</a:t>
                </a:r>
                <a:r>
                  <a:rPr lang="en-US" sz="1800" dirty="0"/>
                  <a:t>:  </a:t>
                </a:r>
              </a:p>
              <a:p>
                <a:pPr marL="0" indent="0">
                  <a:buNone/>
                </a:pPr>
                <a:r>
                  <a:rPr lang="en-US" sz="1800" dirty="0"/>
                  <a:t>This exercise is only for highly motivated students. </a:t>
                </a:r>
              </a:p>
              <a:p>
                <a:pPr marL="0" indent="0">
                  <a:buNone/>
                </a:pPr>
                <a:r>
                  <a:rPr lang="en-US" sz="1800" dirty="0"/>
                  <a:t>It will never be asked in the exams </a:t>
                </a:r>
                <a:r>
                  <a:rPr lang="en-US" sz="1800" dirty="0">
                    <a:sym typeface="Wingdings" pitchFamily="2" charset="2"/>
                  </a:rPr>
                  <a:t>. So ponder over it peacefully.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334000"/>
              </a:xfrm>
              <a:blipFill>
                <a:blip r:embed="rId2"/>
                <a:stretch>
                  <a:fillRect l="-741" t="-686" r="-10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741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0F625-8606-BE74-C15A-408EDB70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ED11F24-A84E-ACAD-0844-B0CD1694866C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 graph </a:t>
                </a:r>
                <a:r>
                  <a:rPr lang="en-US" b="1" dirty="0"/>
                  <a:t>of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ubtitle 1">
            <a:extLst>
              <a:ext uri="{FF2B5EF4-FFF2-40B4-BE49-F238E27FC236}">
                <a16:creationId xmlns:a16="http://schemas.microsoft.com/office/drawing/2014/main" id="{69AFF74C-F7FB-DAE9-EFBF-E9B045FE3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7056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This should convince you about the </a:t>
            </a:r>
            <a:r>
              <a:rPr lang="en-US" sz="2400" u="sng" dirty="0">
                <a:solidFill>
                  <a:schemeClr val="tx1"/>
                </a:solidFill>
              </a:rPr>
              <a:t>importance</a:t>
            </a:r>
            <a:r>
              <a:rPr lang="en-US" sz="2400" dirty="0">
                <a:solidFill>
                  <a:schemeClr val="tx1"/>
                </a:solidFill>
              </a:rPr>
              <a:t> of the </a:t>
            </a:r>
            <a:r>
              <a:rPr lang="en-US" sz="2400" b="1" dirty="0">
                <a:solidFill>
                  <a:schemeClr val="tx1"/>
                </a:solidFill>
              </a:rPr>
              <a:t>linear time algorithm </a:t>
            </a:r>
            <a:r>
              <a:rPr lang="en-US" sz="2400" dirty="0">
                <a:solidFill>
                  <a:schemeClr val="tx1"/>
                </a:solidFill>
              </a:rPr>
              <a:t>for SCC that we discussed.</a:t>
            </a:r>
          </a:p>
        </p:txBody>
      </p:sp>
    </p:spTree>
    <p:extLst>
      <p:ext uri="{BB962C8B-B14F-4D97-AF65-F5344CB8AC3E}">
        <p14:creationId xmlns:p14="http://schemas.microsoft.com/office/powerpoint/2010/main" val="1008853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9CE0F-F07D-A935-34BE-962F5B6A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66951AB7-B2D9-1C2B-D4E6-31D1015AE4A8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 graph </a:t>
                </a:r>
                <a:r>
                  <a:rPr lang="en-US" b="1" dirty="0"/>
                  <a:t>of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it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ubtitle 4">
            <a:extLst>
              <a:ext uri="{FF2B5EF4-FFF2-40B4-BE49-F238E27FC236}">
                <a16:creationId xmlns:a16="http://schemas.microsoft.com/office/drawing/2014/main" id="{6546BFCF-C791-C767-9F5F-A6967625D8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20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388BC-5482-2001-75AF-02C3F336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EC95AEF-E7CC-D9C8-F54D-37811C46CA43}"/>
              </a:ext>
            </a:extLst>
          </p:cNvPr>
          <p:cNvGrpSpPr/>
          <p:nvPr/>
        </p:nvGrpSpPr>
        <p:grpSpPr>
          <a:xfrm>
            <a:off x="1752599" y="4594303"/>
            <a:ext cx="1146718" cy="1163444"/>
            <a:chOff x="6705599" y="2308303"/>
            <a:chExt cx="1146718" cy="1163444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E246C26E-DA20-4859-BA81-D058C459ED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3D31C877-6178-108D-B8EE-892A0E7C8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1D9D3713-19AE-A29E-526D-1508848713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E68949F3-4F93-E367-23B5-D75DA2ED1B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2F2215C-3C2C-5C4C-C177-853E4F878428}"/>
              </a:ext>
            </a:extLst>
          </p:cNvPr>
          <p:cNvCxnSpPr/>
          <p:nvPr/>
        </p:nvCxnSpPr>
        <p:spPr>
          <a:xfrm flipH="1">
            <a:off x="1830658" y="47244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AFFCFAF-719A-4C7C-E220-D4637F503C93}"/>
              </a:ext>
            </a:extLst>
          </p:cNvPr>
          <p:cNvCxnSpPr/>
          <p:nvPr/>
        </p:nvCxnSpPr>
        <p:spPr>
          <a:xfrm>
            <a:off x="2821257" y="47987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7D1DA12-A9B4-5F8C-38FC-AF74547B895C}"/>
              </a:ext>
            </a:extLst>
          </p:cNvPr>
          <p:cNvCxnSpPr/>
          <p:nvPr/>
        </p:nvCxnSpPr>
        <p:spPr>
          <a:xfrm>
            <a:off x="1908717" y="46705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6B1D6ED-F3FF-1913-CFAB-2D2598C8020C}"/>
              </a:ext>
            </a:extLst>
          </p:cNvPr>
          <p:cNvCxnSpPr/>
          <p:nvPr/>
        </p:nvCxnSpPr>
        <p:spPr>
          <a:xfrm>
            <a:off x="1908717" y="46705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Curved Connector 1042">
            <a:extLst>
              <a:ext uri="{FF2B5EF4-FFF2-40B4-BE49-F238E27FC236}">
                <a16:creationId xmlns:a16="http://schemas.microsoft.com/office/drawing/2014/main" id="{D1FBF6EE-46BA-FDFA-B5DD-CB14DE7A356F}"/>
              </a:ext>
            </a:extLst>
          </p:cNvPr>
          <p:cNvCxnSpPr/>
          <p:nvPr/>
        </p:nvCxnSpPr>
        <p:spPr>
          <a:xfrm flipH="1" flipV="1">
            <a:off x="1901282" y="46342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B3C25DA3-4978-9D72-9CAA-3EACE0476402}"/>
              </a:ext>
            </a:extLst>
          </p:cNvPr>
          <p:cNvCxnSpPr>
            <a:stCxn id="120" idx="2"/>
            <a:endCxn id="122" idx="0"/>
          </p:cNvCxnSpPr>
          <p:nvPr/>
        </p:nvCxnSpPr>
        <p:spPr>
          <a:xfrm flipH="1">
            <a:off x="2064836" y="838200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F50F85A-861B-90E4-29B3-AE8D1299B152}"/>
              </a:ext>
            </a:extLst>
          </p:cNvPr>
          <p:cNvGrpSpPr/>
          <p:nvPr/>
        </p:nvGrpSpPr>
        <p:grpSpPr>
          <a:xfrm>
            <a:off x="2398486" y="685800"/>
            <a:ext cx="568587" cy="914400"/>
            <a:chOff x="2398486" y="685800"/>
            <a:chExt cx="568587" cy="914400"/>
          </a:xfrm>
        </p:grpSpPr>
        <p:pic>
          <p:nvPicPr>
            <p:cNvPr id="120" name="Picture 2">
              <a:extLst>
                <a:ext uri="{FF2B5EF4-FFF2-40B4-BE49-F238E27FC236}">
                  <a16:creationId xmlns:a16="http://schemas.microsoft.com/office/drawing/2014/main" id="{3D65F39A-22A9-EA4B-23D7-1D1E2E7514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86" y="685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>
              <a:extLst>
                <a:ext uri="{FF2B5EF4-FFF2-40B4-BE49-F238E27FC236}">
                  <a16:creationId xmlns:a16="http://schemas.microsoft.com/office/drawing/2014/main" id="{2BEA2526-B2FB-EA9D-6288-85DC551096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956" y="1447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50C09F1-A66C-D969-94B2-08AF2662562E}"/>
              </a:ext>
            </a:extLst>
          </p:cNvPr>
          <p:cNvCxnSpPr>
            <a:stCxn id="120" idx="2"/>
            <a:endCxn id="123" idx="0"/>
          </p:cNvCxnSpPr>
          <p:nvPr/>
        </p:nvCxnSpPr>
        <p:spPr>
          <a:xfrm>
            <a:off x="2476545" y="838200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6EC1CFA4-ADC3-9988-590B-CC12ECD16DD4}"/>
              </a:ext>
            </a:extLst>
          </p:cNvPr>
          <p:cNvCxnSpPr>
            <a:stCxn id="122" idx="2"/>
            <a:endCxn id="124" idx="0"/>
          </p:cNvCxnSpPr>
          <p:nvPr/>
        </p:nvCxnSpPr>
        <p:spPr>
          <a:xfrm flipH="1">
            <a:off x="1761895" y="1524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CDC3804-8ADA-5699-AD6B-39EA2B593253}"/>
              </a:ext>
            </a:extLst>
          </p:cNvPr>
          <p:cNvCxnSpPr>
            <a:stCxn id="124" idx="2"/>
            <a:endCxn id="126" idx="0"/>
          </p:cNvCxnSpPr>
          <p:nvPr/>
        </p:nvCxnSpPr>
        <p:spPr>
          <a:xfrm flipH="1">
            <a:off x="1457095" y="2209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BC644A8-F4A4-F5EB-C5AD-FDF2101D4C02}"/>
              </a:ext>
            </a:extLst>
          </p:cNvPr>
          <p:cNvCxnSpPr>
            <a:stCxn id="124" idx="2"/>
            <a:endCxn id="127" idx="0"/>
          </p:cNvCxnSpPr>
          <p:nvPr/>
        </p:nvCxnSpPr>
        <p:spPr>
          <a:xfrm>
            <a:off x="1761895" y="2209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8C9FBC3-FCFB-7487-D2AD-24729CD9731C}"/>
              </a:ext>
            </a:extLst>
          </p:cNvPr>
          <p:cNvCxnSpPr>
            <a:stCxn id="131" idx="0"/>
            <a:endCxn id="125" idx="1"/>
          </p:cNvCxnSpPr>
          <p:nvPr/>
        </p:nvCxnSpPr>
        <p:spPr>
          <a:xfrm flipV="1">
            <a:off x="2751737" y="2146610"/>
            <a:ext cx="136518" cy="7489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B80302E-A578-ECE8-0C16-E09044FD858E}"/>
              </a:ext>
            </a:extLst>
          </p:cNvPr>
          <p:cNvCxnSpPr>
            <a:stCxn id="125" idx="2"/>
            <a:endCxn id="128" idx="0"/>
          </p:cNvCxnSpPr>
          <p:nvPr/>
        </p:nvCxnSpPr>
        <p:spPr>
          <a:xfrm>
            <a:off x="2966314" y="2222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9681284-5ADD-61E6-576A-2EE875819332}"/>
              </a:ext>
            </a:extLst>
          </p:cNvPr>
          <p:cNvCxnSpPr>
            <a:stCxn id="122" idx="2"/>
            <a:endCxn id="125" idx="1"/>
          </p:cNvCxnSpPr>
          <p:nvPr/>
        </p:nvCxnSpPr>
        <p:spPr>
          <a:xfrm>
            <a:off x="2064836" y="1524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77E8140-B921-9CE2-026B-A2170970EF55}"/>
              </a:ext>
            </a:extLst>
          </p:cNvPr>
          <p:cNvCxnSpPr>
            <a:stCxn id="126" idx="2"/>
            <a:endCxn id="129" idx="0"/>
          </p:cNvCxnSpPr>
          <p:nvPr/>
        </p:nvCxnSpPr>
        <p:spPr>
          <a:xfrm flipH="1">
            <a:off x="1228495" y="3048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F5644C5-7E6B-051E-C6AA-ECB19F264B80}"/>
              </a:ext>
            </a:extLst>
          </p:cNvPr>
          <p:cNvCxnSpPr>
            <a:stCxn id="123" idx="1"/>
            <a:endCxn id="122" idx="3"/>
          </p:cNvCxnSpPr>
          <p:nvPr/>
        </p:nvCxnSpPr>
        <p:spPr>
          <a:xfrm flipH="1" flipV="1">
            <a:off x="2142894" y="1447800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878C242-6E7B-5A72-007B-CE760B58CF5A}"/>
              </a:ext>
            </a:extLst>
          </p:cNvPr>
          <p:cNvCxnSpPr>
            <a:stCxn id="123" idx="2"/>
            <a:endCxn id="125" idx="0"/>
          </p:cNvCxnSpPr>
          <p:nvPr/>
        </p:nvCxnSpPr>
        <p:spPr>
          <a:xfrm>
            <a:off x="2889015" y="1600200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E3BF197-80E4-1899-D850-74F2003B8198}"/>
              </a:ext>
            </a:extLst>
          </p:cNvPr>
          <p:cNvCxnSpPr>
            <a:stCxn id="127" idx="1"/>
            <a:endCxn id="129" idx="3"/>
          </p:cNvCxnSpPr>
          <p:nvPr/>
        </p:nvCxnSpPr>
        <p:spPr>
          <a:xfrm flipH="1">
            <a:off x="1306553" y="2971800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245A862-9EB2-F719-FC37-8334BF0EA416}"/>
              </a:ext>
            </a:extLst>
          </p:cNvPr>
          <p:cNvCxnSpPr>
            <a:stCxn id="127" idx="2"/>
            <a:endCxn id="145" idx="0"/>
          </p:cNvCxnSpPr>
          <p:nvPr/>
        </p:nvCxnSpPr>
        <p:spPr>
          <a:xfrm>
            <a:off x="2227881" y="3048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1A2E626-93FC-8786-FA57-42573BFE113F}"/>
              </a:ext>
            </a:extLst>
          </p:cNvPr>
          <p:cNvGrpSpPr/>
          <p:nvPr/>
        </p:nvGrpSpPr>
        <p:grpSpPr>
          <a:xfrm>
            <a:off x="1150436" y="1371600"/>
            <a:ext cx="2278564" cy="2438400"/>
            <a:chOff x="1150436" y="1371600"/>
            <a:chExt cx="2278564" cy="2438400"/>
          </a:xfrm>
        </p:grpSpPr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1241EE53-8378-5817-1035-67FCDBC94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6777" y="1371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398C329D-5047-42A6-BB93-C38998AECB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836" y="2057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>
              <a:extLst>
                <a:ext uri="{FF2B5EF4-FFF2-40B4-BE49-F238E27FC236}">
                  <a16:creationId xmlns:a16="http://schemas.microsoft.com/office/drawing/2014/main" id="{30322049-DC78-748A-5DA2-BF16624EE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8255" y="20704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>
              <a:extLst>
                <a:ext uri="{FF2B5EF4-FFF2-40B4-BE49-F238E27FC236}">
                  <a16:creationId xmlns:a16="http://schemas.microsoft.com/office/drawing/2014/main" id="{1652DE4F-2BD0-5A3A-DEED-521E69A3CD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9036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>
              <a:extLst>
                <a:ext uri="{FF2B5EF4-FFF2-40B4-BE49-F238E27FC236}">
                  <a16:creationId xmlns:a16="http://schemas.microsoft.com/office/drawing/2014/main" id="{39761048-7F23-D715-45AE-9BB2B03EEC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9822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>
              <a:extLst>
                <a:ext uri="{FF2B5EF4-FFF2-40B4-BE49-F238E27FC236}">
                  <a16:creationId xmlns:a16="http://schemas.microsoft.com/office/drawing/2014/main" id="{C09E3F3D-5146-826A-020E-2D6FAD4E76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2883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>
              <a:extLst>
                <a:ext uri="{FF2B5EF4-FFF2-40B4-BE49-F238E27FC236}">
                  <a16:creationId xmlns:a16="http://schemas.microsoft.com/office/drawing/2014/main" id="{5358E2B5-9378-C775-1996-B675785DE1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436" y="3657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>
              <a:extLst>
                <a:ext uri="{FF2B5EF4-FFF2-40B4-BE49-F238E27FC236}">
                  <a16:creationId xmlns:a16="http://schemas.microsoft.com/office/drawing/2014/main" id="{BDC329F7-1D41-0CF8-6799-FEEF20F9B9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678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>
              <a:extLst>
                <a:ext uri="{FF2B5EF4-FFF2-40B4-BE49-F238E27FC236}">
                  <a16:creationId xmlns:a16="http://schemas.microsoft.com/office/drawing/2014/main" id="{9C37F1FD-6B65-AD5E-765A-E4FBA0DBF4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3519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35A56F5-7EBD-315F-1DEE-E329BDF3D739}"/>
              </a:ext>
            </a:extLst>
          </p:cNvPr>
          <p:cNvCxnSpPr>
            <a:stCxn id="128" idx="1"/>
            <a:endCxn id="131" idx="3"/>
          </p:cNvCxnSpPr>
          <p:nvPr/>
        </p:nvCxnSpPr>
        <p:spPr>
          <a:xfrm flipH="1">
            <a:off x="2829795" y="2971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8569284E-EE05-DD10-CE3B-6FC5BC799AB7}"/>
              </a:ext>
            </a:extLst>
          </p:cNvPr>
          <p:cNvSpPr txBox="1"/>
          <p:nvPr/>
        </p:nvSpPr>
        <p:spPr>
          <a:xfrm>
            <a:off x="2590800" y="2971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4AAA6FD-A3E6-D571-F737-22142EE65554}"/>
              </a:ext>
            </a:extLst>
          </p:cNvPr>
          <p:cNvSpPr txBox="1"/>
          <p:nvPr/>
        </p:nvSpPr>
        <p:spPr>
          <a:xfrm>
            <a:off x="1979506" y="14594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E7D36A5-9D4C-1C61-E121-52D62004B5D6}"/>
              </a:ext>
            </a:extLst>
          </p:cNvPr>
          <p:cNvSpPr txBox="1"/>
          <p:nvPr/>
        </p:nvSpPr>
        <p:spPr>
          <a:xfrm>
            <a:off x="2459148" y="6212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9ECDB26-F5EB-5213-8056-9319B0B5F1DF}"/>
              </a:ext>
            </a:extLst>
          </p:cNvPr>
          <p:cNvSpPr txBox="1"/>
          <p:nvPr/>
        </p:nvSpPr>
        <p:spPr>
          <a:xfrm>
            <a:off x="1522306" y="4495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442BFA7-B84A-6E86-7C1D-DCCDE5CD3361}"/>
              </a:ext>
            </a:extLst>
          </p:cNvPr>
          <p:cNvSpPr txBox="1"/>
          <p:nvPr/>
        </p:nvSpPr>
        <p:spPr>
          <a:xfrm>
            <a:off x="2895600" y="13070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03DEAC7-4FBD-4CEA-B739-2027D0A45400}"/>
              </a:ext>
            </a:extLst>
          </p:cNvPr>
          <p:cNvSpPr txBox="1"/>
          <p:nvPr/>
        </p:nvSpPr>
        <p:spPr>
          <a:xfrm>
            <a:off x="1522306" y="5498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9D21902-5103-289A-5155-98BF1C0A3470}"/>
              </a:ext>
            </a:extLst>
          </p:cNvPr>
          <p:cNvSpPr txBox="1"/>
          <p:nvPr/>
        </p:nvSpPr>
        <p:spPr>
          <a:xfrm>
            <a:off x="2817706" y="4572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3B07A8F-147B-4D06-21B8-7BF81B052ECF}"/>
              </a:ext>
            </a:extLst>
          </p:cNvPr>
          <p:cNvSpPr txBox="1"/>
          <p:nvPr/>
        </p:nvSpPr>
        <p:spPr>
          <a:xfrm>
            <a:off x="1447800" y="19050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193ABC0-59B1-2BB3-9999-9F9F6C51D4AF}"/>
              </a:ext>
            </a:extLst>
          </p:cNvPr>
          <p:cNvSpPr txBox="1"/>
          <p:nvPr/>
        </p:nvSpPr>
        <p:spPr>
          <a:xfrm>
            <a:off x="1065106" y="2754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99A3B3F-C09E-9733-4C72-176A6CC393A4}"/>
              </a:ext>
            </a:extLst>
          </p:cNvPr>
          <p:cNvSpPr txBox="1"/>
          <p:nvPr/>
        </p:nvSpPr>
        <p:spPr>
          <a:xfrm>
            <a:off x="988906" y="3669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D3C213E-EA7E-F392-4BB8-490FABD3CC74}"/>
              </a:ext>
            </a:extLst>
          </p:cNvPr>
          <p:cNvSpPr txBox="1"/>
          <p:nvPr/>
        </p:nvSpPr>
        <p:spPr>
          <a:xfrm>
            <a:off x="2131906" y="36576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1058DE8-B3B9-570A-E022-74E07150830D}"/>
              </a:ext>
            </a:extLst>
          </p:cNvPr>
          <p:cNvSpPr txBox="1"/>
          <p:nvPr/>
        </p:nvSpPr>
        <p:spPr>
          <a:xfrm>
            <a:off x="3046306" y="1981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FAF3F3E-93A1-E19D-D40B-47E3C00358F6}"/>
              </a:ext>
            </a:extLst>
          </p:cNvPr>
          <p:cNvSpPr txBox="1"/>
          <p:nvPr/>
        </p:nvSpPr>
        <p:spPr>
          <a:xfrm>
            <a:off x="3274906" y="2907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A08931E-8058-8579-61A9-A0E8F00510AB}"/>
              </a:ext>
            </a:extLst>
          </p:cNvPr>
          <p:cNvSpPr txBox="1"/>
          <p:nvPr/>
        </p:nvSpPr>
        <p:spPr>
          <a:xfrm>
            <a:off x="1905000" y="2754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6A534E5B-3AD7-92CC-5736-284887B890CD}"/>
              </a:ext>
            </a:extLst>
          </p:cNvPr>
          <p:cNvSpPr/>
          <p:nvPr/>
        </p:nvSpPr>
        <p:spPr>
          <a:xfrm>
            <a:off x="1150437" y="1270722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5F4C754-A089-F16B-5643-5ACC99D92D06}"/>
              </a:ext>
            </a:extLst>
          </p:cNvPr>
          <p:cNvSpPr/>
          <p:nvPr/>
        </p:nvSpPr>
        <p:spPr>
          <a:xfrm>
            <a:off x="2133600" y="35052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AD093E92-78C7-CA26-7A76-6991F5482BDF}"/>
              </a:ext>
            </a:extLst>
          </p:cNvPr>
          <p:cNvSpPr/>
          <p:nvPr/>
        </p:nvSpPr>
        <p:spPr>
          <a:xfrm>
            <a:off x="2185639" y="457200"/>
            <a:ext cx="959005" cy="1092819"/>
          </a:xfrm>
          <a:custGeom>
            <a:avLst/>
            <a:gdLst>
              <a:gd name="connsiteX0" fmla="*/ 44605 w 959005"/>
              <a:gd name="connsiteY0" fmla="*/ 44605 h 1092819"/>
              <a:gd name="connsiteX1" fmla="*/ 0 w 959005"/>
              <a:gd name="connsiteY1" fmla="*/ 312234 h 1092819"/>
              <a:gd name="connsiteX2" fmla="*/ 546410 w 959005"/>
              <a:gd name="connsiteY2" fmla="*/ 1092819 h 1092819"/>
              <a:gd name="connsiteX3" fmla="*/ 959005 w 959005"/>
              <a:gd name="connsiteY3" fmla="*/ 1092819 h 1092819"/>
              <a:gd name="connsiteX4" fmla="*/ 869795 w 959005"/>
              <a:gd name="connsiteY4" fmla="*/ 546410 h 1092819"/>
              <a:gd name="connsiteX5" fmla="*/ 256478 w 959005"/>
              <a:gd name="connsiteY5" fmla="*/ 0 h 1092819"/>
              <a:gd name="connsiteX6" fmla="*/ 44605 w 959005"/>
              <a:gd name="connsiteY6" fmla="*/ 44605 h 109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9005" h="1092819">
                <a:moveTo>
                  <a:pt x="44605" y="44605"/>
                </a:moveTo>
                <a:lnTo>
                  <a:pt x="0" y="312234"/>
                </a:lnTo>
                <a:lnTo>
                  <a:pt x="546410" y="1092819"/>
                </a:lnTo>
                <a:lnTo>
                  <a:pt x="959005" y="1092819"/>
                </a:lnTo>
                <a:lnTo>
                  <a:pt x="869795" y="546410"/>
                </a:lnTo>
                <a:lnTo>
                  <a:pt x="256478" y="0"/>
                </a:lnTo>
                <a:lnTo>
                  <a:pt x="44605" y="44605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4DCB331-53D8-B7D4-37CB-A8E0B49285C9}"/>
              </a:ext>
            </a:extLst>
          </p:cNvPr>
          <p:cNvSpPr/>
          <p:nvPr/>
        </p:nvSpPr>
        <p:spPr>
          <a:xfrm>
            <a:off x="990600" y="3581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22A0CDE8-54C7-8DBE-92F2-8E4336D3CF5B}"/>
              </a:ext>
            </a:extLst>
          </p:cNvPr>
          <p:cNvSpPr/>
          <p:nvPr/>
        </p:nvSpPr>
        <p:spPr>
          <a:xfrm>
            <a:off x="2507166" y="1981200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 150">
            <a:extLst>
              <a:ext uri="{FF2B5EF4-FFF2-40B4-BE49-F238E27FC236}">
                <a16:creationId xmlns:a16="http://schemas.microsoft.com/office/drawing/2014/main" id="{76FBD11A-88AB-A570-64FE-A6B810CB3316}"/>
              </a:ext>
            </a:extLst>
          </p:cNvPr>
          <p:cNvSpPr/>
          <p:nvPr/>
        </p:nvSpPr>
        <p:spPr>
          <a:xfrm>
            <a:off x="1685693" y="4484649"/>
            <a:ext cx="1438507" cy="1382751"/>
          </a:xfrm>
          <a:custGeom>
            <a:avLst/>
            <a:gdLst>
              <a:gd name="connsiteX0" fmla="*/ 22303 w 1438507"/>
              <a:gd name="connsiteY0" fmla="*/ 33454 h 1382751"/>
              <a:gd name="connsiteX1" fmla="*/ 0 w 1438507"/>
              <a:gd name="connsiteY1" fmla="*/ 234176 h 1382751"/>
              <a:gd name="connsiteX2" fmla="*/ 936703 w 1438507"/>
              <a:gd name="connsiteY2" fmla="*/ 1293542 h 1382751"/>
              <a:gd name="connsiteX3" fmla="*/ 1226634 w 1438507"/>
              <a:gd name="connsiteY3" fmla="*/ 1382751 h 1382751"/>
              <a:gd name="connsiteX4" fmla="*/ 1438507 w 1438507"/>
              <a:gd name="connsiteY4" fmla="*/ 1260088 h 1382751"/>
              <a:gd name="connsiteX5" fmla="*/ 1427356 w 1438507"/>
              <a:gd name="connsiteY5" fmla="*/ 0 h 1382751"/>
              <a:gd name="connsiteX6" fmla="*/ 22303 w 1438507"/>
              <a:gd name="connsiteY6" fmla="*/ 33454 h 138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8507" h="1382751">
                <a:moveTo>
                  <a:pt x="22303" y="33454"/>
                </a:moveTo>
                <a:lnTo>
                  <a:pt x="0" y="234176"/>
                </a:lnTo>
                <a:lnTo>
                  <a:pt x="936703" y="1293542"/>
                </a:lnTo>
                <a:lnTo>
                  <a:pt x="1226634" y="1382751"/>
                </a:lnTo>
                <a:lnTo>
                  <a:pt x="1438507" y="1260088"/>
                </a:lnTo>
                <a:lnTo>
                  <a:pt x="1427356" y="0"/>
                </a:lnTo>
                <a:lnTo>
                  <a:pt x="22303" y="33454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CC3ED2FF-4955-CBA9-7080-A941FD33EE27}"/>
              </a:ext>
            </a:extLst>
          </p:cNvPr>
          <p:cNvSpPr/>
          <p:nvPr/>
        </p:nvSpPr>
        <p:spPr>
          <a:xfrm>
            <a:off x="1609493" y="5551449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" name="Curved Connector 159">
            <a:extLst>
              <a:ext uri="{FF2B5EF4-FFF2-40B4-BE49-F238E27FC236}">
                <a16:creationId xmlns:a16="http://schemas.microsoft.com/office/drawing/2014/main" id="{DAADA186-D473-B110-22F1-B6E634020C19}"/>
              </a:ext>
            </a:extLst>
          </p:cNvPr>
          <p:cNvCxnSpPr/>
          <p:nvPr/>
        </p:nvCxnSpPr>
        <p:spPr>
          <a:xfrm rot="10800000">
            <a:off x="2504553" y="762000"/>
            <a:ext cx="436452" cy="685800"/>
          </a:xfrm>
          <a:prstGeom prst="curvedConnector3">
            <a:avLst>
              <a:gd name="adj1" fmla="val -57131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urved Connector 160">
            <a:extLst>
              <a:ext uri="{FF2B5EF4-FFF2-40B4-BE49-F238E27FC236}">
                <a16:creationId xmlns:a16="http://schemas.microsoft.com/office/drawing/2014/main" id="{F194E5DB-6445-9A0D-A1B7-CD6878AE96C4}"/>
              </a:ext>
            </a:extLst>
          </p:cNvPr>
          <p:cNvCxnSpPr/>
          <p:nvPr/>
        </p:nvCxnSpPr>
        <p:spPr>
          <a:xfrm flipV="1">
            <a:off x="1414882" y="1447800"/>
            <a:ext cx="571895" cy="1491734"/>
          </a:xfrm>
          <a:prstGeom prst="curvedConnector3">
            <a:avLst>
              <a:gd name="adj1" fmla="val -5529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D5E781A5-8F3E-7C42-B2A3-0C53C387327C}"/>
              </a:ext>
            </a:extLst>
          </p:cNvPr>
          <p:cNvCxnSpPr/>
          <p:nvPr/>
        </p:nvCxnSpPr>
        <p:spPr>
          <a:xfrm flipH="1">
            <a:off x="1535153" y="2971800"/>
            <a:ext cx="614669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3008F9B-75CD-261A-A62D-73231AE3EE73}"/>
              </a:ext>
            </a:extLst>
          </p:cNvPr>
          <p:cNvCxnSpPr>
            <a:stCxn id="138" idx="1"/>
            <a:endCxn id="142" idx="0"/>
          </p:cNvCxnSpPr>
          <p:nvPr/>
        </p:nvCxnSpPr>
        <p:spPr>
          <a:xfrm flipH="1">
            <a:off x="6809277" y="958335"/>
            <a:ext cx="560876" cy="101119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C38DA989-1733-9A44-13EF-8C2420A67F3A}"/>
              </a:ext>
            </a:extLst>
          </p:cNvPr>
          <p:cNvCxnSpPr>
            <a:stCxn id="138" idx="3"/>
            <a:endCxn id="163" idx="0"/>
          </p:cNvCxnSpPr>
          <p:nvPr/>
        </p:nvCxnSpPr>
        <p:spPr>
          <a:xfrm>
            <a:off x="7772400" y="958335"/>
            <a:ext cx="582124" cy="101119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08E2028A-E2DA-AFA2-3D83-80F3FD2FAEDA}"/>
              </a:ext>
            </a:extLst>
          </p:cNvPr>
          <p:cNvCxnSpPr>
            <a:stCxn id="138" idx="1"/>
          </p:cNvCxnSpPr>
          <p:nvPr/>
        </p:nvCxnSpPr>
        <p:spPr>
          <a:xfrm rot="10800000" flipV="1">
            <a:off x="6705601" y="958335"/>
            <a:ext cx="664553" cy="1011196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29A31157-BE95-9ADC-223E-9321011D5045}"/>
              </a:ext>
            </a:extLst>
          </p:cNvPr>
          <p:cNvCxnSpPr>
            <a:stCxn id="142" idx="2"/>
            <a:endCxn id="164" idx="0"/>
          </p:cNvCxnSpPr>
          <p:nvPr/>
        </p:nvCxnSpPr>
        <p:spPr>
          <a:xfrm flipH="1">
            <a:off x="6373324" y="2362200"/>
            <a:ext cx="435953" cy="7503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A11C577-5437-4D4F-E3FD-5F22864B15FD}"/>
              </a:ext>
            </a:extLst>
          </p:cNvPr>
          <p:cNvCxnSpPr>
            <a:stCxn id="142" idx="2"/>
            <a:endCxn id="165" idx="0"/>
          </p:cNvCxnSpPr>
          <p:nvPr/>
        </p:nvCxnSpPr>
        <p:spPr>
          <a:xfrm>
            <a:off x="6809277" y="2362200"/>
            <a:ext cx="381000" cy="75033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8B624F1-10DB-3AC2-4358-93ECB4A8E1B8}"/>
              </a:ext>
            </a:extLst>
          </p:cNvPr>
          <p:cNvCxnSpPr>
            <a:stCxn id="142" idx="3"/>
            <a:endCxn id="163" idx="1"/>
          </p:cNvCxnSpPr>
          <p:nvPr/>
        </p:nvCxnSpPr>
        <p:spPr>
          <a:xfrm>
            <a:off x="7010400" y="2165866"/>
            <a:ext cx="11430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D1C8647-F293-8B42-CA35-ABBE2F6623BC}"/>
              </a:ext>
            </a:extLst>
          </p:cNvPr>
          <p:cNvCxnSpPr>
            <a:stCxn id="199" idx="2"/>
            <a:endCxn id="201" idx="0"/>
          </p:cNvCxnSpPr>
          <p:nvPr/>
        </p:nvCxnSpPr>
        <p:spPr>
          <a:xfrm flipH="1">
            <a:off x="6961677" y="4736069"/>
            <a:ext cx="707047" cy="81486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ight Arrow 53">
            <a:extLst>
              <a:ext uri="{FF2B5EF4-FFF2-40B4-BE49-F238E27FC236}">
                <a16:creationId xmlns:a16="http://schemas.microsoft.com/office/drawing/2014/main" id="{C4FE3FDC-50BB-5F44-7DE7-4350740B711C}"/>
              </a:ext>
            </a:extLst>
          </p:cNvPr>
          <p:cNvSpPr/>
          <p:nvPr/>
        </p:nvSpPr>
        <p:spPr>
          <a:xfrm>
            <a:off x="4724400" y="1154669"/>
            <a:ext cx="914400" cy="100636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ight Arrow 202">
            <a:extLst>
              <a:ext uri="{FF2B5EF4-FFF2-40B4-BE49-F238E27FC236}">
                <a16:creationId xmlns:a16="http://schemas.microsoft.com/office/drawing/2014/main" id="{2793328C-3939-5B4F-5695-D55D2F153EE8}"/>
              </a:ext>
            </a:extLst>
          </p:cNvPr>
          <p:cNvSpPr/>
          <p:nvPr/>
        </p:nvSpPr>
        <p:spPr>
          <a:xfrm>
            <a:off x="4648200" y="4648200"/>
            <a:ext cx="914400" cy="100636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022DEC8-D0A9-0BAB-EF0E-7E5E38A4D37C}"/>
              </a:ext>
            </a:extLst>
          </p:cNvPr>
          <p:cNvGrpSpPr/>
          <p:nvPr/>
        </p:nvGrpSpPr>
        <p:grpSpPr>
          <a:xfrm>
            <a:off x="7370153" y="685800"/>
            <a:ext cx="1068673" cy="468869"/>
            <a:chOff x="7370153" y="685800"/>
            <a:chExt cx="1068673" cy="468869"/>
          </a:xfrm>
        </p:grpSpPr>
        <p:pic>
          <p:nvPicPr>
            <p:cNvPr id="138" name="Picture 2">
              <a:extLst>
                <a:ext uri="{FF2B5EF4-FFF2-40B4-BE49-F238E27FC236}">
                  <a16:creationId xmlns:a16="http://schemas.microsoft.com/office/drawing/2014/main" id="{10079C19-EF0A-B27D-315D-D1449A065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0153" y="762000"/>
              <a:ext cx="402247" cy="39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26478E8-A75E-7745-799A-5D9609BA7CA6}"/>
                </a:ext>
              </a:extLst>
            </p:cNvPr>
            <p:cNvSpPr txBox="1"/>
            <p:nvPr/>
          </p:nvSpPr>
          <p:spPr>
            <a:xfrm>
              <a:off x="7848600" y="685800"/>
              <a:ext cx="590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{</a:t>
              </a:r>
              <a:r>
                <a:rPr lang="en-US" dirty="0" err="1"/>
                <a:t>x,y</a:t>
              </a:r>
              <a:r>
                <a:rPr lang="en-US" dirty="0"/>
                <a:t>}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DD6D312-52FB-39ED-B605-87B8B858EF78}"/>
              </a:ext>
            </a:extLst>
          </p:cNvPr>
          <p:cNvGrpSpPr/>
          <p:nvPr/>
        </p:nvGrpSpPr>
        <p:grpSpPr>
          <a:xfrm>
            <a:off x="8153400" y="1969531"/>
            <a:ext cx="1092333" cy="392669"/>
            <a:chOff x="8153400" y="1969531"/>
            <a:chExt cx="1092333" cy="392669"/>
          </a:xfrm>
        </p:grpSpPr>
        <p:pic>
          <p:nvPicPr>
            <p:cNvPr id="163" name="Picture 2">
              <a:extLst>
                <a:ext uri="{FF2B5EF4-FFF2-40B4-BE49-F238E27FC236}">
                  <a16:creationId xmlns:a16="http://schemas.microsoft.com/office/drawing/2014/main" id="{73CEBF6A-DC3B-282D-79CE-1D3B584070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3400" y="1969531"/>
              <a:ext cx="402247" cy="39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568180F-28D1-4076-FE7E-E63A89F0673E}"/>
                </a:ext>
              </a:extLst>
            </p:cNvPr>
            <p:cNvSpPr txBox="1"/>
            <p:nvPr/>
          </p:nvSpPr>
          <p:spPr>
            <a:xfrm>
              <a:off x="8477574" y="1981200"/>
              <a:ext cx="768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{</a:t>
              </a:r>
              <a:r>
                <a:rPr lang="en-US" dirty="0" err="1"/>
                <a:t>p,q,r</a:t>
              </a:r>
              <a:r>
                <a:rPr lang="en-US" dirty="0"/>
                <a:t>}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6547038-28C8-0E31-CEE2-A128D659984A}"/>
              </a:ext>
            </a:extLst>
          </p:cNvPr>
          <p:cNvGrpSpPr/>
          <p:nvPr/>
        </p:nvGrpSpPr>
        <p:grpSpPr>
          <a:xfrm>
            <a:off x="5562600" y="1916668"/>
            <a:ext cx="1447800" cy="445532"/>
            <a:chOff x="5562600" y="1916668"/>
            <a:chExt cx="1447800" cy="445532"/>
          </a:xfrm>
        </p:grpSpPr>
        <p:pic>
          <p:nvPicPr>
            <p:cNvPr id="142" name="Picture 2">
              <a:extLst>
                <a:ext uri="{FF2B5EF4-FFF2-40B4-BE49-F238E27FC236}">
                  <a16:creationId xmlns:a16="http://schemas.microsoft.com/office/drawing/2014/main" id="{1AE03533-7551-8EE6-7487-1A7E7B8E34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8153" y="1969531"/>
              <a:ext cx="402247" cy="39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9040208-2CF5-D62A-D671-6C5CF12FB292}"/>
                </a:ext>
              </a:extLst>
            </p:cNvPr>
            <p:cNvSpPr txBox="1"/>
            <p:nvPr/>
          </p:nvSpPr>
          <p:spPr>
            <a:xfrm>
              <a:off x="5562600" y="1916668"/>
              <a:ext cx="909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{</a:t>
              </a:r>
              <a:r>
                <a:rPr lang="en-US" dirty="0" err="1"/>
                <a:t>u,v,w,j</a:t>
              </a:r>
              <a:r>
                <a:rPr lang="en-US" dirty="0"/>
                <a:t>}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D773CD7-EBFE-BE36-A1F3-3507F4C9CA7B}"/>
              </a:ext>
            </a:extLst>
          </p:cNvPr>
          <p:cNvGrpSpPr/>
          <p:nvPr/>
        </p:nvGrpSpPr>
        <p:grpSpPr>
          <a:xfrm>
            <a:off x="6989153" y="3112531"/>
            <a:ext cx="759179" cy="392669"/>
            <a:chOff x="6989153" y="3112531"/>
            <a:chExt cx="759179" cy="392669"/>
          </a:xfrm>
        </p:grpSpPr>
        <p:pic>
          <p:nvPicPr>
            <p:cNvPr id="165" name="Picture 2">
              <a:extLst>
                <a:ext uri="{FF2B5EF4-FFF2-40B4-BE49-F238E27FC236}">
                  <a16:creationId xmlns:a16="http://schemas.microsoft.com/office/drawing/2014/main" id="{74D3D9BE-8CBC-9378-3C6D-9E8C10AA5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9153" y="3112531"/>
              <a:ext cx="402247" cy="39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C09D149-B36C-A523-7F70-61FB0E70D847}"/>
                </a:ext>
              </a:extLst>
            </p:cNvPr>
            <p:cNvSpPr txBox="1"/>
            <p:nvPr/>
          </p:nvSpPr>
          <p:spPr>
            <a:xfrm>
              <a:off x="7315200" y="3124200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{k}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6AEC9F2-A03E-B204-909A-9D2686D77179}"/>
              </a:ext>
            </a:extLst>
          </p:cNvPr>
          <p:cNvGrpSpPr/>
          <p:nvPr/>
        </p:nvGrpSpPr>
        <p:grpSpPr>
          <a:xfrm>
            <a:off x="5791200" y="3112531"/>
            <a:ext cx="783247" cy="392669"/>
            <a:chOff x="5791200" y="3112531"/>
            <a:chExt cx="783247" cy="392669"/>
          </a:xfrm>
        </p:grpSpPr>
        <p:pic>
          <p:nvPicPr>
            <p:cNvPr id="164" name="Picture 2">
              <a:extLst>
                <a:ext uri="{FF2B5EF4-FFF2-40B4-BE49-F238E27FC236}">
                  <a16:creationId xmlns:a16="http://schemas.microsoft.com/office/drawing/2014/main" id="{6321AD94-61AB-6DC4-8659-AE790F3F3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3112531"/>
              <a:ext cx="402247" cy="39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28C7BD00-B175-74A8-A525-266D44EBE545}"/>
                </a:ext>
              </a:extLst>
            </p:cNvPr>
            <p:cNvSpPr txBox="1"/>
            <p:nvPr/>
          </p:nvSpPr>
          <p:spPr>
            <a:xfrm>
              <a:off x="5791200" y="312420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{t}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002939A-933C-577C-A990-544BD7C6ED3D}"/>
              </a:ext>
            </a:extLst>
          </p:cNvPr>
          <p:cNvGrpSpPr/>
          <p:nvPr/>
        </p:nvGrpSpPr>
        <p:grpSpPr>
          <a:xfrm>
            <a:off x="7467600" y="4343400"/>
            <a:ext cx="1218113" cy="392669"/>
            <a:chOff x="7467600" y="4343400"/>
            <a:chExt cx="1218113" cy="392669"/>
          </a:xfrm>
        </p:grpSpPr>
        <p:pic>
          <p:nvPicPr>
            <p:cNvPr id="199" name="Picture 2">
              <a:extLst>
                <a:ext uri="{FF2B5EF4-FFF2-40B4-BE49-F238E27FC236}">
                  <a16:creationId xmlns:a16="http://schemas.microsoft.com/office/drawing/2014/main" id="{C5E43D7A-993B-71E3-ED9E-BD868BED2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7600" y="4343400"/>
              <a:ext cx="402247" cy="39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59EE4490-12EB-DF00-1FEC-240E4FA0BCB6}"/>
                </a:ext>
              </a:extLst>
            </p:cNvPr>
            <p:cNvSpPr txBox="1"/>
            <p:nvPr/>
          </p:nvSpPr>
          <p:spPr>
            <a:xfrm>
              <a:off x="7899920" y="4355068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{</a:t>
              </a:r>
              <a:r>
                <a:rPr lang="en-US" dirty="0" err="1"/>
                <a:t>b,c,d</a:t>
              </a:r>
              <a:r>
                <a:rPr lang="en-US" dirty="0"/>
                <a:t>}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A9C1165-78CD-C968-5AF1-A9FB80CAE5A7}"/>
              </a:ext>
            </a:extLst>
          </p:cNvPr>
          <p:cNvGrpSpPr/>
          <p:nvPr/>
        </p:nvGrpSpPr>
        <p:grpSpPr>
          <a:xfrm>
            <a:off x="6375920" y="5550931"/>
            <a:ext cx="786880" cy="392669"/>
            <a:chOff x="6375920" y="5550931"/>
            <a:chExt cx="786880" cy="392669"/>
          </a:xfrm>
        </p:grpSpPr>
        <p:pic>
          <p:nvPicPr>
            <p:cNvPr id="201" name="Picture 2">
              <a:extLst>
                <a:ext uri="{FF2B5EF4-FFF2-40B4-BE49-F238E27FC236}">
                  <a16:creationId xmlns:a16="http://schemas.microsoft.com/office/drawing/2014/main" id="{51B0DE4A-A430-3EB0-5B33-6EF49EBFEE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0553" y="5550931"/>
              <a:ext cx="402247" cy="392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9AB8828-67D5-0D37-4190-CBE139A333C5}"/>
                </a:ext>
              </a:extLst>
            </p:cNvPr>
            <p:cNvSpPr txBox="1"/>
            <p:nvPr/>
          </p:nvSpPr>
          <p:spPr>
            <a:xfrm>
              <a:off x="6375920" y="5574268"/>
              <a:ext cx="450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{h}</a:t>
              </a:r>
            </a:p>
          </p:txBody>
        </p:sp>
      </p:grp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AB459106-F0B2-2E78-1561-CBC3F5C7DC0E}"/>
              </a:ext>
            </a:extLst>
          </p:cNvPr>
          <p:cNvCxnSpPr>
            <a:stCxn id="27" idx="1"/>
          </p:cNvCxnSpPr>
          <p:nvPr/>
        </p:nvCxnSpPr>
        <p:spPr>
          <a:xfrm flipH="1">
            <a:off x="1905001" y="5681547"/>
            <a:ext cx="838199" cy="3345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urved Connector 213">
            <a:extLst>
              <a:ext uri="{FF2B5EF4-FFF2-40B4-BE49-F238E27FC236}">
                <a16:creationId xmlns:a16="http://schemas.microsoft.com/office/drawing/2014/main" id="{4A7C9933-5E1F-E09B-E679-C0FB3A9E94BD}"/>
              </a:ext>
            </a:extLst>
          </p:cNvPr>
          <p:cNvCxnSpPr>
            <a:stCxn id="199" idx="2"/>
          </p:cNvCxnSpPr>
          <p:nvPr/>
        </p:nvCxnSpPr>
        <p:spPr>
          <a:xfrm rot="5400000">
            <a:off x="6874459" y="4768334"/>
            <a:ext cx="826530" cy="762000"/>
          </a:xfrm>
          <a:prstGeom prst="curvedConnector3">
            <a:avLst>
              <a:gd name="adj1" fmla="val -2617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urved Connector 214">
            <a:extLst>
              <a:ext uri="{FF2B5EF4-FFF2-40B4-BE49-F238E27FC236}">
                <a16:creationId xmlns:a16="http://schemas.microsoft.com/office/drawing/2014/main" id="{CCC06729-265E-C1A2-14A4-F367AA556D0E}"/>
              </a:ext>
            </a:extLst>
          </p:cNvPr>
          <p:cNvCxnSpPr>
            <a:stCxn id="142" idx="2"/>
          </p:cNvCxnSpPr>
          <p:nvPr/>
        </p:nvCxnSpPr>
        <p:spPr>
          <a:xfrm rot="5400000">
            <a:off x="6120363" y="2511486"/>
            <a:ext cx="838200" cy="539629"/>
          </a:xfrm>
          <a:prstGeom prst="curvedConnector3">
            <a:avLst>
              <a:gd name="adj1" fmla="val -1885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71">
            <a:extLst>
              <a:ext uri="{FF2B5EF4-FFF2-40B4-BE49-F238E27FC236}">
                <a16:creationId xmlns:a16="http://schemas.microsoft.com/office/drawing/2014/main" id="{23D28DFD-487B-7E2B-2FD8-B877B6347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SCC</a:t>
            </a:r>
            <a:r>
              <a:rPr lang="en-US" sz="3200" b="1" dirty="0"/>
              <a:t> graph</a:t>
            </a:r>
            <a:endParaRPr lang="en-US" sz="3200" dirty="0"/>
          </a:p>
        </p:txBody>
      </p:sp>
      <p:sp>
        <p:nvSpPr>
          <p:cNvPr id="75" name="Content Placeholder 74">
            <a:extLst>
              <a:ext uri="{FF2B5EF4-FFF2-40B4-BE49-F238E27FC236}">
                <a16:creationId xmlns:a16="http://schemas.microsoft.com/office/drawing/2014/main" id="{6E52E1EE-0F13-8B67-19DA-C9CE5B6FE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C875482-198A-8B28-8AFD-A1D9953D7016}"/>
              </a:ext>
            </a:extLst>
          </p:cNvPr>
          <p:cNvSpPr txBox="1"/>
          <p:nvPr/>
        </p:nvSpPr>
        <p:spPr>
          <a:xfrm>
            <a:off x="2667000" y="56504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A9900FF-3576-74C5-80AF-E7FED75CEE5E}"/>
              </a:ext>
            </a:extLst>
          </p:cNvPr>
          <p:cNvGrpSpPr/>
          <p:nvPr/>
        </p:nvGrpSpPr>
        <p:grpSpPr>
          <a:xfrm>
            <a:off x="6368534" y="5942756"/>
            <a:ext cx="2546866" cy="762844"/>
            <a:chOff x="6368534" y="5942756"/>
            <a:chExt cx="2546866" cy="762844"/>
          </a:xfrm>
        </p:grpSpPr>
        <p:sp>
          <p:nvSpPr>
            <p:cNvPr id="76" name="Right Brace 75">
              <a:extLst>
                <a:ext uri="{FF2B5EF4-FFF2-40B4-BE49-F238E27FC236}">
                  <a16:creationId xmlns:a16="http://schemas.microsoft.com/office/drawing/2014/main" id="{04CAF7E6-93FB-F795-7C94-12B3F21392D6}"/>
                </a:ext>
              </a:extLst>
            </p:cNvPr>
            <p:cNvSpPr/>
            <p:nvPr/>
          </p:nvSpPr>
          <p:spPr>
            <a:xfrm rot="5400000">
              <a:off x="7451045" y="4860245"/>
              <a:ext cx="381844" cy="2546866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21857602-5283-EE15-1038-0CFCAAFEFD0B}"/>
                    </a:ext>
                  </a:extLst>
                </p:cNvPr>
                <p:cNvSpPr txBox="1"/>
                <p:nvPr/>
              </p:nvSpPr>
              <p:spPr>
                <a:xfrm>
                  <a:off x="6875651" y="6336268"/>
                  <a:ext cx="15825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SCC</a:t>
                  </a:r>
                  <a:r>
                    <a:rPr lang="en-US" dirty="0"/>
                    <a:t> graph of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𝑮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5651" y="6336268"/>
                  <a:ext cx="1582549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3462" t="-8197" r="-538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7FFEE10-757F-9450-FE85-FC0DC3AB4FD8}"/>
              </a:ext>
            </a:extLst>
          </p:cNvPr>
          <p:cNvGrpSpPr/>
          <p:nvPr/>
        </p:nvGrpSpPr>
        <p:grpSpPr>
          <a:xfrm>
            <a:off x="958334" y="5943600"/>
            <a:ext cx="2546866" cy="750332"/>
            <a:chOff x="958334" y="5943600"/>
            <a:chExt cx="2546866" cy="750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40DDE66F-4850-CCF2-AADE-45C0B5CC9583}"/>
                    </a:ext>
                  </a:extLst>
                </p:cNvPr>
                <p:cNvSpPr txBox="1"/>
                <p:nvPr/>
              </p:nvSpPr>
              <p:spPr>
                <a:xfrm>
                  <a:off x="1969144" y="6324600"/>
                  <a:ext cx="3930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7" name="TextBox 2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9144" y="6324600"/>
                  <a:ext cx="39305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000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Right Brace 217">
              <a:extLst>
                <a:ext uri="{FF2B5EF4-FFF2-40B4-BE49-F238E27FC236}">
                  <a16:creationId xmlns:a16="http://schemas.microsoft.com/office/drawing/2014/main" id="{F230EF5D-F96F-1AA1-08C0-F1CAC99C61A4}"/>
                </a:ext>
              </a:extLst>
            </p:cNvPr>
            <p:cNvSpPr/>
            <p:nvPr/>
          </p:nvSpPr>
          <p:spPr>
            <a:xfrm rot="5400000">
              <a:off x="2040845" y="4861089"/>
              <a:ext cx="381844" cy="2546866"/>
            </a:xfrm>
            <a:prstGeom prst="righ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868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  <p:bldP spid="112" grpId="0" animBg="1"/>
      <p:bldP spid="116" grpId="0" animBg="1"/>
      <p:bldP spid="151" grpId="0" animBg="1"/>
      <p:bldP spid="159" grpId="0" animBg="1"/>
      <p:bldP spid="54" grpId="0" animBg="1"/>
      <p:bldP spid="203" grpId="0" animBg="1"/>
      <p:bldP spid="7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3A74B-3DAB-B098-4871-0CD67A7A7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24D3-70B4-F0DE-C852-EC87DB7B8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SCC</a:t>
            </a:r>
            <a:r>
              <a:rPr lang="en-US" sz="3200" b="1" dirty="0"/>
              <a:t>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39301-D8C0-0565-5494-10FDB7F057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For a given directed graph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r>
                  <a:rPr lang="en-US" sz="2000" dirty="0"/>
                  <a:t>Transform each SCC into a single vertex</a:t>
                </a:r>
              </a:p>
              <a:p>
                <a:r>
                  <a:rPr lang="en-US" sz="2000" dirty="0"/>
                  <a:t>Remove multiple edges</a:t>
                </a:r>
              </a:p>
              <a:p>
                <a:pPr marL="0" indent="0">
                  <a:buNone/>
                </a:pPr>
                <a:r>
                  <a:rPr lang="en-US" sz="2000" dirty="0"/>
                  <a:t>This is the SCC graph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2000" dirty="0"/>
                  <a:t>: SCC graph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is a directed acyclic graph.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Application 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Suppose we wish to compute a function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err="1"/>
                  <a:t>s.t.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</m:oMath>
                </a14:m>
                <a:r>
                  <a:rPr lang="en-US" sz="2000" dirty="0"/>
                  <a:t> takes </a:t>
                </a:r>
                <a:r>
                  <a:rPr lang="en-US" sz="2000" b="1" u="sng" dirty="0"/>
                  <a:t>same</a:t>
                </a:r>
                <a:r>
                  <a:rPr lang="en-US" sz="2000" dirty="0"/>
                  <a:t> value on all vertices of a SCC.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it suffices to compute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𝒇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on SCC graph.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5DDDC87-80C1-614B-13BE-D9D60507DCC7}"/>
              </a:ext>
            </a:extLst>
          </p:cNvPr>
          <p:cNvSpPr/>
          <p:nvPr/>
        </p:nvSpPr>
        <p:spPr>
          <a:xfrm>
            <a:off x="4876800" y="4495800"/>
            <a:ext cx="4419600" cy="454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D4DD9F-2D6F-E6A5-1D9F-9A8CD2033165}"/>
              </a:ext>
            </a:extLst>
          </p:cNvPr>
          <p:cNvSpPr/>
          <p:nvPr/>
        </p:nvSpPr>
        <p:spPr>
          <a:xfrm>
            <a:off x="2590800" y="4879848"/>
            <a:ext cx="4419600" cy="4541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9F5D70-4AE9-63DA-EB07-D2A23B4F12A3}"/>
              </a:ext>
            </a:extLst>
          </p:cNvPr>
          <p:cNvSpPr/>
          <p:nvPr/>
        </p:nvSpPr>
        <p:spPr>
          <a:xfrm>
            <a:off x="1447800" y="3400361"/>
            <a:ext cx="4419600" cy="5620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A31AD-5177-DD08-B6B7-DA4A7C0E55F6}"/>
              </a:ext>
            </a:extLst>
          </p:cNvPr>
          <p:cNvSpPr/>
          <p:nvPr/>
        </p:nvSpPr>
        <p:spPr>
          <a:xfrm>
            <a:off x="3621024" y="5305361"/>
            <a:ext cx="4419600" cy="5620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3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810E8-822D-A26F-DE36-F7C71B9A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04A448-D8EC-4108-C807-15D65153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Other Applications </a:t>
            </a:r>
            <a:r>
              <a:rPr lang="en-US" sz="3600" b="1" dirty="0"/>
              <a:t>of DFS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4C931-B4CE-2FFC-F0A3-488192EE1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Applications</a:t>
            </a:r>
            <a:r>
              <a:rPr lang="en-US" sz="2000" dirty="0"/>
              <a:t>:  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Checking if a graph is </a:t>
            </a:r>
            <a:r>
              <a:rPr lang="en-US" sz="2000" b="1" dirty="0" err="1"/>
              <a:t>Eulerian</a:t>
            </a:r>
            <a:r>
              <a:rPr lang="en-US" sz="2000" dirty="0"/>
              <a:t>.</a:t>
            </a:r>
          </a:p>
          <a:p>
            <a:endParaRPr lang="en-US" sz="2200" dirty="0"/>
          </a:p>
          <a:p>
            <a:r>
              <a:rPr lang="en-US" sz="2200" dirty="0"/>
              <a:t>Maximum flow, </a:t>
            </a:r>
          </a:p>
          <a:p>
            <a:endParaRPr lang="en-US" sz="2200" dirty="0"/>
          </a:p>
          <a:p>
            <a:r>
              <a:rPr lang="en-US" sz="2200" dirty="0"/>
              <a:t>Matching,</a:t>
            </a:r>
          </a:p>
          <a:p>
            <a:endParaRPr lang="en-US" sz="2200" dirty="0"/>
          </a:p>
          <a:p>
            <a:r>
              <a:rPr lang="en-US" sz="2200" dirty="0"/>
              <a:t>…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783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8C3043-488D-BE51-6635-71F54CF326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Dynamic Programming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7A2870A-5C0A-E6EA-14D4-DACCDE30F1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This paradigm is </a:t>
            </a:r>
            <a:r>
              <a:rPr lang="en-US" sz="2000" b="1" u="sng" dirty="0">
                <a:solidFill>
                  <a:schemeClr val="tx1"/>
                </a:solidFill>
              </a:rPr>
              <a:t>more difficult </a:t>
            </a:r>
            <a:r>
              <a:rPr lang="en-US" sz="2000" dirty="0">
                <a:solidFill>
                  <a:schemeClr val="tx1"/>
                </a:solidFill>
              </a:rPr>
              <a:t>to internalize and use compared to the previous paradigms.</a:t>
            </a:r>
          </a:p>
        </p:txBody>
      </p:sp>
    </p:spTree>
    <p:extLst>
      <p:ext uri="{BB962C8B-B14F-4D97-AF65-F5344CB8AC3E}">
        <p14:creationId xmlns:p14="http://schemas.microsoft.com/office/powerpoint/2010/main" val="373657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6E73C5-857F-F545-A846-742E54E02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Revisiting</a:t>
            </a:r>
            <a:r>
              <a:rPr lang="en-US" sz="3200" b="1" dirty="0"/>
              <a:t> the </a:t>
            </a:r>
            <a:r>
              <a:rPr lang="en-US" sz="3200" b="1" u="sng" dirty="0"/>
              <a:t>first problem from ESC111/112</a:t>
            </a:r>
            <a:br>
              <a:rPr lang="en-US" sz="3200" b="1" dirty="0"/>
            </a:br>
            <a:r>
              <a:rPr lang="en-US" sz="3200" b="1" dirty="0"/>
              <a:t> </a:t>
            </a:r>
            <a:endParaRPr lang="en-IN" sz="3200" b="1" dirty="0">
              <a:solidFill>
                <a:srgbClr val="7030A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DEE48CE-FB32-7471-32D8-01F7036918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you solved using </a:t>
            </a:r>
            <a:r>
              <a:rPr lang="en-US" sz="3200" b="1" dirty="0">
                <a:solidFill>
                  <a:srgbClr val="7030A0"/>
                </a:solidFill>
              </a:rPr>
              <a:t>recursion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257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Fibonacci numbers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Fibonacci numbers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) =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/>
                  <a:t>) = </a:t>
                </a:r>
                <a:r>
                  <a:rPr lang="en-US" sz="2400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 =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) +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−2</m:t>
                    </m:r>
                  </m:oMath>
                </a14:m>
                <a:r>
                  <a:rPr lang="en-US" sz="2400" dirty="0"/>
                  <a:t>)  for all 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 &gt;</a:t>
                </a:r>
                <a:r>
                  <a:rPr lang="en-US" sz="2400" dirty="0">
                    <a:solidFill>
                      <a:srgbClr val="0070C0"/>
                    </a:solidFill>
                  </a:rPr>
                  <a:t>1;</a:t>
                </a: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Algorithms </a:t>
                </a:r>
                <a:r>
                  <a:rPr lang="en-US" sz="2400" dirty="0"/>
                  <a:t>for computing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 :</a:t>
                </a:r>
              </a:p>
              <a:p>
                <a:r>
                  <a:rPr lang="en-US" sz="2800" b="1" dirty="0">
                    <a:solidFill>
                      <a:srgbClr val="7030A0"/>
                    </a:solidFill>
                  </a:rPr>
                  <a:t>recursive </a:t>
                </a:r>
              </a:p>
              <a:p>
                <a:r>
                  <a:rPr lang="en-US" sz="2800" b="1" dirty="0">
                    <a:solidFill>
                      <a:srgbClr val="7030A0"/>
                    </a:solidFill>
                  </a:rPr>
                  <a:t>Iterative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8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0" y="3657600"/>
                <a:ext cx="1514838" cy="51379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−2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657600"/>
                <a:ext cx="1514838" cy="513795"/>
              </a:xfrm>
              <a:prstGeom prst="rect">
                <a:avLst/>
              </a:prstGeom>
              <a:blipFill>
                <a:blip r:embed="rId3"/>
                <a:stretch>
                  <a:fillRect l="-3306" b="-190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67EEE77-04FE-091A-329D-0B63D757E110}"/>
              </a:ext>
            </a:extLst>
          </p:cNvPr>
          <p:cNvSpPr/>
          <p:nvPr/>
        </p:nvSpPr>
        <p:spPr>
          <a:xfrm>
            <a:off x="1600200" y="3017838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0A1DB-0022-463F-A36D-46496F196106}"/>
              </a:ext>
            </a:extLst>
          </p:cNvPr>
          <p:cNvSpPr/>
          <p:nvPr/>
        </p:nvSpPr>
        <p:spPr>
          <a:xfrm>
            <a:off x="4038600" y="30480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6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Recursive </a:t>
                </a:r>
                <a:r>
                  <a:rPr lang="en-US" sz="4000" b="1" dirty="0"/>
                  <a:t>algorithm for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F(</a:t>
                </a:r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000" b="1" dirty="0">
                    <a:solidFill>
                      <a:srgbClr val="7030A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0"/>
                <a:ext cx="86868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{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return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else 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return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else return( 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400" dirty="0"/>
                  <a:t>)   )</a:t>
                </a:r>
              </a:p>
              <a:p>
                <a:pPr marL="0" indent="0">
                  <a:buNone/>
                </a:pPr>
                <a:r>
                  <a:rPr lang="en-US" sz="24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0"/>
                <a:ext cx="8686800" cy="5257800"/>
              </a:xfrm>
              <a:blipFill>
                <a:blip r:embed="rId3"/>
                <a:stretch>
                  <a:fillRect l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43200" y="3733800"/>
            <a:ext cx="3276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307BF8-21CF-C088-3574-535692E6F664}"/>
                  </a:ext>
                </a:extLst>
              </p:cNvPr>
              <p:cNvSpPr txBox="1"/>
              <p:nvPr/>
            </p:nvSpPr>
            <p:spPr>
              <a:xfrm>
                <a:off x="2362200" y="5211762"/>
                <a:ext cx="3266472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Real time to run for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dirty="0"/>
                  <a:t> ?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7307BF8-21CF-C088-3574-535692E6F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211762"/>
                <a:ext cx="3266472" cy="369332"/>
              </a:xfrm>
              <a:prstGeom prst="rect">
                <a:avLst/>
              </a:prstGeom>
              <a:blipFill>
                <a:blip r:embed="rId4"/>
                <a:stretch>
                  <a:fillRect l="-1490" t="-7937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miley Face 35">
            <a:extLst>
              <a:ext uri="{FF2B5EF4-FFF2-40B4-BE49-F238E27FC236}">
                <a16:creationId xmlns:a16="http://schemas.microsoft.com/office/drawing/2014/main" id="{EF53549B-4F29-CCFC-570C-C8BF53167ACD}"/>
              </a:ext>
            </a:extLst>
          </p:cNvPr>
          <p:cNvSpPr/>
          <p:nvPr/>
        </p:nvSpPr>
        <p:spPr>
          <a:xfrm>
            <a:off x="8219218" y="4800600"/>
            <a:ext cx="914400" cy="914400"/>
          </a:xfrm>
          <a:prstGeom prst="smileyFace">
            <a:avLst>
              <a:gd name="adj" fmla="val -465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5B2E7-A67D-2C2E-C0AF-516ECB21BD45}"/>
              </a:ext>
            </a:extLst>
          </p:cNvPr>
          <p:cNvSpPr txBox="1"/>
          <p:nvPr/>
        </p:nvSpPr>
        <p:spPr>
          <a:xfrm>
            <a:off x="5628672" y="5204103"/>
            <a:ext cx="232018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Hours, days, months …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7" name="Cloud Callout 24">
            <a:extLst>
              <a:ext uri="{FF2B5EF4-FFF2-40B4-BE49-F238E27FC236}">
                <a16:creationId xmlns:a16="http://schemas.microsoft.com/office/drawing/2014/main" id="{36408657-27B0-6E73-15F0-D3B86E8810A5}"/>
              </a:ext>
            </a:extLst>
          </p:cNvPr>
          <p:cNvSpPr/>
          <p:nvPr/>
        </p:nvSpPr>
        <p:spPr>
          <a:xfrm>
            <a:off x="1808636" y="5655026"/>
            <a:ext cx="5811364" cy="939171"/>
          </a:xfrm>
          <a:prstGeom prst="cloudCallout">
            <a:avLst>
              <a:gd name="adj1" fmla="val -28956"/>
              <a:gd name="adj2" fmla="val 838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Let us look at its recursion tree to find the exact cause of its inefficiency.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844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35" grpId="0" animBg="1"/>
      <p:bldP spid="36" grpId="0" animBg="1"/>
      <p:bldP spid="6" grpId="0" animBg="1"/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82">
            <a:extLst>
              <a:ext uri="{FF2B5EF4-FFF2-40B4-BE49-F238E27FC236}">
                <a16:creationId xmlns:a16="http://schemas.microsoft.com/office/drawing/2014/main" id="{C87CF46A-88C4-62C2-A81E-F50F9C37955C}"/>
              </a:ext>
            </a:extLst>
          </p:cNvPr>
          <p:cNvSpPr/>
          <p:nvPr/>
        </p:nvSpPr>
        <p:spPr>
          <a:xfrm>
            <a:off x="2768577" y="4072606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560DBD9-73A7-E25D-806C-94639EFBDDAF}"/>
              </a:ext>
            </a:extLst>
          </p:cNvPr>
          <p:cNvSpPr/>
          <p:nvPr/>
        </p:nvSpPr>
        <p:spPr>
          <a:xfrm>
            <a:off x="1356216" y="4066634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FC49FA3-EEE4-32A9-8EA1-03C7EB8045F2}"/>
              </a:ext>
            </a:extLst>
          </p:cNvPr>
          <p:cNvSpPr/>
          <p:nvPr/>
        </p:nvSpPr>
        <p:spPr>
          <a:xfrm>
            <a:off x="-95851" y="5123509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C508B34-89DA-D3EA-A4D2-0389770F77AB}"/>
              </a:ext>
            </a:extLst>
          </p:cNvPr>
          <p:cNvSpPr/>
          <p:nvPr/>
        </p:nvSpPr>
        <p:spPr>
          <a:xfrm>
            <a:off x="3152226" y="2997024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91456B3-4348-B560-888F-3D7BA04BF678}"/>
              </a:ext>
            </a:extLst>
          </p:cNvPr>
          <p:cNvSpPr/>
          <p:nvPr/>
        </p:nvSpPr>
        <p:spPr>
          <a:xfrm>
            <a:off x="356801" y="4072923"/>
            <a:ext cx="568272" cy="572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2045989" y="1906550"/>
            <a:ext cx="844270" cy="695918"/>
            <a:chOff x="6586654" y="1437682"/>
            <a:chExt cx="844270" cy="695918"/>
          </a:xfrm>
        </p:grpSpPr>
        <p:sp>
          <p:nvSpPr>
            <p:cNvPr id="5" name="Oval 4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586654" y="1437682"/>
                  <a:ext cx="8442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6654" y="1437682"/>
                  <a:ext cx="84427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10000" r="-447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" name="Straight Arrow Connector 26"/>
          <p:cNvCxnSpPr>
            <a:stCxn id="5" idx="2"/>
            <a:endCxn id="9" idx="7"/>
          </p:cNvCxnSpPr>
          <p:nvPr/>
        </p:nvCxnSpPr>
        <p:spPr>
          <a:xfrm flipH="1">
            <a:off x="1205898" y="2450068"/>
            <a:ext cx="1035237" cy="7304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" idx="6"/>
            <a:endCxn id="12" idx="0"/>
          </p:cNvCxnSpPr>
          <p:nvPr/>
        </p:nvCxnSpPr>
        <p:spPr>
          <a:xfrm>
            <a:off x="2545935" y="2450068"/>
            <a:ext cx="883065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3"/>
          </p:cNvCxnSpPr>
          <p:nvPr/>
        </p:nvCxnSpPr>
        <p:spPr>
          <a:xfrm flipH="1">
            <a:off x="640937" y="3396031"/>
            <a:ext cx="349435" cy="78330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5"/>
            <a:endCxn id="18" idx="0"/>
          </p:cNvCxnSpPr>
          <p:nvPr/>
        </p:nvCxnSpPr>
        <p:spPr>
          <a:xfrm>
            <a:off x="1205898" y="3396031"/>
            <a:ext cx="439167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1" idx="0"/>
          </p:cNvCxnSpPr>
          <p:nvPr/>
        </p:nvCxnSpPr>
        <p:spPr>
          <a:xfrm flipH="1">
            <a:off x="3048000" y="3396031"/>
            <a:ext cx="336135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cxnSpLocks/>
            <a:stCxn id="12" idx="5"/>
            <a:endCxn id="24" idx="0"/>
          </p:cNvCxnSpPr>
          <p:nvPr/>
        </p:nvCxnSpPr>
        <p:spPr>
          <a:xfrm>
            <a:off x="3536763" y="3396031"/>
            <a:ext cx="501837" cy="8711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72329" y="1563238"/>
            <a:ext cx="159389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Recursion tree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4D29C7-6138-C340-90B4-A81EA752B336}"/>
              </a:ext>
            </a:extLst>
          </p:cNvPr>
          <p:cNvSpPr txBox="1"/>
          <p:nvPr/>
        </p:nvSpPr>
        <p:spPr>
          <a:xfrm>
            <a:off x="4800600" y="5943600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F</a:t>
            </a:r>
            <a:endParaRPr lang="en-US" sz="2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4B255-D79D-1C4A-B808-522585D3078A}"/>
              </a:ext>
            </a:extLst>
          </p:cNvPr>
          <p:cNvSpPr txBox="1"/>
          <p:nvPr/>
        </p:nvSpPr>
        <p:spPr>
          <a:xfrm>
            <a:off x="5410200" y="6019800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0    1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74A25E74-A74E-EF19-0ECF-66C800E1DD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Recursive </a:t>
                </a:r>
                <a:r>
                  <a:rPr lang="en-US" sz="4000" b="1" dirty="0"/>
                  <a:t>algorithm for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F(</a:t>
                </a:r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4000" b="1" dirty="0">
                    <a:solidFill>
                      <a:srgbClr val="7030A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74A25E74-A74E-EF19-0ECF-66C800E1D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D3014B-71A8-427C-6E6F-4E0233F4F2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38144" y="1600200"/>
                <a:ext cx="3448655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The algorithm computes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rgbClr val="C00000"/>
                        </a:solidFill>
                      </a:rPr>
                      <m:t>F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solidFill>
                          <a:srgbClr val="C00000"/>
                        </a:solidFill>
                      </a:rPr>
                      <m:t>F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…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dirty="0">
                        <a:solidFill>
                          <a:srgbClr val="C00000"/>
                        </a:solidFill>
                      </a:rPr>
                      <m:t>F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DD3014B-71A8-427C-6E6F-4E0233F4F2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38144" y="1600200"/>
                <a:ext cx="3448655" cy="4525963"/>
              </a:xfrm>
              <a:blipFill>
                <a:blip r:embed="rId5"/>
                <a:stretch>
                  <a:fillRect l="-1767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563675" y="2667000"/>
            <a:ext cx="1248227" cy="773668"/>
            <a:chOff x="6399740" y="1359932"/>
            <a:chExt cx="1248227" cy="773668"/>
          </a:xfrm>
        </p:grpSpPr>
        <p:sp>
          <p:nvSpPr>
            <p:cNvPr id="9" name="Oval 8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399740" y="1359932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9740" y="1359932"/>
                  <a:ext cx="1248227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10000" r="-3030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2993303" y="2667000"/>
            <a:ext cx="1248227" cy="773668"/>
            <a:chOff x="6498503" y="1359932"/>
            <a:chExt cx="1248227" cy="773668"/>
          </a:xfrm>
        </p:grpSpPr>
        <p:sp>
          <p:nvSpPr>
            <p:cNvPr id="12" name="Oval 11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6498503" y="1359932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8503" y="1359932"/>
                  <a:ext cx="1248227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10000" r="-2000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/>
          <p:cNvGrpSpPr/>
          <p:nvPr/>
        </p:nvGrpSpPr>
        <p:grpSpPr>
          <a:xfrm>
            <a:off x="-76200" y="4202668"/>
            <a:ext cx="1248227" cy="738664"/>
            <a:chOff x="6217065" y="1828800"/>
            <a:chExt cx="1248227" cy="738664"/>
          </a:xfrm>
        </p:grpSpPr>
        <p:sp>
          <p:nvSpPr>
            <p:cNvPr id="15" name="Oval 14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217065" y="2198132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065" y="2198132"/>
                  <a:ext cx="1248227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8197" r="-390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3886200" y="3886200"/>
            <a:ext cx="1447800" cy="685800"/>
            <a:chOff x="6660735" y="1447800"/>
            <a:chExt cx="1447800" cy="685800"/>
          </a:xfrm>
        </p:grpSpPr>
        <p:sp>
          <p:nvSpPr>
            <p:cNvPr id="24" name="Oval 23"/>
            <p:cNvSpPr/>
            <p:nvPr/>
          </p:nvSpPr>
          <p:spPr>
            <a:xfrm>
              <a:off x="6660735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860308" y="1447800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0308" y="1447800"/>
                  <a:ext cx="1248227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10000" r="-3902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B5C8D1-2E76-9C94-79AB-68327407FFDB}"/>
                  </a:ext>
                </a:extLst>
              </p:cNvPr>
              <p:cNvSpPr txBox="1"/>
              <p:nvPr/>
            </p:nvSpPr>
            <p:spPr>
              <a:xfrm>
                <a:off x="6860175" y="1987034"/>
                <a:ext cx="885179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IN" dirty="0"/>
                  <a:t> times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B5C8D1-2E76-9C94-79AB-68327407F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175" y="1987034"/>
                <a:ext cx="885179" cy="369332"/>
              </a:xfrm>
              <a:prstGeom prst="rect">
                <a:avLst/>
              </a:prstGeom>
              <a:blipFill>
                <a:blip r:embed="rId19"/>
                <a:stretch>
                  <a:fillRect t="-9836" r="-616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F14655-0239-0D9B-547A-B07CC8F1BEAF}"/>
                  </a:ext>
                </a:extLst>
              </p:cNvPr>
              <p:cNvSpPr txBox="1"/>
              <p:nvPr/>
            </p:nvSpPr>
            <p:spPr>
              <a:xfrm>
                <a:off x="6860175" y="2336097"/>
                <a:ext cx="885179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IN" dirty="0"/>
                  <a:t> times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F14655-0239-0D9B-547A-B07CC8F1B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175" y="2336097"/>
                <a:ext cx="885179" cy="369332"/>
              </a:xfrm>
              <a:prstGeom prst="rect">
                <a:avLst/>
              </a:prstGeom>
              <a:blipFill>
                <a:blip r:embed="rId20"/>
                <a:stretch>
                  <a:fillRect t="-8197" r="-6164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E1E642-592E-ED87-37CD-DF8D1FD9F7FD}"/>
                  </a:ext>
                </a:extLst>
              </p:cNvPr>
              <p:cNvSpPr txBox="1"/>
              <p:nvPr/>
            </p:nvSpPr>
            <p:spPr>
              <a:xfrm>
                <a:off x="6860175" y="3126303"/>
                <a:ext cx="1140825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>
                        <a:solidFill>
                          <a:srgbClr val="C00000"/>
                        </a:solidFill>
                      </a:rPr>
                      <m:t>F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</a:t>
                </a:r>
                <a:r>
                  <a:rPr lang="en-IN" dirty="0"/>
                  <a:t>times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E1E642-592E-ED87-37CD-DF8D1FD9F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175" y="3126303"/>
                <a:ext cx="1140825" cy="369332"/>
              </a:xfrm>
              <a:prstGeom prst="rect">
                <a:avLst/>
              </a:prstGeom>
              <a:blipFill>
                <a:blip r:embed="rId21"/>
                <a:stretch>
                  <a:fillRect t="-10000" r="-4255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4EC4D99-01AF-D364-09EF-551C838B437A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152400" y="4462831"/>
            <a:ext cx="380772" cy="81627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B92E198-4471-36C8-C84B-1CA23EF250A6}"/>
              </a:ext>
            </a:extLst>
          </p:cNvPr>
          <p:cNvCxnSpPr/>
          <p:nvPr/>
        </p:nvCxnSpPr>
        <p:spPr>
          <a:xfrm>
            <a:off x="717361" y="4495800"/>
            <a:ext cx="439167" cy="79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loud Callout 24">
            <a:extLst>
              <a:ext uri="{FF2B5EF4-FFF2-40B4-BE49-F238E27FC236}">
                <a16:creationId xmlns:a16="http://schemas.microsoft.com/office/drawing/2014/main" id="{47086CB4-CC1E-2EDA-BE7E-A239392D5A62}"/>
              </a:ext>
            </a:extLst>
          </p:cNvPr>
          <p:cNvSpPr/>
          <p:nvPr/>
        </p:nvSpPr>
        <p:spPr>
          <a:xfrm>
            <a:off x="109641" y="5994890"/>
            <a:ext cx="6163565" cy="911004"/>
          </a:xfrm>
          <a:prstGeom prst="cloudCallout">
            <a:avLst>
              <a:gd name="adj1" fmla="val -28956"/>
              <a:gd name="adj2" fmla="val 8382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Are you able to locate the cause of inefficiency of the recursive algorithm ?</a:t>
            </a: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51C390F-8B5C-7D88-7F31-E6020F895E9E}"/>
              </a:ext>
            </a:extLst>
          </p:cNvPr>
          <p:cNvGrpSpPr/>
          <p:nvPr/>
        </p:nvGrpSpPr>
        <p:grpSpPr>
          <a:xfrm>
            <a:off x="1025636" y="5319330"/>
            <a:ext cx="1402037" cy="714136"/>
            <a:chOff x="6660735" y="1828800"/>
            <a:chExt cx="1402037" cy="714136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D165046-407E-B18A-8044-70CD68BA2861}"/>
                </a:ext>
              </a:extLst>
            </p:cNvPr>
            <p:cNvSpPr/>
            <p:nvPr/>
          </p:nvSpPr>
          <p:spPr>
            <a:xfrm>
              <a:off x="6660735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E414585-2721-4A23-A559-8BB23C80504A}"/>
                    </a:ext>
                  </a:extLst>
                </p:cNvPr>
                <p:cNvSpPr txBox="1"/>
                <p:nvPr/>
              </p:nvSpPr>
              <p:spPr>
                <a:xfrm>
                  <a:off x="6814545" y="2173604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E414585-2721-4A23-A559-8BB23C805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4545" y="2173604"/>
                  <a:ext cx="1248227" cy="369332"/>
                </a:xfrm>
                <a:prstGeom prst="rect">
                  <a:avLst/>
                </a:prstGeom>
                <a:blipFill>
                  <a:blip r:embed="rId22"/>
                  <a:stretch>
                    <a:fillRect t="-8197" r="-390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6A9F44F-B3A2-A43D-6C3F-95F0A7C3A554}"/>
              </a:ext>
            </a:extLst>
          </p:cNvPr>
          <p:cNvGrpSpPr/>
          <p:nvPr/>
        </p:nvGrpSpPr>
        <p:grpSpPr>
          <a:xfrm>
            <a:off x="1485647" y="4518212"/>
            <a:ext cx="388472" cy="388938"/>
            <a:chOff x="68728" y="457200"/>
            <a:chExt cx="388472" cy="38893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F832A77-BC9D-CCBD-739D-29A90361F062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77ACA3E-740E-4EC0-51B0-E3CDB49BA0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830A6E1-ACF6-C043-9C15-4F41B706300F}"/>
              </a:ext>
            </a:extLst>
          </p:cNvPr>
          <p:cNvGrpSpPr/>
          <p:nvPr/>
        </p:nvGrpSpPr>
        <p:grpSpPr>
          <a:xfrm>
            <a:off x="2849720" y="4499615"/>
            <a:ext cx="388472" cy="388938"/>
            <a:chOff x="68728" y="457200"/>
            <a:chExt cx="388472" cy="38893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360F72A-8716-F64E-7F6C-7FE881892A30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1336918-39F2-F81F-7C22-6F41DA360B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A79D536-B2D9-DDF8-2C13-DC75FBF4F077}"/>
              </a:ext>
            </a:extLst>
          </p:cNvPr>
          <p:cNvGrpSpPr/>
          <p:nvPr/>
        </p:nvGrpSpPr>
        <p:grpSpPr>
          <a:xfrm>
            <a:off x="3853058" y="4553754"/>
            <a:ext cx="388472" cy="388938"/>
            <a:chOff x="68728" y="457200"/>
            <a:chExt cx="388472" cy="388938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64A954E-BD38-19F7-D7AC-96092E783C81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F331E45-C54B-F5DC-CAF5-DA2189D304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2C667EF-30D9-820D-693B-56BF32577A6D}"/>
              </a:ext>
            </a:extLst>
          </p:cNvPr>
          <p:cNvGrpSpPr/>
          <p:nvPr/>
        </p:nvGrpSpPr>
        <p:grpSpPr>
          <a:xfrm>
            <a:off x="20553" y="5575361"/>
            <a:ext cx="388472" cy="388938"/>
            <a:chOff x="68728" y="457200"/>
            <a:chExt cx="388472" cy="388938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29749C1-EFA3-568F-E2E0-B6A256AC6FF8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34910C3-99A3-C168-31C1-A6B974019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E86EF4F-3513-3FE2-4A5D-2F110F6CF2AC}"/>
              </a:ext>
            </a:extLst>
          </p:cNvPr>
          <p:cNvGrpSpPr/>
          <p:nvPr/>
        </p:nvGrpSpPr>
        <p:grpSpPr>
          <a:xfrm>
            <a:off x="1006797" y="5630862"/>
            <a:ext cx="388472" cy="388938"/>
            <a:chOff x="68728" y="457200"/>
            <a:chExt cx="388472" cy="38893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96E96F1-1ED9-628B-3AEE-A582F1B3FC6A}"/>
                </a:ext>
              </a:extLst>
            </p:cNvPr>
            <p:cNvCxnSpPr>
              <a:cxnSpLocks/>
            </p:cNvCxnSpPr>
            <p:nvPr/>
          </p:nvCxnSpPr>
          <p:spPr>
            <a:xfrm>
              <a:off x="273296" y="457200"/>
              <a:ext cx="183904" cy="388938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F0352EB-C569-0556-E1A1-1260E09B7C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" y="457200"/>
              <a:ext cx="139851" cy="381000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342573" y="4191000"/>
            <a:ext cx="1248227" cy="762000"/>
            <a:chOff x="6631708" y="1828800"/>
            <a:chExt cx="1248227" cy="762000"/>
          </a:xfrm>
        </p:grpSpPr>
        <p:sp>
          <p:nvSpPr>
            <p:cNvPr id="18" name="Oval 17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631708" y="2221468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708" y="2221468"/>
                  <a:ext cx="1248227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6452" r="-3030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/>
          <p:cNvGrpSpPr/>
          <p:nvPr/>
        </p:nvGrpSpPr>
        <p:grpSpPr>
          <a:xfrm>
            <a:off x="1936335" y="3810000"/>
            <a:ext cx="1264065" cy="685800"/>
            <a:chOff x="5822535" y="1447800"/>
            <a:chExt cx="1264065" cy="685800"/>
          </a:xfrm>
        </p:grpSpPr>
        <p:sp>
          <p:nvSpPr>
            <p:cNvPr id="21" name="Oval 20"/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5822535" y="1447800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2535" y="1447800"/>
                  <a:ext cx="1248227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6667" r="-3030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778BED6-3A20-2E2E-AA86-4C3676413566}"/>
              </a:ext>
            </a:extLst>
          </p:cNvPr>
          <p:cNvGrpSpPr/>
          <p:nvPr/>
        </p:nvGrpSpPr>
        <p:grpSpPr>
          <a:xfrm>
            <a:off x="-105227" y="5257800"/>
            <a:ext cx="1248227" cy="762000"/>
            <a:chOff x="6631708" y="1828800"/>
            <a:chExt cx="1248227" cy="762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2DF8433-952F-BD19-2D08-FE38D648E843}"/>
                </a:ext>
              </a:extLst>
            </p:cNvPr>
            <p:cNvSpPr/>
            <p:nvPr/>
          </p:nvSpPr>
          <p:spPr>
            <a:xfrm>
              <a:off x="6781800" y="1828800"/>
              <a:ext cx="304800" cy="3048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02DB51D-C174-CF91-5572-F5729D38C3F8}"/>
                    </a:ext>
                  </a:extLst>
                </p:cNvPr>
                <p:cNvSpPr txBox="1"/>
                <p:nvPr/>
              </p:nvSpPr>
              <p:spPr>
                <a:xfrm>
                  <a:off x="6631708" y="2221468"/>
                  <a:ext cx="1248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>
                          <a:solidFill>
                            <a:srgbClr val="7030A0"/>
                          </a:solidFill>
                        </a:rPr>
                        <m:t>Rfib</m:t>
                      </m:r>
                    </m:oMath>
                  </a14:m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708" y="2221468"/>
                  <a:ext cx="1248227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6452" r="-3030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B5D1347-E2C4-E6AD-055B-B9A6A8A74737}"/>
              </a:ext>
            </a:extLst>
          </p:cNvPr>
          <p:cNvSpPr txBox="1"/>
          <p:nvPr/>
        </p:nvSpPr>
        <p:spPr>
          <a:xfrm>
            <a:off x="4855163" y="5099490"/>
            <a:ext cx="421461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: </a:t>
            </a:r>
          </a:p>
          <a:p>
            <a:r>
              <a:rPr lang="en-US" dirty="0"/>
              <a:t>Recall the iterative algorithm that avoids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743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4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2" grpId="0" animBg="1"/>
      <p:bldP spid="82" grpId="1" animBg="1"/>
      <p:bldP spid="59" grpId="0" animBg="1"/>
      <p:bldP spid="59" grpId="1" animBg="1"/>
      <p:bldP spid="29" grpId="0" animBg="1"/>
      <p:bldP spid="43" grpId="0"/>
      <p:bldP spid="44" grpId="0"/>
      <p:bldP spid="2" grpId="0" uiExpand="1" build="p"/>
      <p:bldP spid="3" grpId="0" animBg="1"/>
      <p:bldP spid="4" grpId="0" animBg="1"/>
      <p:bldP spid="31" grpId="0" animBg="1"/>
      <p:bldP spid="52" grpId="0" animBg="1"/>
      <p:bldP spid="52" grpId="1" animBg="1"/>
      <p:bldP spid="2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6774</TotalTime>
  <Words>1956</Words>
  <Application>Microsoft Office PowerPoint</Application>
  <PresentationFormat>On-screen Show (4:3)</PresentationFormat>
  <Paragraphs>507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Recap of the last lecture</vt:lpstr>
      <vt:lpstr>Strongly connected components </vt:lpstr>
      <vt:lpstr>Kosaraju’s Algorithm </vt:lpstr>
      <vt:lpstr>PowerPoint Presentation</vt:lpstr>
      <vt:lpstr>Computing SCCs efficiently</vt:lpstr>
      <vt:lpstr>Observation 1 </vt:lpstr>
      <vt:lpstr>Observation 1 </vt:lpstr>
      <vt:lpstr>Inference of Observation 1</vt:lpstr>
      <vt:lpstr>Inference of Observation 1</vt:lpstr>
      <vt:lpstr>PowerPoint Presentation</vt:lpstr>
      <vt:lpstr>Study Finish time</vt:lpstr>
      <vt:lpstr>Searching for an order using Finish time</vt:lpstr>
      <vt:lpstr>DFS on Directed Graph Analyzing the finish time of roots of SCCs</vt:lpstr>
      <vt:lpstr>DFS on Directed Graph Analyzing the finish time of roots of SCCs</vt:lpstr>
      <vt:lpstr>DFS on Directed Graph Analyzing the finish time of roots of SCCs</vt:lpstr>
      <vt:lpstr>DFS on Directed Graph Analyzing the finish time of roots of SCCs</vt:lpstr>
      <vt:lpstr>Searching for an order using Finish time</vt:lpstr>
      <vt:lpstr>Searching for an order using Finish time</vt:lpstr>
      <vt:lpstr>PowerPoint Presentation</vt:lpstr>
      <vt:lpstr>Algorithm for computing SCCs</vt:lpstr>
      <vt:lpstr>Algorithm for computing SCCs</vt:lpstr>
      <vt:lpstr>Algorithm for computing SCCs</vt:lpstr>
      <vt:lpstr>Algorithm for computing SCCs</vt:lpstr>
      <vt:lpstr>Algorithm for computing SCCs</vt:lpstr>
      <vt:lpstr>Optional Programming Assignment</vt:lpstr>
      <vt:lpstr>Novel ideas used</vt:lpstr>
      <vt:lpstr>Conclusion</vt:lpstr>
      <vt:lpstr>SCC graph of G</vt:lpstr>
      <vt:lpstr>SCC graph of G</vt:lpstr>
      <vt:lpstr>SCC graph</vt:lpstr>
      <vt:lpstr>SCC graph</vt:lpstr>
      <vt:lpstr>Other Applications of DFS</vt:lpstr>
      <vt:lpstr>Dynamic Programming</vt:lpstr>
      <vt:lpstr>Revisiting the first problem from ESC111/112  </vt:lpstr>
      <vt:lpstr>Fibonacci numbers </vt:lpstr>
      <vt:lpstr>Recursive algorithm for F(n)</vt:lpstr>
      <vt:lpstr>Recursive algorithm for F(n)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493</cp:revision>
  <dcterms:created xsi:type="dcterms:W3CDTF">2011-12-03T04:13:03Z</dcterms:created>
  <dcterms:modified xsi:type="dcterms:W3CDTF">2025-09-03T06:44:54Z</dcterms:modified>
</cp:coreProperties>
</file>