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3"/>
  </p:notesMasterIdLst>
  <p:sldIdLst>
    <p:sldId id="546" r:id="rId2"/>
    <p:sldId id="673" r:id="rId3"/>
    <p:sldId id="550" r:id="rId4"/>
    <p:sldId id="513" r:id="rId5"/>
    <p:sldId id="533" r:id="rId6"/>
    <p:sldId id="502" r:id="rId7"/>
    <p:sldId id="545" r:id="rId8"/>
    <p:sldId id="504" r:id="rId9"/>
    <p:sldId id="487" r:id="rId10"/>
    <p:sldId id="489" r:id="rId11"/>
    <p:sldId id="505" r:id="rId12"/>
    <p:sldId id="506" r:id="rId13"/>
    <p:sldId id="638" r:id="rId14"/>
    <p:sldId id="639" r:id="rId15"/>
    <p:sldId id="655" r:id="rId16"/>
    <p:sldId id="659" r:id="rId17"/>
    <p:sldId id="644" r:id="rId18"/>
    <p:sldId id="660" r:id="rId19"/>
    <p:sldId id="649" r:id="rId20"/>
    <p:sldId id="651" r:id="rId21"/>
    <p:sldId id="652" r:id="rId22"/>
    <p:sldId id="657" r:id="rId23"/>
    <p:sldId id="658" r:id="rId24"/>
    <p:sldId id="493" r:id="rId25"/>
    <p:sldId id="499" r:id="rId26"/>
    <p:sldId id="488" r:id="rId27"/>
    <p:sldId id="490" r:id="rId28"/>
    <p:sldId id="674" r:id="rId29"/>
    <p:sldId id="605" r:id="rId30"/>
    <p:sldId id="602" r:id="rId31"/>
    <p:sldId id="539" r:id="rId3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27" autoAdjust="0"/>
    <p:restoredTop sz="94145" autoAdjust="0"/>
  </p:normalViewPr>
  <p:slideViewPr>
    <p:cSldViewPr>
      <p:cViewPr varScale="1">
        <p:scale>
          <a:sx n="78" d="100"/>
          <a:sy n="78" d="100"/>
        </p:scale>
        <p:origin x="1176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10/8/2025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10/8/2025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10/8/2025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10/8/2025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10/8/2025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10/8/2025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210.png"/><Relationship Id="rId7" Type="http://schemas.openxmlformats.org/officeDocument/2006/relationships/image" Target="../media/image610.png"/><Relationship Id="rId2" Type="http://schemas.openxmlformats.org/officeDocument/2006/relationships/image" Target="../media/image110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11.png"/><Relationship Id="rId11" Type="http://schemas.openxmlformats.org/officeDocument/2006/relationships/image" Target="../media/image6.png"/><Relationship Id="rId5" Type="http://schemas.openxmlformats.org/officeDocument/2006/relationships/image" Target="../media/image48.png"/><Relationship Id="rId10" Type="http://schemas.openxmlformats.org/officeDocument/2006/relationships/image" Target="../media/image5.png"/><Relationship Id="rId4" Type="http://schemas.openxmlformats.org/officeDocument/2006/relationships/image" Target="../media/image30.png"/><Relationship Id="rId9" Type="http://schemas.openxmlformats.org/officeDocument/2006/relationships/image" Target="../media/image80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7" Type="http://schemas.openxmlformats.org/officeDocument/2006/relationships/image" Target="../media/image21.png"/><Relationship Id="rId12" Type="http://schemas.openxmlformats.org/officeDocument/2006/relationships/image" Target="../media/image50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0.png"/><Relationship Id="rId10" Type="http://schemas.openxmlformats.org/officeDocument/2006/relationships/image" Target="../media/image350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0.png"/><Relationship Id="rId5" Type="http://schemas.openxmlformats.org/officeDocument/2006/relationships/image" Target="../media/image71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900.png"/><Relationship Id="rId7" Type="http://schemas.openxmlformats.org/officeDocument/2006/relationships/image" Target="../media/image21.png"/><Relationship Id="rId12" Type="http://schemas.openxmlformats.org/officeDocument/2006/relationships/image" Target="../media/image500.png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40.png"/><Relationship Id="rId10" Type="http://schemas.openxmlformats.org/officeDocument/2006/relationships/image" Target="../media/image350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600.png"/><Relationship Id="rId7" Type="http://schemas.openxmlformats.org/officeDocument/2006/relationships/image" Target="../media/image21.png"/><Relationship Id="rId12" Type="http://schemas.openxmlformats.org/officeDocument/2006/relationships/image" Target="../media/image50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40.png"/><Relationship Id="rId10" Type="http://schemas.openxmlformats.org/officeDocument/2006/relationships/image" Target="../media/image350.png"/><Relationship Id="rId9" Type="http://schemas.openxmlformats.org/officeDocument/2006/relationships/image" Target="../media/image29.png"/><Relationship Id="rId1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20.png"/><Relationship Id="rId7" Type="http://schemas.openxmlformats.org/officeDocument/2006/relationships/image" Target="../media/image21.png"/><Relationship Id="rId12" Type="http://schemas.openxmlformats.org/officeDocument/2006/relationships/image" Target="../media/image50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40.png"/><Relationship Id="rId10" Type="http://schemas.openxmlformats.org/officeDocument/2006/relationships/image" Target="../media/image350.pn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12" Type="http://schemas.openxmlformats.org/officeDocument/2006/relationships/image" Target="../media/image50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12" Type="http://schemas.openxmlformats.org/officeDocument/2006/relationships/image" Target="../media/image500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12" Type="http://schemas.openxmlformats.org/officeDocument/2006/relationships/image" Target="../media/image50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12" Type="http://schemas.openxmlformats.org/officeDocument/2006/relationships/image" Target="../media/image50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12" Type="http://schemas.openxmlformats.org/officeDocument/2006/relationships/image" Target="../media/image50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12" Type="http://schemas.openxmlformats.org/officeDocument/2006/relationships/image" Target="../media/image50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0.png"/><Relationship Id="rId3" Type="http://schemas.openxmlformats.org/officeDocument/2006/relationships/image" Target="../media/image18.png"/><Relationship Id="rId12" Type="http://schemas.openxmlformats.org/officeDocument/2006/relationships/image" Target="../media/image50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png"/><Relationship Id="rId3" Type="http://schemas.openxmlformats.org/officeDocument/2006/relationships/image" Target="../media/image18.png"/><Relationship Id="rId12" Type="http://schemas.openxmlformats.org/officeDocument/2006/relationships/image" Target="../media/image50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png"/><Relationship Id="rId3" Type="http://schemas.openxmlformats.org/officeDocument/2006/relationships/image" Target="../media/image18.png"/><Relationship Id="rId12" Type="http://schemas.openxmlformats.org/officeDocument/2006/relationships/image" Target="../media/image50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0.png"/><Relationship Id="rId3" Type="http://schemas.openxmlformats.org/officeDocument/2006/relationships/image" Target="../media/image18.png"/><Relationship Id="rId21" Type="http://schemas.openxmlformats.org/officeDocument/2006/relationships/image" Target="../media/image13.png"/><Relationship Id="rId12" Type="http://schemas.openxmlformats.org/officeDocument/2006/relationships/image" Target="../media/image500.png"/><Relationship Id="rId17" Type="http://schemas.openxmlformats.org/officeDocument/2006/relationships/image" Target="../media/image350.png"/><Relationship Id="rId2" Type="http://schemas.openxmlformats.org/officeDocument/2006/relationships/image" Target="../media/image17.png"/><Relationship Id="rId16" Type="http://schemas.openxmlformats.org/officeDocument/2006/relationships/image" Target="../media/image29.png"/><Relationship Id="rId20" Type="http://schemas.openxmlformats.org/officeDocument/2006/relationships/image" Target="../media/image1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15" Type="http://schemas.openxmlformats.org/officeDocument/2006/relationships/image" Target="../media/image111.png"/><Relationship Id="rId19" Type="http://schemas.openxmlformats.org/officeDocument/2006/relationships/image" Target="../media/image500.png"/><Relationship Id="rId4" Type="http://schemas.openxmlformats.org/officeDocument/2006/relationships/image" Target="../media/image19.png"/><Relationship Id="rId1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0.png"/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12" Type="http://schemas.openxmlformats.org/officeDocument/2006/relationships/image" Target="../media/image500.png"/><Relationship Id="rId17" Type="http://schemas.openxmlformats.org/officeDocument/2006/relationships/image" Target="../media/image350.png"/><Relationship Id="rId2" Type="http://schemas.openxmlformats.org/officeDocument/2006/relationships/image" Target="../media/image13.png"/><Relationship Id="rId16" Type="http://schemas.openxmlformats.org/officeDocument/2006/relationships/image" Target="../media/image29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5" Type="http://schemas.openxmlformats.org/officeDocument/2006/relationships/image" Target="../media/image111.png"/><Relationship Id="rId19" Type="http://schemas.openxmlformats.org/officeDocument/2006/relationships/image" Target="../media/image500.png"/><Relationship Id="rId4" Type="http://schemas.openxmlformats.org/officeDocument/2006/relationships/image" Target="../media/image18.png"/><Relationship Id="rId1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0.png"/><Relationship Id="rId7" Type="http://schemas.openxmlformats.org/officeDocument/2006/relationships/image" Target="../media/image13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00.png"/><Relationship Id="rId5" Type="http://schemas.openxmlformats.org/officeDocument/2006/relationships/image" Target="../media/image1101.png"/><Relationship Id="rId4" Type="http://schemas.openxmlformats.org/officeDocument/2006/relationships/image" Target="../media/image100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0.png"/><Relationship Id="rId3" Type="http://schemas.openxmlformats.org/officeDocument/2006/relationships/image" Target="../media/image910.png"/><Relationship Id="rId7" Type="http://schemas.openxmlformats.org/officeDocument/2006/relationships/image" Target="../media/image130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00.png"/><Relationship Id="rId11" Type="http://schemas.openxmlformats.org/officeDocument/2006/relationships/image" Target="../media/image1600.png"/><Relationship Id="rId5" Type="http://schemas.openxmlformats.org/officeDocument/2006/relationships/image" Target="../media/image1101.png"/><Relationship Id="rId10" Type="http://schemas.openxmlformats.org/officeDocument/2006/relationships/image" Target="../media/image1500.png"/><Relationship Id="rId4" Type="http://schemas.openxmlformats.org/officeDocument/2006/relationships/image" Target="../media/image1000.png"/><Relationship Id="rId9" Type="http://schemas.openxmlformats.org/officeDocument/2006/relationships/image" Target="../media/image50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63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png"/><Relationship Id="rId5" Type="http://schemas.openxmlformats.org/officeDocument/2006/relationships/image" Target="../media/image1201.png"/><Relationship Id="rId4" Type="http://schemas.openxmlformats.org/officeDocument/2006/relationships/image" Target="../media/image52.png"/><Relationship Id="rId9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9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01.png"/><Relationship Id="rId5" Type="http://schemas.openxmlformats.org/officeDocument/2006/relationships/image" Target="../media/image1102.png"/><Relationship Id="rId4" Type="http://schemas.openxmlformats.org/officeDocument/2006/relationships/image" Target="../media/image10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99848"/>
            <a:ext cx="72390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C00000"/>
                </a:solidFill>
              </a:rPr>
              <a:t>Lecture 22</a:t>
            </a:r>
          </a:p>
          <a:p>
            <a:pPr algn="l"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</a:rPr>
              <a:t>	Maximum Flow - </a:t>
            </a:r>
            <a:r>
              <a:rPr lang="en-US" sz="2400" b="1" dirty="0">
                <a:solidFill>
                  <a:srgbClr val="0070C0"/>
                </a:solidFill>
              </a:rPr>
              <a:t>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438400" y="3062734"/>
            <a:ext cx="426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                  </a:t>
            </a:r>
            <a:r>
              <a:rPr lang="en-US" sz="2800" b="1" dirty="0">
                <a:solidFill>
                  <a:srgbClr val="002060"/>
                </a:solidFill>
              </a:rPr>
              <a:t>CS345</a:t>
            </a:r>
            <a:endParaRPr lang="en-US" sz="28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5576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2C0BF-1C02-C2C3-0239-5B672F30A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More motivation for </a:t>
            </a:r>
            <a:br>
              <a:rPr lang="en-US" sz="3600" b="1" dirty="0"/>
            </a:br>
            <a:r>
              <a:rPr lang="en-US" sz="3600" b="1" dirty="0">
                <a:solidFill>
                  <a:srgbClr val="7030A0"/>
                </a:solidFill>
              </a:rPr>
              <a:t>Maximum Flow</a:t>
            </a:r>
            <a:endParaRPr lang="en-IN" sz="36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09FC1-C148-08C0-5540-A709AC6B0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There are numerous problems which don’t seem to have anything to with maximum flow. But they have elegant solution based on maximum flow.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 following slide states one such problem.</a:t>
            </a: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2E594-9722-4420-F8A4-719D80CA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0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Rounding</a:t>
            </a:r>
            <a:r>
              <a:rPr lang="en-US" sz="3600" b="1" dirty="0"/>
              <a:t> of a matrix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Content Placeholder 9"/>
              <p:cNvGraphicFramePr>
                <a:graphicFrameLocks noGrp="1"/>
              </p:cNvGraphicFramePr>
              <p:nvPr>
                <p:ph sz="half" idx="2"/>
              </p:nvPr>
            </p:nvGraphicFramePr>
            <p:xfrm>
              <a:off x="1066800" y="2819400"/>
              <a:ext cx="2743200" cy="2590800"/>
            </p:xfrm>
            <a:graphic>
              <a:graphicData uri="http://schemas.openxmlformats.org/drawingml/2006/table">
                <a:tbl>
                  <a:tblPr firstRow="1" bandRow="1">
                    <a:tableStyleId>{C4B1156A-380E-4F78-BDF5-A606A8083BF9}</a:tableStyleId>
                  </a:tblPr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6477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𝟏𝟏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𝟏𝟖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77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𝟓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𝟔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77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𝟔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77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𝟏𝟓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𝟔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𝟖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Content Placeholder 9"/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2127449494"/>
                  </p:ext>
                </p:extLst>
              </p:nvPr>
            </p:nvGraphicFramePr>
            <p:xfrm>
              <a:off x="1066800" y="2819400"/>
              <a:ext cx="2743200" cy="2590800"/>
            </p:xfrm>
            <a:graphic>
              <a:graphicData uri="http://schemas.openxmlformats.org/drawingml/2006/table">
                <a:tbl>
                  <a:tblPr firstRow="1" bandRow="1">
                    <a:tableStyleId>{C4B1156A-380E-4F78-BDF5-A606A8083BF9}</a:tableStyleId>
                  </a:tblPr>
                  <a:tblGrid>
                    <a:gridCol w="685800"/>
                    <a:gridCol w="685800"/>
                    <a:gridCol w="685800"/>
                    <a:gridCol w="685800"/>
                  </a:tblGrid>
                  <a:tr h="647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t="-943" r="-298230" b="-3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100893" t="-943" r="-200893" b="-3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199115" t="-943" r="-99115" b="-3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301786" t="-943" b="-300943"/>
                          </a:stretch>
                        </a:blipFill>
                      </a:tcPr>
                    </a:tc>
                  </a:tr>
                  <a:tr h="647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t="-100000" r="-298230" b="-1981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100893" t="-100000" r="-200893" b="-1981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199115" t="-100000" r="-99115" b="-1981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301786" t="-100000" b="-198131"/>
                          </a:stretch>
                        </a:blipFill>
                      </a:tcPr>
                    </a:tc>
                  </a:tr>
                  <a:tr h="647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t="-201887" r="-29823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100893" t="-201887" r="-20089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199115" t="-201887" r="-9911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301786" t="-201887" b="-100000"/>
                          </a:stretch>
                        </a:blipFill>
                      </a:tcPr>
                    </a:tc>
                  </a:tr>
                  <a:tr h="647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t="-301887" r="-298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100893" t="-301887" r="-2008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199115" t="-301887" r="-99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301786" t="-30188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1066800" y="2082800"/>
              <a:ext cx="2743200" cy="58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842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𝟑𝟗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𝟏𝟗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𝟏𝟖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𝟑𝟎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0999015"/>
                  </p:ext>
                </p:extLst>
              </p:nvPr>
            </p:nvGraphicFramePr>
            <p:xfrm>
              <a:off x="1066800" y="2082800"/>
              <a:ext cx="2743200" cy="58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5800"/>
                    <a:gridCol w="685800"/>
                    <a:gridCol w="685800"/>
                    <a:gridCol w="685800"/>
                  </a:tblGrid>
                  <a:tr h="584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t="-1042" r="-298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100893" t="-1042" r="-2008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199115" t="-1042" r="-99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301786" t="-104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/>
            </p:nvGraphicFramePr>
            <p:xfrm>
              <a:off x="228600" y="2844800"/>
              <a:ext cx="685800" cy="2565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64135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𝟑𝟕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135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𝟏𝟓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135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𝟐𝟎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135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𝟑𝟒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1197995"/>
                  </p:ext>
                </p:extLst>
              </p:nvPr>
            </p:nvGraphicFramePr>
            <p:xfrm>
              <a:off x="228600" y="2844800"/>
              <a:ext cx="685800" cy="2565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5800"/>
                  </a:tblGrid>
                  <a:tr h="641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893" t="-952" b="-300952"/>
                          </a:stretch>
                        </a:blipFill>
                      </a:tcPr>
                    </a:tc>
                  </a:tr>
                  <a:tr h="641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893" t="-100000" b="-198113"/>
                          </a:stretch>
                        </a:blipFill>
                      </a:tcPr>
                    </a:tc>
                  </a:tr>
                  <a:tr h="641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893" t="-201905" b="-100000"/>
                          </a:stretch>
                        </a:blipFill>
                      </a:tcPr>
                    </a:tc>
                  </a:tr>
                  <a:tr h="641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893" t="-301905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Content Placeholder 9"/>
              <p:cNvGraphicFramePr>
                <a:graphicFrameLocks/>
              </p:cNvGraphicFramePr>
              <p:nvPr/>
            </p:nvGraphicFramePr>
            <p:xfrm>
              <a:off x="5791200" y="2819400"/>
              <a:ext cx="2743200" cy="2590800"/>
            </p:xfrm>
            <a:graphic>
              <a:graphicData uri="http://schemas.openxmlformats.org/drawingml/2006/table">
                <a:tbl>
                  <a:tblPr firstRow="1" bandRow="1">
                    <a:tableStyleId>{C4B1156A-380E-4F78-BDF5-A606A8083BF9}</a:tableStyleId>
                  </a:tblPr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6477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𝟏𝟐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𝟏𝟗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77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77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77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𝟏𝟓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𝟖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Content Placeholder 9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942614694"/>
                  </p:ext>
                </p:extLst>
              </p:nvPr>
            </p:nvGraphicFramePr>
            <p:xfrm>
              <a:off x="5791200" y="2819400"/>
              <a:ext cx="2743200" cy="2590800"/>
            </p:xfrm>
            <a:graphic>
              <a:graphicData uri="http://schemas.openxmlformats.org/drawingml/2006/table">
                <a:tbl>
                  <a:tblPr firstRow="1" bandRow="1">
                    <a:tableStyleId>{C4B1156A-380E-4F78-BDF5-A606A8083BF9}</a:tableStyleId>
                  </a:tblPr>
                  <a:tblGrid>
                    <a:gridCol w="685800"/>
                    <a:gridCol w="685800"/>
                    <a:gridCol w="685800"/>
                    <a:gridCol w="685800"/>
                  </a:tblGrid>
                  <a:tr h="647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5"/>
                          <a:stretch>
                            <a:fillRect t="-943" r="-298230" b="-3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5"/>
                          <a:stretch>
                            <a:fillRect l="-100893" t="-943" r="-200893" b="-3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5"/>
                          <a:stretch>
                            <a:fillRect l="-199115" t="-943" r="-99115" b="-3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5"/>
                          <a:stretch>
                            <a:fillRect l="-301786" t="-943" b="-300943"/>
                          </a:stretch>
                        </a:blipFill>
                      </a:tcPr>
                    </a:tc>
                  </a:tr>
                  <a:tr h="647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5"/>
                          <a:stretch>
                            <a:fillRect t="-100000" r="-298230" b="-1981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5"/>
                          <a:stretch>
                            <a:fillRect l="-100893" t="-100000" r="-200893" b="-1981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5"/>
                          <a:stretch>
                            <a:fillRect l="-199115" t="-100000" r="-99115" b="-1981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5"/>
                          <a:stretch>
                            <a:fillRect l="-301786" t="-100000" b="-198131"/>
                          </a:stretch>
                        </a:blipFill>
                      </a:tcPr>
                    </a:tc>
                  </a:tr>
                  <a:tr h="647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5"/>
                          <a:stretch>
                            <a:fillRect t="-201887" r="-29823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5"/>
                          <a:stretch>
                            <a:fillRect l="-100893" t="-201887" r="-20089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5"/>
                          <a:stretch>
                            <a:fillRect l="-199115" t="-201887" r="-9911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5"/>
                          <a:stretch>
                            <a:fillRect l="-301786" t="-201887" b="-100000"/>
                          </a:stretch>
                        </a:blipFill>
                      </a:tcPr>
                    </a:tc>
                  </a:tr>
                  <a:tr h="647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5"/>
                          <a:stretch>
                            <a:fillRect t="-301887" r="-298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5"/>
                          <a:stretch>
                            <a:fillRect l="-100893" t="-301887" r="-2008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5"/>
                          <a:stretch>
                            <a:fillRect l="-199115" t="-301887" r="-99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5"/>
                          <a:stretch>
                            <a:fillRect l="-301786" t="-30188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4" name="Right Arrow 13"/>
          <p:cNvSpPr/>
          <p:nvPr/>
        </p:nvSpPr>
        <p:spPr>
          <a:xfrm>
            <a:off x="3928140" y="3551793"/>
            <a:ext cx="914400" cy="1066800"/>
          </a:xfrm>
          <a:prstGeom prst="rightArrow">
            <a:avLst/>
          </a:prstGeom>
          <a:solidFill>
            <a:srgbClr val="006C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291699" y="1230868"/>
                <a:ext cx="737702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𝟏𝟏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.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𝟕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1699" y="1230868"/>
                <a:ext cx="737702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6349" r="-9756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352800" y="1230868"/>
                <a:ext cx="513281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𝟏𝟏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1230868"/>
                <a:ext cx="513281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6349" r="-13953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466281" y="1230868"/>
                <a:ext cx="513281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𝟏𝟐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281" y="1230868"/>
                <a:ext cx="513281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6349" r="-13953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>
            <a:stCxn id="15" idx="1"/>
            <a:endCxn id="16" idx="3"/>
          </p:cNvCxnSpPr>
          <p:nvPr/>
        </p:nvCxnSpPr>
        <p:spPr>
          <a:xfrm flipH="1">
            <a:off x="3866081" y="1415534"/>
            <a:ext cx="425618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5" idx="3"/>
            <a:endCxn id="17" idx="1"/>
          </p:cNvCxnSpPr>
          <p:nvPr/>
        </p:nvCxnSpPr>
        <p:spPr>
          <a:xfrm>
            <a:off x="5029401" y="1415534"/>
            <a:ext cx="43688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Down Ribbon 25"/>
              <p:cNvSpPr/>
              <p:nvPr/>
            </p:nvSpPr>
            <p:spPr>
              <a:xfrm>
                <a:off x="304800" y="5788152"/>
                <a:ext cx="7772400" cy="765048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Design an algorithm to round a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×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matrix, </a:t>
                </a:r>
                <a:r>
                  <a:rPr lang="en-US" u="sng" dirty="0">
                    <a:solidFill>
                      <a:schemeClr val="tx1"/>
                    </a:solidFill>
                  </a:rPr>
                  <a:t>if possible </a:t>
                </a:r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26" name="Down Ribbon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5788152"/>
                <a:ext cx="7772400" cy="765048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ounded Rectangle 31"/>
          <p:cNvSpPr/>
          <p:nvPr/>
        </p:nvSpPr>
        <p:spPr>
          <a:xfrm>
            <a:off x="228600" y="5943600"/>
            <a:ext cx="2133600" cy="5334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Rounding always exists !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92479" y="5943600"/>
            <a:ext cx="2903521" cy="5334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Rounding can be computed  efficiently.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10400" y="5943600"/>
            <a:ext cx="2133600" cy="5334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Using Max Flow </a:t>
            </a:r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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33907" y="3212068"/>
            <a:ext cx="3662093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An amazing application of max flows.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53E0A4C-FBEA-E065-0ABA-466E0758119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91200" y="2057400"/>
              <a:ext cx="2743200" cy="58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842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𝟑𝟗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𝟏𝟗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𝟏𝟖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𝟑𝟎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53E0A4C-FBEA-E065-0ABA-466E075811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8346917"/>
                  </p:ext>
                </p:extLst>
              </p:nvPr>
            </p:nvGraphicFramePr>
            <p:xfrm>
              <a:off x="5791200" y="2057400"/>
              <a:ext cx="2743200" cy="58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84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0"/>
                          <a:stretch>
                            <a:fillRect l="-1770" t="-1031" r="-300885" b="-20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0"/>
                          <a:stretch>
                            <a:fillRect l="-102679" t="-1031" r="-203571" b="-20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0"/>
                          <a:stretch>
                            <a:fillRect l="-200885" t="-1031" r="-101770" b="-20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0"/>
                          <a:stretch>
                            <a:fillRect l="-303571" t="-1031" r="-2679" b="-20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7E4B4E7-6CF2-390C-B36C-5C592D8D514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953000" y="2819400"/>
              <a:ext cx="685800" cy="2565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64135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𝟑𝟕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135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𝟏𝟓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135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𝟐𝟎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135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𝟑𝟒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7E4B4E7-6CF2-390C-B36C-5C592D8D51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1278717"/>
                  </p:ext>
                </p:extLst>
              </p:nvPr>
            </p:nvGraphicFramePr>
            <p:xfrm>
              <a:off x="4953000" y="2819400"/>
              <a:ext cx="685800" cy="2565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641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1"/>
                          <a:stretch>
                            <a:fillRect l="-885" t="-943" r="-2655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1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1"/>
                          <a:stretch>
                            <a:fillRect l="-885" t="-101905" r="-2655" b="-2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1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1"/>
                          <a:stretch>
                            <a:fillRect l="-885" t="-200000" r="-2655" b="-100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1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1"/>
                          <a:stretch>
                            <a:fillRect l="-885" t="-302857" r="-2655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98188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26" grpId="0" animBg="1"/>
      <p:bldP spid="26" grpId="1" animBg="1"/>
      <p:bldP spid="32" grpId="0" animBg="1"/>
      <p:bldP spid="33" grpId="0" animBg="1"/>
      <p:bldP spid="34" grpId="0" animBg="1"/>
      <p:bldP spid="2" grpId="0" animBg="1"/>
      <p:bldP spid="2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2447925"/>
            <a:ext cx="7772400" cy="1362075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rgbClr val="7030A0"/>
                </a:solidFill>
              </a:rPr>
              <a:t>Maximum Flow </a:t>
            </a:r>
            <a:br>
              <a:rPr lang="en-US" sz="3200" dirty="0">
                <a:solidFill>
                  <a:srgbClr val="7030A0"/>
                </a:solidFill>
              </a:rPr>
            </a:br>
            <a:r>
              <a:rPr lang="en-US" sz="3200" dirty="0"/>
              <a:t>in a Network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746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2095500"/>
            <a:ext cx="2552700" cy="2552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1" y="2057400"/>
            <a:ext cx="3726714" cy="24819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2000250"/>
            <a:ext cx="2597886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802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Problem definition</a:t>
            </a:r>
            <a:br>
              <a:rPr lang="en-US" sz="3600" b="1" dirty="0">
                <a:solidFill>
                  <a:srgbClr val="7030A0"/>
                </a:solidFill>
              </a:rPr>
            </a:br>
            <a:r>
              <a:rPr lang="en-US" sz="3200" b="1" dirty="0"/>
              <a:t>(Informal)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Given a network, where each edge has a certain </a:t>
                </a:r>
                <a:r>
                  <a:rPr lang="en-US" sz="2000" i="1" u="sng" dirty="0"/>
                  <a:t>capacity</a:t>
                </a:r>
                <a:r>
                  <a:rPr lang="en-US" sz="2000" dirty="0"/>
                  <a:t>,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is a designated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source</a:t>
                </a:r>
                <a:r>
                  <a:rPr lang="en-US" sz="2000" dirty="0"/>
                  <a:t> vertex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sink</a:t>
                </a:r>
                <a:r>
                  <a:rPr lang="en-US" sz="2000" dirty="0"/>
                  <a:t> vertex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Compute the </a:t>
                </a:r>
                <a:r>
                  <a:rPr lang="en-US" sz="2000" b="1" u="sng" dirty="0"/>
                  <a:t>maximum flow</a:t>
                </a:r>
                <a:r>
                  <a:rPr lang="en-US" sz="2000" dirty="0"/>
                  <a:t> that we can send from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grpSp>
        <p:nvGrpSpPr>
          <p:cNvPr id="46" name="Group 45"/>
          <p:cNvGrpSpPr/>
          <p:nvPr/>
        </p:nvGrpSpPr>
        <p:grpSpPr>
          <a:xfrm>
            <a:off x="1981200" y="1676400"/>
            <a:ext cx="4343400" cy="2743200"/>
            <a:chOff x="1981200" y="1676400"/>
            <a:chExt cx="4343400" cy="2743200"/>
          </a:xfrm>
        </p:grpSpPr>
        <p:grpSp>
          <p:nvGrpSpPr>
            <p:cNvPr id="5" name="Group 4"/>
            <p:cNvGrpSpPr/>
            <p:nvPr/>
          </p:nvGrpSpPr>
          <p:grpSpPr>
            <a:xfrm>
              <a:off x="2388063" y="1981199"/>
              <a:ext cx="2793537" cy="936719"/>
              <a:chOff x="2873282" y="1981200"/>
              <a:chExt cx="2793537" cy="936719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3761819" y="19812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5514419" y="19812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Arrow Connector 7"/>
              <p:cNvCxnSpPr>
                <a:stCxn id="23" idx="7"/>
                <a:endCxn id="6" idx="3"/>
              </p:cNvCxnSpPr>
              <p:nvPr/>
            </p:nvCxnSpPr>
            <p:spPr>
              <a:xfrm flipV="1">
                <a:off x="2873282" y="2111282"/>
                <a:ext cx="910855" cy="80663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>
                <a:stCxn id="6" idx="6"/>
                <a:endCxn id="7" idx="2"/>
              </p:cNvCxnSpPr>
              <p:nvPr/>
            </p:nvCxnSpPr>
            <p:spPr>
              <a:xfrm>
                <a:off x="3914219" y="2057400"/>
                <a:ext cx="16002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/>
            <p:cNvGrpSpPr/>
            <p:nvPr/>
          </p:nvGrpSpPr>
          <p:grpSpPr>
            <a:xfrm>
              <a:off x="1981200" y="1676400"/>
              <a:ext cx="3581400" cy="2743200"/>
              <a:chOff x="2466419" y="1676400"/>
              <a:chExt cx="3581400" cy="2743200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2466419" y="2895600"/>
                <a:ext cx="429181" cy="369332"/>
                <a:chOff x="4676219" y="3048000"/>
                <a:chExt cx="429181" cy="369332"/>
              </a:xfrm>
            </p:grpSpPr>
            <p:sp>
              <p:nvSpPr>
                <p:cNvPr id="23" name="Oval 22"/>
                <p:cNvSpPr/>
                <p:nvPr/>
              </p:nvSpPr>
              <p:spPr>
                <a:xfrm>
                  <a:off x="4953000" y="30480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Box 23"/>
                    <p:cNvSpPr txBox="1"/>
                    <p:nvPr/>
                  </p:nvSpPr>
                  <p:spPr>
                    <a:xfrm>
                      <a:off x="4676219" y="3048000"/>
                      <a:ext cx="35298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𝒔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6" name="TextBox 2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76219" y="3048000"/>
                      <a:ext cx="352981" cy="369332"/>
                    </a:xfrm>
                    <a:prstGeom prst="rect">
                      <a:avLst/>
                    </a:prstGeom>
                    <a:blipFill rotWithShape="1">
                      <a:blip r:embed="rId7"/>
                      <a:stretch>
                        <a:fillRect t="-8197" r="-24138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3457019" y="1688068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57019" y="1688068"/>
                    <a:ext cx="375424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197" r="-1935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3" name="Group 12"/>
              <p:cNvGrpSpPr/>
              <p:nvPr/>
            </p:nvGrpSpPr>
            <p:grpSpPr>
              <a:xfrm>
                <a:off x="3575756" y="3886200"/>
                <a:ext cx="386644" cy="533400"/>
                <a:chOff x="4566356" y="3810000"/>
                <a:chExt cx="386644" cy="5334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/>
                    <p:cNvSpPr txBox="1"/>
                    <p:nvPr/>
                  </p:nvSpPr>
                  <p:spPr>
                    <a:xfrm>
                      <a:off x="4566356" y="3974068"/>
                      <a:ext cx="38664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𝒖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3" name="TextBox 1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66356" y="3974068"/>
                      <a:ext cx="386644" cy="369332"/>
                    </a:xfrm>
                    <a:prstGeom prst="rect">
                      <a:avLst/>
                    </a:prstGeom>
                    <a:blipFill rotWithShape="1">
                      <a:blip r:embed="rId9"/>
                      <a:stretch>
                        <a:fillRect t="-8197" r="-20313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2" name="Oval 21"/>
                <p:cNvSpPr/>
                <p:nvPr/>
              </p:nvSpPr>
              <p:spPr>
                <a:xfrm>
                  <a:off x="4676219" y="3810000"/>
                  <a:ext cx="152400" cy="152400"/>
                </a:xfrm>
                <a:prstGeom prst="ellipse">
                  <a:avLst/>
                </a:prstGeom>
                <a:solidFill>
                  <a:schemeClr val="tx2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/>
              <p:cNvGrpSpPr/>
              <p:nvPr/>
            </p:nvGrpSpPr>
            <p:grpSpPr>
              <a:xfrm>
                <a:off x="5492044" y="1676400"/>
                <a:ext cx="555775" cy="2362200"/>
                <a:chOff x="4648200" y="1600200"/>
                <a:chExt cx="555775" cy="23622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/>
                    <p:cNvSpPr txBox="1"/>
                    <p:nvPr/>
                  </p:nvSpPr>
                  <p:spPr>
                    <a:xfrm>
                      <a:off x="4833361" y="1600200"/>
                      <a:ext cx="37061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𝒙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6" name="TextBox 1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33361" y="1600200"/>
                      <a:ext cx="370614" cy="369332"/>
                    </a:xfrm>
                    <a:prstGeom prst="rect">
                      <a:avLst/>
                    </a:prstGeom>
                    <a:blipFill rotWithShape="1">
                      <a:blip r:embed="rId10"/>
                      <a:stretch>
                        <a:fillRect t="-8197" r="-22951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0" name="Oval 19"/>
                <p:cNvSpPr/>
                <p:nvPr/>
              </p:nvSpPr>
              <p:spPr>
                <a:xfrm>
                  <a:off x="4648200" y="3810000"/>
                  <a:ext cx="152400" cy="152400"/>
                </a:xfrm>
                <a:prstGeom prst="ellipse">
                  <a:avLst/>
                </a:prstGeom>
                <a:solidFill>
                  <a:schemeClr val="tx2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5590619" y="3974068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𝒚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90619" y="3974068"/>
                    <a:ext cx="375424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1935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Straight Arrow Connector 15"/>
              <p:cNvCxnSpPr>
                <a:stCxn id="23" idx="5"/>
                <a:endCxn id="22" idx="1"/>
              </p:cNvCxnSpPr>
              <p:nvPr/>
            </p:nvCxnSpPr>
            <p:spPr>
              <a:xfrm>
                <a:off x="2873282" y="3025682"/>
                <a:ext cx="834655" cy="88283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>
                <a:endCxn id="20" idx="2"/>
              </p:cNvCxnSpPr>
              <p:nvPr/>
            </p:nvCxnSpPr>
            <p:spPr>
              <a:xfrm>
                <a:off x="3838019" y="3962400"/>
                <a:ext cx="1654025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>
              <a:xfrm flipH="1">
                <a:off x="5568244" y="2133599"/>
                <a:ext cx="22375" cy="175260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Arc 27"/>
            <p:cNvSpPr/>
            <p:nvPr/>
          </p:nvSpPr>
          <p:spPr>
            <a:xfrm>
              <a:off x="3090537" y="1806482"/>
              <a:ext cx="2252311" cy="1165318"/>
            </a:xfrm>
            <a:prstGeom prst="arc">
              <a:avLst>
                <a:gd name="adj1" fmla="val 12452853"/>
                <a:gd name="adj2" fmla="val 20215559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 flipH="1">
              <a:off x="3406682" y="1938125"/>
              <a:ext cx="131529" cy="653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H="1">
              <a:off x="3330425" y="2133600"/>
              <a:ext cx="22375" cy="17526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3406682" y="2111281"/>
              <a:ext cx="1622461" cy="17972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V="1">
              <a:off x="3330482" y="2111281"/>
              <a:ext cx="1721036" cy="17972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Group 36"/>
            <p:cNvGrpSpPr/>
            <p:nvPr/>
          </p:nvGrpSpPr>
          <p:grpSpPr>
            <a:xfrm>
              <a:off x="5914655" y="2667000"/>
              <a:ext cx="409945" cy="369332"/>
              <a:chOff x="4191000" y="3593068"/>
              <a:chExt cx="409945" cy="369332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4191000" y="373380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/>
                  <p:cNvSpPr txBox="1"/>
                  <p:nvPr/>
                </p:nvSpPr>
                <p:spPr>
                  <a:xfrm>
                    <a:off x="4267200" y="3593068"/>
                    <a:ext cx="33374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𝒕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2" name="TextBox 6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67200" y="3593068"/>
                    <a:ext cx="333745" cy="36933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t="-8333" r="-2545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0" name="Straight Arrow Connector 39"/>
            <p:cNvCxnSpPr/>
            <p:nvPr/>
          </p:nvCxnSpPr>
          <p:spPr>
            <a:xfrm>
              <a:off x="5159282" y="2111281"/>
              <a:ext cx="777691" cy="7187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V="1">
              <a:off x="5136907" y="2937814"/>
              <a:ext cx="800066" cy="9707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2619562" y="1521023"/>
            <a:ext cx="3234246" cy="2746177"/>
            <a:chOff x="2619562" y="1521023"/>
            <a:chExt cx="3234246" cy="2746177"/>
          </a:xfrm>
        </p:grpSpPr>
        <p:sp>
          <p:nvSpPr>
            <p:cNvPr id="58" name="TextBox 57"/>
            <p:cNvSpPr txBox="1"/>
            <p:nvPr/>
          </p:nvSpPr>
          <p:spPr>
            <a:xfrm>
              <a:off x="4067362" y="15210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2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486400" y="33528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17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052192" y="20544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5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057962" y="28164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6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305362" y="27402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8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619562" y="34260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7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012860" y="39594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4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334000" y="24354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15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771962" y="24354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6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343400" y="33498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7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3733800" y="33498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6952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Question</a:t>
            </a:r>
            <a:r>
              <a:rPr lang="en-US" sz="2000" dirty="0"/>
              <a:t>: What is </a:t>
            </a:r>
            <a:r>
              <a:rPr lang="en-US" sz="2000" i="1" u="sng" dirty="0"/>
              <a:t>flow</a:t>
            </a:r>
            <a:r>
              <a:rPr lang="en-US" sz="2000" dirty="0"/>
              <a:t> along an edge ?</a:t>
            </a:r>
          </a:p>
          <a:p>
            <a:pPr marL="0" indent="0">
              <a:buNone/>
            </a:pPr>
            <a:r>
              <a:rPr lang="en-US" sz="2000" dirty="0"/>
              <a:t>Answer: The rate at which the commodity is being transported along the edge.</a:t>
            </a: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Question</a:t>
            </a:r>
            <a:r>
              <a:rPr lang="en-US" sz="2000" dirty="0"/>
              <a:t>: What is </a:t>
            </a:r>
            <a:r>
              <a:rPr lang="en-US" sz="2000" i="1" u="sng" dirty="0"/>
              <a:t>capacit</a:t>
            </a:r>
            <a:r>
              <a:rPr lang="en-US" sz="2000" i="1" dirty="0"/>
              <a:t>y</a:t>
            </a:r>
            <a:r>
              <a:rPr lang="en-US" sz="2000" dirty="0"/>
              <a:t> of an edge ?</a:t>
            </a:r>
          </a:p>
          <a:p>
            <a:pPr marL="0" indent="0">
              <a:buNone/>
            </a:pPr>
            <a:r>
              <a:rPr lang="en-US" sz="2000" dirty="0"/>
              <a:t>Answer: The maximum rate at which the commodity can be transported </a:t>
            </a:r>
          </a:p>
          <a:p>
            <a:pPr marL="0" indent="0">
              <a:buNone/>
            </a:pPr>
            <a:r>
              <a:rPr lang="en-US" sz="2000" dirty="0"/>
              <a:t>along the edge.</a:t>
            </a:r>
          </a:p>
          <a:p>
            <a:pPr marL="0" indent="0" algn="ctr">
              <a:buNone/>
            </a:pPr>
            <a:r>
              <a:rPr lang="en-US" sz="2000" b="1" dirty="0"/>
              <a:t>Example</a:t>
            </a:r>
            <a:r>
              <a:rPr lang="en-US" sz="2000" dirty="0"/>
              <a:t>: </a:t>
            </a:r>
            <a:r>
              <a:rPr lang="en-US" sz="2000" dirty="0">
                <a:solidFill>
                  <a:srgbClr val="0070C0"/>
                </a:solidFill>
              </a:rPr>
              <a:t>25 </a:t>
            </a:r>
            <a:r>
              <a:rPr lang="en-US" sz="2000" dirty="0" err="1"/>
              <a:t>litre</a:t>
            </a:r>
            <a:r>
              <a:rPr lang="en-US" sz="2000" dirty="0"/>
              <a:t>/sec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0070C0"/>
                </a:solidFill>
              </a:rPr>
              <a:t>1</a:t>
            </a:r>
            <a:r>
              <a:rPr lang="en-US" sz="2000" dirty="0"/>
              <a:t> GB /sec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429000" y="381000"/>
            <a:ext cx="2362200" cy="2743200"/>
            <a:chOff x="3429000" y="762000"/>
            <a:chExt cx="2362200" cy="274320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0" y="762000"/>
              <a:ext cx="2362200" cy="236220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229416" y="3135868"/>
              <a:ext cx="9521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An edge</a:t>
              </a:r>
            </a:p>
          </p:txBody>
        </p:sp>
      </p:grpSp>
      <p:sp>
        <p:nvSpPr>
          <p:cNvPr id="2" name="Down Arrow 1"/>
          <p:cNvSpPr/>
          <p:nvPr/>
        </p:nvSpPr>
        <p:spPr>
          <a:xfrm rot="14252187">
            <a:off x="4721987" y="1262118"/>
            <a:ext cx="343810" cy="92263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447800" y="3810000"/>
            <a:ext cx="838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362200" y="3810000"/>
            <a:ext cx="4648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010400" y="3810000"/>
            <a:ext cx="1752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447800" y="4876800"/>
            <a:ext cx="1981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429000" y="4876800"/>
            <a:ext cx="4572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841609-9786-774B-A2BD-A8A04D35444F}"/>
              </a:ext>
            </a:extLst>
          </p:cNvPr>
          <p:cNvSpPr/>
          <p:nvPr/>
        </p:nvSpPr>
        <p:spPr>
          <a:xfrm>
            <a:off x="1600200" y="3429000"/>
            <a:ext cx="4648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38E0AF-4B2A-304A-AE9C-0AE43D6B7056}"/>
              </a:ext>
            </a:extLst>
          </p:cNvPr>
          <p:cNvSpPr/>
          <p:nvPr/>
        </p:nvSpPr>
        <p:spPr>
          <a:xfrm>
            <a:off x="1600200" y="4495800"/>
            <a:ext cx="4648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020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Are there any </a:t>
            </a:r>
            <a:r>
              <a:rPr lang="en-US" sz="3200" b="1" dirty="0">
                <a:solidFill>
                  <a:srgbClr val="7030A0"/>
                </a:solidFill>
              </a:rPr>
              <a:t>constraints</a:t>
            </a:r>
            <a:r>
              <a:rPr lang="en-US" sz="3200" b="1" dirty="0"/>
              <a:t> for a flow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4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Capacity </a:t>
                </a:r>
                <a:r>
                  <a:rPr lang="en-US" sz="2000" b="1" dirty="0"/>
                  <a:t>constraint :</a:t>
                </a:r>
              </a:p>
              <a:p>
                <a:pPr marL="0" indent="0">
                  <a:buNone/>
                </a:pPr>
                <a:r>
                  <a:rPr lang="en-US" sz="2000" dirty="0"/>
                  <a:t>Flow along an edge </a:t>
                </a:r>
                <a:r>
                  <a:rPr lang="en-US" sz="2000" b="1" u="sng" dirty="0"/>
                  <a:t>cannot</a:t>
                </a:r>
                <a:r>
                  <a:rPr lang="en-US" sz="2000" dirty="0"/>
                  <a:t> exceed its </a:t>
                </a:r>
                <a:r>
                  <a:rPr lang="en-US" sz="2000" b="1" dirty="0"/>
                  <a:t>capacity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Conservation </a:t>
                </a:r>
                <a:r>
                  <a:rPr lang="en-US" sz="2000" b="1" dirty="0"/>
                  <a:t>constraint :</a:t>
                </a:r>
              </a:p>
              <a:p>
                <a:pPr marL="0" indent="0">
                  <a:buNone/>
                </a:pPr>
                <a:r>
                  <a:rPr lang="en-US" sz="2000" dirty="0"/>
                  <a:t>Flow entering node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 = Flow leaving node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.</a:t>
                </a: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3330482" y="4811212"/>
            <a:ext cx="2330636" cy="979988"/>
            <a:chOff x="3330482" y="4811212"/>
            <a:chExt cx="2330636" cy="979988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3330482" y="4811212"/>
              <a:ext cx="1089118" cy="479518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4572000" y="5334000"/>
              <a:ext cx="1089118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endCxn id="5" idx="3"/>
            </p:cNvCxnSpPr>
            <p:nvPr/>
          </p:nvCxnSpPr>
          <p:spPr>
            <a:xfrm flipV="1">
              <a:off x="3330482" y="5387882"/>
              <a:ext cx="1111436" cy="403318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3875041" y="48006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114" y="533400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2296" y="55742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20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4267200" y="5257800"/>
            <a:ext cx="386644" cy="445532"/>
            <a:chOff x="4267200" y="5257800"/>
            <a:chExt cx="386644" cy="445532"/>
          </a:xfrm>
        </p:grpSpPr>
        <p:sp>
          <p:nvSpPr>
            <p:cNvPr id="5" name="Oval 4"/>
            <p:cNvSpPr/>
            <p:nvPr/>
          </p:nvSpPr>
          <p:spPr>
            <a:xfrm>
              <a:off x="4419600" y="52578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4267200" y="5334000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7200" y="5334000"/>
                  <a:ext cx="386644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315200" y="1447800"/>
                <a:ext cx="59182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b="1" dirty="0">
                    <a:solidFill>
                      <a:srgbClr val="00B050"/>
                    </a:solidFill>
                  </a:rPr>
                  <a:t>25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1447800"/>
                <a:ext cx="591829" cy="369332"/>
              </a:xfrm>
              <a:prstGeom prst="rect">
                <a:avLst/>
              </a:prstGeom>
              <a:blipFill>
                <a:blip r:embed="rId4"/>
                <a:stretch>
                  <a:fillRect t="-10000" r="-8511" b="-2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7004756" y="1066800"/>
            <a:ext cx="1605844" cy="1828800"/>
            <a:chOff x="7004756" y="1066800"/>
            <a:chExt cx="1605844" cy="1828800"/>
          </a:xfrm>
        </p:grpSpPr>
        <p:grpSp>
          <p:nvGrpSpPr>
            <p:cNvPr id="6" name="Group 5"/>
            <p:cNvGrpSpPr/>
            <p:nvPr/>
          </p:nvGrpSpPr>
          <p:grpSpPr>
            <a:xfrm>
              <a:off x="7004756" y="1066800"/>
              <a:ext cx="1605844" cy="1828800"/>
              <a:chOff x="7004756" y="1066800"/>
              <a:chExt cx="1605844" cy="1828800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8077200" y="1371599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7004756" y="2526268"/>
                    <a:ext cx="3866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04756" y="2526268"/>
                    <a:ext cx="386644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2031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Oval 22"/>
              <p:cNvSpPr/>
              <p:nvPr/>
            </p:nvSpPr>
            <p:spPr>
              <a:xfrm>
                <a:off x="7114619" y="23622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/>
                  <p:cNvSpPr txBox="1"/>
                  <p:nvPr/>
                </p:nvSpPr>
                <p:spPr>
                  <a:xfrm>
                    <a:off x="8239986" y="1066800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TextBox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39986" y="1066800"/>
                    <a:ext cx="370614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21311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" name="Straight Arrow Connector 24"/>
              <p:cNvCxnSpPr/>
              <p:nvPr/>
            </p:nvCxnSpPr>
            <p:spPr>
              <a:xfrm flipV="1">
                <a:off x="7239000" y="1501682"/>
                <a:ext cx="860518" cy="89861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/>
            <p:cNvSpPr txBox="1"/>
            <p:nvPr/>
          </p:nvSpPr>
          <p:spPr>
            <a:xfrm>
              <a:off x="7658496" y="1840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25</a:t>
              </a:r>
            </a:p>
          </p:txBody>
        </p:sp>
      </p:grpSp>
      <p:cxnSp>
        <p:nvCxnSpPr>
          <p:cNvPr id="26" name="Straight Arrow Connector 25"/>
          <p:cNvCxnSpPr/>
          <p:nvPr/>
        </p:nvCxnSpPr>
        <p:spPr>
          <a:xfrm flipV="1">
            <a:off x="7249789" y="1493792"/>
            <a:ext cx="860518" cy="898617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819400" y="3810000"/>
            <a:ext cx="3429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18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15" grpId="0"/>
      <p:bldP spid="16" grpId="0"/>
      <p:bldP spid="17" grpId="0"/>
      <p:bldP spid="27" grpId="0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Formal Description </a:t>
            </a:r>
            <a:r>
              <a:rPr lang="en-US" sz="3200" b="1" dirty="0"/>
              <a:t>of Flow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22" name="Content Placeholder 21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/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3329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Formal Description </a:t>
            </a:r>
            <a:r>
              <a:rPr lang="en-US" sz="3200" b="1" dirty="0"/>
              <a:t>of Flow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600200"/>
            <a:ext cx="4343400" cy="5105400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pSp>
        <p:nvGrpSpPr>
          <p:cNvPr id="179" name="Group 178"/>
          <p:cNvGrpSpPr/>
          <p:nvPr/>
        </p:nvGrpSpPr>
        <p:grpSpPr>
          <a:xfrm>
            <a:off x="787863" y="1981199"/>
            <a:ext cx="2793537" cy="936719"/>
            <a:chOff x="2873282" y="1981200"/>
            <a:chExt cx="2793537" cy="936719"/>
          </a:xfrm>
        </p:grpSpPr>
        <p:sp>
          <p:nvSpPr>
            <p:cNvPr id="196" name="Oval 195"/>
            <p:cNvSpPr/>
            <p:nvPr/>
          </p:nvSpPr>
          <p:spPr>
            <a:xfrm>
              <a:off x="3761819" y="1981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/>
            <p:cNvSpPr/>
            <p:nvPr/>
          </p:nvSpPr>
          <p:spPr>
            <a:xfrm>
              <a:off x="5514419" y="1981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4" name="Straight Arrow Connector 183"/>
            <p:cNvCxnSpPr>
              <a:stCxn id="7" idx="7"/>
              <a:endCxn id="196" idx="3"/>
            </p:cNvCxnSpPr>
            <p:nvPr/>
          </p:nvCxnSpPr>
          <p:spPr>
            <a:xfrm flipV="1">
              <a:off x="2873282" y="2111282"/>
              <a:ext cx="910855" cy="8066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/>
            <p:cNvCxnSpPr>
              <a:stCxn id="196" idx="6"/>
              <a:endCxn id="192" idx="2"/>
            </p:cNvCxnSpPr>
            <p:nvPr/>
          </p:nvCxnSpPr>
          <p:spPr>
            <a:xfrm>
              <a:off x="3914219" y="2057400"/>
              <a:ext cx="16002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/>
          <p:cNvGrpSpPr/>
          <p:nvPr/>
        </p:nvGrpSpPr>
        <p:grpSpPr>
          <a:xfrm>
            <a:off x="381000" y="1676400"/>
            <a:ext cx="3581400" cy="2743200"/>
            <a:chOff x="2466419" y="1676400"/>
            <a:chExt cx="3581400" cy="2743200"/>
          </a:xfrm>
        </p:grpSpPr>
        <p:grpSp>
          <p:nvGrpSpPr>
            <p:cNvPr id="6" name="Group 5"/>
            <p:cNvGrpSpPr/>
            <p:nvPr/>
          </p:nvGrpSpPr>
          <p:grpSpPr>
            <a:xfrm>
              <a:off x="2466419" y="2895600"/>
              <a:ext cx="429181" cy="369332"/>
              <a:chOff x="4676219" y="3048000"/>
              <a:chExt cx="429181" cy="36933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953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2413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3457019" y="1688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019" y="1688068"/>
                  <a:ext cx="375424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1935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/>
            <p:cNvGrpSpPr/>
            <p:nvPr/>
          </p:nvGrpSpPr>
          <p:grpSpPr>
            <a:xfrm>
              <a:off x="3575756" y="3886200"/>
              <a:ext cx="386644" cy="533400"/>
              <a:chOff x="4566356" y="3810000"/>
              <a:chExt cx="386644" cy="5334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4566356" y="3974068"/>
                    <a:ext cx="3866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3974068"/>
                    <a:ext cx="386644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031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Oval 13"/>
              <p:cNvSpPr/>
              <p:nvPr/>
            </p:nvSpPr>
            <p:spPr>
              <a:xfrm>
                <a:off x="4676219" y="3810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5492044" y="1676400"/>
              <a:ext cx="555775" cy="2362200"/>
              <a:chOff x="4648200" y="1600200"/>
              <a:chExt cx="555775" cy="2362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833361" y="1600200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3361" y="1600200"/>
                    <a:ext cx="37061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22951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/>
              <p:cNvSpPr/>
              <p:nvPr/>
            </p:nvSpPr>
            <p:spPr>
              <a:xfrm>
                <a:off x="4648200" y="3810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5590619" y="3974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0619" y="3974068"/>
                  <a:ext cx="375424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8197" r="-1935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/>
            <p:cNvCxnSpPr>
              <a:stCxn id="7" idx="5"/>
              <a:endCxn id="14" idx="1"/>
            </p:cNvCxnSpPr>
            <p:nvPr/>
          </p:nvCxnSpPr>
          <p:spPr>
            <a:xfrm>
              <a:off x="2873282" y="3025682"/>
              <a:ext cx="834655" cy="8828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endCxn id="17" idx="2"/>
            </p:cNvCxnSpPr>
            <p:nvPr/>
          </p:nvCxnSpPr>
          <p:spPr>
            <a:xfrm>
              <a:off x="3838019" y="3962400"/>
              <a:ext cx="165402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H="1">
              <a:off x="5568244" y="2133599"/>
              <a:ext cx="22375" cy="17526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TextBox 85"/>
          <p:cNvSpPr txBox="1"/>
          <p:nvPr/>
        </p:nvSpPr>
        <p:spPr>
          <a:xfrm>
            <a:off x="2467162" y="1521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86200" y="33528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451992" y="2054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38" name="Arc 37"/>
          <p:cNvSpPr/>
          <p:nvPr/>
        </p:nvSpPr>
        <p:spPr>
          <a:xfrm>
            <a:off x="1490337" y="1806482"/>
            <a:ext cx="2252311" cy="1165318"/>
          </a:xfrm>
          <a:prstGeom prst="arc">
            <a:avLst>
              <a:gd name="adj1" fmla="val 12452853"/>
              <a:gd name="adj2" fmla="val 2021555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6" name="Straight Arrow Connector 235"/>
          <p:cNvCxnSpPr>
            <a:endCxn id="196" idx="7"/>
          </p:cNvCxnSpPr>
          <p:nvPr/>
        </p:nvCxnSpPr>
        <p:spPr>
          <a:xfrm flipH="1">
            <a:off x="1806482" y="1938125"/>
            <a:ext cx="131529" cy="653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TextBox 249"/>
          <p:cNvSpPr txBox="1"/>
          <p:nvPr/>
        </p:nvSpPr>
        <p:spPr>
          <a:xfrm>
            <a:off x="3457762" y="2816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cxnSp>
        <p:nvCxnSpPr>
          <p:cNvPr id="251" name="Straight Arrow Connector 250"/>
          <p:cNvCxnSpPr/>
          <p:nvPr/>
        </p:nvCxnSpPr>
        <p:spPr>
          <a:xfrm flipH="1">
            <a:off x="1730225" y="2133600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/>
          <p:cNvCxnSpPr>
            <a:stCxn id="196" idx="5"/>
            <a:endCxn id="17" idx="1"/>
          </p:cNvCxnSpPr>
          <p:nvPr/>
        </p:nvCxnSpPr>
        <p:spPr>
          <a:xfrm>
            <a:off x="1806482" y="2111281"/>
            <a:ext cx="1622461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stCxn id="14" idx="7"/>
            <a:endCxn id="192" idx="3"/>
          </p:cNvCxnSpPr>
          <p:nvPr/>
        </p:nvCxnSpPr>
        <p:spPr>
          <a:xfrm flipV="1">
            <a:off x="1730282" y="2111281"/>
            <a:ext cx="1721036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TextBox 257"/>
          <p:cNvSpPr txBox="1"/>
          <p:nvPr/>
        </p:nvSpPr>
        <p:spPr>
          <a:xfrm>
            <a:off x="1705162" y="27402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8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019362" y="3426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412660" y="3959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4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4314455" y="2667000"/>
            <a:ext cx="409945" cy="369332"/>
            <a:chOff x="4191000" y="3593068"/>
            <a:chExt cx="409945" cy="369332"/>
          </a:xfrm>
        </p:grpSpPr>
        <p:sp>
          <p:nvSpPr>
            <p:cNvPr id="61" name="Oval 60"/>
            <p:cNvSpPr/>
            <p:nvPr/>
          </p:nvSpPr>
          <p:spPr>
            <a:xfrm>
              <a:off x="4191000" y="3733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333" r="-254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3" name="Straight Arrow Connector 62"/>
          <p:cNvCxnSpPr>
            <a:stCxn id="192" idx="5"/>
            <a:endCxn id="61" idx="1"/>
          </p:cNvCxnSpPr>
          <p:nvPr/>
        </p:nvCxnSpPr>
        <p:spPr>
          <a:xfrm>
            <a:off x="3559082" y="2111281"/>
            <a:ext cx="777691" cy="71876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17" idx="7"/>
            <a:endCxn id="61" idx="3"/>
          </p:cNvCxnSpPr>
          <p:nvPr/>
        </p:nvCxnSpPr>
        <p:spPr>
          <a:xfrm flipV="1">
            <a:off x="3536707" y="2937814"/>
            <a:ext cx="800066" cy="97070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1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600200"/>
                <a:ext cx="4419600" cy="495300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1800" dirty="0"/>
                  <a:t>=(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1800" dirty="0"/>
                  <a:t>,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/>
                  <a:t>) : a directed graph with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800" dirty="0"/>
                  <a:t>: source,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US" sz="1800" dirty="0"/>
                  <a:t>: sink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𝒄</m:t>
                    </m:r>
                  </m:oMath>
                </a14:m>
                <a:r>
                  <a:rPr lang="en-US" sz="1800" dirty="0"/>
                  <a:t>: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/>
                  <a:t> </a:t>
                </a:r>
                <a:r>
                  <a:rPr lang="en-US" sz="1800" dirty="0">
                    <a:sym typeface="Wingdings" pitchFamily="2" charset="2"/>
                  </a:rPr>
                  <a:t>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0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𝐑</m:t>
                        </m:r>
                      </m:e>
                      <m:sup>
                        <m:r>
                          <a:rPr lang="en-US" sz="1800" b="1" i="0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C00000"/>
                    </a:solidFill>
                  </a:rPr>
                  <a:t> 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𝒄</m:t>
                    </m:r>
                  </m:oMath>
                </a14:m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) = </a:t>
                </a:r>
                <a:r>
                  <a:rPr lang="en-US" sz="1800" u="sng" dirty="0"/>
                  <a:t>capacity</a:t>
                </a:r>
                <a:r>
                  <a:rPr lang="en-US" sz="1800" dirty="0"/>
                  <a:t> of edge 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)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Flow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𝒇</m:t>
                    </m:r>
                  </m:oMath>
                </a14:m>
                <a:r>
                  <a:rPr lang="en-US" sz="1800" dirty="0"/>
                  <a:t>: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 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𝐑</m:t>
                        </m:r>
                      </m:e>
                      <m:sup>
                        <m:r>
                          <a:rPr lang="en-US" sz="1800" b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C00000"/>
                    </a:solidFill>
                  </a:rPr>
                  <a:t> </a:t>
                </a:r>
                <a:r>
                  <a:rPr lang="en-US" sz="1800" dirty="0"/>
                  <a:t>such that </a:t>
                </a:r>
              </a:p>
              <a:p>
                <a:r>
                  <a:rPr lang="en-US" sz="1800" dirty="0"/>
                  <a:t>For each edge 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)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endParaRPr lang="en-US" sz="1800" dirty="0"/>
              </a:p>
              <a:p>
                <a:pPr marL="0" indent="0" algn="ctr">
                  <a:buNone/>
                </a:pP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𝒇</m:t>
                    </m:r>
                  </m:oMath>
                </a14:m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)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≤</m:t>
                    </m:r>
                    <m:r>
                      <a:rPr lang="en-US" sz="18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𝒄</m:t>
                    </m:r>
                  </m:oMath>
                </a14:m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)</a:t>
                </a:r>
              </a:p>
              <a:p>
                <a:pPr marL="0" indent="0" algn="ctr">
                  <a:buNone/>
                </a:pPr>
                <a:endParaRPr lang="en-US" sz="1800" dirty="0"/>
              </a:p>
              <a:p>
                <a:r>
                  <a:rPr lang="en-US" sz="1800" dirty="0"/>
                  <a:t>For each vertex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1800" b="1" i="1" dirty="0">
                        <a:latin typeface="Cambria Math"/>
                      </a:rPr>
                      <m:t>\</m:t>
                    </m:r>
                    <m:r>
                      <m:rPr>
                        <m:lit/>
                      </m:rPr>
                      <a:rPr lang="en-US" sz="1800" b="1" i="1" dirty="0">
                        <a:latin typeface="Cambria Math"/>
                      </a:rPr>
                      <m:t>{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  <m:r>
                      <a:rPr lang="en-US" sz="1800" b="1" i="1" dirty="0">
                        <a:latin typeface="Cambria Math"/>
                      </a:rPr>
                      <m:t>}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sz="18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𝒖</m:t>
                              </m:r>
                              <m:r>
                                <a:rPr lang="en-US" sz="1800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1800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𝒗</m:t>
                              </m:r>
                            </m:e>
                          </m:d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 ∈ </m:t>
                          </m:r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𝑬</m:t>
                          </m:r>
                        </m:sub>
                        <m:sup/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𝒇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(</m:t>
                          </m:r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,</m:t>
                          </m:r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)</m:t>
                          </m:r>
                        </m:e>
                      </m:nary>
                      <m:r>
                        <a:rPr lang="en-US" sz="1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sz="1800" dirty="0"/>
                            <m:t> </m:t>
                          </m:r>
                          <m:d>
                            <m:dPr>
                              <m:ctrlPr>
                                <a:rPr lang="en-US" sz="18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𝒗</m:t>
                              </m:r>
                              <m:r>
                                <a:rPr lang="en-US" sz="1800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1800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𝒛</m:t>
                              </m:r>
                            </m:e>
                          </m:d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 ∈ </m:t>
                          </m:r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𝑬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 </m:t>
                          </m:r>
                        </m:sub>
                        <m:sup/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𝒇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(</m:t>
                          </m:r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e>
                      </m:nary>
                      <m:r>
                        <a:rPr lang="en-US" sz="1800" i="1">
                          <a:latin typeface="Cambria Math"/>
                        </a:rPr>
                        <m:t>,</m:t>
                      </m:r>
                      <m:r>
                        <a:rPr lang="en-US" sz="1800" b="1" i="1">
                          <a:solidFill>
                            <a:srgbClr val="0070C0"/>
                          </a:solidFill>
                          <a:latin typeface="Cambria Math"/>
                        </a:rPr>
                        <m:t>𝒛</m:t>
                      </m:r>
                      <m:r>
                        <a:rPr lang="en-US" sz="18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Content Placeholder 2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600200"/>
                <a:ext cx="4419600" cy="4953000"/>
              </a:xfrm>
              <a:blipFill rotWithShape="1">
                <a:blip r:embed="rId13"/>
                <a:stretch>
                  <a:fillRect l="-1241" t="-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/>
          <p:cNvSpPr txBox="1"/>
          <p:nvPr/>
        </p:nvSpPr>
        <p:spPr>
          <a:xfrm>
            <a:off x="3733800" y="24354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1762" y="2435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33498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33600" y="3349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14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2408793" y="4328755"/>
            <a:ext cx="2208544" cy="929045"/>
            <a:chOff x="2408793" y="4328755"/>
            <a:chExt cx="2208544" cy="929045"/>
          </a:xfrm>
        </p:grpSpPr>
        <p:sp>
          <p:nvSpPr>
            <p:cNvPr id="5" name="TextBox 4"/>
            <p:cNvSpPr txBox="1"/>
            <p:nvPr/>
          </p:nvSpPr>
          <p:spPr>
            <a:xfrm>
              <a:off x="2408793" y="4648200"/>
              <a:ext cx="2010807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C00000"/>
                  </a:solidFill>
                </a:rPr>
                <a:t>Capacity </a:t>
              </a:r>
              <a:r>
                <a:rPr lang="en-US" b="1" dirty="0"/>
                <a:t>constraint</a:t>
              </a:r>
            </a:p>
          </p:txBody>
        </p:sp>
        <p:sp>
          <p:nvSpPr>
            <p:cNvPr id="10" name="Left Brace 9"/>
            <p:cNvSpPr/>
            <p:nvPr/>
          </p:nvSpPr>
          <p:spPr>
            <a:xfrm>
              <a:off x="4419600" y="4328755"/>
              <a:ext cx="197737" cy="929045"/>
            </a:xfrm>
            <a:prstGeom prst="lef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963415" y="5319355"/>
            <a:ext cx="2653922" cy="929045"/>
            <a:chOff x="1963415" y="5319355"/>
            <a:chExt cx="2653922" cy="929045"/>
          </a:xfrm>
        </p:grpSpPr>
        <p:sp>
          <p:nvSpPr>
            <p:cNvPr id="51" name="TextBox 50"/>
            <p:cNvSpPr txBox="1"/>
            <p:nvPr/>
          </p:nvSpPr>
          <p:spPr>
            <a:xfrm>
              <a:off x="1963415" y="5638800"/>
              <a:ext cx="2456185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C00000"/>
                  </a:solidFill>
                </a:rPr>
                <a:t>Conservation </a:t>
              </a:r>
              <a:r>
                <a:rPr lang="en-US" b="1" dirty="0"/>
                <a:t>constraint</a:t>
              </a:r>
            </a:p>
          </p:txBody>
        </p:sp>
        <p:sp>
          <p:nvSpPr>
            <p:cNvPr id="52" name="Left Brace 51"/>
            <p:cNvSpPr/>
            <p:nvPr/>
          </p:nvSpPr>
          <p:spPr>
            <a:xfrm>
              <a:off x="4419600" y="5319355"/>
              <a:ext cx="197737" cy="929045"/>
            </a:xfrm>
            <a:prstGeom prst="lef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Rectangle 53"/>
          <p:cNvSpPr/>
          <p:nvPr/>
        </p:nvSpPr>
        <p:spPr>
          <a:xfrm>
            <a:off x="5486400" y="3810000"/>
            <a:ext cx="1981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5105400" y="5562600"/>
            <a:ext cx="914400" cy="76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6705600" y="5562600"/>
            <a:ext cx="1752600" cy="76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68121B-31C1-B63E-AC17-5BD74C261F47}"/>
              </a:ext>
            </a:extLst>
          </p:cNvPr>
          <p:cNvSpPr/>
          <p:nvPr/>
        </p:nvSpPr>
        <p:spPr>
          <a:xfrm>
            <a:off x="5356318" y="2895600"/>
            <a:ext cx="2492282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46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uiExpand="1" build="p"/>
      <p:bldP spid="54" grpId="0" animBg="1"/>
      <p:bldP spid="55" grpId="0" animBg="1"/>
      <p:bldP spid="56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Formal Description </a:t>
            </a:r>
            <a:r>
              <a:rPr lang="en-US" sz="3200" b="1" dirty="0"/>
              <a:t>of Flow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52400" y="1600200"/>
                <a:ext cx="4343400" cy="51054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b="1" dirty="0"/>
                      <m:t>value</m:t>
                    </m:r>
                    <m:r>
                      <m:rPr>
                        <m:nor/>
                      </m:rPr>
                      <a:rPr lang="en-US" sz="1800" dirty="0"/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𝒇</m:t>
                    </m:r>
                    <m:r>
                      <m:rPr>
                        <m:nor/>
                      </m:rPr>
                      <a:rPr lang="en-US" sz="1800" dirty="0"/>
                      <m:t>)=</m:t>
                    </m:r>
                  </m:oMath>
                </a14:m>
                <a:r>
                  <a:rPr lang="en-US" sz="1800" dirty="0"/>
                  <a:t> flow </a:t>
                </a:r>
                <a:r>
                  <a:rPr lang="en-US" sz="1800" b="1" dirty="0"/>
                  <a:t>leaving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sz="18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𝒔</m:t>
                              </m:r>
                              <m:r>
                                <a:rPr lang="en-US" sz="1800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1800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𝒗</m:t>
                              </m:r>
                            </m:e>
                          </m:d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 ∈ </m:t>
                          </m:r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𝑬</m:t>
                          </m:r>
                        </m:sub>
                        <m:sup/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𝒇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(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,</m:t>
                          </m:r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)</m:t>
                          </m:r>
                        </m:e>
                      </m:nary>
                    </m:oMath>
                  </m:oMathPara>
                </a14:m>
                <a:endParaRPr lang="en-US" sz="1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52400" y="1600200"/>
                <a:ext cx="4343400" cy="51054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grpSp>
        <p:nvGrpSpPr>
          <p:cNvPr id="179" name="Group 178"/>
          <p:cNvGrpSpPr/>
          <p:nvPr/>
        </p:nvGrpSpPr>
        <p:grpSpPr>
          <a:xfrm>
            <a:off x="787863" y="1981199"/>
            <a:ext cx="2793537" cy="936719"/>
            <a:chOff x="2873282" y="1981200"/>
            <a:chExt cx="2793537" cy="936719"/>
          </a:xfrm>
        </p:grpSpPr>
        <p:sp>
          <p:nvSpPr>
            <p:cNvPr id="196" name="Oval 195"/>
            <p:cNvSpPr/>
            <p:nvPr/>
          </p:nvSpPr>
          <p:spPr>
            <a:xfrm>
              <a:off x="3761819" y="1981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/>
            <p:cNvSpPr/>
            <p:nvPr/>
          </p:nvSpPr>
          <p:spPr>
            <a:xfrm>
              <a:off x="5514419" y="1981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4" name="Straight Arrow Connector 183"/>
            <p:cNvCxnSpPr>
              <a:stCxn id="7" idx="7"/>
              <a:endCxn id="196" idx="3"/>
            </p:cNvCxnSpPr>
            <p:nvPr/>
          </p:nvCxnSpPr>
          <p:spPr>
            <a:xfrm flipV="1">
              <a:off x="2873282" y="2111282"/>
              <a:ext cx="910855" cy="8066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/>
            <p:cNvCxnSpPr>
              <a:stCxn id="196" idx="6"/>
              <a:endCxn id="192" idx="2"/>
            </p:cNvCxnSpPr>
            <p:nvPr/>
          </p:nvCxnSpPr>
          <p:spPr>
            <a:xfrm>
              <a:off x="3914219" y="2057400"/>
              <a:ext cx="16002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/>
          <p:cNvGrpSpPr/>
          <p:nvPr/>
        </p:nvGrpSpPr>
        <p:grpSpPr>
          <a:xfrm>
            <a:off x="381000" y="1676400"/>
            <a:ext cx="3581400" cy="2743200"/>
            <a:chOff x="2466419" y="1676400"/>
            <a:chExt cx="3581400" cy="2743200"/>
          </a:xfrm>
        </p:grpSpPr>
        <p:grpSp>
          <p:nvGrpSpPr>
            <p:cNvPr id="6" name="Group 5"/>
            <p:cNvGrpSpPr/>
            <p:nvPr/>
          </p:nvGrpSpPr>
          <p:grpSpPr>
            <a:xfrm>
              <a:off x="2466419" y="2895600"/>
              <a:ext cx="429181" cy="369332"/>
              <a:chOff x="4676219" y="3048000"/>
              <a:chExt cx="429181" cy="36933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953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2413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3457019" y="1688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019" y="1688068"/>
                  <a:ext cx="375424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1935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/>
            <p:cNvGrpSpPr/>
            <p:nvPr/>
          </p:nvGrpSpPr>
          <p:grpSpPr>
            <a:xfrm>
              <a:off x="3575756" y="3886200"/>
              <a:ext cx="386644" cy="533400"/>
              <a:chOff x="4566356" y="3810000"/>
              <a:chExt cx="386644" cy="5334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4566356" y="3974068"/>
                    <a:ext cx="3866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3974068"/>
                    <a:ext cx="386644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031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Oval 13"/>
              <p:cNvSpPr/>
              <p:nvPr/>
            </p:nvSpPr>
            <p:spPr>
              <a:xfrm>
                <a:off x="4676219" y="3810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5492044" y="1676400"/>
              <a:ext cx="555775" cy="2362200"/>
              <a:chOff x="4648200" y="1600200"/>
              <a:chExt cx="555775" cy="2362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833361" y="1600200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3361" y="1600200"/>
                    <a:ext cx="37061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22951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/>
              <p:cNvSpPr/>
              <p:nvPr/>
            </p:nvSpPr>
            <p:spPr>
              <a:xfrm>
                <a:off x="4648200" y="3810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5590619" y="3974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0619" y="3974068"/>
                  <a:ext cx="375424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8197" r="-1935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/>
            <p:cNvCxnSpPr>
              <a:stCxn id="7" idx="5"/>
              <a:endCxn id="14" idx="1"/>
            </p:cNvCxnSpPr>
            <p:nvPr/>
          </p:nvCxnSpPr>
          <p:spPr>
            <a:xfrm>
              <a:off x="2873282" y="3025682"/>
              <a:ext cx="834655" cy="8828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endCxn id="17" idx="2"/>
            </p:cNvCxnSpPr>
            <p:nvPr/>
          </p:nvCxnSpPr>
          <p:spPr>
            <a:xfrm>
              <a:off x="3838019" y="3962400"/>
              <a:ext cx="165402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H="1">
              <a:off x="5568244" y="2133599"/>
              <a:ext cx="22375" cy="17526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TextBox 85"/>
          <p:cNvSpPr txBox="1"/>
          <p:nvPr/>
        </p:nvSpPr>
        <p:spPr>
          <a:xfrm>
            <a:off x="2467162" y="1521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86200" y="33528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451992" y="2054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38" name="Arc 37"/>
          <p:cNvSpPr/>
          <p:nvPr/>
        </p:nvSpPr>
        <p:spPr>
          <a:xfrm>
            <a:off x="1490337" y="1806482"/>
            <a:ext cx="2252311" cy="1165318"/>
          </a:xfrm>
          <a:prstGeom prst="arc">
            <a:avLst>
              <a:gd name="adj1" fmla="val 12452853"/>
              <a:gd name="adj2" fmla="val 2021555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6" name="Straight Arrow Connector 235"/>
          <p:cNvCxnSpPr>
            <a:endCxn id="196" idx="7"/>
          </p:cNvCxnSpPr>
          <p:nvPr/>
        </p:nvCxnSpPr>
        <p:spPr>
          <a:xfrm flipH="1">
            <a:off x="1806482" y="1938125"/>
            <a:ext cx="131529" cy="653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/>
          <p:cNvCxnSpPr/>
          <p:nvPr/>
        </p:nvCxnSpPr>
        <p:spPr>
          <a:xfrm flipH="1">
            <a:off x="1730225" y="2133600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/>
          <p:cNvCxnSpPr>
            <a:stCxn id="196" idx="5"/>
            <a:endCxn id="17" idx="1"/>
          </p:cNvCxnSpPr>
          <p:nvPr/>
        </p:nvCxnSpPr>
        <p:spPr>
          <a:xfrm>
            <a:off x="1806482" y="2111281"/>
            <a:ext cx="1622461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stCxn id="14" idx="7"/>
            <a:endCxn id="192" idx="3"/>
          </p:cNvCxnSpPr>
          <p:nvPr/>
        </p:nvCxnSpPr>
        <p:spPr>
          <a:xfrm flipV="1">
            <a:off x="1730282" y="2111281"/>
            <a:ext cx="1721036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/>
          <p:cNvSpPr txBox="1"/>
          <p:nvPr/>
        </p:nvSpPr>
        <p:spPr>
          <a:xfrm>
            <a:off x="1019362" y="3426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412660" y="3959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4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4314455" y="2667000"/>
            <a:ext cx="409945" cy="369332"/>
            <a:chOff x="4191000" y="3593068"/>
            <a:chExt cx="409945" cy="369332"/>
          </a:xfrm>
        </p:grpSpPr>
        <p:sp>
          <p:nvSpPr>
            <p:cNvPr id="61" name="Oval 60"/>
            <p:cNvSpPr/>
            <p:nvPr/>
          </p:nvSpPr>
          <p:spPr>
            <a:xfrm>
              <a:off x="4191000" y="3733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333" r="-254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3" name="Straight Arrow Connector 62"/>
          <p:cNvCxnSpPr>
            <a:stCxn id="192" idx="5"/>
            <a:endCxn id="61" idx="1"/>
          </p:cNvCxnSpPr>
          <p:nvPr/>
        </p:nvCxnSpPr>
        <p:spPr>
          <a:xfrm>
            <a:off x="3559082" y="2111281"/>
            <a:ext cx="777691" cy="71876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17" idx="7"/>
            <a:endCxn id="61" idx="3"/>
          </p:cNvCxnSpPr>
          <p:nvPr/>
        </p:nvCxnSpPr>
        <p:spPr>
          <a:xfrm flipV="1">
            <a:off x="3536707" y="2937814"/>
            <a:ext cx="800066" cy="97070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1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600200"/>
                <a:ext cx="4419600" cy="495300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1800" dirty="0"/>
                  <a:t>=(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1800" dirty="0"/>
                  <a:t>,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/>
                  <a:t>) : a directed graph with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800" dirty="0"/>
                  <a:t>: source,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US" sz="1800" dirty="0"/>
                  <a:t>: sink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𝒄</m:t>
                    </m:r>
                  </m:oMath>
                </a14:m>
                <a:r>
                  <a:rPr lang="en-US" sz="1800" dirty="0"/>
                  <a:t>: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/>
                  <a:t> </a:t>
                </a:r>
                <a:r>
                  <a:rPr lang="en-US" sz="1800" dirty="0">
                    <a:sym typeface="Wingdings" pitchFamily="2" charset="2"/>
                  </a:rPr>
                  <a:t>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0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𝐑</m:t>
                        </m:r>
                      </m:e>
                      <m:sup>
                        <m:r>
                          <a:rPr lang="en-US" sz="1800" b="1" i="0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C00000"/>
                    </a:solidFill>
                  </a:rPr>
                  <a:t> 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𝒄</m:t>
                    </m:r>
                  </m:oMath>
                </a14:m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) = </a:t>
                </a:r>
                <a:r>
                  <a:rPr lang="en-US" sz="1800" u="sng" dirty="0"/>
                  <a:t>capacity</a:t>
                </a:r>
                <a:r>
                  <a:rPr lang="en-US" sz="1800" dirty="0"/>
                  <a:t> of edge 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)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Flow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𝒇</m:t>
                    </m:r>
                  </m:oMath>
                </a14:m>
                <a:r>
                  <a:rPr lang="en-US" sz="1800" dirty="0"/>
                  <a:t>: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 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𝐑</m:t>
                        </m:r>
                      </m:e>
                      <m:sup>
                        <m:r>
                          <a:rPr lang="en-US" sz="1800" b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C00000"/>
                    </a:solidFill>
                  </a:rPr>
                  <a:t> </a:t>
                </a:r>
                <a:r>
                  <a:rPr lang="en-US" sz="1800" dirty="0"/>
                  <a:t>such that </a:t>
                </a:r>
              </a:p>
              <a:p>
                <a:r>
                  <a:rPr lang="en-US" sz="1800" dirty="0"/>
                  <a:t>For each edge 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)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endParaRPr lang="en-US" sz="1800" dirty="0"/>
              </a:p>
              <a:p>
                <a:pPr marL="0" indent="0" algn="ctr">
                  <a:buNone/>
                </a:pP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𝒇</m:t>
                    </m:r>
                  </m:oMath>
                </a14:m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)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≤</m:t>
                    </m:r>
                    <m:r>
                      <a:rPr lang="en-US" sz="18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𝒄</m:t>
                    </m:r>
                  </m:oMath>
                </a14:m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)</a:t>
                </a:r>
              </a:p>
              <a:p>
                <a:pPr marL="0" indent="0" algn="ctr">
                  <a:buNone/>
                </a:pPr>
                <a:endParaRPr lang="en-US" sz="1800" dirty="0"/>
              </a:p>
              <a:p>
                <a:r>
                  <a:rPr lang="en-US" sz="1800" dirty="0"/>
                  <a:t>For each vertex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\</m:t>
                    </m:r>
                    <m:r>
                      <m:rPr>
                        <m:lit/>
                      </m:rPr>
                      <a:rPr lang="en-US" sz="1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{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}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sz="18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𝒖</m:t>
                              </m:r>
                              <m:r>
                                <a:rPr lang="en-US" sz="1800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1800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𝒗</m:t>
                              </m:r>
                            </m:e>
                          </m:d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 ∈ </m:t>
                          </m:r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𝑬</m:t>
                          </m:r>
                        </m:sub>
                        <m:sup/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𝒇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(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,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)</m:t>
                          </m:r>
                        </m:e>
                      </m:nary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sz="1800" dirty="0"/>
                            <m:t> </m:t>
                          </m:r>
                          <m:d>
                            <m:dPr>
                              <m:ctrlPr>
                                <a:rPr lang="en-US" sz="18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𝒗</m:t>
                              </m:r>
                              <m:r>
                                <a:rPr lang="en-US" sz="1800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1800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𝒛</m:t>
                              </m:r>
                            </m:e>
                          </m:d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∈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𝑬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 </m:t>
                          </m:r>
                        </m:sub>
                        <m:sup/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𝒇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(</m:t>
                          </m:r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e>
                      </m:nary>
                      <m:r>
                        <a:rPr lang="en-US" sz="1800" b="0" i="1" smtClean="0">
                          <a:latin typeface="Cambria Math"/>
                        </a:rPr>
                        <m:t>,</m:t>
                      </m:r>
                      <m:r>
                        <a:rPr lang="en-US" sz="18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𝒛</m:t>
                      </m:r>
                      <m:r>
                        <a:rPr lang="en-US" sz="18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Content Placeholder 2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600200"/>
                <a:ext cx="4419600" cy="4953000"/>
              </a:xfrm>
              <a:blipFill rotWithShape="1">
                <a:blip r:embed="rId13"/>
                <a:stretch>
                  <a:fillRect l="-1241" t="-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/>
          <p:cNvSpPr txBox="1"/>
          <p:nvPr/>
        </p:nvSpPr>
        <p:spPr>
          <a:xfrm>
            <a:off x="3733800" y="24354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1762" y="2435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33498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33600" y="3349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14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1066800" y="1828800"/>
            <a:ext cx="3215570" cy="1676400"/>
            <a:chOff x="1066800" y="1828800"/>
            <a:chExt cx="3215570" cy="1676400"/>
          </a:xfrm>
        </p:grpSpPr>
        <p:sp>
          <p:nvSpPr>
            <p:cNvPr id="53" name="TextBox 52"/>
            <p:cNvSpPr txBox="1"/>
            <p:nvPr/>
          </p:nvSpPr>
          <p:spPr>
            <a:xfrm>
              <a:off x="1066800" y="22098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95562" y="31974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162362" y="30480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286000" y="24354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467162" y="18288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4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914962" y="22068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838762" y="30450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1</a:t>
              </a: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3457762" y="2816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05162" y="27402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43000" y="4419600"/>
            <a:ext cx="1981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DF5DD9-7613-C4E1-0CEE-DA1C260DE04E}"/>
                  </a:ext>
                </a:extLst>
              </p:cNvPr>
              <p:cNvSpPr txBox="1"/>
              <p:nvPr/>
            </p:nvSpPr>
            <p:spPr>
              <a:xfrm>
                <a:off x="170985" y="6341593"/>
                <a:ext cx="4942122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It takes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 to verify if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dirty="0"/>
                  <a:t> is a valid flow.</a:t>
                </a:r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DF5DD9-7613-C4E1-0CEE-DA1C260DE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985" y="6341593"/>
                <a:ext cx="4942122" cy="369332"/>
              </a:xfrm>
              <a:prstGeom prst="rect">
                <a:avLst/>
              </a:prstGeom>
              <a:blipFill>
                <a:blip r:embed="rId14"/>
                <a:stretch>
                  <a:fillRect l="-986" t="-8197" r="-370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6034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6" grpId="0" animBg="1"/>
      <p:bldP spid="5" grpId="0" animBg="1"/>
      <p:bldP spid="5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Formal Description </a:t>
            </a:r>
            <a:r>
              <a:rPr lang="en-US" sz="3200" b="1" dirty="0"/>
              <a:t>of Flow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52400" y="1600200"/>
                <a:ext cx="4343400" cy="51054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b="1" dirty="0"/>
                      <m:t>value</m:t>
                    </m:r>
                    <m:r>
                      <m:rPr>
                        <m:nor/>
                      </m:rPr>
                      <a:rPr lang="en-US" sz="1800" dirty="0"/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𝒇</m:t>
                    </m:r>
                    <m:r>
                      <m:rPr>
                        <m:nor/>
                      </m:rPr>
                      <a:rPr lang="en-US" sz="1800" dirty="0"/>
                      <m:t>)=</m:t>
                    </m:r>
                  </m:oMath>
                </a14:m>
                <a:r>
                  <a:rPr lang="en-US" sz="1800" dirty="0"/>
                  <a:t> flow </a:t>
                </a:r>
                <a:r>
                  <a:rPr lang="en-US" sz="1800" b="1" dirty="0"/>
                  <a:t>leaving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sz="18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𝒔</m:t>
                              </m:r>
                              <m:r>
                                <a:rPr lang="en-US" sz="1800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1800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𝒗</m:t>
                              </m:r>
                            </m:e>
                          </m:d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 ∈ </m:t>
                          </m:r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𝑬</m:t>
                          </m:r>
                        </m:sub>
                        <m:sup/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𝒇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(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,</m:t>
                          </m:r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)</m:t>
                          </m:r>
                        </m:e>
                      </m:nary>
                    </m:oMath>
                  </m:oMathPara>
                </a14:m>
                <a:endParaRPr lang="en-US" sz="1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52400" y="1600200"/>
                <a:ext cx="4343400" cy="51054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grpSp>
        <p:nvGrpSpPr>
          <p:cNvPr id="179" name="Group 178"/>
          <p:cNvGrpSpPr/>
          <p:nvPr/>
        </p:nvGrpSpPr>
        <p:grpSpPr>
          <a:xfrm>
            <a:off x="787863" y="1981199"/>
            <a:ext cx="2793537" cy="936719"/>
            <a:chOff x="2873282" y="1981200"/>
            <a:chExt cx="2793537" cy="936719"/>
          </a:xfrm>
        </p:grpSpPr>
        <p:sp>
          <p:nvSpPr>
            <p:cNvPr id="196" name="Oval 195"/>
            <p:cNvSpPr/>
            <p:nvPr/>
          </p:nvSpPr>
          <p:spPr>
            <a:xfrm>
              <a:off x="3761819" y="1981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/>
            <p:cNvSpPr/>
            <p:nvPr/>
          </p:nvSpPr>
          <p:spPr>
            <a:xfrm>
              <a:off x="5514419" y="1981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4" name="Straight Arrow Connector 183"/>
            <p:cNvCxnSpPr>
              <a:stCxn id="7" idx="7"/>
              <a:endCxn id="196" idx="3"/>
            </p:cNvCxnSpPr>
            <p:nvPr/>
          </p:nvCxnSpPr>
          <p:spPr>
            <a:xfrm flipV="1">
              <a:off x="2873282" y="2111282"/>
              <a:ext cx="910855" cy="8066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/>
            <p:cNvCxnSpPr>
              <a:stCxn id="196" idx="6"/>
              <a:endCxn id="192" idx="2"/>
            </p:cNvCxnSpPr>
            <p:nvPr/>
          </p:nvCxnSpPr>
          <p:spPr>
            <a:xfrm>
              <a:off x="3914219" y="2057400"/>
              <a:ext cx="16002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/>
          <p:cNvGrpSpPr/>
          <p:nvPr/>
        </p:nvGrpSpPr>
        <p:grpSpPr>
          <a:xfrm>
            <a:off x="381000" y="1676400"/>
            <a:ext cx="3581400" cy="2743200"/>
            <a:chOff x="2466419" y="1676400"/>
            <a:chExt cx="3581400" cy="2743200"/>
          </a:xfrm>
        </p:grpSpPr>
        <p:grpSp>
          <p:nvGrpSpPr>
            <p:cNvPr id="6" name="Group 5"/>
            <p:cNvGrpSpPr/>
            <p:nvPr/>
          </p:nvGrpSpPr>
          <p:grpSpPr>
            <a:xfrm>
              <a:off x="2466419" y="2895600"/>
              <a:ext cx="429181" cy="369332"/>
              <a:chOff x="4676219" y="3048000"/>
              <a:chExt cx="429181" cy="36933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953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2413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3457019" y="1688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019" y="1688068"/>
                  <a:ext cx="375424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1935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/>
            <p:cNvGrpSpPr/>
            <p:nvPr/>
          </p:nvGrpSpPr>
          <p:grpSpPr>
            <a:xfrm>
              <a:off x="3575756" y="3886200"/>
              <a:ext cx="386644" cy="533400"/>
              <a:chOff x="4566356" y="3810000"/>
              <a:chExt cx="386644" cy="5334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4566356" y="3974068"/>
                    <a:ext cx="3866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3974068"/>
                    <a:ext cx="386644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031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Oval 13"/>
              <p:cNvSpPr/>
              <p:nvPr/>
            </p:nvSpPr>
            <p:spPr>
              <a:xfrm>
                <a:off x="4676219" y="3810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5492044" y="1676400"/>
              <a:ext cx="555775" cy="2362200"/>
              <a:chOff x="4648200" y="1600200"/>
              <a:chExt cx="555775" cy="2362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833361" y="1600200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3361" y="1600200"/>
                    <a:ext cx="37061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22951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/>
              <p:cNvSpPr/>
              <p:nvPr/>
            </p:nvSpPr>
            <p:spPr>
              <a:xfrm>
                <a:off x="4648200" y="3810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5590619" y="3974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0619" y="3974068"/>
                  <a:ext cx="375424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8197" r="-1935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/>
            <p:cNvCxnSpPr>
              <a:stCxn id="7" idx="5"/>
              <a:endCxn id="14" idx="1"/>
            </p:cNvCxnSpPr>
            <p:nvPr/>
          </p:nvCxnSpPr>
          <p:spPr>
            <a:xfrm>
              <a:off x="2873282" y="3025682"/>
              <a:ext cx="834655" cy="8828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endCxn id="17" idx="2"/>
            </p:cNvCxnSpPr>
            <p:nvPr/>
          </p:nvCxnSpPr>
          <p:spPr>
            <a:xfrm>
              <a:off x="3838019" y="3962400"/>
              <a:ext cx="165402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H="1">
              <a:off x="5568244" y="2133599"/>
              <a:ext cx="22375" cy="17526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TextBox 85"/>
          <p:cNvSpPr txBox="1"/>
          <p:nvPr/>
        </p:nvSpPr>
        <p:spPr>
          <a:xfrm>
            <a:off x="2467162" y="1521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86200" y="33528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451992" y="2054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38" name="Arc 37"/>
          <p:cNvSpPr/>
          <p:nvPr/>
        </p:nvSpPr>
        <p:spPr>
          <a:xfrm>
            <a:off x="1490337" y="1806482"/>
            <a:ext cx="2252311" cy="1165318"/>
          </a:xfrm>
          <a:prstGeom prst="arc">
            <a:avLst>
              <a:gd name="adj1" fmla="val 12452853"/>
              <a:gd name="adj2" fmla="val 2021555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6" name="Straight Arrow Connector 235"/>
          <p:cNvCxnSpPr>
            <a:endCxn id="196" idx="7"/>
          </p:cNvCxnSpPr>
          <p:nvPr/>
        </p:nvCxnSpPr>
        <p:spPr>
          <a:xfrm flipH="1">
            <a:off x="1806482" y="1938125"/>
            <a:ext cx="131529" cy="653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/>
          <p:cNvCxnSpPr/>
          <p:nvPr/>
        </p:nvCxnSpPr>
        <p:spPr>
          <a:xfrm flipH="1">
            <a:off x="1730225" y="2133600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/>
          <p:cNvCxnSpPr>
            <a:stCxn id="196" idx="5"/>
            <a:endCxn id="17" idx="1"/>
          </p:cNvCxnSpPr>
          <p:nvPr/>
        </p:nvCxnSpPr>
        <p:spPr>
          <a:xfrm>
            <a:off x="1806482" y="2111281"/>
            <a:ext cx="1622461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stCxn id="14" idx="7"/>
            <a:endCxn id="192" idx="3"/>
          </p:cNvCxnSpPr>
          <p:nvPr/>
        </p:nvCxnSpPr>
        <p:spPr>
          <a:xfrm flipV="1">
            <a:off x="1730282" y="2111281"/>
            <a:ext cx="1721036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/>
          <p:cNvSpPr txBox="1"/>
          <p:nvPr/>
        </p:nvSpPr>
        <p:spPr>
          <a:xfrm>
            <a:off x="1019362" y="3426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412660" y="3959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4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4314455" y="2667000"/>
            <a:ext cx="409945" cy="369332"/>
            <a:chOff x="4191000" y="3593068"/>
            <a:chExt cx="409945" cy="369332"/>
          </a:xfrm>
        </p:grpSpPr>
        <p:sp>
          <p:nvSpPr>
            <p:cNvPr id="61" name="Oval 60"/>
            <p:cNvSpPr/>
            <p:nvPr/>
          </p:nvSpPr>
          <p:spPr>
            <a:xfrm>
              <a:off x="4191000" y="3733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333" r="-254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3" name="Straight Arrow Connector 62"/>
          <p:cNvCxnSpPr>
            <a:stCxn id="192" idx="5"/>
            <a:endCxn id="61" idx="1"/>
          </p:cNvCxnSpPr>
          <p:nvPr/>
        </p:nvCxnSpPr>
        <p:spPr>
          <a:xfrm>
            <a:off x="3559082" y="2111281"/>
            <a:ext cx="777691" cy="71876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17" idx="7"/>
            <a:endCxn id="61" idx="3"/>
          </p:cNvCxnSpPr>
          <p:nvPr/>
        </p:nvCxnSpPr>
        <p:spPr>
          <a:xfrm flipV="1">
            <a:off x="3536707" y="2937814"/>
            <a:ext cx="800066" cy="97070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1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600200"/>
                <a:ext cx="4419600" cy="495300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1800" dirty="0"/>
                  <a:t>=(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1800" dirty="0"/>
                  <a:t>,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/>
                  <a:t>) : a directed graph with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800" dirty="0"/>
                  <a:t>: source,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US" sz="1800" dirty="0"/>
                  <a:t>: sink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𝒄</m:t>
                    </m:r>
                  </m:oMath>
                </a14:m>
                <a:r>
                  <a:rPr lang="en-US" sz="1800" dirty="0"/>
                  <a:t>: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/>
                  <a:t> </a:t>
                </a:r>
                <a:r>
                  <a:rPr lang="en-US" sz="1800" dirty="0">
                    <a:sym typeface="Wingdings" pitchFamily="2" charset="2"/>
                  </a:rPr>
                  <a:t>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0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𝐑</m:t>
                        </m:r>
                      </m:e>
                      <m:sup>
                        <m:r>
                          <a:rPr lang="en-US" sz="1800" b="1" i="0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C00000"/>
                    </a:solidFill>
                  </a:rPr>
                  <a:t> 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𝒄</m:t>
                    </m:r>
                  </m:oMath>
                </a14:m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) = </a:t>
                </a:r>
                <a:r>
                  <a:rPr lang="en-US" sz="1800" u="sng" dirty="0"/>
                  <a:t>capacity</a:t>
                </a:r>
                <a:r>
                  <a:rPr lang="en-US" sz="1800" dirty="0"/>
                  <a:t> of edge 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)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Max-Flow</a:t>
                </a:r>
                <a:r>
                  <a:rPr lang="en-US" sz="1800" b="1" dirty="0"/>
                  <a:t>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Problem</a:t>
                </a:r>
                <a:r>
                  <a:rPr lang="en-US" sz="1800" dirty="0"/>
                  <a:t>:</a:t>
                </a:r>
              </a:p>
              <a:p>
                <a:pPr marL="0" indent="0">
                  <a:buNone/>
                </a:pPr>
                <a:r>
                  <a:rPr lang="en-US" sz="1800" dirty="0"/>
                  <a:t>Given a network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1800" dirty="0"/>
                  <a:t>=(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/>
                  <a:t>), </a:t>
                </a:r>
              </a:p>
              <a:p>
                <a:pPr marL="0" indent="0">
                  <a:buNone/>
                </a:pPr>
                <a:r>
                  <a:rPr lang="en-US" sz="1800" dirty="0"/>
                  <a:t>and two vertices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1800" dirty="0"/>
                  <a:t>, </a:t>
                </a:r>
              </a:p>
              <a:p>
                <a:pPr marL="0" indent="0">
                  <a:buNone/>
                </a:pPr>
                <a:r>
                  <a:rPr lang="en-US" sz="1800" dirty="0"/>
                  <a:t>find a flow from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800" dirty="0"/>
                  <a:t> to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US" sz="1800" dirty="0"/>
                  <a:t> of </a:t>
                </a:r>
                <a:r>
                  <a:rPr lang="en-US" sz="1800" b="1" dirty="0"/>
                  <a:t>maximum</a:t>
                </a:r>
                <a:r>
                  <a:rPr lang="en-US" sz="1800" dirty="0"/>
                  <a:t> value.</a:t>
                </a:r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22" name="Content Placeholder 2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600200"/>
                <a:ext cx="4419600" cy="4953000"/>
              </a:xfrm>
              <a:blipFill rotWithShape="1">
                <a:blip r:embed="rId13"/>
                <a:stretch>
                  <a:fillRect l="-1241" t="-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/>
          <p:cNvSpPr txBox="1"/>
          <p:nvPr/>
        </p:nvSpPr>
        <p:spPr>
          <a:xfrm>
            <a:off x="3733800" y="24354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1762" y="2435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33498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33600" y="3349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57762" y="2816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05162" y="27402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5181600"/>
            <a:ext cx="1981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930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uiExpand="1" build="p"/>
      <p:bldP spid="5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Towards designing </a:t>
            </a:r>
            <a:r>
              <a:rPr lang="en-US" sz="3200" b="1" dirty="0">
                <a:solidFill>
                  <a:srgbClr val="7030A0"/>
                </a:solidFill>
              </a:rPr>
              <a:t>max flow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196" name="Oval 195"/>
          <p:cNvSpPr/>
          <p:nvPr/>
        </p:nvSpPr>
        <p:spPr>
          <a:xfrm>
            <a:off x="1676400" y="1981199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/>
          <p:cNvSpPr/>
          <p:nvPr/>
        </p:nvSpPr>
        <p:spPr>
          <a:xfrm>
            <a:off x="3429000" y="1981199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4" name="Straight Arrow Connector 183"/>
          <p:cNvCxnSpPr>
            <a:stCxn id="7" idx="7"/>
            <a:endCxn id="196" idx="3"/>
          </p:cNvCxnSpPr>
          <p:nvPr/>
        </p:nvCxnSpPr>
        <p:spPr>
          <a:xfrm flipV="1">
            <a:off x="787863" y="2111281"/>
            <a:ext cx="910855" cy="8066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/>
          <p:cNvCxnSpPr>
            <a:stCxn id="196" idx="6"/>
            <a:endCxn id="192" idx="2"/>
          </p:cNvCxnSpPr>
          <p:nvPr/>
        </p:nvCxnSpPr>
        <p:spPr>
          <a:xfrm>
            <a:off x="1828800" y="2057399"/>
            <a:ext cx="16002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57781" y="28956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1000" y="2895600"/>
                <a:ext cx="3529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895600"/>
                <a:ext cx="35298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371600" y="16880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1688068"/>
                <a:ext cx="37542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490337" y="4050268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337" y="4050268"/>
                <a:ext cx="38664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/>
          <p:cNvSpPr/>
          <p:nvPr/>
        </p:nvSpPr>
        <p:spPr>
          <a:xfrm>
            <a:off x="1600200" y="38862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591786" y="1676400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786" y="1676400"/>
                <a:ext cx="3706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/>
          <p:cNvSpPr/>
          <p:nvPr/>
        </p:nvSpPr>
        <p:spPr>
          <a:xfrm>
            <a:off x="3406625" y="38862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505200" y="39740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3974068"/>
                <a:ext cx="375424" cy="369332"/>
              </a:xfrm>
              <a:prstGeom prst="rect">
                <a:avLst/>
              </a:prstGeom>
              <a:blipFill>
                <a:blip r:embed="rId6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>
            <a:stCxn id="7" idx="5"/>
            <a:endCxn id="14" idx="1"/>
          </p:cNvCxnSpPr>
          <p:nvPr/>
        </p:nvCxnSpPr>
        <p:spPr>
          <a:xfrm>
            <a:off x="787863" y="3025682"/>
            <a:ext cx="834655" cy="8828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17" idx="2"/>
          </p:cNvCxnSpPr>
          <p:nvPr/>
        </p:nvCxnSpPr>
        <p:spPr>
          <a:xfrm>
            <a:off x="1752600" y="3962400"/>
            <a:ext cx="1654025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3482825" y="2133599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2467162" y="1521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86200" y="33528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451992" y="2054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38" name="Arc 37"/>
          <p:cNvSpPr/>
          <p:nvPr/>
        </p:nvSpPr>
        <p:spPr>
          <a:xfrm>
            <a:off x="1490337" y="1806482"/>
            <a:ext cx="2252311" cy="1165318"/>
          </a:xfrm>
          <a:prstGeom prst="arc">
            <a:avLst>
              <a:gd name="adj1" fmla="val 12452853"/>
              <a:gd name="adj2" fmla="val 2021555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6" name="Straight Arrow Connector 235"/>
          <p:cNvCxnSpPr>
            <a:endCxn id="196" idx="7"/>
          </p:cNvCxnSpPr>
          <p:nvPr/>
        </p:nvCxnSpPr>
        <p:spPr>
          <a:xfrm flipH="1">
            <a:off x="1806482" y="1938125"/>
            <a:ext cx="131529" cy="653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/>
          <p:cNvCxnSpPr/>
          <p:nvPr/>
        </p:nvCxnSpPr>
        <p:spPr>
          <a:xfrm flipH="1">
            <a:off x="1730225" y="2133600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/>
          <p:cNvCxnSpPr>
            <a:stCxn id="196" idx="5"/>
            <a:endCxn id="17" idx="1"/>
          </p:cNvCxnSpPr>
          <p:nvPr/>
        </p:nvCxnSpPr>
        <p:spPr>
          <a:xfrm>
            <a:off x="1806482" y="2111281"/>
            <a:ext cx="1622461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stCxn id="14" idx="7"/>
            <a:endCxn id="192" idx="3"/>
          </p:cNvCxnSpPr>
          <p:nvPr/>
        </p:nvCxnSpPr>
        <p:spPr>
          <a:xfrm flipV="1">
            <a:off x="1730282" y="2111281"/>
            <a:ext cx="1721036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/>
          <p:cNvSpPr txBox="1"/>
          <p:nvPr/>
        </p:nvSpPr>
        <p:spPr>
          <a:xfrm>
            <a:off x="1019362" y="3426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412660" y="3959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4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4314455" y="2667000"/>
            <a:ext cx="409945" cy="369332"/>
            <a:chOff x="4191000" y="3593068"/>
            <a:chExt cx="409945" cy="369332"/>
          </a:xfrm>
        </p:grpSpPr>
        <p:sp>
          <p:nvSpPr>
            <p:cNvPr id="61" name="Oval 60"/>
            <p:cNvSpPr/>
            <p:nvPr/>
          </p:nvSpPr>
          <p:spPr>
            <a:xfrm>
              <a:off x="4191000" y="3733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333" r="-254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3" name="Straight Arrow Connector 62"/>
          <p:cNvCxnSpPr>
            <a:stCxn id="192" idx="5"/>
            <a:endCxn id="61" idx="1"/>
          </p:cNvCxnSpPr>
          <p:nvPr/>
        </p:nvCxnSpPr>
        <p:spPr>
          <a:xfrm>
            <a:off x="3559082" y="2111281"/>
            <a:ext cx="777691" cy="71876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17" idx="7"/>
            <a:endCxn id="61" idx="3"/>
          </p:cNvCxnSpPr>
          <p:nvPr/>
        </p:nvCxnSpPr>
        <p:spPr>
          <a:xfrm flipV="1">
            <a:off x="3536707" y="2937814"/>
            <a:ext cx="800066" cy="97070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733800" y="24354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1762" y="2435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33498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33600" y="3349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57762" y="2816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05162" y="27402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5181600"/>
            <a:ext cx="1981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8DB10E-81D0-0B13-6B27-98D57A8FC8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loud Callout 47">
            <a:extLst>
              <a:ext uri="{FF2B5EF4-FFF2-40B4-BE49-F238E27FC236}">
                <a16:creationId xmlns:a16="http://schemas.microsoft.com/office/drawing/2014/main" id="{E4D04508-C419-4DAB-108B-5A019C883E0C}"/>
              </a:ext>
            </a:extLst>
          </p:cNvPr>
          <p:cNvSpPr/>
          <p:nvPr/>
        </p:nvSpPr>
        <p:spPr>
          <a:xfrm>
            <a:off x="5562600" y="2514600"/>
            <a:ext cx="3276600" cy="1147537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we handle </a:t>
            </a:r>
            <a:r>
              <a:rPr lang="en-US" b="1" u="sng" dirty="0">
                <a:solidFill>
                  <a:schemeClr val="tx1"/>
                </a:solidFill>
              </a:rPr>
              <a:t>simpler</a:t>
            </a:r>
            <a:r>
              <a:rPr lang="en-US" dirty="0">
                <a:solidFill>
                  <a:schemeClr val="tx1"/>
                </a:solidFill>
              </a:rPr>
              <a:t> graphs ?</a:t>
            </a:r>
          </a:p>
        </p:txBody>
      </p:sp>
    </p:spTree>
    <p:extLst>
      <p:ext uri="{BB962C8B-B14F-4D97-AF65-F5344CB8AC3E}">
        <p14:creationId xmlns:p14="http://schemas.microsoft.com/office/powerpoint/2010/main" val="1141958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3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Towards designing </a:t>
            </a:r>
            <a:r>
              <a:rPr lang="en-US" sz="3200" b="1" dirty="0">
                <a:solidFill>
                  <a:srgbClr val="7030A0"/>
                </a:solidFill>
              </a:rPr>
              <a:t>max flow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1B8F1ED-F660-044F-843A-31AF4AFD068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600200"/>
                <a:ext cx="4495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Can we send some non-zero flow 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Convince yourself that it is indeed a </a:t>
                </a:r>
              </a:p>
              <a:p>
                <a:pPr marL="0" indent="0">
                  <a:buNone/>
                </a:pPr>
                <a:r>
                  <a:rPr lang="en-US" sz="2000" dirty="0"/>
                  <a:t>valid flow.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Can you send more flow 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IN" sz="2000" dirty="0"/>
                  <a:t>Can you increase beyond </a:t>
                </a:r>
                <a:r>
                  <a:rPr lang="en-IN" sz="2000" dirty="0">
                    <a:solidFill>
                      <a:srgbClr val="006C31"/>
                    </a:solidFill>
                  </a:rPr>
                  <a:t>2</a:t>
                </a:r>
                <a:r>
                  <a:rPr lang="en-IN" sz="2000" dirty="0"/>
                  <a:t> ?</a:t>
                </a:r>
              </a:p>
              <a:p>
                <a:pPr marL="0" indent="0">
                  <a:buNone/>
                </a:pPr>
                <a:endParaRPr lang="en-IN" sz="2000" dirty="0"/>
              </a:p>
              <a:p>
                <a:pPr marL="0" indent="0">
                  <a:buNone/>
                </a:pPr>
                <a:r>
                  <a:rPr lang="en-IN" sz="2000" b="1" dirty="0"/>
                  <a:t>Note: </a:t>
                </a:r>
              </a:p>
              <a:p>
                <a:pPr marL="0" indent="0">
                  <a:buNone/>
                </a:pPr>
                <a:r>
                  <a:rPr lang="en-IN" sz="2000" dirty="0"/>
                  <a:t>each flow has to pass through edge 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IN" sz="2000" dirty="0"/>
                  <a:t>,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IN" sz="2000" dirty="0"/>
                  <a:t>)</a:t>
                </a:r>
                <a:endParaRPr lang="en-US" sz="20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1B8F1ED-F660-044F-843A-31AF4AFD06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600200"/>
                <a:ext cx="4495800" cy="4525963"/>
              </a:xfrm>
              <a:blipFill>
                <a:blip r:embed="rId2"/>
                <a:stretch>
                  <a:fillRect l="-1493" t="-809" r="-5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196" name="Oval 195"/>
          <p:cNvSpPr/>
          <p:nvPr/>
        </p:nvSpPr>
        <p:spPr>
          <a:xfrm>
            <a:off x="1676400" y="28956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/>
          <p:cNvSpPr/>
          <p:nvPr/>
        </p:nvSpPr>
        <p:spPr>
          <a:xfrm>
            <a:off x="3429000" y="28956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4" name="Straight Arrow Connector 183"/>
          <p:cNvCxnSpPr>
            <a:cxnSpLocks/>
          </p:cNvCxnSpPr>
          <p:nvPr/>
        </p:nvCxnSpPr>
        <p:spPr>
          <a:xfrm>
            <a:off x="787863" y="2971800"/>
            <a:ext cx="888537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/>
          <p:cNvCxnSpPr>
            <a:cxnSpLocks/>
            <a:stCxn id="196" idx="6"/>
            <a:endCxn id="192" idx="2"/>
          </p:cNvCxnSpPr>
          <p:nvPr/>
        </p:nvCxnSpPr>
        <p:spPr>
          <a:xfrm>
            <a:off x="1828800" y="2971800"/>
            <a:ext cx="16002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57781" y="28956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1000" y="2895600"/>
                <a:ext cx="3529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895600"/>
                <a:ext cx="35298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605776" y="24500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776" y="2450068"/>
                <a:ext cx="3754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363186" y="2450068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3186" y="2450068"/>
                <a:ext cx="3706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TextBox 89"/>
          <p:cNvSpPr txBox="1"/>
          <p:nvPr/>
        </p:nvSpPr>
        <p:spPr>
          <a:xfrm>
            <a:off x="2451992" y="25878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5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4314455" y="2754868"/>
            <a:ext cx="409945" cy="369332"/>
            <a:chOff x="4191000" y="3593068"/>
            <a:chExt cx="409945" cy="369332"/>
          </a:xfrm>
        </p:grpSpPr>
        <p:sp>
          <p:nvSpPr>
            <p:cNvPr id="61" name="Oval 60"/>
            <p:cNvSpPr/>
            <p:nvPr/>
          </p:nvSpPr>
          <p:spPr>
            <a:xfrm>
              <a:off x="4191000" y="3733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333" r="-254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3" name="Straight Arrow Connector 62"/>
          <p:cNvCxnSpPr>
            <a:cxnSpLocks/>
            <a:stCxn id="192" idx="6"/>
            <a:endCxn id="61" idx="2"/>
          </p:cNvCxnSpPr>
          <p:nvPr/>
        </p:nvCxnSpPr>
        <p:spPr>
          <a:xfrm>
            <a:off x="3581400" y="2971800"/>
            <a:ext cx="733055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733800" y="2587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1762" y="25878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E05DF76-76AE-29C0-D52C-8D7C4424F29F}"/>
              </a:ext>
            </a:extLst>
          </p:cNvPr>
          <p:cNvCxnSpPr>
            <a:cxnSpLocks/>
            <a:stCxn id="7" idx="6"/>
            <a:endCxn id="196" idx="2"/>
          </p:cNvCxnSpPr>
          <p:nvPr/>
        </p:nvCxnSpPr>
        <p:spPr>
          <a:xfrm>
            <a:off x="810181" y="2971800"/>
            <a:ext cx="866219" cy="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D61AA89-D95F-65B9-DB9C-6BA531ADDD48}"/>
              </a:ext>
            </a:extLst>
          </p:cNvPr>
          <p:cNvCxnSpPr>
            <a:cxnSpLocks/>
            <a:stCxn id="196" idx="6"/>
            <a:endCxn id="192" idx="2"/>
          </p:cNvCxnSpPr>
          <p:nvPr/>
        </p:nvCxnSpPr>
        <p:spPr>
          <a:xfrm>
            <a:off x="1828800" y="2971800"/>
            <a:ext cx="1600200" cy="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5C8C6E3-5192-24C9-9AEB-E879B215D83F}"/>
              </a:ext>
            </a:extLst>
          </p:cNvPr>
          <p:cNvCxnSpPr>
            <a:cxnSpLocks/>
            <a:endCxn id="61" idx="2"/>
          </p:cNvCxnSpPr>
          <p:nvPr/>
        </p:nvCxnSpPr>
        <p:spPr>
          <a:xfrm>
            <a:off x="3581400" y="2971800"/>
            <a:ext cx="733055" cy="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4809F58-A283-8A2D-345B-7E0B72FD12AC}"/>
              </a:ext>
            </a:extLst>
          </p:cNvPr>
          <p:cNvSpPr txBox="1"/>
          <p:nvPr/>
        </p:nvSpPr>
        <p:spPr>
          <a:xfrm>
            <a:off x="2286000" y="304800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BD4318-AEEA-1358-E93B-BA084BA150D4}"/>
              </a:ext>
            </a:extLst>
          </p:cNvPr>
          <p:cNvSpPr txBox="1"/>
          <p:nvPr/>
        </p:nvSpPr>
        <p:spPr>
          <a:xfrm>
            <a:off x="957726" y="3080266"/>
            <a:ext cx="352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5C9E30-F114-EDB3-E78B-90FBC311ADFD}"/>
              </a:ext>
            </a:extLst>
          </p:cNvPr>
          <p:cNvSpPr txBox="1"/>
          <p:nvPr/>
        </p:nvSpPr>
        <p:spPr>
          <a:xfrm>
            <a:off x="3644593" y="304800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574998-8294-786A-7FCD-D0F762DCDD0F}"/>
              </a:ext>
            </a:extLst>
          </p:cNvPr>
          <p:cNvSpPr txBox="1"/>
          <p:nvPr/>
        </p:nvSpPr>
        <p:spPr>
          <a:xfrm>
            <a:off x="2314945" y="304800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BD2BCA-F439-DD1F-74F0-A732398E9647}"/>
              </a:ext>
            </a:extLst>
          </p:cNvPr>
          <p:cNvSpPr txBox="1"/>
          <p:nvPr/>
        </p:nvSpPr>
        <p:spPr>
          <a:xfrm>
            <a:off x="986671" y="3080266"/>
            <a:ext cx="352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8C5F37-DA11-4768-9D70-A9695DEDD095}"/>
              </a:ext>
            </a:extLst>
          </p:cNvPr>
          <p:cNvSpPr txBox="1"/>
          <p:nvPr/>
        </p:nvSpPr>
        <p:spPr>
          <a:xfrm>
            <a:off x="3673538" y="304800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564895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1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1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24" grpId="0"/>
      <p:bldP spid="24" grpId="1"/>
      <p:bldP spid="30" grpId="0"/>
      <p:bldP spid="30" grpId="1"/>
      <p:bldP spid="31" grpId="0"/>
      <p:bldP spid="31" grpId="1"/>
      <p:bldP spid="32" grpId="0"/>
      <p:bldP spid="33" grpId="0"/>
      <p:bldP spid="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Towards designing </a:t>
            </a:r>
            <a:r>
              <a:rPr lang="en-US" sz="3200" b="1" dirty="0">
                <a:solidFill>
                  <a:srgbClr val="7030A0"/>
                </a:solidFill>
              </a:rPr>
              <a:t>max flow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AEF39-BAD1-EA5D-DD4E-823E1C931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We can compute maximum flow in a </a:t>
            </a:r>
            <a:r>
              <a:rPr lang="en-IN" sz="2000" b="1" dirty="0"/>
              <a:t>path</a:t>
            </a:r>
            <a:r>
              <a:rPr lang="en-IN" sz="2000" dirty="0"/>
              <a:t> easily.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196" name="Oval 195"/>
          <p:cNvSpPr/>
          <p:nvPr/>
        </p:nvSpPr>
        <p:spPr>
          <a:xfrm>
            <a:off x="1676400" y="28956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/>
          <p:cNvSpPr/>
          <p:nvPr/>
        </p:nvSpPr>
        <p:spPr>
          <a:xfrm>
            <a:off x="3429000" y="28956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4" name="Straight Arrow Connector 183"/>
          <p:cNvCxnSpPr>
            <a:cxnSpLocks/>
          </p:cNvCxnSpPr>
          <p:nvPr/>
        </p:nvCxnSpPr>
        <p:spPr>
          <a:xfrm>
            <a:off x="787863" y="2971800"/>
            <a:ext cx="888537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/>
          <p:cNvCxnSpPr>
            <a:cxnSpLocks/>
            <a:stCxn id="196" idx="6"/>
            <a:endCxn id="192" idx="2"/>
          </p:cNvCxnSpPr>
          <p:nvPr/>
        </p:nvCxnSpPr>
        <p:spPr>
          <a:xfrm>
            <a:off x="1828800" y="2971800"/>
            <a:ext cx="16002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57781" y="28956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1000" y="2895600"/>
                <a:ext cx="3529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895600"/>
                <a:ext cx="35298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605776" y="24500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776" y="2450068"/>
                <a:ext cx="37542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363186" y="2450068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3186" y="2450068"/>
                <a:ext cx="37061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TextBox 89"/>
          <p:cNvSpPr txBox="1"/>
          <p:nvPr/>
        </p:nvSpPr>
        <p:spPr>
          <a:xfrm>
            <a:off x="2451992" y="25878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5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4314455" y="2754868"/>
            <a:ext cx="409945" cy="369332"/>
            <a:chOff x="4191000" y="3593068"/>
            <a:chExt cx="409945" cy="369332"/>
          </a:xfrm>
        </p:grpSpPr>
        <p:sp>
          <p:nvSpPr>
            <p:cNvPr id="61" name="Oval 60"/>
            <p:cNvSpPr/>
            <p:nvPr/>
          </p:nvSpPr>
          <p:spPr>
            <a:xfrm>
              <a:off x="4191000" y="3733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333" r="-254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3" name="Straight Arrow Connector 62"/>
          <p:cNvCxnSpPr>
            <a:cxnSpLocks/>
            <a:stCxn id="192" idx="6"/>
            <a:endCxn id="61" idx="2"/>
          </p:cNvCxnSpPr>
          <p:nvPr/>
        </p:nvCxnSpPr>
        <p:spPr>
          <a:xfrm>
            <a:off x="3581400" y="2971800"/>
            <a:ext cx="733055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733800" y="2587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1762" y="25878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E05DF76-76AE-29C0-D52C-8D7C4424F29F}"/>
              </a:ext>
            </a:extLst>
          </p:cNvPr>
          <p:cNvCxnSpPr>
            <a:cxnSpLocks/>
            <a:stCxn id="7" idx="6"/>
            <a:endCxn id="196" idx="2"/>
          </p:cNvCxnSpPr>
          <p:nvPr/>
        </p:nvCxnSpPr>
        <p:spPr>
          <a:xfrm>
            <a:off x="810181" y="2971800"/>
            <a:ext cx="866219" cy="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D61AA89-D95F-65B9-DB9C-6BA531ADDD48}"/>
              </a:ext>
            </a:extLst>
          </p:cNvPr>
          <p:cNvCxnSpPr>
            <a:cxnSpLocks/>
            <a:stCxn id="196" idx="6"/>
            <a:endCxn id="192" idx="2"/>
          </p:cNvCxnSpPr>
          <p:nvPr/>
        </p:nvCxnSpPr>
        <p:spPr>
          <a:xfrm>
            <a:off x="1828800" y="2971800"/>
            <a:ext cx="1600200" cy="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5C8C6E3-5192-24C9-9AEB-E879B215D83F}"/>
              </a:ext>
            </a:extLst>
          </p:cNvPr>
          <p:cNvCxnSpPr>
            <a:cxnSpLocks/>
            <a:endCxn id="61" idx="2"/>
          </p:cNvCxnSpPr>
          <p:nvPr/>
        </p:nvCxnSpPr>
        <p:spPr>
          <a:xfrm>
            <a:off x="3581400" y="2971800"/>
            <a:ext cx="733055" cy="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4809F58-A283-8A2D-345B-7E0B72FD12AC}"/>
              </a:ext>
            </a:extLst>
          </p:cNvPr>
          <p:cNvSpPr txBox="1"/>
          <p:nvPr/>
        </p:nvSpPr>
        <p:spPr>
          <a:xfrm>
            <a:off x="2682938" y="304800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28" name="Up Arrow 27">
            <a:extLst>
              <a:ext uri="{FF2B5EF4-FFF2-40B4-BE49-F238E27FC236}">
                <a16:creationId xmlns:a16="http://schemas.microsoft.com/office/drawing/2014/main" id="{9EA1CCD5-1DE9-75D4-8579-C18DED2412CA}"/>
              </a:ext>
            </a:extLst>
          </p:cNvPr>
          <p:cNvSpPr/>
          <p:nvPr/>
        </p:nvSpPr>
        <p:spPr>
          <a:xfrm>
            <a:off x="2260887" y="3036757"/>
            <a:ext cx="484632" cy="97840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ACF70C-134D-7FCE-CB4F-152E60F28945}"/>
              </a:ext>
            </a:extLst>
          </p:cNvPr>
          <p:cNvSpPr txBox="1"/>
          <p:nvPr/>
        </p:nvSpPr>
        <p:spPr>
          <a:xfrm>
            <a:off x="1676400" y="4038600"/>
            <a:ext cx="1702325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Bottleneck edge</a:t>
            </a:r>
          </a:p>
        </p:txBody>
      </p:sp>
      <p:sp>
        <p:nvSpPr>
          <p:cNvPr id="6" name="Smiley Face 5">
            <a:extLst>
              <a:ext uri="{FF2B5EF4-FFF2-40B4-BE49-F238E27FC236}">
                <a16:creationId xmlns:a16="http://schemas.microsoft.com/office/drawing/2014/main" id="{CB4DEB99-1937-D246-67B5-91A3483E0109}"/>
              </a:ext>
            </a:extLst>
          </p:cNvPr>
          <p:cNvSpPr/>
          <p:nvPr/>
        </p:nvSpPr>
        <p:spPr>
          <a:xfrm>
            <a:off x="2260862" y="5131832"/>
            <a:ext cx="533400" cy="533400"/>
          </a:xfrm>
          <a:prstGeom prst="smileyFace">
            <a:avLst>
              <a:gd name="adj" fmla="val 4653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loud Callout 47">
            <a:extLst>
              <a:ext uri="{FF2B5EF4-FFF2-40B4-BE49-F238E27FC236}">
                <a16:creationId xmlns:a16="http://schemas.microsoft.com/office/drawing/2014/main" id="{030D7338-0574-F35F-F9A3-B825587FC926}"/>
              </a:ext>
            </a:extLst>
          </p:cNvPr>
          <p:cNvSpPr/>
          <p:nvPr/>
        </p:nvSpPr>
        <p:spPr>
          <a:xfrm>
            <a:off x="4910463" y="2362200"/>
            <a:ext cx="3928737" cy="1299937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Let us see how we can use this knowledge for </a:t>
            </a:r>
            <a:r>
              <a:rPr lang="en-US" b="1" dirty="0">
                <a:solidFill>
                  <a:schemeClr val="tx1"/>
                </a:solidFill>
              </a:rPr>
              <a:t>any directed graph</a:t>
            </a:r>
            <a:r>
              <a:rPr lang="en-US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9AC4CD-CA91-D97E-1869-B84A0EC09016}"/>
              </a:ext>
            </a:extLst>
          </p:cNvPr>
          <p:cNvSpPr txBox="1"/>
          <p:nvPr/>
        </p:nvSpPr>
        <p:spPr>
          <a:xfrm>
            <a:off x="954428" y="305415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E0AFA2-E454-1DBF-0350-597BEFBEF45F}"/>
              </a:ext>
            </a:extLst>
          </p:cNvPr>
          <p:cNvSpPr txBox="1"/>
          <p:nvPr/>
        </p:nvSpPr>
        <p:spPr>
          <a:xfrm>
            <a:off x="3657140" y="3031123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980486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24" grpId="0"/>
      <p:bldP spid="28" grpId="0" animBg="1"/>
      <p:bldP spid="28" grpId="1" animBg="1"/>
      <p:bldP spid="29" grpId="0" animBg="1"/>
      <p:bldP spid="29" grpId="1" animBg="1"/>
      <p:bldP spid="6" grpId="0" animBg="1"/>
      <p:bldP spid="6" grpId="1" animBg="1"/>
      <p:bldP spid="12" grpId="0" animBg="1"/>
      <p:bldP spid="12" grpId="1" animBg="1"/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ACDA5E4-A97A-6957-B9FC-F4004ADCEAAD}"/>
              </a:ext>
            </a:extLst>
          </p:cNvPr>
          <p:cNvSpPr/>
          <p:nvPr/>
        </p:nvSpPr>
        <p:spPr>
          <a:xfrm rot="2847240">
            <a:off x="1374305" y="2977178"/>
            <a:ext cx="2579035" cy="16290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1C6CD7-0FA0-3398-811F-7A5BE2000E8E}"/>
              </a:ext>
            </a:extLst>
          </p:cNvPr>
          <p:cNvSpPr/>
          <p:nvPr/>
        </p:nvSpPr>
        <p:spPr>
          <a:xfrm rot="18592255">
            <a:off x="3233156" y="3337490"/>
            <a:ext cx="1428689" cy="18629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F76049-EE77-72D1-712F-88BB482669D0}"/>
              </a:ext>
            </a:extLst>
          </p:cNvPr>
          <p:cNvSpPr/>
          <p:nvPr/>
        </p:nvSpPr>
        <p:spPr>
          <a:xfrm rot="19088036">
            <a:off x="554809" y="2419370"/>
            <a:ext cx="1428689" cy="18629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Towards designing </a:t>
            </a:r>
            <a:r>
              <a:rPr lang="en-US" sz="3200" b="1" dirty="0">
                <a:solidFill>
                  <a:srgbClr val="7030A0"/>
                </a:solidFill>
              </a:rPr>
              <a:t>max flow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196" name="Oval 195"/>
          <p:cNvSpPr/>
          <p:nvPr/>
        </p:nvSpPr>
        <p:spPr>
          <a:xfrm>
            <a:off x="1676400" y="1981199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/>
          <p:cNvSpPr/>
          <p:nvPr/>
        </p:nvSpPr>
        <p:spPr>
          <a:xfrm>
            <a:off x="3429000" y="1981199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4" name="Straight Arrow Connector 183"/>
          <p:cNvCxnSpPr>
            <a:cxnSpLocks/>
            <a:stCxn id="7" idx="7"/>
            <a:endCxn id="196" idx="3"/>
          </p:cNvCxnSpPr>
          <p:nvPr/>
        </p:nvCxnSpPr>
        <p:spPr>
          <a:xfrm flipV="1">
            <a:off x="787863" y="2111281"/>
            <a:ext cx="910855" cy="8066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/>
          <p:cNvCxnSpPr>
            <a:stCxn id="196" idx="6"/>
            <a:endCxn id="192" idx="2"/>
          </p:cNvCxnSpPr>
          <p:nvPr/>
        </p:nvCxnSpPr>
        <p:spPr>
          <a:xfrm>
            <a:off x="1828800" y="2057399"/>
            <a:ext cx="16002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57781" y="28956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1000" y="2895600"/>
                <a:ext cx="3529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895600"/>
                <a:ext cx="35298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371600" y="16880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1688068"/>
                <a:ext cx="37542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490337" y="4050268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337" y="4050268"/>
                <a:ext cx="38664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/>
          <p:cNvSpPr/>
          <p:nvPr/>
        </p:nvSpPr>
        <p:spPr>
          <a:xfrm>
            <a:off x="1600200" y="38862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591786" y="1676400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786" y="1676400"/>
                <a:ext cx="3706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/>
          <p:cNvSpPr/>
          <p:nvPr/>
        </p:nvSpPr>
        <p:spPr>
          <a:xfrm>
            <a:off x="3406625" y="38862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505200" y="39740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3974068"/>
                <a:ext cx="375424" cy="369332"/>
              </a:xfrm>
              <a:prstGeom prst="rect">
                <a:avLst/>
              </a:prstGeom>
              <a:blipFill>
                <a:blip r:embed="rId6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>
            <a:stCxn id="7" idx="5"/>
            <a:endCxn id="14" idx="1"/>
          </p:cNvCxnSpPr>
          <p:nvPr/>
        </p:nvCxnSpPr>
        <p:spPr>
          <a:xfrm>
            <a:off x="787863" y="3025682"/>
            <a:ext cx="834655" cy="8828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17" idx="2"/>
          </p:cNvCxnSpPr>
          <p:nvPr/>
        </p:nvCxnSpPr>
        <p:spPr>
          <a:xfrm>
            <a:off x="1752600" y="3962400"/>
            <a:ext cx="1654025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3482825" y="2133599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2467162" y="1521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86200" y="33528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451992" y="2054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38" name="Arc 37"/>
          <p:cNvSpPr/>
          <p:nvPr/>
        </p:nvSpPr>
        <p:spPr>
          <a:xfrm>
            <a:off x="1490337" y="1806482"/>
            <a:ext cx="2252311" cy="1165318"/>
          </a:xfrm>
          <a:prstGeom prst="arc">
            <a:avLst>
              <a:gd name="adj1" fmla="val 12452853"/>
              <a:gd name="adj2" fmla="val 2021555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6" name="Straight Arrow Connector 235"/>
          <p:cNvCxnSpPr>
            <a:endCxn id="196" idx="7"/>
          </p:cNvCxnSpPr>
          <p:nvPr/>
        </p:nvCxnSpPr>
        <p:spPr>
          <a:xfrm flipH="1">
            <a:off x="1806482" y="1938125"/>
            <a:ext cx="131529" cy="653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/>
          <p:cNvCxnSpPr/>
          <p:nvPr/>
        </p:nvCxnSpPr>
        <p:spPr>
          <a:xfrm flipH="1">
            <a:off x="1730225" y="2133600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/>
          <p:cNvCxnSpPr>
            <a:cxnSpLocks/>
            <a:stCxn id="196" idx="5"/>
            <a:endCxn id="17" idx="1"/>
          </p:cNvCxnSpPr>
          <p:nvPr/>
        </p:nvCxnSpPr>
        <p:spPr>
          <a:xfrm>
            <a:off x="1806482" y="2111281"/>
            <a:ext cx="1622461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stCxn id="14" idx="7"/>
            <a:endCxn id="192" idx="3"/>
          </p:cNvCxnSpPr>
          <p:nvPr/>
        </p:nvCxnSpPr>
        <p:spPr>
          <a:xfrm flipV="1">
            <a:off x="1730282" y="2111281"/>
            <a:ext cx="1721036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/>
          <p:cNvSpPr txBox="1"/>
          <p:nvPr/>
        </p:nvSpPr>
        <p:spPr>
          <a:xfrm>
            <a:off x="1019362" y="3426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412660" y="3959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4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4314455" y="2667000"/>
            <a:ext cx="409945" cy="369332"/>
            <a:chOff x="4191000" y="3593068"/>
            <a:chExt cx="409945" cy="369332"/>
          </a:xfrm>
        </p:grpSpPr>
        <p:sp>
          <p:nvSpPr>
            <p:cNvPr id="61" name="Oval 60"/>
            <p:cNvSpPr/>
            <p:nvPr/>
          </p:nvSpPr>
          <p:spPr>
            <a:xfrm>
              <a:off x="4191000" y="3733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333" r="-254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3" name="Straight Arrow Connector 62"/>
          <p:cNvCxnSpPr>
            <a:stCxn id="192" idx="5"/>
            <a:endCxn id="61" idx="1"/>
          </p:cNvCxnSpPr>
          <p:nvPr/>
        </p:nvCxnSpPr>
        <p:spPr>
          <a:xfrm>
            <a:off x="3559082" y="2111281"/>
            <a:ext cx="777691" cy="71876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17" idx="7"/>
            <a:endCxn id="61" idx="3"/>
          </p:cNvCxnSpPr>
          <p:nvPr/>
        </p:nvCxnSpPr>
        <p:spPr>
          <a:xfrm flipV="1">
            <a:off x="3536707" y="2937814"/>
            <a:ext cx="800066" cy="97070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733800" y="24354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1762" y="2435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33498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33600" y="3349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57762" y="2816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05162" y="27402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5181600"/>
            <a:ext cx="1981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8DB10E-81D0-0B13-6B27-98D57A8FC8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18CE460-B91C-C833-B23A-070247DBFC76}"/>
              </a:ext>
            </a:extLst>
          </p:cNvPr>
          <p:cNvSpPr/>
          <p:nvPr/>
        </p:nvSpPr>
        <p:spPr>
          <a:xfrm flipH="1">
            <a:off x="630069" y="2859510"/>
            <a:ext cx="202737" cy="2062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7A3DFC-9BCC-33A2-0BD1-A556D39B719F}"/>
              </a:ext>
            </a:extLst>
          </p:cNvPr>
          <p:cNvSpPr/>
          <p:nvPr/>
        </p:nvSpPr>
        <p:spPr>
          <a:xfrm flipH="1">
            <a:off x="1656041" y="1949633"/>
            <a:ext cx="202737" cy="2062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5E40918-0758-CC1E-0F34-63F67FD788C1}"/>
              </a:ext>
            </a:extLst>
          </p:cNvPr>
          <p:cNvSpPr/>
          <p:nvPr/>
        </p:nvSpPr>
        <p:spPr>
          <a:xfrm flipH="1">
            <a:off x="3386117" y="3818904"/>
            <a:ext cx="202737" cy="2062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loud Callout 47">
            <a:extLst>
              <a:ext uri="{FF2B5EF4-FFF2-40B4-BE49-F238E27FC236}">
                <a16:creationId xmlns:a16="http://schemas.microsoft.com/office/drawing/2014/main" id="{ADCCBF13-5AF4-2C4A-BEED-BE48E536B88C}"/>
              </a:ext>
            </a:extLst>
          </p:cNvPr>
          <p:cNvSpPr/>
          <p:nvPr/>
        </p:nvSpPr>
        <p:spPr>
          <a:xfrm>
            <a:off x="4895673" y="2435424"/>
            <a:ext cx="3943527" cy="1226714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is the most </a:t>
            </a:r>
            <a:r>
              <a:rPr lang="en-US" b="1" dirty="0">
                <a:solidFill>
                  <a:schemeClr val="tx1"/>
                </a:solidFill>
              </a:rPr>
              <a:t>natural approach </a:t>
            </a:r>
            <a:r>
              <a:rPr lang="en-US" dirty="0">
                <a:solidFill>
                  <a:schemeClr val="tx1"/>
                </a:solidFill>
              </a:rPr>
              <a:t>to find the maximum flow 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D5A1FF-FF17-236E-8C08-475680FE8343}"/>
              </a:ext>
            </a:extLst>
          </p:cNvPr>
          <p:cNvSpPr txBox="1"/>
          <p:nvPr/>
        </p:nvSpPr>
        <p:spPr>
          <a:xfrm>
            <a:off x="5255476" y="4653054"/>
            <a:ext cx="343132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You will be shown some animation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2ECB49-7265-59D4-D1B6-BCCE3B4949CD}"/>
              </a:ext>
            </a:extLst>
          </p:cNvPr>
          <p:cNvSpPr txBox="1"/>
          <p:nvPr/>
        </p:nvSpPr>
        <p:spPr>
          <a:xfrm>
            <a:off x="4650975" y="5022386"/>
            <a:ext cx="4493025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pPr marL="0" indent="0">
              <a:buFont typeface="Arial" charset="0"/>
              <a:buNone/>
            </a:pPr>
            <a:r>
              <a:rPr lang="en-US" dirty="0"/>
              <a:t>to help you think about the </a:t>
            </a:r>
            <a:r>
              <a:rPr lang="en-US" b="1" u="sng" dirty="0"/>
              <a:t>natural approach</a:t>
            </a:r>
            <a:r>
              <a:rPr lang="en-US" dirty="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D1912C-26BF-29D2-6D16-C2D37D2D7BC0}"/>
              </a:ext>
            </a:extLst>
          </p:cNvPr>
          <p:cNvSpPr txBox="1"/>
          <p:nvPr/>
        </p:nvSpPr>
        <p:spPr>
          <a:xfrm>
            <a:off x="4912946" y="5463525"/>
            <a:ext cx="3747693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Watch it slowly with attentive mind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  <p:sp>
        <p:nvSpPr>
          <p:cNvPr id="24" name="Ribbon: Tilted Down 23">
            <a:extLst>
              <a:ext uri="{FF2B5EF4-FFF2-40B4-BE49-F238E27FC236}">
                <a16:creationId xmlns:a16="http://schemas.microsoft.com/office/drawing/2014/main" id="{827F6DA5-460B-0235-AF2D-F802BBEB4179}"/>
              </a:ext>
            </a:extLst>
          </p:cNvPr>
          <p:cNvSpPr/>
          <p:nvPr/>
        </p:nvSpPr>
        <p:spPr>
          <a:xfrm>
            <a:off x="326371" y="5632174"/>
            <a:ext cx="4289754" cy="1016814"/>
          </a:xfrm>
          <a:prstGeom prst="ribbon">
            <a:avLst>
              <a:gd name="adj1" fmla="val 16667"/>
              <a:gd name="adj2" fmla="val 75000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Imagine the maximum flow in the network.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5" name="Callout: Line 24">
            <a:extLst>
              <a:ext uri="{FF2B5EF4-FFF2-40B4-BE49-F238E27FC236}">
                <a16:creationId xmlns:a16="http://schemas.microsoft.com/office/drawing/2014/main" id="{88A05EE7-4AE5-5690-B157-A8D5739E142A}"/>
              </a:ext>
            </a:extLst>
          </p:cNvPr>
          <p:cNvSpPr/>
          <p:nvPr/>
        </p:nvSpPr>
        <p:spPr>
          <a:xfrm>
            <a:off x="381000" y="4797552"/>
            <a:ext cx="2514600" cy="612648"/>
          </a:xfrm>
          <a:prstGeom prst="borderCallout1">
            <a:avLst>
              <a:gd name="adj1" fmla="val 47872"/>
              <a:gd name="adj2" fmla="val 204"/>
              <a:gd name="adj3" fmla="val -280657"/>
              <a:gd name="adj4" fmla="val 12775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A drop of water</a:t>
            </a:r>
          </a:p>
          <a:p>
            <a:r>
              <a:rPr lang="en-US" sz="1400" dirty="0">
                <a:solidFill>
                  <a:schemeClr val="tx1"/>
                </a:solidFill>
              </a:rPr>
              <a:t>or a bit originating at source.</a:t>
            </a:r>
            <a:endParaRPr lang="en-IN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2A95082-DB2A-A24A-6DF5-00D5879201B3}"/>
              </a:ext>
            </a:extLst>
          </p:cNvPr>
          <p:cNvSpPr/>
          <p:nvPr/>
        </p:nvSpPr>
        <p:spPr>
          <a:xfrm flipH="1">
            <a:off x="623242" y="2861057"/>
            <a:ext cx="202737" cy="2062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F9F96A-DEC2-7109-8B63-B25CB5488C35}"/>
              </a:ext>
            </a:extLst>
          </p:cNvPr>
          <p:cNvSpPr txBox="1"/>
          <p:nvPr/>
        </p:nvSpPr>
        <p:spPr>
          <a:xfrm>
            <a:off x="352775" y="5485038"/>
            <a:ext cx="2635017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Let us traverse its journey.</a:t>
            </a:r>
          </a:p>
        </p:txBody>
      </p:sp>
    </p:spTree>
    <p:extLst>
      <p:ext uri="{BB962C8B-B14F-4D97-AF65-F5344CB8AC3E}">
        <p14:creationId xmlns:p14="http://schemas.microsoft.com/office/powerpoint/2010/main" val="1499747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25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6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9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4.44444E-6 L 0.11285 -0.13263 " pathEditMode="relative" rAng="0" ptsTypes="AA">
                                      <p:cBhvr>
                                        <p:cTn id="105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42" y="-6644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1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4.44444E-6 L 0.18923 0.27268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79" y="13796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000"/>
                            </p:stCondLst>
                            <p:childTnLst>
                              <p:par>
                                <p:cTn id="126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7.40741E-7 L 0.09879 -0.14768 " pathEditMode="relative" rAng="0" ptsTypes="AA">
                                      <p:cBhvr>
                                        <p:cTn id="13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31" y="-7384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xit" presetSubtype="8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2" dur="2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2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53" presetClass="exit" presetSubtype="32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5" dur="275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275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7" dur="2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27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8" grpId="0" animBg="1"/>
      <p:bldP spid="18" grpId="1" animBg="1"/>
      <p:bldP spid="11" grpId="0" animBg="1"/>
      <p:bldP spid="11" grpId="1" animBg="1"/>
      <p:bldP spid="3" grpId="0" animBg="1"/>
      <p:bldP spid="3" grpId="1" animBg="1"/>
      <p:bldP spid="3" grpId="2" animBg="1"/>
      <p:bldP spid="6" grpId="0" animBg="1"/>
      <p:bldP spid="6" grpId="1" animBg="1"/>
      <p:bldP spid="6" grpId="2" animBg="1"/>
      <p:bldP spid="10" grpId="0" animBg="1"/>
      <p:bldP spid="10" grpId="1" animBg="1"/>
      <p:bldP spid="10" grpId="2" animBg="1"/>
      <p:bldP spid="12" grpId="0" animBg="1"/>
      <p:bldP spid="12" grpId="1" animBg="1"/>
      <p:bldP spid="20" grpId="0" animBg="1"/>
      <p:bldP spid="20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build="allAtOnce" animBg="1"/>
      <p:bldP spid="28" grpId="0" animBg="1"/>
      <p:bldP spid="28" grpId="1" animBg="1"/>
      <p:bldP spid="29" grpId="0" animBg="1"/>
      <p:bldP spid="29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Towards designing </a:t>
            </a:r>
            <a:r>
              <a:rPr lang="en-US" sz="3200" b="1" dirty="0">
                <a:solidFill>
                  <a:srgbClr val="7030A0"/>
                </a:solidFill>
              </a:rPr>
              <a:t>max flow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196" name="Oval 195"/>
          <p:cNvSpPr/>
          <p:nvPr/>
        </p:nvSpPr>
        <p:spPr>
          <a:xfrm>
            <a:off x="1676400" y="1981199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/>
          <p:cNvSpPr/>
          <p:nvPr/>
        </p:nvSpPr>
        <p:spPr>
          <a:xfrm>
            <a:off x="3429000" y="1981199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4" name="Straight Arrow Connector 183"/>
          <p:cNvCxnSpPr>
            <a:stCxn id="7" idx="7"/>
            <a:endCxn id="196" idx="3"/>
          </p:cNvCxnSpPr>
          <p:nvPr/>
        </p:nvCxnSpPr>
        <p:spPr>
          <a:xfrm flipV="1">
            <a:off x="787863" y="2111281"/>
            <a:ext cx="910855" cy="8066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/>
          <p:cNvCxnSpPr>
            <a:stCxn id="196" idx="6"/>
            <a:endCxn id="192" idx="2"/>
          </p:cNvCxnSpPr>
          <p:nvPr/>
        </p:nvCxnSpPr>
        <p:spPr>
          <a:xfrm>
            <a:off x="1828800" y="2057399"/>
            <a:ext cx="16002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57781" y="28956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1000" y="2895600"/>
                <a:ext cx="3529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895600"/>
                <a:ext cx="35298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371600" y="16880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1688068"/>
                <a:ext cx="37542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490337" y="4050268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337" y="4050268"/>
                <a:ext cx="38664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/>
          <p:cNvSpPr/>
          <p:nvPr/>
        </p:nvSpPr>
        <p:spPr>
          <a:xfrm>
            <a:off x="1600200" y="38862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591786" y="1676400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786" y="1676400"/>
                <a:ext cx="3706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/>
          <p:cNvSpPr/>
          <p:nvPr/>
        </p:nvSpPr>
        <p:spPr>
          <a:xfrm>
            <a:off x="3406625" y="38862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505200" y="39740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3974068"/>
                <a:ext cx="375424" cy="369332"/>
              </a:xfrm>
              <a:prstGeom prst="rect">
                <a:avLst/>
              </a:prstGeom>
              <a:blipFill>
                <a:blip r:embed="rId6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>
            <a:stCxn id="7" idx="5"/>
            <a:endCxn id="14" idx="1"/>
          </p:cNvCxnSpPr>
          <p:nvPr/>
        </p:nvCxnSpPr>
        <p:spPr>
          <a:xfrm>
            <a:off x="787863" y="3025682"/>
            <a:ext cx="834655" cy="8828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17" idx="2"/>
          </p:cNvCxnSpPr>
          <p:nvPr/>
        </p:nvCxnSpPr>
        <p:spPr>
          <a:xfrm>
            <a:off x="1752600" y="3962400"/>
            <a:ext cx="1654025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3482825" y="2133599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2467162" y="1521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86200" y="33528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451992" y="2054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38" name="Arc 37"/>
          <p:cNvSpPr/>
          <p:nvPr/>
        </p:nvSpPr>
        <p:spPr>
          <a:xfrm>
            <a:off x="1490337" y="1806482"/>
            <a:ext cx="2252311" cy="1165318"/>
          </a:xfrm>
          <a:prstGeom prst="arc">
            <a:avLst>
              <a:gd name="adj1" fmla="val 12452853"/>
              <a:gd name="adj2" fmla="val 2021555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6" name="Straight Arrow Connector 235"/>
          <p:cNvCxnSpPr>
            <a:endCxn id="196" idx="7"/>
          </p:cNvCxnSpPr>
          <p:nvPr/>
        </p:nvCxnSpPr>
        <p:spPr>
          <a:xfrm flipH="1">
            <a:off x="1806482" y="1938125"/>
            <a:ext cx="131529" cy="653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/>
          <p:cNvCxnSpPr/>
          <p:nvPr/>
        </p:nvCxnSpPr>
        <p:spPr>
          <a:xfrm flipH="1">
            <a:off x="1730225" y="2133600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/>
          <p:cNvCxnSpPr>
            <a:stCxn id="196" idx="5"/>
            <a:endCxn id="17" idx="1"/>
          </p:cNvCxnSpPr>
          <p:nvPr/>
        </p:nvCxnSpPr>
        <p:spPr>
          <a:xfrm>
            <a:off x="1806482" y="2111281"/>
            <a:ext cx="1622461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stCxn id="14" idx="7"/>
            <a:endCxn id="192" idx="3"/>
          </p:cNvCxnSpPr>
          <p:nvPr/>
        </p:nvCxnSpPr>
        <p:spPr>
          <a:xfrm flipV="1">
            <a:off x="1730282" y="2111281"/>
            <a:ext cx="1721036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/>
          <p:cNvSpPr txBox="1"/>
          <p:nvPr/>
        </p:nvSpPr>
        <p:spPr>
          <a:xfrm>
            <a:off x="1019362" y="3426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412660" y="3959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4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4314455" y="2667000"/>
            <a:ext cx="409945" cy="369332"/>
            <a:chOff x="4191000" y="3593068"/>
            <a:chExt cx="409945" cy="369332"/>
          </a:xfrm>
        </p:grpSpPr>
        <p:sp>
          <p:nvSpPr>
            <p:cNvPr id="61" name="Oval 60"/>
            <p:cNvSpPr/>
            <p:nvPr/>
          </p:nvSpPr>
          <p:spPr>
            <a:xfrm>
              <a:off x="4191000" y="3733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333" r="-254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3" name="Straight Arrow Connector 62"/>
          <p:cNvCxnSpPr>
            <a:stCxn id="192" idx="5"/>
            <a:endCxn id="61" idx="1"/>
          </p:cNvCxnSpPr>
          <p:nvPr/>
        </p:nvCxnSpPr>
        <p:spPr>
          <a:xfrm>
            <a:off x="3559082" y="2111281"/>
            <a:ext cx="777691" cy="71876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17" idx="7"/>
            <a:endCxn id="61" idx="3"/>
          </p:cNvCxnSpPr>
          <p:nvPr/>
        </p:nvCxnSpPr>
        <p:spPr>
          <a:xfrm flipV="1">
            <a:off x="3536707" y="2937814"/>
            <a:ext cx="800066" cy="97070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733800" y="24354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1762" y="2435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33498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33600" y="3349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57762" y="2816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05162" y="27402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5181600"/>
            <a:ext cx="1981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8DB10E-81D0-0B13-6B27-98D57A8FC8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18CE460-B91C-C833-B23A-070247DBFC76}"/>
              </a:ext>
            </a:extLst>
          </p:cNvPr>
          <p:cNvSpPr/>
          <p:nvPr/>
        </p:nvSpPr>
        <p:spPr>
          <a:xfrm flipH="1">
            <a:off x="635463" y="2895600"/>
            <a:ext cx="202737" cy="2062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llout: Line 5">
            <a:extLst>
              <a:ext uri="{FF2B5EF4-FFF2-40B4-BE49-F238E27FC236}">
                <a16:creationId xmlns:a16="http://schemas.microsoft.com/office/drawing/2014/main" id="{AA25BADC-28E8-D549-54EC-9DC9FC64646B}"/>
              </a:ext>
            </a:extLst>
          </p:cNvPr>
          <p:cNvSpPr/>
          <p:nvPr/>
        </p:nvSpPr>
        <p:spPr>
          <a:xfrm>
            <a:off x="381000" y="4800601"/>
            <a:ext cx="2514600" cy="612648"/>
          </a:xfrm>
          <a:prstGeom prst="borderCallout1">
            <a:avLst>
              <a:gd name="adj1" fmla="val 47872"/>
              <a:gd name="adj2" fmla="val 204"/>
              <a:gd name="adj3" fmla="val -280657"/>
              <a:gd name="adj4" fmla="val 12775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Another drop of water</a:t>
            </a:r>
          </a:p>
          <a:p>
            <a:r>
              <a:rPr lang="en-US" sz="1400" dirty="0">
                <a:solidFill>
                  <a:schemeClr val="tx1"/>
                </a:solidFill>
              </a:rPr>
              <a:t>or a bit originating at source.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66056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25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  <p:bldP spid="6" grpId="0" animBg="1"/>
      <p:bldP spid="6" grpId="1" build="allAtOnce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6135A7B-E56E-FCE7-CF77-C28613DE7DD7}"/>
              </a:ext>
            </a:extLst>
          </p:cNvPr>
          <p:cNvSpPr/>
          <p:nvPr/>
        </p:nvSpPr>
        <p:spPr>
          <a:xfrm rot="18796111">
            <a:off x="1227312" y="2899916"/>
            <a:ext cx="2731914" cy="17095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182D61-0694-84A1-E115-FBBFC980A048}"/>
              </a:ext>
            </a:extLst>
          </p:cNvPr>
          <p:cNvSpPr/>
          <p:nvPr/>
        </p:nvSpPr>
        <p:spPr>
          <a:xfrm rot="2475030">
            <a:off x="3325463" y="2381758"/>
            <a:ext cx="1294256" cy="21055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A47184-2530-9D01-F5A0-10023D89CA8B}"/>
              </a:ext>
            </a:extLst>
          </p:cNvPr>
          <p:cNvSpPr/>
          <p:nvPr/>
        </p:nvSpPr>
        <p:spPr>
          <a:xfrm rot="2735460">
            <a:off x="500105" y="3397926"/>
            <a:ext cx="1428689" cy="18629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Towards designing </a:t>
            </a:r>
            <a:r>
              <a:rPr lang="en-US" sz="3200" b="1" dirty="0">
                <a:solidFill>
                  <a:srgbClr val="7030A0"/>
                </a:solidFill>
              </a:rPr>
              <a:t>max flow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196" name="Oval 195"/>
          <p:cNvSpPr/>
          <p:nvPr/>
        </p:nvSpPr>
        <p:spPr>
          <a:xfrm>
            <a:off x="1676400" y="1981199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/>
          <p:cNvSpPr/>
          <p:nvPr/>
        </p:nvSpPr>
        <p:spPr>
          <a:xfrm>
            <a:off x="3429000" y="1981199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4" name="Straight Arrow Connector 183"/>
          <p:cNvCxnSpPr>
            <a:stCxn id="7" idx="7"/>
            <a:endCxn id="196" idx="3"/>
          </p:cNvCxnSpPr>
          <p:nvPr/>
        </p:nvCxnSpPr>
        <p:spPr>
          <a:xfrm flipV="1">
            <a:off x="787863" y="2111281"/>
            <a:ext cx="910855" cy="8066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/>
          <p:cNvCxnSpPr>
            <a:stCxn id="196" idx="6"/>
            <a:endCxn id="192" idx="2"/>
          </p:cNvCxnSpPr>
          <p:nvPr/>
        </p:nvCxnSpPr>
        <p:spPr>
          <a:xfrm>
            <a:off x="1828800" y="2057399"/>
            <a:ext cx="16002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57781" y="28956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1000" y="2895600"/>
                <a:ext cx="3529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895600"/>
                <a:ext cx="35298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371600" y="16880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1688068"/>
                <a:ext cx="37542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490337" y="4050268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337" y="4050268"/>
                <a:ext cx="38664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/>
          <p:cNvSpPr/>
          <p:nvPr/>
        </p:nvSpPr>
        <p:spPr>
          <a:xfrm>
            <a:off x="1600200" y="38862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591786" y="1676400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786" y="1676400"/>
                <a:ext cx="3706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/>
          <p:cNvSpPr/>
          <p:nvPr/>
        </p:nvSpPr>
        <p:spPr>
          <a:xfrm>
            <a:off x="3406625" y="38862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505200" y="39740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3974068"/>
                <a:ext cx="375424" cy="369332"/>
              </a:xfrm>
              <a:prstGeom prst="rect">
                <a:avLst/>
              </a:prstGeom>
              <a:blipFill>
                <a:blip r:embed="rId6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>
            <a:stCxn id="7" idx="5"/>
            <a:endCxn id="14" idx="1"/>
          </p:cNvCxnSpPr>
          <p:nvPr/>
        </p:nvCxnSpPr>
        <p:spPr>
          <a:xfrm>
            <a:off x="787863" y="3025682"/>
            <a:ext cx="834655" cy="8828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17" idx="2"/>
          </p:cNvCxnSpPr>
          <p:nvPr/>
        </p:nvCxnSpPr>
        <p:spPr>
          <a:xfrm>
            <a:off x="1752600" y="3962400"/>
            <a:ext cx="1654025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3482825" y="2133599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2467162" y="1521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86200" y="33528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451992" y="2054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38" name="Arc 37"/>
          <p:cNvSpPr/>
          <p:nvPr/>
        </p:nvSpPr>
        <p:spPr>
          <a:xfrm>
            <a:off x="1490337" y="1806482"/>
            <a:ext cx="2252311" cy="1165318"/>
          </a:xfrm>
          <a:prstGeom prst="arc">
            <a:avLst>
              <a:gd name="adj1" fmla="val 12452853"/>
              <a:gd name="adj2" fmla="val 2021555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6" name="Straight Arrow Connector 235"/>
          <p:cNvCxnSpPr>
            <a:endCxn id="196" idx="7"/>
          </p:cNvCxnSpPr>
          <p:nvPr/>
        </p:nvCxnSpPr>
        <p:spPr>
          <a:xfrm flipH="1">
            <a:off x="1806482" y="1938125"/>
            <a:ext cx="131529" cy="653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/>
          <p:cNvCxnSpPr/>
          <p:nvPr/>
        </p:nvCxnSpPr>
        <p:spPr>
          <a:xfrm flipH="1">
            <a:off x="1730225" y="2133600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/>
          <p:cNvCxnSpPr>
            <a:stCxn id="196" idx="5"/>
            <a:endCxn id="17" idx="1"/>
          </p:cNvCxnSpPr>
          <p:nvPr/>
        </p:nvCxnSpPr>
        <p:spPr>
          <a:xfrm>
            <a:off x="1806482" y="2111281"/>
            <a:ext cx="1622461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stCxn id="14" idx="7"/>
            <a:endCxn id="192" idx="3"/>
          </p:cNvCxnSpPr>
          <p:nvPr/>
        </p:nvCxnSpPr>
        <p:spPr>
          <a:xfrm flipV="1">
            <a:off x="1730282" y="2111281"/>
            <a:ext cx="1721036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/>
          <p:cNvSpPr txBox="1"/>
          <p:nvPr/>
        </p:nvSpPr>
        <p:spPr>
          <a:xfrm>
            <a:off x="1019362" y="3426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412660" y="3959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4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4314455" y="2667000"/>
            <a:ext cx="409945" cy="369332"/>
            <a:chOff x="4191000" y="3593068"/>
            <a:chExt cx="409945" cy="369332"/>
          </a:xfrm>
        </p:grpSpPr>
        <p:sp>
          <p:nvSpPr>
            <p:cNvPr id="61" name="Oval 60"/>
            <p:cNvSpPr/>
            <p:nvPr/>
          </p:nvSpPr>
          <p:spPr>
            <a:xfrm>
              <a:off x="4191000" y="3733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333" r="-254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3" name="Straight Arrow Connector 62"/>
          <p:cNvCxnSpPr>
            <a:stCxn id="192" idx="5"/>
            <a:endCxn id="61" idx="1"/>
          </p:cNvCxnSpPr>
          <p:nvPr/>
        </p:nvCxnSpPr>
        <p:spPr>
          <a:xfrm>
            <a:off x="3559082" y="2111281"/>
            <a:ext cx="777691" cy="71876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17" idx="7"/>
            <a:endCxn id="61" idx="3"/>
          </p:cNvCxnSpPr>
          <p:nvPr/>
        </p:nvCxnSpPr>
        <p:spPr>
          <a:xfrm flipV="1">
            <a:off x="3536707" y="2937814"/>
            <a:ext cx="800066" cy="97070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733800" y="24354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1762" y="2435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33498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33600" y="3349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57762" y="2816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05162" y="27402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5181600"/>
            <a:ext cx="1981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8DB10E-81D0-0B13-6B27-98D57A8FC8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18CE460-B91C-C833-B23A-070247DBFC76}"/>
              </a:ext>
            </a:extLst>
          </p:cNvPr>
          <p:cNvSpPr/>
          <p:nvPr/>
        </p:nvSpPr>
        <p:spPr>
          <a:xfrm flipH="1">
            <a:off x="635463" y="2895600"/>
            <a:ext cx="202737" cy="2062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D61EC30-5ECB-721E-CCA2-9E28B074B6F2}"/>
              </a:ext>
            </a:extLst>
          </p:cNvPr>
          <p:cNvSpPr/>
          <p:nvPr/>
        </p:nvSpPr>
        <p:spPr>
          <a:xfrm flipH="1">
            <a:off x="1579663" y="3870418"/>
            <a:ext cx="202737" cy="2062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585C414-687C-8D95-2761-9BE5E64C6204}"/>
              </a:ext>
            </a:extLst>
          </p:cNvPr>
          <p:cNvSpPr/>
          <p:nvPr/>
        </p:nvSpPr>
        <p:spPr>
          <a:xfrm flipH="1">
            <a:off x="3381206" y="1961175"/>
            <a:ext cx="202737" cy="2062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loud Callout 47">
            <a:extLst>
              <a:ext uri="{FF2B5EF4-FFF2-40B4-BE49-F238E27FC236}">
                <a16:creationId xmlns:a16="http://schemas.microsoft.com/office/drawing/2014/main" id="{4EE8592E-8A95-BE16-497B-FF3E5DDC2C06}"/>
              </a:ext>
            </a:extLst>
          </p:cNvPr>
          <p:cNvSpPr/>
          <p:nvPr/>
        </p:nvSpPr>
        <p:spPr>
          <a:xfrm>
            <a:off x="5562599" y="2133600"/>
            <a:ext cx="4180639" cy="1528538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Could you now get the most </a:t>
            </a:r>
            <a:r>
              <a:rPr lang="en-US" b="1" dirty="0">
                <a:solidFill>
                  <a:schemeClr val="tx1"/>
                </a:solidFill>
              </a:rPr>
              <a:t>natural approach </a:t>
            </a:r>
            <a:r>
              <a:rPr lang="en-US" dirty="0">
                <a:solidFill>
                  <a:schemeClr val="tx1"/>
                </a:solidFill>
              </a:rPr>
              <a:t>to compute maximum flow ?</a:t>
            </a:r>
          </a:p>
        </p:txBody>
      </p:sp>
    </p:spTree>
    <p:extLst>
      <p:ext uri="{BB962C8B-B14F-4D97-AF65-F5344CB8AC3E}">
        <p14:creationId xmlns:p14="http://schemas.microsoft.com/office/powerpoint/2010/main" val="7781685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1.48148E-6 L 0.1033 0.1421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04" y="710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2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250"/>
                            </p:stCondLst>
                            <p:childTnLst>
                              <p:par>
                                <p:cTn id="11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750"/>
                            </p:stCondLst>
                            <p:childTnLst>
                              <p:par>
                                <p:cTn id="1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1.85185E-6 L 0.19705 -0.27847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96" y="-14005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500"/>
                            </p:stCondLst>
                            <p:childTnLst>
                              <p:par>
                                <p:cTn id="3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4.07407E-6 L 0.09896 0.11967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48" y="5972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xit" presetSubtype="8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2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53" presetClass="exit" presetSubtype="32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1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5" grpId="0" animBg="1"/>
      <p:bldP spid="15" grpId="1" animBg="1"/>
      <p:bldP spid="18" grpId="0" animBg="1"/>
      <p:bldP spid="18" grpId="1" animBg="1"/>
      <p:bldP spid="3" grpId="1" animBg="1"/>
      <p:bldP spid="3" grpId="2" animBg="1"/>
      <p:bldP spid="10" grpId="0" animBg="1"/>
      <p:bldP spid="10" grpId="1" animBg="1"/>
      <p:bldP spid="10" grpId="2" animBg="1"/>
      <p:bldP spid="11" grpId="0" animBg="1"/>
      <p:bldP spid="11" grpId="1" animBg="1"/>
      <p:bldP spid="11" grpId="2" animBg="1"/>
      <p:bldP spid="20" grpId="0" animBg="1"/>
      <p:bldP spid="20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25553-3A5E-4972-6343-2CAE1CF80E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600200"/>
            <a:ext cx="4495800" cy="5105400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endParaRPr lang="en-US" sz="1800" dirty="0"/>
          </a:p>
          <a:p>
            <a:pPr marL="0" indent="0">
              <a:buNone/>
            </a:pPr>
            <a:endParaRPr lang="en-US" sz="18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000" dirty="0"/>
              <a:t>Update the capacities of the edges.</a:t>
            </a:r>
          </a:p>
          <a:p>
            <a:pPr marL="0" indent="0">
              <a:buNone/>
            </a:pPr>
            <a:r>
              <a:rPr lang="en-US" sz="2000" dirty="0"/>
              <a:t>And …</a:t>
            </a:r>
          </a:p>
          <a:p>
            <a:pPr marL="0" indent="0">
              <a:buNone/>
            </a:pPr>
            <a:r>
              <a:rPr lang="en-US" sz="2000" dirty="0"/>
              <a:t>Find another path </a:t>
            </a:r>
            <a:r>
              <a:rPr lang="en-US" sz="2000" dirty="0">
                <a:sym typeface="Wingdings" pitchFamily="2" charset="2"/>
              </a:rPr>
              <a:t></a:t>
            </a:r>
            <a:endParaRPr lang="en-US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Towards designing </a:t>
            </a:r>
            <a:r>
              <a:rPr lang="en-US" sz="3200" b="1" dirty="0">
                <a:solidFill>
                  <a:srgbClr val="7030A0"/>
                </a:solidFill>
              </a:rPr>
              <a:t>max flow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196" name="Oval 195"/>
          <p:cNvSpPr/>
          <p:nvPr/>
        </p:nvSpPr>
        <p:spPr>
          <a:xfrm>
            <a:off x="1676400" y="1981199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/>
          <p:cNvSpPr/>
          <p:nvPr/>
        </p:nvSpPr>
        <p:spPr>
          <a:xfrm>
            <a:off x="3429000" y="1981199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4" name="Straight Arrow Connector 183"/>
          <p:cNvCxnSpPr>
            <a:stCxn id="7" idx="7"/>
            <a:endCxn id="196" idx="3"/>
          </p:cNvCxnSpPr>
          <p:nvPr/>
        </p:nvCxnSpPr>
        <p:spPr>
          <a:xfrm flipV="1">
            <a:off x="787863" y="2111281"/>
            <a:ext cx="910855" cy="8066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/>
          <p:cNvCxnSpPr>
            <a:stCxn id="196" idx="6"/>
            <a:endCxn id="192" idx="2"/>
          </p:cNvCxnSpPr>
          <p:nvPr/>
        </p:nvCxnSpPr>
        <p:spPr>
          <a:xfrm>
            <a:off x="1828800" y="2057399"/>
            <a:ext cx="16002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57781" y="28956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1000" y="2895600"/>
                <a:ext cx="3529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895600"/>
                <a:ext cx="35298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371600" y="16880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1688068"/>
                <a:ext cx="37542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490337" y="4050268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337" y="4050268"/>
                <a:ext cx="38664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/>
          <p:cNvSpPr/>
          <p:nvPr/>
        </p:nvSpPr>
        <p:spPr>
          <a:xfrm>
            <a:off x="1600200" y="38862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591786" y="1676400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786" y="1676400"/>
                <a:ext cx="3706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/>
          <p:cNvSpPr/>
          <p:nvPr/>
        </p:nvSpPr>
        <p:spPr>
          <a:xfrm>
            <a:off x="3406625" y="38862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505200" y="39740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3974068"/>
                <a:ext cx="375424" cy="369332"/>
              </a:xfrm>
              <a:prstGeom prst="rect">
                <a:avLst/>
              </a:prstGeom>
              <a:blipFill>
                <a:blip r:embed="rId6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>
            <a:stCxn id="7" idx="5"/>
            <a:endCxn id="14" idx="1"/>
          </p:cNvCxnSpPr>
          <p:nvPr/>
        </p:nvCxnSpPr>
        <p:spPr>
          <a:xfrm>
            <a:off x="787863" y="3025682"/>
            <a:ext cx="834655" cy="8828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17" idx="2"/>
          </p:cNvCxnSpPr>
          <p:nvPr/>
        </p:nvCxnSpPr>
        <p:spPr>
          <a:xfrm>
            <a:off x="1752600" y="3962400"/>
            <a:ext cx="1654025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3482825" y="2133599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2467162" y="1521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86200" y="33528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451992" y="2054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38" name="Arc 37"/>
          <p:cNvSpPr/>
          <p:nvPr/>
        </p:nvSpPr>
        <p:spPr>
          <a:xfrm>
            <a:off x="1490337" y="1806482"/>
            <a:ext cx="2252311" cy="1165318"/>
          </a:xfrm>
          <a:prstGeom prst="arc">
            <a:avLst>
              <a:gd name="adj1" fmla="val 12452853"/>
              <a:gd name="adj2" fmla="val 2021555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6" name="Straight Arrow Connector 235"/>
          <p:cNvCxnSpPr>
            <a:endCxn id="196" idx="7"/>
          </p:cNvCxnSpPr>
          <p:nvPr/>
        </p:nvCxnSpPr>
        <p:spPr>
          <a:xfrm flipH="1">
            <a:off x="1806482" y="1938125"/>
            <a:ext cx="131529" cy="653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/>
          <p:cNvCxnSpPr/>
          <p:nvPr/>
        </p:nvCxnSpPr>
        <p:spPr>
          <a:xfrm flipH="1">
            <a:off x="1730225" y="2133600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/>
          <p:cNvCxnSpPr>
            <a:stCxn id="196" idx="5"/>
            <a:endCxn id="17" idx="1"/>
          </p:cNvCxnSpPr>
          <p:nvPr/>
        </p:nvCxnSpPr>
        <p:spPr>
          <a:xfrm>
            <a:off x="1806482" y="2111281"/>
            <a:ext cx="1622461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stCxn id="14" idx="7"/>
            <a:endCxn id="192" idx="3"/>
          </p:cNvCxnSpPr>
          <p:nvPr/>
        </p:nvCxnSpPr>
        <p:spPr>
          <a:xfrm flipV="1">
            <a:off x="1730282" y="2111281"/>
            <a:ext cx="1721036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/>
          <p:cNvSpPr txBox="1"/>
          <p:nvPr/>
        </p:nvSpPr>
        <p:spPr>
          <a:xfrm>
            <a:off x="1019362" y="3426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412660" y="3959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4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4314455" y="2667000"/>
            <a:ext cx="409945" cy="369332"/>
            <a:chOff x="4191000" y="3593068"/>
            <a:chExt cx="409945" cy="369332"/>
          </a:xfrm>
        </p:grpSpPr>
        <p:sp>
          <p:nvSpPr>
            <p:cNvPr id="61" name="Oval 60"/>
            <p:cNvSpPr/>
            <p:nvPr/>
          </p:nvSpPr>
          <p:spPr>
            <a:xfrm>
              <a:off x="4191000" y="3733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333" r="-254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3" name="Straight Arrow Connector 62"/>
          <p:cNvCxnSpPr>
            <a:stCxn id="192" idx="5"/>
            <a:endCxn id="61" idx="1"/>
          </p:cNvCxnSpPr>
          <p:nvPr/>
        </p:nvCxnSpPr>
        <p:spPr>
          <a:xfrm>
            <a:off x="3559082" y="2111281"/>
            <a:ext cx="777691" cy="71876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17" idx="7"/>
            <a:endCxn id="61" idx="3"/>
          </p:cNvCxnSpPr>
          <p:nvPr/>
        </p:nvCxnSpPr>
        <p:spPr>
          <a:xfrm flipV="1">
            <a:off x="3536707" y="2937814"/>
            <a:ext cx="800066" cy="97070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733800" y="24354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1762" y="2435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33498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33600" y="3349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57762" y="2816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05162" y="27402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5181600"/>
            <a:ext cx="1981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8D7F895-AD0F-B1A0-84A1-00C19D9E296A}"/>
              </a:ext>
            </a:extLst>
          </p:cNvPr>
          <p:cNvCxnSpPr/>
          <p:nvPr/>
        </p:nvCxnSpPr>
        <p:spPr>
          <a:xfrm flipV="1">
            <a:off x="819427" y="2100395"/>
            <a:ext cx="910855" cy="806637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C06821-D6C7-9D32-59D3-267FD53D9EB5}"/>
              </a:ext>
            </a:extLst>
          </p:cNvPr>
          <p:cNvCxnSpPr/>
          <p:nvPr/>
        </p:nvCxnSpPr>
        <p:spPr>
          <a:xfrm>
            <a:off x="1828800" y="2057400"/>
            <a:ext cx="1600200" cy="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AF23A9-55B7-2DD1-37BB-6D7F77C32FA8}"/>
              </a:ext>
            </a:extLst>
          </p:cNvPr>
          <p:cNvCxnSpPr/>
          <p:nvPr/>
        </p:nvCxnSpPr>
        <p:spPr>
          <a:xfrm>
            <a:off x="3581400" y="2133600"/>
            <a:ext cx="777691" cy="718769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A9AAE83-5A63-C0FB-4791-B6D6E1CB5F54}"/>
              </a:ext>
            </a:extLst>
          </p:cNvPr>
          <p:cNvSpPr txBox="1"/>
          <p:nvPr/>
        </p:nvSpPr>
        <p:spPr>
          <a:xfrm>
            <a:off x="1095562" y="21336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83951C-C316-4CA7-8A3F-C0E1F8CACE60}"/>
              </a:ext>
            </a:extLst>
          </p:cNvPr>
          <p:cNvSpPr txBox="1"/>
          <p:nvPr/>
        </p:nvSpPr>
        <p:spPr>
          <a:xfrm>
            <a:off x="2467162" y="17526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E91268-CBA5-D74A-3842-E8470F8553EE}"/>
              </a:ext>
            </a:extLst>
          </p:cNvPr>
          <p:cNvSpPr txBox="1"/>
          <p:nvPr/>
        </p:nvSpPr>
        <p:spPr>
          <a:xfrm>
            <a:off x="3838762" y="22068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1">
                <a:extLst>
                  <a:ext uri="{FF2B5EF4-FFF2-40B4-BE49-F238E27FC236}">
                    <a16:creationId xmlns:a16="http://schemas.microsoft.com/office/drawing/2014/main" id="{76BA670C-9F2A-A770-2A40-B596305E81A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600200"/>
                <a:ext cx="4495800" cy="5121275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2000" dirty="0"/>
                  <a:t>Take a path from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2000" dirty="0"/>
                  <a:t>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pPr marL="0" indent="0">
                  <a:buNone/>
                </a:pPr>
                <a:r>
                  <a:rPr lang="en-US" sz="2000" dirty="0"/>
                  <a:t>Send flow equal to the capacity of the </a:t>
                </a:r>
              </a:p>
              <a:p>
                <a:pPr marL="0" indent="0">
                  <a:buNone/>
                </a:pPr>
                <a:r>
                  <a:rPr lang="en-US" sz="2000" dirty="0"/>
                  <a:t>Bottleneck edge on the path.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Convince yourself that this is a valid flow.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We are able to find a non-zero flow </a:t>
                </a:r>
              </a:p>
              <a:p>
                <a:pPr marL="0" indent="0">
                  <a:buNone/>
                </a:pPr>
                <a:r>
                  <a:rPr lang="en-US" sz="2000" dirty="0"/>
                  <a:t>from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000" dirty="0"/>
                  <a:t>. </a:t>
                </a:r>
                <a:r>
                  <a:rPr lang="en-US" sz="2000" dirty="0">
                    <a:sym typeface="Wingdings" pitchFamily="2" charset="2"/>
                  </a:rPr>
                  <a:t></a:t>
                </a:r>
              </a:p>
              <a:p>
                <a:pPr marL="0" indent="0">
                  <a:buNone/>
                </a:pPr>
                <a:endParaRPr lang="en-US" sz="20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How to send more flow to achieve the 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maximum flow ?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20" name="Content Placeholder 21">
                <a:extLst>
                  <a:ext uri="{FF2B5EF4-FFF2-40B4-BE49-F238E27FC236}">
                    <a16:creationId xmlns:a16="http://schemas.microsoft.com/office/drawing/2014/main" id="{76BA670C-9F2A-A770-2A40-B596305E8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600200"/>
                <a:ext cx="4495800" cy="5121275"/>
              </a:xfrm>
              <a:blipFill>
                <a:blip r:embed="rId13"/>
                <a:stretch>
                  <a:fillRect l="-14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14E40FF5-25F4-5EFF-BCAB-D6F48842BF4C}"/>
              </a:ext>
            </a:extLst>
          </p:cNvPr>
          <p:cNvSpPr txBox="1"/>
          <p:nvPr/>
        </p:nvSpPr>
        <p:spPr>
          <a:xfrm>
            <a:off x="1171762" y="24384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1FB3F0-28EF-6099-798A-90A0A934C607}"/>
              </a:ext>
            </a:extLst>
          </p:cNvPr>
          <p:cNvSpPr txBox="1"/>
          <p:nvPr/>
        </p:nvSpPr>
        <p:spPr>
          <a:xfrm>
            <a:off x="2438400" y="20574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4A3901-A135-6711-8BFF-FB0F38F1A8E8}"/>
              </a:ext>
            </a:extLst>
          </p:cNvPr>
          <p:cNvSpPr txBox="1"/>
          <p:nvPr/>
        </p:nvSpPr>
        <p:spPr>
          <a:xfrm>
            <a:off x="3747392" y="241757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122291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25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25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25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25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250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1250"/>
                                        <p:tgtEl>
                                          <p:spTgt spid="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1250"/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2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5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8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1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4" dur="5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7" dur="500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0" dur="500"/>
                                        <p:tgtEl>
                                          <p:spTgt spid="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3" dur="500"/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1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1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  <p:bldP spid="47" grpId="0"/>
      <p:bldP spid="48" grpId="0"/>
      <p:bldP spid="12" grpId="0"/>
      <p:bldP spid="15" grpId="0"/>
      <p:bldP spid="18" grpId="0"/>
      <p:bldP spid="20" grpId="0" uiExpand="1" build="p"/>
      <p:bldP spid="20" grpId="1" uiExpand="1" build="p"/>
      <p:bldP spid="22" grpId="0"/>
      <p:bldP spid="23" grpId="0"/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777BAB8-A30C-ED7F-D3C3-97F93AA5E1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Update the capacities of the edges.</a:t>
            </a:r>
          </a:p>
          <a:p>
            <a:pPr marL="0" indent="0">
              <a:buNone/>
            </a:pPr>
            <a:r>
              <a:rPr lang="en-US" sz="2000" dirty="0"/>
              <a:t>And …</a:t>
            </a:r>
          </a:p>
          <a:p>
            <a:pPr marL="0" indent="0">
              <a:buNone/>
            </a:pPr>
            <a:r>
              <a:rPr lang="en-US" sz="2000" dirty="0"/>
              <a:t>Find another path </a:t>
            </a:r>
            <a:r>
              <a:rPr lang="en-US" sz="2000" dirty="0">
                <a:sym typeface="Wingdings" pitchFamily="2" charset="2"/>
              </a:rPr>
              <a:t>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Towards designing </a:t>
            </a:r>
            <a:r>
              <a:rPr lang="en-US" sz="3200" b="1" dirty="0">
                <a:solidFill>
                  <a:srgbClr val="7030A0"/>
                </a:solidFill>
              </a:rPr>
              <a:t>max flow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196" name="Oval 195"/>
          <p:cNvSpPr/>
          <p:nvPr/>
        </p:nvSpPr>
        <p:spPr>
          <a:xfrm>
            <a:off x="1676400" y="1981199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/>
          <p:cNvSpPr/>
          <p:nvPr/>
        </p:nvSpPr>
        <p:spPr>
          <a:xfrm>
            <a:off x="3429000" y="1981199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4" name="Straight Arrow Connector 183"/>
          <p:cNvCxnSpPr>
            <a:stCxn id="7" idx="7"/>
            <a:endCxn id="196" idx="3"/>
          </p:cNvCxnSpPr>
          <p:nvPr/>
        </p:nvCxnSpPr>
        <p:spPr>
          <a:xfrm flipV="1">
            <a:off x="787863" y="2111281"/>
            <a:ext cx="910855" cy="8066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/>
          <p:cNvCxnSpPr>
            <a:stCxn id="196" idx="6"/>
            <a:endCxn id="192" idx="2"/>
          </p:cNvCxnSpPr>
          <p:nvPr/>
        </p:nvCxnSpPr>
        <p:spPr>
          <a:xfrm>
            <a:off x="1828800" y="2057399"/>
            <a:ext cx="16002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57781" y="28956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1000" y="2895600"/>
                <a:ext cx="3529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895600"/>
                <a:ext cx="35298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371600" y="16880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1688068"/>
                <a:ext cx="37542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490337" y="4050268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337" y="4050268"/>
                <a:ext cx="38664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/>
          <p:cNvSpPr/>
          <p:nvPr/>
        </p:nvSpPr>
        <p:spPr>
          <a:xfrm>
            <a:off x="1600200" y="38862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591786" y="1676400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786" y="1676400"/>
                <a:ext cx="3706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/>
          <p:cNvSpPr/>
          <p:nvPr/>
        </p:nvSpPr>
        <p:spPr>
          <a:xfrm>
            <a:off x="3406625" y="38862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505200" y="39740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3974068"/>
                <a:ext cx="375424" cy="369332"/>
              </a:xfrm>
              <a:prstGeom prst="rect">
                <a:avLst/>
              </a:prstGeom>
              <a:blipFill>
                <a:blip r:embed="rId6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>
            <a:stCxn id="7" idx="5"/>
            <a:endCxn id="14" idx="1"/>
          </p:cNvCxnSpPr>
          <p:nvPr/>
        </p:nvCxnSpPr>
        <p:spPr>
          <a:xfrm>
            <a:off x="787863" y="3025682"/>
            <a:ext cx="834655" cy="8828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17" idx="2"/>
          </p:cNvCxnSpPr>
          <p:nvPr/>
        </p:nvCxnSpPr>
        <p:spPr>
          <a:xfrm>
            <a:off x="1752600" y="3962400"/>
            <a:ext cx="1654025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3482825" y="2133599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2467162" y="1521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86200" y="33528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451992" y="2054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8" name="Arc 37"/>
          <p:cNvSpPr/>
          <p:nvPr/>
        </p:nvSpPr>
        <p:spPr>
          <a:xfrm>
            <a:off x="1490337" y="1806482"/>
            <a:ext cx="2252311" cy="1165318"/>
          </a:xfrm>
          <a:prstGeom prst="arc">
            <a:avLst>
              <a:gd name="adj1" fmla="val 12452853"/>
              <a:gd name="adj2" fmla="val 2021555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6" name="Straight Arrow Connector 235"/>
          <p:cNvCxnSpPr>
            <a:endCxn id="196" idx="7"/>
          </p:cNvCxnSpPr>
          <p:nvPr/>
        </p:nvCxnSpPr>
        <p:spPr>
          <a:xfrm flipH="1">
            <a:off x="1806482" y="1938125"/>
            <a:ext cx="131529" cy="653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/>
          <p:cNvCxnSpPr/>
          <p:nvPr/>
        </p:nvCxnSpPr>
        <p:spPr>
          <a:xfrm flipH="1">
            <a:off x="1730225" y="2133600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/>
          <p:cNvCxnSpPr>
            <a:stCxn id="196" idx="5"/>
            <a:endCxn id="17" idx="1"/>
          </p:cNvCxnSpPr>
          <p:nvPr/>
        </p:nvCxnSpPr>
        <p:spPr>
          <a:xfrm>
            <a:off x="1806482" y="2111281"/>
            <a:ext cx="1622461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stCxn id="14" idx="7"/>
            <a:endCxn id="192" idx="3"/>
          </p:cNvCxnSpPr>
          <p:nvPr/>
        </p:nvCxnSpPr>
        <p:spPr>
          <a:xfrm flipV="1">
            <a:off x="1730282" y="2111281"/>
            <a:ext cx="1721036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/>
          <p:cNvSpPr txBox="1"/>
          <p:nvPr/>
        </p:nvSpPr>
        <p:spPr>
          <a:xfrm>
            <a:off x="1019362" y="3426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412660" y="3959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4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4314455" y="2667000"/>
            <a:ext cx="409945" cy="369332"/>
            <a:chOff x="4191000" y="3593068"/>
            <a:chExt cx="409945" cy="369332"/>
          </a:xfrm>
        </p:grpSpPr>
        <p:sp>
          <p:nvSpPr>
            <p:cNvPr id="61" name="Oval 60"/>
            <p:cNvSpPr/>
            <p:nvPr/>
          </p:nvSpPr>
          <p:spPr>
            <a:xfrm>
              <a:off x="4191000" y="3733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333" r="-254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3" name="Straight Arrow Connector 62"/>
          <p:cNvCxnSpPr>
            <a:stCxn id="192" idx="5"/>
            <a:endCxn id="61" idx="1"/>
          </p:cNvCxnSpPr>
          <p:nvPr/>
        </p:nvCxnSpPr>
        <p:spPr>
          <a:xfrm>
            <a:off x="3559082" y="2111281"/>
            <a:ext cx="777691" cy="71876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17" idx="7"/>
            <a:endCxn id="61" idx="3"/>
          </p:cNvCxnSpPr>
          <p:nvPr/>
        </p:nvCxnSpPr>
        <p:spPr>
          <a:xfrm flipV="1">
            <a:off x="3536707" y="2937814"/>
            <a:ext cx="800066" cy="97070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733800" y="24354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1762" y="2435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33498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33600" y="3349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57762" y="2816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05162" y="27402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5181600"/>
            <a:ext cx="1981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9AAE83-5A63-C0FB-4791-B6D6E1CB5F54}"/>
              </a:ext>
            </a:extLst>
          </p:cNvPr>
          <p:cNvSpPr txBox="1"/>
          <p:nvPr/>
        </p:nvSpPr>
        <p:spPr>
          <a:xfrm>
            <a:off x="1095562" y="21336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83951C-C316-4CA7-8A3F-C0E1F8CACE60}"/>
              </a:ext>
            </a:extLst>
          </p:cNvPr>
          <p:cNvSpPr txBox="1"/>
          <p:nvPr/>
        </p:nvSpPr>
        <p:spPr>
          <a:xfrm>
            <a:off x="2467162" y="17526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E91268-CBA5-D74A-3842-E8470F8553EE}"/>
              </a:ext>
            </a:extLst>
          </p:cNvPr>
          <p:cNvSpPr txBox="1"/>
          <p:nvPr/>
        </p:nvSpPr>
        <p:spPr>
          <a:xfrm>
            <a:off x="3838762" y="22068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5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6D0C8A5-F134-EB80-DB93-D46B62A61540}"/>
              </a:ext>
            </a:extLst>
          </p:cNvPr>
          <p:cNvCxnSpPr>
            <a:cxnSpLocks/>
            <a:stCxn id="7" idx="7"/>
          </p:cNvCxnSpPr>
          <p:nvPr/>
        </p:nvCxnSpPr>
        <p:spPr>
          <a:xfrm flipV="1">
            <a:off x="787863" y="2088963"/>
            <a:ext cx="964737" cy="828955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1018ACA-F0B0-00EA-6ED4-D66426B76DCE}"/>
              </a:ext>
            </a:extLst>
          </p:cNvPr>
          <p:cNvCxnSpPr/>
          <p:nvPr/>
        </p:nvCxnSpPr>
        <p:spPr>
          <a:xfrm>
            <a:off x="1828800" y="2133600"/>
            <a:ext cx="1622461" cy="1797237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AAF93D1-7BBF-027B-2513-EB54865A577A}"/>
              </a:ext>
            </a:extLst>
          </p:cNvPr>
          <p:cNvCxnSpPr/>
          <p:nvPr/>
        </p:nvCxnSpPr>
        <p:spPr>
          <a:xfrm flipV="1">
            <a:off x="3543334" y="2915496"/>
            <a:ext cx="800066" cy="970704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B624E1E-9970-B4A7-028F-6F238C150BFB}"/>
              </a:ext>
            </a:extLst>
          </p:cNvPr>
          <p:cNvSpPr txBox="1"/>
          <p:nvPr/>
        </p:nvSpPr>
        <p:spPr>
          <a:xfrm>
            <a:off x="2819400" y="30480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7DD7E9-662D-EC24-F447-28CA0DA8EB5D}"/>
              </a:ext>
            </a:extLst>
          </p:cNvPr>
          <p:cNvSpPr txBox="1"/>
          <p:nvPr/>
        </p:nvSpPr>
        <p:spPr>
          <a:xfrm>
            <a:off x="3838762" y="305097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260A7F3-872A-CE08-76DB-5D07D5ECA52F}"/>
                  </a:ext>
                </a:extLst>
              </p:cNvPr>
              <p:cNvSpPr txBox="1"/>
              <p:nvPr/>
            </p:nvSpPr>
            <p:spPr>
              <a:xfrm>
                <a:off x="1143000" y="2133600"/>
                <a:ext cx="4106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1400" b="1" dirty="0">
                    <a:solidFill>
                      <a:srgbClr val="00B050"/>
                    </a:solidFill>
                  </a:rPr>
                  <a:t>1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260A7F3-872A-CE08-76DB-5D07D5ECA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2133600"/>
                <a:ext cx="410690" cy="307777"/>
              </a:xfrm>
              <a:prstGeom prst="rect">
                <a:avLst/>
              </a:prstGeom>
              <a:blipFill>
                <a:blip r:embed="rId13"/>
                <a:stretch>
                  <a:fillRect t="-4167" r="-303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53B3029-9089-87AE-F6EB-C1FE6F553FA1}"/>
              </a:ext>
            </a:extLst>
          </p:cNvPr>
          <p:cNvSpPr txBox="1"/>
          <p:nvPr/>
        </p:nvSpPr>
        <p:spPr>
          <a:xfrm>
            <a:off x="1182921" y="242401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E39D78-9156-5793-86FC-D1F45CD605E0}"/>
              </a:ext>
            </a:extLst>
          </p:cNvPr>
          <p:cNvSpPr txBox="1"/>
          <p:nvPr/>
        </p:nvSpPr>
        <p:spPr>
          <a:xfrm>
            <a:off x="2736573" y="335512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D602DF-91D6-E590-31C8-D4B6BC845345}"/>
              </a:ext>
            </a:extLst>
          </p:cNvPr>
          <p:cNvSpPr txBox="1"/>
          <p:nvPr/>
        </p:nvSpPr>
        <p:spPr>
          <a:xfrm>
            <a:off x="3884341" y="3349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859465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125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89" grpId="0"/>
      <p:bldP spid="48" grpId="0"/>
      <p:bldP spid="49" grpId="0"/>
      <p:bldP spid="23" grpId="0"/>
      <p:bldP spid="24" grpId="0"/>
      <p:bldP spid="25" grpId="0"/>
      <p:bldP spid="10" grpId="0"/>
      <p:bldP spid="11" grpId="0"/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Towards designing </a:t>
            </a:r>
            <a:r>
              <a:rPr lang="en-US" sz="3200" b="1" dirty="0">
                <a:solidFill>
                  <a:srgbClr val="7030A0"/>
                </a:solidFill>
              </a:rPr>
              <a:t>max flow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196" name="Oval 195"/>
          <p:cNvSpPr/>
          <p:nvPr/>
        </p:nvSpPr>
        <p:spPr>
          <a:xfrm>
            <a:off x="1676400" y="1981199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/>
          <p:cNvSpPr/>
          <p:nvPr/>
        </p:nvSpPr>
        <p:spPr>
          <a:xfrm>
            <a:off x="3429000" y="1981199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4" name="Straight Arrow Connector 183"/>
          <p:cNvCxnSpPr>
            <a:stCxn id="7" idx="7"/>
            <a:endCxn id="196" idx="3"/>
          </p:cNvCxnSpPr>
          <p:nvPr/>
        </p:nvCxnSpPr>
        <p:spPr>
          <a:xfrm flipV="1">
            <a:off x="787863" y="2111281"/>
            <a:ext cx="910855" cy="8066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/>
          <p:cNvCxnSpPr>
            <a:stCxn id="196" idx="6"/>
            <a:endCxn id="192" idx="2"/>
          </p:cNvCxnSpPr>
          <p:nvPr/>
        </p:nvCxnSpPr>
        <p:spPr>
          <a:xfrm>
            <a:off x="1828800" y="2057399"/>
            <a:ext cx="16002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57781" y="28956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1000" y="2895600"/>
                <a:ext cx="3529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895600"/>
                <a:ext cx="35298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371600" y="16880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1688068"/>
                <a:ext cx="37542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490337" y="4050268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337" y="4050268"/>
                <a:ext cx="38664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/>
          <p:cNvSpPr/>
          <p:nvPr/>
        </p:nvSpPr>
        <p:spPr>
          <a:xfrm>
            <a:off x="1600200" y="38862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591786" y="1676400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786" y="1676400"/>
                <a:ext cx="3706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/>
          <p:cNvSpPr/>
          <p:nvPr/>
        </p:nvSpPr>
        <p:spPr>
          <a:xfrm>
            <a:off x="3406625" y="38862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505200" y="39740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3974068"/>
                <a:ext cx="375424" cy="369332"/>
              </a:xfrm>
              <a:prstGeom prst="rect">
                <a:avLst/>
              </a:prstGeom>
              <a:blipFill>
                <a:blip r:embed="rId6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>
            <a:stCxn id="7" idx="5"/>
            <a:endCxn id="14" idx="1"/>
          </p:cNvCxnSpPr>
          <p:nvPr/>
        </p:nvCxnSpPr>
        <p:spPr>
          <a:xfrm>
            <a:off x="787863" y="3025682"/>
            <a:ext cx="834655" cy="8828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17" idx="2"/>
          </p:cNvCxnSpPr>
          <p:nvPr/>
        </p:nvCxnSpPr>
        <p:spPr>
          <a:xfrm>
            <a:off x="1752600" y="3962400"/>
            <a:ext cx="1654025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3482825" y="2133599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2467162" y="1521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38" name="Arc 37"/>
          <p:cNvSpPr/>
          <p:nvPr/>
        </p:nvSpPr>
        <p:spPr>
          <a:xfrm>
            <a:off x="1490337" y="1806482"/>
            <a:ext cx="2252311" cy="1165318"/>
          </a:xfrm>
          <a:prstGeom prst="arc">
            <a:avLst>
              <a:gd name="adj1" fmla="val 12452853"/>
              <a:gd name="adj2" fmla="val 2021555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6" name="Straight Arrow Connector 235"/>
          <p:cNvCxnSpPr>
            <a:endCxn id="196" idx="7"/>
          </p:cNvCxnSpPr>
          <p:nvPr/>
        </p:nvCxnSpPr>
        <p:spPr>
          <a:xfrm flipH="1">
            <a:off x="1806482" y="1938125"/>
            <a:ext cx="131529" cy="653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/>
          <p:cNvCxnSpPr/>
          <p:nvPr/>
        </p:nvCxnSpPr>
        <p:spPr>
          <a:xfrm flipH="1">
            <a:off x="1730225" y="2133600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/>
          <p:cNvCxnSpPr>
            <a:stCxn id="196" idx="5"/>
            <a:endCxn id="17" idx="1"/>
          </p:cNvCxnSpPr>
          <p:nvPr/>
        </p:nvCxnSpPr>
        <p:spPr>
          <a:xfrm>
            <a:off x="1806482" y="2111281"/>
            <a:ext cx="1622461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stCxn id="14" idx="7"/>
            <a:endCxn id="192" idx="3"/>
          </p:cNvCxnSpPr>
          <p:nvPr/>
        </p:nvCxnSpPr>
        <p:spPr>
          <a:xfrm flipV="1">
            <a:off x="1730282" y="2111281"/>
            <a:ext cx="1721036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/>
          <p:cNvSpPr txBox="1"/>
          <p:nvPr/>
        </p:nvSpPr>
        <p:spPr>
          <a:xfrm>
            <a:off x="1019362" y="3426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412660" y="3959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4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4314455" y="2667000"/>
            <a:ext cx="409945" cy="369332"/>
            <a:chOff x="4191000" y="3593068"/>
            <a:chExt cx="409945" cy="369332"/>
          </a:xfrm>
        </p:grpSpPr>
        <p:sp>
          <p:nvSpPr>
            <p:cNvPr id="61" name="Oval 60"/>
            <p:cNvSpPr/>
            <p:nvPr/>
          </p:nvSpPr>
          <p:spPr>
            <a:xfrm>
              <a:off x="4191000" y="3733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333" r="-254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3" name="Straight Arrow Connector 62"/>
          <p:cNvCxnSpPr>
            <a:stCxn id="192" idx="5"/>
            <a:endCxn id="61" idx="1"/>
          </p:cNvCxnSpPr>
          <p:nvPr/>
        </p:nvCxnSpPr>
        <p:spPr>
          <a:xfrm>
            <a:off x="3559082" y="2111281"/>
            <a:ext cx="777691" cy="71876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17" idx="7"/>
            <a:endCxn id="61" idx="3"/>
          </p:cNvCxnSpPr>
          <p:nvPr/>
        </p:nvCxnSpPr>
        <p:spPr>
          <a:xfrm flipV="1">
            <a:off x="3536707" y="2937814"/>
            <a:ext cx="800066" cy="97070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133600" y="3349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57762" y="2816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05162" y="27402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5181600"/>
            <a:ext cx="1981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8DB10E-81D0-0B13-6B27-98D57A8FC8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83951C-C316-4CA7-8A3F-C0E1F8CACE60}"/>
              </a:ext>
            </a:extLst>
          </p:cNvPr>
          <p:cNvSpPr txBox="1"/>
          <p:nvPr/>
        </p:nvSpPr>
        <p:spPr>
          <a:xfrm>
            <a:off x="2467162" y="17526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E91268-CBA5-D74A-3842-E8470F8553EE}"/>
              </a:ext>
            </a:extLst>
          </p:cNvPr>
          <p:cNvSpPr txBox="1"/>
          <p:nvPr/>
        </p:nvSpPr>
        <p:spPr>
          <a:xfrm>
            <a:off x="3838762" y="22068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624E1E-9970-B4A7-028F-6F238C150BFB}"/>
              </a:ext>
            </a:extLst>
          </p:cNvPr>
          <p:cNvSpPr txBox="1"/>
          <p:nvPr/>
        </p:nvSpPr>
        <p:spPr>
          <a:xfrm>
            <a:off x="2819400" y="30480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7DD7E9-662D-EC24-F447-28CA0DA8EB5D}"/>
              </a:ext>
            </a:extLst>
          </p:cNvPr>
          <p:cNvSpPr txBox="1"/>
          <p:nvPr/>
        </p:nvSpPr>
        <p:spPr>
          <a:xfrm>
            <a:off x="3838762" y="305097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60A7F3-872A-CE08-76DB-5D07D5ECA52F}"/>
              </a:ext>
            </a:extLst>
          </p:cNvPr>
          <p:cNvSpPr txBox="1"/>
          <p:nvPr/>
        </p:nvSpPr>
        <p:spPr>
          <a:xfrm>
            <a:off x="1066800" y="21336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6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FA33823-D8C3-176E-4E6F-3524D5F62C32}"/>
              </a:ext>
            </a:extLst>
          </p:cNvPr>
          <p:cNvCxnSpPr/>
          <p:nvPr/>
        </p:nvCxnSpPr>
        <p:spPr>
          <a:xfrm>
            <a:off x="3581400" y="2133600"/>
            <a:ext cx="777691" cy="718769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3DC70EB-C327-C581-25F0-AA2C9EF34BED}"/>
              </a:ext>
            </a:extLst>
          </p:cNvPr>
          <p:cNvCxnSpPr/>
          <p:nvPr/>
        </p:nvCxnSpPr>
        <p:spPr>
          <a:xfrm>
            <a:off x="808082" y="3032218"/>
            <a:ext cx="834655" cy="882836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88EC9C6-47C5-DECE-84BF-DC1A4D15CB7F}"/>
              </a:ext>
            </a:extLst>
          </p:cNvPr>
          <p:cNvSpPr txBox="1"/>
          <p:nvPr/>
        </p:nvSpPr>
        <p:spPr>
          <a:xfrm>
            <a:off x="1143000" y="32004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A65F837-C5C9-F861-FDA3-B7FC994A7693}"/>
              </a:ext>
            </a:extLst>
          </p:cNvPr>
          <p:cNvCxnSpPr/>
          <p:nvPr/>
        </p:nvCxnSpPr>
        <p:spPr>
          <a:xfrm flipV="1">
            <a:off x="1752600" y="2088963"/>
            <a:ext cx="1721036" cy="1797237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1287A9F-2695-F11F-4770-8CDC27AC9B46}"/>
              </a:ext>
            </a:extLst>
          </p:cNvPr>
          <p:cNvSpPr txBox="1"/>
          <p:nvPr/>
        </p:nvSpPr>
        <p:spPr>
          <a:xfrm>
            <a:off x="2162362" y="30480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D8183C5-47B4-BD8E-C94F-8E2F2F91B6DD}"/>
                  </a:ext>
                </a:extLst>
              </p:cNvPr>
              <p:cNvSpPr txBox="1"/>
              <p:nvPr/>
            </p:nvSpPr>
            <p:spPr>
              <a:xfrm>
                <a:off x="3899792" y="2206823"/>
                <a:ext cx="4507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1400" b="1" dirty="0">
                    <a:solidFill>
                      <a:srgbClr val="00B050"/>
                    </a:solidFill>
                  </a:rPr>
                  <a:t>7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D8183C5-47B4-BD8E-C94F-8E2F2F91B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792" y="2206823"/>
                <a:ext cx="450764" cy="307777"/>
              </a:xfrm>
              <a:prstGeom prst="rect">
                <a:avLst/>
              </a:prstGeom>
              <a:blipFill>
                <a:blip r:embed="rId13"/>
                <a:stretch>
                  <a:fillRect t="-3846" r="-2778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86F5C71-FE88-092B-6821-6F46184AE77A}"/>
              </a:ext>
            </a:extLst>
          </p:cNvPr>
          <p:cNvSpPr txBox="1"/>
          <p:nvPr/>
        </p:nvSpPr>
        <p:spPr>
          <a:xfrm>
            <a:off x="2451992" y="2054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9FFAA3-AEDC-50B9-3DDE-C47B09CE1A03}"/>
              </a:ext>
            </a:extLst>
          </p:cNvPr>
          <p:cNvSpPr txBox="1"/>
          <p:nvPr/>
        </p:nvSpPr>
        <p:spPr>
          <a:xfrm>
            <a:off x="3733800" y="24354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5CD575-3416-86BE-493C-4EDE48438CD9}"/>
              </a:ext>
            </a:extLst>
          </p:cNvPr>
          <p:cNvSpPr txBox="1"/>
          <p:nvPr/>
        </p:nvSpPr>
        <p:spPr>
          <a:xfrm>
            <a:off x="1182921" y="242401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DACDC7-B133-0F1D-461B-8399D5982567}"/>
              </a:ext>
            </a:extLst>
          </p:cNvPr>
          <p:cNvSpPr txBox="1"/>
          <p:nvPr/>
        </p:nvSpPr>
        <p:spPr>
          <a:xfrm>
            <a:off x="2736573" y="335512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C194C7-6A5B-AFAF-BE15-B138CA41FC14}"/>
              </a:ext>
            </a:extLst>
          </p:cNvPr>
          <p:cNvSpPr txBox="1"/>
          <p:nvPr/>
        </p:nvSpPr>
        <p:spPr>
          <a:xfrm>
            <a:off x="3884341" y="3349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8978EC-746A-7AC2-8888-85B0E383100C}"/>
              </a:ext>
            </a:extLst>
          </p:cNvPr>
          <p:cNvSpPr txBox="1"/>
          <p:nvPr/>
        </p:nvSpPr>
        <p:spPr>
          <a:xfrm>
            <a:off x="1017994" y="343672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A1C308-ECFD-72EB-B9B3-85DCCCAD03CD}"/>
              </a:ext>
            </a:extLst>
          </p:cNvPr>
          <p:cNvSpPr txBox="1"/>
          <p:nvPr/>
        </p:nvSpPr>
        <p:spPr>
          <a:xfrm>
            <a:off x="2184680" y="333308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62CDD0-D291-F42F-5F4E-537D650E9361}"/>
              </a:ext>
            </a:extLst>
          </p:cNvPr>
          <p:cNvSpPr txBox="1"/>
          <p:nvPr/>
        </p:nvSpPr>
        <p:spPr>
          <a:xfrm>
            <a:off x="3794309" y="24322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49DEA2B1-18E2-B277-DDE6-513F236F3F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Update the capacities of the edges.</a:t>
            </a:r>
          </a:p>
          <a:p>
            <a:pPr marL="0" indent="0">
              <a:buNone/>
            </a:pPr>
            <a:r>
              <a:rPr lang="en-US" sz="2000" dirty="0"/>
              <a:t>And …</a:t>
            </a:r>
          </a:p>
          <a:p>
            <a:pPr marL="0" indent="0">
              <a:buNone/>
            </a:pPr>
            <a:r>
              <a:rPr lang="en-US" sz="2000" dirty="0"/>
              <a:t>Find another path </a:t>
            </a:r>
            <a:r>
              <a:rPr lang="en-US" sz="2000" dirty="0">
                <a:sym typeface="Wingdings" pitchFamily="2" charset="2"/>
              </a:rPr>
              <a:t>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71894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500"/>
                                        <p:tgtEl>
                                          <p:spTgt spid="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1250"/>
                                        <p:tgtEl>
                                          <p:spTgt spid="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" grpId="0"/>
      <p:bldP spid="50" grpId="0"/>
      <p:bldP spid="11" grpId="0"/>
      <p:bldP spid="29" grpId="0"/>
      <p:bldP spid="30" grpId="0"/>
      <p:bldP spid="12" grpId="0"/>
      <p:bldP spid="33" grpId="0"/>
      <p:bldP spid="34" grpId="0"/>
      <p:bldP spid="35" grpId="0"/>
      <p:bldP spid="36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49DEA2B1-18E2-B277-DDE6-513F236F3F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Towards designing </a:t>
            </a:r>
            <a:r>
              <a:rPr lang="en-US" sz="3200" b="1" dirty="0">
                <a:solidFill>
                  <a:srgbClr val="7030A0"/>
                </a:solidFill>
              </a:rPr>
              <a:t>max flow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196" name="Oval 195"/>
          <p:cNvSpPr/>
          <p:nvPr/>
        </p:nvSpPr>
        <p:spPr>
          <a:xfrm>
            <a:off x="1676400" y="1981199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/>
          <p:cNvSpPr/>
          <p:nvPr/>
        </p:nvSpPr>
        <p:spPr>
          <a:xfrm>
            <a:off x="3429000" y="1981199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4" name="Straight Arrow Connector 183"/>
          <p:cNvCxnSpPr>
            <a:stCxn id="7" idx="7"/>
            <a:endCxn id="196" idx="3"/>
          </p:cNvCxnSpPr>
          <p:nvPr/>
        </p:nvCxnSpPr>
        <p:spPr>
          <a:xfrm flipV="1">
            <a:off x="787863" y="2111281"/>
            <a:ext cx="910855" cy="8066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/>
          <p:cNvCxnSpPr>
            <a:stCxn id="196" idx="6"/>
            <a:endCxn id="192" idx="2"/>
          </p:cNvCxnSpPr>
          <p:nvPr/>
        </p:nvCxnSpPr>
        <p:spPr>
          <a:xfrm>
            <a:off x="1828800" y="2057399"/>
            <a:ext cx="16002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57781" y="28956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1000" y="2895600"/>
                <a:ext cx="3529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895600"/>
                <a:ext cx="35298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371600" y="16880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1688068"/>
                <a:ext cx="37542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490337" y="4050268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337" y="4050268"/>
                <a:ext cx="38664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/>
          <p:cNvSpPr/>
          <p:nvPr/>
        </p:nvSpPr>
        <p:spPr>
          <a:xfrm>
            <a:off x="1600200" y="38862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591786" y="1676400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786" y="1676400"/>
                <a:ext cx="3706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/>
          <p:cNvSpPr/>
          <p:nvPr/>
        </p:nvSpPr>
        <p:spPr>
          <a:xfrm>
            <a:off x="3406625" y="38862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505200" y="39740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3974068"/>
                <a:ext cx="375424" cy="369332"/>
              </a:xfrm>
              <a:prstGeom prst="rect">
                <a:avLst/>
              </a:prstGeom>
              <a:blipFill>
                <a:blip r:embed="rId6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>
            <a:stCxn id="7" idx="5"/>
            <a:endCxn id="14" idx="1"/>
          </p:cNvCxnSpPr>
          <p:nvPr/>
        </p:nvCxnSpPr>
        <p:spPr>
          <a:xfrm>
            <a:off x="787863" y="3025682"/>
            <a:ext cx="834655" cy="8828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17" idx="2"/>
          </p:cNvCxnSpPr>
          <p:nvPr/>
        </p:nvCxnSpPr>
        <p:spPr>
          <a:xfrm>
            <a:off x="1752600" y="3962400"/>
            <a:ext cx="1654025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3482825" y="2133599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2467162" y="1521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38" name="Arc 37"/>
          <p:cNvSpPr/>
          <p:nvPr/>
        </p:nvSpPr>
        <p:spPr>
          <a:xfrm>
            <a:off x="1490337" y="1806482"/>
            <a:ext cx="2252311" cy="1165318"/>
          </a:xfrm>
          <a:prstGeom prst="arc">
            <a:avLst>
              <a:gd name="adj1" fmla="val 12452853"/>
              <a:gd name="adj2" fmla="val 2021555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6" name="Straight Arrow Connector 235"/>
          <p:cNvCxnSpPr>
            <a:endCxn id="196" idx="7"/>
          </p:cNvCxnSpPr>
          <p:nvPr/>
        </p:nvCxnSpPr>
        <p:spPr>
          <a:xfrm flipH="1">
            <a:off x="1806482" y="1938125"/>
            <a:ext cx="131529" cy="653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/>
          <p:cNvCxnSpPr/>
          <p:nvPr/>
        </p:nvCxnSpPr>
        <p:spPr>
          <a:xfrm flipH="1">
            <a:off x="1730225" y="2133600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/>
          <p:cNvCxnSpPr>
            <a:stCxn id="196" idx="5"/>
            <a:endCxn id="17" idx="1"/>
          </p:cNvCxnSpPr>
          <p:nvPr/>
        </p:nvCxnSpPr>
        <p:spPr>
          <a:xfrm>
            <a:off x="1806482" y="2111281"/>
            <a:ext cx="1622461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stCxn id="14" idx="7"/>
            <a:endCxn id="192" idx="3"/>
          </p:cNvCxnSpPr>
          <p:nvPr/>
        </p:nvCxnSpPr>
        <p:spPr>
          <a:xfrm flipV="1">
            <a:off x="1730282" y="2111281"/>
            <a:ext cx="1721036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TextBox 261"/>
          <p:cNvSpPr txBox="1"/>
          <p:nvPr/>
        </p:nvSpPr>
        <p:spPr>
          <a:xfrm>
            <a:off x="2412660" y="3959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4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4314455" y="2667000"/>
            <a:ext cx="409945" cy="369332"/>
            <a:chOff x="4191000" y="3593068"/>
            <a:chExt cx="409945" cy="369332"/>
          </a:xfrm>
        </p:grpSpPr>
        <p:sp>
          <p:nvSpPr>
            <p:cNvPr id="61" name="Oval 60"/>
            <p:cNvSpPr/>
            <p:nvPr/>
          </p:nvSpPr>
          <p:spPr>
            <a:xfrm>
              <a:off x="4191000" y="3733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333" r="-254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3" name="Straight Arrow Connector 62"/>
          <p:cNvCxnSpPr>
            <a:stCxn id="192" idx="5"/>
            <a:endCxn id="61" idx="1"/>
          </p:cNvCxnSpPr>
          <p:nvPr/>
        </p:nvCxnSpPr>
        <p:spPr>
          <a:xfrm>
            <a:off x="3559082" y="2111281"/>
            <a:ext cx="777691" cy="71876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17" idx="7"/>
            <a:endCxn id="61" idx="3"/>
          </p:cNvCxnSpPr>
          <p:nvPr/>
        </p:nvCxnSpPr>
        <p:spPr>
          <a:xfrm flipV="1">
            <a:off x="3536707" y="2937814"/>
            <a:ext cx="800066" cy="97070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457762" y="2816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05162" y="27402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5181600"/>
            <a:ext cx="1981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83951C-C316-4CA7-8A3F-C0E1F8CACE60}"/>
              </a:ext>
            </a:extLst>
          </p:cNvPr>
          <p:cNvSpPr txBox="1"/>
          <p:nvPr/>
        </p:nvSpPr>
        <p:spPr>
          <a:xfrm>
            <a:off x="2467162" y="17526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E91268-CBA5-D74A-3842-E8470F8553EE}"/>
              </a:ext>
            </a:extLst>
          </p:cNvPr>
          <p:cNvSpPr txBox="1"/>
          <p:nvPr/>
        </p:nvSpPr>
        <p:spPr>
          <a:xfrm>
            <a:off x="3838762" y="2206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12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624E1E-9970-B4A7-028F-6F238C150BFB}"/>
              </a:ext>
            </a:extLst>
          </p:cNvPr>
          <p:cNvSpPr txBox="1"/>
          <p:nvPr/>
        </p:nvSpPr>
        <p:spPr>
          <a:xfrm>
            <a:off x="2819400" y="30480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7DD7E9-662D-EC24-F447-28CA0DA8EB5D}"/>
              </a:ext>
            </a:extLst>
          </p:cNvPr>
          <p:cNvSpPr txBox="1"/>
          <p:nvPr/>
        </p:nvSpPr>
        <p:spPr>
          <a:xfrm>
            <a:off x="3838762" y="305097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60A7F3-872A-CE08-76DB-5D07D5ECA52F}"/>
              </a:ext>
            </a:extLst>
          </p:cNvPr>
          <p:cNvSpPr txBox="1"/>
          <p:nvPr/>
        </p:nvSpPr>
        <p:spPr>
          <a:xfrm>
            <a:off x="1066800" y="21336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8EC9C6-47C5-DECE-84BF-DC1A4D15CB7F}"/>
              </a:ext>
            </a:extLst>
          </p:cNvPr>
          <p:cNvSpPr txBox="1"/>
          <p:nvPr/>
        </p:nvSpPr>
        <p:spPr>
          <a:xfrm>
            <a:off x="1143000" y="32004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287A9F-2695-F11F-4770-8CDC27AC9B46}"/>
              </a:ext>
            </a:extLst>
          </p:cNvPr>
          <p:cNvSpPr txBox="1"/>
          <p:nvPr/>
        </p:nvSpPr>
        <p:spPr>
          <a:xfrm>
            <a:off x="2162362" y="30480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6F5C71-FE88-092B-6821-6F46184AE77A}"/>
              </a:ext>
            </a:extLst>
          </p:cNvPr>
          <p:cNvSpPr txBox="1"/>
          <p:nvPr/>
        </p:nvSpPr>
        <p:spPr>
          <a:xfrm>
            <a:off x="2451992" y="2054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5CD575-3416-86BE-493C-4EDE48438CD9}"/>
              </a:ext>
            </a:extLst>
          </p:cNvPr>
          <p:cNvSpPr txBox="1"/>
          <p:nvPr/>
        </p:nvSpPr>
        <p:spPr>
          <a:xfrm>
            <a:off x="1182921" y="242401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DACDC7-B133-0F1D-461B-8399D5982567}"/>
              </a:ext>
            </a:extLst>
          </p:cNvPr>
          <p:cNvSpPr txBox="1"/>
          <p:nvPr/>
        </p:nvSpPr>
        <p:spPr>
          <a:xfrm>
            <a:off x="2736573" y="335512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C194C7-6A5B-AFAF-BE15-B138CA41FC14}"/>
              </a:ext>
            </a:extLst>
          </p:cNvPr>
          <p:cNvSpPr txBox="1"/>
          <p:nvPr/>
        </p:nvSpPr>
        <p:spPr>
          <a:xfrm>
            <a:off x="3884341" y="3349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8978EC-746A-7AC2-8888-85B0E383100C}"/>
              </a:ext>
            </a:extLst>
          </p:cNvPr>
          <p:cNvSpPr txBox="1"/>
          <p:nvPr/>
        </p:nvSpPr>
        <p:spPr>
          <a:xfrm>
            <a:off x="1017994" y="344290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A1C308-ECFD-72EB-B9B3-85DCCCAD03CD}"/>
              </a:ext>
            </a:extLst>
          </p:cNvPr>
          <p:cNvSpPr txBox="1"/>
          <p:nvPr/>
        </p:nvSpPr>
        <p:spPr>
          <a:xfrm>
            <a:off x="2184680" y="333925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62CDD0-D291-F42F-5F4E-537D650E9361}"/>
              </a:ext>
            </a:extLst>
          </p:cNvPr>
          <p:cNvSpPr txBox="1"/>
          <p:nvPr/>
        </p:nvSpPr>
        <p:spPr>
          <a:xfrm>
            <a:off x="3794309" y="24384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3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AFD9227-4794-AD19-AB63-CD96A48B32A4}"/>
              </a:ext>
            </a:extLst>
          </p:cNvPr>
          <p:cNvGrpSpPr/>
          <p:nvPr/>
        </p:nvGrpSpPr>
        <p:grpSpPr>
          <a:xfrm>
            <a:off x="4800600" y="1371600"/>
            <a:ext cx="4343400" cy="2924357"/>
            <a:chOff x="4800600" y="1371600"/>
            <a:chExt cx="4343400" cy="2924357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AAE7C8F-29B2-E4F3-8EE4-EAA93ADE559C}"/>
                </a:ext>
              </a:extLst>
            </p:cNvPr>
            <p:cNvGrpSpPr/>
            <p:nvPr/>
          </p:nvGrpSpPr>
          <p:grpSpPr>
            <a:xfrm>
              <a:off x="5207463" y="1857557"/>
              <a:ext cx="2793537" cy="936718"/>
              <a:chOff x="2873282" y="1981200"/>
              <a:chExt cx="2793537" cy="936718"/>
            </a:xfrm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0ABABB9D-5750-7A68-7640-EDCB9C103456}"/>
                  </a:ext>
                </a:extLst>
              </p:cNvPr>
              <p:cNvSpPr/>
              <p:nvPr/>
            </p:nvSpPr>
            <p:spPr>
              <a:xfrm>
                <a:off x="3761819" y="19812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F192BAC3-6DA8-BB03-8E14-01CFBA119EC4}"/>
                  </a:ext>
                </a:extLst>
              </p:cNvPr>
              <p:cNvSpPr/>
              <p:nvPr/>
            </p:nvSpPr>
            <p:spPr>
              <a:xfrm>
                <a:off x="5514419" y="19812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1ABE4EDA-F02F-DAD6-7A2A-E92187A0E634}"/>
                  </a:ext>
                </a:extLst>
              </p:cNvPr>
              <p:cNvCxnSpPr>
                <a:stCxn id="84" idx="7"/>
                <a:endCxn id="87" idx="3"/>
              </p:cNvCxnSpPr>
              <p:nvPr/>
            </p:nvCxnSpPr>
            <p:spPr>
              <a:xfrm flipV="1">
                <a:off x="2873282" y="2111282"/>
                <a:ext cx="910855" cy="80663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2D52C076-8D5D-98C6-EB62-AC5A68016FA5}"/>
                  </a:ext>
                </a:extLst>
              </p:cNvPr>
              <p:cNvCxnSpPr>
                <a:stCxn id="87" idx="6"/>
                <a:endCxn id="88" idx="2"/>
              </p:cNvCxnSpPr>
              <p:nvPr/>
            </p:nvCxnSpPr>
            <p:spPr>
              <a:xfrm>
                <a:off x="3914219" y="2057400"/>
                <a:ext cx="16002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410EBAF-21AE-5F0E-4183-4B06C71A3488}"/>
                </a:ext>
              </a:extLst>
            </p:cNvPr>
            <p:cNvGrpSpPr/>
            <p:nvPr/>
          </p:nvGrpSpPr>
          <p:grpSpPr>
            <a:xfrm>
              <a:off x="4800600" y="1552757"/>
              <a:ext cx="3581400" cy="2743200"/>
              <a:chOff x="2466419" y="1676400"/>
              <a:chExt cx="3581400" cy="2743200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7C1BE653-C200-26EE-7D09-81F7966C1662}"/>
                  </a:ext>
                </a:extLst>
              </p:cNvPr>
              <p:cNvGrpSpPr/>
              <p:nvPr/>
            </p:nvGrpSpPr>
            <p:grpSpPr>
              <a:xfrm>
                <a:off x="2466419" y="2895600"/>
                <a:ext cx="429181" cy="369332"/>
                <a:chOff x="4676219" y="3048000"/>
                <a:chExt cx="429181" cy="369332"/>
              </a:xfrm>
            </p:grpSpPr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A79E0633-5F70-6BF0-3742-19BBEC82158F}"/>
                    </a:ext>
                  </a:extLst>
                </p:cNvPr>
                <p:cNvSpPr/>
                <p:nvPr/>
              </p:nvSpPr>
              <p:spPr>
                <a:xfrm>
                  <a:off x="4953000" y="30480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5" name="TextBox 84">
                      <a:extLst>
                        <a:ext uri="{FF2B5EF4-FFF2-40B4-BE49-F238E27FC236}">
                          <a16:creationId xmlns:a16="http://schemas.microsoft.com/office/drawing/2014/main" id="{FA352EEB-9A23-48C0-D67F-AAAD1F52724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76219" y="3048000"/>
                      <a:ext cx="35298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𝒔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6" name="TextBox 2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76219" y="3048000"/>
                      <a:ext cx="352981" cy="369332"/>
                    </a:xfrm>
                    <a:prstGeom prst="rect">
                      <a:avLst/>
                    </a:prstGeom>
                    <a:blipFill rotWithShape="1">
                      <a:blip r:embed="rId14"/>
                      <a:stretch>
                        <a:fillRect t="-8197" r="-24138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4EFFF83E-B101-C93D-8587-70059932D4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57019" y="1688068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57019" y="1688068"/>
                    <a:ext cx="375424" cy="369332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t="-8197" r="-1935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10DCBD27-DC31-0616-F925-DE9C6E0F0C5A}"/>
                  </a:ext>
                </a:extLst>
              </p:cNvPr>
              <p:cNvGrpSpPr/>
              <p:nvPr/>
            </p:nvGrpSpPr>
            <p:grpSpPr>
              <a:xfrm>
                <a:off x="3575756" y="3886200"/>
                <a:ext cx="386644" cy="533400"/>
                <a:chOff x="4566356" y="3810000"/>
                <a:chExt cx="386644" cy="5334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2" name="TextBox 81">
                      <a:extLst>
                        <a:ext uri="{FF2B5EF4-FFF2-40B4-BE49-F238E27FC236}">
                          <a16:creationId xmlns:a16="http://schemas.microsoft.com/office/drawing/2014/main" id="{A8838679-0726-67AB-D157-08BBDD86437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66356" y="3974068"/>
                      <a:ext cx="38664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𝒖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3" name="TextBox 1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66356" y="3974068"/>
                      <a:ext cx="386644" cy="369332"/>
                    </a:xfrm>
                    <a:prstGeom prst="rect">
                      <a:avLst/>
                    </a:prstGeom>
                    <a:blipFill rotWithShape="1">
                      <a:blip r:embed="rId16"/>
                      <a:stretch>
                        <a:fillRect t="-8197" r="-20313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D64EA5FF-CDCD-E53F-600F-B98A5570313A}"/>
                    </a:ext>
                  </a:extLst>
                </p:cNvPr>
                <p:cNvSpPr/>
                <p:nvPr/>
              </p:nvSpPr>
              <p:spPr>
                <a:xfrm>
                  <a:off x="4676219" y="3810000"/>
                  <a:ext cx="152400" cy="152400"/>
                </a:xfrm>
                <a:prstGeom prst="ellipse">
                  <a:avLst/>
                </a:prstGeom>
                <a:solidFill>
                  <a:schemeClr val="tx2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21E07BC3-ECB9-E68B-DD1A-79755BB33EF7}"/>
                  </a:ext>
                </a:extLst>
              </p:cNvPr>
              <p:cNvGrpSpPr/>
              <p:nvPr/>
            </p:nvGrpSpPr>
            <p:grpSpPr>
              <a:xfrm>
                <a:off x="5492044" y="1676400"/>
                <a:ext cx="555775" cy="2362200"/>
                <a:chOff x="4648200" y="1600200"/>
                <a:chExt cx="555775" cy="23622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0" name="TextBox 79">
                      <a:extLst>
                        <a:ext uri="{FF2B5EF4-FFF2-40B4-BE49-F238E27FC236}">
                          <a16:creationId xmlns:a16="http://schemas.microsoft.com/office/drawing/2014/main" id="{3B07686A-7D53-E9E9-316D-F45EC9A2512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33361" y="1600200"/>
                      <a:ext cx="37061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𝒙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6" name="TextBox 1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33361" y="1600200"/>
                      <a:ext cx="370614" cy="369332"/>
                    </a:xfrm>
                    <a:prstGeom prst="rect">
                      <a:avLst/>
                    </a:prstGeom>
                    <a:blipFill rotWithShape="1">
                      <a:blip r:embed="rId17"/>
                      <a:stretch>
                        <a:fillRect t="-8197" r="-22951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1F4669A8-035A-661E-4003-39C80AF2D561}"/>
                    </a:ext>
                  </a:extLst>
                </p:cNvPr>
                <p:cNvSpPr/>
                <p:nvPr/>
              </p:nvSpPr>
              <p:spPr>
                <a:xfrm>
                  <a:off x="4648200" y="3810000"/>
                  <a:ext cx="152400" cy="152400"/>
                </a:xfrm>
                <a:prstGeom prst="ellipse">
                  <a:avLst/>
                </a:prstGeom>
                <a:solidFill>
                  <a:schemeClr val="tx2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B684B845-C28E-6E68-D9A9-2A566A578EC0}"/>
                      </a:ext>
                    </a:extLst>
                  </p:cNvPr>
                  <p:cNvSpPr txBox="1"/>
                  <p:nvPr/>
                </p:nvSpPr>
                <p:spPr>
                  <a:xfrm>
                    <a:off x="5590619" y="3974068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𝒚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90619" y="3974068"/>
                    <a:ext cx="375424" cy="369332"/>
                  </a:xfrm>
                  <a:prstGeom prst="rect">
                    <a:avLst/>
                  </a:prstGeom>
                  <a:blipFill rotWithShape="1">
                    <a:blip r:embed="rId18"/>
                    <a:stretch>
                      <a:fillRect t="-8197" r="-1935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596E7DFD-3DDA-7A7C-0282-378963A63F3C}"/>
                  </a:ext>
                </a:extLst>
              </p:cNvPr>
              <p:cNvCxnSpPr>
                <a:stCxn id="84" idx="5"/>
                <a:endCxn id="83" idx="1"/>
              </p:cNvCxnSpPr>
              <p:nvPr/>
            </p:nvCxnSpPr>
            <p:spPr>
              <a:xfrm>
                <a:off x="2873282" y="3025682"/>
                <a:ext cx="834655" cy="88283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97AAC070-7544-C036-98D6-81DFDB7B47CC}"/>
                  </a:ext>
                </a:extLst>
              </p:cNvPr>
              <p:cNvCxnSpPr>
                <a:endCxn id="81" idx="2"/>
              </p:cNvCxnSpPr>
              <p:nvPr/>
            </p:nvCxnSpPr>
            <p:spPr>
              <a:xfrm>
                <a:off x="3838019" y="3962400"/>
                <a:ext cx="1654025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9E79B7A4-7657-1FC8-DAA0-7F8C165C2B66}"/>
                  </a:ext>
                </a:extLst>
              </p:cNvPr>
              <p:cNvCxnSpPr/>
              <p:nvPr/>
            </p:nvCxnSpPr>
            <p:spPr>
              <a:xfrm flipH="1">
                <a:off x="5568244" y="2133599"/>
                <a:ext cx="22375" cy="175260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Arc 39">
              <a:extLst>
                <a:ext uri="{FF2B5EF4-FFF2-40B4-BE49-F238E27FC236}">
                  <a16:creationId xmlns:a16="http://schemas.microsoft.com/office/drawing/2014/main" id="{065BE42B-1F83-EE85-4C85-6B0EC9002AC8}"/>
                </a:ext>
              </a:extLst>
            </p:cNvPr>
            <p:cNvSpPr/>
            <p:nvPr/>
          </p:nvSpPr>
          <p:spPr>
            <a:xfrm>
              <a:off x="5909937" y="1682839"/>
              <a:ext cx="2252311" cy="1165318"/>
            </a:xfrm>
            <a:prstGeom prst="arc">
              <a:avLst>
                <a:gd name="adj1" fmla="val 12452853"/>
                <a:gd name="adj2" fmla="val 20215559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5B7159C5-49BF-149B-4CBB-D56CC6D868C6}"/>
                </a:ext>
              </a:extLst>
            </p:cNvPr>
            <p:cNvCxnSpPr>
              <a:endCxn id="87" idx="7"/>
            </p:cNvCxnSpPr>
            <p:nvPr/>
          </p:nvCxnSpPr>
          <p:spPr>
            <a:xfrm flipH="1">
              <a:off x="6226082" y="1814483"/>
              <a:ext cx="131529" cy="653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02BA0FD-FE42-CF9C-70F3-30A89AC69838}"/>
                </a:ext>
              </a:extLst>
            </p:cNvPr>
            <p:cNvCxnSpPr/>
            <p:nvPr/>
          </p:nvCxnSpPr>
          <p:spPr>
            <a:xfrm flipH="1">
              <a:off x="6149825" y="2009957"/>
              <a:ext cx="22375" cy="17526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62A6BF3-24B5-90F9-C4A3-AB3F7B2A8D89}"/>
                </a:ext>
              </a:extLst>
            </p:cNvPr>
            <p:cNvCxnSpPr>
              <a:stCxn id="87" idx="5"/>
              <a:endCxn id="81" idx="1"/>
            </p:cNvCxnSpPr>
            <p:nvPr/>
          </p:nvCxnSpPr>
          <p:spPr>
            <a:xfrm>
              <a:off x="6226082" y="1987639"/>
              <a:ext cx="1622461" cy="17972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F637580-B990-2965-716A-00853AFF04A1}"/>
                </a:ext>
              </a:extLst>
            </p:cNvPr>
            <p:cNvCxnSpPr>
              <a:stCxn id="83" idx="7"/>
              <a:endCxn id="88" idx="3"/>
            </p:cNvCxnSpPr>
            <p:nvPr/>
          </p:nvCxnSpPr>
          <p:spPr>
            <a:xfrm flipV="1">
              <a:off x="6149882" y="1987639"/>
              <a:ext cx="1721036" cy="17972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73C8256-D6BD-FFCE-42B0-A4655676A4FC}"/>
                </a:ext>
              </a:extLst>
            </p:cNvPr>
            <p:cNvGrpSpPr/>
            <p:nvPr/>
          </p:nvGrpSpPr>
          <p:grpSpPr>
            <a:xfrm>
              <a:off x="8734055" y="2543357"/>
              <a:ext cx="409945" cy="369332"/>
              <a:chOff x="4191000" y="3593068"/>
              <a:chExt cx="409945" cy="369332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81B1DCEE-5428-31F3-3CC7-7064A8D17EBF}"/>
                  </a:ext>
                </a:extLst>
              </p:cNvPr>
              <p:cNvSpPr/>
              <p:nvPr/>
            </p:nvSpPr>
            <p:spPr>
              <a:xfrm>
                <a:off x="4191000" y="373380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5E4A2BCD-D930-E4FA-0B51-9E421F98B982}"/>
                      </a:ext>
                    </a:extLst>
                  </p:cNvPr>
                  <p:cNvSpPr txBox="1"/>
                  <p:nvPr/>
                </p:nvSpPr>
                <p:spPr>
                  <a:xfrm>
                    <a:off x="4267200" y="3593068"/>
                    <a:ext cx="33374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𝒕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2" name="TextBox 6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67200" y="3593068"/>
                    <a:ext cx="333745" cy="369332"/>
                  </a:xfrm>
                  <a:prstGeom prst="rect">
                    <a:avLst/>
                  </a:prstGeom>
                  <a:blipFill rotWithShape="1">
                    <a:blip r:embed="rId19"/>
                    <a:stretch>
                      <a:fillRect t="-8333" r="-2545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B99A8099-6965-2CCD-4163-E37CE10E42D5}"/>
                </a:ext>
              </a:extLst>
            </p:cNvPr>
            <p:cNvCxnSpPr>
              <a:stCxn id="88" idx="5"/>
              <a:endCxn id="70" idx="1"/>
            </p:cNvCxnSpPr>
            <p:nvPr/>
          </p:nvCxnSpPr>
          <p:spPr>
            <a:xfrm>
              <a:off x="7978682" y="1987639"/>
              <a:ext cx="777691" cy="7187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4A5ABE71-0990-DB3F-04FA-8193A9728DCD}"/>
                </a:ext>
              </a:extLst>
            </p:cNvPr>
            <p:cNvCxnSpPr>
              <a:stCxn id="81" idx="7"/>
              <a:endCxn id="70" idx="3"/>
            </p:cNvCxnSpPr>
            <p:nvPr/>
          </p:nvCxnSpPr>
          <p:spPr>
            <a:xfrm flipV="1">
              <a:off x="7956307" y="2814171"/>
              <a:ext cx="800066" cy="9707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9CCB8E2-D717-4138-2CBD-541B5EF72696}"/>
                </a:ext>
              </a:extLst>
            </p:cNvPr>
            <p:cNvSpPr txBox="1"/>
            <p:nvPr/>
          </p:nvSpPr>
          <p:spPr>
            <a:xfrm>
              <a:off x="5522127" y="23622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6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9EE8D3C-5BBA-C867-A6C2-A27A4DF59CB1}"/>
                </a:ext>
              </a:extLst>
            </p:cNvPr>
            <p:cNvSpPr txBox="1"/>
            <p:nvPr/>
          </p:nvSpPr>
          <p:spPr>
            <a:xfrm>
              <a:off x="6893727" y="13716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0B5E01D-47D0-BD0A-D42B-E2E616BBD47B}"/>
                </a:ext>
              </a:extLst>
            </p:cNvPr>
            <p:cNvSpPr txBox="1"/>
            <p:nvPr/>
          </p:nvSpPr>
          <p:spPr>
            <a:xfrm>
              <a:off x="8312765" y="3203377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17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9236654-6959-AE7B-828D-70A6F8C33459}"/>
                </a:ext>
              </a:extLst>
            </p:cNvPr>
            <p:cNvSpPr txBox="1"/>
            <p:nvPr/>
          </p:nvSpPr>
          <p:spPr>
            <a:xfrm>
              <a:off x="6878557" y="19050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5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A8A9C6F-72E3-7218-6B74-9920021C078C}"/>
                </a:ext>
              </a:extLst>
            </p:cNvPr>
            <p:cNvSpPr txBox="1"/>
            <p:nvPr/>
          </p:nvSpPr>
          <p:spPr>
            <a:xfrm>
              <a:off x="7655727" y="26670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6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ED89DC3-A3AE-4656-F099-390A2D47D1A8}"/>
                </a:ext>
              </a:extLst>
            </p:cNvPr>
            <p:cNvSpPr txBox="1"/>
            <p:nvPr/>
          </p:nvSpPr>
          <p:spPr>
            <a:xfrm>
              <a:off x="5903127" y="25908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8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262840A-561F-6E1A-17FD-A56AAE604482}"/>
                </a:ext>
              </a:extLst>
            </p:cNvPr>
            <p:cNvSpPr txBox="1"/>
            <p:nvPr/>
          </p:nvSpPr>
          <p:spPr>
            <a:xfrm>
              <a:off x="5445927" y="32766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7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A1B28A0-9DB4-1267-CE6B-FCCDDFB5E495}"/>
                </a:ext>
              </a:extLst>
            </p:cNvPr>
            <p:cNvSpPr txBox="1"/>
            <p:nvPr/>
          </p:nvSpPr>
          <p:spPr>
            <a:xfrm>
              <a:off x="7169765" y="32004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7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CB63D98-22B8-66C6-CD71-2510A5CB35BA}"/>
                </a:ext>
              </a:extLst>
            </p:cNvPr>
            <p:cNvSpPr txBox="1"/>
            <p:nvPr/>
          </p:nvSpPr>
          <p:spPr>
            <a:xfrm>
              <a:off x="6560165" y="32004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14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766FEDA-84D4-2608-A22D-16658FFEE929}"/>
                </a:ext>
              </a:extLst>
            </p:cNvPr>
            <p:cNvSpPr txBox="1"/>
            <p:nvPr/>
          </p:nvSpPr>
          <p:spPr>
            <a:xfrm>
              <a:off x="6861193" y="3829341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4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A4BA79C6-9477-A321-9EE3-776F93B66AF9}"/>
                </a:ext>
              </a:extLst>
            </p:cNvPr>
            <p:cNvCxnSpPr>
              <a:cxnSpLocks/>
            </p:cNvCxnSpPr>
            <p:nvPr/>
          </p:nvCxnSpPr>
          <p:spPr>
            <a:xfrm>
              <a:off x="6226082" y="1987638"/>
              <a:ext cx="1622461" cy="17972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D364EFD1-1CFD-E44D-3A93-EB94A3E7B2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9882" y="1987638"/>
              <a:ext cx="1721036" cy="17972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4F70627-4A9A-B25F-0533-8B2CB66ABFED}"/>
                </a:ext>
              </a:extLst>
            </p:cNvPr>
            <p:cNvSpPr txBox="1"/>
            <p:nvPr/>
          </p:nvSpPr>
          <p:spPr>
            <a:xfrm>
              <a:off x="8160365" y="22860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15</a:t>
              </a:r>
            </a:p>
          </p:txBody>
        </p:sp>
      </p:grpSp>
      <p:sp>
        <p:nvSpPr>
          <p:cNvPr id="91" name="Arc 90">
            <a:extLst>
              <a:ext uri="{FF2B5EF4-FFF2-40B4-BE49-F238E27FC236}">
                <a16:creationId xmlns:a16="http://schemas.microsoft.com/office/drawing/2014/main" id="{F1F4B5A6-44BE-D6EC-8E77-1E7F23D69B9E}"/>
              </a:ext>
            </a:extLst>
          </p:cNvPr>
          <p:cNvSpPr/>
          <p:nvPr/>
        </p:nvSpPr>
        <p:spPr>
          <a:xfrm>
            <a:off x="4603104" y="2421118"/>
            <a:ext cx="914400" cy="914400"/>
          </a:xfrm>
          <a:prstGeom prst="arc">
            <a:avLst>
              <a:gd name="adj1" fmla="val 16200000"/>
              <a:gd name="adj2" fmla="val 5426747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2746202-8096-270D-45BC-3B9EAD8FDA2F}"/>
              </a:ext>
            </a:extLst>
          </p:cNvPr>
          <p:cNvGrpSpPr/>
          <p:nvPr/>
        </p:nvGrpSpPr>
        <p:grpSpPr>
          <a:xfrm>
            <a:off x="1066800" y="1752600"/>
            <a:ext cx="3124200" cy="1755577"/>
            <a:chOff x="1066800" y="1752600"/>
            <a:chExt cx="3124200" cy="1755577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11A7928-EFCC-E7D7-1A7A-94DC92ABD89E}"/>
                </a:ext>
              </a:extLst>
            </p:cNvPr>
            <p:cNvSpPr txBox="1"/>
            <p:nvPr/>
          </p:nvSpPr>
          <p:spPr>
            <a:xfrm>
              <a:off x="2467162" y="17526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B389C95-2745-1C14-B212-DF0536BCBC32}"/>
                </a:ext>
              </a:extLst>
            </p:cNvPr>
            <p:cNvSpPr txBox="1"/>
            <p:nvPr/>
          </p:nvSpPr>
          <p:spPr>
            <a:xfrm>
              <a:off x="2819400" y="30480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28A5280B-6B8A-19DE-9262-AC3B49587663}"/>
                </a:ext>
              </a:extLst>
            </p:cNvPr>
            <p:cNvSpPr txBox="1"/>
            <p:nvPr/>
          </p:nvSpPr>
          <p:spPr>
            <a:xfrm>
              <a:off x="3838762" y="305097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7497603-B0F7-2668-7E79-D445A72F82F1}"/>
                </a:ext>
              </a:extLst>
            </p:cNvPr>
            <p:cNvSpPr txBox="1"/>
            <p:nvPr/>
          </p:nvSpPr>
          <p:spPr>
            <a:xfrm>
              <a:off x="1066800" y="21336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A811DB4-62F5-8620-84CB-1A26BD5E812B}"/>
                </a:ext>
              </a:extLst>
            </p:cNvPr>
            <p:cNvSpPr txBox="1"/>
            <p:nvPr/>
          </p:nvSpPr>
          <p:spPr>
            <a:xfrm>
              <a:off x="1143000" y="32004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B536DFB-AE29-3326-4AF1-E5138EBE5672}"/>
                </a:ext>
              </a:extLst>
            </p:cNvPr>
            <p:cNvSpPr txBox="1"/>
            <p:nvPr/>
          </p:nvSpPr>
          <p:spPr>
            <a:xfrm>
              <a:off x="2162362" y="30480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1FE8BFA-AA37-0789-F342-6426962004EF}"/>
                </a:ext>
              </a:extLst>
            </p:cNvPr>
            <p:cNvSpPr txBox="1"/>
            <p:nvPr/>
          </p:nvSpPr>
          <p:spPr>
            <a:xfrm>
              <a:off x="3823592" y="22068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12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Content Placeholder 6">
                <a:extLst>
                  <a:ext uri="{FF2B5EF4-FFF2-40B4-BE49-F238E27FC236}">
                    <a16:creationId xmlns:a16="http://schemas.microsoft.com/office/drawing/2014/main" id="{8B4DAC77-BF35-0E8D-60DF-560FCA41506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" y="1600200"/>
                <a:ext cx="4038600" cy="4525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charset="0"/>
                  <a:buNone/>
                </a:pPr>
                <a:endParaRPr lang="en-US" sz="2000" dirty="0"/>
              </a:p>
              <a:p>
                <a:pPr marL="0" indent="0">
                  <a:buFont typeface="Arial" charset="0"/>
                  <a:buNone/>
                </a:pPr>
                <a:endParaRPr lang="en-US" sz="2000" dirty="0"/>
              </a:p>
              <a:p>
                <a:pPr marL="0" indent="0">
                  <a:buFont typeface="Arial" charset="0"/>
                  <a:buNone/>
                </a:pPr>
                <a:endParaRPr lang="en-US" sz="2000" dirty="0"/>
              </a:p>
              <a:p>
                <a:pPr marL="0" indent="0">
                  <a:buFont typeface="Arial" charset="0"/>
                  <a:buNone/>
                </a:pPr>
                <a:endParaRPr lang="en-US" sz="2000" dirty="0"/>
              </a:p>
              <a:p>
                <a:pPr marL="0" indent="0">
                  <a:buFont typeface="Arial" charset="0"/>
                  <a:buNone/>
                </a:pPr>
                <a:endParaRPr lang="en-US" sz="2000" dirty="0"/>
              </a:p>
              <a:p>
                <a:pPr marL="0" indent="0">
                  <a:buFont typeface="Arial" charset="0"/>
                  <a:buNone/>
                </a:pPr>
                <a:endParaRPr lang="en-US" sz="2000" dirty="0"/>
              </a:p>
              <a:p>
                <a:pPr marL="0" indent="0">
                  <a:buFont typeface="Arial" charset="0"/>
                  <a:buNone/>
                </a:pPr>
                <a:endParaRPr lang="en-US" sz="2000" dirty="0"/>
              </a:p>
              <a:p>
                <a:pPr marL="0" indent="0">
                  <a:buFont typeface="Arial" charset="0"/>
                  <a:buNone/>
                </a:pPr>
                <a:endParaRPr lang="en-US" sz="2000" dirty="0"/>
              </a:p>
              <a:p>
                <a:pPr marL="0" indent="0">
                  <a:buFont typeface="Arial" charset="0"/>
                  <a:buNone/>
                </a:pPr>
                <a:r>
                  <a:rPr lang="en-US" sz="2000" dirty="0"/>
                  <a:t>We are unable to find any path from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2000" dirty="0"/>
                  <a:t>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2000" dirty="0"/>
                  <a:t>of non-zero capacity.</a:t>
                </a:r>
              </a:p>
              <a:p>
                <a:pPr marL="0" indent="0">
                  <a:buFont typeface="Arial" charset="0"/>
                  <a:buNone/>
                </a:pPr>
                <a:r>
                  <a:rPr lang="en-US" sz="2000" dirty="0"/>
                  <a:t>Let us bring the original network to see how far we have reached </a:t>
                </a:r>
                <a:r>
                  <a:rPr lang="en-US" sz="2000" dirty="0">
                    <a:sym typeface="Wingdings" pitchFamily="2" charset="2"/>
                  </a:rPr>
                  <a:t></a:t>
                </a:r>
                <a:endParaRPr lang="en-US" sz="2000" dirty="0"/>
              </a:p>
            </p:txBody>
          </p:sp>
        </mc:Choice>
        <mc:Fallback xmlns="">
          <p:sp>
            <p:nvSpPr>
              <p:cNvPr id="100" name="Content Placeholder 6">
                <a:extLst>
                  <a:ext uri="{FF2B5EF4-FFF2-40B4-BE49-F238E27FC236}">
                    <a16:creationId xmlns:a16="http://schemas.microsoft.com/office/drawing/2014/main" id="{8B4DAC77-BF35-0E8D-60DF-560FCA415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600200"/>
                <a:ext cx="4038600" cy="4525963"/>
              </a:xfrm>
              <a:prstGeom prst="rect">
                <a:avLst/>
              </a:prstGeom>
              <a:blipFill>
                <a:blip r:embed="rId20"/>
                <a:stretch>
                  <a:fillRect l="-150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Content Placeholder 21">
                <a:extLst>
                  <a:ext uri="{FF2B5EF4-FFF2-40B4-BE49-F238E27FC236}">
                    <a16:creationId xmlns:a16="http://schemas.microsoft.com/office/drawing/2014/main" id="{FC4FF169-EC94-F6FA-F5FA-8639FEE8C33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600200"/>
                <a:ext cx="4495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We can send flow </a:t>
                </a:r>
                <a:r>
                  <a:rPr lang="en-US" sz="2000" u="sng" dirty="0"/>
                  <a:t>at most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𝟏𝟑</m:t>
                    </m:r>
                  </m:oMath>
                </a14:m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2000" dirty="0"/>
                  <a:t>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01" name="Content Placeholder 21">
                <a:extLst>
                  <a:ext uri="{FF2B5EF4-FFF2-40B4-BE49-F238E27FC236}">
                    <a16:creationId xmlns:a16="http://schemas.microsoft.com/office/drawing/2014/main" id="{FC4FF169-EC94-F6FA-F5FA-8639FEE8C3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600200"/>
                <a:ext cx="4495800" cy="4525963"/>
              </a:xfrm>
              <a:blipFill>
                <a:blip r:embed="rId21"/>
                <a:stretch>
                  <a:fillRect l="-14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12700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" dur="500"/>
                                        <p:tgtEl>
                                          <p:spTgt spid="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5" dur="500"/>
                                        <p:tgtEl>
                                          <p:spTgt spid="1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750"/>
                                        <p:tgtEl>
                                          <p:spTgt spid="1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100" grpId="0" build="p"/>
      <p:bldP spid="100" grpId="1" build="p"/>
      <p:bldP spid="101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Content Placeholder 21">
                <a:extLst>
                  <a:ext uri="{FF2B5EF4-FFF2-40B4-BE49-F238E27FC236}">
                    <a16:creationId xmlns:a16="http://schemas.microsoft.com/office/drawing/2014/main" id="{FC4FF169-EC94-F6FA-F5FA-8639FEE8C33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600200"/>
                <a:ext cx="4495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We can send flow </a:t>
                </a:r>
                <a:r>
                  <a:rPr lang="en-US" sz="2000" u="sng" dirty="0"/>
                  <a:t>at most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𝟏𝟑</m:t>
                    </m:r>
                  </m:oMath>
                </a14:m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2000" dirty="0"/>
                  <a:t>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101" name="Content Placeholder 21">
                <a:extLst>
                  <a:ext uri="{FF2B5EF4-FFF2-40B4-BE49-F238E27FC236}">
                    <a16:creationId xmlns:a16="http://schemas.microsoft.com/office/drawing/2014/main" id="{FC4FF169-EC94-F6FA-F5FA-8639FEE8C3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600200"/>
                <a:ext cx="4495800" cy="4525963"/>
              </a:xfrm>
              <a:blipFill>
                <a:blip r:embed="rId2"/>
                <a:stretch>
                  <a:fillRect l="-14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Content Placeholder 6">
            <a:extLst>
              <a:ext uri="{FF2B5EF4-FFF2-40B4-BE49-F238E27FC236}">
                <a16:creationId xmlns:a16="http://schemas.microsoft.com/office/drawing/2014/main" id="{8B4DAC77-BF35-0E8D-60DF-560FCA415063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endParaRPr lang="en-US" sz="2000" dirty="0"/>
          </a:p>
          <a:p>
            <a:pPr marL="0" indent="0">
              <a:buFont typeface="Arial" charset="0"/>
              <a:buNone/>
            </a:pPr>
            <a:endParaRPr lang="en-US" sz="2000" dirty="0"/>
          </a:p>
          <a:p>
            <a:pPr marL="0" indent="0">
              <a:buFont typeface="Arial" charset="0"/>
              <a:buNone/>
            </a:pPr>
            <a:endParaRPr lang="en-US" sz="2000" dirty="0"/>
          </a:p>
          <a:p>
            <a:pPr marL="0" indent="0">
              <a:buFont typeface="Arial" charset="0"/>
              <a:buNone/>
            </a:pPr>
            <a:endParaRPr lang="en-US" sz="2000" dirty="0"/>
          </a:p>
          <a:p>
            <a:pPr marL="0" indent="0">
              <a:buFont typeface="Arial" charset="0"/>
              <a:buNone/>
            </a:pPr>
            <a:endParaRPr lang="en-US" sz="2000" dirty="0"/>
          </a:p>
          <a:p>
            <a:pPr marL="0" indent="0">
              <a:buFont typeface="Arial" charset="0"/>
              <a:buNone/>
            </a:pPr>
            <a:endParaRPr lang="en-US" sz="2000" dirty="0"/>
          </a:p>
          <a:p>
            <a:pPr marL="0" indent="0">
              <a:buFont typeface="Arial" charset="0"/>
              <a:buNone/>
            </a:pPr>
            <a:endParaRPr lang="en-US" sz="2000" dirty="0"/>
          </a:p>
          <a:p>
            <a:pPr marL="0" indent="0">
              <a:buFont typeface="Arial" charset="0"/>
              <a:buNone/>
            </a:pPr>
            <a:endParaRPr lang="en-US" sz="2000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49DEA2B1-18E2-B277-DDE6-513F236F3F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Towards designing </a:t>
            </a:r>
            <a:r>
              <a:rPr lang="en-US" sz="3200" b="1" dirty="0">
                <a:solidFill>
                  <a:srgbClr val="7030A0"/>
                </a:solidFill>
              </a:rPr>
              <a:t>max flow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196" name="Oval 195"/>
          <p:cNvSpPr/>
          <p:nvPr/>
        </p:nvSpPr>
        <p:spPr>
          <a:xfrm>
            <a:off x="1676400" y="1981199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/>
          <p:cNvSpPr/>
          <p:nvPr/>
        </p:nvSpPr>
        <p:spPr>
          <a:xfrm>
            <a:off x="3429000" y="1981199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4" name="Straight Arrow Connector 183"/>
          <p:cNvCxnSpPr>
            <a:stCxn id="7" idx="7"/>
            <a:endCxn id="196" idx="3"/>
          </p:cNvCxnSpPr>
          <p:nvPr/>
        </p:nvCxnSpPr>
        <p:spPr>
          <a:xfrm flipV="1">
            <a:off x="787863" y="2111281"/>
            <a:ext cx="910855" cy="8066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/>
          <p:cNvCxnSpPr>
            <a:stCxn id="196" idx="6"/>
            <a:endCxn id="192" idx="2"/>
          </p:cNvCxnSpPr>
          <p:nvPr/>
        </p:nvCxnSpPr>
        <p:spPr>
          <a:xfrm>
            <a:off x="1828800" y="2057399"/>
            <a:ext cx="16002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57781" y="28956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1000" y="2895600"/>
                <a:ext cx="3529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895600"/>
                <a:ext cx="35298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371600" y="16880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1688068"/>
                <a:ext cx="3754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490337" y="4050268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337" y="4050268"/>
                <a:ext cx="3866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/>
          <p:cNvSpPr/>
          <p:nvPr/>
        </p:nvSpPr>
        <p:spPr>
          <a:xfrm>
            <a:off x="1600200" y="38862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591786" y="1676400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786" y="1676400"/>
                <a:ext cx="37061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/>
          <p:cNvSpPr/>
          <p:nvPr/>
        </p:nvSpPr>
        <p:spPr>
          <a:xfrm>
            <a:off x="3406625" y="38862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505200" y="39740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3974068"/>
                <a:ext cx="375424" cy="369332"/>
              </a:xfrm>
              <a:prstGeom prst="rect">
                <a:avLst/>
              </a:prstGeom>
              <a:blipFill>
                <a:blip r:embed="rId7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>
            <a:stCxn id="7" idx="5"/>
            <a:endCxn id="14" idx="1"/>
          </p:cNvCxnSpPr>
          <p:nvPr/>
        </p:nvCxnSpPr>
        <p:spPr>
          <a:xfrm>
            <a:off x="787863" y="3025682"/>
            <a:ext cx="834655" cy="8828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17" idx="2"/>
          </p:cNvCxnSpPr>
          <p:nvPr/>
        </p:nvCxnSpPr>
        <p:spPr>
          <a:xfrm>
            <a:off x="1752600" y="3962400"/>
            <a:ext cx="1654025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3482825" y="2133599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2467162" y="1521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38" name="Arc 37"/>
          <p:cNvSpPr/>
          <p:nvPr/>
        </p:nvSpPr>
        <p:spPr>
          <a:xfrm>
            <a:off x="1490337" y="1806482"/>
            <a:ext cx="2252311" cy="1165318"/>
          </a:xfrm>
          <a:prstGeom prst="arc">
            <a:avLst>
              <a:gd name="adj1" fmla="val 12452853"/>
              <a:gd name="adj2" fmla="val 2021555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6" name="Straight Arrow Connector 235"/>
          <p:cNvCxnSpPr>
            <a:endCxn id="196" idx="7"/>
          </p:cNvCxnSpPr>
          <p:nvPr/>
        </p:nvCxnSpPr>
        <p:spPr>
          <a:xfrm flipH="1">
            <a:off x="1806482" y="1938125"/>
            <a:ext cx="131529" cy="653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/>
          <p:cNvCxnSpPr/>
          <p:nvPr/>
        </p:nvCxnSpPr>
        <p:spPr>
          <a:xfrm flipH="1">
            <a:off x="1730225" y="2133600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/>
          <p:cNvCxnSpPr>
            <a:stCxn id="196" idx="5"/>
            <a:endCxn id="17" idx="1"/>
          </p:cNvCxnSpPr>
          <p:nvPr/>
        </p:nvCxnSpPr>
        <p:spPr>
          <a:xfrm>
            <a:off x="1806482" y="2111281"/>
            <a:ext cx="1622461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stCxn id="14" idx="7"/>
            <a:endCxn id="192" idx="3"/>
          </p:cNvCxnSpPr>
          <p:nvPr/>
        </p:nvCxnSpPr>
        <p:spPr>
          <a:xfrm flipV="1">
            <a:off x="1730282" y="2111281"/>
            <a:ext cx="1721036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TextBox 261"/>
          <p:cNvSpPr txBox="1"/>
          <p:nvPr/>
        </p:nvSpPr>
        <p:spPr>
          <a:xfrm>
            <a:off x="2412660" y="3959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4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4314455" y="2667000"/>
            <a:ext cx="409945" cy="369332"/>
            <a:chOff x="4191000" y="3593068"/>
            <a:chExt cx="409945" cy="369332"/>
          </a:xfrm>
        </p:grpSpPr>
        <p:sp>
          <p:nvSpPr>
            <p:cNvPr id="61" name="Oval 60"/>
            <p:cNvSpPr/>
            <p:nvPr/>
          </p:nvSpPr>
          <p:spPr>
            <a:xfrm>
              <a:off x="4191000" y="3733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333" r="-254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3" name="Straight Arrow Connector 62"/>
          <p:cNvCxnSpPr>
            <a:stCxn id="192" idx="5"/>
            <a:endCxn id="61" idx="1"/>
          </p:cNvCxnSpPr>
          <p:nvPr/>
        </p:nvCxnSpPr>
        <p:spPr>
          <a:xfrm>
            <a:off x="3559082" y="2111281"/>
            <a:ext cx="777691" cy="71876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17" idx="7"/>
            <a:endCxn id="61" idx="3"/>
          </p:cNvCxnSpPr>
          <p:nvPr/>
        </p:nvCxnSpPr>
        <p:spPr>
          <a:xfrm flipV="1">
            <a:off x="3536707" y="2937814"/>
            <a:ext cx="800066" cy="97070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457762" y="2816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05162" y="27402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5181600"/>
            <a:ext cx="1981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83951C-C316-4CA7-8A3F-C0E1F8CACE60}"/>
              </a:ext>
            </a:extLst>
          </p:cNvPr>
          <p:cNvSpPr txBox="1"/>
          <p:nvPr/>
        </p:nvSpPr>
        <p:spPr>
          <a:xfrm>
            <a:off x="2467162" y="17526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E91268-CBA5-D74A-3842-E8470F8553EE}"/>
              </a:ext>
            </a:extLst>
          </p:cNvPr>
          <p:cNvSpPr txBox="1"/>
          <p:nvPr/>
        </p:nvSpPr>
        <p:spPr>
          <a:xfrm>
            <a:off x="3838762" y="2206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12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624E1E-9970-B4A7-028F-6F238C150BFB}"/>
              </a:ext>
            </a:extLst>
          </p:cNvPr>
          <p:cNvSpPr txBox="1"/>
          <p:nvPr/>
        </p:nvSpPr>
        <p:spPr>
          <a:xfrm>
            <a:off x="2819400" y="30480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7DD7E9-662D-EC24-F447-28CA0DA8EB5D}"/>
              </a:ext>
            </a:extLst>
          </p:cNvPr>
          <p:cNvSpPr txBox="1"/>
          <p:nvPr/>
        </p:nvSpPr>
        <p:spPr>
          <a:xfrm>
            <a:off x="3838762" y="305097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60A7F3-872A-CE08-76DB-5D07D5ECA52F}"/>
              </a:ext>
            </a:extLst>
          </p:cNvPr>
          <p:cNvSpPr txBox="1"/>
          <p:nvPr/>
        </p:nvSpPr>
        <p:spPr>
          <a:xfrm>
            <a:off x="1066800" y="21336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8EC9C6-47C5-DECE-84BF-DC1A4D15CB7F}"/>
              </a:ext>
            </a:extLst>
          </p:cNvPr>
          <p:cNvSpPr txBox="1"/>
          <p:nvPr/>
        </p:nvSpPr>
        <p:spPr>
          <a:xfrm>
            <a:off x="1143000" y="32004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287A9F-2695-F11F-4770-8CDC27AC9B46}"/>
              </a:ext>
            </a:extLst>
          </p:cNvPr>
          <p:cNvSpPr txBox="1"/>
          <p:nvPr/>
        </p:nvSpPr>
        <p:spPr>
          <a:xfrm>
            <a:off x="2162362" y="30480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6F5C71-FE88-092B-6821-6F46184AE77A}"/>
              </a:ext>
            </a:extLst>
          </p:cNvPr>
          <p:cNvSpPr txBox="1"/>
          <p:nvPr/>
        </p:nvSpPr>
        <p:spPr>
          <a:xfrm>
            <a:off x="2451992" y="2054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5CD575-3416-86BE-493C-4EDE48438CD9}"/>
              </a:ext>
            </a:extLst>
          </p:cNvPr>
          <p:cNvSpPr txBox="1"/>
          <p:nvPr/>
        </p:nvSpPr>
        <p:spPr>
          <a:xfrm>
            <a:off x="1182921" y="242401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DACDC7-B133-0F1D-461B-8399D5982567}"/>
              </a:ext>
            </a:extLst>
          </p:cNvPr>
          <p:cNvSpPr txBox="1"/>
          <p:nvPr/>
        </p:nvSpPr>
        <p:spPr>
          <a:xfrm>
            <a:off x="2736573" y="335512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C194C7-6A5B-AFAF-BE15-B138CA41FC14}"/>
              </a:ext>
            </a:extLst>
          </p:cNvPr>
          <p:cNvSpPr txBox="1"/>
          <p:nvPr/>
        </p:nvSpPr>
        <p:spPr>
          <a:xfrm>
            <a:off x="3884341" y="3349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8978EC-746A-7AC2-8888-85B0E383100C}"/>
              </a:ext>
            </a:extLst>
          </p:cNvPr>
          <p:cNvSpPr txBox="1"/>
          <p:nvPr/>
        </p:nvSpPr>
        <p:spPr>
          <a:xfrm>
            <a:off x="1017994" y="344290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A1C308-ECFD-72EB-B9B3-85DCCCAD03CD}"/>
              </a:ext>
            </a:extLst>
          </p:cNvPr>
          <p:cNvSpPr txBox="1"/>
          <p:nvPr/>
        </p:nvSpPr>
        <p:spPr>
          <a:xfrm>
            <a:off x="2184680" y="333925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62CDD0-D291-F42F-5F4E-537D650E9361}"/>
              </a:ext>
            </a:extLst>
          </p:cNvPr>
          <p:cNvSpPr txBox="1"/>
          <p:nvPr/>
        </p:nvSpPr>
        <p:spPr>
          <a:xfrm>
            <a:off x="3794309" y="24384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3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AFD9227-4794-AD19-AB63-CD96A48B32A4}"/>
              </a:ext>
            </a:extLst>
          </p:cNvPr>
          <p:cNvGrpSpPr/>
          <p:nvPr/>
        </p:nvGrpSpPr>
        <p:grpSpPr>
          <a:xfrm>
            <a:off x="4800600" y="1371600"/>
            <a:ext cx="4343400" cy="2924357"/>
            <a:chOff x="4800600" y="1371600"/>
            <a:chExt cx="4343400" cy="2924357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AAE7C8F-29B2-E4F3-8EE4-EAA93ADE559C}"/>
                </a:ext>
              </a:extLst>
            </p:cNvPr>
            <p:cNvGrpSpPr/>
            <p:nvPr/>
          </p:nvGrpSpPr>
          <p:grpSpPr>
            <a:xfrm>
              <a:off x="5207463" y="1857557"/>
              <a:ext cx="2793537" cy="936718"/>
              <a:chOff x="2873282" y="1981200"/>
              <a:chExt cx="2793537" cy="936718"/>
            </a:xfrm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0ABABB9D-5750-7A68-7640-EDCB9C103456}"/>
                  </a:ext>
                </a:extLst>
              </p:cNvPr>
              <p:cNvSpPr/>
              <p:nvPr/>
            </p:nvSpPr>
            <p:spPr>
              <a:xfrm>
                <a:off x="3761819" y="19812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F192BAC3-6DA8-BB03-8E14-01CFBA119EC4}"/>
                  </a:ext>
                </a:extLst>
              </p:cNvPr>
              <p:cNvSpPr/>
              <p:nvPr/>
            </p:nvSpPr>
            <p:spPr>
              <a:xfrm>
                <a:off x="5514419" y="19812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1ABE4EDA-F02F-DAD6-7A2A-E92187A0E634}"/>
                  </a:ext>
                </a:extLst>
              </p:cNvPr>
              <p:cNvCxnSpPr>
                <a:stCxn id="84" idx="7"/>
                <a:endCxn id="87" idx="3"/>
              </p:cNvCxnSpPr>
              <p:nvPr/>
            </p:nvCxnSpPr>
            <p:spPr>
              <a:xfrm flipV="1">
                <a:off x="2873282" y="2111282"/>
                <a:ext cx="910855" cy="80663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2D52C076-8D5D-98C6-EB62-AC5A68016FA5}"/>
                  </a:ext>
                </a:extLst>
              </p:cNvPr>
              <p:cNvCxnSpPr>
                <a:stCxn id="87" idx="6"/>
                <a:endCxn id="88" idx="2"/>
              </p:cNvCxnSpPr>
              <p:nvPr/>
            </p:nvCxnSpPr>
            <p:spPr>
              <a:xfrm>
                <a:off x="3914219" y="2057400"/>
                <a:ext cx="16002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410EBAF-21AE-5F0E-4183-4B06C71A3488}"/>
                </a:ext>
              </a:extLst>
            </p:cNvPr>
            <p:cNvGrpSpPr/>
            <p:nvPr/>
          </p:nvGrpSpPr>
          <p:grpSpPr>
            <a:xfrm>
              <a:off x="4800600" y="1552757"/>
              <a:ext cx="3581400" cy="2743200"/>
              <a:chOff x="2466419" y="1676400"/>
              <a:chExt cx="3581400" cy="2743200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7C1BE653-C200-26EE-7D09-81F7966C1662}"/>
                  </a:ext>
                </a:extLst>
              </p:cNvPr>
              <p:cNvGrpSpPr/>
              <p:nvPr/>
            </p:nvGrpSpPr>
            <p:grpSpPr>
              <a:xfrm>
                <a:off x="2466419" y="2895600"/>
                <a:ext cx="429181" cy="369332"/>
                <a:chOff x="4676219" y="3048000"/>
                <a:chExt cx="429181" cy="369332"/>
              </a:xfrm>
            </p:grpSpPr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A79E0633-5F70-6BF0-3742-19BBEC82158F}"/>
                    </a:ext>
                  </a:extLst>
                </p:cNvPr>
                <p:cNvSpPr/>
                <p:nvPr/>
              </p:nvSpPr>
              <p:spPr>
                <a:xfrm>
                  <a:off x="4953000" y="30480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5" name="TextBox 84">
                      <a:extLst>
                        <a:ext uri="{FF2B5EF4-FFF2-40B4-BE49-F238E27FC236}">
                          <a16:creationId xmlns:a16="http://schemas.microsoft.com/office/drawing/2014/main" id="{FA352EEB-9A23-48C0-D67F-AAAD1F52724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76219" y="3048000"/>
                      <a:ext cx="35298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𝒔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6" name="TextBox 2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76219" y="3048000"/>
                      <a:ext cx="352981" cy="369332"/>
                    </a:xfrm>
                    <a:prstGeom prst="rect">
                      <a:avLst/>
                    </a:prstGeom>
                    <a:blipFill rotWithShape="1">
                      <a:blip r:embed="rId14"/>
                      <a:stretch>
                        <a:fillRect t="-8197" r="-24138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4EFFF83E-B101-C93D-8587-70059932D4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57019" y="1688068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57019" y="1688068"/>
                    <a:ext cx="375424" cy="369332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t="-8197" r="-1935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10DCBD27-DC31-0616-F925-DE9C6E0F0C5A}"/>
                  </a:ext>
                </a:extLst>
              </p:cNvPr>
              <p:cNvGrpSpPr/>
              <p:nvPr/>
            </p:nvGrpSpPr>
            <p:grpSpPr>
              <a:xfrm>
                <a:off x="3575756" y="3886200"/>
                <a:ext cx="386644" cy="533400"/>
                <a:chOff x="4566356" y="3810000"/>
                <a:chExt cx="386644" cy="5334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2" name="TextBox 81">
                      <a:extLst>
                        <a:ext uri="{FF2B5EF4-FFF2-40B4-BE49-F238E27FC236}">
                          <a16:creationId xmlns:a16="http://schemas.microsoft.com/office/drawing/2014/main" id="{A8838679-0726-67AB-D157-08BBDD86437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66356" y="3974068"/>
                      <a:ext cx="38664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𝒖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3" name="TextBox 1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66356" y="3974068"/>
                      <a:ext cx="386644" cy="369332"/>
                    </a:xfrm>
                    <a:prstGeom prst="rect">
                      <a:avLst/>
                    </a:prstGeom>
                    <a:blipFill rotWithShape="1">
                      <a:blip r:embed="rId16"/>
                      <a:stretch>
                        <a:fillRect t="-8197" r="-20313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D64EA5FF-CDCD-E53F-600F-B98A5570313A}"/>
                    </a:ext>
                  </a:extLst>
                </p:cNvPr>
                <p:cNvSpPr/>
                <p:nvPr/>
              </p:nvSpPr>
              <p:spPr>
                <a:xfrm>
                  <a:off x="4676219" y="3810000"/>
                  <a:ext cx="152400" cy="152400"/>
                </a:xfrm>
                <a:prstGeom prst="ellipse">
                  <a:avLst/>
                </a:prstGeom>
                <a:solidFill>
                  <a:schemeClr val="tx2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21E07BC3-ECB9-E68B-DD1A-79755BB33EF7}"/>
                  </a:ext>
                </a:extLst>
              </p:cNvPr>
              <p:cNvGrpSpPr/>
              <p:nvPr/>
            </p:nvGrpSpPr>
            <p:grpSpPr>
              <a:xfrm>
                <a:off x="5492044" y="1676400"/>
                <a:ext cx="555775" cy="2362200"/>
                <a:chOff x="4648200" y="1600200"/>
                <a:chExt cx="555775" cy="23622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0" name="TextBox 79">
                      <a:extLst>
                        <a:ext uri="{FF2B5EF4-FFF2-40B4-BE49-F238E27FC236}">
                          <a16:creationId xmlns:a16="http://schemas.microsoft.com/office/drawing/2014/main" id="{3B07686A-7D53-E9E9-316D-F45EC9A2512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33361" y="1600200"/>
                      <a:ext cx="37061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𝒙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6" name="TextBox 1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33361" y="1600200"/>
                      <a:ext cx="370614" cy="369332"/>
                    </a:xfrm>
                    <a:prstGeom prst="rect">
                      <a:avLst/>
                    </a:prstGeom>
                    <a:blipFill rotWithShape="1">
                      <a:blip r:embed="rId17"/>
                      <a:stretch>
                        <a:fillRect t="-8197" r="-22951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1F4669A8-035A-661E-4003-39C80AF2D561}"/>
                    </a:ext>
                  </a:extLst>
                </p:cNvPr>
                <p:cNvSpPr/>
                <p:nvPr/>
              </p:nvSpPr>
              <p:spPr>
                <a:xfrm>
                  <a:off x="4648200" y="3810000"/>
                  <a:ext cx="152400" cy="152400"/>
                </a:xfrm>
                <a:prstGeom prst="ellipse">
                  <a:avLst/>
                </a:prstGeom>
                <a:solidFill>
                  <a:schemeClr val="tx2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B684B845-C28E-6E68-D9A9-2A566A578EC0}"/>
                      </a:ext>
                    </a:extLst>
                  </p:cNvPr>
                  <p:cNvSpPr txBox="1"/>
                  <p:nvPr/>
                </p:nvSpPr>
                <p:spPr>
                  <a:xfrm>
                    <a:off x="5590619" y="3974068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𝒚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90619" y="3974068"/>
                    <a:ext cx="375424" cy="369332"/>
                  </a:xfrm>
                  <a:prstGeom prst="rect">
                    <a:avLst/>
                  </a:prstGeom>
                  <a:blipFill rotWithShape="1">
                    <a:blip r:embed="rId18"/>
                    <a:stretch>
                      <a:fillRect t="-8197" r="-1935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596E7DFD-3DDA-7A7C-0282-378963A63F3C}"/>
                  </a:ext>
                </a:extLst>
              </p:cNvPr>
              <p:cNvCxnSpPr>
                <a:stCxn id="84" idx="5"/>
                <a:endCxn id="83" idx="1"/>
              </p:cNvCxnSpPr>
              <p:nvPr/>
            </p:nvCxnSpPr>
            <p:spPr>
              <a:xfrm>
                <a:off x="2873282" y="3025682"/>
                <a:ext cx="834655" cy="88283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97AAC070-7544-C036-98D6-81DFDB7B47CC}"/>
                  </a:ext>
                </a:extLst>
              </p:cNvPr>
              <p:cNvCxnSpPr>
                <a:endCxn id="81" idx="2"/>
              </p:cNvCxnSpPr>
              <p:nvPr/>
            </p:nvCxnSpPr>
            <p:spPr>
              <a:xfrm>
                <a:off x="3838019" y="3962400"/>
                <a:ext cx="1654025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9E79B7A4-7657-1FC8-DAA0-7F8C165C2B66}"/>
                  </a:ext>
                </a:extLst>
              </p:cNvPr>
              <p:cNvCxnSpPr/>
              <p:nvPr/>
            </p:nvCxnSpPr>
            <p:spPr>
              <a:xfrm flipH="1">
                <a:off x="5568244" y="2133599"/>
                <a:ext cx="22375" cy="175260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Arc 39">
              <a:extLst>
                <a:ext uri="{FF2B5EF4-FFF2-40B4-BE49-F238E27FC236}">
                  <a16:creationId xmlns:a16="http://schemas.microsoft.com/office/drawing/2014/main" id="{065BE42B-1F83-EE85-4C85-6B0EC9002AC8}"/>
                </a:ext>
              </a:extLst>
            </p:cNvPr>
            <p:cNvSpPr/>
            <p:nvPr/>
          </p:nvSpPr>
          <p:spPr>
            <a:xfrm>
              <a:off x="5909937" y="1682839"/>
              <a:ext cx="2252311" cy="1165318"/>
            </a:xfrm>
            <a:prstGeom prst="arc">
              <a:avLst>
                <a:gd name="adj1" fmla="val 12452853"/>
                <a:gd name="adj2" fmla="val 20215559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5B7159C5-49BF-149B-4CBB-D56CC6D868C6}"/>
                </a:ext>
              </a:extLst>
            </p:cNvPr>
            <p:cNvCxnSpPr>
              <a:endCxn id="87" idx="7"/>
            </p:cNvCxnSpPr>
            <p:nvPr/>
          </p:nvCxnSpPr>
          <p:spPr>
            <a:xfrm flipH="1">
              <a:off x="6226082" y="1814483"/>
              <a:ext cx="131529" cy="653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02BA0FD-FE42-CF9C-70F3-30A89AC69838}"/>
                </a:ext>
              </a:extLst>
            </p:cNvPr>
            <p:cNvCxnSpPr/>
            <p:nvPr/>
          </p:nvCxnSpPr>
          <p:spPr>
            <a:xfrm flipH="1">
              <a:off x="6149825" y="2009957"/>
              <a:ext cx="22375" cy="17526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62A6BF3-24B5-90F9-C4A3-AB3F7B2A8D89}"/>
                </a:ext>
              </a:extLst>
            </p:cNvPr>
            <p:cNvCxnSpPr>
              <a:stCxn id="87" idx="5"/>
              <a:endCxn id="81" idx="1"/>
            </p:cNvCxnSpPr>
            <p:nvPr/>
          </p:nvCxnSpPr>
          <p:spPr>
            <a:xfrm>
              <a:off x="6226082" y="1987639"/>
              <a:ext cx="1622461" cy="17972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F637580-B990-2965-716A-00853AFF04A1}"/>
                </a:ext>
              </a:extLst>
            </p:cNvPr>
            <p:cNvCxnSpPr>
              <a:stCxn id="83" idx="7"/>
              <a:endCxn id="88" idx="3"/>
            </p:cNvCxnSpPr>
            <p:nvPr/>
          </p:nvCxnSpPr>
          <p:spPr>
            <a:xfrm flipV="1">
              <a:off x="6149882" y="1987639"/>
              <a:ext cx="1721036" cy="17972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73C8256-D6BD-FFCE-42B0-A4655676A4FC}"/>
                </a:ext>
              </a:extLst>
            </p:cNvPr>
            <p:cNvGrpSpPr/>
            <p:nvPr/>
          </p:nvGrpSpPr>
          <p:grpSpPr>
            <a:xfrm>
              <a:off x="8734055" y="2543357"/>
              <a:ext cx="409945" cy="369332"/>
              <a:chOff x="4191000" y="3593068"/>
              <a:chExt cx="409945" cy="369332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81B1DCEE-5428-31F3-3CC7-7064A8D17EBF}"/>
                  </a:ext>
                </a:extLst>
              </p:cNvPr>
              <p:cNvSpPr/>
              <p:nvPr/>
            </p:nvSpPr>
            <p:spPr>
              <a:xfrm>
                <a:off x="4191000" y="373380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5E4A2BCD-D930-E4FA-0B51-9E421F98B982}"/>
                      </a:ext>
                    </a:extLst>
                  </p:cNvPr>
                  <p:cNvSpPr txBox="1"/>
                  <p:nvPr/>
                </p:nvSpPr>
                <p:spPr>
                  <a:xfrm>
                    <a:off x="4267200" y="3593068"/>
                    <a:ext cx="33374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𝒕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2" name="TextBox 6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67200" y="3593068"/>
                    <a:ext cx="333745" cy="369332"/>
                  </a:xfrm>
                  <a:prstGeom prst="rect">
                    <a:avLst/>
                  </a:prstGeom>
                  <a:blipFill rotWithShape="1">
                    <a:blip r:embed="rId19"/>
                    <a:stretch>
                      <a:fillRect t="-8333" r="-2545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B99A8099-6965-2CCD-4163-E37CE10E42D5}"/>
                </a:ext>
              </a:extLst>
            </p:cNvPr>
            <p:cNvCxnSpPr>
              <a:stCxn id="88" idx="5"/>
              <a:endCxn id="70" idx="1"/>
            </p:cNvCxnSpPr>
            <p:nvPr/>
          </p:nvCxnSpPr>
          <p:spPr>
            <a:xfrm>
              <a:off x="7978682" y="1987639"/>
              <a:ext cx="777691" cy="7187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4A5ABE71-0990-DB3F-04FA-8193A9728DCD}"/>
                </a:ext>
              </a:extLst>
            </p:cNvPr>
            <p:cNvCxnSpPr>
              <a:stCxn id="81" idx="7"/>
              <a:endCxn id="70" idx="3"/>
            </p:cNvCxnSpPr>
            <p:nvPr/>
          </p:nvCxnSpPr>
          <p:spPr>
            <a:xfrm flipV="1">
              <a:off x="7956307" y="2814171"/>
              <a:ext cx="800066" cy="9707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9CCB8E2-D717-4138-2CBD-541B5EF72696}"/>
                </a:ext>
              </a:extLst>
            </p:cNvPr>
            <p:cNvSpPr txBox="1"/>
            <p:nvPr/>
          </p:nvSpPr>
          <p:spPr>
            <a:xfrm>
              <a:off x="5522127" y="23622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6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9EE8D3C-5BBA-C867-A6C2-A27A4DF59CB1}"/>
                </a:ext>
              </a:extLst>
            </p:cNvPr>
            <p:cNvSpPr txBox="1"/>
            <p:nvPr/>
          </p:nvSpPr>
          <p:spPr>
            <a:xfrm>
              <a:off x="6893727" y="13716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0B5E01D-47D0-BD0A-D42B-E2E616BBD47B}"/>
                </a:ext>
              </a:extLst>
            </p:cNvPr>
            <p:cNvSpPr txBox="1"/>
            <p:nvPr/>
          </p:nvSpPr>
          <p:spPr>
            <a:xfrm>
              <a:off x="8312765" y="3203377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17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9236654-6959-AE7B-828D-70A6F8C33459}"/>
                </a:ext>
              </a:extLst>
            </p:cNvPr>
            <p:cNvSpPr txBox="1"/>
            <p:nvPr/>
          </p:nvSpPr>
          <p:spPr>
            <a:xfrm>
              <a:off x="6878557" y="19050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5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A8A9C6F-72E3-7218-6B74-9920021C078C}"/>
                </a:ext>
              </a:extLst>
            </p:cNvPr>
            <p:cNvSpPr txBox="1"/>
            <p:nvPr/>
          </p:nvSpPr>
          <p:spPr>
            <a:xfrm>
              <a:off x="7655727" y="26670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6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ED89DC3-A3AE-4656-F099-390A2D47D1A8}"/>
                </a:ext>
              </a:extLst>
            </p:cNvPr>
            <p:cNvSpPr txBox="1"/>
            <p:nvPr/>
          </p:nvSpPr>
          <p:spPr>
            <a:xfrm>
              <a:off x="5903127" y="25908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8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262840A-561F-6E1A-17FD-A56AAE604482}"/>
                </a:ext>
              </a:extLst>
            </p:cNvPr>
            <p:cNvSpPr txBox="1"/>
            <p:nvPr/>
          </p:nvSpPr>
          <p:spPr>
            <a:xfrm>
              <a:off x="5445927" y="32766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7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A1B28A0-9DB4-1267-CE6B-FCCDDFB5E495}"/>
                </a:ext>
              </a:extLst>
            </p:cNvPr>
            <p:cNvSpPr txBox="1"/>
            <p:nvPr/>
          </p:nvSpPr>
          <p:spPr>
            <a:xfrm>
              <a:off x="7169765" y="32004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7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CB63D98-22B8-66C6-CD71-2510A5CB35BA}"/>
                </a:ext>
              </a:extLst>
            </p:cNvPr>
            <p:cNvSpPr txBox="1"/>
            <p:nvPr/>
          </p:nvSpPr>
          <p:spPr>
            <a:xfrm>
              <a:off x="6560165" y="32004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14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766FEDA-84D4-2608-A22D-16658FFEE929}"/>
                </a:ext>
              </a:extLst>
            </p:cNvPr>
            <p:cNvSpPr txBox="1"/>
            <p:nvPr/>
          </p:nvSpPr>
          <p:spPr>
            <a:xfrm>
              <a:off x="6861193" y="3829341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4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A4BA79C6-9477-A321-9EE3-776F93B66AF9}"/>
                </a:ext>
              </a:extLst>
            </p:cNvPr>
            <p:cNvCxnSpPr>
              <a:cxnSpLocks/>
            </p:cNvCxnSpPr>
            <p:nvPr/>
          </p:nvCxnSpPr>
          <p:spPr>
            <a:xfrm>
              <a:off x="6226082" y="1987638"/>
              <a:ext cx="1622461" cy="17972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D364EFD1-1CFD-E44D-3A93-EB94A3E7B2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9882" y="1987638"/>
              <a:ext cx="1721036" cy="17972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4F70627-4A9A-B25F-0533-8B2CB66ABFED}"/>
                </a:ext>
              </a:extLst>
            </p:cNvPr>
            <p:cNvSpPr txBox="1"/>
            <p:nvPr/>
          </p:nvSpPr>
          <p:spPr>
            <a:xfrm>
              <a:off x="8160365" y="22860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15</a:t>
              </a:r>
            </a:p>
          </p:txBody>
        </p:sp>
      </p:grpSp>
      <p:sp>
        <p:nvSpPr>
          <p:cNvPr id="91" name="Arc 90">
            <a:extLst>
              <a:ext uri="{FF2B5EF4-FFF2-40B4-BE49-F238E27FC236}">
                <a16:creationId xmlns:a16="http://schemas.microsoft.com/office/drawing/2014/main" id="{F1F4B5A6-44BE-D6EC-8E77-1E7F23D69B9E}"/>
              </a:ext>
            </a:extLst>
          </p:cNvPr>
          <p:cNvSpPr/>
          <p:nvPr/>
        </p:nvSpPr>
        <p:spPr>
          <a:xfrm>
            <a:off x="4603104" y="2421118"/>
            <a:ext cx="914400" cy="914400"/>
          </a:xfrm>
          <a:prstGeom prst="arc">
            <a:avLst>
              <a:gd name="adj1" fmla="val 16200000"/>
              <a:gd name="adj2" fmla="val 5426747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2746202-8096-270D-45BC-3B9EAD8FDA2F}"/>
              </a:ext>
            </a:extLst>
          </p:cNvPr>
          <p:cNvGrpSpPr/>
          <p:nvPr/>
        </p:nvGrpSpPr>
        <p:grpSpPr>
          <a:xfrm>
            <a:off x="5486400" y="1673423"/>
            <a:ext cx="3124200" cy="1755577"/>
            <a:chOff x="1066800" y="1752600"/>
            <a:chExt cx="3124200" cy="1755577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11A7928-EFCC-E7D7-1A7A-94DC92ABD89E}"/>
                </a:ext>
              </a:extLst>
            </p:cNvPr>
            <p:cNvSpPr txBox="1"/>
            <p:nvPr/>
          </p:nvSpPr>
          <p:spPr>
            <a:xfrm>
              <a:off x="2467162" y="17526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B389C95-2745-1C14-B212-DF0536BCBC32}"/>
                </a:ext>
              </a:extLst>
            </p:cNvPr>
            <p:cNvSpPr txBox="1"/>
            <p:nvPr/>
          </p:nvSpPr>
          <p:spPr>
            <a:xfrm>
              <a:off x="2819400" y="30480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28A5280B-6B8A-19DE-9262-AC3B49587663}"/>
                </a:ext>
              </a:extLst>
            </p:cNvPr>
            <p:cNvSpPr txBox="1"/>
            <p:nvPr/>
          </p:nvSpPr>
          <p:spPr>
            <a:xfrm>
              <a:off x="3838762" y="305097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7497603-B0F7-2668-7E79-D445A72F82F1}"/>
                </a:ext>
              </a:extLst>
            </p:cNvPr>
            <p:cNvSpPr txBox="1"/>
            <p:nvPr/>
          </p:nvSpPr>
          <p:spPr>
            <a:xfrm>
              <a:off x="1066800" y="21336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A811DB4-62F5-8620-84CB-1A26BD5E812B}"/>
                </a:ext>
              </a:extLst>
            </p:cNvPr>
            <p:cNvSpPr txBox="1"/>
            <p:nvPr/>
          </p:nvSpPr>
          <p:spPr>
            <a:xfrm>
              <a:off x="1143000" y="32004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B536DFB-AE29-3326-4AF1-E5138EBE5672}"/>
                </a:ext>
              </a:extLst>
            </p:cNvPr>
            <p:cNvSpPr txBox="1"/>
            <p:nvPr/>
          </p:nvSpPr>
          <p:spPr>
            <a:xfrm>
              <a:off x="2162362" y="30480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1FE8BFA-AA37-0789-F342-6426962004EF}"/>
                </a:ext>
              </a:extLst>
            </p:cNvPr>
            <p:cNvSpPr txBox="1"/>
            <p:nvPr/>
          </p:nvSpPr>
          <p:spPr>
            <a:xfrm>
              <a:off x="3823592" y="22068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12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EA4648F-0739-F0A9-BBC3-9D8FB80202DF}"/>
              </a:ext>
            </a:extLst>
          </p:cNvPr>
          <p:cNvGrpSpPr/>
          <p:nvPr/>
        </p:nvGrpSpPr>
        <p:grpSpPr>
          <a:xfrm>
            <a:off x="2362200" y="5517692"/>
            <a:ext cx="4166205" cy="935590"/>
            <a:chOff x="4675400" y="5943600"/>
            <a:chExt cx="4166205" cy="935590"/>
          </a:xfrm>
        </p:grpSpPr>
        <p:sp>
          <p:nvSpPr>
            <p:cNvPr id="6" name="Smiley Face 5">
              <a:extLst>
                <a:ext uri="{FF2B5EF4-FFF2-40B4-BE49-F238E27FC236}">
                  <a16:creationId xmlns:a16="http://schemas.microsoft.com/office/drawing/2014/main" id="{BFE365D9-BAD5-39D1-EDD2-18E31839D13A}"/>
                </a:ext>
              </a:extLst>
            </p:cNvPr>
            <p:cNvSpPr/>
            <p:nvPr/>
          </p:nvSpPr>
          <p:spPr>
            <a:xfrm>
              <a:off x="6324600" y="5943600"/>
              <a:ext cx="533400" cy="533400"/>
            </a:xfrm>
            <a:prstGeom prst="smileyFace">
              <a:avLst>
                <a:gd name="adj" fmla="val 4653"/>
              </a:avLst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953532B-A4A4-62C3-094C-CDADA9AEE136}"/>
                </a:ext>
              </a:extLst>
            </p:cNvPr>
            <p:cNvSpPr txBox="1"/>
            <p:nvPr/>
          </p:nvSpPr>
          <p:spPr>
            <a:xfrm>
              <a:off x="4675400" y="6509858"/>
              <a:ext cx="41662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We found Maximum Flow in </a:t>
              </a:r>
              <a:r>
                <a:rPr lang="en-US" u="sng" dirty="0"/>
                <a:t>this</a:t>
              </a:r>
              <a:r>
                <a:rPr lang="en-US" dirty="0"/>
                <a:t> network.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EC3B96-9FE9-CC01-7B02-0391B92E40C0}"/>
                  </a:ext>
                </a:extLst>
              </p:cNvPr>
              <p:cNvSpPr txBox="1"/>
              <p:nvPr/>
            </p:nvSpPr>
            <p:spPr>
              <a:xfrm>
                <a:off x="4633922" y="4842647"/>
                <a:ext cx="36247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We are sending flow of value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𝟏𝟑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EC3B96-9FE9-CC01-7B02-0391B92E4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922" y="4842647"/>
                <a:ext cx="3624775" cy="400110"/>
              </a:xfrm>
              <a:prstGeom prst="rect">
                <a:avLst/>
              </a:prstGeom>
              <a:blipFill>
                <a:blip r:embed="rId20"/>
                <a:stretch>
                  <a:fillRect l="-1681" t="-7576" r="-840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07597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Towards designing </a:t>
            </a:r>
            <a:r>
              <a:rPr lang="en-US" sz="3200" b="1" dirty="0">
                <a:solidFill>
                  <a:srgbClr val="7030A0"/>
                </a:solidFill>
              </a:rPr>
              <a:t>max flow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endParaRPr lang="en-US" sz="32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52400" y="1295400"/>
                <a:ext cx="4419600" cy="5486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First-attempt-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algo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𝒇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While (there is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-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US" sz="2000" dirty="0"/>
                  <a:t> path in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) do</a:t>
                </a:r>
              </a:p>
              <a:p>
                <a:pPr marL="0" indent="0">
                  <a:buNone/>
                </a:pPr>
                <a:r>
                  <a:rPr lang="en-US" sz="2000" dirty="0"/>
                  <a:t>   {   Let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</m:oMath>
                </a14:m>
                <a:r>
                  <a:rPr lang="en-US" sz="2000" dirty="0"/>
                  <a:t> be any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-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US" sz="2000" dirty="0"/>
                  <a:t> path in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 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𝒄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𝒃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be bottleneck capacity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</m:oMath>
                </a14:m>
                <a:r>
                  <a:rPr lang="en-US" sz="2000" dirty="0"/>
                  <a:t>;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For each 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{      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𝒇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) </a:t>
                </a:r>
                <a:r>
                  <a:rPr lang="en-US" sz="20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𝒇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𝒄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en-US" sz="2000" dirty="0"/>
                  <a:t>;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𝒄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) </a:t>
                </a:r>
                <a:r>
                  <a:rPr lang="en-US" sz="20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𝒄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dirty="0">
                    <a:sym typeface="Wingdings" pitchFamily="2" charset="2"/>
                  </a:rPr>
                  <a:t> -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𝒄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en-US" sz="2000" dirty="0"/>
                  <a:t>;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If 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𝒄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) =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sz="2000" dirty="0"/>
                  <a:t>) remove 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) from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}</a:t>
                </a:r>
              </a:p>
              <a:p>
                <a:pPr marL="0" indent="0">
                  <a:buNone/>
                </a:pPr>
                <a:r>
                  <a:rPr lang="en-US" sz="2000" dirty="0"/>
                  <a:t>   }	</a:t>
                </a:r>
              </a:p>
              <a:p>
                <a:pPr marL="0" indent="0">
                  <a:buNone/>
                </a:pPr>
                <a:r>
                  <a:rPr lang="en-US" sz="2000" dirty="0"/>
                  <a:t>   return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𝒇</m:t>
                    </m:r>
                  </m:oMath>
                </a14:m>
                <a:r>
                  <a:rPr lang="en-US" sz="2000" dirty="0"/>
                  <a:t>;  </a:t>
                </a:r>
              </a:p>
              <a:p>
                <a:pPr marL="0" indent="0">
                  <a:buNone/>
                </a:pPr>
                <a:r>
                  <a:rPr lang="en-US" sz="2000" dirty="0"/>
                  <a:t>}  	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52400" y="1295400"/>
                <a:ext cx="4419600" cy="5486400"/>
              </a:xfrm>
              <a:blipFill rotWithShape="1">
                <a:blip r:embed="rId2"/>
                <a:stretch>
                  <a:fillRect l="-1379" t="-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7" name="Cloud Callout 6"/>
          <p:cNvSpPr/>
          <p:nvPr/>
        </p:nvSpPr>
        <p:spPr>
          <a:xfrm>
            <a:off x="5562600" y="2514601"/>
            <a:ext cx="3124200" cy="914400"/>
          </a:xfrm>
          <a:prstGeom prst="cloudCallout">
            <a:avLst>
              <a:gd name="adj1" fmla="val -22383"/>
              <a:gd name="adj2" fmla="val 88176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Correctness ?</a:t>
            </a:r>
          </a:p>
        </p:txBody>
      </p:sp>
    </p:spTree>
    <p:extLst>
      <p:ext uri="{BB962C8B-B14F-4D97-AF65-F5344CB8AC3E}">
        <p14:creationId xmlns:p14="http://schemas.microsoft.com/office/powerpoint/2010/main" val="1889130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7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1828800"/>
            <a:ext cx="7772400" cy="1362075"/>
          </a:xfrm>
        </p:spPr>
        <p:txBody>
          <a:bodyPr/>
          <a:lstStyle/>
          <a:p>
            <a:pPr algn="ctr"/>
            <a:r>
              <a:rPr lang="en-US" sz="3200" dirty="0"/>
              <a:t>A</a:t>
            </a:r>
            <a:r>
              <a:rPr lang="en-US" sz="3200" dirty="0">
                <a:solidFill>
                  <a:srgbClr val="7030A0"/>
                </a:solidFill>
              </a:rPr>
              <a:t> counterexample </a:t>
            </a:r>
            <a:br>
              <a:rPr lang="en-US" sz="3200" dirty="0">
                <a:solidFill>
                  <a:srgbClr val="7030A0"/>
                </a:solidFill>
              </a:rPr>
            </a:br>
            <a:r>
              <a:rPr lang="en-US" sz="3200" dirty="0"/>
              <a:t>for</a:t>
            </a:r>
            <a:br>
              <a:rPr lang="en-US" sz="3200" dirty="0"/>
            </a:br>
            <a:r>
              <a:rPr lang="en-US" sz="3200" dirty="0"/>
              <a:t>First-attempt-</a:t>
            </a:r>
            <a:r>
              <a:rPr lang="en-US" sz="3200" dirty="0" err="1"/>
              <a:t>algo</a:t>
            </a:r>
            <a:endParaRPr lang="en-US" sz="32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39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pSp>
        <p:nvGrpSpPr>
          <p:cNvPr id="56" name="Group 55"/>
          <p:cNvGrpSpPr/>
          <p:nvPr/>
        </p:nvGrpSpPr>
        <p:grpSpPr>
          <a:xfrm>
            <a:off x="152400" y="3593068"/>
            <a:ext cx="533400" cy="369332"/>
            <a:chOff x="152400" y="3593068"/>
            <a:chExt cx="533400" cy="369332"/>
          </a:xfrm>
        </p:grpSpPr>
        <p:sp>
          <p:nvSpPr>
            <p:cNvPr id="28" name="Oval 27"/>
            <p:cNvSpPr/>
            <p:nvPr/>
          </p:nvSpPr>
          <p:spPr>
            <a:xfrm>
              <a:off x="533400" y="37338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152400" y="3593068"/>
                  <a:ext cx="3529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" y="3593068"/>
                  <a:ext cx="352981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Group 58"/>
          <p:cNvGrpSpPr/>
          <p:nvPr/>
        </p:nvGrpSpPr>
        <p:grpSpPr>
          <a:xfrm>
            <a:off x="663482" y="1840468"/>
            <a:ext cx="3549836" cy="3939064"/>
            <a:chOff x="663482" y="1840468"/>
            <a:chExt cx="3549836" cy="3939064"/>
          </a:xfrm>
        </p:grpSpPr>
        <p:cxnSp>
          <p:nvCxnSpPr>
            <p:cNvPr id="13" name="Straight Arrow Connector 12"/>
            <p:cNvCxnSpPr>
              <a:stCxn id="28" idx="7"/>
              <a:endCxn id="11" idx="3"/>
            </p:cNvCxnSpPr>
            <p:nvPr/>
          </p:nvCxnSpPr>
          <p:spPr>
            <a:xfrm flipV="1">
              <a:off x="663482" y="2263682"/>
              <a:ext cx="1644836" cy="14924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28" idx="5"/>
              <a:endCxn id="27" idx="1"/>
            </p:cNvCxnSpPr>
            <p:nvPr/>
          </p:nvCxnSpPr>
          <p:spPr>
            <a:xfrm>
              <a:off x="663482" y="3863882"/>
              <a:ext cx="1721036" cy="14924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" name="Group 57"/>
            <p:cNvGrpSpPr/>
            <p:nvPr/>
          </p:nvGrpSpPr>
          <p:grpSpPr>
            <a:xfrm>
              <a:off x="2209800" y="1840468"/>
              <a:ext cx="2003518" cy="3939064"/>
              <a:chOff x="2209800" y="1840468"/>
              <a:chExt cx="2003518" cy="3939064"/>
            </a:xfrm>
          </p:grpSpPr>
          <p:sp>
            <p:nvSpPr>
              <p:cNvPr id="11" name="Oval 10"/>
              <p:cNvSpPr/>
              <p:nvPr/>
            </p:nvSpPr>
            <p:spPr>
              <a:xfrm>
                <a:off x="2286000" y="21336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Straight Arrow Connector 13"/>
              <p:cNvCxnSpPr>
                <a:stCxn id="11" idx="5"/>
                <a:endCxn id="12" idx="1"/>
              </p:cNvCxnSpPr>
              <p:nvPr/>
            </p:nvCxnSpPr>
            <p:spPr>
              <a:xfrm>
                <a:off x="2416082" y="2263682"/>
                <a:ext cx="1797236" cy="149243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Oval 26"/>
              <p:cNvSpPr/>
              <p:nvPr/>
            </p:nvSpPr>
            <p:spPr>
              <a:xfrm>
                <a:off x="2362200" y="5334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/>
                  <p:cNvSpPr txBox="1"/>
                  <p:nvPr/>
                </p:nvSpPr>
                <p:spPr>
                  <a:xfrm>
                    <a:off x="2209800" y="1840468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TextBox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09800" y="1840468"/>
                    <a:ext cx="370614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/>
                  <p:cNvSpPr txBox="1"/>
                  <p:nvPr/>
                </p:nvSpPr>
                <p:spPr>
                  <a:xfrm>
                    <a:off x="2209800" y="54102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𝒚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0" name="TextBox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09800" y="54102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333" r="-21311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1" name="Straight Arrow Connector 40"/>
              <p:cNvCxnSpPr>
                <a:stCxn id="27" idx="7"/>
                <a:endCxn id="12" idx="3"/>
              </p:cNvCxnSpPr>
              <p:nvPr/>
            </p:nvCxnSpPr>
            <p:spPr>
              <a:xfrm flipV="1">
                <a:off x="2492282" y="3863882"/>
                <a:ext cx="1721036" cy="149243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7" name="Group 56"/>
          <p:cNvGrpSpPr/>
          <p:nvPr/>
        </p:nvGrpSpPr>
        <p:grpSpPr>
          <a:xfrm>
            <a:off x="4191000" y="3593068"/>
            <a:ext cx="409945" cy="369332"/>
            <a:chOff x="4191000" y="3593068"/>
            <a:chExt cx="409945" cy="369332"/>
          </a:xfrm>
        </p:grpSpPr>
        <p:sp>
          <p:nvSpPr>
            <p:cNvPr id="12" name="Oval 11"/>
            <p:cNvSpPr/>
            <p:nvPr/>
          </p:nvSpPr>
          <p:spPr>
            <a:xfrm>
              <a:off x="4191000" y="3733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363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1" name="Straight Arrow Connector 60"/>
          <p:cNvCxnSpPr/>
          <p:nvPr/>
        </p:nvCxnSpPr>
        <p:spPr>
          <a:xfrm>
            <a:off x="2362200" y="2286000"/>
            <a:ext cx="76200" cy="3048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1143000" y="3045023"/>
            <a:ext cx="2605970" cy="1831777"/>
            <a:chOff x="1143000" y="3045023"/>
            <a:chExt cx="2605970" cy="1831777"/>
          </a:xfrm>
        </p:grpSpPr>
        <p:sp>
          <p:nvSpPr>
            <p:cNvPr id="38" name="TextBox 37"/>
            <p:cNvSpPr txBox="1"/>
            <p:nvPr/>
          </p:nvSpPr>
          <p:spPr>
            <a:xfrm>
              <a:off x="3381562" y="44928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20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43000" y="45690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10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438400" y="36546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50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461392" y="30450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20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200400" y="31242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loud Callout 2"/>
              <p:cNvSpPr/>
              <p:nvPr/>
            </p:nvSpPr>
            <p:spPr>
              <a:xfrm>
                <a:off x="5257800" y="2438399"/>
                <a:ext cx="3276600" cy="1216223"/>
              </a:xfrm>
              <a:prstGeom prst="cloudCallout">
                <a:avLst>
                  <a:gd name="adj1" fmla="val 26301"/>
                  <a:gd name="adj2" fmla="val 72308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What is the maximum flow from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to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Cloud Callou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2438399"/>
                <a:ext cx="3276600" cy="1216223"/>
              </a:xfrm>
              <a:prstGeom prst="cloudCallout">
                <a:avLst>
                  <a:gd name="adj1" fmla="val 26301"/>
                  <a:gd name="adj2" fmla="val 72308"/>
                </a:avLst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705600" y="3810000"/>
            <a:ext cx="41870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30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0F9F1-11AD-980B-23EB-580017F4817C}"/>
              </a:ext>
            </a:extLst>
          </p:cNvPr>
          <p:cNvSpPr txBox="1"/>
          <p:nvPr/>
        </p:nvSpPr>
        <p:spPr>
          <a:xfrm>
            <a:off x="1219200" y="27432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D3B0D0-4896-F081-CBAF-D6C8D73EC6C6}"/>
              </a:ext>
            </a:extLst>
          </p:cNvPr>
          <p:cNvSpPr txBox="1"/>
          <p:nvPr/>
        </p:nvSpPr>
        <p:spPr>
          <a:xfrm>
            <a:off x="2057400" y="36546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CACE28-33AA-AB19-745B-A1D4FF46614E}"/>
              </a:ext>
            </a:extLst>
          </p:cNvPr>
          <p:cNvSpPr txBox="1"/>
          <p:nvPr/>
        </p:nvSpPr>
        <p:spPr>
          <a:xfrm>
            <a:off x="3137792" y="42672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20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1A2B66-4FA4-6898-4D0A-7B5333421F18}"/>
              </a:ext>
            </a:extLst>
          </p:cNvPr>
          <p:cNvSpPr txBox="1"/>
          <p:nvPr/>
        </p:nvSpPr>
        <p:spPr>
          <a:xfrm>
            <a:off x="3314700" y="2737246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567048-4606-ECA5-1322-0DFA7F99FDD8}"/>
              </a:ext>
            </a:extLst>
          </p:cNvPr>
          <p:cNvSpPr txBox="1"/>
          <p:nvPr/>
        </p:nvSpPr>
        <p:spPr>
          <a:xfrm>
            <a:off x="1361156" y="4229682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42206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/>
      <p:bldP spid="10" grpId="0"/>
      <p:bldP spid="15" grpId="0"/>
      <p:bldP spid="16" grpId="0"/>
      <p:bldP spid="1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Executing</a:t>
            </a:r>
            <a:r>
              <a:rPr lang="en-US" sz="3600" b="1" dirty="0"/>
              <a:t> our </a:t>
            </a:r>
            <a:r>
              <a:rPr lang="en-US" sz="3600" b="1" dirty="0">
                <a:solidFill>
                  <a:srgbClr val="7030A0"/>
                </a:solidFill>
              </a:rPr>
              <a:t>first attempt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371600"/>
                <a:ext cx="4038600" cy="4754563"/>
              </a:xfrm>
            </p:spPr>
            <p:txBody>
              <a:bodyPr/>
              <a:lstStyle/>
              <a:p>
                <a:r>
                  <a:rPr lang="en-US" sz="2000" dirty="0"/>
                  <a:t>May be because we did not take the </a:t>
                </a:r>
                <a:r>
                  <a:rPr lang="en-US" sz="2000" u="sng" dirty="0"/>
                  <a:t>shortest path </a:t>
                </a:r>
                <a:r>
                  <a:rPr lang="en-US" sz="2000" dirty="0"/>
                  <a:t>from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sz="2000" dirty="0"/>
                  <a:t> to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Our path is now the shortest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(minimum number of edges)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and it still does not work </a:t>
                </a:r>
                <a:r>
                  <a:rPr lang="en-US" sz="2000" dirty="0">
                    <a:sym typeface="Wingdings" pitchFamily="2" charset="2"/>
                  </a:rPr>
                  <a:t></a:t>
                </a:r>
                <a:endParaRPr lang="en-US" sz="2000" dirty="0"/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371600"/>
                <a:ext cx="4038600" cy="4754563"/>
              </a:xfrm>
              <a:blipFill>
                <a:blip r:embed="rId2"/>
                <a:stretch>
                  <a:fillRect l="-1357" t="-641" b="-170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grpSp>
        <p:nvGrpSpPr>
          <p:cNvPr id="56" name="Group 55"/>
          <p:cNvGrpSpPr/>
          <p:nvPr/>
        </p:nvGrpSpPr>
        <p:grpSpPr>
          <a:xfrm>
            <a:off x="152400" y="3593068"/>
            <a:ext cx="533400" cy="369332"/>
            <a:chOff x="152400" y="3593068"/>
            <a:chExt cx="533400" cy="369332"/>
          </a:xfrm>
        </p:grpSpPr>
        <p:sp>
          <p:nvSpPr>
            <p:cNvPr id="28" name="Oval 27"/>
            <p:cNvSpPr/>
            <p:nvPr/>
          </p:nvSpPr>
          <p:spPr>
            <a:xfrm>
              <a:off x="533400" y="37338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152400" y="3593068"/>
                  <a:ext cx="3529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" y="3593068"/>
                  <a:ext cx="352981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TextBox 31"/>
          <p:cNvSpPr txBox="1"/>
          <p:nvPr/>
        </p:nvSpPr>
        <p:spPr>
          <a:xfrm>
            <a:off x="3200400" y="31242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1562" y="4492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45690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38400" y="36546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1392" y="30450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20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663482" y="1840468"/>
            <a:ext cx="3549836" cy="3939064"/>
            <a:chOff x="663482" y="1840468"/>
            <a:chExt cx="3549836" cy="3939064"/>
          </a:xfrm>
        </p:grpSpPr>
        <p:cxnSp>
          <p:nvCxnSpPr>
            <p:cNvPr id="13" name="Straight Arrow Connector 12"/>
            <p:cNvCxnSpPr>
              <a:stCxn id="28" idx="7"/>
              <a:endCxn id="11" idx="3"/>
            </p:cNvCxnSpPr>
            <p:nvPr/>
          </p:nvCxnSpPr>
          <p:spPr>
            <a:xfrm flipV="1">
              <a:off x="663482" y="2263682"/>
              <a:ext cx="1644836" cy="14924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28" idx="5"/>
              <a:endCxn id="27" idx="1"/>
            </p:cNvCxnSpPr>
            <p:nvPr/>
          </p:nvCxnSpPr>
          <p:spPr>
            <a:xfrm>
              <a:off x="663482" y="3863882"/>
              <a:ext cx="1721036" cy="14924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" name="Group 57"/>
            <p:cNvGrpSpPr/>
            <p:nvPr/>
          </p:nvGrpSpPr>
          <p:grpSpPr>
            <a:xfrm>
              <a:off x="2209800" y="1840468"/>
              <a:ext cx="2003518" cy="3939064"/>
              <a:chOff x="2209800" y="1840468"/>
              <a:chExt cx="2003518" cy="3939064"/>
            </a:xfrm>
          </p:grpSpPr>
          <p:sp>
            <p:nvSpPr>
              <p:cNvPr id="11" name="Oval 10"/>
              <p:cNvSpPr/>
              <p:nvPr/>
            </p:nvSpPr>
            <p:spPr>
              <a:xfrm>
                <a:off x="2286000" y="21336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Straight Arrow Connector 13"/>
              <p:cNvCxnSpPr>
                <a:stCxn id="11" idx="5"/>
                <a:endCxn id="12" idx="1"/>
              </p:cNvCxnSpPr>
              <p:nvPr/>
            </p:nvCxnSpPr>
            <p:spPr>
              <a:xfrm>
                <a:off x="2416082" y="2263682"/>
                <a:ext cx="1797236" cy="149243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Oval 26"/>
              <p:cNvSpPr/>
              <p:nvPr/>
            </p:nvSpPr>
            <p:spPr>
              <a:xfrm>
                <a:off x="2362200" y="5334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/>
                  <p:cNvSpPr txBox="1"/>
                  <p:nvPr/>
                </p:nvSpPr>
                <p:spPr>
                  <a:xfrm>
                    <a:off x="2209800" y="1840468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TextBox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09800" y="1840468"/>
                    <a:ext cx="370614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/>
                  <p:cNvSpPr txBox="1"/>
                  <p:nvPr/>
                </p:nvSpPr>
                <p:spPr>
                  <a:xfrm>
                    <a:off x="2209800" y="54102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𝒚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0" name="TextBox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09800" y="54102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333" r="-21311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1" name="Straight Arrow Connector 40"/>
              <p:cNvCxnSpPr>
                <a:stCxn id="27" idx="7"/>
                <a:endCxn id="12" idx="3"/>
              </p:cNvCxnSpPr>
              <p:nvPr/>
            </p:nvCxnSpPr>
            <p:spPr>
              <a:xfrm flipV="1">
                <a:off x="2492282" y="3863882"/>
                <a:ext cx="1721036" cy="149243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7" name="Group 56"/>
          <p:cNvGrpSpPr/>
          <p:nvPr/>
        </p:nvGrpSpPr>
        <p:grpSpPr>
          <a:xfrm>
            <a:off x="4191000" y="3593068"/>
            <a:ext cx="409945" cy="369332"/>
            <a:chOff x="4191000" y="3593068"/>
            <a:chExt cx="409945" cy="369332"/>
          </a:xfrm>
        </p:grpSpPr>
        <p:sp>
          <p:nvSpPr>
            <p:cNvPr id="12" name="Oval 11"/>
            <p:cNvSpPr/>
            <p:nvPr/>
          </p:nvSpPr>
          <p:spPr>
            <a:xfrm>
              <a:off x="4191000" y="3733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363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1" name="Straight Arrow Connector 60"/>
          <p:cNvCxnSpPr/>
          <p:nvPr/>
        </p:nvCxnSpPr>
        <p:spPr>
          <a:xfrm>
            <a:off x="2362200" y="2286000"/>
            <a:ext cx="76200" cy="3048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V="1">
            <a:off x="664029" y="2265015"/>
            <a:ext cx="1644836" cy="1492436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2362200" y="2286000"/>
            <a:ext cx="76200" cy="3048000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2514600" y="3841564"/>
            <a:ext cx="1721036" cy="1492436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4876800" y="1828800"/>
            <a:ext cx="4267200" cy="3939064"/>
            <a:chOff x="4572000" y="1828800"/>
            <a:chExt cx="4267200" cy="3939064"/>
          </a:xfrm>
        </p:grpSpPr>
        <p:grpSp>
          <p:nvGrpSpPr>
            <p:cNvPr id="2" name="Group 1"/>
            <p:cNvGrpSpPr/>
            <p:nvPr/>
          </p:nvGrpSpPr>
          <p:grpSpPr>
            <a:xfrm>
              <a:off x="4901737" y="1828800"/>
              <a:ext cx="3937463" cy="3939064"/>
              <a:chOff x="4901737" y="1828800"/>
              <a:chExt cx="3937463" cy="3939064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7743455" y="2960132"/>
                <a:ext cx="3674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7030A0"/>
                    </a:solidFill>
                  </a:rPr>
                  <a:t>10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5381255" y="4557355"/>
                <a:ext cx="3674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7030A0"/>
                    </a:solidFill>
                  </a:rPr>
                  <a:t>10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6676655" y="3642955"/>
                <a:ext cx="3674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7030A0"/>
                    </a:solidFill>
                  </a:rPr>
                  <a:t>30</a:t>
                </a:r>
              </a:p>
            </p:txBody>
          </p:sp>
          <p:grpSp>
            <p:nvGrpSpPr>
              <p:cNvPr id="39" name="Group 38"/>
              <p:cNvGrpSpPr/>
              <p:nvPr/>
            </p:nvGrpSpPr>
            <p:grpSpPr>
              <a:xfrm>
                <a:off x="4901737" y="1828800"/>
                <a:ext cx="3549836" cy="3939064"/>
                <a:chOff x="663482" y="1840468"/>
                <a:chExt cx="3549836" cy="3939064"/>
              </a:xfrm>
            </p:grpSpPr>
            <p:cxnSp>
              <p:nvCxnSpPr>
                <p:cNvPr id="42" name="Straight Arrow Connector 41"/>
                <p:cNvCxnSpPr>
                  <a:endCxn id="49" idx="1"/>
                </p:cNvCxnSpPr>
                <p:nvPr/>
              </p:nvCxnSpPr>
              <p:spPr>
                <a:xfrm>
                  <a:off x="663482" y="3863882"/>
                  <a:ext cx="1721036" cy="1492436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5" name="Group 44"/>
                <p:cNvGrpSpPr/>
                <p:nvPr/>
              </p:nvGrpSpPr>
              <p:grpSpPr>
                <a:xfrm>
                  <a:off x="2209800" y="1840468"/>
                  <a:ext cx="2003518" cy="3939064"/>
                  <a:chOff x="2209800" y="1840468"/>
                  <a:chExt cx="2003518" cy="3939064"/>
                </a:xfrm>
              </p:grpSpPr>
              <p:sp>
                <p:nvSpPr>
                  <p:cNvPr id="47" name="Oval 46"/>
                  <p:cNvSpPr/>
                  <p:nvPr/>
                </p:nvSpPr>
                <p:spPr>
                  <a:xfrm>
                    <a:off x="2286000" y="2133600"/>
                    <a:ext cx="152400" cy="152400"/>
                  </a:xfrm>
                  <a:prstGeom prst="ellipse">
                    <a:avLst/>
                  </a:prstGeom>
                  <a:solidFill>
                    <a:schemeClr val="tx2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8" name="Straight Arrow Connector 47"/>
                  <p:cNvCxnSpPr>
                    <a:stCxn id="47" idx="5"/>
                    <a:endCxn id="54" idx="1"/>
                  </p:cNvCxnSpPr>
                  <p:nvPr/>
                </p:nvCxnSpPr>
                <p:spPr>
                  <a:xfrm>
                    <a:off x="2416082" y="2263682"/>
                    <a:ext cx="1797236" cy="1492436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9" name="Oval 48"/>
                  <p:cNvSpPr/>
                  <p:nvPr/>
                </p:nvSpPr>
                <p:spPr>
                  <a:xfrm>
                    <a:off x="2362200" y="5334000"/>
                    <a:ext cx="152400" cy="152400"/>
                  </a:xfrm>
                  <a:prstGeom prst="ellipse">
                    <a:avLst/>
                  </a:prstGeom>
                  <a:solidFill>
                    <a:schemeClr val="tx2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0" name="TextBox 49"/>
                      <p:cNvSpPr txBox="1"/>
                      <p:nvPr/>
                    </p:nvSpPr>
                    <p:spPr>
                      <a:xfrm>
                        <a:off x="2209800" y="1840468"/>
                        <a:ext cx="370614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50" name="TextBox 49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209800" y="1840468"/>
                        <a:ext cx="370614" cy="369332"/>
                      </a:xfrm>
                      <a:prstGeom prst="rect">
                        <a:avLst/>
                      </a:prstGeom>
                      <a:blipFill rotWithShape="1">
                        <a:blip r:embed="rId7"/>
                        <a:stretch>
                          <a:fillRect t="-8197" r="-21311" b="-2459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1" name="TextBox 50"/>
                      <p:cNvSpPr txBox="1"/>
                      <p:nvPr/>
                    </p:nvSpPr>
                    <p:spPr>
                      <a:xfrm>
                        <a:off x="2209800" y="5410200"/>
                        <a:ext cx="375424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𝒚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51" name="TextBox 50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209800" y="5410200"/>
                        <a:ext cx="375424" cy="369332"/>
                      </a:xfrm>
                      <a:prstGeom prst="rect">
                        <a:avLst/>
                      </a:prstGeom>
                      <a:blipFill rotWithShape="1">
                        <a:blip r:embed="rId8"/>
                        <a:stretch>
                          <a:fillRect t="-8333" r="-21311" b="-26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grpSp>
            <p:nvGrpSpPr>
              <p:cNvPr id="53" name="Group 52"/>
              <p:cNvGrpSpPr/>
              <p:nvPr/>
            </p:nvGrpSpPr>
            <p:grpSpPr>
              <a:xfrm>
                <a:off x="8429255" y="3581400"/>
                <a:ext cx="409945" cy="369332"/>
                <a:chOff x="4191000" y="3593068"/>
                <a:chExt cx="409945" cy="369332"/>
              </a:xfrm>
            </p:grpSpPr>
            <p:sp>
              <p:nvSpPr>
                <p:cNvPr id="54" name="Oval 53"/>
                <p:cNvSpPr/>
                <p:nvPr/>
              </p:nvSpPr>
              <p:spPr>
                <a:xfrm>
                  <a:off x="4191000" y="3733800"/>
                  <a:ext cx="152400" cy="152400"/>
                </a:xfrm>
                <a:prstGeom prst="ellipse">
                  <a:avLst/>
                </a:prstGeom>
                <a:solidFill>
                  <a:schemeClr val="accent2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0" name="TextBox 59"/>
                    <p:cNvSpPr txBox="1"/>
                    <p:nvPr/>
                  </p:nvSpPr>
                  <p:spPr>
                    <a:xfrm>
                      <a:off x="4267200" y="3593068"/>
                      <a:ext cx="333745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𝒕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0" name="TextBox 5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67200" y="3593068"/>
                      <a:ext cx="333745" cy="369332"/>
                    </a:xfrm>
                    <a:prstGeom prst="rect">
                      <a:avLst/>
                    </a:prstGeom>
                    <a:blipFill rotWithShape="1">
                      <a:blip r:embed="rId9"/>
                      <a:stretch>
                        <a:fillRect t="-8333" r="-25455" b="-2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63" name="Straight Arrow Connector 62"/>
              <p:cNvCxnSpPr/>
              <p:nvPr/>
            </p:nvCxnSpPr>
            <p:spPr>
              <a:xfrm>
                <a:off x="6600455" y="2274332"/>
                <a:ext cx="76200" cy="30480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/>
            <p:cNvGrpSpPr/>
            <p:nvPr/>
          </p:nvGrpSpPr>
          <p:grpSpPr>
            <a:xfrm>
              <a:off x="4572000" y="3581400"/>
              <a:ext cx="381000" cy="369332"/>
              <a:chOff x="304800" y="3593068"/>
              <a:chExt cx="381000" cy="369332"/>
            </a:xfrm>
          </p:grpSpPr>
          <p:sp>
            <p:nvSpPr>
              <p:cNvPr id="68" name="Oval 67"/>
              <p:cNvSpPr/>
              <p:nvPr/>
            </p:nvSpPr>
            <p:spPr>
              <a:xfrm>
                <a:off x="533400" y="37338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/>
                  <p:cNvSpPr txBox="1"/>
                  <p:nvPr/>
                </p:nvSpPr>
                <p:spPr>
                  <a:xfrm>
                    <a:off x="304800" y="3593068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9" name="TextBox 6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4800" y="3593068"/>
                    <a:ext cx="352981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333" r="-22414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5" name="Right Arrow 4"/>
          <p:cNvSpPr/>
          <p:nvPr/>
        </p:nvSpPr>
        <p:spPr>
          <a:xfrm>
            <a:off x="4434072" y="2743200"/>
            <a:ext cx="467665" cy="68580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219200" y="27432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20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6546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37792" y="42672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20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867400" y="5943600"/>
            <a:ext cx="1477777" cy="914400"/>
            <a:chOff x="5867400" y="5943600"/>
            <a:chExt cx="1477777" cy="914400"/>
          </a:xfrm>
        </p:grpSpPr>
        <p:sp>
          <p:nvSpPr>
            <p:cNvPr id="10" name="Smiley Face 9"/>
            <p:cNvSpPr/>
            <p:nvPr/>
          </p:nvSpPr>
          <p:spPr>
            <a:xfrm>
              <a:off x="6324600" y="5943600"/>
              <a:ext cx="533400" cy="533400"/>
            </a:xfrm>
            <a:prstGeom prst="smileyFace">
              <a:avLst>
                <a:gd name="adj" fmla="val -4653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5867400" y="6488668"/>
                  <a:ext cx="147777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No 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𝒕</m:t>
                      </m:r>
                    </m:oMath>
                  </a14:m>
                  <a:r>
                    <a:rPr lang="en-US" dirty="0"/>
                    <a:t> path</a:t>
                  </a: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7400" y="6488668"/>
                  <a:ext cx="1477777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3719" t="-8197" r="-702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4" name="Oval 63">
            <a:extLst>
              <a:ext uri="{FF2B5EF4-FFF2-40B4-BE49-F238E27FC236}">
                <a16:creationId xmlns:a16="http://schemas.microsoft.com/office/drawing/2014/main" id="{DC7D8FBD-837F-404E-9509-73605B9CB0DA}"/>
              </a:ext>
            </a:extLst>
          </p:cNvPr>
          <p:cNvSpPr/>
          <p:nvPr/>
        </p:nvSpPr>
        <p:spPr>
          <a:xfrm>
            <a:off x="1143000" y="42672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21A29F9-B128-4D4C-AAAD-73B42C4349D1}"/>
              </a:ext>
            </a:extLst>
          </p:cNvPr>
          <p:cNvSpPr/>
          <p:nvPr/>
        </p:nvSpPr>
        <p:spPr>
          <a:xfrm>
            <a:off x="1752600" y="48006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513BFDA-EA7F-3643-80E9-99A1D921F72D}"/>
              </a:ext>
            </a:extLst>
          </p:cNvPr>
          <p:cNvSpPr/>
          <p:nvPr/>
        </p:nvSpPr>
        <p:spPr>
          <a:xfrm>
            <a:off x="2895600" y="26670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5F83785B-5167-344D-B853-F589F43DE0A7}"/>
              </a:ext>
            </a:extLst>
          </p:cNvPr>
          <p:cNvSpPr/>
          <p:nvPr/>
        </p:nvSpPr>
        <p:spPr>
          <a:xfrm>
            <a:off x="3581400" y="32004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06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1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0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 animBg="1"/>
      <p:bldP spid="6" grpId="0"/>
      <p:bldP spid="70" grpId="0"/>
      <p:bldP spid="71" grpId="0"/>
      <p:bldP spid="64" grpId="0" animBg="1"/>
      <p:bldP spid="65" grpId="0" animBg="1"/>
      <p:bldP spid="66" grpId="0" animBg="1"/>
      <p:bldP spid="7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DDAEFCB-7EC9-FD0D-17AD-10F6462E6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FC181EA-5107-57E0-51AE-D005BC74E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We feel disappointed from this counterexample </a:t>
            </a:r>
            <a:r>
              <a:rPr lang="en-US" sz="2400" dirty="0">
                <a:sym typeface="Wingdings" panose="05000000000000000000" pitchFamily="2" charset="2"/>
              </a:rPr>
              <a:t>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Let us learn from this counterexample </a:t>
            </a:r>
            <a:r>
              <a:rPr lang="en-US" sz="2400" dirty="0">
                <a:sym typeface="Wingdings" panose="05000000000000000000" pitchFamily="2" charset="2"/>
              </a:rPr>
              <a:t></a:t>
            </a:r>
            <a:r>
              <a:rPr lang="en-US" sz="2400" dirty="0"/>
              <a:t>.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9CBCEF-6B41-1812-1FCC-FCB0A8DD2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70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grpSp>
        <p:nvGrpSpPr>
          <p:cNvPr id="56" name="Group 55"/>
          <p:cNvGrpSpPr/>
          <p:nvPr/>
        </p:nvGrpSpPr>
        <p:grpSpPr>
          <a:xfrm>
            <a:off x="152400" y="3593068"/>
            <a:ext cx="533400" cy="369332"/>
            <a:chOff x="152400" y="3593068"/>
            <a:chExt cx="533400" cy="369332"/>
          </a:xfrm>
        </p:grpSpPr>
        <p:sp>
          <p:nvSpPr>
            <p:cNvPr id="28" name="Oval 27"/>
            <p:cNvSpPr/>
            <p:nvPr/>
          </p:nvSpPr>
          <p:spPr>
            <a:xfrm>
              <a:off x="533400" y="37338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152400" y="3593068"/>
                  <a:ext cx="3529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" y="3593068"/>
                  <a:ext cx="352981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TextBox 37"/>
          <p:cNvSpPr txBox="1"/>
          <p:nvPr/>
        </p:nvSpPr>
        <p:spPr>
          <a:xfrm>
            <a:off x="3381562" y="4492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45690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38400" y="36546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50</a:t>
            </a:r>
          </a:p>
        </p:txBody>
      </p:sp>
      <p:cxnSp>
        <p:nvCxnSpPr>
          <p:cNvPr id="13" name="Straight Arrow Connector 12"/>
          <p:cNvCxnSpPr>
            <a:stCxn id="28" idx="7"/>
            <a:endCxn id="11" idx="3"/>
          </p:cNvCxnSpPr>
          <p:nvPr/>
        </p:nvCxnSpPr>
        <p:spPr>
          <a:xfrm flipV="1">
            <a:off x="663482" y="2263682"/>
            <a:ext cx="1644836" cy="14924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28" idx="5"/>
            <a:endCxn id="27" idx="1"/>
          </p:cNvCxnSpPr>
          <p:nvPr/>
        </p:nvCxnSpPr>
        <p:spPr>
          <a:xfrm>
            <a:off x="663482" y="3863882"/>
            <a:ext cx="1721036" cy="14924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286000" y="21336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11" idx="5"/>
            <a:endCxn id="12" idx="1"/>
          </p:cNvCxnSpPr>
          <p:nvPr/>
        </p:nvCxnSpPr>
        <p:spPr>
          <a:xfrm>
            <a:off x="2416082" y="2263682"/>
            <a:ext cx="1797236" cy="14924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362200" y="53340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209800" y="1840468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1840468"/>
                <a:ext cx="37061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209800" y="54102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5410200"/>
                <a:ext cx="375424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>
            <a:stCxn id="27" idx="7"/>
            <a:endCxn id="12" idx="3"/>
          </p:cNvCxnSpPr>
          <p:nvPr/>
        </p:nvCxnSpPr>
        <p:spPr>
          <a:xfrm flipV="1">
            <a:off x="2492282" y="3863882"/>
            <a:ext cx="1721036" cy="14924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/>
          <p:cNvGrpSpPr/>
          <p:nvPr/>
        </p:nvGrpSpPr>
        <p:grpSpPr>
          <a:xfrm>
            <a:off x="4191000" y="3593068"/>
            <a:ext cx="409945" cy="369332"/>
            <a:chOff x="4191000" y="3593068"/>
            <a:chExt cx="409945" cy="369332"/>
          </a:xfrm>
        </p:grpSpPr>
        <p:sp>
          <p:nvSpPr>
            <p:cNvPr id="12" name="Oval 11"/>
            <p:cNvSpPr/>
            <p:nvPr/>
          </p:nvSpPr>
          <p:spPr>
            <a:xfrm>
              <a:off x="4191000" y="3733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2363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1" name="Straight Arrow Connector 60"/>
          <p:cNvCxnSpPr/>
          <p:nvPr/>
        </p:nvCxnSpPr>
        <p:spPr>
          <a:xfrm>
            <a:off x="2362200" y="2286000"/>
            <a:ext cx="76200" cy="3048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V="1">
            <a:off x="664029" y="2265015"/>
            <a:ext cx="1644836" cy="1492436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2362200" y="2286000"/>
            <a:ext cx="76200" cy="3048000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/>
            <a:stCxn id="27" idx="7"/>
          </p:cNvCxnSpPr>
          <p:nvPr/>
        </p:nvCxnSpPr>
        <p:spPr>
          <a:xfrm flipV="1">
            <a:off x="2492282" y="3841564"/>
            <a:ext cx="1743354" cy="1514754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057400" y="36546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6C31"/>
                </a:solidFill>
              </a:rPr>
              <a:t>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37792" y="42672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6C31"/>
                </a:solidFill>
              </a:rPr>
              <a:t>20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63482" y="3863882"/>
            <a:ext cx="1721036" cy="1492436"/>
            <a:chOff x="663482" y="3863882"/>
            <a:chExt cx="1721036" cy="1492436"/>
          </a:xfrm>
        </p:grpSpPr>
        <p:cxnSp>
          <p:nvCxnSpPr>
            <p:cNvPr id="64" name="Straight Arrow Connector 63"/>
            <p:cNvCxnSpPr>
              <a:cxnSpLocks/>
              <a:stCxn id="28" idx="5"/>
              <a:endCxn id="27" idx="1"/>
            </p:cNvCxnSpPr>
            <p:nvPr/>
          </p:nvCxnSpPr>
          <p:spPr>
            <a:xfrm>
              <a:off x="663482" y="3863882"/>
              <a:ext cx="1721036" cy="1492436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1371600" y="42672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6C31"/>
                  </a:solidFill>
                </a:rPr>
                <a:t>10</a:t>
              </a:r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2057400" y="36576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6C31"/>
                </a:solidFill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61392" y="30450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9200" y="27432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6C31"/>
                </a:solidFill>
              </a:rPr>
              <a:t>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0" y="31242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394C7B9-7AAA-FA6F-ADEE-A4F5B46224F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600200"/>
                <a:ext cx="4495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The only way is to send </a:t>
                </a:r>
                <a:r>
                  <a:rPr lang="en-US" sz="2000" dirty="0">
                    <a:solidFill>
                      <a:srgbClr val="00B050"/>
                    </a:solidFill>
                  </a:rPr>
                  <a:t>10</a:t>
                </a:r>
                <a:r>
                  <a:rPr lang="en-US" sz="2000" dirty="0"/>
                  <a:t> units of flow </a:t>
                </a:r>
              </a:p>
              <a:p>
                <a:pPr marL="0" indent="0">
                  <a:buNone/>
                </a:pPr>
                <a:r>
                  <a:rPr lang="en-US" sz="2000" dirty="0"/>
                  <a:t>along edge 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000" dirty="0"/>
                  <a:t>).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We can not send more flow out of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So the only way is to reduce flow </a:t>
                </a:r>
              </a:p>
              <a:p>
                <a:pPr marL="0" indent="0">
                  <a:buNone/>
                </a:pPr>
                <a:r>
                  <a:rPr lang="en-US" sz="2000" dirty="0"/>
                  <a:t>along 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000" dirty="0"/>
                  <a:t>).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This restores conservation at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But…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IN" sz="20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394C7B9-7AAA-FA6F-ADEE-A4F5B46224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600200"/>
                <a:ext cx="4495800" cy="4525963"/>
              </a:xfrm>
              <a:blipFill>
                <a:blip r:embed="rId6"/>
                <a:stretch>
                  <a:fillRect l="-1493"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Line Callout 1 18">
                <a:extLst>
                  <a:ext uri="{FF2B5EF4-FFF2-40B4-BE49-F238E27FC236}">
                    <a16:creationId xmlns:a16="http://schemas.microsoft.com/office/drawing/2014/main" id="{FE4A31A9-F40C-D111-5F26-1FE32ADEDD79}"/>
                  </a:ext>
                </a:extLst>
              </p:cNvPr>
              <p:cNvSpPr/>
              <p:nvPr/>
            </p:nvSpPr>
            <p:spPr>
              <a:xfrm>
                <a:off x="2272408" y="5791200"/>
                <a:ext cx="2985392" cy="533400"/>
              </a:xfrm>
              <a:prstGeom prst="borderCallout1">
                <a:avLst>
                  <a:gd name="adj1" fmla="val -1776"/>
                  <a:gd name="adj2" fmla="val 50416"/>
                  <a:gd name="adj3" fmla="val -61786"/>
                  <a:gd name="adj4" fmla="val 6516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Conservation</a:t>
                </a:r>
                <a:r>
                  <a:rPr lang="en-US" dirty="0">
                    <a:solidFill>
                      <a:srgbClr val="C00000"/>
                    </a:solidFill>
                  </a:rPr>
                  <a:t> violated </a:t>
                </a:r>
                <a:r>
                  <a:rPr lang="en-US" dirty="0">
                    <a:solidFill>
                      <a:srgbClr val="002060"/>
                    </a:solidFill>
                  </a:rPr>
                  <a:t>at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Line Callout 1 18">
                <a:extLst>
                  <a:ext uri="{FF2B5EF4-FFF2-40B4-BE49-F238E27FC236}">
                    <a16:creationId xmlns:a16="http://schemas.microsoft.com/office/drawing/2014/main" id="{FE4A31A9-F40C-D111-5F26-1FE32ADEDD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2408" y="5791200"/>
                <a:ext cx="2985392" cy="533400"/>
              </a:xfrm>
              <a:prstGeom prst="borderCallout1">
                <a:avLst>
                  <a:gd name="adj1" fmla="val -1776"/>
                  <a:gd name="adj2" fmla="val 50416"/>
                  <a:gd name="adj3" fmla="val -61786"/>
                  <a:gd name="adj4" fmla="val 6516"/>
                </a:avLst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>
            <a:extLst>
              <a:ext uri="{FF2B5EF4-FFF2-40B4-BE49-F238E27FC236}">
                <a16:creationId xmlns:a16="http://schemas.microsoft.com/office/drawing/2014/main" id="{D73AC389-C1EE-9840-4504-1D12725AB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2CFAF24-A082-BF4B-137E-216C7B9E9366}"/>
              </a:ext>
            </a:extLst>
          </p:cNvPr>
          <p:cNvSpPr/>
          <p:nvPr/>
        </p:nvSpPr>
        <p:spPr>
          <a:xfrm>
            <a:off x="2197404" y="5181601"/>
            <a:ext cx="495584" cy="47951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DD3F077C-4BC0-3720-4F73-D2BAFBD9392E}"/>
                  </a:ext>
                </a:extLst>
              </p:cNvPr>
              <p:cNvSpPr/>
              <p:nvPr/>
            </p:nvSpPr>
            <p:spPr>
              <a:xfrm>
                <a:off x="1891408" y="1219200"/>
                <a:ext cx="2985392" cy="533400"/>
              </a:xfrm>
              <a:prstGeom prst="borderCallout1">
                <a:avLst>
                  <a:gd name="adj1" fmla="val 104347"/>
                  <a:gd name="adj2" fmla="val 49687"/>
                  <a:gd name="adj3" fmla="val 187193"/>
                  <a:gd name="adj4" fmla="val 17455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Conservation</a:t>
                </a:r>
                <a:r>
                  <a:rPr lang="en-US" dirty="0">
                    <a:solidFill>
                      <a:srgbClr val="C00000"/>
                    </a:solidFill>
                  </a:rPr>
                  <a:t> violated </a:t>
                </a:r>
                <a:r>
                  <a:rPr lang="en-US" dirty="0">
                    <a:solidFill>
                      <a:srgbClr val="002060"/>
                    </a:solidFill>
                  </a:rPr>
                  <a:t>at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DD3F077C-4BC0-3720-4F73-D2BAFBD939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408" y="1219200"/>
                <a:ext cx="2985392" cy="533400"/>
              </a:xfrm>
              <a:prstGeom prst="borderCallout1">
                <a:avLst>
                  <a:gd name="adj1" fmla="val 104347"/>
                  <a:gd name="adj2" fmla="val 49687"/>
                  <a:gd name="adj3" fmla="val 187193"/>
                  <a:gd name="adj4" fmla="val 17455"/>
                </a:avLst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6">
            <a:extLst>
              <a:ext uri="{FF2B5EF4-FFF2-40B4-BE49-F238E27FC236}">
                <a16:creationId xmlns:a16="http://schemas.microsoft.com/office/drawing/2014/main" id="{CFAB7447-E924-DABD-CECB-23C367E70C79}"/>
              </a:ext>
            </a:extLst>
          </p:cNvPr>
          <p:cNvSpPr txBox="1">
            <a:spLocks/>
          </p:cNvSpPr>
          <p:nvPr/>
        </p:nvSpPr>
        <p:spPr bwMode="auto">
          <a:xfrm>
            <a:off x="445163" y="258763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600" b="1" dirty="0"/>
              <a:t>Finding a solution with </a:t>
            </a:r>
            <a:r>
              <a:rPr lang="en-US" sz="3600" b="1" dirty="0">
                <a:solidFill>
                  <a:srgbClr val="7030A0"/>
                </a:solidFill>
              </a:rPr>
              <a:t>scientific spirit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loud Callout 35">
                <a:extLst>
                  <a:ext uri="{FF2B5EF4-FFF2-40B4-BE49-F238E27FC236}">
                    <a16:creationId xmlns:a16="http://schemas.microsoft.com/office/drawing/2014/main" id="{D8E84ABA-F597-1448-C889-091424AB747D}"/>
                  </a:ext>
                </a:extLst>
              </p:cNvPr>
              <p:cNvSpPr/>
              <p:nvPr/>
            </p:nvSpPr>
            <p:spPr>
              <a:xfrm>
                <a:off x="4953000" y="3146518"/>
                <a:ext cx="3962400" cy="1479364"/>
              </a:xfrm>
              <a:prstGeom prst="cloudCallout">
                <a:avLst>
                  <a:gd name="adj1" fmla="val 56232"/>
                  <a:gd name="adj2" fmla="val 58896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How to send extra </a:t>
                </a:r>
                <a:r>
                  <a:rPr lang="en-US" b="1" dirty="0">
                    <a:solidFill>
                      <a:srgbClr val="0070C0"/>
                    </a:solidFill>
                  </a:rPr>
                  <a:t>10</a:t>
                </a:r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units of flow from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dirty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to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?</a:t>
                </a:r>
              </a:p>
            </p:txBody>
          </p:sp>
        </mc:Choice>
        <mc:Fallback xmlns="">
          <p:sp>
            <p:nvSpPr>
              <p:cNvPr id="9" name="Cloud Callout 35">
                <a:extLst>
                  <a:ext uri="{FF2B5EF4-FFF2-40B4-BE49-F238E27FC236}">
                    <a16:creationId xmlns:a16="http://schemas.microsoft.com/office/drawing/2014/main" id="{D8E84ABA-F597-1448-C889-091424AB74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3146518"/>
                <a:ext cx="3962400" cy="1479364"/>
              </a:xfrm>
              <a:prstGeom prst="cloudCallout">
                <a:avLst>
                  <a:gd name="adj1" fmla="val 56232"/>
                  <a:gd name="adj2" fmla="val 58896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B7D04B-08B9-26A1-8DE1-66FD0D4AE637}"/>
              </a:ext>
            </a:extLst>
          </p:cNvPr>
          <p:cNvCxnSpPr/>
          <p:nvPr/>
        </p:nvCxnSpPr>
        <p:spPr>
          <a:xfrm>
            <a:off x="2362200" y="2286000"/>
            <a:ext cx="76200" cy="30480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172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75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1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00"/>
                            </p:stCondLst>
                            <p:childTnLst>
                              <p:par>
                                <p:cTn id="96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75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7.40741E-7 L -0.01059 -0.4666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8" y="-2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70" grpId="0"/>
      <p:bldP spid="72" grpId="0"/>
      <p:bldP spid="6" grpId="0" uiExpand="1" build="p"/>
      <p:bldP spid="3" grpId="0" animBg="1"/>
      <p:bldP spid="3" grpId="1" animBg="1"/>
      <p:bldP spid="2" grpId="0" animBg="1"/>
      <p:bldP spid="2" grpId="1" animBg="1"/>
      <p:bldP spid="7" grpId="0" animBg="1"/>
      <p:bldP spid="8" grpId="0"/>
      <p:bldP spid="9" grpId="0" animBg="1"/>
      <p:bldP spid="9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93CD4C4-5B4F-A9AC-5BCB-8A62CD8B8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C79B593-21DA-D2C0-5AB4-367C0F44E7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D48217CA-F79E-7656-1F0C-CA49C800DFA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600200"/>
                <a:ext cx="4495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b="1" i="1" dirty="0">
                  <a:solidFill>
                    <a:srgbClr val="0070C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has excess incoming flow.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We can not reduce flow along 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).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But we can increase flow along 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000" dirty="0"/>
                  <a:t>) </a:t>
                </a:r>
                <a:r>
                  <a:rPr lang="en-US" sz="2000" dirty="0">
                    <a:sym typeface="Wingdings" panose="05000000000000000000" pitchFamily="2" charset="2"/>
                  </a:rPr>
                  <a:t></a:t>
                </a:r>
                <a:r>
                  <a:rPr lang="en-US" sz="2000" dirty="0"/>
                  <a:t>.</a:t>
                </a:r>
                <a:endParaRPr lang="en-IN" sz="2000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D48217CA-F79E-7656-1F0C-CA49C800DF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600200"/>
                <a:ext cx="4495800" cy="4525963"/>
              </a:xfrm>
              <a:blipFill>
                <a:blip r:embed="rId2"/>
                <a:stretch>
                  <a:fillRect l="-14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grpSp>
        <p:nvGrpSpPr>
          <p:cNvPr id="56" name="Group 55"/>
          <p:cNvGrpSpPr/>
          <p:nvPr/>
        </p:nvGrpSpPr>
        <p:grpSpPr>
          <a:xfrm>
            <a:off x="152400" y="3593068"/>
            <a:ext cx="533400" cy="369332"/>
            <a:chOff x="152400" y="3593068"/>
            <a:chExt cx="533400" cy="369332"/>
          </a:xfrm>
        </p:grpSpPr>
        <p:sp>
          <p:nvSpPr>
            <p:cNvPr id="28" name="Oval 27"/>
            <p:cNvSpPr/>
            <p:nvPr/>
          </p:nvSpPr>
          <p:spPr>
            <a:xfrm>
              <a:off x="533400" y="37338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152400" y="3593068"/>
                  <a:ext cx="3529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" y="3593068"/>
                  <a:ext cx="352981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TextBox 37"/>
          <p:cNvSpPr txBox="1"/>
          <p:nvPr/>
        </p:nvSpPr>
        <p:spPr>
          <a:xfrm>
            <a:off x="3381562" y="4492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45690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38400" y="36546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50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663482" y="1840468"/>
            <a:ext cx="3549836" cy="3939064"/>
            <a:chOff x="663482" y="1840468"/>
            <a:chExt cx="3549836" cy="3939064"/>
          </a:xfrm>
        </p:grpSpPr>
        <p:cxnSp>
          <p:nvCxnSpPr>
            <p:cNvPr id="13" name="Straight Arrow Connector 12"/>
            <p:cNvCxnSpPr>
              <a:stCxn id="28" idx="7"/>
              <a:endCxn id="11" idx="3"/>
            </p:cNvCxnSpPr>
            <p:nvPr/>
          </p:nvCxnSpPr>
          <p:spPr>
            <a:xfrm flipV="1">
              <a:off x="663482" y="2263682"/>
              <a:ext cx="1644836" cy="14924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28" idx="5"/>
              <a:endCxn id="27" idx="1"/>
            </p:cNvCxnSpPr>
            <p:nvPr/>
          </p:nvCxnSpPr>
          <p:spPr>
            <a:xfrm>
              <a:off x="663482" y="3863882"/>
              <a:ext cx="1721036" cy="14924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" name="Group 57"/>
            <p:cNvGrpSpPr/>
            <p:nvPr/>
          </p:nvGrpSpPr>
          <p:grpSpPr>
            <a:xfrm>
              <a:off x="2209800" y="1840468"/>
              <a:ext cx="2003518" cy="3939064"/>
              <a:chOff x="2209800" y="1840468"/>
              <a:chExt cx="2003518" cy="3939064"/>
            </a:xfrm>
          </p:grpSpPr>
          <p:sp>
            <p:nvSpPr>
              <p:cNvPr id="11" name="Oval 10"/>
              <p:cNvSpPr/>
              <p:nvPr/>
            </p:nvSpPr>
            <p:spPr>
              <a:xfrm>
                <a:off x="2286000" y="21336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Straight Arrow Connector 13"/>
              <p:cNvCxnSpPr>
                <a:stCxn id="11" idx="5"/>
                <a:endCxn id="12" idx="1"/>
              </p:cNvCxnSpPr>
              <p:nvPr/>
            </p:nvCxnSpPr>
            <p:spPr>
              <a:xfrm>
                <a:off x="2416082" y="2263682"/>
                <a:ext cx="1797236" cy="149243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Oval 26"/>
              <p:cNvSpPr/>
              <p:nvPr/>
            </p:nvSpPr>
            <p:spPr>
              <a:xfrm>
                <a:off x="2362200" y="5334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/>
                  <p:cNvSpPr txBox="1"/>
                  <p:nvPr/>
                </p:nvSpPr>
                <p:spPr>
                  <a:xfrm>
                    <a:off x="2209800" y="1840468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TextBox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09800" y="1840468"/>
                    <a:ext cx="370614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/>
                  <p:cNvSpPr txBox="1"/>
                  <p:nvPr/>
                </p:nvSpPr>
                <p:spPr>
                  <a:xfrm>
                    <a:off x="2209800" y="54102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𝒚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0" name="TextBox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09800" y="54102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333" r="-21311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1" name="Straight Arrow Connector 40"/>
              <p:cNvCxnSpPr>
                <a:stCxn id="27" idx="7"/>
                <a:endCxn id="12" idx="3"/>
              </p:cNvCxnSpPr>
              <p:nvPr/>
            </p:nvCxnSpPr>
            <p:spPr>
              <a:xfrm flipV="1">
                <a:off x="2492282" y="3863882"/>
                <a:ext cx="1721036" cy="149243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7" name="Group 56"/>
          <p:cNvGrpSpPr/>
          <p:nvPr/>
        </p:nvGrpSpPr>
        <p:grpSpPr>
          <a:xfrm>
            <a:off x="4191000" y="3593068"/>
            <a:ext cx="409945" cy="369332"/>
            <a:chOff x="4191000" y="3593068"/>
            <a:chExt cx="409945" cy="369332"/>
          </a:xfrm>
        </p:grpSpPr>
        <p:sp>
          <p:nvSpPr>
            <p:cNvPr id="12" name="Oval 11"/>
            <p:cNvSpPr/>
            <p:nvPr/>
          </p:nvSpPr>
          <p:spPr>
            <a:xfrm>
              <a:off x="4191000" y="3733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363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1" name="Straight Arrow Connector 60"/>
          <p:cNvCxnSpPr/>
          <p:nvPr/>
        </p:nvCxnSpPr>
        <p:spPr>
          <a:xfrm>
            <a:off x="2362200" y="2286000"/>
            <a:ext cx="76200" cy="3048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V="1">
            <a:off x="664029" y="2265015"/>
            <a:ext cx="1644836" cy="1492436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2362200" y="2286000"/>
            <a:ext cx="76200" cy="30480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2514600" y="3841564"/>
            <a:ext cx="1721036" cy="1492436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3137792" y="42672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6C31"/>
                </a:solidFill>
              </a:rPr>
              <a:t>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71600" y="42672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6C31"/>
                </a:solidFill>
              </a:rPr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Line Callout 1 65"/>
              <p:cNvSpPr/>
              <p:nvPr/>
            </p:nvSpPr>
            <p:spPr>
              <a:xfrm>
                <a:off x="1891408" y="1219200"/>
                <a:ext cx="2985392" cy="533400"/>
              </a:xfrm>
              <a:prstGeom prst="borderCallout1">
                <a:avLst>
                  <a:gd name="adj1" fmla="val 104347"/>
                  <a:gd name="adj2" fmla="val 49687"/>
                  <a:gd name="adj3" fmla="val 187193"/>
                  <a:gd name="adj4" fmla="val 17455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Conservation</a:t>
                </a:r>
                <a:r>
                  <a:rPr lang="en-US" dirty="0">
                    <a:solidFill>
                      <a:srgbClr val="C00000"/>
                    </a:solidFill>
                  </a:rPr>
                  <a:t> violated </a:t>
                </a:r>
                <a:r>
                  <a:rPr lang="en-US" dirty="0">
                    <a:solidFill>
                      <a:srgbClr val="002060"/>
                    </a:solidFill>
                  </a:rPr>
                  <a:t>at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6" name="Line Callout 1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408" y="1219200"/>
                <a:ext cx="2985392" cy="533400"/>
              </a:xfrm>
              <a:prstGeom prst="borderCallout1">
                <a:avLst>
                  <a:gd name="adj1" fmla="val 104347"/>
                  <a:gd name="adj2" fmla="val 49687"/>
                  <a:gd name="adj3" fmla="val 187193"/>
                  <a:gd name="adj4" fmla="val 17455"/>
                </a:avLst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" name="Group 72"/>
          <p:cNvGrpSpPr/>
          <p:nvPr/>
        </p:nvGrpSpPr>
        <p:grpSpPr>
          <a:xfrm>
            <a:off x="2416082" y="2263682"/>
            <a:ext cx="1851118" cy="1546318"/>
            <a:chOff x="546394" y="3863882"/>
            <a:chExt cx="1851118" cy="1546318"/>
          </a:xfrm>
        </p:grpSpPr>
        <p:cxnSp>
          <p:nvCxnSpPr>
            <p:cNvPr id="74" name="Straight Arrow Connector 73"/>
            <p:cNvCxnSpPr>
              <a:cxnSpLocks/>
              <a:stCxn id="11" idx="5"/>
            </p:cNvCxnSpPr>
            <p:nvPr/>
          </p:nvCxnSpPr>
          <p:spPr>
            <a:xfrm>
              <a:off x="546394" y="3863882"/>
              <a:ext cx="1851118" cy="1546318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1496704" y="44196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6C31"/>
                  </a:solidFill>
                </a:rPr>
                <a:t>10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1461392" y="30450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9200" y="27432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6C31"/>
                </a:solidFill>
              </a:rPr>
              <a:t>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0" y="31242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10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DA08A35-3609-81D4-3993-9670E45B82D4}"/>
              </a:ext>
            </a:extLst>
          </p:cNvPr>
          <p:cNvCxnSpPr>
            <a:cxnSpLocks/>
          </p:cNvCxnSpPr>
          <p:nvPr/>
        </p:nvCxnSpPr>
        <p:spPr>
          <a:xfrm>
            <a:off x="670109" y="3859572"/>
            <a:ext cx="1721036" cy="1492436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CF1B13A-B7BB-6A5B-11C9-95A5FB73A2E5}"/>
              </a:ext>
            </a:extLst>
          </p:cNvPr>
          <p:cNvSpPr txBox="1"/>
          <p:nvPr/>
        </p:nvSpPr>
        <p:spPr>
          <a:xfrm>
            <a:off x="2057400" y="36546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6C31"/>
                </a:solidFill>
              </a:rPr>
              <a:t>10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F9556D3-198D-560F-E240-A16294C6B6B9}"/>
              </a:ext>
            </a:extLst>
          </p:cNvPr>
          <p:cNvSpPr/>
          <p:nvPr/>
        </p:nvSpPr>
        <p:spPr>
          <a:xfrm>
            <a:off x="2095216" y="1981200"/>
            <a:ext cx="495584" cy="47951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020281B-50C1-DDA2-987C-08EC9F70AE6F}"/>
              </a:ext>
            </a:extLst>
          </p:cNvPr>
          <p:cNvSpPr txBox="1">
            <a:spLocks/>
          </p:cNvSpPr>
          <p:nvPr/>
        </p:nvSpPr>
        <p:spPr bwMode="auto">
          <a:xfrm>
            <a:off x="445163" y="258763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600" b="1" dirty="0"/>
              <a:t>Finding a solution with </a:t>
            </a:r>
            <a:r>
              <a:rPr lang="en-US" sz="3600" b="1" dirty="0">
                <a:solidFill>
                  <a:srgbClr val="7030A0"/>
                </a:solidFill>
              </a:rPr>
              <a:t>scientific spirit</a:t>
            </a:r>
          </a:p>
        </p:txBody>
      </p:sp>
    </p:spTree>
    <p:extLst>
      <p:ext uri="{BB962C8B-B14F-4D97-AF65-F5344CB8AC3E}">
        <p14:creationId xmlns:p14="http://schemas.microsoft.com/office/powerpoint/2010/main" val="1582452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112E-17 -2.59259E-6 L 0.21875 0.24422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938" y="121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66" grpId="0" animBg="1"/>
      <p:bldP spid="2" grpId="0" animBg="1"/>
      <p:bldP spid="2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6C31"/>
                </a:solidFill>
              </a:rPr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7030A0"/>
                </a:solidFill>
              </a:rPr>
              <a:t>Spend at least 1 hour today on the following task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Learn from the way we increases flow from 20 to 30. </a:t>
            </a:r>
          </a:p>
          <a:p>
            <a:pPr marL="0" indent="0">
              <a:buNone/>
            </a:pPr>
            <a:r>
              <a:rPr lang="en-US" sz="2000" dirty="0"/>
              <a:t>Try to get the insight from this example. </a:t>
            </a:r>
          </a:p>
          <a:p>
            <a:pPr marL="0" indent="0">
              <a:buNone/>
            </a:pPr>
            <a:r>
              <a:rPr lang="en-US" sz="2000" dirty="0"/>
              <a:t>Modify the existing algorithm so that it may compute the maximum flow…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70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14986</TotalTime>
  <Words>1814</Words>
  <Application>Microsoft Office PowerPoint</Application>
  <PresentationFormat>On-screen Show (4:3)</PresentationFormat>
  <Paragraphs>841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Cambria Math</vt:lpstr>
      <vt:lpstr>Wingdings</vt:lpstr>
      <vt:lpstr>Office Theme</vt:lpstr>
      <vt:lpstr>Design and Analysis of Algorithms </vt:lpstr>
      <vt:lpstr>More motivation for  Maximum Flow</vt:lpstr>
      <vt:lpstr>Rounding of a matrix </vt:lpstr>
      <vt:lpstr>Maximum Flow  in a Network</vt:lpstr>
      <vt:lpstr>Network</vt:lpstr>
      <vt:lpstr>Problem definition (Informal)</vt:lpstr>
      <vt:lpstr>PowerPoint Presentation</vt:lpstr>
      <vt:lpstr>Are there any constraints for a flow ?</vt:lpstr>
      <vt:lpstr>Formal Description of Flow</vt:lpstr>
      <vt:lpstr>Formal Description of Flow</vt:lpstr>
      <vt:lpstr>Formal Description of Flow</vt:lpstr>
      <vt:lpstr>Formal Description of Flow</vt:lpstr>
      <vt:lpstr>Towards designing max flow algorithm</vt:lpstr>
      <vt:lpstr>Towards designing max flow algorithm</vt:lpstr>
      <vt:lpstr>Towards designing max flow algorithm</vt:lpstr>
      <vt:lpstr>Towards designing max flow algorithm</vt:lpstr>
      <vt:lpstr>Towards designing max flow algorithm</vt:lpstr>
      <vt:lpstr>Towards designing max flow algorithm</vt:lpstr>
      <vt:lpstr>Towards designing max flow algorithm</vt:lpstr>
      <vt:lpstr>Towards designing max flow algorithm</vt:lpstr>
      <vt:lpstr>Towards designing max flow algorithm</vt:lpstr>
      <vt:lpstr>Towards designing max flow algorithm</vt:lpstr>
      <vt:lpstr>Towards designing max flow algorithm</vt:lpstr>
      <vt:lpstr>Towards designing max flow algorithm</vt:lpstr>
      <vt:lpstr>A counterexample  for First-attempt-algo</vt:lpstr>
      <vt:lpstr>PowerPoint Presentation</vt:lpstr>
      <vt:lpstr>Executing our first attempt algorithm</vt:lpstr>
      <vt:lpstr>PowerPoint Presentation</vt:lpstr>
      <vt:lpstr>PowerPoint Presentation</vt:lpstr>
      <vt:lpstr>PowerPoint Presentation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Surender Baswana</cp:lastModifiedBy>
  <cp:revision>1369</cp:revision>
  <dcterms:created xsi:type="dcterms:W3CDTF">2011-12-03T04:13:03Z</dcterms:created>
  <dcterms:modified xsi:type="dcterms:W3CDTF">2025-10-08T12:20:39Z</dcterms:modified>
</cp:coreProperties>
</file>