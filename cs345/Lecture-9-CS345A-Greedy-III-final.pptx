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52"/>
  </p:notesMasterIdLst>
  <p:sldIdLst>
    <p:sldId id="518" r:id="rId2"/>
    <p:sldId id="506" r:id="rId3"/>
    <p:sldId id="726" r:id="rId4"/>
    <p:sldId id="453" r:id="rId5"/>
    <p:sldId id="738" r:id="rId6"/>
    <p:sldId id="742" r:id="rId7"/>
    <p:sldId id="727" r:id="rId8"/>
    <p:sldId id="503" r:id="rId9"/>
    <p:sldId id="739" r:id="rId10"/>
    <p:sldId id="505" r:id="rId11"/>
    <p:sldId id="448" r:id="rId12"/>
    <p:sldId id="728" r:id="rId13"/>
    <p:sldId id="613" r:id="rId14"/>
    <p:sldId id="524" r:id="rId15"/>
    <p:sldId id="707" r:id="rId16"/>
    <p:sldId id="525" r:id="rId17"/>
    <p:sldId id="568" r:id="rId18"/>
    <p:sldId id="522" r:id="rId19"/>
    <p:sldId id="740" r:id="rId20"/>
    <p:sldId id="741" r:id="rId21"/>
    <p:sldId id="528" r:id="rId22"/>
    <p:sldId id="529" r:id="rId23"/>
    <p:sldId id="487" r:id="rId24"/>
    <p:sldId id="489" r:id="rId25"/>
    <p:sldId id="488" r:id="rId26"/>
    <p:sldId id="490" r:id="rId27"/>
    <p:sldId id="552" r:id="rId28"/>
    <p:sldId id="553" r:id="rId29"/>
    <p:sldId id="547" r:id="rId30"/>
    <p:sldId id="542" r:id="rId31"/>
    <p:sldId id="543" r:id="rId32"/>
    <p:sldId id="750" r:id="rId33"/>
    <p:sldId id="545" r:id="rId34"/>
    <p:sldId id="554" r:id="rId35"/>
    <p:sldId id="564" r:id="rId36"/>
    <p:sldId id="575" r:id="rId37"/>
    <p:sldId id="576" r:id="rId38"/>
    <p:sldId id="577" r:id="rId39"/>
    <p:sldId id="578" r:id="rId40"/>
    <p:sldId id="555" r:id="rId41"/>
    <p:sldId id="556" r:id="rId42"/>
    <p:sldId id="557" r:id="rId43"/>
    <p:sldId id="558" r:id="rId44"/>
    <p:sldId id="599" r:id="rId45"/>
    <p:sldId id="596" r:id="rId46"/>
    <p:sldId id="605" r:id="rId47"/>
    <p:sldId id="611" r:id="rId48"/>
    <p:sldId id="598" r:id="rId49"/>
    <p:sldId id="606" r:id="rId50"/>
    <p:sldId id="615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6" autoAdjust="0"/>
    <p:restoredTop sz="94177" autoAdjust="0"/>
  </p:normalViewPr>
  <p:slideViewPr>
    <p:cSldViewPr>
      <p:cViewPr varScale="1">
        <p:scale>
          <a:sx n="105" d="100"/>
          <a:sy n="105" d="100"/>
        </p:scale>
        <p:origin x="141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21.png"/><Relationship Id="rId3" Type="http://schemas.openxmlformats.org/officeDocument/2006/relationships/image" Target="../media/image20.png"/><Relationship Id="rId7" Type="http://schemas.openxmlformats.org/officeDocument/2006/relationships/image" Target="../media/image62.png"/><Relationship Id="rId12" Type="http://schemas.openxmlformats.org/officeDocument/2006/relationships/image" Target="../media/image1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101.png"/><Relationship Id="rId5" Type="http://schemas.openxmlformats.org/officeDocument/2006/relationships/image" Target="../media/image41.png"/><Relationship Id="rId15" Type="http://schemas.openxmlformats.org/officeDocument/2006/relationships/image" Target="../media/image141.png"/><Relationship Id="rId10" Type="http://schemas.openxmlformats.org/officeDocument/2006/relationships/image" Target="../media/image91.png"/><Relationship Id="rId4" Type="http://schemas.openxmlformats.org/officeDocument/2006/relationships/image" Target="../media/image32.png"/><Relationship Id="rId9" Type="http://schemas.openxmlformats.org/officeDocument/2006/relationships/image" Target="../media/image81.png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image" Target="../media/image23.png"/><Relationship Id="rId21" Type="http://schemas.openxmlformats.org/officeDocument/2006/relationships/image" Target="../media/image130.png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image" Target="../media/image110.png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.png"/><Relationship Id="rId24" Type="http://schemas.openxmlformats.org/officeDocument/2006/relationships/image" Target="../media/image161.png"/><Relationship Id="rId15" Type="http://schemas.openxmlformats.org/officeDocument/2006/relationships/image" Target="../media/image7.png"/><Relationship Id="rId23" Type="http://schemas.openxmlformats.org/officeDocument/2006/relationships/image" Target="../media/image15.png"/><Relationship Id="rId28" Type="http://schemas.openxmlformats.org/officeDocument/2006/relationships/image" Target="../media/image200.png"/><Relationship Id="rId10" Type="http://schemas.openxmlformats.org/officeDocument/2006/relationships/image" Target="../media/image910.png"/><Relationship Id="rId19" Type="http://schemas.openxmlformats.org/officeDocument/2006/relationships/image" Target="../media/image11.png"/><Relationship Id="rId14" Type="http://schemas.openxmlformats.org/officeDocument/2006/relationships/image" Target="../media/image6.png"/><Relationship Id="rId22" Type="http://schemas.openxmlformats.org/officeDocument/2006/relationships/image" Target="../media/image14.png"/><Relationship Id="rId27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0" Type="http://schemas.openxmlformats.org/officeDocument/2006/relationships/image" Target="../media/image151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2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5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5" Type="http://schemas.openxmlformats.org/officeDocument/2006/relationships/image" Target="../media/image131.png"/><Relationship Id="rId4" Type="http://schemas.openxmlformats.org/officeDocument/2006/relationships/image" Target="../media/image12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1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80.png"/><Relationship Id="rId7" Type="http://schemas.openxmlformats.org/officeDocument/2006/relationships/image" Target="../media/image230.png"/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0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0086" y="4499848"/>
            <a:ext cx="65532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9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rgbClr val="7030A0"/>
              </a:solidFill>
            </a:endParaRPr>
          </a:p>
          <a:p>
            <a:pPr marL="285750" indent="-28575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Greedy Paradigm - III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</a:rPr>
              <a:t>  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44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7244-F6F4-BB4D-B8E6-6B574D85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r>
              <a:rPr lang="en-US" b="1" dirty="0"/>
              <a:t>from the past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1F3C-12F8-9B41-97A8-7FD91445A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Prove </a:t>
            </a:r>
            <a:r>
              <a:rPr lang="en-US" sz="2400" b="1" dirty="0">
                <a:solidFill>
                  <a:srgbClr val="7030A0"/>
                </a:solidFill>
              </a:rPr>
              <a:t>Cycle property </a:t>
            </a:r>
            <a:r>
              <a:rPr lang="en-US" sz="2400" dirty="0"/>
              <a:t>of MST.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BA0F2-0765-7344-B583-4C9AC308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8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Cycle Property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any cycle 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Cycle-property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Maximum weight </a:t>
                </a:r>
                <a:r>
                  <a:rPr lang="en-US" sz="1800" dirty="0"/>
                  <a:t>edge of any cycle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C00000"/>
                    </a:solidFill>
                  </a:rPr>
                  <a:t>can not </a:t>
                </a:r>
                <a:r>
                  <a:rPr lang="en-US" sz="1800" dirty="0"/>
                  <a:t>be present in </a:t>
                </a:r>
                <a:r>
                  <a:rPr lang="en-US" sz="1800" b="1" dirty="0"/>
                  <a:t>MST</a:t>
                </a:r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/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/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/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/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00400" y="1295400"/>
            <a:ext cx="3505200" cy="2426732"/>
            <a:chOff x="3200400" y="1295400"/>
            <a:chExt cx="3505200" cy="2426732"/>
          </a:xfrm>
        </p:grpSpPr>
        <p:grpSp>
          <p:nvGrpSpPr>
            <p:cNvPr id="37" name="Group 36"/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40386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3200400" y="1295400"/>
                <a:ext cx="3505200" cy="1905000"/>
                <a:chOff x="3200400" y="1295400"/>
                <a:chExt cx="3505200" cy="1905000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4191000" y="3124200"/>
                  <a:ext cx="9144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Oval 6"/>
                <p:cNvSpPr/>
                <p:nvPr/>
              </p:nvSpPr>
              <p:spPr>
                <a:xfrm>
                  <a:off x="51054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Connector 9"/>
                <p:cNvCxnSpPr>
                  <a:stCxn id="16" idx="5"/>
                  <a:endCxn id="5" idx="1"/>
                </p:cNvCxnSpPr>
                <p:nvPr/>
              </p:nvCxnSpPr>
              <p:spPr>
                <a:xfrm>
                  <a:off x="3330482" y="2492282"/>
                  <a:ext cx="730436" cy="57803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3657600" y="1600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4876800" y="1295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3200400" y="2362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16" idx="0"/>
                </p:cNvCxnSpPr>
                <p:nvPr/>
              </p:nvCxnSpPr>
              <p:spPr>
                <a:xfrm flipV="1">
                  <a:off x="3276600" y="1752600"/>
                  <a:ext cx="419100" cy="6096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>
                  <a:stCxn id="14" idx="7"/>
                  <a:endCxn id="15" idx="2"/>
                </p:cNvCxnSpPr>
                <p:nvPr/>
              </p:nvCxnSpPr>
              <p:spPr>
                <a:xfrm flipV="1">
                  <a:off x="3787682" y="1371600"/>
                  <a:ext cx="10891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>
                  <a:stCxn id="30" idx="1"/>
                  <a:endCxn id="15" idx="6"/>
                </p:cNvCxnSpPr>
                <p:nvPr/>
              </p:nvCxnSpPr>
              <p:spPr>
                <a:xfrm flipH="1" flipV="1">
                  <a:off x="5029200" y="1371600"/>
                  <a:ext cx="1089118" cy="4033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Oval 28"/>
                <p:cNvSpPr/>
                <p:nvPr/>
              </p:nvSpPr>
              <p:spPr>
                <a:xfrm>
                  <a:off x="5867400" y="2743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6096000" y="1752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Connector 30"/>
                <p:cNvCxnSpPr>
                  <a:stCxn id="29" idx="3"/>
                  <a:endCxn id="7" idx="6"/>
                </p:cNvCxnSpPr>
                <p:nvPr/>
              </p:nvCxnSpPr>
              <p:spPr>
                <a:xfrm flipH="1">
                  <a:off x="5257800" y="2873282"/>
                  <a:ext cx="6319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30" idx="4"/>
                  <a:endCxn id="111" idx="0"/>
                </p:cNvCxnSpPr>
                <p:nvPr/>
              </p:nvCxnSpPr>
              <p:spPr>
                <a:xfrm>
                  <a:off x="6172200" y="1905000"/>
                  <a:ext cx="457200" cy="533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>
                  <a:stCxn id="111" idx="3"/>
                  <a:endCxn id="29" idx="6"/>
                </p:cNvCxnSpPr>
                <p:nvPr/>
              </p:nvCxnSpPr>
              <p:spPr>
                <a:xfrm flipH="1">
                  <a:off x="6019800" y="2568482"/>
                  <a:ext cx="5557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1" name="Oval 110"/>
                <p:cNvSpPr/>
                <p:nvPr/>
              </p:nvSpPr>
              <p:spPr>
                <a:xfrm>
                  <a:off x="6553200" y="2438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572000" y="3352800"/>
                  <a:ext cx="3818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𝑪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3352800"/>
                  <a:ext cx="38183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FCC2C8B-232B-5A41-AF42-535E8CA56F86}"/>
              </a:ext>
            </a:extLst>
          </p:cNvPr>
          <p:cNvSpPr/>
          <p:nvPr/>
        </p:nvSpPr>
        <p:spPr>
          <a:xfrm>
            <a:off x="4103670" y="4896465"/>
            <a:ext cx="290673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Ribbon 47">
                <a:extLst>
                  <a:ext uri="{FF2B5EF4-FFF2-40B4-BE49-F238E27FC236}">
                    <a16:creationId xmlns:a16="http://schemas.microsoft.com/office/drawing/2014/main" id="{85583F0E-ACAB-3E5C-636D-8F5D885AFE59}"/>
                  </a:ext>
                </a:extLst>
              </p:cNvPr>
              <p:cNvSpPr/>
              <p:nvPr/>
            </p:nvSpPr>
            <p:spPr>
              <a:xfrm>
                <a:off x="-1" y="2667000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Pursuing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greedy strategy </a:t>
                </a:r>
                <a:r>
                  <a:rPr lang="en-US" sz="1600" dirty="0">
                    <a:solidFill>
                      <a:schemeClr val="tx1"/>
                    </a:solidFill>
                  </a:rPr>
                  <a:t>to minimize weight of MST, what can we say about the edges of cycle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2" name="Down Ribbon 47">
                <a:extLst>
                  <a:ext uri="{FF2B5EF4-FFF2-40B4-BE49-F238E27FC236}">
                    <a16:creationId xmlns:a16="http://schemas.microsoft.com/office/drawing/2014/main" id="{85583F0E-ACAB-3E5C-636D-8F5D885AF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667000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4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50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3200400" y="1295400"/>
            <a:ext cx="3505200" cy="1905000"/>
            <a:chOff x="3200400" y="1295400"/>
            <a:chExt cx="3505200" cy="1905000"/>
          </a:xfrm>
        </p:grpSpPr>
        <p:sp>
          <p:nvSpPr>
            <p:cNvPr id="5" name="Oval 4"/>
            <p:cNvSpPr/>
            <p:nvPr/>
          </p:nvSpPr>
          <p:spPr>
            <a:xfrm>
              <a:off x="40386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4191000" y="3124200"/>
                <a:ext cx="914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/>
              <p:cNvSpPr/>
              <p:nvPr/>
            </p:nvSpPr>
            <p:spPr>
              <a:xfrm>
                <a:off x="51054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>
                <a:stCxn id="16" idx="5"/>
                <a:endCxn id="5" idx="1"/>
              </p:cNvCxnSpPr>
              <p:nvPr/>
            </p:nvCxnSpPr>
            <p:spPr>
              <a:xfrm>
                <a:off x="3330482" y="2492282"/>
                <a:ext cx="730436" cy="5780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3657600" y="1600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4876800" y="1295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2004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16" idx="0"/>
              </p:cNvCxnSpPr>
              <p:nvPr/>
            </p:nvCxnSpPr>
            <p:spPr>
              <a:xfrm flipV="1">
                <a:off x="3276600" y="1752600"/>
                <a:ext cx="419100" cy="609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14" idx="7"/>
                <a:endCxn id="15" idx="2"/>
              </p:cNvCxnSpPr>
              <p:nvPr/>
            </p:nvCxnSpPr>
            <p:spPr>
              <a:xfrm flipV="1">
                <a:off x="3787682" y="1371600"/>
                <a:ext cx="10891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30" idx="1"/>
                <a:endCxn id="15" idx="6"/>
              </p:cNvCxnSpPr>
              <p:nvPr/>
            </p:nvCxnSpPr>
            <p:spPr>
              <a:xfrm flipH="1" flipV="1">
                <a:off x="5029200" y="1371600"/>
                <a:ext cx="1089118" cy="403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/>
              <p:cNvSpPr/>
              <p:nvPr/>
            </p:nvSpPr>
            <p:spPr>
              <a:xfrm>
                <a:off x="5867400" y="2743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6096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/>
              <p:cNvCxnSpPr>
                <a:stCxn id="29" idx="3"/>
                <a:endCxn id="7" idx="6"/>
              </p:cNvCxnSpPr>
              <p:nvPr/>
            </p:nvCxnSpPr>
            <p:spPr>
              <a:xfrm flipH="1">
                <a:off x="5257800" y="2873282"/>
                <a:ext cx="6319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30" idx="4"/>
                <a:endCxn id="111" idx="0"/>
              </p:cNvCxnSpPr>
              <p:nvPr/>
            </p:nvCxnSpPr>
            <p:spPr>
              <a:xfrm>
                <a:off x="6172200" y="1905000"/>
                <a:ext cx="457200" cy="533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11" idx="3"/>
                <a:endCxn id="29" idx="6"/>
              </p:cNvCxnSpPr>
              <p:nvPr/>
            </p:nvCxnSpPr>
            <p:spPr>
              <a:xfrm flipH="1">
                <a:off x="6019800" y="2568482"/>
                <a:ext cx="5557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/>
              <p:cNvSpPr/>
              <p:nvPr/>
            </p:nvSpPr>
            <p:spPr>
              <a:xfrm>
                <a:off x="6553200" y="2438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/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/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/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/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381000" y="3733800"/>
            <a:ext cx="7570177" cy="2819400"/>
            <a:chOff x="381000" y="3733800"/>
            <a:chExt cx="7570177" cy="2819400"/>
          </a:xfrm>
        </p:grpSpPr>
        <p:grpSp>
          <p:nvGrpSpPr>
            <p:cNvPr id="9" name="Group 8"/>
            <p:cNvGrpSpPr/>
            <p:nvPr/>
          </p:nvGrpSpPr>
          <p:grpSpPr>
            <a:xfrm>
              <a:off x="990600" y="3733800"/>
              <a:ext cx="6960577" cy="2819400"/>
              <a:chOff x="990600" y="3733800"/>
              <a:chExt cx="6960577" cy="2819400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990600" y="3733800"/>
                <a:ext cx="6960577" cy="2819400"/>
                <a:chOff x="990600" y="3733800"/>
                <a:chExt cx="6960577" cy="2819400"/>
              </a:xfrm>
            </p:grpSpPr>
            <p:grpSp>
              <p:nvGrpSpPr>
                <p:cNvPr id="89" name="Group 88"/>
                <p:cNvGrpSpPr/>
                <p:nvPr/>
              </p:nvGrpSpPr>
              <p:grpSpPr>
                <a:xfrm>
                  <a:off x="990600" y="3733800"/>
                  <a:ext cx="6960577" cy="2819400"/>
                  <a:chOff x="1421423" y="3733800"/>
                  <a:chExt cx="6960577" cy="2819400"/>
                </a:xfrm>
              </p:grpSpPr>
              <p:grpSp>
                <p:nvGrpSpPr>
                  <p:cNvPr id="48" name="Group 47"/>
                  <p:cNvGrpSpPr/>
                  <p:nvPr/>
                </p:nvGrpSpPr>
                <p:grpSpPr>
                  <a:xfrm>
                    <a:off x="1421423" y="3733800"/>
                    <a:ext cx="6960577" cy="2819400"/>
                    <a:chOff x="609600" y="1905000"/>
                    <a:chExt cx="7924800" cy="3048000"/>
                  </a:xfrm>
                </p:grpSpPr>
                <p:cxnSp>
                  <p:nvCxnSpPr>
                    <p:cNvPr id="49" name="Straight Connector 48"/>
                    <p:cNvCxnSpPr>
                      <a:stCxn id="54" idx="7"/>
                    </p:cNvCxnSpPr>
                    <p:nvPr/>
                  </p:nvCxnSpPr>
                  <p:spPr>
                    <a:xfrm flipV="1">
                      <a:off x="5387882" y="2133600"/>
                      <a:ext cx="898618" cy="555718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0" name="Group 49"/>
                    <p:cNvGrpSpPr/>
                    <p:nvPr/>
                  </p:nvGrpSpPr>
                  <p:grpSpPr>
                    <a:xfrm>
                      <a:off x="609600" y="1905000"/>
                      <a:ext cx="7924800" cy="3048000"/>
                      <a:chOff x="609600" y="1905000"/>
                      <a:chExt cx="7924800" cy="3048000"/>
                    </a:xfrm>
                  </p:grpSpPr>
                  <p:sp>
                    <p:nvSpPr>
                      <p:cNvPr id="51" name="Oval 50"/>
                      <p:cNvSpPr/>
                      <p:nvPr/>
                    </p:nvSpPr>
                    <p:spPr>
                      <a:xfrm>
                        <a:off x="2895600" y="4343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Oval 51"/>
                      <p:cNvSpPr/>
                      <p:nvPr/>
                    </p:nvSpPr>
                    <p:spPr>
                      <a:xfrm>
                        <a:off x="3200400" y="2971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3" name="Oval 52"/>
                      <p:cNvSpPr/>
                      <p:nvPr/>
                    </p:nvSpPr>
                    <p:spPr>
                      <a:xfrm>
                        <a:off x="5867400" y="3429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Oval 53"/>
                      <p:cNvSpPr/>
                      <p:nvPr/>
                    </p:nvSpPr>
                    <p:spPr>
                      <a:xfrm>
                        <a:off x="5257800" y="2667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Oval 55"/>
                      <p:cNvSpPr/>
                      <p:nvPr/>
                    </p:nvSpPr>
                    <p:spPr>
                      <a:xfrm>
                        <a:off x="22860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7" name="Straight Connector 56"/>
                      <p:cNvCxnSpPr>
                        <a:stCxn id="56" idx="7"/>
                        <a:endCxn id="52" idx="3"/>
                      </p:cNvCxnSpPr>
                      <p:nvPr/>
                    </p:nvCxnSpPr>
                    <p:spPr>
                      <a:xfrm flipV="1">
                        <a:off x="2416082" y="3101882"/>
                        <a:ext cx="806636" cy="654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/>
                      <p:cNvCxnSpPr>
                        <a:stCxn id="52" idx="6"/>
                        <a:endCxn id="85" idx="3"/>
                      </p:cNvCxnSpPr>
                      <p:nvPr/>
                    </p:nvCxnSpPr>
                    <p:spPr>
                      <a:xfrm flipV="1">
                        <a:off x="3352799" y="2776486"/>
                        <a:ext cx="800490" cy="27151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/>
                      <p:cNvCxnSpPr>
                        <a:stCxn id="54" idx="5"/>
                        <a:endCxn id="53" idx="0"/>
                      </p:cNvCxnSpPr>
                      <p:nvPr/>
                    </p:nvCxnSpPr>
                    <p:spPr>
                      <a:xfrm>
                        <a:off x="5387882" y="2797082"/>
                        <a:ext cx="555718" cy="6319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/>
                      <p:cNvCxnSpPr>
                        <a:stCxn id="51" idx="1"/>
                        <a:endCxn id="56" idx="5"/>
                      </p:cNvCxnSpPr>
                      <p:nvPr/>
                    </p:nvCxnSpPr>
                    <p:spPr>
                      <a:xfrm flipH="1" flipV="1">
                        <a:off x="2416082" y="3863882"/>
                        <a:ext cx="5018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/>
                      <p:cNvCxnSpPr>
                        <a:endCxn id="51" idx="6"/>
                      </p:cNvCxnSpPr>
                      <p:nvPr/>
                    </p:nvCxnSpPr>
                    <p:spPr>
                      <a:xfrm flipH="1" flipV="1">
                        <a:off x="3048000" y="4419600"/>
                        <a:ext cx="6319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/>
                      <p:cNvCxnSpPr>
                        <a:endCxn id="53" idx="3"/>
                      </p:cNvCxnSpPr>
                      <p:nvPr/>
                    </p:nvCxnSpPr>
                    <p:spPr>
                      <a:xfrm flipV="1">
                        <a:off x="5257800" y="3559082"/>
                        <a:ext cx="631918" cy="74038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/>
                      <p:cNvCxnSpPr>
                        <a:stCxn id="53" idx="6"/>
                        <a:endCxn id="65" idx="1"/>
                      </p:cNvCxnSpPr>
                      <p:nvPr/>
                    </p:nvCxnSpPr>
                    <p:spPr>
                      <a:xfrm>
                        <a:off x="6019800" y="3505200"/>
                        <a:ext cx="936718" cy="985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5" name="Oval 64"/>
                      <p:cNvSpPr/>
                      <p:nvPr/>
                    </p:nvSpPr>
                    <p:spPr>
                      <a:xfrm>
                        <a:off x="6934200" y="3581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6" name="Straight Connector 65"/>
                      <p:cNvCxnSpPr/>
                      <p:nvPr/>
                    </p:nvCxnSpPr>
                    <p:spPr>
                      <a:xfrm>
                        <a:off x="6400800" y="2133600"/>
                        <a:ext cx="1066800" cy="152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7" name="Oval 66"/>
                      <p:cNvSpPr/>
                      <p:nvPr/>
                    </p:nvSpPr>
                    <p:spPr>
                      <a:xfrm>
                        <a:off x="6248400" y="2057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Oval 67"/>
                      <p:cNvSpPr/>
                      <p:nvPr/>
                    </p:nvSpPr>
                    <p:spPr>
                      <a:xfrm>
                        <a:off x="7467600" y="2209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" name="Oval 68"/>
                      <p:cNvSpPr/>
                      <p:nvPr/>
                    </p:nvSpPr>
                    <p:spPr>
                      <a:xfrm>
                        <a:off x="2362200" y="23622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" name="Straight Connector 69"/>
                      <p:cNvCxnSpPr>
                        <a:stCxn id="69" idx="5"/>
                        <a:endCxn id="52" idx="1"/>
                      </p:cNvCxnSpPr>
                      <p:nvPr/>
                    </p:nvCxnSpPr>
                    <p:spPr>
                      <a:xfrm>
                        <a:off x="2492282" y="2492282"/>
                        <a:ext cx="7304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1" name="Oval 70"/>
                      <p:cNvSpPr/>
                      <p:nvPr/>
                    </p:nvSpPr>
                    <p:spPr>
                      <a:xfrm>
                        <a:off x="1295400" y="2133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2" name="Straight Connector 71"/>
                      <p:cNvCxnSpPr>
                        <a:stCxn id="71" idx="6"/>
                        <a:endCxn id="69" idx="1"/>
                      </p:cNvCxnSpPr>
                      <p:nvPr/>
                    </p:nvCxnSpPr>
                    <p:spPr>
                      <a:xfrm>
                        <a:off x="1447800" y="2209800"/>
                        <a:ext cx="9367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/>
                      <p:cNvCxnSpPr/>
                      <p:nvPr/>
                    </p:nvCxnSpPr>
                    <p:spPr>
                      <a:xfrm>
                        <a:off x="685800" y="3810000"/>
                        <a:ext cx="925559" cy="2667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/>
                      <p:cNvCxnSpPr>
                        <a:stCxn id="56" idx="3"/>
                        <a:endCxn id="76" idx="7"/>
                      </p:cNvCxnSpPr>
                      <p:nvPr/>
                    </p:nvCxnSpPr>
                    <p:spPr>
                      <a:xfrm flipH="1">
                        <a:off x="1730282" y="3863882"/>
                        <a:ext cx="578036" cy="1970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5" name="Oval 74"/>
                      <p:cNvSpPr/>
                      <p:nvPr/>
                    </p:nvSpPr>
                    <p:spPr>
                      <a:xfrm>
                        <a:off x="6096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Oval 75"/>
                      <p:cNvSpPr/>
                      <p:nvPr/>
                    </p:nvSpPr>
                    <p:spPr>
                      <a:xfrm>
                        <a:off x="1600200" y="4038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7" name="Straight Connector 76"/>
                      <p:cNvCxnSpPr>
                        <a:endCxn id="76" idx="3"/>
                      </p:cNvCxnSpPr>
                      <p:nvPr/>
                    </p:nvCxnSpPr>
                    <p:spPr>
                      <a:xfrm flipV="1">
                        <a:off x="990600" y="4168682"/>
                        <a:ext cx="631918" cy="69645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8" name="Oval 77"/>
                      <p:cNvSpPr/>
                      <p:nvPr/>
                    </p:nvSpPr>
                    <p:spPr>
                      <a:xfrm>
                        <a:off x="914400" y="4800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9" name="Straight Connector 78"/>
                      <p:cNvCxnSpPr>
                        <a:endCxn id="65" idx="6"/>
                      </p:cNvCxnSpPr>
                      <p:nvPr/>
                    </p:nvCxnSpPr>
                    <p:spPr>
                      <a:xfrm flipH="1" flipV="1">
                        <a:off x="7086600" y="3657600"/>
                        <a:ext cx="1219200" cy="533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Oval 79"/>
                      <p:cNvSpPr/>
                      <p:nvPr/>
                    </p:nvSpPr>
                    <p:spPr>
                      <a:xfrm>
                        <a:off x="8229600" y="4114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/>
                      <p:cNvSpPr/>
                      <p:nvPr/>
                    </p:nvSpPr>
                    <p:spPr>
                      <a:xfrm>
                        <a:off x="8382000" y="1905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2" name="Straight Connector 81"/>
                      <p:cNvCxnSpPr>
                        <a:stCxn id="81" idx="2"/>
                      </p:cNvCxnSpPr>
                      <p:nvPr/>
                    </p:nvCxnSpPr>
                    <p:spPr>
                      <a:xfrm flipH="1">
                        <a:off x="7620000" y="1981200"/>
                        <a:ext cx="762000" cy="273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83" name="Oval 82"/>
                  <p:cNvSpPr/>
                  <p:nvPr/>
                </p:nvSpPr>
                <p:spPr>
                  <a:xfrm>
                    <a:off x="4057143" y="61722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4" name="Straight Connector 83"/>
                  <p:cNvCxnSpPr/>
                  <p:nvPr/>
                </p:nvCxnSpPr>
                <p:spPr>
                  <a:xfrm>
                    <a:off x="4572000" y="4495800"/>
                    <a:ext cx="9144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Oval 84"/>
                  <p:cNvSpPr/>
                  <p:nvPr/>
                </p:nvSpPr>
                <p:spPr>
                  <a:xfrm>
                    <a:off x="4514343" y="44196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Oval 87"/>
                  <p:cNvSpPr/>
                  <p:nvPr/>
                </p:nvSpPr>
                <p:spPr>
                  <a:xfrm>
                    <a:off x="5410200" y="595503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3971836" y="4507468"/>
                  <a:ext cx="1362164" cy="369332"/>
                  <a:chOff x="3492376" y="4495800"/>
                  <a:chExt cx="1362164" cy="369332"/>
                </a:xfrm>
              </p:grpSpPr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3492376" y="4495800"/>
                    <a:ext cx="3064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u</a:t>
                    </a:r>
                  </a:p>
                </p:txBody>
              </p:sp>
              <p:sp>
                <p:nvSpPr>
                  <p:cNvPr id="92" name="TextBox 91"/>
                  <p:cNvSpPr txBox="1"/>
                  <p:nvPr/>
                </p:nvSpPr>
                <p:spPr>
                  <a:xfrm>
                    <a:off x="4560870" y="4495800"/>
                    <a:ext cx="2936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v</a:t>
                    </a:r>
                  </a:p>
                </p:txBody>
              </p:sp>
            </p:grpSp>
          </p:grpSp>
          <p:sp>
            <p:nvSpPr>
              <p:cNvPr id="8" name="TextBox 7"/>
              <p:cNvSpPr txBox="1"/>
              <p:nvPr/>
            </p:nvSpPr>
            <p:spPr>
              <a:xfrm>
                <a:off x="4592037" y="427703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9E2E8022-D9F6-6B8C-1FDB-BCB13E7261D2}"/>
                  </a:ext>
                </a:extLst>
              </p:cNvPr>
              <p:cNvSpPr/>
              <p:nvPr/>
            </p:nvSpPr>
            <p:spPr>
              <a:xfrm>
                <a:off x="-361825" y="1895238"/>
                <a:ext cx="3682537" cy="124618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We might like to replace (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600" dirty="0">
                    <a:solidFill>
                      <a:schemeClr val="tx1"/>
                    </a:solidFill>
                  </a:rPr>
                  <a:t>) by some edge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 But how to find such an edge ?</a:t>
                </a:r>
              </a:p>
            </p:txBody>
          </p:sp>
        </mc:Choice>
        <mc:Fallback xmlns=""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9E2E8022-D9F6-6B8C-1FDB-BCB13E726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1825" y="1895238"/>
                <a:ext cx="3682537" cy="124618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04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7" grpId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D0AF-E15A-91FC-A124-1877DB6F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B85E-F3E2-2DC8-CC8E-9B789666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D8513-0F15-AEA5-BB0D-AE354D3EA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2BFEE-0A8A-B80E-21D9-DB5671D6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6A8577-386D-45F0-169E-2A60CFC2032E}"/>
              </a:ext>
            </a:extLst>
          </p:cNvPr>
          <p:cNvGrpSpPr/>
          <p:nvPr/>
        </p:nvGrpSpPr>
        <p:grpSpPr>
          <a:xfrm>
            <a:off x="3200400" y="1295400"/>
            <a:ext cx="3505200" cy="1905000"/>
            <a:chOff x="3200400" y="1295400"/>
            <a:chExt cx="3505200" cy="1905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4271AD4-CFD4-FA33-9A24-77F312BDA9FA}"/>
                </a:ext>
              </a:extLst>
            </p:cNvPr>
            <p:cNvSpPr/>
            <p:nvPr/>
          </p:nvSpPr>
          <p:spPr>
            <a:xfrm>
              <a:off x="40386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A4F1536-F5CE-AF25-89F2-31A53FFFCBB4}"/>
                </a:ext>
              </a:extLst>
            </p:cNvPr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444CE4A2-58DA-8B18-F78A-9FFAF111573A}"/>
                  </a:ext>
                </a:extLst>
              </p:cNvPr>
              <p:cNvCxnSpPr/>
              <p:nvPr/>
            </p:nvCxnSpPr>
            <p:spPr>
              <a:xfrm>
                <a:off x="4191000" y="3124200"/>
                <a:ext cx="914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430F97A-8A3A-6789-F267-14C3784A73CB}"/>
                  </a:ext>
                </a:extLst>
              </p:cNvPr>
              <p:cNvSpPr/>
              <p:nvPr/>
            </p:nvSpPr>
            <p:spPr>
              <a:xfrm>
                <a:off x="51054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945D44E-D79C-F5E3-FF86-361AC55DE52F}"/>
                  </a:ext>
                </a:extLst>
              </p:cNvPr>
              <p:cNvCxnSpPr>
                <a:stCxn id="16" idx="5"/>
                <a:endCxn id="5" idx="1"/>
              </p:cNvCxnSpPr>
              <p:nvPr/>
            </p:nvCxnSpPr>
            <p:spPr>
              <a:xfrm>
                <a:off x="3330482" y="2492282"/>
                <a:ext cx="730436" cy="5780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20B2CC4-5778-881F-1629-87F817CB6382}"/>
                  </a:ext>
                </a:extLst>
              </p:cNvPr>
              <p:cNvSpPr/>
              <p:nvPr/>
            </p:nvSpPr>
            <p:spPr>
              <a:xfrm>
                <a:off x="3657600" y="1600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5F818EA-2870-0A8D-355D-1370A1C1F416}"/>
                  </a:ext>
                </a:extLst>
              </p:cNvPr>
              <p:cNvSpPr/>
              <p:nvPr/>
            </p:nvSpPr>
            <p:spPr>
              <a:xfrm>
                <a:off x="4876800" y="1295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3C19041-4F6F-B377-6474-C0AEC7CB9AA4}"/>
                  </a:ext>
                </a:extLst>
              </p:cNvPr>
              <p:cNvSpPr/>
              <p:nvPr/>
            </p:nvSpPr>
            <p:spPr>
              <a:xfrm>
                <a:off x="32004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0ECB6F-FA7B-88A7-51B3-41C6637CDDA5}"/>
                  </a:ext>
                </a:extLst>
              </p:cNvPr>
              <p:cNvCxnSpPr>
                <a:stCxn id="16" idx="0"/>
              </p:cNvCxnSpPr>
              <p:nvPr/>
            </p:nvCxnSpPr>
            <p:spPr>
              <a:xfrm flipV="1">
                <a:off x="3276600" y="1752600"/>
                <a:ext cx="419100" cy="609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6428141-A0E0-E403-043F-1F487B35056B}"/>
                  </a:ext>
                </a:extLst>
              </p:cNvPr>
              <p:cNvCxnSpPr>
                <a:stCxn id="14" idx="7"/>
                <a:endCxn id="15" idx="2"/>
              </p:cNvCxnSpPr>
              <p:nvPr/>
            </p:nvCxnSpPr>
            <p:spPr>
              <a:xfrm flipV="1">
                <a:off x="3787682" y="1371600"/>
                <a:ext cx="10891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B3D83A4-C526-F0CB-F12D-2EEF255A7E7E}"/>
                  </a:ext>
                </a:extLst>
              </p:cNvPr>
              <p:cNvCxnSpPr>
                <a:stCxn id="30" idx="1"/>
                <a:endCxn id="15" idx="6"/>
              </p:cNvCxnSpPr>
              <p:nvPr/>
            </p:nvCxnSpPr>
            <p:spPr>
              <a:xfrm flipH="1" flipV="1">
                <a:off x="5029200" y="1371600"/>
                <a:ext cx="1089118" cy="403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1B39214-8182-ECDD-C47B-C977F32A0E43}"/>
                  </a:ext>
                </a:extLst>
              </p:cNvPr>
              <p:cNvSpPr/>
              <p:nvPr/>
            </p:nvSpPr>
            <p:spPr>
              <a:xfrm>
                <a:off x="5867400" y="2743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BFA69D-CC1F-CFCF-1196-58F1AB735140}"/>
                  </a:ext>
                </a:extLst>
              </p:cNvPr>
              <p:cNvSpPr/>
              <p:nvPr/>
            </p:nvSpPr>
            <p:spPr>
              <a:xfrm>
                <a:off x="6096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1F180A6-B768-8A4A-4BA6-4577AD382A01}"/>
                  </a:ext>
                </a:extLst>
              </p:cNvPr>
              <p:cNvCxnSpPr>
                <a:stCxn id="29" idx="3"/>
                <a:endCxn id="7" idx="6"/>
              </p:cNvCxnSpPr>
              <p:nvPr/>
            </p:nvCxnSpPr>
            <p:spPr>
              <a:xfrm flipH="1">
                <a:off x="5257800" y="2873282"/>
                <a:ext cx="6319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EE29CA8-CCD5-3A97-BB10-82A21F7CF4E6}"/>
                  </a:ext>
                </a:extLst>
              </p:cNvPr>
              <p:cNvCxnSpPr>
                <a:stCxn id="30" idx="4"/>
                <a:endCxn id="111" idx="0"/>
              </p:cNvCxnSpPr>
              <p:nvPr/>
            </p:nvCxnSpPr>
            <p:spPr>
              <a:xfrm>
                <a:off x="6172200" y="1905000"/>
                <a:ext cx="457200" cy="533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D97A4F4-B628-2FFE-9057-68A30127F1EA}"/>
                  </a:ext>
                </a:extLst>
              </p:cNvPr>
              <p:cNvCxnSpPr>
                <a:stCxn id="111" idx="3"/>
                <a:endCxn id="29" idx="6"/>
              </p:cNvCxnSpPr>
              <p:nvPr/>
            </p:nvCxnSpPr>
            <p:spPr>
              <a:xfrm flipH="1">
                <a:off x="6019800" y="2568482"/>
                <a:ext cx="5557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5C2F604-F026-30F1-461A-E7832627F08A}"/>
                  </a:ext>
                </a:extLst>
              </p:cNvPr>
              <p:cNvSpPr/>
              <p:nvPr/>
            </p:nvSpPr>
            <p:spPr>
              <a:xfrm>
                <a:off x="6553200" y="2438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E62054-A89A-D649-6B27-1EEB5574FF22}"/>
              </a:ext>
            </a:extLst>
          </p:cNvPr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C6F330D-93D0-02F7-ACFD-E534528F7CDD}"/>
                </a:ext>
              </a:extLst>
            </p:cNvPr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2A13B81-323D-38D6-4A1C-53B7F4790D6B}"/>
                  </a:ext>
                </a:extLst>
              </p:cNvPr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146D6D7-BD47-6A70-9F89-6AB1D7E19533}"/>
                    </a:ext>
                  </a:extLst>
                </p:cNvPr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CD08D98-AA18-C60F-3B54-05478DA890E7}"/>
                    </a:ext>
                  </a:extLst>
                </p:cNvPr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102D174-3559-6144-94D1-C5BAFC569FC5}"/>
                  </a:ext>
                </a:extLst>
              </p:cNvPr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797715-157A-D67F-9CCF-F2203B08E11B}"/>
                  </a:ext>
                </a:extLst>
              </p:cNvPr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72A4E3A-1569-28F2-6C0C-B53EEF647740}"/>
                  </a:ext>
                </a:extLst>
              </p:cNvPr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219DF7C-44C1-2D07-20FE-33073915C0D0}"/>
                  </a:ext>
                </a:extLst>
              </p:cNvPr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52CC4F0-6F00-C66B-D145-73D1426AE534}"/>
                  </a:ext>
                </a:extLst>
              </p:cNvPr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92069B7-5028-D3D4-B514-EA9EFB446DCF}"/>
                </a:ext>
              </a:extLst>
            </p:cNvPr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FFD5611-0A29-DF8C-160A-E53445DC47B0}"/>
              </a:ext>
            </a:extLst>
          </p:cNvPr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4A5D770E-565E-4607-F9FF-164F51AC3693}"/>
                </a:ext>
              </a:extLst>
            </p:cNvPr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94D54B-DC88-6936-860C-7CE5D25B03C9}"/>
                  </a:ext>
                </a:extLst>
              </p:cNvPr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82B3218-B63E-7063-A0BF-5A2AC8840BE4}"/>
                  </a:ext>
                </a:extLst>
              </p:cNvPr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0487764-67ED-2C28-E202-1DD6D9C3F38B}"/>
                  </a:ext>
                </a:extLst>
              </p:cNvPr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F08B5B-6631-C00D-6EC6-FFB3D3D711F0}"/>
                  </a:ext>
                </a:extLst>
              </p:cNvPr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2708289-7535-3565-C6B0-23F31874234F}"/>
                  </a:ext>
                </a:extLst>
              </p:cNvPr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FDF3684-E21A-43B3-F42D-E1EF5018CF1A}"/>
                  </a:ext>
                </a:extLst>
              </p:cNvPr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0C62F96-6089-7101-518A-84C610DACF7A}"/>
                  </a:ext>
                </a:extLst>
              </p:cNvPr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77685B2-9A93-3662-A34B-C7AE9DC947DD}"/>
                </a:ext>
              </a:extLst>
            </p:cNvPr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50C38FF-7A66-4F1F-2647-FD82FF8C1A8C}"/>
                  </a:ext>
                </a:extLst>
              </p:cNvPr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41CA25D-A4CD-F8DF-DA8B-0F1B682F6347}"/>
              </a:ext>
            </a:extLst>
          </p:cNvPr>
          <p:cNvGrpSpPr/>
          <p:nvPr/>
        </p:nvGrpSpPr>
        <p:grpSpPr>
          <a:xfrm>
            <a:off x="381000" y="3733800"/>
            <a:ext cx="7570177" cy="2819400"/>
            <a:chOff x="381000" y="3733800"/>
            <a:chExt cx="7570177" cy="28194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86D099-88CB-C665-CEC0-34011BD1E918}"/>
                </a:ext>
              </a:extLst>
            </p:cNvPr>
            <p:cNvGrpSpPr/>
            <p:nvPr/>
          </p:nvGrpSpPr>
          <p:grpSpPr>
            <a:xfrm>
              <a:off x="990600" y="3733800"/>
              <a:ext cx="6960577" cy="2819400"/>
              <a:chOff x="990600" y="3733800"/>
              <a:chExt cx="6960577" cy="28194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32E1D7A0-08BC-2042-34DC-E938B2A7154F}"/>
                  </a:ext>
                </a:extLst>
              </p:cNvPr>
              <p:cNvGrpSpPr/>
              <p:nvPr/>
            </p:nvGrpSpPr>
            <p:grpSpPr>
              <a:xfrm>
                <a:off x="990600" y="3733800"/>
                <a:ext cx="6960577" cy="2819400"/>
                <a:chOff x="990600" y="3733800"/>
                <a:chExt cx="6960577" cy="2819400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E0B55C5-06A8-CDF6-863B-F6733B864CFE}"/>
                    </a:ext>
                  </a:extLst>
                </p:cNvPr>
                <p:cNvGrpSpPr/>
                <p:nvPr/>
              </p:nvGrpSpPr>
              <p:grpSpPr>
                <a:xfrm>
                  <a:off x="990600" y="3733800"/>
                  <a:ext cx="6960577" cy="2819400"/>
                  <a:chOff x="1421423" y="3733800"/>
                  <a:chExt cx="6960577" cy="281940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BEB5EBBD-CFB2-F448-70DB-DE0A020D7416}"/>
                      </a:ext>
                    </a:extLst>
                  </p:cNvPr>
                  <p:cNvGrpSpPr/>
                  <p:nvPr/>
                </p:nvGrpSpPr>
                <p:grpSpPr>
                  <a:xfrm>
                    <a:off x="1421423" y="3733800"/>
                    <a:ext cx="6960577" cy="2819400"/>
                    <a:chOff x="609600" y="1905000"/>
                    <a:chExt cx="7924800" cy="3048000"/>
                  </a:xfrm>
                </p:grpSpPr>
                <p:cxnSp>
                  <p:nvCxnSpPr>
                    <p:cNvPr id="49" name="Straight Connector 48">
                      <a:extLst>
                        <a:ext uri="{FF2B5EF4-FFF2-40B4-BE49-F238E27FC236}">
                          <a16:creationId xmlns:a16="http://schemas.microsoft.com/office/drawing/2014/main" id="{568D1534-2C10-6CCD-DAE5-1F4D98B932CD}"/>
                        </a:ext>
                      </a:extLst>
                    </p:cNvPr>
                    <p:cNvCxnSpPr>
                      <a:stCxn id="54" idx="7"/>
                    </p:cNvCxnSpPr>
                    <p:nvPr/>
                  </p:nvCxnSpPr>
                  <p:spPr>
                    <a:xfrm flipV="1">
                      <a:off x="5387882" y="2133600"/>
                      <a:ext cx="898618" cy="555718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0" name="Group 49">
                      <a:extLst>
                        <a:ext uri="{FF2B5EF4-FFF2-40B4-BE49-F238E27FC236}">
                          <a16:creationId xmlns:a16="http://schemas.microsoft.com/office/drawing/2014/main" id="{B3BA09EB-24A0-A94F-367E-677E4D1CCD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" y="1905000"/>
                      <a:ext cx="7924800" cy="3048000"/>
                      <a:chOff x="609600" y="1905000"/>
                      <a:chExt cx="7924800" cy="3048000"/>
                    </a:xfrm>
                  </p:grpSpPr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E31208A0-A2F0-C8E9-6B9A-9B514F65F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95600" y="4343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1DA3ACCB-B9E0-1DD1-AD74-B54E6A823A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00400" y="2971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C9ECCB6B-0C03-FBC8-279D-79D82CD5B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7400" y="3429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F3D6E32C-8249-ADBA-95F1-8233872F0E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57800" y="2667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E6C800AA-D46F-B417-F2A8-B166F7BB96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860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14783B80-D2BE-8A42-CD52-0E6299026F66}"/>
                          </a:ext>
                        </a:extLst>
                      </p:cNvPr>
                      <p:cNvCxnSpPr>
                        <a:stCxn id="56" idx="7"/>
                        <a:endCxn id="52" idx="3"/>
                      </p:cNvCxnSpPr>
                      <p:nvPr/>
                    </p:nvCxnSpPr>
                    <p:spPr>
                      <a:xfrm flipV="1">
                        <a:off x="2416082" y="3101882"/>
                        <a:ext cx="806636" cy="654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35ADC778-16D8-44BB-BDA8-C72D638C2B21}"/>
                          </a:ext>
                        </a:extLst>
                      </p:cNvPr>
                      <p:cNvCxnSpPr>
                        <a:stCxn id="52" idx="6"/>
                        <a:endCxn id="85" idx="3"/>
                      </p:cNvCxnSpPr>
                      <p:nvPr/>
                    </p:nvCxnSpPr>
                    <p:spPr>
                      <a:xfrm flipV="1">
                        <a:off x="3352799" y="2776486"/>
                        <a:ext cx="800490" cy="27151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27D7581D-307F-0F77-74C9-46E46C6752BA}"/>
                          </a:ext>
                        </a:extLst>
                      </p:cNvPr>
                      <p:cNvCxnSpPr>
                        <a:stCxn id="54" idx="5"/>
                        <a:endCxn id="53" idx="0"/>
                      </p:cNvCxnSpPr>
                      <p:nvPr/>
                    </p:nvCxnSpPr>
                    <p:spPr>
                      <a:xfrm>
                        <a:off x="5387882" y="2797082"/>
                        <a:ext cx="555718" cy="6319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A7292FE4-2125-C70B-D22F-1A003490CF6E}"/>
                          </a:ext>
                        </a:extLst>
                      </p:cNvPr>
                      <p:cNvCxnSpPr>
                        <a:stCxn id="51" idx="1"/>
                        <a:endCxn id="56" idx="5"/>
                      </p:cNvCxnSpPr>
                      <p:nvPr/>
                    </p:nvCxnSpPr>
                    <p:spPr>
                      <a:xfrm flipH="1" flipV="1">
                        <a:off x="2416082" y="3863882"/>
                        <a:ext cx="5018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DD100D5E-ED16-1A20-3660-3D9F1B95F99F}"/>
                          </a:ext>
                        </a:extLst>
                      </p:cNvPr>
                      <p:cNvCxnSpPr>
                        <a:endCxn id="51" idx="6"/>
                      </p:cNvCxnSpPr>
                      <p:nvPr/>
                    </p:nvCxnSpPr>
                    <p:spPr>
                      <a:xfrm flipH="1" flipV="1">
                        <a:off x="3048000" y="4419600"/>
                        <a:ext cx="6319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3372BE94-21B2-73F8-964D-B1817F9407A9}"/>
                          </a:ext>
                        </a:extLst>
                      </p:cNvPr>
                      <p:cNvCxnSpPr>
                        <a:endCxn id="53" idx="3"/>
                      </p:cNvCxnSpPr>
                      <p:nvPr/>
                    </p:nvCxnSpPr>
                    <p:spPr>
                      <a:xfrm flipV="1">
                        <a:off x="5257800" y="3559082"/>
                        <a:ext cx="631918" cy="74038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>
                        <a:extLst>
                          <a:ext uri="{FF2B5EF4-FFF2-40B4-BE49-F238E27FC236}">
                            <a16:creationId xmlns:a16="http://schemas.microsoft.com/office/drawing/2014/main" id="{8DD44F3F-44F8-06BF-B1D6-642CBE501666}"/>
                          </a:ext>
                        </a:extLst>
                      </p:cNvPr>
                      <p:cNvCxnSpPr>
                        <a:stCxn id="53" idx="6"/>
                        <a:endCxn id="65" idx="1"/>
                      </p:cNvCxnSpPr>
                      <p:nvPr/>
                    </p:nvCxnSpPr>
                    <p:spPr>
                      <a:xfrm>
                        <a:off x="6019800" y="3505200"/>
                        <a:ext cx="936718" cy="985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5" name="Oval 64">
                        <a:extLst>
                          <a:ext uri="{FF2B5EF4-FFF2-40B4-BE49-F238E27FC236}">
                            <a16:creationId xmlns:a16="http://schemas.microsoft.com/office/drawing/2014/main" id="{EFCE00A7-01E4-0B00-F02A-8EA8050C95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4200" y="3581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6" name="Straight Connector 65">
                        <a:extLst>
                          <a:ext uri="{FF2B5EF4-FFF2-40B4-BE49-F238E27FC236}">
                            <a16:creationId xmlns:a16="http://schemas.microsoft.com/office/drawing/2014/main" id="{A27DA8BF-9705-5DF1-6955-9F52182B6CA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400800" y="2133600"/>
                        <a:ext cx="1066800" cy="152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7" name="Oval 66">
                        <a:extLst>
                          <a:ext uri="{FF2B5EF4-FFF2-40B4-BE49-F238E27FC236}">
                            <a16:creationId xmlns:a16="http://schemas.microsoft.com/office/drawing/2014/main" id="{F5A017EE-62F2-E804-2962-2A6643CA1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48400" y="2057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Oval 67">
                        <a:extLst>
                          <a:ext uri="{FF2B5EF4-FFF2-40B4-BE49-F238E27FC236}">
                            <a16:creationId xmlns:a16="http://schemas.microsoft.com/office/drawing/2014/main" id="{1B64C6ED-FBE6-90C3-0982-D0E5E70229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67600" y="2209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" name="Oval 68">
                        <a:extLst>
                          <a:ext uri="{FF2B5EF4-FFF2-40B4-BE49-F238E27FC236}">
                            <a16:creationId xmlns:a16="http://schemas.microsoft.com/office/drawing/2014/main" id="{7A604B61-131D-C038-B8FC-A40DB9A2EB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62200" y="23622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" name="Straight Connector 69">
                        <a:extLst>
                          <a:ext uri="{FF2B5EF4-FFF2-40B4-BE49-F238E27FC236}">
                            <a16:creationId xmlns:a16="http://schemas.microsoft.com/office/drawing/2014/main" id="{16751336-950C-6559-3F48-6A868AD867FD}"/>
                          </a:ext>
                        </a:extLst>
                      </p:cNvPr>
                      <p:cNvCxnSpPr>
                        <a:stCxn id="69" idx="5"/>
                        <a:endCxn id="52" idx="1"/>
                      </p:cNvCxnSpPr>
                      <p:nvPr/>
                    </p:nvCxnSpPr>
                    <p:spPr>
                      <a:xfrm>
                        <a:off x="2492282" y="2492282"/>
                        <a:ext cx="7304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1" name="Oval 70">
                        <a:extLst>
                          <a:ext uri="{FF2B5EF4-FFF2-40B4-BE49-F238E27FC236}">
                            <a16:creationId xmlns:a16="http://schemas.microsoft.com/office/drawing/2014/main" id="{3E18E2BD-A5EE-CB12-E515-B515000B1D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95400" y="2133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2" name="Straight Connector 71">
                        <a:extLst>
                          <a:ext uri="{FF2B5EF4-FFF2-40B4-BE49-F238E27FC236}">
                            <a16:creationId xmlns:a16="http://schemas.microsoft.com/office/drawing/2014/main" id="{4EA267C5-61DD-5751-69D4-7A22305473AF}"/>
                          </a:ext>
                        </a:extLst>
                      </p:cNvPr>
                      <p:cNvCxnSpPr>
                        <a:stCxn id="71" idx="6"/>
                        <a:endCxn id="69" idx="1"/>
                      </p:cNvCxnSpPr>
                      <p:nvPr/>
                    </p:nvCxnSpPr>
                    <p:spPr>
                      <a:xfrm>
                        <a:off x="1447800" y="2209800"/>
                        <a:ext cx="9367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51EFB975-3146-3A5E-1DA0-EB804264EC9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85800" y="3810000"/>
                        <a:ext cx="925559" cy="2667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A138C503-01FF-0358-2CEB-2DD1F01B0E50}"/>
                          </a:ext>
                        </a:extLst>
                      </p:cNvPr>
                      <p:cNvCxnSpPr>
                        <a:stCxn id="56" idx="3"/>
                        <a:endCxn id="76" idx="7"/>
                      </p:cNvCxnSpPr>
                      <p:nvPr/>
                    </p:nvCxnSpPr>
                    <p:spPr>
                      <a:xfrm flipH="1">
                        <a:off x="1730282" y="3863882"/>
                        <a:ext cx="578036" cy="1970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5" name="Oval 74">
                        <a:extLst>
                          <a:ext uri="{FF2B5EF4-FFF2-40B4-BE49-F238E27FC236}">
                            <a16:creationId xmlns:a16="http://schemas.microsoft.com/office/drawing/2014/main" id="{9BAA6812-DB09-578C-C505-AAC1ABF3E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96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Oval 75">
                        <a:extLst>
                          <a:ext uri="{FF2B5EF4-FFF2-40B4-BE49-F238E27FC236}">
                            <a16:creationId xmlns:a16="http://schemas.microsoft.com/office/drawing/2014/main" id="{C711C276-6CEC-3557-85B2-DEDBA0A3E8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00200" y="4038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7" name="Straight Connector 76">
                        <a:extLst>
                          <a:ext uri="{FF2B5EF4-FFF2-40B4-BE49-F238E27FC236}">
                            <a16:creationId xmlns:a16="http://schemas.microsoft.com/office/drawing/2014/main" id="{EF747FCD-A272-2A50-20AC-7E5F65C8033C}"/>
                          </a:ext>
                        </a:extLst>
                      </p:cNvPr>
                      <p:cNvCxnSpPr>
                        <a:endCxn id="76" idx="3"/>
                      </p:cNvCxnSpPr>
                      <p:nvPr/>
                    </p:nvCxnSpPr>
                    <p:spPr>
                      <a:xfrm flipV="1">
                        <a:off x="990600" y="4168682"/>
                        <a:ext cx="631918" cy="69645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C3657A77-D81B-AD78-EDF1-B3DBC0A1C5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400" y="4800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07BF59C1-CD41-3550-219D-5EAA795D2006}"/>
                          </a:ext>
                        </a:extLst>
                      </p:cNvPr>
                      <p:cNvCxnSpPr>
                        <a:endCxn id="65" idx="6"/>
                      </p:cNvCxnSpPr>
                      <p:nvPr/>
                    </p:nvCxnSpPr>
                    <p:spPr>
                      <a:xfrm flipH="1" flipV="1">
                        <a:off x="7086600" y="3657600"/>
                        <a:ext cx="1219200" cy="533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AED4355A-9FE5-591F-069F-2D0F1B8244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9600" y="4114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FDF671D1-41A2-88C5-9948-B2F908BAE9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82000" y="1905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2" name="Straight Connector 81">
                        <a:extLst>
                          <a:ext uri="{FF2B5EF4-FFF2-40B4-BE49-F238E27FC236}">
                            <a16:creationId xmlns:a16="http://schemas.microsoft.com/office/drawing/2014/main" id="{767F561F-CA4A-C9E7-4CF0-9AA81C855EDC}"/>
                          </a:ext>
                        </a:extLst>
                      </p:cNvPr>
                      <p:cNvCxnSpPr>
                        <a:stCxn id="81" idx="2"/>
                      </p:cNvCxnSpPr>
                      <p:nvPr/>
                    </p:nvCxnSpPr>
                    <p:spPr>
                      <a:xfrm flipH="1">
                        <a:off x="7620000" y="1981200"/>
                        <a:ext cx="762000" cy="273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32D4B3F2-7DA0-B978-0387-5B57EE28B90B}"/>
                      </a:ext>
                    </a:extLst>
                  </p:cNvPr>
                  <p:cNvSpPr/>
                  <p:nvPr/>
                </p:nvSpPr>
                <p:spPr>
                  <a:xfrm>
                    <a:off x="4057143" y="61722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20A00478-CEB7-F73A-F3E2-95E23C367EE7}"/>
                      </a:ext>
                    </a:extLst>
                  </p:cNvPr>
                  <p:cNvCxnSpPr/>
                  <p:nvPr/>
                </p:nvCxnSpPr>
                <p:spPr>
                  <a:xfrm>
                    <a:off x="4572000" y="4495800"/>
                    <a:ext cx="9144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CD5A8EF2-BF20-0EC7-54EC-1EBBBAEFC96A}"/>
                      </a:ext>
                    </a:extLst>
                  </p:cNvPr>
                  <p:cNvSpPr/>
                  <p:nvPr/>
                </p:nvSpPr>
                <p:spPr>
                  <a:xfrm>
                    <a:off x="4514343" y="44196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BF732B90-D970-1047-200B-23EFE6AD7D88}"/>
                      </a:ext>
                    </a:extLst>
                  </p:cNvPr>
                  <p:cNvSpPr/>
                  <p:nvPr/>
                </p:nvSpPr>
                <p:spPr>
                  <a:xfrm>
                    <a:off x="5410200" y="595503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5234991-81E2-EB99-DA60-4D9EEBC01166}"/>
                    </a:ext>
                  </a:extLst>
                </p:cNvPr>
                <p:cNvGrpSpPr/>
                <p:nvPr/>
              </p:nvGrpSpPr>
              <p:grpSpPr>
                <a:xfrm>
                  <a:off x="3971836" y="4507468"/>
                  <a:ext cx="1362164" cy="369332"/>
                  <a:chOff x="3492376" y="4495800"/>
                  <a:chExt cx="1362164" cy="369332"/>
                </a:xfrm>
              </p:grpSpPr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AAB4182A-C40C-EAB0-81AF-93476623C698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376" y="4495800"/>
                    <a:ext cx="3064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u</a:t>
                    </a:r>
                  </a:p>
                </p:txBody>
              </p:sp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6FE30014-1640-51BC-D468-4D1D328F181B}"/>
                      </a:ext>
                    </a:extLst>
                  </p:cNvPr>
                  <p:cNvSpPr txBox="1"/>
                  <p:nvPr/>
                </p:nvSpPr>
                <p:spPr>
                  <a:xfrm>
                    <a:off x="4560870" y="4495800"/>
                    <a:ext cx="2936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v</a:t>
                    </a:r>
                  </a:p>
                </p:txBody>
              </p:sp>
            </p:grp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087902-06E0-80D0-6F58-E344FF06B899}"/>
                  </a:ext>
                </a:extLst>
              </p:cNvPr>
              <p:cNvSpPr txBox="1"/>
              <p:nvPr/>
            </p:nvSpPr>
            <p:spPr>
              <a:xfrm>
                <a:off x="4592037" y="427703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17431AE-BB8D-F236-F50D-8BF63A25DDCE}"/>
                    </a:ext>
                  </a:extLst>
                </p:cNvPr>
                <p:cNvSpPr txBox="1"/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0A0381-1FA7-6BFA-A1C7-67B432DBAAB8}"/>
              </a:ext>
            </a:extLst>
          </p:cNvPr>
          <p:cNvCxnSpPr/>
          <p:nvPr/>
        </p:nvCxnSpPr>
        <p:spPr>
          <a:xfrm flipV="1">
            <a:off x="3778553" y="1360855"/>
            <a:ext cx="1089118" cy="250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A6FBA6-133D-7127-F737-1362E5C07F67}"/>
              </a:ext>
            </a:extLst>
          </p:cNvPr>
          <p:cNvSpPr txBox="1"/>
          <p:nvPr/>
        </p:nvSpPr>
        <p:spPr>
          <a:xfrm>
            <a:off x="6559520" y="4964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47521-CC75-4F4D-DFE5-B849C69D2A64}"/>
              </a:ext>
            </a:extLst>
          </p:cNvPr>
          <p:cNvSpPr txBox="1"/>
          <p:nvPr/>
        </p:nvSpPr>
        <p:spPr>
          <a:xfrm>
            <a:off x="7686168" y="5458374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9C90F588-454A-ACE3-AEF5-1665FC436B7E}"/>
                  </a:ext>
                </a:extLst>
              </p:cNvPr>
              <p:cNvSpPr/>
              <p:nvPr/>
            </p:nvSpPr>
            <p:spPr>
              <a:xfrm>
                <a:off x="-377674" y="2096121"/>
                <a:ext cx="3784522" cy="975713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Some edge(s)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might already be present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9C90F588-454A-ACE3-AEF5-1665FC436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674" y="2096121"/>
                <a:ext cx="3784522" cy="975713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FA91BB4D-AF91-782D-200E-93503817DFA6}"/>
                  </a:ext>
                </a:extLst>
              </p:cNvPr>
              <p:cNvSpPr/>
              <p:nvPr/>
            </p:nvSpPr>
            <p:spPr>
              <a:xfrm>
                <a:off x="-377674" y="2096121"/>
                <a:ext cx="3784522" cy="1167985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Some edge(s)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might be not be present in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pesent</a:t>
                </a:r>
                <a:r>
                  <a:rPr lang="en-US" sz="16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But they can not be swapped with the heaviest edge. </a:t>
                </a:r>
              </a:p>
            </p:txBody>
          </p:sp>
        </mc:Choice>
        <mc:Fallback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FA91BB4D-AF91-782D-200E-93503817DF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674" y="2096121"/>
                <a:ext cx="3784522" cy="1167985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97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78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18" grpId="0" animBg="1"/>
      <p:bldP spid="18" grpId="1" animBg="1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4557-3096-9447-2C1C-D917F950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96B9-DF35-8701-22AA-3E29946C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F7207C-C841-0C5A-6C76-41E2167EB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65494-6949-E918-14C6-E0069051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D86A6D-CE97-21F7-E470-8ECB5C7C4964}"/>
              </a:ext>
            </a:extLst>
          </p:cNvPr>
          <p:cNvGrpSpPr/>
          <p:nvPr/>
        </p:nvGrpSpPr>
        <p:grpSpPr>
          <a:xfrm>
            <a:off x="3200400" y="1295400"/>
            <a:ext cx="3505200" cy="1905000"/>
            <a:chOff x="3200400" y="1295400"/>
            <a:chExt cx="3505200" cy="1905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B1DF9A6-15DA-5989-1C7F-8AFD85C07F0C}"/>
                </a:ext>
              </a:extLst>
            </p:cNvPr>
            <p:cNvSpPr/>
            <p:nvPr/>
          </p:nvSpPr>
          <p:spPr>
            <a:xfrm>
              <a:off x="40386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87B1930-876E-9DE1-577C-3769CCF34740}"/>
                </a:ext>
              </a:extLst>
            </p:cNvPr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53D219-A65F-7C2B-EA62-AE0434DD69C9}"/>
                  </a:ext>
                </a:extLst>
              </p:cNvPr>
              <p:cNvCxnSpPr/>
              <p:nvPr/>
            </p:nvCxnSpPr>
            <p:spPr>
              <a:xfrm>
                <a:off x="4191000" y="3124200"/>
                <a:ext cx="914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9BF5CEE-9D92-129F-811E-8166E2470E97}"/>
                  </a:ext>
                </a:extLst>
              </p:cNvPr>
              <p:cNvSpPr/>
              <p:nvPr/>
            </p:nvSpPr>
            <p:spPr>
              <a:xfrm>
                <a:off x="51054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81701D4-7A4D-4DCB-F992-533ADC25BAC9}"/>
                  </a:ext>
                </a:extLst>
              </p:cNvPr>
              <p:cNvCxnSpPr>
                <a:stCxn id="16" idx="5"/>
                <a:endCxn id="5" idx="1"/>
              </p:cNvCxnSpPr>
              <p:nvPr/>
            </p:nvCxnSpPr>
            <p:spPr>
              <a:xfrm>
                <a:off x="3330482" y="2492282"/>
                <a:ext cx="730436" cy="5780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347D32-6BF1-6673-AC4B-09BD25C4E03C}"/>
                  </a:ext>
                </a:extLst>
              </p:cNvPr>
              <p:cNvSpPr/>
              <p:nvPr/>
            </p:nvSpPr>
            <p:spPr>
              <a:xfrm>
                <a:off x="3657600" y="1600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E9899C6-2668-1C69-C65A-4E02AF9FF7F5}"/>
                  </a:ext>
                </a:extLst>
              </p:cNvPr>
              <p:cNvSpPr/>
              <p:nvPr/>
            </p:nvSpPr>
            <p:spPr>
              <a:xfrm>
                <a:off x="4876800" y="1295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FF13A70-9F79-9D4B-9306-8C2FEF21C96A}"/>
                  </a:ext>
                </a:extLst>
              </p:cNvPr>
              <p:cNvSpPr/>
              <p:nvPr/>
            </p:nvSpPr>
            <p:spPr>
              <a:xfrm>
                <a:off x="32004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330F4FB-3C62-4260-A6F7-E7837D111537}"/>
                  </a:ext>
                </a:extLst>
              </p:cNvPr>
              <p:cNvCxnSpPr>
                <a:stCxn id="16" idx="0"/>
              </p:cNvCxnSpPr>
              <p:nvPr/>
            </p:nvCxnSpPr>
            <p:spPr>
              <a:xfrm flipV="1">
                <a:off x="3276600" y="1752600"/>
                <a:ext cx="419100" cy="609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A801955-B3BF-DC14-D15C-7B346D36DFFF}"/>
                  </a:ext>
                </a:extLst>
              </p:cNvPr>
              <p:cNvCxnSpPr>
                <a:stCxn id="14" idx="7"/>
                <a:endCxn id="15" idx="2"/>
              </p:cNvCxnSpPr>
              <p:nvPr/>
            </p:nvCxnSpPr>
            <p:spPr>
              <a:xfrm flipV="1">
                <a:off x="3787682" y="1371600"/>
                <a:ext cx="10891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6D95A13-CDC5-BDDC-6218-3B543D92FCB4}"/>
                  </a:ext>
                </a:extLst>
              </p:cNvPr>
              <p:cNvCxnSpPr>
                <a:stCxn id="30" idx="1"/>
                <a:endCxn id="15" idx="6"/>
              </p:cNvCxnSpPr>
              <p:nvPr/>
            </p:nvCxnSpPr>
            <p:spPr>
              <a:xfrm flipH="1" flipV="1">
                <a:off x="5029200" y="1371600"/>
                <a:ext cx="1089118" cy="403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B80CEEA-B477-1525-F3C1-9AB091215A0F}"/>
                  </a:ext>
                </a:extLst>
              </p:cNvPr>
              <p:cNvSpPr/>
              <p:nvPr/>
            </p:nvSpPr>
            <p:spPr>
              <a:xfrm>
                <a:off x="5867400" y="2743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9BEB95E-1A26-5504-83F2-525978103F75}"/>
                  </a:ext>
                </a:extLst>
              </p:cNvPr>
              <p:cNvSpPr/>
              <p:nvPr/>
            </p:nvSpPr>
            <p:spPr>
              <a:xfrm>
                <a:off x="6096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403331C-E517-6D8A-2EF7-C4BA079465EB}"/>
                  </a:ext>
                </a:extLst>
              </p:cNvPr>
              <p:cNvCxnSpPr>
                <a:stCxn id="29" idx="3"/>
                <a:endCxn id="7" idx="6"/>
              </p:cNvCxnSpPr>
              <p:nvPr/>
            </p:nvCxnSpPr>
            <p:spPr>
              <a:xfrm flipH="1">
                <a:off x="5257800" y="2873282"/>
                <a:ext cx="6319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8383DFA-46AC-C9AE-A9DF-6C048720A38C}"/>
                  </a:ext>
                </a:extLst>
              </p:cNvPr>
              <p:cNvCxnSpPr>
                <a:stCxn id="30" idx="4"/>
                <a:endCxn id="111" idx="0"/>
              </p:cNvCxnSpPr>
              <p:nvPr/>
            </p:nvCxnSpPr>
            <p:spPr>
              <a:xfrm>
                <a:off x="6172200" y="1905000"/>
                <a:ext cx="457200" cy="533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5F99FD7-17E5-BB64-3B9C-7F6B07B24E78}"/>
                  </a:ext>
                </a:extLst>
              </p:cNvPr>
              <p:cNvCxnSpPr>
                <a:stCxn id="111" idx="3"/>
                <a:endCxn id="29" idx="6"/>
              </p:cNvCxnSpPr>
              <p:nvPr/>
            </p:nvCxnSpPr>
            <p:spPr>
              <a:xfrm flipH="1">
                <a:off x="6019800" y="2568482"/>
                <a:ext cx="5557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FC33E1DF-2C28-C7E8-8CAE-0EB97C3F53AF}"/>
                  </a:ext>
                </a:extLst>
              </p:cNvPr>
              <p:cNvSpPr/>
              <p:nvPr/>
            </p:nvSpPr>
            <p:spPr>
              <a:xfrm>
                <a:off x="6553200" y="2438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5606F1-0044-65E2-0B9A-0D30BFD15E08}"/>
              </a:ext>
            </a:extLst>
          </p:cNvPr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7BE790E-5589-56ED-1885-86D1E39F962A}"/>
                </a:ext>
              </a:extLst>
            </p:cNvPr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3D74B3F-B8A5-3DBD-86BF-860D61564AAD}"/>
                  </a:ext>
                </a:extLst>
              </p:cNvPr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A27F5F1-E160-5E53-DF45-B9C400823E28}"/>
                    </a:ext>
                  </a:extLst>
                </p:cNvPr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114E2AC-A09F-2973-F309-7730CB41B8D5}"/>
                    </a:ext>
                  </a:extLst>
                </p:cNvPr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2BA15B4-FA50-1F84-2E26-EE2827D73A1B}"/>
                  </a:ext>
                </a:extLst>
              </p:cNvPr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5C5252D-E071-D020-A11B-3B753F5EBF9C}"/>
                  </a:ext>
                </a:extLst>
              </p:cNvPr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942A3D0-3994-38DE-F545-98FC8A7B1097}"/>
                  </a:ext>
                </a:extLst>
              </p:cNvPr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BBE7B2E-BD49-3404-D731-2764F68A5BE1}"/>
                  </a:ext>
                </a:extLst>
              </p:cNvPr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67628C8-DCF0-B22F-8ECA-5F5608A0AA06}"/>
                  </a:ext>
                </a:extLst>
              </p:cNvPr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6F9830A-02F9-FFD8-1A1A-F3213116236C}"/>
                </a:ext>
              </a:extLst>
            </p:cNvPr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14FCE04-1A34-8CA9-E3A6-639E20D7FB22}"/>
              </a:ext>
            </a:extLst>
          </p:cNvPr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24B5FED-DB57-C973-41E1-617F1790B0A7}"/>
                </a:ext>
              </a:extLst>
            </p:cNvPr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05FF982-2281-AB8F-CB7F-A8628E1A071E}"/>
                  </a:ext>
                </a:extLst>
              </p:cNvPr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3D1CCC1-8176-DEB8-5ED9-CD174115ECA2}"/>
                  </a:ext>
                </a:extLst>
              </p:cNvPr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72FBE2C-035A-DE59-3390-CB02D769BBF6}"/>
                  </a:ext>
                </a:extLst>
              </p:cNvPr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2E344FD-BC49-C99A-96A6-0088591B6F16}"/>
                  </a:ext>
                </a:extLst>
              </p:cNvPr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1064EB-0362-30B0-C763-17E65DE2E36F}"/>
                  </a:ext>
                </a:extLst>
              </p:cNvPr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043B0A-FA73-306E-ACF3-CA41EADB0324}"/>
                  </a:ext>
                </a:extLst>
              </p:cNvPr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B6C5E9-2E8C-ABA7-0ACD-6E596B4BF0DA}"/>
                  </a:ext>
                </a:extLst>
              </p:cNvPr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15B078B-5010-6D23-5785-469141A5CDD5}"/>
                </a:ext>
              </a:extLst>
            </p:cNvPr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7645B37-112F-20C7-F234-CC8CA3D7D734}"/>
                  </a:ext>
                </a:extLst>
              </p:cNvPr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F7F20DD-4249-D788-5824-D8253B4E0A69}"/>
              </a:ext>
            </a:extLst>
          </p:cNvPr>
          <p:cNvGrpSpPr/>
          <p:nvPr/>
        </p:nvGrpSpPr>
        <p:grpSpPr>
          <a:xfrm>
            <a:off x="381000" y="3733800"/>
            <a:ext cx="7570177" cy="2819400"/>
            <a:chOff x="381000" y="3733800"/>
            <a:chExt cx="7570177" cy="28194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F44580B-4AF1-9DAD-3632-CBEFE2F23DF9}"/>
                </a:ext>
              </a:extLst>
            </p:cNvPr>
            <p:cNvGrpSpPr/>
            <p:nvPr/>
          </p:nvGrpSpPr>
          <p:grpSpPr>
            <a:xfrm>
              <a:off x="990600" y="3733800"/>
              <a:ext cx="6960577" cy="2819400"/>
              <a:chOff x="990600" y="3733800"/>
              <a:chExt cx="6960577" cy="28194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6003B23-3DF4-F501-E1F3-E0E22C255E75}"/>
                  </a:ext>
                </a:extLst>
              </p:cNvPr>
              <p:cNvGrpSpPr/>
              <p:nvPr/>
            </p:nvGrpSpPr>
            <p:grpSpPr>
              <a:xfrm>
                <a:off x="990600" y="3733800"/>
                <a:ext cx="6960577" cy="2819400"/>
                <a:chOff x="990600" y="3733800"/>
                <a:chExt cx="6960577" cy="2819400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BE813D70-F6AA-57BF-E41B-A58A4135A739}"/>
                    </a:ext>
                  </a:extLst>
                </p:cNvPr>
                <p:cNvGrpSpPr/>
                <p:nvPr/>
              </p:nvGrpSpPr>
              <p:grpSpPr>
                <a:xfrm>
                  <a:off x="990600" y="3733800"/>
                  <a:ext cx="6960577" cy="2819400"/>
                  <a:chOff x="1421423" y="3733800"/>
                  <a:chExt cx="6960577" cy="281940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40BF89E0-4741-8A73-9C4A-0DDD9CC44A68}"/>
                      </a:ext>
                    </a:extLst>
                  </p:cNvPr>
                  <p:cNvGrpSpPr/>
                  <p:nvPr/>
                </p:nvGrpSpPr>
                <p:grpSpPr>
                  <a:xfrm>
                    <a:off x="1421423" y="3733800"/>
                    <a:ext cx="6960577" cy="2819400"/>
                    <a:chOff x="609600" y="1905000"/>
                    <a:chExt cx="7924800" cy="3048000"/>
                  </a:xfrm>
                </p:grpSpPr>
                <p:cxnSp>
                  <p:nvCxnSpPr>
                    <p:cNvPr id="49" name="Straight Connector 48">
                      <a:extLst>
                        <a:ext uri="{FF2B5EF4-FFF2-40B4-BE49-F238E27FC236}">
                          <a16:creationId xmlns:a16="http://schemas.microsoft.com/office/drawing/2014/main" id="{6002CD52-35AF-8AC6-BE8E-5C8AAD246B74}"/>
                        </a:ext>
                      </a:extLst>
                    </p:cNvPr>
                    <p:cNvCxnSpPr>
                      <a:stCxn id="54" idx="7"/>
                    </p:cNvCxnSpPr>
                    <p:nvPr/>
                  </p:nvCxnSpPr>
                  <p:spPr>
                    <a:xfrm flipV="1">
                      <a:off x="5387882" y="2133600"/>
                      <a:ext cx="898618" cy="555718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0" name="Group 49">
                      <a:extLst>
                        <a:ext uri="{FF2B5EF4-FFF2-40B4-BE49-F238E27FC236}">
                          <a16:creationId xmlns:a16="http://schemas.microsoft.com/office/drawing/2014/main" id="{195CBE0C-828B-E680-4417-4A1168CC68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00" y="1905000"/>
                      <a:ext cx="7924800" cy="3048000"/>
                      <a:chOff x="609600" y="1905000"/>
                      <a:chExt cx="7924800" cy="3048000"/>
                    </a:xfrm>
                  </p:grpSpPr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A9A8D4D2-386C-5570-0AE5-20468EBA52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95600" y="4343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B82D3F43-CAE8-000F-801C-A18CE2E3DA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00400" y="2971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E61B0FFE-41F5-DFBD-5659-755151091E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7400" y="3429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2BFCC60A-5506-6E68-6558-5E80B287F2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57800" y="2667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FC120103-496F-A577-431E-D42A83C47D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860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49DAC93B-05A0-7106-6196-C9234D7797D2}"/>
                          </a:ext>
                        </a:extLst>
                      </p:cNvPr>
                      <p:cNvCxnSpPr>
                        <a:stCxn id="56" idx="7"/>
                        <a:endCxn id="52" idx="3"/>
                      </p:cNvCxnSpPr>
                      <p:nvPr/>
                    </p:nvCxnSpPr>
                    <p:spPr>
                      <a:xfrm flipV="1">
                        <a:off x="2416082" y="3101882"/>
                        <a:ext cx="806636" cy="654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7CF069AC-BEF2-76BB-2F04-EECCA772E041}"/>
                          </a:ext>
                        </a:extLst>
                      </p:cNvPr>
                      <p:cNvCxnSpPr>
                        <a:stCxn id="52" idx="6"/>
                        <a:endCxn id="85" idx="3"/>
                      </p:cNvCxnSpPr>
                      <p:nvPr/>
                    </p:nvCxnSpPr>
                    <p:spPr>
                      <a:xfrm flipV="1">
                        <a:off x="3352799" y="2776486"/>
                        <a:ext cx="800490" cy="27151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C382D242-3336-5ED4-D839-FDF934B214CF}"/>
                          </a:ext>
                        </a:extLst>
                      </p:cNvPr>
                      <p:cNvCxnSpPr>
                        <a:stCxn id="54" idx="5"/>
                        <a:endCxn id="53" idx="0"/>
                      </p:cNvCxnSpPr>
                      <p:nvPr/>
                    </p:nvCxnSpPr>
                    <p:spPr>
                      <a:xfrm>
                        <a:off x="5387882" y="2797082"/>
                        <a:ext cx="555718" cy="6319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B81633E8-8367-DA5D-B0A3-29A9ED7F7A26}"/>
                          </a:ext>
                        </a:extLst>
                      </p:cNvPr>
                      <p:cNvCxnSpPr>
                        <a:stCxn id="51" idx="1"/>
                        <a:endCxn id="56" idx="5"/>
                      </p:cNvCxnSpPr>
                      <p:nvPr/>
                    </p:nvCxnSpPr>
                    <p:spPr>
                      <a:xfrm flipH="1" flipV="1">
                        <a:off x="2416082" y="3863882"/>
                        <a:ext cx="5018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2836225F-8E0A-8E63-AB77-C795E610AD70}"/>
                          </a:ext>
                        </a:extLst>
                      </p:cNvPr>
                      <p:cNvCxnSpPr>
                        <a:endCxn id="51" idx="6"/>
                      </p:cNvCxnSpPr>
                      <p:nvPr/>
                    </p:nvCxnSpPr>
                    <p:spPr>
                      <a:xfrm flipH="1" flipV="1">
                        <a:off x="3048000" y="4419600"/>
                        <a:ext cx="6319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4E66D744-1DCD-5152-4846-221E5E5E306B}"/>
                          </a:ext>
                        </a:extLst>
                      </p:cNvPr>
                      <p:cNvCxnSpPr>
                        <a:endCxn id="53" idx="3"/>
                      </p:cNvCxnSpPr>
                      <p:nvPr/>
                    </p:nvCxnSpPr>
                    <p:spPr>
                      <a:xfrm flipV="1">
                        <a:off x="5257800" y="3559082"/>
                        <a:ext cx="631918" cy="74038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>
                        <a:extLst>
                          <a:ext uri="{FF2B5EF4-FFF2-40B4-BE49-F238E27FC236}">
                            <a16:creationId xmlns:a16="http://schemas.microsoft.com/office/drawing/2014/main" id="{5110185C-A135-E575-76C2-EE820500F434}"/>
                          </a:ext>
                        </a:extLst>
                      </p:cNvPr>
                      <p:cNvCxnSpPr>
                        <a:stCxn id="53" idx="6"/>
                        <a:endCxn id="65" idx="1"/>
                      </p:cNvCxnSpPr>
                      <p:nvPr/>
                    </p:nvCxnSpPr>
                    <p:spPr>
                      <a:xfrm>
                        <a:off x="6019800" y="3505200"/>
                        <a:ext cx="936718" cy="985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5" name="Oval 64">
                        <a:extLst>
                          <a:ext uri="{FF2B5EF4-FFF2-40B4-BE49-F238E27FC236}">
                            <a16:creationId xmlns:a16="http://schemas.microsoft.com/office/drawing/2014/main" id="{1FEBB13B-6401-4B16-58BC-48B7D98C1F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4200" y="3581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6" name="Straight Connector 65">
                        <a:extLst>
                          <a:ext uri="{FF2B5EF4-FFF2-40B4-BE49-F238E27FC236}">
                            <a16:creationId xmlns:a16="http://schemas.microsoft.com/office/drawing/2014/main" id="{A911E010-700C-DBD0-8473-390702D0E21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400800" y="2133600"/>
                        <a:ext cx="1066800" cy="152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7" name="Oval 66">
                        <a:extLst>
                          <a:ext uri="{FF2B5EF4-FFF2-40B4-BE49-F238E27FC236}">
                            <a16:creationId xmlns:a16="http://schemas.microsoft.com/office/drawing/2014/main" id="{2A9BBEA1-D40D-DD17-97BE-35647D64CA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48400" y="2057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Oval 67">
                        <a:extLst>
                          <a:ext uri="{FF2B5EF4-FFF2-40B4-BE49-F238E27FC236}">
                            <a16:creationId xmlns:a16="http://schemas.microsoft.com/office/drawing/2014/main" id="{94F8ECD4-DDCF-5CF7-9770-796A43DC7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67600" y="2209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" name="Oval 68">
                        <a:extLst>
                          <a:ext uri="{FF2B5EF4-FFF2-40B4-BE49-F238E27FC236}">
                            <a16:creationId xmlns:a16="http://schemas.microsoft.com/office/drawing/2014/main" id="{823B9CB9-7184-442E-6387-B5B7AF7F90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62200" y="23622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" name="Straight Connector 69">
                        <a:extLst>
                          <a:ext uri="{FF2B5EF4-FFF2-40B4-BE49-F238E27FC236}">
                            <a16:creationId xmlns:a16="http://schemas.microsoft.com/office/drawing/2014/main" id="{2E2182EC-0A31-8259-0BFF-827783B2C9E8}"/>
                          </a:ext>
                        </a:extLst>
                      </p:cNvPr>
                      <p:cNvCxnSpPr>
                        <a:stCxn id="69" idx="5"/>
                        <a:endCxn id="52" idx="1"/>
                      </p:cNvCxnSpPr>
                      <p:nvPr/>
                    </p:nvCxnSpPr>
                    <p:spPr>
                      <a:xfrm>
                        <a:off x="2492282" y="2492282"/>
                        <a:ext cx="7304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1" name="Oval 70">
                        <a:extLst>
                          <a:ext uri="{FF2B5EF4-FFF2-40B4-BE49-F238E27FC236}">
                            <a16:creationId xmlns:a16="http://schemas.microsoft.com/office/drawing/2014/main" id="{A142C401-BFB2-C26A-618A-D252EF990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95400" y="2133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2" name="Straight Connector 71">
                        <a:extLst>
                          <a:ext uri="{FF2B5EF4-FFF2-40B4-BE49-F238E27FC236}">
                            <a16:creationId xmlns:a16="http://schemas.microsoft.com/office/drawing/2014/main" id="{2625A504-C4BE-C126-4579-AFD0BE589DA8}"/>
                          </a:ext>
                        </a:extLst>
                      </p:cNvPr>
                      <p:cNvCxnSpPr>
                        <a:stCxn id="71" idx="6"/>
                        <a:endCxn id="69" idx="1"/>
                      </p:cNvCxnSpPr>
                      <p:nvPr/>
                    </p:nvCxnSpPr>
                    <p:spPr>
                      <a:xfrm>
                        <a:off x="1447800" y="2209800"/>
                        <a:ext cx="9367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1EB1BE2B-8361-CBF6-22C9-ABE72F5679E7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85800" y="3810000"/>
                        <a:ext cx="925559" cy="2667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B47947D0-F318-3DAA-C29D-194E4A52455B}"/>
                          </a:ext>
                        </a:extLst>
                      </p:cNvPr>
                      <p:cNvCxnSpPr>
                        <a:stCxn id="56" idx="3"/>
                        <a:endCxn id="76" idx="7"/>
                      </p:cNvCxnSpPr>
                      <p:nvPr/>
                    </p:nvCxnSpPr>
                    <p:spPr>
                      <a:xfrm flipH="1">
                        <a:off x="1730282" y="3863882"/>
                        <a:ext cx="578036" cy="1970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5" name="Oval 74">
                        <a:extLst>
                          <a:ext uri="{FF2B5EF4-FFF2-40B4-BE49-F238E27FC236}">
                            <a16:creationId xmlns:a16="http://schemas.microsoft.com/office/drawing/2014/main" id="{EBFB6E67-77CF-FC40-C9F0-D5AA63A74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96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Oval 75">
                        <a:extLst>
                          <a:ext uri="{FF2B5EF4-FFF2-40B4-BE49-F238E27FC236}">
                            <a16:creationId xmlns:a16="http://schemas.microsoft.com/office/drawing/2014/main" id="{7025D234-B3C5-2C00-22B5-9F52E2141D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00200" y="4038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7" name="Straight Connector 76">
                        <a:extLst>
                          <a:ext uri="{FF2B5EF4-FFF2-40B4-BE49-F238E27FC236}">
                            <a16:creationId xmlns:a16="http://schemas.microsoft.com/office/drawing/2014/main" id="{65CDFE93-19B2-1626-6098-402B939B5F3B}"/>
                          </a:ext>
                        </a:extLst>
                      </p:cNvPr>
                      <p:cNvCxnSpPr>
                        <a:endCxn id="76" idx="3"/>
                      </p:cNvCxnSpPr>
                      <p:nvPr/>
                    </p:nvCxnSpPr>
                    <p:spPr>
                      <a:xfrm flipV="1">
                        <a:off x="990600" y="4168682"/>
                        <a:ext cx="631918" cy="69645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ED07A681-C5CC-9E31-6701-60C34555DB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400" y="4800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183DB7E4-D646-427F-E6CE-D19B3397A622}"/>
                          </a:ext>
                        </a:extLst>
                      </p:cNvPr>
                      <p:cNvCxnSpPr>
                        <a:endCxn id="65" idx="6"/>
                      </p:cNvCxnSpPr>
                      <p:nvPr/>
                    </p:nvCxnSpPr>
                    <p:spPr>
                      <a:xfrm flipH="1" flipV="1">
                        <a:off x="7086600" y="3657600"/>
                        <a:ext cx="1219200" cy="533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FFEC20D-4ACB-57CB-5216-54952661FA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9600" y="4114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8AA9CFA7-DFAA-9BB0-0829-5BEF9653E7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82000" y="1905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2" name="Straight Connector 81">
                        <a:extLst>
                          <a:ext uri="{FF2B5EF4-FFF2-40B4-BE49-F238E27FC236}">
                            <a16:creationId xmlns:a16="http://schemas.microsoft.com/office/drawing/2014/main" id="{B1F3213B-3F9E-508D-EFA4-2074C4933383}"/>
                          </a:ext>
                        </a:extLst>
                      </p:cNvPr>
                      <p:cNvCxnSpPr>
                        <a:stCxn id="81" idx="2"/>
                      </p:cNvCxnSpPr>
                      <p:nvPr/>
                    </p:nvCxnSpPr>
                    <p:spPr>
                      <a:xfrm flipH="1">
                        <a:off x="7620000" y="1981200"/>
                        <a:ext cx="762000" cy="273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3FC5AE64-A5F6-9C81-25F9-335E0DA408E8}"/>
                      </a:ext>
                    </a:extLst>
                  </p:cNvPr>
                  <p:cNvSpPr/>
                  <p:nvPr/>
                </p:nvSpPr>
                <p:spPr>
                  <a:xfrm>
                    <a:off x="4057143" y="61722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B014963B-D949-3423-92D0-71097209B6FC}"/>
                      </a:ext>
                    </a:extLst>
                  </p:cNvPr>
                  <p:cNvCxnSpPr/>
                  <p:nvPr/>
                </p:nvCxnSpPr>
                <p:spPr>
                  <a:xfrm>
                    <a:off x="4572000" y="4495800"/>
                    <a:ext cx="9144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C6B6D439-2FC8-1B48-DE28-2A11363B8BD3}"/>
                      </a:ext>
                    </a:extLst>
                  </p:cNvPr>
                  <p:cNvSpPr/>
                  <p:nvPr/>
                </p:nvSpPr>
                <p:spPr>
                  <a:xfrm>
                    <a:off x="4514343" y="44196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FDD498CF-CD06-8F65-02A9-11790BA41C3F}"/>
                      </a:ext>
                    </a:extLst>
                  </p:cNvPr>
                  <p:cNvSpPr/>
                  <p:nvPr/>
                </p:nvSpPr>
                <p:spPr>
                  <a:xfrm>
                    <a:off x="5410200" y="595503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4A937E5D-8C00-06B0-B187-0B50DE69D2F1}"/>
                    </a:ext>
                  </a:extLst>
                </p:cNvPr>
                <p:cNvGrpSpPr/>
                <p:nvPr/>
              </p:nvGrpSpPr>
              <p:grpSpPr>
                <a:xfrm>
                  <a:off x="3971836" y="4507468"/>
                  <a:ext cx="1362164" cy="369332"/>
                  <a:chOff x="3492376" y="4495800"/>
                  <a:chExt cx="1362164" cy="369332"/>
                </a:xfrm>
              </p:grpSpPr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C105C35C-3A98-4814-5095-D04012ACB61E}"/>
                      </a:ext>
                    </a:extLst>
                  </p:cNvPr>
                  <p:cNvSpPr txBox="1"/>
                  <p:nvPr/>
                </p:nvSpPr>
                <p:spPr>
                  <a:xfrm>
                    <a:off x="3492376" y="4495800"/>
                    <a:ext cx="3064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u</a:t>
                    </a:r>
                  </a:p>
                </p:txBody>
              </p:sp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5C329FF7-E9CC-558D-4322-4C3D69300924}"/>
                      </a:ext>
                    </a:extLst>
                  </p:cNvPr>
                  <p:cNvSpPr txBox="1"/>
                  <p:nvPr/>
                </p:nvSpPr>
                <p:spPr>
                  <a:xfrm>
                    <a:off x="4560870" y="4495800"/>
                    <a:ext cx="2936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v</a:t>
                    </a:r>
                  </a:p>
                </p:txBody>
              </p:sp>
            </p:grp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587DB-6674-12AC-AA31-AE6B50DFF39D}"/>
                  </a:ext>
                </a:extLst>
              </p:cNvPr>
              <p:cNvSpPr txBox="1"/>
              <p:nvPr/>
            </p:nvSpPr>
            <p:spPr>
              <a:xfrm>
                <a:off x="4592037" y="427703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D8AF79-C82F-CBA8-F07B-CAB1F9695226}"/>
                    </a:ext>
                  </a:extLst>
                </p:cNvPr>
                <p:cNvSpPr txBox="1"/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2CBDA9F-A441-0E86-2F4B-A6E7F07A7F0A}"/>
              </a:ext>
            </a:extLst>
          </p:cNvPr>
          <p:cNvSpPr txBox="1"/>
          <p:nvPr/>
        </p:nvSpPr>
        <p:spPr>
          <a:xfrm>
            <a:off x="1649496" y="53982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4D6B4F-4343-E780-4765-E8DB1EB517D0}"/>
              </a:ext>
            </a:extLst>
          </p:cNvPr>
          <p:cNvSpPr txBox="1"/>
          <p:nvPr/>
        </p:nvSpPr>
        <p:spPr>
          <a:xfrm>
            <a:off x="2249111" y="4067937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0CD4DD-7AD3-91E1-D084-EF0BF866864F}"/>
              </a:ext>
            </a:extLst>
          </p:cNvPr>
          <p:cNvCxnSpPr>
            <a:cxnSpLocks/>
            <a:endCxn id="69" idx="3"/>
          </p:cNvCxnSpPr>
          <p:nvPr/>
        </p:nvCxnSpPr>
        <p:spPr>
          <a:xfrm flipV="1">
            <a:off x="1919428" y="4277035"/>
            <a:ext cx="630133" cy="1430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ADF84E63-47A6-808F-AA37-378409FDCFF6}"/>
                  </a:ext>
                </a:extLst>
              </p:cNvPr>
              <p:cNvSpPr/>
              <p:nvPr/>
            </p:nvSpPr>
            <p:spPr>
              <a:xfrm>
                <a:off x="-377674" y="2096121"/>
                <a:ext cx="3784522" cy="1167985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Some edge(s)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might be not be present in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pesent</a:t>
                </a:r>
                <a:r>
                  <a:rPr lang="en-US" sz="16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But they can not be swapped with the heaviest edge. </a:t>
                </a:r>
              </a:p>
            </p:txBody>
          </p:sp>
        </mc:Choice>
        <mc:Fallback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ADF84E63-47A6-808F-AA37-378409FDC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674" y="2096121"/>
                <a:ext cx="3784522" cy="1167985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 b="-97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loud Callout 20">
            <a:extLst>
              <a:ext uri="{FF2B5EF4-FFF2-40B4-BE49-F238E27FC236}">
                <a16:creationId xmlns:a16="http://schemas.microsoft.com/office/drawing/2014/main" id="{5CB7ECE3-5F02-8F4A-9174-B195C8BEF8F1}"/>
              </a:ext>
            </a:extLst>
          </p:cNvPr>
          <p:cNvSpPr/>
          <p:nvPr/>
        </p:nvSpPr>
        <p:spPr>
          <a:xfrm>
            <a:off x="4781551" y="1804120"/>
            <a:ext cx="5029199" cy="1219201"/>
          </a:xfrm>
          <a:prstGeom prst="cloudCallout">
            <a:avLst>
              <a:gd name="adj1" fmla="val 14592"/>
              <a:gd name="adj2" fmla="val 8871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find the edge that </a:t>
            </a:r>
            <a:r>
              <a:rPr lang="en-US" dirty="0" err="1">
                <a:solidFill>
                  <a:schemeClr val="tx1"/>
                </a:solidFill>
              </a:rPr>
              <a:t>canbe</a:t>
            </a:r>
            <a:r>
              <a:rPr lang="en-US" dirty="0">
                <a:solidFill>
                  <a:schemeClr val="tx1"/>
                </a:solidFill>
              </a:rPr>
              <a:t> swapped with the heaviest edge to get a spanning tree 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34193-5B37-CAF5-4517-6ED274368455}"/>
              </a:ext>
            </a:extLst>
          </p:cNvPr>
          <p:cNvSpPr txBox="1"/>
          <p:nvPr/>
        </p:nvSpPr>
        <p:spPr>
          <a:xfrm>
            <a:off x="2487387" y="6425295"/>
            <a:ext cx="52440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shall use some graph theory to address this issue.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778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  <p:bldP spid="23" grpId="0" animBg="1"/>
      <p:bldP spid="23" grpId="1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Fundamental Cycles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4102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Definition: </a:t>
            </a:r>
            <a:r>
              <a:rPr lang="en-US" sz="1800" dirty="0"/>
              <a:t>For an undirected graph 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E</a:t>
            </a:r>
            <a:r>
              <a:rPr lang="en-US" sz="1800" dirty="0"/>
              <a:t>), </a:t>
            </a:r>
          </a:p>
          <a:p>
            <a:pPr marL="0" indent="0">
              <a:buNone/>
            </a:pPr>
            <a:r>
              <a:rPr lang="en-US" sz="1800" dirty="0"/>
              <a:t>A spanning tree is a </a:t>
            </a:r>
            <a:r>
              <a:rPr lang="en-US" sz="1800" b="1" dirty="0" err="1"/>
              <a:t>subgraph</a:t>
            </a:r>
            <a:r>
              <a:rPr lang="en-US" sz="1800" dirty="0"/>
              <a:t> 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E’</a:t>
            </a:r>
            <a:r>
              <a:rPr lang="en-US" sz="1800" dirty="0"/>
              <a:t>), </a:t>
            </a:r>
            <a:r>
              <a:rPr lang="en-US" sz="1800" b="1" dirty="0">
                <a:solidFill>
                  <a:srgbClr val="0070C0"/>
                </a:solidFill>
              </a:rPr>
              <a:t>E’ </a:t>
            </a:r>
            <a:r>
              <a:rPr lang="en-US" sz="1800" b="1" dirty="0">
                <a:latin typeface="Cambria Math"/>
                <a:ea typeface="Cambria Math"/>
              </a:rPr>
              <a:t>⊆</a:t>
            </a:r>
            <a:r>
              <a:rPr lang="en-US" sz="1800" b="1" dirty="0">
                <a:solidFill>
                  <a:srgbClr val="0070C0"/>
                </a:solidFill>
              </a:rPr>
              <a:t> E </a:t>
            </a:r>
            <a:r>
              <a:rPr lang="en-US" sz="1800" dirty="0"/>
              <a:t>which is a tree.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A07BF9-9830-2A4D-85CB-1CF8DCB58ECA}"/>
              </a:ext>
            </a:extLst>
          </p:cNvPr>
          <p:cNvSpPr/>
          <p:nvPr/>
        </p:nvSpPr>
        <p:spPr>
          <a:xfrm>
            <a:off x="3945194" y="1430992"/>
            <a:ext cx="290673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943F7E-FC68-E44E-8A25-729DB7A6E7B0}"/>
              </a:ext>
            </a:extLst>
          </p:cNvPr>
          <p:cNvGrpSpPr/>
          <p:nvPr/>
        </p:nvGrpSpPr>
        <p:grpSpPr>
          <a:xfrm>
            <a:off x="1295400" y="2438400"/>
            <a:ext cx="6140636" cy="2689318"/>
            <a:chOff x="1295400" y="3101882"/>
            <a:chExt cx="6140636" cy="268931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47FB80-8802-C845-89DA-D3E05DB5F89B}"/>
                </a:ext>
              </a:extLst>
            </p:cNvPr>
            <p:cNvCxnSpPr/>
            <p:nvPr/>
          </p:nvCxnSpPr>
          <p:spPr>
            <a:xfrm>
              <a:off x="1470118" y="3482882"/>
              <a:ext cx="1295400" cy="152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1A5F217-B894-3D42-B2C9-A06C7F297E38}"/>
                </a:ext>
              </a:extLst>
            </p:cNvPr>
            <p:cNvCxnSpPr/>
            <p:nvPr/>
          </p:nvCxnSpPr>
          <p:spPr>
            <a:xfrm>
              <a:off x="2841718" y="3711482"/>
              <a:ext cx="403318" cy="936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8CE425-E9B2-0446-811A-B45A07690A2A}"/>
                </a:ext>
              </a:extLst>
            </p:cNvPr>
            <p:cNvCxnSpPr/>
            <p:nvPr/>
          </p:nvCxnSpPr>
          <p:spPr>
            <a:xfrm flipH="1">
              <a:off x="2232118" y="4755964"/>
              <a:ext cx="1012918" cy="784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36F722-F1E1-EF44-B28E-76569D17DC16}"/>
                </a:ext>
              </a:extLst>
            </p:cNvPr>
            <p:cNvCxnSpPr/>
            <p:nvPr/>
          </p:nvCxnSpPr>
          <p:spPr>
            <a:xfrm>
              <a:off x="4191000" y="3155764"/>
              <a:ext cx="1035236" cy="273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C60F7DE-34E4-0F44-ACF5-8E4AD8DA865E}"/>
                </a:ext>
              </a:extLst>
            </p:cNvPr>
            <p:cNvCxnSpPr/>
            <p:nvPr/>
          </p:nvCxnSpPr>
          <p:spPr>
            <a:xfrm flipH="1">
              <a:off x="3070318" y="4755964"/>
              <a:ext cx="282482" cy="1012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DF832F-435E-A846-B8EC-9745373F9BE2}"/>
                </a:ext>
              </a:extLst>
            </p:cNvPr>
            <p:cNvCxnSpPr/>
            <p:nvPr/>
          </p:nvCxnSpPr>
          <p:spPr>
            <a:xfrm flipV="1">
              <a:off x="2895600" y="3101882"/>
              <a:ext cx="1165318" cy="479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F63538-E40F-734D-975F-F477FFC51F5C}"/>
                </a:ext>
              </a:extLst>
            </p:cNvPr>
            <p:cNvCxnSpPr/>
            <p:nvPr/>
          </p:nvCxnSpPr>
          <p:spPr>
            <a:xfrm flipV="1">
              <a:off x="5356318" y="32542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1407B0C-CF21-1C44-ADDC-811B793A5A95}"/>
                </a:ext>
              </a:extLst>
            </p:cNvPr>
            <p:cNvCxnSpPr/>
            <p:nvPr/>
          </p:nvCxnSpPr>
          <p:spPr>
            <a:xfrm>
              <a:off x="6629400" y="3308164"/>
              <a:ext cx="806636" cy="654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BD5EE-E56F-7E45-A83D-244546161961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545630-9500-974C-8D30-CB46EB0F789F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609600" cy="914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1736A46-927F-6840-8C0C-977B10768F30}"/>
                </a:ext>
              </a:extLst>
            </p:cNvPr>
            <p:cNvCxnSpPr/>
            <p:nvPr/>
          </p:nvCxnSpPr>
          <p:spPr>
            <a:xfrm flipV="1">
              <a:off x="4441918" y="4298764"/>
              <a:ext cx="130082" cy="1089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2F7C687-886B-024A-B838-70FA8CEE34EE}"/>
                </a:ext>
              </a:extLst>
            </p:cNvPr>
            <p:cNvCxnSpPr/>
            <p:nvPr/>
          </p:nvCxnSpPr>
          <p:spPr>
            <a:xfrm>
              <a:off x="4572000" y="4298764"/>
              <a:ext cx="936718" cy="250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11076B-3080-3D4E-B447-349B4D023665}"/>
                </a:ext>
              </a:extLst>
            </p:cNvPr>
            <p:cNvCxnSpPr/>
            <p:nvPr/>
          </p:nvCxnSpPr>
          <p:spPr>
            <a:xfrm flipH="1">
              <a:off x="3124200" y="5464082"/>
              <a:ext cx="1241518" cy="327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064FCCE-0750-3641-A594-AD0A0AD22934}"/>
                </a:ext>
              </a:extLst>
            </p:cNvPr>
            <p:cNvCxnSpPr/>
            <p:nvPr/>
          </p:nvCxnSpPr>
          <p:spPr>
            <a:xfrm flipH="1">
              <a:off x="1295400" y="3689164"/>
              <a:ext cx="1492436" cy="12638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B9B703-F592-2C45-89CC-F463EC5A8576}"/>
                  </a:ext>
                </a:extLst>
              </p:cNvPr>
              <p:cNvSpPr txBox="1"/>
              <p:nvPr/>
            </p:nvSpPr>
            <p:spPr>
              <a:xfrm>
                <a:off x="3727303" y="6183868"/>
                <a:ext cx="271407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𝒎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en-US" dirty="0"/>
                  <a:t> non-tree edges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B9B703-F592-2C45-89CC-F463EC5A8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303" y="6183868"/>
                <a:ext cx="2714076" cy="369332"/>
              </a:xfrm>
              <a:prstGeom prst="rect">
                <a:avLst/>
              </a:prstGeom>
              <a:blipFill>
                <a:blip r:embed="rId2"/>
                <a:stretch>
                  <a:fillRect t="-6667" r="-9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647AF4-FD21-AF48-82B5-6C20271339FB}"/>
                  </a:ext>
                </a:extLst>
              </p:cNvPr>
              <p:cNvSpPr txBox="1"/>
              <p:nvPr/>
            </p:nvSpPr>
            <p:spPr>
              <a:xfrm>
                <a:off x="3749621" y="5528621"/>
                <a:ext cx="1787541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en-US" dirty="0"/>
                  <a:t> tree edges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647AF4-FD21-AF48-82B5-6C2027133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621" y="5528621"/>
                <a:ext cx="1787541" cy="369332"/>
              </a:xfrm>
              <a:prstGeom prst="rect">
                <a:avLst/>
              </a:prstGeom>
              <a:blipFill>
                <a:blip r:embed="rId3"/>
                <a:stretch>
                  <a:fillRect t="-6250" r="-1399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A324AF-0F94-664E-5699-41EB6921D783}"/>
                  </a:ext>
                </a:extLst>
              </p:cNvPr>
              <p:cNvSpPr txBox="1"/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A324AF-0F94-664E-5699-41EB6921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994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05" grpId="0" animBg="1"/>
      <p:bldP spid="49" grpId="0" animBg="1"/>
      <p:bldP spid="22" grpId="0" animBg="1"/>
      <p:bldP spid="74" grpId="0" animBg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Fundamental Cycles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1800" dirty="0"/>
                  <a:t>For an undirected graph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</a:t>
                </a:r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 spanning tree is a </a:t>
                </a:r>
                <a:r>
                  <a:rPr lang="en-US" sz="1800" b="1" dirty="0" err="1"/>
                  <a:t>subgraph</a:t>
                </a:r>
                <a:r>
                  <a:rPr lang="en-US" sz="1800" dirty="0"/>
                  <a:t>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</a:t>
                </a:r>
                <a:r>
                  <a:rPr lang="en-US" sz="1800" dirty="0"/>
                  <a:t>),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 </a:t>
                </a:r>
                <a:r>
                  <a:rPr lang="en-US" sz="1800" b="1" dirty="0">
                    <a:latin typeface="Cambria Math"/>
                    <a:ea typeface="Cambria Math"/>
                  </a:rPr>
                  <a:t>⊆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E </a:t>
                </a:r>
                <a:r>
                  <a:rPr lang="en-US" sz="1800" dirty="0"/>
                  <a:t>which is a 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Each non tree edge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define a unique cycle. Can you spot them ?</a:t>
                </a:r>
              </a:p>
              <a:p>
                <a:pPr marL="0" indent="0">
                  <a:buNone/>
                </a:pPr>
                <a:r>
                  <a:rPr lang="en-US" sz="2000" dirty="0"/>
                  <a:t>These cycles are called fundamental cycles induced by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are total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such cycles.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  <a:blipFill>
                <a:blip r:embed="rId2"/>
                <a:stretch>
                  <a:fillRect l="-720" t="-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943F7E-FC68-E44E-8A25-729DB7A6E7B0}"/>
              </a:ext>
            </a:extLst>
          </p:cNvPr>
          <p:cNvGrpSpPr/>
          <p:nvPr/>
        </p:nvGrpSpPr>
        <p:grpSpPr>
          <a:xfrm>
            <a:off x="1295400" y="2438400"/>
            <a:ext cx="6140636" cy="2689318"/>
            <a:chOff x="1295400" y="3101882"/>
            <a:chExt cx="6140636" cy="268931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47FB80-8802-C845-89DA-D3E05DB5F89B}"/>
                </a:ext>
              </a:extLst>
            </p:cNvPr>
            <p:cNvCxnSpPr/>
            <p:nvPr/>
          </p:nvCxnSpPr>
          <p:spPr>
            <a:xfrm>
              <a:off x="1470118" y="3482882"/>
              <a:ext cx="1295400" cy="152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1A5F217-B894-3D42-B2C9-A06C7F297E38}"/>
                </a:ext>
              </a:extLst>
            </p:cNvPr>
            <p:cNvCxnSpPr/>
            <p:nvPr/>
          </p:nvCxnSpPr>
          <p:spPr>
            <a:xfrm>
              <a:off x="2841718" y="3711482"/>
              <a:ext cx="403318" cy="936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8CE425-E9B2-0446-811A-B45A07690A2A}"/>
                </a:ext>
              </a:extLst>
            </p:cNvPr>
            <p:cNvCxnSpPr/>
            <p:nvPr/>
          </p:nvCxnSpPr>
          <p:spPr>
            <a:xfrm flipH="1">
              <a:off x="2232118" y="4755964"/>
              <a:ext cx="1012918" cy="784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36F722-F1E1-EF44-B28E-76569D17DC16}"/>
                </a:ext>
              </a:extLst>
            </p:cNvPr>
            <p:cNvCxnSpPr/>
            <p:nvPr/>
          </p:nvCxnSpPr>
          <p:spPr>
            <a:xfrm>
              <a:off x="4191000" y="3155764"/>
              <a:ext cx="1035236" cy="273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C60F7DE-34E4-0F44-ACF5-8E4AD8DA865E}"/>
                </a:ext>
              </a:extLst>
            </p:cNvPr>
            <p:cNvCxnSpPr/>
            <p:nvPr/>
          </p:nvCxnSpPr>
          <p:spPr>
            <a:xfrm flipH="1">
              <a:off x="3070318" y="4755964"/>
              <a:ext cx="282482" cy="1012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DF832F-435E-A846-B8EC-9745373F9BE2}"/>
                </a:ext>
              </a:extLst>
            </p:cNvPr>
            <p:cNvCxnSpPr/>
            <p:nvPr/>
          </p:nvCxnSpPr>
          <p:spPr>
            <a:xfrm flipV="1">
              <a:off x="2895600" y="3101882"/>
              <a:ext cx="1165318" cy="479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F63538-E40F-734D-975F-F477FFC51F5C}"/>
                </a:ext>
              </a:extLst>
            </p:cNvPr>
            <p:cNvCxnSpPr/>
            <p:nvPr/>
          </p:nvCxnSpPr>
          <p:spPr>
            <a:xfrm flipV="1">
              <a:off x="5356318" y="32542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1407B0C-CF21-1C44-ADDC-811B793A5A95}"/>
                </a:ext>
              </a:extLst>
            </p:cNvPr>
            <p:cNvCxnSpPr/>
            <p:nvPr/>
          </p:nvCxnSpPr>
          <p:spPr>
            <a:xfrm>
              <a:off x="6629400" y="3308164"/>
              <a:ext cx="806636" cy="654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BD5EE-E56F-7E45-A83D-244546161961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545630-9500-974C-8D30-CB46EB0F789F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609600" cy="914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1736A46-927F-6840-8C0C-977B10768F30}"/>
                </a:ext>
              </a:extLst>
            </p:cNvPr>
            <p:cNvCxnSpPr/>
            <p:nvPr/>
          </p:nvCxnSpPr>
          <p:spPr>
            <a:xfrm flipV="1">
              <a:off x="4441918" y="4298764"/>
              <a:ext cx="130082" cy="1089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2F7C687-886B-024A-B838-70FA8CEE34EE}"/>
                </a:ext>
              </a:extLst>
            </p:cNvPr>
            <p:cNvCxnSpPr/>
            <p:nvPr/>
          </p:nvCxnSpPr>
          <p:spPr>
            <a:xfrm>
              <a:off x="4572000" y="4298764"/>
              <a:ext cx="936718" cy="250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11076B-3080-3D4E-B447-349B4D023665}"/>
                </a:ext>
              </a:extLst>
            </p:cNvPr>
            <p:cNvCxnSpPr/>
            <p:nvPr/>
          </p:nvCxnSpPr>
          <p:spPr>
            <a:xfrm flipH="1">
              <a:off x="3124200" y="5464082"/>
              <a:ext cx="1241518" cy="327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064FCCE-0750-3641-A594-AD0A0AD22934}"/>
                </a:ext>
              </a:extLst>
            </p:cNvPr>
            <p:cNvCxnSpPr/>
            <p:nvPr/>
          </p:nvCxnSpPr>
          <p:spPr>
            <a:xfrm flipH="1">
              <a:off x="1295400" y="3689164"/>
              <a:ext cx="1492436" cy="12638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D9D5798-3F2D-5541-8C87-F57E0344878C}"/>
              </a:ext>
            </a:extLst>
          </p:cNvPr>
          <p:cNvSpPr txBox="1"/>
          <p:nvPr/>
        </p:nvSpPr>
        <p:spPr>
          <a:xfrm>
            <a:off x="1038616" y="23048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076486-936C-9F40-B449-0C33321BCDBD}"/>
              </a:ext>
            </a:extLst>
          </p:cNvPr>
          <p:cNvSpPr txBox="1"/>
          <p:nvPr/>
        </p:nvSpPr>
        <p:spPr>
          <a:xfrm>
            <a:off x="6528302" y="215047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/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FAC1CAE-6B14-44FC-F548-2EE772A8574F}"/>
              </a:ext>
            </a:extLst>
          </p:cNvPr>
          <p:cNvGrpSpPr/>
          <p:nvPr/>
        </p:nvGrpSpPr>
        <p:grpSpPr>
          <a:xfrm>
            <a:off x="1371600" y="2014239"/>
            <a:ext cx="5140712" cy="957561"/>
            <a:chOff x="1371600" y="2014239"/>
            <a:chExt cx="5140712" cy="957561"/>
          </a:xfrm>
        </p:grpSpPr>
        <p:sp>
          <p:nvSpPr>
            <p:cNvPr id="25" name="Freeform 104">
              <a:extLst>
                <a:ext uri="{FF2B5EF4-FFF2-40B4-BE49-F238E27FC236}">
                  <a16:creationId xmlns:a16="http://schemas.microsoft.com/office/drawing/2014/main" id="{45E85DC0-F956-9A1D-0FB4-6B009E488200}"/>
                </a:ext>
              </a:extLst>
            </p:cNvPr>
            <p:cNvSpPr/>
            <p:nvPr/>
          </p:nvSpPr>
          <p:spPr>
            <a:xfrm>
              <a:off x="1371600" y="2014239"/>
              <a:ext cx="5140712" cy="728961"/>
            </a:xfrm>
            <a:custGeom>
              <a:avLst/>
              <a:gdLst>
                <a:gd name="connsiteX0" fmla="*/ 0 w 5140712"/>
                <a:gd name="connsiteY0" fmla="*/ 728961 h 728961"/>
                <a:gd name="connsiteX1" fmla="*/ 1616926 w 5140712"/>
                <a:gd name="connsiteY1" fmla="*/ 48737 h 728961"/>
                <a:gd name="connsiteX2" fmla="*/ 3356517 w 5140712"/>
                <a:gd name="connsiteY2" fmla="*/ 104493 h 728961"/>
                <a:gd name="connsiteX3" fmla="*/ 5140712 w 5140712"/>
                <a:gd name="connsiteY3" fmla="*/ 505937 h 72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0712" h="728961">
                  <a:moveTo>
                    <a:pt x="0" y="728961"/>
                  </a:moveTo>
                  <a:cubicBezTo>
                    <a:pt x="528753" y="440888"/>
                    <a:pt x="1057506" y="152815"/>
                    <a:pt x="1616926" y="48737"/>
                  </a:cubicBezTo>
                  <a:cubicBezTo>
                    <a:pt x="2176346" y="-55341"/>
                    <a:pt x="2769219" y="28293"/>
                    <a:pt x="3356517" y="104493"/>
                  </a:cubicBezTo>
                  <a:cubicBezTo>
                    <a:pt x="3943815" y="180693"/>
                    <a:pt x="4542263" y="343315"/>
                    <a:pt x="5140712" y="505937"/>
                  </a:cubicBez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17D9B29-B137-D56F-4EC7-86819021B9AE}"/>
                </a:ext>
              </a:extLst>
            </p:cNvPr>
            <p:cNvCxnSpPr/>
            <p:nvPr/>
          </p:nvCxnSpPr>
          <p:spPr>
            <a:xfrm>
              <a:off x="1447800" y="2819400"/>
              <a:ext cx="1295400" cy="1524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B9CCD3-F024-CCDA-1E83-C7172838CBE0}"/>
                </a:ext>
              </a:extLst>
            </p:cNvPr>
            <p:cNvCxnSpPr/>
            <p:nvPr/>
          </p:nvCxnSpPr>
          <p:spPr>
            <a:xfrm>
              <a:off x="4168682" y="2492282"/>
              <a:ext cx="1035236" cy="273236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215C0D4-E932-B718-FFB8-F2C03826EB2E}"/>
                </a:ext>
              </a:extLst>
            </p:cNvPr>
            <p:cNvCxnSpPr/>
            <p:nvPr/>
          </p:nvCxnSpPr>
          <p:spPr>
            <a:xfrm flipV="1">
              <a:off x="2873282" y="2438400"/>
              <a:ext cx="1165318" cy="47951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E02DC7-5C59-CD54-65FB-DE4876F9D5F7}"/>
                </a:ext>
              </a:extLst>
            </p:cNvPr>
            <p:cNvCxnSpPr/>
            <p:nvPr/>
          </p:nvCxnSpPr>
          <p:spPr>
            <a:xfrm flipV="1">
              <a:off x="5334000" y="2590800"/>
              <a:ext cx="1143000" cy="2286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567B7F-7532-E2D7-E4E7-F6EE6E9E8423}"/>
              </a:ext>
            </a:extLst>
          </p:cNvPr>
          <p:cNvGrpSpPr/>
          <p:nvPr/>
        </p:nvGrpSpPr>
        <p:grpSpPr>
          <a:xfrm>
            <a:off x="5584918" y="3946618"/>
            <a:ext cx="1196882" cy="938026"/>
            <a:chOff x="5737318" y="4091174"/>
            <a:chExt cx="1196882" cy="93802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0FE4C59-1416-39F9-0610-4CB33B8F872B}"/>
                </a:ext>
              </a:extLst>
            </p:cNvPr>
            <p:cNvCxnSpPr/>
            <p:nvPr/>
          </p:nvCxnSpPr>
          <p:spPr>
            <a:xfrm flipH="1" flipV="1">
              <a:off x="5737318" y="4091174"/>
              <a:ext cx="1143000" cy="2286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F19302-A05B-1960-4746-23BD3C003F70}"/>
                </a:ext>
              </a:extLst>
            </p:cNvPr>
            <p:cNvCxnSpPr/>
            <p:nvPr/>
          </p:nvCxnSpPr>
          <p:spPr>
            <a:xfrm flipH="1" flipV="1">
              <a:off x="5737318" y="4114800"/>
              <a:ext cx="609600" cy="9144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7E657DD-567D-9FA9-0DE8-8EBADDF663DA}"/>
                </a:ext>
              </a:extLst>
            </p:cNvPr>
            <p:cNvCxnSpPr/>
            <p:nvPr/>
          </p:nvCxnSpPr>
          <p:spPr>
            <a:xfrm flipV="1">
              <a:off x="6324600" y="4411756"/>
              <a:ext cx="609600" cy="6096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5B1BB8-1A1B-0187-7C7F-2460D911B40A}"/>
              </a:ext>
            </a:extLst>
          </p:cNvPr>
          <p:cNvGrpSpPr/>
          <p:nvPr/>
        </p:nvGrpSpPr>
        <p:grpSpPr>
          <a:xfrm>
            <a:off x="1279618" y="3025682"/>
            <a:ext cx="1965418" cy="1866900"/>
            <a:chOff x="1279618" y="3025682"/>
            <a:chExt cx="1965418" cy="18669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7B4AF1A-8D24-2102-C712-78066F144939}"/>
                </a:ext>
              </a:extLst>
            </p:cNvPr>
            <p:cNvCxnSpPr/>
            <p:nvPr/>
          </p:nvCxnSpPr>
          <p:spPr>
            <a:xfrm>
              <a:off x="1279618" y="4390746"/>
              <a:ext cx="882836" cy="501836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8136F9F-5355-52EC-7BF6-ADD0FE86CB31}"/>
                </a:ext>
              </a:extLst>
            </p:cNvPr>
            <p:cNvCxnSpPr/>
            <p:nvPr/>
          </p:nvCxnSpPr>
          <p:spPr>
            <a:xfrm>
              <a:off x="2841718" y="3048000"/>
              <a:ext cx="403318" cy="93671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C1D2C56-8EC0-5C05-8BC6-527FB41012D6}"/>
                </a:ext>
              </a:extLst>
            </p:cNvPr>
            <p:cNvCxnSpPr/>
            <p:nvPr/>
          </p:nvCxnSpPr>
          <p:spPr>
            <a:xfrm flipH="1">
              <a:off x="2232118" y="4092482"/>
              <a:ext cx="1012918" cy="78431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2291A23-DE5E-59E7-C9E1-4F423B75BD61}"/>
                </a:ext>
              </a:extLst>
            </p:cNvPr>
            <p:cNvCxnSpPr/>
            <p:nvPr/>
          </p:nvCxnSpPr>
          <p:spPr>
            <a:xfrm flipH="1">
              <a:off x="1295400" y="3025682"/>
              <a:ext cx="1492436" cy="1263836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C7518B6-2EB2-2397-DE6C-1CDABE0D49EE}"/>
              </a:ext>
            </a:extLst>
          </p:cNvPr>
          <p:cNvSpPr txBox="1"/>
          <p:nvPr/>
        </p:nvSpPr>
        <p:spPr>
          <a:xfrm>
            <a:off x="6315986" y="484453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640D89-D652-AEA3-9B8E-16DA37011860}"/>
              </a:ext>
            </a:extLst>
          </p:cNvPr>
          <p:cNvSpPr txBox="1"/>
          <p:nvPr/>
        </p:nvSpPr>
        <p:spPr>
          <a:xfrm>
            <a:off x="6907230" y="4151224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912C52-107C-6A2A-0E9A-FE2D18DF0EAC}"/>
              </a:ext>
            </a:extLst>
          </p:cNvPr>
          <p:cNvSpPr txBox="1"/>
          <p:nvPr/>
        </p:nvSpPr>
        <p:spPr>
          <a:xfrm>
            <a:off x="762000" y="427471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E7DD5A2-684A-7635-33ED-46095663A208}"/>
              </a:ext>
            </a:extLst>
          </p:cNvPr>
          <p:cNvSpPr txBox="1"/>
          <p:nvPr/>
        </p:nvSpPr>
        <p:spPr>
          <a:xfrm>
            <a:off x="1856654" y="4892582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65192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1" grpId="0"/>
      <p:bldP spid="71" grpId="1"/>
      <p:bldP spid="73" grpId="0"/>
      <p:bldP spid="73" grpId="1"/>
      <p:bldP spid="48" grpId="0"/>
      <p:bldP spid="48" grpId="1"/>
      <p:bldP spid="76" grpId="0"/>
      <p:bldP spid="76" grpId="1"/>
      <p:bldP spid="77" grpId="0"/>
      <p:bldP spid="77" grpId="1"/>
      <p:bldP spid="79" grpId="0"/>
      <p:bldP spid="7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Fundamental Cycles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1800" dirty="0"/>
                  <a:t>For an undirected graph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</a:t>
                </a:r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 spanning tree is a </a:t>
                </a:r>
                <a:r>
                  <a:rPr lang="en-US" sz="1800" b="1" dirty="0" err="1"/>
                  <a:t>subgraph</a:t>
                </a:r>
                <a:r>
                  <a:rPr lang="en-US" sz="1800" dirty="0"/>
                  <a:t>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</a:t>
                </a:r>
                <a:r>
                  <a:rPr lang="en-US" sz="1800" dirty="0"/>
                  <a:t>),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 </a:t>
                </a:r>
                <a:r>
                  <a:rPr lang="en-US" sz="1800" b="1" dirty="0">
                    <a:latin typeface="Cambria Math"/>
                    <a:ea typeface="Cambria Math"/>
                  </a:rPr>
                  <a:t>⊆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E </a:t>
                </a:r>
                <a:r>
                  <a:rPr lang="en-US" sz="1800" dirty="0"/>
                  <a:t>which is a 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any non-tree edge.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000" dirty="0"/>
                  <a:t> be the fundamental cycle defined by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Swapping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dirty="0"/>
                  <a:t> with any other edge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000" dirty="0"/>
                  <a:t> gives us another spanning tree.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  <a:blipFill>
                <a:blip r:embed="rId2"/>
                <a:stretch>
                  <a:fillRect l="-720" t="-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943F7E-FC68-E44E-8A25-729DB7A6E7B0}"/>
              </a:ext>
            </a:extLst>
          </p:cNvPr>
          <p:cNvGrpSpPr/>
          <p:nvPr/>
        </p:nvGrpSpPr>
        <p:grpSpPr>
          <a:xfrm>
            <a:off x="1295400" y="2438400"/>
            <a:ext cx="6140636" cy="2689318"/>
            <a:chOff x="1295400" y="3101882"/>
            <a:chExt cx="6140636" cy="268931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47FB80-8802-C845-89DA-D3E05DB5F89B}"/>
                </a:ext>
              </a:extLst>
            </p:cNvPr>
            <p:cNvCxnSpPr/>
            <p:nvPr/>
          </p:nvCxnSpPr>
          <p:spPr>
            <a:xfrm>
              <a:off x="1470118" y="3482882"/>
              <a:ext cx="1295400" cy="152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1A5F217-B894-3D42-B2C9-A06C7F297E38}"/>
                </a:ext>
              </a:extLst>
            </p:cNvPr>
            <p:cNvCxnSpPr/>
            <p:nvPr/>
          </p:nvCxnSpPr>
          <p:spPr>
            <a:xfrm>
              <a:off x="2841718" y="3711482"/>
              <a:ext cx="403318" cy="936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8CE425-E9B2-0446-811A-B45A07690A2A}"/>
                </a:ext>
              </a:extLst>
            </p:cNvPr>
            <p:cNvCxnSpPr/>
            <p:nvPr/>
          </p:nvCxnSpPr>
          <p:spPr>
            <a:xfrm flipH="1">
              <a:off x="2232118" y="4755964"/>
              <a:ext cx="1012918" cy="784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36F722-F1E1-EF44-B28E-76569D17DC16}"/>
                </a:ext>
              </a:extLst>
            </p:cNvPr>
            <p:cNvCxnSpPr/>
            <p:nvPr/>
          </p:nvCxnSpPr>
          <p:spPr>
            <a:xfrm>
              <a:off x="4191000" y="3155764"/>
              <a:ext cx="1035236" cy="273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C60F7DE-34E4-0F44-ACF5-8E4AD8DA865E}"/>
                </a:ext>
              </a:extLst>
            </p:cNvPr>
            <p:cNvCxnSpPr/>
            <p:nvPr/>
          </p:nvCxnSpPr>
          <p:spPr>
            <a:xfrm flipH="1">
              <a:off x="3070318" y="4755964"/>
              <a:ext cx="282482" cy="1012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DF832F-435E-A846-B8EC-9745373F9BE2}"/>
                </a:ext>
              </a:extLst>
            </p:cNvPr>
            <p:cNvCxnSpPr/>
            <p:nvPr/>
          </p:nvCxnSpPr>
          <p:spPr>
            <a:xfrm flipV="1">
              <a:off x="2895600" y="3101882"/>
              <a:ext cx="1165318" cy="479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F63538-E40F-734D-975F-F477FFC51F5C}"/>
                </a:ext>
              </a:extLst>
            </p:cNvPr>
            <p:cNvCxnSpPr/>
            <p:nvPr/>
          </p:nvCxnSpPr>
          <p:spPr>
            <a:xfrm flipV="1">
              <a:off x="5356318" y="32542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1407B0C-CF21-1C44-ADDC-811B793A5A95}"/>
                </a:ext>
              </a:extLst>
            </p:cNvPr>
            <p:cNvCxnSpPr/>
            <p:nvPr/>
          </p:nvCxnSpPr>
          <p:spPr>
            <a:xfrm>
              <a:off x="6629400" y="3308164"/>
              <a:ext cx="806636" cy="654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BD5EE-E56F-7E45-A83D-244546161961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545630-9500-974C-8D30-CB46EB0F789F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609600" cy="914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1736A46-927F-6840-8C0C-977B10768F30}"/>
                </a:ext>
              </a:extLst>
            </p:cNvPr>
            <p:cNvCxnSpPr/>
            <p:nvPr/>
          </p:nvCxnSpPr>
          <p:spPr>
            <a:xfrm flipV="1">
              <a:off x="4441918" y="4298764"/>
              <a:ext cx="130082" cy="1089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2F7C687-886B-024A-B838-70FA8CEE34EE}"/>
                </a:ext>
              </a:extLst>
            </p:cNvPr>
            <p:cNvCxnSpPr/>
            <p:nvPr/>
          </p:nvCxnSpPr>
          <p:spPr>
            <a:xfrm>
              <a:off x="4572000" y="4298764"/>
              <a:ext cx="936718" cy="250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11076B-3080-3D4E-B447-349B4D023665}"/>
                </a:ext>
              </a:extLst>
            </p:cNvPr>
            <p:cNvCxnSpPr/>
            <p:nvPr/>
          </p:nvCxnSpPr>
          <p:spPr>
            <a:xfrm flipH="1">
              <a:off x="3124200" y="5464082"/>
              <a:ext cx="1241518" cy="327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064FCCE-0750-3641-A594-AD0A0AD22934}"/>
                </a:ext>
              </a:extLst>
            </p:cNvPr>
            <p:cNvCxnSpPr/>
            <p:nvPr/>
          </p:nvCxnSpPr>
          <p:spPr>
            <a:xfrm flipH="1">
              <a:off x="1295400" y="3689164"/>
              <a:ext cx="1492436" cy="12638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D9D5798-3F2D-5541-8C87-F57E0344878C}"/>
              </a:ext>
            </a:extLst>
          </p:cNvPr>
          <p:cNvSpPr txBox="1"/>
          <p:nvPr/>
        </p:nvSpPr>
        <p:spPr>
          <a:xfrm>
            <a:off x="1038616" y="23048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076486-936C-9F40-B449-0C33321BCDBD}"/>
              </a:ext>
            </a:extLst>
          </p:cNvPr>
          <p:cNvSpPr txBox="1"/>
          <p:nvPr/>
        </p:nvSpPr>
        <p:spPr>
          <a:xfrm>
            <a:off x="6528302" y="215047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/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FAC1CAE-6B14-44FC-F548-2EE772A8574F}"/>
              </a:ext>
            </a:extLst>
          </p:cNvPr>
          <p:cNvGrpSpPr/>
          <p:nvPr/>
        </p:nvGrpSpPr>
        <p:grpSpPr>
          <a:xfrm>
            <a:off x="1371600" y="2014239"/>
            <a:ext cx="5140712" cy="957561"/>
            <a:chOff x="1371600" y="2014239"/>
            <a:chExt cx="5140712" cy="957561"/>
          </a:xfrm>
        </p:grpSpPr>
        <p:sp>
          <p:nvSpPr>
            <p:cNvPr id="25" name="Freeform 104">
              <a:extLst>
                <a:ext uri="{FF2B5EF4-FFF2-40B4-BE49-F238E27FC236}">
                  <a16:creationId xmlns:a16="http://schemas.microsoft.com/office/drawing/2014/main" id="{45E85DC0-F956-9A1D-0FB4-6B009E488200}"/>
                </a:ext>
              </a:extLst>
            </p:cNvPr>
            <p:cNvSpPr/>
            <p:nvPr/>
          </p:nvSpPr>
          <p:spPr>
            <a:xfrm>
              <a:off x="1371600" y="2014239"/>
              <a:ext cx="5140712" cy="728961"/>
            </a:xfrm>
            <a:custGeom>
              <a:avLst/>
              <a:gdLst>
                <a:gd name="connsiteX0" fmla="*/ 0 w 5140712"/>
                <a:gd name="connsiteY0" fmla="*/ 728961 h 728961"/>
                <a:gd name="connsiteX1" fmla="*/ 1616926 w 5140712"/>
                <a:gd name="connsiteY1" fmla="*/ 48737 h 728961"/>
                <a:gd name="connsiteX2" fmla="*/ 3356517 w 5140712"/>
                <a:gd name="connsiteY2" fmla="*/ 104493 h 728961"/>
                <a:gd name="connsiteX3" fmla="*/ 5140712 w 5140712"/>
                <a:gd name="connsiteY3" fmla="*/ 505937 h 72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0712" h="728961">
                  <a:moveTo>
                    <a:pt x="0" y="728961"/>
                  </a:moveTo>
                  <a:cubicBezTo>
                    <a:pt x="528753" y="440888"/>
                    <a:pt x="1057506" y="152815"/>
                    <a:pt x="1616926" y="48737"/>
                  </a:cubicBezTo>
                  <a:cubicBezTo>
                    <a:pt x="2176346" y="-55341"/>
                    <a:pt x="2769219" y="28293"/>
                    <a:pt x="3356517" y="104493"/>
                  </a:cubicBezTo>
                  <a:cubicBezTo>
                    <a:pt x="3943815" y="180693"/>
                    <a:pt x="4542263" y="343315"/>
                    <a:pt x="5140712" y="505937"/>
                  </a:cubicBez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17D9B29-B137-D56F-4EC7-86819021B9AE}"/>
                </a:ext>
              </a:extLst>
            </p:cNvPr>
            <p:cNvCxnSpPr/>
            <p:nvPr/>
          </p:nvCxnSpPr>
          <p:spPr>
            <a:xfrm>
              <a:off x="1447800" y="2819400"/>
              <a:ext cx="1295400" cy="1524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B9CCD3-F024-CCDA-1E83-C7172838CBE0}"/>
                </a:ext>
              </a:extLst>
            </p:cNvPr>
            <p:cNvCxnSpPr/>
            <p:nvPr/>
          </p:nvCxnSpPr>
          <p:spPr>
            <a:xfrm>
              <a:off x="4168682" y="2492282"/>
              <a:ext cx="1035236" cy="273236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215C0D4-E932-B718-FFB8-F2C03826EB2E}"/>
                </a:ext>
              </a:extLst>
            </p:cNvPr>
            <p:cNvCxnSpPr/>
            <p:nvPr/>
          </p:nvCxnSpPr>
          <p:spPr>
            <a:xfrm flipV="1">
              <a:off x="2873282" y="2438400"/>
              <a:ext cx="1165318" cy="47951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E02DC7-5C59-CD54-65FB-DE4876F9D5F7}"/>
                </a:ext>
              </a:extLst>
            </p:cNvPr>
            <p:cNvCxnSpPr/>
            <p:nvPr/>
          </p:nvCxnSpPr>
          <p:spPr>
            <a:xfrm flipV="1">
              <a:off x="5334000" y="2590800"/>
              <a:ext cx="1143000" cy="22860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B930FA73-BB0F-FA3B-89B5-B787FAC7C99E}"/>
              </a:ext>
            </a:extLst>
          </p:cNvPr>
          <p:cNvSpPr/>
          <p:nvPr/>
        </p:nvSpPr>
        <p:spPr>
          <a:xfrm rot="19651350">
            <a:off x="2676160" y="2207890"/>
            <a:ext cx="386328" cy="59219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60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1" grpId="0"/>
      <p:bldP spid="71" grpId="1"/>
      <p:bldP spid="73" grpId="0"/>
      <p:bldP spid="73" grpId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Fundamental Cycles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1800" dirty="0"/>
                  <a:t>For an undirected graph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</a:t>
                </a:r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 spanning tree is a </a:t>
                </a:r>
                <a:r>
                  <a:rPr lang="en-US" sz="1800" b="1" dirty="0" err="1"/>
                  <a:t>subgraph</a:t>
                </a:r>
                <a:r>
                  <a:rPr lang="en-US" sz="1800" dirty="0"/>
                  <a:t> 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</a:t>
                </a:r>
                <a:r>
                  <a:rPr lang="en-US" sz="1800" dirty="0"/>
                  <a:t>),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E’ </a:t>
                </a:r>
                <a:r>
                  <a:rPr lang="en-US" sz="1800" b="1" dirty="0">
                    <a:latin typeface="Cambria Math"/>
                    <a:ea typeface="Cambria Math"/>
                  </a:rPr>
                  <a:t>⊆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E </a:t>
                </a:r>
                <a:r>
                  <a:rPr lang="en-US" sz="1800" dirty="0"/>
                  <a:t>which is a 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any non-tree edge.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000" dirty="0"/>
                  <a:t> be the fundamental cycle defined by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Swapping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000" dirty="0"/>
                  <a:t> with any other edge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000" dirty="0"/>
                  <a:t> gives us another spanning tree.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  <a:blipFill>
                <a:blip r:embed="rId2"/>
                <a:stretch>
                  <a:fillRect l="-720" t="-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943F7E-FC68-E44E-8A25-729DB7A6E7B0}"/>
              </a:ext>
            </a:extLst>
          </p:cNvPr>
          <p:cNvGrpSpPr/>
          <p:nvPr/>
        </p:nvGrpSpPr>
        <p:grpSpPr>
          <a:xfrm>
            <a:off x="1295400" y="2438400"/>
            <a:ext cx="6140636" cy="2689318"/>
            <a:chOff x="1295400" y="3101882"/>
            <a:chExt cx="6140636" cy="268931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47FB80-8802-C845-89DA-D3E05DB5F89B}"/>
                </a:ext>
              </a:extLst>
            </p:cNvPr>
            <p:cNvCxnSpPr/>
            <p:nvPr/>
          </p:nvCxnSpPr>
          <p:spPr>
            <a:xfrm>
              <a:off x="1470118" y="3482882"/>
              <a:ext cx="1295400" cy="152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1A5F217-B894-3D42-B2C9-A06C7F297E38}"/>
                </a:ext>
              </a:extLst>
            </p:cNvPr>
            <p:cNvCxnSpPr/>
            <p:nvPr/>
          </p:nvCxnSpPr>
          <p:spPr>
            <a:xfrm>
              <a:off x="2841718" y="3711482"/>
              <a:ext cx="403318" cy="936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8CE425-E9B2-0446-811A-B45A07690A2A}"/>
                </a:ext>
              </a:extLst>
            </p:cNvPr>
            <p:cNvCxnSpPr/>
            <p:nvPr/>
          </p:nvCxnSpPr>
          <p:spPr>
            <a:xfrm flipH="1">
              <a:off x="2232118" y="4755964"/>
              <a:ext cx="1012918" cy="784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36F722-F1E1-EF44-B28E-76569D17DC16}"/>
                </a:ext>
              </a:extLst>
            </p:cNvPr>
            <p:cNvCxnSpPr/>
            <p:nvPr/>
          </p:nvCxnSpPr>
          <p:spPr>
            <a:xfrm>
              <a:off x="4191000" y="3155764"/>
              <a:ext cx="1035236" cy="273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C60F7DE-34E4-0F44-ACF5-8E4AD8DA865E}"/>
                </a:ext>
              </a:extLst>
            </p:cNvPr>
            <p:cNvCxnSpPr/>
            <p:nvPr/>
          </p:nvCxnSpPr>
          <p:spPr>
            <a:xfrm flipH="1">
              <a:off x="3070318" y="4755964"/>
              <a:ext cx="282482" cy="1012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DF832F-435E-A846-B8EC-9745373F9BE2}"/>
                </a:ext>
              </a:extLst>
            </p:cNvPr>
            <p:cNvCxnSpPr/>
            <p:nvPr/>
          </p:nvCxnSpPr>
          <p:spPr>
            <a:xfrm flipV="1">
              <a:off x="2895600" y="3101882"/>
              <a:ext cx="1165318" cy="4795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F63538-E40F-734D-975F-F477FFC51F5C}"/>
                </a:ext>
              </a:extLst>
            </p:cNvPr>
            <p:cNvCxnSpPr/>
            <p:nvPr/>
          </p:nvCxnSpPr>
          <p:spPr>
            <a:xfrm flipV="1">
              <a:off x="5356318" y="32542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1407B0C-CF21-1C44-ADDC-811B793A5A95}"/>
                </a:ext>
              </a:extLst>
            </p:cNvPr>
            <p:cNvCxnSpPr/>
            <p:nvPr/>
          </p:nvCxnSpPr>
          <p:spPr>
            <a:xfrm>
              <a:off x="6629400" y="3308164"/>
              <a:ext cx="806636" cy="6542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BD5EE-E56F-7E45-A83D-244546161961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1143000" cy="2286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545630-9500-974C-8D30-CB46EB0F789F}"/>
                </a:ext>
              </a:extLst>
            </p:cNvPr>
            <p:cNvCxnSpPr/>
            <p:nvPr/>
          </p:nvCxnSpPr>
          <p:spPr>
            <a:xfrm flipH="1" flipV="1">
              <a:off x="5584918" y="4625882"/>
              <a:ext cx="609600" cy="9144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1736A46-927F-6840-8C0C-977B10768F30}"/>
                </a:ext>
              </a:extLst>
            </p:cNvPr>
            <p:cNvCxnSpPr/>
            <p:nvPr/>
          </p:nvCxnSpPr>
          <p:spPr>
            <a:xfrm flipV="1">
              <a:off x="4441918" y="4298764"/>
              <a:ext cx="130082" cy="1089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2F7C687-886B-024A-B838-70FA8CEE34EE}"/>
                </a:ext>
              </a:extLst>
            </p:cNvPr>
            <p:cNvCxnSpPr/>
            <p:nvPr/>
          </p:nvCxnSpPr>
          <p:spPr>
            <a:xfrm>
              <a:off x="4572000" y="4298764"/>
              <a:ext cx="936718" cy="2509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D11076B-3080-3D4E-B447-349B4D023665}"/>
                </a:ext>
              </a:extLst>
            </p:cNvPr>
            <p:cNvCxnSpPr/>
            <p:nvPr/>
          </p:nvCxnSpPr>
          <p:spPr>
            <a:xfrm flipH="1">
              <a:off x="3124200" y="5464082"/>
              <a:ext cx="1241518" cy="3271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064FCCE-0750-3641-A594-AD0A0AD22934}"/>
                </a:ext>
              </a:extLst>
            </p:cNvPr>
            <p:cNvCxnSpPr/>
            <p:nvPr/>
          </p:nvCxnSpPr>
          <p:spPr>
            <a:xfrm flipH="1">
              <a:off x="1295400" y="3689164"/>
              <a:ext cx="1492436" cy="126383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D9D5798-3F2D-5541-8C87-F57E0344878C}"/>
              </a:ext>
            </a:extLst>
          </p:cNvPr>
          <p:cNvSpPr txBox="1"/>
          <p:nvPr/>
        </p:nvSpPr>
        <p:spPr>
          <a:xfrm>
            <a:off x="1038616" y="230482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076486-936C-9F40-B449-0C33321BCDBD}"/>
              </a:ext>
            </a:extLst>
          </p:cNvPr>
          <p:cNvSpPr txBox="1"/>
          <p:nvPr/>
        </p:nvSpPr>
        <p:spPr>
          <a:xfrm>
            <a:off x="6528302" y="215047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/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AD27B2-DA3E-4AB1-4E3B-E3BFA909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46" y="3450616"/>
                <a:ext cx="3818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834402C6-DDF3-C31B-DAC2-C9F98260FE46}"/>
              </a:ext>
            </a:extLst>
          </p:cNvPr>
          <p:cNvSpPr/>
          <p:nvPr/>
        </p:nvSpPr>
        <p:spPr>
          <a:xfrm rot="19651350">
            <a:off x="2676160" y="2207890"/>
            <a:ext cx="386328" cy="59219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Down Ribbon 47">
            <a:extLst>
              <a:ext uri="{FF2B5EF4-FFF2-40B4-BE49-F238E27FC236}">
                <a16:creationId xmlns:a16="http://schemas.microsoft.com/office/drawing/2014/main" id="{ACE88B4C-923C-0472-1201-EE76E6D01D7B}"/>
              </a:ext>
            </a:extLst>
          </p:cNvPr>
          <p:cNvSpPr/>
          <p:nvPr/>
        </p:nvSpPr>
        <p:spPr>
          <a:xfrm>
            <a:off x="5627295" y="1120053"/>
            <a:ext cx="3505200" cy="1228835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use this </a:t>
            </a:r>
            <a:r>
              <a:rPr lang="en-US" sz="1600" b="1" dirty="0">
                <a:solidFill>
                  <a:srgbClr val="7030A0"/>
                </a:solidFill>
              </a:rPr>
              <a:t>Observation</a:t>
            </a:r>
            <a:r>
              <a:rPr lang="en-US" sz="1600" dirty="0">
                <a:solidFill>
                  <a:schemeClr val="tx1"/>
                </a:solidFill>
              </a:rPr>
              <a:t> to prove Cycle Property ? Make attempts …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867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 animBg="1"/>
      <p:bldP spid="3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38600" y="3048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191000" y="3124200"/>
            <a:ext cx="91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05400" y="3048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16" idx="5"/>
            <a:endCxn id="5" idx="1"/>
          </p:cNvCxnSpPr>
          <p:nvPr/>
        </p:nvCxnSpPr>
        <p:spPr>
          <a:xfrm>
            <a:off x="3330482" y="2492282"/>
            <a:ext cx="730436" cy="578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57600" y="1600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876800" y="129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004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6" idx="0"/>
          </p:cNvCxnSpPr>
          <p:nvPr/>
        </p:nvCxnSpPr>
        <p:spPr>
          <a:xfrm flipV="1">
            <a:off x="3276600" y="1752600"/>
            <a:ext cx="4191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7"/>
            <a:endCxn id="15" idx="2"/>
          </p:cNvCxnSpPr>
          <p:nvPr/>
        </p:nvCxnSpPr>
        <p:spPr>
          <a:xfrm flipV="1">
            <a:off x="3787682" y="1371600"/>
            <a:ext cx="10891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30" idx="1"/>
            <a:endCxn id="15" idx="6"/>
          </p:cNvCxnSpPr>
          <p:nvPr/>
        </p:nvCxnSpPr>
        <p:spPr>
          <a:xfrm flipH="1" flipV="1">
            <a:off x="5029200" y="1371600"/>
            <a:ext cx="1089118" cy="403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67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096000" y="1752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29" idx="3"/>
            <a:endCxn id="7" idx="6"/>
          </p:cNvCxnSpPr>
          <p:nvPr/>
        </p:nvCxnSpPr>
        <p:spPr>
          <a:xfrm flipH="1">
            <a:off x="5257800" y="2873282"/>
            <a:ext cx="6319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0" idx="4"/>
            <a:endCxn id="111" idx="0"/>
          </p:cNvCxnSpPr>
          <p:nvPr/>
        </p:nvCxnSpPr>
        <p:spPr>
          <a:xfrm>
            <a:off x="6172200" y="1905000"/>
            <a:ext cx="4572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sp>
          <p:nvSpPr>
            <p:cNvPr id="38" name="TextBox 37"/>
            <p:cNvSpPr txBox="1"/>
            <p:nvPr/>
          </p:nvSpPr>
          <p:spPr>
            <a:xfrm>
              <a:off x="4382640" y="28956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43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733800" y="26186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505200" y="1932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077840" y="1628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17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97040" y="15240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096000" y="2057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34000" y="2771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19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990600" y="3733800"/>
            <a:ext cx="6960577" cy="2819400"/>
            <a:chOff x="1421423" y="3733800"/>
            <a:chExt cx="6960577" cy="2819400"/>
          </a:xfrm>
        </p:grpSpPr>
        <p:grpSp>
          <p:nvGrpSpPr>
            <p:cNvPr id="48" name="Group 47"/>
            <p:cNvGrpSpPr/>
            <p:nvPr/>
          </p:nvGrpSpPr>
          <p:grpSpPr>
            <a:xfrm>
              <a:off x="1421423" y="3733800"/>
              <a:ext cx="6960577" cy="2819400"/>
              <a:chOff x="609600" y="1905000"/>
              <a:chExt cx="7924800" cy="3048000"/>
            </a:xfrm>
          </p:grpSpPr>
          <p:cxnSp>
            <p:nvCxnSpPr>
              <p:cNvPr id="49" name="Straight Connector 48"/>
              <p:cNvCxnSpPr>
                <a:stCxn id="54" idx="7"/>
              </p:cNvCxnSpPr>
              <p:nvPr/>
            </p:nvCxnSpPr>
            <p:spPr>
              <a:xfrm flipV="1">
                <a:off x="5387882" y="2133600"/>
                <a:ext cx="898618" cy="555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/>
              <p:cNvGrpSpPr/>
              <p:nvPr/>
            </p:nvGrpSpPr>
            <p:grpSpPr>
              <a:xfrm>
                <a:off x="609600" y="1905000"/>
                <a:ext cx="7924800" cy="3048000"/>
                <a:chOff x="609600" y="1905000"/>
                <a:chExt cx="7924800" cy="3048000"/>
              </a:xfrm>
            </p:grpSpPr>
            <p:sp>
              <p:nvSpPr>
                <p:cNvPr id="51" name="Oval 50"/>
                <p:cNvSpPr/>
                <p:nvPr/>
              </p:nvSpPr>
              <p:spPr>
                <a:xfrm>
                  <a:off x="2895600" y="4343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3200400" y="2971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5867400" y="3429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5257800" y="2667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2286000" y="3733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Connector 56"/>
                <p:cNvCxnSpPr>
                  <a:stCxn id="56" idx="7"/>
                  <a:endCxn id="52" idx="3"/>
                </p:cNvCxnSpPr>
                <p:nvPr/>
              </p:nvCxnSpPr>
              <p:spPr>
                <a:xfrm flipV="1">
                  <a:off x="2416082" y="3101882"/>
                  <a:ext cx="806636" cy="6542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>
                  <a:stCxn id="52" idx="6"/>
                  <a:endCxn id="85" idx="3"/>
                </p:cNvCxnSpPr>
                <p:nvPr/>
              </p:nvCxnSpPr>
              <p:spPr>
                <a:xfrm flipV="1">
                  <a:off x="3352799" y="2776486"/>
                  <a:ext cx="800490" cy="271514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>
                  <a:stCxn id="54" idx="5"/>
                  <a:endCxn id="53" idx="0"/>
                </p:cNvCxnSpPr>
                <p:nvPr/>
              </p:nvCxnSpPr>
              <p:spPr>
                <a:xfrm>
                  <a:off x="5387882" y="2797082"/>
                  <a:ext cx="555718" cy="6319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>
                  <a:stCxn id="51" idx="1"/>
                  <a:endCxn id="56" idx="5"/>
                </p:cNvCxnSpPr>
                <p:nvPr/>
              </p:nvCxnSpPr>
              <p:spPr>
                <a:xfrm flipH="1" flipV="1">
                  <a:off x="2416082" y="3863882"/>
                  <a:ext cx="501836" cy="5018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>
                  <a:endCxn id="51" idx="6"/>
                </p:cNvCxnSpPr>
                <p:nvPr/>
              </p:nvCxnSpPr>
              <p:spPr>
                <a:xfrm flipH="1" flipV="1">
                  <a:off x="3048000" y="4419600"/>
                  <a:ext cx="631918" cy="1747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>
                  <a:endCxn id="53" idx="3"/>
                </p:cNvCxnSpPr>
                <p:nvPr/>
              </p:nvCxnSpPr>
              <p:spPr>
                <a:xfrm flipV="1">
                  <a:off x="5257800" y="3559082"/>
                  <a:ext cx="631918" cy="740384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>
                  <a:stCxn id="53" idx="6"/>
                  <a:endCxn id="65" idx="1"/>
                </p:cNvCxnSpPr>
                <p:nvPr/>
              </p:nvCxnSpPr>
              <p:spPr>
                <a:xfrm>
                  <a:off x="6019800" y="3505200"/>
                  <a:ext cx="936718" cy="985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Oval 64"/>
                <p:cNvSpPr/>
                <p:nvPr/>
              </p:nvSpPr>
              <p:spPr>
                <a:xfrm>
                  <a:off x="6934200" y="3581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6400800" y="2133600"/>
                  <a:ext cx="1066800" cy="1524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Oval 66"/>
                <p:cNvSpPr/>
                <p:nvPr/>
              </p:nvSpPr>
              <p:spPr>
                <a:xfrm>
                  <a:off x="6248400" y="2057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7467600" y="2209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/>
                <p:cNvSpPr/>
                <p:nvPr/>
              </p:nvSpPr>
              <p:spPr>
                <a:xfrm>
                  <a:off x="2362200" y="2362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0" name="Straight Connector 69"/>
                <p:cNvCxnSpPr>
                  <a:stCxn id="69" idx="5"/>
                  <a:endCxn id="52" idx="1"/>
                </p:cNvCxnSpPr>
                <p:nvPr/>
              </p:nvCxnSpPr>
              <p:spPr>
                <a:xfrm>
                  <a:off x="2492282" y="2492282"/>
                  <a:ext cx="730436" cy="5018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Oval 70"/>
                <p:cNvSpPr/>
                <p:nvPr/>
              </p:nvSpPr>
              <p:spPr>
                <a:xfrm>
                  <a:off x="1295400" y="2133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2" name="Straight Connector 71"/>
                <p:cNvCxnSpPr>
                  <a:stCxn id="71" idx="6"/>
                  <a:endCxn id="69" idx="1"/>
                </p:cNvCxnSpPr>
                <p:nvPr/>
              </p:nvCxnSpPr>
              <p:spPr>
                <a:xfrm>
                  <a:off x="1447800" y="2209800"/>
                  <a:ext cx="936718" cy="1747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>
                  <a:off x="685800" y="3810000"/>
                  <a:ext cx="925559" cy="2667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>
                  <a:stCxn id="56" idx="3"/>
                  <a:endCxn id="76" idx="7"/>
                </p:cNvCxnSpPr>
                <p:nvPr/>
              </p:nvCxnSpPr>
              <p:spPr>
                <a:xfrm flipH="1">
                  <a:off x="1730282" y="3863882"/>
                  <a:ext cx="578036" cy="1970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/>
                <p:cNvSpPr/>
                <p:nvPr/>
              </p:nvSpPr>
              <p:spPr>
                <a:xfrm>
                  <a:off x="609600" y="3733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>
                  <a:off x="1600200" y="4038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7" name="Straight Connector 76"/>
                <p:cNvCxnSpPr>
                  <a:endCxn id="76" idx="3"/>
                </p:cNvCxnSpPr>
                <p:nvPr/>
              </p:nvCxnSpPr>
              <p:spPr>
                <a:xfrm flipV="1">
                  <a:off x="990600" y="4168682"/>
                  <a:ext cx="631918" cy="69645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/>
                <p:cNvSpPr/>
                <p:nvPr/>
              </p:nvSpPr>
              <p:spPr>
                <a:xfrm>
                  <a:off x="914400" y="4800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Connector 78"/>
                <p:cNvCxnSpPr>
                  <a:endCxn id="65" idx="6"/>
                </p:cNvCxnSpPr>
                <p:nvPr/>
              </p:nvCxnSpPr>
              <p:spPr>
                <a:xfrm flipH="1" flipV="1">
                  <a:off x="7086600" y="3657600"/>
                  <a:ext cx="1219200" cy="5334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Oval 79"/>
                <p:cNvSpPr/>
                <p:nvPr/>
              </p:nvSpPr>
              <p:spPr>
                <a:xfrm>
                  <a:off x="8229600" y="4114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8382000" y="1905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Connector 81"/>
                <p:cNvCxnSpPr>
                  <a:stCxn id="81" idx="2"/>
                </p:cNvCxnSpPr>
                <p:nvPr/>
              </p:nvCxnSpPr>
              <p:spPr>
                <a:xfrm flipH="1">
                  <a:off x="7620000" y="1981200"/>
                  <a:ext cx="762000" cy="2732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3" name="Oval 82"/>
            <p:cNvSpPr/>
            <p:nvPr/>
          </p:nvSpPr>
          <p:spPr>
            <a:xfrm>
              <a:off x="4057143" y="617220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Connector 83"/>
            <p:cNvCxnSpPr/>
            <p:nvPr/>
          </p:nvCxnSpPr>
          <p:spPr>
            <a:xfrm>
              <a:off x="4572000" y="4495800"/>
              <a:ext cx="91440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/>
            <p:cNvSpPr/>
            <p:nvPr/>
          </p:nvSpPr>
          <p:spPr>
            <a:xfrm>
              <a:off x="4514343" y="441960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410200" y="595503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971836" y="4507468"/>
            <a:ext cx="1362164" cy="369332"/>
            <a:chOff x="3492376" y="4495800"/>
            <a:chExt cx="1362164" cy="369332"/>
          </a:xfrm>
        </p:grpSpPr>
        <p:sp>
          <p:nvSpPr>
            <p:cNvPr id="91" name="TextBox 90"/>
            <p:cNvSpPr txBox="1"/>
            <p:nvPr/>
          </p:nvSpPr>
          <p:spPr>
            <a:xfrm>
              <a:off x="349237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560870" y="4495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2895600" y="990600"/>
            <a:ext cx="3306404" cy="2502932"/>
            <a:chOff x="2895600" y="990600"/>
            <a:chExt cx="3306404" cy="2502932"/>
          </a:xfrm>
        </p:grpSpPr>
        <p:grpSp>
          <p:nvGrpSpPr>
            <p:cNvPr id="45" name="Group 44"/>
            <p:cNvGrpSpPr/>
            <p:nvPr/>
          </p:nvGrpSpPr>
          <p:grpSpPr>
            <a:xfrm>
              <a:off x="3960706" y="3124200"/>
              <a:ext cx="1362164" cy="369332"/>
              <a:chOff x="3492376" y="4495800"/>
              <a:chExt cx="1362164" cy="36933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3492376" y="44958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u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560870" y="4495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v</a:t>
                </a:r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2895600" y="2286000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a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435320" y="13716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b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900754" y="990600"/>
              <a:ext cx="280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c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943600" y="18288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867400" y="2819400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r</a:t>
              </a:r>
            </a:p>
          </p:txBody>
        </p:sp>
      </p:grp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572000" y="3945255"/>
            <a:ext cx="0" cy="2760345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11" idx="3"/>
            <a:endCxn id="29" idx="6"/>
          </p:cNvCxnSpPr>
          <p:nvPr/>
        </p:nvCxnSpPr>
        <p:spPr>
          <a:xfrm flipH="1">
            <a:off x="6019800" y="2568482"/>
            <a:ext cx="555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553200" y="2438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6629400" y="23738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9800" y="243840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11240" y="426720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43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757961" y="4953000"/>
            <a:ext cx="2965273" cy="1513625"/>
            <a:chOff x="3757961" y="4953000"/>
            <a:chExt cx="2965273" cy="1513625"/>
          </a:xfrm>
        </p:grpSpPr>
        <p:sp>
          <p:nvSpPr>
            <p:cNvPr id="104" name="TextBox 103"/>
            <p:cNvSpPr txBox="1"/>
            <p:nvPr/>
          </p:nvSpPr>
          <p:spPr>
            <a:xfrm>
              <a:off x="6447196" y="4953000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3757961" y="5408341"/>
              <a:ext cx="2821259" cy="1058284"/>
              <a:chOff x="3757961" y="5408341"/>
              <a:chExt cx="2821259" cy="1058284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3757961" y="5408341"/>
                <a:ext cx="2821259" cy="1058284"/>
              </a:xfrm>
              <a:custGeom>
                <a:avLst/>
                <a:gdLst>
                  <a:gd name="connsiteX0" fmla="*/ 0 w 2821259"/>
                  <a:gd name="connsiteY0" fmla="*/ 836342 h 1058284"/>
                  <a:gd name="connsiteX1" fmla="*/ 1427356 w 2821259"/>
                  <a:gd name="connsiteY1" fmla="*/ 1003610 h 1058284"/>
                  <a:gd name="connsiteX2" fmla="*/ 2821259 w 2821259"/>
                  <a:gd name="connsiteY2" fmla="*/ 0 h 1058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21259" h="1058284">
                    <a:moveTo>
                      <a:pt x="0" y="836342"/>
                    </a:moveTo>
                    <a:cubicBezTo>
                      <a:pt x="478573" y="989671"/>
                      <a:pt x="957146" y="1143000"/>
                      <a:pt x="1427356" y="1003610"/>
                    </a:cubicBezTo>
                    <a:cubicBezTo>
                      <a:pt x="1897566" y="864220"/>
                      <a:pt x="2359412" y="432110"/>
                      <a:pt x="2821259" y="0"/>
                    </a:cubicBezTo>
                  </a:path>
                </a:pathLst>
              </a:cu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5601840" y="6123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2368520" y="4114800"/>
            <a:ext cx="1715000" cy="457200"/>
            <a:chOff x="2368520" y="4114800"/>
            <a:chExt cx="1715000" cy="457200"/>
          </a:xfrm>
        </p:grpSpPr>
        <p:grpSp>
          <p:nvGrpSpPr>
            <p:cNvPr id="11" name="Group 10"/>
            <p:cNvGrpSpPr/>
            <p:nvPr/>
          </p:nvGrpSpPr>
          <p:grpSpPr>
            <a:xfrm>
              <a:off x="2368520" y="4202668"/>
              <a:ext cx="1715000" cy="369332"/>
              <a:chOff x="2368520" y="4202668"/>
              <a:chExt cx="1715000" cy="369332"/>
            </a:xfrm>
          </p:grpSpPr>
          <p:cxnSp>
            <p:nvCxnSpPr>
              <p:cNvPr id="86" name="Straight Connector 85"/>
              <p:cNvCxnSpPr>
                <a:stCxn id="69" idx="6"/>
                <a:endCxn id="85" idx="2"/>
              </p:cNvCxnSpPr>
              <p:nvPr/>
            </p:nvCxnSpPr>
            <p:spPr>
              <a:xfrm>
                <a:off x="2663815" y="4227195"/>
                <a:ext cx="1419705" cy="26289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2368520" y="4202668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</p:grpSp>
        <p:sp>
          <p:nvSpPr>
            <p:cNvPr id="114" name="TextBox 113"/>
            <p:cNvSpPr txBox="1"/>
            <p:nvPr/>
          </p:nvSpPr>
          <p:spPr>
            <a:xfrm>
              <a:off x="3352800" y="41148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24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00200" y="4202668"/>
            <a:ext cx="951360" cy="1817132"/>
            <a:chOff x="1600200" y="4202668"/>
            <a:chExt cx="951360" cy="1817132"/>
          </a:xfrm>
        </p:grpSpPr>
        <p:grpSp>
          <p:nvGrpSpPr>
            <p:cNvPr id="101" name="Group 100"/>
            <p:cNvGrpSpPr/>
            <p:nvPr/>
          </p:nvGrpSpPr>
          <p:grpSpPr>
            <a:xfrm>
              <a:off x="1600200" y="4202668"/>
              <a:ext cx="917560" cy="1817132"/>
              <a:chOff x="2368520" y="2754868"/>
              <a:chExt cx="917560" cy="1817132"/>
            </a:xfrm>
          </p:grpSpPr>
          <p:cxnSp>
            <p:nvCxnSpPr>
              <p:cNvPr id="102" name="Straight Connector 101"/>
              <p:cNvCxnSpPr>
                <a:stCxn id="76" idx="0"/>
                <a:endCxn id="87" idx="0"/>
              </p:cNvCxnSpPr>
              <p:nvPr/>
            </p:nvCxnSpPr>
            <p:spPr>
              <a:xfrm flipV="1">
                <a:off x="2695921" y="2754868"/>
                <a:ext cx="590159" cy="150471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/>
              <p:cNvSpPr txBox="1"/>
              <p:nvPr/>
            </p:nvSpPr>
            <p:spPr>
              <a:xfrm>
                <a:off x="2368520" y="42026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</p:grpSp>
        <p:sp>
          <p:nvSpPr>
            <p:cNvPr id="115" name="TextBox 114"/>
            <p:cNvSpPr txBox="1"/>
            <p:nvPr/>
          </p:nvSpPr>
          <p:spPr>
            <a:xfrm>
              <a:off x="2209800" y="47522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133600" y="5334000"/>
            <a:ext cx="738046" cy="369332"/>
            <a:chOff x="2133600" y="5334000"/>
            <a:chExt cx="738046" cy="369332"/>
          </a:xfrm>
        </p:grpSpPr>
        <p:sp>
          <p:nvSpPr>
            <p:cNvPr id="105" name="TextBox 104"/>
            <p:cNvSpPr txBox="1"/>
            <p:nvPr/>
          </p:nvSpPr>
          <p:spPr>
            <a:xfrm>
              <a:off x="2590800" y="5334000"/>
              <a:ext cx="280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c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133600" y="5361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17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531324" y="5553307"/>
            <a:ext cx="1278676" cy="1064425"/>
            <a:chOff x="2531324" y="5553307"/>
            <a:chExt cx="1278676" cy="1064425"/>
          </a:xfrm>
        </p:grpSpPr>
        <p:grpSp>
          <p:nvGrpSpPr>
            <p:cNvPr id="18" name="Group 17"/>
            <p:cNvGrpSpPr/>
            <p:nvPr/>
          </p:nvGrpSpPr>
          <p:grpSpPr>
            <a:xfrm>
              <a:off x="2531324" y="5553307"/>
              <a:ext cx="1278676" cy="1064425"/>
              <a:chOff x="2531324" y="5553307"/>
              <a:chExt cx="1278676" cy="1064425"/>
            </a:xfrm>
          </p:grpSpPr>
          <p:sp>
            <p:nvSpPr>
              <p:cNvPr id="17" name="Freeform 16"/>
              <p:cNvSpPr/>
              <p:nvPr/>
            </p:nvSpPr>
            <p:spPr>
              <a:xfrm flipH="1">
                <a:off x="2531324" y="5553307"/>
                <a:ext cx="1144756" cy="759863"/>
              </a:xfrm>
              <a:custGeom>
                <a:avLst/>
                <a:gdLst>
                  <a:gd name="connsiteX0" fmla="*/ 1148576 w 1148576"/>
                  <a:gd name="connsiteY0" fmla="*/ 0 h 947854"/>
                  <a:gd name="connsiteX1" fmla="*/ 892098 w 1148576"/>
                  <a:gd name="connsiteY1" fmla="*/ 669073 h 947854"/>
                  <a:gd name="connsiteX2" fmla="*/ 568712 w 1148576"/>
                  <a:gd name="connsiteY2" fmla="*/ 892098 h 947854"/>
                  <a:gd name="connsiteX3" fmla="*/ 0 w 1148576"/>
                  <a:gd name="connsiteY3" fmla="*/ 947854 h 947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8576" h="947854">
                    <a:moveTo>
                      <a:pt x="1148576" y="0"/>
                    </a:moveTo>
                    <a:cubicBezTo>
                      <a:pt x="1068659" y="260195"/>
                      <a:pt x="988742" y="520390"/>
                      <a:pt x="892098" y="669073"/>
                    </a:cubicBezTo>
                    <a:cubicBezTo>
                      <a:pt x="795454" y="817756"/>
                      <a:pt x="717395" y="845635"/>
                      <a:pt x="568712" y="892098"/>
                    </a:cubicBezTo>
                    <a:cubicBezTo>
                      <a:pt x="420029" y="938561"/>
                      <a:pt x="210014" y="943207"/>
                      <a:pt x="0" y="947854"/>
                    </a:cubicBezTo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551596" y="62484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2553840" y="6123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381000" y="49530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53000"/>
                <a:ext cx="38183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Curved Down Arrow 119">
            <a:extLst>
              <a:ext uri="{FF2B5EF4-FFF2-40B4-BE49-F238E27FC236}">
                <a16:creationId xmlns:a16="http://schemas.microsoft.com/office/drawing/2014/main" id="{04361B3D-E0BC-9B47-92F3-AC34030CE0D2}"/>
              </a:ext>
            </a:extLst>
          </p:cNvPr>
          <p:cNvSpPr/>
          <p:nvPr/>
        </p:nvSpPr>
        <p:spPr>
          <a:xfrm>
            <a:off x="4014713" y="1878836"/>
            <a:ext cx="1395487" cy="940564"/>
          </a:xfrm>
          <a:prstGeom prst="curvedDownArrow">
            <a:avLst>
              <a:gd name="adj1" fmla="val 13354"/>
              <a:gd name="adj2" fmla="val 32943"/>
              <a:gd name="adj3" fmla="val 20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4064A7F1-6997-CC41-8174-9177F7E3895D}"/>
              </a:ext>
            </a:extLst>
          </p:cNvPr>
          <p:cNvSpPr/>
          <p:nvPr/>
        </p:nvSpPr>
        <p:spPr>
          <a:xfrm>
            <a:off x="3088848" y="2204922"/>
            <a:ext cx="447929" cy="4348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EB95250F-2080-9A42-833D-01D55A60D4AE}"/>
              </a:ext>
            </a:extLst>
          </p:cNvPr>
          <p:cNvSpPr/>
          <p:nvPr/>
        </p:nvSpPr>
        <p:spPr>
          <a:xfrm>
            <a:off x="3438271" y="1447800"/>
            <a:ext cx="447929" cy="4348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7305B554-F33C-0249-9046-D27CAEA2D84F}"/>
              </a:ext>
            </a:extLst>
          </p:cNvPr>
          <p:cNvSpPr/>
          <p:nvPr/>
        </p:nvSpPr>
        <p:spPr>
          <a:xfrm>
            <a:off x="4755412" y="1137418"/>
            <a:ext cx="447929" cy="4348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8D9F06E-01D9-F448-8C1E-254FF34F20FE}"/>
              </a:ext>
            </a:extLst>
          </p:cNvPr>
          <p:cNvSpPr/>
          <p:nvPr/>
        </p:nvSpPr>
        <p:spPr>
          <a:xfrm>
            <a:off x="5952871" y="1676400"/>
            <a:ext cx="447929" cy="4348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7329A05-88A9-A84D-83A9-5DFDF78203C8}"/>
              </a:ext>
            </a:extLst>
          </p:cNvPr>
          <p:cNvSpPr/>
          <p:nvPr/>
        </p:nvSpPr>
        <p:spPr>
          <a:xfrm>
            <a:off x="6400800" y="2308318"/>
            <a:ext cx="447929" cy="4348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Down Ribbon 47">
                <a:extLst>
                  <a:ext uri="{FF2B5EF4-FFF2-40B4-BE49-F238E27FC236}">
                    <a16:creationId xmlns:a16="http://schemas.microsoft.com/office/drawing/2014/main" id="{544FA230-F671-9869-A7AB-2C10B1222C92}"/>
                  </a:ext>
                </a:extLst>
              </p:cNvPr>
              <p:cNvSpPr/>
              <p:nvPr/>
            </p:nvSpPr>
            <p:spPr>
              <a:xfrm>
                <a:off x="-522068" y="2126562"/>
                <a:ext cx="3806154" cy="921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Let us traverse the cycle from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u</a:t>
                </a:r>
                <a:r>
                  <a:rPr lang="en-US" sz="1600" dirty="0">
                    <a:solidFill>
                      <a:schemeClr val="tx1"/>
                    </a:solidFill>
                  </a:rPr>
                  <a:t>. Watch carefully how its vertices appear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4" name="Down Ribbon 47">
                <a:extLst>
                  <a:ext uri="{FF2B5EF4-FFF2-40B4-BE49-F238E27FC236}">
                    <a16:creationId xmlns:a16="http://schemas.microsoft.com/office/drawing/2014/main" id="{544FA230-F671-9869-A7AB-2C10B1222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2068" y="2126562"/>
                <a:ext cx="3806154" cy="921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 b="-103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Down Ribbon 47">
                <a:extLst>
                  <a:ext uri="{FF2B5EF4-FFF2-40B4-BE49-F238E27FC236}">
                    <a16:creationId xmlns:a16="http://schemas.microsoft.com/office/drawing/2014/main" id="{B5D09B76-4CE3-6A16-1767-B7CF0CA774ED}"/>
                  </a:ext>
                </a:extLst>
              </p:cNvPr>
              <p:cNvSpPr/>
              <p:nvPr/>
            </p:nvSpPr>
            <p:spPr>
              <a:xfrm>
                <a:off x="-582516" y="2126562"/>
                <a:ext cx="3982545" cy="921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There must exist an edge from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that goes to the other side of the blue dotted line cutting (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u</a:t>
                </a:r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 v</a:t>
                </a:r>
                <a:r>
                  <a:rPr lang="en-US" sz="1600" dirty="0">
                    <a:solidFill>
                      <a:schemeClr val="tx1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26" name="Down Ribbon 47">
                <a:extLst>
                  <a:ext uri="{FF2B5EF4-FFF2-40B4-BE49-F238E27FC236}">
                    <a16:creationId xmlns:a16="http://schemas.microsoft.com/office/drawing/2014/main" id="{B5D09B76-4CE3-6A16-1767-B7CF0CA774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516" y="2126562"/>
                <a:ext cx="3982545" cy="921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103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Down Ribbon 47">
            <a:extLst>
              <a:ext uri="{FF2B5EF4-FFF2-40B4-BE49-F238E27FC236}">
                <a16:creationId xmlns:a16="http://schemas.microsoft.com/office/drawing/2014/main" id="{47EDFF09-DF06-3D47-C8A3-280B00959117}"/>
              </a:ext>
            </a:extLst>
          </p:cNvPr>
          <p:cNvSpPr/>
          <p:nvPr/>
        </p:nvSpPr>
        <p:spPr>
          <a:xfrm>
            <a:off x="-540951" y="2026659"/>
            <a:ext cx="3940650" cy="1121243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For non-tree edge (</a:t>
            </a:r>
            <a:r>
              <a:rPr lang="en-US" sz="1600" b="1" dirty="0">
                <a:solidFill>
                  <a:srgbClr val="7030A0"/>
                </a:solidFill>
              </a:rPr>
              <a:t>f</a:t>
            </a:r>
            <a:r>
              <a:rPr lang="en-US" sz="1600" dirty="0">
                <a:solidFill>
                  <a:schemeClr val="tx1"/>
                </a:solidFill>
              </a:rPr>
              <a:t>,</a:t>
            </a:r>
            <a:r>
              <a:rPr lang="en-US" sz="1600" b="1" dirty="0">
                <a:solidFill>
                  <a:srgbClr val="7030A0"/>
                </a:solidFill>
              </a:rPr>
              <a:t> s</a:t>
            </a:r>
            <a:r>
              <a:rPr lang="en-US" sz="1600" dirty="0">
                <a:solidFill>
                  <a:schemeClr val="tx1"/>
                </a:solidFill>
              </a:rPr>
              <a:t>), tree edge (</a:t>
            </a:r>
            <a:r>
              <a:rPr lang="en-US" sz="1600" b="1" dirty="0">
                <a:solidFill>
                  <a:srgbClr val="7030A0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,</a:t>
            </a:r>
            <a:r>
              <a:rPr lang="en-US" sz="1600" b="1" dirty="0">
                <a:solidFill>
                  <a:srgbClr val="7030A0"/>
                </a:solidFill>
              </a:rPr>
              <a:t> v</a:t>
            </a:r>
            <a:r>
              <a:rPr lang="en-US" sz="1600" dirty="0">
                <a:solidFill>
                  <a:schemeClr val="tx1"/>
                </a:solidFill>
              </a:rPr>
              <a:t>) lies in the fundamental cycle. </a:t>
            </a:r>
            <a:endParaRPr lang="en-US" sz="16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So we can swap them. _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325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38600" y="3048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191000" y="3124200"/>
            <a:ext cx="91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05400" y="3048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16" idx="5"/>
            <a:endCxn id="5" idx="1"/>
          </p:cNvCxnSpPr>
          <p:nvPr/>
        </p:nvCxnSpPr>
        <p:spPr>
          <a:xfrm>
            <a:off x="3330482" y="2492282"/>
            <a:ext cx="730436" cy="578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57600" y="1600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876800" y="129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004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6" idx="0"/>
          </p:cNvCxnSpPr>
          <p:nvPr/>
        </p:nvCxnSpPr>
        <p:spPr>
          <a:xfrm flipV="1">
            <a:off x="3276600" y="1752600"/>
            <a:ext cx="4191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4" idx="7"/>
            <a:endCxn id="15" idx="2"/>
          </p:cNvCxnSpPr>
          <p:nvPr/>
        </p:nvCxnSpPr>
        <p:spPr>
          <a:xfrm flipV="1">
            <a:off x="3787682" y="1371600"/>
            <a:ext cx="10891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30" idx="1"/>
            <a:endCxn id="15" idx="6"/>
          </p:cNvCxnSpPr>
          <p:nvPr/>
        </p:nvCxnSpPr>
        <p:spPr>
          <a:xfrm flipH="1" flipV="1">
            <a:off x="5029200" y="1371600"/>
            <a:ext cx="1089118" cy="403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67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096000" y="1752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29" idx="3"/>
            <a:endCxn id="7" idx="6"/>
          </p:cNvCxnSpPr>
          <p:nvPr/>
        </p:nvCxnSpPr>
        <p:spPr>
          <a:xfrm flipH="1">
            <a:off x="5257800" y="2873282"/>
            <a:ext cx="6319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0" idx="4"/>
            <a:endCxn id="111" idx="0"/>
          </p:cNvCxnSpPr>
          <p:nvPr/>
        </p:nvCxnSpPr>
        <p:spPr>
          <a:xfrm>
            <a:off x="6172200" y="1905000"/>
            <a:ext cx="4572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sp>
          <p:nvSpPr>
            <p:cNvPr id="38" name="TextBox 37"/>
            <p:cNvSpPr txBox="1"/>
            <p:nvPr/>
          </p:nvSpPr>
          <p:spPr>
            <a:xfrm>
              <a:off x="4382640" y="28956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43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733800" y="26186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505200" y="1932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077840" y="1628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17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97040" y="15240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096000" y="2057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36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34000" y="2771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19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990600" y="3733800"/>
            <a:ext cx="6960577" cy="2819400"/>
            <a:chOff x="1421423" y="3733800"/>
            <a:chExt cx="6960577" cy="2819400"/>
          </a:xfrm>
        </p:grpSpPr>
        <p:grpSp>
          <p:nvGrpSpPr>
            <p:cNvPr id="48" name="Group 47"/>
            <p:cNvGrpSpPr/>
            <p:nvPr/>
          </p:nvGrpSpPr>
          <p:grpSpPr>
            <a:xfrm>
              <a:off x="1421423" y="3733800"/>
              <a:ext cx="6960577" cy="2819400"/>
              <a:chOff x="609600" y="1905000"/>
              <a:chExt cx="7924800" cy="3048000"/>
            </a:xfrm>
          </p:grpSpPr>
          <p:cxnSp>
            <p:nvCxnSpPr>
              <p:cNvPr id="49" name="Straight Connector 48"/>
              <p:cNvCxnSpPr>
                <a:stCxn id="54" idx="7"/>
              </p:cNvCxnSpPr>
              <p:nvPr/>
            </p:nvCxnSpPr>
            <p:spPr>
              <a:xfrm flipV="1">
                <a:off x="5387882" y="2133600"/>
                <a:ext cx="898618" cy="555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/>
              <p:cNvGrpSpPr/>
              <p:nvPr/>
            </p:nvGrpSpPr>
            <p:grpSpPr>
              <a:xfrm>
                <a:off x="609600" y="1905000"/>
                <a:ext cx="7924800" cy="3048000"/>
                <a:chOff x="609600" y="1905000"/>
                <a:chExt cx="7924800" cy="3048000"/>
              </a:xfrm>
            </p:grpSpPr>
            <p:sp>
              <p:nvSpPr>
                <p:cNvPr id="51" name="Oval 50"/>
                <p:cNvSpPr/>
                <p:nvPr/>
              </p:nvSpPr>
              <p:spPr>
                <a:xfrm>
                  <a:off x="2895600" y="4343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3200400" y="2971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5867400" y="3429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5257800" y="2667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2286000" y="3733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Connector 56"/>
                <p:cNvCxnSpPr>
                  <a:stCxn id="56" idx="7"/>
                  <a:endCxn id="52" idx="3"/>
                </p:cNvCxnSpPr>
                <p:nvPr/>
              </p:nvCxnSpPr>
              <p:spPr>
                <a:xfrm flipV="1">
                  <a:off x="2416082" y="3101882"/>
                  <a:ext cx="806636" cy="6542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>
                  <a:stCxn id="52" idx="6"/>
                  <a:endCxn id="85" idx="3"/>
                </p:cNvCxnSpPr>
                <p:nvPr/>
              </p:nvCxnSpPr>
              <p:spPr>
                <a:xfrm flipV="1">
                  <a:off x="3352799" y="2776486"/>
                  <a:ext cx="800490" cy="271514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>
                  <a:stCxn id="54" idx="5"/>
                  <a:endCxn id="53" idx="0"/>
                </p:cNvCxnSpPr>
                <p:nvPr/>
              </p:nvCxnSpPr>
              <p:spPr>
                <a:xfrm>
                  <a:off x="5387882" y="2797082"/>
                  <a:ext cx="555718" cy="6319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>
                  <a:stCxn id="51" idx="1"/>
                  <a:endCxn id="56" idx="5"/>
                </p:cNvCxnSpPr>
                <p:nvPr/>
              </p:nvCxnSpPr>
              <p:spPr>
                <a:xfrm flipH="1" flipV="1">
                  <a:off x="2416082" y="3863882"/>
                  <a:ext cx="501836" cy="5018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>
                  <a:endCxn id="51" idx="6"/>
                </p:cNvCxnSpPr>
                <p:nvPr/>
              </p:nvCxnSpPr>
              <p:spPr>
                <a:xfrm flipH="1" flipV="1">
                  <a:off x="3048000" y="4419600"/>
                  <a:ext cx="631918" cy="1747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>
                  <a:endCxn id="53" idx="3"/>
                </p:cNvCxnSpPr>
                <p:nvPr/>
              </p:nvCxnSpPr>
              <p:spPr>
                <a:xfrm flipV="1">
                  <a:off x="5257800" y="3559082"/>
                  <a:ext cx="631918" cy="740384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>
                  <a:stCxn id="53" idx="6"/>
                  <a:endCxn id="65" idx="1"/>
                </p:cNvCxnSpPr>
                <p:nvPr/>
              </p:nvCxnSpPr>
              <p:spPr>
                <a:xfrm>
                  <a:off x="6019800" y="3505200"/>
                  <a:ext cx="936718" cy="985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Oval 64"/>
                <p:cNvSpPr/>
                <p:nvPr/>
              </p:nvSpPr>
              <p:spPr>
                <a:xfrm>
                  <a:off x="6934200" y="3581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6400800" y="2133600"/>
                  <a:ext cx="1066800" cy="1524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Oval 66"/>
                <p:cNvSpPr/>
                <p:nvPr/>
              </p:nvSpPr>
              <p:spPr>
                <a:xfrm>
                  <a:off x="6248400" y="2057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7467600" y="2209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/>
                <p:cNvSpPr/>
                <p:nvPr/>
              </p:nvSpPr>
              <p:spPr>
                <a:xfrm>
                  <a:off x="2362200" y="2362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0" name="Straight Connector 69"/>
                <p:cNvCxnSpPr>
                  <a:stCxn id="69" idx="5"/>
                  <a:endCxn id="52" idx="1"/>
                </p:cNvCxnSpPr>
                <p:nvPr/>
              </p:nvCxnSpPr>
              <p:spPr>
                <a:xfrm>
                  <a:off x="2492282" y="2492282"/>
                  <a:ext cx="730436" cy="5018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Oval 70"/>
                <p:cNvSpPr/>
                <p:nvPr/>
              </p:nvSpPr>
              <p:spPr>
                <a:xfrm>
                  <a:off x="1295400" y="2133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2" name="Straight Connector 71"/>
                <p:cNvCxnSpPr>
                  <a:stCxn id="71" idx="6"/>
                  <a:endCxn id="69" idx="1"/>
                </p:cNvCxnSpPr>
                <p:nvPr/>
              </p:nvCxnSpPr>
              <p:spPr>
                <a:xfrm>
                  <a:off x="1447800" y="2209800"/>
                  <a:ext cx="936718" cy="17471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>
                  <a:off x="685800" y="3810000"/>
                  <a:ext cx="925559" cy="2667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>
                  <a:stCxn id="56" idx="3"/>
                  <a:endCxn id="76" idx="7"/>
                </p:cNvCxnSpPr>
                <p:nvPr/>
              </p:nvCxnSpPr>
              <p:spPr>
                <a:xfrm flipH="1">
                  <a:off x="1730282" y="3863882"/>
                  <a:ext cx="578036" cy="1970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/>
                <p:cNvSpPr/>
                <p:nvPr/>
              </p:nvSpPr>
              <p:spPr>
                <a:xfrm>
                  <a:off x="609600" y="3733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>
                  <a:off x="1600200" y="4038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7" name="Straight Connector 76"/>
                <p:cNvCxnSpPr>
                  <a:endCxn id="76" idx="3"/>
                </p:cNvCxnSpPr>
                <p:nvPr/>
              </p:nvCxnSpPr>
              <p:spPr>
                <a:xfrm flipV="1">
                  <a:off x="990600" y="4168682"/>
                  <a:ext cx="631918" cy="69645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/>
                <p:cNvSpPr/>
                <p:nvPr/>
              </p:nvSpPr>
              <p:spPr>
                <a:xfrm>
                  <a:off x="914400" y="4800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Connector 78"/>
                <p:cNvCxnSpPr>
                  <a:endCxn id="65" idx="6"/>
                </p:cNvCxnSpPr>
                <p:nvPr/>
              </p:nvCxnSpPr>
              <p:spPr>
                <a:xfrm flipH="1" flipV="1">
                  <a:off x="7086600" y="3657600"/>
                  <a:ext cx="1219200" cy="5334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0" name="Oval 79"/>
                <p:cNvSpPr/>
                <p:nvPr/>
              </p:nvSpPr>
              <p:spPr>
                <a:xfrm>
                  <a:off x="8229600" y="41148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8382000" y="1905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Connector 81"/>
                <p:cNvCxnSpPr>
                  <a:stCxn id="81" idx="2"/>
                </p:cNvCxnSpPr>
                <p:nvPr/>
              </p:nvCxnSpPr>
              <p:spPr>
                <a:xfrm flipH="1">
                  <a:off x="7620000" y="1981200"/>
                  <a:ext cx="762000" cy="27323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3" name="Oval 82"/>
            <p:cNvSpPr/>
            <p:nvPr/>
          </p:nvSpPr>
          <p:spPr>
            <a:xfrm>
              <a:off x="4057143" y="617220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Connector 83"/>
            <p:cNvCxnSpPr/>
            <p:nvPr/>
          </p:nvCxnSpPr>
          <p:spPr>
            <a:xfrm>
              <a:off x="4572000" y="4495800"/>
              <a:ext cx="914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/>
            <p:cNvSpPr/>
            <p:nvPr/>
          </p:nvSpPr>
          <p:spPr>
            <a:xfrm>
              <a:off x="4514343" y="441960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410200" y="5955030"/>
              <a:ext cx="133857" cy="14097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971836" y="4507468"/>
            <a:ext cx="1362164" cy="369332"/>
            <a:chOff x="3492376" y="4495800"/>
            <a:chExt cx="1362164" cy="369332"/>
          </a:xfrm>
        </p:grpSpPr>
        <p:sp>
          <p:nvSpPr>
            <p:cNvPr id="91" name="TextBox 90"/>
            <p:cNvSpPr txBox="1"/>
            <p:nvPr/>
          </p:nvSpPr>
          <p:spPr>
            <a:xfrm>
              <a:off x="349237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560870" y="4495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  <p:sp>
        <p:nvSpPr>
          <p:cNvPr id="93" name="Curved Down Arrow 92"/>
          <p:cNvSpPr/>
          <p:nvPr/>
        </p:nvSpPr>
        <p:spPr>
          <a:xfrm>
            <a:off x="4014713" y="1878836"/>
            <a:ext cx="1395487" cy="940564"/>
          </a:xfrm>
          <a:prstGeom prst="curvedDownArrow">
            <a:avLst>
              <a:gd name="adj1" fmla="val 13354"/>
              <a:gd name="adj2" fmla="val 32943"/>
              <a:gd name="adj3" fmla="val 20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0" name="Group 99"/>
          <p:cNvGrpSpPr/>
          <p:nvPr/>
        </p:nvGrpSpPr>
        <p:grpSpPr>
          <a:xfrm>
            <a:off x="2895600" y="990600"/>
            <a:ext cx="3306404" cy="2502932"/>
            <a:chOff x="2895600" y="990600"/>
            <a:chExt cx="3306404" cy="2502932"/>
          </a:xfrm>
        </p:grpSpPr>
        <p:grpSp>
          <p:nvGrpSpPr>
            <p:cNvPr id="45" name="Group 44"/>
            <p:cNvGrpSpPr/>
            <p:nvPr/>
          </p:nvGrpSpPr>
          <p:grpSpPr>
            <a:xfrm>
              <a:off x="3960706" y="3124200"/>
              <a:ext cx="1362164" cy="369332"/>
              <a:chOff x="3492376" y="4495800"/>
              <a:chExt cx="1362164" cy="369332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3492376" y="44958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u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560870" y="44958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v</a:t>
                </a:r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2895600" y="2286000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a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435320" y="13716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b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900754" y="990600"/>
              <a:ext cx="280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c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943600" y="1828800"/>
              <a:ext cx="258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867400" y="2819400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r</a:t>
              </a:r>
            </a:p>
          </p:txBody>
        </p:sp>
      </p:grp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572000" y="3945255"/>
            <a:ext cx="0" cy="2760345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11" idx="3"/>
            <a:endCxn id="29" idx="6"/>
          </p:cNvCxnSpPr>
          <p:nvPr/>
        </p:nvCxnSpPr>
        <p:spPr>
          <a:xfrm flipH="1">
            <a:off x="6019800" y="2568482"/>
            <a:ext cx="555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553200" y="2438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6629400" y="237386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19800" y="243840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26</a:t>
            </a:r>
          </a:p>
        </p:txBody>
      </p:sp>
      <p:sp>
        <p:nvSpPr>
          <p:cNvPr id="12" name="Freeform 11"/>
          <p:cNvSpPr/>
          <p:nvPr/>
        </p:nvSpPr>
        <p:spPr>
          <a:xfrm>
            <a:off x="3757961" y="5408341"/>
            <a:ext cx="2821259" cy="1058284"/>
          </a:xfrm>
          <a:custGeom>
            <a:avLst/>
            <a:gdLst>
              <a:gd name="connsiteX0" fmla="*/ 0 w 2821259"/>
              <a:gd name="connsiteY0" fmla="*/ 836342 h 1058284"/>
              <a:gd name="connsiteX1" fmla="*/ 1427356 w 2821259"/>
              <a:gd name="connsiteY1" fmla="*/ 1003610 h 1058284"/>
              <a:gd name="connsiteX2" fmla="*/ 2821259 w 2821259"/>
              <a:gd name="connsiteY2" fmla="*/ 0 h 105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1259" h="1058284">
                <a:moveTo>
                  <a:pt x="0" y="836342"/>
                </a:moveTo>
                <a:cubicBezTo>
                  <a:pt x="478573" y="989671"/>
                  <a:pt x="957146" y="1143000"/>
                  <a:pt x="1427356" y="1003610"/>
                </a:cubicBezTo>
                <a:cubicBezTo>
                  <a:pt x="1897566" y="864220"/>
                  <a:pt x="2359412" y="432110"/>
                  <a:pt x="2821259" y="0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6447196" y="4953000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11240" y="426720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01840" y="612380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81000" y="49530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53000"/>
                <a:ext cx="38183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/>
          <p:cNvSpPr txBox="1"/>
          <p:nvPr/>
        </p:nvSpPr>
        <p:spPr>
          <a:xfrm>
            <a:off x="3551596" y="6248400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Ribbon 47">
            <a:extLst>
              <a:ext uri="{FF2B5EF4-FFF2-40B4-BE49-F238E27FC236}">
                <a16:creationId xmlns:a16="http://schemas.microsoft.com/office/drawing/2014/main" id="{EF1C7320-40FC-5F96-1AF3-CF12DC30363A}"/>
              </a:ext>
            </a:extLst>
          </p:cNvPr>
          <p:cNvSpPr/>
          <p:nvPr/>
        </p:nvSpPr>
        <p:spPr>
          <a:xfrm>
            <a:off x="-540951" y="2026659"/>
            <a:ext cx="3940650" cy="1121243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We get another spanning tree of weight less than that of MST. – A contradiction.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967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BCACE5-7495-5635-8B40-29325DFD3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 o</a:t>
            </a:r>
            <a:r>
              <a:rPr lang="en-US" b="1" dirty="0"/>
              <a:t>f the last lecture</a:t>
            </a:r>
            <a:endParaRPr lang="en-IN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96F137C-5E9C-B547-B97A-515C3F2CB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71A9-EAC3-C58A-B504-DC659394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9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There are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jobs: </a:t>
                </a:r>
              </a:p>
              <a:p>
                <a:r>
                  <a:rPr lang="en-US" sz="1800" dirty="0"/>
                  <a:t>Each job takes certain </a:t>
                </a:r>
                <a:r>
                  <a:rPr lang="en-US" sz="1800" b="1" dirty="0"/>
                  <a:t>time</a:t>
                </a:r>
                <a:r>
                  <a:rPr lang="en-US" sz="1800" dirty="0"/>
                  <a:t> for execution.</a:t>
                </a:r>
              </a:p>
              <a:p>
                <a:r>
                  <a:rPr lang="en-US" sz="1800" dirty="0"/>
                  <a:t>Each job also has a </a:t>
                </a:r>
                <a:r>
                  <a:rPr lang="en-US" sz="1800" b="1" dirty="0"/>
                  <a:t>deadline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There is a </a:t>
                </a:r>
                <a:r>
                  <a:rPr lang="en-US" sz="1800" u="sng" dirty="0"/>
                  <a:t>single</a:t>
                </a:r>
                <a:r>
                  <a:rPr lang="en-US" sz="1800" dirty="0"/>
                  <a:t> server.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All jobs need to </a:t>
                </a:r>
                <a:r>
                  <a:rPr lang="en-US" sz="1800"/>
                  <a:t>be scheduled.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1800" dirty="0"/>
                  <a:t>: Compute an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,…,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 in which the jobs should be scheduled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such that maximum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800" dirty="0"/>
                  <a:t> is minimized.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,…,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3509" r="-5682" b="-2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time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736" t="-3448" r="-2778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has deadline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02" t="-3448" r="-2703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57200" y="6336268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29129" y="633626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blipFill rotWithShape="1">
                <a:blip r:embed="rId6"/>
                <a:stretch>
                  <a:fillRect t="-14286" b="-30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blipFill rotWithShape="1">
                <a:blip r:embed="rId7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blipFill rotWithShape="1">
                <a:blip r:embed="rId8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blipFill rotWithShape="1">
                <a:blip r:embed="rId9"/>
                <a:stretch>
                  <a:fillRect t="-14035" r="-2198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457200" y="6160532"/>
            <a:ext cx="0" cy="31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962400" y="6019800"/>
            <a:ext cx="381000" cy="76200"/>
            <a:chOff x="4572000" y="4724400"/>
            <a:chExt cx="381000" cy="76200"/>
          </a:xfrm>
        </p:grpSpPr>
        <p:sp>
          <p:nvSpPr>
            <p:cNvPr id="18" name="Oval 17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blipFill rotWithShape="1">
                <a:blip r:embed="rId11"/>
                <a:stretch>
                  <a:fillRect t="-14035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5334000" y="6019800"/>
            <a:ext cx="381000" cy="76200"/>
            <a:chOff x="4572000" y="4724400"/>
            <a:chExt cx="381000" cy="76200"/>
          </a:xfrm>
        </p:grpSpPr>
        <p:sp>
          <p:nvSpPr>
            <p:cNvPr id="24" name="Oval 23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5181600" y="4953000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4469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blipFill rotWithShape="1">
                <a:blip r:embed="rId12"/>
                <a:stretch>
                  <a:fillRect t="-6154" r="-1477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blipFill rotWithShape="1">
                <a:blip r:embed="rId13"/>
                <a:stretch>
                  <a:fillRect t="-6250" r="-1604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67235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blipFill rotWithShape="1">
                <a:blip r:embed="rId14"/>
                <a:stretch>
                  <a:fillRect t="-6154" r="-15909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3446915" y="5257800"/>
            <a:ext cx="17346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:r>
                  <a:rPr lang="en-US" sz="1400" dirty="0"/>
                  <a:t>of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blipFill rotWithShape="1">
                <a:blip r:embed="rId15"/>
                <a:stretch>
                  <a:fillRect l="-1485" r="-495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066800" y="354076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62400" y="3505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/>
      <p:bldP spid="22" grpId="0" animBg="1"/>
      <p:bldP spid="30" grpId="0"/>
      <p:bldP spid="31" grpId="0"/>
      <p:bldP spid="33" grpId="0"/>
      <p:bldP spid="33" grpId="1"/>
      <p:bldP spid="36" grpId="0"/>
      <p:bldP spid="1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57200" y="6336268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29129" y="633626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blipFill>
                <a:blip r:embed="rId2"/>
                <a:stretch>
                  <a:fillRect b="-19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blipFill>
                <a:blip r:embed="rId3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457200" y="6160532"/>
            <a:ext cx="0" cy="31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120242" y="4964668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968378" y="3135868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493983" y="40386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9">
                <a:extLst>
                  <a:ext uri="{FF2B5EF4-FFF2-40B4-BE49-F238E27FC236}">
                    <a16:creationId xmlns:a16="http://schemas.microsoft.com/office/drawing/2014/main" id="{A07CA242-6290-C7C7-A6B1-F7CE719D8C39}"/>
                  </a:ext>
                </a:extLst>
              </p:cNvPr>
              <p:cNvSpPr/>
              <p:nvPr/>
            </p:nvSpPr>
            <p:spPr>
              <a:xfrm>
                <a:off x="494232" y="2286000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ounded Rectangle 9">
                <a:extLst>
                  <a:ext uri="{FF2B5EF4-FFF2-40B4-BE49-F238E27FC236}">
                    <a16:creationId xmlns:a16="http://schemas.microsoft.com/office/drawing/2014/main" id="{A07CA242-6290-C7C7-A6B1-F7CE719D8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2286000"/>
                <a:ext cx="1066800" cy="316468"/>
              </a:xfrm>
              <a:prstGeom prst="roundRect">
                <a:avLst/>
              </a:prstGeom>
              <a:blipFill>
                <a:blip r:embed="rId11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10">
                <a:extLst>
                  <a:ext uri="{FF2B5EF4-FFF2-40B4-BE49-F238E27FC236}">
                    <a16:creationId xmlns:a16="http://schemas.microsoft.com/office/drawing/2014/main" id="{05C666F8-F0FE-7BAC-5392-8D54F7AB743B}"/>
                  </a:ext>
                </a:extLst>
              </p:cNvPr>
              <p:cNvSpPr/>
              <p:nvPr/>
            </p:nvSpPr>
            <p:spPr>
              <a:xfrm>
                <a:off x="494232" y="4191000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ounded Rectangle 10">
                <a:extLst>
                  <a:ext uri="{FF2B5EF4-FFF2-40B4-BE49-F238E27FC236}">
                    <a16:creationId xmlns:a16="http://schemas.microsoft.com/office/drawing/2014/main" id="{05C666F8-F0FE-7BAC-5392-8D54F7AB7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4191000"/>
                <a:ext cx="1905000" cy="304800"/>
              </a:xfrm>
              <a:prstGeom prst="roundRect">
                <a:avLst/>
              </a:prstGeom>
              <a:blipFill>
                <a:blip r:embed="rId12"/>
                <a:stretch>
                  <a:fillRect b="-20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11">
                <a:extLst>
                  <a:ext uri="{FF2B5EF4-FFF2-40B4-BE49-F238E27FC236}">
                    <a16:creationId xmlns:a16="http://schemas.microsoft.com/office/drawing/2014/main" id="{17549D29-61DF-4B8C-0782-77C8B761255D}"/>
                  </a:ext>
                </a:extLst>
              </p:cNvPr>
              <p:cNvSpPr/>
              <p:nvPr/>
            </p:nvSpPr>
            <p:spPr>
              <a:xfrm>
                <a:off x="494232" y="3288268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ounded Rectangle 11">
                <a:extLst>
                  <a:ext uri="{FF2B5EF4-FFF2-40B4-BE49-F238E27FC236}">
                    <a16:creationId xmlns:a16="http://schemas.microsoft.com/office/drawing/2014/main" id="{17549D29-61DF-4B8C-0782-77C8B7612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3288268"/>
                <a:ext cx="1600200" cy="304800"/>
              </a:xfrm>
              <a:prstGeom prst="roundRect">
                <a:avLst/>
              </a:prstGeom>
              <a:blipFill>
                <a:blip r:embed="rId13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E2FDE30-D1B2-5963-A682-4334E6C5698C}"/>
              </a:ext>
            </a:extLst>
          </p:cNvPr>
          <p:cNvCxnSpPr/>
          <p:nvPr/>
        </p:nvCxnSpPr>
        <p:spPr>
          <a:xfrm>
            <a:off x="4782438" y="2145268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FBE0AD-0011-03A2-9E05-B0329DA27F25}"/>
                  </a:ext>
                </a:extLst>
              </p:cNvPr>
              <p:cNvSpPr txBox="1"/>
              <p:nvPr/>
            </p:nvSpPr>
            <p:spPr>
              <a:xfrm>
                <a:off x="2457448" y="3505756"/>
                <a:ext cx="9075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FBE0AD-0011-03A2-9E05-B0329DA27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48" y="3505756"/>
                <a:ext cx="90755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9DA0E2-C1D2-8139-67D7-0355063A4485}"/>
                  </a:ext>
                </a:extLst>
              </p:cNvPr>
              <p:cNvSpPr txBox="1"/>
              <p:nvPr/>
            </p:nvSpPr>
            <p:spPr>
              <a:xfrm>
                <a:off x="4267200" y="2550652"/>
                <a:ext cx="1030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9DA0E2-C1D2-8139-67D7-0355063A4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550652"/>
                <a:ext cx="103047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999430-1E43-2F3F-D3BA-902764D3AAB3}"/>
                  </a:ext>
                </a:extLst>
              </p:cNvPr>
              <p:cNvSpPr txBox="1"/>
              <p:nvPr/>
            </p:nvSpPr>
            <p:spPr>
              <a:xfrm>
                <a:off x="3976085" y="4407436"/>
                <a:ext cx="10357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999430-1E43-2F3F-D3BA-902764D3A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085" y="4407436"/>
                <a:ext cx="103579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8DD8D1-18DA-A166-4390-0E1107427836}"/>
              </a:ext>
            </a:extLst>
          </p:cNvPr>
          <p:cNvCxnSpPr>
            <a:cxnSpLocks/>
          </p:cNvCxnSpPr>
          <p:nvPr/>
        </p:nvCxnSpPr>
        <p:spPr>
          <a:xfrm>
            <a:off x="494232" y="2170383"/>
            <a:ext cx="1093805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963E86-97D8-DC66-2434-BB25B79DA770}"/>
                  </a:ext>
                </a:extLst>
              </p:cNvPr>
              <p:cNvSpPr txBox="1"/>
              <p:nvPr/>
            </p:nvSpPr>
            <p:spPr>
              <a:xfrm>
                <a:off x="858231" y="188004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963E86-97D8-DC66-2434-BB25B79DA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31" y="1880044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06AC9F3-EECC-0F1B-CAF5-5F3AB2EE3ED2}"/>
              </a:ext>
            </a:extLst>
          </p:cNvPr>
          <p:cNvCxnSpPr>
            <a:cxnSpLocks/>
          </p:cNvCxnSpPr>
          <p:nvPr/>
        </p:nvCxnSpPr>
        <p:spPr>
          <a:xfrm>
            <a:off x="533400" y="3197607"/>
            <a:ext cx="156103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F0D497-4D3E-B582-9EAE-5A1F85886ADC}"/>
                  </a:ext>
                </a:extLst>
              </p:cNvPr>
              <p:cNvSpPr txBox="1"/>
              <p:nvPr/>
            </p:nvSpPr>
            <p:spPr>
              <a:xfrm>
                <a:off x="1007480" y="2929735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F0D497-4D3E-B582-9EAE-5A1F85886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80" y="2929735"/>
                <a:ext cx="54213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4E4738A-5C0C-069F-B503-B503774A2BF4}"/>
              </a:ext>
            </a:extLst>
          </p:cNvPr>
          <p:cNvCxnSpPr>
            <a:cxnSpLocks/>
          </p:cNvCxnSpPr>
          <p:nvPr/>
        </p:nvCxnSpPr>
        <p:spPr>
          <a:xfrm>
            <a:off x="533400" y="4100339"/>
            <a:ext cx="185473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AB3F3-47EF-5190-A960-C421215D9391}"/>
                  </a:ext>
                </a:extLst>
              </p:cNvPr>
              <p:cNvSpPr txBox="1"/>
              <p:nvPr/>
            </p:nvSpPr>
            <p:spPr>
              <a:xfrm>
                <a:off x="1131013" y="3821668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AB3F3-47EF-5190-A960-C421215D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13" y="3821668"/>
                <a:ext cx="54213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ounded Rectangle 10">
                <a:extLst>
                  <a:ext uri="{FF2B5EF4-FFF2-40B4-BE49-F238E27FC236}">
                    <a16:creationId xmlns:a16="http://schemas.microsoft.com/office/drawing/2014/main" id="{D343E505-77D6-306A-9881-816BD10C317C}"/>
                  </a:ext>
                </a:extLst>
              </p:cNvPr>
              <p:cNvSpPr/>
              <p:nvPr/>
            </p:nvSpPr>
            <p:spPr>
              <a:xfrm>
                <a:off x="3215242" y="5879068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Rounded Rectangle 10">
                <a:extLst>
                  <a:ext uri="{FF2B5EF4-FFF2-40B4-BE49-F238E27FC236}">
                    <a16:creationId xmlns:a16="http://schemas.microsoft.com/office/drawing/2014/main" id="{D343E505-77D6-306A-9881-816BD10C3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242" y="5879068"/>
                <a:ext cx="1905000" cy="304800"/>
              </a:xfrm>
              <a:prstGeom prst="roundRect">
                <a:avLst/>
              </a:prstGeom>
              <a:blipFill>
                <a:blip r:embed="rId20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7CBD87-17EC-540B-FF34-A61B782B8D3D}"/>
              </a:ext>
            </a:extLst>
          </p:cNvPr>
          <p:cNvCxnSpPr/>
          <p:nvPr/>
        </p:nvCxnSpPr>
        <p:spPr>
          <a:xfrm>
            <a:off x="1588037" y="4947166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2755C4-8260-A7A2-1617-20090A1BB39E}"/>
              </a:ext>
            </a:extLst>
          </p:cNvPr>
          <p:cNvCxnSpPr/>
          <p:nvPr/>
        </p:nvCxnSpPr>
        <p:spPr>
          <a:xfrm>
            <a:off x="3200400" y="4964668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228B4F3-67C4-A332-C81B-6B1AC68F7783}"/>
                  </a:ext>
                </a:extLst>
              </p:cNvPr>
              <p:cNvSpPr txBox="1"/>
              <p:nvPr/>
            </p:nvSpPr>
            <p:spPr>
              <a:xfrm>
                <a:off x="1405134" y="467283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228B4F3-67C4-A332-C81B-6B1AC68F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134" y="4672839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E86141A-8FBE-5AF5-D56D-6465AAA63A60}"/>
                  </a:ext>
                </a:extLst>
              </p:cNvPr>
              <p:cNvSpPr txBox="1"/>
              <p:nvPr/>
            </p:nvSpPr>
            <p:spPr>
              <a:xfrm>
                <a:off x="2911226" y="4668788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7.5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E86141A-8FBE-5AF5-D56D-6465AAA63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226" y="4668788"/>
                <a:ext cx="54213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DC80A84-B0D3-7A84-930A-6260D63BF36E}"/>
                  </a:ext>
                </a:extLst>
              </p:cNvPr>
              <p:cNvSpPr txBox="1"/>
              <p:nvPr/>
            </p:nvSpPr>
            <p:spPr>
              <a:xfrm>
                <a:off x="4849174" y="4699427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DC80A84-B0D3-7A84-930A-6260D63BF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174" y="4699427"/>
                <a:ext cx="49404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C754DF-07F3-104D-A456-145D7E0A29F5}"/>
                  </a:ext>
                </a:extLst>
              </p:cNvPr>
              <p:cNvSpPr txBox="1"/>
              <p:nvPr/>
            </p:nvSpPr>
            <p:spPr>
              <a:xfrm>
                <a:off x="6634581" y="2206966"/>
                <a:ext cx="1588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Lateness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C754DF-07F3-104D-A456-145D7E0A2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581" y="2206966"/>
                <a:ext cx="1588640" cy="369332"/>
              </a:xfrm>
              <a:prstGeom prst="rect">
                <a:avLst/>
              </a:prstGeom>
              <a:blipFill>
                <a:blip r:embed="rId24"/>
                <a:stretch>
                  <a:fillRect l="-3065" t="-8197" r="-229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5538DB0-9ACD-052C-EF80-14B048FEED8E}"/>
                  </a:ext>
                </a:extLst>
              </p:cNvPr>
              <p:cNvSpPr txBox="1"/>
              <p:nvPr/>
            </p:nvSpPr>
            <p:spPr>
              <a:xfrm>
                <a:off x="6634581" y="2568416"/>
                <a:ext cx="1593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Lateness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5538DB0-9ACD-052C-EF80-14B048FEE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581" y="2568416"/>
                <a:ext cx="1593962" cy="369332"/>
              </a:xfrm>
              <a:prstGeom prst="rect">
                <a:avLst/>
              </a:prstGeom>
              <a:blipFill>
                <a:blip r:embed="rId25"/>
                <a:stretch>
                  <a:fillRect l="-3053" t="-8197" r="-229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1AA1461-17BA-DB29-D746-C1DB4A7E14C9}"/>
                  </a:ext>
                </a:extLst>
              </p:cNvPr>
              <p:cNvSpPr txBox="1"/>
              <p:nvPr/>
            </p:nvSpPr>
            <p:spPr>
              <a:xfrm>
                <a:off x="6631920" y="2963187"/>
                <a:ext cx="1593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Lateness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1AA1461-17BA-DB29-D746-C1DB4A7E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920" y="2963187"/>
                <a:ext cx="1593962" cy="369332"/>
              </a:xfrm>
              <a:prstGeom prst="rect">
                <a:avLst/>
              </a:prstGeom>
              <a:blipFill>
                <a:blip r:embed="rId26"/>
                <a:stretch>
                  <a:fillRect l="-3448" t="-8197" r="-229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367552-9132-1DF7-2619-1FD11166557F}"/>
                  </a:ext>
                </a:extLst>
              </p:cNvPr>
              <p:cNvSpPr txBox="1"/>
              <p:nvPr/>
            </p:nvSpPr>
            <p:spPr>
              <a:xfrm>
                <a:off x="8086544" y="2215745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367552-9132-1DF7-2619-1FD111665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44" y="2215745"/>
                <a:ext cx="365806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B6D7E7-8627-DFAF-76B2-9DA301FF089A}"/>
                  </a:ext>
                </a:extLst>
              </p:cNvPr>
              <p:cNvSpPr txBox="1"/>
              <p:nvPr/>
            </p:nvSpPr>
            <p:spPr>
              <a:xfrm>
                <a:off x="8086544" y="2606813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B6D7E7-8627-DFAF-76B2-9DA301FF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44" y="2606813"/>
                <a:ext cx="542136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34B19B-0162-A15D-C385-44604844B68A}"/>
                  </a:ext>
                </a:extLst>
              </p:cNvPr>
              <p:cNvSpPr txBox="1"/>
              <p:nvPr/>
            </p:nvSpPr>
            <p:spPr>
              <a:xfrm>
                <a:off x="8086544" y="300717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34B19B-0162-A15D-C385-44604844B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44" y="3007177"/>
                <a:ext cx="365806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CEC3718-FBEE-2E30-4101-F8BCDA9E270B}"/>
              </a:ext>
            </a:extLst>
          </p:cNvPr>
          <p:cNvSpPr txBox="1"/>
          <p:nvPr/>
        </p:nvSpPr>
        <p:spPr>
          <a:xfrm>
            <a:off x="6553200" y="3569695"/>
            <a:ext cx="229229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Maximum lateness = </a:t>
            </a:r>
            <a:r>
              <a:rPr lang="en-US" dirty="0">
                <a:solidFill>
                  <a:srgbClr val="0070C0"/>
                </a:solidFill>
              </a:rPr>
              <a:t>3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38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 animBg="1"/>
      <p:bldP spid="17" grpId="0"/>
      <p:bldP spid="16" grpId="0" animBg="1"/>
      <p:bldP spid="28" grpId="0" animBg="1"/>
      <p:bldP spid="37" grpId="0" animBg="1"/>
      <p:bldP spid="39" grpId="0"/>
      <p:bldP spid="40" grpId="0"/>
      <p:bldP spid="41" grpId="0"/>
      <p:bldP spid="43" grpId="0"/>
      <p:bldP spid="46" grpId="0"/>
      <p:bldP spid="49" grpId="0"/>
      <p:bldP spid="51" grpId="0" animBg="1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Each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 has two parameters</a:t>
                </a:r>
              </a:p>
              <a:p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b="1" dirty="0"/>
                  <a:t>Deadline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Idea 1</a:t>
                </a:r>
                <a:r>
                  <a:rPr lang="en-US" sz="2000" dirty="0"/>
                  <a:t>: Schedule the jobs in the increasing order of </a:t>
                </a:r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2819400" y="4584192"/>
            <a:ext cx="411487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5763768" y="4584192"/>
            <a:ext cx="408432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05000" y="4191000"/>
            <a:ext cx="219457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prove 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25" y="4191000"/>
            <a:ext cx="34315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come up with a counter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3429000"/>
            <a:ext cx="1828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00400" y="3429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8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" grpId="0" animBg="1"/>
      <p:bldP spid="8" grpId="0" animBg="1"/>
      <p:bldP spid="9" grpId="0" animBg="1"/>
      <p:bldP spid="10" grpId="0" animBg="1"/>
      <p:bldP spid="5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 </a:t>
            </a:r>
            <a:r>
              <a:rPr lang="en-US" sz="3200" b="1" dirty="0">
                <a:solidFill>
                  <a:srgbClr val="FF0000"/>
                </a:solidFill>
              </a:rPr>
              <a:t>counterexample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blipFill rotWithShape="1">
                <a:blip r:embed="rId2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971800" y="34290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20457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83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33528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/>
              <p:cNvSpPr/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blipFill rotWithShape="1">
                <a:blip r:embed="rId8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1910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971800" y="365760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loud Callout 20"/>
              <p:cNvSpPr/>
              <p:nvPr/>
            </p:nvSpPr>
            <p:spPr>
              <a:xfrm>
                <a:off x="4953001" y="1142999"/>
                <a:ext cx="4190999" cy="1600201"/>
              </a:xfrm>
              <a:prstGeom prst="cloudCallout">
                <a:avLst>
                  <a:gd name="adj1" fmla="val -25408"/>
                  <a:gd name="adj2" fmla="val 789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should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ensure that the other permutation gives the optimal schedule ?</a:t>
                </a:r>
              </a:p>
            </p:txBody>
          </p:sp>
        </mc:Choice>
        <mc:Fallback xmlns="">
          <p:sp>
            <p:nvSpPr>
              <p:cNvPr id="21" name="Cloud Callou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1142999"/>
                <a:ext cx="4190999" cy="1600201"/>
              </a:xfrm>
              <a:prstGeom prst="cloudCallout">
                <a:avLst>
                  <a:gd name="adj1" fmla="val -25408"/>
                  <a:gd name="adj2" fmla="val 78967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B399993-9299-C244-2D3D-F1F8CC08C236}"/>
              </a:ext>
            </a:extLst>
          </p:cNvPr>
          <p:cNvSpPr txBox="1"/>
          <p:nvPr/>
        </p:nvSpPr>
        <p:spPr>
          <a:xfrm>
            <a:off x="0" y="1137166"/>
            <a:ext cx="271151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Let us consider only 2 jobs.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925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4" grpId="0"/>
      <p:bldP spid="18" grpId="0" animBg="1"/>
      <p:bldP spid="20" grpId="0"/>
      <p:bldP spid="26" grpId="0"/>
      <p:bldP spid="27" grpId="0"/>
      <p:bldP spid="30" grpId="0" animBg="1"/>
      <p:bldP spid="33" grpId="0" animBg="1"/>
      <p:bldP spid="21" grpId="0" animBg="1"/>
      <p:bldP spid="21" grpId="1" animBg="1"/>
      <p:bldP spid="6" grpId="0" animBg="1"/>
      <p:bldP spid="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 </a:t>
            </a:r>
            <a:r>
              <a:rPr lang="en-US" sz="3200" b="1" dirty="0">
                <a:solidFill>
                  <a:srgbClr val="FF0000"/>
                </a:solidFill>
              </a:rPr>
              <a:t>counterexample</a:t>
            </a:r>
            <a:endParaRPr lang="en-US" sz="32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7239000" cy="4983163"/>
          </a:xfrm>
        </p:spPr>
        <p:txBody>
          <a:bodyPr/>
          <a:lstStyle/>
          <a:p>
            <a:pPr>
              <a:buFont typeface="Wingdings"/>
              <a:buChar char="è"/>
            </a:pPr>
            <a:r>
              <a:rPr lang="en-US" sz="2000" dirty="0">
                <a:sym typeface="Wingdings" pitchFamily="2" charset="2"/>
              </a:rPr>
              <a:t>The job with farther </a:t>
            </a:r>
            <a:r>
              <a:rPr lang="en-US" sz="2000" b="1" dirty="0">
                <a:sym typeface="Wingdings" pitchFamily="2" charset="2"/>
              </a:rPr>
              <a:t>deadline</a:t>
            </a:r>
            <a:r>
              <a:rPr lang="en-US" sz="2000" dirty="0">
                <a:sym typeface="Wingdings" pitchFamily="2" charset="2"/>
              </a:rPr>
              <a:t> should be scheduled </a:t>
            </a:r>
            <a:r>
              <a:rPr lang="en-US" sz="2000" u="sng" dirty="0">
                <a:sym typeface="Wingdings" pitchFamily="2" charset="2"/>
              </a:rPr>
              <a:t>later</a:t>
            </a:r>
            <a:r>
              <a:rPr lang="en-US" sz="2000" dirty="0">
                <a:sym typeface="Wingdings" pitchFamily="2" charset="2"/>
              </a:rPr>
              <a:t>.</a:t>
            </a:r>
          </a:p>
          <a:p>
            <a:pPr>
              <a:buFont typeface="Wingdings"/>
              <a:buChar char="è"/>
            </a:pPr>
            <a:r>
              <a:rPr lang="en-US" sz="2000" dirty="0">
                <a:sym typeface="Wingdings" pitchFamily="2" charset="2"/>
              </a:rPr>
              <a:t>the job with </a:t>
            </a:r>
            <a:r>
              <a:rPr lang="en-US" sz="2000" b="1" dirty="0">
                <a:sym typeface="Wingdings" pitchFamily="2" charset="2"/>
              </a:rPr>
              <a:t>earlier</a:t>
            </a:r>
            <a:r>
              <a:rPr lang="en-US" sz="2000" dirty="0">
                <a:sym typeface="Wingdings" pitchFamily="2" charset="2"/>
              </a:rPr>
              <a:t> deadline should be scheduled </a:t>
            </a:r>
            <a:r>
              <a:rPr lang="en-US" sz="2000" u="sng" dirty="0">
                <a:sym typeface="Wingdings" pitchFamily="2" charset="2"/>
              </a:rPr>
              <a:t>first</a:t>
            </a:r>
            <a:r>
              <a:rPr lang="en-US" sz="2000" dirty="0">
                <a:sym typeface="Wingdings" pitchFamily="2" charset="2"/>
              </a:rPr>
              <a:t>.</a:t>
            </a:r>
            <a:endParaRPr lang="en-US" sz="2000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2000" i="1" dirty="0">
              <a:solidFill>
                <a:srgbClr val="0070C0"/>
              </a:solidFill>
              <a:latin typeface="Cambria Math"/>
            </a:endParaRPr>
          </a:p>
          <a:p>
            <a:pPr marL="0" indent="0">
              <a:buNone/>
            </a:pPr>
            <a:endParaRPr lang="en-US" sz="2000" i="1" dirty="0">
              <a:solidFill>
                <a:srgbClr val="0070C0"/>
              </a:solidFill>
              <a:latin typeface="Cambria Math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971800" y="34290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20457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83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8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33528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/>
              <p:cNvSpPr/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blipFill rotWithShape="1">
                <a:blip r:embed="rId10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1910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971800" y="365760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429000" y="24384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ine Callout 1 24"/>
              <p:cNvSpPr/>
              <p:nvPr/>
            </p:nvSpPr>
            <p:spPr>
              <a:xfrm>
                <a:off x="6090920" y="296672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Line Callout 1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0" y="296672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blipFill rotWithShape="1">
                <a:blip r:embed="rId11"/>
                <a:stretch>
                  <a:fillRect b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ine Callout 1 28"/>
              <p:cNvSpPr/>
              <p:nvPr/>
            </p:nvSpPr>
            <p:spPr>
              <a:xfrm>
                <a:off x="6172200" y="419100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Line Callout 1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19100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blipFill rotWithShape="1">
                <a:blip r:embed="rId12"/>
                <a:stretch>
                  <a:fillRect b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7010400" y="2872264"/>
            <a:ext cx="381000" cy="480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086600" y="4091464"/>
            <a:ext cx="381000" cy="480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3429000" y="2209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179649" y="2602468"/>
                <a:ext cx="472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649" y="2602468"/>
                <a:ext cx="472630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68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729129" y="213360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1245" y="336446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3920883" y="11430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886200" y="15240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riped Right Arrow 10"/>
          <p:cNvSpPr/>
          <p:nvPr/>
        </p:nvSpPr>
        <p:spPr>
          <a:xfrm>
            <a:off x="2938026" y="2986564"/>
            <a:ext cx="483245" cy="492204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371600" y="558225"/>
            <a:ext cx="6320898" cy="58477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an </a:t>
            </a:r>
            <a:r>
              <a:rPr lang="en-US" sz="3200" b="1" dirty="0">
                <a:solidFill>
                  <a:srgbClr val="006C31"/>
                </a:solidFill>
              </a:rPr>
              <a:t>algorithm        </a:t>
            </a:r>
            <a:endParaRPr lang="en-US" sz="3200" dirty="0">
              <a:solidFill>
                <a:srgbClr val="006C31"/>
              </a:solidFill>
            </a:endParaRPr>
          </a:p>
        </p:txBody>
      </p:sp>
      <p:sp>
        <p:nvSpPr>
          <p:cNvPr id="13" name="Down Ribbon 12"/>
          <p:cNvSpPr/>
          <p:nvPr/>
        </p:nvSpPr>
        <p:spPr>
          <a:xfrm>
            <a:off x="5448300" y="1842532"/>
            <a:ext cx="3276600" cy="105513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C31"/>
                </a:solidFill>
              </a:rPr>
              <a:t>This counterexample hints at a very important point as well.</a:t>
            </a:r>
          </a:p>
        </p:txBody>
      </p:sp>
    </p:spTree>
    <p:extLst>
      <p:ext uri="{BB962C8B-B14F-4D97-AF65-F5344CB8AC3E}">
        <p14:creationId xmlns:p14="http://schemas.microsoft.com/office/powerpoint/2010/main" val="951086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2956E-6 L -0.04253 -0.0495 C -0.05156 -0.06084 -0.06475 -0.06662 -0.07882 -0.06662 C -0.09461 -0.06662 -0.10711 -0.06084 -0.11632 -0.0495 L -0.15833 -1.42956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-33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30" grpId="0" animBg="1"/>
      <p:bldP spid="33" grpId="0" animBg="1"/>
      <p:bldP spid="25" grpId="0" animBg="1"/>
      <p:bldP spid="29" grpId="0" animBg="1"/>
      <p:bldP spid="2" grpId="0" animBg="1"/>
      <p:bldP spid="31" grpId="0" animBg="1"/>
      <p:bldP spid="34" grpId="0"/>
      <p:bldP spid="3" grpId="0"/>
      <p:bldP spid="36" grpId="0"/>
      <p:bldP spid="6" grpId="0" animBg="1"/>
      <p:bldP spid="37" grpId="0" animBg="1"/>
      <p:bldP spid="11" grpId="0" animBg="1"/>
      <p:bldP spid="11" grpId="1" animBg="1"/>
      <p:bldP spid="38" grpId="0" animBg="1"/>
      <p:bldP spid="13" grpId="0" animBg="1"/>
      <p:bldP spid="1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94232" y="3429000"/>
            <a:ext cx="7582968" cy="328136"/>
            <a:chOff x="494232" y="3429000"/>
            <a:chExt cx="7582968" cy="328136"/>
          </a:xfrm>
        </p:grpSpPr>
        <p:sp>
          <p:nvSpPr>
            <p:cNvPr id="9" name="Rounded Rectangle 8"/>
            <p:cNvSpPr/>
            <p:nvPr/>
          </p:nvSpPr>
          <p:spPr>
            <a:xfrm>
              <a:off x="494232" y="3440668"/>
              <a:ext cx="1066800" cy="316468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72200" y="3440668"/>
              <a:ext cx="1905000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588037" y="3446502"/>
              <a:ext cx="1600200" cy="3048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00400" y="3429000"/>
              <a:ext cx="528729" cy="32813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24271" y="3429000"/>
              <a:ext cx="909729" cy="322302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33800" y="3429000"/>
              <a:ext cx="690471" cy="32230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334000" y="3429000"/>
              <a:ext cx="838200" cy="32813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437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6C31"/>
                </a:solidFill>
              </a:rPr>
              <a:t>Homework</a:t>
            </a:r>
            <a:r>
              <a:rPr lang="en-US" sz="2000" dirty="0"/>
              <a:t>: </a:t>
            </a:r>
          </a:p>
          <a:p>
            <a:r>
              <a:rPr lang="en-US" sz="2000" dirty="0"/>
              <a:t>Write a neat </a:t>
            </a:r>
            <a:r>
              <a:rPr lang="en-US" sz="2000" dirty="0" err="1"/>
              <a:t>pseudocode</a:t>
            </a:r>
            <a:r>
              <a:rPr lang="en-US" sz="2000" dirty="0"/>
              <a:t> of an efficient algorithm for this problem.</a:t>
            </a:r>
          </a:p>
          <a:p>
            <a:r>
              <a:rPr lang="en-US" sz="2000" dirty="0"/>
              <a:t>Write a formal proof of correctness of the algorithm.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94232" y="3440668"/>
            <a:ext cx="1066800" cy="3164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3440668"/>
            <a:ext cx="19050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588037" y="3446502"/>
            <a:ext cx="16002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200400" y="3429000"/>
            <a:ext cx="528729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424271" y="3429000"/>
            <a:ext cx="909729" cy="32230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733800" y="3429000"/>
            <a:ext cx="690471" cy="3223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334000" y="3429000"/>
            <a:ext cx="838200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3729129" y="1752600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329329" y="1752600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5029200" y="2209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43400" y="22098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Callout 20">
            <a:extLst>
              <a:ext uri="{FF2B5EF4-FFF2-40B4-BE49-F238E27FC236}">
                <a16:creationId xmlns:a16="http://schemas.microsoft.com/office/drawing/2014/main" id="{EED82992-7DCD-A7B3-E93F-7C219A13E997}"/>
              </a:ext>
            </a:extLst>
          </p:cNvPr>
          <p:cNvSpPr/>
          <p:nvPr/>
        </p:nvSpPr>
        <p:spPr>
          <a:xfrm>
            <a:off x="5181601" y="1345168"/>
            <a:ext cx="4121512" cy="1017032"/>
          </a:xfrm>
          <a:prstGeom prst="cloudCallout">
            <a:avLst>
              <a:gd name="adj1" fmla="val -25408"/>
              <a:gd name="adj2" fmla="val 789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happens if we just swap these 2 jobs only.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E4291-F98F-3CA4-EF84-DDB6EE7EB86B}"/>
              </a:ext>
            </a:extLst>
          </p:cNvPr>
          <p:cNvSpPr txBox="1"/>
          <p:nvPr/>
        </p:nvSpPr>
        <p:spPr>
          <a:xfrm>
            <a:off x="-8017" y="1339917"/>
            <a:ext cx="3898888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All other jobs remain unaffected.</a:t>
            </a:r>
            <a:endParaRPr lang="en-IN" dirty="0"/>
          </a:p>
          <a:p>
            <a:r>
              <a:rPr lang="en-US" dirty="0"/>
              <a:t>The maximum lateness for these 2 jobs </a:t>
            </a:r>
          </a:p>
          <a:p>
            <a:r>
              <a:rPr lang="en-US" dirty="0"/>
              <a:t>Can only reduce.</a:t>
            </a:r>
          </a:p>
        </p:txBody>
      </p:sp>
    </p:spTree>
    <p:extLst>
      <p:ext uri="{BB962C8B-B14F-4D97-AF65-F5344CB8AC3E}">
        <p14:creationId xmlns:p14="http://schemas.microsoft.com/office/powerpoint/2010/main" val="653411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8043E-7 L 0.02552 0.04071 C 0.0309 0.04997 0.03889 0.05505 0.04739 0.05505 C 0.05694 0.05505 0.06458 0.04997 0.06996 0.04071 L 0.09566 1.8043E-7 " pathEditMode="relative" rAng="0" ptsTypes="FffFF">
                                      <p:cBhvr>
                                        <p:cTn id="3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4" y="2753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043E-7 L -0.02014 -0.05043 C -0.02448 -0.06176 -0.03073 -0.06778 -0.03733 -0.06778 C -0.04479 -0.06778 -0.0507 -0.06176 -0.05504 -0.05043 L -0.075 1.8043E-7 " pathEditMode="relative" rAng="0" ptsTypes="FffFF">
                                      <p:cBhvr>
                                        <p:cTn id="3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-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9" grpId="0" animBg="1"/>
      <p:bldP spid="24" grpId="0" animBg="1"/>
      <p:bldP spid="2" grpId="0" animBg="1"/>
      <p:bldP spid="2" grpId="1" animBg="1"/>
      <p:bldP spid="4" grpId="0" animBg="1"/>
      <p:bldP spid="4" grpId="1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Huffman Codes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novel</a:t>
            </a:r>
            <a:r>
              <a:rPr lang="en-US" dirty="0">
                <a:solidFill>
                  <a:schemeClr val="tx1"/>
                </a:solidFill>
              </a:rPr>
              <a:t> and quite </a:t>
            </a:r>
            <a:r>
              <a:rPr lang="en-US" dirty="0">
                <a:solidFill>
                  <a:srgbClr val="0070C0"/>
                </a:solidFill>
              </a:rPr>
              <a:t>inspiring</a:t>
            </a:r>
            <a:r>
              <a:rPr lang="en-US" dirty="0">
                <a:solidFill>
                  <a:schemeClr val="tx1"/>
                </a:solidFill>
              </a:rPr>
              <a:t> application of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Fixed length </a:t>
            </a:r>
            <a:r>
              <a:rPr lang="en-US" sz="3600" b="1" dirty="0"/>
              <a:t>coding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binary 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</a:t>
                </a:r>
                <a:r>
                  <a:rPr lang="en-US" sz="2000" b="1" dirty="0">
                    <a:sym typeface="Wingdings" pitchFamily="2" charset="2"/>
                  </a:rPr>
                  <a:t>binary strings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</a:t>
                </a:r>
                <a:r>
                  <a:rPr lang="en-US" sz="2000" b="1" dirty="0"/>
                  <a:t>fixed length </a:t>
                </a:r>
                <a:r>
                  <a:rPr lang="en-US" sz="2000" dirty="0"/>
                  <a:t>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each alphabet </a:t>
                </a:r>
                <a:r>
                  <a:rPr lang="en-US" sz="2000" dirty="0">
                    <a:sym typeface="Wingdings" pitchFamily="2" charset="2"/>
                  </a:rPr>
                  <a:t> a unique binary </a:t>
                </a:r>
                <a:r>
                  <a:rPr lang="en-US" sz="2000" dirty="0"/>
                  <a:t>string of length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to decode a </a:t>
                </a:r>
                <a:r>
                  <a:rPr lang="en-US" sz="2000" b="1" dirty="0"/>
                  <a:t>fixed length binary </a:t>
                </a:r>
                <a:r>
                  <a:rPr lang="en-US" sz="2000" dirty="0"/>
                  <a:t>coding?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7030A0"/>
                    </a:solidFill>
                  </a:rPr>
                  <a:t>easy </a:t>
                </a: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</a:t>
                </a: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    </m:t>
                      </m:r>
                      <m:r>
                        <a:rPr lang="en-US" sz="2000" b="1" i="1" dirty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𝟏𝟎𝟎𝟏𝟎𝟏𝟎𝟎𝟎𝟎𝟎𝟏𝟎𝟏𝟏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74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962400" y="4800600"/>
            <a:ext cx="1828800" cy="457200"/>
            <a:chOff x="3962400" y="4800600"/>
            <a:chExt cx="1828800" cy="4572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9624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5720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1816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7912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1600200" y="3733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00200" y="2667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00200" y="16002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71800" y="3048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179"/>
            <a:ext cx="5419526" cy="4335621"/>
          </a:xfr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054" y="1600200"/>
            <a:ext cx="2185546" cy="492395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6107668"/>
            <a:ext cx="454509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http://en.wikipedia.org/wiki/Letter_frequency</a:t>
            </a:r>
          </a:p>
        </p:txBody>
      </p:sp>
    </p:spTree>
    <p:extLst>
      <p:ext uri="{BB962C8B-B14F-4D97-AF65-F5344CB8AC3E}">
        <p14:creationId xmlns:p14="http://schemas.microsoft.com/office/powerpoint/2010/main" val="330829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How to exploit variation in the frequencies of alphabets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More frequent </a:t>
            </a:r>
            <a:r>
              <a:rPr lang="en-US" sz="2000" dirty="0"/>
              <a:t>alphabets </a:t>
            </a:r>
            <a:r>
              <a:rPr lang="en-US" sz="2000" dirty="0">
                <a:sym typeface="Wingdings" pitchFamily="2" charset="2"/>
              </a:rPr>
              <a:t> coding with </a:t>
            </a:r>
            <a:r>
              <a:rPr lang="en-US" sz="2000" b="1" dirty="0">
                <a:sym typeface="Wingdings" pitchFamily="2" charset="2"/>
              </a:rPr>
              <a:t>shorter bit string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Less frequent </a:t>
            </a:r>
            <a:r>
              <a:rPr lang="en-US" sz="2000" dirty="0">
                <a:sym typeface="Wingdings" pitchFamily="2" charset="2"/>
              </a:rPr>
              <a:t>alphabets  coding with </a:t>
            </a:r>
            <a:r>
              <a:rPr lang="en-US" sz="2000" b="1" dirty="0">
                <a:sym typeface="Wingdings" pitchFamily="2" charset="2"/>
              </a:rPr>
              <a:t>longer bit string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00400" y="4114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24200" y="4572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00200" y="2667000"/>
            <a:ext cx="601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7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Variable</a:t>
            </a:r>
            <a:r>
              <a:rPr lang="en-US" sz="3200" b="1" dirty="0"/>
              <a:t> length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58900028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Average bit length </a:t>
                </a:r>
                <a:r>
                  <a:rPr lang="en-US" sz="1800" dirty="0"/>
                  <a:t>per symbol using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dirty="0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i="1" dirty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𝟒𝟓</m:t>
                    </m:r>
                    <m:r>
                      <a:rPr lang="en-US" sz="1600" b="0" i="1" dirty="0" smtClean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𝟏𝟖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𝟐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𝟏𝟐</m:t>
                    </m:r>
                    <m:r>
                      <a:rPr lang="en-US" sz="1600" b="1" i="1" dirty="0"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𝟗𝟐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>
                    <a:solidFill>
                      <a:schemeClr val="tx1"/>
                    </a:solidFill>
                  </a:rPr>
                  <a:t>: How will you decode  </a:t>
                </a:r>
                <a:r>
                  <a:rPr lang="en-US" sz="2400" dirty="0">
                    <a:solidFill>
                      <a:schemeClr val="tx1"/>
                    </a:solidFill>
                  </a:rPr>
                  <a:t>01010111 </a:t>
                </a:r>
                <a:r>
                  <a:rPr lang="en-US" sz="1800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 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𝒂𝒃𝒃𝒆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     </a:t>
                </a:r>
                <a:r>
                  <a:rPr lang="en-US" sz="1800" dirty="0"/>
                  <a:t>or   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𝒂</m:t>
                    </m:r>
                    <m:r>
                      <a:rPr lang="en-US" sz="1800" b="1" i="1" smtClean="0">
                        <a:latin typeface="Cambria Math"/>
                      </a:rPr>
                      <m:t>𝒅𝒂</m:t>
                    </m:r>
                    <m:r>
                      <a:rPr lang="en-US" sz="1800" b="1" i="1">
                        <a:latin typeface="Cambria Math"/>
                      </a:rPr>
                      <m:t>𝒆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      </a:t>
                </a: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/>
                  <a:t>: What is th</a:t>
                </a:r>
                <a:r>
                  <a:rPr lang="en-US" sz="1800" dirty="0">
                    <a:sym typeface="Wingdings" pitchFamily="2" charset="2"/>
                  </a:rPr>
                  <a:t>e source of this ambiguity ?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Answer</a:t>
                </a:r>
                <a:r>
                  <a:rPr lang="en-US" sz="1600" dirty="0">
                    <a:solidFill>
                      <a:schemeClr val="tx1"/>
                    </a:solidFill>
                  </a:rPr>
                  <a:t>:  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is  a prefix of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/>
                          </a:rPr>
                          <m:t>𝒅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  <a:blipFill rotWithShape="1">
                <a:blip r:embed="rId3"/>
                <a:stretch>
                  <a:fillRect l="-1125" t="-674"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own Ribbon 18"/>
              <p:cNvSpPr/>
              <p:nvPr/>
            </p:nvSpPr>
            <p:spPr>
              <a:xfrm>
                <a:off x="4495800" y="5334000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is a serious problem with the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encoding. Can you see? </a:t>
                </a:r>
              </a:p>
            </p:txBody>
          </p:sp>
        </mc:Choice>
        <mc:Fallback xmlns="">
          <p:sp>
            <p:nvSpPr>
              <p:cNvPr id="19" name="Down Ribbon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334000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own Ribbon 19"/>
          <p:cNvSpPr/>
          <p:nvPr/>
        </p:nvSpPr>
        <p:spPr>
          <a:xfrm>
            <a:off x="4495800" y="5715000"/>
            <a:ext cx="44196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fix it 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1800" y="1981200"/>
            <a:ext cx="42757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981200"/>
            <a:ext cx="609600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1942068"/>
            <a:ext cx="16764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172200" y="3962400"/>
            <a:ext cx="16764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3381" y="3352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24200" y="4495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B69B9-1263-310F-35CD-C84B3A8B63B6}"/>
              </a:ext>
            </a:extLst>
          </p:cNvPr>
          <p:cNvSpPr/>
          <p:nvPr/>
        </p:nvSpPr>
        <p:spPr>
          <a:xfrm>
            <a:off x="6172200" y="1942068"/>
            <a:ext cx="19812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FF6E6-55D1-3920-0BD0-D37CFC71C648}"/>
              </a:ext>
            </a:extLst>
          </p:cNvPr>
          <p:cNvSpPr/>
          <p:nvPr/>
        </p:nvSpPr>
        <p:spPr>
          <a:xfrm>
            <a:off x="6019800" y="1295400"/>
            <a:ext cx="21336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E6C7C-3C42-698A-3228-77958B76C5FB}"/>
              </a:ext>
            </a:extLst>
          </p:cNvPr>
          <p:cNvSpPr/>
          <p:nvPr/>
        </p:nvSpPr>
        <p:spPr>
          <a:xfrm>
            <a:off x="6477000" y="265682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4498E-A4B2-82B2-2A3E-81D64360B17D}"/>
              </a:ext>
            </a:extLst>
          </p:cNvPr>
          <p:cNvSpPr/>
          <p:nvPr/>
        </p:nvSpPr>
        <p:spPr>
          <a:xfrm>
            <a:off x="5410200" y="266700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CD6E7-E2BD-5846-3892-8DB2506F46D6}"/>
              </a:ext>
            </a:extLst>
          </p:cNvPr>
          <p:cNvSpPr/>
          <p:nvPr/>
        </p:nvSpPr>
        <p:spPr>
          <a:xfrm>
            <a:off x="4495800" y="265682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DB24DD-A62F-E10B-CA64-DECA892CA101}"/>
              </a:ext>
            </a:extLst>
          </p:cNvPr>
          <p:cNvSpPr txBox="1"/>
          <p:nvPr/>
        </p:nvSpPr>
        <p:spPr>
          <a:xfrm>
            <a:off x="76200" y="1417638"/>
            <a:ext cx="4018857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Let us think of some encoding exploiting </a:t>
            </a:r>
          </a:p>
          <a:p>
            <a:r>
              <a:rPr lang="en-US" dirty="0"/>
              <a:t>the variation in frequencies.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75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9" grpId="0" animBg="1"/>
      <p:bldP spid="19" grpId="1" animBg="1"/>
      <p:bldP spid="20" grpId="0" animBg="1"/>
      <p:bldP spid="20" grpId="1" animBg="1"/>
      <p:bldP spid="3" grpId="0" animBg="1"/>
      <p:bldP spid="3" grpId="1" animBg="1"/>
      <p:bldP spid="22" grpId="0" animBg="1"/>
      <p:bldP spid="22" grpId="1" animBg="1"/>
      <p:bldP spid="4" grpId="0" animBg="1"/>
      <p:bldP spid="23" grpId="0" animBg="1"/>
      <p:bldP spid="6" grpId="0" animBg="1"/>
      <p:bldP spid="24" grpId="0" animBg="1"/>
      <p:bldP spid="2" grpId="0" animBg="1"/>
      <p:bldP spid="7" grpId="0" animBg="1"/>
      <p:bldP spid="9" grpId="0" animBg="1"/>
      <p:bldP spid="12" grpId="0" animBg="1"/>
      <p:bldP spid="21" grpId="0" animBg="1"/>
      <p:bldP spid="25" grpId="0" animBg="1"/>
      <p:bldP spid="2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Variable</a:t>
            </a:r>
            <a:r>
              <a:rPr lang="en-US" sz="3200" b="1" dirty="0"/>
              <a:t> length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714606834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Average bit length </a:t>
                </a:r>
                <a:r>
                  <a:rPr lang="en-US" sz="1800" dirty="0"/>
                  <a:t>per alphabet using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dirty="0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i="1" dirty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𝟒𝟓</m:t>
                    </m:r>
                    <m:r>
                      <a:rPr lang="en-US" sz="1600" b="0" i="1" dirty="0" smtClean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𝟏𝟖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𝟏𝟐</m:t>
                    </m:r>
                    <m:r>
                      <a:rPr lang="en-US" sz="1600" b="1" i="1" dirty="0"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  <a:blipFill>
                <a:blip r:embed="rId3"/>
                <a:stretch>
                  <a:fillRect l="-1125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1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Prefix</a:t>
            </a:r>
            <a:r>
              <a:rPr lang="en-US" sz="3600" b="1" dirty="0"/>
              <a:t> Coding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Definition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 coding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b="0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called prefix coding 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there </a:t>
                </a:r>
                <a:r>
                  <a:rPr lang="en-US" sz="2000" u="sng" dirty="0"/>
                  <a:t>does </a:t>
                </a:r>
                <a:r>
                  <a:rPr lang="en-US" sz="2000" b="1" u="sng" dirty="0"/>
                  <a:t>not</a:t>
                </a:r>
                <a:r>
                  <a:rPr lang="en-US" sz="2000" u="sng" dirty="0"/>
                  <a:t> exist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,</m:t>
                    </m:r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such that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prefix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 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Algorithmic Problem</a:t>
                </a:r>
                <a:r>
                  <a:rPr lang="en-US" sz="2000" dirty="0"/>
                  <a:t>: Given a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alphabets and their frequencies,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coding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such that</a:t>
                </a:r>
              </a:p>
              <a:p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is prefix coding</a:t>
                </a: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2000" dirty="0"/>
                  <a:t> is minimum.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819400" y="41148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4191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00400" y="2667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2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The challenge of the problem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00201"/>
            <a:ext cx="6156678" cy="346313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92442" y="5334000"/>
                <a:ext cx="750423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Among all possible binary coding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, how to find the </a:t>
                </a:r>
                <a:r>
                  <a:rPr lang="en-US" b="1" dirty="0"/>
                  <a:t>optimal</a:t>
                </a:r>
                <a:r>
                  <a:rPr lang="en-US" dirty="0"/>
                  <a:t> </a:t>
                </a:r>
                <a:r>
                  <a:rPr lang="en-US" b="1" dirty="0"/>
                  <a:t>prefix</a:t>
                </a:r>
                <a:r>
                  <a:rPr lang="en-US" dirty="0"/>
                  <a:t> coding ?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42" y="5334000"/>
                <a:ext cx="750423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31" t="-8197" r="-4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581400" y="5973999"/>
            <a:ext cx="33693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It looks too complex </a:t>
            </a:r>
            <a:r>
              <a:rPr lang="en-US" dirty="0">
                <a:sym typeface="Wingdings" pitchFamily="2" charset="2"/>
              </a:rPr>
              <a:t> because 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5F33E-8128-E63F-BED9-6C155A4FD7DF}"/>
              </a:ext>
            </a:extLst>
          </p:cNvPr>
          <p:cNvSpPr txBox="1"/>
          <p:nvPr/>
        </p:nvSpPr>
        <p:spPr>
          <a:xfrm>
            <a:off x="1192442" y="6429332"/>
            <a:ext cx="693651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it is too difficult to see any structure underlying the set of binary strings</a:t>
            </a:r>
          </a:p>
        </p:txBody>
      </p:sp>
    </p:spTree>
    <p:extLst>
      <p:ext uri="{BB962C8B-B14F-4D97-AF65-F5344CB8AC3E}">
        <p14:creationId xmlns:p14="http://schemas.microsoft.com/office/powerpoint/2010/main" val="3515013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3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7030A0"/>
                </a:solidFill>
              </a:rPr>
              <a:t>novel idea </a:t>
            </a:r>
            <a:r>
              <a:rPr lang="en-US" sz="3600" b="1" dirty="0"/>
              <a:t>of Huffman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5715000" y="2721899"/>
            <a:ext cx="2819400" cy="2231101"/>
            <a:chOff x="5441763" y="1631763"/>
            <a:chExt cx="2819400" cy="2231101"/>
          </a:xfrm>
        </p:grpSpPr>
        <p:grpSp>
          <p:nvGrpSpPr>
            <p:cNvPr id="6" name="Group 5"/>
            <p:cNvGrpSpPr/>
            <p:nvPr/>
          </p:nvGrpSpPr>
          <p:grpSpPr>
            <a:xfrm>
              <a:off x="5441763" y="1631763"/>
              <a:ext cx="2819400" cy="1416237"/>
              <a:chOff x="3079563" y="1447800"/>
              <a:chExt cx="2819400" cy="1416237"/>
            </a:xfrm>
          </p:grpSpPr>
          <p:cxnSp>
            <p:nvCxnSpPr>
              <p:cNvPr id="7" name="Straight Arrow Connector 6"/>
              <p:cNvCxnSpPr>
                <a:endCxn id="12" idx="7"/>
              </p:cNvCxnSpPr>
              <p:nvPr/>
            </p:nvCxnSpPr>
            <p:spPr>
              <a:xfrm flipH="1">
                <a:off x="3689163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3" idx="3"/>
              </p:cNvCxnSpPr>
              <p:nvPr/>
            </p:nvCxnSpPr>
            <p:spPr>
              <a:xfrm flipH="1">
                <a:off x="4755963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44196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12" idx="3"/>
              </p:cNvCxnSpPr>
              <p:nvPr/>
            </p:nvCxnSpPr>
            <p:spPr>
              <a:xfrm flipH="1">
                <a:off x="3079563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12" idx="5"/>
              </p:cNvCxnSpPr>
              <p:nvPr/>
            </p:nvCxnSpPr>
            <p:spPr>
              <a:xfrm>
                <a:off x="3689163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34290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1816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Arrow Connector 14"/>
              <p:cNvCxnSpPr>
                <a:stCxn id="13" idx="5"/>
              </p:cNvCxnSpPr>
              <p:nvPr/>
            </p:nvCxnSpPr>
            <p:spPr>
              <a:xfrm>
                <a:off x="5441763" y="2317563"/>
                <a:ext cx="457200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6172200" y="3493532"/>
              <a:ext cx="1218347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tree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343400" y="2836605"/>
            <a:ext cx="1143000" cy="1049595"/>
            <a:chOff x="4343400" y="1828800"/>
            <a:chExt cx="1143000" cy="1049595"/>
          </a:xfrm>
        </p:grpSpPr>
        <p:sp>
          <p:nvSpPr>
            <p:cNvPr id="20" name="Left-Right Arrow 19"/>
            <p:cNvSpPr/>
            <p:nvPr/>
          </p:nvSpPr>
          <p:spPr>
            <a:xfrm>
              <a:off x="4343400" y="2241363"/>
              <a:ext cx="1143000" cy="63703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4400" y="1828800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21637" y="2819400"/>
            <a:ext cx="1323849" cy="381000"/>
            <a:chOff x="6521637" y="2819400"/>
            <a:chExt cx="1323849" cy="381000"/>
          </a:xfrm>
        </p:grpSpPr>
        <p:sp>
          <p:nvSpPr>
            <p:cNvPr id="25" name="TextBox 24"/>
            <p:cNvSpPr txBox="1"/>
            <p:nvPr/>
          </p:nvSpPr>
          <p:spPr>
            <a:xfrm>
              <a:off x="6521637" y="2819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5438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718114" y="3581400"/>
            <a:ext cx="2813172" cy="381000"/>
            <a:chOff x="5718114" y="3581400"/>
            <a:chExt cx="2813172" cy="381000"/>
          </a:xfrm>
        </p:grpSpPr>
        <p:sp>
          <p:nvSpPr>
            <p:cNvPr id="27" name="TextBox 26"/>
            <p:cNvSpPr txBox="1"/>
            <p:nvPr/>
          </p:nvSpPr>
          <p:spPr>
            <a:xfrm>
              <a:off x="8229600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18114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707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039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63092" y="4586790"/>
            <a:ext cx="92044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Labeled</a:t>
            </a:r>
          </a:p>
        </p:txBody>
      </p:sp>
      <p:pic>
        <p:nvPicPr>
          <p:cNvPr id="32" name="Content Placeholder 5">
            <a:extLst>
              <a:ext uri="{FF2B5EF4-FFF2-40B4-BE49-F238E27FC236}">
                <a16:creationId xmlns:a16="http://schemas.microsoft.com/office/drawing/2014/main" id="{EA715C7A-68FA-1268-CE7C-C4F16C84D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310" y="2494003"/>
            <a:ext cx="3376460" cy="208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B9A426F-E068-C5ED-24E3-76AF09B88D8E}"/>
              </a:ext>
            </a:extLst>
          </p:cNvPr>
          <p:cNvSpPr txBox="1"/>
          <p:nvPr/>
        </p:nvSpPr>
        <p:spPr>
          <a:xfrm>
            <a:off x="2275326" y="3367099"/>
            <a:ext cx="1536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Each encoding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007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       nodes </a:t>
            </a:r>
            <a:r>
              <a:rPr lang="en-US" sz="2000" b="1" dirty="0">
                <a:sym typeface="Wingdings" pitchFamily="2" charset="2"/>
              </a:rPr>
              <a:t>  </a:t>
            </a:r>
            <a:r>
              <a:rPr lang="en-US" sz="2000" b="1" dirty="0">
                <a:solidFill>
                  <a:srgbClr val="C00000"/>
                </a:solidFill>
                <a:sym typeface="Wingdings" pitchFamily="2" charset="2"/>
              </a:rPr>
              <a:t>?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  <a:r>
              <a:rPr lang="en-US" sz="2000" b="1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895600" y="1752600"/>
            <a:ext cx="3124200" cy="2438400"/>
            <a:chOff x="2895600" y="1752600"/>
            <a:chExt cx="3124200" cy="2438400"/>
          </a:xfrm>
        </p:grpSpPr>
        <p:cxnSp>
          <p:nvCxnSpPr>
            <p:cNvPr id="12" name="Straight Arrow Connector 11"/>
            <p:cNvCxnSpPr>
              <a:stCxn id="123" idx="2"/>
              <a:endCxn id="121" idx="7"/>
            </p:cNvCxnSpPr>
            <p:nvPr/>
          </p:nvCxnSpPr>
          <p:spPr>
            <a:xfrm flipH="1">
              <a:off x="3689163" y="19050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4755963" y="3384363"/>
              <a:ext cx="882837" cy="501837"/>
              <a:chOff x="1098363" y="3308163"/>
              <a:chExt cx="882837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0983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16317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/>
            <p:cNvCxnSpPr>
              <a:stCxn id="122" idx="3"/>
              <a:endCxn id="116" idx="7"/>
            </p:cNvCxnSpPr>
            <p:nvPr/>
          </p:nvCxnSpPr>
          <p:spPr>
            <a:xfrm flipH="1">
              <a:off x="5289363" y="2622363"/>
              <a:ext cx="4702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122" idx="1"/>
            </p:cNvCxnSpPr>
            <p:nvPr/>
          </p:nvCxnSpPr>
          <p:spPr>
            <a:xfrm>
              <a:off x="4876800" y="19050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19" idx="5"/>
              <a:endCxn id="110" idx="0"/>
            </p:cNvCxnSpPr>
            <p:nvPr/>
          </p:nvCxnSpPr>
          <p:spPr>
            <a:xfrm>
              <a:off x="3155763" y="3308163"/>
              <a:ext cx="349437" cy="5780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3155763" y="2622363"/>
              <a:ext cx="851274" cy="546474"/>
              <a:chOff x="3124200" y="2577726"/>
              <a:chExt cx="851274" cy="546474"/>
            </a:xfrm>
          </p:grpSpPr>
          <p:cxnSp>
            <p:nvCxnSpPr>
              <p:cNvPr id="33" name="Straight Arrow Connector 32"/>
              <p:cNvCxnSpPr>
                <a:stCxn id="121" idx="3"/>
                <a:endCxn id="119" idx="7"/>
              </p:cNvCxnSpPr>
              <p:nvPr/>
            </p:nvCxnSpPr>
            <p:spPr>
              <a:xfrm flipH="1">
                <a:off x="3124200" y="2577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3657600" y="2577726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3352800" y="3886200"/>
              <a:ext cx="2438400" cy="304800"/>
              <a:chOff x="3429000" y="4495800"/>
              <a:chExt cx="2438400" cy="304800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3429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>
                <a:off x="4648200" y="4495800"/>
                <a:ext cx="1219200" cy="304800"/>
                <a:chOff x="990600" y="4495800"/>
                <a:chExt cx="12192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990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1905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2895600" y="3048000"/>
              <a:ext cx="2438400" cy="381000"/>
              <a:chOff x="2590800" y="4419600"/>
              <a:chExt cx="2438400" cy="3810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2590800" y="4419600"/>
                <a:ext cx="1371600" cy="381000"/>
                <a:chOff x="2590800" y="4419600"/>
                <a:chExt cx="1371600" cy="3810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657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2590800" y="4419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/>
              <p:cNvSpPr/>
              <p:nvPr/>
            </p:nvSpPr>
            <p:spPr>
              <a:xfrm>
                <a:off x="4724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3429000" y="2362200"/>
              <a:ext cx="2590800" cy="304800"/>
              <a:chOff x="4038600" y="4495800"/>
              <a:chExt cx="25908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4038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6324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48000" y="1828800"/>
            <a:ext cx="2667000" cy="1905000"/>
            <a:chOff x="3048000" y="1828800"/>
            <a:chExt cx="2667000" cy="1905000"/>
          </a:xfrm>
        </p:grpSpPr>
        <p:grpSp>
          <p:nvGrpSpPr>
            <p:cNvPr id="45" name="Group 44"/>
            <p:cNvGrpSpPr/>
            <p:nvPr/>
          </p:nvGrpSpPr>
          <p:grpSpPr>
            <a:xfrm>
              <a:off x="3048000" y="1828800"/>
              <a:ext cx="2667000" cy="1905000"/>
              <a:chOff x="3048000" y="1828800"/>
              <a:chExt cx="2667000" cy="1905000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048000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810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76600" y="33411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3355344" y="2035629"/>
            <a:ext cx="1216655" cy="1828800"/>
          </a:xfrm>
          <a:custGeom>
            <a:avLst/>
            <a:gdLst>
              <a:gd name="connsiteX0" fmla="*/ 1268778 w 1268778"/>
              <a:gd name="connsiteY0" fmla="*/ 0 h 1828800"/>
              <a:gd name="connsiteX1" fmla="*/ 485007 w 1268778"/>
              <a:gd name="connsiteY1" fmla="*/ 457200 h 1828800"/>
              <a:gd name="connsiteX2" fmla="*/ 408807 w 1268778"/>
              <a:gd name="connsiteY2" fmla="*/ 533400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68778 w 1268778"/>
              <a:gd name="connsiteY0" fmla="*/ 0 h 1828800"/>
              <a:gd name="connsiteX1" fmla="*/ 648292 w 1268778"/>
              <a:gd name="connsiteY1" fmla="*/ 391886 h 1828800"/>
              <a:gd name="connsiteX2" fmla="*/ 408807 w 1268778"/>
              <a:gd name="connsiteY2" fmla="*/ 533400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68778 w 1268778"/>
              <a:gd name="connsiteY0" fmla="*/ 0 h 1828800"/>
              <a:gd name="connsiteX1" fmla="*/ 648292 w 1268778"/>
              <a:gd name="connsiteY1" fmla="*/ 391886 h 1828800"/>
              <a:gd name="connsiteX2" fmla="*/ 408807 w 1268778"/>
              <a:gd name="connsiteY2" fmla="*/ 620485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73008 w 1273008"/>
              <a:gd name="connsiteY0" fmla="*/ 0 h 1828800"/>
              <a:gd name="connsiteX1" fmla="*/ 652522 w 1273008"/>
              <a:gd name="connsiteY1" fmla="*/ 391886 h 1828800"/>
              <a:gd name="connsiteX2" fmla="*/ 413037 w 1273008"/>
              <a:gd name="connsiteY2" fmla="*/ 620485 h 1828800"/>
              <a:gd name="connsiteX3" fmla="*/ 10265 w 1273008"/>
              <a:gd name="connsiteY3" fmla="*/ 1143000 h 1828800"/>
              <a:gd name="connsiteX4" fmla="*/ 140894 w 1273008"/>
              <a:gd name="connsiteY4" fmla="*/ 1458685 h 1828800"/>
              <a:gd name="connsiteX5" fmla="*/ 369494 w 1273008"/>
              <a:gd name="connsiteY5" fmla="*/ 1828800 h 1828800"/>
              <a:gd name="connsiteX0" fmla="*/ 1222846 w 1222846"/>
              <a:gd name="connsiteY0" fmla="*/ 0 h 1828800"/>
              <a:gd name="connsiteX1" fmla="*/ 602360 w 1222846"/>
              <a:gd name="connsiteY1" fmla="*/ 391886 h 1828800"/>
              <a:gd name="connsiteX2" fmla="*/ 362875 w 1222846"/>
              <a:gd name="connsiteY2" fmla="*/ 620485 h 1828800"/>
              <a:gd name="connsiteX3" fmla="*/ 14531 w 1222846"/>
              <a:gd name="connsiteY3" fmla="*/ 1143000 h 1828800"/>
              <a:gd name="connsiteX4" fmla="*/ 90732 w 1222846"/>
              <a:gd name="connsiteY4" fmla="*/ 1458685 h 1828800"/>
              <a:gd name="connsiteX5" fmla="*/ 319332 w 1222846"/>
              <a:gd name="connsiteY5" fmla="*/ 1828800 h 1828800"/>
              <a:gd name="connsiteX0" fmla="*/ 1216348 w 1216348"/>
              <a:gd name="connsiteY0" fmla="*/ 0 h 1828800"/>
              <a:gd name="connsiteX1" fmla="*/ 595862 w 1216348"/>
              <a:gd name="connsiteY1" fmla="*/ 391886 h 1828800"/>
              <a:gd name="connsiteX2" fmla="*/ 356377 w 1216348"/>
              <a:gd name="connsiteY2" fmla="*/ 620485 h 1828800"/>
              <a:gd name="connsiteX3" fmla="*/ 8033 w 1216348"/>
              <a:gd name="connsiteY3" fmla="*/ 1143000 h 1828800"/>
              <a:gd name="connsiteX4" fmla="*/ 127777 w 1216348"/>
              <a:gd name="connsiteY4" fmla="*/ 1458685 h 1828800"/>
              <a:gd name="connsiteX5" fmla="*/ 312834 w 1216348"/>
              <a:gd name="connsiteY5" fmla="*/ 1828800 h 1828800"/>
              <a:gd name="connsiteX0" fmla="*/ 1216655 w 1216655"/>
              <a:gd name="connsiteY0" fmla="*/ 0 h 1828800"/>
              <a:gd name="connsiteX1" fmla="*/ 596169 w 1216655"/>
              <a:gd name="connsiteY1" fmla="*/ 391886 h 1828800"/>
              <a:gd name="connsiteX2" fmla="*/ 356684 w 1216655"/>
              <a:gd name="connsiteY2" fmla="*/ 620485 h 1828800"/>
              <a:gd name="connsiteX3" fmla="*/ 8340 w 1216655"/>
              <a:gd name="connsiteY3" fmla="*/ 1143000 h 1828800"/>
              <a:gd name="connsiteX4" fmla="*/ 128084 w 1216655"/>
              <a:gd name="connsiteY4" fmla="*/ 1458685 h 1828800"/>
              <a:gd name="connsiteX5" fmla="*/ 345798 w 1216655"/>
              <a:gd name="connsiteY5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6655" h="1828800">
                <a:moveTo>
                  <a:pt x="1216655" y="0"/>
                </a:moveTo>
                <a:cubicBezTo>
                  <a:pt x="1009826" y="130629"/>
                  <a:pt x="739498" y="288472"/>
                  <a:pt x="596169" y="391886"/>
                </a:cubicBezTo>
                <a:cubicBezTo>
                  <a:pt x="452841" y="495300"/>
                  <a:pt x="454655" y="495299"/>
                  <a:pt x="356684" y="620485"/>
                </a:cubicBezTo>
                <a:cubicBezTo>
                  <a:pt x="258713" y="745671"/>
                  <a:pt x="46440" y="1003300"/>
                  <a:pt x="8340" y="1143000"/>
                </a:cubicBezTo>
                <a:cubicBezTo>
                  <a:pt x="-29760" y="1282700"/>
                  <a:pt x="71841" y="1344385"/>
                  <a:pt x="128084" y="1458685"/>
                </a:cubicBezTo>
                <a:cubicBezTo>
                  <a:pt x="184327" y="1572985"/>
                  <a:pt x="283205" y="1717221"/>
                  <a:pt x="345798" y="1828800"/>
                </a:cubicBez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95600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7086600" y="2388275"/>
            <a:ext cx="1289962" cy="2308324"/>
            <a:chOff x="7086600" y="2388275"/>
            <a:chExt cx="1289962" cy="2308324"/>
          </a:xfrm>
        </p:grpSpPr>
        <p:sp>
          <p:nvSpPr>
            <p:cNvPr id="71" name="TextBox 70"/>
            <p:cNvSpPr txBox="1"/>
            <p:nvPr/>
          </p:nvSpPr>
          <p:spPr>
            <a:xfrm>
              <a:off x="7781527" y="2388275"/>
              <a:ext cx="595035" cy="23083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0,</a:t>
              </a:r>
            </a:p>
            <a:p>
              <a:r>
                <a:rPr lang="en-US" b="1" dirty="0"/>
                <a:t>00,</a:t>
              </a:r>
            </a:p>
            <a:p>
              <a:r>
                <a:rPr lang="en-US" b="1" dirty="0"/>
                <a:t>001</a:t>
              </a:r>
            </a:p>
            <a:p>
              <a:r>
                <a:rPr lang="en-US" b="1" dirty="0"/>
                <a:t>01,</a:t>
              </a:r>
            </a:p>
            <a:p>
              <a:r>
                <a:rPr lang="en-US" b="1" dirty="0"/>
                <a:t>1,</a:t>
              </a:r>
            </a:p>
            <a:p>
              <a:r>
                <a:rPr lang="en-US" b="1" dirty="0"/>
                <a:t>10,</a:t>
              </a:r>
            </a:p>
            <a:p>
              <a:r>
                <a:rPr lang="en-US" b="1" dirty="0"/>
                <a:t>100,</a:t>
              </a:r>
            </a:p>
            <a:p>
              <a:r>
                <a:rPr lang="en-US" b="1" dirty="0"/>
                <a:t>101</a:t>
              </a:r>
            </a:p>
          </p:txBody>
        </p:sp>
        <p:sp>
          <p:nvSpPr>
            <p:cNvPr id="72" name="Right Arrow 71"/>
            <p:cNvSpPr/>
            <p:nvPr/>
          </p:nvSpPr>
          <p:spPr>
            <a:xfrm>
              <a:off x="7086600" y="2989005"/>
              <a:ext cx="694927" cy="8209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28774" y="5257800"/>
            <a:ext cx="112402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alphabets</a:t>
            </a:r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4905286" y="2016807"/>
            <a:ext cx="777763" cy="1051133"/>
          </a:xfrm>
          <a:custGeom>
            <a:avLst/>
            <a:gdLst>
              <a:gd name="connsiteX0" fmla="*/ 0 w 777763"/>
              <a:gd name="connsiteY0" fmla="*/ 0 h 1051133"/>
              <a:gd name="connsiteX1" fmla="*/ 717847 w 777763"/>
              <a:gd name="connsiteY1" fmla="*/ 410199 h 1051133"/>
              <a:gd name="connsiteX2" fmla="*/ 683664 w 777763"/>
              <a:gd name="connsiteY2" fmla="*/ 589660 h 1051133"/>
              <a:gd name="connsiteX3" fmla="*/ 247828 w 777763"/>
              <a:gd name="connsiteY3" fmla="*/ 1051133 h 105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763" h="1051133">
                <a:moveTo>
                  <a:pt x="0" y="0"/>
                </a:moveTo>
                <a:cubicBezTo>
                  <a:pt x="301951" y="155961"/>
                  <a:pt x="603903" y="311922"/>
                  <a:pt x="717847" y="410199"/>
                </a:cubicBezTo>
                <a:cubicBezTo>
                  <a:pt x="831791" y="508476"/>
                  <a:pt x="762001" y="482838"/>
                  <a:pt x="683664" y="589660"/>
                </a:cubicBezTo>
                <a:cubicBezTo>
                  <a:pt x="605328" y="696482"/>
                  <a:pt x="426578" y="873807"/>
                  <a:pt x="247828" y="1051133"/>
                </a:cubicBez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loud Callout 34">
            <a:extLst>
              <a:ext uri="{FF2B5EF4-FFF2-40B4-BE49-F238E27FC236}">
                <a16:creationId xmlns:a16="http://schemas.microsoft.com/office/drawing/2014/main" id="{D4224244-4F41-DE34-6EE4-A4D7BC99E4AF}"/>
              </a:ext>
            </a:extLst>
          </p:cNvPr>
          <p:cNvSpPr/>
          <p:nvPr/>
        </p:nvSpPr>
        <p:spPr>
          <a:xfrm>
            <a:off x="-626831" y="1126178"/>
            <a:ext cx="4876800" cy="1296801"/>
          </a:xfrm>
          <a:prstGeom prst="cloudCallout">
            <a:avLst>
              <a:gd name="adj1" fmla="val -3578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a labeled binary tree be interpreted as a encoding of a set of alphabets ?</a:t>
            </a:r>
          </a:p>
        </p:txBody>
      </p:sp>
    </p:spTree>
    <p:extLst>
      <p:ext uri="{BB962C8B-B14F-4D97-AF65-F5344CB8AC3E}">
        <p14:creationId xmlns:p14="http://schemas.microsoft.com/office/powerpoint/2010/main" val="28539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10" grpId="0" animBg="1"/>
      <p:bldP spid="10" grpId="1" animBg="1"/>
      <p:bldP spid="7" grpId="0" animBg="1"/>
      <p:bldP spid="8" grpId="0" animBg="1"/>
      <p:bldP spid="11" grpId="0" animBg="1"/>
      <p:bldP spid="11" grpId="1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2955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prefix</a:t>
            </a:r>
            <a:r>
              <a:rPr lang="en-US" sz="3200" dirty="0">
                <a:solidFill>
                  <a:srgbClr val="0070C0"/>
                </a:solidFill>
              </a:rPr>
              <a:t> codes </a:t>
            </a:r>
            <a:r>
              <a:rPr lang="en-US" sz="3200" dirty="0"/>
              <a:t>and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>
                <a:solidFill>
                  <a:srgbClr val="0070C0"/>
                </a:solidFill>
              </a:rPr>
              <a:t>labeled Binary tree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1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B557-BAA8-58D3-854A-C98A4A28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2C69DF-91E2-B82C-4DC4-C81B7F2A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0D6EB7FD-795A-8AD5-798B-13FFD6B4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Consider a prefix code </a:t>
            </a:r>
            <a:r>
              <a:rPr lang="en-US" sz="2000" b="1" dirty="0"/>
              <a:t>101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0010E-C009-929C-DEF8-52035794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6B34AE0-816C-930A-4286-050FED3D99D9}"/>
              </a:ext>
            </a:extLst>
          </p:cNvPr>
          <p:cNvSpPr/>
          <p:nvPr/>
        </p:nvSpPr>
        <p:spPr>
          <a:xfrm>
            <a:off x="4936620" y="2016095"/>
            <a:ext cx="854580" cy="1717705"/>
          </a:xfrm>
          <a:custGeom>
            <a:avLst/>
            <a:gdLst>
              <a:gd name="connsiteX0" fmla="*/ 0 w 854580"/>
              <a:gd name="connsiteY0" fmla="*/ 0 h 1717705"/>
              <a:gd name="connsiteX1" fmla="*/ 435836 w 854580"/>
              <a:gd name="connsiteY1" fmla="*/ 256374 h 1717705"/>
              <a:gd name="connsiteX2" fmla="*/ 692210 w 854580"/>
              <a:gd name="connsiteY2" fmla="*/ 410198 h 1717705"/>
              <a:gd name="connsiteX3" fmla="*/ 649481 w 854580"/>
              <a:gd name="connsiteY3" fmla="*/ 521293 h 1717705"/>
              <a:gd name="connsiteX4" fmla="*/ 333286 w 854580"/>
              <a:gd name="connsiteY4" fmla="*/ 888762 h 1717705"/>
              <a:gd name="connsiteX5" fmla="*/ 521294 w 854580"/>
              <a:gd name="connsiteY5" fmla="*/ 1239140 h 1717705"/>
              <a:gd name="connsiteX6" fmla="*/ 854580 w 854580"/>
              <a:gd name="connsiteY6" fmla="*/ 1717705 h 1717705"/>
              <a:gd name="connsiteX7" fmla="*/ 854580 w 854580"/>
              <a:gd name="connsiteY7" fmla="*/ 1717705 h 1717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580" h="1717705">
                <a:moveTo>
                  <a:pt x="0" y="0"/>
                </a:moveTo>
                <a:lnTo>
                  <a:pt x="435836" y="256374"/>
                </a:lnTo>
                <a:cubicBezTo>
                  <a:pt x="551204" y="324740"/>
                  <a:pt x="656603" y="366045"/>
                  <a:pt x="692210" y="410198"/>
                </a:cubicBezTo>
                <a:cubicBezTo>
                  <a:pt x="727817" y="454351"/>
                  <a:pt x="709302" y="441532"/>
                  <a:pt x="649481" y="521293"/>
                </a:cubicBezTo>
                <a:cubicBezTo>
                  <a:pt x="589660" y="601054"/>
                  <a:pt x="354650" y="769121"/>
                  <a:pt x="333286" y="888762"/>
                </a:cubicBezTo>
                <a:cubicBezTo>
                  <a:pt x="311922" y="1008403"/>
                  <a:pt x="434412" y="1100983"/>
                  <a:pt x="521294" y="1239140"/>
                </a:cubicBezTo>
                <a:cubicBezTo>
                  <a:pt x="608176" y="1377297"/>
                  <a:pt x="854580" y="1717705"/>
                  <a:pt x="854580" y="1717705"/>
                </a:cubicBezTo>
                <a:lnTo>
                  <a:pt x="854580" y="1717705"/>
                </a:ln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A4E85C-FB1B-1AB7-7850-1AA0CA5168C9}"/>
              </a:ext>
            </a:extLst>
          </p:cNvPr>
          <p:cNvSpPr/>
          <p:nvPr/>
        </p:nvSpPr>
        <p:spPr>
          <a:xfrm>
            <a:off x="5410200" y="3810000"/>
            <a:ext cx="457200" cy="4572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ross 83">
            <a:extLst>
              <a:ext uri="{FF2B5EF4-FFF2-40B4-BE49-F238E27FC236}">
                <a16:creationId xmlns:a16="http://schemas.microsoft.com/office/drawing/2014/main" id="{E8E526C5-D3AD-51D7-C3F1-1DA4331DCCAF}"/>
              </a:ext>
            </a:extLst>
          </p:cNvPr>
          <p:cNvSpPr/>
          <p:nvPr/>
        </p:nvSpPr>
        <p:spPr>
          <a:xfrm rot="2297699">
            <a:off x="4820853" y="3156433"/>
            <a:ext cx="241974" cy="221410"/>
          </a:xfrm>
          <a:prstGeom prst="plus">
            <a:avLst>
              <a:gd name="adj" fmla="val 4279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ross 84">
            <a:extLst>
              <a:ext uri="{FF2B5EF4-FFF2-40B4-BE49-F238E27FC236}">
                <a16:creationId xmlns:a16="http://schemas.microsoft.com/office/drawing/2014/main" id="{9037CCCB-5D5A-411A-7ED7-1184D2CE631A}"/>
              </a:ext>
            </a:extLst>
          </p:cNvPr>
          <p:cNvSpPr/>
          <p:nvPr/>
        </p:nvSpPr>
        <p:spPr>
          <a:xfrm rot="2297699">
            <a:off x="5887653" y="2184757"/>
            <a:ext cx="241974" cy="221410"/>
          </a:xfrm>
          <a:prstGeom prst="plus">
            <a:avLst>
              <a:gd name="adj" fmla="val 4279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714C3D-489B-51D0-4A3B-2859517D17C9}"/>
              </a:ext>
            </a:extLst>
          </p:cNvPr>
          <p:cNvGrpSpPr/>
          <p:nvPr/>
        </p:nvGrpSpPr>
        <p:grpSpPr>
          <a:xfrm>
            <a:off x="3689163" y="1752600"/>
            <a:ext cx="2864037" cy="2438400"/>
            <a:chOff x="3689163" y="1752600"/>
            <a:chExt cx="2864037" cy="24384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E9D6850-05AE-71B0-C662-8CBD997075D4}"/>
                </a:ext>
              </a:extLst>
            </p:cNvPr>
            <p:cNvGrpSpPr/>
            <p:nvPr/>
          </p:nvGrpSpPr>
          <p:grpSpPr>
            <a:xfrm>
              <a:off x="4007037" y="1828800"/>
              <a:ext cx="2390649" cy="1905000"/>
              <a:chOff x="4007037" y="1828800"/>
              <a:chExt cx="2390649" cy="1905000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A74C56-37BD-1E31-788E-0AB56463195E}"/>
                  </a:ext>
                </a:extLst>
              </p:cNvPr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DBAC19B-9D63-DE35-4D63-9A4DA326ACCF}"/>
                  </a:ext>
                </a:extLst>
              </p:cNvPr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EDE5BE1-95A6-70F9-9260-E859B428A922}"/>
                  </a:ext>
                </a:extLst>
              </p:cNvPr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2280E8E-2CE6-C30E-2034-C0877D125396}"/>
                  </a:ext>
                </a:extLst>
              </p:cNvPr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9B7D737-BAE6-F30A-6490-17CC80D9731C}"/>
                  </a:ext>
                </a:extLst>
              </p:cNvPr>
              <p:cNvSpPr txBox="1"/>
              <p:nvPr/>
            </p:nvSpPr>
            <p:spPr>
              <a:xfrm>
                <a:off x="6096000" y="2526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F5406CA-D1B9-DF87-6CD0-7ADAC91055DE}"/>
                  </a:ext>
                </a:extLst>
              </p:cNvPr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0297122-BC0C-1CE9-5E9E-67451406A073}"/>
                </a:ext>
              </a:extLst>
            </p:cNvPr>
            <p:cNvGrpSpPr/>
            <p:nvPr/>
          </p:nvGrpSpPr>
          <p:grpSpPr>
            <a:xfrm>
              <a:off x="3689163" y="1752600"/>
              <a:ext cx="2864037" cy="2438400"/>
              <a:chOff x="3689163" y="1752600"/>
              <a:chExt cx="2864037" cy="243840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A9B8CBC-04EA-22F8-24CD-60D229293F8A}"/>
                  </a:ext>
                </a:extLst>
              </p:cNvPr>
              <p:cNvGrpSpPr/>
              <p:nvPr/>
            </p:nvGrpSpPr>
            <p:grpSpPr>
              <a:xfrm>
                <a:off x="3689163" y="1752600"/>
                <a:ext cx="2330637" cy="2438400"/>
                <a:chOff x="3689163" y="1752600"/>
                <a:chExt cx="2330637" cy="2438400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BB6708BD-20A2-5E29-C04D-FC3227D49CDA}"/>
                    </a:ext>
                  </a:extLst>
                </p:cNvPr>
                <p:cNvCxnSpPr>
                  <a:stCxn id="123" idx="2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BF87F965-3213-CF0F-FEA6-0BE9A2427E5B}"/>
                    </a:ext>
                  </a:extLst>
                </p:cNvPr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A8601554-B8E8-CBD2-28EB-DA0979491E4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prstDash val="dash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16C1E62B-4D5C-6560-AD76-6841BB6B3C80}"/>
                      </a:ext>
                    </a:extLst>
                  </p:cNvPr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45B7A1B-F8CD-17A0-1AC9-6ABBCEBEEA33}"/>
                    </a:ext>
                  </a:extLst>
                </p:cNvPr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F530582C-E11F-3436-9833-B9BEFF5ABD1E}"/>
                    </a:ext>
                  </a:extLst>
                </p:cNvPr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955B7BFD-7BBB-5645-23F6-7DE3D55D378D}"/>
                    </a:ext>
                  </a:extLst>
                </p:cNvPr>
                <p:cNvSpPr/>
                <p:nvPr/>
              </p:nvSpPr>
              <p:spPr>
                <a:xfrm>
                  <a:off x="5486400" y="3886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0C505D7F-9D07-9300-9B68-CA05C3547AFF}"/>
                    </a:ext>
                  </a:extLst>
                </p:cNvPr>
                <p:cNvSpPr/>
                <p:nvPr/>
              </p:nvSpPr>
              <p:spPr>
                <a:xfrm>
                  <a:off x="5029200" y="3124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8C5BD805-8B7E-98B7-618E-2414B0D7556D}"/>
                    </a:ext>
                  </a:extLst>
                </p:cNvPr>
                <p:cNvSpPr/>
                <p:nvPr/>
              </p:nvSpPr>
              <p:spPr>
                <a:xfrm>
                  <a:off x="5715000" y="2362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C007D624-D856-6486-F2F2-4B09BAC25762}"/>
                    </a:ext>
                  </a:extLst>
                </p:cNvPr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C03483AC-4039-5260-C8A2-F00B35C01792}"/>
                    </a:ext>
                  </a:extLst>
                </p:cNvPr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990CE91-4C66-21C6-50C3-893556EE9266}"/>
                  </a:ext>
                </a:extLst>
              </p:cNvPr>
              <p:cNvCxnSpPr/>
              <p:nvPr/>
            </p:nvCxnSpPr>
            <p:spPr>
              <a:xfrm>
                <a:off x="6019800" y="2590800"/>
                <a:ext cx="533400" cy="514476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A306CB-94F5-852A-FE6C-DF14C590B4A6}"/>
              </a:ext>
            </a:extLst>
          </p:cNvPr>
          <p:cNvGrpSpPr/>
          <p:nvPr/>
        </p:nvGrpSpPr>
        <p:grpSpPr>
          <a:xfrm>
            <a:off x="5213163" y="4146363"/>
            <a:ext cx="851274" cy="501837"/>
            <a:chOff x="5213163" y="4146363"/>
            <a:chExt cx="851274" cy="501837"/>
          </a:xfrm>
        </p:grpSpPr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14A84F5-9085-E00E-F13B-993638077E21}"/>
                </a:ext>
              </a:extLst>
            </p:cNvPr>
            <p:cNvCxnSpPr/>
            <p:nvPr/>
          </p:nvCxnSpPr>
          <p:spPr>
            <a:xfrm>
              <a:off x="5746563" y="4146363"/>
              <a:ext cx="317874" cy="4702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DDCA10C-CE1B-BB0E-D97E-585A1DE4B9AB}"/>
                </a:ext>
              </a:extLst>
            </p:cNvPr>
            <p:cNvCxnSpPr/>
            <p:nvPr/>
          </p:nvCxnSpPr>
          <p:spPr>
            <a:xfrm flipH="1">
              <a:off x="5213163" y="4146363"/>
              <a:ext cx="349437" cy="5018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Cloud Callout 34">
            <a:extLst>
              <a:ext uri="{FF2B5EF4-FFF2-40B4-BE49-F238E27FC236}">
                <a16:creationId xmlns:a16="http://schemas.microsoft.com/office/drawing/2014/main" id="{B3517B47-3A71-F98B-C75B-38C4FDD847B6}"/>
              </a:ext>
            </a:extLst>
          </p:cNvPr>
          <p:cNvSpPr/>
          <p:nvPr/>
        </p:nvSpPr>
        <p:spPr>
          <a:xfrm>
            <a:off x="228600" y="3385066"/>
            <a:ext cx="3626038" cy="1186934"/>
          </a:xfrm>
          <a:prstGeom prst="cloudCallout">
            <a:avLst>
              <a:gd name="adj1" fmla="val -3578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Visualize a binary tree for the prefix coding ?</a:t>
            </a:r>
          </a:p>
        </p:txBody>
      </p:sp>
      <p:sp>
        <p:nvSpPr>
          <p:cNvPr id="5" name="Cloud Callout 34">
            <a:extLst>
              <a:ext uri="{FF2B5EF4-FFF2-40B4-BE49-F238E27FC236}">
                <a16:creationId xmlns:a16="http://schemas.microsoft.com/office/drawing/2014/main" id="{FC739A6E-D2DF-25D6-D90A-AD84618299E6}"/>
              </a:ext>
            </a:extLst>
          </p:cNvPr>
          <p:cNvSpPr/>
          <p:nvPr/>
        </p:nvSpPr>
        <p:spPr>
          <a:xfrm>
            <a:off x="200153" y="3638051"/>
            <a:ext cx="4473481" cy="1186934"/>
          </a:xfrm>
          <a:prstGeom prst="cloudCallout">
            <a:avLst>
              <a:gd name="adj1" fmla="val -3578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Some nodes are forbidden to represent any alphabet. Can you spot them ?</a:t>
            </a:r>
          </a:p>
        </p:txBody>
      </p:sp>
    </p:spTree>
    <p:extLst>
      <p:ext uri="{BB962C8B-B14F-4D97-AF65-F5344CB8AC3E}">
        <p14:creationId xmlns:p14="http://schemas.microsoft.com/office/powerpoint/2010/main" val="20102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8" grpId="0" animBg="1"/>
      <p:bldP spid="13" grpId="0" animBg="1"/>
      <p:bldP spid="84" grpId="0" animBg="1"/>
      <p:bldP spid="85" grpId="0" animBg="1"/>
      <p:bldP spid="35" grpId="0" animBg="1"/>
      <p:bldP spid="35" grpId="1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752600" y="1752600"/>
            <a:ext cx="4953000" cy="3886200"/>
            <a:chOff x="1752600" y="1752600"/>
            <a:chExt cx="4953000" cy="3886200"/>
          </a:xfrm>
        </p:grpSpPr>
        <p:cxnSp>
          <p:nvCxnSpPr>
            <p:cNvPr id="83" name="Straight Arrow Connector 82"/>
            <p:cNvCxnSpPr>
              <a:stCxn id="106" idx="5"/>
              <a:endCxn id="117" idx="1"/>
            </p:cNvCxnSpPr>
            <p:nvPr/>
          </p:nvCxnSpPr>
          <p:spPr>
            <a:xfrm>
              <a:off x="5746563" y="4146363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752600" y="1752600"/>
              <a:ext cx="4953000" cy="3886200"/>
              <a:chOff x="1752600" y="1752600"/>
              <a:chExt cx="4953000" cy="38862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343400" cy="3886200"/>
                <a:chOff x="2362200" y="1752600"/>
                <a:chExt cx="4343400" cy="38862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  <a:endCxn id="110" idx="0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  <a:endCxn id="118" idx="1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4343400" cy="1752600"/>
                  <a:chOff x="2438400" y="4495800"/>
                  <a:chExt cx="4343400" cy="1752600"/>
                </a:xfrm>
              </p:grpSpPr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438400" y="4495800"/>
                    <a:ext cx="1295400" cy="304800"/>
                    <a:chOff x="2438400" y="4495800"/>
                    <a:chExt cx="1295400" cy="304800"/>
                  </a:xfrm>
                </p:grpSpPr>
                <p:sp>
                  <p:nvSpPr>
                    <p:cNvPr id="109" name="Oval 108"/>
                    <p:cNvSpPr/>
                    <p:nvPr/>
                  </p:nvSpPr>
                  <p:spPr>
                    <a:xfrm>
                      <a:off x="24384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" name="Oval 109"/>
                    <p:cNvSpPr/>
                    <p:nvPr/>
                  </p:nvSpPr>
                  <p:spPr>
                    <a:xfrm>
                      <a:off x="3429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4648200" y="4495800"/>
                    <a:ext cx="2133600" cy="1752600"/>
                    <a:chOff x="990600" y="4495800"/>
                    <a:chExt cx="2133600" cy="1752600"/>
                  </a:xfrm>
                </p:grpSpPr>
                <p:sp>
                  <p:nvSpPr>
                    <p:cNvPr id="105" name="Oval 104"/>
                    <p:cNvSpPr/>
                    <p:nvPr/>
                  </p:nvSpPr>
                  <p:spPr>
                    <a:xfrm>
                      <a:off x="990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" name="Oval 105"/>
                    <p:cNvSpPr/>
                    <p:nvPr/>
                  </p:nvSpPr>
                  <p:spPr>
                    <a:xfrm>
                      <a:off x="1905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" name="Oval 10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Oval 107"/>
                    <p:cNvSpPr/>
                    <p:nvPr/>
                  </p:nvSpPr>
                  <p:spPr>
                    <a:xfrm>
                      <a:off x="2819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grpSp>
                <p:nvGrpSpPr>
                  <p:cNvPr id="114" name="Group 113"/>
                  <p:cNvGrpSpPr/>
                  <p:nvPr/>
                </p:nvGrpSpPr>
                <p:grpSpPr>
                  <a:xfrm>
                    <a:off x="2590800" y="4419600"/>
                    <a:ext cx="1371600" cy="381000"/>
                    <a:chOff x="2590800" y="4419600"/>
                    <a:chExt cx="1371600" cy="381000"/>
                  </a:xfrm>
                </p:grpSpPr>
                <p:sp>
                  <p:nvSpPr>
                    <p:cNvPr id="118" name="Oval 117"/>
                    <p:cNvSpPr/>
                    <p:nvPr/>
                  </p:nvSpPr>
                  <p:spPr>
                    <a:xfrm>
                      <a:off x="3657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9" name="Oval 118"/>
                    <p:cNvSpPr/>
                    <p:nvPr/>
                  </p:nvSpPr>
                  <p:spPr>
                    <a:xfrm>
                      <a:off x="2590800" y="4419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  <a:endCxn id="88" idx="7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/>
              <p:cNvSpPr/>
              <p:nvPr/>
            </p:nvSpPr>
            <p:spPr>
              <a:xfrm>
                <a:off x="1752600" y="4692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Arrow Connector 88"/>
              <p:cNvCxnSpPr>
                <a:endCxn id="90" idx="1"/>
              </p:cNvCxnSpPr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6293037" y="30926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grpSp>
          <p:nvGrpSpPr>
            <p:cNvPr id="45" name="Group 44"/>
            <p:cNvGrpSpPr/>
            <p:nvPr/>
          </p:nvGrpSpPr>
          <p:grpSpPr>
            <a:xfrm>
              <a:off x="1981200" y="1828800"/>
              <a:ext cx="4648200" cy="3417332"/>
              <a:chOff x="1981200" y="1828800"/>
              <a:chExt cx="4648200" cy="3417332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048000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514600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981200" y="4126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5718114" y="4876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096000" y="2526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5870514" y="4050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6327714" y="4812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810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76600" y="33411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6" name="Cloud Callout 34">
            <a:extLst>
              <a:ext uri="{FF2B5EF4-FFF2-40B4-BE49-F238E27FC236}">
                <a16:creationId xmlns:a16="http://schemas.microsoft.com/office/drawing/2014/main" id="{5BD58615-22C6-19C8-92BF-32F3B309670B}"/>
              </a:ext>
            </a:extLst>
          </p:cNvPr>
          <p:cNvSpPr/>
          <p:nvPr/>
        </p:nvSpPr>
        <p:spPr>
          <a:xfrm>
            <a:off x="344816" y="5091629"/>
            <a:ext cx="4473481" cy="1186934"/>
          </a:xfrm>
          <a:prstGeom prst="cloudCallout">
            <a:avLst>
              <a:gd name="adj1" fmla="val -3578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 how can a labeled tree represent a prefix coding ?</a:t>
            </a:r>
          </a:p>
        </p:txBody>
      </p:sp>
    </p:spTree>
    <p:extLst>
      <p:ext uri="{BB962C8B-B14F-4D97-AF65-F5344CB8AC3E}">
        <p14:creationId xmlns:p14="http://schemas.microsoft.com/office/powerpoint/2010/main" val="160543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</a:t>
            </a:r>
            <a:r>
              <a:rPr lang="en-US" sz="2000" b="1" dirty="0">
                <a:solidFill>
                  <a:srgbClr val="7030A0"/>
                </a:solidFill>
              </a:rPr>
              <a:t>leaf</a:t>
            </a:r>
            <a:r>
              <a:rPr lang="en-US" sz="2000" b="1" dirty="0"/>
              <a:t> nodes </a:t>
            </a:r>
            <a:r>
              <a:rPr lang="en-US" sz="2000" b="1" dirty="0">
                <a:sym typeface="Wingdings" pitchFamily="2" charset="2"/>
              </a:rPr>
              <a:t> </a:t>
            </a:r>
            <a:r>
              <a:rPr lang="en-US" sz="2000" b="1" dirty="0"/>
              <a:t>alphabets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cxnSp>
        <p:nvCxnSpPr>
          <p:cNvPr id="83" name="Straight Arrow Connector 82"/>
          <p:cNvCxnSpPr>
            <a:stCxn id="106" idx="5"/>
            <a:endCxn id="117" idx="1"/>
          </p:cNvCxnSpPr>
          <p:nvPr/>
        </p:nvCxnSpPr>
        <p:spPr>
          <a:xfrm>
            <a:off x="57465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sp>
          <p:nvSpPr>
            <p:cNvPr id="43" name="TextBox 42"/>
            <p:cNvSpPr txBox="1"/>
            <p:nvPr/>
          </p:nvSpPr>
          <p:spPr>
            <a:xfrm>
              <a:off x="4007037" y="1828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260914" y="1840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048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514600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81200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260914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7275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718114" y="4876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096000" y="2526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413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8705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327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52600" y="1752600"/>
            <a:ext cx="5105400" cy="3962400"/>
            <a:chOff x="1752600" y="1752600"/>
            <a:chExt cx="5105400" cy="3962400"/>
          </a:xfrm>
        </p:grpSpPr>
        <p:grpSp>
          <p:nvGrpSpPr>
            <p:cNvPr id="44" name="Group 43"/>
            <p:cNvGrpSpPr/>
            <p:nvPr/>
          </p:nvGrpSpPr>
          <p:grpSpPr>
            <a:xfrm>
              <a:off x="2012763" y="1752600"/>
              <a:ext cx="4540437" cy="3581400"/>
              <a:chOff x="2012763" y="1752600"/>
              <a:chExt cx="4540437" cy="35814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191000" cy="3581400"/>
                <a:chOff x="2362200" y="1752600"/>
                <a:chExt cx="4191000" cy="35814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3429000" cy="304800"/>
                  <a:chOff x="2438400" y="4495800"/>
                  <a:chExt cx="3429000" cy="304800"/>
                </a:xfrm>
              </p:grpSpPr>
              <p:sp>
                <p:nvSpPr>
                  <p:cNvPr id="109" name="Oval 108"/>
                  <p:cNvSpPr/>
                  <p:nvPr/>
                </p:nvSpPr>
                <p:spPr>
                  <a:xfrm>
                    <a:off x="24384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/>
                  <p:cNvSpPr/>
                  <p:nvPr/>
                </p:nvSpPr>
                <p:spPr>
                  <a:xfrm>
                    <a:off x="5562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sp>
                <p:nvSpPr>
                  <p:cNvPr id="119" name="Oval 118"/>
                  <p:cNvSpPr/>
                  <p:nvPr/>
                </p:nvSpPr>
                <p:spPr>
                  <a:xfrm>
                    <a:off x="2590800" y="44196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/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64008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5626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752600" y="47360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2004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733800" y="3200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4958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096000" y="3124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4815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086600" y="2388275"/>
            <a:ext cx="1524000" cy="2031325"/>
            <a:chOff x="7086600" y="2388275"/>
            <a:chExt cx="1524000" cy="2031325"/>
          </a:xfrm>
        </p:grpSpPr>
        <p:sp>
          <p:nvSpPr>
            <p:cNvPr id="9" name="TextBox 8"/>
            <p:cNvSpPr txBox="1"/>
            <p:nvPr/>
          </p:nvSpPr>
          <p:spPr>
            <a:xfrm>
              <a:off x="7781527" y="2388275"/>
              <a:ext cx="829073" cy="203132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01,</a:t>
              </a:r>
            </a:p>
            <a:p>
              <a:r>
                <a:rPr lang="en-US" b="1" dirty="0"/>
                <a:t>001,</a:t>
              </a:r>
            </a:p>
            <a:p>
              <a:r>
                <a:rPr lang="en-US" b="1" dirty="0"/>
                <a:t>0000,</a:t>
              </a:r>
            </a:p>
            <a:p>
              <a:r>
                <a:rPr lang="en-US" b="1" dirty="0"/>
                <a:t>11,</a:t>
              </a:r>
            </a:p>
            <a:p>
              <a:r>
                <a:rPr lang="en-US" b="1" dirty="0"/>
                <a:t>100,</a:t>
              </a:r>
            </a:p>
            <a:p>
              <a:r>
                <a:rPr lang="en-US" b="1" dirty="0"/>
                <a:t>10110,</a:t>
              </a:r>
            </a:p>
            <a:p>
              <a:r>
                <a:rPr lang="en-US" b="1" dirty="0"/>
                <a:t>10111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086600" y="2989005"/>
              <a:ext cx="694927" cy="8209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773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uiExpand="1" build="p"/>
      <p:bldP spid="6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56C5-9037-6441-B27C-F9F33100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6582-89AE-C541-BDAC-028C2EB99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Design an algorithm that given a prefix coding for a set of alphabets, builds the corresponding labeled binary tree. </a:t>
            </a:r>
          </a:p>
          <a:p>
            <a:endParaRPr lang="en-US" sz="2400" dirty="0"/>
          </a:p>
          <a:p>
            <a:r>
              <a:rPr lang="en-US" sz="2400" dirty="0"/>
              <a:t>The algorithm is sketched on the following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7F434-F52C-D244-9E9D-F9535668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04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105400" y="39624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334000" y="3124200"/>
            <a:ext cx="1707963" cy="826532"/>
            <a:chOff x="5334000" y="3124200"/>
            <a:chExt cx="1707963" cy="826532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1707963" cy="826532"/>
              <a:chOff x="4051674" y="1676400"/>
              <a:chExt cx="1707963" cy="82653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454837" y="3212068"/>
              <a:ext cx="1476249" cy="445532"/>
              <a:chOff x="5454837" y="3212068"/>
              <a:chExt cx="1476249" cy="445532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5454837" y="3288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629400" y="3212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5105400" y="2743200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 100, 101, 110, 111}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0" y="389786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{00,01,10,11}</a:t>
            </a:r>
          </a:p>
        </p:txBody>
      </p:sp>
    </p:spTree>
    <p:extLst>
      <p:ext uri="{BB962C8B-B14F-4D97-AF65-F5344CB8AC3E}">
        <p14:creationId xmlns:p14="http://schemas.microsoft.com/office/powerpoint/2010/main" val="116063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uiExpand="1" build="p"/>
      <p:bldP spid="30" grpId="0" animBg="1"/>
      <p:bldP spid="7" grpId="0"/>
      <p:bldP spid="49" grpId="0"/>
      <p:bldP spid="49" grpId="1"/>
      <p:bldP spid="5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05400" y="3124200"/>
            <a:ext cx="1936563" cy="1207532"/>
            <a:chOff x="5105400" y="3124200"/>
            <a:chExt cx="1936563" cy="1207532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1707963" cy="826532"/>
              <a:chOff x="4051674" y="1676400"/>
              <a:chExt cx="1707963" cy="82653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5105400" y="3962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54837" y="3212068"/>
            <a:ext cx="1476249" cy="445532"/>
            <a:chOff x="5454837" y="3212068"/>
            <a:chExt cx="1476249" cy="445532"/>
          </a:xfrm>
        </p:grpSpPr>
        <p:sp>
          <p:nvSpPr>
            <p:cNvPr id="35" name="TextBox 34"/>
            <p:cNvSpPr txBox="1"/>
            <p:nvPr/>
          </p:nvSpPr>
          <p:spPr>
            <a:xfrm>
              <a:off x="5454837" y="3288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29400" y="3212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248400" y="46482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</a:p>
        </p:txBody>
      </p:sp>
      <p:cxnSp>
        <p:nvCxnSpPr>
          <p:cNvPr id="31" name="Straight Arrow Connector 30"/>
          <p:cNvCxnSpPr>
            <a:stCxn id="32" idx="3"/>
          </p:cNvCxnSpPr>
          <p:nvPr/>
        </p:nvCxnSpPr>
        <p:spPr>
          <a:xfrm flipH="1">
            <a:off x="6571689" y="4070163"/>
            <a:ext cx="4702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97326" y="3810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302126" y="4038600"/>
            <a:ext cx="470274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67600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2514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6517" y="45836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227925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05400" y="3124200"/>
            <a:ext cx="3352800" cy="2590800"/>
            <a:chOff x="5105400" y="3124200"/>
            <a:chExt cx="3352800" cy="2590800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2438400" cy="2209800"/>
              <a:chOff x="4051674" y="1676400"/>
              <a:chExt cx="2438400" cy="2209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4755963" y="33843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5289363" y="33843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24" idx="3"/>
                <a:endCxn id="23" idx="7"/>
              </p:cNvCxnSpPr>
              <p:nvPr/>
            </p:nvCxnSpPr>
            <p:spPr>
              <a:xfrm flipH="1">
                <a:off x="5289363" y="2622363"/>
                <a:ext cx="4702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  <a:endCxn id="24" idx="1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5029200" y="3124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5715000" y="2362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6019800" y="2590800"/>
                <a:ext cx="470274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Arrow Connector 26"/>
            <p:cNvCxnSpPr/>
            <p:nvPr/>
          </p:nvCxnSpPr>
          <p:spPr>
            <a:xfrm flipH="1">
              <a:off x="7346763" y="4832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880163" y="4832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76200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05400" y="3962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791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294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2390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0010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54837" y="3212068"/>
            <a:ext cx="2924049" cy="1969532"/>
            <a:chOff x="5454837" y="3212068"/>
            <a:chExt cx="2924049" cy="1969532"/>
          </a:xfrm>
        </p:grpSpPr>
        <p:sp>
          <p:nvSpPr>
            <p:cNvPr id="35" name="TextBox 34"/>
            <p:cNvSpPr txBox="1"/>
            <p:nvPr/>
          </p:nvSpPr>
          <p:spPr>
            <a:xfrm>
              <a:off x="5454837" y="3288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29400" y="3212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676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772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9400" y="4736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32514" y="3962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229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18314" y="4800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106168" y="4267200"/>
            <a:ext cx="3339208" cy="1740932"/>
            <a:chOff x="5106168" y="4267200"/>
            <a:chExt cx="3339208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106168" y="4267200"/>
                  <a:ext cx="3802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168" y="4267200"/>
                  <a:ext cx="38023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791968" y="5638800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𝒃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968" y="5638800"/>
                  <a:ext cx="37702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705600" y="56388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5638800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7315200" y="56388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56388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8081174" y="5638800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𝒆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174" y="5638800"/>
                  <a:ext cx="36420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372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3064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648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1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For each prefix code of a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alphabets,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 binary tree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latin typeface="Cambria Math"/>
                      </a:rPr>
                      <m:t>𝑻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leaves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r>
                  <a:rPr lang="en-US" sz="2000" dirty="0"/>
                  <a:t>There is a </a:t>
                </a:r>
                <a:r>
                  <a:rPr lang="en-US" sz="2000" dirty="0" err="1"/>
                  <a:t>bijective</a:t>
                </a:r>
                <a:r>
                  <a:rPr lang="en-US" sz="2000" dirty="0"/>
                  <a:t> </a:t>
                </a:r>
                <a:r>
                  <a:rPr lang="en-US" sz="2000" u="sng" dirty="0"/>
                  <a:t>mapping</a:t>
                </a:r>
                <a:r>
                  <a:rPr lang="en-US" sz="2000" dirty="0"/>
                  <a:t> between the </a:t>
                </a:r>
                <a:r>
                  <a:rPr lang="en-US" sz="2000" b="1" dirty="0"/>
                  <a:t>alphabets</a:t>
                </a:r>
                <a:r>
                  <a:rPr lang="en-US" sz="2000" dirty="0"/>
                  <a:t> and the </a:t>
                </a:r>
                <a:r>
                  <a:rPr lang="en-US" sz="2000" b="1" dirty="0"/>
                  <a:t>leaves.</a:t>
                </a:r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The label of a path from root to a leaf node corresponds to the prefix code of the corresponding alphabet.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1" dirty="0"/>
                  <a:t>: </a:t>
                </a:r>
                <a:r>
                  <a:rPr lang="en-US" sz="2000" dirty="0"/>
                  <a:t>Can you express </a:t>
                </a:r>
                <a:r>
                  <a:rPr lang="en-US" sz="2000" b="1" dirty="0"/>
                  <a:t>Average bit length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in terms of its binary tree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∈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2000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                </m:t>
                      </m:r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∈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2000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𝐝𝐞𝐩𝐭</m:t>
                              </m:r>
                              <m:sSub>
                                <m:sSubPr>
                                  <m:ctrlPr>
                                    <a:rPr lang="en-US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648200"/>
              </a:xfrm>
              <a:blipFill rotWithShape="1">
                <a:blip r:embed="rId2"/>
                <a:stretch>
                  <a:fillRect l="-708" t="-656" r="-142" b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3048000"/>
            <a:ext cx="24384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0" y="2971800"/>
            <a:ext cx="24384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3497262"/>
            <a:ext cx="2514600" cy="266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81600" y="3497262"/>
            <a:ext cx="3581400" cy="266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3813174"/>
            <a:ext cx="3581400" cy="266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597770" y="4343400"/>
            <a:ext cx="331763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38854" y="4536525"/>
            <a:ext cx="2458915" cy="266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Finding the </a:t>
            </a:r>
            <a:r>
              <a:rPr lang="en-US" sz="3200" dirty="0">
                <a:solidFill>
                  <a:srgbClr val="7030A0"/>
                </a:solidFill>
              </a:rPr>
              <a:t>labeled binary tree </a:t>
            </a:r>
            <a:r>
              <a:rPr lang="en-US" sz="3200" dirty="0"/>
              <a:t>for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90800" y="2743200"/>
            <a:ext cx="3884205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the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u="sng" dirty="0">
                <a:solidFill>
                  <a:srgbClr val="006C31"/>
                </a:solidFill>
              </a:rPr>
              <a:t>optimal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prefix codes </a:t>
            </a:r>
          </a:p>
        </p:txBody>
      </p:sp>
    </p:spTree>
    <p:extLst>
      <p:ext uri="{BB962C8B-B14F-4D97-AF65-F5344CB8AC3E}">
        <p14:creationId xmlns:p14="http://schemas.microsoft.com/office/powerpoint/2010/main" val="362517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Is the following prefix coding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/>
              <a:t> ?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007037" y="18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60914" y="1840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480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14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60914" y="2667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27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960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13314" y="3364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cxnSp>
        <p:nvCxnSpPr>
          <p:cNvPr id="12" name="Straight Arrow Connector 11"/>
          <p:cNvCxnSpPr>
            <a:stCxn id="123" idx="2"/>
            <a:endCxn id="121" idx="7"/>
          </p:cNvCxnSpPr>
          <p:nvPr/>
        </p:nvCxnSpPr>
        <p:spPr>
          <a:xfrm flipH="1">
            <a:off x="3689163" y="1905000"/>
            <a:ext cx="8828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4755963" y="3384363"/>
            <a:ext cx="882837" cy="501837"/>
            <a:chOff x="1098363" y="3308163"/>
            <a:chExt cx="882837" cy="501837"/>
          </a:xfrm>
        </p:grpSpPr>
        <p:cxnSp>
          <p:nvCxnSpPr>
            <p:cNvPr id="17" name="Straight Arrow Connector 16"/>
            <p:cNvCxnSpPr/>
            <p:nvPr/>
          </p:nvCxnSpPr>
          <p:spPr>
            <a:xfrm flipH="1">
              <a:off x="10983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16317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/>
          <p:cNvCxnSpPr>
            <a:stCxn id="122" idx="3"/>
            <a:endCxn id="116" idx="7"/>
          </p:cNvCxnSpPr>
          <p:nvPr/>
        </p:nvCxnSpPr>
        <p:spPr>
          <a:xfrm flipH="1">
            <a:off x="5289363" y="2622363"/>
            <a:ext cx="4702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22" idx="1"/>
          </p:cNvCxnSpPr>
          <p:nvPr/>
        </p:nvCxnSpPr>
        <p:spPr>
          <a:xfrm>
            <a:off x="4876800" y="1905000"/>
            <a:ext cx="8828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19" idx="3"/>
            <a:endCxn id="109" idx="0"/>
          </p:cNvCxnSpPr>
          <p:nvPr/>
        </p:nvCxnSpPr>
        <p:spPr>
          <a:xfrm flipH="1">
            <a:off x="2514600" y="3308163"/>
            <a:ext cx="425637" cy="5780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9" idx="5"/>
          </p:cNvCxnSpPr>
          <p:nvPr/>
        </p:nvCxnSpPr>
        <p:spPr>
          <a:xfrm>
            <a:off x="3155763" y="3308163"/>
            <a:ext cx="349437" cy="5780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155763" y="2622363"/>
            <a:ext cx="851274" cy="546474"/>
            <a:chOff x="3124200" y="2577726"/>
            <a:chExt cx="851274" cy="546474"/>
          </a:xfrm>
        </p:grpSpPr>
        <p:cxnSp>
          <p:nvCxnSpPr>
            <p:cNvPr id="33" name="Straight Arrow Connector 32"/>
            <p:cNvCxnSpPr>
              <a:stCxn id="121" idx="3"/>
              <a:endCxn id="119" idx="7"/>
            </p:cNvCxnSpPr>
            <p:nvPr/>
          </p:nvCxnSpPr>
          <p:spPr>
            <a:xfrm flipH="1">
              <a:off x="3124200" y="2577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21" idx="5"/>
            </p:cNvCxnSpPr>
            <p:nvPr/>
          </p:nvCxnSpPr>
          <p:spPr>
            <a:xfrm>
              <a:off x="3657600" y="2577726"/>
              <a:ext cx="3178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486400" y="3886200"/>
            <a:ext cx="685800" cy="685800"/>
            <a:chOff x="5486400" y="3886200"/>
            <a:chExt cx="685800" cy="685800"/>
          </a:xfrm>
        </p:grpSpPr>
        <p:cxnSp>
          <p:nvCxnSpPr>
            <p:cNvPr id="83" name="Straight Arrow Connector 82"/>
            <p:cNvCxnSpPr>
              <a:stCxn id="106" idx="5"/>
            </p:cNvCxnSpPr>
            <p:nvPr/>
          </p:nvCxnSpPr>
          <p:spPr>
            <a:xfrm>
              <a:off x="5746563" y="4146363"/>
              <a:ext cx="3494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58705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06" name="Oval 105"/>
            <p:cNvSpPr/>
            <p:nvPr/>
          </p:nvSpPr>
          <p:spPr>
            <a:xfrm>
              <a:off x="54864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Oval 118"/>
          <p:cNvSpPr/>
          <p:nvPr/>
        </p:nvSpPr>
        <p:spPr>
          <a:xfrm>
            <a:off x="2895600" y="3048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5029200" y="3124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/>
          <p:cNvGrpSpPr/>
          <p:nvPr/>
        </p:nvGrpSpPr>
        <p:grpSpPr>
          <a:xfrm>
            <a:off x="3429000" y="2362200"/>
            <a:ext cx="2590800" cy="304800"/>
            <a:chOff x="4038600" y="4495800"/>
            <a:chExt cx="2590800" cy="304800"/>
          </a:xfrm>
        </p:grpSpPr>
        <p:sp>
          <p:nvSpPr>
            <p:cNvPr id="121" name="Oval 120"/>
            <p:cNvSpPr/>
            <p:nvPr/>
          </p:nvSpPr>
          <p:spPr>
            <a:xfrm>
              <a:off x="40386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63246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Oval 122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Oval 139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981200" y="3886200"/>
            <a:ext cx="685800" cy="851274"/>
            <a:chOff x="1981200" y="3886200"/>
            <a:chExt cx="685800" cy="851274"/>
          </a:xfrm>
        </p:grpSpPr>
        <p:sp>
          <p:nvSpPr>
            <p:cNvPr id="100" name="TextBox 99"/>
            <p:cNvSpPr txBox="1"/>
            <p:nvPr/>
          </p:nvSpPr>
          <p:spPr>
            <a:xfrm>
              <a:off x="1981200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23622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>
              <a:stCxn id="109" idx="3"/>
            </p:cNvCxnSpPr>
            <p:nvPr/>
          </p:nvCxnSpPr>
          <p:spPr>
            <a:xfrm flipH="1">
              <a:off x="2012763" y="4146363"/>
              <a:ext cx="394074" cy="59111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Arrow Connector 88"/>
          <p:cNvCxnSpPr/>
          <p:nvPr/>
        </p:nvCxnSpPr>
        <p:spPr>
          <a:xfrm>
            <a:off x="6019800" y="2590800"/>
            <a:ext cx="3178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5562600" y="4572000"/>
            <a:ext cx="1295400" cy="1143000"/>
            <a:chOff x="5562600" y="4572000"/>
            <a:chExt cx="1295400" cy="1143000"/>
          </a:xfrm>
        </p:grpSpPr>
        <p:sp>
          <p:nvSpPr>
            <p:cNvPr id="128" name="TextBox 127"/>
            <p:cNvSpPr txBox="1"/>
            <p:nvPr/>
          </p:nvSpPr>
          <p:spPr>
            <a:xfrm>
              <a:off x="5718114" y="4876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327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60198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5867400" y="4832163"/>
              <a:ext cx="685800" cy="501837"/>
              <a:chOff x="457200" y="4755963"/>
              <a:chExt cx="685800" cy="501837"/>
            </a:xfrm>
          </p:grpSpPr>
          <p:cxnSp>
            <p:nvCxnSpPr>
              <p:cNvPr id="125" name="Straight Arrow Connector 124"/>
              <p:cNvCxnSpPr>
                <a:stCxn id="117" idx="3"/>
              </p:cNvCxnSpPr>
              <p:nvPr/>
            </p:nvCxnSpPr>
            <p:spPr>
              <a:xfrm flipH="1">
                <a:off x="457200" y="4755963"/>
                <a:ext cx="1970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838200" y="4755963"/>
                <a:ext cx="304800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64008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5626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1752600" y="47360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200400" y="38978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733800" y="32004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495800" y="38978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096000" y="31242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6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2" name="Down Ribbon 1"/>
          <p:cNvSpPr/>
          <p:nvPr/>
        </p:nvSpPr>
        <p:spPr>
          <a:xfrm>
            <a:off x="228600" y="1600200"/>
            <a:ext cx="1978086" cy="917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full </a:t>
            </a:r>
            <a:r>
              <a:rPr lang="en-US" dirty="0">
                <a:solidFill>
                  <a:schemeClr val="tx1"/>
                </a:solidFill>
              </a:rPr>
              <a:t>binary tree</a:t>
            </a:r>
          </a:p>
        </p:txBody>
      </p:sp>
    </p:spTree>
    <p:extLst>
      <p:ext uri="{BB962C8B-B14F-4D97-AF65-F5344CB8AC3E}">
        <p14:creationId xmlns:p14="http://schemas.microsoft.com/office/powerpoint/2010/main" val="369138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022E-16 L -0.0625 -0.1055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05833 -0.1173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5" grpId="0" animBg="1"/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Observations</a:t>
            </a:r>
            <a:r>
              <a:rPr lang="en-US" sz="3200" b="1" dirty="0"/>
              <a:t> on </a:t>
            </a:r>
            <a:br>
              <a:rPr lang="en-US" sz="3200" b="1" dirty="0"/>
            </a:br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0070C0"/>
                </a:solidFill>
              </a:rPr>
              <a:t>optimal prefix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Lemma</a:t>
            </a:r>
            <a:r>
              <a:rPr lang="en-US" sz="2000" dirty="0"/>
              <a:t>:  </a:t>
            </a:r>
          </a:p>
          <a:p>
            <a:pPr marL="0" indent="0">
              <a:buNone/>
            </a:pPr>
            <a:r>
              <a:rPr lang="en-US" sz="2000" dirty="0"/>
              <a:t>The binary tree corresponding to optimal prefix coding must be a </a:t>
            </a:r>
            <a:r>
              <a:rPr lang="en-US" sz="2000" b="1" dirty="0"/>
              <a:t>full binary tree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	Every internal node has degree exactly 2.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Question: </a:t>
            </a:r>
            <a:r>
              <a:rPr lang="en-US" sz="2000" dirty="0"/>
              <a:t>What next ?</a:t>
            </a:r>
          </a:p>
          <a:p>
            <a:pPr marL="0" indent="0">
              <a:buNone/>
            </a:pPr>
            <a:r>
              <a:rPr lang="en-US" sz="2000" dirty="0"/>
              <a:t>We need to see the influence of frequencies on the optimal binary tree.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981200" y="2362200"/>
            <a:ext cx="4495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9383" y="5446244"/>
                <a:ext cx="2287557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 ,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 ,   …  ,</a:t>
                </a:r>
                <a:r>
                  <a:rPr lang="en-US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383" y="5446244"/>
                <a:ext cx="2287557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3285577" y="5029200"/>
            <a:ext cx="2241363" cy="242316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43200" y="4659868"/>
            <a:ext cx="347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Non-decreasing order of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29400" y="5029200"/>
                <a:ext cx="183563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029200"/>
                <a:ext cx="183563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363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890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7" grpId="0" animBg="1"/>
      <p:bldP spid="9" grpId="0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Observations</a:t>
            </a:r>
            <a:r>
              <a:rPr lang="en-US" sz="3200" b="1" dirty="0"/>
              <a:t> on </a:t>
            </a:r>
            <a:br>
              <a:rPr lang="en-US" sz="3200" b="1" dirty="0"/>
            </a:br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0070C0"/>
                </a:solidFill>
              </a:rPr>
              <a:t>optimal prefix code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Intuitively, </a:t>
                </a:r>
                <a:r>
                  <a:rPr lang="en-US" sz="2000" b="1" dirty="0"/>
                  <a:t>more frequent </a:t>
                </a:r>
                <a:r>
                  <a:rPr lang="en-US" sz="2000" dirty="0"/>
                  <a:t>alphabets should be </a:t>
                </a:r>
                <a:r>
                  <a:rPr lang="en-US" sz="2000" b="1" dirty="0"/>
                  <a:t>closer to the root </a:t>
                </a:r>
                <a:r>
                  <a:rPr lang="en-US" sz="2000" dirty="0"/>
                  <a:t>and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  <a:r>
                  <a:rPr lang="en-US" sz="2000" b="1" dirty="0"/>
                  <a:t>less frequent </a:t>
                </a:r>
                <a:r>
                  <a:rPr lang="en-US" sz="2000" dirty="0"/>
                  <a:t>alphabets should be </a:t>
                </a:r>
                <a:r>
                  <a:rPr lang="en-US" sz="2000" b="1" dirty="0"/>
                  <a:t>farther from the root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how to organize them to achieve optimal prefix code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We shall now make some simple observations about the structure of the binary tree corresponding to the optimal prefix codes.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These observations will be about some </a:t>
                </a:r>
                <a:r>
                  <a:rPr lang="en-US" sz="2000" b="1" u="sng" dirty="0"/>
                  <a:t>local property</a:t>
                </a:r>
                <a:r>
                  <a:rPr lang="en-US" sz="2000" dirty="0"/>
                  <a:t> in the tree.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Nevertheless, these observations will play a crucial role in the design of a binary tree with optimal prefix code for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</a:t>
                </a:r>
                <a:r>
                  <a:rPr lang="en-US" sz="2000" u="sng" dirty="0"/>
                  <a:t>Please pay full attention on the next few slides.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5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7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514600" y="1447800"/>
            <a:ext cx="3505200" cy="1416237"/>
            <a:chOff x="2514600" y="1447800"/>
            <a:chExt cx="3505200" cy="1416237"/>
          </a:xfrm>
        </p:grpSpPr>
        <p:grpSp>
          <p:nvGrpSpPr>
            <p:cNvPr id="28" name="Group 27"/>
            <p:cNvGrpSpPr/>
            <p:nvPr/>
          </p:nvGrpSpPr>
          <p:grpSpPr>
            <a:xfrm>
              <a:off x="2590800" y="1447800"/>
              <a:ext cx="3429000" cy="1416237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05200" y="1524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59077" y="1535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14600" y="2286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32114" y="2297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15000" y="2221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27514" y="2286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219200" y="4050268"/>
            <a:ext cx="622674" cy="1283732"/>
            <a:chOff x="1219200" y="4050268"/>
            <a:chExt cx="622674" cy="1283732"/>
          </a:xfrm>
        </p:grpSpPr>
        <p:cxnSp>
          <p:nvCxnSpPr>
            <p:cNvPr id="48" name="Straight Arrow Connector 47"/>
            <p:cNvCxnSpPr/>
            <p:nvPr/>
          </p:nvCxnSpPr>
          <p:spPr>
            <a:xfrm flipH="1">
              <a:off x="1447800" y="4101726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1219200" y="4648200"/>
              <a:ext cx="482247" cy="685800"/>
              <a:chOff x="1219200" y="4648200"/>
              <a:chExt cx="482247" cy="6858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1219200" y="46482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1219200" y="4964668"/>
                    <a:ext cx="4822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4964668"/>
                    <a:ext cx="482247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45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TextBox 53"/>
            <p:cNvSpPr txBox="1"/>
            <p:nvPr/>
          </p:nvSpPr>
          <p:spPr>
            <a:xfrm>
              <a:off x="14509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24600" y="3415926"/>
            <a:ext cx="990600" cy="1918074"/>
            <a:chOff x="6324600" y="3415926"/>
            <a:chExt cx="990600" cy="1918074"/>
          </a:xfrm>
        </p:grpSpPr>
        <p:sp>
          <p:nvSpPr>
            <p:cNvPr id="14" name="Oval 13"/>
            <p:cNvSpPr/>
            <p:nvPr/>
          </p:nvSpPr>
          <p:spPr>
            <a:xfrm>
              <a:off x="70104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 flipH="1">
              <a:off x="6858000" y="4832163"/>
              <a:ext cx="1970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737163" y="4146363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65532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6324600" y="3415926"/>
              <a:ext cx="317874" cy="4702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6861114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708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62000" y="1600200"/>
            <a:ext cx="3321237" cy="3232666"/>
            <a:chOff x="762000" y="1600200"/>
            <a:chExt cx="3321237" cy="3232666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62000" y="1600200"/>
              <a:ext cx="33212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62000" y="2209800"/>
              <a:ext cx="21782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848379" y="4832866"/>
              <a:ext cx="3708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 rot="5400000">
              <a:off x="709880" y="3276600"/>
              <a:ext cx="8002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62000" y="5519057"/>
            <a:ext cx="7924800" cy="412875"/>
            <a:chOff x="762000" y="5519057"/>
            <a:chExt cx="7924800" cy="41287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762000" y="5519057"/>
              <a:ext cx="7924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806886" y="5562600"/>
              <a:ext cx="1449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3016437" y="53340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257800" y="53340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676400" y="53340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553200" y="53340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6528153" y="5726668"/>
                <a:ext cx="4548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153" y="5726668"/>
                <a:ext cx="4548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loud Callout 49"/>
              <p:cNvSpPr/>
              <p:nvPr/>
            </p:nvSpPr>
            <p:spPr>
              <a:xfrm>
                <a:off x="5715001" y="838200"/>
                <a:ext cx="3429000" cy="1263837"/>
              </a:xfrm>
              <a:prstGeom prst="cloudCallout">
                <a:avLst>
                  <a:gd name="adj1" fmla="val -21918"/>
                  <a:gd name="adj2" fmla="val 8337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be present at a smaller level than the deepest node ?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 not, how to prove it ?</a:t>
                </a:r>
              </a:p>
            </p:txBody>
          </p:sp>
        </mc:Choice>
        <mc:Fallback xmlns="">
          <p:sp>
            <p:nvSpPr>
              <p:cNvPr id="50" name="Cloud Callout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1" y="838200"/>
                <a:ext cx="3429000" cy="1263837"/>
              </a:xfrm>
              <a:prstGeom prst="cloudCallout">
                <a:avLst>
                  <a:gd name="adj1" fmla="val -21918"/>
                  <a:gd name="adj2" fmla="val 83379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358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6" grpId="0" animBg="1"/>
      <p:bldP spid="56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1" grpId="0"/>
      <p:bldP spid="50" grpId="0" animBg="1"/>
      <p:bldP spid="50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447800" y="4101726"/>
            <a:ext cx="394074" cy="5464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0914" y="4050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6528153" y="5334000"/>
            <a:ext cx="482247" cy="762000"/>
            <a:chOff x="6528153" y="5334000"/>
            <a:chExt cx="482247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5486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5486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Down Ribbon 43"/>
              <p:cNvSpPr/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Swapping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0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not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ABL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4" name="Down Ribbon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/>
          <p:cNvGrpSpPr/>
          <p:nvPr/>
        </p:nvGrpSpPr>
        <p:grpSpPr>
          <a:xfrm>
            <a:off x="1219200" y="4648200"/>
            <a:ext cx="482247" cy="685800"/>
            <a:chOff x="1219200" y="4648200"/>
            <a:chExt cx="482247" cy="685800"/>
          </a:xfrm>
        </p:grpSpPr>
        <p:sp>
          <p:nvSpPr>
            <p:cNvPr id="47" name="Rectangle 46"/>
            <p:cNvSpPr/>
            <p:nvPr/>
          </p:nvSpPr>
          <p:spPr>
            <a:xfrm>
              <a:off x="1219200" y="4648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1219200" y="4964668"/>
                  <a:ext cx="48224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0" i="0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4964668"/>
                  <a:ext cx="482247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6911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0.59028 0.105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4" y="5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72 -3.33333E-6 L -0.57223 -0.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97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528153" y="5334000"/>
            <a:ext cx="490775" cy="762000"/>
            <a:chOff x="6528153" y="5334000"/>
            <a:chExt cx="490775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7290153" y="5334000"/>
            <a:ext cx="457200" cy="762000"/>
            <a:chOff x="7290153" y="5334000"/>
            <a:chExt cx="457200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75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/>
            <p:cNvSpPr/>
            <p:nvPr/>
          </p:nvSpPr>
          <p:spPr>
            <a:xfrm>
              <a:off x="7290153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239000" y="4812268"/>
            <a:ext cx="381000" cy="521732"/>
            <a:chOff x="7239000" y="4812268"/>
            <a:chExt cx="381000" cy="521732"/>
          </a:xfrm>
        </p:grpSpPr>
        <p:cxnSp>
          <p:nvCxnSpPr>
            <p:cNvPr id="41" name="Straight Arrow Connector 40"/>
            <p:cNvCxnSpPr/>
            <p:nvPr/>
          </p:nvCxnSpPr>
          <p:spPr>
            <a:xfrm>
              <a:off x="7239000" y="4863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183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38200" y="4267200"/>
            <a:ext cx="15844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2349126" y="4103132"/>
            <a:ext cx="487569" cy="685800"/>
            <a:chOff x="1219200" y="4648200"/>
            <a:chExt cx="487569" cy="685800"/>
          </a:xfrm>
        </p:grpSpPr>
        <p:sp>
          <p:nvSpPr>
            <p:cNvPr id="56" name="Rectangle 55"/>
            <p:cNvSpPr/>
            <p:nvPr/>
          </p:nvSpPr>
          <p:spPr>
            <a:xfrm>
              <a:off x="1219200" y="4648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2577726" y="3505200"/>
            <a:ext cx="394074" cy="597932"/>
            <a:chOff x="2577726" y="3505200"/>
            <a:chExt cx="394074" cy="597932"/>
          </a:xfrm>
        </p:grpSpPr>
        <p:cxnSp>
          <p:nvCxnSpPr>
            <p:cNvPr id="54" name="Straight Arrow Connector 53"/>
            <p:cNvCxnSpPr/>
            <p:nvPr/>
          </p:nvCxnSpPr>
          <p:spPr>
            <a:xfrm flipH="1">
              <a:off x="2577726" y="3556658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580840" y="3505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Down Ribbon 59"/>
              <p:cNvSpPr/>
              <p:nvPr/>
            </p:nvSpPr>
            <p:spPr>
              <a:xfrm>
                <a:off x="6172200" y="1828800"/>
                <a:ext cx="2895600" cy="1524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Since the tree is full binary,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must have a sibling. What can we say about it ?</a:t>
                </a:r>
              </a:p>
            </p:txBody>
          </p:sp>
        </mc:Choice>
        <mc:Fallback xmlns="">
          <p:sp>
            <p:nvSpPr>
              <p:cNvPr id="60" name="Down Ribbon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8800"/>
                <a:ext cx="2895600" cy="1524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Down Ribbon 61"/>
              <p:cNvSpPr/>
              <p:nvPr/>
            </p:nvSpPr>
            <p:spPr>
              <a:xfrm>
                <a:off x="6172200" y="2286001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It must be a leaf node.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not at the deepest level.</a:t>
                </a: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Down Ribbon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286001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 b="-11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Down Ribbon 62"/>
              <p:cNvSpPr/>
              <p:nvPr/>
            </p:nvSpPr>
            <p:spPr>
              <a:xfrm>
                <a:off x="6324600" y="3200400"/>
                <a:ext cx="27432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63" name="Down Ribbon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200400"/>
                <a:ext cx="27432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Down Ribbon 60"/>
              <p:cNvSpPr/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Swapping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0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not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ABL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1" name="Down Ribbon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601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7 L 0.54149 0.1849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66" y="923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3.33333E-6 L -0.53611 -0.1888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44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  <p:bldP spid="62" grpId="0" animBg="1"/>
      <p:bldP spid="62" grpId="1" animBg="1"/>
      <p:bldP spid="63" grpId="0" animBg="1"/>
      <p:bldP spid="63" grpId="1" animBg="1"/>
      <p:bldP spid="6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528153" y="5334000"/>
            <a:ext cx="490775" cy="762000"/>
            <a:chOff x="6528153" y="5334000"/>
            <a:chExt cx="490775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7290153" y="5334000"/>
            <a:ext cx="457200" cy="762000"/>
            <a:chOff x="7290153" y="5334000"/>
            <a:chExt cx="457200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75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/>
            <p:cNvSpPr/>
            <p:nvPr/>
          </p:nvSpPr>
          <p:spPr>
            <a:xfrm>
              <a:off x="7290153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239000" y="4812268"/>
            <a:ext cx="381000" cy="521732"/>
            <a:chOff x="7239000" y="4812268"/>
            <a:chExt cx="381000" cy="521732"/>
          </a:xfrm>
        </p:grpSpPr>
        <p:cxnSp>
          <p:nvCxnSpPr>
            <p:cNvPr id="41" name="Straight Arrow Connector 40"/>
            <p:cNvCxnSpPr/>
            <p:nvPr/>
          </p:nvCxnSpPr>
          <p:spPr>
            <a:xfrm>
              <a:off x="7239000" y="4863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183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38200" y="4267200"/>
            <a:ext cx="15844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2349126" y="4103132"/>
            <a:ext cx="487569" cy="685800"/>
            <a:chOff x="1219200" y="4648200"/>
            <a:chExt cx="487569" cy="685800"/>
          </a:xfrm>
        </p:grpSpPr>
        <p:sp>
          <p:nvSpPr>
            <p:cNvPr id="56" name="Rectangle 55"/>
            <p:cNvSpPr/>
            <p:nvPr/>
          </p:nvSpPr>
          <p:spPr>
            <a:xfrm>
              <a:off x="1219200" y="4648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2577726" y="3505200"/>
            <a:ext cx="394074" cy="597932"/>
            <a:chOff x="2577726" y="3505200"/>
            <a:chExt cx="394074" cy="597932"/>
          </a:xfrm>
        </p:grpSpPr>
        <p:cxnSp>
          <p:nvCxnSpPr>
            <p:cNvPr id="54" name="Straight Arrow Connector 53"/>
            <p:cNvCxnSpPr/>
            <p:nvPr/>
          </p:nvCxnSpPr>
          <p:spPr>
            <a:xfrm flipH="1">
              <a:off x="2577726" y="3556658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580840" y="3505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own Ribbon 60">
                <a:extLst>
                  <a:ext uri="{FF2B5EF4-FFF2-40B4-BE49-F238E27FC236}">
                    <a16:creationId xmlns:a16="http://schemas.microsoft.com/office/drawing/2014/main" id="{8C426502-B0EF-D486-522C-301C3849F67C}"/>
                  </a:ext>
                </a:extLst>
              </p:cNvPr>
              <p:cNvSpPr/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Swapping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0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not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ABL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Down Ribbon 60">
                <a:extLst>
                  <a:ext uri="{FF2B5EF4-FFF2-40B4-BE49-F238E27FC236}">
                    <a16:creationId xmlns:a16="http://schemas.microsoft.com/office/drawing/2014/main" id="{8C426502-B0EF-D486-522C-301C3849F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17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7 L 0.54149 0.1849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66" y="923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3.33333E-6 L -0.53611 -0.1888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44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Theorem 2</a:t>
                </a:r>
                <a:r>
                  <a:rPr lang="en-US" sz="2000" dirty="0"/>
                  <a:t>: There exists </a:t>
                </a:r>
                <a:r>
                  <a:rPr lang="en-US" sz="2000" u="sng" dirty="0"/>
                  <a:t>an</a:t>
                </a:r>
                <a:r>
                  <a:rPr lang="en-US" sz="2000" dirty="0"/>
                  <a:t> optimal prefix coding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6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528153" y="5334000"/>
            <a:ext cx="490775" cy="762000"/>
            <a:chOff x="6528153" y="5334000"/>
            <a:chExt cx="490775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290153" y="5726668"/>
                <a:ext cx="487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153" y="5726668"/>
                <a:ext cx="48756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239000" y="4863726"/>
            <a:ext cx="508353" cy="839606"/>
            <a:chOff x="7239000" y="4863726"/>
            <a:chExt cx="508353" cy="839606"/>
          </a:xfrm>
        </p:grpSpPr>
        <p:sp>
          <p:nvSpPr>
            <p:cNvPr id="39" name="Rectangle 38"/>
            <p:cNvSpPr/>
            <p:nvPr/>
          </p:nvSpPr>
          <p:spPr>
            <a:xfrm>
              <a:off x="7290153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7239000" y="4863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83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</p:spTree>
    <p:extLst>
      <p:ext uri="{BB962C8B-B14F-4D97-AF65-F5344CB8AC3E}">
        <p14:creationId xmlns:p14="http://schemas.microsoft.com/office/powerpoint/2010/main" val="373763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C00000"/>
                </a:solidFill>
              </a:rPr>
              <a:t>important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observation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: There exists </a:t>
                </a:r>
                <a:r>
                  <a:rPr lang="en-US" sz="2000" u="sng" dirty="0"/>
                  <a:t>an</a:t>
                </a:r>
                <a:r>
                  <a:rPr lang="en-US" sz="2000" dirty="0"/>
                  <a:t> optimal prefix coding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Important note</a:t>
                </a:r>
                <a:r>
                  <a:rPr lang="en-US" sz="2000" dirty="0"/>
                  <a:t>: It is inaccurate to claim that “In  every optimal prefix coding,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 in the labeled binary string.” For example, if 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alphabets with same frequencies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is odd.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algorithmic implication of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 mentioned above is quite important: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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dirty="0"/>
                  <a:t>We just need to focus on those binary trees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But there can still be exponential number of such trees .</a:t>
                </a:r>
                <a:r>
                  <a:rPr lang="en-US" sz="2000" dirty="0">
                    <a:sym typeface="Wingdings" panose="05000000000000000000" pitchFamily="2" charset="2"/>
                  </a:rPr>
                  <a:t>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  <a:blipFill>
                <a:blip r:embed="rId2"/>
                <a:stretch>
                  <a:fillRect l="-702" t="-602" r="-7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57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Homework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: There exists </a:t>
                </a:r>
                <a:r>
                  <a:rPr lang="en-US" sz="2000" u="sng" dirty="0"/>
                  <a:t>an</a:t>
                </a:r>
                <a:r>
                  <a:rPr lang="en-US" sz="2000" dirty="0"/>
                  <a:t> optimal prefix coding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Design an algorithm for optimal prefix coding.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Hint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	You don’t require anything more than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So don’t try to prove properties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2000" dirty="0"/>
                  <a:t>,…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Just use your creative skills to exploit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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  <a:blipFill>
                <a:blip r:embed="rId2"/>
                <a:stretch>
                  <a:fillRect l="-702" t="-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4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13936</TotalTime>
  <Words>2726</Words>
  <Application>Microsoft Office PowerPoint</Application>
  <PresentationFormat>On-screen Show (4:3)</PresentationFormat>
  <Paragraphs>965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Homework from the past</vt:lpstr>
      <vt:lpstr>Cycle Property </vt:lpstr>
      <vt:lpstr>Proof of Cycle property</vt:lpstr>
      <vt:lpstr>Proof of Cycle property</vt:lpstr>
      <vt:lpstr>Proof of Cycle property</vt:lpstr>
      <vt:lpstr>Fundamental Cycles </vt:lpstr>
      <vt:lpstr>Fundamental Cycles </vt:lpstr>
      <vt:lpstr>Fundamental Cycles </vt:lpstr>
      <vt:lpstr>Fundamental Cycles </vt:lpstr>
      <vt:lpstr>Proof of Cycle property</vt:lpstr>
      <vt:lpstr>Proof of Cycle property</vt:lpstr>
      <vt:lpstr>Recap of the last lecture</vt:lpstr>
      <vt:lpstr>PowerPoint Presentation</vt:lpstr>
      <vt:lpstr>Example</vt:lpstr>
      <vt:lpstr>Towards designing an algorithm</vt:lpstr>
      <vt:lpstr>Towards designing a counterexample</vt:lpstr>
      <vt:lpstr>Towards designing a counterexample</vt:lpstr>
      <vt:lpstr>How to schedule more than 2 jobs ?</vt:lpstr>
      <vt:lpstr>How to schedule more than 2 jobs ?</vt:lpstr>
      <vt:lpstr>Huffman Codes</vt:lpstr>
      <vt:lpstr>Fixed length coding </vt:lpstr>
      <vt:lpstr>huge variation in the frequency of  alphabets in a text.</vt:lpstr>
      <vt:lpstr>huge variation in the frequency of  alphabets in a text.</vt:lpstr>
      <vt:lpstr>Variable length encoding</vt:lpstr>
      <vt:lpstr>Variable length encoding</vt:lpstr>
      <vt:lpstr>Prefix Coding</vt:lpstr>
      <vt:lpstr>The challenge of the problem</vt:lpstr>
      <vt:lpstr>The novel idea of Huffman</vt:lpstr>
      <vt:lpstr>A labeled binary tree</vt:lpstr>
      <vt:lpstr>prefix codes and labeled Binary tree </vt:lpstr>
      <vt:lpstr>A labeled binary tree</vt:lpstr>
      <vt:lpstr>A labeled binary tree</vt:lpstr>
      <vt:lpstr>A labeled binary tree</vt:lpstr>
      <vt:lpstr>Homework</vt:lpstr>
      <vt:lpstr>Prefix Coding</vt:lpstr>
      <vt:lpstr>Prefix Coding</vt:lpstr>
      <vt:lpstr>Prefix Coding</vt:lpstr>
      <vt:lpstr>PowerPoint Presentation</vt:lpstr>
      <vt:lpstr>Finding the labeled binary tree for</vt:lpstr>
      <vt:lpstr>Is the following prefix coding optimal ?</vt:lpstr>
      <vt:lpstr>Observations on  the binary tree of the optimal prefix code</vt:lpstr>
      <vt:lpstr>Observations on  the binary tree of the optimal prefix code</vt:lpstr>
      <vt:lpstr>More Observations </vt:lpstr>
      <vt:lpstr>More Observations </vt:lpstr>
      <vt:lpstr>More Observations </vt:lpstr>
      <vt:lpstr>More Observations </vt:lpstr>
      <vt:lpstr>More Observations </vt:lpstr>
      <vt:lpstr>The important observation </vt:lpstr>
      <vt:lpstr>Homework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1321</cp:revision>
  <dcterms:created xsi:type="dcterms:W3CDTF">2011-12-03T04:13:03Z</dcterms:created>
  <dcterms:modified xsi:type="dcterms:W3CDTF">2025-08-22T05:26:38Z</dcterms:modified>
</cp:coreProperties>
</file>