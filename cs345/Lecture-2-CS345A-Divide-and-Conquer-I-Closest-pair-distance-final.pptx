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notesSlides/notesSlide7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8.xml" ContentType="application/vnd.openxmlformats-officedocument.presentationml.notesSlide+xml"/>
  <Override PartName="/ppt/tags/tag17.xml" ContentType="application/vnd.openxmlformats-officedocument.presentationml.tags+xml"/>
  <Override PartName="/ppt/notesSlides/notesSlide9.xml" ContentType="application/vnd.openxmlformats-officedocument.presentationml.notesSlide+xml"/>
  <Override PartName="/ppt/tags/tag18.xml" ContentType="application/vnd.openxmlformats-officedocument.presentationml.tags+xml"/>
  <Override PartName="/ppt/notesSlides/notesSlide10.xml" ContentType="application/vnd.openxmlformats-officedocument.presentationml.notesSlide+xml"/>
  <Override PartName="/ppt/tags/tag19.xml" ContentType="application/vnd.openxmlformats-officedocument.presentationml.tags+xml"/>
  <Override PartName="/ppt/notesSlides/notesSlide11.xml" ContentType="application/vnd.openxmlformats-officedocument.presentationml.notesSlide+xml"/>
  <Override PartName="/ppt/tags/tag20.xml" ContentType="application/vnd.openxmlformats-officedocument.presentationml.tags+xml"/>
  <Override PartName="/ppt/notesSlides/notesSlide12.xml" ContentType="application/vnd.openxmlformats-officedocument.presentationml.notesSlide+xml"/>
  <Override PartName="/ppt/tags/tag21.xml" ContentType="application/vnd.openxmlformats-officedocument.presentationml.tags+xml"/>
  <Override PartName="/ppt/notesSlides/notesSlide13.xml" ContentType="application/vnd.openxmlformats-officedocument.presentationml.notesSlide+xml"/>
  <Override PartName="/ppt/tags/tag22.xml" ContentType="application/vnd.openxmlformats-officedocument.presentationml.tags+xml"/>
  <Override PartName="/ppt/notesSlides/notesSlide14.xml" ContentType="application/vnd.openxmlformats-officedocument.presentationml.notesSlide+xml"/>
  <Override PartName="/ppt/tags/tag23.xml" ContentType="application/vnd.openxmlformats-officedocument.presentationml.tags+xml"/>
  <Override PartName="/ppt/notesSlides/notesSlide15.xml" ContentType="application/vnd.openxmlformats-officedocument.presentationml.notesSlide+xml"/>
  <Override PartName="/ppt/tags/tag24.xml" ContentType="application/vnd.openxmlformats-officedocument.presentationml.tags+xml"/>
  <Override PartName="/ppt/notesSlides/notesSlide16.xml" ContentType="application/vnd.openxmlformats-officedocument.presentationml.notesSlide+xml"/>
  <Override PartName="/ppt/tags/tag25.xml" ContentType="application/vnd.openxmlformats-officedocument.presentationml.tags+xml"/>
  <Override PartName="/ppt/notesSlides/notesSlide17.xml" ContentType="application/vnd.openxmlformats-officedocument.presentationml.notesSlide+xml"/>
  <Override PartName="/ppt/tags/tag26.xml" ContentType="application/vnd.openxmlformats-officedocument.presentationml.tags+xml"/>
  <Override PartName="/ppt/notesSlides/notesSlide18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3"/>
  </p:notesMasterIdLst>
  <p:sldIdLst>
    <p:sldId id="428" r:id="rId2"/>
    <p:sldId id="515" r:id="rId3"/>
    <p:sldId id="548" r:id="rId4"/>
    <p:sldId id="535" r:id="rId5"/>
    <p:sldId id="575" r:id="rId6"/>
    <p:sldId id="442" r:id="rId7"/>
    <p:sldId id="583" r:id="rId8"/>
    <p:sldId id="452" r:id="rId9"/>
    <p:sldId id="578" r:id="rId10"/>
    <p:sldId id="597" r:id="rId11"/>
    <p:sldId id="621" r:id="rId12"/>
    <p:sldId id="628" r:id="rId13"/>
    <p:sldId id="546" r:id="rId14"/>
    <p:sldId id="579" r:id="rId15"/>
    <p:sldId id="587" r:id="rId16"/>
    <p:sldId id="589" r:id="rId17"/>
    <p:sldId id="590" r:id="rId18"/>
    <p:sldId id="592" r:id="rId19"/>
    <p:sldId id="591" r:id="rId20"/>
    <p:sldId id="543" r:id="rId21"/>
    <p:sldId id="518" r:id="rId22"/>
    <p:sldId id="517" r:id="rId23"/>
    <p:sldId id="596" r:id="rId24"/>
    <p:sldId id="595" r:id="rId25"/>
    <p:sldId id="584" r:id="rId26"/>
    <p:sldId id="523" r:id="rId27"/>
    <p:sldId id="538" r:id="rId28"/>
    <p:sldId id="563" r:id="rId29"/>
    <p:sldId id="585" r:id="rId30"/>
    <p:sldId id="564" r:id="rId31"/>
    <p:sldId id="569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2" autoAdjust="0"/>
    <p:restoredTop sz="89328" autoAdjust="0"/>
  </p:normalViewPr>
  <p:slideViewPr>
    <p:cSldViewPr>
      <p:cViewPr varScale="1">
        <p:scale>
          <a:sx n="100" d="100"/>
          <a:sy n="100" d="100"/>
        </p:scale>
        <p:origin x="133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do we solve any problem in this paradigm ?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</a:t>
            </a:r>
            <a:r>
              <a:rPr lang="en-US" baseline="0" dirty="0"/>
              <a:t> 3</a:t>
            </a:r>
            <a:r>
              <a:rPr lang="en-US" baseline="30000" dirty="0"/>
              <a:t>rd</a:t>
            </a:r>
            <a:r>
              <a:rPr lang="en-US" baseline="0" dirty="0"/>
              <a:t> step (</a:t>
            </a:r>
            <a:r>
              <a:rPr lang="en-US" b="1" baseline="0" dirty="0"/>
              <a:t>Combine</a:t>
            </a:r>
            <a:r>
              <a:rPr lang="en-US" baseline="0" dirty="0"/>
              <a:t> step)</a:t>
            </a:r>
            <a:r>
              <a:rPr lang="en-US" dirty="0"/>
              <a:t> is usually the main </a:t>
            </a:r>
            <a:r>
              <a:rPr lang="en-US" b="1" dirty="0"/>
              <a:t>nontrivial</a:t>
            </a:r>
            <a:r>
              <a:rPr lang="en-US" dirty="0"/>
              <a:t> step in the design of an algorithm using divide and conquer strategy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11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40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413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If there are more than 4 points in the unit square, 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at least one of the four small squares will have more than 1 points.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67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If there are more than 4 points in the unit square, 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at least one of the four small squares will have more than 1 points.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88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B1F3B-CE05-84C7-DC9E-00907EDB7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930AC-951B-BB0B-845A-4D001E3E7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9DA5B6-939B-A71E-C899-8927F6A21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If there are more than 4 points in the unit square, 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at least one of the four small squares will have more than 1 points.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006AA-4543-3D5D-D3E0-9BD6E75A26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7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For example, it is worth sorting an array only if there are going to be many search queries on it.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Let us see if you can use this principle to</a:t>
            </a:r>
            <a:r>
              <a:rPr lang="en-US" sz="1200" baseline="0" dirty="0"/>
              <a:t> solve this problem.</a:t>
            </a:r>
            <a:endParaRPr lang="en-US" sz="1200" dirty="0"/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683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21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7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29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745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 </a:t>
            </a:r>
            <a:r>
              <a:rPr lang="en-US" sz="1200" dirty="0">
                <a:solidFill>
                  <a:schemeClr val="tx1"/>
                </a:solidFill>
              </a:rPr>
              <a:t>Compute the closest pair distance of the </a:t>
            </a:r>
            <a:r>
              <a:rPr lang="en-US" sz="1200" b="1" dirty="0">
                <a:solidFill>
                  <a:schemeClr val="tx1"/>
                </a:solidFill>
              </a:rPr>
              <a:t>left half </a:t>
            </a:r>
            <a:r>
              <a:rPr lang="en-US" sz="1200" dirty="0">
                <a:solidFill>
                  <a:schemeClr val="tx1"/>
                </a:solidFill>
              </a:rPr>
              <a:t>set</a:t>
            </a:r>
          </a:p>
          <a:p>
            <a:r>
              <a:rPr lang="en-US" dirty="0"/>
              <a:t>2. Let it be </a:t>
            </a:r>
            <a:r>
              <a:rPr lang="en-US" dirty="0" err="1"/>
              <a:t>Delta_L</a:t>
            </a:r>
            <a:r>
              <a:rPr lang="en-US" dirty="0"/>
              <a:t>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chemeClr val="tx1"/>
              </a:solidFill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3.Compute the closest pair distance of the </a:t>
            </a:r>
            <a:r>
              <a:rPr lang="en-US" sz="1200" b="1" dirty="0">
                <a:solidFill>
                  <a:schemeClr val="tx1"/>
                </a:solidFill>
              </a:rPr>
              <a:t>right half </a:t>
            </a:r>
            <a:r>
              <a:rPr lang="en-US" sz="1200" dirty="0">
                <a:solidFill>
                  <a:schemeClr val="tx1"/>
                </a:solidFill>
              </a:rPr>
              <a:t>set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4. Let it be </a:t>
            </a:r>
            <a:r>
              <a:rPr lang="en-US" sz="1200" dirty="0" err="1">
                <a:solidFill>
                  <a:schemeClr val="tx1"/>
                </a:solidFill>
              </a:rPr>
              <a:t>Delta_R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445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Which points do we need to focus on for the closest pairs ?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The</a:t>
            </a:r>
            <a:r>
              <a:rPr lang="en-US" sz="1200" baseline="0" dirty="0">
                <a:solidFill>
                  <a:schemeClr val="tx1"/>
                </a:solidFill>
              </a:rPr>
              <a:t> total number of these pairs are Theta(n^2).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schemeClr val="tx1"/>
                </a:solidFill>
              </a:rPr>
              <a:t>How to do it efficiently ?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schemeClr val="tx1"/>
                </a:solidFill>
              </a:rPr>
              <a:t>Exploit the geometric aspect of the problem.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baseline="0" dirty="0">
              <a:solidFill>
                <a:schemeClr val="tx1"/>
              </a:solidFill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schemeClr val="tx1"/>
                </a:solidFill>
              </a:rPr>
              <a:t>Time to use Hint 1.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schemeClr val="tx1"/>
                </a:solidFill>
              </a:rPr>
              <a:t>For a point in the left half set, if its distance to any point in the right set is less than delta, can we infer anything about its x-coordinate.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schemeClr val="tx1"/>
                </a:solidFill>
              </a:rPr>
              <a:t>: Its x-coordinate can not be less than the x-coordinate of the other point by more than delta.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baseline="0" dirty="0">
              <a:solidFill>
                <a:schemeClr val="tx1"/>
              </a:solidFill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936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schemeClr val="tx1"/>
                    </a:solidFill>
                  </a:rPr>
                  <a:t>But there may still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chemeClr val="tx1"/>
                        </a:solidFill>
                        <a:latin typeface="Cambria Math"/>
                      </a:rPr>
                      <m:t>Θ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points in</a:t>
                </a:r>
                <a:r>
                  <a:rPr lang="en-US" sz="1200" baseline="0" dirty="0">
                    <a:solidFill>
                      <a:schemeClr val="tx1"/>
                    </a:solidFill>
                  </a:rPr>
                  <a:t> each of these strips</a:t>
                </a:r>
                <a:r>
                  <a:rPr lang="en-US" sz="1200" dirty="0">
                    <a:solidFill>
                      <a:schemeClr val="tx1"/>
                    </a:solidFill>
                  </a:rPr>
                  <a:t>. 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schemeClr val="tx1"/>
                    </a:solidFill>
                  </a:rPr>
                  <a:t>So what to do 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But there may still be </a:t>
                </a:r>
                <a:r>
                  <a:rPr lang="en-US" sz="1200" b="0" i="0" smtClean="0">
                    <a:solidFill>
                      <a:schemeClr val="tx1"/>
                    </a:solidFill>
                    <a:latin typeface="Cambria Math"/>
                  </a:rPr>
                  <a:t>Θ(</a:t>
                </a:r>
                <a:r>
                  <a:rPr lang="en-US" sz="1200" b="0" i="0" smtClean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𝑛</a:t>
                </a:r>
                <a:r>
                  <a:rPr lang="en-US" sz="1200" b="0" i="0" smtClean="0">
                    <a:solidFill>
                      <a:schemeClr val="tx1"/>
                    </a:solidFill>
                    <a:latin typeface="Cambria Math"/>
                  </a:rPr>
                  <a:t>)</a:t>
                </a:r>
                <a:r>
                  <a:rPr lang="en-US" sz="1200" dirty="0">
                    <a:solidFill>
                      <a:schemeClr val="tx1"/>
                    </a:solidFill>
                  </a:rPr>
                  <a:t> 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points in</a:t>
                </a:r>
                <a:r>
                  <a:rPr lang="en-US" sz="1200" baseline="0" dirty="0" smtClean="0">
                    <a:solidFill>
                      <a:schemeClr val="tx1"/>
                    </a:solidFill>
                  </a:rPr>
                  <a:t> each of these strips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. 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So </a:t>
                </a:r>
                <a:r>
                  <a:rPr lang="en-US" sz="1200" dirty="0">
                    <a:solidFill>
                      <a:schemeClr val="tx1"/>
                    </a:solidFill>
                  </a:rPr>
                  <a:t>what to do ?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69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schemeClr val="tx1"/>
                    </a:solidFill>
                  </a:rPr>
                  <a:t>1. Only the points lying in these 2 red squares  are relevant as far as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chemeClr val="tx1"/>
                        </a:solidFill>
                        <a:latin typeface="Cambria Math"/>
                      </a:rPr>
                      <m:t>𝒑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 is concerned.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schemeClr val="tx1"/>
                    </a:solidFill>
                  </a:rPr>
                  <a:t>2. Time to use Hint</a:t>
                </a:r>
                <a:r>
                  <a:rPr lang="en-US" sz="1200" baseline="0" dirty="0">
                    <a:solidFill>
                      <a:schemeClr val="tx1"/>
                    </a:solidFill>
                  </a:rPr>
                  <a:t> 2</a:t>
                </a:r>
              </a:p>
              <a:p>
                <a:r>
                  <a:rPr lang="en-US" sz="1200" baseline="0" dirty="0">
                    <a:solidFill>
                      <a:schemeClr val="tx1"/>
                    </a:solidFill>
                  </a:rPr>
                  <a:t>3. </a:t>
                </a:r>
                <a:r>
                  <a:rPr lang="en-US" sz="1200" dirty="0"/>
                  <a:t>Surely not more than 8.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</a:rPr>
                  <a:t>-----------------------------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schemeClr val="tx1"/>
                    </a:solidFill>
                  </a:rPr>
                  <a:t>1.</a:t>
                </a:r>
                <a:r>
                  <a:rPr lang="en-US" sz="1200" baseline="0" dirty="0">
                    <a:solidFill>
                      <a:schemeClr val="tx1"/>
                    </a:solidFill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</a:rPr>
                  <a:t>How to find the points in these red square for point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chemeClr val="tx1"/>
                        </a:solidFill>
                        <a:latin typeface="Cambria Math"/>
                      </a:rPr>
                      <m:t>𝒑</m:t>
                    </m:r>
                    <m:r>
                      <a:rPr lang="en-US" sz="1200" b="0" i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?</a:t>
                </a:r>
              </a:p>
              <a:p>
                <a:endParaRPr lang="en-US" sz="1200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1. Only the points lying in these 2 red squares  are relevant as far as </a:t>
                </a:r>
                <a:r>
                  <a:rPr lang="en-US" sz="1200" b="1" i="0" smtClean="0">
                    <a:solidFill>
                      <a:schemeClr val="tx1"/>
                    </a:solidFill>
                    <a:latin typeface="Cambria Math"/>
                  </a:rPr>
                  <a:t>𝒑</a:t>
                </a:r>
                <a:r>
                  <a:rPr lang="en-US" sz="1200" dirty="0">
                    <a:solidFill>
                      <a:schemeClr val="tx1"/>
                    </a:solidFill>
                  </a:rPr>
                  <a:t>  is concerned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2. Time to use Hint</a:t>
                </a:r>
                <a:r>
                  <a:rPr lang="en-US" sz="1200" baseline="0" dirty="0" smtClean="0">
                    <a:solidFill>
                      <a:schemeClr val="tx1"/>
                    </a:solidFill>
                  </a:rPr>
                  <a:t> 1.</a:t>
                </a:r>
              </a:p>
              <a:p>
                <a:r>
                  <a:rPr lang="en-US" sz="1200" baseline="0" dirty="0" smtClean="0">
                    <a:solidFill>
                      <a:schemeClr val="tx1"/>
                    </a:solidFill>
                  </a:rPr>
                  <a:t>3. </a:t>
                </a:r>
                <a:r>
                  <a:rPr lang="en-US" sz="1200" dirty="0" smtClean="0"/>
                  <a:t>Surely not more than 8.</a:t>
                </a:r>
              </a:p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-----------------------------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1.</a:t>
                </a:r>
                <a:r>
                  <a:rPr lang="en-US" sz="12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How to find the points in these red square for point </a:t>
                </a:r>
                <a:r>
                  <a:rPr lang="en-US" sz="1200" b="1" i="0" smtClean="0">
                    <a:solidFill>
                      <a:schemeClr val="tx1"/>
                    </a:solidFill>
                    <a:latin typeface="Cambria Math"/>
                  </a:rPr>
                  <a:t>𝒑</a:t>
                </a:r>
                <a:r>
                  <a:rPr lang="en-US" sz="1200" b="0" i="0" smtClean="0">
                    <a:solidFill>
                      <a:schemeClr val="tx1"/>
                    </a:solidFill>
                    <a:latin typeface="Cambria Math"/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</a:rPr>
                  <a:t>?</a:t>
                </a:r>
              </a:p>
              <a:p>
                <a:endParaRPr lang="en-US" sz="1200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9888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schemeClr val="tx1"/>
                    </a:solidFill>
                  </a:rPr>
                  <a:t>1. Only the points lying in these 2 red squares  are relevant as far as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chemeClr val="tx1"/>
                        </a:solidFill>
                        <a:latin typeface="Cambria Math"/>
                      </a:rPr>
                      <m:t>𝒑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 is concerned.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schemeClr val="tx1"/>
                    </a:solidFill>
                  </a:rPr>
                  <a:t>2. Time to use Hint</a:t>
                </a:r>
                <a:r>
                  <a:rPr lang="en-US" sz="1200" baseline="0" dirty="0">
                    <a:solidFill>
                      <a:schemeClr val="tx1"/>
                    </a:solidFill>
                  </a:rPr>
                  <a:t> 2</a:t>
                </a:r>
              </a:p>
              <a:p>
                <a:r>
                  <a:rPr lang="en-US" sz="1200" baseline="0" dirty="0">
                    <a:solidFill>
                      <a:schemeClr val="tx1"/>
                    </a:solidFill>
                  </a:rPr>
                  <a:t>3. </a:t>
                </a:r>
                <a:r>
                  <a:rPr lang="en-US" sz="1200" dirty="0"/>
                  <a:t>Surely not more than 8.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</a:rPr>
                  <a:t>-----------------------------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schemeClr val="tx1"/>
                    </a:solidFill>
                  </a:rPr>
                  <a:t>1.</a:t>
                </a:r>
                <a:r>
                  <a:rPr lang="en-US" sz="1200" baseline="0" dirty="0">
                    <a:solidFill>
                      <a:schemeClr val="tx1"/>
                    </a:solidFill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</a:rPr>
                  <a:t>How to find the points in these red square for point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chemeClr val="tx1"/>
                        </a:solidFill>
                        <a:latin typeface="Cambria Math"/>
                      </a:rPr>
                      <m:t>𝒑</m:t>
                    </m:r>
                    <m:r>
                      <a:rPr lang="en-US" sz="1200" b="0" i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?</a:t>
                </a:r>
              </a:p>
              <a:p>
                <a:endParaRPr lang="en-US" sz="1200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1. Only the points lying in these 2 red squares  are relevant as far as </a:t>
                </a:r>
                <a:r>
                  <a:rPr lang="en-US" sz="1200" b="1" i="0" smtClean="0">
                    <a:solidFill>
                      <a:schemeClr val="tx1"/>
                    </a:solidFill>
                    <a:latin typeface="Cambria Math"/>
                  </a:rPr>
                  <a:t>𝒑</a:t>
                </a:r>
                <a:r>
                  <a:rPr lang="en-US" sz="1200" dirty="0">
                    <a:solidFill>
                      <a:schemeClr val="tx1"/>
                    </a:solidFill>
                  </a:rPr>
                  <a:t>  is concerned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2. Time to use Hint</a:t>
                </a:r>
                <a:r>
                  <a:rPr lang="en-US" sz="1200" baseline="0" dirty="0" smtClean="0">
                    <a:solidFill>
                      <a:schemeClr val="tx1"/>
                    </a:solidFill>
                  </a:rPr>
                  <a:t> 1.</a:t>
                </a:r>
              </a:p>
              <a:p>
                <a:r>
                  <a:rPr lang="en-US" sz="1200" baseline="0" dirty="0" smtClean="0">
                    <a:solidFill>
                      <a:schemeClr val="tx1"/>
                    </a:solidFill>
                  </a:rPr>
                  <a:t>3. </a:t>
                </a:r>
                <a:r>
                  <a:rPr lang="en-US" sz="1200" dirty="0" smtClean="0"/>
                  <a:t>Surely not more than 8.</a:t>
                </a:r>
              </a:p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-----------------------------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1.</a:t>
                </a:r>
                <a:r>
                  <a:rPr lang="en-US" sz="12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How to find the points in these red square for point </a:t>
                </a:r>
                <a:r>
                  <a:rPr lang="en-US" sz="1200" b="1" i="0" smtClean="0">
                    <a:solidFill>
                      <a:schemeClr val="tx1"/>
                    </a:solidFill>
                    <a:latin typeface="Cambria Math"/>
                  </a:rPr>
                  <a:t>𝒑</a:t>
                </a:r>
                <a:r>
                  <a:rPr lang="en-US" sz="1200" b="0" i="0" smtClean="0">
                    <a:solidFill>
                      <a:schemeClr val="tx1"/>
                    </a:solidFill>
                    <a:latin typeface="Cambria Math"/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</a:rPr>
                  <a:t>?</a:t>
                </a:r>
              </a:p>
              <a:p>
                <a:endParaRPr lang="en-US" sz="1200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405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schemeClr val="tx1"/>
                    </a:solidFill>
                  </a:rPr>
                  <a:t>1. Only the points lying in these 2 red squares  are relevant as far as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chemeClr val="tx1"/>
                        </a:solidFill>
                        <a:latin typeface="Cambria Math"/>
                      </a:rPr>
                      <m:t>𝒑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 is concerned.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schemeClr val="tx1"/>
                    </a:solidFill>
                  </a:rPr>
                  <a:t>2. Time to use Hint</a:t>
                </a:r>
                <a:r>
                  <a:rPr lang="en-US" sz="1200" baseline="0" dirty="0">
                    <a:solidFill>
                      <a:schemeClr val="tx1"/>
                    </a:solidFill>
                  </a:rPr>
                  <a:t> 2</a:t>
                </a:r>
              </a:p>
              <a:p>
                <a:r>
                  <a:rPr lang="en-US" sz="1200" baseline="0" dirty="0">
                    <a:solidFill>
                      <a:schemeClr val="tx1"/>
                    </a:solidFill>
                  </a:rPr>
                  <a:t>3. </a:t>
                </a:r>
                <a:r>
                  <a:rPr lang="en-US" sz="1200" dirty="0"/>
                  <a:t>Surely not more than 8.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</a:rPr>
                  <a:t>-----------------------------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schemeClr val="tx1"/>
                    </a:solidFill>
                  </a:rPr>
                  <a:t>1.</a:t>
                </a:r>
                <a:r>
                  <a:rPr lang="en-US" sz="1200" baseline="0" dirty="0">
                    <a:solidFill>
                      <a:schemeClr val="tx1"/>
                    </a:solidFill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</a:rPr>
                  <a:t>How to find the points in these red square for point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chemeClr val="tx1"/>
                        </a:solidFill>
                        <a:latin typeface="Cambria Math"/>
                      </a:rPr>
                      <m:t>𝒑</m:t>
                    </m:r>
                    <m:r>
                      <a:rPr lang="en-US" sz="1200" b="0" i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?</a:t>
                </a:r>
              </a:p>
              <a:p>
                <a:endParaRPr lang="en-US" sz="1200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1. Only the points lying in these 2 red squares  are relevant as far as </a:t>
                </a:r>
                <a:r>
                  <a:rPr lang="en-US" sz="1200" b="1" i="0" smtClean="0">
                    <a:solidFill>
                      <a:schemeClr val="tx1"/>
                    </a:solidFill>
                    <a:latin typeface="Cambria Math"/>
                  </a:rPr>
                  <a:t>𝒑</a:t>
                </a:r>
                <a:r>
                  <a:rPr lang="en-US" sz="1200" dirty="0">
                    <a:solidFill>
                      <a:schemeClr val="tx1"/>
                    </a:solidFill>
                  </a:rPr>
                  <a:t>  is concerned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2. Time to use Hint</a:t>
                </a:r>
                <a:r>
                  <a:rPr lang="en-US" sz="1200" baseline="0" dirty="0" smtClean="0">
                    <a:solidFill>
                      <a:schemeClr val="tx1"/>
                    </a:solidFill>
                  </a:rPr>
                  <a:t> 1.</a:t>
                </a:r>
              </a:p>
              <a:p>
                <a:r>
                  <a:rPr lang="en-US" sz="1200" baseline="0" dirty="0" smtClean="0">
                    <a:solidFill>
                      <a:schemeClr val="tx1"/>
                    </a:solidFill>
                  </a:rPr>
                  <a:t>3. </a:t>
                </a:r>
                <a:r>
                  <a:rPr lang="en-US" sz="1200" dirty="0" smtClean="0"/>
                  <a:t>Surely not more than 8.</a:t>
                </a:r>
              </a:p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-----------------------------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1.</a:t>
                </a:r>
                <a:r>
                  <a:rPr lang="en-US" sz="12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How to find the points in these red square for point </a:t>
                </a:r>
                <a:r>
                  <a:rPr lang="en-US" sz="1200" b="1" i="0" smtClean="0">
                    <a:solidFill>
                      <a:schemeClr val="tx1"/>
                    </a:solidFill>
                    <a:latin typeface="Cambria Math"/>
                  </a:rPr>
                  <a:t>𝒑</a:t>
                </a:r>
                <a:r>
                  <a:rPr lang="en-US" sz="1200" b="0" i="0" smtClean="0">
                    <a:solidFill>
                      <a:schemeClr val="tx1"/>
                    </a:solidFill>
                    <a:latin typeface="Cambria Math"/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</a:rPr>
                  <a:t>?</a:t>
                </a:r>
              </a:p>
              <a:p>
                <a:endParaRPr lang="en-US" sz="1200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15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21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In merge sort, the two recursive calls return sorted lists.</a:t>
            </a:r>
          </a:p>
          <a:p>
            <a:pPr>
              <a:buFont typeface="Wingdings"/>
              <a:buChar char="è"/>
            </a:pPr>
            <a:r>
              <a:rPr lang="en-US" sz="1200" dirty="0">
                <a:sym typeface="Wingdings" pitchFamily="2" charset="2"/>
              </a:rPr>
              <a:t>So creating the sorted list requires only </a:t>
            </a:r>
            <a:r>
              <a:rPr lang="en-US" sz="1200" b="1" dirty="0">
                <a:sym typeface="Wingdings" pitchFamily="2" charset="2"/>
              </a:rPr>
              <a:t>merging</a:t>
            </a:r>
            <a:r>
              <a:rPr lang="en-US" sz="1200" dirty="0">
                <a:sym typeface="Wingdings" pitchFamily="2" charset="2"/>
              </a:rPr>
              <a:t> them.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26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7" Type="http://schemas.openxmlformats.org/officeDocument/2006/relationships/image" Target="../media/image30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28.png"/><Relationship Id="rId10" Type="http://schemas.openxmlformats.org/officeDocument/2006/relationships/image" Target="../media/image42.png"/><Relationship Id="rId9" Type="http://schemas.openxmlformats.org/officeDocument/2006/relationships/image" Target="../media/image21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image" Target="../media/image30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28.png"/><Relationship Id="rId5" Type="http://schemas.openxmlformats.org/officeDocument/2006/relationships/image" Target="../media/image6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5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5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132.png"/><Relationship Id="rId9" Type="http://schemas.openxmlformats.org/officeDocument/2006/relationships/image" Target="../media/image18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11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7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image" Target="../media/image82.png"/><Relationship Id="rId5" Type="http://schemas.openxmlformats.org/officeDocument/2006/relationships/image" Target="../media/image113.png"/><Relationship Id="rId4" Type="http://schemas.openxmlformats.org/officeDocument/2006/relationships/image" Target="../media/image10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82.png"/><Relationship Id="rId5" Type="http://schemas.openxmlformats.org/officeDocument/2006/relationships/image" Target="../media/image72.png"/><Relationship Id="rId10" Type="http://schemas.openxmlformats.org/officeDocument/2006/relationships/image" Target="../media/image20.png"/><Relationship Id="rId4" Type="http://schemas.openxmlformats.org/officeDocument/2006/relationships/image" Target="../media/image101.png"/><Relationship Id="rId9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10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5" Type="http://schemas.openxmlformats.org/officeDocument/2006/relationships/image" Target="../media/image113.png"/><Relationship Id="rId4" Type="http://schemas.openxmlformats.org/officeDocument/2006/relationships/image" Target="../media/image10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0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901.png"/><Relationship Id="rId10" Type="http://schemas.openxmlformats.org/officeDocument/2006/relationships/image" Target="../media/image72.png"/><Relationship Id="rId9" Type="http://schemas.openxmlformats.org/officeDocument/2006/relationships/image" Target="../media/image8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0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901.png"/><Relationship Id="rId11" Type="http://schemas.openxmlformats.org/officeDocument/2006/relationships/image" Target="../media/image91.png"/><Relationship Id="rId10" Type="http://schemas.openxmlformats.org/officeDocument/2006/relationships/image" Target="../media/image71.png"/><Relationship Id="rId9" Type="http://schemas.openxmlformats.org/officeDocument/2006/relationships/image" Target="../media/image110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0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image" Target="../media/image901.png"/><Relationship Id="rId11" Type="http://schemas.openxmlformats.org/officeDocument/2006/relationships/image" Target="../media/image142.png"/><Relationship Id="rId10" Type="http://schemas.openxmlformats.org/officeDocument/2006/relationships/image" Target="../media/image71.png"/><Relationship Id="rId9" Type="http://schemas.openxmlformats.org/officeDocument/2006/relationships/image" Target="../media/image110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00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3.png"/><Relationship Id="rId1" Type="http://schemas.openxmlformats.org/officeDocument/2006/relationships/tags" Target="../tags/tag23.xml"/><Relationship Id="rId6" Type="http://schemas.openxmlformats.org/officeDocument/2006/relationships/image" Target="../media/image901.png"/><Relationship Id="rId11" Type="http://schemas.openxmlformats.org/officeDocument/2006/relationships/image" Target="../media/image272.png"/><Relationship Id="rId15" Type="http://schemas.openxmlformats.org/officeDocument/2006/relationships/image" Target="../media/image71.png"/><Relationship Id="rId9" Type="http://schemas.openxmlformats.org/officeDocument/2006/relationships/image" Target="../media/image110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00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0.png"/><Relationship Id="rId1" Type="http://schemas.openxmlformats.org/officeDocument/2006/relationships/tags" Target="../tags/tag24.xml"/><Relationship Id="rId6" Type="http://schemas.openxmlformats.org/officeDocument/2006/relationships/image" Target="../media/image901.png"/><Relationship Id="rId11" Type="http://schemas.openxmlformats.org/officeDocument/2006/relationships/image" Target="../media/image272.png"/><Relationship Id="rId15" Type="http://schemas.openxmlformats.org/officeDocument/2006/relationships/image" Target="../media/image71.png"/><Relationship Id="rId9" Type="http://schemas.openxmlformats.org/officeDocument/2006/relationships/image" Target="../media/image110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8" Type="http://schemas.openxmlformats.org/officeDocument/2006/relationships/image" Target="../media/image162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000.png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0.png"/><Relationship Id="rId1" Type="http://schemas.openxmlformats.org/officeDocument/2006/relationships/tags" Target="../tags/tag25.xml"/><Relationship Id="rId6" Type="http://schemas.openxmlformats.org/officeDocument/2006/relationships/image" Target="../media/image901.png"/><Relationship Id="rId11" Type="http://schemas.openxmlformats.org/officeDocument/2006/relationships/image" Target="../media/image272.png"/><Relationship Id="rId15" Type="http://schemas.openxmlformats.org/officeDocument/2006/relationships/image" Target="../media/image71.png"/><Relationship Id="rId9" Type="http://schemas.openxmlformats.org/officeDocument/2006/relationships/image" Target="../media/image110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1.png"/><Relationship Id="rId13" Type="http://schemas.openxmlformats.org/officeDocument/2006/relationships/image" Target="../media/image192.png"/><Relationship Id="rId18" Type="http://schemas.openxmlformats.org/officeDocument/2006/relationships/image" Target="../media/image23.png"/><Relationship Id="rId3" Type="http://schemas.openxmlformats.org/officeDocument/2006/relationships/notesSlide" Target="../notesSlides/notesSlide18.xml"/><Relationship Id="rId21" Type="http://schemas.openxmlformats.org/officeDocument/2006/relationships/image" Target="../media/image3.png"/><Relationship Id="rId12" Type="http://schemas.openxmlformats.org/officeDocument/2006/relationships/image" Target="../media/image71.png"/><Relationship Id="rId17" Type="http://schemas.openxmlformats.org/officeDocument/2006/relationships/image" Target="../media/image22.png"/><Relationship Id="rId7" Type="http://schemas.openxmlformats.org/officeDocument/2006/relationships/image" Target="../media/image22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0.png"/><Relationship Id="rId20" Type="http://schemas.openxmlformats.org/officeDocument/2006/relationships/image" Target="../media/image180.png"/><Relationship Id="rId1" Type="http://schemas.openxmlformats.org/officeDocument/2006/relationships/tags" Target="../tags/tag26.xml"/><Relationship Id="rId11" Type="http://schemas.openxmlformats.org/officeDocument/2006/relationships/image" Target="../media/image1810.png"/><Relationship Id="rId6" Type="http://schemas.openxmlformats.org/officeDocument/2006/relationships/image" Target="../media/image81.png"/><Relationship Id="rId15" Type="http://schemas.openxmlformats.org/officeDocument/2006/relationships/image" Target="../media/image21.png"/><Relationship Id="rId10" Type="http://schemas.openxmlformats.org/officeDocument/2006/relationships/image" Target="../media/image161.png"/><Relationship Id="rId19" Type="http://schemas.openxmlformats.org/officeDocument/2006/relationships/image" Target="../media/image210.png"/><Relationship Id="rId9" Type="http://schemas.openxmlformats.org/officeDocument/2006/relationships/image" Target="../media/image1000.png"/><Relationship Id="rId14" Type="http://schemas.openxmlformats.org/officeDocument/2006/relationships/image" Target="../media/image20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6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6" Type="http://schemas.openxmlformats.org/officeDocument/2006/relationships/image" Target="../media/image150.png"/><Relationship Id="rId5" Type="http://schemas.openxmlformats.org/officeDocument/2006/relationships/image" Target="../media/image25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0.png"/><Relationship Id="rId7" Type="http://schemas.openxmlformats.org/officeDocument/2006/relationships/image" Target="../media/image5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6" Type="http://schemas.openxmlformats.org/officeDocument/2006/relationships/image" Target="../media/image900.png"/><Relationship Id="rId5" Type="http://schemas.openxmlformats.org/officeDocument/2006/relationships/image" Target="../media/image40.png"/><Relationship Id="rId10" Type="http://schemas.openxmlformats.org/officeDocument/2006/relationships/image" Target="../media/image2500.png"/><Relationship Id="rId9" Type="http://schemas.openxmlformats.org/officeDocument/2006/relationships/image" Target="../media/image19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495800"/>
            <a:ext cx="64008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2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en-US" sz="2000" b="1" dirty="0">
                <a:solidFill>
                  <a:srgbClr val="7030A0"/>
                </a:solidFill>
              </a:rPr>
              <a:t>        Divide and Conquer Paradigm – I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en-US" sz="2000" b="1" dirty="0">
                <a:solidFill>
                  <a:srgbClr val="7030A0"/>
                </a:solidFill>
              </a:rPr>
              <a:t>             -  </a:t>
            </a:r>
            <a:r>
              <a:rPr lang="en-US" sz="2000" b="1" dirty="0">
                <a:solidFill>
                  <a:schemeClr val="tx1"/>
                </a:solidFill>
              </a:rPr>
              <a:t>Closest Pair of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38400" y="3062734"/>
            <a:ext cx="426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CS345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8688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Divide and Conquer </a:t>
            </a:r>
            <a:r>
              <a:rPr lang="en-US" sz="3600" b="1" dirty="0"/>
              <a:t>paradigm 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929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B89B921-D39E-5EA7-8282-67E580B12C0C}"/>
              </a:ext>
            </a:extLst>
          </p:cNvPr>
          <p:cNvSpPr/>
          <p:nvPr/>
        </p:nvSpPr>
        <p:spPr>
          <a:xfrm>
            <a:off x="0" y="2590800"/>
            <a:ext cx="457200" cy="68437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0C1738-4DB1-BE48-BC13-798AEF7476A2}"/>
              </a:ext>
            </a:extLst>
          </p:cNvPr>
          <p:cNvSpPr/>
          <p:nvPr/>
        </p:nvSpPr>
        <p:spPr>
          <a:xfrm>
            <a:off x="0" y="4040030"/>
            <a:ext cx="457200" cy="68437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An Overview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991600" cy="4525963"/>
          </a:xfrm>
        </p:spPr>
        <p:txBody>
          <a:bodyPr/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 </a:t>
            </a:r>
            <a:r>
              <a:rPr lang="en-US" sz="2000" b="1" dirty="0">
                <a:solidFill>
                  <a:srgbClr val="C00000"/>
                </a:solidFill>
              </a:rPr>
              <a:t>Divide</a:t>
            </a:r>
            <a:r>
              <a:rPr lang="en-US" sz="2000" dirty="0"/>
              <a:t> the problem instance into two or more instances  of the same problem.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 </a:t>
            </a:r>
            <a:r>
              <a:rPr lang="en-US" sz="2000" dirty="0"/>
              <a:t>Solve each smaller instance  </a:t>
            </a:r>
            <a:r>
              <a:rPr lang="en-US" sz="2000" b="1" u="sng" dirty="0">
                <a:solidFill>
                  <a:srgbClr val="7030A0"/>
                </a:solidFill>
              </a:rPr>
              <a:t>recursively</a:t>
            </a:r>
            <a:r>
              <a:rPr lang="en-US" sz="2000" dirty="0">
                <a:solidFill>
                  <a:srgbClr val="7030A0"/>
                </a:solidFill>
              </a:rPr>
              <a:t> </a:t>
            </a:r>
            <a:r>
              <a:rPr lang="en-US" sz="2000" dirty="0"/>
              <a:t>(base case suitably defined).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 </a:t>
            </a:r>
            <a:r>
              <a:rPr lang="en-US" sz="2000" b="1" dirty="0">
                <a:solidFill>
                  <a:srgbClr val="C00000"/>
                </a:solidFill>
              </a:rPr>
              <a:t>Combine</a:t>
            </a:r>
            <a:r>
              <a:rPr lang="en-US" sz="2000" dirty="0"/>
              <a:t> the solutions of the smaller instances </a:t>
            </a:r>
          </a:p>
          <a:p>
            <a:pPr marL="0" indent="0">
              <a:buNone/>
            </a:pPr>
            <a:r>
              <a:rPr lang="en-US" sz="2000" dirty="0"/>
              <a:t>         to get the solution of the original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657601" y="2819400"/>
            <a:ext cx="2819399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553200" y="2819400"/>
            <a:ext cx="2819399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81400" y="3505200"/>
            <a:ext cx="1221221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800600" y="3505200"/>
            <a:ext cx="2897621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76400" y="4191000"/>
            <a:ext cx="3886200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5F95D2-BB53-9447-82B5-0D2C548F01AF}"/>
              </a:ext>
            </a:extLst>
          </p:cNvPr>
          <p:cNvSpPr/>
          <p:nvPr/>
        </p:nvSpPr>
        <p:spPr>
          <a:xfrm>
            <a:off x="683779" y="2842419"/>
            <a:ext cx="2897621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BBB239-6358-AB4E-90EA-3552CF7F4D2F}"/>
              </a:ext>
            </a:extLst>
          </p:cNvPr>
          <p:cNvSpPr/>
          <p:nvPr/>
        </p:nvSpPr>
        <p:spPr>
          <a:xfrm>
            <a:off x="609600" y="3429000"/>
            <a:ext cx="2897621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659B59-A57C-854C-9BA1-86C2BBB8812D}"/>
              </a:ext>
            </a:extLst>
          </p:cNvPr>
          <p:cNvSpPr/>
          <p:nvPr/>
        </p:nvSpPr>
        <p:spPr>
          <a:xfrm>
            <a:off x="609601" y="4191000"/>
            <a:ext cx="1219200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790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2" grpId="0"/>
      <p:bldP spid="3" grpId="0" uiExpand="1" build="p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Example Problems</a:t>
            </a:r>
            <a:endParaRPr lang="en-US" sz="32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1600200"/>
                <a:ext cx="8991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b="1" dirty="0"/>
                  <a:t> Merge</a:t>
                </a:r>
                <a:r>
                  <a:rPr lang="en-US" sz="2000" dirty="0"/>
                  <a:t> Sort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b="1" dirty="0"/>
                  <a:t> Multiplication</a:t>
                </a:r>
                <a:r>
                  <a:rPr lang="en-US" sz="2000" dirty="0"/>
                  <a:t> of two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-bit integers.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b="1" dirty="0"/>
                  <a:t> </a:t>
                </a:r>
                <a:r>
                  <a:rPr lang="en-US" sz="2000" dirty="0"/>
                  <a:t>Counting the number of </a:t>
                </a:r>
                <a:r>
                  <a:rPr lang="en-US" sz="2000" b="1" dirty="0"/>
                  <a:t>inversions</a:t>
                </a:r>
                <a:r>
                  <a:rPr lang="en-US" sz="2000" dirty="0"/>
                  <a:t> in an array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b="1" dirty="0"/>
                  <a:t>  </a:t>
                </a:r>
                <a:r>
                  <a:rPr lang="en-US" sz="2000" dirty="0"/>
                  <a:t>Finding  </a:t>
                </a:r>
                <a:r>
                  <a:rPr lang="en-US" sz="2000" b="1" dirty="0"/>
                  <a:t>median </a:t>
                </a:r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numbers in linear time.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600200"/>
                <a:ext cx="8991600" cy="4525963"/>
              </a:xfrm>
              <a:blipFill>
                <a:blip r:embed="rId4"/>
                <a:stretch>
                  <a:fillRect l="-7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E540B04-3E3E-DCD3-2212-8D65B5E3FB48}"/>
              </a:ext>
            </a:extLst>
          </p:cNvPr>
          <p:cNvSpPr/>
          <p:nvPr/>
        </p:nvSpPr>
        <p:spPr>
          <a:xfrm flipV="1">
            <a:off x="685800" y="4648200"/>
            <a:ext cx="4724400" cy="30480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4053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83BBA8B-71AD-E1F1-0EFC-1ECD7C11C309}"/>
              </a:ext>
            </a:extLst>
          </p:cNvPr>
          <p:cNvSpPr/>
          <p:nvPr/>
        </p:nvSpPr>
        <p:spPr>
          <a:xfrm>
            <a:off x="838200" y="2667000"/>
            <a:ext cx="2438400" cy="3810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991600" cy="45259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sz="2800" b="1" dirty="0"/>
              <a:t>Geometric Problems:</a:t>
            </a:r>
            <a:endParaRPr lang="en-US" sz="2800" dirty="0"/>
          </a:p>
          <a:p>
            <a:pPr marL="857250" lvl="1" indent="-457200"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</a:rPr>
              <a:t>Closest Pair Distance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</a:rPr>
              <a:t>Non-dominated Points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</a:rPr>
              <a:t>Convex Hull </a:t>
            </a:r>
          </a:p>
          <a:p>
            <a:pPr marL="400050" lvl="1" indent="0">
              <a:buNone/>
            </a:pPr>
            <a:endParaRPr lang="en-US" b="1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800" b="1" dirty="0"/>
          </a:p>
          <a:p>
            <a:r>
              <a:rPr lang="en-US" sz="2800" b="1" dirty="0"/>
              <a:t>Number theoretic Problem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</a:rPr>
              <a:t>Multiplication of 2 Polynomials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Divide and Conquer </a:t>
            </a:r>
            <a:r>
              <a:rPr lang="en-US" sz="3200" b="1" dirty="0"/>
              <a:t>Paradigm</a:t>
            </a:r>
            <a:br>
              <a:rPr lang="en-US" sz="3200" b="1" dirty="0"/>
            </a:br>
            <a:r>
              <a:rPr lang="en-US" sz="2400" b="1" dirty="0">
                <a:solidFill>
                  <a:srgbClr val="006C31"/>
                </a:solidFill>
              </a:rPr>
              <a:t>(Advanced Problems)</a:t>
            </a:r>
            <a:endParaRPr lang="en-US" sz="2400" dirty="0">
              <a:solidFill>
                <a:srgbClr val="006C3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00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uiExpand="1" build="p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Distance </a:t>
            </a:r>
            <a:r>
              <a:rPr lang="en-US" sz="4000" b="1" dirty="0"/>
              <a:t>between 2 points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171450" y="1676400"/>
            <a:ext cx="8515350" cy="4778555"/>
            <a:chOff x="152400" y="-718965"/>
            <a:chExt cx="8515350" cy="4778555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457200" y="3728357"/>
              <a:ext cx="8210550" cy="24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 flipH="1" flipV="1">
              <a:off x="438150" y="-718965"/>
              <a:ext cx="19050" cy="44527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1041714" y="3690258"/>
                  <a:ext cx="3679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714" y="3690258"/>
                  <a:ext cx="36798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/>
                <p:cNvSpPr txBox="1"/>
                <p:nvPr/>
              </p:nvSpPr>
              <p:spPr>
                <a:xfrm flipH="1">
                  <a:off x="152400" y="2895600"/>
                  <a:ext cx="2936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52400" y="2895600"/>
                  <a:ext cx="293642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4167"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D6EB3D0-F47D-BB40-92DD-497891EFAB6E}"/>
              </a:ext>
            </a:extLst>
          </p:cNvPr>
          <p:cNvGrpSpPr/>
          <p:nvPr/>
        </p:nvGrpSpPr>
        <p:grpSpPr>
          <a:xfrm>
            <a:off x="3022921" y="4308812"/>
            <a:ext cx="909801" cy="491788"/>
            <a:chOff x="3022921" y="3048000"/>
            <a:chExt cx="909801" cy="491788"/>
          </a:xfrm>
        </p:grpSpPr>
        <p:sp>
          <p:nvSpPr>
            <p:cNvPr id="79" name="Oval 78"/>
            <p:cNvSpPr/>
            <p:nvPr/>
          </p:nvSpPr>
          <p:spPr>
            <a:xfrm>
              <a:off x="3505200" y="30480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3CC4EDD-7D91-9A41-95BB-734D15A2E532}"/>
                    </a:ext>
                  </a:extLst>
                </p:cNvPr>
                <p:cNvSpPr txBox="1"/>
                <p:nvPr/>
              </p:nvSpPr>
              <p:spPr>
                <a:xfrm>
                  <a:off x="3022921" y="3170456"/>
                  <a:ext cx="90980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3CC4EDD-7D91-9A41-95BB-734D15A2E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2921" y="3170456"/>
                  <a:ext cx="909801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0841348-AFE1-D44C-A755-E199D684B66C}"/>
              </a:ext>
            </a:extLst>
          </p:cNvPr>
          <p:cNvGrpSpPr/>
          <p:nvPr/>
        </p:nvGrpSpPr>
        <p:grpSpPr>
          <a:xfrm>
            <a:off x="5029200" y="3242012"/>
            <a:ext cx="914481" cy="533400"/>
            <a:chOff x="5029200" y="1981200"/>
            <a:chExt cx="914481" cy="5334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9AD01E57-3DEE-2242-B726-404F570020C3}"/>
                </a:ext>
              </a:extLst>
            </p:cNvPr>
            <p:cNvSpPr/>
            <p:nvPr/>
          </p:nvSpPr>
          <p:spPr>
            <a:xfrm>
              <a:off x="5257800" y="1981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C7441A1F-EFDE-7645-9ACD-9289417FBAD6}"/>
                    </a:ext>
                  </a:extLst>
                </p:cNvPr>
                <p:cNvSpPr txBox="1"/>
                <p:nvPr/>
              </p:nvSpPr>
              <p:spPr>
                <a:xfrm>
                  <a:off x="5029200" y="2122954"/>
                  <a:ext cx="914481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C7441A1F-EFDE-7645-9ACD-9289417FBA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200" y="2122954"/>
                  <a:ext cx="914481" cy="391646"/>
                </a:xfrm>
                <a:prstGeom prst="rect">
                  <a:avLst/>
                </a:prstGeom>
                <a:blipFill>
                  <a:blip r:embed="rId9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61817D3-E357-9C4B-8720-6BBA16358C02}"/>
              </a:ext>
            </a:extLst>
          </p:cNvPr>
          <p:cNvCxnSpPr>
            <a:cxnSpLocks/>
            <a:endCxn id="71" idx="3"/>
          </p:cNvCxnSpPr>
          <p:nvPr/>
        </p:nvCxnSpPr>
        <p:spPr>
          <a:xfrm flipV="1">
            <a:off x="3581400" y="3307053"/>
            <a:ext cx="1687559" cy="1001759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11CF25-F827-AF4C-943D-B6ADCC552919}"/>
                  </a:ext>
                </a:extLst>
              </p:cNvPr>
              <p:cNvSpPr txBox="1"/>
              <p:nvPr/>
            </p:nvSpPr>
            <p:spPr>
              <a:xfrm>
                <a:off x="7620000" y="3702727"/>
                <a:ext cx="1205779" cy="40011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000" dirty="0"/>
                  <a:t>) time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11CF25-F827-AF4C-943D-B6ADCC552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3702727"/>
                <a:ext cx="1205779" cy="400110"/>
              </a:xfrm>
              <a:prstGeom prst="rect">
                <a:avLst/>
              </a:prstGeom>
              <a:blipFill>
                <a:blip r:embed="rId10"/>
                <a:stretch>
                  <a:fillRect l="-5208" t="-9091" r="-3125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343319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Closest Pair Distance </a:t>
            </a:r>
            <a:r>
              <a:rPr lang="en-US" sz="4000" b="1" dirty="0"/>
              <a:t>Problem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486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3340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372218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r="-2295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47244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71450" y="1676400"/>
            <a:ext cx="8515350" cy="4778555"/>
            <a:chOff x="152400" y="-718965"/>
            <a:chExt cx="8515350" cy="4778555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457200" y="3728357"/>
              <a:ext cx="8210550" cy="24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 flipH="1" flipV="1">
              <a:off x="438150" y="-718965"/>
              <a:ext cx="19050" cy="44527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1041714" y="3690258"/>
                  <a:ext cx="3679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714" y="3690258"/>
                  <a:ext cx="36798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/>
                <p:cNvSpPr txBox="1"/>
                <p:nvPr/>
              </p:nvSpPr>
              <p:spPr>
                <a:xfrm flipH="1">
                  <a:off x="152400" y="2895600"/>
                  <a:ext cx="2936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52400" y="2895600"/>
                  <a:ext cx="293642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4167"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57151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Closest Pair Distance </a:t>
            </a:r>
            <a:r>
              <a:rPr lang="en-US" sz="4000" b="1" dirty="0"/>
              <a:t>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 Definition:</a:t>
                </a:r>
              </a:p>
              <a:p>
                <a:pPr marL="0" indent="0">
                  <a:buNone/>
                </a:pPr>
                <a:r>
                  <a:rPr lang="en-US" sz="2000" dirty="0"/>
                  <a:t>Given a set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&gt;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points in plane, </a:t>
                </a:r>
              </a:p>
              <a:p>
                <a:pPr marL="0" indent="0">
                  <a:buNone/>
                </a:pPr>
                <a:r>
                  <a:rPr lang="en-US" sz="2000" dirty="0"/>
                  <a:t>compute the minimum Euclidean distance among all pairs of points.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Algorithms:</a:t>
                </a:r>
              </a:p>
              <a:p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dirty="0"/>
                  <a:t>) : 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Trivial algorithm</a:t>
                </a:r>
              </a:p>
              <a:p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0" smtClean="0">
                        <a:solidFill>
                          <a:schemeClr val="tx1"/>
                        </a:solidFill>
                        <a:latin typeface="Cambria Math"/>
                      </a:rPr>
                      <m:t>𝐥𝐨𝐠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: 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Divide and Conquer </a:t>
                </a:r>
                <a:r>
                  <a:rPr lang="en-US" sz="2000" dirty="0">
                    <a:solidFill>
                      <a:srgbClr val="002060"/>
                    </a:solidFill>
                  </a:rPr>
                  <a:t>based algorithm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741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953000" y="2362200"/>
            <a:ext cx="3733800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09800" y="4191000"/>
            <a:ext cx="3810000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6EAC7E3-DB65-0BAC-0EEB-822806A53167}"/>
              </a:ext>
            </a:extLst>
          </p:cNvPr>
          <p:cNvSpPr/>
          <p:nvPr/>
        </p:nvSpPr>
        <p:spPr>
          <a:xfrm>
            <a:off x="1905000" y="4802187"/>
            <a:ext cx="4953000" cy="6096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 shall use </a:t>
            </a:r>
            <a:r>
              <a:rPr lang="en-US" b="1" dirty="0">
                <a:solidFill>
                  <a:srgbClr val="00B0F0"/>
                </a:solidFill>
              </a:rPr>
              <a:t>3</a:t>
            </a:r>
            <a:r>
              <a:rPr lang="en-US" b="1" dirty="0">
                <a:solidFill>
                  <a:schemeClr val="tx1"/>
                </a:solidFill>
              </a:rPr>
              <a:t> tools</a:t>
            </a:r>
            <a:r>
              <a:rPr lang="en-US" dirty="0">
                <a:solidFill>
                  <a:schemeClr val="tx1"/>
                </a:solidFill>
              </a:rPr>
              <a:t> to design this algorithm. Please make sure you </a:t>
            </a:r>
            <a:r>
              <a:rPr lang="en-US" u="sng" dirty="0">
                <a:solidFill>
                  <a:schemeClr val="tx1"/>
                </a:solidFill>
              </a:rPr>
              <a:t>internalize</a:t>
            </a:r>
            <a:r>
              <a:rPr lang="en-US" dirty="0">
                <a:solidFill>
                  <a:schemeClr val="tx1"/>
                </a:solidFill>
              </a:rPr>
              <a:t> them well.</a:t>
            </a:r>
            <a:endParaRPr lang="en-IN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2751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25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animBg="1"/>
      <p:bldP spid="8" grpId="0" animBg="1"/>
      <p:bldP spid="2" grpId="0" animBg="1"/>
      <p:bldP spid="2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0000"/>
                </a:solidFill>
              </a:rPr>
              <a:t>Question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0070C0"/>
                </a:solidFill>
              </a:rPr>
              <a:t>1</a:t>
            </a:r>
            <a:br>
              <a:rPr lang="en-US" sz="2800" b="1" dirty="0"/>
            </a:b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FF0000"/>
                    </a:solidFill>
                  </a:rPr>
                  <a:t>Fact </a:t>
                </a:r>
                <a:r>
                  <a:rPr lang="en-US" sz="2000" b="1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be any two points.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000" dirty="0"/>
                  <a:t>,       distance(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000" dirty="0"/>
                  <a:t>)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000" dirty="0"/>
                  <a:t>,       distance(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000" dirty="0"/>
                  <a:t>)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741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240261" y="850802"/>
            <a:ext cx="45608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 fact from high school geometry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2240261" y="1752600"/>
            <a:ext cx="1798339" cy="5650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038600" y="1752600"/>
            <a:ext cx="1981200" cy="5650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854960" y="2711591"/>
            <a:ext cx="2021840" cy="5650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E864EF7-AC40-ED48-AC13-0EAB257237ED}"/>
              </a:ext>
            </a:extLst>
          </p:cNvPr>
          <p:cNvSpPr/>
          <p:nvPr/>
        </p:nvSpPr>
        <p:spPr>
          <a:xfrm>
            <a:off x="-31630" y="884238"/>
            <a:ext cx="1066800" cy="5334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Tool </a:t>
            </a:r>
            <a:r>
              <a:rPr lang="en-US" sz="2400" b="1" dirty="0">
                <a:solidFill>
                  <a:srgbClr val="00B0F0"/>
                </a:solidFill>
              </a:rPr>
              <a:t>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7173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/>
      <p:bldP spid="7" grpId="0" animBg="1"/>
      <p:bldP spid="8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2800" b="1" dirty="0"/>
            </a:b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Exercise: </a:t>
            </a:r>
          </a:p>
          <a:p>
            <a:pPr marL="0" indent="0">
              <a:buNone/>
            </a:pPr>
            <a:r>
              <a:rPr lang="en-US" sz="2000" dirty="0"/>
              <a:t>What is the maximum number of points that can be placed in a </a:t>
            </a:r>
            <a:r>
              <a:rPr lang="en-US" sz="2000" u="sng" dirty="0"/>
              <a:t>unit square </a:t>
            </a:r>
          </a:p>
          <a:p>
            <a:pPr marL="0" indent="0">
              <a:buNone/>
            </a:pPr>
            <a:r>
              <a:rPr lang="en-US" sz="2000" dirty="0"/>
              <a:t>such that each pair of them is separated by distance at least </a:t>
            </a:r>
            <a:r>
              <a:rPr lang="en-US" sz="2000" dirty="0">
                <a:solidFill>
                  <a:srgbClr val="0070C0"/>
                </a:solidFill>
              </a:rPr>
              <a:t>1    </a:t>
            </a:r>
            <a:r>
              <a:rPr lang="en-US" sz="2000" dirty="0"/>
              <a:t>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505200" y="3429000"/>
            <a:ext cx="2057400" cy="182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5943600" y="3429000"/>
            <a:ext cx="457200" cy="1828800"/>
            <a:chOff x="5943600" y="3429000"/>
            <a:chExt cx="457200" cy="1828800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5943600" y="3429000"/>
              <a:ext cx="0" cy="182880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6099114" y="4050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</p:grpSp>
      <p:cxnSp>
        <p:nvCxnSpPr>
          <p:cNvPr id="13" name="Straight Connector 12"/>
          <p:cNvCxnSpPr>
            <a:stCxn id="5" idx="0"/>
            <a:endCxn id="5" idx="2"/>
          </p:cNvCxnSpPr>
          <p:nvPr/>
        </p:nvCxnSpPr>
        <p:spPr>
          <a:xfrm>
            <a:off x="4533900" y="3429000"/>
            <a:ext cx="0" cy="1828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cxnSpLocks/>
            <a:stCxn id="5" idx="1"/>
            <a:endCxn id="5" idx="3"/>
          </p:cNvCxnSpPr>
          <p:nvPr/>
        </p:nvCxnSpPr>
        <p:spPr>
          <a:xfrm>
            <a:off x="3505200" y="4343400"/>
            <a:ext cx="2057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90629" y="597932"/>
            <a:ext cx="3286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A discrete math exercise</a:t>
            </a:r>
            <a:endParaRPr lang="en-US" sz="2400" dirty="0">
              <a:solidFill>
                <a:srgbClr val="7030A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23296" y="1905000"/>
            <a:ext cx="3582504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428999" y="2362200"/>
            <a:ext cx="3886199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3467100" y="3398837"/>
            <a:ext cx="76200" cy="76200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524500" y="3406259"/>
            <a:ext cx="76200" cy="76200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344D318-0FCB-8BF1-F6FE-19722AFA5217}"/>
              </a:ext>
            </a:extLst>
          </p:cNvPr>
          <p:cNvSpPr/>
          <p:nvPr/>
        </p:nvSpPr>
        <p:spPr>
          <a:xfrm>
            <a:off x="3467100" y="5191125"/>
            <a:ext cx="76200" cy="76200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0B19CA9-FC4C-0F41-33C2-72062FDB7F9A}"/>
              </a:ext>
            </a:extLst>
          </p:cNvPr>
          <p:cNvSpPr/>
          <p:nvPr/>
        </p:nvSpPr>
        <p:spPr>
          <a:xfrm>
            <a:off x="5524500" y="5229225"/>
            <a:ext cx="76200" cy="76200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4756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animBg="1"/>
      <p:bldP spid="8" grpId="0"/>
      <p:bldP spid="9" grpId="0" animBg="1"/>
      <p:bldP spid="17" grpId="0" animBg="1"/>
      <p:bldP spid="19" grpId="0" animBg="1"/>
      <p:bldP spid="20" grpId="0" animBg="1"/>
      <p:bldP spid="12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2800" b="1" dirty="0"/>
            </a:b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Exercise: </a:t>
            </a:r>
          </a:p>
          <a:p>
            <a:pPr marL="0" indent="0">
              <a:buNone/>
            </a:pPr>
            <a:r>
              <a:rPr lang="en-US" sz="2000" dirty="0"/>
              <a:t>What is the maximum number of points that can be placed in a </a:t>
            </a:r>
            <a:r>
              <a:rPr lang="en-US" sz="2000" u="sng" dirty="0"/>
              <a:t>unit square </a:t>
            </a:r>
          </a:p>
          <a:p>
            <a:pPr marL="0" indent="0">
              <a:buNone/>
            </a:pPr>
            <a:r>
              <a:rPr lang="en-US" sz="2000" dirty="0"/>
              <a:t>such that each pair of them is separated by distance at least </a:t>
            </a:r>
            <a:r>
              <a:rPr lang="en-US" sz="2000" dirty="0">
                <a:solidFill>
                  <a:srgbClr val="0070C0"/>
                </a:solidFill>
              </a:rPr>
              <a:t>1    </a:t>
            </a:r>
            <a:r>
              <a:rPr lang="en-US" sz="2000" dirty="0"/>
              <a:t>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505200" y="3429000"/>
            <a:ext cx="2057400" cy="182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5943600" y="3429000"/>
            <a:ext cx="457200" cy="1828800"/>
            <a:chOff x="5943600" y="3429000"/>
            <a:chExt cx="457200" cy="1828800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5943600" y="3429000"/>
              <a:ext cx="0" cy="182880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6099114" y="4050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</p:grpSp>
      <p:cxnSp>
        <p:nvCxnSpPr>
          <p:cNvPr id="13" name="Straight Connector 12"/>
          <p:cNvCxnSpPr>
            <a:stCxn id="5" idx="0"/>
            <a:endCxn id="5" idx="2"/>
          </p:cNvCxnSpPr>
          <p:nvPr/>
        </p:nvCxnSpPr>
        <p:spPr>
          <a:xfrm>
            <a:off x="4533900" y="3429000"/>
            <a:ext cx="0" cy="1828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5" idx="1"/>
            <a:endCxn id="5" idx="3"/>
          </p:cNvCxnSpPr>
          <p:nvPr/>
        </p:nvCxnSpPr>
        <p:spPr>
          <a:xfrm>
            <a:off x="3505200" y="4343400"/>
            <a:ext cx="2057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800600" y="3581400"/>
            <a:ext cx="76200" cy="7620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257800" y="4191000"/>
            <a:ext cx="76200" cy="7620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890629" y="597932"/>
            <a:ext cx="3286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A discrete math exercise</a:t>
            </a:r>
            <a:endParaRPr lang="en-US" sz="2400" dirty="0">
              <a:solidFill>
                <a:srgbClr val="7030A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1367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69C93-5CF9-C2BA-3BEB-84487D253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F874E-3ABE-9A0D-D7EA-F45326836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2800" b="1" dirty="0"/>
            </a:br>
            <a:endParaRPr lang="en-US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CEDAE-36EA-046B-F087-2444274B5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Exercise: </a:t>
            </a:r>
          </a:p>
          <a:p>
            <a:pPr marL="0" indent="0">
              <a:buNone/>
            </a:pPr>
            <a:r>
              <a:rPr lang="en-US" sz="2000" dirty="0"/>
              <a:t>What is the maximum number of points that can be placed in a </a:t>
            </a:r>
            <a:r>
              <a:rPr lang="en-US" sz="2000" u="sng" dirty="0"/>
              <a:t>unit square </a:t>
            </a:r>
          </a:p>
          <a:p>
            <a:pPr marL="0" indent="0">
              <a:buNone/>
            </a:pPr>
            <a:r>
              <a:rPr lang="en-US" sz="2000" dirty="0"/>
              <a:t>such that each pair of them is separated by distance at least </a:t>
            </a:r>
            <a:r>
              <a:rPr lang="en-US" sz="2000" dirty="0">
                <a:solidFill>
                  <a:srgbClr val="0070C0"/>
                </a:solidFill>
              </a:rPr>
              <a:t>1    </a:t>
            </a:r>
            <a:r>
              <a:rPr lang="en-US" sz="2000" dirty="0"/>
              <a:t>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5C1BD-0F0C-C381-F5CF-FD6C9300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744EEB-F901-942F-2A95-5AF0AD0114D2}"/>
              </a:ext>
            </a:extLst>
          </p:cNvPr>
          <p:cNvSpPr/>
          <p:nvPr/>
        </p:nvSpPr>
        <p:spPr>
          <a:xfrm>
            <a:off x="3505200" y="3429000"/>
            <a:ext cx="2057400" cy="182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1F092D-21A2-D680-62AF-9F76B34BD24F}"/>
              </a:ext>
            </a:extLst>
          </p:cNvPr>
          <p:cNvGrpSpPr/>
          <p:nvPr/>
        </p:nvGrpSpPr>
        <p:grpSpPr>
          <a:xfrm>
            <a:off x="5943600" y="3429000"/>
            <a:ext cx="457200" cy="1828800"/>
            <a:chOff x="5943600" y="3429000"/>
            <a:chExt cx="457200" cy="1828800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5DBD9D9-1719-D3CD-1859-95111CACBDB1}"/>
                </a:ext>
              </a:extLst>
            </p:cNvPr>
            <p:cNvCxnSpPr/>
            <p:nvPr/>
          </p:nvCxnSpPr>
          <p:spPr>
            <a:xfrm>
              <a:off x="5943600" y="3429000"/>
              <a:ext cx="0" cy="182880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DC2C934-4903-2EFF-AE16-5DC5C2951A8D}"/>
                </a:ext>
              </a:extLst>
            </p:cNvPr>
            <p:cNvSpPr txBox="1"/>
            <p:nvPr/>
          </p:nvSpPr>
          <p:spPr>
            <a:xfrm>
              <a:off x="6099114" y="4050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B10EF86-DAB9-90F2-37C3-8E6B47789A7B}"/>
              </a:ext>
            </a:extLst>
          </p:cNvPr>
          <p:cNvCxnSpPr>
            <a:stCxn id="5" idx="0"/>
            <a:endCxn id="5" idx="2"/>
          </p:cNvCxnSpPr>
          <p:nvPr/>
        </p:nvCxnSpPr>
        <p:spPr>
          <a:xfrm>
            <a:off x="4533900" y="3429000"/>
            <a:ext cx="0" cy="1828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7F9089-7C5F-4DDA-7DBB-56B603D8689E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3505200" y="4343400"/>
            <a:ext cx="2057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2B0F81CF-D8F0-155D-FBF3-C53E1FE5023D}"/>
              </a:ext>
            </a:extLst>
          </p:cNvPr>
          <p:cNvSpPr/>
          <p:nvPr/>
        </p:nvSpPr>
        <p:spPr>
          <a:xfrm>
            <a:off x="5511511" y="3411865"/>
            <a:ext cx="76200" cy="7620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CCE84F2-C4E2-531C-8DEC-700FFFC6C92A}"/>
              </a:ext>
            </a:extLst>
          </p:cNvPr>
          <p:cNvSpPr/>
          <p:nvPr/>
        </p:nvSpPr>
        <p:spPr>
          <a:xfrm>
            <a:off x="4508159" y="4282142"/>
            <a:ext cx="76200" cy="7620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950E455-CF48-6C95-FDD6-6A5AC1789699}"/>
              </a:ext>
            </a:extLst>
          </p:cNvPr>
          <p:cNvCxnSpPr/>
          <p:nvPr/>
        </p:nvCxnSpPr>
        <p:spPr>
          <a:xfrm flipH="1">
            <a:off x="4533900" y="3429000"/>
            <a:ext cx="1028700" cy="91440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AD7174F-2B83-327D-5E63-6CB2114B944E}"/>
                  </a:ext>
                </a:extLst>
              </p:cNvPr>
              <p:cNvSpPr txBox="1"/>
              <p:nvPr/>
            </p:nvSpPr>
            <p:spPr>
              <a:xfrm>
                <a:off x="4565073" y="3733800"/>
                <a:ext cx="387927" cy="4419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50" b="0" i="0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050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073" y="3733800"/>
                <a:ext cx="387927" cy="44198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9D1DF71-30CE-231B-7614-80FDF8FC4A80}"/>
              </a:ext>
            </a:extLst>
          </p:cNvPr>
          <p:cNvSpPr txBox="1"/>
          <p:nvPr/>
        </p:nvSpPr>
        <p:spPr>
          <a:xfrm>
            <a:off x="2890629" y="597932"/>
            <a:ext cx="3286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A discrete math exercise</a:t>
            </a:r>
            <a:endParaRPr lang="en-US" sz="2400" dirty="0">
              <a:solidFill>
                <a:srgbClr val="7030A0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03D99D2-C53B-94BB-1A7A-C6633FE1AC4B}"/>
              </a:ext>
            </a:extLst>
          </p:cNvPr>
          <p:cNvSpPr/>
          <p:nvPr/>
        </p:nvSpPr>
        <p:spPr>
          <a:xfrm>
            <a:off x="11152" y="762000"/>
            <a:ext cx="1066800" cy="5334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Tool </a:t>
            </a:r>
            <a:r>
              <a:rPr lang="en-US" sz="2400" b="1" dirty="0">
                <a:solidFill>
                  <a:srgbClr val="00B0F0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824A68-CD13-E6CD-F237-71DE55F2911F}"/>
                  </a:ext>
                </a:extLst>
              </p:cNvPr>
              <p:cNvSpPr txBox="1"/>
              <p:nvPr/>
            </p:nvSpPr>
            <p:spPr>
              <a:xfrm>
                <a:off x="6063848" y="4082534"/>
                <a:ext cx="37221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𝜹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AB5DCF-372C-0C16-A50F-3024F1476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848" y="4082534"/>
                <a:ext cx="37221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E1E482A-E825-91D3-5BF2-62A050E0CED1}"/>
                  </a:ext>
                </a:extLst>
              </p:cNvPr>
              <p:cNvSpPr txBox="1"/>
              <p:nvPr/>
            </p:nvSpPr>
            <p:spPr>
              <a:xfrm>
                <a:off x="6938005" y="2033831"/>
                <a:ext cx="59663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𝜹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82B94A9-8DF1-D2E8-EF26-04E6D3690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05" y="2033831"/>
                <a:ext cx="59663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DE40A4-C20B-D834-B420-462A07BC2BFE}"/>
                  </a:ext>
                </a:extLst>
              </p:cNvPr>
              <p:cNvSpPr txBox="1"/>
              <p:nvPr/>
            </p:nvSpPr>
            <p:spPr>
              <a:xfrm>
                <a:off x="6760102" y="2378599"/>
                <a:ext cx="37221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𝜹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AD035D5-A681-6019-A20E-A30975F66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0102" y="2378599"/>
                <a:ext cx="37221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493D30C-F93F-3AF5-51F4-8784EB84971F}"/>
              </a:ext>
            </a:extLst>
          </p:cNvPr>
          <p:cNvSpPr txBox="1"/>
          <p:nvPr/>
        </p:nvSpPr>
        <p:spPr>
          <a:xfrm>
            <a:off x="428625" y="2895600"/>
            <a:ext cx="1196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Answer: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70C0"/>
                </a:solidFill>
              </a:rPr>
              <a:t>4</a:t>
            </a:r>
            <a:r>
              <a:rPr lang="en-US" sz="1800" dirty="0"/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6199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4" grpId="0"/>
      <p:bldP spid="24" grpId="1"/>
      <p:bldP spid="23" grpId="0" animBg="1"/>
      <p:bldP spid="6" grpId="0" animBg="1"/>
      <p:bldP spid="22" grpId="0" animBg="1"/>
      <p:bldP spid="25" grpId="0" animBg="1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0000"/>
                </a:solidFill>
              </a:rPr>
              <a:t>Question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0070C0"/>
                </a:solidFill>
              </a:rPr>
              <a:t>2</a:t>
            </a:r>
            <a:br>
              <a:rPr lang="en-US" sz="2800" b="1" dirty="0">
                <a:solidFill>
                  <a:srgbClr val="0070C0"/>
                </a:solidFill>
              </a:rPr>
            </a:b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05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Question</a:t>
            </a:r>
            <a:r>
              <a:rPr lang="en-US" sz="2000" b="1" dirty="0"/>
              <a:t>: </a:t>
            </a:r>
          </a:p>
          <a:p>
            <a:pPr marL="0" indent="0">
              <a:buNone/>
            </a:pPr>
            <a:r>
              <a:rPr lang="en-US" sz="2000" dirty="0"/>
              <a:t>While solving an algorithmic problem, when do we feel the need  of an </a:t>
            </a:r>
          </a:p>
          <a:p>
            <a:pPr marL="0" indent="0">
              <a:buNone/>
            </a:pPr>
            <a:r>
              <a:rPr lang="en-US" sz="2000" dirty="0"/>
              <a:t>efficient data structure 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6C31"/>
                </a:solidFill>
              </a:rPr>
              <a:t>Answer</a:t>
            </a:r>
            <a:r>
              <a:rPr lang="en-US" sz="2000" b="1" dirty="0"/>
              <a:t>: </a:t>
            </a:r>
          </a:p>
          <a:p>
            <a:pPr marL="0" indent="0">
              <a:buNone/>
            </a:pPr>
            <a:r>
              <a:rPr lang="en-US" sz="2000" dirty="0"/>
              <a:t>when the algorithm involves “</a:t>
            </a:r>
            <a:r>
              <a:rPr lang="en-US" sz="2000" b="1" dirty="0"/>
              <a:t>many</a:t>
            </a:r>
            <a:r>
              <a:rPr lang="en-US" sz="2000" dirty="0"/>
              <a:t>” operations of </a:t>
            </a:r>
            <a:r>
              <a:rPr lang="en-US" sz="2000" b="1" dirty="0"/>
              <a:t>same</a:t>
            </a:r>
            <a:r>
              <a:rPr lang="en-US" sz="2000" dirty="0"/>
              <a:t> type on a given data.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447800" y="850802"/>
            <a:ext cx="6180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 fundamental question about data structure ?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5486400" y="3505200"/>
            <a:ext cx="3200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5B6767-57A9-2549-8441-BF9993E970CA}"/>
              </a:ext>
            </a:extLst>
          </p:cNvPr>
          <p:cNvSpPr/>
          <p:nvPr/>
        </p:nvSpPr>
        <p:spPr>
          <a:xfrm>
            <a:off x="4419600" y="1981200"/>
            <a:ext cx="3657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5B6767-57A9-2549-8441-BF9993E970CA}"/>
              </a:ext>
            </a:extLst>
          </p:cNvPr>
          <p:cNvSpPr/>
          <p:nvPr/>
        </p:nvSpPr>
        <p:spPr>
          <a:xfrm>
            <a:off x="2514600" y="3429000"/>
            <a:ext cx="2971800" cy="41116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896555B-D864-F841-B911-1606F7F527BB}"/>
              </a:ext>
            </a:extLst>
          </p:cNvPr>
          <p:cNvSpPr/>
          <p:nvPr/>
        </p:nvSpPr>
        <p:spPr>
          <a:xfrm>
            <a:off x="11152" y="838200"/>
            <a:ext cx="1066800" cy="5334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Tool </a:t>
            </a:r>
            <a:r>
              <a:rPr lang="en-US" sz="2400" b="1" dirty="0">
                <a:solidFill>
                  <a:srgbClr val="00B0F0"/>
                </a:solidFill>
              </a:rPr>
              <a:t>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3871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0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5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/>
      <p:bldP spid="6" grpId="0" animBg="1"/>
      <p:bldP spid="7" grpId="0" animBg="1"/>
      <p:bldP spid="8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2133600"/>
            <a:ext cx="7772400" cy="1362075"/>
          </a:xfrm>
        </p:spPr>
        <p:txBody>
          <a:bodyPr/>
          <a:lstStyle/>
          <a:p>
            <a:pPr algn="ctr"/>
            <a:r>
              <a:rPr lang="en-US" sz="3600" dirty="0"/>
              <a:t>a Divide and Conquer algorithm for</a:t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838200" y="2438400"/>
            <a:ext cx="7772400" cy="1500187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7030A0"/>
                </a:solidFill>
              </a:rPr>
              <a:t>Closest Pair Distance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0226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B1A08B7-400B-1C4E-9A56-8401DBFD04FD}"/>
              </a:ext>
            </a:extLst>
          </p:cNvPr>
          <p:cNvCxnSpPr>
            <a:cxnSpLocks/>
          </p:cNvCxnSpPr>
          <p:nvPr/>
        </p:nvCxnSpPr>
        <p:spPr>
          <a:xfrm>
            <a:off x="-152400" y="6126163"/>
            <a:ext cx="8839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9F6AE9D-1AAD-574D-A68D-2F88674A9816}"/>
              </a:ext>
            </a:extLst>
          </p:cNvPr>
          <p:cNvCxnSpPr>
            <a:cxnSpLocks/>
          </p:cNvCxnSpPr>
          <p:nvPr/>
        </p:nvCxnSpPr>
        <p:spPr>
          <a:xfrm flipV="1">
            <a:off x="446042" y="1600200"/>
            <a:ext cx="11158" cy="5410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divide</a:t>
            </a:r>
            <a:r>
              <a:rPr lang="en-US" sz="4000" b="1" dirty="0"/>
              <a:t> step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486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5943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/>
          <p:cNvSpPr/>
          <p:nvPr/>
        </p:nvSpPr>
        <p:spPr>
          <a:xfrm>
            <a:off x="44196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8" name="Oval 87"/>
          <p:cNvSpPr/>
          <p:nvPr/>
        </p:nvSpPr>
        <p:spPr>
          <a:xfrm>
            <a:off x="46482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9" name="Oval 88"/>
          <p:cNvSpPr/>
          <p:nvPr/>
        </p:nvSpPr>
        <p:spPr>
          <a:xfrm>
            <a:off x="4648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Oval 72"/>
          <p:cNvSpPr/>
          <p:nvPr/>
        </p:nvSpPr>
        <p:spPr>
          <a:xfrm>
            <a:off x="45339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18E36D9-65DF-5B23-41DC-D029E8D9000D}"/>
                  </a:ext>
                </a:extLst>
              </p:cNvPr>
              <p:cNvSpPr txBox="1"/>
              <p:nvPr/>
            </p:nvSpPr>
            <p:spPr>
              <a:xfrm>
                <a:off x="1025018" y="6109807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18E36D9-65DF-5B23-41DC-D029E8D90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018" y="6109807"/>
                <a:ext cx="36798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DA43BA6E-E10A-3C27-2C0F-C9F4EE30A74A}"/>
                  </a:ext>
                </a:extLst>
              </p:cNvPr>
              <p:cNvSpPr txBox="1"/>
              <p:nvPr/>
            </p:nvSpPr>
            <p:spPr>
              <a:xfrm flipH="1">
                <a:off x="152400" y="5313010"/>
                <a:ext cx="2936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DA43BA6E-E10A-3C27-2C0F-C9F4EE30A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2400" y="5313010"/>
                <a:ext cx="293642" cy="369332"/>
              </a:xfrm>
              <a:prstGeom prst="rect">
                <a:avLst/>
              </a:prstGeom>
              <a:blipFill>
                <a:blip r:embed="rId4"/>
                <a:stretch>
                  <a:fillRect r="-4167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9699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4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50" grpId="0" animBg="1"/>
      <p:bldP spid="51" grpId="0" animBg="1"/>
      <p:bldP spid="52" grpId="0" animBg="1"/>
      <p:bldP spid="53" grpId="0" animBg="1"/>
      <p:bldP spid="47" grpId="0" animBg="1"/>
      <p:bldP spid="49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1" grpId="0" animBg="1"/>
      <p:bldP spid="82" grpId="0" animBg="1"/>
      <p:bldP spid="84" grpId="0" animBg="1"/>
      <p:bldP spid="85" grpId="0" animBg="1"/>
      <p:bldP spid="86" grpId="0" animBg="1"/>
      <p:bldP spid="87" grpId="0" animBg="1"/>
      <p:bldP spid="74" grpId="0" animBg="1"/>
      <p:bldP spid="88" grpId="0" animBg="1"/>
      <p:bldP spid="89" grpId="0" animBg="1"/>
      <p:bldP spid="73" grpId="0" animBg="1"/>
      <p:bldP spid="117" grpId="0"/>
      <p:bldP spid="1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B1A08B7-400B-1C4E-9A56-8401DBFD04FD}"/>
              </a:ext>
            </a:extLst>
          </p:cNvPr>
          <p:cNvCxnSpPr>
            <a:cxnSpLocks/>
          </p:cNvCxnSpPr>
          <p:nvPr/>
        </p:nvCxnSpPr>
        <p:spPr>
          <a:xfrm flipV="1">
            <a:off x="-228600" y="6126163"/>
            <a:ext cx="8915400" cy="7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86874" y="604933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69162" y="606562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6032110" y="607501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454188" y="606562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130835" y="6053191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17731" y="607501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3453" y="604933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65546" y="6063749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6057316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39445" y="6059381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084155" y="6059381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13900" y="6057316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73114" y="606451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742200" y="6039519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01683" y="604370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543800" y="6041995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35854" y="606637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65599" y="606956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9" name="Oval 78"/>
          <p:cNvSpPr/>
          <p:nvPr/>
        </p:nvSpPr>
        <p:spPr>
          <a:xfrm>
            <a:off x="4953000" y="6057316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59148" y="606776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70902" y="6046061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/>
          <p:cNvSpPr/>
          <p:nvPr/>
        </p:nvSpPr>
        <p:spPr>
          <a:xfrm>
            <a:off x="4418317" y="6057316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8" name="Oval 87"/>
          <p:cNvSpPr/>
          <p:nvPr/>
        </p:nvSpPr>
        <p:spPr>
          <a:xfrm>
            <a:off x="4699143" y="606637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18E36D9-65DF-5B23-41DC-D029E8D9000D}"/>
                  </a:ext>
                </a:extLst>
              </p:cNvPr>
              <p:cNvSpPr txBox="1"/>
              <p:nvPr/>
            </p:nvSpPr>
            <p:spPr>
              <a:xfrm>
                <a:off x="1025018" y="6109807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18E36D9-65DF-5B23-41DC-D029E8D90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018" y="6109807"/>
                <a:ext cx="3679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DA43BA6E-E10A-3C27-2C0F-C9F4EE30A74A}"/>
                  </a:ext>
                </a:extLst>
              </p:cNvPr>
              <p:cNvSpPr txBox="1"/>
              <p:nvPr/>
            </p:nvSpPr>
            <p:spPr>
              <a:xfrm flipH="1">
                <a:off x="152400" y="5313010"/>
                <a:ext cx="2936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DA43BA6E-E10A-3C27-2C0F-C9F4EE30A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2400" y="5313010"/>
                <a:ext cx="293642" cy="369332"/>
              </a:xfrm>
              <a:prstGeom prst="rect">
                <a:avLst/>
              </a:prstGeom>
              <a:blipFill>
                <a:blip r:embed="rId5"/>
                <a:stretch>
                  <a:fillRect r="-4167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1DF356A-011F-3D0F-5FF4-EC8DDCF3C50C}"/>
              </a:ext>
            </a:extLst>
          </p:cNvPr>
          <p:cNvCxnSpPr>
            <a:cxnSpLocks/>
          </p:cNvCxnSpPr>
          <p:nvPr/>
        </p:nvCxnSpPr>
        <p:spPr>
          <a:xfrm flipV="1">
            <a:off x="446042" y="1600200"/>
            <a:ext cx="11158" cy="533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6316C86A-321E-9135-1596-49FE37B73880}"/>
              </a:ext>
            </a:extLst>
          </p:cNvPr>
          <p:cNvSpPr/>
          <p:nvPr/>
        </p:nvSpPr>
        <p:spPr>
          <a:xfrm>
            <a:off x="763130" y="6131052"/>
            <a:ext cx="7942719" cy="5679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4355F13-701B-BC89-6B28-640182AD46F4}"/>
              </a:ext>
            </a:extLst>
          </p:cNvPr>
          <p:cNvSpPr txBox="1"/>
          <p:nvPr/>
        </p:nvSpPr>
        <p:spPr>
          <a:xfrm>
            <a:off x="690880" y="6412468"/>
            <a:ext cx="1338764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Left half set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6619202-C862-B114-14AF-62009AECEA7E}"/>
              </a:ext>
            </a:extLst>
          </p:cNvPr>
          <p:cNvSpPr txBox="1"/>
          <p:nvPr/>
        </p:nvSpPr>
        <p:spPr>
          <a:xfrm>
            <a:off x="7365816" y="6412468"/>
            <a:ext cx="1463734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Right half set 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F8B306F-B308-89FD-DA8C-47B919BD8B47}"/>
              </a:ext>
            </a:extLst>
          </p:cNvPr>
          <p:cNvGrpSpPr/>
          <p:nvPr/>
        </p:nvGrpSpPr>
        <p:grpSpPr>
          <a:xfrm>
            <a:off x="4648200" y="6131052"/>
            <a:ext cx="3810000" cy="726948"/>
            <a:chOff x="685800" y="5978652"/>
            <a:chExt cx="3810000" cy="726948"/>
          </a:xfrm>
        </p:grpSpPr>
        <p:sp>
          <p:nvSpPr>
            <p:cNvPr id="80" name="Right Brace 79">
              <a:extLst>
                <a:ext uri="{FF2B5EF4-FFF2-40B4-BE49-F238E27FC236}">
                  <a16:creationId xmlns:a16="http://schemas.microsoft.com/office/drawing/2014/main" id="{2AB2B866-FA00-0CE0-EF8C-3FE8109B5294}"/>
                </a:ext>
              </a:extLst>
            </p:cNvPr>
            <p:cNvSpPr/>
            <p:nvPr/>
          </p:nvSpPr>
          <p:spPr>
            <a:xfrm rot="5400000">
              <a:off x="2417826" y="4246626"/>
              <a:ext cx="345948" cy="381000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B4224D3A-52EB-E12C-392E-D2AB7FE72CAB}"/>
                    </a:ext>
                  </a:extLst>
                </p:cNvPr>
                <p:cNvSpPr txBox="1"/>
                <p:nvPr/>
              </p:nvSpPr>
              <p:spPr>
                <a:xfrm>
                  <a:off x="2209800" y="6245218"/>
                  <a:ext cx="1036951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⌊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⌋</m:t>
                      </m:r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45218"/>
                  <a:ext cx="1036951" cy="460382"/>
                </a:xfrm>
                <a:prstGeom prst="rect">
                  <a:avLst/>
                </a:prstGeom>
                <a:blipFill>
                  <a:blip r:embed="rId6"/>
                  <a:stretch>
                    <a:fillRect l="-1765" r="-5294"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DB6A287-FE29-8F0A-1A95-68CF0A6A18D6}"/>
              </a:ext>
            </a:extLst>
          </p:cNvPr>
          <p:cNvGrpSpPr/>
          <p:nvPr/>
        </p:nvGrpSpPr>
        <p:grpSpPr>
          <a:xfrm>
            <a:off x="742950" y="6131052"/>
            <a:ext cx="3810000" cy="726948"/>
            <a:chOff x="685800" y="5978652"/>
            <a:chExt cx="3810000" cy="726948"/>
          </a:xfrm>
        </p:grpSpPr>
        <p:sp>
          <p:nvSpPr>
            <p:cNvPr id="94" name="Right Brace 93">
              <a:extLst>
                <a:ext uri="{FF2B5EF4-FFF2-40B4-BE49-F238E27FC236}">
                  <a16:creationId xmlns:a16="http://schemas.microsoft.com/office/drawing/2014/main" id="{ABFABE8B-4F3B-9BF0-9CDA-FD47B9A9E697}"/>
                </a:ext>
              </a:extLst>
            </p:cNvPr>
            <p:cNvSpPr/>
            <p:nvPr/>
          </p:nvSpPr>
          <p:spPr>
            <a:xfrm rot="5400000">
              <a:off x="2417826" y="4246626"/>
              <a:ext cx="345948" cy="381000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F314FB0B-DC55-2C1B-B2AA-8CD99250A5E1}"/>
                    </a:ext>
                  </a:extLst>
                </p:cNvPr>
                <p:cNvSpPr txBox="1"/>
                <p:nvPr/>
              </p:nvSpPr>
              <p:spPr>
                <a:xfrm>
                  <a:off x="2209800" y="6245218"/>
                  <a:ext cx="1036951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⌈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⌉</m:t>
                      </m:r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45218"/>
                  <a:ext cx="1036951" cy="460382"/>
                </a:xfrm>
                <a:prstGeom prst="rect">
                  <a:avLst/>
                </a:prstGeom>
                <a:blipFill>
                  <a:blip r:embed="rId7"/>
                  <a:stretch>
                    <a:fillRect l="-1765" r="-5294"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7" name="Oval 96">
            <a:extLst>
              <a:ext uri="{FF2B5EF4-FFF2-40B4-BE49-F238E27FC236}">
                <a16:creationId xmlns:a16="http://schemas.microsoft.com/office/drawing/2014/main" id="{7FFDAE03-FE9E-B45D-A698-D4BF8F50FFC7}"/>
              </a:ext>
            </a:extLst>
          </p:cNvPr>
          <p:cNvSpPr/>
          <p:nvPr/>
        </p:nvSpPr>
        <p:spPr>
          <a:xfrm>
            <a:off x="4312687" y="5985018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948B5B3E-437A-01E1-57FC-F0F28D80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000" b="1" dirty="0"/>
              <a:t>Solving the problem in </a:t>
            </a:r>
            <a:r>
              <a:rPr lang="en-US" sz="4000" b="1" dirty="0">
                <a:solidFill>
                  <a:srgbClr val="7030A0"/>
                </a:solidFill>
              </a:rPr>
              <a:t>1-dimension</a:t>
            </a:r>
            <a:endParaRPr lang="en-US" sz="40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llout: Line 1">
                <a:extLst>
                  <a:ext uri="{FF2B5EF4-FFF2-40B4-BE49-F238E27FC236}">
                    <a16:creationId xmlns:a16="http://schemas.microsoft.com/office/drawing/2014/main" id="{F42FF86F-CA13-2E3A-A57D-CF2C8564AD97}"/>
                  </a:ext>
                </a:extLst>
              </p:cNvPr>
              <p:cNvSpPr/>
              <p:nvPr/>
            </p:nvSpPr>
            <p:spPr>
              <a:xfrm>
                <a:off x="5454188" y="5029199"/>
                <a:ext cx="2611854" cy="683855"/>
              </a:xfrm>
              <a:prstGeom prst="borderCallout1">
                <a:avLst>
                  <a:gd name="adj1" fmla="val 51063"/>
                  <a:gd name="adj2" fmla="val 945"/>
                  <a:gd name="adj3" fmla="val 142826"/>
                  <a:gd name="adj4" fmla="val -3725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Median of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points. 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Callout: Line 1">
                <a:extLst>
                  <a:ext uri="{FF2B5EF4-FFF2-40B4-BE49-F238E27FC236}">
                    <a16:creationId xmlns:a16="http://schemas.microsoft.com/office/drawing/2014/main" id="{F42FF86F-CA13-2E3A-A57D-CF2C8564AD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188" y="5029199"/>
                <a:ext cx="2611854" cy="683855"/>
              </a:xfrm>
              <a:prstGeom prst="borderCallout1">
                <a:avLst>
                  <a:gd name="adj1" fmla="val 51063"/>
                  <a:gd name="adj2" fmla="val 945"/>
                  <a:gd name="adj3" fmla="val 142826"/>
                  <a:gd name="adj4" fmla="val -37250"/>
                </a:avLst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5392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  <p:bldP spid="70" grpId="0" animBg="1"/>
      <p:bldP spid="71" grpId="0" animBg="1"/>
      <p:bldP spid="97" grpId="0" animBg="1"/>
      <p:bldP spid="97" grpId="1" animBg="1"/>
      <p:bldP spid="44" grpId="0"/>
      <p:bldP spid="2" grpId="0" animBg="1"/>
      <p:bldP spid="2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B1A08B7-400B-1C4E-9A56-8401DBFD04FD}"/>
              </a:ext>
            </a:extLst>
          </p:cNvPr>
          <p:cNvCxnSpPr>
            <a:cxnSpLocks/>
          </p:cNvCxnSpPr>
          <p:nvPr/>
        </p:nvCxnSpPr>
        <p:spPr>
          <a:xfrm flipV="1">
            <a:off x="-228600" y="6126163"/>
            <a:ext cx="8915400" cy="7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Solving the problem in </a:t>
            </a:r>
            <a:r>
              <a:rPr lang="en-US" sz="4000" b="1" dirty="0">
                <a:solidFill>
                  <a:srgbClr val="7030A0"/>
                </a:solidFill>
              </a:rPr>
              <a:t>1-dimension</a:t>
            </a:r>
            <a:endParaRPr lang="en-US" sz="4000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604933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69162" y="606562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6032110" y="607501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454188" y="606562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130835" y="6053191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17731" y="607501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3453" y="604933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65546" y="6063749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6057316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39445" y="6059381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13900" y="6057316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73114" y="606451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01683" y="604370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543800" y="6041995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35854" y="606637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65599" y="606956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6" name="Oval 85"/>
          <p:cNvSpPr/>
          <p:nvPr/>
        </p:nvSpPr>
        <p:spPr>
          <a:xfrm>
            <a:off x="4059148" y="606776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70527" y="603691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/>
          <p:cNvSpPr/>
          <p:nvPr/>
        </p:nvSpPr>
        <p:spPr>
          <a:xfrm>
            <a:off x="4418317" y="6057316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8" name="Oval 87"/>
          <p:cNvSpPr/>
          <p:nvPr/>
        </p:nvSpPr>
        <p:spPr>
          <a:xfrm>
            <a:off x="4699143" y="606637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18E36D9-65DF-5B23-41DC-D029E8D9000D}"/>
                  </a:ext>
                </a:extLst>
              </p:cNvPr>
              <p:cNvSpPr txBox="1"/>
              <p:nvPr/>
            </p:nvSpPr>
            <p:spPr>
              <a:xfrm>
                <a:off x="1025018" y="6109807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18E36D9-65DF-5B23-41DC-D029E8D90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018" y="6109807"/>
                <a:ext cx="3679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6316C86A-321E-9135-1596-49FE37B73880}"/>
              </a:ext>
            </a:extLst>
          </p:cNvPr>
          <p:cNvSpPr/>
          <p:nvPr/>
        </p:nvSpPr>
        <p:spPr>
          <a:xfrm>
            <a:off x="763130" y="6131052"/>
            <a:ext cx="7942719" cy="5679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4355F13-701B-BC89-6B28-640182AD46F4}"/>
              </a:ext>
            </a:extLst>
          </p:cNvPr>
          <p:cNvSpPr txBox="1"/>
          <p:nvPr/>
        </p:nvSpPr>
        <p:spPr>
          <a:xfrm>
            <a:off x="690880" y="6412468"/>
            <a:ext cx="1338764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Left half set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6619202-C862-B114-14AF-62009AECEA7E}"/>
              </a:ext>
            </a:extLst>
          </p:cNvPr>
          <p:cNvSpPr txBox="1"/>
          <p:nvPr/>
        </p:nvSpPr>
        <p:spPr>
          <a:xfrm>
            <a:off x="7365816" y="6412468"/>
            <a:ext cx="1463734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Right half set 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F8B306F-B308-89FD-DA8C-47B919BD8B47}"/>
              </a:ext>
            </a:extLst>
          </p:cNvPr>
          <p:cNvGrpSpPr/>
          <p:nvPr/>
        </p:nvGrpSpPr>
        <p:grpSpPr>
          <a:xfrm>
            <a:off x="4648200" y="6131052"/>
            <a:ext cx="3810000" cy="726948"/>
            <a:chOff x="685800" y="5978652"/>
            <a:chExt cx="3810000" cy="726948"/>
          </a:xfrm>
        </p:grpSpPr>
        <p:sp>
          <p:nvSpPr>
            <p:cNvPr id="80" name="Right Brace 79">
              <a:extLst>
                <a:ext uri="{FF2B5EF4-FFF2-40B4-BE49-F238E27FC236}">
                  <a16:creationId xmlns:a16="http://schemas.microsoft.com/office/drawing/2014/main" id="{2AB2B866-FA00-0CE0-EF8C-3FE8109B5294}"/>
                </a:ext>
              </a:extLst>
            </p:cNvPr>
            <p:cNvSpPr/>
            <p:nvPr/>
          </p:nvSpPr>
          <p:spPr>
            <a:xfrm rot="5400000">
              <a:off x="2417826" y="4246626"/>
              <a:ext cx="345948" cy="381000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B4224D3A-52EB-E12C-392E-D2AB7FE72CAB}"/>
                    </a:ext>
                  </a:extLst>
                </p:cNvPr>
                <p:cNvSpPr txBox="1"/>
                <p:nvPr/>
              </p:nvSpPr>
              <p:spPr>
                <a:xfrm>
                  <a:off x="2209800" y="6245218"/>
                  <a:ext cx="1036951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⌊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⌋</m:t>
                      </m:r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45218"/>
                  <a:ext cx="1036951" cy="460382"/>
                </a:xfrm>
                <a:prstGeom prst="rect">
                  <a:avLst/>
                </a:prstGeom>
                <a:blipFill>
                  <a:blip r:embed="rId6"/>
                  <a:stretch>
                    <a:fillRect l="-1765" r="-5294"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DB6A287-FE29-8F0A-1A95-68CF0A6A18D6}"/>
              </a:ext>
            </a:extLst>
          </p:cNvPr>
          <p:cNvGrpSpPr/>
          <p:nvPr/>
        </p:nvGrpSpPr>
        <p:grpSpPr>
          <a:xfrm>
            <a:off x="742950" y="6131052"/>
            <a:ext cx="3810000" cy="726948"/>
            <a:chOff x="685800" y="5978652"/>
            <a:chExt cx="3810000" cy="726948"/>
          </a:xfrm>
        </p:grpSpPr>
        <p:sp>
          <p:nvSpPr>
            <p:cNvPr id="94" name="Right Brace 93">
              <a:extLst>
                <a:ext uri="{FF2B5EF4-FFF2-40B4-BE49-F238E27FC236}">
                  <a16:creationId xmlns:a16="http://schemas.microsoft.com/office/drawing/2014/main" id="{ABFABE8B-4F3B-9BF0-9CDA-FD47B9A9E697}"/>
                </a:ext>
              </a:extLst>
            </p:cNvPr>
            <p:cNvSpPr/>
            <p:nvPr/>
          </p:nvSpPr>
          <p:spPr>
            <a:xfrm rot="5400000">
              <a:off x="2417826" y="4246626"/>
              <a:ext cx="345948" cy="381000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F314FB0B-DC55-2C1B-B2AA-8CD99250A5E1}"/>
                    </a:ext>
                  </a:extLst>
                </p:cNvPr>
                <p:cNvSpPr txBox="1"/>
                <p:nvPr/>
              </p:nvSpPr>
              <p:spPr>
                <a:xfrm>
                  <a:off x="2209800" y="6245218"/>
                  <a:ext cx="1036951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⌈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⌉</m:t>
                      </m:r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45218"/>
                  <a:ext cx="1036951" cy="460382"/>
                </a:xfrm>
                <a:prstGeom prst="rect">
                  <a:avLst/>
                </a:prstGeom>
                <a:blipFill>
                  <a:blip r:embed="rId5"/>
                  <a:stretch>
                    <a:fillRect l="-1765" r="-5294"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7" name="Oval 96">
            <a:extLst>
              <a:ext uri="{FF2B5EF4-FFF2-40B4-BE49-F238E27FC236}">
                <a16:creationId xmlns:a16="http://schemas.microsoft.com/office/drawing/2014/main" id="{7FFDAE03-FE9E-B45D-A698-D4BF8F50FFC7}"/>
              </a:ext>
            </a:extLst>
          </p:cNvPr>
          <p:cNvSpPr/>
          <p:nvPr/>
        </p:nvSpPr>
        <p:spPr>
          <a:xfrm>
            <a:off x="4334195" y="5993419"/>
            <a:ext cx="218537" cy="19574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E24EB33-A991-8830-5B95-675524EE1FB4}"/>
              </a:ext>
            </a:extLst>
          </p:cNvPr>
          <p:cNvSpPr/>
          <p:nvPr/>
        </p:nvSpPr>
        <p:spPr>
          <a:xfrm>
            <a:off x="4620275" y="6010670"/>
            <a:ext cx="218537" cy="19574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79191A5-5952-953D-51A6-EEAD783DA8CF}"/>
              </a:ext>
            </a:extLst>
          </p:cNvPr>
          <p:cNvSpPr/>
          <p:nvPr/>
        </p:nvSpPr>
        <p:spPr>
          <a:xfrm>
            <a:off x="4953000" y="6057316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35C4D5A-4E3B-AD93-0155-6B2B9636D0B9}"/>
              </a:ext>
            </a:extLst>
          </p:cNvPr>
          <p:cNvSpPr/>
          <p:nvPr/>
        </p:nvSpPr>
        <p:spPr>
          <a:xfrm>
            <a:off x="6742200" y="6039519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1B4D5AC-E448-95CB-1527-CD75672D60F0}"/>
              </a:ext>
            </a:extLst>
          </p:cNvPr>
          <p:cNvCxnSpPr>
            <a:cxnSpLocks/>
          </p:cNvCxnSpPr>
          <p:nvPr/>
        </p:nvCxnSpPr>
        <p:spPr>
          <a:xfrm>
            <a:off x="1964773" y="4340218"/>
            <a:ext cx="0" cy="20574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6F4CD08-6E10-6AA2-0813-DD8746F2F3C9}"/>
              </a:ext>
            </a:extLst>
          </p:cNvPr>
          <p:cNvCxnSpPr>
            <a:cxnSpLocks/>
          </p:cNvCxnSpPr>
          <p:nvPr/>
        </p:nvCxnSpPr>
        <p:spPr>
          <a:xfrm>
            <a:off x="6781800" y="4343400"/>
            <a:ext cx="0" cy="20574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F722922-8405-D0C8-FA3C-0C33D6B97281}"/>
              </a:ext>
            </a:extLst>
          </p:cNvPr>
          <p:cNvCxnSpPr>
            <a:cxnSpLocks/>
          </p:cNvCxnSpPr>
          <p:nvPr/>
        </p:nvCxnSpPr>
        <p:spPr>
          <a:xfrm>
            <a:off x="6966305" y="4343400"/>
            <a:ext cx="0" cy="20574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9856CC19-F540-5AEC-4469-F2F6F7687D99}"/>
              </a:ext>
            </a:extLst>
          </p:cNvPr>
          <p:cNvSpPr/>
          <p:nvPr/>
        </p:nvSpPr>
        <p:spPr>
          <a:xfrm>
            <a:off x="2084155" y="6059381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0DA695B-DF08-5E05-761D-B3AEDB7DDB43}"/>
              </a:ext>
            </a:extLst>
          </p:cNvPr>
          <p:cNvCxnSpPr>
            <a:cxnSpLocks/>
          </p:cNvCxnSpPr>
          <p:nvPr/>
        </p:nvCxnSpPr>
        <p:spPr>
          <a:xfrm>
            <a:off x="2107485" y="4340218"/>
            <a:ext cx="0" cy="20574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7949773-4DA2-939E-39E4-6B30733EBBA9}"/>
              </a:ext>
            </a:extLst>
          </p:cNvPr>
          <p:cNvCxnSpPr>
            <a:cxnSpLocks/>
          </p:cNvCxnSpPr>
          <p:nvPr/>
        </p:nvCxnSpPr>
        <p:spPr>
          <a:xfrm>
            <a:off x="4418317" y="4355068"/>
            <a:ext cx="0" cy="20574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B31A4EC-512E-895E-320C-57E5702258DE}"/>
              </a:ext>
            </a:extLst>
          </p:cNvPr>
          <p:cNvCxnSpPr>
            <a:cxnSpLocks/>
          </p:cNvCxnSpPr>
          <p:nvPr/>
        </p:nvCxnSpPr>
        <p:spPr>
          <a:xfrm>
            <a:off x="4724400" y="4340218"/>
            <a:ext cx="0" cy="20574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C40829E-25B3-ACD1-39A2-0875C425F1E5}"/>
              </a:ext>
            </a:extLst>
          </p:cNvPr>
          <p:cNvCxnSpPr>
            <a:cxnSpLocks/>
          </p:cNvCxnSpPr>
          <p:nvPr/>
        </p:nvCxnSpPr>
        <p:spPr>
          <a:xfrm flipH="1">
            <a:off x="1939445" y="4316503"/>
            <a:ext cx="182810" cy="0"/>
          </a:xfrm>
          <a:prstGeom prst="straightConnector1">
            <a:avLst/>
          </a:prstGeom>
          <a:ln w="952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1FA7F65-C461-9120-8340-87DA20E956AE}"/>
              </a:ext>
            </a:extLst>
          </p:cNvPr>
          <p:cNvCxnSpPr>
            <a:cxnSpLocks/>
          </p:cNvCxnSpPr>
          <p:nvPr/>
        </p:nvCxnSpPr>
        <p:spPr>
          <a:xfrm flipH="1">
            <a:off x="6742200" y="4363812"/>
            <a:ext cx="224105" cy="0"/>
          </a:xfrm>
          <a:prstGeom prst="straightConnector1">
            <a:avLst/>
          </a:prstGeom>
          <a:ln w="952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2CD1558-528B-A170-B501-BDA97DC62AC3}"/>
              </a:ext>
            </a:extLst>
          </p:cNvPr>
          <p:cNvCxnSpPr>
            <a:cxnSpLocks/>
          </p:cNvCxnSpPr>
          <p:nvPr/>
        </p:nvCxnSpPr>
        <p:spPr>
          <a:xfrm flipH="1" flipV="1">
            <a:off x="4418317" y="4355068"/>
            <a:ext cx="316172" cy="8744"/>
          </a:xfrm>
          <a:prstGeom prst="straightConnector1">
            <a:avLst/>
          </a:prstGeom>
          <a:ln w="952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ED5F315-5881-5209-B8A4-42C4AAF4F67B}"/>
                  </a:ext>
                </a:extLst>
              </p:cNvPr>
              <p:cNvSpPr txBox="1"/>
              <p:nvPr/>
            </p:nvSpPr>
            <p:spPr>
              <a:xfrm>
                <a:off x="1797551" y="3938383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ED5F315-5881-5209-B8A4-42C4AAF4F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551" y="3938383"/>
                <a:ext cx="47634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9A693FA-BE24-118F-4061-5D3827E48FA3}"/>
                  </a:ext>
                </a:extLst>
              </p:cNvPr>
              <p:cNvSpPr txBox="1"/>
              <p:nvPr/>
            </p:nvSpPr>
            <p:spPr>
              <a:xfrm>
                <a:off x="6616077" y="3994480"/>
                <a:ext cx="4987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9A693FA-BE24-118F-4061-5D3827E48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6077" y="3994480"/>
                <a:ext cx="4987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c 2">
            <a:extLst>
              <a:ext uri="{FF2B5EF4-FFF2-40B4-BE49-F238E27FC236}">
                <a16:creationId xmlns:a16="http://schemas.microsoft.com/office/drawing/2014/main" id="{E95F4527-8AE3-BF22-CA4A-5C7003419F14}"/>
              </a:ext>
            </a:extLst>
          </p:cNvPr>
          <p:cNvSpPr/>
          <p:nvPr/>
        </p:nvSpPr>
        <p:spPr>
          <a:xfrm>
            <a:off x="2752402" y="5732487"/>
            <a:ext cx="2745555" cy="752344"/>
          </a:xfrm>
          <a:prstGeom prst="arc">
            <a:avLst>
              <a:gd name="adj1" fmla="val 10810403"/>
              <a:gd name="adj2" fmla="val 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7DB927E5-DB39-83A3-AAAC-27D1BBD5141C}"/>
              </a:ext>
            </a:extLst>
          </p:cNvPr>
          <p:cNvSpPr/>
          <p:nvPr/>
        </p:nvSpPr>
        <p:spPr>
          <a:xfrm>
            <a:off x="3745362" y="5649652"/>
            <a:ext cx="1448548" cy="827348"/>
          </a:xfrm>
          <a:prstGeom prst="arc">
            <a:avLst>
              <a:gd name="adj1" fmla="val 10810403"/>
              <a:gd name="adj2" fmla="val 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22465B-B1B5-2F12-537F-38540F055481}"/>
                  </a:ext>
                </a:extLst>
              </p:cNvPr>
              <p:cNvSpPr txBox="1"/>
              <p:nvPr/>
            </p:nvSpPr>
            <p:spPr>
              <a:xfrm>
                <a:off x="152400" y="1905000"/>
                <a:ext cx="2234010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/>
                  <a:t> T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800" dirty="0"/>
                  <a:t>) = c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800" dirty="0"/>
                  <a:t> +  2 </a:t>
                </a:r>
                <a:r>
                  <a:rPr lang="en-US" sz="1800" b="1" dirty="0"/>
                  <a:t>T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800" dirty="0"/>
                  <a:t>/2)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22465B-B1B5-2F12-537F-38540F055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905000"/>
                <a:ext cx="2234010" cy="369332"/>
              </a:xfrm>
              <a:prstGeom prst="rect">
                <a:avLst/>
              </a:prstGeom>
              <a:blipFill>
                <a:blip r:embed="rId9"/>
                <a:stretch>
                  <a:fillRect t="-10000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0CA700-EAA6-6453-E42B-3D8B0680D196}"/>
                  </a:ext>
                </a:extLst>
              </p:cNvPr>
              <p:cNvSpPr txBox="1"/>
              <p:nvPr/>
            </p:nvSpPr>
            <p:spPr>
              <a:xfrm>
                <a:off x="2597336" y="1905000"/>
                <a:ext cx="1380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func>
                      <m:funcPr>
                        <m:ctrlP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0CA700-EAA6-6453-E42B-3D8B0680D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336" y="1905000"/>
                <a:ext cx="1380443" cy="369332"/>
              </a:xfrm>
              <a:prstGeom prst="rect">
                <a:avLst/>
              </a:prstGeom>
              <a:blipFill>
                <a:blip r:embed="rId10"/>
                <a:stretch>
                  <a:fillRect t="-10000" r="-272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7059F086-AF3C-3267-1B44-649646A5BEB3}"/>
              </a:ext>
            </a:extLst>
          </p:cNvPr>
          <p:cNvSpPr/>
          <p:nvPr/>
        </p:nvSpPr>
        <p:spPr>
          <a:xfrm>
            <a:off x="4156546" y="1149239"/>
            <a:ext cx="4770400" cy="1672012"/>
          </a:xfrm>
          <a:prstGeom prst="cloudCallout">
            <a:avLst>
              <a:gd name="adj1" fmla="val 49270"/>
              <a:gd name="adj2" fmla="val 5942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 can not afford to compute distance between each point of the left half set and each point of the right half set.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0F91E1-9E7D-5A0A-BDC1-E96C21E41EFB}"/>
              </a:ext>
            </a:extLst>
          </p:cNvPr>
          <p:cNvSpPr txBox="1"/>
          <p:nvPr/>
        </p:nvSpPr>
        <p:spPr>
          <a:xfrm>
            <a:off x="3200400" y="1639669"/>
            <a:ext cx="5643853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 We need to consider only one point from the left half set </a:t>
            </a:r>
          </a:p>
          <a:p>
            <a:r>
              <a:rPr lang="en-US" dirty="0"/>
              <a:t>and one point from the right half set. Can you spot them ?</a:t>
            </a:r>
          </a:p>
        </p:txBody>
      </p:sp>
      <p:sp>
        <p:nvSpPr>
          <p:cNvPr id="10" name="Smiley Face 9">
            <a:extLst>
              <a:ext uri="{FF2B5EF4-FFF2-40B4-BE49-F238E27FC236}">
                <a16:creationId xmlns:a16="http://schemas.microsoft.com/office/drawing/2014/main" id="{28328455-F337-C2B6-67B2-AA044E6069B6}"/>
              </a:ext>
            </a:extLst>
          </p:cNvPr>
          <p:cNvSpPr/>
          <p:nvPr/>
        </p:nvSpPr>
        <p:spPr>
          <a:xfrm>
            <a:off x="5613060" y="1083607"/>
            <a:ext cx="457200" cy="479863"/>
          </a:xfrm>
          <a:prstGeom prst="smileyFace">
            <a:avLst>
              <a:gd name="adj" fmla="val 4653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BDCDD4E7-F934-1399-9193-D47FD21A8A02}"/>
              </a:ext>
            </a:extLst>
          </p:cNvPr>
          <p:cNvSpPr/>
          <p:nvPr/>
        </p:nvSpPr>
        <p:spPr>
          <a:xfrm>
            <a:off x="4041062" y="1914342"/>
            <a:ext cx="4481729" cy="1195623"/>
          </a:xfrm>
          <a:prstGeom prst="cloudCallout">
            <a:avLst>
              <a:gd name="adj1" fmla="val 49270"/>
              <a:gd name="adj2" fmla="val 5942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is the recurrence for the running time of the algorithm ?</a:t>
            </a:r>
            <a:endParaRPr lang="en-IN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78765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41" grpId="0" animBg="1"/>
      <p:bldP spid="54" grpId="0"/>
      <p:bldP spid="55" grpId="0"/>
      <p:bldP spid="3" grpId="0" animBg="1"/>
      <p:bldP spid="3" grpId="1" animBg="1"/>
      <p:bldP spid="5" grpId="0" animBg="1"/>
      <p:bldP spid="5" grpId="1" animBg="1"/>
      <p:bldP spid="6" grpId="0" animBg="1"/>
      <p:bldP spid="6" grpId="1" animBg="1"/>
      <p:bldP spid="7" grpId="0"/>
      <p:bldP spid="7" grpId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B1A08B7-400B-1C4E-9A56-8401DBFD04FD}"/>
              </a:ext>
            </a:extLst>
          </p:cNvPr>
          <p:cNvCxnSpPr>
            <a:cxnSpLocks/>
          </p:cNvCxnSpPr>
          <p:nvPr/>
        </p:nvCxnSpPr>
        <p:spPr>
          <a:xfrm flipV="1">
            <a:off x="-228600" y="6126163"/>
            <a:ext cx="8915400" cy="7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How to extend to </a:t>
            </a:r>
            <a:r>
              <a:rPr lang="en-US" sz="4000" b="1" dirty="0">
                <a:solidFill>
                  <a:srgbClr val="7030A0"/>
                </a:solidFill>
              </a:rPr>
              <a:t>2-dimensions</a:t>
            </a:r>
            <a:endParaRPr lang="en-US" sz="4000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604933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69162" y="606562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6032110" y="607501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454188" y="606562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130835" y="6053191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17731" y="607501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3453" y="604933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65546" y="6063749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6057316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39445" y="6059381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13900" y="6057316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73114" y="606451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01683" y="604370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543800" y="6041995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35854" y="606637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65599" y="606956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6" name="Oval 85"/>
          <p:cNvSpPr/>
          <p:nvPr/>
        </p:nvSpPr>
        <p:spPr>
          <a:xfrm>
            <a:off x="4059148" y="606776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70527" y="603691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/>
          <p:cNvSpPr/>
          <p:nvPr/>
        </p:nvSpPr>
        <p:spPr>
          <a:xfrm>
            <a:off x="4418317" y="6057316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8" name="Oval 87"/>
          <p:cNvSpPr/>
          <p:nvPr/>
        </p:nvSpPr>
        <p:spPr>
          <a:xfrm>
            <a:off x="4699143" y="606637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18E36D9-65DF-5B23-41DC-D029E8D9000D}"/>
                  </a:ext>
                </a:extLst>
              </p:cNvPr>
              <p:cNvSpPr txBox="1"/>
              <p:nvPr/>
            </p:nvSpPr>
            <p:spPr>
              <a:xfrm>
                <a:off x="1025018" y="6109807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18E36D9-65DF-5B23-41DC-D029E8D90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018" y="6109807"/>
                <a:ext cx="3679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Oval 43">
            <a:extLst>
              <a:ext uri="{FF2B5EF4-FFF2-40B4-BE49-F238E27FC236}">
                <a16:creationId xmlns:a16="http://schemas.microsoft.com/office/drawing/2014/main" id="{D79191A5-5952-953D-51A6-EEAD783DA8CF}"/>
              </a:ext>
            </a:extLst>
          </p:cNvPr>
          <p:cNvSpPr/>
          <p:nvPr/>
        </p:nvSpPr>
        <p:spPr>
          <a:xfrm>
            <a:off x="4953000" y="6057316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35C4D5A-4E3B-AD93-0155-6B2B9636D0B9}"/>
              </a:ext>
            </a:extLst>
          </p:cNvPr>
          <p:cNvSpPr/>
          <p:nvPr/>
        </p:nvSpPr>
        <p:spPr>
          <a:xfrm>
            <a:off x="6742200" y="6039519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856CC19-F540-5AEC-4469-F2F6F7687D99}"/>
              </a:ext>
            </a:extLst>
          </p:cNvPr>
          <p:cNvSpPr/>
          <p:nvPr/>
        </p:nvSpPr>
        <p:spPr>
          <a:xfrm>
            <a:off x="2084155" y="6059381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575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B1A08B7-400B-1C4E-9A56-8401DBFD04FD}"/>
              </a:ext>
            </a:extLst>
          </p:cNvPr>
          <p:cNvCxnSpPr>
            <a:cxnSpLocks/>
          </p:cNvCxnSpPr>
          <p:nvPr/>
        </p:nvCxnSpPr>
        <p:spPr>
          <a:xfrm>
            <a:off x="-152400" y="6126163"/>
            <a:ext cx="8839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9F6AE9D-1AAD-574D-A68D-2F88674A9816}"/>
              </a:ext>
            </a:extLst>
          </p:cNvPr>
          <p:cNvCxnSpPr>
            <a:cxnSpLocks/>
          </p:cNvCxnSpPr>
          <p:nvPr/>
        </p:nvCxnSpPr>
        <p:spPr>
          <a:xfrm flipV="1">
            <a:off x="446042" y="1600200"/>
            <a:ext cx="11158" cy="5410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divide</a:t>
            </a:r>
            <a:r>
              <a:rPr lang="en-US" sz="4000" b="1" dirty="0"/>
              <a:t> step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486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/>
          <p:cNvSpPr/>
          <p:nvPr/>
        </p:nvSpPr>
        <p:spPr>
          <a:xfrm>
            <a:off x="44196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8" name="Oval 87"/>
          <p:cNvSpPr/>
          <p:nvPr/>
        </p:nvSpPr>
        <p:spPr>
          <a:xfrm>
            <a:off x="46482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9" name="Oval 88"/>
          <p:cNvSpPr/>
          <p:nvPr/>
        </p:nvSpPr>
        <p:spPr>
          <a:xfrm>
            <a:off x="4648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Oval 72"/>
          <p:cNvSpPr/>
          <p:nvPr/>
        </p:nvSpPr>
        <p:spPr>
          <a:xfrm>
            <a:off x="45339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18E36D9-65DF-5B23-41DC-D029E8D9000D}"/>
                  </a:ext>
                </a:extLst>
              </p:cNvPr>
              <p:cNvSpPr txBox="1"/>
              <p:nvPr/>
            </p:nvSpPr>
            <p:spPr>
              <a:xfrm>
                <a:off x="1025018" y="6109807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18E36D9-65DF-5B23-41DC-D029E8D90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018" y="6109807"/>
                <a:ext cx="3679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DA43BA6E-E10A-3C27-2C0F-C9F4EE30A74A}"/>
                  </a:ext>
                </a:extLst>
              </p:cNvPr>
              <p:cNvSpPr txBox="1"/>
              <p:nvPr/>
            </p:nvSpPr>
            <p:spPr>
              <a:xfrm flipH="1">
                <a:off x="152400" y="5313010"/>
                <a:ext cx="2936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DA43BA6E-E10A-3C27-2C0F-C9F4EE30A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2400" y="5313010"/>
                <a:ext cx="293642" cy="369332"/>
              </a:xfrm>
              <a:prstGeom prst="rect">
                <a:avLst/>
              </a:prstGeom>
              <a:blipFill>
                <a:blip r:embed="rId5"/>
                <a:stretch>
                  <a:fillRect r="-4167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57C0739-8AE9-5CBB-C32B-29FAFBB8F01A}"/>
              </a:ext>
            </a:extLst>
          </p:cNvPr>
          <p:cNvCxnSpPr>
            <a:cxnSpLocks/>
          </p:cNvCxnSpPr>
          <p:nvPr/>
        </p:nvCxnSpPr>
        <p:spPr>
          <a:xfrm>
            <a:off x="1783991" y="2547743"/>
            <a:ext cx="0" cy="35784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93AE4D5-D881-A8A7-6926-4C1DDF38D88B}"/>
              </a:ext>
            </a:extLst>
          </p:cNvPr>
          <p:cNvCxnSpPr>
            <a:cxnSpLocks/>
          </p:cNvCxnSpPr>
          <p:nvPr/>
        </p:nvCxnSpPr>
        <p:spPr>
          <a:xfrm>
            <a:off x="2015945" y="3314700"/>
            <a:ext cx="0" cy="2811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1E674C6-CB20-ACE7-FF16-64143ABC7F9C}"/>
              </a:ext>
            </a:extLst>
          </p:cNvPr>
          <p:cNvCxnSpPr>
            <a:cxnSpLocks/>
          </p:cNvCxnSpPr>
          <p:nvPr/>
        </p:nvCxnSpPr>
        <p:spPr>
          <a:xfrm>
            <a:off x="2171700" y="4038600"/>
            <a:ext cx="0" cy="2087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9F728F3-D540-EB13-E91A-D5457087EEE8}"/>
              </a:ext>
            </a:extLst>
          </p:cNvPr>
          <p:cNvCxnSpPr>
            <a:cxnSpLocks/>
          </p:cNvCxnSpPr>
          <p:nvPr/>
        </p:nvCxnSpPr>
        <p:spPr>
          <a:xfrm flipH="1">
            <a:off x="2764568" y="3726443"/>
            <a:ext cx="16733" cy="2399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6C463E8-B8FC-6C67-6AAB-3B83EBF29664}"/>
              </a:ext>
            </a:extLst>
          </p:cNvPr>
          <p:cNvCxnSpPr>
            <a:cxnSpLocks/>
          </p:cNvCxnSpPr>
          <p:nvPr/>
        </p:nvCxnSpPr>
        <p:spPr>
          <a:xfrm>
            <a:off x="2477316" y="2734043"/>
            <a:ext cx="8635" cy="33757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ECB9333-7E01-4F56-A005-6796EE3F6D82}"/>
              </a:ext>
            </a:extLst>
          </p:cNvPr>
          <p:cNvCxnSpPr>
            <a:cxnSpLocks/>
          </p:cNvCxnSpPr>
          <p:nvPr/>
        </p:nvCxnSpPr>
        <p:spPr>
          <a:xfrm>
            <a:off x="3312160" y="2941638"/>
            <a:ext cx="0" cy="31681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133DF9D9-7437-0948-3598-8CA7B7E9947B}"/>
              </a:ext>
            </a:extLst>
          </p:cNvPr>
          <p:cNvCxnSpPr>
            <a:cxnSpLocks/>
          </p:cNvCxnSpPr>
          <p:nvPr/>
        </p:nvCxnSpPr>
        <p:spPr>
          <a:xfrm>
            <a:off x="3688580" y="3930473"/>
            <a:ext cx="7120" cy="2195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A38051E-562C-A699-ECA2-8A87D2AA5E02}"/>
              </a:ext>
            </a:extLst>
          </p:cNvPr>
          <p:cNvCxnSpPr/>
          <p:nvPr/>
        </p:nvCxnSpPr>
        <p:spPr>
          <a:xfrm flipH="1">
            <a:off x="4052070" y="3456940"/>
            <a:ext cx="31750" cy="2674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BF44CA6-2DCE-8DF3-E6E9-6378F0701D01}"/>
              </a:ext>
            </a:extLst>
          </p:cNvPr>
          <p:cNvCxnSpPr>
            <a:cxnSpLocks/>
          </p:cNvCxnSpPr>
          <p:nvPr/>
        </p:nvCxnSpPr>
        <p:spPr>
          <a:xfrm>
            <a:off x="3162300" y="5334000"/>
            <a:ext cx="0" cy="775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818CDE8B-1ECF-F6F8-359F-455B4A0FB529}"/>
              </a:ext>
            </a:extLst>
          </p:cNvPr>
          <p:cNvCxnSpPr/>
          <p:nvPr/>
        </p:nvCxnSpPr>
        <p:spPr>
          <a:xfrm flipH="1">
            <a:off x="4203702" y="4988052"/>
            <a:ext cx="15421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503CA33-89FB-833F-D71F-EBCEF6610F2F}"/>
              </a:ext>
            </a:extLst>
          </p:cNvPr>
          <p:cNvCxnSpPr>
            <a:cxnSpLocks/>
          </p:cNvCxnSpPr>
          <p:nvPr/>
        </p:nvCxnSpPr>
        <p:spPr>
          <a:xfrm>
            <a:off x="5845040" y="1845331"/>
            <a:ext cx="29362" cy="42644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E2BA7690-F656-74AB-DF06-7D1FAD07CEBD}"/>
              </a:ext>
            </a:extLst>
          </p:cNvPr>
          <p:cNvCxnSpPr/>
          <p:nvPr/>
        </p:nvCxnSpPr>
        <p:spPr>
          <a:xfrm>
            <a:off x="7977120" y="2080065"/>
            <a:ext cx="12700" cy="40657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E2A210D-266C-99B7-E4E2-8434F4454613}"/>
              </a:ext>
            </a:extLst>
          </p:cNvPr>
          <p:cNvCxnSpPr/>
          <p:nvPr/>
        </p:nvCxnSpPr>
        <p:spPr>
          <a:xfrm>
            <a:off x="6978661" y="4571406"/>
            <a:ext cx="631" cy="15503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192E8BEE-6272-02AE-492C-800A091D592E}"/>
              </a:ext>
            </a:extLst>
          </p:cNvPr>
          <p:cNvCxnSpPr>
            <a:cxnSpLocks/>
          </p:cNvCxnSpPr>
          <p:nvPr/>
        </p:nvCxnSpPr>
        <p:spPr>
          <a:xfrm>
            <a:off x="7776460" y="5364625"/>
            <a:ext cx="0" cy="7615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AB1180C-6DE2-2D37-D6BD-52188FC5811E}"/>
              </a:ext>
            </a:extLst>
          </p:cNvPr>
          <p:cNvCxnSpPr/>
          <p:nvPr/>
        </p:nvCxnSpPr>
        <p:spPr>
          <a:xfrm>
            <a:off x="7817675" y="3124200"/>
            <a:ext cx="30925" cy="29939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061AACE-C9D5-B951-486C-1ED293FF40A8}"/>
              </a:ext>
            </a:extLst>
          </p:cNvPr>
          <p:cNvCxnSpPr/>
          <p:nvPr/>
        </p:nvCxnSpPr>
        <p:spPr>
          <a:xfrm>
            <a:off x="7945317" y="4073572"/>
            <a:ext cx="20623" cy="2080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6B4C80AF-5289-B24B-54F7-EBF8F3D474D2}"/>
              </a:ext>
            </a:extLst>
          </p:cNvPr>
          <p:cNvCxnSpPr>
            <a:cxnSpLocks/>
          </p:cNvCxnSpPr>
          <p:nvPr/>
        </p:nvCxnSpPr>
        <p:spPr>
          <a:xfrm>
            <a:off x="4876800" y="4267200"/>
            <a:ext cx="0" cy="1858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1BDD2A34-AC64-AD43-847E-136750D19227}"/>
              </a:ext>
            </a:extLst>
          </p:cNvPr>
          <p:cNvCxnSpPr>
            <a:cxnSpLocks/>
          </p:cNvCxnSpPr>
          <p:nvPr/>
        </p:nvCxnSpPr>
        <p:spPr>
          <a:xfrm flipH="1">
            <a:off x="6626742" y="1828800"/>
            <a:ext cx="2658" cy="4281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88997E3E-A1CF-913C-F855-FCEFEE5E97EA}"/>
              </a:ext>
            </a:extLst>
          </p:cNvPr>
          <p:cNvCxnSpPr>
            <a:cxnSpLocks/>
          </p:cNvCxnSpPr>
          <p:nvPr/>
        </p:nvCxnSpPr>
        <p:spPr>
          <a:xfrm>
            <a:off x="6686280" y="3543300"/>
            <a:ext cx="9941" cy="25665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7C913E3A-034D-6945-8D23-E4D679D1FD1B}"/>
              </a:ext>
            </a:extLst>
          </p:cNvPr>
          <p:cNvCxnSpPr>
            <a:cxnSpLocks/>
          </p:cNvCxnSpPr>
          <p:nvPr/>
        </p:nvCxnSpPr>
        <p:spPr>
          <a:xfrm>
            <a:off x="6057900" y="3962400"/>
            <a:ext cx="36633" cy="21637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5A671CBC-6FEB-7C88-340F-9DEDA99D5B05}"/>
              </a:ext>
            </a:extLst>
          </p:cNvPr>
          <p:cNvCxnSpPr>
            <a:cxnSpLocks/>
          </p:cNvCxnSpPr>
          <p:nvPr/>
        </p:nvCxnSpPr>
        <p:spPr>
          <a:xfrm>
            <a:off x="6513365" y="2641756"/>
            <a:ext cx="31858" cy="34680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92AB306-1EFF-6BD3-4DDD-6D4784F6BA40}"/>
              </a:ext>
            </a:extLst>
          </p:cNvPr>
          <p:cNvCxnSpPr>
            <a:cxnSpLocks/>
          </p:cNvCxnSpPr>
          <p:nvPr/>
        </p:nvCxnSpPr>
        <p:spPr>
          <a:xfrm>
            <a:off x="5511686" y="3110223"/>
            <a:ext cx="47613" cy="30159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FE341D8-DE61-7D25-B243-EE61ADE95FA6}"/>
              </a:ext>
            </a:extLst>
          </p:cNvPr>
          <p:cNvCxnSpPr>
            <a:cxnSpLocks/>
          </p:cNvCxnSpPr>
          <p:nvPr/>
        </p:nvCxnSpPr>
        <p:spPr>
          <a:xfrm>
            <a:off x="5531783" y="2504706"/>
            <a:ext cx="67182" cy="3605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345A9CF-6AE1-6AB4-953D-52DD3CD7684C}"/>
              </a:ext>
            </a:extLst>
          </p:cNvPr>
          <p:cNvCxnSpPr>
            <a:cxnSpLocks/>
          </p:cNvCxnSpPr>
          <p:nvPr/>
        </p:nvCxnSpPr>
        <p:spPr>
          <a:xfrm>
            <a:off x="4305300" y="2781300"/>
            <a:ext cx="0" cy="33285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14C04355-0CE1-0460-65E3-7F77A0E8EC31}"/>
              </a:ext>
            </a:extLst>
          </p:cNvPr>
          <p:cNvCxnSpPr>
            <a:cxnSpLocks/>
          </p:cNvCxnSpPr>
          <p:nvPr/>
        </p:nvCxnSpPr>
        <p:spPr>
          <a:xfrm flipH="1">
            <a:off x="4307403" y="2216184"/>
            <a:ext cx="8912" cy="39178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796EFA2A-54E2-5AD6-C49B-4AA351ED7A6F}"/>
              </a:ext>
            </a:extLst>
          </p:cNvPr>
          <p:cNvCxnSpPr>
            <a:cxnSpLocks/>
          </p:cNvCxnSpPr>
          <p:nvPr/>
        </p:nvCxnSpPr>
        <p:spPr>
          <a:xfrm>
            <a:off x="5248350" y="3637228"/>
            <a:ext cx="14891" cy="24725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CED6D72D-055D-E43B-9C02-094F85C08600}"/>
              </a:ext>
            </a:extLst>
          </p:cNvPr>
          <p:cNvCxnSpPr>
            <a:cxnSpLocks/>
          </p:cNvCxnSpPr>
          <p:nvPr/>
        </p:nvCxnSpPr>
        <p:spPr>
          <a:xfrm>
            <a:off x="4687376" y="1790700"/>
            <a:ext cx="16282" cy="43198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419E2A9-C0D6-EBCB-FD95-DFB974994136}"/>
              </a:ext>
            </a:extLst>
          </p:cNvPr>
          <p:cNvCxnSpPr>
            <a:cxnSpLocks/>
          </p:cNvCxnSpPr>
          <p:nvPr/>
        </p:nvCxnSpPr>
        <p:spPr>
          <a:xfrm>
            <a:off x="4800600" y="2438400"/>
            <a:ext cx="0" cy="36692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71C59C9-3D22-C973-3E29-7D568034A57C}"/>
              </a:ext>
            </a:extLst>
          </p:cNvPr>
          <p:cNvCxnSpPr>
            <a:cxnSpLocks/>
          </p:cNvCxnSpPr>
          <p:nvPr/>
        </p:nvCxnSpPr>
        <p:spPr>
          <a:xfrm>
            <a:off x="1395594" y="5084826"/>
            <a:ext cx="0" cy="1024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ED5622A-FD8F-56E5-72AD-BA04551B63A2}"/>
              </a:ext>
            </a:extLst>
          </p:cNvPr>
          <p:cNvCxnSpPr>
            <a:cxnSpLocks/>
          </p:cNvCxnSpPr>
          <p:nvPr/>
        </p:nvCxnSpPr>
        <p:spPr>
          <a:xfrm>
            <a:off x="1934493" y="5045365"/>
            <a:ext cx="0" cy="10807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B653858A-D500-483C-6C82-C14CCE60CC42}"/>
              </a:ext>
            </a:extLst>
          </p:cNvPr>
          <p:cNvCxnSpPr/>
          <p:nvPr/>
        </p:nvCxnSpPr>
        <p:spPr>
          <a:xfrm>
            <a:off x="849359" y="5802359"/>
            <a:ext cx="15033" cy="324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4530D4FF-38DE-A32F-DEBD-0984341D7B91}"/>
              </a:ext>
            </a:extLst>
          </p:cNvPr>
          <p:cNvCxnSpPr>
            <a:cxnSpLocks/>
          </p:cNvCxnSpPr>
          <p:nvPr/>
        </p:nvCxnSpPr>
        <p:spPr>
          <a:xfrm>
            <a:off x="1711568" y="3231849"/>
            <a:ext cx="0" cy="289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B5B84AB-4E88-97E2-9EBC-CFF69EC06DFF}"/>
              </a:ext>
            </a:extLst>
          </p:cNvPr>
          <p:cNvCxnSpPr/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Oval 120">
            <a:extLst>
              <a:ext uri="{FF2B5EF4-FFF2-40B4-BE49-F238E27FC236}">
                <a16:creationId xmlns:a16="http://schemas.microsoft.com/office/drawing/2014/main" id="{A3D35D00-731E-69BF-7F40-D7EB7746E3A3}"/>
              </a:ext>
            </a:extLst>
          </p:cNvPr>
          <p:cNvSpPr/>
          <p:nvPr/>
        </p:nvSpPr>
        <p:spPr>
          <a:xfrm>
            <a:off x="4419599" y="3328451"/>
            <a:ext cx="304800" cy="28205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AFF972F4-8B2A-38F1-E615-F3FDB5426512}"/>
              </a:ext>
            </a:extLst>
          </p:cNvPr>
          <p:cNvCxnSpPr>
            <a:cxnSpLocks/>
            <a:stCxn id="74" idx="6"/>
          </p:cNvCxnSpPr>
          <p:nvPr/>
        </p:nvCxnSpPr>
        <p:spPr>
          <a:xfrm>
            <a:off x="4495800" y="1790700"/>
            <a:ext cx="6852" cy="43434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18FC257-5C5B-15C6-E94A-205AB9B4C0D7}"/>
              </a:ext>
            </a:extLst>
          </p:cNvPr>
          <p:cNvCxnSpPr>
            <a:cxnSpLocks/>
            <a:stCxn id="77" idx="7"/>
          </p:cNvCxnSpPr>
          <p:nvPr/>
        </p:nvCxnSpPr>
        <p:spPr>
          <a:xfrm flipH="1">
            <a:off x="4386820" y="3897359"/>
            <a:ext cx="21621" cy="2228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FE641D3-5504-8DCC-A97F-2A656C30E275}"/>
              </a:ext>
            </a:extLst>
          </p:cNvPr>
          <p:cNvCxnSpPr>
            <a:cxnSpLocks/>
          </p:cNvCxnSpPr>
          <p:nvPr/>
        </p:nvCxnSpPr>
        <p:spPr>
          <a:xfrm>
            <a:off x="4572000" y="3456940"/>
            <a:ext cx="1897" cy="26772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D2B01499-8FF1-BA02-1179-83ABD6E13867}"/>
              </a:ext>
            </a:extLst>
          </p:cNvPr>
          <p:cNvCxnSpPr>
            <a:cxnSpLocks/>
          </p:cNvCxnSpPr>
          <p:nvPr/>
        </p:nvCxnSpPr>
        <p:spPr>
          <a:xfrm>
            <a:off x="4686300" y="4762500"/>
            <a:ext cx="0" cy="1371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FDF88DA-16AD-36CC-5B32-CFB16FF3624B}"/>
              </a:ext>
            </a:extLst>
          </p:cNvPr>
          <p:cNvSpPr txBox="1"/>
          <p:nvPr/>
        </p:nvSpPr>
        <p:spPr>
          <a:xfrm>
            <a:off x="1577327" y="1258177"/>
            <a:ext cx="6141746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 Think simple and use inspiration from the 1-dimensional case.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6254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7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7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7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7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7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7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7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7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7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7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7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7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7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7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7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7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7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7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7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7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7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7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7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7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25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25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  <p:bldP spid="3" grpId="0" animBg="1"/>
      <p:bldP spid="3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Solving the </a:t>
            </a:r>
            <a:r>
              <a:rPr lang="en-US" sz="3600" b="1" dirty="0">
                <a:solidFill>
                  <a:srgbClr val="0070C0"/>
                </a:solidFill>
              </a:rPr>
              <a:t>2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7030A0"/>
                </a:solidFill>
              </a:rPr>
              <a:t>smaller instances</a:t>
            </a:r>
            <a:endParaRPr lang="en-US" sz="3600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486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stCxn id="41" idx="3"/>
            <a:endCxn id="62" idx="6"/>
          </p:cNvCxnSpPr>
          <p:nvPr/>
        </p:nvCxnSpPr>
        <p:spPr>
          <a:xfrm flipH="1">
            <a:off x="5715000" y="5246641"/>
            <a:ext cx="392159" cy="354059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15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/>
          <p:cNvCxnSpPr/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657600" y="6285559"/>
                <a:ext cx="180036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>
                    <a:sym typeface="Wingdings" panose="05000000000000000000" pitchFamily="2" charset="2"/>
                  </a:rPr>
                  <a:t>  min</a:t>
                </a:r>
                <a:r>
                  <a:rPr lang="en-US" dirty="0"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285559"/>
                <a:ext cx="1800365" cy="369332"/>
              </a:xfrm>
              <a:prstGeom prst="rect">
                <a:avLst/>
              </a:prstGeom>
              <a:blipFill>
                <a:blip r:embed="rId8"/>
                <a:stretch>
                  <a:fillRect t="-7937" r="-202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Oval 72"/>
          <p:cNvSpPr/>
          <p:nvPr/>
        </p:nvSpPr>
        <p:spPr>
          <a:xfrm>
            <a:off x="4648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/>
          <p:cNvSpPr/>
          <p:nvPr/>
        </p:nvSpPr>
        <p:spPr>
          <a:xfrm>
            <a:off x="44196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8" name="Oval 87"/>
          <p:cNvSpPr/>
          <p:nvPr/>
        </p:nvSpPr>
        <p:spPr>
          <a:xfrm>
            <a:off x="46482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0" name="Oval 79"/>
          <p:cNvSpPr/>
          <p:nvPr/>
        </p:nvSpPr>
        <p:spPr>
          <a:xfrm>
            <a:off x="45339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9E334FD-7203-CD62-B249-D4739183216F}"/>
              </a:ext>
            </a:extLst>
          </p:cNvPr>
          <p:cNvSpPr/>
          <p:nvPr/>
        </p:nvSpPr>
        <p:spPr>
          <a:xfrm>
            <a:off x="763130" y="6131052"/>
            <a:ext cx="7942719" cy="5679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83DA898-8854-3F63-915C-036673DE840A}"/>
              </a:ext>
            </a:extLst>
          </p:cNvPr>
          <p:cNvSpPr txBox="1"/>
          <p:nvPr/>
        </p:nvSpPr>
        <p:spPr>
          <a:xfrm>
            <a:off x="690880" y="6412468"/>
            <a:ext cx="1338764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Left half set 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D49A50A-B173-BD4C-4887-45907DF64595}"/>
              </a:ext>
            </a:extLst>
          </p:cNvPr>
          <p:cNvSpPr txBox="1"/>
          <p:nvPr/>
        </p:nvSpPr>
        <p:spPr>
          <a:xfrm>
            <a:off x="7365816" y="6412468"/>
            <a:ext cx="1463734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Right half set 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5FE2AC4-6F9C-95CD-6183-8B1A052F79D0}"/>
              </a:ext>
            </a:extLst>
          </p:cNvPr>
          <p:cNvGrpSpPr/>
          <p:nvPr/>
        </p:nvGrpSpPr>
        <p:grpSpPr>
          <a:xfrm>
            <a:off x="4648200" y="6131052"/>
            <a:ext cx="3810000" cy="726948"/>
            <a:chOff x="685800" y="5978652"/>
            <a:chExt cx="3810000" cy="726948"/>
          </a:xfrm>
        </p:grpSpPr>
        <p:sp>
          <p:nvSpPr>
            <p:cNvPr id="90" name="Right Brace 89">
              <a:extLst>
                <a:ext uri="{FF2B5EF4-FFF2-40B4-BE49-F238E27FC236}">
                  <a16:creationId xmlns:a16="http://schemas.microsoft.com/office/drawing/2014/main" id="{6CA69985-848C-689D-EC2C-53CCD556EB54}"/>
                </a:ext>
              </a:extLst>
            </p:cNvPr>
            <p:cNvSpPr/>
            <p:nvPr/>
          </p:nvSpPr>
          <p:spPr>
            <a:xfrm rot="5400000">
              <a:off x="2417826" y="4246626"/>
              <a:ext cx="345948" cy="381000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F132CA3-5D6A-C910-5E02-9D1026E275A4}"/>
                    </a:ext>
                  </a:extLst>
                </p:cNvPr>
                <p:cNvSpPr txBox="1"/>
                <p:nvPr/>
              </p:nvSpPr>
              <p:spPr>
                <a:xfrm>
                  <a:off x="2209800" y="6245218"/>
                  <a:ext cx="1036951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⌊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⌋</m:t>
                      </m:r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45218"/>
                  <a:ext cx="1036951" cy="460382"/>
                </a:xfrm>
                <a:prstGeom prst="rect">
                  <a:avLst/>
                </a:prstGeom>
                <a:blipFill>
                  <a:blip r:embed="rId9"/>
                  <a:stretch>
                    <a:fillRect l="-1765" r="-5294"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A7857AD-B8CD-E682-9AC2-A24FA4983585}"/>
              </a:ext>
            </a:extLst>
          </p:cNvPr>
          <p:cNvGrpSpPr/>
          <p:nvPr/>
        </p:nvGrpSpPr>
        <p:grpSpPr>
          <a:xfrm>
            <a:off x="742950" y="6131052"/>
            <a:ext cx="3810000" cy="726948"/>
            <a:chOff x="685800" y="5978652"/>
            <a:chExt cx="3810000" cy="726948"/>
          </a:xfrm>
        </p:grpSpPr>
        <p:sp>
          <p:nvSpPr>
            <p:cNvPr id="93" name="Right Brace 92">
              <a:extLst>
                <a:ext uri="{FF2B5EF4-FFF2-40B4-BE49-F238E27FC236}">
                  <a16:creationId xmlns:a16="http://schemas.microsoft.com/office/drawing/2014/main" id="{BBBFDA6C-2173-D0F0-FFE2-17B1A916B104}"/>
                </a:ext>
              </a:extLst>
            </p:cNvPr>
            <p:cNvSpPr/>
            <p:nvPr/>
          </p:nvSpPr>
          <p:spPr>
            <a:xfrm rot="5400000">
              <a:off x="2417826" y="4246626"/>
              <a:ext cx="345948" cy="381000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515B0012-6819-86C9-8FF8-35409A4CA05F}"/>
                    </a:ext>
                  </a:extLst>
                </p:cNvPr>
                <p:cNvSpPr txBox="1"/>
                <p:nvPr/>
              </p:nvSpPr>
              <p:spPr>
                <a:xfrm>
                  <a:off x="2209800" y="6245218"/>
                  <a:ext cx="1036951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⌈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⌉</m:t>
                      </m:r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45218"/>
                  <a:ext cx="1036951" cy="460382"/>
                </a:xfrm>
                <a:prstGeom prst="rect">
                  <a:avLst/>
                </a:prstGeom>
                <a:blipFill>
                  <a:blip r:embed="rId10"/>
                  <a:stretch>
                    <a:fillRect l="-1765" r="-5294"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144821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5" grpId="0"/>
      <p:bldP spid="71" grpId="0"/>
      <p:bldP spid="6" grpId="0" animBg="1"/>
      <p:bldP spid="69" grpId="0" animBg="1"/>
      <p:bldP spid="8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</a:t>
            </a:r>
            <a:r>
              <a:rPr lang="en-US" sz="4000" b="1" dirty="0">
                <a:solidFill>
                  <a:srgbClr val="7030A0"/>
                </a:solidFill>
              </a:rPr>
              <a:t> combine</a:t>
            </a:r>
            <a:r>
              <a:rPr lang="en-US" sz="4000" b="1" dirty="0"/>
              <a:t> step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486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stCxn id="41" idx="3"/>
            <a:endCxn id="62" idx="6"/>
          </p:cNvCxnSpPr>
          <p:nvPr/>
        </p:nvCxnSpPr>
        <p:spPr>
          <a:xfrm flipH="1">
            <a:off x="5715000" y="5246641"/>
            <a:ext cx="392159" cy="354059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15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/>
          <p:cNvCxnSpPr>
            <a:stCxn id="3" idx="0"/>
            <a:endCxn id="3" idx="2"/>
          </p:cNvCxnSpPr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9" name="Straight Connector 68"/>
          <p:cNvCxnSpPr/>
          <p:nvPr/>
        </p:nvCxnSpPr>
        <p:spPr>
          <a:xfrm>
            <a:off x="4572000" y="1615280"/>
            <a:ext cx="0" cy="449580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572000" y="1579880"/>
            <a:ext cx="0" cy="449580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57912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57912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5791200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59436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5943600"/>
                <a:ext cx="37221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59436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648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Oval 92"/>
          <p:cNvSpPr/>
          <p:nvPr/>
        </p:nvSpPr>
        <p:spPr>
          <a:xfrm>
            <a:off x="44196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4" name="Oval 93"/>
          <p:cNvSpPr/>
          <p:nvPr/>
        </p:nvSpPr>
        <p:spPr>
          <a:xfrm>
            <a:off x="46482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0" name="Oval 79"/>
          <p:cNvSpPr/>
          <p:nvPr/>
        </p:nvSpPr>
        <p:spPr>
          <a:xfrm>
            <a:off x="45339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Arrow Connector 6"/>
          <p:cNvCxnSpPr>
            <a:endCxn id="36" idx="0"/>
          </p:cNvCxnSpPr>
          <p:nvPr/>
        </p:nvCxnSpPr>
        <p:spPr>
          <a:xfrm flipV="1">
            <a:off x="2209800" y="3505200"/>
            <a:ext cx="4457700" cy="4572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stCxn id="85" idx="7"/>
            <a:endCxn id="42" idx="3"/>
          </p:cNvCxnSpPr>
          <p:nvPr/>
        </p:nvCxnSpPr>
        <p:spPr>
          <a:xfrm flipV="1">
            <a:off x="4332241" y="2503441"/>
            <a:ext cx="1165318" cy="2509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57" idx="0"/>
            <a:endCxn id="82" idx="3"/>
          </p:cNvCxnSpPr>
          <p:nvPr/>
        </p:nvCxnSpPr>
        <p:spPr>
          <a:xfrm flipV="1">
            <a:off x="1943100" y="4256041"/>
            <a:ext cx="2944859" cy="7731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3657600" y="6285559"/>
                <a:ext cx="180036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>
                    <a:sym typeface="Wingdings" panose="05000000000000000000" pitchFamily="2" charset="2"/>
                  </a:rPr>
                  <a:t>  min</a:t>
                </a:r>
                <a:r>
                  <a:rPr lang="en-US" dirty="0"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285559"/>
                <a:ext cx="1800365" cy="369332"/>
              </a:xfrm>
              <a:prstGeom prst="rect">
                <a:avLst/>
              </a:prstGeom>
              <a:blipFill>
                <a:blip r:embed="rId10"/>
                <a:stretch>
                  <a:fillRect t="-7937" r="-202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403301" y="1600199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5127701" y="1523999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ounded Rectangle 96"/>
          <p:cNvSpPr/>
          <p:nvPr/>
        </p:nvSpPr>
        <p:spPr>
          <a:xfrm>
            <a:off x="11152" y="1970041"/>
            <a:ext cx="1066800" cy="5334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Tool </a:t>
            </a:r>
            <a:r>
              <a:rPr lang="en-US" sz="2400" b="1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AEB15CC-D29F-3D4E-942F-25FCC1050D82}"/>
              </a:ext>
            </a:extLst>
          </p:cNvPr>
          <p:cNvSpPr/>
          <p:nvPr/>
        </p:nvSpPr>
        <p:spPr>
          <a:xfrm>
            <a:off x="4305300" y="1668982"/>
            <a:ext cx="571500" cy="31221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/>
          <p:cNvCxnSpPr/>
          <p:nvPr/>
        </p:nvCxnSpPr>
        <p:spPr>
          <a:xfrm flipV="1">
            <a:off x="3341649" y="2926080"/>
            <a:ext cx="1199871" cy="762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3151149" y="28194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3276600" y="2895600"/>
                <a:ext cx="794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2895600"/>
                <a:ext cx="79446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B81FE6-977A-CF5A-B082-6F459B1BF1A3}"/>
              </a:ext>
            </a:extLst>
          </p:cNvPr>
          <p:cNvCxnSpPr>
            <a:cxnSpLocks/>
            <a:endCxn id="84" idx="3"/>
          </p:cNvCxnSpPr>
          <p:nvPr/>
        </p:nvCxnSpPr>
        <p:spPr>
          <a:xfrm flipV="1">
            <a:off x="3341649" y="2503441"/>
            <a:ext cx="1393910" cy="422639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D9B16B39-EA3F-61FB-40CF-208EA0CCA2C3}"/>
              </a:ext>
            </a:extLst>
          </p:cNvPr>
          <p:cNvSpPr/>
          <p:nvPr/>
        </p:nvSpPr>
        <p:spPr>
          <a:xfrm>
            <a:off x="2971804" y="1055133"/>
            <a:ext cx="6092350" cy="1012098"/>
          </a:xfrm>
          <a:prstGeom prst="cloudCallout">
            <a:avLst>
              <a:gd name="adj1" fmla="val 49270"/>
              <a:gd name="adj2" fmla="val 5942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 we need to compute distance each point on left </a:t>
            </a:r>
            <a:r>
              <a:rPr lang="en-US" dirty="0" err="1">
                <a:solidFill>
                  <a:schemeClr val="tx1"/>
                </a:solidFill>
              </a:rPr>
              <a:t>halfset</a:t>
            </a:r>
            <a:r>
              <a:rPr lang="en-US" dirty="0">
                <a:solidFill>
                  <a:schemeClr val="tx1"/>
                </a:solidFill>
              </a:rPr>
              <a:t> and each point of the right </a:t>
            </a:r>
            <a:r>
              <a:rPr lang="en-US" dirty="0" err="1">
                <a:solidFill>
                  <a:schemeClr val="tx1"/>
                </a:solidFill>
              </a:rPr>
              <a:t>halfset</a:t>
            </a:r>
            <a:r>
              <a:rPr lang="en-US" dirty="0">
                <a:solidFill>
                  <a:schemeClr val="tx1"/>
                </a:solidFill>
              </a:rPr>
              <a:t>. ?</a:t>
            </a:r>
            <a:endParaRPr lang="en-IN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9442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44444E-6 L -0.03872 -0.00162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44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85185E-6 L 0.04219 -0.00254 " pathEditMode="relative" rAng="0" ptsTypes="AA">
                                      <p:cBhvr>
                                        <p:cTn id="135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1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8" grpId="0"/>
      <p:bldP spid="89" grpId="0"/>
      <p:bldP spid="96" grpId="0" animBg="1"/>
      <p:bldP spid="5" grpId="0" animBg="1"/>
      <p:bldP spid="92" grpId="0" animBg="1"/>
      <p:bldP spid="97" grpId="0" animBg="1"/>
      <p:bldP spid="97" grpId="1" animBg="1"/>
      <p:bldP spid="98" grpId="0" animBg="1"/>
      <p:bldP spid="98" grpId="1" animBg="1"/>
      <p:bldP spid="100" grpId="0" animBg="1"/>
      <p:bldP spid="100" grpId="1" animBg="1"/>
      <p:bldP spid="101" grpId="0"/>
      <p:bldP spid="101" grpId="1"/>
      <p:bldP spid="8" grpId="0" animBg="1"/>
      <p:bldP spid="8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combine</a:t>
            </a:r>
            <a:r>
              <a:rPr lang="en-US" sz="4000" b="1" dirty="0"/>
              <a:t> step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486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stCxn id="41" idx="3"/>
            <a:endCxn id="62" idx="6"/>
          </p:cNvCxnSpPr>
          <p:nvPr/>
        </p:nvCxnSpPr>
        <p:spPr>
          <a:xfrm flipH="1">
            <a:off x="5715000" y="5246641"/>
            <a:ext cx="392159" cy="354059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15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/>
          <p:cNvCxnSpPr>
            <a:stCxn id="3" idx="0"/>
            <a:endCxn id="3" idx="2"/>
          </p:cNvCxnSpPr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57912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572666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572666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59436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5943600"/>
                <a:ext cx="37221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59436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ight Brace 7"/>
          <p:cNvSpPr/>
          <p:nvPr/>
        </p:nvSpPr>
        <p:spPr>
          <a:xfrm rot="16200000">
            <a:off x="4496562" y="1104138"/>
            <a:ext cx="190500" cy="80162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4648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Oval 91"/>
          <p:cNvSpPr/>
          <p:nvPr/>
        </p:nvSpPr>
        <p:spPr>
          <a:xfrm>
            <a:off x="44196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3" name="Oval 92"/>
          <p:cNvSpPr/>
          <p:nvPr/>
        </p:nvSpPr>
        <p:spPr>
          <a:xfrm>
            <a:off x="46482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0" name="Oval 79"/>
          <p:cNvSpPr/>
          <p:nvPr/>
        </p:nvSpPr>
        <p:spPr>
          <a:xfrm>
            <a:off x="45339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3657600" y="6285559"/>
                <a:ext cx="180036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>
                    <a:sym typeface="Wingdings" panose="05000000000000000000" pitchFamily="2" charset="2"/>
                  </a:rPr>
                  <a:t>  min</a:t>
                </a:r>
                <a:r>
                  <a:rPr lang="en-US" dirty="0"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285559"/>
                <a:ext cx="1800365" cy="369332"/>
              </a:xfrm>
              <a:prstGeom prst="rect">
                <a:avLst/>
              </a:prstGeom>
              <a:blipFill>
                <a:blip r:embed="rId10"/>
                <a:stretch>
                  <a:fillRect t="-7937" r="-202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273792" y="1096963"/>
                <a:ext cx="3612399" cy="369332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0" dirty="0"/>
                  <a:t>Potentially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>
                        <a:latin typeface="Cambria Math"/>
                      </a:rPr>
                      <m:t>(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points in each strip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792" y="1096963"/>
                <a:ext cx="3612399" cy="369332"/>
              </a:xfrm>
              <a:prstGeom prst="rect">
                <a:avLst/>
              </a:prstGeom>
              <a:blipFill>
                <a:blip r:embed="rId11"/>
                <a:stretch>
                  <a:fillRect l="-1049" t="-3226" b="-225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>
            <a:stCxn id="8" idx="1"/>
            <a:endCxn id="10" idx="1"/>
          </p:cNvCxnSpPr>
          <p:nvPr/>
        </p:nvCxnSpPr>
        <p:spPr>
          <a:xfrm flipV="1">
            <a:off x="4591812" y="1281629"/>
            <a:ext cx="681980" cy="1280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429269" y="1600199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5029200" y="1600200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miley Face 8"/>
          <p:cNvSpPr/>
          <p:nvPr/>
        </p:nvSpPr>
        <p:spPr>
          <a:xfrm>
            <a:off x="8189176" y="2199528"/>
            <a:ext cx="446049" cy="480218"/>
          </a:xfrm>
          <a:prstGeom prst="smileyFace">
            <a:avLst>
              <a:gd name="adj" fmla="val -4653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042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581474" y="1600199"/>
            <a:ext cx="388999" cy="3389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combine</a:t>
            </a:r>
            <a:r>
              <a:rPr lang="en-US" sz="4000" b="1" dirty="0"/>
              <a:t> step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486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stCxn id="41" idx="3"/>
            <a:endCxn id="62" idx="6"/>
          </p:cNvCxnSpPr>
          <p:nvPr/>
        </p:nvCxnSpPr>
        <p:spPr>
          <a:xfrm flipH="1">
            <a:off x="5715000" y="5246641"/>
            <a:ext cx="392159" cy="354059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15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57912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572666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572666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59436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5943600"/>
                <a:ext cx="37221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59436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267200" y="4991100"/>
            <a:ext cx="696951" cy="0"/>
          </a:xfrm>
          <a:prstGeom prst="line">
            <a:avLst/>
          </a:prstGeom>
          <a:ln>
            <a:solidFill>
              <a:srgbClr val="006C3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Oval 103"/>
          <p:cNvSpPr/>
          <p:nvPr/>
        </p:nvSpPr>
        <p:spPr>
          <a:xfrm>
            <a:off x="4648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Oval 104"/>
          <p:cNvSpPr/>
          <p:nvPr/>
        </p:nvSpPr>
        <p:spPr>
          <a:xfrm>
            <a:off x="44196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6" name="Oval 105"/>
          <p:cNvSpPr/>
          <p:nvPr/>
        </p:nvSpPr>
        <p:spPr>
          <a:xfrm>
            <a:off x="46482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7" name="Oval 96"/>
          <p:cNvSpPr/>
          <p:nvPr/>
        </p:nvSpPr>
        <p:spPr>
          <a:xfrm>
            <a:off x="45339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3657600" y="6285559"/>
                <a:ext cx="180036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>
                    <a:sym typeface="Wingdings" panose="05000000000000000000" pitchFamily="2" charset="2"/>
                  </a:rPr>
                  <a:t>  min</a:t>
                </a:r>
                <a:r>
                  <a:rPr lang="en-US" dirty="0"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285559"/>
                <a:ext cx="1800365" cy="369332"/>
              </a:xfrm>
              <a:prstGeom prst="rect">
                <a:avLst/>
              </a:prstGeom>
              <a:blipFill>
                <a:blip r:embed="rId15"/>
                <a:stretch>
                  <a:fillRect t="-7937" r="-202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ectangle 79"/>
          <p:cNvSpPr/>
          <p:nvPr/>
        </p:nvSpPr>
        <p:spPr>
          <a:xfrm>
            <a:off x="429269" y="1600199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5105400" y="1582354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4076700" y="4876800"/>
            <a:ext cx="266700" cy="2286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8F09037E-523C-E792-CCDB-D3C5BD62DF8E}"/>
              </a:ext>
            </a:extLst>
          </p:cNvPr>
          <p:cNvSpPr/>
          <p:nvPr/>
        </p:nvSpPr>
        <p:spPr>
          <a:xfrm>
            <a:off x="4627180" y="4114800"/>
            <a:ext cx="304800" cy="304800"/>
          </a:xfrm>
          <a:prstGeom prst="up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101">
            <a:extLst>
              <a:ext uri="{FF2B5EF4-FFF2-40B4-BE49-F238E27FC236}">
                <a16:creationId xmlns:a16="http://schemas.microsoft.com/office/drawing/2014/main" id="{2156AE6E-1191-2307-0A42-EF0CFEE352E3}"/>
              </a:ext>
            </a:extLst>
          </p:cNvPr>
          <p:cNvSpPr/>
          <p:nvPr/>
        </p:nvSpPr>
        <p:spPr>
          <a:xfrm>
            <a:off x="11152" y="1970041"/>
            <a:ext cx="1066800" cy="5334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Tool </a:t>
            </a:r>
            <a:r>
              <a:rPr lang="en-US" sz="2400" b="1" dirty="0">
                <a:solidFill>
                  <a:srgbClr val="00B0F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hought Bubble: Cloud 9">
                <a:extLst>
                  <a:ext uri="{FF2B5EF4-FFF2-40B4-BE49-F238E27FC236}">
                    <a16:creationId xmlns:a16="http://schemas.microsoft.com/office/drawing/2014/main" id="{1290D369-408B-8430-2013-A903D1F9D166}"/>
                  </a:ext>
                </a:extLst>
              </p:cNvPr>
              <p:cNvSpPr/>
              <p:nvPr/>
            </p:nvSpPr>
            <p:spPr>
              <a:xfrm>
                <a:off x="2971804" y="1154159"/>
                <a:ext cx="6092350" cy="913071"/>
              </a:xfrm>
              <a:prstGeom prst="cloudCallout">
                <a:avLst>
                  <a:gd name="adj1" fmla="val 49270"/>
                  <a:gd name="adj2" fmla="val 59423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Do we need to compute distance from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/>
                      </a:rPr>
                      <m:t>𝒑</m:t>
                    </m:r>
                  </m:oMath>
                </a14:m>
                <a:endParaRPr lang="en-US" dirty="0"/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to each point of the red strip ?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hought Bubble: Cloud 9">
                <a:extLst>
                  <a:ext uri="{FF2B5EF4-FFF2-40B4-BE49-F238E27FC236}">
                    <a16:creationId xmlns:a16="http://schemas.microsoft.com/office/drawing/2014/main" id="{1290D369-408B-8430-2013-A903D1F9D1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4" y="1154159"/>
                <a:ext cx="6092350" cy="913071"/>
              </a:xfrm>
              <a:prstGeom prst="cloudCallout">
                <a:avLst>
                  <a:gd name="adj1" fmla="val 49270"/>
                  <a:gd name="adj2" fmla="val 59423"/>
                </a:avLst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493154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3" grpId="0"/>
      <p:bldP spid="94" grpId="0" animBg="1"/>
      <p:bldP spid="3" grpId="0" animBg="1"/>
      <p:bldP spid="3" grpId="1" animBg="1"/>
      <p:bldP spid="6" grpId="0" animBg="1"/>
      <p:bldP spid="10" grpId="0" animBg="1"/>
      <p:bldP spid="10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572000" y="4572000"/>
            <a:ext cx="388999" cy="4191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combine</a:t>
            </a:r>
            <a:r>
              <a:rPr lang="en-US" sz="4000" b="1" dirty="0"/>
              <a:t> step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486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stCxn id="41" idx="3"/>
            <a:endCxn id="62" idx="6"/>
          </p:cNvCxnSpPr>
          <p:nvPr/>
        </p:nvCxnSpPr>
        <p:spPr>
          <a:xfrm flipH="1">
            <a:off x="5715000" y="5246641"/>
            <a:ext cx="392159" cy="354059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15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57912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572666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572666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59436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5943600"/>
                <a:ext cx="37221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59436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flipH="1">
            <a:off x="5018050" y="4572000"/>
            <a:ext cx="11150" cy="3810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flipH="1">
            <a:off x="5018050" y="5029200"/>
            <a:ext cx="11150" cy="3810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Oval 104"/>
          <p:cNvSpPr/>
          <p:nvPr/>
        </p:nvSpPr>
        <p:spPr>
          <a:xfrm>
            <a:off x="44196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6" name="Oval 105"/>
          <p:cNvSpPr/>
          <p:nvPr/>
        </p:nvSpPr>
        <p:spPr>
          <a:xfrm>
            <a:off x="46482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7" name="Oval 96"/>
          <p:cNvSpPr/>
          <p:nvPr/>
        </p:nvSpPr>
        <p:spPr>
          <a:xfrm>
            <a:off x="45339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3657600" y="6285559"/>
                <a:ext cx="180036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>
                    <a:sym typeface="Wingdings" panose="05000000000000000000" pitchFamily="2" charset="2"/>
                  </a:rPr>
                  <a:t>  min</a:t>
                </a:r>
                <a:r>
                  <a:rPr lang="en-US" dirty="0"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285559"/>
                <a:ext cx="1800365" cy="369332"/>
              </a:xfrm>
              <a:prstGeom prst="rect">
                <a:avLst/>
              </a:prstGeom>
              <a:blipFill>
                <a:blip r:embed="rId15"/>
                <a:stretch>
                  <a:fillRect t="-7937" r="-202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ectangle 79"/>
          <p:cNvSpPr/>
          <p:nvPr/>
        </p:nvSpPr>
        <p:spPr>
          <a:xfrm>
            <a:off x="429269" y="1600199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5105400" y="1582354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4076700" y="4876800"/>
            <a:ext cx="266700" cy="2286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5029200" y="45720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572000"/>
                <a:ext cx="37221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5029200" y="50292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5029200"/>
                <a:ext cx="37221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Connector 98"/>
          <p:cNvCxnSpPr/>
          <p:nvPr/>
        </p:nvCxnSpPr>
        <p:spPr>
          <a:xfrm>
            <a:off x="4560849" y="4572000"/>
            <a:ext cx="430251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AC09AAB-6203-216A-A085-34FF23861303}"/>
              </a:ext>
            </a:extLst>
          </p:cNvPr>
          <p:cNvSpPr/>
          <p:nvPr/>
        </p:nvSpPr>
        <p:spPr>
          <a:xfrm>
            <a:off x="4578099" y="4990159"/>
            <a:ext cx="388999" cy="4191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/>
          <p:cNvSpPr/>
          <p:nvPr/>
        </p:nvSpPr>
        <p:spPr>
          <a:xfrm>
            <a:off x="4648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267200" y="4991100"/>
            <a:ext cx="696951" cy="0"/>
          </a:xfrm>
          <a:prstGeom prst="line">
            <a:avLst/>
          </a:prstGeom>
          <a:ln>
            <a:solidFill>
              <a:srgbClr val="006C3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101">
            <a:extLst>
              <a:ext uri="{FF2B5EF4-FFF2-40B4-BE49-F238E27FC236}">
                <a16:creationId xmlns:a16="http://schemas.microsoft.com/office/drawing/2014/main" id="{B1DB517D-6495-A7E4-40EB-5DCCC63667C5}"/>
              </a:ext>
            </a:extLst>
          </p:cNvPr>
          <p:cNvSpPr/>
          <p:nvPr/>
        </p:nvSpPr>
        <p:spPr>
          <a:xfrm>
            <a:off x="11152" y="1970041"/>
            <a:ext cx="1066800" cy="5334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Tool </a:t>
            </a:r>
            <a:r>
              <a:rPr lang="en-US" sz="2400" b="1" dirty="0">
                <a:solidFill>
                  <a:srgbClr val="00B0F0"/>
                </a:solidFill>
              </a:rPr>
              <a:t>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8568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100" grpId="0"/>
      <p:bldP spid="103" grpId="0" animBg="1"/>
      <p:bldP spid="3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572000" y="4572000"/>
            <a:ext cx="388999" cy="8265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combine</a:t>
            </a:r>
            <a:r>
              <a:rPr lang="en-US" sz="4000" b="1" dirty="0"/>
              <a:t> step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486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stCxn id="41" idx="3"/>
            <a:endCxn id="62" idx="6"/>
          </p:cNvCxnSpPr>
          <p:nvPr/>
        </p:nvCxnSpPr>
        <p:spPr>
          <a:xfrm flipH="1">
            <a:off x="5715000" y="5246641"/>
            <a:ext cx="392159" cy="354059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15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57912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572666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572666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59436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5943600"/>
                <a:ext cx="37221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59436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267200" y="4991100"/>
            <a:ext cx="696951" cy="0"/>
          </a:xfrm>
          <a:prstGeom prst="line">
            <a:avLst/>
          </a:prstGeom>
          <a:ln>
            <a:solidFill>
              <a:srgbClr val="006C3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flipH="1">
            <a:off x="5018050" y="4572000"/>
            <a:ext cx="11150" cy="3810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flipH="1">
            <a:off x="5018050" y="5029200"/>
            <a:ext cx="11150" cy="3810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Oval 103"/>
          <p:cNvSpPr/>
          <p:nvPr/>
        </p:nvSpPr>
        <p:spPr>
          <a:xfrm>
            <a:off x="4648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Oval 104"/>
          <p:cNvSpPr/>
          <p:nvPr/>
        </p:nvSpPr>
        <p:spPr>
          <a:xfrm>
            <a:off x="44196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6" name="Oval 105"/>
          <p:cNvSpPr/>
          <p:nvPr/>
        </p:nvSpPr>
        <p:spPr>
          <a:xfrm>
            <a:off x="46482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7" name="Oval 96"/>
          <p:cNvSpPr/>
          <p:nvPr/>
        </p:nvSpPr>
        <p:spPr>
          <a:xfrm>
            <a:off x="45339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3657600" y="6285559"/>
                <a:ext cx="180036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>
                    <a:sym typeface="Wingdings" panose="05000000000000000000" pitchFamily="2" charset="2"/>
                  </a:rPr>
                  <a:t>  min</a:t>
                </a:r>
                <a:r>
                  <a:rPr lang="en-US" dirty="0"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285559"/>
                <a:ext cx="1800365" cy="369332"/>
              </a:xfrm>
              <a:prstGeom prst="rect">
                <a:avLst/>
              </a:prstGeom>
              <a:blipFill>
                <a:blip r:embed="rId15"/>
                <a:stretch>
                  <a:fillRect t="-7937" r="-202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ectangle 79"/>
          <p:cNvSpPr/>
          <p:nvPr/>
        </p:nvSpPr>
        <p:spPr>
          <a:xfrm>
            <a:off x="429269" y="1600199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5105400" y="1582354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4076700" y="4876800"/>
            <a:ext cx="266700" cy="2286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5029200" y="45720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572000"/>
                <a:ext cx="37221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5029200" y="50292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5029200"/>
                <a:ext cx="37221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/>
              <p:cNvSpPr txBox="1"/>
              <p:nvPr/>
            </p:nvSpPr>
            <p:spPr>
              <a:xfrm>
                <a:off x="144498" y="4125951"/>
                <a:ext cx="3875035" cy="6463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Unfortunately, it will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O</m:t>
                    </m:r>
                    <m:r>
                      <a:rPr lang="en-US" b="0" i="0" smtClean="0">
                        <a:latin typeface="Cambria Math"/>
                      </a:rPr>
                      <m:t>(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smtClean="0">
                        <a:latin typeface="Cambria Math"/>
                      </a:rPr>
                      <m:t>) </m:t>
                    </m:r>
                  </m:oMath>
                </a14:m>
                <a:r>
                  <a:rPr lang="en-US" dirty="0"/>
                  <a:t>time to </a:t>
                </a:r>
              </a:p>
              <a:p>
                <a:r>
                  <a:rPr lang="en-US" dirty="0"/>
                  <a:t>compute these points for a given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𝒑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98" y="4125951"/>
                <a:ext cx="3875035" cy="646331"/>
              </a:xfrm>
              <a:prstGeom prst="rect">
                <a:avLst/>
              </a:prstGeom>
              <a:blipFill>
                <a:blip r:embed="rId17"/>
                <a:stretch>
                  <a:fillRect l="-1256" t="-4630" r="-157" b="-129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Smiley Face 106"/>
          <p:cNvSpPr/>
          <p:nvPr/>
        </p:nvSpPr>
        <p:spPr>
          <a:xfrm>
            <a:off x="1469365" y="4953000"/>
            <a:ext cx="457200" cy="457200"/>
          </a:xfrm>
          <a:prstGeom prst="smileyFace">
            <a:avLst>
              <a:gd name="adj" fmla="val -4653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/>
          <p:cNvCxnSpPr/>
          <p:nvPr/>
        </p:nvCxnSpPr>
        <p:spPr>
          <a:xfrm>
            <a:off x="4560849" y="4572000"/>
            <a:ext cx="430251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4572000" y="5394960"/>
            <a:ext cx="430251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rame 2">
            <a:extLst>
              <a:ext uri="{FF2B5EF4-FFF2-40B4-BE49-F238E27FC236}">
                <a16:creationId xmlns:a16="http://schemas.microsoft.com/office/drawing/2014/main" id="{CDEBA6E0-4B8E-4348-9C3C-969C9777B8A6}"/>
              </a:ext>
            </a:extLst>
          </p:cNvPr>
          <p:cNvSpPr/>
          <p:nvPr/>
        </p:nvSpPr>
        <p:spPr>
          <a:xfrm>
            <a:off x="4504581" y="4525962"/>
            <a:ext cx="513465" cy="923280"/>
          </a:xfrm>
          <a:prstGeom prst="frame">
            <a:avLst>
              <a:gd name="adj1" fmla="val 692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1381FB44-60D2-F94F-9E20-4185265E4655}"/>
                  </a:ext>
                </a:extLst>
              </p:cNvPr>
              <p:cNvSpPr txBox="1"/>
              <p:nvPr/>
            </p:nvSpPr>
            <p:spPr>
              <a:xfrm>
                <a:off x="6011175" y="4313116"/>
                <a:ext cx="1806392" cy="369332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O</m:t>
                    </m:r>
                    <m:r>
                      <a:rPr lang="en-US" b="0" i="0" smtClean="0">
                        <a:latin typeface="Cambria Math"/>
                      </a:rPr>
                      <m:t>(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/>
                      </a:rPr>
                      <m:t>) </m:t>
                    </m:r>
                  </m:oMath>
                </a14:m>
                <a:r>
                  <a:rPr lang="en-US" dirty="0"/>
                  <a:t>points only</a:t>
                </a: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1381FB44-60D2-F94F-9E20-4185265E4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175" y="4313116"/>
                <a:ext cx="1806392" cy="369332"/>
              </a:xfrm>
              <a:prstGeom prst="rect">
                <a:avLst/>
              </a:prstGeom>
              <a:blipFill>
                <a:blip r:embed="rId18"/>
                <a:stretch>
                  <a:fillRect t="-6452" r="-2083" b="-225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Smiley Face 107">
            <a:extLst>
              <a:ext uri="{FF2B5EF4-FFF2-40B4-BE49-F238E27FC236}">
                <a16:creationId xmlns:a16="http://schemas.microsoft.com/office/drawing/2014/main" id="{9003FA4C-AC63-7248-9E29-DEABF870F66A}"/>
              </a:ext>
            </a:extLst>
          </p:cNvPr>
          <p:cNvSpPr/>
          <p:nvPr/>
        </p:nvSpPr>
        <p:spPr>
          <a:xfrm>
            <a:off x="6705600" y="3711137"/>
            <a:ext cx="457200" cy="479863"/>
          </a:xfrm>
          <a:prstGeom prst="smileyFace">
            <a:avLst>
              <a:gd name="adj" fmla="val 4653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30717B00-EA39-7B64-97AA-3FEFE66D4776}"/>
              </a:ext>
            </a:extLst>
          </p:cNvPr>
          <p:cNvSpPr/>
          <p:nvPr/>
        </p:nvSpPr>
        <p:spPr>
          <a:xfrm>
            <a:off x="4838700" y="1135808"/>
            <a:ext cx="4168699" cy="739029"/>
          </a:xfrm>
          <a:prstGeom prst="cloudCallout">
            <a:avLst>
              <a:gd name="adj1" fmla="val 49270"/>
              <a:gd name="adj2" fmla="val 59423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But we need to do this task for </a:t>
            </a:r>
            <a:r>
              <a:rPr lang="en-US" u="sng" dirty="0">
                <a:solidFill>
                  <a:schemeClr val="tx1"/>
                </a:solidFill>
              </a:rPr>
              <a:t>each</a:t>
            </a:r>
            <a:r>
              <a:rPr lang="en-US" dirty="0">
                <a:solidFill>
                  <a:schemeClr val="tx1"/>
                </a:solidFill>
              </a:rPr>
              <a:t> point of left strip.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ounded Rectangle 101">
            <a:extLst>
              <a:ext uri="{FF2B5EF4-FFF2-40B4-BE49-F238E27FC236}">
                <a16:creationId xmlns:a16="http://schemas.microsoft.com/office/drawing/2014/main" id="{C47E0D7F-6920-C40B-2B9C-0FF64BCF29E2}"/>
              </a:ext>
            </a:extLst>
          </p:cNvPr>
          <p:cNvSpPr/>
          <p:nvPr/>
        </p:nvSpPr>
        <p:spPr>
          <a:xfrm>
            <a:off x="11152" y="1970041"/>
            <a:ext cx="1066800" cy="5334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Tool </a:t>
            </a:r>
            <a:r>
              <a:rPr lang="en-US" sz="2400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D348C4AD-3CC9-880D-67B3-30E3C13EAE93}"/>
              </a:ext>
            </a:extLst>
          </p:cNvPr>
          <p:cNvSpPr/>
          <p:nvPr/>
        </p:nvSpPr>
        <p:spPr>
          <a:xfrm>
            <a:off x="4849850" y="1143000"/>
            <a:ext cx="4168699" cy="735882"/>
          </a:xfrm>
          <a:prstGeom prst="cloudCallout">
            <a:avLst>
              <a:gd name="adj1" fmla="val 49270"/>
              <a:gd name="adj2" fmla="val 5942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many points lie in these 2 squares ?</a:t>
            </a:r>
            <a:endParaRPr lang="en-IN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7459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07" grpId="0" animBg="1"/>
      <p:bldP spid="3" grpId="0" animBg="1"/>
      <p:bldP spid="3" grpId="1" animBg="1"/>
      <p:bldP spid="102" grpId="0" animBg="1"/>
      <p:bldP spid="102" grpId="1" animBg="1"/>
      <p:bldP spid="108" grpId="0" animBg="1"/>
      <p:bldP spid="108" grpId="1" animBg="1"/>
      <p:bldP spid="6" grpId="0" animBg="1"/>
      <p:bldP spid="10" grpId="0" animBg="1"/>
      <p:bldP spid="10" grpId="1" animBg="1"/>
      <p:bldP spid="11" grpId="0" animBg="1"/>
      <p:bldP spid="11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val 41"/>
          <p:cNvSpPr/>
          <p:nvPr/>
        </p:nvSpPr>
        <p:spPr>
          <a:xfrm>
            <a:off x="5486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4572000" y="4572000"/>
            <a:ext cx="388999" cy="8265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combine</a:t>
            </a:r>
            <a:r>
              <a:rPr lang="en-US" sz="4000" b="1" dirty="0"/>
              <a:t> step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stCxn id="41" idx="3"/>
            <a:endCxn id="62" idx="6"/>
          </p:cNvCxnSpPr>
          <p:nvPr/>
        </p:nvCxnSpPr>
        <p:spPr>
          <a:xfrm flipH="1">
            <a:off x="5715000" y="5246641"/>
            <a:ext cx="392159" cy="354059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197" r="-15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57912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572666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5726668"/>
                <a:ext cx="37221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59436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5943600"/>
                <a:ext cx="37221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59436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44196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6" name="Oval 105"/>
          <p:cNvSpPr/>
          <p:nvPr/>
        </p:nvSpPr>
        <p:spPr>
          <a:xfrm>
            <a:off x="46482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2" name="Oval 121"/>
          <p:cNvSpPr/>
          <p:nvPr/>
        </p:nvSpPr>
        <p:spPr>
          <a:xfrm>
            <a:off x="45339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2" name="Straight Connector 71"/>
          <p:cNvCxnSpPr/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3657600" y="6285559"/>
                <a:ext cx="180036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>
                    <a:sym typeface="Wingdings" panose="05000000000000000000" pitchFamily="2" charset="2"/>
                  </a:rPr>
                  <a:t>  min</a:t>
                </a:r>
                <a:r>
                  <a:rPr lang="en-US" dirty="0"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285559"/>
                <a:ext cx="1800365" cy="369332"/>
              </a:xfrm>
              <a:prstGeom prst="rect">
                <a:avLst/>
              </a:prstGeom>
              <a:blipFill>
                <a:blip r:embed="rId12"/>
                <a:stretch>
                  <a:fillRect t="-7937" r="-202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ectangle 100"/>
          <p:cNvSpPr/>
          <p:nvPr/>
        </p:nvSpPr>
        <p:spPr>
          <a:xfrm>
            <a:off x="429269" y="1600199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5105400" y="1572259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ounded Rectangle 122"/>
          <p:cNvSpPr/>
          <p:nvPr/>
        </p:nvSpPr>
        <p:spPr>
          <a:xfrm>
            <a:off x="0" y="1752600"/>
            <a:ext cx="1066800" cy="5334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Tool </a:t>
            </a:r>
            <a:r>
              <a:rPr lang="en-US" sz="2400" b="1" dirty="0">
                <a:solidFill>
                  <a:srgbClr val="00B0F0"/>
                </a:solidFill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5631180" y="3098560"/>
                <a:ext cx="3327514" cy="64633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Sort all points of the right strip in</a:t>
                </a:r>
              </a:p>
              <a:p>
                <a:r>
                  <a:rPr lang="en-US" dirty="0"/>
                  <a:t> increasing order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-coordinate.</a:t>
                </a:r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1180" y="3098560"/>
                <a:ext cx="3327514" cy="646331"/>
              </a:xfrm>
              <a:prstGeom prst="rect">
                <a:avLst/>
              </a:prstGeom>
              <a:blipFill>
                <a:blip r:embed="rId13"/>
                <a:stretch>
                  <a:fillRect l="-1460" t="-3704" r="-912" b="-129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Straight Connector 123"/>
          <p:cNvCxnSpPr/>
          <p:nvPr/>
        </p:nvCxnSpPr>
        <p:spPr>
          <a:xfrm>
            <a:off x="4267200" y="4991100"/>
            <a:ext cx="696951" cy="0"/>
          </a:xfrm>
          <a:prstGeom prst="line">
            <a:avLst/>
          </a:prstGeom>
          <a:ln>
            <a:solidFill>
              <a:srgbClr val="006C3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blipFill>
                <a:blip r:embed="rId1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Oval 125"/>
          <p:cNvSpPr/>
          <p:nvPr/>
        </p:nvSpPr>
        <p:spPr>
          <a:xfrm>
            <a:off x="4076700" y="4876800"/>
            <a:ext cx="266700" cy="2286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5623827" y="4801177"/>
                <a:ext cx="2578270" cy="369332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Binary search for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3827" y="4801177"/>
                <a:ext cx="2578270" cy="369332"/>
              </a:xfrm>
              <a:prstGeom prst="rect">
                <a:avLst/>
              </a:prstGeom>
              <a:blipFill>
                <a:blip r:embed="rId15"/>
                <a:stretch>
                  <a:fillRect l="-1887" t="-8065" r="-1179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Straight Arrow Connector 127"/>
          <p:cNvCxnSpPr/>
          <p:nvPr/>
        </p:nvCxnSpPr>
        <p:spPr>
          <a:xfrm flipH="1">
            <a:off x="5018050" y="4572000"/>
            <a:ext cx="11150" cy="3810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/>
          <p:nvPr/>
        </p:nvCxnSpPr>
        <p:spPr>
          <a:xfrm flipH="1">
            <a:off x="5018050" y="5029200"/>
            <a:ext cx="11150" cy="3810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/>
              <p:cNvSpPr txBox="1"/>
              <p:nvPr/>
            </p:nvSpPr>
            <p:spPr>
              <a:xfrm>
                <a:off x="5029200" y="45720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0" name="TextBox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572000"/>
                <a:ext cx="37221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/>
              <p:cNvSpPr txBox="1"/>
              <p:nvPr/>
            </p:nvSpPr>
            <p:spPr>
              <a:xfrm>
                <a:off x="5029200" y="50292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1" name="TextBox 1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5029200"/>
                <a:ext cx="37221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253716" y="4788932"/>
                <a:ext cx="9314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716" y="4788932"/>
                <a:ext cx="931409" cy="369332"/>
              </a:xfrm>
              <a:prstGeom prst="rect">
                <a:avLst/>
              </a:prstGeom>
              <a:blipFill>
                <a:blip r:embed="rId1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/>
              <p:cNvSpPr txBox="1"/>
              <p:nvPr/>
            </p:nvSpPr>
            <p:spPr>
              <a:xfrm>
                <a:off x="5623826" y="5228709"/>
                <a:ext cx="2578270" cy="369332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Binary search for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32" name="TextBox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3826" y="5228709"/>
                <a:ext cx="2578270" cy="369332"/>
              </a:xfrm>
              <a:prstGeom prst="rect">
                <a:avLst/>
              </a:prstGeom>
              <a:blipFill>
                <a:blip r:embed="rId18"/>
                <a:stretch>
                  <a:fillRect l="-1887" t="-8065" r="-1179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7" name="Group 96"/>
          <p:cNvGrpSpPr/>
          <p:nvPr/>
        </p:nvGrpSpPr>
        <p:grpSpPr>
          <a:xfrm>
            <a:off x="4275982" y="1828800"/>
            <a:ext cx="1134218" cy="876300"/>
            <a:chOff x="4267200" y="2362200"/>
            <a:chExt cx="1134218" cy="876300"/>
          </a:xfrm>
        </p:grpSpPr>
        <p:sp>
          <p:nvSpPr>
            <p:cNvPr id="107" name="Rectangle 106"/>
            <p:cNvSpPr/>
            <p:nvPr/>
          </p:nvSpPr>
          <p:spPr>
            <a:xfrm>
              <a:off x="4572000" y="2362200"/>
              <a:ext cx="392152" cy="8763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" name="Straight Connector 107"/>
            <p:cNvCxnSpPr/>
            <p:nvPr/>
          </p:nvCxnSpPr>
          <p:spPr>
            <a:xfrm>
              <a:off x="4267200" y="2781300"/>
              <a:ext cx="696951" cy="0"/>
            </a:xfrm>
            <a:prstGeom prst="line">
              <a:avLst/>
            </a:prstGeom>
            <a:ln>
              <a:solidFill>
                <a:srgbClr val="006C3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/>
            <p:nvPr/>
          </p:nvCxnSpPr>
          <p:spPr>
            <a:xfrm flipH="1">
              <a:off x="5018050" y="23622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/>
            <p:cNvCxnSpPr/>
            <p:nvPr/>
          </p:nvCxnSpPr>
          <p:spPr>
            <a:xfrm flipH="1">
              <a:off x="5018050" y="28194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/>
                <p:cNvSpPr txBox="1"/>
                <p:nvPr/>
              </p:nvSpPr>
              <p:spPr>
                <a:xfrm>
                  <a:off x="5010051" y="2438400"/>
                  <a:ext cx="372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𝜹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20" name="TextBox 1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0051" y="2438400"/>
                  <a:ext cx="372218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/>
                <p:cNvSpPr txBox="1"/>
                <p:nvPr/>
              </p:nvSpPr>
              <p:spPr>
                <a:xfrm>
                  <a:off x="5029200" y="2819400"/>
                  <a:ext cx="372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𝜹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21" name="TextBox 1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200" y="2819400"/>
                  <a:ext cx="372218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/>
          <p:cNvGrpSpPr/>
          <p:nvPr/>
        </p:nvGrpSpPr>
        <p:grpSpPr>
          <a:xfrm>
            <a:off x="4275982" y="2362200"/>
            <a:ext cx="1134218" cy="876300"/>
            <a:chOff x="4267200" y="2362200"/>
            <a:chExt cx="1134218" cy="876300"/>
          </a:xfrm>
        </p:grpSpPr>
        <p:sp>
          <p:nvSpPr>
            <p:cNvPr id="9" name="Rectangle 8"/>
            <p:cNvSpPr/>
            <p:nvPr/>
          </p:nvSpPr>
          <p:spPr>
            <a:xfrm>
              <a:off x="4572000" y="2362200"/>
              <a:ext cx="392152" cy="8763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4267200" y="2781300"/>
              <a:ext cx="696951" cy="0"/>
            </a:xfrm>
            <a:prstGeom prst="line">
              <a:avLst/>
            </a:prstGeom>
            <a:ln>
              <a:solidFill>
                <a:srgbClr val="006C3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flipH="1">
              <a:off x="5018050" y="23622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/>
            <p:nvPr/>
          </p:nvCxnSpPr>
          <p:spPr>
            <a:xfrm flipH="1">
              <a:off x="5018050" y="28194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/>
                <p:cNvSpPr txBox="1"/>
                <p:nvPr/>
              </p:nvSpPr>
              <p:spPr>
                <a:xfrm>
                  <a:off x="5010051" y="2438400"/>
                  <a:ext cx="372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𝜹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0051" y="2438400"/>
                  <a:ext cx="37221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/>
                <p:cNvSpPr txBox="1"/>
                <p:nvPr/>
              </p:nvSpPr>
              <p:spPr>
                <a:xfrm>
                  <a:off x="5029200" y="2819400"/>
                  <a:ext cx="372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𝜹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00" name="TextBox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200" y="2819400"/>
                  <a:ext cx="37221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0" name="Group 109"/>
          <p:cNvGrpSpPr/>
          <p:nvPr/>
        </p:nvGrpSpPr>
        <p:grpSpPr>
          <a:xfrm>
            <a:off x="4419600" y="4038600"/>
            <a:ext cx="981818" cy="876300"/>
            <a:chOff x="4419600" y="2362200"/>
            <a:chExt cx="981818" cy="876300"/>
          </a:xfrm>
        </p:grpSpPr>
        <p:sp>
          <p:nvSpPr>
            <p:cNvPr id="111" name="Rectangle 110"/>
            <p:cNvSpPr/>
            <p:nvPr/>
          </p:nvSpPr>
          <p:spPr>
            <a:xfrm>
              <a:off x="4572000" y="2362200"/>
              <a:ext cx="392152" cy="8763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2" name="Straight Connector 111"/>
            <p:cNvCxnSpPr>
              <a:stCxn id="81" idx="6"/>
            </p:cNvCxnSpPr>
            <p:nvPr/>
          </p:nvCxnSpPr>
          <p:spPr>
            <a:xfrm>
              <a:off x="4419600" y="2781300"/>
              <a:ext cx="544551" cy="0"/>
            </a:xfrm>
            <a:prstGeom prst="line">
              <a:avLst/>
            </a:prstGeom>
            <a:ln>
              <a:solidFill>
                <a:srgbClr val="006C3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/>
            <p:cNvCxnSpPr/>
            <p:nvPr/>
          </p:nvCxnSpPr>
          <p:spPr>
            <a:xfrm flipH="1">
              <a:off x="5018050" y="23622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/>
            <p:cNvCxnSpPr/>
            <p:nvPr/>
          </p:nvCxnSpPr>
          <p:spPr>
            <a:xfrm flipH="1">
              <a:off x="5018050" y="28194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/>
                <p:cNvSpPr txBox="1"/>
                <p:nvPr/>
              </p:nvSpPr>
              <p:spPr>
                <a:xfrm>
                  <a:off x="5010051" y="2438400"/>
                  <a:ext cx="372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𝜹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15" name="TextBox 1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0051" y="2438400"/>
                  <a:ext cx="37221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/>
                <p:cNvSpPr txBox="1"/>
                <p:nvPr/>
              </p:nvSpPr>
              <p:spPr>
                <a:xfrm>
                  <a:off x="5029200" y="2819400"/>
                  <a:ext cx="372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𝜹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16" name="TextBox 1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200" y="2819400"/>
                  <a:ext cx="37221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3" name="Oval 132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4" name="Oval 133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35" name="Oval 134"/>
          <p:cNvSpPr/>
          <p:nvPr/>
        </p:nvSpPr>
        <p:spPr>
          <a:xfrm>
            <a:off x="4648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F73A71CC-1885-A26E-AC56-662BC2858034}"/>
              </a:ext>
            </a:extLst>
          </p:cNvPr>
          <p:cNvSpPr/>
          <p:nvPr/>
        </p:nvSpPr>
        <p:spPr>
          <a:xfrm>
            <a:off x="4838700" y="1135808"/>
            <a:ext cx="4168699" cy="739029"/>
          </a:xfrm>
          <a:prstGeom prst="cloudCallout">
            <a:avLst>
              <a:gd name="adj1" fmla="val 49270"/>
              <a:gd name="adj2" fmla="val 59423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But we need to do this task for </a:t>
            </a:r>
            <a:r>
              <a:rPr lang="en-US" u="sng" dirty="0">
                <a:solidFill>
                  <a:schemeClr val="tx1"/>
                </a:solidFill>
              </a:rPr>
              <a:t>each</a:t>
            </a:r>
            <a:r>
              <a:rPr lang="en-US" dirty="0">
                <a:solidFill>
                  <a:schemeClr val="tx1"/>
                </a:solidFill>
              </a:rPr>
              <a:t> point of left strip.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Thought Bubble: Cloud 11">
            <a:extLst>
              <a:ext uri="{FF2B5EF4-FFF2-40B4-BE49-F238E27FC236}">
                <a16:creationId xmlns:a16="http://schemas.microsoft.com/office/drawing/2014/main" id="{EF5A5033-9939-4C78-8916-7D0F8593E6FA}"/>
              </a:ext>
            </a:extLst>
          </p:cNvPr>
          <p:cNvSpPr/>
          <p:nvPr/>
        </p:nvSpPr>
        <p:spPr>
          <a:xfrm>
            <a:off x="3489542" y="1170373"/>
            <a:ext cx="5959258" cy="908179"/>
          </a:xfrm>
          <a:prstGeom prst="cloudCallout">
            <a:avLst>
              <a:gd name="adj1" fmla="val 49270"/>
              <a:gd name="adj2" fmla="val 5942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will be the suitable </a:t>
            </a:r>
            <a:r>
              <a:rPr lang="en-US" u="sng" dirty="0">
                <a:solidFill>
                  <a:schemeClr val="tx1"/>
                </a:solidFill>
              </a:rPr>
              <a:t>data structure</a:t>
            </a:r>
            <a:r>
              <a:rPr lang="en-US" dirty="0">
                <a:solidFill>
                  <a:schemeClr val="tx1"/>
                </a:solidFill>
              </a:rPr>
              <a:t> storing all the points of the right strip ?</a:t>
            </a:r>
            <a:endParaRPr lang="en-IN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hought Bubble: Cloud 12">
                <a:extLst>
                  <a:ext uri="{FF2B5EF4-FFF2-40B4-BE49-F238E27FC236}">
                    <a16:creationId xmlns:a16="http://schemas.microsoft.com/office/drawing/2014/main" id="{E8A6A146-4C1C-D2EC-219E-3233E77BDF25}"/>
                  </a:ext>
                </a:extLst>
              </p:cNvPr>
              <p:cNvSpPr/>
              <p:nvPr/>
            </p:nvSpPr>
            <p:spPr>
              <a:xfrm>
                <a:off x="4012673" y="1198368"/>
                <a:ext cx="4928653" cy="908179"/>
              </a:xfrm>
              <a:prstGeom prst="cloudCallout">
                <a:avLst>
                  <a:gd name="adj1" fmla="val 49270"/>
                  <a:gd name="adj2" fmla="val 59423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can we find the points lying inside the 2 pink squares for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/>
                      </a:rPr>
                      <m:t>𝒑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Thought Bubble: Cloud 12">
                <a:extLst>
                  <a:ext uri="{FF2B5EF4-FFF2-40B4-BE49-F238E27FC236}">
                    <a16:creationId xmlns:a16="http://schemas.microsoft.com/office/drawing/2014/main" id="{E8A6A146-4C1C-D2EC-219E-3233E77BDF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673" y="1198368"/>
                <a:ext cx="4928653" cy="908179"/>
              </a:xfrm>
              <a:prstGeom prst="cloudCallout">
                <a:avLst>
                  <a:gd name="adj1" fmla="val 49270"/>
                  <a:gd name="adj2" fmla="val 59423"/>
                </a:avLst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932776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  <p:bldP spid="123" grpId="0" animBg="1"/>
      <p:bldP spid="123" grpId="1" animBg="1"/>
      <p:bldP spid="103" grpId="0" animBg="1"/>
      <p:bldP spid="125" grpId="0"/>
      <p:bldP spid="126" grpId="0" animBg="1"/>
      <p:bldP spid="127" grpId="0" animBg="1"/>
      <p:bldP spid="130" grpId="0"/>
      <p:bldP spid="131" grpId="0"/>
      <p:bldP spid="10" grpId="0"/>
      <p:bldP spid="132" grpId="0" animBg="1"/>
      <p:bldP spid="3" grpId="0" animBg="1"/>
      <p:bldP spid="12" grpId="0" animBg="1"/>
      <p:bldP spid="12" grpId="1" animBg="1"/>
      <p:bldP spid="13" grpId="0" animBg="1"/>
      <p:bldP spid="13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Divide and Conquer based algorithm</a:t>
            </a:r>
            <a:br>
              <a:rPr lang="en-US" sz="3200" b="1" dirty="0"/>
            </a:b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7030A0"/>
                    </a:solidFill>
                  </a:rPr>
                  <a:t>CP-Distance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1600" dirty="0"/>
                  <a:t>) </a:t>
                </a:r>
              </a:p>
              <a:p>
                <a:pPr marL="0" indent="0">
                  <a:buNone/>
                </a:pPr>
                <a:r>
                  <a:rPr lang="en-US" sz="1600" dirty="0"/>
                  <a:t>{   </a:t>
                </a:r>
                <a:r>
                  <a:rPr lang="en-US" sz="1600" b="1" dirty="0"/>
                  <a:t>If</a:t>
                </a:r>
                <a:r>
                  <a:rPr lang="en-US" sz="1600" dirty="0"/>
                  <a:t> (|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|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1600" dirty="0"/>
                  <a:t> 1 ) return infinity;</a:t>
                </a:r>
              </a:p>
              <a:p>
                <a:pPr marL="0" indent="0">
                  <a:buNone/>
                </a:pPr>
                <a:r>
                  <a:rPr lang="en-US" sz="1600" dirty="0"/>
                  <a:t>    {            Compute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1600" dirty="0"/>
                  <a:t>-median of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1600" dirty="0"/>
                  <a:t>;</a:t>
                </a:r>
              </a:p>
              <a:p>
                <a:pPr marL="0" indent="0">
                  <a:buNone/>
                </a:pPr>
                <a:r>
                  <a:rPr lang="en-US" sz="1600" b="0" dirty="0"/>
                  <a:t>                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𝐿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Split-by-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-median(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1600" dirty="0">
                    <a:sym typeface="Wingdings" pitchFamily="2" charset="2"/>
                  </a:rPr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 </a:t>
                </a:r>
                <a:r>
                  <a:rPr lang="en-US" sz="1600" b="1" dirty="0">
                    <a:solidFill>
                      <a:srgbClr val="7030A0"/>
                    </a:solidFill>
                  </a:rPr>
                  <a:t>CP-Distance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dirty="0"/>
                  <a:t>) </a:t>
                </a:r>
                <a:r>
                  <a:rPr lang="en-US" sz="16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70C0"/>
                    </a:solidFill>
                  </a:rPr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 </a:t>
                </a:r>
                <a:r>
                  <a:rPr lang="en-US" sz="1600" b="1" dirty="0">
                    <a:solidFill>
                      <a:srgbClr val="7030A0"/>
                    </a:solidFill>
                  </a:rPr>
                  <a:t>CP-Distance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dirty="0"/>
                  <a:t>) </a:t>
                </a:r>
                <a:r>
                  <a:rPr lang="en-US" sz="16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dirty="0">
                    <a:sym typeface="Wingdings" pitchFamily="2" charset="2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 min(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 </a:t>
                </a:r>
                <a:r>
                  <a:rPr lang="en-US" sz="1600" dirty="0">
                    <a:sym typeface="Wingdings" pitchFamily="2" charset="2"/>
                  </a:rPr>
                  <a:t></a:t>
                </a:r>
                <a:r>
                  <a:rPr lang="en-US" sz="1600" b="1" dirty="0">
                    <a:sym typeface="Wingdings" pitchFamily="2" charset="2"/>
                  </a:rPr>
                  <a:t> strip </a:t>
                </a:r>
                <a:r>
                  <a:rPr lang="en-US" sz="1600" dirty="0">
                    <a:sym typeface="Wingdings" pitchFamily="2" charset="2"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 </a:t>
                </a:r>
                <a:r>
                  <a:rPr lang="en-US" sz="1600" dirty="0">
                    <a:sym typeface="Wingdings" pitchFamily="2" charset="2"/>
                  </a:rPr>
                  <a:t></a:t>
                </a:r>
                <a:r>
                  <a:rPr lang="en-US" sz="1600" b="1" dirty="0">
                    <a:sym typeface="Wingdings" pitchFamily="2" charset="2"/>
                  </a:rPr>
                  <a:t> strip </a:t>
                </a:r>
                <a:r>
                  <a:rPr lang="en-US" sz="1600" dirty="0">
                    <a:sym typeface="Wingdings" pitchFamily="2" charset="2"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	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𝐴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 Sorted array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</a:t>
                </a:r>
                <a:r>
                  <a:rPr lang="en-US" sz="1600" dirty="0">
                    <a:sym typeface="Wingdings" pitchFamily="2" charset="2"/>
                  </a:rPr>
                  <a:t>For each </a:t>
                </a:r>
                <a:r>
                  <a:rPr lang="en-US" sz="1600" b="1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</a:rPr>
                      <m:t>𝒑</m:t>
                    </m:r>
                    <m:r>
                      <a:rPr lang="en-US" sz="1600" b="0" i="1" smtClean="0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,</a:t>
                </a:r>
                <a:endParaRPr lang="en-US" sz="16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</a:rPr>
                      <m:t>𝒚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  </a:t>
                </a:r>
                <a:r>
                  <a:rPr lang="en-US" sz="1600" dirty="0">
                    <a:sym typeface="Wingdings" pitchFamily="2" charset="2"/>
                  </a:rPr>
                  <a:t>y-coordinate of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</a:rPr>
                      <m:t>𝒑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 </a:t>
                </a:r>
                <a:r>
                  <a:rPr lang="en-US" sz="1600" dirty="0">
                    <a:sym typeface="Wingdings" pitchFamily="2" charset="2"/>
                  </a:rPr>
                  <a:t>Search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𝐴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for points with y-coordinate within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</a:rPr>
                      <m:t>𝒚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1600" b="0" i="1" smtClean="0">
                        <a:latin typeface="Cambria Math"/>
                      </a:rPr>
                      <m:t>±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 </a:t>
                </a:r>
                <a:r>
                  <a:rPr lang="en-US" sz="1600" dirty="0">
                    <a:sym typeface="Wingdings" pitchFamily="2" charset="2"/>
                  </a:rPr>
                  <a:t>Compute distance from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</a:rPr>
                      <m:t>𝒑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to each of these points;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  Update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 </a:t>
                </a:r>
                <a:r>
                  <a:rPr lang="en-US" sz="1600" dirty="0">
                    <a:sym typeface="Wingdings" pitchFamily="2" charset="2"/>
                  </a:rPr>
                  <a:t>accordingly;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return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;</a:t>
                </a:r>
                <a:endParaRPr lang="en-US" sz="16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}</a:t>
                </a:r>
                <a:r>
                  <a:rPr lang="en-US" sz="1600" dirty="0">
                    <a:sym typeface="Wingdings" pitchFamily="2" charset="2"/>
                  </a:rPr>
                  <a:t>             </a:t>
                </a:r>
                <a:endParaRPr lang="en-US" sz="16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>
                <a:blip r:embed="rId3"/>
                <a:stretch>
                  <a:fillRect l="-370" t="-367" b="-22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029200" y="1828800"/>
            <a:ext cx="2902760" cy="1239798"/>
            <a:chOff x="1371601" y="2025134"/>
            <a:chExt cx="2902760" cy="1239798"/>
          </a:xfrm>
        </p:grpSpPr>
        <p:sp>
          <p:nvSpPr>
            <p:cNvPr id="5" name="Right Brace 4"/>
            <p:cNvSpPr/>
            <p:nvPr/>
          </p:nvSpPr>
          <p:spPr>
            <a:xfrm>
              <a:off x="1371601" y="2025134"/>
              <a:ext cx="1752600" cy="1239798"/>
            </a:xfrm>
            <a:prstGeom prst="rightBrace">
              <a:avLst>
                <a:gd name="adj1" fmla="val 0"/>
                <a:gd name="adj2" fmla="val 50000"/>
              </a:avLst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048000" y="2494002"/>
              <a:ext cx="1226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Divide step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029200" y="3200400"/>
            <a:ext cx="3962400" cy="2819400"/>
            <a:chOff x="1808973" y="1295400"/>
            <a:chExt cx="3962400" cy="2819400"/>
          </a:xfrm>
        </p:grpSpPr>
        <p:sp>
          <p:nvSpPr>
            <p:cNvPr id="9" name="Right Brace 8"/>
            <p:cNvSpPr/>
            <p:nvPr/>
          </p:nvSpPr>
          <p:spPr>
            <a:xfrm>
              <a:off x="1808973" y="1295400"/>
              <a:ext cx="1676400" cy="2819400"/>
            </a:xfrm>
            <a:prstGeom prst="rightBrace">
              <a:avLst>
                <a:gd name="adj1" fmla="val 646"/>
                <a:gd name="adj2" fmla="val 50000"/>
              </a:avLst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29000" y="2678668"/>
              <a:ext cx="23423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Combine/conquer step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160754" y="4126468"/>
                <a:ext cx="2036327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/>
                      </a:rPr>
                      <m:t>𝑶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/>
                          </a:rPr>
                          <m:t>𝐏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1" i="0" smtClean="0">
                            <a:latin typeface="Cambria Math"/>
                          </a:rPr>
                          <m:t>𝐏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func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time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754" y="4126468"/>
                <a:ext cx="2036327" cy="369332"/>
              </a:xfrm>
              <a:prstGeom prst="rect">
                <a:avLst/>
              </a:prstGeom>
              <a:blipFill>
                <a:blip r:embed="rId6"/>
                <a:stretch>
                  <a:fillRect t="-6452" r="-124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172200" y="1981200"/>
                <a:ext cx="2526846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/>
                      </a:rPr>
                      <m:t>𝑶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/>
                          </a:rPr>
                          <m:t>𝐏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+ 2 </a:t>
                </a:r>
                <a:r>
                  <a:rPr lang="en-US" b="1" dirty="0"/>
                  <a:t>T</a:t>
                </a:r>
                <a:r>
                  <a:rPr lang="en-US" dirty="0"/>
                  <a:t>(|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/>
                      </a:rPr>
                      <m:t>𝐏</m:t>
                    </m:r>
                  </m:oMath>
                </a14:m>
                <a:r>
                  <a:rPr lang="en-US" dirty="0"/>
                  <a:t>|/2) time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1981200"/>
                <a:ext cx="2526846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362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80288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1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Running time </a:t>
            </a:r>
            <a:r>
              <a:rPr lang="en-US" sz="3600" b="1" dirty="0"/>
              <a:t>of the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sz="2000" dirty="0"/>
                  <a:t>What is the recurrence for running time?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     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 c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log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 +  2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/2)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  </a:t>
                </a:r>
                <a:r>
                  <a:rPr lang="en-US" sz="2000" b="1" dirty="0"/>
                  <a:t>        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    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 </a:t>
                </a:r>
                <a:r>
                  <a:rPr lang="en-US" sz="2000" b="1" i="1" dirty="0"/>
                  <a:t>O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</m:e>
                      <m:sup>
                        <m:r>
                          <a:rPr lang="en-US" sz="2000" b="0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Theorem: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exists an </a:t>
                </a:r>
                <a:r>
                  <a:rPr lang="en-US" sz="2000" b="1" i="1" dirty="0"/>
                  <a:t>O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log</m:t>
                        </m:r>
                      </m:e>
                      <m:sup>
                        <m:r>
                          <a:rPr lang="en-US" sz="200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 time </a:t>
                </a:r>
                <a:r>
                  <a:rPr lang="en-US" sz="2000" dirty="0"/>
                  <a:t>algorithm  to compute the closest pair distance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points in plane.</a:t>
                </a: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  <a:blipFill>
                <a:blip r:embed="rId5"/>
                <a:stretch>
                  <a:fillRect l="-714" t="-809" r="-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86000" y="2286000"/>
            <a:ext cx="1066800" cy="609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>
            <a:stCxn id="5" idx="5"/>
          </p:cNvCxnSpPr>
          <p:nvPr/>
        </p:nvCxnSpPr>
        <p:spPr>
          <a:xfrm>
            <a:off x="3196571" y="2806326"/>
            <a:ext cx="1756429" cy="39407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own Arrow 10"/>
          <p:cNvSpPr/>
          <p:nvPr/>
        </p:nvSpPr>
        <p:spPr>
          <a:xfrm>
            <a:off x="4952999" y="3276600"/>
            <a:ext cx="503215" cy="762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953000" y="4038600"/>
                <a:ext cx="503215" cy="40011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c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4038600"/>
                <a:ext cx="503215" cy="400110"/>
              </a:xfrm>
              <a:prstGeom prst="rect">
                <a:avLst/>
              </a:prstGeom>
              <a:blipFill>
                <a:blip r:embed="rId6"/>
                <a:stretch>
                  <a:fillRect l="-11905" t="-7463" b="-238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400045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11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80461-26F0-B346-B1A7-1AD2A0BED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6C31"/>
                </a:solidFill>
              </a:rPr>
              <a:t>Homework </a:t>
            </a:r>
            <a:r>
              <a:rPr lang="en-US" b="1" dirty="0">
                <a:solidFill>
                  <a:srgbClr val="0070C0"/>
                </a:solidFill>
              </a:rPr>
              <a:t>1</a:t>
            </a:r>
            <a:endParaRPr 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FF7787-5B6D-5845-8E72-6175FE3113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dirty="0"/>
                  <a:t>Make sincere attempts to execute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conquer</a:t>
                </a:r>
                <a:r>
                  <a:rPr lang="en-US" sz="2400" b="1" dirty="0"/>
                  <a:t> step in </a:t>
                </a:r>
                <a:r>
                  <a:rPr lang="en-US" sz="2400" b="1" i="1" dirty="0"/>
                  <a:t>O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) time.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 Two visual hints are given on the following slides </a:t>
                </a:r>
                <a:r>
                  <a:rPr lang="en-US" sz="2400" dirty="0">
                    <a:sym typeface="Wingdings" panose="05000000000000000000" pitchFamily="2" charset="2"/>
                  </a:rPr>
                  <a:t></a:t>
                </a:r>
                <a:r>
                  <a:rPr lang="en-US" sz="2400" dirty="0"/>
                  <a:t>. </a:t>
                </a:r>
              </a:p>
              <a:p>
                <a:pPr marL="0" indent="0" algn="ctr">
                  <a:buNone/>
                </a:pPr>
                <a:r>
                  <a:rPr lang="en-US" sz="2400" dirty="0"/>
                  <a:t>Make use of them.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FF7787-5B6D-5845-8E72-6175FE3113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E2FFB-F993-704F-9D49-BEE6528BE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/>
                  <a:t>The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conquer</a:t>
                </a:r>
                <a:r>
                  <a:rPr lang="en-US" sz="4000" b="1" dirty="0"/>
                  <a:t> step in </a:t>
                </a:r>
                <a:r>
                  <a:rPr lang="en-US" sz="4000" b="1" i="1" dirty="0"/>
                  <a:t>O</a:t>
                </a:r>
                <a:r>
                  <a:rPr lang="en-US" sz="4000" dirty="0"/>
                  <a:t>(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4000" dirty="0"/>
                  <a:t>) </a:t>
                </a:r>
                <a:r>
                  <a:rPr lang="en-US" sz="4000" b="1" dirty="0"/>
                  <a:t>time</a:t>
                </a:r>
                <a:r>
                  <a:rPr lang="en-US" sz="4000" dirty="0"/>
                  <a:t>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5"/>
                <a:stretch>
                  <a:fillRect b="-3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2672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198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105400" y="5410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endCxn id="62" idx="6"/>
          </p:cNvCxnSpPr>
          <p:nvPr/>
        </p:nvCxnSpPr>
        <p:spPr>
          <a:xfrm flipH="1">
            <a:off x="5715000" y="5334000"/>
            <a:ext cx="304800" cy="2667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1604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2672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4196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586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48387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4196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60960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6096000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610766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6107668"/>
                <a:ext cx="37221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3" idx="0"/>
            <a:endCxn id="3" idx="2"/>
          </p:cNvCxnSpPr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7" name="Oval 116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Oval 118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4724400" y="3733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Oval 105"/>
          <p:cNvSpPr/>
          <p:nvPr/>
        </p:nvSpPr>
        <p:spPr>
          <a:xfrm>
            <a:off x="4876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Oval 106"/>
          <p:cNvSpPr/>
          <p:nvPr/>
        </p:nvSpPr>
        <p:spPr>
          <a:xfrm>
            <a:off x="46482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Oval 107"/>
          <p:cNvSpPr/>
          <p:nvPr/>
        </p:nvSpPr>
        <p:spPr>
          <a:xfrm>
            <a:off x="43434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Oval 108"/>
          <p:cNvSpPr/>
          <p:nvPr/>
        </p:nvSpPr>
        <p:spPr>
          <a:xfrm>
            <a:off x="44196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8" name="Group 137"/>
          <p:cNvGrpSpPr/>
          <p:nvPr/>
        </p:nvGrpSpPr>
        <p:grpSpPr>
          <a:xfrm>
            <a:off x="4305300" y="1741441"/>
            <a:ext cx="152400" cy="3897359"/>
            <a:chOff x="4305300" y="1741441"/>
            <a:chExt cx="152400" cy="3897359"/>
          </a:xfrm>
        </p:grpSpPr>
        <p:cxnSp>
          <p:nvCxnSpPr>
            <p:cNvPr id="12" name="Straight Connector 11"/>
            <p:cNvCxnSpPr>
              <a:stCxn id="78" idx="0"/>
              <a:endCxn id="38" idx="4"/>
            </p:cNvCxnSpPr>
            <p:nvPr/>
          </p:nvCxnSpPr>
          <p:spPr>
            <a:xfrm flipH="1" flipV="1">
              <a:off x="4305300" y="5181600"/>
              <a:ext cx="152400" cy="4572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>
              <a:stCxn id="38" idx="7"/>
              <a:endCxn id="81" idx="3"/>
            </p:cNvCxnSpPr>
            <p:nvPr/>
          </p:nvCxnSpPr>
          <p:spPr>
            <a:xfrm flipV="1">
              <a:off x="4332241" y="4560841"/>
              <a:ext cx="98518" cy="555718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>
              <a:stCxn id="77" idx="4"/>
              <a:endCxn id="81" idx="1"/>
            </p:cNvCxnSpPr>
            <p:nvPr/>
          </p:nvCxnSpPr>
          <p:spPr>
            <a:xfrm>
              <a:off x="4305300" y="3962400"/>
              <a:ext cx="125459" cy="544559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>
              <a:stCxn id="109" idx="2"/>
              <a:endCxn id="77" idx="0"/>
            </p:cNvCxnSpPr>
            <p:nvPr/>
          </p:nvCxnSpPr>
          <p:spPr>
            <a:xfrm flipH="1">
              <a:off x="4305300" y="3390900"/>
              <a:ext cx="114300" cy="4953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>
              <a:stCxn id="85" idx="4"/>
              <a:endCxn id="109" idx="0"/>
            </p:cNvCxnSpPr>
            <p:nvPr/>
          </p:nvCxnSpPr>
          <p:spPr>
            <a:xfrm>
              <a:off x="4305300" y="2819400"/>
              <a:ext cx="152400" cy="5334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>
              <a:stCxn id="59" idx="4"/>
              <a:endCxn id="85" idx="0"/>
            </p:cNvCxnSpPr>
            <p:nvPr/>
          </p:nvCxnSpPr>
          <p:spPr>
            <a:xfrm>
              <a:off x="4305300" y="2286000"/>
              <a:ext cx="0" cy="4572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>
              <a:stCxn id="108" idx="3"/>
              <a:endCxn id="59" idx="0"/>
            </p:cNvCxnSpPr>
            <p:nvPr/>
          </p:nvCxnSpPr>
          <p:spPr>
            <a:xfrm flipH="1">
              <a:off x="4305300" y="1741441"/>
              <a:ext cx="49259" cy="468359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/>
          <p:cNvGrpSpPr/>
          <p:nvPr/>
        </p:nvGrpSpPr>
        <p:grpSpPr>
          <a:xfrm>
            <a:off x="4686300" y="1714500"/>
            <a:ext cx="201659" cy="4152900"/>
            <a:chOff x="4686300" y="1714500"/>
            <a:chExt cx="201659" cy="4152900"/>
          </a:xfrm>
        </p:grpSpPr>
        <p:cxnSp>
          <p:nvCxnSpPr>
            <p:cNvPr id="125" name="Straight Connector 124"/>
            <p:cNvCxnSpPr>
              <a:stCxn id="79" idx="0"/>
              <a:endCxn id="80" idx="4"/>
            </p:cNvCxnSpPr>
            <p:nvPr/>
          </p:nvCxnSpPr>
          <p:spPr>
            <a:xfrm flipV="1">
              <a:off x="4838700" y="5334000"/>
              <a:ext cx="38100" cy="53340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>
              <a:stCxn id="80" idx="4"/>
              <a:endCxn id="119" idx="5"/>
            </p:cNvCxnSpPr>
            <p:nvPr/>
          </p:nvCxnSpPr>
          <p:spPr>
            <a:xfrm flipH="1" flipV="1">
              <a:off x="4713241" y="4789441"/>
              <a:ext cx="163559" cy="5445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>
              <a:stCxn id="119" idx="0"/>
              <a:endCxn id="117" idx="3"/>
            </p:cNvCxnSpPr>
            <p:nvPr/>
          </p:nvCxnSpPr>
          <p:spPr>
            <a:xfrm flipV="1">
              <a:off x="4686300" y="4256041"/>
              <a:ext cx="201659" cy="4683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>
              <a:stCxn id="117" idx="1"/>
              <a:endCxn id="105" idx="5"/>
            </p:cNvCxnSpPr>
            <p:nvPr/>
          </p:nvCxnSpPr>
          <p:spPr>
            <a:xfrm flipH="1" flipV="1">
              <a:off x="4789441" y="3798841"/>
              <a:ext cx="98518" cy="40331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>
              <a:stCxn id="105" idx="1"/>
              <a:endCxn id="94" idx="5"/>
            </p:cNvCxnSpPr>
            <p:nvPr/>
          </p:nvCxnSpPr>
          <p:spPr>
            <a:xfrm flipV="1">
              <a:off x="4735559" y="3113041"/>
              <a:ext cx="53882" cy="63191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>
              <a:stCxn id="94" idx="0"/>
            </p:cNvCxnSpPr>
            <p:nvPr/>
          </p:nvCxnSpPr>
          <p:spPr>
            <a:xfrm flipV="1">
              <a:off x="4762500" y="2514601"/>
              <a:ext cx="5575" cy="53339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>
              <a:stCxn id="93" idx="0"/>
              <a:endCxn id="106" idx="3"/>
            </p:cNvCxnSpPr>
            <p:nvPr/>
          </p:nvCxnSpPr>
          <p:spPr>
            <a:xfrm flipV="1">
              <a:off x="4762500" y="2122441"/>
              <a:ext cx="125459" cy="3159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>
              <a:stCxn id="106" idx="3"/>
              <a:endCxn id="107" idx="6"/>
            </p:cNvCxnSpPr>
            <p:nvPr/>
          </p:nvCxnSpPr>
          <p:spPr>
            <a:xfrm flipH="1" flipV="1">
              <a:off x="4724400" y="1714500"/>
              <a:ext cx="163559" cy="40794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TextBox 154"/>
          <p:cNvSpPr txBox="1"/>
          <p:nvPr/>
        </p:nvSpPr>
        <p:spPr>
          <a:xfrm>
            <a:off x="3048000" y="1219200"/>
            <a:ext cx="3413178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If the two strips are already sorted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D71199B-B8B0-A14A-9B8C-CC7145226FDD}"/>
                  </a:ext>
                </a:extLst>
              </p:cNvPr>
              <p:cNvSpPr txBox="1"/>
              <p:nvPr/>
            </p:nvSpPr>
            <p:spPr>
              <a:xfrm>
                <a:off x="3657600" y="6400800"/>
                <a:ext cx="180036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>
                    <a:sym typeface="Wingdings" panose="05000000000000000000" pitchFamily="2" charset="2"/>
                  </a:rPr>
                  <a:t>  min</a:t>
                </a:r>
                <a:r>
                  <a:rPr lang="en-US" dirty="0"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D71199B-B8B0-A14A-9B8C-CC7145226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400800"/>
                <a:ext cx="1800365" cy="369332"/>
              </a:xfrm>
              <a:prstGeom prst="rect">
                <a:avLst/>
              </a:prstGeom>
              <a:blipFill>
                <a:blip r:embed="rId10"/>
                <a:stretch>
                  <a:fillRect t="-3333" r="-1399" b="-23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7656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3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3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Inspiration</a:t>
            </a:r>
            <a:r>
              <a:rPr lang="en-US" sz="3600" b="1" dirty="0"/>
              <a:t> from </a:t>
            </a:r>
            <a:r>
              <a:rPr lang="en-US" sz="3600" b="1" dirty="0">
                <a:solidFill>
                  <a:srgbClr val="006C31"/>
                </a:solidFill>
              </a:rPr>
              <a:t>Merge sort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419600" y="3276600"/>
            <a:ext cx="457200" cy="45720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3352800" y="4419600"/>
            <a:ext cx="2590800" cy="457200"/>
            <a:chOff x="3352800" y="3962400"/>
            <a:chExt cx="2590800" cy="457200"/>
          </a:xfrm>
        </p:grpSpPr>
        <p:sp>
          <p:nvSpPr>
            <p:cNvPr id="6" name="Oval 5"/>
            <p:cNvSpPr/>
            <p:nvPr/>
          </p:nvSpPr>
          <p:spPr>
            <a:xfrm>
              <a:off x="3352800" y="3962400"/>
              <a:ext cx="457200" cy="4572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486400" y="3962400"/>
              <a:ext cx="457200" cy="4572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638800" y="3352800"/>
            <a:ext cx="228600" cy="914400"/>
            <a:chOff x="6705600" y="2514600"/>
            <a:chExt cx="228600" cy="914400"/>
          </a:xfrm>
        </p:grpSpPr>
        <p:sp>
          <p:nvSpPr>
            <p:cNvPr id="8" name="Rectangle 7"/>
            <p:cNvSpPr/>
            <p:nvPr/>
          </p:nvSpPr>
          <p:spPr>
            <a:xfrm>
              <a:off x="6705600" y="2514600"/>
              <a:ext cx="228600" cy="914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/>
            <p:cNvCxnSpPr>
              <a:stCxn id="8" idx="1"/>
              <a:endCxn id="8" idx="3"/>
            </p:cNvCxnSpPr>
            <p:nvPr/>
          </p:nvCxnSpPr>
          <p:spPr>
            <a:xfrm>
              <a:off x="6705600" y="29718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705600" y="27432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705600" y="32004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3743045" y="3666845"/>
            <a:ext cx="1810310" cy="819710"/>
            <a:chOff x="3743045" y="3209645"/>
            <a:chExt cx="1810310" cy="819710"/>
          </a:xfrm>
        </p:grpSpPr>
        <p:cxnSp>
          <p:nvCxnSpPr>
            <p:cNvPr id="17" name="Straight Arrow Connector 16"/>
            <p:cNvCxnSpPr>
              <a:stCxn id="5" idx="3"/>
              <a:endCxn id="6" idx="7"/>
            </p:cNvCxnSpPr>
            <p:nvPr/>
          </p:nvCxnSpPr>
          <p:spPr>
            <a:xfrm flipH="1">
              <a:off x="3743045" y="3209645"/>
              <a:ext cx="743510" cy="81971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5" idx="5"/>
              <a:endCxn id="7" idx="1"/>
            </p:cNvCxnSpPr>
            <p:nvPr/>
          </p:nvCxnSpPr>
          <p:spPr>
            <a:xfrm>
              <a:off x="4809845" y="3209645"/>
              <a:ext cx="743510" cy="81971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3429000" y="3352800"/>
            <a:ext cx="228600" cy="914400"/>
            <a:chOff x="6705600" y="2514600"/>
            <a:chExt cx="228600" cy="914400"/>
          </a:xfrm>
        </p:grpSpPr>
        <p:sp>
          <p:nvSpPr>
            <p:cNvPr id="24" name="Rectangle 23"/>
            <p:cNvSpPr/>
            <p:nvPr/>
          </p:nvSpPr>
          <p:spPr>
            <a:xfrm>
              <a:off x="6705600" y="2514600"/>
              <a:ext cx="228600" cy="914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/>
            <p:cNvCxnSpPr>
              <a:stCxn id="24" idx="1"/>
              <a:endCxn id="24" idx="3"/>
            </p:cNvCxnSpPr>
            <p:nvPr/>
          </p:nvCxnSpPr>
          <p:spPr>
            <a:xfrm>
              <a:off x="6705600" y="29718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6705600" y="27432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6705600" y="32004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4572000" y="1371600"/>
            <a:ext cx="228600" cy="1828800"/>
            <a:chOff x="4572000" y="914400"/>
            <a:chExt cx="228600" cy="1828800"/>
          </a:xfrm>
        </p:grpSpPr>
        <p:grpSp>
          <p:nvGrpSpPr>
            <p:cNvPr id="28" name="Group 27"/>
            <p:cNvGrpSpPr/>
            <p:nvPr/>
          </p:nvGrpSpPr>
          <p:grpSpPr>
            <a:xfrm>
              <a:off x="4572000" y="914400"/>
              <a:ext cx="228600" cy="1828800"/>
              <a:chOff x="6705600" y="1600200"/>
              <a:chExt cx="228600" cy="1828800"/>
            </a:xfrm>
          </p:grpSpPr>
          <p:sp>
            <p:nvSpPr>
              <p:cNvPr id="29" name="Rectangle 28"/>
              <p:cNvSpPr/>
              <p:nvPr/>
            </p:nvSpPr>
            <p:spPr>
              <a:xfrm>
                <a:off x="6705600" y="1600200"/>
                <a:ext cx="228600" cy="1828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" name="Straight Connector 29"/>
              <p:cNvCxnSpPr>
                <a:stCxn id="29" idx="1"/>
                <a:endCxn id="29" idx="3"/>
              </p:cNvCxnSpPr>
              <p:nvPr/>
            </p:nvCxnSpPr>
            <p:spPr>
              <a:xfrm>
                <a:off x="6705600" y="2514600"/>
                <a:ext cx="228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6705600" y="2743200"/>
                <a:ext cx="228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6705600" y="3200400"/>
                <a:ext cx="228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/>
            <p:cNvCxnSpPr/>
            <p:nvPr/>
          </p:nvCxnSpPr>
          <p:spPr>
            <a:xfrm>
              <a:off x="4572000" y="22860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4572000" y="16002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4572000" y="13716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4572000" y="11430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Left-Right Arrow 8"/>
          <p:cNvSpPr/>
          <p:nvPr/>
        </p:nvSpPr>
        <p:spPr>
          <a:xfrm>
            <a:off x="3660648" y="3674046"/>
            <a:ext cx="1978152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Merge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6699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6.8|1.9|1.6|1.5|2.2|1.3|3.9|2.5|3.4|0.8|1.3|1.7|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7.7|1.8|2.7|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8.4|3.5|2.9|4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7|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7|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2.2|2.5|3.5|15.4|0.7|5.6|6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2.1|4.9|1.8|1|1.9|5.5|8.2|2.6|9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2.5|3.9|0.9|1.1|1.6|2.7|2.1|1.8|14.3|8.7|15.3|7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2.5|3.9|0.9|1.1|1.6|2.7|2.1|1.8|14.3|8.7|15.3|7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2.5|3.9|0.9|1.1|1.6|2.7|2.1|1.8|14.3|8.7|15.3|7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2.9|5.7|0.7|2.3|2.1|4.2|0.9|1.3|1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3.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13.1|8|3|3.7|1.2|7.6|1.4|4.9|1.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13.1|8|3|3.7|1.2|7.6|1.4|4.9|1.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13.1|8|3|3.7|1.2|7.6|1.4|4.9|1.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13.1|8|3|3.7|1.2|7.6|1.4|4.9|1.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13.1|8|3|3.7|1.2|7.6|1.4|4.9|1.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11.3|1.9|5.4|1.8|1.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28|6.4|0.8|8.6|11.2|1.1|6.2|8.6|1.2|9.2|10.8|0.8|1.8|5.7|1.2|6.4|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7|4.2|7.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|1.5|21.9|8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|1.5|21.9|8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|1.5|21.9|8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1|0.8|0.7|0.8|0.7|4.2|16.4|1.4|4.8|9.4|6.9|2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5.7|2|5.2|4.3|7.1|5.2|6.2|4.4|2|3.6|9.1|3.4|3.4|10.8|8.7|2.6|1.5|4.5|1.6|21.7|23.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1.2|4.5|15.9|0.9|3.5|1.6|11.6|12.2|2.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33.1|4.5|9.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3.8|3.3|10.5|1.5|2|1.7|1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6335</TotalTime>
  <Words>1794</Words>
  <Application>Microsoft Office PowerPoint</Application>
  <PresentationFormat>On-screen Show (4:3)</PresentationFormat>
  <Paragraphs>409</Paragraphs>
  <Slides>31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Cambria Math</vt:lpstr>
      <vt:lpstr>Wingdings</vt:lpstr>
      <vt:lpstr>Office Theme</vt:lpstr>
      <vt:lpstr>Design and Analysis of Algorithms </vt:lpstr>
      <vt:lpstr>Divide and Conquer paradigm  </vt:lpstr>
      <vt:lpstr>An Overview</vt:lpstr>
      <vt:lpstr>Example Problems</vt:lpstr>
      <vt:lpstr>Divide and Conquer Paradigm (Advanced Problems)</vt:lpstr>
      <vt:lpstr>Distance between 2 points</vt:lpstr>
      <vt:lpstr>The Closest Pair Distance Problem</vt:lpstr>
      <vt:lpstr>The Closest Pair Distance Problem</vt:lpstr>
      <vt:lpstr>Question 1 </vt:lpstr>
      <vt:lpstr> </vt:lpstr>
      <vt:lpstr> </vt:lpstr>
      <vt:lpstr> </vt:lpstr>
      <vt:lpstr>Question 2 </vt:lpstr>
      <vt:lpstr>a Divide and Conquer algorithm for </vt:lpstr>
      <vt:lpstr>The divide step</vt:lpstr>
      <vt:lpstr>Solving the problem in 1-dimension</vt:lpstr>
      <vt:lpstr>Solving the problem in 1-dimension</vt:lpstr>
      <vt:lpstr>How to extend to 2-dimensions</vt:lpstr>
      <vt:lpstr>The divide step</vt:lpstr>
      <vt:lpstr>Solving the 2 smaller instances</vt:lpstr>
      <vt:lpstr>The combine step</vt:lpstr>
      <vt:lpstr>The combine step</vt:lpstr>
      <vt:lpstr>The combine step</vt:lpstr>
      <vt:lpstr>The combine step</vt:lpstr>
      <vt:lpstr>The combine step</vt:lpstr>
      <vt:lpstr>The combine step</vt:lpstr>
      <vt:lpstr>Divide and Conquer based algorithm </vt:lpstr>
      <vt:lpstr>Running time of the algorithm</vt:lpstr>
      <vt:lpstr>Homework 1</vt:lpstr>
      <vt:lpstr>The conquer step in O(n) time </vt:lpstr>
      <vt:lpstr>Inspiration from Merge sort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Surender Baswana</cp:lastModifiedBy>
  <cp:revision>800</cp:revision>
  <dcterms:created xsi:type="dcterms:W3CDTF">2011-12-03T04:13:03Z</dcterms:created>
  <dcterms:modified xsi:type="dcterms:W3CDTF">2025-08-04T05:22:40Z</dcterms:modified>
</cp:coreProperties>
</file>