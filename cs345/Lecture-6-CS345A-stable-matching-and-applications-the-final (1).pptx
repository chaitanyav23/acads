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8"/>
  </p:notesMasterIdLst>
  <p:sldIdLst>
    <p:sldId id="495" r:id="rId2"/>
    <p:sldId id="527" r:id="rId3"/>
    <p:sldId id="690" r:id="rId4"/>
    <p:sldId id="684" r:id="rId5"/>
    <p:sldId id="720" r:id="rId6"/>
    <p:sldId id="726" r:id="rId7"/>
    <p:sldId id="686" r:id="rId8"/>
    <p:sldId id="688" r:id="rId9"/>
    <p:sldId id="689" r:id="rId10"/>
    <p:sldId id="649" r:id="rId11"/>
    <p:sldId id="661" r:id="rId12"/>
    <p:sldId id="267" r:id="rId13"/>
    <p:sldId id="618" r:id="rId14"/>
    <p:sldId id="463" r:id="rId15"/>
    <p:sldId id="460" r:id="rId16"/>
    <p:sldId id="706" r:id="rId17"/>
    <p:sldId id="708" r:id="rId18"/>
    <p:sldId id="709" r:id="rId19"/>
    <p:sldId id="710" r:id="rId20"/>
    <p:sldId id="711" r:id="rId21"/>
    <p:sldId id="713" r:id="rId22"/>
    <p:sldId id="714" r:id="rId23"/>
    <p:sldId id="605" r:id="rId24"/>
    <p:sldId id="606" r:id="rId25"/>
    <p:sldId id="715" r:id="rId26"/>
    <p:sldId id="511" r:id="rId27"/>
    <p:sldId id="521" r:id="rId28"/>
    <p:sldId id="725" r:id="rId29"/>
    <p:sldId id="451" r:id="rId30"/>
    <p:sldId id="452" r:id="rId31"/>
    <p:sldId id="723" r:id="rId32"/>
    <p:sldId id="474" r:id="rId33"/>
    <p:sldId id="524" r:id="rId34"/>
    <p:sldId id="297" r:id="rId35"/>
    <p:sldId id="295" r:id="rId36"/>
    <p:sldId id="291" r:id="rId37"/>
    <p:sldId id="724" r:id="rId38"/>
    <p:sldId id="294" r:id="rId39"/>
    <p:sldId id="694" r:id="rId40"/>
    <p:sldId id="722" r:id="rId41"/>
    <p:sldId id="695" r:id="rId42"/>
    <p:sldId id="696" r:id="rId43"/>
    <p:sldId id="697" r:id="rId44"/>
    <p:sldId id="698" r:id="rId45"/>
    <p:sldId id="699" r:id="rId46"/>
    <p:sldId id="700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7" autoAdjust="0"/>
    <p:restoredTop sz="94052" autoAdjust="0"/>
  </p:normalViewPr>
  <p:slideViewPr>
    <p:cSldViewPr>
      <p:cViewPr varScale="1">
        <p:scale>
          <a:sx n="105" d="100"/>
          <a:sy n="105" d="100"/>
        </p:scale>
        <p:origin x="199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31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91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2.png"/><Relationship Id="rId11" Type="http://schemas.openxmlformats.org/officeDocument/2006/relationships/image" Target="../media/image810.png"/><Relationship Id="rId10" Type="http://schemas.openxmlformats.org/officeDocument/2006/relationships/image" Target="../media/image90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loyd_Shapley" TargetMode="External"/><Relationship Id="rId2" Type="http://schemas.openxmlformats.org/officeDocument/2006/relationships/hyperlink" Target="https://en.wikipedia.org/wiki/David_Gale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910.png"/><Relationship Id="rId12" Type="http://schemas.openxmlformats.org/officeDocument/2006/relationships/image" Target="../media/image60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.png"/><Relationship Id="rId11" Type="http://schemas.openxmlformats.org/officeDocument/2006/relationships/image" Target="../media/image3.png"/><Relationship Id="rId10" Type="http://schemas.openxmlformats.org/officeDocument/2006/relationships/image" Target="../media/image901.png"/><Relationship Id="rId4" Type="http://schemas.openxmlformats.org/officeDocument/2006/relationships/image" Target="../media/image1810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.png"/><Relationship Id="rId11" Type="http://schemas.openxmlformats.org/officeDocument/2006/relationships/image" Target="../media/image361.png"/><Relationship Id="rId10" Type="http://schemas.openxmlformats.org/officeDocument/2006/relationships/image" Target="../media/image901.png"/><Relationship Id="rId4" Type="http://schemas.openxmlformats.org/officeDocument/2006/relationships/image" Target="../media/image1810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10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.png"/><Relationship Id="rId11" Type="http://schemas.openxmlformats.org/officeDocument/2006/relationships/image" Target="../media/image40.png"/><Relationship Id="rId10" Type="http://schemas.openxmlformats.org/officeDocument/2006/relationships/image" Target="../media/image901.png"/><Relationship Id="rId4" Type="http://schemas.openxmlformats.org/officeDocument/2006/relationships/image" Target="../media/image18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910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.png"/><Relationship Id="rId10" Type="http://schemas.openxmlformats.org/officeDocument/2006/relationships/image" Target="../media/image901.png"/><Relationship Id="rId4" Type="http://schemas.openxmlformats.org/officeDocument/2006/relationships/image" Target="../media/image18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0.png"/><Relationship Id="rId3" Type="http://schemas.openxmlformats.org/officeDocument/2006/relationships/image" Target="../media/image2500.png"/><Relationship Id="rId7" Type="http://schemas.openxmlformats.org/officeDocument/2006/relationships/image" Target="../media/image600.png"/><Relationship Id="rId2" Type="http://schemas.openxmlformats.org/officeDocument/2006/relationships/image" Target="../media/image11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11" Type="http://schemas.openxmlformats.org/officeDocument/2006/relationships/image" Target="../media/image10000.png"/><Relationship Id="rId5" Type="http://schemas.openxmlformats.org/officeDocument/2006/relationships/image" Target="../media/image4000.png"/><Relationship Id="rId10" Type="http://schemas.openxmlformats.org/officeDocument/2006/relationships/image" Target="../media/image9000.png"/><Relationship Id="rId4" Type="http://schemas.openxmlformats.org/officeDocument/2006/relationships/image" Target="../media/image3000.png"/><Relationship Id="rId9" Type="http://schemas.openxmlformats.org/officeDocument/2006/relationships/image" Target="../media/image800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0.png"/><Relationship Id="rId13" Type="http://schemas.openxmlformats.org/officeDocument/2006/relationships/image" Target="../media/image35.png"/><Relationship Id="rId3" Type="http://schemas.openxmlformats.org/officeDocument/2006/relationships/image" Target="../media/image1201.png"/><Relationship Id="rId7" Type="http://schemas.openxmlformats.org/officeDocument/2006/relationships/image" Target="../media/image600.png"/><Relationship Id="rId12" Type="http://schemas.openxmlformats.org/officeDocument/2006/relationships/image" Target="../media/image13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1.png"/><Relationship Id="rId11" Type="http://schemas.openxmlformats.org/officeDocument/2006/relationships/image" Target="../media/image10000.png"/><Relationship Id="rId5" Type="http://schemas.openxmlformats.org/officeDocument/2006/relationships/image" Target="../media/image1400.png"/><Relationship Id="rId10" Type="http://schemas.openxmlformats.org/officeDocument/2006/relationships/image" Target="../media/image9000.png"/><Relationship Id="rId4" Type="http://schemas.openxmlformats.org/officeDocument/2006/relationships/image" Target="../media/image1300.png"/><Relationship Id="rId9" Type="http://schemas.openxmlformats.org/officeDocument/2006/relationships/image" Target="../media/image80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0.png"/><Relationship Id="rId13" Type="http://schemas.openxmlformats.org/officeDocument/2006/relationships/image" Target="../media/image35.png"/><Relationship Id="rId3" Type="http://schemas.openxmlformats.org/officeDocument/2006/relationships/image" Target="../media/image1201.png"/><Relationship Id="rId7" Type="http://schemas.openxmlformats.org/officeDocument/2006/relationships/image" Target="../media/image1800.png"/><Relationship Id="rId12" Type="http://schemas.openxmlformats.org/officeDocument/2006/relationships/image" Target="../media/image13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1.png"/><Relationship Id="rId11" Type="http://schemas.openxmlformats.org/officeDocument/2006/relationships/image" Target="../media/image220.png"/><Relationship Id="rId5" Type="http://schemas.openxmlformats.org/officeDocument/2006/relationships/image" Target="../media/image1400.png"/><Relationship Id="rId10" Type="http://schemas.openxmlformats.org/officeDocument/2006/relationships/image" Target="../media/image2100.png"/><Relationship Id="rId4" Type="http://schemas.openxmlformats.org/officeDocument/2006/relationships/image" Target="../media/image1300.png"/><Relationship Id="rId9" Type="http://schemas.openxmlformats.org/officeDocument/2006/relationships/image" Target="../media/image2000.png"/><Relationship Id="rId1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0.png"/><Relationship Id="rId13" Type="http://schemas.openxmlformats.org/officeDocument/2006/relationships/image" Target="../media/image35.png"/><Relationship Id="rId3" Type="http://schemas.openxmlformats.org/officeDocument/2006/relationships/image" Target="../media/image1201.png"/><Relationship Id="rId7" Type="http://schemas.openxmlformats.org/officeDocument/2006/relationships/image" Target="../media/image1800.png"/><Relationship Id="rId12" Type="http://schemas.openxmlformats.org/officeDocument/2006/relationships/image" Target="../media/image13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1.png"/><Relationship Id="rId11" Type="http://schemas.openxmlformats.org/officeDocument/2006/relationships/image" Target="../media/image220.png"/><Relationship Id="rId5" Type="http://schemas.openxmlformats.org/officeDocument/2006/relationships/image" Target="../media/image1400.png"/><Relationship Id="rId10" Type="http://schemas.openxmlformats.org/officeDocument/2006/relationships/image" Target="../media/image2100.png"/><Relationship Id="rId4" Type="http://schemas.openxmlformats.org/officeDocument/2006/relationships/image" Target="../media/image1300.png"/><Relationship Id="rId9" Type="http://schemas.openxmlformats.org/officeDocument/2006/relationships/image" Target="../media/image2000.png"/><Relationship Id="rId1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0.png"/><Relationship Id="rId3" Type="http://schemas.openxmlformats.org/officeDocument/2006/relationships/image" Target="../media/image2500.png"/><Relationship Id="rId7" Type="http://schemas.openxmlformats.org/officeDocument/2006/relationships/image" Target="../media/image600.png"/><Relationship Id="rId2" Type="http://schemas.openxmlformats.org/officeDocument/2006/relationships/image" Target="../media/image11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11" Type="http://schemas.openxmlformats.org/officeDocument/2006/relationships/image" Target="../media/image10000.png"/><Relationship Id="rId5" Type="http://schemas.openxmlformats.org/officeDocument/2006/relationships/image" Target="../media/image4000.png"/><Relationship Id="rId10" Type="http://schemas.openxmlformats.org/officeDocument/2006/relationships/image" Target="../media/image9000.png"/><Relationship Id="rId4" Type="http://schemas.openxmlformats.org/officeDocument/2006/relationships/image" Target="../media/image3000.png"/><Relationship Id="rId9" Type="http://schemas.openxmlformats.org/officeDocument/2006/relationships/image" Target="../media/image800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110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19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9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7" Type="http://schemas.openxmlformats.org/officeDocument/2006/relationships/image" Target="../media/image10010.png"/><Relationship Id="rId2" Type="http://schemas.openxmlformats.org/officeDocument/2006/relationships/image" Target="../media/image6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8010.png"/><Relationship Id="rId4" Type="http://schemas.openxmlformats.org/officeDocument/2006/relationships/image" Target="../media/image70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71.png"/><Relationship Id="rId7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8010.png"/><Relationship Id="rId15" Type="http://schemas.openxmlformats.org/officeDocument/2006/relationships/image" Target="../media/image121.png"/><Relationship Id="rId4" Type="http://schemas.openxmlformats.org/officeDocument/2006/relationships/image" Target="../media/image420.png"/><Relationship Id="rId9" Type="http://schemas.openxmlformats.org/officeDocument/2006/relationships/image" Target="../media/image1500.png"/><Relationship Id="rId14" Type="http://schemas.openxmlformats.org/officeDocument/2006/relationships/image" Target="../media/image100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0086" y="4499848"/>
            <a:ext cx="65532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>
                <a:solidFill>
                  <a:srgbClr val="C00000"/>
                </a:solidFill>
              </a:rPr>
              <a:t>Lecture 6 </a:t>
            </a:r>
            <a:endParaRPr lang="en-US" sz="1600" b="1" dirty="0">
              <a:solidFill>
                <a:srgbClr val="7030A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>
                <a:solidFill>
                  <a:srgbClr val="7030A0"/>
                </a:solidFill>
              </a:rPr>
              <a:t>Stable Matching </a:t>
            </a:r>
            <a:r>
              <a:rPr lang="en-US" sz="1600" b="1" dirty="0">
                <a:solidFill>
                  <a:schemeClr val="tx1"/>
                </a:solidFill>
              </a:rPr>
              <a:t>Algorithm and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62400" y="3077230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40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719262"/>
            <a:ext cx="7772400" cy="1470025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Recap from the last Lecture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167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1CA-C336-F044-A9A3-2225FC42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is a polynomial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’s unknown.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Given:</a:t>
                </a:r>
                <a:r>
                  <a:rPr lang="en-US" sz="2000" dirty="0"/>
                  <a:t>  the following (point, value) representation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2000" dirty="0"/>
                  <a:t>: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’s 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A9F43-67E5-8347-B6CB-CA4DB27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AC015E-6F0E-8C42-80F6-7FF9EAAAE279}"/>
                  </a:ext>
                </a:extLst>
              </p:cNvPr>
              <p:cNvSpPr txBox="1"/>
              <p:nvPr/>
            </p:nvSpPr>
            <p:spPr>
              <a:xfrm>
                <a:off x="1752600" y="4038600"/>
                <a:ext cx="6324600" cy="5091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sz="2400" i="1">
                            <a:latin typeface="Cambria Math"/>
                          </a:rPr>
                          <m:t>, </m:t>
                        </m:r>
                        <m:r>
                          <a:rPr lang="en-US" sz="2400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</a:rPr>
                      <m:t>,</m:t>
                    </m:r>
                    <m:d>
                      <m:d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/>
                          </a:rPr>
                          <m:t>, </m:t>
                        </m:r>
                        <m:r>
                          <a:rPr lang="en-US" sz="2400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</a:rPr>
                      <m:t>…,(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400" i="1">
                        <a:latin typeface="Cambria Math"/>
                      </a:rPr>
                      <m:t>, </m:t>
                    </m:r>
                    <m:r>
                      <a:rPr lang="en-US" sz="2400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AC015E-6F0E-8C42-80F6-7FF9EAAAE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038600"/>
                <a:ext cx="6324600" cy="509178"/>
              </a:xfrm>
              <a:prstGeom prst="rect">
                <a:avLst/>
              </a:prstGeom>
              <a:blipFill>
                <a:blip r:embed="rId3"/>
                <a:stretch>
                  <a:fillRect l="-1400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78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00A7-3736-E84E-9DB3-BF5C52F5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8756-E7CD-D94D-9E9F-C7517DB1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C9C0E8-5D6A-2F4E-8790-3FDD62DA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74FFDF87-9503-85DB-D58F-2987053979ED}"/>
              </a:ext>
            </a:extLst>
          </p:cNvPr>
          <p:cNvSpPr/>
          <p:nvPr/>
        </p:nvSpPr>
        <p:spPr>
          <a:xfrm>
            <a:off x="0" y="1568216"/>
            <a:ext cx="9372600" cy="2286000"/>
          </a:xfrm>
          <a:prstGeom prst="irregularSeal1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Polynomial Interpolation </a:t>
            </a:r>
            <a:r>
              <a:rPr lang="en-US" sz="2400" b="1" dirty="0">
                <a:solidFill>
                  <a:schemeClr val="tx1"/>
                </a:solidFill>
              </a:rPr>
              <a:t>= </a:t>
            </a:r>
            <a:r>
              <a:rPr lang="en-US" dirty="0">
                <a:solidFill>
                  <a:schemeClr val="tx1"/>
                </a:solidFill>
              </a:rPr>
              <a:t>Polynomial evaluation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Cloud Callout 4">
            <a:extLst>
              <a:ext uri="{FF2B5EF4-FFF2-40B4-BE49-F238E27FC236}">
                <a16:creationId xmlns:a16="http://schemas.microsoft.com/office/drawing/2014/main" id="{62B9C0D6-4631-96A4-1DDC-B90A596AA324}"/>
              </a:ext>
            </a:extLst>
          </p:cNvPr>
          <p:cNvSpPr/>
          <p:nvPr/>
        </p:nvSpPr>
        <p:spPr>
          <a:xfrm>
            <a:off x="916641" y="4205055"/>
            <a:ext cx="7310718" cy="1774405"/>
          </a:xfrm>
          <a:prstGeom prst="cloudCallout">
            <a:avLst>
              <a:gd name="adj1" fmla="val -24125"/>
              <a:gd name="adj2" fmla="val 666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guess the polynomial whose evaluation will help solve polynomial interpolation ?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Make an obvious guess. </a:t>
            </a:r>
          </a:p>
        </p:txBody>
      </p:sp>
    </p:spTree>
    <p:extLst>
      <p:ext uri="{BB962C8B-B14F-4D97-AF65-F5344CB8AC3E}">
        <p14:creationId xmlns:p14="http://schemas.microsoft.com/office/powerpoint/2010/main" val="171156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121A-2F32-178A-DF37-B20EB8D4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2FD9-81DE-21C3-8687-52CAA12E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F026A-4721-CDBB-A8D6-DD4D322D3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Solution</a:t>
                </a:r>
                <a:r>
                  <a:rPr lang="en-US" sz="2400" dirty="0"/>
                  <a:t>: </a:t>
                </a:r>
              </a:p>
              <a:p>
                <a:pPr marL="0" indent="0">
                  <a:buNone/>
                </a:pPr>
                <a:r>
                  <a:rPr lang="en-US" sz="2400" dirty="0"/>
                  <a:t>Define a polynomial 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+ …+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…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Evaluate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b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  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F026A-4721-CDBB-A8D6-DD4D322D3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  <a:blipFill>
                <a:blip r:embed="rId2"/>
                <a:stretch>
                  <a:fillRect l="-1053" t="-979" r="-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9E1E5-A076-E0A5-FDEB-5A1D9A14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234840-FA98-F0EA-5B78-2644CEC029F9}"/>
              </a:ext>
            </a:extLst>
          </p:cNvPr>
          <p:cNvSpPr/>
          <p:nvPr/>
        </p:nvSpPr>
        <p:spPr>
          <a:xfrm>
            <a:off x="6324600" y="2895600"/>
            <a:ext cx="2895600" cy="6095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DEA1F-BE2A-076D-C491-E689CD03EE21}"/>
              </a:ext>
            </a:extLst>
          </p:cNvPr>
          <p:cNvSpPr txBox="1"/>
          <p:nvPr/>
        </p:nvSpPr>
        <p:spPr>
          <a:xfrm>
            <a:off x="1905000" y="5715000"/>
            <a:ext cx="168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C31"/>
                </a:solidFill>
              </a:rPr>
              <a:t>Homework:</a:t>
            </a:r>
            <a:endParaRPr lang="en-IN" sz="2400" b="1" dirty="0">
              <a:solidFill>
                <a:srgbClr val="006C3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B0331-9951-FE97-E0B5-B5BD69B050DC}"/>
              </a:ext>
            </a:extLst>
          </p:cNvPr>
          <p:cNvSpPr/>
          <p:nvPr/>
        </p:nvSpPr>
        <p:spPr>
          <a:xfrm>
            <a:off x="1905000" y="3888432"/>
            <a:ext cx="1752600" cy="4066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loud Callout 4">
                <a:extLst>
                  <a:ext uri="{FF2B5EF4-FFF2-40B4-BE49-F238E27FC236}">
                    <a16:creationId xmlns:a16="http://schemas.microsoft.com/office/drawing/2014/main" id="{B6327F2B-021A-4670-FCD4-4D0AC2C074EB}"/>
                  </a:ext>
                </a:extLst>
              </p:cNvPr>
              <p:cNvSpPr/>
              <p:nvPr/>
            </p:nvSpPr>
            <p:spPr>
              <a:xfrm>
                <a:off x="2209800" y="5456005"/>
                <a:ext cx="5636559" cy="900345"/>
              </a:xfrm>
              <a:prstGeom prst="cloudCallout">
                <a:avLst>
                  <a:gd name="adj1" fmla="val -24125"/>
                  <a:gd name="adj2" fmla="val 6662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you guess what is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Cloud Callout 4">
                <a:extLst>
                  <a:ext uri="{FF2B5EF4-FFF2-40B4-BE49-F238E27FC236}">
                    <a16:creationId xmlns:a16="http://schemas.microsoft.com/office/drawing/2014/main" id="{B6327F2B-021A-4670-FCD4-4D0AC2C07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456005"/>
                <a:ext cx="5636559" cy="900345"/>
              </a:xfrm>
              <a:prstGeom prst="cloudCallout">
                <a:avLst>
                  <a:gd name="adj1" fmla="val -24125"/>
                  <a:gd name="adj2" fmla="val 66628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5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5" grpId="0"/>
      <p:bldP spid="7" grpId="0" animBg="1"/>
      <p:bldP spid="6" grpId="0" animBg="1"/>
      <p:bldP spid="6" grpId="1" uiExpand="1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DD21-8B5F-D2EB-084B-A91AC023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B21EA-3D59-9C18-CBD3-B46637E8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 was very </a:t>
            </a:r>
            <a:r>
              <a:rPr lang="en-US" sz="2000" u="sng" dirty="0"/>
              <a:t>disheartening</a:t>
            </a:r>
            <a:r>
              <a:rPr lang="en-US" sz="2000" dirty="0"/>
              <a:t> to see that only a handful of students attempted the homework.</a:t>
            </a:r>
          </a:p>
          <a:p>
            <a:endParaRPr lang="en-US" sz="2000" dirty="0"/>
          </a:p>
          <a:p>
            <a:r>
              <a:rPr lang="en-US" sz="2000" dirty="0"/>
              <a:t>Please </a:t>
            </a:r>
            <a:r>
              <a:rPr lang="en-US" sz="2000" u="sng" dirty="0"/>
              <a:t>attempt</a:t>
            </a:r>
            <a:r>
              <a:rPr lang="en-US" sz="2000" dirty="0"/>
              <a:t> each homework sincerely. It is for your own benefit.</a:t>
            </a:r>
          </a:p>
          <a:p>
            <a:endParaRPr lang="en-US" sz="2000" dirty="0"/>
          </a:p>
          <a:p>
            <a:r>
              <a:rPr lang="en-US" sz="2000" dirty="0"/>
              <a:t>If you are not able to do the homework, you may send email to the instructor 1 day in advance for a short meeting (avoid holidays and week-ends). 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CF474-57DD-D453-BF34-09CCEB30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9FABF1BD-4248-5E1C-203E-49B7456E3BD5}"/>
              </a:ext>
            </a:extLst>
          </p:cNvPr>
          <p:cNvSpPr/>
          <p:nvPr/>
        </p:nvSpPr>
        <p:spPr>
          <a:xfrm>
            <a:off x="3886200" y="1219200"/>
            <a:ext cx="914400" cy="914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8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A00A7-3736-E84E-9DB3-BF5C52F50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,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,…,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 :                                      =  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Otherwise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A00A7-3736-E84E-9DB3-BF5C52F50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8756-E7CD-D94D-9E9F-C7517DB1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C9C0E8-5D6A-2F4E-8790-3FDD62DA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 Tool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004DE6-59EE-5AAA-D66C-C0D1190B8927}"/>
                  </a:ext>
                </a:extLst>
              </p:cNvPr>
              <p:cNvSpPr txBox="1"/>
              <p:nvPr/>
            </p:nvSpPr>
            <p:spPr>
              <a:xfrm>
                <a:off x="2968535" y="2937941"/>
                <a:ext cx="1300612" cy="795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800" i="1">
                              <a:latin typeface="Cambria Math"/>
                            </a:rPr>
                            <m:t>0</m:t>
                          </m:r>
                          <m:r>
                            <a:rPr lang="en-US" sz="1800" i="1">
                              <a:latin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/>
                            </a:rPr>
                            <m:t>&lt;</m:t>
                          </m:r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004DE6-59EE-5AAA-D66C-C0D1190B8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535" y="2937941"/>
                <a:ext cx="1300612" cy="7958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895181-26CF-5FEB-C5DD-F6B583056C19}"/>
                  </a:ext>
                </a:extLst>
              </p:cNvPr>
              <p:cNvSpPr txBox="1"/>
              <p:nvPr/>
            </p:nvSpPr>
            <p:spPr>
              <a:xfrm>
                <a:off x="2362200" y="1962090"/>
                <a:ext cx="6470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895181-26CF-5FEB-C5DD-F6B583056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962090"/>
                <a:ext cx="647037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23295D-0D52-8778-0ABC-604018CB96AC}"/>
                  </a:ext>
                </a:extLst>
              </p:cNvPr>
              <p:cNvSpPr txBox="1"/>
              <p:nvPr/>
            </p:nvSpPr>
            <p:spPr>
              <a:xfrm>
                <a:off x="4724400" y="2810470"/>
                <a:ext cx="685800" cy="92333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23295D-0D52-8778-0ABC-604018CB9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810470"/>
                <a:ext cx="685800" cy="923330"/>
              </a:xfrm>
              <a:prstGeom prst="rect">
                <a:avLst/>
              </a:prstGeom>
              <a:blipFill>
                <a:blip r:embed="rId5"/>
                <a:stretch>
                  <a:fillRect l="-5455"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3AAF0-4006-04B7-26D3-E8BD81E210FC}"/>
                  </a:ext>
                </a:extLst>
              </p:cNvPr>
              <p:cNvSpPr txBox="1"/>
              <p:nvPr/>
            </p:nvSpPr>
            <p:spPr>
              <a:xfrm>
                <a:off x="4757880" y="3001232"/>
                <a:ext cx="971676" cy="69923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3AAF0-4006-04B7-26D3-E8BD81E2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880" y="3001232"/>
                <a:ext cx="971676" cy="699230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B9646AF-0132-3C58-4365-B6F193913139}"/>
              </a:ext>
            </a:extLst>
          </p:cNvPr>
          <p:cNvSpPr txBox="1"/>
          <p:nvPr/>
        </p:nvSpPr>
        <p:spPr>
          <a:xfrm>
            <a:off x="4874855" y="2823917"/>
            <a:ext cx="828738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70C0"/>
                </a:solidFill>
              </a:rPr>
              <a:t>0 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2FFE0E-D58A-F8AF-5D70-2A4B7D169AA7}"/>
              </a:ext>
            </a:extLst>
          </p:cNvPr>
          <p:cNvSpPr/>
          <p:nvPr/>
        </p:nvSpPr>
        <p:spPr>
          <a:xfrm>
            <a:off x="5172138" y="3001232"/>
            <a:ext cx="557418" cy="37202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llout: Line 6">
                <a:extLst>
                  <a:ext uri="{FF2B5EF4-FFF2-40B4-BE49-F238E27FC236}">
                    <a16:creationId xmlns:a16="http://schemas.microsoft.com/office/drawing/2014/main" id="{123DFDED-EC97-2FC0-FEED-E56F1865A810}"/>
                  </a:ext>
                </a:extLst>
              </p:cNvPr>
              <p:cNvSpPr/>
              <p:nvPr/>
            </p:nvSpPr>
            <p:spPr>
              <a:xfrm>
                <a:off x="6729618" y="2433408"/>
                <a:ext cx="914400" cy="612648"/>
              </a:xfrm>
              <a:prstGeom prst="borderCallout1">
                <a:avLst>
                  <a:gd name="adj1" fmla="val 53869"/>
                  <a:gd name="adj2" fmla="val 490"/>
                  <a:gd name="adj3" fmla="val 102257"/>
                  <a:gd name="adj4" fmla="val -121666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Callout: Line 6">
                <a:extLst>
                  <a:ext uri="{FF2B5EF4-FFF2-40B4-BE49-F238E27FC236}">
                    <a16:creationId xmlns:a16="http://schemas.microsoft.com/office/drawing/2014/main" id="{123DFDED-EC97-2FC0-FEED-E56F1865A8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18" y="2433408"/>
                <a:ext cx="914400" cy="612648"/>
              </a:xfrm>
              <a:prstGeom prst="borderCallout1">
                <a:avLst>
                  <a:gd name="adj1" fmla="val 53869"/>
                  <a:gd name="adj2" fmla="val 490"/>
                  <a:gd name="adj3" fmla="val 102257"/>
                  <a:gd name="adj4" fmla="val -121666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77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10" grpId="0"/>
      <p:bldP spid="12" grpId="0" animBg="1"/>
      <p:bldP spid="12" grpId="1" animBg="1"/>
      <p:bldP spid="8" grpId="0" animBg="1"/>
      <p:bldP spid="9" grpId="0" animBg="1"/>
      <p:bldP spid="5" grpId="0" animBg="1"/>
      <p:bldP spid="5" grpId="1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1CA-C336-F044-A9A3-2225FC42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Solution</a:t>
                </a:r>
                <a:r>
                  <a:rPr lang="en-US" sz="2400" dirty="0"/>
                  <a:t>: </a:t>
                </a:r>
              </a:p>
              <a:p>
                <a:pPr marL="0" indent="0">
                  <a:buNone/>
                </a:pPr>
                <a:r>
                  <a:rPr lang="en-US" sz="2400" dirty="0"/>
                  <a:t>Define a polynomial 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bSup>
                    <m:r>
                      <a:rPr lang="en-US" sz="2400" i="1">
                        <a:latin typeface="Cambria Math"/>
                      </a:rPr>
                      <m:t>+ 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…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  <a:blipFill>
                <a:blip r:embed="rId2"/>
                <a:stretch>
                  <a:fillRect l="-1170" t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A9F43-67E5-8347-B6CB-CA4DB27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5E743A-3B7C-7381-B547-231D8F965A3F}"/>
                  </a:ext>
                </a:extLst>
              </p:cNvPr>
              <p:cNvSpPr txBox="1"/>
              <p:nvPr/>
            </p:nvSpPr>
            <p:spPr>
              <a:xfrm>
                <a:off x="3657600" y="1828800"/>
                <a:ext cx="1555362" cy="7655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5E743A-3B7C-7381-B547-231D8F965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828800"/>
                <a:ext cx="1555362" cy="765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85470D-6723-4369-B0D4-2418189819DE}"/>
              </a:ext>
            </a:extLst>
          </p:cNvPr>
          <p:cNvCxnSpPr>
            <a:cxnSpLocks/>
          </p:cNvCxnSpPr>
          <p:nvPr/>
        </p:nvCxnSpPr>
        <p:spPr>
          <a:xfrm>
            <a:off x="4572000" y="2594331"/>
            <a:ext cx="0" cy="4536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9A10C7-2BD9-35B7-E2C4-3144133E97E6}"/>
                  </a:ext>
                </a:extLst>
              </p:cNvPr>
              <p:cNvSpPr txBox="1"/>
              <p:nvPr/>
            </p:nvSpPr>
            <p:spPr>
              <a:xfrm>
                <a:off x="4079409" y="2183169"/>
                <a:ext cx="944746" cy="473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𝑪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9A10C7-2BD9-35B7-E2C4-3144133E9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409" y="2183169"/>
                <a:ext cx="944746" cy="4730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291A01-51ED-15A2-B932-A1228861FC35}"/>
              </a:ext>
            </a:extLst>
          </p:cNvPr>
          <p:cNvCxnSpPr>
            <a:cxnSpLocks/>
          </p:cNvCxnSpPr>
          <p:nvPr/>
        </p:nvCxnSpPr>
        <p:spPr>
          <a:xfrm>
            <a:off x="4876800" y="3657600"/>
            <a:ext cx="0" cy="1676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955542-4BB1-13C0-60B0-3A0E3B9C2A20}"/>
              </a:ext>
            </a:extLst>
          </p:cNvPr>
          <p:cNvCxnSpPr>
            <a:cxnSpLocks/>
          </p:cNvCxnSpPr>
          <p:nvPr/>
        </p:nvCxnSpPr>
        <p:spPr>
          <a:xfrm>
            <a:off x="4397115" y="3521439"/>
            <a:ext cx="10892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E086CF-EB84-CD06-2C75-90617280069A}"/>
                  </a:ext>
                </a:extLst>
              </p:cNvPr>
              <p:cNvSpPr txBox="1"/>
              <p:nvPr/>
            </p:nvSpPr>
            <p:spPr>
              <a:xfrm>
                <a:off x="3604247" y="5351792"/>
                <a:ext cx="2354747" cy="629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E086CF-EB84-CD06-2C75-906172800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247" y="5351792"/>
                <a:ext cx="2354747" cy="6298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01C8B4-FC7E-2E10-1B17-A9E179DCFBC7}"/>
                  </a:ext>
                </a:extLst>
              </p:cNvPr>
              <p:cNvSpPr txBox="1"/>
              <p:nvPr/>
            </p:nvSpPr>
            <p:spPr>
              <a:xfrm>
                <a:off x="2277249" y="4346653"/>
                <a:ext cx="5493812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Focus on only those terms that involve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01C8B4-FC7E-2E10-1B17-A9E179DCF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249" y="4346653"/>
                <a:ext cx="5493812" cy="461665"/>
              </a:xfrm>
              <a:prstGeom prst="rect">
                <a:avLst/>
              </a:prstGeom>
              <a:blipFill>
                <a:blip r:embed="rId6"/>
                <a:stretch>
                  <a:fillRect l="-1661" t="-8974" b="-26923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loud Callout 4">
                <a:extLst>
                  <a:ext uri="{FF2B5EF4-FFF2-40B4-BE49-F238E27FC236}">
                    <a16:creationId xmlns:a16="http://schemas.microsoft.com/office/drawing/2014/main" id="{704923C6-CA2B-130C-04F2-3522522233F2}"/>
                  </a:ext>
                </a:extLst>
              </p:cNvPr>
              <p:cNvSpPr/>
              <p:nvPr/>
            </p:nvSpPr>
            <p:spPr>
              <a:xfrm>
                <a:off x="2209800" y="5456005"/>
                <a:ext cx="5636559" cy="900345"/>
              </a:xfrm>
              <a:prstGeom prst="cloudCallout">
                <a:avLst>
                  <a:gd name="adj1" fmla="val -24125"/>
                  <a:gd name="adj2" fmla="val 6662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This expression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terms.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It looks too complex.</a:t>
                </a:r>
              </a:p>
            </p:txBody>
          </p:sp>
        </mc:Choice>
        <mc:Fallback xmlns="">
          <p:sp>
            <p:nvSpPr>
              <p:cNvPr id="8" name="Cloud Callout 4">
                <a:extLst>
                  <a:ext uri="{FF2B5EF4-FFF2-40B4-BE49-F238E27FC236}">
                    <a16:creationId xmlns:a16="http://schemas.microsoft.com/office/drawing/2014/main" id="{704923C6-CA2B-130C-04F2-352252223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456005"/>
                <a:ext cx="5636559" cy="900345"/>
              </a:xfrm>
              <a:prstGeom prst="cloudCallout">
                <a:avLst>
                  <a:gd name="adj1" fmla="val -24125"/>
                  <a:gd name="adj2" fmla="val 66628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77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8" grpId="0"/>
      <p:bldP spid="29" grpId="0" animBg="1"/>
      <p:bldP spid="8" grpId="0" animBg="1"/>
      <p:bldP spid="8" grpId="1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1CA-C336-F044-A9A3-2225FC42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Solution</a:t>
                </a:r>
                <a:r>
                  <a:rPr lang="en-US" sz="2400" dirty="0"/>
                  <a:t>: </a:t>
                </a:r>
              </a:p>
              <a:p>
                <a:pPr marL="0" indent="0">
                  <a:buNone/>
                </a:pPr>
                <a:r>
                  <a:rPr lang="en-US" sz="2400" dirty="0"/>
                  <a:t>Define a polynomial 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bSup>
                    <m:r>
                      <a:rPr lang="en-US" sz="2400" i="1">
                        <a:latin typeface="Cambria Math"/>
                      </a:rPr>
                      <m:t>+ 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…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  <a:blipFill>
                <a:blip r:embed="rId2"/>
                <a:stretch>
                  <a:fillRect l="-1170" t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A9F43-67E5-8347-B6CB-CA4DB27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5E743A-3B7C-7381-B547-231D8F965A3F}"/>
                  </a:ext>
                </a:extLst>
              </p:cNvPr>
              <p:cNvSpPr txBox="1"/>
              <p:nvPr/>
            </p:nvSpPr>
            <p:spPr>
              <a:xfrm>
                <a:off x="3662645" y="1828800"/>
                <a:ext cx="1555362" cy="7655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5E743A-3B7C-7381-B547-231D8F965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45" y="1828800"/>
                <a:ext cx="1555362" cy="765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5BC349-C9D6-5A1B-2D95-9549994C75E6}"/>
              </a:ext>
            </a:extLst>
          </p:cNvPr>
          <p:cNvCxnSpPr>
            <a:cxnSpLocks/>
          </p:cNvCxnSpPr>
          <p:nvPr/>
        </p:nvCxnSpPr>
        <p:spPr>
          <a:xfrm>
            <a:off x="1905000" y="3657600"/>
            <a:ext cx="0" cy="1676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9E9360-C18A-503E-20A0-C9407DF3CB47}"/>
              </a:ext>
            </a:extLst>
          </p:cNvPr>
          <p:cNvCxnSpPr>
            <a:cxnSpLocks/>
          </p:cNvCxnSpPr>
          <p:nvPr/>
        </p:nvCxnSpPr>
        <p:spPr>
          <a:xfrm>
            <a:off x="2819400" y="3657600"/>
            <a:ext cx="0" cy="1676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291A01-51ED-15A2-B932-A1228861FC35}"/>
              </a:ext>
            </a:extLst>
          </p:cNvPr>
          <p:cNvCxnSpPr>
            <a:cxnSpLocks/>
          </p:cNvCxnSpPr>
          <p:nvPr/>
        </p:nvCxnSpPr>
        <p:spPr>
          <a:xfrm>
            <a:off x="4876800" y="3657600"/>
            <a:ext cx="0" cy="1676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1FCBAD-772C-B8F2-5ED7-FB186DDF14A8}"/>
              </a:ext>
            </a:extLst>
          </p:cNvPr>
          <p:cNvSpPr txBox="1"/>
          <p:nvPr/>
        </p:nvSpPr>
        <p:spPr>
          <a:xfrm>
            <a:off x="228600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A1A724-805A-012A-2B9D-7FB4DD174AF0}"/>
              </a:ext>
            </a:extLst>
          </p:cNvPr>
          <p:cNvCxnSpPr>
            <a:cxnSpLocks/>
          </p:cNvCxnSpPr>
          <p:nvPr/>
        </p:nvCxnSpPr>
        <p:spPr>
          <a:xfrm>
            <a:off x="1676400" y="3505200"/>
            <a:ext cx="457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44EACE-077C-DC30-AA26-EBC622FDA2D7}"/>
              </a:ext>
            </a:extLst>
          </p:cNvPr>
          <p:cNvCxnSpPr>
            <a:cxnSpLocks/>
          </p:cNvCxnSpPr>
          <p:nvPr/>
        </p:nvCxnSpPr>
        <p:spPr>
          <a:xfrm>
            <a:off x="2438400" y="3506449"/>
            <a:ext cx="91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955542-4BB1-13C0-60B0-3A0E3B9C2A20}"/>
              </a:ext>
            </a:extLst>
          </p:cNvPr>
          <p:cNvCxnSpPr>
            <a:cxnSpLocks/>
          </p:cNvCxnSpPr>
          <p:nvPr/>
        </p:nvCxnSpPr>
        <p:spPr>
          <a:xfrm>
            <a:off x="4397115" y="3521439"/>
            <a:ext cx="10892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CD0F1C-3348-0251-FB90-96A08BB762FA}"/>
              </a:ext>
            </a:extLst>
          </p:cNvPr>
          <p:cNvCxnSpPr>
            <a:cxnSpLocks/>
          </p:cNvCxnSpPr>
          <p:nvPr/>
        </p:nvCxnSpPr>
        <p:spPr>
          <a:xfrm>
            <a:off x="6400800" y="3521439"/>
            <a:ext cx="1905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F60B0E-B33F-21E0-F42F-B855E5350A42}"/>
              </a:ext>
            </a:extLst>
          </p:cNvPr>
          <p:cNvCxnSpPr>
            <a:cxnSpLocks/>
          </p:cNvCxnSpPr>
          <p:nvPr/>
        </p:nvCxnSpPr>
        <p:spPr>
          <a:xfrm>
            <a:off x="7353300" y="3659565"/>
            <a:ext cx="0" cy="1676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E086CF-EB84-CD06-2C75-90617280069A}"/>
                  </a:ext>
                </a:extLst>
              </p:cNvPr>
              <p:cNvSpPr txBox="1"/>
              <p:nvPr/>
            </p:nvSpPr>
            <p:spPr>
              <a:xfrm>
                <a:off x="3957250" y="5351792"/>
                <a:ext cx="1618328" cy="595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E086CF-EB84-CD06-2C75-906172800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250" y="5351792"/>
                <a:ext cx="1618328" cy="595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66A0C2-0ED6-4702-8732-A57D612F5D68}"/>
                  </a:ext>
                </a:extLst>
              </p:cNvPr>
              <p:cNvSpPr txBox="1"/>
              <p:nvPr/>
            </p:nvSpPr>
            <p:spPr>
              <a:xfrm>
                <a:off x="2182569" y="5468790"/>
                <a:ext cx="1208471" cy="474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+ℓ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66A0C2-0ED6-4702-8732-A57D612F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569" y="5468790"/>
                <a:ext cx="1208471" cy="474810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6560D9-123D-F24A-F8BE-ED3EB7F118C4}"/>
                  </a:ext>
                </a:extLst>
              </p:cNvPr>
              <p:cNvSpPr txBox="1"/>
              <p:nvPr/>
            </p:nvSpPr>
            <p:spPr>
              <a:xfrm>
                <a:off x="6525156" y="5372325"/>
                <a:ext cx="1940788" cy="581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6560D9-123D-F24A-F8BE-ED3EB7F11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156" y="5372325"/>
                <a:ext cx="1940788" cy="5813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CB9953-C211-C369-0F9B-8FD097445B23}"/>
                  </a:ext>
                </a:extLst>
              </p:cNvPr>
              <p:cNvSpPr txBox="1"/>
              <p:nvPr/>
            </p:nvSpPr>
            <p:spPr>
              <a:xfrm>
                <a:off x="1600200" y="5481935"/>
                <a:ext cx="5427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CB9953-C211-C369-0F9B-8FD097445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481935"/>
                <a:ext cx="542777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1191D3-D9B9-E2F8-D5FD-E35B32925AF0}"/>
                  </a:ext>
                </a:extLst>
              </p:cNvPr>
              <p:cNvSpPr txBox="1"/>
              <p:nvPr/>
            </p:nvSpPr>
            <p:spPr>
              <a:xfrm>
                <a:off x="1984301" y="558187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1191D3-D9B9-E2F8-D5FD-E35B32925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301" y="5581873"/>
                <a:ext cx="4106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336E39-C008-E46E-6D03-72C86AB55BC2}"/>
                  </a:ext>
                </a:extLst>
              </p:cNvPr>
              <p:cNvSpPr txBox="1"/>
              <p:nvPr/>
            </p:nvSpPr>
            <p:spPr>
              <a:xfrm>
                <a:off x="3259815" y="5595415"/>
                <a:ext cx="857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…+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336E39-C008-E46E-6D03-72C86AB55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815" y="5595415"/>
                <a:ext cx="85792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7C270C-F9A8-4006-4A19-A0491CA8F11B}"/>
                  </a:ext>
                </a:extLst>
              </p:cNvPr>
              <p:cNvSpPr txBox="1"/>
              <p:nvPr/>
            </p:nvSpPr>
            <p:spPr>
              <a:xfrm>
                <a:off x="5619073" y="5562600"/>
                <a:ext cx="857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…+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7C270C-F9A8-4006-4A19-A0491CA8F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073" y="5562600"/>
                <a:ext cx="8579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22C2D39-704E-B8BC-FA13-29AB0067BBA8}"/>
              </a:ext>
            </a:extLst>
          </p:cNvPr>
          <p:cNvSpPr txBox="1"/>
          <p:nvPr/>
        </p:nvSpPr>
        <p:spPr>
          <a:xfrm>
            <a:off x="-32854" y="5535706"/>
            <a:ext cx="784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Tool 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F8591CC-D83E-C599-3BF3-D22C575A6C7C}"/>
              </a:ext>
            </a:extLst>
          </p:cNvPr>
          <p:cNvSpPr/>
          <p:nvPr/>
        </p:nvSpPr>
        <p:spPr>
          <a:xfrm rot="5400000">
            <a:off x="4755848" y="2698449"/>
            <a:ext cx="392669" cy="6707234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44468A-6FB4-F555-89A9-DA388EFF86BB}"/>
                  </a:ext>
                </a:extLst>
              </p:cNvPr>
              <p:cNvSpPr txBox="1"/>
              <p:nvPr/>
            </p:nvSpPr>
            <p:spPr>
              <a:xfrm>
                <a:off x="5061599" y="6096000"/>
                <a:ext cx="19049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44468A-6FB4-F555-89A9-DA388EFF8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599" y="6096000"/>
                <a:ext cx="190498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BB4FC9-2043-68BA-6043-CBCAAF526529}"/>
                  </a:ext>
                </a:extLst>
              </p:cNvPr>
              <p:cNvSpPr txBox="1"/>
              <p:nvPr/>
            </p:nvSpPr>
            <p:spPr>
              <a:xfrm>
                <a:off x="5878846" y="6100482"/>
                <a:ext cx="26555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/>
                  <a:t>for</a:t>
                </a:r>
                <a:r>
                  <a:rPr lang="en-US" sz="2000" b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−ℓ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BB4FC9-2043-68BA-6043-CBCAAF526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846" y="6100482"/>
                <a:ext cx="2655554" cy="400110"/>
              </a:xfrm>
              <a:prstGeom prst="rect">
                <a:avLst/>
              </a:prstGeom>
              <a:blipFill>
                <a:blip r:embed="rId12"/>
                <a:stretch>
                  <a:fillRect l="-2294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90DD6-BD00-2A4D-953D-3D17CB0DD85E}"/>
              </a:ext>
            </a:extLst>
          </p:cNvPr>
          <p:cNvCxnSpPr>
            <a:cxnSpLocks/>
          </p:cNvCxnSpPr>
          <p:nvPr/>
        </p:nvCxnSpPr>
        <p:spPr>
          <a:xfrm>
            <a:off x="4572000" y="2594331"/>
            <a:ext cx="0" cy="4536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221ABC-598B-D3AD-67D0-E71E91CC0805}"/>
                  </a:ext>
                </a:extLst>
              </p:cNvPr>
              <p:cNvSpPr txBox="1"/>
              <p:nvPr/>
            </p:nvSpPr>
            <p:spPr>
              <a:xfrm>
                <a:off x="4419600" y="6366456"/>
                <a:ext cx="19049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221ABC-598B-D3AD-67D0-E71E91CC0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6366456"/>
                <a:ext cx="190498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9326C5-33E7-ED05-FE40-64053679CC82}"/>
                  </a:ext>
                </a:extLst>
              </p:cNvPr>
              <p:cNvSpPr txBox="1"/>
              <p:nvPr/>
            </p:nvSpPr>
            <p:spPr>
              <a:xfrm>
                <a:off x="5867400" y="6381690"/>
                <a:ext cx="26555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/>
                  <a:t>for</a:t>
                </a:r>
                <a:r>
                  <a:rPr lang="en-US" sz="2000" b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−ℓ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9326C5-33E7-ED05-FE40-64053679C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6381690"/>
                <a:ext cx="2655554" cy="400110"/>
              </a:xfrm>
              <a:prstGeom prst="rect">
                <a:avLst/>
              </a:prstGeom>
              <a:blipFill>
                <a:blip r:embed="rId14"/>
                <a:stretch>
                  <a:fillRect l="-2529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C302A99-4E62-83F0-0F0D-E62031360ABA}"/>
                  </a:ext>
                </a:extLst>
              </p:cNvPr>
              <p:cNvSpPr txBox="1"/>
              <p:nvPr/>
            </p:nvSpPr>
            <p:spPr>
              <a:xfrm>
                <a:off x="5791200" y="1828800"/>
                <a:ext cx="1773306" cy="7655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C302A99-4E62-83F0-0F0D-E62031360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828800"/>
                <a:ext cx="1773306" cy="7655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1765F5C-659B-E10D-322B-E623DB4A1445}"/>
              </a:ext>
            </a:extLst>
          </p:cNvPr>
          <p:cNvCxnSpPr>
            <a:cxnSpLocks/>
          </p:cNvCxnSpPr>
          <p:nvPr/>
        </p:nvCxnSpPr>
        <p:spPr>
          <a:xfrm>
            <a:off x="6700555" y="2594331"/>
            <a:ext cx="0" cy="4536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E1AFEA-5F79-3AA4-2F3F-1A7CA0ECC71B}"/>
                  </a:ext>
                </a:extLst>
              </p:cNvPr>
              <p:cNvSpPr txBox="1"/>
              <p:nvPr/>
            </p:nvSpPr>
            <p:spPr>
              <a:xfrm>
                <a:off x="533400" y="1828800"/>
                <a:ext cx="1539588" cy="7655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E1AFEA-5F79-3AA4-2F3F-1A7CA0EC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28800"/>
                <a:ext cx="1539588" cy="7655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30D871-0E88-AA10-B788-3A9ED2B7935C}"/>
              </a:ext>
            </a:extLst>
          </p:cNvPr>
          <p:cNvCxnSpPr>
            <a:cxnSpLocks/>
          </p:cNvCxnSpPr>
          <p:nvPr/>
        </p:nvCxnSpPr>
        <p:spPr>
          <a:xfrm>
            <a:off x="1943740" y="2594331"/>
            <a:ext cx="0" cy="4536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1E4E34-FF24-79B2-BC10-06F90E98D923}"/>
                  </a:ext>
                </a:extLst>
              </p:cNvPr>
              <p:cNvSpPr txBox="1"/>
              <p:nvPr/>
            </p:nvSpPr>
            <p:spPr>
              <a:xfrm>
                <a:off x="2277249" y="4346653"/>
                <a:ext cx="5493812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Focus on only those terms that involve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1E4E34-FF24-79B2-BC10-06F90E98D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249" y="4346653"/>
                <a:ext cx="5493812" cy="461665"/>
              </a:xfrm>
              <a:prstGeom prst="rect">
                <a:avLst/>
              </a:prstGeom>
              <a:blipFill>
                <a:blip r:embed="rId17"/>
                <a:stretch>
                  <a:fillRect l="-1774" t="-10390" b="-27273"/>
                </a:stretch>
              </a:blipFill>
              <a:ln w="63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ADC084B-EBB4-5725-44B3-1E9BD82A318A}"/>
                  </a:ext>
                </a:extLst>
              </p:cNvPr>
              <p:cNvSpPr txBox="1"/>
              <p:nvPr/>
            </p:nvSpPr>
            <p:spPr>
              <a:xfrm>
                <a:off x="2101123" y="1824581"/>
                <a:ext cx="1539588" cy="7655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ADC084B-EBB4-5725-44B3-1E9BD82A3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123" y="1824581"/>
                <a:ext cx="1539588" cy="7655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89F618-E623-51FA-70F0-C6849EA00AC6}"/>
              </a:ext>
            </a:extLst>
          </p:cNvPr>
          <p:cNvCxnSpPr>
            <a:cxnSpLocks/>
          </p:cNvCxnSpPr>
          <p:nvPr/>
        </p:nvCxnSpPr>
        <p:spPr>
          <a:xfrm>
            <a:off x="2667000" y="2590800"/>
            <a:ext cx="0" cy="4536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57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3" grpId="0"/>
      <p:bldP spid="18" grpId="0"/>
      <p:bldP spid="21" grpId="0"/>
      <p:bldP spid="22" grpId="0" animBg="1"/>
      <p:bldP spid="24" grpId="0"/>
      <p:bldP spid="26" grpId="0"/>
      <p:bldP spid="19" grpId="0"/>
      <p:bldP spid="29" grpId="0"/>
      <p:bldP spid="30" grpId="0" animBg="1"/>
      <p:bldP spid="32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F712-7C4A-7D46-B033-BE82AFFF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7030A0"/>
                </a:solidFill>
              </a:rPr>
              <a:t>Optional </a:t>
            </a:r>
            <a:r>
              <a:rPr lang="en-US" sz="3600" b="1" dirty="0">
                <a:solidFill>
                  <a:srgbClr val="006C31"/>
                </a:solidFill>
              </a:rPr>
              <a:t>Programming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311E-7202-654B-B212-618B27DC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>
              <a:solidFill>
                <a:srgbClr val="006C31"/>
              </a:solidFill>
            </a:endParaRPr>
          </a:p>
          <a:p>
            <a:pPr marL="0" indent="0">
              <a:buNone/>
            </a:pPr>
            <a:r>
              <a:rPr lang="en-US" sz="2400" dirty="0"/>
              <a:t>		</a:t>
            </a:r>
          </a:p>
          <a:p>
            <a:pPr marL="0" indent="0" algn="ctr">
              <a:buNone/>
            </a:pPr>
            <a:r>
              <a:rPr lang="en-US" sz="2800" dirty="0"/>
              <a:t>	Implement the algorithm.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01DA2-3E57-0443-8C5D-637DD544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7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40BF-6A0B-1A47-8718-085354CF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908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Real challenge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/>
              <a:t>of multiple merit lists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58856-2A32-BA46-A7C3-602187ED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9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rgbClr val="7030A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7030A0"/>
                </a:solidFill>
              </a:rPr>
              <a:t>Fairness</a:t>
            </a:r>
          </a:p>
        </p:txBody>
      </p:sp>
      <p:graphicFrame>
        <p:nvGraphicFramePr>
          <p:cNvPr id="407" name="Table 407"/>
          <p:cNvGraphicFramePr/>
          <p:nvPr/>
        </p:nvGraphicFramePr>
        <p:xfrm>
          <a:off x="3225800" y="1864878"/>
          <a:ext cx="5633030" cy="480610"/>
        </p:xfrm>
        <a:graphic>
          <a:graphicData uri="http://schemas.openxmlformats.org/drawingml/2006/table">
            <a:tbl>
              <a:tblPr bandRow="1"/>
              <a:tblGrid>
                <a:gridCol w="56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061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 dirty="0"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8" name="Shape 408"/>
          <p:cNvSpPr>
            <a:spLocks noGrp="1"/>
          </p:cNvSpPr>
          <p:nvPr>
            <p:ph type="sldNum" sz="quarter" idx="2"/>
          </p:nvPr>
        </p:nvSpPr>
        <p:spPr>
          <a:xfrm>
            <a:off x="6553200" y="6404292"/>
            <a:ext cx="2133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tIns="0" rIns="45719" bIns="0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IN" smtClean="0"/>
              <a:pPr lvl="0">
                <a:defRPr sz="1800">
                  <a:solidFill>
                    <a:srgbClr val="000000"/>
                  </a:solidFill>
                </a:defRPr>
              </a:pPr>
              <a:t>12</a:t>
            </a:fld>
            <a:endParaRPr sz="1200">
              <a:solidFill>
                <a:srgbClr val="888888"/>
              </a:solidFill>
            </a:endParaRPr>
          </a:p>
        </p:txBody>
      </p:sp>
      <p:pic>
        <p:nvPicPr>
          <p:cNvPr id="409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435100" y="1779432"/>
            <a:ext cx="381000" cy="56284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2" name="Group 412"/>
          <p:cNvGrpSpPr/>
          <p:nvPr/>
        </p:nvGrpSpPr>
        <p:grpSpPr>
          <a:xfrm>
            <a:off x="1527499" y="3035775"/>
            <a:ext cx="304801" cy="533401"/>
            <a:chOff x="0" y="0"/>
            <a:chExt cx="304800" cy="533400"/>
          </a:xfrm>
        </p:grpSpPr>
        <p:sp>
          <p:nvSpPr>
            <p:cNvPr id="410" name="Shape 410"/>
            <p:cNvSpPr/>
            <p:nvPr/>
          </p:nvSpPr>
          <p:spPr>
            <a:xfrm>
              <a:off x="38100" y="-1"/>
              <a:ext cx="228600" cy="228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5373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1" name="Shape 411"/>
            <p:cNvSpPr/>
            <p:nvPr/>
          </p:nvSpPr>
          <p:spPr>
            <a:xfrm>
              <a:off x="0" y="228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95373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aphicFrame>
        <p:nvGraphicFramePr>
          <p:cNvPr id="413" name="Table 413"/>
          <p:cNvGraphicFramePr/>
          <p:nvPr/>
        </p:nvGraphicFramePr>
        <p:xfrm>
          <a:off x="3156530" y="4496353"/>
          <a:ext cx="5771560" cy="533400"/>
        </p:xfrm>
        <a:graphic>
          <a:graphicData uri="http://schemas.openxmlformats.org/drawingml/2006/table">
            <a:tbl>
              <a:tblPr bandRow="1"/>
              <a:tblGrid>
                <a:gridCol w="57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 dirty="0"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4" name="Shape 414"/>
          <p:cNvSpPr/>
          <p:nvPr/>
        </p:nvSpPr>
        <p:spPr>
          <a:xfrm>
            <a:off x="5077593" y="3999865"/>
            <a:ext cx="1020327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Merit list</a:t>
            </a:r>
          </a:p>
        </p:txBody>
      </p:sp>
      <p:sp>
        <p:nvSpPr>
          <p:cNvPr id="415" name="Shape 415"/>
          <p:cNvSpPr/>
          <p:nvPr/>
        </p:nvSpPr>
        <p:spPr>
          <a:xfrm>
            <a:off x="712282" y="3200121"/>
            <a:ext cx="2553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q</a:t>
            </a:r>
          </a:p>
        </p:txBody>
      </p:sp>
      <p:sp>
        <p:nvSpPr>
          <p:cNvPr id="416" name="Shape 416"/>
          <p:cNvSpPr/>
          <p:nvPr/>
        </p:nvSpPr>
        <p:spPr>
          <a:xfrm flipV="1">
            <a:off x="1006328" y="2156618"/>
            <a:ext cx="413897" cy="1"/>
          </a:xfrm>
          <a:prstGeom prst="line">
            <a:avLst/>
          </a:prstGeom>
          <a:ln w="28575">
            <a:solidFill/>
            <a:tailEnd type="triangle"/>
          </a:ln>
        </p:spPr>
        <p:txBody>
          <a:bodyPr lIns="45719" rIns="45719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17" name="Shape 417"/>
          <p:cNvSpPr/>
          <p:nvPr/>
        </p:nvSpPr>
        <p:spPr>
          <a:xfrm>
            <a:off x="736628" y="1914049"/>
            <a:ext cx="25482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p</a:t>
            </a:r>
          </a:p>
        </p:txBody>
      </p:sp>
      <p:sp>
        <p:nvSpPr>
          <p:cNvPr id="418" name="Shape 418"/>
          <p:cNvSpPr/>
          <p:nvPr/>
        </p:nvSpPr>
        <p:spPr>
          <a:xfrm>
            <a:off x="1024174" y="3449041"/>
            <a:ext cx="413897" cy="1"/>
          </a:xfrm>
          <a:prstGeom prst="line">
            <a:avLst/>
          </a:prstGeom>
          <a:ln w="28575">
            <a:solidFill/>
            <a:tailEnd type="triangle"/>
          </a:ln>
        </p:spPr>
        <p:txBody>
          <a:bodyPr lIns="45719" rIns="45719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19" name="Shape 419"/>
          <p:cNvSpPr/>
          <p:nvPr/>
        </p:nvSpPr>
        <p:spPr>
          <a:xfrm>
            <a:off x="5600543" y="1863608"/>
            <a:ext cx="2553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q</a:t>
            </a:r>
          </a:p>
        </p:txBody>
      </p:sp>
      <p:sp>
        <p:nvSpPr>
          <p:cNvPr id="420" name="Shape 420"/>
          <p:cNvSpPr/>
          <p:nvPr/>
        </p:nvSpPr>
        <p:spPr>
          <a:xfrm>
            <a:off x="7267592" y="1863608"/>
            <a:ext cx="25482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p</a:t>
            </a:r>
          </a:p>
        </p:txBody>
      </p:sp>
      <p:sp>
        <p:nvSpPr>
          <p:cNvPr id="421" name="Shape 421"/>
          <p:cNvSpPr/>
          <p:nvPr/>
        </p:nvSpPr>
        <p:spPr>
          <a:xfrm>
            <a:off x="1406373" y="3544453"/>
            <a:ext cx="48569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Ram</a:t>
            </a:r>
          </a:p>
        </p:txBody>
      </p:sp>
      <p:sp>
        <p:nvSpPr>
          <p:cNvPr id="422" name="Shape 422"/>
          <p:cNvSpPr/>
          <p:nvPr/>
        </p:nvSpPr>
        <p:spPr>
          <a:xfrm>
            <a:off x="1246145" y="2366641"/>
            <a:ext cx="68075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Mohan</a:t>
            </a:r>
          </a:p>
        </p:txBody>
      </p:sp>
      <p:sp>
        <p:nvSpPr>
          <p:cNvPr id="423" name="Shape 423"/>
          <p:cNvSpPr/>
          <p:nvPr/>
        </p:nvSpPr>
        <p:spPr>
          <a:xfrm>
            <a:off x="5268093" y="1447800"/>
            <a:ext cx="213611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t>Choice list of </a:t>
            </a:r>
            <a:r>
              <a:rPr sz="1600" b="1"/>
              <a:t>Mohan</a:t>
            </a:r>
          </a:p>
        </p:txBody>
      </p:sp>
      <p:sp>
        <p:nvSpPr>
          <p:cNvPr id="424" name="Shape 424"/>
          <p:cNvSpPr/>
          <p:nvPr/>
        </p:nvSpPr>
        <p:spPr>
          <a:xfrm>
            <a:off x="6186688" y="4043209"/>
            <a:ext cx="1814312" cy="37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 dirty="0"/>
              <a:t>of </a:t>
            </a:r>
            <a:r>
              <a:rPr dirty="0" err="1"/>
              <a:t>programme</a:t>
            </a:r>
            <a:r>
              <a:rPr dirty="0"/>
              <a:t> </a:t>
            </a:r>
            <a:r>
              <a:rPr b="1" i="1" dirty="0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rPr>
              <a:t>q</a:t>
            </a:r>
            <a:r>
              <a:rPr dirty="0"/>
              <a:t> </a:t>
            </a:r>
          </a:p>
        </p:txBody>
      </p:sp>
      <p:sp>
        <p:nvSpPr>
          <p:cNvPr id="425" name="Shape 425"/>
          <p:cNvSpPr/>
          <p:nvPr/>
        </p:nvSpPr>
        <p:spPr>
          <a:xfrm>
            <a:off x="5485374" y="4615732"/>
            <a:ext cx="48569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Ram</a:t>
            </a:r>
          </a:p>
        </p:txBody>
      </p:sp>
      <p:sp>
        <p:nvSpPr>
          <p:cNvPr id="426" name="Shape 426"/>
          <p:cNvSpPr/>
          <p:nvPr/>
        </p:nvSpPr>
        <p:spPr>
          <a:xfrm>
            <a:off x="7158983" y="4591603"/>
            <a:ext cx="68075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Mohan</a:t>
            </a:r>
          </a:p>
        </p:txBody>
      </p:sp>
    </p:spTree>
    <p:extLst>
      <p:ext uri="{BB962C8B-B14F-4D97-AF65-F5344CB8AC3E}">
        <p14:creationId xmlns:p14="http://schemas.microsoft.com/office/powerpoint/2010/main" val="2152155591"/>
      </p:ext>
    </p:extLst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6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6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" grpId="0" animBg="1" advAuto="0"/>
      <p:bldP spid="407" grpId="0" animBg="1" advAuto="0"/>
      <p:bldP spid="409" grpId="0" animBg="1" advAuto="0"/>
      <p:bldP spid="412" grpId="0" animBg="1" advAuto="0"/>
      <p:bldP spid="413" grpId="0" animBg="1" advAuto="0"/>
      <p:bldP spid="414" grpId="0" animBg="1" advAuto="0"/>
      <p:bldP spid="415" grpId="0" animBg="1" advAuto="0"/>
      <p:bldP spid="416" grpId="0" animBg="1" advAuto="0"/>
      <p:bldP spid="417" grpId="0" animBg="1" advAuto="0"/>
      <p:bldP spid="418" grpId="0" animBg="1" advAuto="0"/>
      <p:bldP spid="419" grpId="0" animBg="1" advAuto="0"/>
      <p:bldP spid="420" grpId="0" animBg="1" advAuto="0"/>
      <p:bldP spid="421" grpId="0" animBg="1" advAuto="0"/>
      <p:bldP spid="422" grpId="0" animBg="1" advAuto="0"/>
      <p:bldP spid="423" grpId="0" animBg="1" advAuto="0"/>
      <p:bldP spid="424" grpId="0" animBg="1" advAuto="0"/>
      <p:bldP spid="425" grpId="0" animBg="1" advAuto="0"/>
      <p:bldP spid="426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2379EE-C3A1-C79F-61EF-263959F41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How to tackle </a:t>
            </a:r>
            <a:r>
              <a:rPr lang="en-US" sz="3200" b="1" dirty="0">
                <a:solidFill>
                  <a:srgbClr val="7030A0"/>
                </a:solidFill>
              </a:rPr>
              <a:t>Multiple Merit Lists </a:t>
            </a:r>
            <a:r>
              <a:rPr lang="en-US" sz="3200" b="1" dirty="0"/>
              <a:t>using “</a:t>
            </a:r>
            <a:r>
              <a:rPr lang="en-US" sz="3200" b="1" dirty="0">
                <a:solidFill>
                  <a:srgbClr val="006C31"/>
                </a:solidFill>
              </a:rPr>
              <a:t>Single Merit list algorithm</a:t>
            </a:r>
            <a:r>
              <a:rPr lang="en-US" sz="3200" b="1" dirty="0"/>
              <a:t>”</a:t>
            </a:r>
            <a:endParaRPr lang="en-IN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B2DBB-6325-2541-ACEB-230FC43F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006C31"/>
                </a:solidFill>
              </a:rPr>
              <a:t>common man</a:t>
            </a:r>
            <a:r>
              <a:rPr lang="en-US" sz="3600" b="1" dirty="0"/>
              <a:t>’s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C00000"/>
                    </a:solidFill>
                    <a:sym typeface="Wingdings" pitchFamily="2" charset="2"/>
                  </a:rPr>
                  <a:t>IIT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0070C0"/>
                    </a:solidFill>
                    <a:sym typeface="Wingdings" pitchFamily="2" charset="2"/>
                  </a:rPr>
                  <a:t>NIT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sym typeface="Wingdings" pitchFamily="2" charset="2"/>
                      </a:rPr>
                      <m:t>𝑆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)∩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While</a:t>
                </a:r>
                <a:r>
                  <a:rPr lang="en-US" sz="2000" dirty="0"/>
                  <a:t> (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 </m:t>
                    </m:r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𝑆</m:t>
                    </m:r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≠∅</m:t>
                    </m:r>
                  </m:oMath>
                </a14:m>
                <a:r>
                  <a:rPr lang="en-US" sz="2000" dirty="0"/>
                  <a:t>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each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6C31"/>
                        </a:solidFill>
                        <a:latin typeface="Cambria Math"/>
                        <a:sym typeface="Wingdings" pitchFamily="2" charset="2"/>
                      </a:rPr>
                      <m:t>𝐜</m:t>
                    </m:r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∈</m:t>
                    </m:r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𝑆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{	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  <a:sym typeface="Wingdings" pitchFamily="2" charset="2"/>
                      </a:rPr>
                      <m:t>𝐜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dirty="0"/>
                  <a:t>is asked to choose between the </a:t>
                </a:r>
                <a:r>
                  <a:rPr lang="en-US" sz="2000" b="1" u="sng" dirty="0"/>
                  <a:t>two</a:t>
                </a:r>
                <a:r>
                  <a:rPr lang="en-US" sz="2000" dirty="0"/>
                  <a:t> choices;</a:t>
                </a:r>
              </a:p>
              <a:p>
                <a:pPr marL="0" indent="0">
                  <a:buNone/>
                </a:pPr>
                <a:r>
                  <a:rPr lang="en-US" sz="2000" dirty="0"/>
                  <a:t>	The preference list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  <a:sym typeface="Wingdings" pitchFamily="2" charset="2"/>
                      </a:rPr>
                      <m:t>𝐜</m:t>
                    </m:r>
                  </m:oMath>
                </a14:m>
                <a:r>
                  <a:rPr lang="en-US" sz="2000" dirty="0"/>
                  <a:t> is trimmed accordingly;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C00000"/>
                    </a:solidFill>
                    <a:sym typeface="Wingdings" pitchFamily="2" charset="2"/>
                  </a:rPr>
                  <a:t>IIT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0070C0"/>
                    </a:solidFill>
                    <a:sym typeface="Wingdings" pitchFamily="2" charset="2"/>
                  </a:rPr>
                  <a:t>NIT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𝑆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)∩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809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00600" y="2373868"/>
                <a:ext cx="1241109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Round </a:t>
                </a:r>
                <a:r>
                  <a:rPr lang="en-US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373868"/>
                <a:ext cx="124110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433" t="-9836" r="-88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1400" y="4953000"/>
                <a:ext cx="208114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Round </a:t>
                </a:r>
                <a:r>
                  <a:rPr lang="en-US" dirty="0">
                    <a:sym typeface="Wingdings" pitchFamily="2" charset="2"/>
                  </a:rPr>
                  <a:t> Round +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953000"/>
                <a:ext cx="208114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639" t="-10000" r="-410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19400" y="2743200"/>
                <a:ext cx="121065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Round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≤5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743200"/>
                <a:ext cx="121065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545" t="-8197" r="-75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286000" y="2743200"/>
            <a:ext cx="53893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27432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518B8F-D2E8-1D00-F6F2-6C09FE4A9C56}"/>
              </a:ext>
            </a:extLst>
          </p:cNvPr>
          <p:cNvSpPr txBox="1"/>
          <p:nvPr/>
        </p:nvSpPr>
        <p:spPr>
          <a:xfrm>
            <a:off x="443401" y="6096000"/>
            <a:ext cx="787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 </a:t>
            </a:r>
            <a:r>
              <a:rPr lang="en-US" dirty="0"/>
              <a:t>(not for exam): Prove that the algorithm outputs a fair seat allocation.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59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Multiple </a:t>
            </a:r>
            <a:r>
              <a:rPr lang="en-US" sz="2800" b="1" dirty="0"/>
              <a:t>merit lists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57200" y="914400"/>
              <a:ext cx="2895600" cy="1463040"/>
            </p:xfrm>
            <a:graphic>
              <a:graphicData uri="http://schemas.openxmlformats.org/drawingml/2006/table">
                <a:tbl>
                  <a:tblPr firstRow="1" bandRow="1">
                    <a:tableStyleId>{8A107856-5554-42FB-B03E-39F5DBC370BA}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C00000"/>
                              </a:solidFill>
                            </a:rPr>
                            <a:t>IIT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70C0"/>
                              </a:solidFill>
                            </a:rPr>
                            <a:t>NIT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006C31"/>
                              </a:solidFill>
                            </a:rPr>
                            <a:t>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97125468"/>
                  </p:ext>
                </p:extLst>
              </p:nvPr>
            </p:nvGraphicFramePr>
            <p:xfrm>
              <a:off x="457200" y="914400"/>
              <a:ext cx="2895600" cy="1463040"/>
            </p:xfrm>
            <a:graphic>
              <a:graphicData uri="http://schemas.openxmlformats.org/drawingml/2006/table">
                <a:tbl>
                  <a:tblPr firstRow="1" bandRow="1">
                    <a:tableStyleId>{8A107856-5554-42FB-B03E-39F5DBC370BA}</a:tableStyleId>
                  </a:tblPr>
                  <a:tblGrid>
                    <a:gridCol w="1295400"/>
                    <a:gridCol w="533400"/>
                    <a:gridCol w="533400"/>
                    <a:gridCol w="53340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828" t="-8333" r="-20114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40909" t="-8333" r="-9886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5977" t="-8333" b="-3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C00000"/>
                              </a:solidFill>
                            </a:rPr>
                            <a:t>IIT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70C0"/>
                              </a:solidFill>
                            </a:rPr>
                            <a:t>NIT</a:t>
                          </a:r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6C31"/>
                              </a:solidFill>
                            </a:rPr>
                            <a:t>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2373868"/>
            <a:ext cx="117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Merit</a:t>
            </a:r>
            <a:r>
              <a:rPr lang="en-US" dirty="0"/>
              <a:t>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4"/>
              <p:cNvGraphicFramePr>
                <a:graphicFrameLocks/>
              </p:cNvGraphicFramePr>
              <p:nvPr/>
            </p:nvGraphicFramePr>
            <p:xfrm>
              <a:off x="5638800" y="914400"/>
              <a:ext cx="3124200" cy="146304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C</a:t>
                          </a:r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07487915"/>
                  </p:ext>
                </p:extLst>
              </p:nvPr>
            </p:nvGraphicFramePr>
            <p:xfrm>
              <a:off x="5638800" y="914400"/>
              <a:ext cx="3124200" cy="146304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914400"/>
                    <a:gridCol w="762000"/>
                    <a:gridCol w="762000"/>
                    <a:gridCol w="68580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0000" t="-8333" r="-1904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20000" t="-8333" r="-904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53982" t="-8333" b="-3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A</a:t>
                          </a:r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B</a:t>
                          </a:r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/>
                            <a:t>C</a:t>
                          </a:r>
                          <a:endParaRPr 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6518634" y="2362200"/>
            <a:ext cx="127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Choice</a:t>
            </a:r>
            <a:r>
              <a:rPr lang="en-US" dirty="0"/>
              <a:t> Lists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71600" y="4392930"/>
          <a:ext cx="1295400" cy="162687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6C31"/>
                          </a:solidFill>
                        </a:rPr>
                        <a:t>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67200" y="4392930"/>
          <a:ext cx="1295400" cy="162687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6C31"/>
                          </a:solidFill>
                        </a:rPr>
                        <a:t>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10400" y="4419600"/>
          <a:ext cx="1295400" cy="162687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6C31"/>
                          </a:solidFill>
                        </a:rPr>
                        <a:t>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miley Face 12"/>
          <p:cNvSpPr/>
          <p:nvPr/>
        </p:nvSpPr>
        <p:spPr>
          <a:xfrm>
            <a:off x="762000" y="4876800"/>
            <a:ext cx="457200" cy="533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miley Face 13"/>
          <p:cNvSpPr/>
          <p:nvPr/>
        </p:nvSpPr>
        <p:spPr>
          <a:xfrm>
            <a:off x="3657600" y="4953000"/>
            <a:ext cx="457200" cy="533400"/>
          </a:xfrm>
          <a:prstGeom prst="smileyFace">
            <a:avLst>
              <a:gd name="adj" fmla="val 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miley Face 14"/>
          <p:cNvSpPr/>
          <p:nvPr/>
        </p:nvSpPr>
        <p:spPr>
          <a:xfrm>
            <a:off x="6477000" y="4953000"/>
            <a:ext cx="457200" cy="457200"/>
          </a:xfrm>
          <a:prstGeom prst="smileyFace">
            <a:avLst>
              <a:gd name="adj" fmla="val 66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371600" y="4038600"/>
                <a:ext cx="1293111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Allocation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038600"/>
                <a:ext cx="129311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271" t="-6452" r="-7477" b="-22581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269489" y="4038600"/>
                <a:ext cx="1304331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Allocation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489" y="4038600"/>
                <a:ext cx="130433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241" t="-6452" r="-6944" b="-22581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12689" y="4038600"/>
                <a:ext cx="1304331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Allocation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689" y="4038600"/>
                <a:ext cx="130433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241" t="-6452" r="-6944" b="-22581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674308" y="1307068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7714" y="129540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0" y="1295400"/>
            <a:ext cx="708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6C31"/>
                </a:solidFill>
              </a:rPr>
              <a:t>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67640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1136" y="198120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6308" y="16764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7200" y="1676400"/>
            <a:ext cx="708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6C31"/>
                </a:solidFill>
              </a:rPr>
              <a:t>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6801" y="1992868"/>
            <a:ext cx="708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6C31"/>
                </a:solidFill>
              </a:rPr>
              <a:t>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400" y="19812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60713" y="1295400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C</a:t>
            </a:r>
            <a:r>
              <a:rPr lang="en-US" dirty="0"/>
              <a:t>       </a:t>
            </a:r>
            <a:r>
              <a:rPr lang="en-US" b="1" dirty="0"/>
              <a:t>B</a:t>
            </a:r>
            <a:r>
              <a:rPr lang="en-US" dirty="0"/>
              <a:t>        </a:t>
            </a:r>
            <a:r>
              <a:rPr lang="en-US" b="1" dirty="0"/>
              <a:t>A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28800" y="1611868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A</a:t>
            </a:r>
            <a:r>
              <a:rPr lang="en-US" dirty="0"/>
              <a:t>       </a:t>
            </a:r>
            <a:r>
              <a:rPr lang="en-US" b="1" dirty="0"/>
              <a:t>C</a:t>
            </a:r>
            <a:r>
              <a:rPr lang="en-US" dirty="0"/>
              <a:t>        </a:t>
            </a:r>
            <a:r>
              <a:rPr lang="en-US" b="1" dirty="0"/>
              <a:t>B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28800" y="1992868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B</a:t>
            </a:r>
            <a:r>
              <a:rPr lang="en-US" dirty="0"/>
              <a:t>       </a:t>
            </a:r>
            <a:r>
              <a:rPr lang="en-US" b="1" dirty="0"/>
              <a:t>A</a:t>
            </a:r>
            <a:r>
              <a:rPr lang="en-US" dirty="0"/>
              <a:t>        </a:t>
            </a:r>
            <a:r>
              <a:rPr lang="en-US" b="1" dirty="0"/>
              <a:t>C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09800" y="4466272"/>
            <a:ext cx="4203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C</a:t>
            </a:r>
            <a:r>
              <a:rPr lang="en-US" dirty="0"/>
              <a:t>  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A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B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066092" y="4466272"/>
            <a:ext cx="4363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A</a:t>
            </a:r>
            <a:r>
              <a:rPr lang="en-US" dirty="0"/>
              <a:t>  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B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C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869462" y="4495800"/>
            <a:ext cx="4203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B</a:t>
            </a:r>
            <a:r>
              <a:rPr lang="en-US" dirty="0"/>
              <a:t>  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C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A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3962400" y="2895600"/>
            <a:ext cx="381000" cy="855974"/>
            <a:chOff x="1524000" y="4313958"/>
            <a:chExt cx="381000" cy="855974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4313958"/>
              <a:ext cx="381000" cy="562842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1544937" y="480060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450247" y="2895600"/>
            <a:ext cx="381000" cy="855974"/>
            <a:chOff x="1524000" y="4313958"/>
            <a:chExt cx="381000" cy="855974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4313958"/>
              <a:ext cx="381000" cy="562842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1544937" y="48006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953000" y="2895600"/>
            <a:ext cx="381000" cy="855974"/>
            <a:chOff x="1524000" y="4313958"/>
            <a:chExt cx="381000" cy="855974"/>
          </a:xfrm>
        </p:grpSpPr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4313958"/>
              <a:ext cx="381000" cy="562842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1524000" y="4800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928279" y="6096000"/>
            <a:ext cx="193912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Candidate Optimal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BF98D4-38BD-6B42-2005-3885BCA83668}"/>
              </a:ext>
            </a:extLst>
          </p:cNvPr>
          <p:cNvSpPr txBox="1"/>
          <p:nvPr/>
        </p:nvSpPr>
        <p:spPr>
          <a:xfrm>
            <a:off x="914400" y="6096000"/>
            <a:ext cx="205094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Candidate Pessimal</a:t>
            </a:r>
          </a:p>
        </p:txBody>
      </p:sp>
    </p:spTree>
    <p:extLst>
      <p:ext uri="{BB962C8B-B14F-4D97-AF65-F5344CB8AC3E}">
        <p14:creationId xmlns:p14="http://schemas.microsoft.com/office/powerpoint/2010/main" val="419327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2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2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2" grpId="0"/>
      <p:bldP spid="33" grpId="0"/>
      <p:bldP spid="34" grpId="0"/>
      <p:bldP spid="44" grpId="0"/>
      <p:bldP spid="45" grpId="0"/>
      <p:bldP spid="46" grpId="0"/>
      <p:bldP spid="3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</a:t>
            </a:r>
            <a:r>
              <a:rPr lang="en-US" sz="3200" b="1" dirty="0">
                <a:solidFill>
                  <a:srgbClr val="7030A0"/>
                </a:solidFill>
              </a:rPr>
              <a:t>Stable Marriage </a:t>
            </a:r>
            <a:r>
              <a:rPr lang="en-US" sz="3200" b="1" dirty="0">
                <a:solidFill>
                  <a:schemeClr val="tx1"/>
                </a:solidFill>
              </a:rPr>
              <a:t>Problem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81108A-FBAE-D2ED-DDE6-4E41CA508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39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Stable Marriage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610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prefers</a:t>
                </a:r>
                <a:r>
                  <a:rPr lang="en-US" sz="18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A marriage is said to be </a:t>
                </a:r>
                <a:r>
                  <a:rPr lang="en-US" sz="1800" b="1" dirty="0"/>
                  <a:t>stable</a:t>
                </a:r>
                <a:r>
                  <a:rPr lang="en-US" sz="1800" dirty="0"/>
                  <a:t> if there is </a:t>
                </a:r>
                <a:r>
                  <a:rPr lang="en-US" sz="1800" u="sng" dirty="0"/>
                  <a:t>no</a:t>
                </a:r>
                <a:r>
                  <a:rPr lang="en-US" sz="1800" dirty="0"/>
                  <a:t> unstable pair in the society.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610600" cy="4525963"/>
              </a:xfrm>
              <a:blipFill rotWithShape="1">
                <a:blip r:embed="rId2"/>
                <a:stretch>
                  <a:fillRect l="-779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2286000" y="2971800"/>
            <a:ext cx="381000" cy="1752600"/>
            <a:chOff x="2286000" y="2971800"/>
            <a:chExt cx="381000" cy="1752600"/>
          </a:xfrm>
        </p:grpSpPr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2971800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2971800"/>
            <a:ext cx="381000" cy="1676400"/>
            <a:chOff x="5562600" y="2971800"/>
            <a:chExt cx="381000" cy="1676400"/>
          </a:xfrm>
        </p:grpSpPr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72200" y="2907268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3156466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667000" y="4495800"/>
            <a:ext cx="28956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 rot="21228949">
            <a:off x="4953000" y="4038600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>
            <a:stCxn id="8" idx="5"/>
          </p:cNvCxnSpPr>
          <p:nvPr/>
        </p:nvCxnSpPr>
        <p:spPr>
          <a:xfrm>
            <a:off x="2611204" y="3297004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 rot="21265500">
            <a:off x="2743200" y="3200400"/>
            <a:ext cx="461598" cy="372462"/>
            <a:chOff x="1228910" y="3301148"/>
            <a:chExt cx="461598" cy="372462"/>
          </a:xfrm>
        </p:grpSpPr>
        <p:sp>
          <p:nvSpPr>
            <p:cNvPr id="12" name="Chevron 11"/>
            <p:cNvSpPr/>
            <p:nvPr/>
          </p:nvSpPr>
          <p:spPr>
            <a:xfrm rot="1824820">
              <a:off x="1228910" y="33011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Chevron 48"/>
            <p:cNvSpPr/>
            <p:nvPr/>
          </p:nvSpPr>
          <p:spPr>
            <a:xfrm rot="1824820">
              <a:off x="1381310" y="33773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Chevron 49"/>
            <p:cNvSpPr/>
            <p:nvPr/>
          </p:nvSpPr>
          <p:spPr>
            <a:xfrm rot="1824820">
              <a:off x="1533710" y="34535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60" name="Straight Arrow Connector 59"/>
          <p:cNvCxnSpPr>
            <a:stCxn id="8" idx="5"/>
          </p:cNvCxnSpPr>
          <p:nvPr/>
        </p:nvCxnSpPr>
        <p:spPr>
          <a:xfrm>
            <a:off x="2611204" y="3297004"/>
            <a:ext cx="2990658" cy="1145831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33800" y="2987043"/>
            <a:ext cx="79688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divorce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6357" y="4332914"/>
            <a:ext cx="79688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divorce</a:t>
            </a:r>
          </a:p>
        </p:txBody>
      </p:sp>
      <p:sp>
        <p:nvSpPr>
          <p:cNvPr id="35" name="Oval 34"/>
          <p:cNvSpPr/>
          <p:nvPr/>
        </p:nvSpPr>
        <p:spPr>
          <a:xfrm>
            <a:off x="2438400" y="4038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4384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438400" y="38100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715000" y="39624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5715000" y="3505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715000" y="37338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91919" y="2133600"/>
                <a:ext cx="2618281" cy="39164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) : an unstable pair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919" y="2133600"/>
                <a:ext cx="2618281" cy="391646"/>
              </a:xfrm>
              <a:prstGeom prst="rect">
                <a:avLst/>
              </a:prstGeom>
              <a:blipFill rotWithShape="1">
                <a:blip r:embed="rId11"/>
                <a:stretch>
                  <a:fillRect l="-1852" t="-4545" r="-2546"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/>
          <p:cNvSpPr/>
          <p:nvPr/>
        </p:nvSpPr>
        <p:spPr>
          <a:xfrm>
            <a:off x="2476500" y="1981200"/>
            <a:ext cx="279182" cy="6858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Ribbon 10"/>
          <p:cNvSpPr/>
          <p:nvPr/>
        </p:nvSpPr>
        <p:spPr>
          <a:xfrm>
            <a:off x="2527991" y="1219200"/>
            <a:ext cx="3568009" cy="533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Meaning of </a:t>
            </a:r>
            <a:r>
              <a:rPr lang="en-US" dirty="0" err="1">
                <a:solidFill>
                  <a:srgbClr val="C00000"/>
                </a:solidFill>
              </a:rPr>
              <a:t>unstability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63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5" grpId="1" animBg="1"/>
      <p:bldP spid="33" grpId="0" animBg="1"/>
      <p:bldP spid="33" grpId="1" animBg="1"/>
      <p:bldP spid="7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Stable Marriage </a:t>
            </a:r>
            <a:r>
              <a:rPr lang="en-US" sz="3200" b="1" dirty="0"/>
              <a:t>Problem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2000" dirty="0"/>
                  <a:t> :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men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2000" dirty="0"/>
                  <a:t> :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women </a:t>
                </a:r>
              </a:p>
              <a:p>
                <a:pPr marL="0" indent="0">
                  <a:buNone/>
                </a:pPr>
                <a:r>
                  <a:rPr lang="en-US" sz="2000" dirty="0"/>
                  <a:t> For each man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  <a:sym typeface="Wingdings" pitchFamily="2" charset="2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		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) </m:t>
                    </m:r>
                  </m:oMath>
                </a14:m>
                <a:r>
                  <a:rPr lang="en-US" sz="2000" dirty="0"/>
                  <a:t>: a preference list of all women</a:t>
                </a:r>
              </a:p>
              <a:p>
                <a:pPr marL="0" indent="0">
                  <a:buNone/>
                </a:pPr>
                <a:r>
                  <a:rPr lang="en-US" sz="2000" dirty="0"/>
                  <a:t> For each woman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) </m:t>
                    </m:r>
                  </m:oMath>
                </a14:m>
                <a:r>
                  <a:rPr lang="en-US" sz="2000" dirty="0"/>
                  <a:t>: a preference list of all men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To compute a </a:t>
                </a:r>
                <a:r>
                  <a:rPr lang="en-US" sz="2000" b="1" dirty="0"/>
                  <a:t>stable</a:t>
                </a:r>
                <a:r>
                  <a:rPr lang="en-US" sz="2000" dirty="0"/>
                  <a:t> marriage.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696056-B04C-48AB-8C53-BBF1FF11CC1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/>
          <a:lstStyle/>
          <a:p>
            <a:r>
              <a:rPr lang="en-US" sz="3600" b="1" dirty="0"/>
              <a:t>Algorithm for </a:t>
            </a:r>
            <a:r>
              <a:rPr lang="en-US" sz="3600" b="1" dirty="0">
                <a:solidFill>
                  <a:srgbClr val="7030A0"/>
                </a:solidFill>
              </a:rPr>
              <a:t>Stable Marriage</a:t>
            </a:r>
            <a:endParaRPr lang="en-US" sz="3600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Man</a:t>
            </a:r>
            <a:r>
              <a:rPr lang="en-US" sz="2400" dirty="0">
                <a:solidFill>
                  <a:schemeClr val="tx1"/>
                </a:solidFill>
              </a:rPr>
              <a:t> proposes,       </a:t>
            </a:r>
            <a:r>
              <a:rPr lang="en-US" sz="2400" dirty="0">
                <a:solidFill>
                  <a:srgbClr val="7030A0"/>
                </a:solidFill>
              </a:rPr>
              <a:t>God</a:t>
            </a:r>
            <a:r>
              <a:rPr lang="en-US" sz="2400" dirty="0">
                <a:solidFill>
                  <a:schemeClr val="tx1"/>
                </a:solidFill>
              </a:rPr>
              <a:t>   disposes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17962" y="2819400"/>
            <a:ext cx="3508076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1962, </a:t>
            </a:r>
            <a:r>
              <a:rPr lang="en-US" dirty="0">
                <a:hlinkClick r:id="rId2" tooltip="David Gale"/>
              </a:rPr>
              <a:t>David Gale</a:t>
            </a:r>
            <a:r>
              <a:rPr lang="en-US" dirty="0"/>
              <a:t> and </a:t>
            </a:r>
            <a:r>
              <a:rPr lang="en-US" dirty="0">
                <a:hlinkClick r:id="rId3" tooltip="Lloyd Shapley"/>
              </a:rPr>
              <a:t>Lloyd Shapley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D0EE-D583-E152-0D0D-D809D88C1B81}"/>
              </a:ext>
            </a:extLst>
          </p:cNvPr>
          <p:cNvSpPr txBox="1"/>
          <p:nvPr/>
        </p:nvSpPr>
        <p:spPr>
          <a:xfrm>
            <a:off x="4419600" y="3886200"/>
            <a:ext cx="1162369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FF"/>
                </a:solidFill>
              </a:rPr>
              <a:t>Woman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2B082-56E2-99EB-0CA4-735430167903}"/>
              </a:ext>
            </a:extLst>
          </p:cNvPr>
          <p:cNvSpPr txBox="1"/>
          <p:nvPr/>
        </p:nvSpPr>
        <p:spPr>
          <a:xfrm>
            <a:off x="2667000" y="3307633"/>
            <a:ext cx="386612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Nobel Prize in Economic Sciences, 2012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9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896C-BB5A-C4CC-00EC-D0DC79A4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We designed an iterative algorithm in the last class based on these rules.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2F00-3893-9891-5117-342D039D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53582"/>
            <a:ext cx="8229600" cy="4525963"/>
          </a:xfrm>
        </p:spPr>
        <p:txBody>
          <a:bodyPr/>
          <a:lstStyle/>
          <a:p>
            <a:r>
              <a:rPr lang="en-US" sz="2000" dirty="0"/>
              <a:t>A man proposes in the </a:t>
            </a:r>
            <a:r>
              <a:rPr lang="en-US" sz="2000" b="1" u="sng" dirty="0"/>
              <a:t>decreasing</a:t>
            </a:r>
            <a:r>
              <a:rPr lang="en-US" sz="2000" dirty="0"/>
              <a:t> order of preference.</a:t>
            </a:r>
          </a:p>
          <a:p>
            <a:endParaRPr lang="en-US" sz="2000" dirty="0"/>
          </a:p>
          <a:p>
            <a:r>
              <a:rPr lang="en-US" sz="2000" dirty="0"/>
              <a:t>Once rejected by a woman, the man </a:t>
            </a:r>
            <a:r>
              <a:rPr lang="en-US" sz="2000" b="1" u="sng" dirty="0"/>
              <a:t>never proposes</a:t>
            </a:r>
            <a:r>
              <a:rPr lang="en-US" sz="2000" b="1" dirty="0"/>
              <a:t> </a:t>
            </a:r>
            <a:r>
              <a:rPr lang="en-US" sz="2000" dirty="0"/>
              <a:t>to her again.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 woman, if single, accepts a proposal.</a:t>
            </a:r>
          </a:p>
          <a:p>
            <a:endParaRPr lang="en-US" sz="2000" dirty="0"/>
          </a:p>
          <a:p>
            <a:r>
              <a:rPr lang="en-US" sz="2000" dirty="0"/>
              <a:t>A woman, if engaged, accepts a proposal from a man if she prefers him to her current partner.   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DB2C4-1494-030F-852E-B9905418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71050-FF52-7801-16F2-B8A511DE773A}"/>
              </a:ext>
            </a:extLst>
          </p:cNvPr>
          <p:cNvSpPr txBox="1"/>
          <p:nvPr/>
        </p:nvSpPr>
        <p:spPr>
          <a:xfrm>
            <a:off x="0" y="1524000"/>
            <a:ext cx="213596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Rule for </a:t>
            </a:r>
            <a:r>
              <a:rPr lang="en-US" sz="2800" dirty="0">
                <a:solidFill>
                  <a:srgbClr val="0070C0"/>
                </a:solidFill>
              </a:rPr>
              <a:t>Men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EBF74-49C2-10E7-1A88-71A63886651F}"/>
              </a:ext>
            </a:extLst>
          </p:cNvPr>
          <p:cNvSpPr txBox="1"/>
          <p:nvPr/>
        </p:nvSpPr>
        <p:spPr>
          <a:xfrm>
            <a:off x="0" y="3962400"/>
            <a:ext cx="255531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Rule for </a:t>
            </a:r>
            <a:r>
              <a:rPr lang="en-US" sz="2800" dirty="0">
                <a:solidFill>
                  <a:srgbClr val="FF00FF"/>
                </a:solidFill>
              </a:rPr>
              <a:t>Women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EF23C-30BC-C1EE-0794-F685730727D1}"/>
              </a:ext>
            </a:extLst>
          </p:cNvPr>
          <p:cNvSpPr/>
          <p:nvPr/>
        </p:nvSpPr>
        <p:spPr>
          <a:xfrm>
            <a:off x="2743200" y="2153582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D139A-47D9-1652-B52A-79A65A139132}"/>
              </a:ext>
            </a:extLst>
          </p:cNvPr>
          <p:cNvSpPr/>
          <p:nvPr/>
        </p:nvSpPr>
        <p:spPr>
          <a:xfrm>
            <a:off x="3886200" y="2871238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6C080-CD2D-2966-6028-0E0AD94E5310}"/>
              </a:ext>
            </a:extLst>
          </p:cNvPr>
          <p:cNvSpPr/>
          <p:nvPr/>
        </p:nvSpPr>
        <p:spPr>
          <a:xfrm>
            <a:off x="3048000" y="4648200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67891-0534-6D57-755C-4E2653492011}"/>
              </a:ext>
            </a:extLst>
          </p:cNvPr>
          <p:cNvSpPr/>
          <p:nvPr/>
        </p:nvSpPr>
        <p:spPr>
          <a:xfrm>
            <a:off x="2133600" y="4724401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52673-6D1C-1AB8-D5C4-AF07CE2DA661}"/>
              </a:ext>
            </a:extLst>
          </p:cNvPr>
          <p:cNvSpPr/>
          <p:nvPr/>
        </p:nvSpPr>
        <p:spPr>
          <a:xfrm>
            <a:off x="6553200" y="5410200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571975-EED3-1DAC-4AFE-A255F203F3CB}"/>
              </a:ext>
            </a:extLst>
          </p:cNvPr>
          <p:cNvSpPr/>
          <p:nvPr/>
        </p:nvSpPr>
        <p:spPr>
          <a:xfrm>
            <a:off x="3276600" y="5491859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B9BBB2-2871-A816-17D6-0AA32D3B6303}"/>
              </a:ext>
            </a:extLst>
          </p:cNvPr>
          <p:cNvSpPr/>
          <p:nvPr/>
        </p:nvSpPr>
        <p:spPr>
          <a:xfrm>
            <a:off x="914400" y="5826820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</a:rPr>
                  <a:t>GaleShapley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3600" dirty="0"/>
                  <a:t>,</a:t>
                </a:r>
                <a:r>
                  <a:rPr lang="en-US" sz="36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3600" dirty="0"/>
                  <a:t>)</a:t>
                </a:r>
                <a:br>
                  <a:rPr lang="en-US" sz="3600" dirty="0"/>
                </a:br>
                <a:r>
                  <a:rPr lang="en-US" sz="3600" dirty="0"/>
                  <a:t>(Proof of stability)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143000"/>
                <a:ext cx="8610600" cy="5638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1800" b="0" dirty="0"/>
                  <a:t> :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</a:t>
                </a:r>
                <a:r>
                  <a:rPr lang="en-US" sz="1800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prefers</a:t>
                </a:r>
                <a:r>
                  <a:rPr lang="en-US" sz="18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143000"/>
                <a:ext cx="8610600" cy="5638800"/>
              </a:xfrm>
              <a:blipFill>
                <a:blip r:embed="rId3"/>
                <a:stretch>
                  <a:fillRect l="-637" t="-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524000" y="2350532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72200" y="2286000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2535198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667000" y="3874532"/>
            <a:ext cx="28956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 rot="21228949">
            <a:off x="4953000" y="3417332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/>
          <p:nvPr/>
        </p:nvCxnSpPr>
        <p:spPr>
          <a:xfrm>
            <a:off x="2611204" y="2675736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2286000" y="2350532"/>
            <a:ext cx="3657600" cy="1752600"/>
            <a:chOff x="2286000" y="2971800"/>
            <a:chExt cx="3657600" cy="1752600"/>
          </a:xfrm>
        </p:grpSpPr>
        <p:grpSp>
          <p:nvGrpSpPr>
            <p:cNvPr id="45" name="Group 44"/>
            <p:cNvGrpSpPr/>
            <p:nvPr/>
          </p:nvGrpSpPr>
          <p:grpSpPr>
            <a:xfrm>
              <a:off x="2286000" y="2971800"/>
              <a:ext cx="381000" cy="1752600"/>
              <a:chOff x="2286000" y="2971800"/>
              <a:chExt cx="381000" cy="1752600"/>
            </a:xfrm>
          </p:grpSpPr>
          <p:sp>
            <p:nvSpPr>
              <p:cNvPr id="8" name="Smiley Face 7"/>
              <p:cNvSpPr/>
              <p:nvPr/>
            </p:nvSpPr>
            <p:spPr>
              <a:xfrm>
                <a:off x="22860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Smiley Face 26"/>
              <p:cNvSpPr/>
              <p:nvPr/>
            </p:nvSpPr>
            <p:spPr>
              <a:xfrm>
                <a:off x="2286000" y="43434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562600" y="2971800"/>
              <a:ext cx="381000" cy="1676400"/>
              <a:chOff x="5562600" y="2971800"/>
              <a:chExt cx="381000" cy="1676400"/>
            </a:xfrm>
          </p:grpSpPr>
          <p:sp>
            <p:nvSpPr>
              <p:cNvPr id="34" name="Smiley Face 33"/>
              <p:cNvSpPr/>
              <p:nvPr/>
            </p:nvSpPr>
            <p:spPr>
              <a:xfrm>
                <a:off x="55626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Smiley Face 38"/>
              <p:cNvSpPr/>
              <p:nvPr/>
            </p:nvSpPr>
            <p:spPr>
              <a:xfrm>
                <a:off x="5562600" y="42672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Oval 34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49368E7-4B48-E2A0-FA06-75EA35188716}"/>
              </a:ext>
            </a:extLst>
          </p:cNvPr>
          <p:cNvSpPr txBox="1"/>
          <p:nvPr/>
        </p:nvSpPr>
        <p:spPr>
          <a:xfrm>
            <a:off x="1761212" y="6197640"/>
            <a:ext cx="6066789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Each new engagement gives a woman a </a:t>
            </a:r>
            <a:r>
              <a:rPr lang="en-US" sz="1800" b="1" dirty="0"/>
              <a:t>better partner (mate)</a:t>
            </a:r>
            <a:r>
              <a:rPr lang="en-US" sz="1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C32D5-9C3F-9462-F201-4DB49E4345C2}"/>
              </a:ext>
            </a:extLst>
          </p:cNvPr>
          <p:cNvSpPr txBox="1"/>
          <p:nvPr/>
        </p:nvSpPr>
        <p:spPr>
          <a:xfrm>
            <a:off x="980584" y="1128799"/>
            <a:ext cx="4042389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There is no unstable pair in the marriage.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E8B82-717C-87F2-E0DE-B6A133B6B062}"/>
              </a:ext>
            </a:extLst>
          </p:cNvPr>
          <p:cNvSpPr txBox="1"/>
          <p:nvPr/>
        </p:nvSpPr>
        <p:spPr>
          <a:xfrm>
            <a:off x="181196" y="5696712"/>
            <a:ext cx="223586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key observation : 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F6FF9-03EE-A62C-4802-465645D3E0BA}"/>
              </a:ext>
            </a:extLst>
          </p:cNvPr>
          <p:cNvGrpSpPr/>
          <p:nvPr/>
        </p:nvGrpSpPr>
        <p:grpSpPr>
          <a:xfrm rot="20027145">
            <a:off x="2801182" y="2364141"/>
            <a:ext cx="461598" cy="372462"/>
            <a:chOff x="1228910" y="3301148"/>
            <a:chExt cx="461598" cy="372462"/>
          </a:xfrm>
        </p:grpSpPr>
        <p:sp>
          <p:nvSpPr>
            <p:cNvPr id="13" name="Chevron 11">
              <a:extLst>
                <a:ext uri="{FF2B5EF4-FFF2-40B4-BE49-F238E27FC236}">
                  <a16:creationId xmlns:a16="http://schemas.microsoft.com/office/drawing/2014/main" id="{6F047A56-9677-E62A-3FC1-6A126D175785}"/>
                </a:ext>
              </a:extLst>
            </p:cNvPr>
            <p:cNvSpPr/>
            <p:nvPr/>
          </p:nvSpPr>
          <p:spPr>
            <a:xfrm rot="1824820">
              <a:off x="1228910" y="33011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Chevron 48">
              <a:extLst>
                <a:ext uri="{FF2B5EF4-FFF2-40B4-BE49-F238E27FC236}">
                  <a16:creationId xmlns:a16="http://schemas.microsoft.com/office/drawing/2014/main" id="{C593397E-7D92-7E30-72F9-D30DB22B43A8}"/>
                </a:ext>
              </a:extLst>
            </p:cNvPr>
            <p:cNvSpPr/>
            <p:nvPr/>
          </p:nvSpPr>
          <p:spPr>
            <a:xfrm rot="1824820">
              <a:off x="1381310" y="33773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hevron 49">
              <a:extLst>
                <a:ext uri="{FF2B5EF4-FFF2-40B4-BE49-F238E27FC236}">
                  <a16:creationId xmlns:a16="http://schemas.microsoft.com/office/drawing/2014/main" id="{55D7C03B-8FE0-D1B0-7B6A-ADE7E02D6385}"/>
                </a:ext>
              </a:extLst>
            </p:cNvPr>
            <p:cNvSpPr/>
            <p:nvPr/>
          </p:nvSpPr>
          <p:spPr>
            <a:xfrm rot="1824820">
              <a:off x="1533710" y="34535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F257E5F-ECD9-B416-31C6-43316C16330A}"/>
              </a:ext>
            </a:extLst>
          </p:cNvPr>
          <p:cNvSpPr/>
          <p:nvPr/>
        </p:nvSpPr>
        <p:spPr>
          <a:xfrm>
            <a:off x="5417632" y="6057900"/>
            <a:ext cx="3337588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FED11825-7BB7-8422-30D2-A2CF3CC4DB84}"/>
              </a:ext>
            </a:extLst>
          </p:cNvPr>
          <p:cNvSpPr/>
          <p:nvPr/>
        </p:nvSpPr>
        <p:spPr>
          <a:xfrm>
            <a:off x="5061707" y="1128799"/>
            <a:ext cx="3929893" cy="855449"/>
          </a:xfrm>
          <a:prstGeom prst="cloudCallout">
            <a:avLst>
              <a:gd name="adj1" fmla="val 45834"/>
              <a:gd name="adj2" fmla="val 683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restate it so that we can prove it easily ?</a:t>
            </a: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3960E0-11AC-C380-B5C3-FE21330DD3B4}"/>
                  </a:ext>
                </a:extLst>
              </p:cNvPr>
              <p:cNvSpPr txBox="1"/>
              <p:nvPr/>
            </p:nvSpPr>
            <p:spPr>
              <a:xfrm>
                <a:off x="983632" y="1122219"/>
                <a:ext cx="2606034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Consider the pair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3960E0-11AC-C380-B5C3-FE21330DD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32" y="1122219"/>
                <a:ext cx="2606034" cy="391646"/>
              </a:xfrm>
              <a:prstGeom prst="rect">
                <a:avLst/>
              </a:prstGeom>
              <a:blipFill>
                <a:blip r:embed="rId11"/>
                <a:stretch>
                  <a:fillRect l="-1869" t="-6250" r="-935" b="-20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E0BA-DCD8-8BE2-8FB1-DFA6921256BA}"/>
                  </a:ext>
                </a:extLst>
              </p:cNvPr>
              <p:cNvSpPr txBox="1"/>
              <p:nvPr/>
            </p:nvSpPr>
            <p:spPr>
              <a:xfrm>
                <a:off x="917922" y="1477165"/>
                <a:ext cx="228242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9900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E0BA-DCD8-8BE2-8FB1-DFA692125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22" y="1477165"/>
                <a:ext cx="2282420" cy="391646"/>
              </a:xfrm>
              <a:prstGeom prst="rect">
                <a:avLst/>
              </a:prstGeom>
              <a:blipFill>
                <a:blip r:embed="rId12"/>
                <a:stretch>
                  <a:fillRect l="-2406" t="-6154" r="-1070" b="-18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97F5799-AE37-DF26-F386-1F4CA366DC20}"/>
              </a:ext>
            </a:extLst>
          </p:cNvPr>
          <p:cNvSpPr txBox="1"/>
          <p:nvPr/>
        </p:nvSpPr>
        <p:spPr>
          <a:xfrm>
            <a:off x="3015495" y="1497602"/>
            <a:ext cx="2231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 to be done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37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7" grpId="1" animBg="1"/>
      <p:bldP spid="9" grpId="0" animBg="1"/>
      <p:bldP spid="9" grpId="1" animBg="1"/>
      <p:bldP spid="11" grpId="0" animBg="1"/>
      <p:bldP spid="11" grpId="1" build="allAtOnce" animBg="1"/>
      <p:bldP spid="12" grpId="0" animBg="1"/>
      <p:bldP spid="16" grpId="0" animBg="1"/>
      <p:bldP spid="16" grpId="1" animBg="1"/>
      <p:bldP spid="17" grpId="0"/>
      <p:bldP spid="18" grpId="0"/>
      <p:bldP spid="18" grpId="1"/>
      <p:bldP spid="19" grpId="0"/>
      <p:bldP spid="1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143000"/>
                <a:ext cx="8610600" cy="6324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1800" b="0" dirty="0"/>
                  <a:t> : 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           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prefers</a:t>
                </a:r>
                <a:r>
                  <a:rPr lang="en-US" sz="18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Proof:</a:t>
                </a:r>
                <a:r>
                  <a:rPr lang="en-US" sz="1800" dirty="0"/>
                  <a:t> </a:t>
                </a:r>
                <a:r>
                  <a:rPr lang="en-US" sz="1600" dirty="0"/>
                  <a:t>(a sketch (the details emerged from the interaction in the class))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 must have proposed to</a:t>
                </a:r>
                <a:r>
                  <a:rPr lang="en-US" sz="16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:r>
                  <a:rPr lang="en-US" sz="1600" dirty="0"/>
                  <a:t>At the moment of the proposal,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600" dirty="0"/>
                  <a:t> was either engaged or single.</a:t>
                </a:r>
              </a:p>
              <a:p>
                <a:pPr marL="0" indent="0">
                  <a:buNone/>
                </a:pPr>
                <a:r>
                  <a:rPr lang="en-US" sz="1600" u="sng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u="sng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u="sng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i="1" u="sng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600" u="sng" dirty="0"/>
                  <a:t> was single</a:t>
                </a:r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600" dirty="0"/>
                  <a:t> would have accepted the offer at that time but rejected later.</a:t>
                </a:r>
              </a:p>
              <a:p>
                <a:pPr marL="0" indent="0">
                  <a:buNone/>
                </a:pPr>
                <a:r>
                  <a:rPr lang="en-US" sz="1600" dirty="0"/>
                  <a:t>But a woman rejects her present mate only when she gets a better mate.</a:t>
                </a:r>
              </a:p>
              <a:p>
                <a:pPr marL="0" indent="0">
                  <a:buNone/>
                </a:pPr>
                <a:r>
                  <a:rPr lang="en-US" sz="1600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600" dirty="0"/>
                  <a:t> would have surely got a better mate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. </a:t>
                </a:r>
              </a:p>
              <a:p>
                <a:pPr marL="0" indent="0">
                  <a:buNone/>
                </a:pPr>
                <a:r>
                  <a:rPr lang="en-US" sz="1600" dirty="0"/>
                  <a:t>Since the mate of a woman only improves in future rounds,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solidFill>
                          <a:srgbClr val="00206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would indeed be preferred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70C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600" u="sng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u="sng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u="sng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i="1" u="sng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600" u="sng" dirty="0"/>
                  <a:t> was engaged</a:t>
                </a:r>
                <a:r>
                  <a:rPr lang="en-US" sz="1600" dirty="0"/>
                  <a:t>, …fill in the details along similar lines as stated above…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143000"/>
                <a:ext cx="8610600" cy="6324600"/>
              </a:xfrm>
              <a:blipFill>
                <a:blip r:embed="rId2"/>
                <a:stretch>
                  <a:fillRect l="-637" t="-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524000" y="2350532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72200" y="2286000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2535198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667000" y="3874532"/>
            <a:ext cx="28956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 rot="21228949">
            <a:off x="4953000" y="3417332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/>
          <p:nvPr/>
        </p:nvCxnSpPr>
        <p:spPr>
          <a:xfrm>
            <a:off x="2611204" y="2675736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2286000" y="2350532"/>
            <a:ext cx="3657600" cy="1752600"/>
            <a:chOff x="2286000" y="2971800"/>
            <a:chExt cx="3657600" cy="1752600"/>
          </a:xfrm>
        </p:grpSpPr>
        <p:grpSp>
          <p:nvGrpSpPr>
            <p:cNvPr id="45" name="Group 44"/>
            <p:cNvGrpSpPr/>
            <p:nvPr/>
          </p:nvGrpSpPr>
          <p:grpSpPr>
            <a:xfrm>
              <a:off x="2286000" y="2971800"/>
              <a:ext cx="381000" cy="1752600"/>
              <a:chOff x="2286000" y="2971800"/>
              <a:chExt cx="381000" cy="1752600"/>
            </a:xfrm>
          </p:grpSpPr>
          <p:sp>
            <p:nvSpPr>
              <p:cNvPr id="8" name="Smiley Face 7"/>
              <p:cNvSpPr/>
              <p:nvPr/>
            </p:nvSpPr>
            <p:spPr>
              <a:xfrm>
                <a:off x="22860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Smiley Face 26"/>
              <p:cNvSpPr/>
              <p:nvPr/>
            </p:nvSpPr>
            <p:spPr>
              <a:xfrm>
                <a:off x="2286000" y="43434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562600" y="2971800"/>
              <a:ext cx="381000" cy="1676400"/>
              <a:chOff x="5562600" y="2971800"/>
              <a:chExt cx="381000" cy="1676400"/>
            </a:xfrm>
          </p:grpSpPr>
          <p:sp>
            <p:nvSpPr>
              <p:cNvPr id="34" name="Smiley Face 33"/>
              <p:cNvSpPr/>
              <p:nvPr/>
            </p:nvSpPr>
            <p:spPr>
              <a:xfrm>
                <a:off x="55626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Smiley Face 38"/>
              <p:cNvSpPr/>
              <p:nvPr/>
            </p:nvSpPr>
            <p:spPr>
              <a:xfrm>
                <a:off x="5562600" y="42672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Oval 34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68B8345E-D16C-5268-BA7F-C6989CE11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</a:rPr>
                  <a:t>GaleShapley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3600" dirty="0"/>
                  <a:t>,</a:t>
                </a:r>
                <a:r>
                  <a:rPr lang="en-US" sz="36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3600" dirty="0"/>
                  <a:t>)</a:t>
                </a:r>
                <a:br>
                  <a:rPr lang="en-US" sz="3600" dirty="0"/>
                </a:br>
                <a:r>
                  <a:rPr lang="en-US" sz="3600" dirty="0"/>
                  <a:t>(Proof of stability)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68B8345E-D16C-5268-BA7F-C6989CE11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>
                <a:blip r:embed="rId11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3E017CC-AE6E-231C-B5A1-3D1C2E0D09A3}"/>
              </a:ext>
            </a:extLst>
          </p:cNvPr>
          <p:cNvGrpSpPr/>
          <p:nvPr/>
        </p:nvGrpSpPr>
        <p:grpSpPr>
          <a:xfrm rot="20027145">
            <a:off x="2801182" y="2364141"/>
            <a:ext cx="461598" cy="372462"/>
            <a:chOff x="1228910" y="3301148"/>
            <a:chExt cx="461598" cy="372462"/>
          </a:xfrm>
        </p:grpSpPr>
        <p:sp>
          <p:nvSpPr>
            <p:cNvPr id="5" name="Chevron 11">
              <a:extLst>
                <a:ext uri="{FF2B5EF4-FFF2-40B4-BE49-F238E27FC236}">
                  <a16:creationId xmlns:a16="http://schemas.microsoft.com/office/drawing/2014/main" id="{D03FAE23-2D9C-CB31-2BD9-5FECAD9DE3C9}"/>
                </a:ext>
              </a:extLst>
            </p:cNvPr>
            <p:cNvSpPr/>
            <p:nvPr/>
          </p:nvSpPr>
          <p:spPr>
            <a:xfrm rot="1824820">
              <a:off x="1228910" y="33011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48">
              <a:extLst>
                <a:ext uri="{FF2B5EF4-FFF2-40B4-BE49-F238E27FC236}">
                  <a16:creationId xmlns:a16="http://schemas.microsoft.com/office/drawing/2014/main" id="{8834FD76-756E-C129-2604-D477E5B1301C}"/>
                </a:ext>
              </a:extLst>
            </p:cNvPr>
            <p:cNvSpPr/>
            <p:nvPr/>
          </p:nvSpPr>
          <p:spPr>
            <a:xfrm rot="1824820">
              <a:off x="1381310" y="33773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49">
              <a:extLst>
                <a:ext uri="{FF2B5EF4-FFF2-40B4-BE49-F238E27FC236}">
                  <a16:creationId xmlns:a16="http://schemas.microsoft.com/office/drawing/2014/main" id="{8DCD358F-F69F-8993-BE37-9DACB9E42B80}"/>
                </a:ext>
              </a:extLst>
            </p:cNvPr>
            <p:cNvSpPr/>
            <p:nvPr/>
          </p:nvSpPr>
          <p:spPr>
            <a:xfrm rot="1824820">
              <a:off x="1533710" y="34535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869C83-A3F0-B0C9-5DC9-B2E1BF8CC706}"/>
              </a:ext>
            </a:extLst>
          </p:cNvPr>
          <p:cNvSpPr txBox="1"/>
          <p:nvPr/>
        </p:nvSpPr>
        <p:spPr>
          <a:xfrm>
            <a:off x="6557176" y="2883932"/>
            <a:ext cx="2545569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following slide gives </a:t>
            </a:r>
          </a:p>
          <a:p>
            <a:r>
              <a:rPr lang="en-US" dirty="0"/>
              <a:t>the steps of the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3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2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2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2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2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57">
            <a:extLst>
              <a:ext uri="{FF2B5EF4-FFF2-40B4-BE49-F238E27FC236}">
                <a16:creationId xmlns:a16="http://schemas.microsoft.com/office/drawing/2014/main" id="{E5059CA0-DCF3-597A-2264-F44C10E87A2C}"/>
              </a:ext>
            </a:extLst>
          </p:cNvPr>
          <p:cNvSpPr/>
          <p:nvPr/>
        </p:nvSpPr>
        <p:spPr>
          <a:xfrm>
            <a:off x="5420727" y="3518414"/>
            <a:ext cx="685800" cy="6420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61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524000" y="2350532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72200" y="2286000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 rot="21228949">
            <a:off x="4953000" y="3417332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/>
          <p:nvPr/>
        </p:nvCxnSpPr>
        <p:spPr>
          <a:xfrm>
            <a:off x="2611204" y="2675736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2286000" y="2350532"/>
            <a:ext cx="381000" cy="1752600"/>
            <a:chOff x="2286000" y="2971800"/>
            <a:chExt cx="381000" cy="1752600"/>
          </a:xfrm>
        </p:grpSpPr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562600" y="2350532"/>
            <a:ext cx="381000" cy="1676400"/>
            <a:chOff x="5562600" y="2971800"/>
            <a:chExt cx="381000" cy="1676400"/>
          </a:xfrm>
        </p:grpSpPr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Oval 34"/>
          <p:cNvSpPr/>
          <p:nvPr/>
        </p:nvSpPr>
        <p:spPr>
          <a:xfrm>
            <a:off x="2438400" y="3417332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438400" y="2960132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438400" y="3188732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715000" y="3341132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5715000" y="2883932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715000" y="3112532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6EAC85-A20F-8C68-2D66-18C0B141654F}"/>
              </a:ext>
            </a:extLst>
          </p:cNvPr>
          <p:cNvSpPr/>
          <p:nvPr/>
        </p:nvSpPr>
        <p:spPr>
          <a:xfrm>
            <a:off x="2438400" y="2133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C309E-30A4-3BFA-F4F4-E483BEEC8BD7}"/>
              </a:ext>
            </a:extLst>
          </p:cNvPr>
          <p:cNvSpPr/>
          <p:nvPr/>
        </p:nvSpPr>
        <p:spPr>
          <a:xfrm>
            <a:off x="2438400" y="1676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94FA3E-B89D-2554-C84E-404A94B80778}"/>
              </a:ext>
            </a:extLst>
          </p:cNvPr>
          <p:cNvSpPr/>
          <p:nvPr/>
        </p:nvSpPr>
        <p:spPr>
          <a:xfrm>
            <a:off x="2438400" y="19050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EB8511-9152-239A-F7E2-DEE1A72FB1DA}"/>
              </a:ext>
            </a:extLst>
          </p:cNvPr>
          <p:cNvSpPr/>
          <p:nvPr/>
        </p:nvSpPr>
        <p:spPr>
          <a:xfrm>
            <a:off x="2438400" y="49530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E60BA4-CB34-97D4-9E20-23EBBF9A9034}"/>
              </a:ext>
            </a:extLst>
          </p:cNvPr>
          <p:cNvSpPr/>
          <p:nvPr/>
        </p:nvSpPr>
        <p:spPr>
          <a:xfrm>
            <a:off x="2438400" y="44958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1725D-17CF-C6C8-CE0A-03CE3CFE74B8}"/>
              </a:ext>
            </a:extLst>
          </p:cNvPr>
          <p:cNvSpPr/>
          <p:nvPr/>
        </p:nvSpPr>
        <p:spPr>
          <a:xfrm>
            <a:off x="2438400" y="4724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miley Face 14">
            <a:extLst>
              <a:ext uri="{FF2B5EF4-FFF2-40B4-BE49-F238E27FC236}">
                <a16:creationId xmlns:a16="http://schemas.microsoft.com/office/drawing/2014/main" id="{DEED11FB-80F9-DFDF-A712-9A6058DEA6F7}"/>
              </a:ext>
            </a:extLst>
          </p:cNvPr>
          <p:cNvSpPr/>
          <p:nvPr/>
        </p:nvSpPr>
        <p:spPr>
          <a:xfrm>
            <a:off x="5562600" y="1143000"/>
            <a:ext cx="381000" cy="381000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30C9171-F542-A2C5-BD93-72B1F7875212}"/>
              </a:ext>
            </a:extLst>
          </p:cNvPr>
          <p:cNvSpPr/>
          <p:nvPr/>
        </p:nvSpPr>
        <p:spPr>
          <a:xfrm>
            <a:off x="5715000" y="48768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40ECFE-E030-CFE1-9395-7DD8D6A697AC}"/>
              </a:ext>
            </a:extLst>
          </p:cNvPr>
          <p:cNvSpPr/>
          <p:nvPr/>
        </p:nvSpPr>
        <p:spPr>
          <a:xfrm>
            <a:off x="5715000" y="44196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94AF9E-6568-F146-D685-EDE2EFAB3EED}"/>
              </a:ext>
            </a:extLst>
          </p:cNvPr>
          <p:cNvSpPr/>
          <p:nvPr/>
        </p:nvSpPr>
        <p:spPr>
          <a:xfrm>
            <a:off x="5715000" y="4648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F16B88-A57F-8695-F413-D4B18AE19AA8}"/>
              </a:ext>
            </a:extLst>
          </p:cNvPr>
          <p:cNvSpPr/>
          <p:nvPr/>
        </p:nvSpPr>
        <p:spPr>
          <a:xfrm>
            <a:off x="5715000" y="22098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FEBCB2A-03D2-EC2B-2DF8-B0E5BA56E8A9}"/>
              </a:ext>
            </a:extLst>
          </p:cNvPr>
          <p:cNvSpPr/>
          <p:nvPr/>
        </p:nvSpPr>
        <p:spPr>
          <a:xfrm>
            <a:off x="5715000" y="17526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24DB7F-CF5B-5765-3E70-B36C7891694A}"/>
              </a:ext>
            </a:extLst>
          </p:cNvPr>
          <p:cNvSpPr/>
          <p:nvPr/>
        </p:nvSpPr>
        <p:spPr>
          <a:xfrm>
            <a:off x="5715000" y="1981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5E9E7C-5B8F-C442-6D61-009A20FB3DCD}"/>
                  </a:ext>
                </a:extLst>
              </p:cNvPr>
              <p:cNvSpPr txBox="1"/>
              <p:nvPr/>
            </p:nvSpPr>
            <p:spPr>
              <a:xfrm>
                <a:off x="6172200" y="1143000"/>
                <a:ext cx="519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5E9E7C-5B8F-C442-6D61-009A20FB3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143000"/>
                <a:ext cx="51930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118FBC-BEC7-EC57-0315-9990390C4C88}"/>
              </a:ext>
            </a:extLst>
          </p:cNvPr>
          <p:cNvCxnSpPr>
            <a:cxnSpLocks/>
            <a:stCxn id="39" idx="2"/>
            <a:endCxn id="8" idx="5"/>
          </p:cNvCxnSpPr>
          <p:nvPr/>
        </p:nvCxnSpPr>
        <p:spPr>
          <a:xfrm flipH="1" flipV="1">
            <a:off x="2611204" y="2675736"/>
            <a:ext cx="2951396" cy="11606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79E541-615E-F1B4-998D-F664139E906B}"/>
              </a:ext>
            </a:extLst>
          </p:cNvPr>
          <p:cNvCxnSpPr>
            <a:cxnSpLocks/>
          </p:cNvCxnSpPr>
          <p:nvPr/>
        </p:nvCxnSpPr>
        <p:spPr>
          <a:xfrm>
            <a:off x="2590762" y="2657718"/>
            <a:ext cx="3006618" cy="1214427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E58B2E-DC11-41D6-7967-6C49EA05A5DC}"/>
              </a:ext>
            </a:extLst>
          </p:cNvPr>
          <p:cNvCxnSpPr>
            <a:cxnSpLocks/>
            <a:stCxn id="8" idx="6"/>
            <a:endCxn id="15" idx="3"/>
          </p:cNvCxnSpPr>
          <p:nvPr/>
        </p:nvCxnSpPr>
        <p:spPr>
          <a:xfrm flipV="1">
            <a:off x="2667000" y="1468204"/>
            <a:ext cx="2951396" cy="1072828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miley Face 43">
            <a:extLst>
              <a:ext uri="{FF2B5EF4-FFF2-40B4-BE49-F238E27FC236}">
                <a16:creationId xmlns:a16="http://schemas.microsoft.com/office/drawing/2014/main" id="{C659DA7F-CC3E-7B4E-4D46-452D3A8E4676}"/>
              </a:ext>
            </a:extLst>
          </p:cNvPr>
          <p:cNvSpPr/>
          <p:nvPr/>
        </p:nvSpPr>
        <p:spPr>
          <a:xfrm>
            <a:off x="5576692" y="5155168"/>
            <a:ext cx="381000" cy="381000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483D777-8BBA-B697-8AE9-14A72B0B67EC}"/>
                  </a:ext>
                </a:extLst>
              </p:cNvPr>
              <p:cNvSpPr txBox="1"/>
              <p:nvPr/>
            </p:nvSpPr>
            <p:spPr>
              <a:xfrm>
                <a:off x="6186292" y="5155168"/>
                <a:ext cx="54893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483D777-8BBA-B697-8AE9-14A72B0B6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292" y="5155168"/>
                <a:ext cx="548933" cy="390748"/>
              </a:xfrm>
              <a:prstGeom prst="rect">
                <a:avLst/>
              </a:prstGeom>
              <a:blipFill>
                <a:blip r:embed="rId1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7497F87-B108-304A-CC5C-0DF8D307BE40}"/>
              </a:ext>
            </a:extLst>
          </p:cNvPr>
          <p:cNvCxnSpPr>
            <a:cxnSpLocks/>
            <a:stCxn id="8" idx="5"/>
            <a:endCxn id="44" idx="2"/>
          </p:cNvCxnSpPr>
          <p:nvPr/>
        </p:nvCxnSpPr>
        <p:spPr>
          <a:xfrm>
            <a:off x="2611204" y="2675736"/>
            <a:ext cx="2965488" cy="2669932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rc 58">
            <a:extLst>
              <a:ext uri="{FF2B5EF4-FFF2-40B4-BE49-F238E27FC236}">
                <a16:creationId xmlns:a16="http://schemas.microsoft.com/office/drawing/2014/main" id="{C74B2C54-92F5-6BCB-73A1-3BD3CD13F697}"/>
              </a:ext>
            </a:extLst>
          </p:cNvPr>
          <p:cNvSpPr/>
          <p:nvPr/>
        </p:nvSpPr>
        <p:spPr>
          <a:xfrm>
            <a:off x="6163371" y="2508304"/>
            <a:ext cx="1195172" cy="2837364"/>
          </a:xfrm>
          <a:prstGeom prst="arc">
            <a:avLst>
              <a:gd name="adj1" fmla="val 16200000"/>
              <a:gd name="adj2" fmla="val 5405213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D28EFB46-E1C1-FC4C-F5D8-AC1249955CE3}"/>
              </a:ext>
            </a:extLst>
          </p:cNvPr>
          <p:cNvSpPr/>
          <p:nvPr/>
        </p:nvSpPr>
        <p:spPr>
          <a:xfrm>
            <a:off x="6324600" y="1353636"/>
            <a:ext cx="914400" cy="1094343"/>
          </a:xfrm>
          <a:prstGeom prst="arc">
            <a:avLst>
              <a:gd name="adj1" fmla="val 16200000"/>
              <a:gd name="adj2" fmla="val 5405213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947E126-863E-F302-40DD-21DBA25D3B21}"/>
              </a:ext>
            </a:extLst>
          </p:cNvPr>
          <p:cNvCxnSpPr/>
          <p:nvPr/>
        </p:nvCxnSpPr>
        <p:spPr>
          <a:xfrm>
            <a:off x="2667000" y="2535198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21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15" grpId="0" animBg="1"/>
      <p:bldP spid="23" grpId="0"/>
      <p:bldP spid="44" grpId="0" animBg="1"/>
      <p:bldP spid="44" grpId="1" animBg="1"/>
      <p:bldP spid="49" grpId="0"/>
      <p:bldP spid="49" grpId="1"/>
      <p:bldP spid="59" grpId="0" animBg="1"/>
      <p:bldP spid="59" grpId="1" animBg="1"/>
      <p:bldP spid="60" grpId="0" animBg="1"/>
      <p:bldP spid="6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9D2B6EB-8A38-4CCA-4805-EE16A9E6F22A}"/>
              </a:ext>
            </a:extLst>
          </p:cNvPr>
          <p:cNvSpPr/>
          <p:nvPr/>
        </p:nvSpPr>
        <p:spPr>
          <a:xfrm>
            <a:off x="5420727" y="3518414"/>
            <a:ext cx="685800" cy="6420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</a:rPr>
                  <a:t>GaleShapley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3600" dirty="0"/>
                  <a:t>,</a:t>
                </a:r>
                <a:r>
                  <a:rPr lang="en-US" sz="36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3600" dirty="0"/>
                  <a:t>)</a:t>
                </a:r>
                <a:br>
                  <a:rPr lang="en-US" sz="3600" dirty="0"/>
                </a:br>
                <a:r>
                  <a:rPr lang="en-US" sz="3600" dirty="0"/>
                  <a:t>(Proof of stability)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6106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1800" b="0" dirty="0"/>
                  <a:t> 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prefers</a:t>
                </a:r>
                <a:r>
                  <a:rPr lang="en-US" sz="18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610600" cy="5181600"/>
              </a:xfrm>
              <a:blipFill>
                <a:blip r:embed="rId3"/>
                <a:stretch>
                  <a:fillRect l="-737" t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524000" y="2350532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72200" y="2286000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2535198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667000" y="3874532"/>
            <a:ext cx="28956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 rot="21228949">
            <a:off x="4953000" y="3417332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/>
          <p:nvPr/>
        </p:nvCxnSpPr>
        <p:spPr>
          <a:xfrm>
            <a:off x="2611204" y="2675736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2286000" y="2350532"/>
            <a:ext cx="3657600" cy="1752600"/>
            <a:chOff x="2286000" y="2971800"/>
            <a:chExt cx="3657600" cy="1752600"/>
          </a:xfrm>
        </p:grpSpPr>
        <p:grpSp>
          <p:nvGrpSpPr>
            <p:cNvPr id="45" name="Group 44"/>
            <p:cNvGrpSpPr/>
            <p:nvPr/>
          </p:nvGrpSpPr>
          <p:grpSpPr>
            <a:xfrm>
              <a:off x="2286000" y="2971800"/>
              <a:ext cx="381000" cy="1752600"/>
              <a:chOff x="2286000" y="2971800"/>
              <a:chExt cx="381000" cy="1752600"/>
            </a:xfrm>
          </p:grpSpPr>
          <p:sp>
            <p:nvSpPr>
              <p:cNvPr id="8" name="Smiley Face 7"/>
              <p:cNvSpPr/>
              <p:nvPr/>
            </p:nvSpPr>
            <p:spPr>
              <a:xfrm>
                <a:off x="22860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Smiley Face 26"/>
              <p:cNvSpPr/>
              <p:nvPr/>
            </p:nvSpPr>
            <p:spPr>
              <a:xfrm>
                <a:off x="2286000" y="43434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562600" y="2971800"/>
              <a:ext cx="381000" cy="1676400"/>
              <a:chOff x="5562600" y="2971800"/>
              <a:chExt cx="381000" cy="1676400"/>
            </a:xfrm>
          </p:grpSpPr>
          <p:sp>
            <p:nvSpPr>
              <p:cNvPr id="34" name="Smiley Face 33"/>
              <p:cNvSpPr/>
              <p:nvPr/>
            </p:nvSpPr>
            <p:spPr>
              <a:xfrm>
                <a:off x="55626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Smiley Face 38"/>
              <p:cNvSpPr/>
              <p:nvPr/>
            </p:nvSpPr>
            <p:spPr>
              <a:xfrm>
                <a:off x="5562600" y="42672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Oval 34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217522-AD82-283B-5E82-53FBF0AC627C}"/>
              </a:ext>
            </a:extLst>
          </p:cNvPr>
          <p:cNvGrpSpPr/>
          <p:nvPr/>
        </p:nvGrpSpPr>
        <p:grpSpPr>
          <a:xfrm rot="20027145">
            <a:off x="2801182" y="2364141"/>
            <a:ext cx="461598" cy="372462"/>
            <a:chOff x="1228910" y="3301148"/>
            <a:chExt cx="461598" cy="372462"/>
          </a:xfrm>
        </p:grpSpPr>
        <p:sp>
          <p:nvSpPr>
            <p:cNvPr id="14" name="Chevron 11">
              <a:extLst>
                <a:ext uri="{FF2B5EF4-FFF2-40B4-BE49-F238E27FC236}">
                  <a16:creationId xmlns:a16="http://schemas.microsoft.com/office/drawing/2014/main" id="{5A163E1C-1B28-27BD-82C4-4954BCF93B3D}"/>
                </a:ext>
              </a:extLst>
            </p:cNvPr>
            <p:cNvSpPr/>
            <p:nvPr/>
          </p:nvSpPr>
          <p:spPr>
            <a:xfrm rot="1824820">
              <a:off x="1228910" y="33011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hevron 48">
              <a:extLst>
                <a:ext uri="{FF2B5EF4-FFF2-40B4-BE49-F238E27FC236}">
                  <a16:creationId xmlns:a16="http://schemas.microsoft.com/office/drawing/2014/main" id="{7E1B0416-F082-2130-0925-3F7B23D8A0BC}"/>
                </a:ext>
              </a:extLst>
            </p:cNvPr>
            <p:cNvSpPr/>
            <p:nvPr/>
          </p:nvSpPr>
          <p:spPr>
            <a:xfrm rot="1824820">
              <a:off x="1381310" y="33773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Chevron 49">
              <a:extLst>
                <a:ext uri="{FF2B5EF4-FFF2-40B4-BE49-F238E27FC236}">
                  <a16:creationId xmlns:a16="http://schemas.microsoft.com/office/drawing/2014/main" id="{853B231E-E54C-4659-CE2F-9BC469562282}"/>
                </a:ext>
              </a:extLst>
            </p:cNvPr>
            <p:cNvSpPr/>
            <p:nvPr/>
          </p:nvSpPr>
          <p:spPr>
            <a:xfrm rot="1824820">
              <a:off x="1533710" y="34535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82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</a:rPr>
                  <a:t>GaleShapley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3200" dirty="0"/>
                  <a:t>,</a:t>
                </a:r>
                <a:r>
                  <a:rPr lang="en-US" sz="32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0070C0"/>
                    </a:solidFill>
                  </a:rPr>
                  <a:t>GaleShapley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2000" dirty="0"/>
                  <a:t>) indeed computes a stable marriage.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 </a:t>
                </a:r>
                <a:r>
                  <a:rPr lang="en-US" sz="2000" dirty="0"/>
                  <a:t>: Does there exist a </a:t>
                </a:r>
                <a:r>
                  <a:rPr lang="en-US" sz="2000" u="sng" dirty="0"/>
                  <a:t>unique</a:t>
                </a:r>
                <a:r>
                  <a:rPr lang="en-US" sz="2000" dirty="0"/>
                  <a:t> stable marriage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</a:t>
                </a:r>
                <a:r>
                  <a:rPr lang="en-US" sz="2000" b="1" dirty="0"/>
                  <a:t>No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Give an example graph with </a:t>
                </a:r>
                <a:r>
                  <a:rPr lang="en-US" sz="2000" u="sng" dirty="0"/>
                  <a:t>multiple</a:t>
                </a:r>
                <a:r>
                  <a:rPr lang="en-US" sz="2000" dirty="0"/>
                  <a:t> stable matchings.</a:t>
                </a:r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13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Gale Shapley </a:t>
            </a:r>
            <a:r>
              <a:rPr lang="en-US" sz="3200" b="1" dirty="0"/>
              <a:t>Algorithm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0593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Theorem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There cannot exist any other stable matching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40048" y="4583668"/>
            <a:ext cx="1417952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Man Optimal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4084" y="4583668"/>
            <a:ext cx="1789208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Woman </a:t>
            </a:r>
            <a:r>
              <a:rPr lang="en-US" dirty="0" err="1"/>
              <a:t>pessimal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455" y="2514600"/>
            <a:ext cx="758545" cy="17819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511" y="2518422"/>
            <a:ext cx="798189" cy="1596378"/>
          </a:xfrm>
          <a:prstGeom prst="rect">
            <a:avLst/>
          </a:prstGeom>
        </p:spPr>
      </p:pic>
      <p:sp>
        <p:nvSpPr>
          <p:cNvPr id="11" name="Smiley Face 10"/>
          <p:cNvSpPr/>
          <p:nvPr/>
        </p:nvSpPr>
        <p:spPr>
          <a:xfrm>
            <a:off x="2286000" y="2971800"/>
            <a:ext cx="381000" cy="381000"/>
          </a:xfrm>
          <a:prstGeom prst="smileyFace">
            <a:avLst>
              <a:gd name="adj" fmla="val -4653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/>
          <p:cNvSpPr/>
          <p:nvPr/>
        </p:nvSpPr>
        <p:spPr>
          <a:xfrm>
            <a:off x="6858000" y="28194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/>
          <p:cNvSpPr/>
          <p:nvPr/>
        </p:nvSpPr>
        <p:spPr>
          <a:xfrm>
            <a:off x="3657600" y="3048000"/>
            <a:ext cx="2060855" cy="533400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>
            <a:off x="3962400" y="2967978"/>
            <a:ext cx="1371600" cy="765822"/>
          </a:xfrm>
          <a:prstGeom prst="lef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Man  proposing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930EB-9E7B-B5B7-83F0-2A70B883490E}"/>
              </a:ext>
            </a:extLst>
          </p:cNvPr>
          <p:cNvSpPr txBox="1"/>
          <p:nvPr/>
        </p:nvSpPr>
        <p:spPr>
          <a:xfrm>
            <a:off x="4795095" y="1444065"/>
            <a:ext cx="4317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that matches a man to a better woman.</a:t>
            </a:r>
          </a:p>
        </p:txBody>
      </p:sp>
    </p:spTree>
    <p:extLst>
      <p:ext uri="{BB962C8B-B14F-4D97-AF65-F5344CB8AC3E}">
        <p14:creationId xmlns:p14="http://schemas.microsoft.com/office/powerpoint/2010/main" val="62573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11" grpId="0" animBg="1"/>
      <p:bldP spid="12" grpId="0" animBg="1"/>
      <p:bldP spid="13" grpId="0" animBg="1"/>
      <p:bldP spid="9" grpId="0" animBg="1"/>
      <p:bldP spid="9" grpId="1" animBg="1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Gale Shapley </a:t>
            </a:r>
            <a:r>
              <a:rPr lang="en-US" sz="3200" b="1" dirty="0"/>
              <a:t>Algorithm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40048" y="4583668"/>
            <a:ext cx="1529778" cy="369332"/>
          </a:xfrm>
          <a:prstGeom prst="rect">
            <a:avLst/>
          </a:prstGeom>
          <a:solidFill>
            <a:srgbClr val="EFAAF4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Man </a:t>
            </a:r>
            <a:r>
              <a:rPr lang="en-US" dirty="0" err="1"/>
              <a:t>Pessimal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44084" y="4583668"/>
            <a:ext cx="1775358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Woman Optimal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455" y="2514600"/>
            <a:ext cx="758545" cy="17819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511" y="2518422"/>
            <a:ext cx="798189" cy="1596378"/>
          </a:xfrm>
          <a:prstGeom prst="rect">
            <a:avLst/>
          </a:prstGeom>
        </p:spPr>
      </p:pic>
      <p:sp>
        <p:nvSpPr>
          <p:cNvPr id="11" name="Smiley Face 10"/>
          <p:cNvSpPr/>
          <p:nvPr/>
        </p:nvSpPr>
        <p:spPr>
          <a:xfrm>
            <a:off x="2286000" y="2971800"/>
            <a:ext cx="381000" cy="381000"/>
          </a:xfrm>
          <a:prstGeom prst="smileyFace">
            <a:avLst>
              <a:gd name="adj" fmla="val 4653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/>
          <p:cNvSpPr/>
          <p:nvPr/>
        </p:nvSpPr>
        <p:spPr>
          <a:xfrm>
            <a:off x="6858000" y="2819400"/>
            <a:ext cx="381000" cy="381000"/>
          </a:xfrm>
          <a:prstGeom prst="smileyFace">
            <a:avLst>
              <a:gd name="adj" fmla="val -4653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/>
          <p:cNvSpPr/>
          <p:nvPr/>
        </p:nvSpPr>
        <p:spPr>
          <a:xfrm>
            <a:off x="3657600" y="3048000"/>
            <a:ext cx="2060855" cy="533400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 flipH="1">
            <a:off x="4267200" y="2971800"/>
            <a:ext cx="1143000" cy="762000"/>
          </a:xfrm>
          <a:prstGeom prst="lef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Woman  proposing</a:t>
            </a:r>
          </a:p>
        </p:txBody>
      </p:sp>
    </p:spTree>
    <p:extLst>
      <p:ext uri="{BB962C8B-B14F-4D97-AF65-F5344CB8AC3E}">
        <p14:creationId xmlns:p14="http://schemas.microsoft.com/office/powerpoint/2010/main" val="392946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3" grpId="0" animBg="1"/>
      <p:bldP spid="9" grpId="0" animBg="1"/>
      <p:bldP spid="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D6408-E22F-DEB0-804D-0273890D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F1FE-A56B-BE6F-34A2-E6E1601F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Gale Shapley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D8C5D-3D65-D3BE-4F05-40BF16FD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219982-E3B5-D95F-F1C3-1A29387FE372}"/>
              </a:ext>
            </a:extLst>
          </p:cNvPr>
          <p:cNvSpPr txBox="1"/>
          <p:nvPr/>
        </p:nvSpPr>
        <p:spPr>
          <a:xfrm>
            <a:off x="2133600" y="13716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16909B-C60B-1130-CBD6-83727588571B}"/>
              </a:ext>
            </a:extLst>
          </p:cNvPr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38B8E60-299E-B0F9-0AA4-DC27649BD998}"/>
              </a:ext>
            </a:extLst>
          </p:cNvPr>
          <p:cNvGrpSpPr/>
          <p:nvPr/>
        </p:nvGrpSpPr>
        <p:grpSpPr>
          <a:xfrm>
            <a:off x="2286000" y="1828800"/>
            <a:ext cx="381000" cy="4343400"/>
            <a:chOff x="2286000" y="1828800"/>
            <a:chExt cx="381000" cy="4343400"/>
          </a:xfrm>
        </p:grpSpPr>
        <p:sp>
          <p:nvSpPr>
            <p:cNvPr id="5" name="Smiley Face 4">
              <a:extLst>
                <a:ext uri="{FF2B5EF4-FFF2-40B4-BE49-F238E27FC236}">
                  <a16:creationId xmlns:a16="http://schemas.microsoft.com/office/drawing/2014/main" id="{8FD17133-79D5-F7C5-8DD9-C5C49908EFF9}"/>
                </a:ext>
              </a:extLst>
            </p:cNvPr>
            <p:cNvSpPr/>
            <p:nvPr/>
          </p:nvSpPr>
          <p:spPr>
            <a:xfrm>
              <a:off x="2286000" y="1828800"/>
              <a:ext cx="381000" cy="369332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miley Face 6">
              <a:extLst>
                <a:ext uri="{FF2B5EF4-FFF2-40B4-BE49-F238E27FC236}">
                  <a16:creationId xmlns:a16="http://schemas.microsoft.com/office/drawing/2014/main" id="{7F4CB826-902D-96EE-2D44-549E19563D07}"/>
                </a:ext>
              </a:extLst>
            </p:cNvPr>
            <p:cNvSpPr/>
            <p:nvPr/>
          </p:nvSpPr>
          <p:spPr>
            <a:xfrm>
              <a:off x="22860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miley Face 7">
              <a:extLst>
                <a:ext uri="{FF2B5EF4-FFF2-40B4-BE49-F238E27FC236}">
                  <a16:creationId xmlns:a16="http://schemas.microsoft.com/office/drawing/2014/main" id="{0C73444F-41E0-C79E-DCD8-7352EDCEB2D0}"/>
                </a:ext>
              </a:extLst>
            </p:cNvPr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miley Face 8">
              <a:extLst>
                <a:ext uri="{FF2B5EF4-FFF2-40B4-BE49-F238E27FC236}">
                  <a16:creationId xmlns:a16="http://schemas.microsoft.com/office/drawing/2014/main" id="{0D0B3867-2F1C-7E1B-2EAC-9362CE54BD94}"/>
                </a:ext>
              </a:extLst>
            </p:cNvPr>
            <p:cNvSpPr/>
            <p:nvPr/>
          </p:nvSpPr>
          <p:spPr>
            <a:xfrm>
              <a:off x="22860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DDC00B3-2809-A01D-4E8B-097B145685ED}"/>
                </a:ext>
              </a:extLst>
            </p:cNvPr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967319-99E1-FEF2-2178-4EC3E18D29AF}"/>
                </a:ext>
              </a:extLst>
            </p:cNvPr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D8E65B2-875E-D60C-8429-5A4F8C182C7A}"/>
                </a:ext>
              </a:extLst>
            </p:cNvPr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>
              <a:extLst>
                <a:ext uri="{FF2B5EF4-FFF2-40B4-BE49-F238E27FC236}">
                  <a16:creationId xmlns:a16="http://schemas.microsoft.com/office/drawing/2014/main" id="{EFD29D00-7F2C-3586-0A21-E716369D3F8D}"/>
                </a:ext>
              </a:extLst>
            </p:cNvPr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2A3BC88-E5D6-DFA0-8F44-073CF231D1A3}"/>
                </a:ext>
              </a:extLst>
            </p:cNvPr>
            <p:cNvSpPr/>
            <p:nvPr/>
          </p:nvSpPr>
          <p:spPr>
            <a:xfrm>
              <a:off x="2438400" y="54102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4AC84E-8988-3566-827B-A25D1060F1DD}"/>
                </a:ext>
              </a:extLst>
            </p:cNvPr>
            <p:cNvSpPr/>
            <p:nvPr/>
          </p:nvSpPr>
          <p:spPr>
            <a:xfrm>
              <a:off x="2438400" y="4953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B586217-5600-9AD4-44CE-04F98175855A}"/>
                </a:ext>
              </a:extLst>
            </p:cNvPr>
            <p:cNvSpPr/>
            <p:nvPr/>
          </p:nvSpPr>
          <p:spPr>
            <a:xfrm>
              <a:off x="2438400" y="5181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F184195-3E96-FB72-9B99-1369E9A8B449}"/>
              </a:ext>
            </a:extLst>
          </p:cNvPr>
          <p:cNvGrpSpPr/>
          <p:nvPr/>
        </p:nvGrpSpPr>
        <p:grpSpPr>
          <a:xfrm>
            <a:off x="1524000" y="1828800"/>
            <a:ext cx="533400" cy="4331732"/>
            <a:chOff x="1524000" y="1828800"/>
            <a:chExt cx="533400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3C07661-5839-1DB0-6BEC-58C1BF5EB273}"/>
                    </a:ext>
                  </a:extLst>
                </p:cNvPr>
                <p:cNvSpPr txBox="1"/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C7C29D-986B-F161-82F9-A3F238A646C8}"/>
                    </a:ext>
                  </a:extLst>
                </p:cNvPr>
                <p:cNvSpPr txBox="1"/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229B09-5B20-3DCE-D49A-84F36789CE77}"/>
                    </a:ext>
                  </a:extLst>
                </p:cNvPr>
                <p:cNvSpPr txBox="1"/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730A9C7-1E63-4706-F538-BABA88F0324F}"/>
                    </a:ext>
                  </a:extLst>
                </p:cNvPr>
                <p:cNvSpPr txBox="1"/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4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48810D9-D899-16A6-F21E-0E9E9E7DB4AF}"/>
                    </a:ext>
                  </a:extLst>
                </p:cNvPr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8BB7169-7152-C8AD-12D2-B4465731DE16}"/>
              </a:ext>
            </a:extLst>
          </p:cNvPr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>
              <a:extLst>
                <a:ext uri="{FF2B5EF4-FFF2-40B4-BE49-F238E27FC236}">
                  <a16:creationId xmlns:a16="http://schemas.microsoft.com/office/drawing/2014/main" id="{007A3B62-FB5E-CCE0-6E2D-C288BA32BD3B}"/>
                </a:ext>
              </a:extLst>
            </p:cNvPr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46692F-BAA1-674E-2E48-F2A7229583C9}"/>
                </a:ext>
              </a:extLst>
            </p:cNvPr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89BAD7D-29E7-2899-1133-E35BF456B610}"/>
                </a:ext>
              </a:extLst>
            </p:cNvPr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06C9330-B859-BA11-16CC-11E525CC5475}"/>
                </a:ext>
              </a:extLst>
            </p:cNvPr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>
              <a:extLst>
                <a:ext uri="{FF2B5EF4-FFF2-40B4-BE49-F238E27FC236}">
                  <a16:creationId xmlns:a16="http://schemas.microsoft.com/office/drawing/2014/main" id="{B460D671-165D-39CD-9EDB-48502011B8E2}"/>
                </a:ext>
              </a:extLst>
            </p:cNvPr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>
              <a:extLst>
                <a:ext uri="{FF2B5EF4-FFF2-40B4-BE49-F238E27FC236}">
                  <a16:creationId xmlns:a16="http://schemas.microsoft.com/office/drawing/2014/main" id="{0977612B-5665-6853-0861-07A7C0826D8F}"/>
                </a:ext>
              </a:extLst>
            </p:cNvPr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>
              <a:extLst>
                <a:ext uri="{FF2B5EF4-FFF2-40B4-BE49-F238E27FC236}">
                  <a16:creationId xmlns:a16="http://schemas.microsoft.com/office/drawing/2014/main" id="{98C47DC2-2BFA-6710-B7E9-8EC8CCAEA1C5}"/>
                </a:ext>
              </a:extLst>
            </p:cNvPr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BB9D36-F525-2BFF-898E-DD7878F7EDA2}"/>
                </a:ext>
              </a:extLst>
            </p:cNvPr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06D5F87-93AB-F523-09AD-1BE99647C151}"/>
                </a:ext>
              </a:extLst>
            </p:cNvPr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E5E37FF-E43A-6124-E537-6B48092599C6}"/>
                </a:ext>
              </a:extLst>
            </p:cNvPr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>
              <a:extLst>
                <a:ext uri="{FF2B5EF4-FFF2-40B4-BE49-F238E27FC236}">
                  <a16:creationId xmlns:a16="http://schemas.microsoft.com/office/drawing/2014/main" id="{CC244DA3-E0A9-AD54-00F0-F277AB4BBA04}"/>
                </a:ext>
              </a:extLst>
            </p:cNvPr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0D9A0F5-F374-2E29-453B-D7861E267F22}"/>
              </a:ext>
            </a:extLst>
          </p:cNvPr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CC8E667-5358-2183-AB7A-C703A703C2EE}"/>
                    </a:ext>
                  </a:extLst>
                </p:cNvPr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0D70730-CF49-D3FA-E97E-517F5EE2D17B}"/>
                    </a:ext>
                  </a:extLst>
                </p:cNvPr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2D59AB5-D7C1-5902-BF6F-8B50F011D0C0}"/>
                    </a:ext>
                  </a:extLst>
                </p:cNvPr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633B2FF-9179-589A-61ED-AC718F3CD41B}"/>
                    </a:ext>
                  </a:extLst>
                </p:cNvPr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DEBEA04-CEC6-01A8-06DB-9EBBDC1BD3F3}"/>
                    </a:ext>
                  </a:extLst>
                </p:cNvPr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Content Placeholder 60">
            <a:extLst>
              <a:ext uri="{FF2B5EF4-FFF2-40B4-BE49-F238E27FC236}">
                <a16:creationId xmlns:a16="http://schemas.microsoft.com/office/drawing/2014/main" id="{9DC901BD-9E0B-AE6F-B92B-91683888F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91B4B966-2C5E-CFDD-4A7C-26E6D8FCCAEC}"/>
              </a:ext>
            </a:extLst>
          </p:cNvPr>
          <p:cNvSpPr/>
          <p:nvPr/>
        </p:nvSpPr>
        <p:spPr>
          <a:xfrm>
            <a:off x="1467372" y="901465"/>
            <a:ext cx="7436004" cy="787869"/>
          </a:xfrm>
          <a:prstGeom prst="cloudCallout">
            <a:avLst>
              <a:gd name="adj1" fmla="val 45834"/>
              <a:gd name="adj2" fmla="val 683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think of using this algorithm to solve the problem of joint seat allocation ?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13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Gale Shapley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524000" y="1828800"/>
            <a:ext cx="489029" cy="4331732"/>
            <a:chOff x="1524000" y="1828800"/>
            <a:chExt cx="489029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4574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457433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8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4627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46275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71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627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6275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71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456599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30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3005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690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/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/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/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2286000" y="1905000"/>
            <a:ext cx="381000" cy="304800"/>
            <a:chOff x="3200400" y="2438400"/>
            <a:chExt cx="519113" cy="442913"/>
          </a:xfrm>
        </p:grpSpPr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9" name="Group 48"/>
          <p:cNvGrpSpPr/>
          <p:nvPr/>
        </p:nvGrpSpPr>
        <p:grpSpPr>
          <a:xfrm>
            <a:off x="2286000" y="2438400"/>
            <a:ext cx="381000" cy="304800"/>
            <a:chOff x="3200400" y="2438400"/>
            <a:chExt cx="519113" cy="442913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2" name="Group 51"/>
          <p:cNvGrpSpPr/>
          <p:nvPr/>
        </p:nvGrpSpPr>
        <p:grpSpPr>
          <a:xfrm>
            <a:off x="2286000" y="2971800"/>
            <a:ext cx="381000" cy="304800"/>
            <a:chOff x="3200400" y="2438400"/>
            <a:chExt cx="519113" cy="442913"/>
          </a:xfrm>
        </p:grpSpPr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1" name="Group 60"/>
          <p:cNvGrpSpPr/>
          <p:nvPr/>
        </p:nvGrpSpPr>
        <p:grpSpPr>
          <a:xfrm>
            <a:off x="2286000" y="4419600"/>
            <a:ext cx="381000" cy="304800"/>
            <a:chOff x="3200400" y="2438400"/>
            <a:chExt cx="519113" cy="442913"/>
          </a:xfrm>
        </p:grpSpPr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4" name="Group 63"/>
          <p:cNvGrpSpPr/>
          <p:nvPr/>
        </p:nvGrpSpPr>
        <p:grpSpPr>
          <a:xfrm>
            <a:off x="2286000" y="5867400"/>
            <a:ext cx="381000" cy="304800"/>
            <a:chOff x="3200400" y="2438400"/>
            <a:chExt cx="519113" cy="442913"/>
          </a:xfrm>
        </p:grpSpPr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2" name="Oval 81"/>
          <p:cNvSpPr/>
          <p:nvPr/>
        </p:nvSpPr>
        <p:spPr>
          <a:xfrm>
            <a:off x="2438400" y="40386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438400" y="35814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2438400" y="38100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2438400" y="54102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438400" y="49530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2438400" y="51816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0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Gale Shapley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haroni" pitchFamily="2" charset="-79"/>
                <a:cs typeface="Aharoni" pitchFamily="2" charset="-79"/>
              </a:rPr>
              <a:t>Candidates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524000" y="1828800"/>
            <a:ext cx="489029" cy="4331732"/>
            <a:chOff x="1524000" y="1828800"/>
            <a:chExt cx="489029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4574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457433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8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4627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46275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71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627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6275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71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456599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30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3005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690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27596" y="1764268"/>
            <a:ext cx="628058" cy="4385618"/>
            <a:chOff x="6127596" y="1764268"/>
            <a:chExt cx="628058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4397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439736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44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4450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44505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780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4450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445057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780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411074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411074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9403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072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0725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2286000" y="1905000"/>
            <a:ext cx="381000" cy="304800"/>
            <a:chOff x="3200400" y="2438400"/>
            <a:chExt cx="519113" cy="442913"/>
          </a:xfrm>
        </p:grpSpPr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9" name="Group 48"/>
          <p:cNvGrpSpPr/>
          <p:nvPr/>
        </p:nvGrpSpPr>
        <p:grpSpPr>
          <a:xfrm>
            <a:off x="2286000" y="2438400"/>
            <a:ext cx="381000" cy="304800"/>
            <a:chOff x="3200400" y="2438400"/>
            <a:chExt cx="519113" cy="442913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2" name="Group 51"/>
          <p:cNvGrpSpPr/>
          <p:nvPr/>
        </p:nvGrpSpPr>
        <p:grpSpPr>
          <a:xfrm>
            <a:off x="2286000" y="2971800"/>
            <a:ext cx="381000" cy="304800"/>
            <a:chOff x="3200400" y="2438400"/>
            <a:chExt cx="519113" cy="442913"/>
          </a:xfrm>
        </p:grpSpPr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1" name="Group 60"/>
          <p:cNvGrpSpPr/>
          <p:nvPr/>
        </p:nvGrpSpPr>
        <p:grpSpPr>
          <a:xfrm>
            <a:off x="2286000" y="4419600"/>
            <a:ext cx="381000" cy="304800"/>
            <a:chOff x="3200400" y="2438400"/>
            <a:chExt cx="519113" cy="442913"/>
          </a:xfrm>
        </p:grpSpPr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4" name="Group 63"/>
          <p:cNvGrpSpPr/>
          <p:nvPr/>
        </p:nvGrpSpPr>
        <p:grpSpPr>
          <a:xfrm>
            <a:off x="2286000" y="5867400"/>
            <a:ext cx="381000" cy="304800"/>
            <a:chOff x="3200400" y="2438400"/>
            <a:chExt cx="519113" cy="442913"/>
          </a:xfrm>
        </p:grpSpPr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2" name="Oval 81"/>
          <p:cNvSpPr/>
          <p:nvPr/>
        </p:nvSpPr>
        <p:spPr>
          <a:xfrm>
            <a:off x="2438400" y="40386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438400" y="35814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2438400" y="38100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2438400" y="54102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438400" y="49530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2438400" y="51816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53" y="1752600"/>
            <a:ext cx="344447" cy="508842"/>
          </a:xfrm>
        </p:spPr>
      </p:pic>
      <p:pic>
        <p:nvPicPr>
          <p:cNvPr id="55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23105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29201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41393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56633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Oval 67"/>
          <p:cNvSpPr/>
          <p:nvPr/>
        </p:nvSpPr>
        <p:spPr>
          <a:xfrm>
            <a:off x="5715000" y="39624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5715000" y="3505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5715000" y="37338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715000" y="5410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5715000" y="49530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5715000" y="51816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9027" y="304800"/>
            <a:ext cx="5533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Deferred Acceptance </a:t>
            </a:r>
            <a:r>
              <a:rPr lang="en-US" sz="3200" b="1" dirty="0"/>
              <a:t>Algorithm</a:t>
            </a:r>
            <a:endParaRPr lang="en-US" sz="3200" dirty="0"/>
          </a:p>
        </p:txBody>
      </p:sp>
      <p:sp>
        <p:nvSpPr>
          <p:cNvPr id="54" name="TextBox 53"/>
          <p:cNvSpPr txBox="1"/>
          <p:nvPr/>
        </p:nvSpPr>
        <p:spPr>
          <a:xfrm>
            <a:off x="31204" y="2839573"/>
            <a:ext cx="161416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Preference lists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1742" y="3745468"/>
            <a:ext cx="111985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Merit lists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609600" y="3208904"/>
            <a:ext cx="484632" cy="52489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228600" y="2839573"/>
            <a:ext cx="118756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Unstability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20538" y="3745468"/>
            <a:ext cx="117910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Unfairness</a:t>
            </a:r>
          </a:p>
        </p:txBody>
      </p:sp>
      <p:sp>
        <p:nvSpPr>
          <p:cNvPr id="78" name="Down Arrow 77"/>
          <p:cNvSpPr/>
          <p:nvPr/>
        </p:nvSpPr>
        <p:spPr>
          <a:xfrm>
            <a:off x="578396" y="3208904"/>
            <a:ext cx="484632" cy="52489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5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54" grpId="0" animBg="1"/>
      <p:bldP spid="54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haroni" pitchFamily="2" charset="-79"/>
                <a:cs typeface="Aharoni" pitchFamily="2" charset="-79"/>
              </a:rPr>
              <a:t>Candidates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524000" y="1828800"/>
            <a:ext cx="489029" cy="4331732"/>
            <a:chOff x="1524000" y="1828800"/>
            <a:chExt cx="489029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4574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457433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8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4627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46275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71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627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6275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71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456599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30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3005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690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27596" y="1764268"/>
            <a:ext cx="628058" cy="4385618"/>
            <a:chOff x="6127596" y="1764268"/>
            <a:chExt cx="628058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4397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439736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44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4450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44505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780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4450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445057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780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411074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411074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9403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072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0725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2286000" y="1905000"/>
            <a:ext cx="381000" cy="304800"/>
            <a:chOff x="3200400" y="2438400"/>
            <a:chExt cx="519113" cy="442913"/>
          </a:xfrm>
        </p:grpSpPr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9" name="Group 48"/>
          <p:cNvGrpSpPr/>
          <p:nvPr/>
        </p:nvGrpSpPr>
        <p:grpSpPr>
          <a:xfrm>
            <a:off x="2286000" y="2438400"/>
            <a:ext cx="381000" cy="304800"/>
            <a:chOff x="3200400" y="2438400"/>
            <a:chExt cx="519113" cy="442913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2" name="Group 51"/>
          <p:cNvGrpSpPr/>
          <p:nvPr/>
        </p:nvGrpSpPr>
        <p:grpSpPr>
          <a:xfrm>
            <a:off x="2286000" y="2971800"/>
            <a:ext cx="381000" cy="304800"/>
            <a:chOff x="3200400" y="2438400"/>
            <a:chExt cx="519113" cy="442913"/>
          </a:xfrm>
        </p:grpSpPr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1" name="Group 60"/>
          <p:cNvGrpSpPr/>
          <p:nvPr/>
        </p:nvGrpSpPr>
        <p:grpSpPr>
          <a:xfrm>
            <a:off x="2286000" y="4419600"/>
            <a:ext cx="381000" cy="304800"/>
            <a:chOff x="3200400" y="2438400"/>
            <a:chExt cx="519113" cy="442913"/>
          </a:xfrm>
        </p:grpSpPr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4" name="Group 63"/>
          <p:cNvGrpSpPr/>
          <p:nvPr/>
        </p:nvGrpSpPr>
        <p:grpSpPr>
          <a:xfrm>
            <a:off x="2286000" y="5867400"/>
            <a:ext cx="381000" cy="304800"/>
            <a:chOff x="3200400" y="2438400"/>
            <a:chExt cx="519113" cy="442913"/>
          </a:xfrm>
        </p:grpSpPr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2438400"/>
              <a:ext cx="519113" cy="442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2514600"/>
              <a:ext cx="228600" cy="2286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2" name="Oval 81"/>
          <p:cNvSpPr/>
          <p:nvPr/>
        </p:nvSpPr>
        <p:spPr>
          <a:xfrm>
            <a:off x="2438400" y="40386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438400" y="35814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2438400" y="38100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2438400" y="54102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438400" y="49530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2438400" y="5181600"/>
            <a:ext cx="76200" cy="76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53" y="1752600"/>
            <a:ext cx="344447" cy="508842"/>
          </a:xfrm>
        </p:spPr>
      </p:pic>
      <p:pic>
        <p:nvPicPr>
          <p:cNvPr id="55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23105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29201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41393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Content Placeholder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9153" y="5663358"/>
            <a:ext cx="344447" cy="50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Oval 67"/>
          <p:cNvSpPr/>
          <p:nvPr/>
        </p:nvSpPr>
        <p:spPr>
          <a:xfrm>
            <a:off x="5715000" y="39624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5715000" y="3505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5715000" y="37338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715000" y="5410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5715000" y="49530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5715000" y="51816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56527" y="1828800"/>
          <a:ext cx="1510674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1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0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2743200" y="2362200"/>
          <a:ext cx="1510674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1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0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2743200" y="5882640"/>
          <a:ext cx="1510674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1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0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743200" y="4419600"/>
          <a:ext cx="1510674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1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0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2756526" y="2895600"/>
          <a:ext cx="1510674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1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0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39027" y="304800"/>
            <a:ext cx="5533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Deferred Acceptance </a:t>
            </a:r>
            <a:r>
              <a:rPr lang="en-US" sz="3200" b="1" dirty="0"/>
              <a:t>Algorithm</a:t>
            </a:r>
            <a:endParaRPr lang="en-US" sz="32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12BD8F-8713-CA42-A510-26F4501C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8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600" b="1" dirty="0"/>
                  <a:t>Algorithms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1" y="3930134"/>
            <a:ext cx="23622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6C31"/>
                </a:solidFill>
              </a:rPr>
              <a:t>Common man</a:t>
            </a:r>
            <a:r>
              <a:rPr lang="en-US" sz="1600" b="1" dirty="0"/>
              <a:t>’s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9400" y="3930134"/>
            <a:ext cx="271414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6C31"/>
                </a:solidFill>
              </a:rPr>
              <a:t>Software Industry</a:t>
            </a:r>
            <a:r>
              <a:rPr lang="en-US" sz="1600" b="1" dirty="0"/>
              <a:t>’s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930134"/>
            <a:ext cx="283988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Deferred Acceptance </a:t>
            </a:r>
            <a:r>
              <a:rPr lang="en-US" sz="1600" b="1" dirty="0"/>
              <a:t>algorithm</a:t>
            </a:r>
          </a:p>
        </p:txBody>
      </p:sp>
      <p:sp>
        <p:nvSpPr>
          <p:cNvPr id="8" name="Oval 7"/>
          <p:cNvSpPr/>
          <p:nvPr/>
        </p:nvSpPr>
        <p:spPr>
          <a:xfrm>
            <a:off x="3048000" y="1600200"/>
            <a:ext cx="2057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Gale Shapley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algorithm</a:t>
            </a: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5105400" y="2057400"/>
            <a:ext cx="2438400" cy="18727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10200" y="2667000"/>
            <a:ext cx="212558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Candidate proposing</a:t>
            </a:r>
          </a:p>
        </p:txBody>
      </p:sp>
      <p:cxnSp>
        <p:nvCxnSpPr>
          <p:cNvPr id="14" name="Straight Arrow Connector 13"/>
          <p:cNvCxnSpPr>
            <a:stCxn id="8" idx="4"/>
          </p:cNvCxnSpPr>
          <p:nvPr/>
        </p:nvCxnSpPr>
        <p:spPr>
          <a:xfrm>
            <a:off x="4076700" y="2514600"/>
            <a:ext cx="38100" cy="14155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95600" y="2667000"/>
            <a:ext cx="2270814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Programme</a:t>
            </a:r>
            <a:r>
              <a:rPr lang="en-US" dirty="0"/>
              <a:t> proposing</a:t>
            </a:r>
          </a:p>
        </p:txBody>
      </p:sp>
      <p:cxnSp>
        <p:nvCxnSpPr>
          <p:cNvPr id="18" name="Straight Arrow Connector 17"/>
          <p:cNvCxnSpPr>
            <a:stCxn id="8" idx="2"/>
          </p:cNvCxnSpPr>
          <p:nvPr/>
        </p:nvCxnSpPr>
        <p:spPr>
          <a:xfrm flipH="1">
            <a:off x="1219200" y="2057400"/>
            <a:ext cx="1828800" cy="18727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2667000"/>
            <a:ext cx="2270814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Programme</a:t>
            </a:r>
            <a:r>
              <a:rPr lang="en-US" dirty="0"/>
              <a:t> proposing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886" y="2359223"/>
            <a:ext cx="1277914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Limited rounds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1028701" y="4800600"/>
            <a:ext cx="457200" cy="533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miley Face 24"/>
          <p:cNvSpPr/>
          <p:nvPr/>
        </p:nvSpPr>
        <p:spPr>
          <a:xfrm>
            <a:off x="7134940" y="4876800"/>
            <a:ext cx="457200" cy="533400"/>
          </a:xfrm>
          <a:prstGeom prst="smileyFace">
            <a:avLst>
              <a:gd name="adj" fmla="val 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miley Face 25"/>
          <p:cNvSpPr/>
          <p:nvPr/>
        </p:nvSpPr>
        <p:spPr>
          <a:xfrm>
            <a:off x="3947870" y="4876800"/>
            <a:ext cx="457200" cy="533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77000" y="5486400"/>
            <a:ext cx="193912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Candidate Optimal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486400"/>
            <a:ext cx="205094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Candidate </a:t>
            </a:r>
            <a:r>
              <a:rPr lang="en-US" dirty="0" err="1">
                <a:solidFill>
                  <a:srgbClr val="C00000"/>
                </a:solidFill>
              </a:rPr>
              <a:t>Pessimal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800" y="5486400"/>
            <a:ext cx="205094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Candidate </a:t>
            </a:r>
            <a:r>
              <a:rPr lang="en-US" dirty="0" err="1">
                <a:solidFill>
                  <a:srgbClr val="C00000"/>
                </a:solidFill>
              </a:rPr>
              <a:t>Pessimal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7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13" grpId="0" animBg="1"/>
      <p:bldP spid="17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19" grpId="0" animBg="1"/>
      <p:bldP spid="20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Merits of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Deferred Acceptance </a:t>
            </a:r>
            <a:r>
              <a:rPr lang="en-US" sz="2800" b="1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u="sng" dirty="0"/>
          </a:p>
          <a:p>
            <a:r>
              <a:rPr lang="en-US" sz="2000" b="1" u="sng" dirty="0"/>
              <a:t>Any number</a:t>
            </a:r>
            <a:r>
              <a:rPr lang="en-US" sz="2000" dirty="0"/>
              <a:t> of merit lists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06C31"/>
                </a:solidFill>
              </a:rPr>
              <a:t>Candidate optimality </a:t>
            </a:r>
            <a:r>
              <a:rPr lang="en-US" sz="2000" dirty="0"/>
              <a:t>guaranteed</a:t>
            </a:r>
          </a:p>
          <a:p>
            <a:endParaRPr lang="en-US" sz="2000" dirty="0"/>
          </a:p>
          <a:p>
            <a:r>
              <a:rPr lang="en-US" sz="2000" b="1" u="sng" dirty="0"/>
              <a:t>Efficient</a:t>
            </a:r>
            <a:r>
              <a:rPr lang="en-US" sz="2000" dirty="0"/>
              <a:t> Algorithm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447800" y="4381500"/>
            <a:ext cx="259080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Joint Seat Allocation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67200" y="4495800"/>
            <a:ext cx="978408" cy="484632"/>
          </a:xfrm>
          <a:prstGeom prst="righ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10200" y="4343400"/>
            <a:ext cx="259080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70C0"/>
                </a:solidFill>
              </a:rPr>
              <a:t>Deferred Acceptance </a:t>
            </a:r>
            <a:r>
              <a:rPr lang="en-US" sz="2000" dirty="0">
                <a:solidFill>
                  <a:schemeClr val="tx1"/>
                </a:solidFill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244402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F75E-392F-ECCE-C97C-2BB7D7BD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Many complex Business rules </a:t>
            </a:r>
            <a:br>
              <a:rPr lang="en-US" sz="3600" b="1" dirty="0"/>
            </a:br>
            <a:r>
              <a:rPr lang="en-US" sz="3600" dirty="0"/>
              <a:t>of admissions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37BC8-E6AC-78BA-3998-F72BC19A0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Affirmative action rules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Freeze/Float/Slide/withdraw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Supernumerary </a:t>
            </a:r>
            <a:r>
              <a:rPr lang="en-US" sz="2800" dirty="0"/>
              <a:t>Seats for </a:t>
            </a:r>
            <a:r>
              <a:rPr lang="en-US" sz="2800" b="1" dirty="0"/>
              <a:t>Female Candidates</a:t>
            </a:r>
            <a:r>
              <a:rPr lang="en-US" sz="2800" dirty="0"/>
              <a:t> [’18 - ]</a:t>
            </a:r>
          </a:p>
          <a:p>
            <a:pPr lvl="1"/>
            <a:r>
              <a:rPr lang="en-US" sz="2400" dirty="0"/>
              <a:t>No </a:t>
            </a:r>
            <a:r>
              <a:rPr lang="en-US" sz="2400" b="1" dirty="0"/>
              <a:t>increase </a:t>
            </a:r>
            <a:r>
              <a:rPr lang="en-US" sz="2400" dirty="0"/>
              <a:t>in </a:t>
            </a:r>
            <a:r>
              <a:rPr lang="en-US" sz="2400" u="sng" dirty="0"/>
              <a:t>male seats</a:t>
            </a:r>
          </a:p>
          <a:p>
            <a:pPr lvl="1"/>
            <a:r>
              <a:rPr lang="en-US" sz="2400" dirty="0"/>
              <a:t>No </a:t>
            </a:r>
            <a:r>
              <a:rPr lang="en-US" sz="2400" b="1" dirty="0"/>
              <a:t>adverse affect </a:t>
            </a:r>
            <a:r>
              <a:rPr lang="en-US" sz="2400" dirty="0"/>
              <a:t>on chances for the male candidates</a:t>
            </a:r>
          </a:p>
          <a:p>
            <a:pPr lvl="1"/>
            <a:r>
              <a:rPr lang="en-US" sz="2400" dirty="0"/>
              <a:t>Create supernumerary seats (</a:t>
            </a:r>
            <a:r>
              <a:rPr lang="en-US" sz="2400"/>
              <a:t>not reservation at all !)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4018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818A-3CFF-D48B-9889-35547437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Joint Seat Allocation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FD97F30-D318-E044-BAF7-B8B4D9C5D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5CA2F11-2E3C-3C73-D2E1-90F1DAEB95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95789" y="3135365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7489131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458604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5226733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of Seats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C00000"/>
                              </a:solidFill>
                            </a:rPr>
                            <a:t>Vacancies</a:t>
                          </a:r>
                          <a:endParaRPr lang="en-IN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9309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9784</m:t>
                                </m:r>
                              </m:oMath>
                            </m:oMathPara>
                          </a14:m>
                          <a:endParaRPr lang="en-IN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5725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𝟐𝟎𝟏𝟓</m:t>
                                </m:r>
                              </m:oMath>
                            </m:oMathPara>
                          </a14:m>
                          <a:endParaRPr lang="en-IN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373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𝟐𝟎𝟏𝟔</m:t>
                                </m:r>
                              </m:oMath>
                            </m:oMathPara>
                          </a14:m>
                          <a:endParaRPr lang="en-IN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59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𝟐𝟎𝟏𝟕</m:t>
                                </m:r>
                              </m:oMath>
                            </m:oMathPara>
                          </a14:m>
                          <a:endParaRPr lang="en-IN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10988</m:t>
                                </m:r>
                              </m:oMath>
                            </m:oMathPara>
                          </a14:m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28520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5CA2F11-2E3C-3C73-D2E1-90F1DAEB95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0028398"/>
                  </p:ext>
                </p:extLst>
              </p:nvPr>
            </p:nvGraphicFramePr>
            <p:xfrm>
              <a:off x="1895789" y="3135365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7489131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458604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5226733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of Seats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C00000"/>
                              </a:solidFill>
                            </a:rPr>
                            <a:t>Vacancies</a:t>
                          </a:r>
                          <a:endParaRPr lang="en-IN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9309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5" t="-103333" r="-20187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3333" r="-10062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5725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5" t="-210345" r="-201875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373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5" t="-300000" r="-201875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59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5" t="-413793" r="-20187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413793" r="-100621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28520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7502160-3AA4-22A6-6A13-EF7C6D1FF106}"/>
              </a:ext>
            </a:extLst>
          </p:cNvPr>
          <p:cNvSpPr txBox="1"/>
          <p:nvPr/>
        </p:nvSpPr>
        <p:spPr>
          <a:xfrm>
            <a:off x="4160018" y="2535326"/>
            <a:ext cx="169379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Vacancies</a:t>
            </a:r>
            <a:r>
              <a:rPr lang="en-US" dirty="0">
                <a:solidFill>
                  <a:srgbClr val="002060"/>
                </a:solidFill>
              </a:rPr>
              <a:t> in IITs</a:t>
            </a:r>
            <a:endParaRPr lang="en-IN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1C54E9-04BB-9F35-61DF-C3AD6D28CE9C}"/>
                  </a:ext>
                </a:extLst>
              </p:cNvPr>
              <p:cNvSpPr txBox="1"/>
              <p:nvPr/>
            </p:nvSpPr>
            <p:spPr>
              <a:xfrm>
                <a:off x="6640009" y="3536440"/>
                <a:ext cx="651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𝟓𝟖𝟕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1C54E9-04BB-9F35-61DF-C3AD6D28C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009" y="3536440"/>
                <a:ext cx="6511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C1B9-A7AC-42F1-849F-726AE050B493}"/>
                  </a:ext>
                </a:extLst>
              </p:cNvPr>
              <p:cNvSpPr txBox="1"/>
              <p:nvPr/>
            </p:nvSpPr>
            <p:spPr>
              <a:xfrm>
                <a:off x="6640008" y="3908577"/>
                <a:ext cx="651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𝟑𝟎𝟖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C1B9-A7AC-42F1-849F-726AE050B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008" y="3908577"/>
                <a:ext cx="6511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C3E2C1-CC56-C568-0154-CA7AA0F365BE}"/>
                  </a:ext>
                </a:extLst>
              </p:cNvPr>
              <p:cNvSpPr txBox="1"/>
              <p:nvPr/>
            </p:nvSpPr>
            <p:spPr>
              <a:xfrm>
                <a:off x="6633607" y="4279862"/>
                <a:ext cx="651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𝟏𝟗𝟎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C3E2C1-CC56-C568-0154-CA7AA0F36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07" y="4279862"/>
                <a:ext cx="6511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BD1355-0170-59E3-20D8-BE76E824EE8E}"/>
                  </a:ext>
                </a:extLst>
              </p:cNvPr>
              <p:cNvSpPr txBox="1"/>
              <p:nvPr/>
            </p:nvSpPr>
            <p:spPr>
              <a:xfrm>
                <a:off x="6638915" y="4664194"/>
                <a:ext cx="651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𝟏𝟗𝟖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BD1355-0170-59E3-20D8-BE76E824E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915" y="4664194"/>
                <a:ext cx="6511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Down 8">
            <a:extLst>
              <a:ext uri="{FF2B5EF4-FFF2-40B4-BE49-F238E27FC236}">
                <a16:creationId xmlns:a16="http://schemas.microsoft.com/office/drawing/2014/main" id="{FE2ADD2A-8B8D-216E-6C90-F90C2925332B}"/>
              </a:ext>
            </a:extLst>
          </p:cNvPr>
          <p:cNvSpPr/>
          <p:nvPr/>
        </p:nvSpPr>
        <p:spPr>
          <a:xfrm>
            <a:off x="4762532" y="3844217"/>
            <a:ext cx="391885" cy="67063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1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/>
      <p:bldP spid="8" grpId="0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818A-3CFF-D48B-9889-35547437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Joint Seat Allocation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43513-1247-A448-BF90-AFE3D4B6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 single </a:t>
            </a:r>
            <a:r>
              <a:rPr lang="en-US" sz="2000" dirty="0">
                <a:solidFill>
                  <a:srgbClr val="C00000"/>
                </a:solidFill>
              </a:rPr>
              <a:t>vacancy</a:t>
            </a:r>
            <a:r>
              <a:rPr lang="en-US" sz="2000" dirty="0"/>
              <a:t> removed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     many candidates getting </a:t>
            </a:r>
            <a:r>
              <a:rPr lang="en-US" sz="2000" u="sng" dirty="0">
                <a:sym typeface="Wingdings" panose="05000000000000000000" pitchFamily="2" charset="2"/>
              </a:rPr>
              <a:t>better</a:t>
            </a:r>
            <a:r>
              <a:rPr lang="en-US" sz="2000" dirty="0">
                <a:sym typeface="Wingdings" panose="05000000000000000000" pitchFamily="2" charset="2"/>
              </a:rPr>
              <a:t> program (due to cascading effect)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5CA2F11-2E3C-3C73-D2E1-90F1DAEB95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3000" y="3124772"/>
              <a:ext cx="6143172" cy="14782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1748913105"/>
                        </a:ext>
                      </a:extLst>
                    </a:gridCol>
                    <a:gridCol w="4238172">
                      <a:extLst>
                        <a:ext uri="{9D8B030D-6E8A-4147-A177-3AD203B41FA5}">
                          <a16:colId xmlns:a16="http://schemas.microsoft.com/office/drawing/2014/main" val="374586042"/>
                        </a:ext>
                      </a:extLst>
                    </a:gridCol>
                  </a:tblGrid>
                  <a:tr h="347882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of Candidates getting better Seats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9309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𝟐𝟎𝟏𝟓</m:t>
                                </m:r>
                              </m:oMath>
                            </m:oMathPara>
                          </a14:m>
                          <a:endParaRPr lang="en-IN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373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𝟐𝟎𝟏𝟔</m:t>
                                </m:r>
                              </m:oMath>
                            </m:oMathPara>
                          </a14:m>
                          <a:endParaRPr lang="en-IN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59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𝟐𝟎𝟏𝟕</m:t>
                                </m:r>
                              </m:oMath>
                            </m:oMathPara>
                          </a14:m>
                          <a:endParaRPr lang="en-IN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28520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5CA2F11-2E3C-3C73-D2E1-90F1DAEB95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849576"/>
                  </p:ext>
                </p:extLst>
              </p:nvPr>
            </p:nvGraphicFramePr>
            <p:xfrm>
              <a:off x="1143000" y="3124772"/>
              <a:ext cx="6143172" cy="14782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1748913105"/>
                        </a:ext>
                      </a:extLst>
                    </a:gridCol>
                    <a:gridCol w="4238172">
                      <a:extLst>
                        <a:ext uri="{9D8B030D-6E8A-4147-A177-3AD203B41FA5}">
                          <a16:colId xmlns:a16="http://schemas.microsoft.com/office/drawing/2014/main" val="37458604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of Candidates getting better Seats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9309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7" t="-110345" r="-224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373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7" t="-203333" r="-224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59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7" t="-313793" r="-224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28520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EE21DD-E837-A359-9DBC-A9658E5C5FDE}"/>
                  </a:ext>
                </a:extLst>
              </p:cNvPr>
              <p:cNvSpPr txBox="1"/>
              <p:nvPr/>
            </p:nvSpPr>
            <p:spPr>
              <a:xfrm>
                <a:off x="4544999" y="3429000"/>
                <a:ext cx="7889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𝟏𝟖𝟗𝟎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EE21DD-E837-A359-9DBC-A9658E5C5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999" y="3429000"/>
                <a:ext cx="7889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B10786-4196-8963-B29D-AF978CDC5813}"/>
                  </a:ext>
                </a:extLst>
              </p:cNvPr>
              <p:cNvSpPr txBox="1"/>
              <p:nvPr/>
            </p:nvSpPr>
            <p:spPr>
              <a:xfrm>
                <a:off x="4545001" y="3817164"/>
                <a:ext cx="7889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𝟏𝟕𝟔𝟕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B10786-4196-8963-B29D-AF978CDC5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001" y="3817164"/>
                <a:ext cx="7889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510799-5D07-EADD-CC21-5E39E783843A}"/>
                  </a:ext>
                </a:extLst>
              </p:cNvPr>
              <p:cNvSpPr txBox="1"/>
              <p:nvPr/>
            </p:nvSpPr>
            <p:spPr>
              <a:xfrm>
                <a:off x="4545000" y="4205328"/>
                <a:ext cx="7889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𝟑𝟔𝟕𝟐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510799-5D07-EADD-CC21-5E39E7838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000" y="4205328"/>
                <a:ext cx="78899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952CA8-89FF-E2E0-CE19-738552AD450F}"/>
                  </a:ext>
                </a:extLst>
              </p:cNvPr>
              <p:cNvSpPr txBox="1"/>
              <p:nvPr/>
            </p:nvSpPr>
            <p:spPr>
              <a:xfrm>
                <a:off x="7486022" y="4045368"/>
                <a:ext cx="1130438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𝟑𝟎𝟎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952CA8-89FF-E2E0-CE19-738552AD4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022" y="4045368"/>
                <a:ext cx="11304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65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2E65-747F-DF69-8B49-E530A9C6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2EBE-2ACB-FCE8-C4EA-DFD3D983F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Algorithms do have great impact in real world …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32D65-612F-97D2-29F8-6BDBBB8B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7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02BEDF2-238C-8129-587E-75745C01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Joint Seat Allocation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3661AF-17F1-AF9E-F8B6-B16C1A854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r>
              <a:rPr lang="en-US" sz="2400" dirty="0"/>
              <a:t>INFORMS J. Appl. Anal., 49(5) 338-354 (2019)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above research paper is available on the homepage of the instructor.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Read it to see the role of algorithms in your journey to IITK </a:t>
            </a:r>
            <a:r>
              <a:rPr lang="en-US" sz="2400" dirty="0">
                <a:sym typeface="Wingdings" pitchFamily="2" charset="2"/>
              </a:rPr>
              <a:t></a:t>
            </a:r>
          </a:p>
          <a:p>
            <a:pPr marL="0" indent="0">
              <a:buNone/>
            </a:pPr>
            <a:r>
              <a:rPr lang="en-US" sz="2400" dirty="0">
                <a:sym typeface="Wingdings" pitchFamily="2" charset="2"/>
              </a:rPr>
              <a:t>Not meant for exam or quizzes 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1B9F35-7247-4AE7-1AC2-80DF28E68F1C}"/>
              </a:ext>
            </a:extLst>
          </p:cNvPr>
          <p:cNvSpPr txBox="1"/>
          <p:nvPr/>
        </p:nvSpPr>
        <p:spPr>
          <a:xfrm>
            <a:off x="914400" y="2687903"/>
            <a:ext cx="662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002060"/>
                </a:solidFill>
                <a:effectLst/>
                <a:latin typeface="Open Sans" panose="020B0604020202020204" pitchFamily="34" charset="0"/>
              </a:rPr>
              <a:t>Centralized Admissions for Engineering Colleges in India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AD8B1-FD50-0AFA-1243-5A194803AEDC}"/>
              </a:ext>
            </a:extLst>
          </p:cNvPr>
          <p:cNvSpPr txBox="1"/>
          <p:nvPr/>
        </p:nvSpPr>
        <p:spPr>
          <a:xfrm>
            <a:off x="1371600" y="3057235"/>
            <a:ext cx="5021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/>
            <a:r>
              <a:rPr lang="en-US" sz="1400" dirty="0"/>
              <a:t>S. Baswana, P. P. Chakrabarti, S. Chandran, Y. Kanoria, U. </a:t>
            </a:r>
            <a:r>
              <a:rPr lang="en-US" sz="1400" dirty="0" err="1"/>
              <a:t>Patange</a:t>
            </a:r>
            <a:r>
              <a:rPr lang="en-US" sz="14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4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Gayle Shapley </a:t>
            </a:r>
            <a:r>
              <a:rPr lang="en-US" sz="3200" b="1" dirty="0"/>
              <a:t>Algorithm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Proof of </a:t>
            </a:r>
            <a:r>
              <a:rPr lang="en-US" b="1" dirty="0">
                <a:solidFill>
                  <a:srgbClr val="7030A0"/>
                </a:solidFill>
              </a:rPr>
              <a:t>Man optimality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418BA-F048-EC6C-2E30-16742C8F0928}"/>
              </a:ext>
            </a:extLst>
          </p:cNvPr>
          <p:cNvSpPr txBox="1"/>
          <p:nvPr/>
        </p:nvSpPr>
        <p:spPr>
          <a:xfrm>
            <a:off x="3398441" y="3189327"/>
            <a:ext cx="2347117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Man-Proposing </a:t>
            </a:r>
            <a:r>
              <a:rPr lang="en-US" sz="1800" i="1" dirty="0"/>
              <a:t>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1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Gale Shapley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0" y="1828800"/>
            <a:ext cx="381000" cy="4343400"/>
            <a:chOff x="2286000" y="1828800"/>
            <a:chExt cx="381000" cy="4343400"/>
          </a:xfrm>
        </p:grpSpPr>
        <p:sp>
          <p:nvSpPr>
            <p:cNvPr id="5" name="Smiley Face 4"/>
            <p:cNvSpPr/>
            <p:nvPr/>
          </p:nvSpPr>
          <p:spPr>
            <a:xfrm>
              <a:off x="2286000" y="1828800"/>
              <a:ext cx="381000" cy="369332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miley Face 6"/>
            <p:cNvSpPr/>
            <p:nvPr/>
          </p:nvSpPr>
          <p:spPr>
            <a:xfrm>
              <a:off x="22860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22860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38400" y="54102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438400" y="4953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438400" y="5181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1828800"/>
            <a:ext cx="533400" cy="4331732"/>
            <a:chOff x="1524000" y="1828800"/>
            <a:chExt cx="533400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4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/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/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/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Content Placeholder 6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6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15384-D5F4-2FDE-DF77-18B1E4BDF7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58213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2000" dirty="0"/>
                  <a:t>be the matching produced by GS algorithm.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IN" sz="2000" dirty="0"/>
                  <a:t> be any other stable matching.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b="1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15384-D5F4-2FDE-DF77-18B1E4BDF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5821363"/>
              </a:xfrm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6C3C9C-5049-0BD7-6B52-7B352776C920}"/>
                  </a:ext>
                </a:extLst>
              </p:cNvPr>
              <p:cNvSpPr txBox="1"/>
              <p:nvPr/>
            </p:nvSpPr>
            <p:spPr>
              <a:xfrm>
                <a:off x="409723" y="3352800"/>
                <a:ext cx="6063904" cy="106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does </a:t>
                </a:r>
                <a:r>
                  <a:rPr lang="en-US" sz="2000" u="sng" dirty="0"/>
                  <a:t>not</a:t>
                </a:r>
                <a:r>
                  <a:rPr lang="en-US" sz="2000" dirty="0"/>
                  <a:t>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 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in  the  preference  list 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6C3C9C-5049-0BD7-6B52-7B352776C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23" y="3352800"/>
                <a:ext cx="6063904" cy="1065035"/>
              </a:xfrm>
              <a:prstGeom prst="rect">
                <a:avLst/>
              </a:prstGeom>
              <a:blipFill>
                <a:blip r:embed="rId3"/>
                <a:stretch>
                  <a:fillRect l="-1046" t="-3571" r="-20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C1F50-EC17-83FD-1E86-6B32CBBF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F5E555-1AA8-100D-1EBD-CE9B11E5F205}"/>
              </a:ext>
            </a:extLst>
          </p:cNvPr>
          <p:cNvSpPr/>
          <p:nvPr/>
        </p:nvSpPr>
        <p:spPr>
          <a:xfrm>
            <a:off x="1219200" y="9906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70489-9A50-2759-0ECD-75FD1A65F858}"/>
              </a:ext>
            </a:extLst>
          </p:cNvPr>
          <p:cNvSpPr/>
          <p:nvPr/>
        </p:nvSpPr>
        <p:spPr>
          <a:xfrm>
            <a:off x="1219200" y="1686232"/>
            <a:ext cx="5334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9319A4-0718-A5BC-FBDE-2389B080B1DE}"/>
              </a:ext>
            </a:extLst>
          </p:cNvPr>
          <p:cNvSpPr/>
          <p:nvPr/>
        </p:nvSpPr>
        <p:spPr>
          <a:xfrm>
            <a:off x="2628900" y="3655835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DFBFD-B137-75B1-DE0C-B7AC582E6DC7}"/>
              </a:ext>
            </a:extLst>
          </p:cNvPr>
          <p:cNvSpPr/>
          <p:nvPr/>
        </p:nvSpPr>
        <p:spPr>
          <a:xfrm>
            <a:off x="3200400" y="4036835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7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9B3CC-0784-C094-5E0B-45784ADA7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000" dirty="0"/>
                  <a:t> the set of men matched by </a:t>
                </a:r>
                <a:r>
                  <a:rPr lang="en-IN" sz="2000" dirty="0">
                    <a:solidFill>
                      <a:srgbClr val="002060"/>
                    </a:solidFill>
                  </a:rPr>
                  <a:t>GS</a:t>
                </a:r>
                <a:r>
                  <a:rPr lang="en-IN" sz="2000" dirty="0"/>
                  <a:t> algorithm.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𝒊</m:t>
                        </m:r>
                      </m:sub>
                    </m:sSub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9B3CC-0784-C094-5E0B-45784ADA7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6D856-F307-2EC8-C9A8-A8385551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F1AC53-9AB5-AF43-A43D-7A372B1A4AB9}"/>
                  </a:ext>
                </a:extLst>
              </p:cNvPr>
              <p:cNvSpPr txBox="1"/>
              <p:nvPr/>
            </p:nvSpPr>
            <p:spPr>
              <a:xfrm>
                <a:off x="409723" y="132043"/>
                <a:ext cx="6063904" cy="106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does </a:t>
                </a:r>
                <a:r>
                  <a:rPr lang="en-US" sz="2000" u="sng" dirty="0"/>
                  <a:t>not</a:t>
                </a:r>
                <a:r>
                  <a:rPr lang="en-US" sz="2000" dirty="0"/>
                  <a:t>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 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in  the  preference  list 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F1AC53-9AB5-AF43-A43D-7A372B1A4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23" y="132043"/>
                <a:ext cx="6063904" cy="1065035"/>
              </a:xfrm>
              <a:prstGeom prst="rect">
                <a:avLst/>
              </a:prstGeom>
              <a:blipFill>
                <a:blip r:embed="rId3"/>
                <a:stretch>
                  <a:fillRect l="-1005" t="-3448" r="-201" b="-8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5FD7BF-6BF1-0039-11F3-64433ADDA8C6}"/>
                  </a:ext>
                </a:extLst>
              </p:cNvPr>
              <p:cNvSpPr txBox="1"/>
              <p:nvPr/>
            </p:nvSpPr>
            <p:spPr>
              <a:xfrm>
                <a:off x="461682" y="3733800"/>
                <a:ext cx="6333657" cy="1375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/>
                  <a:t>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5FD7BF-6BF1-0039-11F3-64433ADDA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82" y="3733800"/>
                <a:ext cx="6333657" cy="1375505"/>
              </a:xfrm>
              <a:prstGeom prst="rect">
                <a:avLst/>
              </a:prstGeom>
              <a:blipFill>
                <a:blip r:embed="rId4"/>
                <a:stretch>
                  <a:fillRect l="-1000" t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1D859EA-A163-9DE5-A7E2-7E1EEB1A13D5}"/>
              </a:ext>
            </a:extLst>
          </p:cNvPr>
          <p:cNvSpPr/>
          <p:nvPr/>
        </p:nvSpPr>
        <p:spPr>
          <a:xfrm>
            <a:off x="914400" y="2368345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C3445-AD49-1B15-D3F2-B0D765B14C2A}"/>
              </a:ext>
            </a:extLst>
          </p:cNvPr>
          <p:cNvSpPr/>
          <p:nvPr/>
        </p:nvSpPr>
        <p:spPr>
          <a:xfrm>
            <a:off x="914400" y="26670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8BA2C4-5F13-50D1-3A4C-24DE40BF4D69}"/>
              </a:ext>
            </a:extLst>
          </p:cNvPr>
          <p:cNvSpPr/>
          <p:nvPr/>
        </p:nvSpPr>
        <p:spPr>
          <a:xfrm>
            <a:off x="3124200" y="41148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23ECD-C1C2-7F96-9DD5-2491D01BEB20}"/>
              </a:ext>
            </a:extLst>
          </p:cNvPr>
          <p:cNvSpPr/>
          <p:nvPr/>
        </p:nvSpPr>
        <p:spPr>
          <a:xfrm>
            <a:off x="3048000" y="44196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42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6" grpId="0" animBg="1"/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9371-6A92-CF2A-18C7-DF246267F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2EB64AB-EBD7-851C-935A-DC8BBF6A11B7}"/>
              </a:ext>
            </a:extLst>
          </p:cNvPr>
          <p:cNvGrpSpPr/>
          <p:nvPr/>
        </p:nvGrpSpPr>
        <p:grpSpPr>
          <a:xfrm>
            <a:off x="609600" y="2209800"/>
            <a:ext cx="2667000" cy="2209800"/>
            <a:chOff x="609600" y="2209800"/>
            <a:chExt cx="2667000" cy="22098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67189B2-D80F-5FA0-5025-5411A31D118E}"/>
                </a:ext>
              </a:extLst>
            </p:cNvPr>
            <p:cNvSpPr/>
            <p:nvPr/>
          </p:nvSpPr>
          <p:spPr>
            <a:xfrm>
              <a:off x="609600" y="2209800"/>
              <a:ext cx="2667000" cy="22098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Smiley Face 9">
              <a:extLst>
                <a:ext uri="{FF2B5EF4-FFF2-40B4-BE49-F238E27FC236}">
                  <a16:creationId xmlns:a16="http://schemas.microsoft.com/office/drawing/2014/main" id="{387DD314-7274-CCE0-5A78-17225971743C}"/>
                </a:ext>
              </a:extLst>
            </p:cNvPr>
            <p:cNvSpPr/>
            <p:nvPr/>
          </p:nvSpPr>
          <p:spPr>
            <a:xfrm>
              <a:off x="2523565" y="4091779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miley Face 11">
              <a:extLst>
                <a:ext uri="{FF2B5EF4-FFF2-40B4-BE49-F238E27FC236}">
                  <a16:creationId xmlns:a16="http://schemas.microsoft.com/office/drawing/2014/main" id="{9874D455-5C57-5F7A-8784-7FC9EAB0F25F}"/>
                </a:ext>
              </a:extLst>
            </p:cNvPr>
            <p:cNvSpPr/>
            <p:nvPr/>
          </p:nvSpPr>
          <p:spPr>
            <a:xfrm>
              <a:off x="1066800" y="40917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miley Face 21">
              <a:extLst>
                <a:ext uri="{FF2B5EF4-FFF2-40B4-BE49-F238E27FC236}">
                  <a16:creationId xmlns:a16="http://schemas.microsoft.com/office/drawing/2014/main" id="{5E5EE209-47D1-52E5-FC18-EF5C44AAFFC0}"/>
                </a:ext>
              </a:extLst>
            </p:cNvPr>
            <p:cNvSpPr/>
            <p:nvPr/>
          </p:nvSpPr>
          <p:spPr>
            <a:xfrm>
              <a:off x="25146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miley Face 22">
              <a:extLst>
                <a:ext uri="{FF2B5EF4-FFF2-40B4-BE49-F238E27FC236}">
                  <a16:creationId xmlns:a16="http://schemas.microsoft.com/office/drawing/2014/main" id="{6B4B32EE-886B-D2AE-E003-72B52E53323C}"/>
                </a:ext>
              </a:extLst>
            </p:cNvPr>
            <p:cNvSpPr/>
            <p:nvPr/>
          </p:nvSpPr>
          <p:spPr>
            <a:xfrm>
              <a:off x="10668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8FBF51-9068-EAAD-190C-885823409913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295400" y="2488010"/>
              <a:ext cx="12192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D678D7B-B9C1-7EE9-C8C2-D4E1535C63E9}"/>
                </a:ext>
              </a:extLst>
            </p:cNvPr>
            <p:cNvSpPr/>
            <p:nvPr/>
          </p:nvSpPr>
          <p:spPr>
            <a:xfrm>
              <a:off x="1143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1E7E9F-C314-7834-3F69-0E1CC6F7CDAE}"/>
                </a:ext>
              </a:extLst>
            </p:cNvPr>
            <p:cNvSpPr/>
            <p:nvPr/>
          </p:nvSpPr>
          <p:spPr>
            <a:xfrm>
              <a:off x="1143000" y="29718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023758B-013B-6329-BC9E-A346D9E77081}"/>
                </a:ext>
              </a:extLst>
            </p:cNvPr>
            <p:cNvSpPr/>
            <p:nvPr/>
          </p:nvSpPr>
          <p:spPr>
            <a:xfrm>
              <a:off x="1143000" y="3276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5A94F59-1C57-8DB0-2CE6-39B1D23BCE30}"/>
                </a:ext>
              </a:extLst>
            </p:cNvPr>
            <p:cNvGrpSpPr/>
            <p:nvPr/>
          </p:nvGrpSpPr>
          <p:grpSpPr>
            <a:xfrm>
              <a:off x="2568388" y="2971800"/>
              <a:ext cx="76200" cy="685800"/>
              <a:chOff x="5715000" y="1676400"/>
              <a:chExt cx="76200" cy="6858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3F8B173-8C93-6E39-98B2-608C57592375}"/>
                  </a:ext>
                </a:extLst>
              </p:cNvPr>
              <p:cNvSpPr/>
              <p:nvPr/>
            </p:nvSpPr>
            <p:spPr>
              <a:xfrm>
                <a:off x="5715000" y="22860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4D2AF27-F06F-109D-4AE6-90DE3ABD9FA2}"/>
                  </a:ext>
                </a:extLst>
              </p:cNvPr>
              <p:cNvSpPr/>
              <p:nvPr/>
            </p:nvSpPr>
            <p:spPr>
              <a:xfrm>
                <a:off x="5715000" y="16764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30B32E3-96D8-AE8F-F8BA-67A7B82CA26F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390915C-C93D-D01F-413D-BD8E242A916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217588"/>
              <a:ext cx="12192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288F4B-ABC3-69DE-A888-D7786D734734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A5A39A8-0CE3-6EBD-4BF8-7AD31DC4DE65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Smiley Face 17">
              <a:extLst>
                <a:ext uri="{FF2B5EF4-FFF2-40B4-BE49-F238E27FC236}">
                  <a16:creationId xmlns:a16="http://schemas.microsoft.com/office/drawing/2014/main" id="{307A794B-2E2A-3EE2-18EF-17B47C64CBE7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miley Face 18">
              <a:extLst>
                <a:ext uri="{FF2B5EF4-FFF2-40B4-BE49-F238E27FC236}">
                  <a16:creationId xmlns:a16="http://schemas.microsoft.com/office/drawing/2014/main" id="{05EB2358-E304-E770-CB5E-BBC76E11B26A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miley Face 19">
              <a:extLst>
                <a:ext uri="{FF2B5EF4-FFF2-40B4-BE49-F238E27FC236}">
                  <a16:creationId xmlns:a16="http://schemas.microsoft.com/office/drawing/2014/main" id="{69DA5033-454A-7D70-D5E2-E48CD46B3077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miley Face 20">
              <a:extLst>
                <a:ext uri="{FF2B5EF4-FFF2-40B4-BE49-F238E27FC236}">
                  <a16:creationId xmlns:a16="http://schemas.microsoft.com/office/drawing/2014/main" id="{FD582C9E-AD9D-BE1F-B15C-147E7F8A580D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89F8A49-6196-C428-F12D-ADFDD36BD3A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EE480CB-E1B4-24FD-24BC-02C48191B5E5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0123F21-BB21-7EA2-B21E-B3C87647EDDD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BC2F8D0-D612-E705-8A84-9680C625A4D8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3CC21DA-254C-837A-454B-6B687268EDD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037628-1AF8-20DC-1CAF-A5EB04219440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112BE9B-89C1-C5A9-7F03-125E53B28F45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2A5E10E-3488-B471-6125-C2391002E679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EACC37E-C9FF-3470-D7CC-C827EFAA370E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/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555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9371-6A92-CF2A-18C7-DF246267F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1</a:t>
            </a:r>
            <a:r>
              <a:rPr lang="en-IN" sz="2000" dirty="0"/>
              <a:t>st 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2EB64AB-EBD7-851C-935A-DC8BBF6A11B7}"/>
              </a:ext>
            </a:extLst>
          </p:cNvPr>
          <p:cNvGrpSpPr/>
          <p:nvPr/>
        </p:nvGrpSpPr>
        <p:grpSpPr>
          <a:xfrm>
            <a:off x="609600" y="2209800"/>
            <a:ext cx="2590800" cy="609600"/>
            <a:chOff x="609600" y="2209800"/>
            <a:chExt cx="2590800" cy="609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67189B2-D80F-5FA0-5025-5411A31D118E}"/>
                </a:ext>
              </a:extLst>
            </p:cNvPr>
            <p:cNvSpPr/>
            <p:nvPr/>
          </p:nvSpPr>
          <p:spPr>
            <a:xfrm>
              <a:off x="609600" y="2209800"/>
              <a:ext cx="2590800" cy="6096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Smiley Face 21">
              <a:extLst>
                <a:ext uri="{FF2B5EF4-FFF2-40B4-BE49-F238E27FC236}">
                  <a16:creationId xmlns:a16="http://schemas.microsoft.com/office/drawing/2014/main" id="{5E5EE209-47D1-52E5-FC18-EF5C44AAFFC0}"/>
                </a:ext>
              </a:extLst>
            </p:cNvPr>
            <p:cNvSpPr/>
            <p:nvPr/>
          </p:nvSpPr>
          <p:spPr>
            <a:xfrm>
              <a:off x="25146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miley Face 22">
              <a:extLst>
                <a:ext uri="{FF2B5EF4-FFF2-40B4-BE49-F238E27FC236}">
                  <a16:creationId xmlns:a16="http://schemas.microsoft.com/office/drawing/2014/main" id="{6B4B32EE-886B-D2AE-E003-72B52E53323C}"/>
                </a:ext>
              </a:extLst>
            </p:cNvPr>
            <p:cNvSpPr/>
            <p:nvPr/>
          </p:nvSpPr>
          <p:spPr>
            <a:xfrm>
              <a:off x="10668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8FBF51-9068-EAAD-190C-885823409913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295400" y="2488010"/>
              <a:ext cx="12192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288F4B-ABC3-69DE-A888-D7786D734734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A5A39A8-0CE3-6EBD-4BF8-7AD31DC4DE65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Smiley Face 17">
              <a:extLst>
                <a:ext uri="{FF2B5EF4-FFF2-40B4-BE49-F238E27FC236}">
                  <a16:creationId xmlns:a16="http://schemas.microsoft.com/office/drawing/2014/main" id="{307A794B-2E2A-3EE2-18EF-17B47C64CBE7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miley Face 18">
              <a:extLst>
                <a:ext uri="{FF2B5EF4-FFF2-40B4-BE49-F238E27FC236}">
                  <a16:creationId xmlns:a16="http://schemas.microsoft.com/office/drawing/2014/main" id="{05EB2358-E304-E770-CB5E-BBC76E11B26A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miley Face 19">
              <a:extLst>
                <a:ext uri="{FF2B5EF4-FFF2-40B4-BE49-F238E27FC236}">
                  <a16:creationId xmlns:a16="http://schemas.microsoft.com/office/drawing/2014/main" id="{69DA5033-454A-7D70-D5E2-E48CD46B3077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miley Face 20">
              <a:extLst>
                <a:ext uri="{FF2B5EF4-FFF2-40B4-BE49-F238E27FC236}">
                  <a16:creationId xmlns:a16="http://schemas.microsoft.com/office/drawing/2014/main" id="{FD582C9E-AD9D-BE1F-B15C-147E7F8A580D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89F8A49-6196-C428-F12D-ADFDD36BD3A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EE480CB-E1B4-24FD-24BC-02C48191B5E5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0123F21-BB21-7EA2-B21E-B3C87647EDDD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BC2F8D0-D612-E705-8A84-9680C625A4D8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3CC21DA-254C-837A-454B-6B687268EDD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037628-1AF8-20DC-1CAF-A5EB04219440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112BE9B-89C1-C5A9-7F03-125E53B28F45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2A5E10E-3488-B471-6125-C2391002E679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EACC37E-C9FF-3470-D7CC-C827EFAA370E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/>
              <p:nvPr/>
            </p:nvSpPr>
            <p:spPr>
              <a:xfrm>
                <a:off x="1723360" y="28194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2819400"/>
                <a:ext cx="47795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91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59371-6A92-CF2A-18C7-DF246267F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th iteration: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59371-6A92-CF2A-18C7-DF246267F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7189B2-D80F-5FA0-5025-5411A31D118E}"/>
              </a:ext>
            </a:extLst>
          </p:cNvPr>
          <p:cNvSpPr/>
          <p:nvPr/>
        </p:nvSpPr>
        <p:spPr>
          <a:xfrm>
            <a:off x="609600" y="2209800"/>
            <a:ext cx="2667000" cy="22098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/>
              <p:nvPr/>
            </p:nvSpPr>
            <p:spPr>
              <a:xfrm>
                <a:off x="1723360" y="44196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4419600"/>
                <a:ext cx="662297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miley Face 9">
            <a:extLst>
              <a:ext uri="{FF2B5EF4-FFF2-40B4-BE49-F238E27FC236}">
                <a16:creationId xmlns:a16="http://schemas.microsoft.com/office/drawing/2014/main" id="{387DD314-7274-CCE0-5A78-17225971743C}"/>
              </a:ext>
            </a:extLst>
          </p:cNvPr>
          <p:cNvSpPr/>
          <p:nvPr/>
        </p:nvSpPr>
        <p:spPr>
          <a:xfrm>
            <a:off x="2523565" y="4091779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9874D455-5C57-5F7A-8784-7FC9EAB0F25F}"/>
              </a:ext>
            </a:extLst>
          </p:cNvPr>
          <p:cNvSpPr/>
          <p:nvPr/>
        </p:nvSpPr>
        <p:spPr>
          <a:xfrm>
            <a:off x="1066800" y="409178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E5EE209-47D1-52E5-FC18-EF5C44AAFFC0}"/>
              </a:ext>
            </a:extLst>
          </p:cNvPr>
          <p:cNvSpPr/>
          <p:nvPr/>
        </p:nvSpPr>
        <p:spPr>
          <a:xfrm>
            <a:off x="25146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6B4B32EE-886B-D2AE-E003-72B52E53323C}"/>
              </a:ext>
            </a:extLst>
          </p:cNvPr>
          <p:cNvSpPr/>
          <p:nvPr/>
        </p:nvSpPr>
        <p:spPr>
          <a:xfrm>
            <a:off x="10668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8FBF51-9068-EAAD-190C-88582340991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295400" y="2488010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D678D7B-B9C1-7EE9-C8C2-D4E1535C63E9}"/>
              </a:ext>
            </a:extLst>
          </p:cNvPr>
          <p:cNvSpPr/>
          <p:nvPr/>
        </p:nvSpPr>
        <p:spPr>
          <a:xfrm>
            <a:off x="11430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B1E7E9F-C314-7834-3F69-0E1CC6F7CDAE}"/>
              </a:ext>
            </a:extLst>
          </p:cNvPr>
          <p:cNvSpPr/>
          <p:nvPr/>
        </p:nvSpPr>
        <p:spPr>
          <a:xfrm>
            <a:off x="1143000" y="29718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23758B-013B-6329-BC9E-A346D9E77081}"/>
              </a:ext>
            </a:extLst>
          </p:cNvPr>
          <p:cNvSpPr/>
          <p:nvPr/>
        </p:nvSpPr>
        <p:spPr>
          <a:xfrm>
            <a:off x="1143000" y="3276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5A94F59-1C57-8DB0-2CE6-39B1D23BCE30}"/>
              </a:ext>
            </a:extLst>
          </p:cNvPr>
          <p:cNvGrpSpPr/>
          <p:nvPr/>
        </p:nvGrpSpPr>
        <p:grpSpPr>
          <a:xfrm>
            <a:off x="2568388" y="2971800"/>
            <a:ext cx="76200" cy="685800"/>
            <a:chOff x="5715000" y="1676400"/>
            <a:chExt cx="76200" cy="6858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F8B173-8C93-6E39-98B2-608C57592375}"/>
                </a:ext>
              </a:extLst>
            </p:cNvPr>
            <p:cNvSpPr/>
            <p:nvPr/>
          </p:nvSpPr>
          <p:spPr>
            <a:xfrm>
              <a:off x="5715000" y="2286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4D2AF27-F06F-109D-4AE6-90DE3ABD9FA2}"/>
                </a:ext>
              </a:extLst>
            </p:cNvPr>
            <p:cNvSpPr/>
            <p:nvPr/>
          </p:nvSpPr>
          <p:spPr>
            <a:xfrm>
              <a:off x="5715000" y="1676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0B32E3-96D8-AE8F-F8BA-67A7B82CA26F}"/>
                </a:ext>
              </a:extLst>
            </p:cNvPr>
            <p:cNvSpPr/>
            <p:nvPr/>
          </p:nvSpPr>
          <p:spPr>
            <a:xfrm>
              <a:off x="5715000" y="1981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390915C-C93D-D01F-413D-BD8E242A9161}"/>
              </a:ext>
            </a:extLst>
          </p:cNvPr>
          <p:cNvCxnSpPr>
            <a:cxnSpLocks/>
          </p:cNvCxnSpPr>
          <p:nvPr/>
        </p:nvCxnSpPr>
        <p:spPr>
          <a:xfrm>
            <a:off x="1295400" y="4217588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80082A-D1AA-88B0-2559-E39E44FE66C1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26" name="Rectangle: Rounded Corners 6">
              <a:extLst>
                <a:ext uri="{FF2B5EF4-FFF2-40B4-BE49-F238E27FC236}">
                  <a16:creationId xmlns:a16="http://schemas.microsoft.com/office/drawing/2014/main" id="{3D5A67F6-2574-C515-A02E-F729076A0418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Smiley Face 26">
              <a:extLst>
                <a:ext uri="{FF2B5EF4-FFF2-40B4-BE49-F238E27FC236}">
                  <a16:creationId xmlns:a16="http://schemas.microsoft.com/office/drawing/2014/main" id="{C6DCB043-656C-3586-B643-3C932F0D977F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miley Face 28">
              <a:extLst>
                <a:ext uri="{FF2B5EF4-FFF2-40B4-BE49-F238E27FC236}">
                  <a16:creationId xmlns:a16="http://schemas.microsoft.com/office/drawing/2014/main" id="{04507603-6C02-D6B9-A979-36C7F57EACE2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miley Face 31">
              <a:extLst>
                <a:ext uri="{FF2B5EF4-FFF2-40B4-BE49-F238E27FC236}">
                  <a16:creationId xmlns:a16="http://schemas.microsoft.com/office/drawing/2014/main" id="{D643F256-E412-ABAD-EF62-5CE0D4D8E968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miley Face 55">
              <a:extLst>
                <a:ext uri="{FF2B5EF4-FFF2-40B4-BE49-F238E27FC236}">
                  <a16:creationId xmlns:a16="http://schemas.microsoft.com/office/drawing/2014/main" id="{A0E71463-A875-A0DC-0225-51D8D437FCCA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683D3A-B2CD-54E8-EE33-3CD44642E1D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6D048D0-6B7F-69FB-1865-EBA03C5D60E2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1D09C12-0D7E-E33B-919C-2CF426FDB61A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5AC3723-653B-B9F3-0F20-104D09ECEDC0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04B973C-665F-FA99-BF11-39192C1659F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E92869E-9AE3-0405-6D7A-EF8401603457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DBE4AE1-AD48-0E94-DCA8-C1829E88427D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AA89A96-63B5-733E-9052-FFCB946EF19A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2D2B97A-CBDC-5CA5-BEE1-783A9D3E100A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Smiley Face 77">
            <a:extLst>
              <a:ext uri="{FF2B5EF4-FFF2-40B4-BE49-F238E27FC236}">
                <a16:creationId xmlns:a16="http://schemas.microsoft.com/office/drawing/2014/main" id="{45B208C4-EBF4-25AE-A9D5-7C822238DF49}"/>
              </a:ext>
            </a:extLst>
          </p:cNvPr>
          <p:cNvSpPr/>
          <p:nvPr/>
        </p:nvSpPr>
        <p:spPr>
          <a:xfrm>
            <a:off x="2523565" y="498165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/>
              <p:nvPr/>
            </p:nvSpPr>
            <p:spPr>
              <a:xfrm>
                <a:off x="2742583" y="4866154"/>
                <a:ext cx="50488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583" y="4866154"/>
                <a:ext cx="504882" cy="391646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35F30A1-E29B-8BB4-62A3-BDD4363A7A0F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1219200" y="4343398"/>
            <a:ext cx="1337843" cy="6751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6461B6F-CDED-02D5-66A9-CDB9998F61B9}"/>
                  </a:ext>
                </a:extLst>
              </p:cNvPr>
              <p:cNvSpPr txBox="1"/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Execution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th iteration:</a:t>
                </a:r>
                <a:endParaRPr lang="en-IN" sz="20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6461B6F-CDED-02D5-66A9-CDB9998F6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blipFill>
                <a:blip r:embed="rId6"/>
                <a:stretch>
                  <a:fillRect l="-2212" t="-9375" r="-132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4A929C0-766A-B100-AEBB-06F245FBDCAE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4A929C0-766A-B100-AEBB-06F245FBD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80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78" grpId="0" animBg="1"/>
      <p:bldP spid="79" grpId="0"/>
      <p:bldP spid="8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7189B2-D80F-5FA0-5025-5411A31D118E}"/>
              </a:ext>
            </a:extLst>
          </p:cNvPr>
          <p:cNvSpPr/>
          <p:nvPr/>
        </p:nvSpPr>
        <p:spPr>
          <a:xfrm>
            <a:off x="609600" y="2209800"/>
            <a:ext cx="2667000" cy="22098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/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miley Face 11">
            <a:extLst>
              <a:ext uri="{FF2B5EF4-FFF2-40B4-BE49-F238E27FC236}">
                <a16:creationId xmlns:a16="http://schemas.microsoft.com/office/drawing/2014/main" id="{9874D455-5C57-5F7A-8784-7FC9EAB0F25F}"/>
              </a:ext>
            </a:extLst>
          </p:cNvPr>
          <p:cNvSpPr/>
          <p:nvPr/>
        </p:nvSpPr>
        <p:spPr>
          <a:xfrm>
            <a:off x="1066800" y="409178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E5EE209-47D1-52E5-FC18-EF5C44AAFFC0}"/>
              </a:ext>
            </a:extLst>
          </p:cNvPr>
          <p:cNvSpPr/>
          <p:nvPr/>
        </p:nvSpPr>
        <p:spPr>
          <a:xfrm>
            <a:off x="25146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6B4B32EE-886B-D2AE-E003-72B52E53323C}"/>
              </a:ext>
            </a:extLst>
          </p:cNvPr>
          <p:cNvSpPr/>
          <p:nvPr/>
        </p:nvSpPr>
        <p:spPr>
          <a:xfrm>
            <a:off x="10668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8FBF51-9068-EAAD-190C-88582340991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295400" y="2488010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D678D7B-B9C1-7EE9-C8C2-D4E1535C63E9}"/>
              </a:ext>
            </a:extLst>
          </p:cNvPr>
          <p:cNvSpPr/>
          <p:nvPr/>
        </p:nvSpPr>
        <p:spPr>
          <a:xfrm>
            <a:off x="11430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B1E7E9F-C314-7834-3F69-0E1CC6F7CDAE}"/>
              </a:ext>
            </a:extLst>
          </p:cNvPr>
          <p:cNvSpPr/>
          <p:nvPr/>
        </p:nvSpPr>
        <p:spPr>
          <a:xfrm>
            <a:off x="1143000" y="29718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23758B-013B-6329-BC9E-A346D9E77081}"/>
              </a:ext>
            </a:extLst>
          </p:cNvPr>
          <p:cNvSpPr/>
          <p:nvPr/>
        </p:nvSpPr>
        <p:spPr>
          <a:xfrm>
            <a:off x="1143000" y="3276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5A94F59-1C57-8DB0-2CE6-39B1D23BCE30}"/>
              </a:ext>
            </a:extLst>
          </p:cNvPr>
          <p:cNvGrpSpPr/>
          <p:nvPr/>
        </p:nvGrpSpPr>
        <p:grpSpPr>
          <a:xfrm>
            <a:off x="2568388" y="2971800"/>
            <a:ext cx="76200" cy="685800"/>
            <a:chOff x="5715000" y="1676400"/>
            <a:chExt cx="76200" cy="6858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F8B173-8C93-6E39-98B2-608C57592375}"/>
                </a:ext>
              </a:extLst>
            </p:cNvPr>
            <p:cNvSpPr/>
            <p:nvPr/>
          </p:nvSpPr>
          <p:spPr>
            <a:xfrm>
              <a:off x="5715000" y="2286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4D2AF27-F06F-109D-4AE6-90DE3ABD9FA2}"/>
                </a:ext>
              </a:extLst>
            </p:cNvPr>
            <p:cNvSpPr/>
            <p:nvPr/>
          </p:nvSpPr>
          <p:spPr>
            <a:xfrm>
              <a:off x="5715000" y="1676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0B32E3-96D8-AE8F-F8BA-67A7B82CA26F}"/>
                </a:ext>
              </a:extLst>
            </p:cNvPr>
            <p:cNvSpPr/>
            <p:nvPr/>
          </p:nvSpPr>
          <p:spPr>
            <a:xfrm>
              <a:off x="5715000" y="1981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390915C-C93D-D01F-413D-BD8E242A9161}"/>
              </a:ext>
            </a:extLst>
          </p:cNvPr>
          <p:cNvCxnSpPr>
            <a:cxnSpLocks/>
          </p:cNvCxnSpPr>
          <p:nvPr/>
        </p:nvCxnSpPr>
        <p:spPr>
          <a:xfrm>
            <a:off x="1295400" y="4217588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80082A-D1AA-88B0-2559-E39E44FE66C1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26" name="Rectangle: Rounded Corners 6">
              <a:extLst>
                <a:ext uri="{FF2B5EF4-FFF2-40B4-BE49-F238E27FC236}">
                  <a16:creationId xmlns:a16="http://schemas.microsoft.com/office/drawing/2014/main" id="{3D5A67F6-2574-C515-A02E-F729076A0418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Smiley Face 26">
              <a:extLst>
                <a:ext uri="{FF2B5EF4-FFF2-40B4-BE49-F238E27FC236}">
                  <a16:creationId xmlns:a16="http://schemas.microsoft.com/office/drawing/2014/main" id="{C6DCB043-656C-3586-B643-3C932F0D977F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miley Face 28">
              <a:extLst>
                <a:ext uri="{FF2B5EF4-FFF2-40B4-BE49-F238E27FC236}">
                  <a16:creationId xmlns:a16="http://schemas.microsoft.com/office/drawing/2014/main" id="{04507603-6C02-D6B9-A979-36C7F57EACE2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miley Face 31">
              <a:extLst>
                <a:ext uri="{FF2B5EF4-FFF2-40B4-BE49-F238E27FC236}">
                  <a16:creationId xmlns:a16="http://schemas.microsoft.com/office/drawing/2014/main" id="{D643F256-E412-ABAD-EF62-5CE0D4D8E968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miley Face 55">
              <a:extLst>
                <a:ext uri="{FF2B5EF4-FFF2-40B4-BE49-F238E27FC236}">
                  <a16:creationId xmlns:a16="http://schemas.microsoft.com/office/drawing/2014/main" id="{A0E71463-A875-A0DC-0225-51D8D437FCCA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683D3A-B2CD-54E8-EE33-3CD44642E1D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6D048D0-6B7F-69FB-1865-EBA03C5D60E2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1D09C12-0D7E-E33B-919C-2CF426FDB61A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5AC3723-653B-B9F3-0F20-104D09ECEDC0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04B973C-665F-FA99-BF11-39192C1659F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E92869E-9AE3-0405-6D7A-EF8401603457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DBE4AE1-AD48-0E94-DCA8-C1829E88427D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AA89A96-63B5-733E-9052-FFCB946EF19A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2D2B97A-CBDC-5CA5-BEE1-783A9D3E100A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Smiley Face 77">
            <a:extLst>
              <a:ext uri="{FF2B5EF4-FFF2-40B4-BE49-F238E27FC236}">
                <a16:creationId xmlns:a16="http://schemas.microsoft.com/office/drawing/2014/main" id="{45B208C4-EBF4-25AE-A9D5-7C822238DF49}"/>
              </a:ext>
            </a:extLst>
          </p:cNvPr>
          <p:cNvSpPr/>
          <p:nvPr/>
        </p:nvSpPr>
        <p:spPr>
          <a:xfrm>
            <a:off x="2523565" y="4077896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/>
              <p:nvPr/>
            </p:nvSpPr>
            <p:spPr>
              <a:xfrm>
                <a:off x="2742583" y="3962400"/>
                <a:ext cx="50488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583" y="3962400"/>
                <a:ext cx="504882" cy="391646"/>
              </a:xfrm>
              <a:prstGeom prst="rect">
                <a:avLst/>
              </a:prstGeom>
              <a:blipFill>
                <a:blip r:embed="rId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C4006F-39FE-B196-ABBA-F9F64D398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88D52D-58D4-47EE-0571-0C6D94A2DEE1}"/>
                  </a:ext>
                </a:extLst>
              </p:cNvPr>
              <p:cNvSpPr txBox="1"/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Execution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th iteration:</a:t>
                </a:r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88D52D-58D4-47EE-0571-0C6D94A2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blipFill>
                <a:blip r:embed="rId6"/>
                <a:stretch>
                  <a:fillRect l="-2212" t="-9375" r="-132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C04F8-6931-952D-5F36-0E72FED910E2}"/>
                  </a:ext>
                </a:extLst>
              </p:cNvPr>
              <p:cNvSpPr txBox="1"/>
              <p:nvPr/>
            </p:nvSpPr>
            <p:spPr>
              <a:xfrm>
                <a:off x="609600" y="3989121"/>
                <a:ext cx="47314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C04F8-6931-952D-5F36-0E72FED91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89121"/>
                <a:ext cx="473142" cy="391646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miley Face 10">
            <a:extLst>
              <a:ext uri="{FF2B5EF4-FFF2-40B4-BE49-F238E27FC236}">
                <a16:creationId xmlns:a16="http://schemas.microsoft.com/office/drawing/2014/main" id="{F35D12C1-073F-108D-1CD4-42FB35A18E39}"/>
              </a:ext>
            </a:extLst>
          </p:cNvPr>
          <p:cNvSpPr/>
          <p:nvPr/>
        </p:nvSpPr>
        <p:spPr>
          <a:xfrm>
            <a:off x="7086600" y="439658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0641F2F5-2D43-7D83-9BB6-429A8FB897A3}"/>
              </a:ext>
            </a:extLst>
          </p:cNvPr>
          <p:cNvSpPr/>
          <p:nvPr/>
        </p:nvSpPr>
        <p:spPr>
          <a:xfrm>
            <a:off x="5257800" y="439658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BE949-4789-E5C0-DAE2-F252A1FC01FF}"/>
                  </a:ext>
                </a:extLst>
              </p:cNvPr>
              <p:cNvSpPr txBox="1"/>
              <p:nvPr/>
            </p:nvSpPr>
            <p:spPr>
              <a:xfrm>
                <a:off x="4841709" y="4343911"/>
                <a:ext cx="52668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BE949-4789-E5C0-DAE2-F252A1FC0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709" y="4343911"/>
                <a:ext cx="526683" cy="391646"/>
              </a:xfrm>
              <a:prstGeom prst="rect">
                <a:avLst/>
              </a:prstGeom>
              <a:blipFill>
                <a:blip r:embed="rId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EACF6F-9773-A82F-5F38-A30BD79B2D69}"/>
                  </a:ext>
                </a:extLst>
              </p:cNvPr>
              <p:cNvSpPr txBox="1"/>
              <p:nvPr/>
            </p:nvSpPr>
            <p:spPr>
              <a:xfrm>
                <a:off x="7253259" y="4332754"/>
                <a:ext cx="50488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EACF6F-9773-A82F-5F38-A30BD79B2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259" y="4332754"/>
                <a:ext cx="504882" cy="391646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61F4AE-8FCF-086C-902C-DDAB8E412AFB}"/>
              </a:ext>
            </a:extLst>
          </p:cNvPr>
          <p:cNvCxnSpPr>
            <a:cxnSpLocks/>
          </p:cNvCxnSpPr>
          <p:nvPr/>
        </p:nvCxnSpPr>
        <p:spPr>
          <a:xfrm>
            <a:off x="5488989" y="4522389"/>
            <a:ext cx="1597611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1EFBAF4-856A-F23F-1293-0603015D2DF3}"/>
              </a:ext>
            </a:extLst>
          </p:cNvPr>
          <p:cNvSpPr/>
          <p:nvPr/>
        </p:nvSpPr>
        <p:spPr>
          <a:xfrm>
            <a:off x="53340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17F20D7-D36B-FF13-1793-CED7C6B026E0}"/>
              </a:ext>
            </a:extLst>
          </p:cNvPr>
          <p:cNvSpPr/>
          <p:nvPr/>
        </p:nvSpPr>
        <p:spPr>
          <a:xfrm flipV="1">
            <a:off x="725675" y="4000453"/>
            <a:ext cx="2397826" cy="361517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EE1FEF0-8684-9552-90D2-DF0D12BEBD2A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EE1FEF0-8684-9552-90D2-DF0D12BEB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3F2DEB-5D72-681F-82A2-56A3884440A9}"/>
                  </a:ext>
                </a:extLst>
              </p:cNvPr>
              <p:cNvSpPr txBox="1"/>
              <p:nvPr/>
            </p:nvSpPr>
            <p:spPr>
              <a:xfrm>
                <a:off x="-1" y="6037727"/>
                <a:ext cx="7024659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</a:rPr>
                  <a:t>Homework: </a:t>
                </a:r>
              </a:p>
              <a:p>
                <a:r>
                  <a:rPr lang="en-US" dirty="0"/>
                  <a:t>Prove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IN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IN" dirty="0"/>
                  <a:t> must be unstable.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3F2DEB-5D72-681F-82A2-56A388444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037727"/>
                <a:ext cx="7024659" cy="668645"/>
              </a:xfrm>
              <a:prstGeom prst="rect">
                <a:avLst/>
              </a:prstGeom>
              <a:blipFill>
                <a:blip r:embed="rId15"/>
                <a:stretch>
                  <a:fillRect l="-694" t="-4545" b="-109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034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4" grpId="0"/>
      <p:bldP spid="15" grpId="0"/>
      <p:bldP spid="5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13203</TotalTime>
  <Words>1968</Words>
  <Application>Microsoft Office PowerPoint</Application>
  <PresentationFormat>On-screen Show (4:3)</PresentationFormat>
  <Paragraphs>580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Aharoni</vt:lpstr>
      <vt:lpstr>Arial</vt:lpstr>
      <vt:lpstr>Bauhaus 93</vt:lpstr>
      <vt:lpstr>Calibri</vt:lpstr>
      <vt:lpstr>Cambria Math</vt:lpstr>
      <vt:lpstr>Open Sans</vt:lpstr>
      <vt:lpstr>Seravek</vt:lpstr>
      <vt:lpstr>Wingdings</vt:lpstr>
      <vt:lpstr>Office Theme</vt:lpstr>
      <vt:lpstr>Design and Analysis of Algorithms </vt:lpstr>
      <vt:lpstr>Recap from the last Lecture</vt:lpstr>
      <vt:lpstr>Interpolation</vt:lpstr>
      <vt:lpstr>Interpolation</vt:lpstr>
      <vt:lpstr>Interpolation</vt:lpstr>
      <vt:lpstr>PowerPoint Presentation</vt:lpstr>
      <vt:lpstr>A Tool</vt:lpstr>
      <vt:lpstr>Interpolation</vt:lpstr>
      <vt:lpstr>Interpolation</vt:lpstr>
      <vt:lpstr>Optional Programming Assignment</vt:lpstr>
      <vt:lpstr>Real challenge  of multiple merit lists</vt:lpstr>
      <vt:lpstr>Fairness</vt:lpstr>
      <vt:lpstr>How to tackle Multiple Merit Lists using “Single Merit list algorithm”</vt:lpstr>
      <vt:lpstr>A common man’s algorithm </vt:lpstr>
      <vt:lpstr>Multiple merit lists </vt:lpstr>
      <vt:lpstr>PowerPoint Presentation</vt:lpstr>
      <vt:lpstr>Stable Marriage Problem </vt:lpstr>
      <vt:lpstr>Stable Marriage Problem </vt:lpstr>
      <vt:lpstr>Algorithm for Stable Marriage</vt:lpstr>
      <vt:lpstr>We designed an iterative algorithm in the last class based on these rules.</vt:lpstr>
      <vt:lpstr>GaleShapley(M, W) (Proof of stability)</vt:lpstr>
      <vt:lpstr>GaleShapley(M, W) (Proof of stability)</vt:lpstr>
      <vt:lpstr>PowerPoint Presentation</vt:lpstr>
      <vt:lpstr>GaleShapley(M, W) (Proof of stability)</vt:lpstr>
      <vt:lpstr>GaleShapley(M, W) </vt:lpstr>
      <vt:lpstr>Gale Shapley Algorithm </vt:lpstr>
      <vt:lpstr>Gale Shapley Algorithm </vt:lpstr>
      <vt:lpstr>Gale Shapley Algorithm </vt:lpstr>
      <vt:lpstr>Gale Shapley Algorithm </vt:lpstr>
      <vt:lpstr>Gale Shapley Algorithm </vt:lpstr>
      <vt:lpstr>PowerPoint Presentation</vt:lpstr>
      <vt:lpstr>3 Algorithms</vt:lpstr>
      <vt:lpstr>Merits of Deferred Acceptance Algorithm</vt:lpstr>
      <vt:lpstr>Many complex Business rules  of admissions</vt:lpstr>
      <vt:lpstr>Impact of Joint Seat Allocation</vt:lpstr>
      <vt:lpstr>Impact of Joint Seat Allocation</vt:lpstr>
      <vt:lpstr>PowerPoint Presentation</vt:lpstr>
      <vt:lpstr>Impact of Joint Seat Allocation</vt:lpstr>
      <vt:lpstr>Gayle Shapley Algorithm</vt:lpstr>
      <vt:lpstr>Gale Shapley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1263</cp:revision>
  <dcterms:created xsi:type="dcterms:W3CDTF">2011-12-03T04:13:03Z</dcterms:created>
  <dcterms:modified xsi:type="dcterms:W3CDTF">2025-09-01T09:17:38Z</dcterms:modified>
</cp:coreProperties>
</file>