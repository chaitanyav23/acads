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8"/>
  </p:notesMasterIdLst>
  <p:sldIdLst>
    <p:sldId id="495" r:id="rId2"/>
    <p:sldId id="527" r:id="rId3"/>
    <p:sldId id="703" r:id="rId4"/>
    <p:sldId id="615" r:id="rId5"/>
    <p:sldId id="654" r:id="rId6"/>
    <p:sldId id="596" r:id="rId7"/>
    <p:sldId id="598" r:id="rId8"/>
    <p:sldId id="599" r:id="rId9"/>
    <p:sldId id="600" r:id="rId10"/>
    <p:sldId id="601" r:id="rId11"/>
    <p:sldId id="602" r:id="rId12"/>
    <p:sldId id="690" r:id="rId13"/>
    <p:sldId id="684" r:id="rId14"/>
    <p:sldId id="687" r:id="rId15"/>
    <p:sldId id="686" r:id="rId16"/>
    <p:sldId id="706" r:id="rId17"/>
    <p:sldId id="593" r:id="rId18"/>
    <p:sldId id="707" r:id="rId19"/>
    <p:sldId id="603" r:id="rId20"/>
    <p:sldId id="708" r:id="rId21"/>
    <p:sldId id="709" r:id="rId22"/>
    <p:sldId id="710" r:id="rId23"/>
    <p:sldId id="702" r:id="rId24"/>
    <p:sldId id="711" r:id="rId25"/>
    <p:sldId id="712" r:id="rId26"/>
    <p:sldId id="604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27" autoAdjust="0"/>
    <p:restoredTop sz="94052" autoAdjust="0"/>
  </p:normalViewPr>
  <p:slideViewPr>
    <p:cSldViewPr>
      <p:cViewPr varScale="1">
        <p:scale>
          <a:sx n="105" d="100"/>
          <a:sy n="105" d="100"/>
        </p:scale>
        <p:origin x="199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46.png"/><Relationship Id="rId12" Type="http://schemas.openxmlformats.org/officeDocument/2006/relationships/image" Target="../media/image10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91.png"/><Relationship Id="rId5" Type="http://schemas.openxmlformats.org/officeDocument/2006/relationships/image" Target="../media/image70.png"/><Relationship Id="rId10" Type="http://schemas.openxmlformats.org/officeDocument/2006/relationships/image" Target="../media/image49.png"/><Relationship Id="rId4" Type="http://schemas.openxmlformats.org/officeDocument/2006/relationships/image" Target="../media/image62.png"/><Relationship Id="rId9" Type="http://schemas.openxmlformats.org/officeDocument/2006/relationships/image" Target="../media/image4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NULL"/><Relationship Id="rId7" Type="http://schemas.openxmlformats.org/officeDocument/2006/relationships/image" Target="../media/image2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4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../media/image1.png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1.png"/><Relationship Id="rId13" Type="http://schemas.openxmlformats.org/officeDocument/2006/relationships/image" Target="../media/image1210.png"/><Relationship Id="rId3" Type="http://schemas.openxmlformats.org/officeDocument/2006/relationships/image" Target="../media/image250.png"/><Relationship Id="rId7" Type="http://schemas.openxmlformats.org/officeDocument/2006/relationships/image" Target="../media/image60.png"/><Relationship Id="rId12" Type="http://schemas.openxmlformats.org/officeDocument/2006/relationships/image" Target="../media/image112.png"/><Relationship Id="rId2" Type="http://schemas.openxmlformats.org/officeDocument/2006/relationships/image" Target="../media/image1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2.png"/><Relationship Id="rId11" Type="http://schemas.openxmlformats.org/officeDocument/2006/relationships/image" Target="../media/image1002.png"/><Relationship Id="rId5" Type="http://schemas.openxmlformats.org/officeDocument/2006/relationships/image" Target="../media/image400.png"/><Relationship Id="rId10" Type="http://schemas.openxmlformats.org/officeDocument/2006/relationships/image" Target="../media/image902.png"/><Relationship Id="rId4" Type="http://schemas.openxmlformats.org/officeDocument/2006/relationships/image" Target="../media/image300.png"/><Relationship Id="rId9" Type="http://schemas.openxmlformats.org/officeDocument/2006/relationships/image" Target="../media/image801.png"/><Relationship Id="rId14" Type="http://schemas.openxmlformats.org/officeDocument/2006/relationships/image" Target="../media/image13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1.png"/><Relationship Id="rId13" Type="http://schemas.openxmlformats.org/officeDocument/2006/relationships/image" Target="../media/image151.png"/><Relationship Id="rId3" Type="http://schemas.openxmlformats.org/officeDocument/2006/relationships/image" Target="../media/image250.png"/><Relationship Id="rId7" Type="http://schemas.openxmlformats.org/officeDocument/2006/relationships/image" Target="../media/image60.png"/><Relationship Id="rId12" Type="http://schemas.openxmlformats.org/officeDocument/2006/relationships/image" Target="../media/image141.png"/><Relationship Id="rId2" Type="http://schemas.openxmlformats.org/officeDocument/2006/relationships/image" Target="../media/image110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2.png"/><Relationship Id="rId11" Type="http://schemas.openxmlformats.org/officeDocument/2006/relationships/image" Target="../media/image1002.png"/><Relationship Id="rId5" Type="http://schemas.openxmlformats.org/officeDocument/2006/relationships/image" Target="../media/image400.png"/><Relationship Id="rId15" Type="http://schemas.openxmlformats.org/officeDocument/2006/relationships/image" Target="../media/image1700.png"/><Relationship Id="rId10" Type="http://schemas.openxmlformats.org/officeDocument/2006/relationships/image" Target="../media/image902.png"/><Relationship Id="rId4" Type="http://schemas.openxmlformats.org/officeDocument/2006/relationships/image" Target="../media/image300.png"/><Relationship Id="rId9" Type="http://schemas.openxmlformats.org/officeDocument/2006/relationships/image" Target="../media/image801.png"/><Relationship Id="rId14" Type="http://schemas.openxmlformats.org/officeDocument/2006/relationships/image" Target="../media/image160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1.png"/><Relationship Id="rId3" Type="http://schemas.openxmlformats.org/officeDocument/2006/relationships/image" Target="../media/image250.png"/><Relationship Id="rId7" Type="http://schemas.openxmlformats.org/officeDocument/2006/relationships/image" Target="../media/image60.png"/><Relationship Id="rId2" Type="http://schemas.openxmlformats.org/officeDocument/2006/relationships/image" Target="../media/image1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2.png"/><Relationship Id="rId11" Type="http://schemas.openxmlformats.org/officeDocument/2006/relationships/image" Target="../media/image1002.png"/><Relationship Id="rId5" Type="http://schemas.openxmlformats.org/officeDocument/2006/relationships/image" Target="../media/image400.png"/><Relationship Id="rId10" Type="http://schemas.openxmlformats.org/officeDocument/2006/relationships/image" Target="../media/image902.png"/><Relationship Id="rId4" Type="http://schemas.openxmlformats.org/officeDocument/2006/relationships/image" Target="../media/image300.png"/><Relationship Id="rId9" Type="http://schemas.openxmlformats.org/officeDocument/2006/relationships/image" Target="../media/image80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7" Type="http://schemas.openxmlformats.org/officeDocument/2006/relationships/image" Target="../media/image191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2.png"/><Relationship Id="rId11" Type="http://schemas.openxmlformats.org/officeDocument/2006/relationships/image" Target="../media/image810.png"/><Relationship Id="rId10" Type="http://schemas.openxmlformats.org/officeDocument/2006/relationships/image" Target="../media/image90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loyd_Shapley" TargetMode="External"/><Relationship Id="rId2" Type="http://schemas.openxmlformats.org/officeDocument/2006/relationships/hyperlink" Target="https://en.wikipedia.org/wiki/David_Gale" TargetMode="Externa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0.png"/><Relationship Id="rId13" Type="http://schemas.openxmlformats.org/officeDocument/2006/relationships/image" Target="../media/image201.png"/><Relationship Id="rId3" Type="http://schemas.openxmlformats.org/officeDocument/2006/relationships/image" Target="../media/image2501.png"/><Relationship Id="rId7" Type="http://schemas.openxmlformats.org/officeDocument/2006/relationships/image" Target="../media/image601.png"/><Relationship Id="rId12" Type="http://schemas.openxmlformats.org/officeDocument/2006/relationships/image" Target="../media/image1120.png"/><Relationship Id="rId2" Type="http://schemas.openxmlformats.org/officeDocument/2006/relationships/image" Target="../media/image1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11" Type="http://schemas.openxmlformats.org/officeDocument/2006/relationships/image" Target="../media/image1000.png"/><Relationship Id="rId5" Type="http://schemas.openxmlformats.org/officeDocument/2006/relationships/image" Target="../media/image4001.png"/><Relationship Id="rId15" Type="http://schemas.openxmlformats.org/officeDocument/2006/relationships/image" Target="../media/image221.png"/><Relationship Id="rId10" Type="http://schemas.openxmlformats.org/officeDocument/2006/relationships/image" Target="../media/image900.png"/><Relationship Id="rId4" Type="http://schemas.openxmlformats.org/officeDocument/2006/relationships/image" Target="../media/image3001.png"/><Relationship Id="rId9" Type="http://schemas.openxmlformats.org/officeDocument/2006/relationships/image" Target="../media/image800.png"/><Relationship Id="rId14" Type="http://schemas.openxmlformats.org/officeDocument/2006/relationships/image" Target="../media/image21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212.png"/><Relationship Id="rId4" Type="http://schemas.openxmlformats.org/officeDocument/2006/relationships/image" Target="../media/image1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91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1.png"/><Relationship Id="rId10" Type="http://schemas.openxmlformats.org/officeDocument/2006/relationships/image" Target="../media/image901.png"/><Relationship Id="rId4" Type="http://schemas.openxmlformats.org/officeDocument/2006/relationships/image" Target="../media/image18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0086" y="4499848"/>
            <a:ext cx="65532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>
                <a:solidFill>
                  <a:srgbClr val="C00000"/>
                </a:solidFill>
              </a:rPr>
              <a:t>Lecture 5</a:t>
            </a:r>
            <a:endParaRPr lang="en-US" sz="2400" b="1" dirty="0">
              <a:solidFill>
                <a:srgbClr val="C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7030A0"/>
                </a:solidFill>
              </a:rPr>
              <a:t>Divide and Conquer </a:t>
            </a:r>
            <a:r>
              <a:rPr lang="en-US" sz="2400" b="1" dirty="0">
                <a:solidFill>
                  <a:schemeClr val="tx1"/>
                </a:solidFill>
              </a:rPr>
              <a:t>Paradigm</a:t>
            </a:r>
            <a:r>
              <a:rPr lang="en-US" sz="2400" b="1" dirty="0">
                <a:solidFill>
                  <a:srgbClr val="7030A0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– </a:t>
            </a:r>
            <a:r>
              <a:rPr lang="en-US" sz="2400" b="1" dirty="0">
                <a:solidFill>
                  <a:srgbClr val="0070C0"/>
                </a:solidFill>
              </a:rPr>
              <a:t>IV</a:t>
            </a:r>
          </a:p>
          <a:p>
            <a:pPr marL="800100" lvl="1" indent="-342900" algn="l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chemeClr val="tx1"/>
                </a:solidFill>
              </a:rPr>
              <a:t>The final Algorithm for </a:t>
            </a:r>
            <a:r>
              <a:rPr lang="en-US" sz="1600" b="1" dirty="0">
                <a:solidFill>
                  <a:srgbClr val="0070C0"/>
                </a:solidFill>
              </a:rPr>
              <a:t>Polynomial multiplication   </a:t>
            </a:r>
          </a:p>
          <a:p>
            <a:pPr marL="800100" lvl="1" indent="-342900" algn="l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rgbClr val="7030A0"/>
                </a:solidFill>
              </a:rPr>
              <a:t>Stable Matching </a:t>
            </a:r>
            <a:r>
              <a:rPr lang="en-US" sz="1600" b="1" dirty="0">
                <a:solidFill>
                  <a:schemeClr val="tx1"/>
                </a:solidFill>
              </a:rPr>
              <a:t>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962400" y="3077230"/>
            <a:ext cx="426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CS345</a:t>
            </a:r>
            <a:endParaRPr lang="en-US" sz="28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409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1719262"/>
            <a:ext cx="7772400" cy="1470025"/>
          </a:xfrm>
        </p:spPr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Recap from Lecture 1</a:t>
            </a: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167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513552" y="2133600"/>
                <a:ext cx="2144048" cy="64633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&gt;</a:t>
                </a:r>
              </a:p>
              <a:p>
                <a:r>
                  <a:rPr lang="en-US" dirty="0"/>
                  <a:t>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&gt;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552" y="2133600"/>
                <a:ext cx="2144048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1977" t="-3704" r="-3955" b="-129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918457" y="2223276"/>
                <a:ext cx="2129494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dirty="0"/>
                  <a:t>&gt;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8457" y="2223276"/>
                <a:ext cx="2129494" cy="369332"/>
              </a:xfrm>
              <a:prstGeom prst="rect">
                <a:avLst/>
              </a:prstGeom>
              <a:blipFill>
                <a:blip r:embed="rId3"/>
                <a:stretch>
                  <a:fillRect l="-2279" t="-8065" r="-1140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6200" y="1981200"/>
                <a:ext cx="1447800" cy="107721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𝑨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1600" b="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/>
                        </a:rPr>
                        <m:t>𝑩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solidFill>
                    <a:schemeClr val="tx1"/>
                  </a:solidFill>
                </a:endParaRPr>
              </a:p>
              <a:p>
                <a:r>
                  <a:rPr lang="en-US" sz="1600" dirty="0">
                    <a:solidFill>
                      <a:srgbClr val="006C31"/>
                    </a:solidFill>
                  </a:rPr>
                  <a:t>Coefficient </a:t>
                </a:r>
              </a:p>
              <a:p>
                <a:r>
                  <a:rPr lang="en-US" sz="1600" dirty="0"/>
                  <a:t>representation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1981200"/>
                <a:ext cx="1447800" cy="1077218"/>
              </a:xfrm>
              <a:prstGeom prst="rect">
                <a:avLst/>
              </a:prstGeom>
              <a:blipFill>
                <a:blip r:embed="rId4"/>
                <a:stretch>
                  <a:fillRect l="-1739" b="-581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Arrow 7"/>
          <p:cNvSpPr/>
          <p:nvPr/>
        </p:nvSpPr>
        <p:spPr>
          <a:xfrm>
            <a:off x="3657600" y="2209800"/>
            <a:ext cx="2231135" cy="371565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486400" y="5421868"/>
                <a:ext cx="3370859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{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, </m:t>
                        </m:r>
                        <m:r>
                          <a:rPr lang="en-US" b="1" i="1">
                            <a:latin typeface="Cambria Math"/>
                          </a:rPr>
                          <m:t>𝑪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i="1">
                        <a:latin typeface="Cambria Math"/>
                      </a:rPr>
                      <m:t>,…,(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r>
                      <a:rPr lang="en-US" b="1" i="1">
                        <a:latin typeface="Cambria Math"/>
                      </a:rPr>
                      <m:t>𝑪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5421868"/>
                <a:ext cx="3370859" cy="369332"/>
              </a:xfrm>
              <a:prstGeom prst="rect">
                <a:avLst/>
              </a:prstGeom>
              <a:blipFill>
                <a:blip r:embed="rId5"/>
                <a:stretch>
                  <a:fillRect l="-1128" b="-3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38200" y="5257800"/>
                <a:ext cx="3317960" cy="64633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{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, </m:t>
                        </m:r>
                        <m:r>
                          <a:rPr lang="en-US" b="1" i="1" smtClean="0">
                            <a:latin typeface="Cambria Math"/>
                          </a:rPr>
                          <m:t>𝑨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i="1">
                        <a:latin typeface="Cambria Math"/>
                      </a:rPr>
                      <m:t>,…,(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r>
                      <a:rPr lang="en-US" b="1" i="1" smtClean="0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}</a:t>
                </a:r>
              </a:p>
              <a:p>
                <a:r>
                  <a:rPr lang="en-US" dirty="0"/>
                  <a:t>{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, </m:t>
                        </m:r>
                        <m:r>
                          <a:rPr lang="en-US" b="1" i="1" smtClean="0">
                            <a:latin typeface="Cambria Math"/>
                          </a:rPr>
                          <m:t>𝑩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i="1">
                        <a:latin typeface="Cambria Math"/>
                      </a:rPr>
                      <m:t>,…,(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r>
                      <a:rPr lang="en-US" b="1" i="1" smtClean="0">
                        <a:latin typeface="Cambria Math"/>
                      </a:rPr>
                      <m:t>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257800"/>
                <a:ext cx="3317960" cy="646331"/>
              </a:xfrm>
              <a:prstGeom prst="rect">
                <a:avLst/>
              </a:prstGeom>
              <a:blipFill>
                <a:blip r:embed="rId6"/>
                <a:stretch>
                  <a:fillRect l="-1527" r="-763" b="-2115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Arrow 12"/>
          <p:cNvSpPr/>
          <p:nvPr/>
        </p:nvSpPr>
        <p:spPr>
          <a:xfrm>
            <a:off x="4156160" y="5382768"/>
            <a:ext cx="1330240" cy="4846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233249" y="5906869"/>
                <a:ext cx="1100751" cy="64633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 time</a:t>
                </a:r>
              </a:p>
              <a:p>
                <a:r>
                  <a:rPr lang="en-US" dirty="0"/>
                  <a:t>       </a:t>
                </a:r>
                <a:r>
                  <a:rPr lang="en-US" dirty="0">
                    <a:sym typeface="Wingdings" pitchFamily="2" charset="2"/>
                  </a:rPr>
                  <a:t></a:t>
                </a:r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249" y="5906869"/>
                <a:ext cx="1100751" cy="646331"/>
              </a:xfrm>
              <a:prstGeom prst="rect">
                <a:avLst/>
              </a:prstGeom>
              <a:blipFill rotWithShape="1">
                <a:blip r:embed="rId7"/>
                <a:stretch>
                  <a:fillRect l="-3825" t="-3704" r="-8743" b="-129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4421970" y="1840468"/>
            <a:ext cx="37863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</a:t>
            </a:r>
            <a:endParaRPr lang="en-US" dirty="0"/>
          </a:p>
        </p:txBody>
      </p:sp>
      <p:sp>
        <p:nvSpPr>
          <p:cNvPr id="17" name="Down Arrow 16"/>
          <p:cNvSpPr/>
          <p:nvPr/>
        </p:nvSpPr>
        <p:spPr>
          <a:xfrm>
            <a:off x="2209800" y="2779931"/>
            <a:ext cx="484632" cy="2477869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 rot="10800000">
            <a:off x="7059168" y="2581364"/>
            <a:ext cx="484632" cy="2828836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58695" y="3581400"/>
                <a:ext cx="1627305" cy="36933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log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 time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95" y="3581400"/>
                <a:ext cx="1627305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2602" t="-6452" r="-5576" b="-225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440495" y="3733800"/>
                <a:ext cx="1627305" cy="36933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log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 time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0495" y="3733800"/>
                <a:ext cx="1627305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2974" t="-6452" r="-5204" b="-225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AD9B31F-9484-1F4C-A5A1-3447175844F5}"/>
                  </a:ext>
                </a:extLst>
              </p:cNvPr>
              <p:cNvSpPr txBox="1"/>
              <p:nvPr/>
            </p:nvSpPr>
            <p:spPr>
              <a:xfrm>
                <a:off x="8089157" y="1828800"/>
                <a:ext cx="1166987" cy="107721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𝑪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solidFill>
                    <a:schemeClr val="tx1"/>
                  </a:solidFill>
                </a:endParaRPr>
              </a:p>
              <a:p>
                <a:r>
                  <a:rPr lang="en-US" sz="1600" dirty="0">
                    <a:solidFill>
                      <a:srgbClr val="006C31"/>
                    </a:solidFill>
                  </a:rPr>
                  <a:t>Coefficient </a:t>
                </a:r>
              </a:p>
              <a:p>
                <a:r>
                  <a:rPr lang="en-US" sz="1600" dirty="0"/>
                  <a:t>Represent-</a:t>
                </a:r>
                <a:r>
                  <a:rPr lang="en-US" sz="1600" dirty="0" err="1"/>
                  <a:t>ation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AD9B31F-9484-1F4C-A5A1-344717584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9157" y="1828800"/>
                <a:ext cx="1166987" cy="1077218"/>
              </a:xfrm>
              <a:prstGeom prst="rect">
                <a:avLst/>
              </a:prstGeom>
              <a:blipFill>
                <a:blip r:embed="rId11"/>
                <a:stretch>
                  <a:fillRect l="-2591" b="-558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7941B69-68BE-A447-8B89-ED9C63D4A73A}"/>
                  </a:ext>
                </a:extLst>
              </p:cNvPr>
              <p:cNvSpPr/>
              <p:nvPr/>
            </p:nvSpPr>
            <p:spPr>
              <a:xfrm>
                <a:off x="3677711" y="712752"/>
                <a:ext cx="137249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𝑪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</a:rPr>
                      <m:t>𝑨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b="1" i="1">
                        <a:latin typeface="Cambria Math"/>
                      </a:rPr>
                      <m:t>𝑩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7941B69-68BE-A447-8B89-ED9C63D4A7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711" y="712752"/>
                <a:ext cx="137249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DA50D54-0CBB-5F48-AE67-454F5B494E3D}"/>
              </a:ext>
            </a:extLst>
          </p:cNvPr>
          <p:cNvSpPr txBox="1"/>
          <p:nvPr/>
        </p:nvSpPr>
        <p:spPr>
          <a:xfrm>
            <a:off x="1327192" y="4222958"/>
            <a:ext cx="2249847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Polynomial Evaluation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D90FF6-84D0-9843-97C9-8E9C7F1FD852}"/>
              </a:ext>
            </a:extLst>
          </p:cNvPr>
          <p:cNvSpPr txBox="1"/>
          <p:nvPr/>
        </p:nvSpPr>
        <p:spPr>
          <a:xfrm>
            <a:off x="6176559" y="4171414"/>
            <a:ext cx="2500877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Polynomial Interpolation</a:t>
            </a:r>
          </a:p>
        </p:txBody>
      </p:sp>
    </p:spTree>
    <p:extLst>
      <p:ext uri="{BB962C8B-B14F-4D97-AF65-F5344CB8AC3E}">
        <p14:creationId xmlns:p14="http://schemas.microsoft.com/office/powerpoint/2010/main" val="898977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12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Polynomial Evaluation </a:t>
            </a:r>
            <a:r>
              <a:rPr lang="en-US" sz="3600" b="1" dirty="0"/>
              <a:t>Problem</a:t>
            </a:r>
            <a:endParaRPr lang="en-US" sz="36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0"/>
                <a:ext cx="87630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/>
                  <a:t>Given a polynomial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/>
                      </a:rPr>
                      <m:t>𝑨</m:t>
                    </m:r>
                  </m:oMath>
                </a14:m>
                <a:r>
                  <a:rPr lang="en-US" sz="1800" dirty="0"/>
                  <a:t> of degree less than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in </a:t>
                </a:r>
                <a:r>
                  <a:rPr lang="en-US" sz="1800" u="sng" dirty="0">
                    <a:solidFill>
                      <a:srgbClr val="006C31"/>
                    </a:solidFill>
                  </a:rPr>
                  <a:t>coefficient</a:t>
                </a:r>
                <a:r>
                  <a:rPr lang="en-US" sz="1800" u="sng" dirty="0"/>
                  <a:t> representation</a:t>
                </a:r>
                <a:r>
                  <a:rPr lang="en-US" sz="1800" dirty="0"/>
                  <a:t>, </a:t>
                </a:r>
              </a:p>
              <a:p>
                <a:pPr>
                  <a:buFont typeface="+mj-lt"/>
                  <a:buAutoNum type="arabicPeriod"/>
                </a:pPr>
                <a:endParaRPr lang="en-US" sz="1800" dirty="0"/>
              </a:p>
              <a:p>
                <a:pPr>
                  <a:buFont typeface="+mj-lt"/>
                  <a:buAutoNum type="arabicPeriod"/>
                </a:pPr>
                <a:r>
                  <a:rPr lang="en-US" sz="1800" dirty="0"/>
                  <a:t>Choose  </a:t>
                </a:r>
                <a:r>
                  <a:rPr lang="en-US" sz="1800" b="1" dirty="0"/>
                  <a:t>any </a:t>
                </a:r>
                <a:r>
                  <a:rPr lang="en-US" sz="1800" dirty="0"/>
                  <a:t> set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1800" dirty="0"/>
                  <a:t> of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1800" dirty="0"/>
                  <a:t> numbers</a:t>
                </a:r>
              </a:p>
              <a:p>
                <a:pPr>
                  <a:buFont typeface="+mj-lt"/>
                  <a:buAutoNum type="arabicPeriod"/>
                </a:pPr>
                <a:endParaRPr lang="en-US" sz="1800" dirty="0"/>
              </a:p>
              <a:p>
                <a:pPr>
                  <a:buFont typeface="+mj-lt"/>
                  <a:buAutoNum type="arabicPeriod"/>
                </a:pPr>
                <a:r>
                  <a:rPr lang="en-US" sz="1800" dirty="0"/>
                  <a:t>Compute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𝐴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1800" dirty="0"/>
                  <a:t> for all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𝑣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r>
                      <a:rPr lang="en-US" sz="1800" b="1" i="1" smtClean="0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>
                  <a:buFont typeface="+mj-lt"/>
                  <a:buAutoNum type="arabicPeriod"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accent6">
                        <a:lumMod val="50000"/>
                      </a:schemeClr>
                    </a:solidFill>
                  </a:rPr>
                  <a:t>Assumption</a:t>
                </a:r>
                <a:r>
                  <a:rPr lang="en-US" sz="1800" dirty="0"/>
                  <a:t>: </a:t>
                </a:r>
              </a:p>
              <a:p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1800" dirty="0"/>
                  <a:t> is a power of </a:t>
                </a:r>
                <a:r>
                  <a:rPr lang="en-US" sz="1800" dirty="0">
                    <a:solidFill>
                      <a:srgbClr val="0070C0"/>
                    </a:solidFill>
                  </a:rPr>
                  <a:t>2</a:t>
                </a:r>
                <a:r>
                  <a:rPr lang="en-US" sz="1800" dirty="0"/>
                  <a:t>.    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0"/>
                <a:ext cx="8763000" cy="4525963"/>
              </a:xfrm>
              <a:blipFill>
                <a:blip r:embed="rId2"/>
                <a:stretch>
                  <a:fillRect l="-556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 flipV="1">
            <a:off x="228600" y="1600200"/>
            <a:ext cx="8686800" cy="16764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5B891F-DBCB-D827-732E-03ED915DDFAE}"/>
              </a:ext>
            </a:extLst>
          </p:cNvPr>
          <p:cNvSpPr/>
          <p:nvPr/>
        </p:nvSpPr>
        <p:spPr>
          <a:xfrm>
            <a:off x="1524000" y="5105400"/>
            <a:ext cx="670560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 the last lecture, we discussed a </a:t>
            </a:r>
            <a:r>
              <a:rPr lang="en-US" b="1" dirty="0">
                <a:solidFill>
                  <a:schemeClr val="tx1"/>
                </a:solidFill>
              </a:rPr>
              <a:t>divide and conquer</a:t>
            </a:r>
            <a:r>
              <a:rPr lang="en-US" dirty="0">
                <a:solidFill>
                  <a:schemeClr val="tx1"/>
                </a:solidFill>
              </a:rPr>
              <a:t> based algorithm for polynomial evaluation. We were left with a question …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72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4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uiExpand="1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Question</a:t>
            </a:r>
            <a:endParaRPr lang="en-US" sz="3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Is it possible to select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sz="2000" dirty="0"/>
                  <a:t>such that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                                                  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     …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                                      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 t="-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62000" y="2108308"/>
                <a:ext cx="1077474" cy="56887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𝑺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1" i="1">
                          <a:solidFill>
                            <a:srgbClr val="006C3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108308"/>
                <a:ext cx="1077474" cy="568874"/>
              </a:xfrm>
              <a:prstGeom prst="rect">
                <a:avLst/>
              </a:prstGeom>
              <a:blipFill>
                <a:blip r:embed="rId3"/>
                <a:stretch>
                  <a:fillRect b="-42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62000" y="3005850"/>
                <a:ext cx="1077474" cy="56887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𝑺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𝟒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1" i="1">
                          <a:solidFill>
                            <a:srgbClr val="006C3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005850"/>
                <a:ext cx="1077474" cy="568874"/>
              </a:xfrm>
              <a:prstGeom prst="rect">
                <a:avLst/>
              </a:prstGeom>
              <a:blipFill>
                <a:blip r:embed="rId4"/>
                <a:stretch>
                  <a:fillRect b="-434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62000" y="4665777"/>
                <a:ext cx="1074268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𝑺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𝒏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1" i="1">
                          <a:solidFill>
                            <a:srgbClr val="006C31"/>
                          </a:solidFill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665777"/>
                <a:ext cx="1074268" cy="369332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2F8A95-111E-A248-8A70-2B0B88E97D0F}"/>
                  </a:ext>
                </a:extLst>
              </p:cNvPr>
              <p:cNvSpPr txBox="1"/>
              <p:nvPr/>
            </p:nvSpPr>
            <p:spPr>
              <a:xfrm>
                <a:off x="5101681" y="2108308"/>
                <a:ext cx="2496196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,−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,−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,−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2F8A95-111E-A248-8A70-2B0B88E97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681" y="2108308"/>
                <a:ext cx="2496196" cy="369332"/>
              </a:xfrm>
              <a:prstGeom prst="rect">
                <a:avLst/>
              </a:prstGeom>
              <a:blipFill>
                <a:blip r:embed="rId6"/>
                <a:stretch>
                  <a:fillRect t="-10714" b="-32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D97F5F8-DA19-4248-B3C3-D0AF56EBC654}"/>
              </a:ext>
            </a:extLst>
          </p:cNvPr>
          <p:cNvSpPr/>
          <p:nvPr/>
        </p:nvSpPr>
        <p:spPr>
          <a:xfrm>
            <a:off x="706740" y="2057280"/>
            <a:ext cx="1184787" cy="66735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Left Arrow 1">
            <a:extLst>
              <a:ext uri="{FF2B5EF4-FFF2-40B4-BE49-F238E27FC236}">
                <a16:creationId xmlns:a16="http://schemas.microsoft.com/office/drawing/2014/main" id="{67B8FC9E-BFB0-F645-A1AB-0F6B830B265A}"/>
              </a:ext>
            </a:extLst>
          </p:cNvPr>
          <p:cNvSpPr/>
          <p:nvPr/>
        </p:nvSpPr>
        <p:spPr>
          <a:xfrm>
            <a:off x="2675538" y="2108308"/>
            <a:ext cx="1889088" cy="4202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loud Callout 11">
            <a:extLst>
              <a:ext uri="{FF2B5EF4-FFF2-40B4-BE49-F238E27FC236}">
                <a16:creationId xmlns:a16="http://schemas.microsoft.com/office/drawing/2014/main" id="{209B26DB-0ECA-F8DB-8D68-1CFB0FB3C376}"/>
              </a:ext>
            </a:extLst>
          </p:cNvPr>
          <p:cNvSpPr/>
          <p:nvPr/>
        </p:nvSpPr>
        <p:spPr>
          <a:xfrm>
            <a:off x="3505200" y="2985748"/>
            <a:ext cx="4379187" cy="1394613"/>
          </a:xfrm>
          <a:prstGeom prst="cloudCallout">
            <a:avLst>
              <a:gd name="adj1" fmla="val -24125"/>
              <a:gd name="adj2" fmla="val 6662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Good start !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But how to satisfy the remaining requirements …</a:t>
            </a:r>
          </a:p>
        </p:txBody>
      </p:sp>
    </p:spTree>
    <p:extLst>
      <p:ext uri="{BB962C8B-B14F-4D97-AF65-F5344CB8AC3E}">
        <p14:creationId xmlns:p14="http://schemas.microsoft.com/office/powerpoint/2010/main" val="3529855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9" grpId="0" animBg="1"/>
      <p:bldP spid="10" grpId="0" animBg="1"/>
      <p:bldP spid="11" grpId="0" animBg="1"/>
      <p:bldP spid="4" grpId="0" animBg="1"/>
      <p:bldP spid="14" grpId="0" animBg="1"/>
      <p:bldP spid="2" grpId="0" animBg="1"/>
      <p:bldP spid="3" grpId="0" animBg="1"/>
      <p:bldP spid="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Complex numbers</a:t>
            </a: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Recalling elementary facts</a:t>
            </a:r>
          </a:p>
        </p:txBody>
      </p:sp>
    </p:spTree>
    <p:extLst>
      <p:ext uri="{BB962C8B-B14F-4D97-AF65-F5344CB8AC3E}">
        <p14:creationId xmlns:p14="http://schemas.microsoft.com/office/powerpoint/2010/main" val="172634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Complex roots </a:t>
            </a:r>
            <a:r>
              <a:rPr lang="en-US" sz="3200" b="1" dirty="0"/>
              <a:t>of </a:t>
            </a:r>
            <a:r>
              <a:rPr lang="en-US" sz="3200" b="1" dirty="0">
                <a:solidFill>
                  <a:srgbClr val="0070C0"/>
                </a:solidFill>
              </a:rPr>
              <a:t>unity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C00000"/>
                    </a:solidFill>
                  </a:rPr>
                  <a:t>Definition</a:t>
                </a:r>
                <a:r>
                  <a:rPr lang="en-US" sz="1800" dirty="0"/>
                  <a:t>: </a:t>
                </a:r>
              </a:p>
              <a:p>
                <a:pPr marL="0" indent="0">
                  <a:buNone/>
                </a:pPr>
                <a:r>
                  <a:rPr lang="en-US" sz="1800" dirty="0"/>
                  <a:t>A number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𝑧</m:t>
                    </m:r>
                  </m:oMath>
                </a14:m>
                <a:r>
                  <a:rPr lang="en-US" sz="1800" dirty="0"/>
                  <a:t> is said to be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1800" dirty="0" err="1"/>
                  <a:t>th</a:t>
                </a:r>
                <a:r>
                  <a:rPr lang="en-US" sz="1800" dirty="0"/>
                  <a:t> root of unity </a:t>
                </a:r>
              </a:p>
              <a:p>
                <a:pPr marL="0" indent="0">
                  <a:buNone/>
                </a:pPr>
                <a:r>
                  <a:rPr lang="en-US" sz="1800" dirty="0"/>
                  <a:t>if it satisfies equation.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  <m:sup>
                          <m:r>
                            <a:rPr lang="en-US" sz="1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1800" i="1">
                          <a:latin typeface="Cambria Math"/>
                        </a:rPr>
                        <m:t>=</m:t>
                      </m:r>
                      <m:r>
                        <a:rPr lang="en-US" sz="1800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1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⋅</m:t>
                      </m:r>
                      <m:r>
                        <a:rPr lang="en-US" sz="1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1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⋅</m:t>
                      </m:r>
                      <m:r>
                        <a:rPr lang="en-US" sz="1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1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⋅ …⋅</m:t>
                      </m:r>
                      <m:r>
                        <a:rPr lang="en-US" sz="1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1800" b="0" i="0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>
                  <a:buFont typeface="Wingdings"/>
                  <a:buChar char="è"/>
                </a:pPr>
                <a:r>
                  <a:rPr lang="en-US" sz="1800" dirty="0">
                    <a:sym typeface="Wingdings" pitchFamily="2" charset="2"/>
                  </a:rPr>
                  <a:t>Magnitude(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𝑧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) = </a:t>
                </a:r>
                <a:r>
                  <a:rPr lang="en-US" sz="1800" dirty="0">
                    <a:solidFill>
                      <a:srgbClr val="0070C0"/>
                    </a:solidFill>
                    <a:sym typeface="Wingdings" pitchFamily="2" charset="2"/>
                  </a:rPr>
                  <a:t>1</a:t>
                </a:r>
              </a:p>
              <a:p>
                <a:pPr>
                  <a:buFont typeface="Wingdings"/>
                  <a:buChar char="è"/>
                </a:pPr>
                <a:r>
                  <a:rPr lang="en-US" sz="1800" dirty="0">
                    <a:sym typeface="Wingdings" pitchFamily="2" charset="2"/>
                  </a:rPr>
                  <a:t>Argument(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𝑧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) =    </a:t>
                </a:r>
                <a:r>
                  <a:rPr lang="en-US" sz="1800" dirty="0">
                    <a:solidFill>
                      <a:srgbClr val="C00000"/>
                    </a:solidFill>
                    <a:sym typeface="Wingdings" pitchFamily="2" charset="2"/>
                  </a:rPr>
                  <a:t>?</a:t>
                </a:r>
              </a:p>
              <a:p>
                <a:pPr>
                  <a:buFont typeface="Wingdings"/>
                  <a:buChar char="è"/>
                </a:pPr>
                <a:endParaRPr lang="en-US" sz="1800" dirty="0"/>
              </a:p>
              <a:p>
                <a:pPr>
                  <a:buFont typeface="Wingdings"/>
                  <a:buChar char="è"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1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1, 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 ,</m:t>
                      </m:r>
                      <m:sSubSup>
                        <m:sSubSupPr>
                          <m:ctrlP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1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,</m:t>
                      </m:r>
                      <m:sSubSup>
                        <m:sSubSupPr>
                          <m:ctrlP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3</m:t>
                          </m:r>
                        </m:sup>
                      </m:sSubSup>
                      <m:r>
                        <a:rPr lang="en-US" sz="1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,…,</m:t>
                      </m:r>
                      <m:sSubSup>
                        <m:sSubSupPr>
                          <m:ctrlP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b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pPr>
                  <a:buFont typeface="Wingdings"/>
                  <a:buChar char="è"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13" name="Content Placeholder 1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1207" t="-674" r="-3318" b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ontent Placeholder 1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pSp>
        <p:nvGrpSpPr>
          <p:cNvPr id="30" name="Group 29"/>
          <p:cNvGrpSpPr/>
          <p:nvPr/>
        </p:nvGrpSpPr>
        <p:grpSpPr>
          <a:xfrm>
            <a:off x="4724400" y="2438400"/>
            <a:ext cx="3886200" cy="2819400"/>
            <a:chOff x="-609600" y="3352800"/>
            <a:chExt cx="4191000" cy="3276600"/>
          </a:xfrm>
        </p:grpSpPr>
        <p:cxnSp>
          <p:nvCxnSpPr>
            <p:cNvPr id="31" name="Straight Connector 30"/>
            <p:cNvCxnSpPr/>
            <p:nvPr/>
          </p:nvCxnSpPr>
          <p:spPr>
            <a:xfrm>
              <a:off x="1371600" y="3352800"/>
              <a:ext cx="0" cy="3276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-609600" y="5105400"/>
              <a:ext cx="4191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Oval 32"/>
          <p:cNvSpPr/>
          <p:nvPr/>
        </p:nvSpPr>
        <p:spPr>
          <a:xfrm>
            <a:off x="7543800" y="3505200"/>
            <a:ext cx="76200" cy="762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7581900" y="3914776"/>
            <a:ext cx="76200" cy="762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5486400" y="2895600"/>
            <a:ext cx="2133600" cy="2133600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558994" y="38862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994" y="3886200"/>
                <a:ext cx="365806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r="-2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>
            <a:endCxn id="33" idx="4"/>
          </p:cNvCxnSpPr>
          <p:nvPr/>
        </p:nvCxnSpPr>
        <p:spPr>
          <a:xfrm flipV="1">
            <a:off x="6566542" y="3581400"/>
            <a:ext cx="1015358" cy="37722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rc 22"/>
          <p:cNvSpPr/>
          <p:nvPr/>
        </p:nvSpPr>
        <p:spPr>
          <a:xfrm rot="1786622">
            <a:off x="6338891" y="3490909"/>
            <a:ext cx="914400" cy="914400"/>
          </a:xfrm>
          <a:prstGeom prst="arc">
            <a:avLst>
              <a:gd name="adj1" fmla="val 18118072"/>
              <a:gd name="adj2" fmla="val 2002561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5486400" y="3886200"/>
            <a:ext cx="685800" cy="1066800"/>
            <a:chOff x="5486400" y="3886200"/>
            <a:chExt cx="685800" cy="1066800"/>
          </a:xfrm>
        </p:grpSpPr>
        <p:sp>
          <p:nvSpPr>
            <p:cNvPr id="53" name="Oval 52"/>
            <p:cNvSpPr/>
            <p:nvPr/>
          </p:nvSpPr>
          <p:spPr>
            <a:xfrm>
              <a:off x="5486400" y="38862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5715000" y="46482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6096000" y="48768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5486400" y="42672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553200" y="4343400"/>
            <a:ext cx="1066800" cy="685800"/>
            <a:chOff x="6553200" y="4343400"/>
            <a:chExt cx="1066800" cy="685800"/>
          </a:xfrm>
        </p:grpSpPr>
        <p:sp>
          <p:nvSpPr>
            <p:cNvPr id="35" name="Oval 34"/>
            <p:cNvSpPr/>
            <p:nvPr/>
          </p:nvSpPr>
          <p:spPr>
            <a:xfrm>
              <a:off x="6553200" y="49530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7315200" y="46482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7543800" y="43434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/>
            <p:cNvSpPr/>
            <p:nvPr/>
          </p:nvSpPr>
          <p:spPr>
            <a:xfrm>
              <a:off x="7010400" y="48768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562600" y="2819400"/>
            <a:ext cx="1828800" cy="685800"/>
            <a:chOff x="5562600" y="2819400"/>
            <a:chExt cx="1828800" cy="685800"/>
          </a:xfrm>
        </p:grpSpPr>
        <p:sp>
          <p:nvSpPr>
            <p:cNvPr id="19" name="Oval 18"/>
            <p:cNvSpPr/>
            <p:nvPr/>
          </p:nvSpPr>
          <p:spPr>
            <a:xfrm>
              <a:off x="7315200" y="32004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6934200" y="29718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6172200" y="28956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5562600" y="34290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5791200" y="31242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/>
            <p:cNvSpPr/>
            <p:nvPr/>
          </p:nvSpPr>
          <p:spPr>
            <a:xfrm>
              <a:off x="6553200" y="28194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/>
              <p:cNvSpPr/>
              <p:nvPr/>
            </p:nvSpPr>
            <p:spPr>
              <a:xfrm>
                <a:off x="8153400" y="3276600"/>
                <a:ext cx="609600" cy="612648"/>
              </a:xfrm>
              <a:prstGeom prst="borderCallout1">
                <a:avLst>
                  <a:gd name="adj1" fmla="val 48601"/>
                  <a:gd name="adj2" fmla="val -1274"/>
                  <a:gd name="adj3" fmla="val 93185"/>
                  <a:gd name="adj4" fmla="val -147156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𝜋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Line Callout 1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0" y="3276600"/>
                <a:ext cx="609600" cy="612648"/>
              </a:xfrm>
              <a:prstGeom prst="borderCallout1">
                <a:avLst>
                  <a:gd name="adj1" fmla="val 48601"/>
                  <a:gd name="adj2" fmla="val -1274"/>
                  <a:gd name="adj3" fmla="val 93185"/>
                  <a:gd name="adj4" fmla="val -147156"/>
                </a:avLst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/>
          <p:cNvSpPr txBox="1"/>
          <p:nvPr/>
        </p:nvSpPr>
        <p:spPr>
          <a:xfrm>
            <a:off x="5029200" y="1676400"/>
            <a:ext cx="1267206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Complex plane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65579" y="5410200"/>
            <a:ext cx="921021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Unit circle</a:t>
            </a:r>
          </a:p>
        </p:txBody>
      </p:sp>
      <p:sp>
        <p:nvSpPr>
          <p:cNvPr id="6" name="Oval 5"/>
          <p:cNvSpPr/>
          <p:nvPr/>
        </p:nvSpPr>
        <p:spPr>
          <a:xfrm>
            <a:off x="7467600" y="3431977"/>
            <a:ext cx="228600" cy="225623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600200" y="5105400"/>
            <a:ext cx="304800" cy="301823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286000" y="4086482"/>
                <a:ext cx="1473865" cy="485518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ym typeface="Wingdings" pitchFamily="2" charset="2"/>
                  </a:rPr>
                  <a:t>multiple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𝜋</m:t>
                        </m:r>
                      </m:num>
                      <m:den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𝑛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4086482"/>
                <a:ext cx="1473865" cy="485518"/>
              </a:xfrm>
              <a:prstGeom prst="rect">
                <a:avLst/>
              </a:prstGeom>
              <a:blipFill rotWithShape="1">
                <a:blip r:embed="rId5"/>
                <a:stretch>
                  <a:fillRect l="-3306" r="-5785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09600" y="5040868"/>
                <a:ext cx="7536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𝒏</m:t>
                          </m:r>
                        </m:sub>
                      </m:sSub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040868"/>
                <a:ext cx="753668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967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F787025-9B88-7440-967C-B2955212501C}"/>
                  </a:ext>
                </a:extLst>
              </p:cNvPr>
              <p:cNvSpPr txBox="1"/>
              <p:nvPr/>
            </p:nvSpPr>
            <p:spPr>
              <a:xfrm>
                <a:off x="1787013" y="5994392"/>
                <a:ext cx="2649764" cy="37427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b="1" dirty="0"/>
                  <a:t>Principal</a:t>
                </a:r>
                <a:r>
                  <a:rPr lang="en-US" dirty="0"/>
                  <a:t> </a:t>
                </a:r>
                <a:r>
                  <a:rPr lang="en-US" dirty="0" err="1"/>
                  <a:t>rool</a:t>
                </a:r>
                <a:r>
                  <a:rPr lang="en-US" dirty="0"/>
                  <a:t> of unity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F787025-9B88-7440-967C-B29552125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013" y="5994392"/>
                <a:ext cx="2649764" cy="374270"/>
              </a:xfrm>
              <a:prstGeom prst="rect">
                <a:avLst/>
              </a:prstGeom>
              <a:blipFill>
                <a:blip r:embed="rId7"/>
                <a:stretch>
                  <a:fillRect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C92AC92-4956-B443-9975-32D216BD74D4}"/>
              </a:ext>
            </a:extLst>
          </p:cNvPr>
          <p:cNvCxnSpPr>
            <a:cxnSpLocks/>
            <a:stCxn id="49" idx="5"/>
          </p:cNvCxnSpPr>
          <p:nvPr/>
        </p:nvCxnSpPr>
        <p:spPr>
          <a:xfrm>
            <a:off x="1860363" y="5363022"/>
            <a:ext cx="94352" cy="63137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loud Callout 49">
                <a:extLst>
                  <a:ext uri="{FF2B5EF4-FFF2-40B4-BE49-F238E27FC236}">
                    <a16:creationId xmlns:a16="http://schemas.microsoft.com/office/drawing/2014/main" id="{8A39E4FE-19AD-E844-B953-399CCECBDCB6}"/>
                  </a:ext>
                </a:extLst>
              </p:cNvPr>
              <p:cNvSpPr/>
              <p:nvPr/>
            </p:nvSpPr>
            <p:spPr>
              <a:xfrm>
                <a:off x="6553201" y="5583228"/>
                <a:ext cx="2506286" cy="993646"/>
              </a:xfrm>
              <a:prstGeom prst="cloudCallout">
                <a:avLst>
                  <a:gd name="adj1" fmla="val -28840"/>
                  <a:gd name="adj2" fmla="val 78541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So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>
                    <a:solidFill>
                      <a:schemeClr val="tx1"/>
                    </a:solidFill>
                  </a:rPr>
                  <a:t>must lie on the unit circle. But where exactly …</a:t>
                </a:r>
              </a:p>
            </p:txBody>
          </p:sp>
        </mc:Choice>
        <mc:Fallback xmlns="">
          <p:sp>
            <p:nvSpPr>
              <p:cNvPr id="50" name="Cloud Callout 49">
                <a:extLst>
                  <a:ext uri="{FF2B5EF4-FFF2-40B4-BE49-F238E27FC236}">
                    <a16:creationId xmlns:a16="http://schemas.microsoft.com/office/drawing/2014/main" id="{8A39E4FE-19AD-E844-B953-399CCECBDC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1" y="5583228"/>
                <a:ext cx="2506286" cy="993646"/>
              </a:xfrm>
              <a:prstGeom prst="cloudCallout">
                <a:avLst>
                  <a:gd name="adj1" fmla="val -28840"/>
                  <a:gd name="adj2" fmla="val 78541"/>
                </a:avLst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87783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5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uiExpand="1" build="p"/>
      <p:bldP spid="33" grpId="0" animBg="1"/>
      <p:bldP spid="34" grpId="0" animBg="1"/>
      <p:bldP spid="37" grpId="0" animBg="1"/>
      <p:bldP spid="18" grpId="0"/>
      <p:bldP spid="23" grpId="0" animBg="1"/>
      <p:bldP spid="5" grpId="0" animBg="1"/>
      <p:bldP spid="48" grpId="0" animBg="1"/>
      <p:bldP spid="6" grpId="0" animBg="1"/>
      <p:bldP spid="49" grpId="0" animBg="1"/>
      <p:bldP spid="10" grpId="0" animBg="1"/>
      <p:bldP spid="11" grpId="0"/>
      <p:bldP spid="2" grpId="0" animBg="1"/>
      <p:bldP spid="50" grpId="0" animBg="1"/>
      <p:bldP spid="50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Complex roots </a:t>
            </a:r>
            <a:r>
              <a:rPr lang="en-US" sz="3200" b="1" dirty="0"/>
              <a:t>of </a:t>
            </a:r>
            <a:r>
              <a:rPr lang="en-US" sz="3200" b="1" dirty="0">
                <a:solidFill>
                  <a:srgbClr val="0070C0"/>
                </a:solidFill>
              </a:rPr>
              <a:t>unity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What 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𝑹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𝟑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?</a:t>
                </a:r>
              </a:p>
            </p:txBody>
          </p:sp>
        </mc:Choice>
        <mc:Fallback xmlns="">
          <p:sp>
            <p:nvSpPr>
              <p:cNvPr id="13" name="Content Placeholder 1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508" b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What 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000" b="1" i="1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sz="2000" b="1" i="1"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en-US" sz="2000" b="1" i="1">
                        <a:latin typeface="Cambria Math"/>
                      </a:rPr>
                      <m:t>𝒙</m:t>
                    </m:r>
                    <m:r>
                      <a:rPr lang="en-US" sz="2000" b="1" i="1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en-US" sz="20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𝑹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𝟒</m:t>
                        </m:r>
                      </m:sub>
                    </m:sSub>
                    <m:r>
                      <a:rPr lang="en-US" sz="2000" b="1" i="1">
                        <a:latin typeface="Cambria Math"/>
                      </a:rPr>
                      <m:t>}</m:t>
                    </m:r>
                  </m:oMath>
                </a14:m>
                <a:r>
                  <a:rPr lang="en-US" sz="2000" dirty="0"/>
                  <a:t> ?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 l="-1662" t="-674" b="-9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533400" y="2438400"/>
            <a:ext cx="3886200" cy="2819400"/>
            <a:chOff x="-609600" y="3352800"/>
            <a:chExt cx="4191000" cy="32766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1371600" y="3352800"/>
              <a:ext cx="0" cy="3276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-609600" y="5105400"/>
              <a:ext cx="4191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Oval 15"/>
          <p:cNvSpPr/>
          <p:nvPr/>
        </p:nvSpPr>
        <p:spPr>
          <a:xfrm>
            <a:off x="1295400" y="2895600"/>
            <a:ext cx="2133600" cy="2133600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752600" y="3048000"/>
            <a:ext cx="1676400" cy="1828800"/>
            <a:chOff x="1752600" y="3048000"/>
            <a:chExt cx="1676400" cy="1828800"/>
          </a:xfrm>
        </p:grpSpPr>
        <p:cxnSp>
          <p:nvCxnSpPr>
            <p:cNvPr id="8" name="Straight Connector 7"/>
            <p:cNvCxnSpPr/>
            <p:nvPr/>
          </p:nvCxnSpPr>
          <p:spPr>
            <a:xfrm flipV="1">
              <a:off x="2362200" y="3943350"/>
              <a:ext cx="1066800" cy="9526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752600" y="3048000"/>
              <a:ext cx="617913" cy="91440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stCxn id="28" idx="4"/>
            </p:cNvCxnSpPr>
            <p:nvPr/>
          </p:nvCxnSpPr>
          <p:spPr>
            <a:xfrm flipV="1">
              <a:off x="1790700" y="3948114"/>
              <a:ext cx="579813" cy="928686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4724400" y="2438400"/>
            <a:ext cx="3886200" cy="2819400"/>
            <a:chOff x="-609600" y="3352800"/>
            <a:chExt cx="4191000" cy="3276600"/>
          </a:xfrm>
        </p:grpSpPr>
        <p:cxnSp>
          <p:nvCxnSpPr>
            <p:cNvPr id="31" name="Straight Connector 30"/>
            <p:cNvCxnSpPr/>
            <p:nvPr/>
          </p:nvCxnSpPr>
          <p:spPr>
            <a:xfrm>
              <a:off x="1371600" y="3352800"/>
              <a:ext cx="0" cy="3276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-609600" y="5105400"/>
              <a:ext cx="4191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Oval 36"/>
          <p:cNvSpPr/>
          <p:nvPr/>
        </p:nvSpPr>
        <p:spPr>
          <a:xfrm>
            <a:off x="5486400" y="2895600"/>
            <a:ext cx="2133600" cy="2133600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5486400" y="2895600"/>
            <a:ext cx="2133600" cy="2133600"/>
            <a:chOff x="5486400" y="2895600"/>
            <a:chExt cx="2133600" cy="2133600"/>
          </a:xfrm>
        </p:grpSpPr>
        <p:cxnSp>
          <p:nvCxnSpPr>
            <p:cNvPr id="36" name="Straight Connector 35"/>
            <p:cNvCxnSpPr/>
            <p:nvPr/>
          </p:nvCxnSpPr>
          <p:spPr>
            <a:xfrm flipV="1">
              <a:off x="6553200" y="3943350"/>
              <a:ext cx="1066800" cy="9526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553200" y="2895600"/>
              <a:ext cx="8313" cy="106680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5486400" y="3948114"/>
              <a:ext cx="1075113" cy="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37" idx="4"/>
            </p:cNvCxnSpPr>
            <p:nvPr/>
          </p:nvCxnSpPr>
          <p:spPr>
            <a:xfrm flipV="1">
              <a:off x="6553200" y="3914776"/>
              <a:ext cx="8313" cy="1114424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4974657" y="2514600"/>
            <a:ext cx="3026343" cy="2887907"/>
            <a:chOff x="4974657" y="2514600"/>
            <a:chExt cx="3026343" cy="2887907"/>
          </a:xfrm>
        </p:grpSpPr>
        <p:sp>
          <p:nvSpPr>
            <p:cNvPr id="33" name="Oval 32"/>
            <p:cNvSpPr/>
            <p:nvPr/>
          </p:nvSpPr>
          <p:spPr>
            <a:xfrm>
              <a:off x="6477000" y="28194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7581900" y="3914776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6553200" y="49530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5410200" y="38862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6498658" y="2514600"/>
                  <a:ext cx="511743" cy="3717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4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8658" y="2514600"/>
                  <a:ext cx="511743" cy="37170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6667" r="-1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4974657" y="3971695"/>
                  <a:ext cx="516680" cy="3722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4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4657" y="3971695"/>
                  <a:ext cx="516680" cy="372281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6557" r="-15294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6477000" y="5029200"/>
                  <a:ext cx="516680" cy="3733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4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3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7000" y="5029200"/>
                  <a:ext cx="516680" cy="373307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6557" r="-15476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7484320" y="3962400"/>
                  <a:ext cx="516680" cy="3711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4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4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4320" y="3962400"/>
                  <a:ext cx="516680" cy="371127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6557" r="-14118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/>
          <p:cNvGrpSpPr/>
          <p:nvPr/>
        </p:nvGrpSpPr>
        <p:grpSpPr>
          <a:xfrm>
            <a:off x="1143000" y="2749739"/>
            <a:ext cx="2650280" cy="2508061"/>
            <a:chOff x="1143000" y="2749739"/>
            <a:chExt cx="2650280" cy="2508061"/>
          </a:xfrm>
        </p:grpSpPr>
        <p:sp>
          <p:nvSpPr>
            <p:cNvPr id="10" name="Oval 9"/>
            <p:cNvSpPr/>
            <p:nvPr/>
          </p:nvSpPr>
          <p:spPr>
            <a:xfrm>
              <a:off x="1714500" y="30099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3390900" y="3914776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1752600" y="48006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/>
                <p:cNvSpPr txBox="1"/>
                <p:nvPr/>
              </p:nvSpPr>
              <p:spPr>
                <a:xfrm>
                  <a:off x="1371600" y="4883339"/>
                  <a:ext cx="516680" cy="3744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" name="TextBox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1600" y="4883339"/>
                  <a:ext cx="516680" cy="374461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6452" r="-14118" b="-241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1143000" y="2749739"/>
                  <a:ext cx="511742" cy="3738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000" y="2749739"/>
                  <a:ext cx="511742" cy="373885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6557" r="-16867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3276600" y="3969515"/>
                  <a:ext cx="516680" cy="3758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3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6600" y="3969515"/>
                  <a:ext cx="516680" cy="37587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6452" r="-15476" b="-241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5" name="Oval 44"/>
          <p:cNvSpPr/>
          <p:nvPr/>
        </p:nvSpPr>
        <p:spPr>
          <a:xfrm>
            <a:off x="1676400" y="4727377"/>
            <a:ext cx="228600" cy="22562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1629940" y="2936681"/>
            <a:ext cx="228600" cy="22562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5334000" y="3812977"/>
            <a:ext cx="228600" cy="22562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7505700" y="3840064"/>
            <a:ext cx="228600" cy="22562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3314700" y="3840064"/>
            <a:ext cx="228600" cy="22562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276600" y="5650468"/>
                <a:ext cx="508408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5650468"/>
                <a:ext cx="508408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197" r="-1566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7543800" y="5650468"/>
                <a:ext cx="508409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800" y="5650468"/>
                <a:ext cx="508409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197" r="-1566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rc 2"/>
          <p:cNvSpPr/>
          <p:nvPr/>
        </p:nvSpPr>
        <p:spPr>
          <a:xfrm flipV="1">
            <a:off x="1905000" y="3482182"/>
            <a:ext cx="914400" cy="914400"/>
          </a:xfrm>
          <a:prstGeom prst="arc">
            <a:avLst>
              <a:gd name="adj1" fmla="val 7589944"/>
              <a:gd name="adj2" fmla="val 14270903"/>
            </a:avLst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006C31"/>
                </a:solidFill>
              </a:ln>
            </a:endParaRPr>
          </a:p>
        </p:txBody>
      </p:sp>
      <p:sp>
        <p:nvSpPr>
          <p:cNvPr id="21" name="L-Shape 20"/>
          <p:cNvSpPr/>
          <p:nvPr/>
        </p:nvSpPr>
        <p:spPr>
          <a:xfrm rot="19373214">
            <a:off x="3657598" y="3786951"/>
            <a:ext cx="381000" cy="152399"/>
          </a:xfrm>
          <a:prstGeom prst="corner">
            <a:avLst>
              <a:gd name="adj1" fmla="val 29956"/>
              <a:gd name="adj2" fmla="val 34967"/>
            </a:avLst>
          </a:prstGeom>
          <a:solidFill>
            <a:srgbClr val="006C31"/>
          </a:solidFill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L-Shape 51"/>
          <p:cNvSpPr/>
          <p:nvPr/>
        </p:nvSpPr>
        <p:spPr>
          <a:xfrm rot="19373214">
            <a:off x="1104899" y="5181600"/>
            <a:ext cx="381000" cy="152399"/>
          </a:xfrm>
          <a:prstGeom prst="corner">
            <a:avLst>
              <a:gd name="adj1" fmla="val 29956"/>
              <a:gd name="adj2" fmla="val 34967"/>
            </a:avLst>
          </a:prstGeom>
          <a:solidFill>
            <a:srgbClr val="006C31"/>
          </a:solidFill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L-Shape 53"/>
          <p:cNvSpPr/>
          <p:nvPr/>
        </p:nvSpPr>
        <p:spPr>
          <a:xfrm rot="19373214">
            <a:off x="1540443" y="2588030"/>
            <a:ext cx="381000" cy="152399"/>
          </a:xfrm>
          <a:prstGeom prst="corner">
            <a:avLst>
              <a:gd name="adj1" fmla="val 29956"/>
              <a:gd name="adj2" fmla="val 34967"/>
            </a:avLst>
          </a:prstGeom>
          <a:solidFill>
            <a:srgbClr val="006C31"/>
          </a:solidFill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c 54"/>
          <p:cNvSpPr/>
          <p:nvPr/>
        </p:nvSpPr>
        <p:spPr>
          <a:xfrm flipV="1">
            <a:off x="1905000" y="3486334"/>
            <a:ext cx="914400" cy="914400"/>
          </a:xfrm>
          <a:prstGeom prst="arc">
            <a:avLst>
              <a:gd name="adj1" fmla="val 14307350"/>
              <a:gd name="adj2" fmla="val 7665822"/>
            </a:avLst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006C31"/>
                </a:solidFill>
              </a:ln>
            </a:endParaRPr>
          </a:p>
        </p:txBody>
      </p:sp>
      <p:sp>
        <p:nvSpPr>
          <p:cNvPr id="57" name="Oval 56"/>
          <p:cNvSpPr/>
          <p:nvPr/>
        </p:nvSpPr>
        <p:spPr>
          <a:xfrm>
            <a:off x="6384358" y="2746181"/>
            <a:ext cx="228600" cy="22562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6484004" y="4876800"/>
            <a:ext cx="228600" cy="22562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L-Shape 58"/>
          <p:cNvSpPr/>
          <p:nvPr/>
        </p:nvSpPr>
        <p:spPr>
          <a:xfrm rot="19373214">
            <a:off x="7867648" y="3794919"/>
            <a:ext cx="381000" cy="152399"/>
          </a:xfrm>
          <a:prstGeom prst="corner">
            <a:avLst>
              <a:gd name="adj1" fmla="val 29956"/>
              <a:gd name="adj2" fmla="val 34967"/>
            </a:avLst>
          </a:prstGeom>
          <a:solidFill>
            <a:srgbClr val="006C31"/>
          </a:solidFill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c 55"/>
          <p:cNvSpPr/>
          <p:nvPr/>
        </p:nvSpPr>
        <p:spPr>
          <a:xfrm flipV="1">
            <a:off x="6096000" y="3511062"/>
            <a:ext cx="914400" cy="914400"/>
          </a:xfrm>
          <a:prstGeom prst="arc">
            <a:avLst>
              <a:gd name="adj1" fmla="val 5251232"/>
              <a:gd name="adj2" fmla="val 10801837"/>
            </a:avLst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006C31"/>
                </a:solidFill>
              </a:ln>
            </a:endParaRPr>
          </a:p>
        </p:txBody>
      </p:sp>
      <p:sp>
        <p:nvSpPr>
          <p:cNvPr id="60" name="Arc 59"/>
          <p:cNvSpPr/>
          <p:nvPr/>
        </p:nvSpPr>
        <p:spPr>
          <a:xfrm flipV="1">
            <a:off x="6089726" y="3507970"/>
            <a:ext cx="914400" cy="914400"/>
          </a:xfrm>
          <a:prstGeom prst="arc">
            <a:avLst>
              <a:gd name="adj1" fmla="val 16254375"/>
              <a:gd name="adj2" fmla="val 10792054"/>
            </a:avLst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006C31"/>
                </a:solidFill>
              </a:ln>
            </a:endParaRPr>
          </a:p>
        </p:txBody>
      </p:sp>
      <p:sp>
        <p:nvSpPr>
          <p:cNvPr id="61" name="L-Shape 60"/>
          <p:cNvSpPr/>
          <p:nvPr/>
        </p:nvSpPr>
        <p:spPr>
          <a:xfrm rot="19373214">
            <a:off x="4880237" y="3818951"/>
            <a:ext cx="381000" cy="152399"/>
          </a:xfrm>
          <a:prstGeom prst="corner">
            <a:avLst>
              <a:gd name="adj1" fmla="val 29956"/>
              <a:gd name="adj2" fmla="val 34967"/>
            </a:avLst>
          </a:prstGeom>
          <a:solidFill>
            <a:srgbClr val="006C31"/>
          </a:solidFill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L-Shape 61"/>
          <p:cNvSpPr/>
          <p:nvPr/>
        </p:nvSpPr>
        <p:spPr>
          <a:xfrm rot="19373214">
            <a:off x="8239986" y="3852579"/>
            <a:ext cx="381000" cy="152399"/>
          </a:xfrm>
          <a:prstGeom prst="corner">
            <a:avLst>
              <a:gd name="adj1" fmla="val 29956"/>
              <a:gd name="adj2" fmla="val 34967"/>
            </a:avLst>
          </a:prstGeom>
          <a:solidFill>
            <a:srgbClr val="006C31"/>
          </a:solidFill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Arc 62"/>
          <p:cNvSpPr/>
          <p:nvPr/>
        </p:nvSpPr>
        <p:spPr>
          <a:xfrm flipV="1">
            <a:off x="6096000" y="3505200"/>
            <a:ext cx="914400" cy="914400"/>
          </a:xfrm>
          <a:prstGeom prst="arc">
            <a:avLst>
              <a:gd name="adj1" fmla="val 10742783"/>
              <a:gd name="adj2" fmla="val 37134"/>
            </a:avLst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006C31"/>
                </a:solidFill>
              </a:ln>
            </a:endParaRPr>
          </a:p>
        </p:txBody>
      </p:sp>
      <p:sp>
        <p:nvSpPr>
          <p:cNvPr id="64" name="L-Shape 63"/>
          <p:cNvSpPr/>
          <p:nvPr/>
        </p:nvSpPr>
        <p:spPr>
          <a:xfrm rot="19373214">
            <a:off x="4611021" y="3786690"/>
            <a:ext cx="381000" cy="152399"/>
          </a:xfrm>
          <a:prstGeom prst="corner">
            <a:avLst>
              <a:gd name="adj1" fmla="val 29956"/>
              <a:gd name="adj2" fmla="val 34967"/>
            </a:avLst>
          </a:prstGeom>
          <a:solidFill>
            <a:srgbClr val="006C31"/>
          </a:solidFill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560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  <p:bldP spid="14" grpId="0" uiExpand="1" build="p"/>
      <p:bldP spid="45" grpId="0" animBg="1"/>
      <p:bldP spid="46" grpId="0" animBg="1"/>
      <p:bldP spid="47" grpId="0" animBg="1"/>
      <p:bldP spid="48" grpId="0" animBg="1"/>
      <p:bldP spid="49" grpId="0" animBg="1"/>
      <p:bldP spid="19" grpId="0" animBg="1"/>
      <p:bldP spid="51" grpId="0" animBg="1"/>
      <p:bldP spid="3" grpId="0" animBg="1"/>
      <p:bldP spid="3" grpId="1" animBg="1"/>
      <p:bldP spid="21" grpId="0" animBg="1"/>
      <p:bldP spid="52" grpId="0" animBg="1"/>
      <p:bldP spid="54" grpId="0" animBg="1"/>
      <p:bldP spid="55" grpId="0" animBg="1"/>
      <p:bldP spid="55" grpId="1" animBg="1"/>
      <p:bldP spid="57" grpId="0" animBg="1"/>
      <p:bldP spid="58" grpId="0" animBg="1"/>
      <p:bldP spid="59" grpId="0" animBg="1"/>
      <p:bldP spid="56" grpId="0" animBg="1"/>
      <p:bldP spid="56" grpId="1" animBg="1"/>
      <p:bldP spid="60" grpId="0" animBg="1"/>
      <p:bldP spid="60" grpId="1" animBg="1"/>
      <p:bldP spid="61" grpId="0" animBg="1"/>
      <p:bldP spid="62" grpId="0" animBg="1"/>
      <p:bldP spid="63" grpId="0" animBg="1"/>
      <p:bldP spid="63" grpId="1" animBg="1"/>
      <p:bldP spid="6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Complex roots </a:t>
            </a:r>
            <a:r>
              <a:rPr lang="en-US" sz="3200" b="1" dirty="0"/>
              <a:t>of </a:t>
            </a:r>
            <a:r>
              <a:rPr lang="en-US" sz="3200" b="1" dirty="0">
                <a:solidFill>
                  <a:srgbClr val="0070C0"/>
                </a:solidFill>
              </a:rPr>
              <a:t>unity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i="1" dirty="0">
                    <a:latin typeface="Cambria Math"/>
                  </a:rPr>
                  <a:t> </a:t>
                </a:r>
                <a:r>
                  <a:rPr lang="en-US" sz="2000" dirty="0"/>
                  <a:t>is odd</a:t>
                </a:r>
                <a:r>
                  <a:rPr lang="en-US" sz="2000" i="1" dirty="0">
                    <a:latin typeface="Cambria Math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000" b="1" i="1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sz="2000" b="1" i="1"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en-US" sz="2000" b="1" i="1">
                        <a:latin typeface="Cambria Math"/>
                      </a:rPr>
                      <m:t>𝒙</m:t>
                    </m:r>
                    <m:r>
                      <a:rPr lang="en-US" sz="2000" b="1" i="1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en-US" sz="20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𝑹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sz="2000" b="1" i="1">
                        <a:latin typeface="Cambria Math"/>
                      </a:rPr>
                      <m:t>}=</m:t>
                    </m:r>
                    <m:sSub>
                      <m:sSubPr>
                        <m:ctrlPr>
                          <a:rPr lang="en-US" sz="20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𝑹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i="1" dirty="0">
                    <a:latin typeface="Cambria Math"/>
                  </a:rPr>
                  <a:t> </a:t>
                </a:r>
                <a:r>
                  <a:rPr lang="en-US" sz="2000" dirty="0"/>
                  <a:t>is even</a:t>
                </a:r>
                <a:r>
                  <a:rPr lang="en-US" sz="2000" i="1" dirty="0">
                    <a:latin typeface="Cambria Math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000" b="1" i="1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sz="2000" b="1" i="1"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en-US" sz="2000" b="1" i="1">
                        <a:latin typeface="Cambria Math"/>
                      </a:rPr>
                      <m:t>𝒙</m:t>
                    </m:r>
                    <m:r>
                      <a:rPr lang="en-US" sz="2000" b="1" i="1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en-US" sz="20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𝑹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sz="2000" b="1" i="1">
                        <a:latin typeface="Cambria Math"/>
                      </a:rPr>
                      <m:t>}</m:t>
                    </m:r>
                    <m:r>
                      <a:rPr lang="en-US" sz="2000" b="1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𝑹</m:t>
                        </m:r>
                      </m:e>
                      <m:sub>
                        <m:f>
                          <m:fPr>
                            <m:ctrlPr>
                              <a:rPr lang="en-US" sz="2000" b="1" i="1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𝒏</m:t>
                            </m:r>
                          </m:num>
                          <m:den>
                            <m:r>
                              <a:rPr lang="en-US" sz="2000" b="1" i="1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den>
                        </m:f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1508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Is it possible to select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sz="2000" dirty="0"/>
                  <a:t>such that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                                                  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                          …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                                        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 l="-1662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156602" y="2209800"/>
                <a:ext cx="929998" cy="56887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𝑺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solidFill>
                            <a:srgbClr val="006C3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602" y="2209800"/>
                <a:ext cx="929998" cy="568874"/>
              </a:xfrm>
              <a:prstGeom prst="rect">
                <a:avLst/>
              </a:prstGeom>
              <a:blipFill rotWithShape="1">
                <a:blip r:embed="rId4"/>
                <a:stretch>
                  <a:fillRect r="-64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156602" y="3012526"/>
                <a:ext cx="929998" cy="56887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𝑺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𝟒</m:t>
                          </m:r>
                        </m:sup>
                      </m:sSup>
                      <m:r>
                        <a:rPr lang="en-US" b="1" i="1">
                          <a:solidFill>
                            <a:srgbClr val="006C3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602" y="3012526"/>
                <a:ext cx="929998" cy="568874"/>
              </a:xfrm>
              <a:prstGeom prst="rect">
                <a:avLst/>
              </a:prstGeom>
              <a:blipFill rotWithShape="1">
                <a:blip r:embed="rId5"/>
                <a:stretch>
                  <a:fillRect r="-64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172200" y="4419600"/>
                <a:ext cx="926792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𝑺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𝒏</m:t>
                          </m:r>
                        </m:sup>
                      </m:sSup>
                      <m:r>
                        <a:rPr lang="en-US" b="1" i="1">
                          <a:solidFill>
                            <a:srgbClr val="006C31"/>
                          </a:solidFill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4419600"/>
                <a:ext cx="926792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6349" r="-7143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Down Ribbon 11"/>
              <p:cNvSpPr/>
              <p:nvPr/>
            </p:nvSpPr>
            <p:spPr>
              <a:xfrm>
                <a:off x="3200400" y="5158189"/>
                <a:ext cx="2133600" cy="1014011"/>
              </a:xfrm>
              <a:prstGeom prst="ribbon">
                <a:avLst>
                  <a:gd name="adj1" fmla="val 16667"/>
                  <a:gd name="adj2" fmla="val 73193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/>
                        </a:rPr>
                        <m:t>𝑺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Down Ribbon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5158189"/>
                <a:ext cx="2133600" cy="1014011"/>
              </a:xfrm>
              <a:prstGeom prst="ribbon">
                <a:avLst>
                  <a:gd name="adj1" fmla="val 16667"/>
                  <a:gd name="adj2" fmla="val 73193"/>
                </a:avLst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3276600" y="3124200"/>
            <a:ext cx="9144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352800" y="3581400"/>
            <a:ext cx="914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374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uiExpand="1" build="p"/>
      <p:bldP spid="9" grpId="0" animBg="1"/>
      <p:bldP spid="10" grpId="0" animBg="1"/>
      <p:bldP spid="11" grpId="0" animBg="1"/>
      <p:bldP spid="12" grpId="0" animBg="1"/>
      <p:bldP spid="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sz="3200" b="1" dirty="0"/>
              <a:t>The </a:t>
            </a:r>
            <a:r>
              <a:rPr lang="en-US" sz="3200" b="1" dirty="0">
                <a:solidFill>
                  <a:srgbClr val="7030A0"/>
                </a:solidFill>
              </a:rPr>
              <a:t>Recursion </a:t>
            </a:r>
            <a:r>
              <a:rPr lang="en-US" sz="3200" b="1" dirty="0"/>
              <a:t>Tree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= Time complexity of Evaluating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/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𝑹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   =</a:t>
                </a:r>
                <a:r>
                  <a:rPr lang="en-US" sz="2000" b="1" dirty="0"/>
                  <a:t> a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/>
                  <a:t> +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num>
                      <m:den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2000" dirty="0"/>
                  <a:t>) 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16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146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pSp>
        <p:nvGrpSpPr>
          <p:cNvPr id="39" name="Group 38"/>
          <p:cNvGrpSpPr/>
          <p:nvPr/>
        </p:nvGrpSpPr>
        <p:grpSpPr>
          <a:xfrm>
            <a:off x="2418791" y="1544404"/>
            <a:ext cx="3143809" cy="644992"/>
            <a:chOff x="2971799" y="2992204"/>
            <a:chExt cx="3143809" cy="644992"/>
          </a:xfrm>
        </p:grpSpPr>
        <p:cxnSp>
          <p:nvCxnSpPr>
            <p:cNvPr id="17" name="Straight Arrow Connector 16"/>
            <p:cNvCxnSpPr>
              <a:stCxn id="5" idx="3"/>
              <a:endCxn id="6" idx="7"/>
            </p:cNvCxnSpPr>
            <p:nvPr/>
          </p:nvCxnSpPr>
          <p:spPr>
            <a:xfrm flipH="1">
              <a:off x="2971799" y="2992204"/>
              <a:ext cx="1391210" cy="6449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5" idx="5"/>
              <a:endCxn id="7" idx="1"/>
            </p:cNvCxnSpPr>
            <p:nvPr/>
          </p:nvCxnSpPr>
          <p:spPr>
            <a:xfrm>
              <a:off x="4638954" y="2992204"/>
              <a:ext cx="1476654" cy="6449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762000" y="2438400"/>
            <a:ext cx="6391555" cy="1219200"/>
            <a:chOff x="762000" y="2438400"/>
            <a:chExt cx="6391555" cy="1219200"/>
          </a:xfrm>
        </p:grpSpPr>
        <p:sp>
          <p:nvSpPr>
            <p:cNvPr id="41" name="Oval 40"/>
            <p:cNvSpPr/>
            <p:nvPr/>
          </p:nvSpPr>
          <p:spPr>
            <a:xfrm>
              <a:off x="1066800" y="28956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3038755" y="28194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4410355" y="28194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6467755" y="28194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 flipH="1">
              <a:off x="1295400" y="2458804"/>
              <a:ext cx="819150" cy="43679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>
              <a:off x="2390495" y="2458804"/>
              <a:ext cx="843382" cy="36059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H="1">
              <a:off x="4690923" y="2438400"/>
              <a:ext cx="819150" cy="43679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>
              <a:off x="5791200" y="2458804"/>
              <a:ext cx="843382" cy="36059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H="1">
              <a:off x="762000" y="3200400"/>
              <a:ext cx="361950" cy="45720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1447800" y="3200400"/>
              <a:ext cx="371755" cy="38100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flipH="1">
              <a:off x="2743200" y="3200400"/>
              <a:ext cx="361950" cy="45720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3352800" y="3192645"/>
              <a:ext cx="371755" cy="38100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H="1">
              <a:off x="4124045" y="3200400"/>
              <a:ext cx="361950" cy="45720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4728743" y="3200400"/>
              <a:ext cx="371755" cy="38100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H="1">
              <a:off x="6181445" y="3200400"/>
              <a:ext cx="361950" cy="45720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6781800" y="3200400"/>
              <a:ext cx="371755" cy="38100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152400" y="4267200"/>
            <a:ext cx="7467600" cy="381000"/>
            <a:chOff x="152400" y="4267200"/>
            <a:chExt cx="7467600" cy="381000"/>
          </a:xfrm>
        </p:grpSpPr>
        <p:sp>
          <p:nvSpPr>
            <p:cNvPr id="64" name="Oval 63"/>
            <p:cNvSpPr/>
            <p:nvPr/>
          </p:nvSpPr>
          <p:spPr>
            <a:xfrm>
              <a:off x="152400" y="4267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/>
            <p:cNvSpPr/>
            <p:nvPr/>
          </p:nvSpPr>
          <p:spPr>
            <a:xfrm>
              <a:off x="676555" y="4267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/>
            <p:cNvSpPr/>
            <p:nvPr/>
          </p:nvSpPr>
          <p:spPr>
            <a:xfrm>
              <a:off x="1219200" y="4267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Oval 66"/>
            <p:cNvSpPr/>
            <p:nvPr/>
          </p:nvSpPr>
          <p:spPr>
            <a:xfrm>
              <a:off x="1752600" y="4267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/>
            <p:cNvSpPr/>
            <p:nvPr/>
          </p:nvSpPr>
          <p:spPr>
            <a:xfrm>
              <a:off x="5629555" y="4267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/>
            <p:cNvSpPr/>
            <p:nvPr/>
          </p:nvSpPr>
          <p:spPr>
            <a:xfrm>
              <a:off x="6172200" y="4267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Oval 71"/>
            <p:cNvSpPr/>
            <p:nvPr/>
          </p:nvSpPr>
          <p:spPr>
            <a:xfrm>
              <a:off x="6705600" y="4267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Oval 72"/>
            <p:cNvSpPr/>
            <p:nvPr/>
          </p:nvSpPr>
          <p:spPr>
            <a:xfrm>
              <a:off x="7229755" y="4267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Oval 73"/>
            <p:cNvSpPr/>
            <p:nvPr/>
          </p:nvSpPr>
          <p:spPr>
            <a:xfrm>
              <a:off x="3086100" y="4419600"/>
              <a:ext cx="95250" cy="952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3333750" y="4419600"/>
              <a:ext cx="95250" cy="952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/>
            <p:cNvSpPr/>
            <p:nvPr/>
          </p:nvSpPr>
          <p:spPr>
            <a:xfrm>
              <a:off x="3562350" y="4419600"/>
              <a:ext cx="95250" cy="952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343950" y="1219200"/>
            <a:ext cx="770850" cy="381000"/>
            <a:chOff x="3343950" y="1219200"/>
            <a:chExt cx="770850" cy="381000"/>
          </a:xfrm>
        </p:grpSpPr>
        <p:sp>
          <p:nvSpPr>
            <p:cNvPr id="5" name="Oval 4"/>
            <p:cNvSpPr/>
            <p:nvPr/>
          </p:nvSpPr>
          <p:spPr>
            <a:xfrm>
              <a:off x="3724555" y="1219200"/>
              <a:ext cx="390245" cy="381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/>
                <p:cNvSpPr txBox="1"/>
                <p:nvPr/>
              </p:nvSpPr>
              <p:spPr>
                <a:xfrm>
                  <a:off x="3343950" y="1219200"/>
                  <a:ext cx="3898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latin typeface="Cambria Math"/>
                          </a:rPr>
                          <m:t>𝑨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TextBox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3950" y="1219200"/>
                  <a:ext cx="389850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031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/>
          <p:cNvGrpSpPr/>
          <p:nvPr/>
        </p:nvGrpSpPr>
        <p:grpSpPr>
          <a:xfrm>
            <a:off x="1371600" y="2057400"/>
            <a:ext cx="4495799" cy="457200"/>
            <a:chOff x="1371600" y="2057400"/>
            <a:chExt cx="4495799" cy="457200"/>
          </a:xfrm>
        </p:grpSpPr>
        <p:grpSp>
          <p:nvGrpSpPr>
            <p:cNvPr id="40" name="Group 39"/>
            <p:cNvGrpSpPr/>
            <p:nvPr/>
          </p:nvGrpSpPr>
          <p:grpSpPr>
            <a:xfrm>
              <a:off x="2057400" y="2133600"/>
              <a:ext cx="3809999" cy="381000"/>
              <a:chOff x="2819400" y="3962400"/>
              <a:chExt cx="3809999" cy="381000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2819400" y="3962400"/>
                <a:ext cx="390245" cy="381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6239154" y="3962400"/>
                <a:ext cx="390245" cy="381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1371600" y="2057400"/>
                  <a:ext cx="788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𝑒𝑣𝑒𝑛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1600" y="2057400"/>
                  <a:ext cx="78861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10078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/>
                <p:cNvSpPr txBox="1"/>
                <p:nvPr/>
              </p:nvSpPr>
              <p:spPr>
                <a:xfrm>
                  <a:off x="4800600" y="2057400"/>
                  <a:ext cx="71891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𝑜𝑑𝑑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0600" y="2057400"/>
                  <a:ext cx="718915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1111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/>
          <p:cNvGrpSpPr/>
          <p:nvPr/>
        </p:nvGrpSpPr>
        <p:grpSpPr>
          <a:xfrm>
            <a:off x="4114800" y="1371600"/>
            <a:ext cx="3810000" cy="3048000"/>
            <a:chOff x="4114800" y="1371600"/>
            <a:chExt cx="3810000" cy="3048000"/>
          </a:xfrm>
        </p:grpSpPr>
        <p:cxnSp>
          <p:nvCxnSpPr>
            <p:cNvPr id="83" name="Straight Connector 82"/>
            <p:cNvCxnSpPr/>
            <p:nvPr/>
          </p:nvCxnSpPr>
          <p:spPr>
            <a:xfrm>
              <a:off x="5943600" y="2324100"/>
              <a:ext cx="19050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>
              <a:off x="6900722" y="2971800"/>
              <a:ext cx="947878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>
              <a:off x="7620000" y="4419600"/>
              <a:ext cx="3048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>
              <a:off x="4114800" y="1371600"/>
              <a:ext cx="37338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TextBox 90"/>
          <p:cNvSpPr txBox="1"/>
          <p:nvPr/>
        </p:nvSpPr>
        <p:spPr>
          <a:xfrm>
            <a:off x="7604236" y="942201"/>
            <a:ext cx="625364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/>
              <a:t>degree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79468" y="388203"/>
            <a:ext cx="864532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 points</a:t>
            </a:r>
          </a:p>
          <a:p>
            <a:r>
              <a:rPr lang="en-US" sz="1200" b="1" dirty="0"/>
              <a:t> for </a:t>
            </a:r>
          </a:p>
          <a:p>
            <a:r>
              <a:rPr lang="en-US" sz="1200" b="1" dirty="0"/>
              <a:t>evaluation</a:t>
            </a:r>
          </a:p>
          <a:p>
            <a:endParaRPr lang="en-US" sz="1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2379638" y="762000"/>
                <a:ext cx="3259162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𝑒𝑣𝑒𝑛</m:t>
                        </m:r>
                      </m:sub>
                    </m:sSub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  +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dirty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𝑜𝑑𝑑</m:t>
                        </m:r>
                      </m:sub>
                    </m:sSub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638" y="762000"/>
                <a:ext cx="3259162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6349" r="-2793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7696200" y="1185446"/>
                <a:ext cx="57509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</m:oMath>
                  </m:oMathPara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200" y="1185446"/>
                <a:ext cx="575094" cy="338554"/>
              </a:xfrm>
              <a:prstGeom prst="rect">
                <a:avLst/>
              </a:prstGeom>
              <a:blipFill rotWithShape="1">
                <a:blip r:embed="rId7"/>
                <a:stretch>
                  <a:fillRect t="-5357" r="-8511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7620000" y="2133600"/>
                <a:ext cx="7995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/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0" y="2133600"/>
                <a:ext cx="799514" cy="338554"/>
              </a:xfrm>
              <a:prstGeom prst="rect">
                <a:avLst/>
              </a:prstGeom>
              <a:blipFill rotWithShape="1">
                <a:blip r:embed="rId8"/>
                <a:stretch>
                  <a:fillRect t="-5357" r="-5344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7658686" y="2785646"/>
                <a:ext cx="7995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/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𝟒</m:t>
                      </m:r>
                    </m:oMath>
                  </m:oMathPara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686" y="2785646"/>
                <a:ext cx="799514" cy="338554"/>
              </a:xfrm>
              <a:prstGeom prst="rect">
                <a:avLst/>
              </a:prstGeom>
              <a:blipFill rotWithShape="1">
                <a:blip r:embed="rId9"/>
                <a:stretch>
                  <a:fillRect t="-5357" r="-530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7924800" y="4233446"/>
                <a:ext cx="56547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16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800" y="4233446"/>
                <a:ext cx="565476" cy="338554"/>
              </a:xfrm>
              <a:prstGeom prst="rect">
                <a:avLst/>
              </a:prstGeom>
              <a:blipFill rotWithShape="1">
                <a:blip r:embed="rId10"/>
                <a:stretch>
                  <a:fillRect t="-5357" r="-752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8414828" y="1185446"/>
                <a:ext cx="478529" cy="33855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4828" y="1185446"/>
                <a:ext cx="478529" cy="338554"/>
              </a:xfrm>
              <a:prstGeom prst="rect">
                <a:avLst/>
              </a:prstGeom>
              <a:blipFill rotWithShape="1">
                <a:blip r:embed="rId11"/>
                <a:stretch>
                  <a:fillRect t="-3448" r="-8642" b="-1896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8436871" y="2743200"/>
                <a:ext cx="478529" cy="44755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𝑹</m:t>
                          </m:r>
                        </m:e>
                        <m:sub>
                          <m:f>
                            <m:fPr>
                              <m:ctrlPr>
                                <a:rPr lang="en-US" sz="1600" b="1" i="1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1" i="1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1600" b="1" i="1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den>
                          </m:f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871" y="2743200"/>
                <a:ext cx="478529" cy="447558"/>
              </a:xfrm>
              <a:prstGeom prst="rect">
                <a:avLst/>
              </a:prstGeom>
              <a:blipFill rotWithShape="1">
                <a:blip r:embed="rId12"/>
                <a:stretch>
                  <a:fillRect t="-1333" r="-864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8382000" y="4228508"/>
                <a:ext cx="472116" cy="33855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4228508"/>
                <a:ext cx="472116" cy="338554"/>
              </a:xfrm>
              <a:prstGeom prst="rect">
                <a:avLst/>
              </a:prstGeom>
              <a:blipFill rotWithShape="1">
                <a:blip r:embed="rId13"/>
                <a:stretch>
                  <a:fillRect t="-3509" r="-8861" b="-21053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8458200" y="2176046"/>
                <a:ext cx="478528" cy="44755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𝑹</m:t>
                          </m:r>
                        </m:e>
                        <m:sub>
                          <m:f>
                            <m:fPr>
                              <m:ctrlPr>
                                <a:rPr lang="en-US" sz="1600" b="1" i="1" smtClean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1" i="1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1600" b="1" i="1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00" y="2176046"/>
                <a:ext cx="478528" cy="447558"/>
              </a:xfrm>
              <a:prstGeom prst="rect">
                <a:avLst/>
              </a:prstGeom>
              <a:blipFill rotWithShape="1">
                <a:blip r:embed="rId14"/>
                <a:stretch>
                  <a:fillRect t="-1333" r="-8750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1219200" y="4989755"/>
            <a:ext cx="4453076" cy="72524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9CEE58C-51B8-348D-E6EE-057E83FB5912}"/>
                  </a:ext>
                </a:extLst>
              </p:cNvPr>
              <p:cNvSpPr txBox="1"/>
              <p:nvPr/>
            </p:nvSpPr>
            <p:spPr>
              <a:xfrm>
                <a:off x="930441" y="6147078"/>
                <a:ext cx="1313116" cy="36933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= </a:t>
                </a:r>
                <a:r>
                  <a:rPr lang="en-US" b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log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9CEE58C-51B8-348D-E6EE-057E83FB5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441" y="6147078"/>
                <a:ext cx="1313116" cy="369332"/>
              </a:xfrm>
              <a:prstGeom prst="rect">
                <a:avLst/>
              </a:prstGeom>
              <a:blipFill>
                <a:blip r:embed="rId15"/>
                <a:stretch>
                  <a:fillRect l="-3687" t="-6349" r="-2304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1941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4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91" grpId="0" animBg="1"/>
      <p:bldP spid="92" grpId="0" animBg="1"/>
      <p:bldP spid="94" grpId="0"/>
      <p:bldP spid="95" grpId="0"/>
      <p:bldP spid="96" grpId="0"/>
      <p:bldP spid="97" grpId="0"/>
      <p:bldP spid="68" grpId="0" animBg="1"/>
      <p:bldP spid="80" grpId="0" animBg="1"/>
      <p:bldP spid="81" grpId="0" animBg="1"/>
      <p:bldP spid="86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513552" y="2133600"/>
                <a:ext cx="2144048" cy="64633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&gt;</a:t>
                </a:r>
              </a:p>
              <a:p>
                <a:r>
                  <a:rPr lang="en-US" dirty="0"/>
                  <a:t>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&gt;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552" y="2133600"/>
                <a:ext cx="2144048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1977" t="-3704" r="-3955" b="-129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161752" y="2221468"/>
                <a:ext cx="2129494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dirty="0"/>
                  <a:t>&gt;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1752" y="2221468"/>
                <a:ext cx="212949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279" t="-6349" r="-3704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62848" y="1981200"/>
                <a:ext cx="1361152" cy="107721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𝑨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1600" b="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/>
                        </a:rPr>
                        <m:t>𝑩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1600" b="1" dirty="0">
                  <a:solidFill>
                    <a:schemeClr val="tx1"/>
                  </a:solidFill>
                </a:endParaRPr>
              </a:p>
              <a:p>
                <a:r>
                  <a:rPr lang="en-US" sz="1600" dirty="0"/>
                  <a:t>Coefficient </a:t>
                </a:r>
              </a:p>
              <a:p>
                <a:r>
                  <a:rPr lang="en-US" sz="1600" dirty="0" err="1"/>
                  <a:t>represntation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48" y="1981200"/>
                <a:ext cx="1361152" cy="1077218"/>
              </a:xfrm>
              <a:prstGeom prst="rect">
                <a:avLst/>
              </a:prstGeom>
              <a:blipFill rotWithShape="1">
                <a:blip r:embed="rId4"/>
                <a:stretch>
                  <a:fillRect l="-2222" t="-1117" r="-444" b="-558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Arrow 7"/>
          <p:cNvSpPr/>
          <p:nvPr/>
        </p:nvSpPr>
        <p:spPr>
          <a:xfrm>
            <a:off x="3657600" y="2209801"/>
            <a:ext cx="2504152" cy="371564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486400" y="5421868"/>
                <a:ext cx="3370859" cy="36933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{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, </m:t>
                        </m:r>
                        <m:r>
                          <a:rPr lang="en-US" b="1" i="1">
                            <a:latin typeface="Cambria Math"/>
                          </a:rPr>
                          <m:t>𝑪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i="1">
                        <a:latin typeface="Cambria Math"/>
                      </a:rPr>
                      <m:t>,…,(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r>
                      <a:rPr lang="en-US" b="1" i="1">
                        <a:latin typeface="Cambria Math"/>
                      </a:rPr>
                      <m:t>𝑪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5421868"/>
                <a:ext cx="3370859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261" t="-6349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38200" y="5257800"/>
                <a:ext cx="3317960" cy="64633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{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, </m:t>
                        </m:r>
                        <m:r>
                          <a:rPr lang="en-US" b="1" i="1" smtClean="0">
                            <a:latin typeface="Cambria Math"/>
                          </a:rPr>
                          <m:t>𝑨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i="1">
                        <a:latin typeface="Cambria Math"/>
                      </a:rPr>
                      <m:t>,…,(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r>
                      <a:rPr lang="en-US" b="1" i="1" smtClean="0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}</a:t>
                </a:r>
              </a:p>
              <a:p>
                <a:r>
                  <a:rPr lang="en-US" dirty="0"/>
                  <a:t>{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, </m:t>
                        </m:r>
                        <m:r>
                          <a:rPr lang="en-US" b="1" i="1" smtClean="0">
                            <a:latin typeface="Cambria Math"/>
                          </a:rPr>
                          <m:t>𝑩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i="1">
                        <a:latin typeface="Cambria Math"/>
                      </a:rPr>
                      <m:t>,…,(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r>
                      <a:rPr lang="en-US" b="1" i="1" smtClean="0">
                        <a:latin typeface="Cambria Math"/>
                      </a:rPr>
                      <m:t>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257800"/>
                <a:ext cx="3317960" cy="646331"/>
              </a:xfrm>
              <a:prstGeom prst="rect">
                <a:avLst/>
              </a:prstGeom>
              <a:blipFill rotWithShape="1">
                <a:blip r:embed="rId6"/>
                <a:stretch>
                  <a:fillRect l="-1465" t="-3704" r="-2198" b="-1203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Arrow 12"/>
          <p:cNvSpPr/>
          <p:nvPr/>
        </p:nvSpPr>
        <p:spPr>
          <a:xfrm>
            <a:off x="4156160" y="5382768"/>
            <a:ext cx="1330240" cy="4846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233249" y="5906869"/>
                <a:ext cx="1100751" cy="64633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 time</a:t>
                </a:r>
              </a:p>
              <a:p>
                <a:r>
                  <a:rPr lang="en-US" dirty="0"/>
                  <a:t>       </a:t>
                </a:r>
                <a:r>
                  <a:rPr lang="en-US" dirty="0">
                    <a:sym typeface="Wingdings" pitchFamily="2" charset="2"/>
                  </a:rPr>
                  <a:t></a:t>
                </a:r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249" y="5906869"/>
                <a:ext cx="1100751" cy="646331"/>
              </a:xfrm>
              <a:prstGeom prst="rect">
                <a:avLst/>
              </a:prstGeom>
              <a:blipFill rotWithShape="1">
                <a:blip r:embed="rId7"/>
                <a:stretch>
                  <a:fillRect l="-3825" t="-3704" r="-8743" b="-129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291187" y="1563469"/>
                <a:ext cx="1260986" cy="646331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 time </a:t>
                </a:r>
              </a:p>
              <a:p>
                <a:r>
                  <a:rPr lang="en-US" dirty="0">
                    <a:sym typeface="Wingdings" pitchFamily="2" charset="2"/>
                  </a:rPr>
                  <a:t>          </a:t>
                </a:r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187" y="1563469"/>
                <a:ext cx="1260986" cy="646331"/>
              </a:xfrm>
              <a:prstGeom prst="rect">
                <a:avLst/>
              </a:prstGeom>
              <a:blipFill rotWithShape="1">
                <a:blip r:embed="rId8"/>
                <a:stretch>
                  <a:fillRect l="-4348" t="-4673" r="-7246" b="-13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Down Arrow 16"/>
          <p:cNvSpPr/>
          <p:nvPr/>
        </p:nvSpPr>
        <p:spPr>
          <a:xfrm>
            <a:off x="2209800" y="2779931"/>
            <a:ext cx="484632" cy="2477869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 rot="10800000">
            <a:off x="7059168" y="2581364"/>
            <a:ext cx="484632" cy="2828836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58695" y="3581400"/>
                <a:ext cx="1627305" cy="36933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log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 time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95" y="3581400"/>
                <a:ext cx="1627305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2602" t="-6452" r="-5576" b="-225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440495" y="3733800"/>
                <a:ext cx="1627305" cy="36933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log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 time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0495" y="3733800"/>
                <a:ext cx="1627305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2974" t="-6452" r="-5204" b="-225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716844" y="3497759"/>
            <a:ext cx="4459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0800" y="3516868"/>
            <a:ext cx="686406" cy="369332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377152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9" grpId="0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11CA-C336-F044-A9A3-2225FC423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Interpolation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88F717-E2CC-1D4A-B943-B436DA5924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There is a polynomial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+ …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  <m:r>
                            <a:rPr lang="en-US" sz="2000" i="1"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’s unknown.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Given:</a:t>
                </a:r>
                <a:r>
                  <a:rPr lang="en-US" sz="2000" dirty="0"/>
                  <a:t>  the following (point, value) representation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Aim</a:t>
                </a:r>
                <a:r>
                  <a:rPr lang="en-US" sz="2000" dirty="0"/>
                  <a:t>: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’s .</a:t>
                </a: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88F717-E2CC-1D4A-B943-B436DA5924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A9F43-67E5-8347-B6CB-CA4DB276F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AC015E-6F0E-8C42-80F6-7FF9EAAAE279}"/>
                  </a:ext>
                </a:extLst>
              </p:cNvPr>
              <p:cNvSpPr txBox="1"/>
              <p:nvPr/>
            </p:nvSpPr>
            <p:spPr>
              <a:xfrm>
                <a:off x="1752600" y="4038600"/>
                <a:ext cx="6324600" cy="50917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{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  <m:r>
                          <a:rPr lang="en-US" sz="2400" i="1">
                            <a:latin typeface="Cambria Math"/>
                          </a:rPr>
                          <m:t>, </m:t>
                        </m:r>
                        <m:r>
                          <a:rPr lang="en-US" sz="2400" b="1" i="1">
                            <a:latin typeface="Cambria Math"/>
                          </a:rPr>
                          <m:t>𝑪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bSup>
                          </m:e>
                        </m:d>
                      </m:e>
                    </m:d>
                    <m:r>
                      <a:rPr lang="en-US" sz="2400" i="1">
                        <a:latin typeface="Cambria Math"/>
                      </a:rPr>
                      <m:t>,</m:t>
                    </m:r>
                    <m:d>
                      <m:d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sz="2400" i="1">
                            <a:latin typeface="Cambria Math"/>
                          </a:rPr>
                          <m:t>, </m:t>
                        </m:r>
                        <m:r>
                          <a:rPr lang="en-US" sz="2400" b="1" i="1">
                            <a:latin typeface="Cambria Math"/>
                          </a:rPr>
                          <m:t>𝑪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</m:e>
                        </m:d>
                      </m:e>
                    </m:d>
                    <m:r>
                      <a:rPr lang="en-US" sz="2400" i="1">
                        <a:latin typeface="Cambria Math"/>
                      </a:rPr>
                      <m:t>…,(</m:t>
                    </m:r>
                    <m:sSubSup>
                      <m:sSubSupPr>
                        <m:ctrlP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sz="2400" i="1">
                        <a:latin typeface="Cambria Math"/>
                      </a:rPr>
                      <m:t>, </m:t>
                    </m:r>
                    <m:r>
                      <a:rPr lang="en-US" sz="2400" b="1" i="1">
                        <a:latin typeface="Cambria Math"/>
                      </a:rPr>
                      <m:t>𝑪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2400" dirty="0"/>
                  <a:t>}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AC015E-6F0E-8C42-80F6-7FF9EAAAE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4038600"/>
                <a:ext cx="6324600" cy="509178"/>
              </a:xfrm>
              <a:prstGeom prst="rect">
                <a:avLst/>
              </a:prstGeom>
              <a:blipFill>
                <a:blip r:embed="rId3"/>
                <a:stretch>
                  <a:fillRect l="-1400" b="-214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8789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A00A7-3736-E84E-9DB3-BF5C52F50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A8756-E7CD-D94D-9E9F-C7517DB1E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8C9C0E8-5D6A-2F4E-8790-3FDD62DAD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Interpolation</a:t>
            </a:r>
          </a:p>
        </p:txBody>
      </p:sp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74FFDF87-9503-85DB-D58F-2987053979ED}"/>
              </a:ext>
            </a:extLst>
          </p:cNvPr>
          <p:cNvSpPr/>
          <p:nvPr/>
        </p:nvSpPr>
        <p:spPr>
          <a:xfrm>
            <a:off x="0" y="1568216"/>
            <a:ext cx="9372600" cy="2286000"/>
          </a:xfrm>
          <a:prstGeom prst="irregularSeal1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Polynomial Interpolation </a:t>
            </a:r>
            <a:r>
              <a:rPr lang="en-US" sz="2400" b="1" dirty="0">
                <a:solidFill>
                  <a:schemeClr val="tx1"/>
                </a:solidFill>
              </a:rPr>
              <a:t>= </a:t>
            </a:r>
            <a:r>
              <a:rPr lang="en-US" dirty="0">
                <a:solidFill>
                  <a:schemeClr val="tx1"/>
                </a:solidFill>
              </a:rPr>
              <a:t>Polynomial evaluation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Cloud Callout 4">
            <a:extLst>
              <a:ext uri="{FF2B5EF4-FFF2-40B4-BE49-F238E27FC236}">
                <a16:creationId xmlns:a16="http://schemas.microsoft.com/office/drawing/2014/main" id="{62B9C0D6-4631-96A4-1DDC-B90A596AA324}"/>
              </a:ext>
            </a:extLst>
          </p:cNvPr>
          <p:cNvSpPr/>
          <p:nvPr/>
        </p:nvSpPr>
        <p:spPr>
          <a:xfrm>
            <a:off x="916641" y="4205055"/>
            <a:ext cx="7310718" cy="1774405"/>
          </a:xfrm>
          <a:prstGeom prst="cloudCallout">
            <a:avLst>
              <a:gd name="adj1" fmla="val -24125"/>
              <a:gd name="adj2" fmla="val 6662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you guess the polynomial whose evaluation will help solve polynomial interpolation ?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Make an obvious guess. </a:t>
            </a:r>
          </a:p>
        </p:txBody>
      </p:sp>
    </p:spTree>
    <p:extLst>
      <p:ext uri="{BB962C8B-B14F-4D97-AF65-F5344CB8AC3E}">
        <p14:creationId xmlns:p14="http://schemas.microsoft.com/office/powerpoint/2010/main" val="1711567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11CA-C336-F044-A9A3-2225FC423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Interpolation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88F717-E2CC-1D4A-B943-B436DA5924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86800" cy="49831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Solution</a:t>
                </a:r>
                <a:r>
                  <a:rPr lang="en-US" sz="2400" dirty="0"/>
                  <a:t>: </a:t>
                </a:r>
              </a:p>
              <a:p>
                <a:pPr marL="0" indent="0">
                  <a:buNone/>
                </a:pPr>
                <a:r>
                  <a:rPr lang="en-US" sz="2400" dirty="0"/>
                  <a:t>Define a polynomial </a:t>
                </a:r>
              </a:p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𝑥</m:t>
                    </m:r>
                    <m:r>
                      <a:rPr lang="en-US" sz="2400" i="1">
                        <a:latin typeface="Cambria Math"/>
                      </a:rPr>
                      <m:t>+ …+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 …</m:t>
                    </m:r>
                    <m:sSub>
                      <m:sSubPr>
                        <m:ctrlPr>
                          <a:rPr lang="en-US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𝑛</m:t>
                        </m:r>
                        <m:r>
                          <a:rPr lang="en-US" sz="24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,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/>
                      </a:rPr>
                      <m:t>𝑪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Evaluate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𝑹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r>
                  <a:rPr lang="en-US" sz="2400" dirty="0"/>
                  <a:t>This will help us extract coefficient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sz="2400" dirty="0"/>
                  <a:t>.      </a:t>
                </a:r>
                <a:r>
                  <a:rPr lang="en-US" sz="2400" b="1" dirty="0">
                    <a:sym typeface="Wingdings" panose="05000000000000000000" pitchFamily="2" charset="2"/>
                  </a:rPr>
                  <a:t></a:t>
                </a:r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r>
                  <a:rPr lang="en-US" sz="2400" dirty="0"/>
                  <a:t>What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2400" dirty="0"/>
                  <a:t>  ?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88F717-E2CC-1D4A-B943-B436DA5924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86800" cy="4983162"/>
              </a:xfrm>
              <a:blipFill>
                <a:blip r:embed="rId2"/>
                <a:stretch>
                  <a:fillRect l="-1053" t="-979" r="-4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A9F43-67E5-8347-B6CB-CA4DB276F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057A63-4FB6-4612-1152-B18B894525D0}"/>
              </a:ext>
            </a:extLst>
          </p:cNvPr>
          <p:cNvSpPr/>
          <p:nvPr/>
        </p:nvSpPr>
        <p:spPr>
          <a:xfrm>
            <a:off x="6324600" y="2895600"/>
            <a:ext cx="2895600" cy="6095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loud Callout 4">
                <a:extLst>
                  <a:ext uri="{FF2B5EF4-FFF2-40B4-BE49-F238E27FC236}">
                    <a16:creationId xmlns:a16="http://schemas.microsoft.com/office/drawing/2014/main" id="{6A8C9A96-A214-6EA7-0FA7-7FEC2E8F68EA}"/>
                  </a:ext>
                </a:extLst>
              </p:cNvPr>
              <p:cNvSpPr/>
              <p:nvPr/>
            </p:nvSpPr>
            <p:spPr>
              <a:xfrm>
                <a:off x="2209800" y="5456005"/>
                <a:ext cx="5636559" cy="900345"/>
              </a:xfrm>
              <a:prstGeom prst="cloudCallout">
                <a:avLst>
                  <a:gd name="adj1" fmla="val -24125"/>
                  <a:gd name="adj2" fmla="val 66628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Can you guess what is relation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6" name="Cloud Callout 4">
                <a:extLst>
                  <a:ext uri="{FF2B5EF4-FFF2-40B4-BE49-F238E27FC236}">
                    <a16:creationId xmlns:a16="http://schemas.microsoft.com/office/drawing/2014/main" id="{6A8C9A96-A214-6EA7-0FA7-7FEC2E8F68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5456005"/>
                <a:ext cx="5636559" cy="900345"/>
              </a:xfrm>
              <a:prstGeom prst="cloudCallout">
                <a:avLst>
                  <a:gd name="adj1" fmla="val -24125"/>
                  <a:gd name="adj2" fmla="val 66628"/>
                </a:avLst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C6119103-099E-6FE7-55C0-D51C5AA26621}"/>
              </a:ext>
            </a:extLst>
          </p:cNvPr>
          <p:cNvSpPr/>
          <p:nvPr/>
        </p:nvSpPr>
        <p:spPr>
          <a:xfrm>
            <a:off x="1905000" y="3888432"/>
            <a:ext cx="1752600" cy="4066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013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0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50"/>
                            </p:stCondLst>
                            <p:childTnLst>
                              <p:par>
                                <p:cTn id="5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15" grpId="0" animBg="1"/>
      <p:bldP spid="6" grpId="0" animBg="1"/>
      <p:bldP spid="6" grpId="1" uiExpand="1" build="allAtOnce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FA00A7-3736-E84E-9DB3-BF5C52F50F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1, 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 ,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,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3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,…,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400" dirty="0"/>
                  <a:t> :                                      =  ?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Otherwise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FA00A7-3736-E84E-9DB3-BF5C52F50F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A8756-E7CD-D94D-9E9F-C7517DB1E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8C9C0E8-5D6A-2F4E-8790-3FDD62DAD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</a:rPr>
              <a:t>A Tool </a:t>
            </a:r>
            <a:br>
              <a:rPr lang="en-US" sz="3600" b="1" dirty="0">
                <a:solidFill>
                  <a:srgbClr val="C00000"/>
                </a:solidFill>
              </a:rPr>
            </a:br>
            <a:r>
              <a:rPr lang="en-US" sz="2800" b="1" dirty="0"/>
              <a:t>you might find helpful</a:t>
            </a: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004DE6-59EE-5AAA-D66C-C0D1190B8927}"/>
                  </a:ext>
                </a:extLst>
              </p:cNvPr>
              <p:cNvSpPr txBox="1"/>
              <p:nvPr/>
            </p:nvSpPr>
            <p:spPr>
              <a:xfrm>
                <a:off x="2968535" y="2937941"/>
                <a:ext cx="1300612" cy="7958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800" i="1">
                              <a:latin typeface="Cambria Math"/>
                            </a:rPr>
                            <m:t>0</m:t>
                          </m:r>
                          <m:r>
                            <a:rPr lang="en-US" sz="1800" i="1">
                              <a:latin typeface="Cambria Math"/>
                            </a:rPr>
                            <m:t>≤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i="1">
                              <a:latin typeface="Cambria Math"/>
                            </a:rPr>
                            <m:t>&lt;</m:t>
                          </m:r>
                          <m:r>
                            <a:rPr lang="en-US" sz="1800" i="1">
                              <a:latin typeface="Cambria Math"/>
                            </a:rPr>
                            <m:t>𝑛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004DE6-59EE-5AAA-D66C-C0D1190B8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535" y="2937941"/>
                <a:ext cx="1300612" cy="7958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895181-26CF-5FEB-C5DD-F6B583056C19}"/>
                  </a:ext>
                </a:extLst>
              </p:cNvPr>
              <p:cNvSpPr txBox="1"/>
              <p:nvPr/>
            </p:nvSpPr>
            <p:spPr>
              <a:xfrm>
                <a:off x="2362200" y="1962090"/>
                <a:ext cx="64703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895181-26CF-5FEB-C5DD-F6B583056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1962090"/>
                <a:ext cx="647037" cy="400110"/>
              </a:xfrm>
              <a:prstGeom prst="rect">
                <a:avLst/>
              </a:prstGeom>
              <a:blipFill>
                <a:blip r:embed="rId4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23295D-0D52-8778-0ABC-604018CB96AC}"/>
                  </a:ext>
                </a:extLst>
              </p:cNvPr>
              <p:cNvSpPr txBox="1"/>
              <p:nvPr/>
            </p:nvSpPr>
            <p:spPr>
              <a:xfrm>
                <a:off x="4724400" y="2810470"/>
                <a:ext cx="685800" cy="92333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5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23295D-0D52-8778-0ABC-604018CB9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810470"/>
                <a:ext cx="685800" cy="923330"/>
              </a:xfrm>
              <a:prstGeom prst="rect">
                <a:avLst/>
              </a:prstGeom>
              <a:blipFill>
                <a:blip r:embed="rId5"/>
                <a:stretch>
                  <a:fillRect l="-5455" r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33AAF0-4006-04B7-26D3-E8BD81E210FC}"/>
                  </a:ext>
                </a:extLst>
              </p:cNvPr>
              <p:cNvSpPr txBox="1"/>
              <p:nvPr/>
            </p:nvSpPr>
            <p:spPr>
              <a:xfrm>
                <a:off x="4757880" y="3001232"/>
                <a:ext cx="971676" cy="69923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33AAF0-4006-04B7-26D3-E8BD81E21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880" y="3001232"/>
                <a:ext cx="971676" cy="699230"/>
              </a:xfrm>
              <a:prstGeom prst="rect">
                <a:avLst/>
              </a:prstGeom>
              <a:blipFill>
                <a:blip r:embed="rId6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B9646AF-0132-3C58-4365-B6F193913139}"/>
              </a:ext>
            </a:extLst>
          </p:cNvPr>
          <p:cNvSpPr txBox="1"/>
          <p:nvPr/>
        </p:nvSpPr>
        <p:spPr>
          <a:xfrm>
            <a:off x="4874855" y="2823917"/>
            <a:ext cx="828738" cy="92333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70C0"/>
                </a:solidFill>
              </a:rPr>
              <a:t>0 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A2FFE0E-D58A-F8AF-5D70-2A4B7D169AA7}"/>
              </a:ext>
            </a:extLst>
          </p:cNvPr>
          <p:cNvSpPr/>
          <p:nvPr/>
        </p:nvSpPr>
        <p:spPr>
          <a:xfrm>
            <a:off x="5172138" y="3001232"/>
            <a:ext cx="557418" cy="37202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llout: Line 6">
                <a:extLst>
                  <a:ext uri="{FF2B5EF4-FFF2-40B4-BE49-F238E27FC236}">
                    <a16:creationId xmlns:a16="http://schemas.microsoft.com/office/drawing/2014/main" id="{123DFDED-EC97-2FC0-FEED-E56F1865A810}"/>
                  </a:ext>
                </a:extLst>
              </p:cNvPr>
              <p:cNvSpPr/>
              <p:nvPr/>
            </p:nvSpPr>
            <p:spPr>
              <a:xfrm>
                <a:off x="6729618" y="2433408"/>
                <a:ext cx="914400" cy="612648"/>
              </a:xfrm>
              <a:prstGeom prst="borderCallout1">
                <a:avLst>
                  <a:gd name="adj1" fmla="val 53869"/>
                  <a:gd name="adj2" fmla="val 490"/>
                  <a:gd name="adj3" fmla="val 102257"/>
                  <a:gd name="adj4" fmla="val -121666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Callout: Line 6">
                <a:extLst>
                  <a:ext uri="{FF2B5EF4-FFF2-40B4-BE49-F238E27FC236}">
                    <a16:creationId xmlns:a16="http://schemas.microsoft.com/office/drawing/2014/main" id="{123DFDED-EC97-2FC0-FEED-E56F1865A8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618" y="2433408"/>
                <a:ext cx="914400" cy="612648"/>
              </a:xfrm>
              <a:prstGeom prst="borderCallout1">
                <a:avLst>
                  <a:gd name="adj1" fmla="val 53869"/>
                  <a:gd name="adj2" fmla="val 490"/>
                  <a:gd name="adj3" fmla="val 102257"/>
                  <a:gd name="adj4" fmla="val -121666"/>
                </a:avLst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0776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/>
      <p:bldP spid="10" grpId="0"/>
      <p:bldP spid="12" grpId="0" animBg="1"/>
      <p:bldP spid="12" grpId="1" animBg="1"/>
      <p:bldP spid="8" grpId="0" animBg="1"/>
      <p:bldP spid="9" grpId="0" animBg="1"/>
      <p:bldP spid="5" grpId="0" animBg="1"/>
      <p:bldP spid="5" grpId="1" animBg="1"/>
      <p:bldP spid="7" grpId="0" animBg="1"/>
      <p:bldP spid="7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</a:rPr>
              <a:t>The </a:t>
            </a:r>
            <a:r>
              <a:rPr lang="en-US" sz="3200" b="1" dirty="0">
                <a:solidFill>
                  <a:srgbClr val="7030A0"/>
                </a:solidFill>
              </a:rPr>
              <a:t>Stable Marriage </a:t>
            </a:r>
            <a:r>
              <a:rPr lang="en-US" sz="3200" b="1" dirty="0">
                <a:solidFill>
                  <a:schemeClr val="tx1"/>
                </a:solidFill>
              </a:rPr>
              <a:t>Problem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81108A-FBAE-D2ED-DDE6-4E41CA5087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398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Stable Marriage </a:t>
            </a:r>
            <a:r>
              <a:rPr lang="en-US" sz="3600" b="1" dirty="0"/>
              <a:t>Problem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2133600" y="1371600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900CC"/>
                </a:solidFill>
                <a:latin typeface="Bauhaus 93" pitchFamily="82" charset="0"/>
              </a:rPr>
              <a:t>Women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0508" y="1383268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Bauhaus 93" pitchFamily="82" charset="0"/>
              </a:rPr>
              <a:t>Men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2286000" y="1828800"/>
            <a:ext cx="381000" cy="4343400"/>
            <a:chOff x="2286000" y="1828800"/>
            <a:chExt cx="381000" cy="4343400"/>
          </a:xfrm>
        </p:grpSpPr>
        <p:sp>
          <p:nvSpPr>
            <p:cNvPr id="5" name="Smiley Face 4"/>
            <p:cNvSpPr/>
            <p:nvPr/>
          </p:nvSpPr>
          <p:spPr>
            <a:xfrm>
              <a:off x="2286000" y="1828800"/>
              <a:ext cx="381000" cy="369332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Smiley Face 6"/>
            <p:cNvSpPr/>
            <p:nvPr/>
          </p:nvSpPr>
          <p:spPr>
            <a:xfrm>
              <a:off x="2286000" y="2362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miley Face 7"/>
            <p:cNvSpPr/>
            <p:nvPr/>
          </p:nvSpPr>
          <p:spPr>
            <a:xfrm>
              <a:off x="2286000" y="2971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Smiley Face 8"/>
            <p:cNvSpPr/>
            <p:nvPr/>
          </p:nvSpPr>
          <p:spPr>
            <a:xfrm>
              <a:off x="2286000" y="5791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2438400" y="4038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2438400" y="35814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2438400" y="38100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Smiley Face 26"/>
            <p:cNvSpPr/>
            <p:nvPr/>
          </p:nvSpPr>
          <p:spPr>
            <a:xfrm>
              <a:off x="2286000" y="43434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2438400" y="54102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2438400" y="49530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2438400" y="5181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1524000" y="1828800"/>
            <a:ext cx="533400" cy="4331732"/>
            <a:chOff x="1524000" y="1828800"/>
            <a:chExt cx="533400" cy="4331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1555596" y="1828800"/>
                  <a:ext cx="5018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5596" y="1828800"/>
                  <a:ext cx="501804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197" r="-1566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1524000" y="2362200"/>
                  <a:ext cx="5071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2362200"/>
                  <a:ext cx="507127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333" r="-15663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1524000" y="2971800"/>
                  <a:ext cx="5071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2971800"/>
                  <a:ext cx="507127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15663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1524000" y="5791200"/>
                  <a:ext cx="5142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5791200"/>
                  <a:ext cx="514243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1547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538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/>
          <p:cNvGrpSpPr/>
          <p:nvPr/>
        </p:nvGrpSpPr>
        <p:grpSpPr>
          <a:xfrm>
            <a:off x="5562600" y="1828800"/>
            <a:ext cx="381000" cy="4343400"/>
            <a:chOff x="5562600" y="1828800"/>
            <a:chExt cx="381000" cy="4343400"/>
          </a:xfrm>
        </p:grpSpPr>
        <p:sp>
          <p:nvSpPr>
            <p:cNvPr id="6" name="Smiley Face 5"/>
            <p:cNvSpPr/>
            <p:nvPr/>
          </p:nvSpPr>
          <p:spPr>
            <a:xfrm>
              <a:off x="5562600" y="1828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5715000" y="39624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5715000" y="35052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5715000" y="37338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Smiley Face 32"/>
            <p:cNvSpPr/>
            <p:nvPr/>
          </p:nvSpPr>
          <p:spPr>
            <a:xfrm>
              <a:off x="5562600" y="2362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Smiley Face 33"/>
            <p:cNvSpPr/>
            <p:nvPr/>
          </p:nvSpPr>
          <p:spPr>
            <a:xfrm>
              <a:off x="5562600" y="2971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Smiley Face 34"/>
            <p:cNvSpPr/>
            <p:nvPr/>
          </p:nvSpPr>
          <p:spPr>
            <a:xfrm>
              <a:off x="5562600" y="5791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5715000" y="54102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5715000" y="49530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5715000" y="51816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Smiley Face 38"/>
            <p:cNvSpPr/>
            <p:nvPr/>
          </p:nvSpPr>
          <p:spPr>
            <a:xfrm>
              <a:off x="5562600" y="4267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6127596" y="1764268"/>
            <a:ext cx="673776" cy="4385618"/>
            <a:chOff x="6127596" y="1764268"/>
            <a:chExt cx="673776" cy="43856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6127596" y="1764268"/>
                  <a:ext cx="5335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7596" y="1764268"/>
                  <a:ext cx="533543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477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6172200" y="2286000"/>
                  <a:ext cx="5388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286000"/>
                  <a:ext cx="538865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1477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6172200" y="2907268"/>
                  <a:ext cx="5388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907268"/>
                  <a:ext cx="538865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197" r="-1477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6250" r="-15854" b="-203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6248400" y="5780554"/>
                  <a:ext cx="5529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400" y="5780554"/>
                  <a:ext cx="552972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8197" r="-1318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" name="Straight Arrow Connector 9"/>
          <p:cNvCxnSpPr/>
          <p:nvPr/>
        </p:nvCxnSpPr>
        <p:spPr>
          <a:xfrm flipH="1">
            <a:off x="2667000" y="2133600"/>
            <a:ext cx="2895600" cy="9583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952736" y="2458164"/>
                <a:ext cx="324128" cy="30777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736" y="2458164"/>
                <a:ext cx="324128" cy="307777"/>
              </a:xfrm>
              <a:prstGeom prst="rect">
                <a:avLst/>
              </a:prstGeom>
              <a:blipFill rotWithShape="1">
                <a:blip r:embed="rId12"/>
                <a:stretch>
                  <a:fillRect r="-8929" b="-150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/>
          <p:cNvCxnSpPr/>
          <p:nvPr/>
        </p:nvCxnSpPr>
        <p:spPr>
          <a:xfrm flipH="1">
            <a:off x="2667000" y="2133600"/>
            <a:ext cx="2895600" cy="383162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3962400" y="3883223"/>
                <a:ext cx="324128" cy="30777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3883223"/>
                <a:ext cx="324128" cy="307777"/>
              </a:xfrm>
              <a:prstGeom prst="rect">
                <a:avLst/>
              </a:prstGeom>
              <a:blipFill rotWithShape="1">
                <a:blip r:embed="rId13"/>
                <a:stretch>
                  <a:fillRect r="-9091" b="-150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/>
          <p:cNvCxnSpPr/>
          <p:nvPr/>
        </p:nvCxnSpPr>
        <p:spPr>
          <a:xfrm flipH="1">
            <a:off x="2667000" y="2019300"/>
            <a:ext cx="28956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3962400" y="1902023"/>
                <a:ext cx="324128" cy="30777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1902023"/>
                <a:ext cx="324128" cy="307777"/>
              </a:xfrm>
              <a:prstGeom prst="rect">
                <a:avLst/>
              </a:prstGeom>
              <a:blipFill rotWithShape="1">
                <a:blip r:embed="rId14"/>
                <a:stretch>
                  <a:fillRect r="-9091" b="-150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Group 81"/>
          <p:cNvGrpSpPr/>
          <p:nvPr/>
        </p:nvGrpSpPr>
        <p:grpSpPr>
          <a:xfrm>
            <a:off x="4572000" y="2057400"/>
            <a:ext cx="990600" cy="1099066"/>
            <a:chOff x="4572000" y="2057400"/>
            <a:chExt cx="990600" cy="1099066"/>
          </a:xfrm>
        </p:grpSpPr>
        <p:cxnSp>
          <p:nvCxnSpPr>
            <p:cNvPr id="62" name="Straight Connector 61"/>
            <p:cNvCxnSpPr/>
            <p:nvPr/>
          </p:nvCxnSpPr>
          <p:spPr>
            <a:xfrm flipH="1">
              <a:off x="4648200" y="2076450"/>
              <a:ext cx="914400" cy="571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flipH="1">
              <a:off x="4648200" y="2076450"/>
              <a:ext cx="914400" cy="2857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flipH="1">
              <a:off x="4648200" y="2133600"/>
              <a:ext cx="914400" cy="41326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H="1">
              <a:off x="4648200" y="2133600"/>
              <a:ext cx="914400" cy="102286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 rot="5400000">
              <a:off x="4596652" y="2044416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 rot="5400000">
              <a:off x="4527276" y="2633944"/>
              <a:ext cx="4587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…..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1364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" grpId="0"/>
      <p:bldP spid="21" grpId="0"/>
      <p:bldP spid="31" grpId="0" animBg="1"/>
      <p:bldP spid="54" grpId="0" animBg="1"/>
      <p:bldP spid="7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Stable Marriage </a:t>
            </a:r>
            <a:r>
              <a:rPr lang="en-US" sz="3600" b="1" dirty="0"/>
              <a:t>Problem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2133600" y="1371600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900CC"/>
                </a:solidFill>
                <a:latin typeface="Bauhaus 93" pitchFamily="82" charset="0"/>
              </a:rPr>
              <a:t>Women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0508" y="1383268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Bauhaus 93" pitchFamily="82" charset="0"/>
              </a:rPr>
              <a:t>Men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2286000" y="1828800"/>
            <a:ext cx="381000" cy="4343400"/>
            <a:chOff x="2286000" y="1828800"/>
            <a:chExt cx="381000" cy="4343400"/>
          </a:xfrm>
        </p:grpSpPr>
        <p:sp>
          <p:nvSpPr>
            <p:cNvPr id="5" name="Smiley Face 4"/>
            <p:cNvSpPr/>
            <p:nvPr/>
          </p:nvSpPr>
          <p:spPr>
            <a:xfrm>
              <a:off x="2286000" y="1828800"/>
              <a:ext cx="381000" cy="369332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Smiley Face 6"/>
            <p:cNvSpPr/>
            <p:nvPr/>
          </p:nvSpPr>
          <p:spPr>
            <a:xfrm>
              <a:off x="2286000" y="2362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miley Face 7"/>
            <p:cNvSpPr/>
            <p:nvPr/>
          </p:nvSpPr>
          <p:spPr>
            <a:xfrm>
              <a:off x="2286000" y="2971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Smiley Face 8"/>
            <p:cNvSpPr/>
            <p:nvPr/>
          </p:nvSpPr>
          <p:spPr>
            <a:xfrm>
              <a:off x="2286000" y="5791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2438400" y="4038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2438400" y="35814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2438400" y="38100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Smiley Face 26"/>
            <p:cNvSpPr/>
            <p:nvPr/>
          </p:nvSpPr>
          <p:spPr>
            <a:xfrm>
              <a:off x="2286000" y="43434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2438400" y="54102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2438400" y="49530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2438400" y="5181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1524000" y="1828800"/>
            <a:ext cx="533400" cy="4331732"/>
            <a:chOff x="1524000" y="1828800"/>
            <a:chExt cx="533400" cy="4331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1555596" y="1828800"/>
                  <a:ext cx="5018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5596" y="1828800"/>
                  <a:ext cx="501804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197" r="-1566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1524000" y="2362200"/>
                  <a:ext cx="5071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2362200"/>
                  <a:ext cx="507127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333" r="-15663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1524000" y="2971800"/>
                  <a:ext cx="5071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2971800"/>
                  <a:ext cx="507127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15663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1524000" y="5791200"/>
                  <a:ext cx="5142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5791200"/>
                  <a:ext cx="514243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1547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538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/>
          <p:cNvGrpSpPr/>
          <p:nvPr/>
        </p:nvGrpSpPr>
        <p:grpSpPr>
          <a:xfrm>
            <a:off x="5562600" y="1828800"/>
            <a:ext cx="381000" cy="4343400"/>
            <a:chOff x="5562600" y="1828800"/>
            <a:chExt cx="381000" cy="4343400"/>
          </a:xfrm>
        </p:grpSpPr>
        <p:sp>
          <p:nvSpPr>
            <p:cNvPr id="6" name="Smiley Face 5"/>
            <p:cNvSpPr/>
            <p:nvPr/>
          </p:nvSpPr>
          <p:spPr>
            <a:xfrm>
              <a:off x="5562600" y="1828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5715000" y="39624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5715000" y="35052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5715000" y="37338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Smiley Face 32"/>
            <p:cNvSpPr/>
            <p:nvPr/>
          </p:nvSpPr>
          <p:spPr>
            <a:xfrm>
              <a:off x="5562600" y="2362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Smiley Face 33"/>
            <p:cNvSpPr/>
            <p:nvPr/>
          </p:nvSpPr>
          <p:spPr>
            <a:xfrm>
              <a:off x="5562600" y="2971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Smiley Face 34"/>
            <p:cNvSpPr/>
            <p:nvPr/>
          </p:nvSpPr>
          <p:spPr>
            <a:xfrm>
              <a:off x="5562600" y="5791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5715000" y="54102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5715000" y="49530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5715000" y="51816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Smiley Face 38"/>
            <p:cNvSpPr/>
            <p:nvPr/>
          </p:nvSpPr>
          <p:spPr>
            <a:xfrm>
              <a:off x="5562600" y="4267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6127596" y="1764268"/>
            <a:ext cx="673776" cy="4385618"/>
            <a:chOff x="6127596" y="1764268"/>
            <a:chExt cx="673776" cy="43856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6127596" y="1764268"/>
                  <a:ext cx="5335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7596" y="1764268"/>
                  <a:ext cx="533543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477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6172200" y="2286000"/>
                  <a:ext cx="5388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286000"/>
                  <a:ext cx="538865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1477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6172200" y="2907268"/>
                  <a:ext cx="5388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907268"/>
                  <a:ext cx="538865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197" r="-1477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6250" r="-15854" b="-203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6248400" y="5780554"/>
                  <a:ext cx="5529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400" y="5780554"/>
                  <a:ext cx="552972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8197" r="-1318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" name="Straight Arrow Connector 9"/>
          <p:cNvCxnSpPr/>
          <p:nvPr/>
        </p:nvCxnSpPr>
        <p:spPr>
          <a:xfrm>
            <a:off x="2667000" y="2552700"/>
            <a:ext cx="2895600" cy="1910323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2667000" y="1948934"/>
            <a:ext cx="2895600" cy="597932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3962400" y="3352800"/>
                <a:ext cx="324128" cy="30777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00FF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3352800"/>
                <a:ext cx="324128" cy="307777"/>
              </a:xfrm>
              <a:prstGeom prst="rect">
                <a:avLst/>
              </a:prstGeom>
              <a:blipFill rotWithShape="1">
                <a:blip r:embed="rId12"/>
                <a:stretch>
                  <a:fillRect r="-9091" b="-17308"/>
                </a:stretch>
              </a:blipFill>
              <a:ln>
                <a:solidFill>
                  <a:srgbClr val="FF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/>
          <p:cNvCxnSpPr/>
          <p:nvPr/>
        </p:nvCxnSpPr>
        <p:spPr>
          <a:xfrm>
            <a:off x="2667000" y="2552700"/>
            <a:ext cx="2895600" cy="60960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3962400" y="2130623"/>
                <a:ext cx="324128" cy="30777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00FF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130623"/>
                <a:ext cx="324128" cy="307777"/>
              </a:xfrm>
              <a:prstGeom prst="rect">
                <a:avLst/>
              </a:prstGeom>
              <a:blipFill rotWithShape="1">
                <a:blip r:embed="rId13"/>
                <a:stretch>
                  <a:fillRect r="-9091" b="-17308"/>
                </a:stretch>
              </a:blipFill>
              <a:ln>
                <a:solidFill>
                  <a:srgbClr val="FF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952736" y="2740223"/>
                <a:ext cx="324128" cy="30777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00FF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736" y="2740223"/>
                <a:ext cx="324128" cy="307777"/>
              </a:xfrm>
              <a:prstGeom prst="rect">
                <a:avLst/>
              </a:prstGeom>
              <a:blipFill rotWithShape="1">
                <a:blip r:embed="rId14"/>
                <a:stretch>
                  <a:fillRect r="-8929" b="-17308"/>
                </a:stretch>
              </a:blipFill>
              <a:ln>
                <a:solidFill>
                  <a:srgbClr val="FF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Group 59"/>
          <p:cNvGrpSpPr/>
          <p:nvPr/>
        </p:nvGrpSpPr>
        <p:grpSpPr>
          <a:xfrm>
            <a:off x="3428994" y="2438400"/>
            <a:ext cx="400223" cy="1371600"/>
            <a:chOff x="3428994" y="2438400"/>
            <a:chExt cx="400223" cy="1371600"/>
          </a:xfrm>
        </p:grpSpPr>
        <p:grpSp>
          <p:nvGrpSpPr>
            <p:cNvPr id="82" name="Group 81"/>
            <p:cNvGrpSpPr/>
            <p:nvPr/>
          </p:nvGrpSpPr>
          <p:grpSpPr>
            <a:xfrm flipH="1">
              <a:off x="3428994" y="2438400"/>
              <a:ext cx="400223" cy="1371600"/>
              <a:chOff x="4618294" y="1957484"/>
              <a:chExt cx="325181" cy="1198981"/>
            </a:xfrm>
          </p:grpSpPr>
          <p:sp>
            <p:nvSpPr>
              <p:cNvPr id="80" name="TextBox 79"/>
              <p:cNvSpPr txBox="1"/>
              <p:nvPr/>
            </p:nvSpPr>
            <p:spPr>
              <a:xfrm rot="5400000">
                <a:off x="4618259" y="1957519"/>
                <a:ext cx="300151" cy="30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FF"/>
                    </a:solidFill>
                  </a:rPr>
                  <a:t>…</a:t>
                </a: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 rot="5400000">
                <a:off x="4592913" y="2805903"/>
                <a:ext cx="401042" cy="30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FF"/>
                    </a:solidFill>
                  </a:rPr>
                  <a:t>…..</a:t>
                </a:r>
              </a:p>
            </p:txBody>
          </p:sp>
        </p:grpSp>
        <p:sp>
          <p:nvSpPr>
            <p:cNvPr id="69" name="TextBox 68"/>
            <p:cNvSpPr txBox="1"/>
            <p:nvPr/>
          </p:nvSpPr>
          <p:spPr>
            <a:xfrm rot="16200000" flipH="1">
              <a:off x="3453652" y="2844052"/>
              <a:ext cx="343364" cy="369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FF"/>
                  </a:solidFill>
                </a:rPr>
                <a:t>…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2667000" y="2552700"/>
            <a:ext cx="2895600" cy="3412520"/>
            <a:chOff x="2667000" y="2552700"/>
            <a:chExt cx="2895600" cy="3412520"/>
          </a:xfrm>
        </p:grpSpPr>
        <p:cxnSp>
          <p:nvCxnSpPr>
            <p:cNvPr id="71" name="Straight Arrow Connector 70"/>
            <p:cNvCxnSpPr/>
            <p:nvPr/>
          </p:nvCxnSpPr>
          <p:spPr>
            <a:xfrm>
              <a:off x="2667000" y="2552700"/>
              <a:ext cx="2895600" cy="3412520"/>
            </a:xfrm>
            <a:prstGeom prst="straightConnector1">
              <a:avLst/>
            </a:prstGeom>
            <a:ln w="28575">
              <a:solidFill>
                <a:srgbClr val="FF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/>
                <p:cNvSpPr txBox="1"/>
                <p:nvPr/>
              </p:nvSpPr>
              <p:spPr>
                <a:xfrm>
                  <a:off x="3962400" y="4111823"/>
                  <a:ext cx="329385" cy="307777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rgbClr val="FF00FF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74" name="TextBox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2400" y="4111823"/>
                  <a:ext cx="329385" cy="307777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r="-8929" b="-17308"/>
                  </a:stretch>
                </a:blipFill>
                <a:ln>
                  <a:solidFill>
                    <a:srgbClr val="FF00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99414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79" grpId="0" animBg="1"/>
      <p:bldP spid="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Stable Marriage </a:t>
            </a:r>
            <a:r>
              <a:rPr lang="en-US" sz="3600" b="1" dirty="0"/>
              <a:t>Problem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2133600" y="1371600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900CC"/>
                </a:solidFill>
                <a:latin typeface="Bauhaus 93" pitchFamily="82" charset="0"/>
              </a:rPr>
              <a:t>Women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0508" y="1383268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Bauhaus 93" pitchFamily="82" charset="0"/>
              </a:rPr>
              <a:t>Men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2286000" y="1828800"/>
            <a:ext cx="381000" cy="4343400"/>
            <a:chOff x="2286000" y="1828800"/>
            <a:chExt cx="381000" cy="4343400"/>
          </a:xfrm>
        </p:grpSpPr>
        <p:sp>
          <p:nvSpPr>
            <p:cNvPr id="5" name="Smiley Face 4"/>
            <p:cNvSpPr/>
            <p:nvPr/>
          </p:nvSpPr>
          <p:spPr>
            <a:xfrm>
              <a:off x="2286000" y="1828800"/>
              <a:ext cx="381000" cy="369332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Smiley Face 6"/>
            <p:cNvSpPr/>
            <p:nvPr/>
          </p:nvSpPr>
          <p:spPr>
            <a:xfrm>
              <a:off x="2286000" y="2362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miley Face 7"/>
            <p:cNvSpPr/>
            <p:nvPr/>
          </p:nvSpPr>
          <p:spPr>
            <a:xfrm>
              <a:off x="2286000" y="2971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Smiley Face 8"/>
            <p:cNvSpPr/>
            <p:nvPr/>
          </p:nvSpPr>
          <p:spPr>
            <a:xfrm>
              <a:off x="2286000" y="5791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2438400" y="4038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2438400" y="35814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2438400" y="38100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Smiley Face 26"/>
            <p:cNvSpPr/>
            <p:nvPr/>
          </p:nvSpPr>
          <p:spPr>
            <a:xfrm>
              <a:off x="2286000" y="43434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2438400" y="54102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2438400" y="49530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2438400" y="5181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1524000" y="1828800"/>
            <a:ext cx="533400" cy="4331732"/>
            <a:chOff x="1524000" y="1828800"/>
            <a:chExt cx="533400" cy="4331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1555596" y="1828800"/>
                  <a:ext cx="5018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5596" y="1828800"/>
                  <a:ext cx="501804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197" r="-1566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1524000" y="2362200"/>
                  <a:ext cx="5071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2362200"/>
                  <a:ext cx="507127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333" r="-15663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1524000" y="2971800"/>
                  <a:ext cx="5071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2971800"/>
                  <a:ext cx="507127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15663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1524000" y="5791200"/>
                  <a:ext cx="5142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5791200"/>
                  <a:ext cx="514243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1547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538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/>
          <p:cNvGrpSpPr/>
          <p:nvPr/>
        </p:nvGrpSpPr>
        <p:grpSpPr>
          <a:xfrm>
            <a:off x="5562600" y="1828800"/>
            <a:ext cx="381000" cy="4343400"/>
            <a:chOff x="5562600" y="1828800"/>
            <a:chExt cx="381000" cy="4343400"/>
          </a:xfrm>
        </p:grpSpPr>
        <p:sp>
          <p:nvSpPr>
            <p:cNvPr id="6" name="Smiley Face 5"/>
            <p:cNvSpPr/>
            <p:nvPr/>
          </p:nvSpPr>
          <p:spPr>
            <a:xfrm>
              <a:off x="5562600" y="1828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5715000" y="39624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5715000" y="35052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5715000" y="37338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Smiley Face 32"/>
            <p:cNvSpPr/>
            <p:nvPr/>
          </p:nvSpPr>
          <p:spPr>
            <a:xfrm>
              <a:off x="5562600" y="2362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Smiley Face 33"/>
            <p:cNvSpPr/>
            <p:nvPr/>
          </p:nvSpPr>
          <p:spPr>
            <a:xfrm>
              <a:off x="5562600" y="2971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Smiley Face 34"/>
            <p:cNvSpPr/>
            <p:nvPr/>
          </p:nvSpPr>
          <p:spPr>
            <a:xfrm>
              <a:off x="5562600" y="5791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5715000" y="54102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5715000" y="49530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5715000" y="51816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Smiley Face 38"/>
            <p:cNvSpPr/>
            <p:nvPr/>
          </p:nvSpPr>
          <p:spPr>
            <a:xfrm>
              <a:off x="5562600" y="4267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6127596" y="1764268"/>
            <a:ext cx="673776" cy="4385618"/>
            <a:chOff x="6127596" y="1764268"/>
            <a:chExt cx="673776" cy="43856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6127596" y="1764268"/>
                  <a:ext cx="5335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7596" y="1764268"/>
                  <a:ext cx="533543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477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6172200" y="2286000"/>
                  <a:ext cx="5388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286000"/>
                  <a:ext cx="538865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1477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6172200" y="2907268"/>
                  <a:ext cx="5388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907268"/>
                  <a:ext cx="538865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197" r="-1477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6250" r="-15854" b="-203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6248400" y="5780554"/>
                  <a:ext cx="5529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400" y="5780554"/>
                  <a:ext cx="552972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8197" r="-1318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1" name="Content Placeholder 60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20000"/>
          </a:bodyPr>
          <a:lstStyle/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	Marriage</a:t>
            </a:r>
            <a:r>
              <a:rPr lang="en-US" sz="1800" dirty="0"/>
              <a:t> :          </a:t>
            </a:r>
            <a:r>
              <a:rPr lang="en-US" sz="1800" dirty="0">
                <a:solidFill>
                  <a:srgbClr val="C00000"/>
                </a:solidFill>
              </a:rPr>
              <a:t>?</a:t>
            </a:r>
            <a:endParaRPr lang="en-US" sz="1800" dirty="0"/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2667000" y="3156466"/>
            <a:ext cx="2934862" cy="5834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2667000" y="2552700"/>
            <a:ext cx="2934862" cy="1905000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2600234" y="4533900"/>
            <a:ext cx="2962366" cy="1431320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V="1">
            <a:off x="2667000" y="2019300"/>
            <a:ext cx="2895600" cy="533400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2667000" y="2013466"/>
            <a:ext cx="2934862" cy="3853934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3200400" y="3426596"/>
            <a:ext cx="381000" cy="1394900"/>
            <a:chOff x="3200400" y="3426596"/>
            <a:chExt cx="381000" cy="1394900"/>
          </a:xfrm>
        </p:grpSpPr>
        <p:sp>
          <p:nvSpPr>
            <p:cNvPr id="52" name="TextBox 51"/>
            <p:cNvSpPr txBox="1"/>
            <p:nvPr/>
          </p:nvSpPr>
          <p:spPr>
            <a:xfrm rot="5400000">
              <a:off x="3222648" y="3416016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…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 rot="5400000">
              <a:off x="3210980" y="4462744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…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800600" y="3429000"/>
            <a:ext cx="381000" cy="1394900"/>
            <a:chOff x="4800600" y="3429000"/>
            <a:chExt cx="381000" cy="1394900"/>
          </a:xfrm>
        </p:grpSpPr>
        <p:sp>
          <p:nvSpPr>
            <p:cNvPr id="56" name="TextBox 55"/>
            <p:cNvSpPr txBox="1"/>
            <p:nvPr/>
          </p:nvSpPr>
          <p:spPr>
            <a:xfrm rot="5400000">
              <a:off x="4822848" y="3418420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…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 rot="5400000">
              <a:off x="4811180" y="4465148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…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438400" y="6248400"/>
            <a:ext cx="3757695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 err="1"/>
              <a:t>bijection</a:t>
            </a:r>
            <a:r>
              <a:rPr lang="en-US" dirty="0"/>
              <a:t> between </a:t>
            </a:r>
            <a:r>
              <a:rPr lang="en-US" dirty="0">
                <a:solidFill>
                  <a:srgbClr val="9900CC"/>
                </a:solidFill>
                <a:latin typeface="Bauhaus 93" pitchFamily="82" charset="0"/>
              </a:rPr>
              <a:t>Women </a:t>
            </a:r>
            <a:r>
              <a:rPr lang="en-US" dirty="0"/>
              <a:t>and</a:t>
            </a:r>
            <a:r>
              <a:rPr lang="en-US" dirty="0">
                <a:solidFill>
                  <a:srgbClr val="9900CC"/>
                </a:solidFill>
                <a:latin typeface="Bauhaus 93" pitchFamily="82" charset="0"/>
              </a:rPr>
              <a:t> </a:t>
            </a:r>
            <a:r>
              <a:rPr lang="en-US" dirty="0">
                <a:solidFill>
                  <a:srgbClr val="002060"/>
                </a:solidFill>
                <a:latin typeface="Bauhaus 93" pitchFamily="82" charset="0"/>
              </a:rPr>
              <a:t>Men</a:t>
            </a:r>
          </a:p>
        </p:txBody>
      </p:sp>
    </p:spTree>
    <p:extLst>
      <p:ext uri="{BB962C8B-B14F-4D97-AF65-F5344CB8AC3E}">
        <p14:creationId xmlns:p14="http://schemas.microsoft.com/office/powerpoint/2010/main" val="1862460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build="p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Stable Marriage </a:t>
            </a:r>
            <a:r>
              <a:rPr lang="en-US" sz="3600" b="1" dirty="0"/>
              <a:t>Problem</a:t>
            </a:r>
            <a:br>
              <a:rPr lang="en-US" sz="3600" b="1" dirty="0"/>
            </a:b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1600200"/>
                <a:ext cx="86106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800" dirty="0"/>
                  <a:t> prefers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endParaRPr lang="en-US" sz="1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 prefers</a:t>
                </a:r>
                <a:r>
                  <a:rPr lang="en-US" sz="1800" b="0" dirty="0">
                    <a:solidFill>
                      <a:srgbClr val="9900CC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Definition</a:t>
                </a:r>
                <a:r>
                  <a:rPr lang="en-US" sz="1800" dirty="0"/>
                  <a:t>: </a:t>
                </a:r>
              </a:p>
              <a:p>
                <a:pPr marL="0" indent="0">
                  <a:buNone/>
                </a:pPr>
                <a:r>
                  <a:rPr lang="en-US" sz="1800" dirty="0"/>
                  <a:t>A marriage is said to be </a:t>
                </a:r>
                <a:r>
                  <a:rPr lang="en-US" sz="1800" b="1" dirty="0"/>
                  <a:t>stable</a:t>
                </a:r>
                <a:r>
                  <a:rPr lang="en-US" sz="1800" dirty="0"/>
                  <a:t> if there is </a:t>
                </a:r>
                <a:r>
                  <a:rPr lang="en-US" sz="1800" u="sng" dirty="0"/>
                  <a:t>no</a:t>
                </a:r>
                <a:r>
                  <a:rPr lang="en-US" sz="1800" dirty="0"/>
                  <a:t> unstable pair in the society.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1600200"/>
                <a:ext cx="8610600" cy="4525963"/>
              </a:xfrm>
              <a:blipFill rotWithShape="1">
                <a:blip r:embed="rId2"/>
                <a:stretch>
                  <a:fillRect l="-779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grpSp>
        <p:nvGrpSpPr>
          <p:cNvPr id="45" name="Group 44"/>
          <p:cNvGrpSpPr/>
          <p:nvPr/>
        </p:nvGrpSpPr>
        <p:grpSpPr>
          <a:xfrm>
            <a:off x="2286000" y="2971800"/>
            <a:ext cx="381000" cy="1752600"/>
            <a:chOff x="2286000" y="2971800"/>
            <a:chExt cx="381000" cy="1752600"/>
          </a:xfrm>
        </p:grpSpPr>
        <p:sp>
          <p:nvSpPr>
            <p:cNvPr id="8" name="Smiley Face 7"/>
            <p:cNvSpPr/>
            <p:nvPr/>
          </p:nvSpPr>
          <p:spPr>
            <a:xfrm>
              <a:off x="2286000" y="2971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Smiley Face 26"/>
            <p:cNvSpPr/>
            <p:nvPr/>
          </p:nvSpPr>
          <p:spPr>
            <a:xfrm>
              <a:off x="2286000" y="43434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1524000" y="2971800"/>
            <a:ext cx="474424" cy="1740932"/>
            <a:chOff x="1524000" y="2971800"/>
            <a:chExt cx="474424" cy="17409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1524000" y="2971800"/>
                  <a:ext cx="474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2971800"/>
                  <a:ext cx="474424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333" r="-1538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538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/>
          <p:cNvGrpSpPr/>
          <p:nvPr/>
        </p:nvGrpSpPr>
        <p:grpSpPr>
          <a:xfrm>
            <a:off x="5562600" y="2971800"/>
            <a:ext cx="381000" cy="1676400"/>
            <a:chOff x="5562600" y="2971800"/>
            <a:chExt cx="381000" cy="1676400"/>
          </a:xfrm>
        </p:grpSpPr>
        <p:sp>
          <p:nvSpPr>
            <p:cNvPr id="34" name="Smiley Face 33"/>
            <p:cNvSpPr/>
            <p:nvPr/>
          </p:nvSpPr>
          <p:spPr>
            <a:xfrm>
              <a:off x="5562600" y="2971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Smiley Face 38"/>
            <p:cNvSpPr/>
            <p:nvPr/>
          </p:nvSpPr>
          <p:spPr>
            <a:xfrm>
              <a:off x="5562600" y="4267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6172200" y="2907268"/>
            <a:ext cx="548612" cy="1751578"/>
            <a:chOff x="6172200" y="2907268"/>
            <a:chExt cx="548612" cy="17515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6172200" y="2907268"/>
                  <a:ext cx="5486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907268"/>
                  <a:ext cx="548612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573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6250" r="-15854" b="-203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" name="Straight Arrow Connector 9"/>
          <p:cNvCxnSpPr/>
          <p:nvPr/>
        </p:nvCxnSpPr>
        <p:spPr>
          <a:xfrm>
            <a:off x="2667000" y="3156466"/>
            <a:ext cx="2934862" cy="5834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2667000" y="4495800"/>
            <a:ext cx="2895600" cy="0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 rot="21228949">
            <a:off x="4953000" y="4038600"/>
            <a:ext cx="463289" cy="433965"/>
            <a:chOff x="1880004" y="3568439"/>
            <a:chExt cx="463289" cy="433965"/>
          </a:xfrm>
        </p:grpSpPr>
        <p:sp>
          <p:nvSpPr>
            <p:cNvPr id="51" name="Chevron 50"/>
            <p:cNvSpPr/>
            <p:nvPr/>
          </p:nvSpPr>
          <p:spPr>
            <a:xfrm rot="1824820" flipH="1">
              <a:off x="2032404" y="3659730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Chevron 51"/>
            <p:cNvSpPr/>
            <p:nvPr/>
          </p:nvSpPr>
          <p:spPr>
            <a:xfrm rot="1824820" flipH="1">
              <a:off x="2184804" y="3757035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" name="Chevron 53"/>
            <p:cNvSpPr/>
            <p:nvPr/>
          </p:nvSpPr>
          <p:spPr>
            <a:xfrm rot="1824820" flipH="1">
              <a:off x="1880004" y="3568439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56" name="Straight Connector 55"/>
          <p:cNvCxnSpPr>
            <a:stCxn id="8" idx="5"/>
          </p:cNvCxnSpPr>
          <p:nvPr/>
        </p:nvCxnSpPr>
        <p:spPr>
          <a:xfrm>
            <a:off x="2611204" y="3297004"/>
            <a:ext cx="2990658" cy="1145831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 rot="21265500">
            <a:off x="2743200" y="3200400"/>
            <a:ext cx="461598" cy="372462"/>
            <a:chOff x="1228910" y="3301148"/>
            <a:chExt cx="461598" cy="372462"/>
          </a:xfrm>
        </p:grpSpPr>
        <p:sp>
          <p:nvSpPr>
            <p:cNvPr id="12" name="Chevron 11"/>
            <p:cNvSpPr/>
            <p:nvPr/>
          </p:nvSpPr>
          <p:spPr>
            <a:xfrm rot="1824820">
              <a:off x="1228910" y="3301148"/>
              <a:ext cx="156798" cy="220062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9" name="Chevron 48"/>
            <p:cNvSpPr/>
            <p:nvPr/>
          </p:nvSpPr>
          <p:spPr>
            <a:xfrm rot="1824820">
              <a:off x="1381310" y="3377348"/>
              <a:ext cx="156798" cy="220062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0" name="Chevron 49"/>
            <p:cNvSpPr/>
            <p:nvPr/>
          </p:nvSpPr>
          <p:spPr>
            <a:xfrm rot="1824820">
              <a:off x="1533710" y="3453548"/>
              <a:ext cx="156798" cy="220062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60" name="Straight Arrow Connector 59"/>
          <p:cNvCxnSpPr>
            <a:stCxn id="8" idx="5"/>
          </p:cNvCxnSpPr>
          <p:nvPr/>
        </p:nvCxnSpPr>
        <p:spPr>
          <a:xfrm>
            <a:off x="2611204" y="3297004"/>
            <a:ext cx="2990658" cy="1145831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33800" y="2987043"/>
            <a:ext cx="796885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divorce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16357" y="4332914"/>
            <a:ext cx="796885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divorce</a:t>
            </a:r>
          </a:p>
        </p:txBody>
      </p:sp>
      <p:sp>
        <p:nvSpPr>
          <p:cNvPr id="35" name="Oval 34"/>
          <p:cNvSpPr/>
          <p:nvPr/>
        </p:nvSpPr>
        <p:spPr>
          <a:xfrm>
            <a:off x="2438400" y="40386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2438400" y="35814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2438400" y="38100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5715000" y="3962400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5715000" y="3505200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5715000" y="3733800"/>
            <a:ext cx="76200" cy="76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791919" y="2133600"/>
                <a:ext cx="2618281" cy="39164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solidFill>
                              <a:srgbClr val="9900CC"/>
                            </a:solidFill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) : an unstable pair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1919" y="2133600"/>
                <a:ext cx="2618281" cy="391646"/>
              </a:xfrm>
              <a:prstGeom prst="rect">
                <a:avLst/>
              </a:prstGeom>
              <a:blipFill rotWithShape="1">
                <a:blip r:embed="rId11"/>
                <a:stretch>
                  <a:fillRect l="-1852" t="-4545" r="-2546" b="-181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Brace 8"/>
          <p:cNvSpPr/>
          <p:nvPr/>
        </p:nvSpPr>
        <p:spPr>
          <a:xfrm>
            <a:off x="2476500" y="1981200"/>
            <a:ext cx="279182" cy="685800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Ribbon 10"/>
          <p:cNvSpPr/>
          <p:nvPr/>
        </p:nvSpPr>
        <p:spPr>
          <a:xfrm>
            <a:off x="2527991" y="1219200"/>
            <a:ext cx="3568009" cy="5334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Meaning of </a:t>
            </a:r>
            <a:r>
              <a:rPr lang="en-US" dirty="0" err="1">
                <a:solidFill>
                  <a:srgbClr val="C00000"/>
                </a:solidFill>
              </a:rPr>
              <a:t>unstability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639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53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5" grpId="1" animBg="1"/>
      <p:bldP spid="33" grpId="0" animBg="1"/>
      <p:bldP spid="33" grpId="1" animBg="1"/>
      <p:bldP spid="7" grpId="0" animBg="1"/>
      <p:bldP spid="9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Stable Marriage </a:t>
            </a:r>
            <a:r>
              <a:rPr lang="en-US" sz="3200" b="1" dirty="0"/>
              <a:t>Problem</a:t>
            </a:r>
            <a:br>
              <a:rPr lang="en-US" sz="3200" b="1" dirty="0"/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𝑴</m:t>
                    </m:r>
                  </m:oMath>
                </a14:m>
                <a:r>
                  <a:rPr lang="en-US" sz="2000" dirty="0"/>
                  <a:t> : set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men </a:t>
                </a:r>
              </a:p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𝑾</m:t>
                    </m:r>
                  </m:oMath>
                </a14:m>
                <a:r>
                  <a:rPr lang="en-US" sz="2000" dirty="0"/>
                  <a:t> : set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women </a:t>
                </a:r>
              </a:p>
              <a:p>
                <a:pPr marL="0" indent="0">
                  <a:buNone/>
                </a:pPr>
                <a:r>
                  <a:rPr lang="en-US" sz="2000" dirty="0"/>
                  <a:t> For each man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𝒎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  <a:sym typeface="Wingdings" pitchFamily="2" charset="2"/>
                      </a:rPr>
                      <m:t>∈</m:t>
                    </m:r>
                    <m:r>
                      <a:rPr lang="en-US" sz="20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𝑴</m:t>
                    </m:r>
                  </m:oMath>
                </a14:m>
                <a:r>
                  <a:rPr lang="en-US" sz="2000" dirty="0"/>
                  <a:t>, </a:t>
                </a:r>
              </a:p>
              <a:p>
                <a:pPr marL="0" indent="0">
                  <a:buNone/>
                </a:pPr>
                <a:r>
                  <a:rPr lang="en-US" sz="2000" dirty="0"/>
                  <a:t>		</a:t>
                </a: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B050"/>
                        </a:solidFill>
                        <a:latin typeface="Cambria Math"/>
                        <a:sym typeface="Wingdings" pitchFamily="2" charset="2"/>
                      </a:rPr>
                      <m:t>𝑳</m:t>
                    </m:r>
                    <m:r>
                      <a:rPr lang="en-US" sz="20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𝒎</m:t>
                    </m:r>
                    <m:r>
                      <a:rPr lang="en-US" sz="20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) </m:t>
                    </m:r>
                  </m:oMath>
                </a14:m>
                <a:r>
                  <a:rPr lang="en-US" sz="2000" dirty="0"/>
                  <a:t>: a preference list of all women</a:t>
                </a:r>
              </a:p>
              <a:p>
                <a:pPr marL="0" indent="0">
                  <a:buNone/>
                </a:pPr>
                <a:r>
                  <a:rPr lang="en-US" sz="2000" dirty="0"/>
                  <a:t> For each woman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𝒘</m:t>
                    </m:r>
                    <m:r>
                      <a:rPr lang="en-US" sz="20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∈</m:t>
                    </m:r>
                    <m:r>
                      <a:rPr lang="en-US" sz="20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𝑾</m:t>
                    </m:r>
                  </m:oMath>
                </a14:m>
                <a:r>
                  <a:rPr lang="en-US" sz="2000" dirty="0"/>
                  <a:t>,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B050"/>
                        </a:solidFill>
                        <a:latin typeface="Cambria Math"/>
                        <a:sym typeface="Wingdings" pitchFamily="2" charset="2"/>
                      </a:rPr>
                      <m:t>𝑳</m:t>
                    </m:r>
                    <m:r>
                      <a:rPr lang="en-US" sz="20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𝒘</m:t>
                    </m:r>
                    <m:r>
                      <a:rPr lang="en-US" sz="20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) </m:t>
                    </m:r>
                  </m:oMath>
                </a14:m>
                <a:r>
                  <a:rPr lang="en-US" sz="2000" dirty="0"/>
                  <a:t>: a preference list of all men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Aim</a:t>
                </a:r>
                <a:r>
                  <a:rPr lang="en-US" sz="2000" dirty="0"/>
                  <a:t>: To compute a </a:t>
                </a:r>
                <a:r>
                  <a:rPr lang="en-US" sz="2000" b="1" dirty="0"/>
                  <a:t>stable</a:t>
                </a:r>
                <a:r>
                  <a:rPr lang="en-US" sz="2000" dirty="0"/>
                  <a:t> marriage.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696056-B04C-48AB-8C53-BBF1FF11CC18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4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470025"/>
          </a:xfrm>
        </p:spPr>
        <p:txBody>
          <a:bodyPr/>
          <a:lstStyle/>
          <a:p>
            <a:r>
              <a:rPr lang="en-US" sz="3600" b="1" dirty="0"/>
              <a:t>Algorithm for </a:t>
            </a:r>
            <a:r>
              <a:rPr lang="en-US" sz="3600" b="1" dirty="0">
                <a:solidFill>
                  <a:srgbClr val="7030A0"/>
                </a:solidFill>
              </a:rPr>
              <a:t>Stable Marriage</a:t>
            </a:r>
            <a:endParaRPr lang="en-US" sz="3600" b="1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70C0"/>
                </a:solidFill>
              </a:rPr>
              <a:t>Man</a:t>
            </a:r>
            <a:r>
              <a:rPr lang="en-US" sz="2400" dirty="0">
                <a:solidFill>
                  <a:schemeClr val="tx1"/>
                </a:solidFill>
              </a:rPr>
              <a:t> proposes,       </a:t>
            </a:r>
            <a:r>
              <a:rPr lang="en-US" sz="2400" dirty="0">
                <a:solidFill>
                  <a:srgbClr val="7030A0"/>
                </a:solidFill>
              </a:rPr>
              <a:t>God</a:t>
            </a:r>
            <a:r>
              <a:rPr lang="en-US" sz="2400" dirty="0">
                <a:solidFill>
                  <a:schemeClr val="tx1"/>
                </a:solidFill>
              </a:rPr>
              <a:t>   disposes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17962" y="2819400"/>
            <a:ext cx="3508076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/>
              <a:t>1962, </a:t>
            </a:r>
            <a:r>
              <a:rPr lang="en-US" dirty="0">
                <a:hlinkClick r:id="rId2" tooltip="David Gale"/>
              </a:rPr>
              <a:t>David Gale</a:t>
            </a:r>
            <a:r>
              <a:rPr lang="en-US" dirty="0"/>
              <a:t> and </a:t>
            </a:r>
            <a:r>
              <a:rPr lang="en-US" dirty="0">
                <a:hlinkClick r:id="rId3" tooltip="Lloyd Shapley"/>
              </a:rPr>
              <a:t>Lloyd Shapley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38D0EE-D583-E152-0D0D-D809D88C1B81}"/>
              </a:ext>
            </a:extLst>
          </p:cNvPr>
          <p:cNvSpPr txBox="1"/>
          <p:nvPr/>
        </p:nvSpPr>
        <p:spPr>
          <a:xfrm>
            <a:off x="4419600" y="3886200"/>
            <a:ext cx="1162369" cy="46166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FF"/>
                </a:solidFill>
              </a:rPr>
              <a:t>Woman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D2B082-56E2-99EB-0CA4-735430167903}"/>
              </a:ext>
            </a:extLst>
          </p:cNvPr>
          <p:cNvSpPr txBox="1"/>
          <p:nvPr/>
        </p:nvSpPr>
        <p:spPr>
          <a:xfrm>
            <a:off x="2667000" y="3307633"/>
            <a:ext cx="3866123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Nobel Prize in Economic Sciences, 2012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092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3" grpId="0" animBg="1"/>
      <p:bldP spid="6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Man</a:t>
            </a:r>
            <a:r>
              <a:rPr lang="en-US" sz="3600" dirty="0"/>
              <a:t> proposes, </a:t>
            </a:r>
            <a:r>
              <a:rPr lang="en-US" sz="3600" dirty="0">
                <a:solidFill>
                  <a:srgbClr val="FF00FF"/>
                </a:solidFill>
              </a:rPr>
              <a:t>Woman </a:t>
            </a:r>
            <a:r>
              <a:rPr lang="en-US" sz="3600" dirty="0"/>
              <a:t>disposes  </a:t>
            </a:r>
            <a:br>
              <a:rPr lang="en-US" sz="3600" dirty="0"/>
            </a:br>
            <a:br>
              <a:rPr lang="en-US" sz="3600" b="1" dirty="0"/>
            </a:b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2133600" y="1371600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900CC"/>
                </a:solidFill>
                <a:latin typeface="Bauhaus 93" pitchFamily="82" charset="0"/>
              </a:rPr>
              <a:t>Women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0508" y="1383268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Bauhaus 93" pitchFamily="82" charset="0"/>
              </a:rPr>
              <a:t>Men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2286000" y="1828800"/>
            <a:ext cx="381000" cy="4343400"/>
            <a:chOff x="2286000" y="1828800"/>
            <a:chExt cx="381000" cy="4343400"/>
          </a:xfrm>
        </p:grpSpPr>
        <p:sp>
          <p:nvSpPr>
            <p:cNvPr id="5" name="Smiley Face 4"/>
            <p:cNvSpPr/>
            <p:nvPr/>
          </p:nvSpPr>
          <p:spPr>
            <a:xfrm>
              <a:off x="2286000" y="1828800"/>
              <a:ext cx="381000" cy="369332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Smiley Face 6"/>
            <p:cNvSpPr/>
            <p:nvPr/>
          </p:nvSpPr>
          <p:spPr>
            <a:xfrm>
              <a:off x="2286000" y="2362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miley Face 7"/>
            <p:cNvSpPr/>
            <p:nvPr/>
          </p:nvSpPr>
          <p:spPr>
            <a:xfrm>
              <a:off x="2286000" y="2971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Smiley Face 8"/>
            <p:cNvSpPr/>
            <p:nvPr/>
          </p:nvSpPr>
          <p:spPr>
            <a:xfrm>
              <a:off x="2286000" y="5791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2438400" y="4038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2438400" y="35814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2438400" y="38100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Smiley Face 26"/>
            <p:cNvSpPr/>
            <p:nvPr/>
          </p:nvSpPr>
          <p:spPr>
            <a:xfrm>
              <a:off x="2286000" y="43434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2438400" y="54102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2438400" y="49530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2438400" y="5181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1524000" y="1828800"/>
            <a:ext cx="533400" cy="4331732"/>
            <a:chOff x="1524000" y="1828800"/>
            <a:chExt cx="533400" cy="4331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1555596" y="1828800"/>
                  <a:ext cx="5018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5596" y="1828800"/>
                  <a:ext cx="501804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197" r="-1566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1524000" y="2362200"/>
                  <a:ext cx="5071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2362200"/>
                  <a:ext cx="507127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333" r="-15663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1524000" y="2971800"/>
                  <a:ext cx="5071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2971800"/>
                  <a:ext cx="507127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15663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1524000" y="5791200"/>
                  <a:ext cx="5142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5791200"/>
                  <a:ext cx="514243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1547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538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/>
          <p:cNvGrpSpPr/>
          <p:nvPr/>
        </p:nvGrpSpPr>
        <p:grpSpPr>
          <a:xfrm>
            <a:off x="5562600" y="1828800"/>
            <a:ext cx="381000" cy="4343400"/>
            <a:chOff x="5562600" y="1828800"/>
            <a:chExt cx="381000" cy="4343400"/>
          </a:xfrm>
        </p:grpSpPr>
        <p:sp>
          <p:nvSpPr>
            <p:cNvPr id="6" name="Smiley Face 5"/>
            <p:cNvSpPr/>
            <p:nvPr/>
          </p:nvSpPr>
          <p:spPr>
            <a:xfrm>
              <a:off x="5562600" y="1828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5715000" y="39624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5715000" y="35052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5715000" y="37338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Smiley Face 32"/>
            <p:cNvSpPr/>
            <p:nvPr/>
          </p:nvSpPr>
          <p:spPr>
            <a:xfrm>
              <a:off x="5562600" y="2362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Smiley Face 33"/>
            <p:cNvSpPr/>
            <p:nvPr/>
          </p:nvSpPr>
          <p:spPr>
            <a:xfrm>
              <a:off x="5562600" y="29718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Smiley Face 34"/>
            <p:cNvSpPr/>
            <p:nvPr/>
          </p:nvSpPr>
          <p:spPr>
            <a:xfrm>
              <a:off x="5562600" y="5791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5715000" y="54102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5715000" y="49530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5715000" y="51816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Smiley Face 38"/>
            <p:cNvSpPr/>
            <p:nvPr/>
          </p:nvSpPr>
          <p:spPr>
            <a:xfrm>
              <a:off x="5562600" y="4267200"/>
              <a:ext cx="381000" cy="381000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6127596" y="1764268"/>
            <a:ext cx="673776" cy="4385618"/>
            <a:chOff x="6127596" y="1764268"/>
            <a:chExt cx="673776" cy="43856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6127596" y="1764268"/>
                  <a:ext cx="5335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7596" y="1764268"/>
                  <a:ext cx="533543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477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6172200" y="2286000"/>
                  <a:ext cx="5388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286000"/>
                  <a:ext cx="538865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1477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6172200" y="2907268"/>
                  <a:ext cx="5388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907268"/>
                  <a:ext cx="538865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197" r="-1477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6250" r="-15854" b="-203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6248400" y="5780554"/>
                  <a:ext cx="5529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400" y="5780554"/>
                  <a:ext cx="552972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8197" r="-1318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1" name="Content Placeholder 6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1" name="Group 50"/>
          <p:cNvGrpSpPr/>
          <p:nvPr/>
        </p:nvGrpSpPr>
        <p:grpSpPr>
          <a:xfrm>
            <a:off x="2667000" y="2133600"/>
            <a:ext cx="2895600" cy="958334"/>
            <a:chOff x="2667000" y="2133600"/>
            <a:chExt cx="2895600" cy="958334"/>
          </a:xfrm>
        </p:grpSpPr>
        <p:cxnSp>
          <p:nvCxnSpPr>
            <p:cNvPr id="10" name="Straight Arrow Connector 9"/>
            <p:cNvCxnSpPr/>
            <p:nvPr/>
          </p:nvCxnSpPr>
          <p:spPr>
            <a:xfrm flipH="1">
              <a:off x="2667000" y="2133600"/>
              <a:ext cx="2895600" cy="9583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3952736" y="2458164"/>
                  <a:ext cx="324128" cy="307777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2736" y="2458164"/>
                  <a:ext cx="324128" cy="307777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r="-8929" b="-1509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Group 57"/>
          <p:cNvGrpSpPr/>
          <p:nvPr/>
        </p:nvGrpSpPr>
        <p:grpSpPr>
          <a:xfrm>
            <a:off x="2667000" y="3048000"/>
            <a:ext cx="2895600" cy="307777"/>
            <a:chOff x="2667000" y="3048000"/>
            <a:chExt cx="2895600" cy="307777"/>
          </a:xfrm>
        </p:grpSpPr>
        <p:cxnSp>
          <p:nvCxnSpPr>
            <p:cNvPr id="50" name="Straight Arrow Connector 49"/>
            <p:cNvCxnSpPr/>
            <p:nvPr/>
          </p:nvCxnSpPr>
          <p:spPr>
            <a:xfrm flipH="1">
              <a:off x="2667000" y="3200400"/>
              <a:ext cx="2895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3962400" y="3048000"/>
                  <a:ext cx="324128" cy="307777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2400" y="3048000"/>
                  <a:ext cx="324128" cy="307777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r="-9091" b="-1730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2" name="Group 51"/>
          <p:cNvGrpSpPr/>
          <p:nvPr/>
        </p:nvGrpSpPr>
        <p:grpSpPr>
          <a:xfrm>
            <a:off x="2667000" y="2552700"/>
            <a:ext cx="2895600" cy="1975366"/>
            <a:chOff x="2667000" y="2552700"/>
            <a:chExt cx="2895600" cy="1975366"/>
          </a:xfrm>
        </p:grpSpPr>
        <p:cxnSp>
          <p:nvCxnSpPr>
            <p:cNvPr id="55" name="Straight Arrow Connector 54"/>
            <p:cNvCxnSpPr/>
            <p:nvPr/>
          </p:nvCxnSpPr>
          <p:spPr>
            <a:xfrm flipH="1">
              <a:off x="2667000" y="2552700"/>
              <a:ext cx="2895600" cy="197536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/>
                <p:cNvSpPr txBox="1"/>
                <p:nvPr/>
              </p:nvSpPr>
              <p:spPr>
                <a:xfrm>
                  <a:off x="3962400" y="3349823"/>
                  <a:ext cx="324128" cy="307777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79" name="TextBox 7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2400" y="3349823"/>
                  <a:ext cx="324128" cy="307777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r="-9091" b="-1730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3" name="Straight Arrow Connector 62"/>
          <p:cNvCxnSpPr/>
          <p:nvPr/>
        </p:nvCxnSpPr>
        <p:spPr>
          <a:xfrm flipV="1">
            <a:off x="2647369" y="2133600"/>
            <a:ext cx="2934862" cy="958334"/>
          </a:xfrm>
          <a:prstGeom prst="straightConnector1">
            <a:avLst/>
          </a:prstGeom>
          <a:ln w="38100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V="1">
            <a:off x="2647369" y="2552700"/>
            <a:ext cx="2895600" cy="1987034"/>
          </a:xfrm>
          <a:prstGeom prst="straightConnector1">
            <a:avLst/>
          </a:prstGeom>
          <a:ln w="38100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V="1">
            <a:off x="2667000" y="3200400"/>
            <a:ext cx="2915231" cy="1488"/>
          </a:xfrm>
          <a:prstGeom prst="straightConnector1">
            <a:avLst/>
          </a:prstGeom>
          <a:ln w="38100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/>
          <p:cNvGrpSpPr/>
          <p:nvPr/>
        </p:nvGrpSpPr>
        <p:grpSpPr>
          <a:xfrm>
            <a:off x="2667000" y="2019300"/>
            <a:ext cx="2895600" cy="571500"/>
            <a:chOff x="2667000" y="2520434"/>
            <a:chExt cx="2895600" cy="571500"/>
          </a:xfrm>
        </p:grpSpPr>
        <p:cxnSp>
          <p:nvCxnSpPr>
            <p:cNvPr id="77" name="Straight Arrow Connector 76"/>
            <p:cNvCxnSpPr/>
            <p:nvPr/>
          </p:nvCxnSpPr>
          <p:spPr>
            <a:xfrm flipH="1">
              <a:off x="2667000" y="2520434"/>
              <a:ext cx="2895600" cy="5715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3952736" y="2631757"/>
                  <a:ext cx="324128" cy="307777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2736" y="2631757"/>
                  <a:ext cx="324128" cy="307777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r="-8929" b="-1730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4" name="Straight Arrow Connector 73"/>
          <p:cNvCxnSpPr/>
          <p:nvPr/>
        </p:nvCxnSpPr>
        <p:spPr>
          <a:xfrm flipV="1">
            <a:off x="2647369" y="2013466"/>
            <a:ext cx="2963437" cy="577334"/>
          </a:xfrm>
          <a:prstGeom prst="straightConnector1">
            <a:avLst/>
          </a:prstGeom>
          <a:ln w="38100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888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9896C-BB5A-C4CC-00EC-D0DC79A45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the algorithm now 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82F00-3893-9891-5117-342D039D6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53582"/>
            <a:ext cx="8229600" cy="4525963"/>
          </a:xfrm>
        </p:spPr>
        <p:txBody>
          <a:bodyPr/>
          <a:lstStyle/>
          <a:p>
            <a:r>
              <a:rPr lang="en-US" sz="2000" dirty="0"/>
              <a:t>A man proposes in the </a:t>
            </a:r>
            <a:r>
              <a:rPr lang="en-US" sz="2000" b="1" u="sng" dirty="0"/>
              <a:t>decreasing</a:t>
            </a:r>
            <a:r>
              <a:rPr lang="en-US" sz="2000" dirty="0"/>
              <a:t> order of preference.</a:t>
            </a:r>
          </a:p>
          <a:p>
            <a:endParaRPr lang="en-US" sz="2000" dirty="0"/>
          </a:p>
          <a:p>
            <a:r>
              <a:rPr lang="en-US" sz="2000" dirty="0"/>
              <a:t>Once rejected by a woman, the man </a:t>
            </a:r>
            <a:r>
              <a:rPr lang="en-US" sz="2000" b="1" u="sng" dirty="0"/>
              <a:t>never proposes</a:t>
            </a:r>
            <a:r>
              <a:rPr lang="en-US" sz="2000" b="1" dirty="0"/>
              <a:t> </a:t>
            </a:r>
            <a:r>
              <a:rPr lang="en-US" sz="2000" dirty="0"/>
              <a:t>to her again.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A woman, if single, accepts a proposal.</a:t>
            </a:r>
          </a:p>
          <a:p>
            <a:endParaRPr lang="en-US" sz="2000" dirty="0"/>
          </a:p>
          <a:p>
            <a:r>
              <a:rPr lang="en-US" sz="2000" dirty="0"/>
              <a:t>A woman, if engaged, accepts a proposal from a man if she prefers him to her current partner.   </a:t>
            </a: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DB2C4-1494-030F-852E-B99054185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371050-FF52-7801-16F2-B8A511DE773A}"/>
              </a:ext>
            </a:extLst>
          </p:cNvPr>
          <p:cNvSpPr txBox="1"/>
          <p:nvPr/>
        </p:nvSpPr>
        <p:spPr>
          <a:xfrm>
            <a:off x="0" y="1524000"/>
            <a:ext cx="2135969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Rule for </a:t>
            </a:r>
            <a:r>
              <a:rPr lang="en-US" sz="2800" dirty="0">
                <a:solidFill>
                  <a:srgbClr val="0070C0"/>
                </a:solidFill>
              </a:rPr>
              <a:t>Men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0EBF74-49C2-10E7-1A88-71A63886651F}"/>
              </a:ext>
            </a:extLst>
          </p:cNvPr>
          <p:cNvSpPr txBox="1"/>
          <p:nvPr/>
        </p:nvSpPr>
        <p:spPr>
          <a:xfrm>
            <a:off x="0" y="3962400"/>
            <a:ext cx="2555315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Rule for </a:t>
            </a:r>
            <a:r>
              <a:rPr lang="en-US" sz="2800" dirty="0">
                <a:solidFill>
                  <a:srgbClr val="FF00FF"/>
                </a:solidFill>
              </a:rPr>
              <a:t>Women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3EF23C-30BC-C1EE-0794-F685730727D1}"/>
              </a:ext>
            </a:extLst>
          </p:cNvPr>
          <p:cNvSpPr/>
          <p:nvPr/>
        </p:nvSpPr>
        <p:spPr>
          <a:xfrm>
            <a:off x="2743200" y="2153582"/>
            <a:ext cx="3962400" cy="4571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2D139A-47D9-1652-B52A-79A65A139132}"/>
              </a:ext>
            </a:extLst>
          </p:cNvPr>
          <p:cNvSpPr/>
          <p:nvPr/>
        </p:nvSpPr>
        <p:spPr>
          <a:xfrm>
            <a:off x="3886200" y="2871238"/>
            <a:ext cx="3962400" cy="4571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F6C080-CD2D-2966-6028-0E0AD94E5310}"/>
              </a:ext>
            </a:extLst>
          </p:cNvPr>
          <p:cNvSpPr/>
          <p:nvPr/>
        </p:nvSpPr>
        <p:spPr>
          <a:xfrm>
            <a:off x="3048000" y="4648200"/>
            <a:ext cx="3962400" cy="4571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067891-0534-6D57-755C-4E2653492011}"/>
              </a:ext>
            </a:extLst>
          </p:cNvPr>
          <p:cNvSpPr/>
          <p:nvPr/>
        </p:nvSpPr>
        <p:spPr>
          <a:xfrm>
            <a:off x="2133600" y="4724401"/>
            <a:ext cx="3962400" cy="4571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052673-6D1C-1AB8-D5C4-AF07CE2DA661}"/>
              </a:ext>
            </a:extLst>
          </p:cNvPr>
          <p:cNvSpPr/>
          <p:nvPr/>
        </p:nvSpPr>
        <p:spPr>
          <a:xfrm>
            <a:off x="6553200" y="5410200"/>
            <a:ext cx="3962400" cy="4571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571975-EED3-1DAC-4AFE-A255F203F3CB}"/>
              </a:ext>
            </a:extLst>
          </p:cNvPr>
          <p:cNvSpPr/>
          <p:nvPr/>
        </p:nvSpPr>
        <p:spPr>
          <a:xfrm>
            <a:off x="3276600" y="5491859"/>
            <a:ext cx="3962400" cy="4571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B9BBB2-2871-A816-17D6-0AA32D3B6303}"/>
              </a:ext>
            </a:extLst>
          </p:cNvPr>
          <p:cNvSpPr/>
          <p:nvPr/>
        </p:nvSpPr>
        <p:spPr>
          <a:xfrm>
            <a:off x="914400" y="5826820"/>
            <a:ext cx="3962400" cy="4571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72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6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sz="3600" b="1" dirty="0">
                    <a:solidFill>
                      <a:srgbClr val="0070C0"/>
                    </a:solidFill>
                  </a:rPr>
                  <a:t>GaleShapley</a:t>
                </a:r>
                <a:r>
                  <a:rPr lang="en-US" sz="3600" dirty="0"/>
                  <a:t>(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𝑴</m:t>
                    </m:r>
                  </m:oMath>
                </a14:m>
                <a:r>
                  <a:rPr lang="en-US" sz="3600" dirty="0"/>
                  <a:t>,</a:t>
                </a:r>
                <a:r>
                  <a:rPr lang="en-US" sz="3600" b="1" dirty="0">
                    <a:solidFill>
                      <a:srgbClr val="002060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𝑾</m:t>
                    </m:r>
                  </m:oMath>
                </a14:m>
                <a:r>
                  <a:rPr lang="en-US" sz="3600" dirty="0"/>
                  <a:t>)</a:t>
                </a:r>
                <a:br>
                  <a:rPr lang="en-US" sz="3600" dirty="0"/>
                </a:br>
                <a:endParaRPr lang="en-US" sz="3600" dirty="0"/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914400"/>
                <a:ext cx="4038600" cy="586740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𝑺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𝑴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800" dirty="0"/>
                  <a:t>While (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𝑺</m:t>
                    </m:r>
                    <m:r>
                      <a:rPr lang="en-US" sz="1800" i="1">
                        <a:latin typeface="Cambria Math"/>
                        <a:sym typeface="Wingdings" pitchFamily="2" charset="2"/>
                      </a:rPr>
                      <m:t>≠∅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pPr marL="0" indent="0">
                  <a:buNone/>
                </a:pPr>
                <a:r>
                  <a:rPr lang="en-US" sz="1800" dirty="0"/>
                  <a:t>{    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𝒎</m:t>
                    </m:r>
                    <m:r>
                      <a:rPr lang="en-US" sz="1800" i="1">
                        <a:latin typeface="Cambria Math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 </a:t>
                </a:r>
                <a:r>
                  <a:rPr lang="en-US" sz="1800" dirty="0" err="1">
                    <a:sym typeface="Wingdings" pitchFamily="2" charset="2"/>
                  </a:rPr>
                  <a:t>Extract_any_Man_from</a:t>
                </a:r>
                <a:r>
                  <a:rPr lang="en-US" sz="18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𝑺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𝒘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  </a:t>
                </a:r>
                <a:r>
                  <a:rPr lang="en-US" sz="1800" b="1" dirty="0">
                    <a:sym typeface="Wingdings" pitchFamily="2" charset="2"/>
                  </a:rPr>
                  <a:t>next</a:t>
                </a:r>
                <a:r>
                  <a:rPr lang="en-US" sz="18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B050"/>
                        </a:solidFill>
                        <a:latin typeface="Cambria Math"/>
                        <a:sym typeface="Wingdings" pitchFamily="2" charset="2"/>
                      </a:rPr>
                      <m:t>𝑳</m:t>
                    </m:r>
                    <m:r>
                      <a:rPr lang="en-US" sz="18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(</m:t>
                    </m:r>
                    <m:r>
                      <a:rPr lang="en-US" sz="18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𝒎</m:t>
                    </m:r>
                    <m:r>
                      <a:rPr lang="en-US" sz="18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𝒎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 proposes to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𝒘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If </a:t>
                </a:r>
                <a:r>
                  <a:rPr lang="en-US" sz="1800" b="1" dirty="0"/>
                  <a:t>Single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𝒘</m:t>
                    </m:r>
                  </m:oMath>
                </a14:m>
                <a:r>
                  <a:rPr lang="en-US" sz="1800" dirty="0"/>
                  <a:t>)    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else 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{       let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𝒎</m:t>
                    </m:r>
                    <m:r>
                      <a:rPr lang="en-US" sz="18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′</m:t>
                    </m:r>
                  </m:oMath>
                </a14:m>
                <a:r>
                  <a:rPr lang="en-US" sz="1800" dirty="0"/>
                  <a:t> </a:t>
                </a:r>
                <a:r>
                  <a:rPr lang="en-US" sz="1800" dirty="0">
                    <a:sym typeface="Wingdings" pitchFamily="2" charset="2"/>
                  </a:rPr>
                  <a:t> </a:t>
                </a:r>
                <a:r>
                  <a:rPr lang="en-US" sz="1800" dirty="0">
                    <a:solidFill>
                      <a:schemeClr val="accent2">
                        <a:lumMod val="75000"/>
                      </a:schemeClr>
                    </a:solidFill>
                  </a:rPr>
                  <a:t>mate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𝒘</m:t>
                    </m:r>
                  </m:oMath>
                </a14:m>
                <a:r>
                  <a:rPr lang="en-US" sz="1800" dirty="0"/>
                  <a:t>);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 If(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𝒘</m:t>
                    </m:r>
                  </m:oMath>
                </a14:m>
                <a:r>
                  <a:rPr lang="en-US" sz="1800" dirty="0"/>
                  <a:t> prefers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𝒎</m:t>
                    </m:r>
                  </m:oMath>
                </a14:m>
                <a:r>
                  <a:rPr lang="en-US" sz="1800" dirty="0"/>
                  <a:t> to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𝒎</m:t>
                    </m:r>
                    <m:r>
                      <a:rPr lang="en-US" sz="18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′</m:t>
                    </m:r>
                  </m:oMath>
                </a14:m>
                <a:r>
                  <a:rPr lang="en-US" sz="1800" dirty="0"/>
                  <a:t>) 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           {    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𝒘</m:t>
                    </m:r>
                    <m:r>
                      <a:rPr lang="en-US" sz="1800" i="1">
                        <a:latin typeface="Cambria Math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 sz="1800" b="1" dirty="0"/>
                  <a:t>rejects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𝒎</m:t>
                    </m:r>
                    <m:r>
                      <a:rPr lang="en-US" sz="18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′</m:t>
                    </m:r>
                  </m:oMath>
                </a14:m>
                <a:r>
                  <a:rPr lang="en-US" sz="1800" dirty="0"/>
                  <a:t>;</a:t>
                </a:r>
              </a:p>
              <a:p>
                <a:pPr marL="0" indent="0">
                  <a:buNone/>
                </a:pPr>
                <a:r>
                  <a:rPr lang="en-US" sz="1800" dirty="0"/>
                  <a:t>	  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𝒎</m:t>
                    </m:r>
                    <m:r>
                      <a:rPr lang="en-US" sz="1800" b="1" i="1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′</m:t>
                    </m:r>
                  </m:oMath>
                </a14:m>
                <a:r>
                  <a:rPr lang="en-US" sz="1800" dirty="0"/>
                  <a:t> goes back to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𝑺</m:t>
                    </m:r>
                  </m:oMath>
                </a14:m>
                <a:r>
                  <a:rPr lang="en-US" sz="1800" dirty="0"/>
                  <a:t>;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       </a:t>
                </a:r>
                <a:r>
                  <a:rPr lang="en-US" sz="1800" dirty="0">
                    <a:solidFill>
                      <a:schemeClr val="accent2">
                        <a:lumMod val="75000"/>
                      </a:schemeClr>
                    </a:solidFill>
                  </a:rPr>
                  <a:t>mate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𝒘</m:t>
                    </m:r>
                  </m:oMath>
                </a14:m>
                <a:r>
                  <a:rPr lang="en-US" sz="1800" dirty="0"/>
                  <a:t>) </a:t>
                </a:r>
                <a:r>
                  <a:rPr lang="en-US" sz="18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𝒎</m:t>
                    </m:r>
                  </m:oMath>
                </a14:m>
                <a:r>
                  <a:rPr lang="en-US" sz="1800" dirty="0"/>
                  <a:t>;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                     remove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𝒘</m:t>
                    </m:r>
                    <m:r>
                      <a:rPr lang="en-US" sz="18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 sz="1800" dirty="0"/>
                  <a:t>from</a:t>
                </a:r>
                <a:r>
                  <a:rPr lang="en-US" sz="1800" b="1" dirty="0"/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B050"/>
                        </a:solidFill>
                        <a:latin typeface="Cambria Math"/>
                        <a:sym typeface="Wingdings" pitchFamily="2" charset="2"/>
                      </a:rPr>
                      <m:t>𝑳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/>
                        <a:sym typeface="Wingdings" pitchFamily="2" charset="2"/>
                      </a:rPr>
                      <m:t>𝒎</m:t>
                    </m:r>
                    <m:r>
                      <a:rPr lang="en-US" sz="1800" b="1" i="1" smtClean="0">
                        <a:latin typeface="Cambria Math"/>
                        <a:sym typeface="Wingdings" pitchFamily="2" charset="2"/>
                      </a:rPr>
                      <m:t>′</m:t>
                    </m:r>
                  </m:oMath>
                </a14:m>
                <a:r>
                  <a:rPr lang="en-US" sz="1800" dirty="0"/>
                  <a:t>);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 }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else  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              </a:t>
                </a:r>
                <a:r>
                  <a:rPr lang="en-US" sz="1800" dirty="0"/>
                  <a:t>{</a:t>
                </a:r>
                <a:r>
                  <a:rPr lang="en-US" sz="1800" b="1" dirty="0"/>
                  <a:t>      remove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𝒘</m:t>
                    </m:r>
                    <m:r>
                      <a:rPr lang="en-US" sz="18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 sz="1800" dirty="0"/>
                  <a:t>from</a:t>
                </a:r>
                <a:r>
                  <a:rPr lang="en-US" sz="1800" b="1" dirty="0"/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B050"/>
                        </a:solidFill>
                        <a:latin typeface="Cambria Math"/>
                        <a:sym typeface="Wingdings" pitchFamily="2" charset="2"/>
                      </a:rPr>
                      <m:t>𝑳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/>
                        <a:sym typeface="Wingdings" pitchFamily="2" charset="2"/>
                      </a:rPr>
                      <m:t>𝒎</m:t>
                    </m:r>
                  </m:oMath>
                </a14:m>
                <a:r>
                  <a:rPr lang="en-US" sz="1800" dirty="0"/>
                  <a:t>);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        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𝒎</m:t>
                    </m:r>
                  </m:oMath>
                </a14:m>
                <a:r>
                  <a:rPr lang="en-US" sz="1800" dirty="0"/>
                  <a:t> goes back to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𝑺</m:t>
                    </m:r>
                  </m:oMath>
                </a14:m>
                <a:r>
                  <a:rPr lang="en-US" sz="1800" dirty="0"/>
                  <a:t>;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 }	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}</a:t>
                </a:r>
              </a:p>
              <a:p>
                <a:pPr marL="0" indent="0">
                  <a:buNone/>
                </a:pPr>
                <a:r>
                  <a:rPr lang="en-US" sz="18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914400"/>
                <a:ext cx="4038600" cy="5867400"/>
              </a:xfrm>
              <a:blipFill>
                <a:blip r:embed="rId3"/>
                <a:stretch>
                  <a:fillRect l="-940" t="-10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424987" y="1600200"/>
                <a:ext cx="5100013" cy="4525963"/>
              </a:xfrm>
              <a:ln>
                <a:solidFill>
                  <a:schemeClr val="tx1"/>
                </a:solidFill>
              </a:ln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1600" dirty="0"/>
                  <a:t>: Does the algorithm terminate ?</a:t>
                </a:r>
              </a:p>
              <a:p>
                <a:pPr marL="0" indent="0">
                  <a:buNone/>
                </a:pPr>
                <a:r>
                  <a:rPr lang="en-US" sz="1600" dirty="0"/>
                  <a:t>Answer: </a:t>
                </a:r>
                <a:r>
                  <a:rPr lang="en-US" sz="1600" b="1" dirty="0">
                    <a:solidFill>
                      <a:srgbClr val="009900"/>
                    </a:solidFill>
                  </a:rPr>
                  <a:t>Yes</a:t>
                </a:r>
                <a:r>
                  <a:rPr lang="en-US" sz="1600" dirty="0"/>
                  <a:t> </a:t>
                </a:r>
              </a:p>
              <a:p>
                <a:pPr marL="0" indent="0">
                  <a:buNone/>
                </a:pPr>
                <a:r>
                  <a:rPr lang="en-US" sz="1600" dirty="0"/>
                  <a:t>                (in </a:t>
                </a:r>
                <a:r>
                  <a:rPr lang="en-US" sz="1600" b="1" dirty="0"/>
                  <a:t>O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/>
                            <a:sym typeface="Wingdings" pitchFamily="2" charset="2"/>
                          </a:rPr>
                          <m:t>𝒏</m:t>
                        </m:r>
                      </m:e>
                      <m:sup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/>
                            <a:sym typeface="Wingdings" pitchFamily="2" charset="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600" dirty="0"/>
                  <a:t>) iterations)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   </a:t>
                </a:r>
              </a:p>
              <a:p>
                <a:pPr marL="0" indent="0">
                  <a:buNone/>
                </a:pPr>
                <a:r>
                  <a:rPr lang="en-US" sz="1600" dirty="0"/>
                  <a:t>In each iteration : </a:t>
                </a:r>
              </a:p>
              <a:p>
                <a:pPr marL="0" indent="0">
                  <a:buNone/>
                </a:pPr>
                <a:r>
                  <a:rPr lang="en-US" sz="1600" b="1" dirty="0"/>
                  <a:t>Either</a:t>
                </a:r>
                <a:r>
                  <a:rPr lang="en-US" sz="1600" dirty="0"/>
                  <a:t>  </a:t>
                </a:r>
              </a:p>
              <a:p>
                <a:pPr marL="0" indent="0">
                  <a:buNone/>
                </a:pPr>
                <a:r>
                  <a:rPr lang="en-US" sz="1600" b="0" dirty="0">
                    <a:solidFill>
                      <a:srgbClr val="002060"/>
                    </a:solidFill>
                    <a:sym typeface="Wingdings" pitchFamily="2" charset="2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|</m:t>
                    </m:r>
                    <m:r>
                      <a:rPr lang="en-US" sz="16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𝑺</m:t>
                    </m:r>
                    <m:r>
                      <a:rPr lang="en-US" sz="16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|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u="sng" dirty="0"/>
                  <a:t>decreases</a:t>
                </a:r>
                <a:r>
                  <a:rPr lang="en-US" sz="1600" dirty="0"/>
                  <a:t>               </a:t>
                </a:r>
              </a:p>
              <a:p>
                <a:pPr marL="0" indent="0">
                  <a:buNone/>
                </a:pPr>
                <a:r>
                  <a:rPr lang="en-US" sz="1600" dirty="0"/>
                  <a:t> </a:t>
                </a:r>
                <a:r>
                  <a:rPr lang="en-US" sz="1600" b="1" dirty="0"/>
                  <a:t>OR</a:t>
                </a:r>
              </a:p>
              <a:p>
                <a:pPr marL="0" indent="0">
                  <a:buNone/>
                </a:pPr>
                <a:r>
                  <a:rPr lang="en-US" sz="1600" dirty="0"/>
                  <a:t>     some woman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𝒘</m:t>
                    </m:r>
                    <m:r>
                      <a:rPr lang="en-US" sz="16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 sz="1600" dirty="0"/>
                  <a:t>is </a:t>
                </a:r>
                <a:r>
                  <a:rPr lang="en-US" sz="1600" u="sng" dirty="0"/>
                  <a:t>removed</a:t>
                </a:r>
                <a:r>
                  <a:rPr lang="en-US" sz="1600" dirty="0"/>
                  <a:t> from</a:t>
                </a:r>
                <a:r>
                  <a:rPr lang="en-US" sz="1600" b="1" dirty="0"/>
                  <a:t>  pref. list </a:t>
                </a:r>
                <a:r>
                  <a:rPr lang="en-US" sz="1600" dirty="0"/>
                  <a:t>of some man.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7030A0"/>
                    </a:solidFill>
                  </a:rPr>
                  <a:t>Observations</a:t>
                </a:r>
                <a:r>
                  <a:rPr lang="en-US" sz="1600" dirty="0"/>
                  <a:t>: </a:t>
                </a:r>
              </a:p>
              <a:p>
                <a:r>
                  <a:rPr lang="en-US" sz="1600" dirty="0"/>
                  <a:t>A man </a:t>
                </a:r>
                <a:r>
                  <a:rPr lang="en-US" sz="1600" u="sng" dirty="0"/>
                  <a:t>never </a:t>
                </a:r>
                <a:r>
                  <a:rPr lang="en-US" sz="1600" dirty="0"/>
                  <a:t>proposes to a woman </a:t>
                </a:r>
                <a:r>
                  <a:rPr lang="en-US" sz="1600" u="sng" dirty="0"/>
                  <a:t>twice</a:t>
                </a:r>
                <a:r>
                  <a:rPr lang="en-US" sz="1600" dirty="0"/>
                  <a:t>.</a:t>
                </a:r>
              </a:p>
              <a:p>
                <a:r>
                  <a:rPr lang="en-US" sz="1600" dirty="0"/>
                  <a:t>A woman, once engaged, remains always engaged.</a:t>
                </a:r>
              </a:p>
              <a:p>
                <a:r>
                  <a:rPr lang="en-US" sz="1600" dirty="0"/>
                  <a:t>Each new engagement gives a woman a better partner.</a:t>
                </a:r>
              </a:p>
              <a:p>
                <a:pPr marL="0" indent="0"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424987" y="1600200"/>
                <a:ext cx="5100013" cy="4525963"/>
              </a:xfrm>
              <a:blipFill>
                <a:blip r:embed="rId4"/>
                <a:stretch>
                  <a:fillRect l="-496" t="-83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05000" y="2345323"/>
                <a:ext cx="143892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  <a:t>mate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𝒘</m:t>
                    </m:r>
                  </m:oMath>
                </a14:m>
                <a:r>
                  <a:rPr lang="en-US" sz="1600" dirty="0"/>
                  <a:t>) </a:t>
                </a:r>
                <a:r>
                  <a:rPr lang="en-US" sz="16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𝒎</m:t>
                    </m:r>
                  </m:oMath>
                </a14:m>
                <a:r>
                  <a:rPr lang="en-US" sz="1600" dirty="0"/>
                  <a:t>;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345323"/>
                <a:ext cx="1438920" cy="338554"/>
              </a:xfrm>
              <a:prstGeom prst="rect">
                <a:avLst/>
              </a:prstGeom>
              <a:blipFill>
                <a:blip r:embed="rId5"/>
                <a:stretch>
                  <a:fillRect l="-2542" t="-7273" r="-1271" b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447800" y="3200400"/>
                <a:ext cx="2563330" cy="338554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in list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B050"/>
                        </a:solidFill>
                        <a:latin typeface="Cambria Math"/>
                        <a:sym typeface="Wingdings" pitchFamily="2" charset="2"/>
                      </a:rPr>
                      <m:t>𝑳</m:t>
                    </m:r>
                    <m:r>
                      <a:rPr lang="en-US" sz="1600" b="1" i="1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(</m:t>
                    </m:r>
                    <m:r>
                      <a:rPr lang="en-US" sz="16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𝒘</m:t>
                    </m:r>
                    <m:r>
                      <a:rPr lang="en-US" sz="1600" b="1" i="1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𝒎</m:t>
                    </m:r>
                    <m:r>
                      <a:rPr lang="en-US" sz="1600" b="1" i="1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 sz="1600" dirty="0"/>
                  <a:t>precedes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𝒎</m:t>
                    </m:r>
                    <m:r>
                      <a:rPr lang="en-US" sz="16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′</m:t>
                    </m:r>
                  </m:oMath>
                </a14:m>
                <a:r>
                  <a:rPr lang="en-US" sz="1600" dirty="0"/>
                  <a:t>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3200400"/>
                <a:ext cx="2563330" cy="338554"/>
              </a:xfrm>
              <a:prstGeom prst="rect">
                <a:avLst/>
              </a:prstGeom>
              <a:blipFill>
                <a:blip r:embed="rId6"/>
                <a:stretch>
                  <a:fillRect l="-1429" t="-5357" r="-476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loud Callout 10"/>
          <p:cNvSpPr/>
          <p:nvPr/>
        </p:nvSpPr>
        <p:spPr>
          <a:xfrm>
            <a:off x="7010400" y="2514600"/>
            <a:ext cx="1981200" cy="609600"/>
          </a:xfrm>
          <a:prstGeom prst="cloudCallout">
            <a:avLst>
              <a:gd name="adj1" fmla="val -23325"/>
              <a:gd name="adj2" fmla="val 7672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Any measure of progress ?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5FBF478-4A44-3648-AA49-E67F7CA419CE}"/>
              </a:ext>
            </a:extLst>
          </p:cNvPr>
          <p:cNvSpPr/>
          <p:nvPr/>
        </p:nvSpPr>
        <p:spPr>
          <a:xfrm>
            <a:off x="762000" y="2315661"/>
            <a:ext cx="2743200" cy="3385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2938904-606B-C349-BC52-22B22892405D}"/>
              </a:ext>
            </a:extLst>
          </p:cNvPr>
          <p:cNvSpPr/>
          <p:nvPr/>
        </p:nvSpPr>
        <p:spPr>
          <a:xfrm>
            <a:off x="1443836" y="4297361"/>
            <a:ext cx="2743200" cy="3385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99FD903-009C-814E-BF2B-EEDE8DEC94A6}"/>
              </a:ext>
            </a:extLst>
          </p:cNvPr>
          <p:cNvSpPr/>
          <p:nvPr/>
        </p:nvSpPr>
        <p:spPr>
          <a:xfrm>
            <a:off x="1447800" y="5181600"/>
            <a:ext cx="2743200" cy="3385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FDB7A2-9910-9969-64BA-091FB6FBB50B}"/>
              </a:ext>
            </a:extLst>
          </p:cNvPr>
          <p:cNvSpPr/>
          <p:nvPr/>
        </p:nvSpPr>
        <p:spPr>
          <a:xfrm>
            <a:off x="6858000" y="3803267"/>
            <a:ext cx="3962400" cy="4571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122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1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1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1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1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1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1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1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1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2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20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20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20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05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uiExpand="1" build="p"/>
      <p:bldP spid="6" grpId="0" uiExpand="1" build="p" animBg="1"/>
      <p:bldP spid="7" grpId="0"/>
      <p:bldP spid="8" grpId="0" animBg="1"/>
      <p:bldP spid="11" grpId="0" uiExpand="1" animBg="1"/>
      <p:bldP spid="11" grpId="1" uiExpand="1" animBg="1"/>
      <p:bldP spid="2" grpId="0" animBg="1"/>
      <p:bldP spid="2" grpId="1" animBg="1"/>
      <p:bldP spid="10" grpId="0" animBg="1"/>
      <p:bldP spid="10" grpId="1" animBg="1"/>
      <p:bldP spid="12" grpId="0" animBg="1"/>
      <p:bldP spid="12" grpId="1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0"/>
                <a:ext cx="8229600" cy="1143000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3600" b="1" dirty="0">
                    <a:solidFill>
                      <a:srgbClr val="0070C0"/>
                    </a:solidFill>
                  </a:rPr>
                  <a:t>GaleShapley</a:t>
                </a:r>
                <a:r>
                  <a:rPr lang="en-US" sz="3600" dirty="0"/>
                  <a:t>(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𝑴</m:t>
                    </m:r>
                  </m:oMath>
                </a14:m>
                <a:r>
                  <a:rPr lang="en-US" sz="3600" dirty="0"/>
                  <a:t>,</a:t>
                </a:r>
                <a:r>
                  <a:rPr lang="en-US" sz="3600" b="1" dirty="0">
                    <a:solidFill>
                      <a:srgbClr val="002060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𝑾</m:t>
                    </m:r>
                  </m:oMath>
                </a14:m>
                <a:r>
                  <a:rPr lang="en-US" sz="3600" dirty="0"/>
                  <a:t>)</a:t>
                </a:r>
                <a:br>
                  <a:rPr lang="en-US" sz="3600" dirty="0"/>
                </a:br>
                <a:r>
                  <a:rPr lang="en-US" sz="3600" dirty="0"/>
                  <a:t>(Proof of stability)</a:t>
                </a:r>
                <a:endParaRPr lang="en-US" sz="36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0"/>
                <a:ext cx="8229600" cy="1143000"/>
              </a:xfrm>
              <a:blipFill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1143000"/>
                <a:ext cx="8610600" cy="5638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Lemma</a:t>
                </a:r>
                <a:r>
                  <a:rPr lang="en-US" sz="1800" b="0" dirty="0"/>
                  <a:t> : 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   </a:t>
                </a:r>
                <a:r>
                  <a:rPr lang="en-US" sz="1800" b="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 prefers</a:t>
                </a:r>
                <a:r>
                  <a:rPr lang="en-US" sz="1800" b="0" dirty="0">
                    <a:solidFill>
                      <a:srgbClr val="9900CC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             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800" dirty="0"/>
                  <a:t> prefers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.</a:t>
                </a:r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006C31"/>
                    </a:solidFill>
                  </a:rPr>
                  <a:t>Homework: </a:t>
                </a:r>
                <a:r>
                  <a:rPr lang="en-US" sz="1800" dirty="0"/>
                  <a:t>Prove the lemma stated above.</a:t>
                </a:r>
                <a:endParaRPr lang="en-US" sz="1800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1143000"/>
                <a:ext cx="8610600" cy="5638800"/>
              </a:xfrm>
              <a:blipFill>
                <a:blip r:embed="rId3"/>
                <a:stretch>
                  <a:fillRect l="-637" t="-6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1524000" y="2350532"/>
            <a:ext cx="474424" cy="1740932"/>
            <a:chOff x="1524000" y="2971800"/>
            <a:chExt cx="474424" cy="17409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1524000" y="2971800"/>
                  <a:ext cx="474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2971800"/>
                  <a:ext cx="47442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1538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900CC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0" y="4343400"/>
                  <a:ext cx="47442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538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/>
          <p:cNvGrpSpPr/>
          <p:nvPr/>
        </p:nvGrpSpPr>
        <p:grpSpPr>
          <a:xfrm>
            <a:off x="6172200" y="2286000"/>
            <a:ext cx="548612" cy="1751578"/>
            <a:chOff x="6172200" y="2907268"/>
            <a:chExt cx="548612" cy="17515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6172200" y="2907268"/>
                  <a:ext cx="5486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907268"/>
                  <a:ext cx="548612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573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4267200"/>
                  <a:ext cx="504882" cy="391646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6250" r="-15854" b="-203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" name="Straight Arrow Connector 9"/>
          <p:cNvCxnSpPr/>
          <p:nvPr/>
        </p:nvCxnSpPr>
        <p:spPr>
          <a:xfrm>
            <a:off x="2667000" y="2535198"/>
            <a:ext cx="2934862" cy="5834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2667000" y="3874532"/>
            <a:ext cx="2895600" cy="0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 rot="21228949">
            <a:off x="4953000" y="3417332"/>
            <a:ext cx="463289" cy="433965"/>
            <a:chOff x="1880004" y="3568439"/>
            <a:chExt cx="463289" cy="433965"/>
          </a:xfrm>
        </p:grpSpPr>
        <p:sp>
          <p:nvSpPr>
            <p:cNvPr id="51" name="Chevron 50"/>
            <p:cNvSpPr/>
            <p:nvPr/>
          </p:nvSpPr>
          <p:spPr>
            <a:xfrm rot="1824820" flipH="1">
              <a:off x="2032404" y="3659730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Chevron 51"/>
            <p:cNvSpPr/>
            <p:nvPr/>
          </p:nvSpPr>
          <p:spPr>
            <a:xfrm rot="1824820" flipH="1">
              <a:off x="2184804" y="3757035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" name="Chevron 53"/>
            <p:cNvSpPr/>
            <p:nvPr/>
          </p:nvSpPr>
          <p:spPr>
            <a:xfrm rot="1824820" flipH="1">
              <a:off x="1880004" y="3568439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56" name="Straight Connector 55"/>
          <p:cNvCxnSpPr/>
          <p:nvPr/>
        </p:nvCxnSpPr>
        <p:spPr>
          <a:xfrm>
            <a:off x="2611204" y="2675736"/>
            <a:ext cx="2990658" cy="1145831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2286000" y="2350532"/>
            <a:ext cx="3657600" cy="1752600"/>
            <a:chOff x="2286000" y="2971800"/>
            <a:chExt cx="3657600" cy="1752600"/>
          </a:xfrm>
        </p:grpSpPr>
        <p:grpSp>
          <p:nvGrpSpPr>
            <p:cNvPr id="45" name="Group 44"/>
            <p:cNvGrpSpPr/>
            <p:nvPr/>
          </p:nvGrpSpPr>
          <p:grpSpPr>
            <a:xfrm>
              <a:off x="2286000" y="2971800"/>
              <a:ext cx="381000" cy="1752600"/>
              <a:chOff x="2286000" y="2971800"/>
              <a:chExt cx="381000" cy="1752600"/>
            </a:xfrm>
          </p:grpSpPr>
          <p:sp>
            <p:nvSpPr>
              <p:cNvPr id="8" name="Smiley Face 7"/>
              <p:cNvSpPr/>
              <p:nvPr/>
            </p:nvSpPr>
            <p:spPr>
              <a:xfrm>
                <a:off x="2286000" y="2971800"/>
                <a:ext cx="381000" cy="381000"/>
              </a:xfrm>
              <a:prstGeom prst="smileyFace">
                <a:avLst>
                  <a:gd name="adj" fmla="val 179"/>
                </a:avLst>
              </a:prstGeom>
              <a:solidFill>
                <a:srgbClr val="EFAAF4"/>
              </a:solidFill>
              <a:ln w="19050">
                <a:solidFill>
                  <a:srgbClr val="FF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Smiley Face 26"/>
              <p:cNvSpPr/>
              <p:nvPr/>
            </p:nvSpPr>
            <p:spPr>
              <a:xfrm>
                <a:off x="2286000" y="4343400"/>
                <a:ext cx="381000" cy="381000"/>
              </a:xfrm>
              <a:prstGeom prst="smileyFace">
                <a:avLst>
                  <a:gd name="adj" fmla="val 179"/>
                </a:avLst>
              </a:prstGeom>
              <a:solidFill>
                <a:srgbClr val="EFAAF4"/>
              </a:solidFill>
              <a:ln w="19050">
                <a:solidFill>
                  <a:srgbClr val="FF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5562600" y="2971800"/>
              <a:ext cx="381000" cy="1676400"/>
              <a:chOff x="5562600" y="2971800"/>
              <a:chExt cx="381000" cy="1676400"/>
            </a:xfrm>
          </p:grpSpPr>
          <p:sp>
            <p:nvSpPr>
              <p:cNvPr id="34" name="Smiley Face 33"/>
              <p:cNvSpPr/>
              <p:nvPr/>
            </p:nvSpPr>
            <p:spPr>
              <a:xfrm>
                <a:off x="5562600" y="2971800"/>
                <a:ext cx="381000" cy="381000"/>
              </a:xfrm>
              <a:prstGeom prst="smileyFace">
                <a:avLst>
                  <a:gd name="adj" fmla="val 179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Smiley Face 38"/>
              <p:cNvSpPr/>
              <p:nvPr/>
            </p:nvSpPr>
            <p:spPr>
              <a:xfrm>
                <a:off x="5562600" y="4267200"/>
                <a:ext cx="381000" cy="381000"/>
              </a:xfrm>
              <a:prstGeom prst="smileyFace">
                <a:avLst>
                  <a:gd name="adj" fmla="val 179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5" name="Oval 34"/>
            <p:cNvSpPr/>
            <p:nvPr/>
          </p:nvSpPr>
          <p:spPr>
            <a:xfrm>
              <a:off x="2438400" y="4038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2438400" y="35814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2438400" y="38100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5715000" y="39624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5715000" y="35052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5715000" y="37338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49368E7-4B48-E2A0-FA06-75EA35188716}"/>
              </a:ext>
            </a:extLst>
          </p:cNvPr>
          <p:cNvSpPr txBox="1"/>
          <p:nvPr/>
        </p:nvSpPr>
        <p:spPr>
          <a:xfrm>
            <a:off x="122068" y="6200379"/>
            <a:ext cx="621105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Each new engagement gives a woman a </a:t>
            </a:r>
            <a:r>
              <a:rPr lang="en-US" sz="1800" b="1" dirty="0"/>
              <a:t>better partner (mate)</a:t>
            </a:r>
            <a:r>
              <a:rPr lang="en-US" sz="18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7C32D5-9C3F-9462-F201-4DB49E4345C2}"/>
              </a:ext>
            </a:extLst>
          </p:cNvPr>
          <p:cNvSpPr txBox="1"/>
          <p:nvPr/>
        </p:nvSpPr>
        <p:spPr>
          <a:xfrm>
            <a:off x="980584" y="1128799"/>
            <a:ext cx="4042389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There is no unstable pair in the marriage.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4E8B82-717C-87F2-E0DE-B6A133B6B062}"/>
              </a:ext>
            </a:extLst>
          </p:cNvPr>
          <p:cNvSpPr txBox="1"/>
          <p:nvPr/>
        </p:nvSpPr>
        <p:spPr>
          <a:xfrm>
            <a:off x="122068" y="5611377"/>
            <a:ext cx="4456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Hint</a:t>
            </a:r>
            <a:r>
              <a:rPr lang="en-US" dirty="0"/>
              <a:t>: Make use of the following observation. </a:t>
            </a:r>
            <a:endParaRPr lang="en-IN" dirty="0"/>
          </a:p>
        </p:txBody>
      </p:sp>
      <p:sp>
        <p:nvSpPr>
          <p:cNvPr id="12" name="Thought Bubble: Cloud 11">
            <a:extLst>
              <a:ext uri="{FF2B5EF4-FFF2-40B4-BE49-F238E27FC236}">
                <a16:creationId xmlns:a16="http://schemas.microsoft.com/office/drawing/2014/main" id="{C8D8F1E9-0B7E-466E-5FF7-FBB769256E95}"/>
              </a:ext>
            </a:extLst>
          </p:cNvPr>
          <p:cNvSpPr/>
          <p:nvPr/>
        </p:nvSpPr>
        <p:spPr>
          <a:xfrm>
            <a:off x="5061707" y="1128799"/>
            <a:ext cx="3929893" cy="855449"/>
          </a:xfrm>
          <a:prstGeom prst="cloudCallout">
            <a:avLst>
              <a:gd name="adj1" fmla="val 45834"/>
              <a:gd name="adj2" fmla="val 68353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to restate it so that we can prove it easily ?</a:t>
            </a:r>
            <a:endParaRPr lang="en-IN" dirty="0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F5F6FF9-03EE-A62C-4802-465645D3E0BA}"/>
              </a:ext>
            </a:extLst>
          </p:cNvPr>
          <p:cNvGrpSpPr/>
          <p:nvPr/>
        </p:nvGrpSpPr>
        <p:grpSpPr>
          <a:xfrm rot="20027145">
            <a:off x="2801182" y="2364141"/>
            <a:ext cx="461598" cy="372462"/>
            <a:chOff x="1228910" y="3301148"/>
            <a:chExt cx="461598" cy="372462"/>
          </a:xfrm>
        </p:grpSpPr>
        <p:sp>
          <p:nvSpPr>
            <p:cNvPr id="13" name="Chevron 11">
              <a:extLst>
                <a:ext uri="{FF2B5EF4-FFF2-40B4-BE49-F238E27FC236}">
                  <a16:creationId xmlns:a16="http://schemas.microsoft.com/office/drawing/2014/main" id="{6F047A56-9677-E62A-3FC1-6A126D175785}"/>
                </a:ext>
              </a:extLst>
            </p:cNvPr>
            <p:cNvSpPr/>
            <p:nvPr/>
          </p:nvSpPr>
          <p:spPr>
            <a:xfrm rot="1824820">
              <a:off x="1228910" y="3301148"/>
              <a:ext cx="156798" cy="220062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Chevron 48">
              <a:extLst>
                <a:ext uri="{FF2B5EF4-FFF2-40B4-BE49-F238E27FC236}">
                  <a16:creationId xmlns:a16="http://schemas.microsoft.com/office/drawing/2014/main" id="{C593397E-7D92-7E30-72F9-D30DB22B43A8}"/>
                </a:ext>
              </a:extLst>
            </p:cNvPr>
            <p:cNvSpPr/>
            <p:nvPr/>
          </p:nvSpPr>
          <p:spPr>
            <a:xfrm rot="1824820">
              <a:off x="1381310" y="3377348"/>
              <a:ext cx="156798" cy="220062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Chevron 49">
              <a:extLst>
                <a:ext uri="{FF2B5EF4-FFF2-40B4-BE49-F238E27FC236}">
                  <a16:creationId xmlns:a16="http://schemas.microsoft.com/office/drawing/2014/main" id="{55D7C03B-8FE0-D1B0-7B6A-ADE7E02D6385}"/>
                </a:ext>
              </a:extLst>
            </p:cNvPr>
            <p:cNvSpPr/>
            <p:nvPr/>
          </p:nvSpPr>
          <p:spPr>
            <a:xfrm rot="1824820">
              <a:off x="1533710" y="3453548"/>
              <a:ext cx="156798" cy="220062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1325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7" grpId="1" animBg="1"/>
      <p:bldP spid="9" grpId="0" animBg="1"/>
      <p:bldP spid="9" grpId="1" animBg="1"/>
      <p:bldP spid="11" grpId="0"/>
      <p:bldP spid="11" grpId="1" build="allAtOnce"/>
      <p:bldP spid="12" grpId="0" animBg="1"/>
      <p:bldP spid="12" grpId="1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12990</TotalTime>
  <Words>1392</Words>
  <Application>Microsoft Office PowerPoint</Application>
  <PresentationFormat>On-screen Show (4:3)</PresentationFormat>
  <Paragraphs>471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Bauhaus 93</vt:lpstr>
      <vt:lpstr>Calibri</vt:lpstr>
      <vt:lpstr>Cambria Math</vt:lpstr>
      <vt:lpstr>Wingdings</vt:lpstr>
      <vt:lpstr>Office Theme</vt:lpstr>
      <vt:lpstr>Design and Analysis of Algorithms </vt:lpstr>
      <vt:lpstr>Recap from Lecture 1</vt:lpstr>
      <vt:lpstr>PowerPoint Presentation</vt:lpstr>
      <vt:lpstr>Polynomial Evaluation Problem</vt:lpstr>
      <vt:lpstr>Question</vt:lpstr>
      <vt:lpstr>Complex numbers</vt:lpstr>
      <vt:lpstr>Complex roots of unity</vt:lpstr>
      <vt:lpstr>Complex roots of unity</vt:lpstr>
      <vt:lpstr>Complex roots of unity</vt:lpstr>
      <vt:lpstr>The Recursion Tree </vt:lpstr>
      <vt:lpstr>PowerPoint Presentation</vt:lpstr>
      <vt:lpstr>Interpolation</vt:lpstr>
      <vt:lpstr>Interpolation</vt:lpstr>
      <vt:lpstr>Interpolation</vt:lpstr>
      <vt:lpstr>A Tool  you might find helpful</vt:lpstr>
      <vt:lpstr>PowerPoint Presentation</vt:lpstr>
      <vt:lpstr>Stable Marriage Problem </vt:lpstr>
      <vt:lpstr>Stable Marriage Problem </vt:lpstr>
      <vt:lpstr>Stable Marriage Problem </vt:lpstr>
      <vt:lpstr>Stable Marriage Problem </vt:lpstr>
      <vt:lpstr>Stable Marriage Problem </vt:lpstr>
      <vt:lpstr>Algorithm for Stable Marriage</vt:lpstr>
      <vt:lpstr>Man proposes, Woman disposes    </vt:lpstr>
      <vt:lpstr>Design the algorithm now …</vt:lpstr>
      <vt:lpstr>GaleShapley(M, W) </vt:lpstr>
      <vt:lpstr>GaleShapley(M, W) (Proof of stability)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Surender Baswana</cp:lastModifiedBy>
  <cp:revision>1255</cp:revision>
  <dcterms:created xsi:type="dcterms:W3CDTF">2011-12-03T04:13:03Z</dcterms:created>
  <dcterms:modified xsi:type="dcterms:W3CDTF">2025-08-11T05:09:25Z</dcterms:modified>
</cp:coreProperties>
</file>