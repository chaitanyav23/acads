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8"/>
  </p:notesMasterIdLst>
  <p:sldIdLst>
    <p:sldId id="492" r:id="rId2"/>
    <p:sldId id="527" r:id="rId3"/>
    <p:sldId id="533" r:id="rId4"/>
    <p:sldId id="358" r:id="rId5"/>
    <p:sldId id="484" r:id="rId6"/>
    <p:sldId id="426" r:id="rId7"/>
    <p:sldId id="543" r:id="rId8"/>
    <p:sldId id="504" r:id="rId9"/>
    <p:sldId id="487" r:id="rId10"/>
    <p:sldId id="432" r:id="rId11"/>
    <p:sldId id="508" r:id="rId12"/>
    <p:sldId id="505" r:id="rId13"/>
    <p:sldId id="453" r:id="rId14"/>
    <p:sldId id="459" r:id="rId15"/>
    <p:sldId id="399" r:id="rId16"/>
    <p:sldId id="519" r:id="rId17"/>
    <p:sldId id="520" r:id="rId18"/>
    <p:sldId id="521" r:id="rId19"/>
    <p:sldId id="522" r:id="rId20"/>
    <p:sldId id="465" r:id="rId21"/>
    <p:sldId id="383" r:id="rId22"/>
    <p:sldId id="425" r:id="rId23"/>
    <p:sldId id="456" r:id="rId24"/>
    <p:sldId id="537" r:id="rId25"/>
    <p:sldId id="546" r:id="rId26"/>
    <p:sldId id="590" r:id="rId27"/>
    <p:sldId id="549" r:id="rId28"/>
    <p:sldId id="578" r:id="rId29"/>
    <p:sldId id="579" r:id="rId30"/>
    <p:sldId id="580" r:id="rId31"/>
    <p:sldId id="581" r:id="rId32"/>
    <p:sldId id="573" r:id="rId33"/>
    <p:sldId id="555" r:id="rId34"/>
    <p:sldId id="574" r:id="rId35"/>
    <p:sldId id="544" r:id="rId36"/>
    <p:sldId id="600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34" autoAdjust="0"/>
    <p:restoredTop sz="94640" autoAdjust="0"/>
  </p:normalViewPr>
  <p:slideViewPr>
    <p:cSldViewPr>
      <p:cViewPr varScale="1">
        <p:scale>
          <a:sx n="106" d="100"/>
          <a:sy n="106" d="100"/>
        </p:scale>
        <p:origin x="192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1336-CC4A-4C0F-B09C-C5CBA464BE7A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EC465-8393-41C9-A06D-CEF1E64A5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29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1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8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9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2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8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048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2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9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98CE3-B467-467A-AAD5-9E1908479625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1ACDA-D648-4719-8CCF-388E5A063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2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8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7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1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21" Type="http://schemas.openxmlformats.org/officeDocument/2006/relationships/image" Target="../media/image28.png"/><Relationship Id="rId7" Type="http://schemas.openxmlformats.org/officeDocument/2006/relationships/image" Target="../media/image24.png"/><Relationship Id="rId17" Type="http://schemas.openxmlformats.org/officeDocument/2006/relationships/image" Target="../media/image90.png"/><Relationship Id="rId2" Type="http://schemas.openxmlformats.org/officeDocument/2006/relationships/image" Target="../media/image22.png"/><Relationship Id="rId16" Type="http://schemas.openxmlformats.org/officeDocument/2006/relationships/image" Target="../media/image80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1.png"/><Relationship Id="rId4" Type="http://schemas.openxmlformats.org/officeDocument/2006/relationships/image" Target="../media/image212.png"/><Relationship Id="rId22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52.png"/><Relationship Id="rId18" Type="http://schemas.openxmlformats.org/officeDocument/2006/relationships/image" Target="../media/image100.png"/><Relationship Id="rId12" Type="http://schemas.openxmlformats.org/officeDocument/2006/relationships/image" Target="../media/image410.png"/><Relationship Id="rId17" Type="http://schemas.openxmlformats.org/officeDocument/2006/relationships/image" Target="../media/image90.png"/><Relationship Id="rId7" Type="http://schemas.openxmlformats.org/officeDocument/2006/relationships/image" Target="../media/image35.png"/><Relationship Id="rId2" Type="http://schemas.openxmlformats.org/officeDocument/2006/relationships/image" Target="../media/image27.png"/><Relationship Id="rId16" Type="http://schemas.openxmlformats.org/officeDocument/2006/relationships/image" Target="../media/image80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9.png"/><Relationship Id="rId6" Type="http://schemas.openxmlformats.org/officeDocument/2006/relationships/image" Target="../media/image34.png"/><Relationship Id="rId15" Type="http://schemas.openxmlformats.org/officeDocument/2006/relationships/image" Target="../media/image70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19" Type="http://schemas.openxmlformats.org/officeDocument/2006/relationships/image" Target="../media/image160.png"/><Relationship Id="rId9" Type="http://schemas.openxmlformats.org/officeDocument/2006/relationships/image" Target="../media/image37.png"/><Relationship Id="rId14" Type="http://schemas.openxmlformats.org/officeDocument/2006/relationships/image" Target="../media/image65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29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62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14 </a:t>
            </a:r>
          </a:p>
          <a:p>
            <a:pPr>
              <a:defRPr/>
            </a:pPr>
            <a:r>
              <a:rPr lang="en-US" sz="2400" b="1" dirty="0">
                <a:solidFill>
                  <a:srgbClr val="7030A0"/>
                </a:solidFill>
              </a:rPr>
              <a:t>Depth First Search in Directed Graph - 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                 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7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FBA22F-6FC8-5D42-8AC5-A912A180A4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Recap</a:t>
            </a:r>
            <a:r>
              <a:rPr lang="en-US" b="1" dirty="0"/>
              <a:t> of the last lecture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48C61D0-144A-944F-BA18-148FCC6642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9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F2767-5F63-CD4B-D3B8-E912AD483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DFS </a:t>
            </a:r>
            <a:r>
              <a:rPr lang="en-US" sz="3600" b="1" dirty="0"/>
              <a:t>traversal in </a:t>
            </a:r>
            <a:r>
              <a:rPr lang="en-US" sz="3600" b="1" u="sng" dirty="0"/>
              <a:t>directed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5CEDF-3689-D5C5-5CC4-230C95E86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recursive</a:t>
                </a:r>
                <a:r>
                  <a:rPr lang="en-US" sz="2400" dirty="0"/>
                  <a:t> algorithm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ym typeface="Wingdings" pitchFamily="2" charset="2"/>
                  </a:rPr>
                  <a:t>For each vertex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IN" sz="2400" dirty="0"/>
                  <a:t>,</a:t>
                </a:r>
              </a:p>
              <a:p>
                <a:endParaRPr lang="en-IN" sz="2400" dirty="0"/>
              </a:p>
              <a:p>
                <a:pPr lvl="1"/>
                <a:r>
                  <a:rPr lang="en-US" sz="2000" b="1" dirty="0"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: start time of </a:t>
                </a:r>
                <a:r>
                  <a:rPr lang="en-US" sz="2000" b="1" dirty="0">
                    <a:sym typeface="Wingdings" pitchFamily="2" charset="2"/>
                  </a:rPr>
                  <a:t>DFS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lvl="1"/>
                <a:endParaRPr lang="en-US" sz="2000" dirty="0">
                  <a:sym typeface="Wingdings" pitchFamily="2" charset="2"/>
                </a:endParaRPr>
              </a:p>
              <a:p>
                <a:pPr lvl="1"/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0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]  : Finish time of </a:t>
                </a:r>
                <a:r>
                  <a:rPr lang="en-US" sz="2000" b="1" dirty="0">
                    <a:sym typeface="Wingdings" pitchFamily="2" charset="2"/>
                  </a:rPr>
                  <a:t>DFS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lvl="1"/>
                <a:endParaRPr lang="en-IN" sz="2000" dirty="0"/>
              </a:p>
              <a:p>
                <a:r>
                  <a:rPr lang="en-IN" sz="2400" dirty="0"/>
                  <a:t>Interestingly and surprisingly, these two parameters play  </a:t>
                </a:r>
              </a:p>
              <a:p>
                <a:pPr marL="0" indent="0">
                  <a:buNone/>
                </a:pPr>
                <a:r>
                  <a:rPr lang="en-IN" sz="2400" dirty="0"/>
                  <a:t>     crucial role in various algorithms.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45CEDF-3689-D5C5-5CC4-230C95E86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FF82537-1A16-F9F7-B339-88601ADC28E2}"/>
              </a:ext>
            </a:extLst>
          </p:cNvPr>
          <p:cNvSpPr/>
          <p:nvPr/>
        </p:nvSpPr>
        <p:spPr>
          <a:xfrm>
            <a:off x="1905000" y="3276600"/>
            <a:ext cx="2362200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57F136-2881-4A4D-3819-ACD6A56ED7A1}"/>
              </a:ext>
            </a:extLst>
          </p:cNvPr>
          <p:cNvSpPr/>
          <p:nvPr/>
        </p:nvSpPr>
        <p:spPr>
          <a:xfrm>
            <a:off x="1828800" y="4038600"/>
            <a:ext cx="2362200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D26C8D-68DF-8D41-DB0F-D982A3174199}"/>
              </a:ext>
            </a:extLst>
          </p:cNvPr>
          <p:cNvSpPr/>
          <p:nvPr/>
        </p:nvSpPr>
        <p:spPr>
          <a:xfrm>
            <a:off x="2438400" y="4701381"/>
            <a:ext cx="2057400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75B51-7FFB-0185-CA14-2A288EFC417A}"/>
              </a:ext>
            </a:extLst>
          </p:cNvPr>
          <p:cNvSpPr/>
          <p:nvPr/>
        </p:nvSpPr>
        <p:spPr>
          <a:xfrm>
            <a:off x="4516514" y="4724400"/>
            <a:ext cx="3865485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8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Relation between</a:t>
            </a:r>
            <a:br>
              <a:rPr lang="en-US" sz="3200" b="1" dirty="0"/>
            </a:br>
            <a:br>
              <a:rPr lang="en-US" sz="3200" b="1" dirty="0"/>
            </a:b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Disjoint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One enclosing another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7030A0"/>
                </a:solidFill>
              </a:rPr>
              <a:t>What about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27" name="Group 26"/>
          <p:cNvGrpSpPr/>
          <p:nvPr/>
        </p:nvGrpSpPr>
        <p:grpSpPr>
          <a:xfrm>
            <a:off x="3850213" y="1905000"/>
            <a:ext cx="4905516" cy="478161"/>
            <a:chOff x="3850213" y="1905000"/>
            <a:chExt cx="4905516" cy="478161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6912571" y="1916151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8911" t="-8333" r="-178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8421" t="-8197" r="-189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8000" t="-8197" r="-18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Connector 11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4383613" y="3505200"/>
            <a:ext cx="4137104" cy="685800"/>
            <a:chOff x="4383613" y="3505200"/>
            <a:chExt cx="4137104" cy="6858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5638800" y="3810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8000" t="-8197" r="-17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8511" t="-8197" r="-1808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/>
          <p:cNvGrpSpPr/>
          <p:nvPr/>
        </p:nvGrpSpPr>
        <p:grpSpPr>
          <a:xfrm>
            <a:off x="4343400" y="5181600"/>
            <a:ext cx="3650329" cy="762000"/>
            <a:chOff x="4343400" y="5181600"/>
            <a:chExt cx="3650329" cy="762000"/>
          </a:xfrm>
        </p:grpSpPr>
        <p:cxnSp>
          <p:nvCxnSpPr>
            <p:cNvPr id="19" name="Straight Connector 18"/>
            <p:cNvCxnSpPr/>
            <p:nvPr/>
          </p:nvCxnSpPr>
          <p:spPr>
            <a:xfrm flipV="1">
              <a:off x="4648200" y="5254083"/>
              <a:ext cx="2154044" cy="3717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790688" y="5638800"/>
              <a:ext cx="1959571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343400" y="5181600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400" y="5181600"/>
                  <a:ext cx="620683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8911" t="-8197" r="-1782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6553200" y="5181600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3200" y="5181600"/>
                  <a:ext cx="580608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8421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410200" y="55742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0200" y="5574268"/>
                  <a:ext cx="609462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9091" t="-8197" r="-1818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7424342" y="55742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4342" y="5574268"/>
                  <a:ext cx="569387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&quot;No&quot; Symbol 29"/>
          <p:cNvSpPr/>
          <p:nvPr/>
        </p:nvSpPr>
        <p:spPr>
          <a:xfrm>
            <a:off x="7848600" y="5029200"/>
            <a:ext cx="914400" cy="914400"/>
          </a:xfrm>
          <a:prstGeom prst="noSmoking">
            <a:avLst>
              <a:gd name="adj" fmla="val 10316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264085" y="679253"/>
                <a:ext cx="1872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085" y="679253"/>
                <a:ext cx="1872629" cy="523220"/>
              </a:xfrm>
              <a:prstGeom prst="rect">
                <a:avLst/>
              </a:prstGeom>
              <a:blipFill rotWithShape="1">
                <a:blip r:embed="rId16"/>
                <a:stretch>
                  <a:fillRect l="-6494" t="-10465" r="-100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129480" y="695980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944438" y="679253"/>
                <a:ext cx="18373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438" y="679253"/>
                <a:ext cx="1837362" cy="523220"/>
              </a:xfrm>
              <a:prstGeom prst="rect">
                <a:avLst/>
              </a:prstGeom>
              <a:blipFill rotWithShape="1">
                <a:blip r:embed="rId17"/>
                <a:stretch>
                  <a:fillRect l="-6623" t="-10465" r="-102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90602" y="5421868"/>
                <a:ext cx="27029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&lt;</a:t>
                </a:r>
                <a:r>
                  <a:rPr lang="en-US" b="1" dirty="0">
                    <a:solidFill>
                      <a:srgbClr val="00B050"/>
                    </a:solidFill>
                    <a:sym typeface="Wingdings" pitchFamily="2" charset="2"/>
                  </a:rPr>
                  <a:t> D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&lt;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b="1" dirty="0"/>
                  <a:t> &lt;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] </a:t>
                </a:r>
                <a:r>
                  <a:rPr lang="en-US" dirty="0">
                    <a:solidFill>
                      <a:srgbClr val="7030A0"/>
                    </a:solidFill>
                  </a:rPr>
                  <a:t>?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602" y="5421868"/>
                <a:ext cx="2702984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2032" t="-8197" r="-270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3ADBE10-B2F7-6C9A-8666-622432FC8B8D}"/>
              </a:ext>
            </a:extLst>
          </p:cNvPr>
          <p:cNvSpPr/>
          <p:nvPr/>
        </p:nvSpPr>
        <p:spPr>
          <a:xfrm>
            <a:off x="4149240" y="679966"/>
            <a:ext cx="3665441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2546DC-3461-5FD8-572D-D9E1E352E93E}"/>
              </a:ext>
            </a:extLst>
          </p:cNvPr>
          <p:cNvSpPr/>
          <p:nvPr/>
        </p:nvSpPr>
        <p:spPr>
          <a:xfrm>
            <a:off x="1255273" y="609600"/>
            <a:ext cx="2861681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29C302-96DD-E98A-F6FE-1BE589429CE5}"/>
              </a:ext>
            </a:extLst>
          </p:cNvPr>
          <p:cNvSpPr txBox="1"/>
          <p:nvPr/>
        </p:nvSpPr>
        <p:spPr>
          <a:xfrm>
            <a:off x="2457020" y="6257964"/>
            <a:ext cx="496732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This is because of </a:t>
            </a:r>
            <a:r>
              <a:rPr lang="en-US" b="1" dirty="0">
                <a:solidFill>
                  <a:srgbClr val="7030A0"/>
                </a:solidFill>
              </a:rPr>
              <a:t>recursive</a:t>
            </a:r>
            <a:r>
              <a:rPr lang="en-US" dirty="0"/>
              <a:t> nature of </a:t>
            </a:r>
            <a:r>
              <a:rPr lang="en-US" b="1" dirty="0"/>
              <a:t>DFS</a:t>
            </a:r>
            <a:r>
              <a:rPr lang="en-US" dirty="0"/>
              <a:t> traversal.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421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30" grpId="0" animBg="1"/>
      <p:bldP spid="4" grpId="0"/>
      <p:bldP spid="6" grpId="0" animBg="1"/>
      <p:bldP spid="14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There seem to be </a:t>
            </a:r>
            <a:r>
              <a:rPr lang="en-US" sz="2000" u="sng" dirty="0"/>
              <a:t>many</a:t>
            </a:r>
            <a:r>
              <a:rPr lang="en-US" sz="2000" dirty="0"/>
              <a:t> different types of </a:t>
            </a:r>
            <a:r>
              <a:rPr lang="en-US" sz="2000" i="1" dirty="0"/>
              <a:t>non-tree</a:t>
            </a:r>
            <a:r>
              <a:rPr lang="en-US" sz="2000" dirty="0"/>
              <a:t> edges.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3351106" y="12954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3581400" y="22098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4845330" y="15240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ight Arrow 54"/>
          <p:cNvSpPr/>
          <p:nvPr/>
        </p:nvSpPr>
        <p:spPr>
          <a:xfrm rot="2898886">
            <a:off x="4171622" y="1797633"/>
            <a:ext cx="254997" cy="299642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4267199" y="5127703"/>
            <a:ext cx="1146718" cy="1163444"/>
            <a:chOff x="6705599" y="2308303"/>
            <a:chExt cx="1146718" cy="1163444"/>
          </a:xfrm>
        </p:grpSpPr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2" name="Straight Arrow Connector 61"/>
          <p:cNvCxnSpPr/>
          <p:nvPr/>
        </p:nvCxnSpPr>
        <p:spPr>
          <a:xfrm flipH="1">
            <a:off x="4345258" y="52578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5335857" y="53321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4423317" y="52039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>
            <a:off x="4423317" y="52039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/>
          <p:nvPr/>
        </p:nvCxnSpPr>
        <p:spPr>
          <a:xfrm flipH="1" flipV="1">
            <a:off x="4415882" y="51676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036906" y="5029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36906" y="60314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32306" y="5105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56106" y="62600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3" name="Right Arrow 72"/>
          <p:cNvSpPr/>
          <p:nvPr/>
        </p:nvSpPr>
        <p:spPr>
          <a:xfrm rot="1556459">
            <a:off x="4103453" y="49199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Arrow 73"/>
          <p:cNvSpPr/>
          <p:nvPr/>
        </p:nvSpPr>
        <p:spPr>
          <a:xfrm rot="1556459">
            <a:off x="4546921" y="11861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4343400" y="5203902"/>
            <a:ext cx="990601" cy="912542"/>
            <a:chOff x="6783659" y="4650058"/>
            <a:chExt cx="990601" cy="912542"/>
          </a:xfrm>
        </p:grpSpPr>
        <p:cxnSp>
          <p:nvCxnSpPr>
            <p:cNvPr id="75" name="Straight Arrow Connector 74"/>
            <p:cNvCxnSpPr/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6934291" y="4650058"/>
              <a:ext cx="834481" cy="520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Cloud Callout 4"/>
          <p:cNvSpPr/>
          <p:nvPr/>
        </p:nvSpPr>
        <p:spPr>
          <a:xfrm>
            <a:off x="5943600" y="2971800"/>
            <a:ext cx="3200400" cy="1295400"/>
          </a:xfrm>
          <a:prstGeom prst="cloudCallout">
            <a:avLst>
              <a:gd name="adj1" fmla="val -20833"/>
              <a:gd name="adj2" fmla="val 735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classify the non-tree edges 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CC814B-EA45-D142-9B67-C994FD082644}"/>
              </a:ext>
            </a:extLst>
          </p:cNvPr>
          <p:cNvSpPr/>
          <p:nvPr/>
        </p:nvSpPr>
        <p:spPr>
          <a:xfrm>
            <a:off x="2362200" y="762000"/>
            <a:ext cx="2202044" cy="40092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290B20-2715-2BD1-D68C-A0008CB096C1}"/>
              </a:ext>
            </a:extLst>
          </p:cNvPr>
          <p:cNvSpPr/>
          <p:nvPr/>
        </p:nvSpPr>
        <p:spPr>
          <a:xfrm>
            <a:off x="4579757" y="609600"/>
            <a:ext cx="2583044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3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5" grpId="0" animBg="1"/>
      <p:bldP spid="73" grpId="0" animBg="1"/>
      <p:bldP spid="74" grpId="0" animBg="1"/>
      <p:bldP spid="5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Classification of </a:t>
            </a:r>
            <a:r>
              <a:rPr lang="en-US" b="1" dirty="0">
                <a:solidFill>
                  <a:srgbClr val="7030A0"/>
                </a:solidFill>
              </a:rPr>
              <a:t>non-tree edges</a:t>
            </a:r>
            <a:br>
              <a:rPr lang="en-US" b="1" dirty="0">
                <a:solidFill>
                  <a:srgbClr val="7030A0"/>
                </a:solidFill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using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64085" y="4641653"/>
                <a:ext cx="1872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085" y="4641653"/>
                <a:ext cx="1872629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6494" t="-10465" r="-100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129480" y="4658380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944438" y="4641653"/>
                <a:ext cx="18373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(</a:t>
                </a:r>
                <a:r>
                  <a:rPr lang="en-US" sz="28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,</a:t>
                </a:r>
                <a:r>
                  <a:rPr lang="en-US" sz="28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8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2800" dirty="0"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800" dirty="0">
                    <a:sym typeface="Wingdings" pitchFamily="2" charset="2"/>
                  </a:rPr>
                  <a:t>]</a:t>
                </a:r>
                <a:r>
                  <a:rPr lang="en-US" sz="2800" dirty="0"/>
                  <a:t>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438" y="4641653"/>
                <a:ext cx="1837362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6623" t="-10465" r="-102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51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is </a:t>
                </a:r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Forward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edge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839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3351106" y="2045732"/>
            <a:ext cx="1153988" cy="2678668"/>
            <a:chOff x="3351106" y="2045732"/>
            <a:chExt cx="1153988" cy="2678668"/>
          </a:xfrm>
        </p:grpSpPr>
        <p:cxnSp>
          <p:nvCxnSpPr>
            <p:cNvPr id="10" name="Straight Arrow Connector 9"/>
            <p:cNvCxnSpPr>
              <a:stCxn id="23" idx="2"/>
              <a:endCxn id="24" idx="0"/>
            </p:cNvCxnSpPr>
            <p:nvPr/>
          </p:nvCxnSpPr>
          <p:spPr>
            <a:xfrm flipH="1">
              <a:off x="4124095" y="21981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24" idx="2"/>
              <a:endCxn id="26" idx="0"/>
            </p:cNvCxnSpPr>
            <p:nvPr/>
          </p:nvCxnSpPr>
          <p:spPr>
            <a:xfrm flipH="1">
              <a:off x="3819295" y="28839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6" idx="2"/>
              <a:endCxn id="29" idx="0"/>
            </p:cNvCxnSpPr>
            <p:nvPr/>
          </p:nvCxnSpPr>
          <p:spPr>
            <a:xfrm flipH="1">
              <a:off x="3590695" y="37221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045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27315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4331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038600" y="20574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57400"/>
                  <a:ext cx="38664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29000" y="3429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29000"/>
                  <a:ext cx="41870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911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51106" y="4355068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106" y="4355068"/>
                  <a:ext cx="37542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10000" y="2590800"/>
                  <a:ext cx="3529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2590800"/>
                  <a:ext cx="35298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/>
          <p:cNvCxnSpPr/>
          <p:nvPr/>
        </p:nvCxnSpPr>
        <p:spPr>
          <a:xfrm flipH="1">
            <a:off x="4114800" y="22098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810000" y="28956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581400" y="37338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2362200" y="5257800"/>
            <a:ext cx="4137104" cy="457200"/>
            <a:chOff x="4383613" y="3505200"/>
            <a:chExt cx="4137104" cy="457200"/>
          </a:xfrm>
        </p:grpSpPr>
        <p:cxnSp>
          <p:nvCxnSpPr>
            <p:cNvPr id="58" name="Straight Connector 57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8911" t="-9836" r="-8911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9474" t="-9836" r="-8421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/>
          <p:cNvGrpSpPr/>
          <p:nvPr/>
        </p:nvGrpSpPr>
        <p:grpSpPr>
          <a:xfrm>
            <a:off x="3312587" y="5562600"/>
            <a:ext cx="2058306" cy="381000"/>
            <a:chOff x="3312587" y="5562600"/>
            <a:chExt cx="2058306" cy="38100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3617387" y="55626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312587" y="55742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587" y="5574268"/>
                  <a:ext cx="609462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8000" t="-8197" r="-9000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801506" y="55742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1506" y="5574268"/>
                  <a:ext cx="569387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9677" t="-8197" r="-860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46E5F38-BD93-14DA-1433-04C0DE125EB9}"/>
              </a:ext>
            </a:extLst>
          </p:cNvPr>
          <p:cNvGrpSpPr/>
          <p:nvPr/>
        </p:nvGrpSpPr>
        <p:grpSpPr>
          <a:xfrm>
            <a:off x="3079416" y="2130640"/>
            <a:ext cx="1265844" cy="2328738"/>
            <a:chOff x="3107778" y="2085119"/>
            <a:chExt cx="1265844" cy="2328738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C5FE93F-7D79-6736-4805-023FB3E6A9DA}"/>
                </a:ext>
              </a:extLst>
            </p:cNvPr>
            <p:cNvSpPr/>
            <p:nvPr/>
          </p:nvSpPr>
          <p:spPr>
            <a:xfrm>
              <a:off x="3107778" y="2085119"/>
              <a:ext cx="1265844" cy="2300449"/>
            </a:xfrm>
            <a:custGeom>
              <a:avLst/>
              <a:gdLst>
                <a:gd name="connsiteX0" fmla="*/ 1241908 w 1241908"/>
                <a:gd name="connsiteY0" fmla="*/ 0 h 2317072"/>
                <a:gd name="connsiteX1" fmla="*/ 540572 w 1241908"/>
                <a:gd name="connsiteY1" fmla="*/ 328474 h 2317072"/>
                <a:gd name="connsiteX2" fmla="*/ 176588 w 1241908"/>
                <a:gd name="connsiteY2" fmla="*/ 665825 h 2317072"/>
                <a:gd name="connsiteX3" fmla="*/ 7912 w 1241908"/>
                <a:gd name="connsiteY3" fmla="*/ 1882066 h 2317072"/>
                <a:gd name="connsiteX4" fmla="*/ 416285 w 1241908"/>
                <a:gd name="connsiteY4" fmla="*/ 2317072 h 2317072"/>
                <a:gd name="connsiteX0" fmla="*/ 1251158 w 1251158"/>
                <a:gd name="connsiteY0" fmla="*/ 0 h 2317072"/>
                <a:gd name="connsiteX1" fmla="*/ 549822 w 1251158"/>
                <a:gd name="connsiteY1" fmla="*/ 328474 h 2317072"/>
                <a:gd name="connsiteX2" fmla="*/ 97061 w 1251158"/>
                <a:gd name="connsiteY2" fmla="*/ 994299 h 2317072"/>
                <a:gd name="connsiteX3" fmla="*/ 17162 w 1251158"/>
                <a:gd name="connsiteY3" fmla="*/ 1882066 h 2317072"/>
                <a:gd name="connsiteX4" fmla="*/ 425535 w 1251158"/>
                <a:gd name="connsiteY4" fmla="*/ 2317072 h 231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158" h="2317072">
                  <a:moveTo>
                    <a:pt x="1251158" y="0"/>
                  </a:moveTo>
                  <a:cubicBezTo>
                    <a:pt x="989266" y="108751"/>
                    <a:pt x="742171" y="162758"/>
                    <a:pt x="549822" y="328474"/>
                  </a:cubicBezTo>
                  <a:cubicBezTo>
                    <a:pt x="357473" y="494190"/>
                    <a:pt x="185838" y="735367"/>
                    <a:pt x="97061" y="994299"/>
                  </a:cubicBezTo>
                  <a:cubicBezTo>
                    <a:pt x="8284" y="1253231"/>
                    <a:pt x="-22787" y="1606858"/>
                    <a:pt x="17162" y="1882066"/>
                  </a:cubicBezTo>
                  <a:cubicBezTo>
                    <a:pt x="57111" y="2157274"/>
                    <a:pt x="241323" y="2237173"/>
                    <a:pt x="425535" y="2317072"/>
                  </a:cubicBezTo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B335DA8-5A6B-9FEA-718A-21E56CB69369}"/>
                </a:ext>
              </a:extLst>
            </p:cNvPr>
            <p:cNvCxnSpPr>
              <a:cxnSpLocks/>
            </p:cNvCxnSpPr>
            <p:nvPr/>
          </p:nvCxnSpPr>
          <p:spPr>
            <a:xfrm>
              <a:off x="3390788" y="4325447"/>
              <a:ext cx="179016" cy="88410"/>
            </a:xfrm>
            <a:prstGeom prst="straightConnector1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8785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is </a:t>
                </a:r>
                <a:r>
                  <a:rPr lang="en-US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edge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600200"/>
                <a:ext cx="8839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Till now, we considered the cases in which either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is ancestor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 or vice versa.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600200"/>
                <a:ext cx="8839200" cy="4525963"/>
              </a:xfrm>
              <a:blipFill>
                <a:blip r:embed="rId3"/>
                <a:stretch>
                  <a:fillRect l="-759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urved Connector 19"/>
          <p:cNvCxnSpPr>
            <a:stCxn id="39" idx="0"/>
            <a:endCxn id="23" idx="1"/>
          </p:cNvCxnSpPr>
          <p:nvPr/>
        </p:nvCxnSpPr>
        <p:spPr>
          <a:xfrm rot="5400000" flipH="1" flipV="1">
            <a:off x="2835968" y="2830392"/>
            <a:ext cx="2221468" cy="804549"/>
          </a:xfrm>
          <a:prstGeom prst="curved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/>
          <p:cNvGrpSpPr/>
          <p:nvPr/>
        </p:nvGrpSpPr>
        <p:grpSpPr>
          <a:xfrm>
            <a:off x="3351106" y="2045732"/>
            <a:ext cx="1153988" cy="2667000"/>
            <a:chOff x="3351106" y="2045732"/>
            <a:chExt cx="1153988" cy="2667000"/>
          </a:xfrm>
        </p:grpSpPr>
        <p:cxnSp>
          <p:nvCxnSpPr>
            <p:cNvPr id="10" name="Straight Arrow Connector 9"/>
            <p:cNvCxnSpPr>
              <a:stCxn id="23" idx="2"/>
              <a:endCxn id="24" idx="0"/>
            </p:cNvCxnSpPr>
            <p:nvPr/>
          </p:nvCxnSpPr>
          <p:spPr>
            <a:xfrm flipH="1">
              <a:off x="4124095" y="21981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24" idx="2"/>
              <a:endCxn id="26" idx="0"/>
            </p:cNvCxnSpPr>
            <p:nvPr/>
          </p:nvCxnSpPr>
          <p:spPr>
            <a:xfrm flipH="1">
              <a:off x="3819295" y="28839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6" idx="2"/>
              <a:endCxn id="29" idx="0"/>
            </p:cNvCxnSpPr>
            <p:nvPr/>
          </p:nvCxnSpPr>
          <p:spPr>
            <a:xfrm flipH="1">
              <a:off x="3590695" y="37221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045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27315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4331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29000" y="3429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9000" y="3429000"/>
                  <a:ext cx="41870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911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51106" y="43434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106" y="4343400"/>
                  <a:ext cx="38664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206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10000" y="2590800"/>
                  <a:ext cx="3529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0" y="2590800"/>
                  <a:ext cx="35298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/>
          <p:cNvCxnSpPr/>
          <p:nvPr/>
        </p:nvCxnSpPr>
        <p:spPr>
          <a:xfrm flipH="1">
            <a:off x="4114800" y="2209800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810000" y="2895600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581400" y="3733800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2362200" y="5257800"/>
            <a:ext cx="4125883" cy="457200"/>
            <a:chOff x="4383613" y="3505200"/>
            <a:chExt cx="4125883" cy="457200"/>
          </a:xfrm>
        </p:grpSpPr>
        <p:cxnSp>
          <p:nvCxnSpPr>
            <p:cNvPr id="58" name="Straight Connector 57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/>
                <p:cNvSpPr txBox="1"/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9" name="TextBox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091" t="-8197" r="-1818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/>
                <p:cNvSpPr txBox="1"/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60" name="TextBox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loud Callout 26"/>
              <p:cNvSpPr/>
              <p:nvPr/>
            </p:nvSpPr>
            <p:spPr>
              <a:xfrm>
                <a:off x="4348977" y="2590800"/>
                <a:ext cx="4795023" cy="1740932"/>
              </a:xfrm>
              <a:prstGeom prst="cloudCallout">
                <a:avLst>
                  <a:gd name="adj1" fmla="val -20833"/>
                  <a:gd name="adj2" fmla="val 735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Is it possible to have a DFS traversal where no such relationship exists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between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and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though we have edge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" pitchFamily="2" charset="2"/>
                  </a:rPr>
                  <a:t>) </a:t>
                </a:r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7" name="Cloud Callout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77" y="2590800"/>
                <a:ext cx="4795023" cy="1740932"/>
              </a:xfrm>
              <a:prstGeom prst="cloudCallout">
                <a:avLst>
                  <a:gd name="adj1" fmla="val -20833"/>
                  <a:gd name="adj2" fmla="val 73532"/>
                </a:avLst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own Ribbon 3"/>
          <p:cNvSpPr/>
          <p:nvPr/>
        </p:nvSpPr>
        <p:spPr>
          <a:xfrm>
            <a:off x="6203389" y="4484132"/>
            <a:ext cx="2940611" cy="861536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Yes, indeed.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Think over it before moving to the next slide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312587" y="5562600"/>
            <a:ext cx="2069527" cy="381000"/>
            <a:chOff x="3312587" y="5562600"/>
            <a:chExt cx="2069527" cy="381000"/>
          </a:xfrm>
        </p:grpSpPr>
        <p:cxnSp>
          <p:nvCxnSpPr>
            <p:cNvPr id="30" name="Straight Connector 29"/>
            <p:cNvCxnSpPr/>
            <p:nvPr/>
          </p:nvCxnSpPr>
          <p:spPr>
            <a:xfrm>
              <a:off x="3617387" y="55626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312587" y="55742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587" y="5574268"/>
                  <a:ext cx="62068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4801506" y="55742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1506" y="5574268"/>
                  <a:ext cx="580608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10B1F97C-419D-5937-A259-50D335A4774C}"/>
              </a:ext>
            </a:extLst>
          </p:cNvPr>
          <p:cNvSpPr/>
          <p:nvPr/>
        </p:nvSpPr>
        <p:spPr>
          <a:xfrm>
            <a:off x="1241606" y="1431525"/>
            <a:ext cx="2496143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96659F-DA61-44BA-C817-F04F749CDC22}"/>
              </a:ext>
            </a:extLst>
          </p:cNvPr>
          <p:cNvSpPr/>
          <p:nvPr/>
        </p:nvSpPr>
        <p:spPr>
          <a:xfrm>
            <a:off x="3770861" y="1551944"/>
            <a:ext cx="3468140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5D707D-AA97-E9F0-D849-30609345F504}"/>
              </a:ext>
            </a:extLst>
          </p:cNvPr>
          <p:cNvSpPr/>
          <p:nvPr/>
        </p:nvSpPr>
        <p:spPr>
          <a:xfrm>
            <a:off x="7313122" y="1524000"/>
            <a:ext cx="3468140" cy="53340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72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27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) is </a:t>
                </a:r>
                <a:r>
                  <a:rPr lang="en-US" b="1" dirty="0">
                    <a:solidFill>
                      <a:srgbClr val="7030A0"/>
                    </a:solidFill>
                  </a:rPr>
                  <a:t>Cross</a:t>
                </a:r>
                <a:r>
                  <a:rPr lang="en-US" b="1" dirty="0"/>
                  <a:t> </a:t>
                </a:r>
                <a:r>
                  <a:rPr lang="en-US" dirty="0"/>
                  <a:t>edge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3351106" y="2514600"/>
            <a:ext cx="1153988" cy="2667000"/>
            <a:chOff x="3351106" y="2045732"/>
            <a:chExt cx="1153988" cy="2667000"/>
          </a:xfrm>
        </p:grpSpPr>
        <p:cxnSp>
          <p:nvCxnSpPr>
            <p:cNvPr id="10" name="Straight Arrow Connector 9"/>
            <p:cNvCxnSpPr>
              <a:stCxn id="23" idx="2"/>
              <a:endCxn id="24" idx="0"/>
            </p:cNvCxnSpPr>
            <p:nvPr/>
          </p:nvCxnSpPr>
          <p:spPr>
            <a:xfrm flipH="1">
              <a:off x="4124095" y="2198132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24" idx="2"/>
              <a:endCxn id="26" idx="0"/>
            </p:cNvCxnSpPr>
            <p:nvPr/>
          </p:nvCxnSpPr>
          <p:spPr>
            <a:xfrm flipH="1">
              <a:off x="3819295" y="2883932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26" idx="2"/>
              <a:endCxn id="29" idx="0"/>
            </p:cNvCxnSpPr>
            <p:nvPr/>
          </p:nvCxnSpPr>
          <p:spPr>
            <a:xfrm flipH="1">
              <a:off x="3590695" y="3722132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8977" y="2045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46036" y="27315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1236" y="3569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2636" y="433173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600" y="2057400"/>
                  <a:ext cx="375424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𝒘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496" y="3429000"/>
                  <a:ext cx="41870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739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3351106" y="4343400"/>
                  <a:ext cx="3706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1106" y="4343400"/>
                  <a:ext cx="37061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5938" y="2590800"/>
                  <a:ext cx="349711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80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9" name="Straight Arrow Connector 48"/>
          <p:cNvCxnSpPr/>
          <p:nvPr/>
        </p:nvCxnSpPr>
        <p:spPr>
          <a:xfrm flipH="1">
            <a:off x="4114800" y="2678668"/>
            <a:ext cx="302941" cy="5334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3810000" y="3364468"/>
            <a:ext cx="304800" cy="6858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581400" y="4202668"/>
            <a:ext cx="22860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505094" y="2221468"/>
            <a:ext cx="1209906" cy="3693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5715000" y="1981200"/>
            <a:ext cx="457200" cy="369332"/>
            <a:chOff x="5715000" y="1981200"/>
            <a:chExt cx="457200" cy="369332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133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785556" y="19812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556" y="1981200"/>
                  <a:ext cx="386644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4219575" y="1457325"/>
            <a:ext cx="257175" cy="1066800"/>
            <a:chOff x="4219575" y="1457325"/>
            <a:chExt cx="257175" cy="1066800"/>
          </a:xfrm>
        </p:grpSpPr>
        <p:sp>
          <p:nvSpPr>
            <p:cNvPr id="6" name="Freeform 5"/>
            <p:cNvSpPr/>
            <p:nvPr/>
          </p:nvSpPr>
          <p:spPr>
            <a:xfrm>
              <a:off x="4219575" y="1457325"/>
              <a:ext cx="257175" cy="1066800"/>
            </a:xfrm>
            <a:custGeom>
              <a:avLst/>
              <a:gdLst>
                <a:gd name="connsiteX0" fmla="*/ 19050 w 257175"/>
                <a:gd name="connsiteY0" fmla="*/ 0 h 1066800"/>
                <a:gd name="connsiteX1" fmla="*/ 123825 w 257175"/>
                <a:gd name="connsiteY1" fmla="*/ 28575 h 1066800"/>
                <a:gd name="connsiteX2" fmla="*/ 180975 w 257175"/>
                <a:gd name="connsiteY2" fmla="*/ 66675 h 1066800"/>
                <a:gd name="connsiteX3" fmla="*/ 200025 w 257175"/>
                <a:gd name="connsiteY3" fmla="*/ 123825 h 1066800"/>
                <a:gd name="connsiteX4" fmla="*/ 209550 w 257175"/>
                <a:gd name="connsiteY4" fmla="*/ 152400 h 1066800"/>
                <a:gd name="connsiteX5" fmla="*/ 200025 w 257175"/>
                <a:gd name="connsiteY5" fmla="*/ 228600 h 1066800"/>
                <a:gd name="connsiteX6" fmla="*/ 190500 w 257175"/>
                <a:gd name="connsiteY6" fmla="*/ 257175 h 1066800"/>
                <a:gd name="connsiteX7" fmla="*/ 133350 w 257175"/>
                <a:gd name="connsiteY7" fmla="*/ 295275 h 1066800"/>
                <a:gd name="connsiteX8" fmla="*/ 85725 w 257175"/>
                <a:gd name="connsiteY8" fmla="*/ 333375 h 1066800"/>
                <a:gd name="connsiteX9" fmla="*/ 66675 w 257175"/>
                <a:gd name="connsiteY9" fmla="*/ 361950 h 1066800"/>
                <a:gd name="connsiteX10" fmla="*/ 38100 w 257175"/>
                <a:gd name="connsiteY10" fmla="*/ 381000 h 1066800"/>
                <a:gd name="connsiteX11" fmla="*/ 28575 w 257175"/>
                <a:gd name="connsiteY11" fmla="*/ 409575 h 1066800"/>
                <a:gd name="connsiteX12" fmla="*/ 0 w 257175"/>
                <a:gd name="connsiteY12" fmla="*/ 466725 h 1066800"/>
                <a:gd name="connsiteX13" fmla="*/ 38100 w 257175"/>
                <a:gd name="connsiteY13" fmla="*/ 552450 h 1066800"/>
                <a:gd name="connsiteX14" fmla="*/ 47625 w 257175"/>
                <a:gd name="connsiteY14" fmla="*/ 581025 h 1066800"/>
                <a:gd name="connsiteX15" fmla="*/ 76200 w 257175"/>
                <a:gd name="connsiteY15" fmla="*/ 590550 h 1066800"/>
                <a:gd name="connsiteX16" fmla="*/ 161925 w 257175"/>
                <a:gd name="connsiteY16" fmla="*/ 647700 h 1066800"/>
                <a:gd name="connsiteX17" fmla="*/ 190500 w 257175"/>
                <a:gd name="connsiteY17" fmla="*/ 666750 h 1066800"/>
                <a:gd name="connsiteX18" fmla="*/ 247650 w 257175"/>
                <a:gd name="connsiteY18" fmla="*/ 781050 h 1066800"/>
                <a:gd name="connsiteX19" fmla="*/ 257175 w 257175"/>
                <a:gd name="connsiteY19" fmla="*/ 809625 h 1066800"/>
                <a:gd name="connsiteX20" fmla="*/ 247650 w 257175"/>
                <a:gd name="connsiteY20" fmla="*/ 885825 h 1066800"/>
                <a:gd name="connsiteX21" fmla="*/ 228600 w 257175"/>
                <a:gd name="connsiteY21" fmla="*/ 914400 h 1066800"/>
                <a:gd name="connsiteX22" fmla="*/ 209550 w 257175"/>
                <a:gd name="connsiteY22" fmla="*/ 971550 h 1066800"/>
                <a:gd name="connsiteX23" fmla="*/ 200025 w 257175"/>
                <a:gd name="connsiteY23" fmla="*/ 1000125 h 1066800"/>
                <a:gd name="connsiteX24" fmla="*/ 190500 w 257175"/>
                <a:gd name="connsiteY24" fmla="*/ 1028700 h 1066800"/>
                <a:gd name="connsiteX25" fmla="*/ 190500 w 257175"/>
                <a:gd name="connsiteY25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7175" h="1066800">
                  <a:moveTo>
                    <a:pt x="19050" y="0"/>
                  </a:moveTo>
                  <a:cubicBezTo>
                    <a:pt x="44610" y="5112"/>
                    <a:pt x="103108" y="14764"/>
                    <a:pt x="123825" y="28575"/>
                  </a:cubicBezTo>
                  <a:lnTo>
                    <a:pt x="180975" y="66675"/>
                  </a:lnTo>
                  <a:lnTo>
                    <a:pt x="200025" y="123825"/>
                  </a:lnTo>
                  <a:lnTo>
                    <a:pt x="209550" y="152400"/>
                  </a:lnTo>
                  <a:cubicBezTo>
                    <a:pt x="206375" y="177800"/>
                    <a:pt x="204604" y="203415"/>
                    <a:pt x="200025" y="228600"/>
                  </a:cubicBezTo>
                  <a:cubicBezTo>
                    <a:pt x="198229" y="238478"/>
                    <a:pt x="197600" y="250075"/>
                    <a:pt x="190500" y="257175"/>
                  </a:cubicBezTo>
                  <a:cubicBezTo>
                    <a:pt x="174311" y="273364"/>
                    <a:pt x="133350" y="295275"/>
                    <a:pt x="133350" y="295275"/>
                  </a:cubicBezTo>
                  <a:cubicBezTo>
                    <a:pt x="78755" y="377167"/>
                    <a:pt x="151450" y="280795"/>
                    <a:pt x="85725" y="333375"/>
                  </a:cubicBezTo>
                  <a:cubicBezTo>
                    <a:pt x="76786" y="340526"/>
                    <a:pt x="74770" y="353855"/>
                    <a:pt x="66675" y="361950"/>
                  </a:cubicBezTo>
                  <a:cubicBezTo>
                    <a:pt x="58580" y="370045"/>
                    <a:pt x="47625" y="374650"/>
                    <a:pt x="38100" y="381000"/>
                  </a:cubicBezTo>
                  <a:cubicBezTo>
                    <a:pt x="34925" y="390525"/>
                    <a:pt x="33065" y="400595"/>
                    <a:pt x="28575" y="409575"/>
                  </a:cubicBezTo>
                  <a:cubicBezTo>
                    <a:pt x="-8354" y="483433"/>
                    <a:pt x="23941" y="394901"/>
                    <a:pt x="0" y="466725"/>
                  </a:cubicBezTo>
                  <a:cubicBezTo>
                    <a:pt x="20546" y="610545"/>
                    <a:pt x="-13949" y="487389"/>
                    <a:pt x="38100" y="552450"/>
                  </a:cubicBezTo>
                  <a:cubicBezTo>
                    <a:pt x="44372" y="560290"/>
                    <a:pt x="40525" y="573925"/>
                    <a:pt x="47625" y="581025"/>
                  </a:cubicBezTo>
                  <a:cubicBezTo>
                    <a:pt x="54725" y="588125"/>
                    <a:pt x="67423" y="585674"/>
                    <a:pt x="76200" y="590550"/>
                  </a:cubicBezTo>
                  <a:lnTo>
                    <a:pt x="161925" y="647700"/>
                  </a:lnTo>
                  <a:lnTo>
                    <a:pt x="190500" y="666750"/>
                  </a:lnTo>
                  <a:cubicBezTo>
                    <a:pt x="239739" y="740608"/>
                    <a:pt x="221360" y="702180"/>
                    <a:pt x="247650" y="781050"/>
                  </a:cubicBezTo>
                  <a:lnTo>
                    <a:pt x="257175" y="809625"/>
                  </a:lnTo>
                  <a:cubicBezTo>
                    <a:pt x="254000" y="835025"/>
                    <a:pt x="254385" y="861129"/>
                    <a:pt x="247650" y="885825"/>
                  </a:cubicBezTo>
                  <a:cubicBezTo>
                    <a:pt x="244638" y="896869"/>
                    <a:pt x="233249" y="903939"/>
                    <a:pt x="228600" y="914400"/>
                  </a:cubicBezTo>
                  <a:cubicBezTo>
                    <a:pt x="220445" y="932750"/>
                    <a:pt x="215900" y="952500"/>
                    <a:pt x="209550" y="971550"/>
                  </a:cubicBezTo>
                  <a:lnTo>
                    <a:pt x="200025" y="1000125"/>
                  </a:lnTo>
                  <a:cubicBezTo>
                    <a:pt x="196850" y="1009650"/>
                    <a:pt x="190500" y="1018660"/>
                    <a:pt x="190500" y="1028700"/>
                  </a:cubicBezTo>
                  <a:lnTo>
                    <a:pt x="190500" y="106680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p:cxnSp>
          <p:nvCxnSpPr>
            <p:cNvPr id="8" name="Straight Arrow Connector 7"/>
            <p:cNvCxnSpPr>
              <a:stCxn id="6" idx="21"/>
              <a:endCxn id="6" idx="25"/>
            </p:cNvCxnSpPr>
            <p:nvPr/>
          </p:nvCxnSpPr>
          <p:spPr>
            <a:xfrm flipH="1">
              <a:off x="4410075" y="2371725"/>
              <a:ext cx="38100" cy="152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1752600" y="5541639"/>
            <a:ext cx="2175128" cy="478161"/>
            <a:chOff x="3850213" y="1905000"/>
            <a:chExt cx="2175128" cy="4781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8000" t="-8197" r="-9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9677" t="-8197" r="-860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Connector 46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/>
          <p:cNvGrpSpPr/>
          <p:nvPr/>
        </p:nvGrpSpPr>
        <p:grpSpPr>
          <a:xfrm>
            <a:off x="4114800" y="1230868"/>
            <a:ext cx="445980" cy="369332"/>
            <a:chOff x="5715000" y="1981200"/>
            <a:chExt cx="445980" cy="369332"/>
          </a:xfrm>
        </p:grpSpPr>
        <p:pic>
          <p:nvPicPr>
            <p:cNvPr id="3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2133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5785556" y="1981200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5556" y="1981200"/>
                  <a:ext cx="375424" cy="369332"/>
                </a:xfrm>
                <a:prstGeom prst="rect">
                  <a:avLst/>
                </a:prstGeom>
                <a:blipFill rotWithShape="1">
                  <a:blip r:embed="rId20"/>
                  <a:stretch>
                    <a:fillRect t="-8197" r="-213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Cloud Callout 53"/>
          <p:cNvSpPr/>
          <p:nvPr/>
        </p:nvSpPr>
        <p:spPr>
          <a:xfrm>
            <a:off x="5091810" y="2667000"/>
            <a:ext cx="4052190" cy="1600200"/>
          </a:xfrm>
          <a:prstGeom prst="cloudCallout">
            <a:avLst>
              <a:gd name="adj1" fmla="val -20833"/>
              <a:gd name="adj2" fmla="val 735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Is there any other type of non-tree edge ?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Think over it …</a:t>
            </a:r>
          </a:p>
        </p:txBody>
      </p:sp>
      <p:sp>
        <p:nvSpPr>
          <p:cNvPr id="55" name="Down Ribbon 54"/>
          <p:cNvSpPr/>
          <p:nvPr/>
        </p:nvSpPr>
        <p:spPr>
          <a:xfrm>
            <a:off x="5091811" y="4484132"/>
            <a:ext cx="4052190" cy="861536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In the following slide, we shall show that these are </a:t>
            </a:r>
            <a:r>
              <a:rPr lang="en-US" sz="1600" u="sng" dirty="0">
                <a:solidFill>
                  <a:schemeClr val="tx1"/>
                </a:solidFill>
              </a:rPr>
              <a:t>the only possibilities</a:t>
            </a:r>
            <a:r>
              <a:rPr lang="en-US" sz="1600" dirty="0">
                <a:solidFill>
                  <a:schemeClr val="tx1"/>
                </a:solidFill>
              </a:rPr>
              <a:t> of a non-tree edge.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72906" y="5552790"/>
            <a:ext cx="2096431" cy="467010"/>
            <a:chOff x="4572906" y="5552790"/>
            <a:chExt cx="2096431" cy="467010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4814958" y="555279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4572906" y="5629507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906" y="5629507"/>
                  <a:ext cx="620683" cy="369332"/>
                </a:xfrm>
                <a:prstGeom prst="rect">
                  <a:avLst/>
                </a:prstGeom>
                <a:blipFill rotWithShape="1">
                  <a:blip r:embed="rId21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/>
                <p:cNvSpPr txBox="1"/>
                <p:nvPr/>
              </p:nvSpPr>
              <p:spPr>
                <a:xfrm>
                  <a:off x="6088729" y="56504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56" name="TextBox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729" y="5650468"/>
                  <a:ext cx="580608" cy="369332"/>
                </a:xfrm>
                <a:prstGeom prst="rect">
                  <a:avLst/>
                </a:prstGeom>
                <a:blipFill rotWithShape="1">
                  <a:blip r:embed="rId22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63347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4" grpId="0" animBg="1"/>
      <p:bldP spid="5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7911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Consider an  edge 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Case 1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must be ancestor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000" dirty="0"/>
                  <a:t> 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Case 2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must be  descendant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Case 3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Case 4:</a:t>
                </a: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791199"/>
              </a:xfrm>
              <a:blipFill>
                <a:blip r:embed="rId2"/>
                <a:stretch>
                  <a:fillRect l="-741" t="-6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4702096" y="1600200"/>
            <a:ext cx="4137104" cy="685800"/>
            <a:chOff x="4383613" y="3505200"/>
            <a:chExt cx="4137104" cy="6858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5638800" y="3810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2068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7843" t="-8197" r="-176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80608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9474" t="-8197" r="-1789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3821668"/>
                  <a:ext cx="60946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l="-8000" t="-8197" r="-17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919" y="3821668"/>
                  <a:ext cx="569387" cy="369332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 l="-8511" t="-8197" r="-1808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/>
          <p:cNvGrpSpPr/>
          <p:nvPr/>
        </p:nvGrpSpPr>
        <p:grpSpPr>
          <a:xfrm>
            <a:off x="4625896" y="2971800"/>
            <a:ext cx="4125883" cy="685800"/>
            <a:chOff x="4383613" y="3505200"/>
            <a:chExt cx="4125883" cy="6858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5638800" y="3810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724400" y="3505200"/>
              <a:ext cx="35052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613" y="3593068"/>
                  <a:ext cx="609462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9000" t="-8197" r="-8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0109" y="3593068"/>
                  <a:ext cx="569387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l="-8511" t="-8197" r="-85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5334000" y="38216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4000" y="3821668"/>
                  <a:ext cx="62068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8824" t="-8197" r="-784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822919" y="3821668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919" y="3821668"/>
                  <a:ext cx="580608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l="-9474" t="-8197" r="-842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/>
          <p:cNvGrpSpPr/>
          <p:nvPr/>
        </p:nvGrpSpPr>
        <p:grpSpPr>
          <a:xfrm>
            <a:off x="4086084" y="4779639"/>
            <a:ext cx="4916737" cy="478161"/>
            <a:chOff x="3850213" y="1905000"/>
            <a:chExt cx="4916737" cy="478161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6912571" y="1916151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09462" cy="369332"/>
                </a:xfrm>
                <a:prstGeom prst="rect">
                  <a:avLst/>
                </a:prstGeom>
                <a:blipFill rotWithShape="1">
                  <a:blip r:embed="rId16"/>
                  <a:stretch>
                    <a:fillRect l="-8000" t="-8197" r="-9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69387" cy="369332"/>
                </a:xfrm>
                <a:prstGeom prst="rect">
                  <a:avLst/>
                </a:prstGeom>
                <a:blipFill rotWithShape="1">
                  <a:blip r:embed="rId17"/>
                  <a:stretch>
                    <a:fillRect l="-9677" t="-8197" r="-860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670519" y="1992868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0519" y="1992868"/>
                  <a:ext cx="620683" cy="369332"/>
                </a:xfrm>
                <a:prstGeom prst="rect">
                  <a:avLst/>
                </a:prstGeom>
                <a:blipFill rotWithShape="1">
                  <a:blip r:embed="rId18"/>
                  <a:stretch>
                    <a:fillRect l="-8824" t="-8197" r="-784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8186342" y="2013829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6342" y="2013829"/>
                  <a:ext cx="580608" cy="369332"/>
                </a:xfrm>
                <a:prstGeom prst="rect">
                  <a:avLst/>
                </a:prstGeom>
                <a:blipFill rotWithShape="1">
                  <a:blip r:embed="rId19"/>
                  <a:stretch>
                    <a:fillRect l="-9474" t="-8197" r="-842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/>
          <p:cNvGrpSpPr/>
          <p:nvPr/>
        </p:nvGrpSpPr>
        <p:grpSpPr>
          <a:xfrm>
            <a:off x="4086084" y="5846439"/>
            <a:ext cx="4905516" cy="478161"/>
            <a:chOff x="3850213" y="1905000"/>
            <a:chExt cx="4905516" cy="478161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6912571" y="1916151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0213" y="2004536"/>
                  <a:ext cx="620683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8911" t="-8333" r="-17822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954" y="2013829"/>
                  <a:ext cx="580608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8421" t="-8197" r="-189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B050"/>
                      </a:solidFill>
                      <a:sym typeface="Wingdings" pitchFamily="2" charset="2"/>
                    </a:rPr>
                    <a:t>D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0519" y="1992868"/>
                  <a:ext cx="609462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8000" t="-8197" r="-18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C00000"/>
                      </a:solidFill>
                      <a:sym typeface="Wingdings" pitchFamily="2" charset="2"/>
                    </a:rPr>
                    <a:t>F</a:t>
                  </a:r>
                  <a:r>
                    <a:rPr lang="en-US" dirty="0">
                      <a:sym typeface="Wingdings" pitchFamily="2" charset="2"/>
                    </a:rPr>
                    <a:t>[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r>
                    <a:rPr lang="en-US" dirty="0">
                      <a:sym typeface="Wingdings" pitchFamily="2" charset="2"/>
                    </a:rPr>
                    <a:t>]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6342" y="2013829"/>
                  <a:ext cx="56938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9677" t="-8197" r="-1828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/>
            <p:cNvCxnSpPr/>
            <p:nvPr/>
          </p:nvCxnSpPr>
          <p:spPr>
            <a:xfrm>
              <a:off x="4191000" y="1905000"/>
              <a:ext cx="1524000" cy="0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&quot;No&quot; Symbol 38"/>
          <p:cNvSpPr/>
          <p:nvPr/>
        </p:nvSpPr>
        <p:spPr>
          <a:xfrm>
            <a:off x="6096000" y="5486400"/>
            <a:ext cx="914400" cy="914400"/>
          </a:xfrm>
          <a:prstGeom prst="noSmoking">
            <a:avLst>
              <a:gd name="adj" fmla="val 10316"/>
            </a:avLst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19200" y="1764268"/>
            <a:ext cx="3024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ym typeface="Wingdings" panose="05000000000000000000" pitchFamily="2" charset="2"/>
              </a:rPr>
              <a:t></a:t>
            </a:r>
            <a:r>
              <a:rPr lang="en-US" b="1" dirty="0">
                <a:solidFill>
                  <a:srgbClr val="006C31"/>
                </a:solidFill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rgbClr val="006C31"/>
                </a:solidFill>
              </a:rPr>
              <a:t>Tree</a:t>
            </a:r>
            <a:r>
              <a:rPr lang="en-US" dirty="0"/>
              <a:t> edge 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dirty="0"/>
              <a:t> 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" y="3200400"/>
            <a:ext cx="193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ym typeface="Wingdings" panose="05000000000000000000" pitchFamily="2" charset="2"/>
              </a:rPr>
              <a:t></a:t>
            </a:r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Backward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8960" y="4659868"/>
            <a:ext cx="1204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Cross</a:t>
            </a:r>
            <a:r>
              <a:rPr lang="en-US" b="1" dirty="0"/>
              <a:t> </a:t>
            </a:r>
            <a:r>
              <a:rPr lang="en-US" dirty="0"/>
              <a:t>edge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27680" y="1447800"/>
            <a:ext cx="271092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1295399" y="1765012"/>
            <a:ext cx="2947961" cy="37647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1294389" y="2895600"/>
            <a:ext cx="294796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295400" y="3200400"/>
            <a:ext cx="2667000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1447800" y="4736812"/>
            <a:ext cx="266700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94F41E-F76A-0C17-5083-0F8F0E3A4C41}"/>
              </a:ext>
            </a:extLst>
          </p:cNvPr>
          <p:cNvSpPr/>
          <p:nvPr/>
        </p:nvSpPr>
        <p:spPr>
          <a:xfrm>
            <a:off x="248136" y="5826585"/>
            <a:ext cx="2667000" cy="2923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Down Ribbon 54">
                <a:extLst>
                  <a:ext uri="{FF2B5EF4-FFF2-40B4-BE49-F238E27FC236}">
                    <a16:creationId xmlns:a16="http://schemas.microsoft.com/office/drawing/2014/main" id="{52FECCF7-3EF7-2E54-A9EE-E46387F30189}"/>
                  </a:ext>
                </a:extLst>
              </p:cNvPr>
              <p:cNvSpPr/>
              <p:nvPr/>
            </p:nvSpPr>
            <p:spPr>
              <a:xfrm>
                <a:off x="2555288" y="3520476"/>
                <a:ext cx="5957284" cy="1444192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Since (</a:t>
                </a:r>
                <a:r>
                  <a:rPr lang="en-US" sz="16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1600" dirty="0">
                    <a:solidFill>
                      <a:schemeClr val="tx1"/>
                    </a:solidFill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sym typeface="Wingdings" pitchFamily="2" charset="2"/>
                  </a:rPr>
                  <a:t>]</a:t>
                </a:r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16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1600" dirty="0">
                    <a:solidFill>
                      <a:schemeClr val="tx1"/>
                    </a:solidFill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sym typeface="Wingdings" pitchFamily="2" charset="2"/>
                  </a:rPr>
                  <a:t>]</a:t>
                </a:r>
                <a:r>
                  <a:rPr lang="en-US" sz="1600" dirty="0">
                    <a:solidFill>
                      <a:schemeClr val="tx1"/>
                    </a:solidFill>
                  </a:rPr>
                  <a:t>) and (</a:t>
                </a:r>
                <a:r>
                  <a:rPr lang="en-US" sz="1600" b="1" dirty="0">
                    <a:solidFill>
                      <a:srgbClr val="00B050"/>
                    </a:solidFill>
                    <a:sym typeface="Wingdings" pitchFamily="2" charset="2"/>
                  </a:rPr>
                  <a:t>D</a:t>
                </a:r>
                <a:r>
                  <a:rPr lang="en-US" sz="1600" dirty="0">
                    <a:solidFill>
                      <a:schemeClr val="tx1"/>
                    </a:solidFill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sym typeface="Wingdings" pitchFamily="2" charset="2"/>
                  </a:rPr>
                  <a:t>]</a:t>
                </a:r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1600" b="1" dirty="0">
                    <a:solidFill>
                      <a:srgbClr val="C00000"/>
                    </a:solidFill>
                    <a:sym typeface="Wingdings" pitchFamily="2" charset="2"/>
                  </a:rPr>
                  <a:t>F</a:t>
                </a:r>
                <a:r>
                  <a:rPr lang="en-US" sz="1600" dirty="0">
                    <a:solidFill>
                      <a:schemeClr val="tx1"/>
                    </a:solidFill>
                    <a:sym typeface="Wingdings" pitchFamily="2" charset="2"/>
                  </a:rPr>
                  <a:t>[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sym typeface="Wingdings" pitchFamily="2" charset="2"/>
                  </a:rPr>
                  <a:t>]</a:t>
                </a:r>
                <a:r>
                  <a:rPr lang="en-US" sz="1600" dirty="0">
                    <a:solidFill>
                      <a:schemeClr val="tx1"/>
                    </a:solidFill>
                  </a:rPr>
                  <a:t>) are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either </a:t>
                </a:r>
                <a:r>
                  <a:rPr lang="en-US" sz="1600" u="sng" dirty="0">
                    <a:solidFill>
                      <a:schemeClr val="tx1"/>
                    </a:solidFill>
                  </a:rPr>
                  <a:t>disjoint</a:t>
                </a:r>
                <a:r>
                  <a:rPr lang="en-US" sz="1600" dirty="0">
                    <a:solidFill>
                      <a:schemeClr val="tx1"/>
                    </a:solidFill>
                  </a:rPr>
                  <a:t> or one of them encloses the other,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 there are only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possibilities.</a:t>
                </a:r>
              </a:p>
            </p:txBody>
          </p:sp>
        </mc:Choice>
        <mc:Fallback xmlns="">
          <p:sp>
            <p:nvSpPr>
              <p:cNvPr id="29" name="Down Ribbon 54">
                <a:extLst>
                  <a:ext uri="{FF2B5EF4-FFF2-40B4-BE49-F238E27FC236}">
                    <a16:creationId xmlns:a16="http://schemas.microsoft.com/office/drawing/2014/main" id="{52FECCF7-3EF7-2E54-A9EE-E46387F301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288" y="3520476"/>
                <a:ext cx="5957284" cy="1444192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302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5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8" dur="5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9" grpId="0" animBg="1"/>
      <p:bldP spid="39" grpId="1" animBg="1"/>
      <p:bldP spid="40" grpId="0" animBg="1"/>
      <p:bldP spid="41" grpId="0" animBg="1"/>
      <p:bldP spid="42" grpId="0" animBg="1"/>
      <p:bldP spid="43" grpId="0" animBg="1"/>
      <p:bldP spid="44" grpId="0" animBg="1"/>
      <p:bldP spid="28" grpId="0" animBg="1"/>
      <p:bldP spid="29" grpId="0" animBg="1"/>
      <p:bldP spid="29" grpId="1" uiExpand="1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sz="2000" dirty="0"/>
              <a:t>  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u,w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b,c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5789506" y="9906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6019800" y="19050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7283730" y="12192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ight Arrow 54"/>
          <p:cNvSpPr/>
          <p:nvPr/>
        </p:nvSpPr>
        <p:spPr>
          <a:xfrm rot="1556459">
            <a:off x="6562168" y="1564678"/>
            <a:ext cx="254997" cy="299642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6705599" y="4822903"/>
            <a:ext cx="1146718" cy="1163444"/>
            <a:chOff x="6705599" y="2308303"/>
            <a:chExt cx="1146718" cy="1163444"/>
          </a:xfrm>
        </p:grpSpPr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2" name="Straight Arrow Connector 61"/>
          <p:cNvCxnSpPr>
            <a:endCxn id="58" idx="0"/>
          </p:cNvCxnSpPr>
          <p:nvPr/>
        </p:nvCxnSpPr>
        <p:spPr>
          <a:xfrm flipH="1">
            <a:off x="6783658" y="49530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1" idx="2"/>
            <a:endCxn id="59" idx="0"/>
          </p:cNvCxnSpPr>
          <p:nvPr/>
        </p:nvCxnSpPr>
        <p:spPr>
          <a:xfrm>
            <a:off x="7774257" y="50273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7" idx="3"/>
            <a:endCxn id="61" idx="1"/>
          </p:cNvCxnSpPr>
          <p:nvPr/>
        </p:nvCxnSpPr>
        <p:spPr>
          <a:xfrm>
            <a:off x="6861717" y="48991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7" idx="3"/>
            <a:endCxn id="59" idx="1"/>
          </p:cNvCxnSpPr>
          <p:nvPr/>
        </p:nvCxnSpPr>
        <p:spPr>
          <a:xfrm>
            <a:off x="6861717" y="48991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>
            <a:stCxn id="59" idx="3"/>
          </p:cNvCxnSpPr>
          <p:nvPr/>
        </p:nvCxnSpPr>
        <p:spPr>
          <a:xfrm flipH="1" flipV="1">
            <a:off x="6854282" y="48628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475306" y="4724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5306" y="57266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0706" y="4800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94506" y="59552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3" name="Right Arrow 72"/>
          <p:cNvSpPr/>
          <p:nvPr/>
        </p:nvSpPr>
        <p:spPr>
          <a:xfrm rot="1556459">
            <a:off x="6541853" y="46151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ight Arrow 73"/>
          <p:cNvSpPr/>
          <p:nvPr/>
        </p:nvSpPr>
        <p:spPr>
          <a:xfrm rot="1556459">
            <a:off x="6985321" y="881318"/>
            <a:ext cx="265026" cy="29476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6781800" y="4899102"/>
            <a:ext cx="990601" cy="912542"/>
            <a:chOff x="6783659" y="4650058"/>
            <a:chExt cx="990601" cy="912542"/>
          </a:xfrm>
        </p:grpSpPr>
        <p:cxnSp>
          <p:nvCxnSpPr>
            <p:cNvPr id="75" name="Straight Arrow Connector 74"/>
            <p:cNvCxnSpPr/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6934291" y="4650058"/>
              <a:ext cx="834481" cy="520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Curved Connector 77"/>
          <p:cNvCxnSpPr/>
          <p:nvPr/>
        </p:nvCxnSpPr>
        <p:spPr>
          <a:xfrm rot="5400000">
            <a:off x="5791200" y="2286000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>
            <a:off x="6869858" y="4899102"/>
            <a:ext cx="834483" cy="10110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636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5" grpId="0" animBg="1"/>
      <p:bldP spid="73" grpId="0" animBg="1"/>
      <p:bldP spid="7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sz="2000" dirty="0"/>
              <a:t>  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u,w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b,c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Backward</a:t>
            </a:r>
            <a:r>
              <a:rPr lang="en-US" sz="2000" dirty="0"/>
              <a:t>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t,u</a:t>
            </a:r>
            <a:r>
              <a:rPr lang="en-US" sz="2000" dirty="0"/>
              <a:t>) 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j,u</a:t>
            </a:r>
            <a:r>
              <a:rPr lang="en-US" sz="2000" dirty="0"/>
              <a:t>) 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r,q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c,b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5789506" y="9906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6019800" y="19050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7283730" y="12192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6705599" y="4822903"/>
            <a:ext cx="1146718" cy="1163444"/>
            <a:chOff x="6705599" y="2308303"/>
            <a:chExt cx="1146718" cy="1163444"/>
          </a:xfrm>
        </p:grpSpPr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2" name="Straight Arrow Connector 61"/>
          <p:cNvCxnSpPr>
            <a:endCxn id="58" idx="0"/>
          </p:cNvCxnSpPr>
          <p:nvPr/>
        </p:nvCxnSpPr>
        <p:spPr>
          <a:xfrm flipH="1">
            <a:off x="6783658" y="49530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1" idx="2"/>
            <a:endCxn id="59" idx="0"/>
          </p:cNvCxnSpPr>
          <p:nvPr/>
        </p:nvCxnSpPr>
        <p:spPr>
          <a:xfrm>
            <a:off x="7774257" y="50273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7" idx="3"/>
            <a:endCxn id="61" idx="1"/>
          </p:cNvCxnSpPr>
          <p:nvPr/>
        </p:nvCxnSpPr>
        <p:spPr>
          <a:xfrm>
            <a:off x="6861717" y="48991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7" idx="3"/>
            <a:endCxn id="59" idx="1"/>
          </p:cNvCxnSpPr>
          <p:nvPr/>
        </p:nvCxnSpPr>
        <p:spPr>
          <a:xfrm>
            <a:off x="6861717" y="4899103"/>
            <a:ext cx="834483" cy="10110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>
            <a:stCxn id="59" idx="3"/>
          </p:cNvCxnSpPr>
          <p:nvPr/>
        </p:nvCxnSpPr>
        <p:spPr>
          <a:xfrm flipH="1" flipV="1">
            <a:off x="6854282" y="48628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475306" y="4724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5306" y="57266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0706" y="4800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94506" y="59552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781800" y="4899102"/>
            <a:ext cx="990601" cy="912542"/>
            <a:chOff x="6783659" y="4650058"/>
            <a:chExt cx="990601" cy="912542"/>
          </a:xfrm>
        </p:grpSpPr>
        <p:cxnSp>
          <p:nvCxnSpPr>
            <p:cNvPr id="75" name="Straight Arrow Connector 74"/>
            <p:cNvCxnSpPr/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6934291" y="4650058"/>
              <a:ext cx="834481" cy="520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Curved Connector 78"/>
          <p:cNvCxnSpPr/>
          <p:nvPr/>
        </p:nvCxnSpPr>
        <p:spPr>
          <a:xfrm rot="10800000" flipH="1">
            <a:off x="5945459" y="1828800"/>
            <a:ext cx="836341" cy="2286000"/>
          </a:xfrm>
          <a:prstGeom prst="curvedConnector3">
            <a:avLst>
              <a:gd name="adj1" fmla="val -111333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urved Connector 79"/>
          <p:cNvCxnSpPr/>
          <p:nvPr/>
        </p:nvCxnSpPr>
        <p:spPr>
          <a:xfrm rot="16200000" flipV="1">
            <a:off x="6250940" y="2512061"/>
            <a:ext cx="1359932" cy="145812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7543800" y="2514600"/>
            <a:ext cx="136518" cy="74899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urved Connector 81"/>
          <p:cNvCxnSpPr/>
          <p:nvPr/>
        </p:nvCxnSpPr>
        <p:spPr>
          <a:xfrm flipH="1" flipV="1">
            <a:off x="6858000" y="4876800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46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/>
              <a:t>Classification of</a:t>
            </a:r>
            <a:r>
              <a:rPr lang="en-US" sz="3200" b="1" dirty="0">
                <a:solidFill>
                  <a:srgbClr val="7030A0"/>
                </a:solidFill>
              </a:rPr>
              <a:t> non-tree edges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</a:rPr>
              <a:t>Forward</a:t>
            </a:r>
            <a:r>
              <a:rPr lang="en-US" sz="2000" dirty="0"/>
              <a:t>  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u,w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b,c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Backward</a:t>
            </a:r>
            <a:r>
              <a:rPr lang="en-US" sz="2000" dirty="0"/>
              <a:t>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t,u</a:t>
            </a:r>
            <a:r>
              <a:rPr lang="en-US" sz="2000" dirty="0"/>
              <a:t>) 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j,u</a:t>
            </a:r>
            <a:r>
              <a:rPr lang="en-US" sz="2000" dirty="0"/>
              <a:t>) 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r,q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c,b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Cross</a:t>
            </a:r>
            <a:r>
              <a:rPr lang="en-US" sz="2000" dirty="0"/>
              <a:t> edges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x,u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j,t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y,u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              (</a:t>
            </a:r>
            <a:r>
              <a:rPr lang="en-US" sz="2000" dirty="0" err="1"/>
              <a:t>y,q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endParaRPr lang="en-US" sz="2000" dirty="0"/>
          </a:p>
        </p:txBody>
      </p:sp>
      <p:grpSp>
        <p:nvGrpSpPr>
          <p:cNvPr id="14" name="Group 13"/>
          <p:cNvGrpSpPr/>
          <p:nvPr/>
        </p:nvGrpSpPr>
        <p:grpSpPr>
          <a:xfrm>
            <a:off x="5789506" y="990600"/>
            <a:ext cx="2592494" cy="3417332"/>
            <a:chOff x="5560906" y="773668"/>
            <a:chExt cx="2592494" cy="3417332"/>
          </a:xfrm>
        </p:grpSpPr>
        <p:cxnSp>
          <p:nvCxnSpPr>
            <p:cNvPr id="121" name="Straight Arrow Connector 120"/>
            <p:cNvCxnSpPr>
              <a:endCxn id="122" idx="0"/>
            </p:cNvCxnSpPr>
            <p:nvPr/>
          </p:nvCxnSpPr>
          <p:spPr>
            <a:xfrm flipH="1">
              <a:off x="6636836" y="990600"/>
              <a:ext cx="411709" cy="53340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3" name="Group 102"/>
            <p:cNvGrpSpPr/>
            <p:nvPr/>
          </p:nvGrpSpPr>
          <p:grpSpPr>
            <a:xfrm>
              <a:off x="6970486" y="838200"/>
              <a:ext cx="568587" cy="914400"/>
              <a:chOff x="2398486" y="685800"/>
              <a:chExt cx="568587" cy="914400"/>
            </a:xfrm>
          </p:grpSpPr>
          <p:pic>
            <p:nvPicPr>
              <p:cNvPr id="120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23" name="Picture 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130" name="Straight Arrow Connector 129"/>
            <p:cNvCxnSpPr/>
            <p:nvPr/>
          </p:nvCxnSpPr>
          <p:spPr>
            <a:xfrm>
              <a:off x="7048545" y="990600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>
              <a:stCxn id="122" idx="2"/>
              <a:endCxn id="124" idx="0"/>
            </p:cNvCxnSpPr>
            <p:nvPr/>
          </p:nvCxnSpPr>
          <p:spPr>
            <a:xfrm flipH="1">
              <a:off x="6333895" y="1676400"/>
              <a:ext cx="302941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>
              <a:stCxn id="124" idx="2"/>
              <a:endCxn id="126" idx="0"/>
            </p:cNvCxnSpPr>
            <p:nvPr/>
          </p:nvCxnSpPr>
          <p:spPr>
            <a:xfrm flipH="1">
              <a:off x="6029095" y="2362200"/>
              <a:ext cx="304800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>
              <a:stCxn id="124" idx="2"/>
              <a:endCxn id="127" idx="0"/>
            </p:cNvCxnSpPr>
            <p:nvPr/>
          </p:nvCxnSpPr>
          <p:spPr>
            <a:xfrm>
              <a:off x="6333895" y="2362200"/>
              <a:ext cx="465986" cy="6858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stCxn id="131" idx="0"/>
              <a:endCxn id="125" idx="1"/>
            </p:cNvCxnSpPr>
            <p:nvPr/>
          </p:nvCxnSpPr>
          <p:spPr>
            <a:xfrm flipV="1">
              <a:off x="7323737" y="2299010"/>
              <a:ext cx="136518" cy="7489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/>
            <p:cNvCxnSpPr>
              <a:stCxn id="125" idx="2"/>
              <a:endCxn id="128" idx="0"/>
            </p:cNvCxnSpPr>
            <p:nvPr/>
          </p:nvCxnSpPr>
          <p:spPr>
            <a:xfrm>
              <a:off x="7538314" y="2375210"/>
              <a:ext cx="384628" cy="6727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/>
            <p:cNvCxnSpPr>
              <a:stCxn id="122" idx="2"/>
              <a:endCxn id="125" idx="1"/>
            </p:cNvCxnSpPr>
            <p:nvPr/>
          </p:nvCxnSpPr>
          <p:spPr>
            <a:xfrm>
              <a:off x="6636836" y="1676400"/>
              <a:ext cx="823419" cy="62261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urved Connector 137"/>
            <p:cNvCxnSpPr>
              <a:stCxn id="129" idx="1"/>
              <a:endCxn id="122" idx="1"/>
            </p:cNvCxnSpPr>
            <p:nvPr/>
          </p:nvCxnSpPr>
          <p:spPr>
            <a:xfrm rot="10800000" flipH="1">
              <a:off x="5722435" y="1600200"/>
              <a:ext cx="836341" cy="2286000"/>
            </a:xfrm>
            <a:prstGeom prst="curvedConnector3">
              <a:avLst>
                <a:gd name="adj1" fmla="val -111333"/>
              </a:avLst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126" idx="2"/>
              <a:endCxn id="129" idx="0"/>
            </p:cNvCxnSpPr>
            <p:nvPr/>
          </p:nvCxnSpPr>
          <p:spPr>
            <a:xfrm flipH="1">
              <a:off x="5800495" y="3200400"/>
              <a:ext cx="22860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/>
            <p:cNvCxnSpPr>
              <a:endCxn id="122" idx="3"/>
            </p:cNvCxnSpPr>
            <p:nvPr/>
          </p:nvCxnSpPr>
          <p:spPr>
            <a:xfrm flipH="1" flipV="1">
              <a:off x="6714894" y="1600200"/>
              <a:ext cx="668062" cy="7620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endCxn id="125" idx="0"/>
            </p:cNvCxnSpPr>
            <p:nvPr/>
          </p:nvCxnSpPr>
          <p:spPr>
            <a:xfrm>
              <a:off x="7461015" y="1752600"/>
              <a:ext cx="77299" cy="47021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urved Connector 141"/>
            <p:cNvCxnSpPr>
              <a:stCxn id="122" idx="2"/>
              <a:endCxn id="126" idx="1"/>
            </p:cNvCxnSpPr>
            <p:nvPr/>
          </p:nvCxnSpPr>
          <p:spPr>
            <a:xfrm rot="5400000">
              <a:off x="5570036" y="2057400"/>
              <a:ext cx="1447800" cy="685800"/>
            </a:xfrm>
            <a:prstGeom prst="curvedConnector4">
              <a:avLst>
                <a:gd name="adj1" fmla="val 3466"/>
                <a:gd name="adj2" fmla="val 102439"/>
              </a:avLst>
            </a:prstGeom>
            <a:ln w="28575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27" idx="1"/>
              <a:endCxn id="129" idx="3"/>
            </p:cNvCxnSpPr>
            <p:nvPr/>
          </p:nvCxnSpPr>
          <p:spPr>
            <a:xfrm flipH="1">
              <a:off x="5878553" y="3124200"/>
              <a:ext cx="843269" cy="76200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27" idx="2"/>
              <a:endCxn id="145" idx="0"/>
            </p:cNvCxnSpPr>
            <p:nvPr/>
          </p:nvCxnSpPr>
          <p:spPr>
            <a:xfrm>
              <a:off x="6799881" y="3200400"/>
              <a:ext cx="63697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777" y="1524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5836" y="2209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255" y="22228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1036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1822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4883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2436" y="3810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5678" y="30480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5519" y="3733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6" name="Straight Arrow Connector 145"/>
            <p:cNvCxnSpPr>
              <a:stCxn id="128" idx="1"/>
              <a:endCxn id="131" idx="3"/>
            </p:cNvCxnSpPr>
            <p:nvPr/>
          </p:nvCxnSpPr>
          <p:spPr>
            <a:xfrm flipH="1">
              <a:off x="7401795" y="3124200"/>
              <a:ext cx="443088" cy="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/>
            <p:cNvSpPr txBox="1"/>
            <p:nvPr/>
          </p:nvSpPr>
          <p:spPr>
            <a:xfrm>
              <a:off x="7162800" y="31242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6322906" y="1600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7031148" y="77366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7467600" y="14594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6569138" y="36692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5637106" y="29072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5560906" y="3821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6035738" y="2069068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</a:t>
              </a: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7618306" y="21336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186" name="TextBox 185"/>
            <p:cNvSpPr txBox="1"/>
            <p:nvPr/>
          </p:nvSpPr>
          <p:spPr>
            <a:xfrm>
              <a:off x="7846906" y="30596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6477000" y="29072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cxnSp>
          <p:nvCxnSpPr>
            <p:cNvPr id="7" name="Curved Connector 6"/>
            <p:cNvCxnSpPr>
              <a:endCxn id="122" idx="2"/>
            </p:cNvCxnSpPr>
            <p:nvPr/>
          </p:nvCxnSpPr>
          <p:spPr>
            <a:xfrm rot="16200000" flipV="1">
              <a:off x="6029776" y="22834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/>
          <p:cNvGrpSpPr/>
          <p:nvPr/>
        </p:nvGrpSpPr>
        <p:grpSpPr>
          <a:xfrm>
            <a:off x="6019800" y="1905000"/>
            <a:ext cx="2137228" cy="2133600"/>
            <a:chOff x="3581400" y="3048000"/>
            <a:chExt cx="2137228" cy="2133600"/>
          </a:xfrm>
        </p:grpSpPr>
        <p:cxnSp>
          <p:nvCxnSpPr>
            <p:cNvPr id="46" name="Straight Arrow Connector 45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Arrow Connector 53"/>
          <p:cNvCxnSpPr/>
          <p:nvPr/>
        </p:nvCxnSpPr>
        <p:spPr>
          <a:xfrm>
            <a:off x="7283730" y="1219200"/>
            <a:ext cx="412470" cy="609600"/>
          </a:xfrm>
          <a:prstGeom prst="straightConnector1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Group 55"/>
          <p:cNvGrpSpPr/>
          <p:nvPr/>
        </p:nvGrpSpPr>
        <p:grpSpPr>
          <a:xfrm>
            <a:off x="6705599" y="4822903"/>
            <a:ext cx="1146718" cy="1163444"/>
            <a:chOff x="6705599" y="2308303"/>
            <a:chExt cx="1146718" cy="1163444"/>
          </a:xfrm>
        </p:grpSpPr>
        <p:pic>
          <p:nvPicPr>
            <p:cNvPr id="57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8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9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1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62" name="Straight Arrow Connector 61"/>
          <p:cNvCxnSpPr>
            <a:endCxn id="58" idx="0"/>
          </p:cNvCxnSpPr>
          <p:nvPr/>
        </p:nvCxnSpPr>
        <p:spPr>
          <a:xfrm flipH="1">
            <a:off x="6783658" y="49530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61" idx="2"/>
            <a:endCxn id="59" idx="0"/>
          </p:cNvCxnSpPr>
          <p:nvPr/>
        </p:nvCxnSpPr>
        <p:spPr>
          <a:xfrm>
            <a:off x="7774257" y="50273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7" idx="3"/>
            <a:endCxn id="61" idx="1"/>
          </p:cNvCxnSpPr>
          <p:nvPr/>
        </p:nvCxnSpPr>
        <p:spPr>
          <a:xfrm>
            <a:off x="6861717" y="48991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7" idx="3"/>
            <a:endCxn id="59" idx="1"/>
          </p:cNvCxnSpPr>
          <p:nvPr/>
        </p:nvCxnSpPr>
        <p:spPr>
          <a:xfrm>
            <a:off x="6861717" y="4899103"/>
            <a:ext cx="834483" cy="101104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>
            <a:stCxn id="59" idx="3"/>
          </p:cNvCxnSpPr>
          <p:nvPr/>
        </p:nvCxnSpPr>
        <p:spPr>
          <a:xfrm flipH="1" flipV="1">
            <a:off x="6854282" y="48628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475306" y="47244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75306" y="57266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0706" y="48006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94506" y="595526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781800" y="4899102"/>
            <a:ext cx="990601" cy="912542"/>
            <a:chOff x="6783659" y="4650058"/>
            <a:chExt cx="990601" cy="912542"/>
          </a:xfrm>
        </p:grpSpPr>
        <p:cxnSp>
          <p:nvCxnSpPr>
            <p:cNvPr id="75" name="Straight Arrow Connector 74"/>
            <p:cNvCxnSpPr/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6934291" y="4650058"/>
              <a:ext cx="834481" cy="52039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79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Application - </a:t>
            </a:r>
            <a:r>
              <a:rPr lang="en-US" b="1" dirty="0">
                <a:solidFill>
                  <a:srgbClr val="0070C0"/>
                </a:solidFill>
              </a:rPr>
              <a:t>I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629400" cy="1752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unique-path </a:t>
            </a:r>
            <a:r>
              <a:rPr lang="en-US" b="1" dirty="0">
                <a:solidFill>
                  <a:schemeClr val="tx1"/>
                </a:solidFill>
              </a:rPr>
              <a:t>graph problem</a:t>
            </a:r>
          </a:p>
        </p:txBody>
      </p:sp>
    </p:spTree>
    <p:extLst>
      <p:ext uri="{BB962C8B-B14F-4D97-AF65-F5344CB8AC3E}">
        <p14:creationId xmlns:p14="http://schemas.microsoft.com/office/powerpoint/2010/main" val="1729013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Unique-path</a:t>
            </a:r>
            <a:r>
              <a:rPr lang="en-US" sz="3200" b="1" dirty="0"/>
              <a:t> graph</a:t>
            </a:r>
            <a:br>
              <a:rPr lang="en-US" sz="3200" b="1" dirty="0"/>
            </a:b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5344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dirty="0"/>
                  <a:t>: A directed graph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=(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) is said to be unique-path graph if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For each pair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 there is </a:t>
                </a:r>
                <a:r>
                  <a:rPr lang="en-US" sz="2000" b="1" u="sng" dirty="0"/>
                  <a:t>at most </a:t>
                </a:r>
                <a:r>
                  <a:rPr lang="en-US" sz="2000" u="sng" dirty="0"/>
                  <a:t>one path</a:t>
                </a:r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In other words,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Aim</a:t>
                </a:r>
                <a:r>
                  <a:rPr lang="en-US" sz="2000" dirty="0"/>
                  <a:t>:  Design an efficient algorithm to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 is unique-path graph.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534400" cy="4983163"/>
              </a:xfrm>
              <a:blipFill rotWithShape="1">
                <a:blip r:embed="rId2"/>
                <a:stretch>
                  <a:fillRect l="-714" t="-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286000" y="2297668"/>
                <a:ext cx="36825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ym typeface="Wingdings" pitchFamily="2" charset="2"/>
                  </a:rPr>
                  <a:t> there is </a:t>
                </a:r>
                <a:r>
                  <a:rPr lang="en-US" u="sng" dirty="0">
                    <a:sym typeface="Wingdings" pitchFamily="2" charset="2"/>
                  </a:rPr>
                  <a:t>only one</a:t>
                </a:r>
                <a:r>
                  <a:rPr lang="en-US" dirty="0">
                    <a:sym typeface="Wingdings" pitchFamily="2" charset="2"/>
                  </a:rPr>
                  <a:t>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297668"/>
                <a:ext cx="3682547" cy="369332"/>
              </a:xfrm>
              <a:prstGeom prst="rect">
                <a:avLst/>
              </a:prstGeom>
              <a:blipFill>
                <a:blip r:embed="rId3"/>
                <a:stretch>
                  <a:fillRect l="-1325" t="-11475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4419599" y="1066800"/>
            <a:ext cx="343271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962400" y="1524000"/>
            <a:ext cx="4014556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64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/>
      <p:bldP spid="6" grpId="0" animBg="1"/>
      <p:bldP spid="6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Consider any non-tree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is a 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Forward</a:t>
                </a:r>
                <a:r>
                  <a:rPr lang="en-US" sz="2000" dirty="0"/>
                  <a:t> edge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14" idx="2"/>
            <a:endCxn id="15" idx="0"/>
          </p:cNvCxnSpPr>
          <p:nvPr/>
        </p:nvCxnSpPr>
        <p:spPr>
          <a:xfrm flipH="1">
            <a:off x="6562495" y="4191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5" idx="2"/>
            <a:endCxn id="17" idx="0"/>
          </p:cNvCxnSpPr>
          <p:nvPr/>
        </p:nvCxnSpPr>
        <p:spPr>
          <a:xfrm flipH="1">
            <a:off x="6257695" y="4876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2"/>
            <a:endCxn id="18" idx="0"/>
          </p:cNvCxnSpPr>
          <p:nvPr/>
        </p:nvCxnSpPr>
        <p:spPr>
          <a:xfrm>
            <a:off x="6562495" y="4876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6" idx="2"/>
            <a:endCxn id="19" idx="0"/>
          </p:cNvCxnSpPr>
          <p:nvPr/>
        </p:nvCxnSpPr>
        <p:spPr>
          <a:xfrm>
            <a:off x="7766914" y="4889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4" idx="2"/>
            <a:endCxn id="16" idx="1"/>
          </p:cNvCxnSpPr>
          <p:nvPr/>
        </p:nvCxnSpPr>
        <p:spPr>
          <a:xfrm>
            <a:off x="6865436" y="4191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7" idx="2"/>
            <a:endCxn id="20" idx="0"/>
          </p:cNvCxnSpPr>
          <p:nvPr/>
        </p:nvCxnSpPr>
        <p:spPr>
          <a:xfrm flipH="1">
            <a:off x="6029095" y="5715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16" idx="0"/>
          </p:cNvCxnSpPr>
          <p:nvPr/>
        </p:nvCxnSpPr>
        <p:spPr>
          <a:xfrm>
            <a:off x="7689615" y="4267200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2"/>
            <a:endCxn id="22" idx="0"/>
          </p:cNvCxnSpPr>
          <p:nvPr/>
        </p:nvCxnSpPr>
        <p:spPr>
          <a:xfrm>
            <a:off x="7028481" y="5715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377" y="4038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436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855" y="47374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636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22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483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6324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78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19" y="6248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Straight Arrow Connector 22"/>
          <p:cNvCxnSpPr>
            <a:stCxn id="19" idx="1"/>
            <a:endCxn id="21" idx="3"/>
          </p:cNvCxnSpPr>
          <p:nvPr/>
        </p:nvCxnSpPr>
        <p:spPr>
          <a:xfrm flipH="1">
            <a:off x="7630395" y="5638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91400" y="5638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506" y="4114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865436" y="3288268"/>
            <a:ext cx="1137258" cy="1055132"/>
            <a:chOff x="4427036" y="2133600"/>
            <a:chExt cx="1137258" cy="1055132"/>
          </a:xfrm>
        </p:grpSpPr>
        <p:cxnSp>
          <p:nvCxnSpPr>
            <p:cNvPr id="27" name="Straight Arrow Connector 26"/>
            <p:cNvCxnSpPr>
              <a:endCxn id="14" idx="0"/>
            </p:cNvCxnSpPr>
            <p:nvPr/>
          </p:nvCxnSpPr>
          <p:spPr>
            <a:xfrm flipH="1">
              <a:off x="4427036" y="2362200"/>
              <a:ext cx="411709" cy="5334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/>
            <p:cNvGrpSpPr/>
            <p:nvPr/>
          </p:nvGrpSpPr>
          <p:grpSpPr>
            <a:xfrm>
              <a:off x="4760686" y="2198132"/>
              <a:ext cx="568587" cy="914400"/>
              <a:chOff x="2398486" y="685800"/>
              <a:chExt cx="568587" cy="914400"/>
            </a:xfrm>
          </p:grpSpPr>
          <p:pic>
            <p:nvPicPr>
              <p:cNvPr id="33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685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4" name="Picture 2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1447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cxnSp>
          <p:nvCxnSpPr>
            <p:cNvPr id="29" name="Straight Arrow Connector 28"/>
            <p:cNvCxnSpPr/>
            <p:nvPr/>
          </p:nvCxnSpPr>
          <p:spPr>
            <a:xfrm>
              <a:off x="4838745" y="2350532"/>
              <a:ext cx="412470" cy="6096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endCxn id="14" idx="3"/>
            </p:cNvCxnSpPr>
            <p:nvPr/>
          </p:nvCxnSpPr>
          <p:spPr>
            <a:xfrm flipH="1" flipV="1">
              <a:off x="4505094" y="2971800"/>
              <a:ext cx="668062" cy="76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4821348" y="2133600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257800" y="28194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797738" y="61838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5706" y="5421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9506" y="6336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4338" y="4583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6906" y="4648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5506" y="5574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00" y="5421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951035" y="4126468"/>
            <a:ext cx="1737820" cy="2286000"/>
            <a:chOff x="3512635" y="2971800"/>
            <a:chExt cx="1737820" cy="2286000"/>
          </a:xfrm>
        </p:grpSpPr>
        <p:cxnSp>
          <p:nvCxnSpPr>
            <p:cNvPr id="43" name="Straight Arrow Connector 42"/>
            <p:cNvCxnSpPr>
              <a:stCxn id="21" idx="0"/>
              <a:endCxn id="16" idx="1"/>
            </p:cNvCxnSpPr>
            <p:nvPr/>
          </p:nvCxnSpPr>
          <p:spPr>
            <a:xfrm flipV="1">
              <a:off x="5113937" y="36706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20" idx="1"/>
              <a:endCxn id="14" idx="1"/>
            </p:cNvCxnSpPr>
            <p:nvPr/>
          </p:nvCxnSpPr>
          <p:spPr>
            <a:xfrm rot="10800000" flipH="1">
              <a:off x="3512635" y="2971800"/>
              <a:ext cx="836341" cy="2286000"/>
            </a:xfrm>
            <a:prstGeom prst="curvedConnector3">
              <a:avLst>
                <a:gd name="adj1" fmla="val -27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8" idx="1"/>
              <a:endCxn id="20" idx="3"/>
            </p:cNvCxnSpPr>
            <p:nvPr/>
          </p:nvCxnSpPr>
          <p:spPr>
            <a:xfrm flipH="1">
              <a:off x="3668753" y="44958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/>
            <p:cNvCxnSpPr>
              <a:endCxn id="14" idx="2"/>
            </p:cNvCxnSpPr>
            <p:nvPr/>
          </p:nvCxnSpPr>
          <p:spPr>
            <a:xfrm rot="16200000" flipV="1">
              <a:off x="3819976" y="36550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19800" y="4202668"/>
            <a:ext cx="2137228" cy="2133600"/>
            <a:chOff x="3581400" y="3048000"/>
            <a:chExt cx="2137228" cy="2133600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ight Arrow 56"/>
          <p:cNvSpPr/>
          <p:nvPr/>
        </p:nvSpPr>
        <p:spPr>
          <a:xfrm rot="3687344">
            <a:off x="6593717" y="3782466"/>
            <a:ext cx="290522" cy="295336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Curved Connector 58"/>
          <p:cNvCxnSpPr/>
          <p:nvPr/>
        </p:nvCxnSpPr>
        <p:spPr>
          <a:xfrm rot="5400000">
            <a:off x="5791200" y="4572000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Curved Connector 57"/>
          <p:cNvCxnSpPr/>
          <p:nvPr/>
        </p:nvCxnSpPr>
        <p:spPr>
          <a:xfrm rot="5400000">
            <a:off x="5791200" y="4572000"/>
            <a:ext cx="1447800" cy="685800"/>
          </a:xfrm>
          <a:prstGeom prst="curvedConnector4">
            <a:avLst>
              <a:gd name="adj1" fmla="val 3466"/>
              <a:gd name="adj2" fmla="val 102439"/>
            </a:avLst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2057400" y="1981200"/>
            <a:ext cx="259080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4648199" y="1981200"/>
            <a:ext cx="3351953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4E37026A-2751-B8BF-025C-2CDCF5E10F31}"/>
              </a:ext>
            </a:extLst>
          </p:cNvPr>
          <p:cNvSpPr/>
          <p:nvPr/>
        </p:nvSpPr>
        <p:spPr>
          <a:xfrm>
            <a:off x="3733800" y="216933"/>
            <a:ext cx="228600" cy="457200"/>
          </a:xfrm>
          <a:prstGeom prst="down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03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7037E-6 L -0.0375 0.00162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75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1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1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7" grpId="0" animBg="1"/>
      <p:bldP spid="60" grpId="0" animBg="1"/>
      <p:bldP spid="61" grpId="0" animBg="1"/>
      <p:bldP spid="62" grpId="0" animBg="1"/>
      <p:bldP spid="4" grpId="0" animBg="1"/>
      <p:bldP spid="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Consider any non-tree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is a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Cross</a:t>
                </a:r>
                <a:r>
                  <a:rPr lang="en-US" sz="2000" dirty="0"/>
                  <a:t> edge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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14" idx="2"/>
            <a:endCxn id="15" idx="0"/>
          </p:cNvCxnSpPr>
          <p:nvPr/>
        </p:nvCxnSpPr>
        <p:spPr>
          <a:xfrm flipH="1">
            <a:off x="6562495" y="4191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5" idx="2"/>
            <a:endCxn id="17" idx="0"/>
          </p:cNvCxnSpPr>
          <p:nvPr/>
        </p:nvCxnSpPr>
        <p:spPr>
          <a:xfrm flipH="1">
            <a:off x="6257695" y="4876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2"/>
            <a:endCxn id="18" idx="0"/>
          </p:cNvCxnSpPr>
          <p:nvPr/>
        </p:nvCxnSpPr>
        <p:spPr>
          <a:xfrm>
            <a:off x="6562495" y="4876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6" idx="2"/>
            <a:endCxn id="19" idx="0"/>
          </p:cNvCxnSpPr>
          <p:nvPr/>
        </p:nvCxnSpPr>
        <p:spPr>
          <a:xfrm>
            <a:off x="7766914" y="4889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4" idx="2"/>
            <a:endCxn id="16" idx="1"/>
          </p:cNvCxnSpPr>
          <p:nvPr/>
        </p:nvCxnSpPr>
        <p:spPr>
          <a:xfrm>
            <a:off x="6865436" y="4191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7" idx="2"/>
            <a:endCxn id="20" idx="0"/>
          </p:cNvCxnSpPr>
          <p:nvPr/>
        </p:nvCxnSpPr>
        <p:spPr>
          <a:xfrm flipH="1">
            <a:off x="6029095" y="5715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2"/>
            <a:endCxn id="22" idx="0"/>
          </p:cNvCxnSpPr>
          <p:nvPr/>
        </p:nvCxnSpPr>
        <p:spPr>
          <a:xfrm>
            <a:off x="7028481" y="5715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377" y="4038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436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855" y="47374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636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22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483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6324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78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19" y="6248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Straight Arrow Connector 22"/>
          <p:cNvCxnSpPr>
            <a:stCxn id="19" idx="1"/>
            <a:endCxn id="21" idx="3"/>
          </p:cNvCxnSpPr>
          <p:nvPr/>
        </p:nvCxnSpPr>
        <p:spPr>
          <a:xfrm flipH="1">
            <a:off x="7630395" y="5638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91400" y="5638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506" y="4114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7738" y="61838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5706" y="5421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9506" y="6336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4338" y="4583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6906" y="4648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5506" y="5574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00" y="5421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951035" y="4126468"/>
            <a:ext cx="1737820" cy="2286000"/>
            <a:chOff x="3512635" y="2971800"/>
            <a:chExt cx="1737820" cy="2286000"/>
          </a:xfrm>
        </p:grpSpPr>
        <p:cxnSp>
          <p:nvCxnSpPr>
            <p:cNvPr id="43" name="Straight Arrow Connector 42"/>
            <p:cNvCxnSpPr>
              <a:stCxn id="21" idx="0"/>
              <a:endCxn id="16" idx="1"/>
            </p:cNvCxnSpPr>
            <p:nvPr/>
          </p:nvCxnSpPr>
          <p:spPr>
            <a:xfrm flipV="1">
              <a:off x="5113937" y="36706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20" idx="1"/>
              <a:endCxn id="14" idx="1"/>
            </p:cNvCxnSpPr>
            <p:nvPr/>
          </p:nvCxnSpPr>
          <p:spPr>
            <a:xfrm rot="10800000" flipH="1">
              <a:off x="3512635" y="2971800"/>
              <a:ext cx="836341" cy="2286000"/>
            </a:xfrm>
            <a:prstGeom prst="curvedConnector3">
              <a:avLst>
                <a:gd name="adj1" fmla="val -27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18" idx="1"/>
              <a:endCxn id="20" idx="3"/>
            </p:cNvCxnSpPr>
            <p:nvPr/>
          </p:nvCxnSpPr>
          <p:spPr>
            <a:xfrm flipH="1">
              <a:off x="3668753" y="4495800"/>
              <a:ext cx="843269" cy="762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/>
            <p:cNvCxnSpPr>
              <a:endCxn id="14" idx="2"/>
            </p:cNvCxnSpPr>
            <p:nvPr/>
          </p:nvCxnSpPr>
          <p:spPr>
            <a:xfrm rot="16200000" flipV="1">
              <a:off x="3819976" y="36550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19800" y="4202668"/>
            <a:ext cx="2137228" cy="2133600"/>
            <a:chOff x="3581400" y="3048000"/>
            <a:chExt cx="2137228" cy="2133600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ight Arrow 56"/>
          <p:cNvSpPr/>
          <p:nvPr/>
        </p:nvSpPr>
        <p:spPr>
          <a:xfrm rot="1556459">
            <a:off x="6526961" y="3870334"/>
            <a:ext cx="290522" cy="295336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/>
          <p:cNvCxnSpPr/>
          <p:nvPr/>
        </p:nvCxnSpPr>
        <p:spPr>
          <a:xfrm flipH="1">
            <a:off x="6096000" y="5650468"/>
            <a:ext cx="843269" cy="762000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1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Consider any non-tree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is a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sz="2000" dirty="0"/>
                  <a:t> edge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14" idx="2"/>
            <a:endCxn id="15" idx="0"/>
          </p:cNvCxnSpPr>
          <p:nvPr/>
        </p:nvCxnSpPr>
        <p:spPr>
          <a:xfrm flipH="1">
            <a:off x="6562495" y="4191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5" idx="2"/>
            <a:endCxn id="17" idx="0"/>
          </p:cNvCxnSpPr>
          <p:nvPr/>
        </p:nvCxnSpPr>
        <p:spPr>
          <a:xfrm flipH="1">
            <a:off x="6257695" y="4876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2"/>
            <a:endCxn id="18" idx="0"/>
          </p:cNvCxnSpPr>
          <p:nvPr/>
        </p:nvCxnSpPr>
        <p:spPr>
          <a:xfrm>
            <a:off x="6562495" y="4876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6" idx="2"/>
            <a:endCxn id="19" idx="0"/>
          </p:cNvCxnSpPr>
          <p:nvPr/>
        </p:nvCxnSpPr>
        <p:spPr>
          <a:xfrm>
            <a:off x="7766914" y="4889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4" idx="2"/>
            <a:endCxn id="16" idx="1"/>
          </p:cNvCxnSpPr>
          <p:nvPr/>
        </p:nvCxnSpPr>
        <p:spPr>
          <a:xfrm>
            <a:off x="6865436" y="4191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7" idx="2"/>
            <a:endCxn id="20" idx="0"/>
          </p:cNvCxnSpPr>
          <p:nvPr/>
        </p:nvCxnSpPr>
        <p:spPr>
          <a:xfrm flipH="1">
            <a:off x="6029095" y="5715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2"/>
            <a:endCxn id="22" idx="0"/>
          </p:cNvCxnSpPr>
          <p:nvPr/>
        </p:nvCxnSpPr>
        <p:spPr>
          <a:xfrm>
            <a:off x="7028481" y="5715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377" y="4038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436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855" y="47374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636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22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483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6324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78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19" y="6248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Straight Arrow Connector 22"/>
          <p:cNvCxnSpPr>
            <a:stCxn id="19" idx="1"/>
            <a:endCxn id="21" idx="3"/>
          </p:cNvCxnSpPr>
          <p:nvPr/>
        </p:nvCxnSpPr>
        <p:spPr>
          <a:xfrm flipH="1">
            <a:off x="7630395" y="5638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91400" y="5638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506" y="4114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7738" y="61838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5706" y="5421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9506" y="6336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4338" y="4583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6906" y="4648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5506" y="5574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00" y="5421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951035" y="4126468"/>
            <a:ext cx="1737820" cy="2286000"/>
            <a:chOff x="3512635" y="2971800"/>
            <a:chExt cx="1737820" cy="2286000"/>
          </a:xfrm>
        </p:grpSpPr>
        <p:cxnSp>
          <p:nvCxnSpPr>
            <p:cNvPr id="43" name="Straight Arrow Connector 42"/>
            <p:cNvCxnSpPr>
              <a:stCxn id="21" idx="0"/>
              <a:endCxn id="16" idx="1"/>
            </p:cNvCxnSpPr>
            <p:nvPr/>
          </p:nvCxnSpPr>
          <p:spPr>
            <a:xfrm flipV="1">
              <a:off x="5113937" y="3670610"/>
              <a:ext cx="136518" cy="74899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20" idx="1"/>
              <a:endCxn id="14" idx="1"/>
            </p:cNvCxnSpPr>
            <p:nvPr/>
          </p:nvCxnSpPr>
          <p:spPr>
            <a:xfrm rot="10800000" flipH="1">
              <a:off x="3512635" y="2971800"/>
              <a:ext cx="836341" cy="2286000"/>
            </a:xfrm>
            <a:prstGeom prst="curvedConnector3">
              <a:avLst>
                <a:gd name="adj1" fmla="val -27333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/>
            <p:cNvCxnSpPr>
              <a:endCxn id="14" idx="2"/>
            </p:cNvCxnSpPr>
            <p:nvPr/>
          </p:nvCxnSpPr>
          <p:spPr>
            <a:xfrm rot="16200000" flipV="1">
              <a:off x="3819976" y="36550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19800" y="4202668"/>
            <a:ext cx="2137228" cy="2133600"/>
            <a:chOff x="3581400" y="3048000"/>
            <a:chExt cx="2137228" cy="2133600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ight Arrow 56"/>
          <p:cNvSpPr/>
          <p:nvPr/>
        </p:nvSpPr>
        <p:spPr>
          <a:xfrm rot="1556459">
            <a:off x="6526961" y="3870334"/>
            <a:ext cx="290522" cy="295336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5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Consider any non-tree edge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If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) is a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sz="2000" dirty="0"/>
                  <a:t> edge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Question</a:t>
                </a:r>
                <a:r>
                  <a:rPr lang="en-US" sz="2000" dirty="0">
                    <a:sym typeface="Wingdings" panose="05000000000000000000" pitchFamily="2" charset="2"/>
                  </a:rPr>
                  <a:t>: If no 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Forward</a:t>
                </a:r>
                <a:r>
                  <a:rPr lang="en-US" sz="2000" dirty="0">
                    <a:sym typeface="Wingdings" panose="05000000000000000000" pitchFamily="2" charset="2"/>
                  </a:rPr>
                  <a:t>/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anose="05000000000000000000" pitchFamily="2" charset="2"/>
                  </a:rPr>
                  <a:t>Cross</a:t>
                </a:r>
                <a:r>
                  <a:rPr lang="en-US" sz="2000" dirty="0">
                    <a:sym typeface="Wingdings" panose="05000000000000000000" pitchFamily="2" charset="2"/>
                  </a:rPr>
                  <a:t> edge exists,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anose="05000000000000000000" pitchFamily="2" charset="2"/>
                  </a:rPr>
                  <a:t>can a backward edge appear in any </a:t>
                </a:r>
                <a:r>
                  <a:rPr lang="en-US" sz="2000" u="sng" dirty="0">
                    <a:sym typeface="Wingdings" panose="05000000000000000000" pitchFamily="2" charset="2"/>
                  </a:rPr>
                  <a:t>path</a:t>
                </a:r>
                <a:r>
                  <a:rPr lang="en-US" sz="2000" dirty="0">
                    <a:sym typeface="Wingdings" panose="05000000000000000000" pitchFamily="2" charset="2"/>
                  </a:rPr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Answer: Never.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stCxn id="14" idx="2"/>
            <a:endCxn id="15" idx="0"/>
          </p:cNvCxnSpPr>
          <p:nvPr/>
        </p:nvCxnSpPr>
        <p:spPr>
          <a:xfrm flipH="1">
            <a:off x="6562495" y="4191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stCxn id="15" idx="2"/>
            <a:endCxn id="17" idx="0"/>
          </p:cNvCxnSpPr>
          <p:nvPr/>
        </p:nvCxnSpPr>
        <p:spPr>
          <a:xfrm flipH="1">
            <a:off x="6257695" y="4876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5" idx="2"/>
            <a:endCxn id="18" idx="0"/>
          </p:cNvCxnSpPr>
          <p:nvPr/>
        </p:nvCxnSpPr>
        <p:spPr>
          <a:xfrm>
            <a:off x="6562495" y="4876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6" idx="2"/>
            <a:endCxn id="19" idx="0"/>
          </p:cNvCxnSpPr>
          <p:nvPr/>
        </p:nvCxnSpPr>
        <p:spPr>
          <a:xfrm>
            <a:off x="7766914" y="4889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4" idx="2"/>
            <a:endCxn id="16" idx="1"/>
          </p:cNvCxnSpPr>
          <p:nvPr/>
        </p:nvCxnSpPr>
        <p:spPr>
          <a:xfrm>
            <a:off x="6865436" y="4191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7" idx="2"/>
            <a:endCxn id="20" idx="0"/>
          </p:cNvCxnSpPr>
          <p:nvPr/>
        </p:nvCxnSpPr>
        <p:spPr>
          <a:xfrm flipH="1">
            <a:off x="6029095" y="5715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8" idx="2"/>
            <a:endCxn id="22" idx="0"/>
          </p:cNvCxnSpPr>
          <p:nvPr/>
        </p:nvCxnSpPr>
        <p:spPr>
          <a:xfrm>
            <a:off x="7028481" y="5715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377" y="4038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436" y="4724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855" y="473741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636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22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483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036" y="6324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78" y="55626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4119" y="6248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3" name="Straight Arrow Connector 22"/>
          <p:cNvCxnSpPr>
            <a:stCxn id="19" idx="1"/>
            <a:endCxn id="21" idx="3"/>
          </p:cNvCxnSpPr>
          <p:nvPr/>
        </p:nvCxnSpPr>
        <p:spPr>
          <a:xfrm flipH="1">
            <a:off x="7630395" y="5638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91400" y="5638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506" y="4114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7738" y="61838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5706" y="5421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9506" y="6336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4338" y="4583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6906" y="4648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5506" y="5574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600" y="5421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951035" y="4126468"/>
            <a:ext cx="1737820" cy="2286000"/>
            <a:chOff x="3512635" y="2971800"/>
            <a:chExt cx="1737820" cy="2286000"/>
          </a:xfrm>
        </p:grpSpPr>
        <p:cxnSp>
          <p:nvCxnSpPr>
            <p:cNvPr id="43" name="Straight Arrow Connector 42"/>
            <p:cNvCxnSpPr>
              <a:stCxn id="21" idx="0"/>
              <a:endCxn id="16" idx="1"/>
            </p:cNvCxnSpPr>
            <p:nvPr/>
          </p:nvCxnSpPr>
          <p:spPr>
            <a:xfrm flipV="1">
              <a:off x="5113937" y="3670610"/>
              <a:ext cx="136518" cy="7489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43"/>
            <p:cNvCxnSpPr>
              <a:stCxn id="20" idx="1"/>
              <a:endCxn id="14" idx="1"/>
            </p:cNvCxnSpPr>
            <p:nvPr/>
          </p:nvCxnSpPr>
          <p:spPr>
            <a:xfrm rot="10800000" flipH="1">
              <a:off x="3512635" y="2971800"/>
              <a:ext cx="836341" cy="2286000"/>
            </a:xfrm>
            <a:prstGeom prst="curvedConnector3">
              <a:avLst>
                <a:gd name="adj1" fmla="val -27333"/>
              </a:avLst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urved Connector 46"/>
            <p:cNvCxnSpPr>
              <a:endCxn id="14" idx="2"/>
            </p:cNvCxnSpPr>
            <p:nvPr/>
          </p:nvCxnSpPr>
          <p:spPr>
            <a:xfrm rot="16200000" flipV="1">
              <a:off x="3819976" y="3655060"/>
              <a:ext cx="1359932" cy="145812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/>
          <p:cNvGrpSpPr/>
          <p:nvPr/>
        </p:nvGrpSpPr>
        <p:grpSpPr>
          <a:xfrm>
            <a:off x="6019800" y="4202668"/>
            <a:ext cx="2137228" cy="2133600"/>
            <a:chOff x="3581400" y="3048000"/>
            <a:chExt cx="2137228" cy="2133600"/>
          </a:xfrm>
        </p:grpSpPr>
        <p:cxnSp>
          <p:nvCxnSpPr>
            <p:cNvPr id="49" name="Straight Arrow Connector 48"/>
            <p:cNvCxnSpPr/>
            <p:nvPr/>
          </p:nvCxnSpPr>
          <p:spPr>
            <a:xfrm flipH="1">
              <a:off x="4114800" y="3048000"/>
              <a:ext cx="302941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H="1">
              <a:off x="3810000" y="3733800"/>
              <a:ext cx="304800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>
              <a:off x="3581400" y="4572000"/>
              <a:ext cx="228600" cy="6096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114800" y="3733800"/>
              <a:ext cx="465986" cy="6858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>
              <a:off x="4584503" y="4572000"/>
              <a:ext cx="63697" cy="5334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>
              <a:off x="4434381" y="3048000"/>
              <a:ext cx="823419" cy="62261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>
              <a:off x="5334000" y="3733800"/>
              <a:ext cx="384628" cy="67279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 flipH="1">
              <a:off x="5181600" y="4495800"/>
              <a:ext cx="443088" cy="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Right Arrow 56"/>
          <p:cNvSpPr/>
          <p:nvPr/>
        </p:nvSpPr>
        <p:spPr>
          <a:xfrm rot="1556459">
            <a:off x="6526961" y="3870334"/>
            <a:ext cx="290522" cy="295336"/>
          </a:xfrm>
          <a:prstGeom prst="rightArrow">
            <a:avLst>
              <a:gd name="adj1" fmla="val 50000"/>
              <a:gd name="adj2" fmla="val 52301"/>
            </a:avLst>
          </a:prstGeom>
          <a:solidFill>
            <a:schemeClr val="accent2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D4524-3972-1A6A-1A71-6C83D2FEB00A}"/>
              </a:ext>
            </a:extLst>
          </p:cNvPr>
          <p:cNvSpPr/>
          <p:nvPr/>
        </p:nvSpPr>
        <p:spPr>
          <a:xfrm>
            <a:off x="1650261" y="4127212"/>
            <a:ext cx="339381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DED2D3-698A-593F-7220-6B6D1BC175F8}"/>
              </a:ext>
            </a:extLst>
          </p:cNvPr>
          <p:cNvSpPr/>
          <p:nvPr/>
        </p:nvSpPr>
        <p:spPr>
          <a:xfrm>
            <a:off x="2734119" y="4572000"/>
            <a:ext cx="2912118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088D9-788C-7DB4-4CB9-047419371B80}"/>
              </a:ext>
            </a:extLst>
          </p:cNvPr>
          <p:cNvSpPr/>
          <p:nvPr/>
        </p:nvSpPr>
        <p:spPr>
          <a:xfrm>
            <a:off x="1416011" y="4983178"/>
            <a:ext cx="2912118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5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/>
                  <a:t>An O</a:t>
                </a:r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3200" dirty="0"/>
                  <a:t>)</a:t>
                </a:r>
                <a:r>
                  <a:rPr lang="en-US" sz="3200" b="1" dirty="0"/>
                  <a:t> time algorithm</a:t>
                </a:r>
                <a:endParaRPr lang="en-US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For each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determine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at most one path to each vertex reachable from it  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Perform </a:t>
                </a:r>
                <a:r>
                  <a:rPr lang="en-US" sz="2000" b="1" dirty="0"/>
                  <a:t>DFS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Any </a:t>
                </a: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Forward</a:t>
                </a:r>
                <a:r>
                  <a:rPr lang="en-US" sz="2000" dirty="0">
                    <a:solidFill>
                      <a:schemeClr val="accent6">
                        <a:lumMod val="75000"/>
                      </a:schemeClr>
                    </a:solidFill>
                  </a:rPr>
                  <a:t> </a:t>
                </a:r>
                <a:r>
                  <a:rPr lang="en-US" sz="2000" dirty="0"/>
                  <a:t>edge </a:t>
                </a:r>
                <a:r>
                  <a:rPr lang="en-US" sz="20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some vertex.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Cross</a:t>
                </a:r>
                <a:r>
                  <a:rPr lang="en-US" sz="2000" dirty="0"/>
                  <a:t> edge </a:t>
                </a:r>
                <a:r>
                  <a:rPr lang="en-US" sz="2000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has multiple paths to some vertex.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Any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Backward</a:t>
                </a:r>
                <a:r>
                  <a:rPr lang="en-US" sz="2000" dirty="0"/>
                  <a:t> edge </a:t>
                </a:r>
                <a:r>
                  <a:rPr lang="en-US" sz="2000" dirty="0">
                    <a:sym typeface="Wingdings" panose="05000000000000000000" pitchFamily="2" charset="2"/>
                  </a:rPr>
                  <a:t> No problem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dirty="0"/>
                  <a:t>: Ponder over the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 time algorithm </a:t>
                </a:r>
                <a:r>
                  <a:rPr lang="en-US" sz="2000" dirty="0"/>
                  <a:t>for this problem.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This is given as Assignment 3 will all hints.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  <a:blipFill>
                <a:blip r:embed="rId3"/>
                <a:stretch>
                  <a:fillRect l="-741" t="-706" b="-15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Down Arrow 59"/>
          <p:cNvSpPr/>
          <p:nvPr/>
        </p:nvSpPr>
        <p:spPr>
          <a:xfrm>
            <a:off x="3962400" y="2362200"/>
            <a:ext cx="9906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14600" y="3733800"/>
            <a:ext cx="426720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133600" y="4508212"/>
            <a:ext cx="426720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90800" y="5194012"/>
            <a:ext cx="4267200" cy="444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0" grpId="0" animBg="1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Application - II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43000" y="3886200"/>
            <a:ext cx="6781800" cy="1752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Computing</a:t>
            </a:r>
            <a:r>
              <a:rPr lang="en-US" sz="2800" b="1" dirty="0">
                <a:solidFill>
                  <a:srgbClr val="7030A0"/>
                </a:solidFill>
              </a:rPr>
              <a:t> Strongly connected components </a:t>
            </a:r>
            <a:r>
              <a:rPr lang="en-US" sz="2800" b="1" dirty="0">
                <a:solidFill>
                  <a:schemeClr val="tx1"/>
                </a:solidFill>
              </a:rPr>
              <a:t>of a directed graph.</a:t>
            </a:r>
          </a:p>
        </p:txBody>
      </p:sp>
      <p:sp>
        <p:nvSpPr>
          <p:cNvPr id="2" name="Rectangle 1"/>
          <p:cNvSpPr/>
          <p:nvPr/>
        </p:nvSpPr>
        <p:spPr>
          <a:xfrm>
            <a:off x="2971800" y="3886200"/>
            <a:ext cx="4953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95600" y="4343400"/>
            <a:ext cx="4953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2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Strongly connected components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:</a:t>
                </a:r>
                <a:r>
                  <a:rPr lang="en-US" sz="2000" dirty="0"/>
                  <a:t> Two vertices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are said to be </a:t>
                </a:r>
                <a:r>
                  <a:rPr lang="en-US" sz="2000" b="1" dirty="0"/>
                  <a:t>strongly connected </a:t>
                </a:r>
                <a:r>
                  <a:rPr lang="en-US" sz="2000" dirty="0"/>
                  <a:t>if 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is reachable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is reachable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 strongly connected component</a:t>
                </a:r>
                <a:r>
                  <a:rPr lang="en-US" sz="2000" b="1" dirty="0"/>
                  <a:t>: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a </a:t>
                </a:r>
                <a:r>
                  <a:rPr lang="en-US" sz="2000" b="1" u="sng" dirty="0"/>
                  <a:t>maximal</a:t>
                </a:r>
                <a:r>
                  <a:rPr lang="en-US" sz="2000" dirty="0"/>
                  <a:t> subset of “strongly connected vertices”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2"/>
                <a:stretch>
                  <a:fillRect l="-741" t="-7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/>
          <p:cNvGrpSpPr/>
          <p:nvPr/>
        </p:nvGrpSpPr>
        <p:grpSpPr>
          <a:xfrm>
            <a:off x="988906" y="3124200"/>
            <a:ext cx="7088294" cy="3505200"/>
            <a:chOff x="988906" y="3124200"/>
            <a:chExt cx="7088294" cy="3505200"/>
          </a:xfrm>
        </p:grpSpPr>
        <p:grpSp>
          <p:nvGrpSpPr>
            <p:cNvPr id="49" name="Group 48"/>
            <p:cNvGrpSpPr/>
            <p:nvPr/>
          </p:nvGrpSpPr>
          <p:grpSpPr>
            <a:xfrm>
              <a:off x="988906" y="4050268"/>
              <a:ext cx="2592494" cy="2579132"/>
              <a:chOff x="988906" y="1459468"/>
              <a:chExt cx="2592494" cy="2579132"/>
            </a:xfrm>
          </p:grpSpPr>
          <p:sp>
            <p:nvSpPr>
              <p:cNvPr id="50" name="TextBox 49"/>
              <p:cNvSpPr txBox="1"/>
              <p:nvPr/>
            </p:nvSpPr>
            <p:spPr>
              <a:xfrm>
                <a:off x="1979506" y="14594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1447800" y="1905000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1065106" y="2754868"/>
                <a:ext cx="349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988906" y="3669268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131906" y="3657600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3046306" y="1981200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274906" y="2907268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1905000" y="2754868"/>
                <a:ext cx="2391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j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590800" y="2971800"/>
                <a:ext cx="2648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</a:t>
                </a:r>
              </a:p>
            </p:txBody>
          </p:sp>
        </p:grpSp>
        <p:grpSp>
          <p:nvGrpSpPr>
            <p:cNvPr id="72" name="Group 71"/>
            <p:cNvGrpSpPr/>
            <p:nvPr/>
          </p:nvGrpSpPr>
          <p:grpSpPr>
            <a:xfrm>
              <a:off x="1150436" y="3124200"/>
              <a:ext cx="6926764" cy="3276600"/>
              <a:chOff x="1150436" y="3124200"/>
              <a:chExt cx="6926764" cy="3276600"/>
            </a:xfrm>
          </p:grpSpPr>
          <p:pic>
            <p:nvPicPr>
              <p:cNvPr id="6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05600" y="4899103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05599" y="5910147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8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96200" y="5910147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9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96198" y="4951142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0" name="Straight Arrow Connector 9"/>
              <p:cNvCxnSpPr>
                <a:endCxn id="7" idx="0"/>
              </p:cNvCxnSpPr>
              <p:nvPr/>
            </p:nvCxnSpPr>
            <p:spPr>
              <a:xfrm flipH="1">
                <a:off x="6783658" y="5029200"/>
                <a:ext cx="24668" cy="88094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stCxn id="9" idx="2"/>
                <a:endCxn id="8" idx="0"/>
              </p:cNvCxnSpPr>
              <p:nvPr/>
            </p:nvCxnSpPr>
            <p:spPr>
              <a:xfrm>
                <a:off x="7774257" y="5103542"/>
                <a:ext cx="2" cy="806605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>
                <a:stCxn id="6" idx="3"/>
                <a:endCxn id="9" idx="1"/>
              </p:cNvCxnSpPr>
              <p:nvPr/>
            </p:nvCxnSpPr>
            <p:spPr>
              <a:xfrm>
                <a:off x="6861717" y="4975303"/>
                <a:ext cx="834481" cy="52039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>
                <a:stCxn id="6" idx="3"/>
                <a:endCxn id="8" idx="1"/>
              </p:cNvCxnSpPr>
              <p:nvPr/>
            </p:nvCxnSpPr>
            <p:spPr>
              <a:xfrm>
                <a:off x="6861717" y="4975303"/>
                <a:ext cx="834483" cy="101104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urved Connector 13"/>
              <p:cNvCxnSpPr>
                <a:stCxn id="8" idx="3"/>
              </p:cNvCxnSpPr>
              <p:nvPr/>
            </p:nvCxnSpPr>
            <p:spPr>
              <a:xfrm flipH="1" flipV="1">
                <a:off x="6854282" y="4939061"/>
                <a:ext cx="998035" cy="1047286"/>
              </a:xfrm>
              <a:prstGeom prst="curvedConnector4">
                <a:avLst>
                  <a:gd name="adj1" fmla="val -22905"/>
                  <a:gd name="adj2" fmla="val 144144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98486" y="3276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16" name="Straight Arrow Connector 15"/>
              <p:cNvCxnSpPr>
                <a:stCxn id="15" idx="2"/>
                <a:endCxn id="17" idx="0"/>
              </p:cNvCxnSpPr>
              <p:nvPr/>
            </p:nvCxnSpPr>
            <p:spPr>
              <a:xfrm flipH="1">
                <a:off x="2064836" y="3429000"/>
                <a:ext cx="411709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86777" y="3962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8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956" y="40386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9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3836" y="4648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0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8255" y="466121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1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79036" y="5486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2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49822" y="5486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3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72883" y="5486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24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50436" y="6248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5" name="Straight Arrow Connector 24"/>
              <p:cNvCxnSpPr>
                <a:stCxn id="15" idx="2"/>
                <a:endCxn id="18" idx="0"/>
              </p:cNvCxnSpPr>
              <p:nvPr/>
            </p:nvCxnSpPr>
            <p:spPr>
              <a:xfrm>
                <a:off x="2476545" y="3429000"/>
                <a:ext cx="41247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6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73678" y="54864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27" name="Straight Arrow Connector 26"/>
              <p:cNvCxnSpPr>
                <a:stCxn id="17" idx="2"/>
                <a:endCxn id="19" idx="0"/>
              </p:cNvCxnSpPr>
              <p:nvPr/>
            </p:nvCxnSpPr>
            <p:spPr>
              <a:xfrm flipH="1">
                <a:off x="1761895" y="4114800"/>
                <a:ext cx="302941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>
                <a:stCxn id="19" idx="2"/>
                <a:endCxn id="21" idx="0"/>
              </p:cNvCxnSpPr>
              <p:nvPr/>
            </p:nvCxnSpPr>
            <p:spPr>
              <a:xfrm flipH="1">
                <a:off x="1457095" y="4800600"/>
                <a:ext cx="304800" cy="685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>
                <a:stCxn id="19" idx="2"/>
                <a:endCxn id="22" idx="0"/>
              </p:cNvCxnSpPr>
              <p:nvPr/>
            </p:nvCxnSpPr>
            <p:spPr>
              <a:xfrm>
                <a:off x="1761895" y="4800600"/>
                <a:ext cx="465986" cy="6858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stCxn id="26" idx="0"/>
                <a:endCxn id="20" idx="1"/>
              </p:cNvCxnSpPr>
              <p:nvPr/>
            </p:nvCxnSpPr>
            <p:spPr>
              <a:xfrm flipV="1">
                <a:off x="2751737" y="4737410"/>
                <a:ext cx="136518" cy="74899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>
                <a:stCxn id="20" idx="2"/>
                <a:endCxn id="23" idx="0"/>
              </p:cNvCxnSpPr>
              <p:nvPr/>
            </p:nvCxnSpPr>
            <p:spPr>
              <a:xfrm>
                <a:off x="2966314" y="4813610"/>
                <a:ext cx="384628" cy="67279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>
                <a:stCxn id="17" idx="2"/>
                <a:endCxn id="20" idx="1"/>
              </p:cNvCxnSpPr>
              <p:nvPr/>
            </p:nvCxnSpPr>
            <p:spPr>
              <a:xfrm>
                <a:off x="2064836" y="4114800"/>
                <a:ext cx="823419" cy="6226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32"/>
              <p:cNvCxnSpPr>
                <a:stCxn id="21" idx="2"/>
                <a:endCxn id="24" idx="0"/>
              </p:cNvCxnSpPr>
              <p:nvPr/>
            </p:nvCxnSpPr>
            <p:spPr>
              <a:xfrm flipH="1">
                <a:off x="1228495" y="5638800"/>
                <a:ext cx="228600" cy="6096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/>
              <p:cNvCxnSpPr>
                <a:stCxn id="18" idx="1"/>
                <a:endCxn id="17" idx="3"/>
              </p:cNvCxnSpPr>
              <p:nvPr/>
            </p:nvCxnSpPr>
            <p:spPr>
              <a:xfrm flipH="1" flipV="1">
                <a:off x="2142894" y="4038600"/>
                <a:ext cx="668062" cy="762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>
                <a:stCxn id="18" idx="2"/>
                <a:endCxn id="20" idx="0"/>
              </p:cNvCxnSpPr>
              <p:nvPr/>
            </p:nvCxnSpPr>
            <p:spPr>
              <a:xfrm>
                <a:off x="2889015" y="4191000"/>
                <a:ext cx="77299" cy="47021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urved Connector 35"/>
              <p:cNvCxnSpPr>
                <a:endCxn id="17" idx="1"/>
              </p:cNvCxnSpPr>
              <p:nvPr/>
            </p:nvCxnSpPr>
            <p:spPr>
              <a:xfrm flipV="1">
                <a:off x="1414882" y="4038600"/>
                <a:ext cx="571895" cy="1491734"/>
              </a:xfrm>
              <a:prstGeom prst="curvedConnector3">
                <a:avLst>
                  <a:gd name="adj1" fmla="val -55293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>
                <a:stCxn id="22" idx="1"/>
                <a:endCxn id="24" idx="3"/>
              </p:cNvCxnSpPr>
              <p:nvPr/>
            </p:nvCxnSpPr>
            <p:spPr>
              <a:xfrm flipH="1">
                <a:off x="1306553" y="5562600"/>
                <a:ext cx="843269" cy="762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/>
              <p:cNvCxnSpPr>
                <a:stCxn id="22" idx="2"/>
                <a:endCxn id="39" idx="0"/>
              </p:cNvCxnSpPr>
              <p:nvPr/>
            </p:nvCxnSpPr>
            <p:spPr>
              <a:xfrm>
                <a:off x="2227881" y="5638800"/>
                <a:ext cx="63697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9" name="Picture 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13519" y="61722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40" name="Straight Arrow Connector 39"/>
              <p:cNvCxnSpPr>
                <a:stCxn id="23" idx="1"/>
                <a:endCxn id="26" idx="3"/>
              </p:cNvCxnSpPr>
              <p:nvPr/>
            </p:nvCxnSpPr>
            <p:spPr>
              <a:xfrm flipH="1">
                <a:off x="2829795" y="5562600"/>
                <a:ext cx="443088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" name="Group 40"/>
              <p:cNvGrpSpPr/>
              <p:nvPr/>
            </p:nvGrpSpPr>
            <p:grpSpPr>
              <a:xfrm>
                <a:off x="2209800" y="3124200"/>
                <a:ext cx="974662" cy="1143000"/>
                <a:chOff x="2209800" y="533400"/>
                <a:chExt cx="974662" cy="1143000"/>
              </a:xfrm>
            </p:grpSpPr>
            <p:sp>
              <p:nvSpPr>
                <p:cNvPr id="42" name="TextBox 41"/>
                <p:cNvSpPr txBox="1"/>
                <p:nvPr/>
              </p:nvSpPr>
              <p:spPr>
                <a:xfrm>
                  <a:off x="2209800" y="533400"/>
                  <a:ext cx="2840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x</a:t>
                  </a:r>
                </a:p>
              </p:txBody>
            </p:sp>
            <p:sp>
              <p:nvSpPr>
                <p:cNvPr id="43" name="TextBox 42"/>
                <p:cNvSpPr txBox="1"/>
                <p:nvPr/>
              </p:nvSpPr>
              <p:spPr>
                <a:xfrm>
                  <a:off x="2895600" y="130706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y</a:t>
                  </a:r>
                </a:p>
              </p:txBody>
            </p:sp>
          </p:grpSp>
          <p:grpSp>
            <p:nvGrpSpPr>
              <p:cNvPr id="44" name="Group 43"/>
              <p:cNvGrpSpPr/>
              <p:nvPr/>
            </p:nvGrpSpPr>
            <p:grpSpPr>
              <a:xfrm>
                <a:off x="6475306" y="4800600"/>
                <a:ext cx="1601894" cy="1600200"/>
                <a:chOff x="6475306" y="2209800"/>
                <a:chExt cx="1601894" cy="1600200"/>
              </a:xfrm>
            </p:grpSpPr>
            <p:sp>
              <p:nvSpPr>
                <p:cNvPr id="45" name="TextBox 44"/>
                <p:cNvSpPr txBox="1"/>
                <p:nvPr/>
              </p:nvSpPr>
              <p:spPr>
                <a:xfrm>
                  <a:off x="6475306" y="22098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b</a:t>
                  </a:r>
                </a:p>
              </p:txBody>
            </p:sp>
            <p:sp>
              <p:nvSpPr>
                <p:cNvPr id="46" name="TextBox 45"/>
                <p:cNvSpPr txBox="1"/>
                <p:nvPr/>
              </p:nvSpPr>
              <p:spPr>
                <a:xfrm>
                  <a:off x="6475306" y="32120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h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7770706" y="22860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</a:t>
                  </a:r>
                </a:p>
              </p:txBody>
            </p:sp>
            <p:sp>
              <p:nvSpPr>
                <p:cNvPr id="48" name="TextBox 47"/>
                <p:cNvSpPr txBox="1"/>
                <p:nvPr/>
              </p:nvSpPr>
              <p:spPr>
                <a:xfrm>
                  <a:off x="7694506" y="3440668"/>
                  <a:ext cx="2824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c</a:t>
                  </a:r>
                </a:p>
              </p:txBody>
            </p:sp>
          </p:grpSp>
          <p:cxnSp>
            <p:nvCxnSpPr>
              <p:cNvPr id="59" name="Straight Arrow Connector 58"/>
              <p:cNvCxnSpPr>
                <a:stCxn id="22" idx="1"/>
                <a:endCxn id="21" idx="3"/>
              </p:cNvCxnSpPr>
              <p:nvPr/>
            </p:nvCxnSpPr>
            <p:spPr>
              <a:xfrm flipH="1">
                <a:off x="1535153" y="5562600"/>
                <a:ext cx="614669" cy="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urved Connector 59"/>
              <p:cNvCxnSpPr/>
              <p:nvPr/>
            </p:nvCxnSpPr>
            <p:spPr>
              <a:xfrm rot="10800000">
                <a:off x="2504553" y="3388112"/>
                <a:ext cx="436452" cy="685800"/>
              </a:xfrm>
              <a:prstGeom prst="curvedConnector3">
                <a:avLst>
                  <a:gd name="adj1" fmla="val -57131"/>
                </a:avLst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/>
              <p:cNvCxnSpPr/>
              <p:nvPr/>
            </p:nvCxnSpPr>
            <p:spPr>
              <a:xfrm flipH="1">
                <a:off x="1317452" y="6286500"/>
                <a:ext cx="906966" cy="762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3" name="Freeform 72"/>
          <p:cNvSpPr/>
          <p:nvPr/>
        </p:nvSpPr>
        <p:spPr>
          <a:xfrm>
            <a:off x="2587083" y="4319239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3"/>
          <p:cNvSpPr/>
          <p:nvPr/>
        </p:nvSpPr>
        <p:spPr>
          <a:xfrm>
            <a:off x="1150437" y="3873191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74"/>
          <p:cNvSpPr/>
          <p:nvPr/>
        </p:nvSpPr>
        <p:spPr>
          <a:xfrm>
            <a:off x="6612673" y="4787590"/>
            <a:ext cx="1438507" cy="1382751"/>
          </a:xfrm>
          <a:custGeom>
            <a:avLst/>
            <a:gdLst>
              <a:gd name="connsiteX0" fmla="*/ 22303 w 1438507"/>
              <a:gd name="connsiteY0" fmla="*/ 33454 h 1382751"/>
              <a:gd name="connsiteX1" fmla="*/ 0 w 1438507"/>
              <a:gd name="connsiteY1" fmla="*/ 234176 h 1382751"/>
              <a:gd name="connsiteX2" fmla="*/ 936703 w 1438507"/>
              <a:gd name="connsiteY2" fmla="*/ 1293542 h 1382751"/>
              <a:gd name="connsiteX3" fmla="*/ 1226634 w 1438507"/>
              <a:gd name="connsiteY3" fmla="*/ 1382751 h 1382751"/>
              <a:gd name="connsiteX4" fmla="*/ 1438507 w 1438507"/>
              <a:gd name="connsiteY4" fmla="*/ 1260088 h 1382751"/>
              <a:gd name="connsiteX5" fmla="*/ 1427356 w 1438507"/>
              <a:gd name="connsiteY5" fmla="*/ 0 h 1382751"/>
              <a:gd name="connsiteX6" fmla="*/ 22303 w 1438507"/>
              <a:gd name="connsiteY6" fmla="*/ 33454 h 138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8507" h="1382751">
                <a:moveTo>
                  <a:pt x="22303" y="33454"/>
                </a:moveTo>
                <a:lnTo>
                  <a:pt x="0" y="234176"/>
                </a:lnTo>
                <a:lnTo>
                  <a:pt x="936703" y="1293542"/>
                </a:lnTo>
                <a:lnTo>
                  <a:pt x="1226634" y="1382751"/>
                </a:lnTo>
                <a:lnTo>
                  <a:pt x="1438507" y="1260088"/>
                </a:lnTo>
                <a:lnTo>
                  <a:pt x="1427356" y="0"/>
                </a:lnTo>
                <a:lnTo>
                  <a:pt x="22303" y="33454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/>
          <p:cNvSpPr/>
          <p:nvPr/>
        </p:nvSpPr>
        <p:spPr>
          <a:xfrm>
            <a:off x="6553200" y="58674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/>
          <p:cNvSpPr/>
          <p:nvPr/>
        </p:nvSpPr>
        <p:spPr>
          <a:xfrm>
            <a:off x="2133600" y="60960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reeform 77"/>
          <p:cNvSpPr/>
          <p:nvPr/>
        </p:nvSpPr>
        <p:spPr>
          <a:xfrm>
            <a:off x="2185639" y="3137210"/>
            <a:ext cx="959005" cy="1092819"/>
          </a:xfrm>
          <a:custGeom>
            <a:avLst/>
            <a:gdLst>
              <a:gd name="connsiteX0" fmla="*/ 44605 w 959005"/>
              <a:gd name="connsiteY0" fmla="*/ 44605 h 1092819"/>
              <a:gd name="connsiteX1" fmla="*/ 0 w 959005"/>
              <a:gd name="connsiteY1" fmla="*/ 312234 h 1092819"/>
              <a:gd name="connsiteX2" fmla="*/ 546410 w 959005"/>
              <a:gd name="connsiteY2" fmla="*/ 1092819 h 1092819"/>
              <a:gd name="connsiteX3" fmla="*/ 959005 w 959005"/>
              <a:gd name="connsiteY3" fmla="*/ 1092819 h 1092819"/>
              <a:gd name="connsiteX4" fmla="*/ 869795 w 959005"/>
              <a:gd name="connsiteY4" fmla="*/ 546410 h 1092819"/>
              <a:gd name="connsiteX5" fmla="*/ 256478 w 959005"/>
              <a:gd name="connsiteY5" fmla="*/ 0 h 1092819"/>
              <a:gd name="connsiteX6" fmla="*/ 44605 w 959005"/>
              <a:gd name="connsiteY6" fmla="*/ 44605 h 109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9005" h="1092819">
                <a:moveTo>
                  <a:pt x="44605" y="44605"/>
                </a:moveTo>
                <a:lnTo>
                  <a:pt x="0" y="312234"/>
                </a:lnTo>
                <a:lnTo>
                  <a:pt x="546410" y="1092819"/>
                </a:lnTo>
                <a:lnTo>
                  <a:pt x="959005" y="1092819"/>
                </a:lnTo>
                <a:lnTo>
                  <a:pt x="869795" y="546410"/>
                </a:lnTo>
                <a:lnTo>
                  <a:pt x="256478" y="0"/>
                </a:lnTo>
                <a:lnTo>
                  <a:pt x="44605" y="44605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990600" y="61722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3962400" y="1219200"/>
            <a:ext cx="4953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1728187" y="1169949"/>
            <a:ext cx="4953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1250516" y="2647744"/>
            <a:ext cx="183691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718511" y="3352800"/>
                <a:ext cx="2249270" cy="65255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 </a:t>
                </a:r>
                <a:r>
                  <a:rPr lang="en-US" b="1" dirty="0"/>
                  <a:t>O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time </a:t>
                </a:r>
              </a:p>
              <a:p>
                <a:pPr algn="ctr"/>
                <a:r>
                  <a:rPr lang="en-US" dirty="0"/>
                  <a:t>algorithm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511" y="3352800"/>
                <a:ext cx="2249270" cy="652551"/>
              </a:xfrm>
              <a:prstGeom prst="rect">
                <a:avLst/>
              </a:prstGeom>
              <a:blipFill rotWithShape="1">
                <a:blip r:embed="rId4"/>
                <a:stretch>
                  <a:fillRect l="-1887" t="-2752" r="-3774" b="-128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Down Ribbon 80"/>
              <p:cNvSpPr/>
              <p:nvPr/>
            </p:nvSpPr>
            <p:spPr>
              <a:xfrm>
                <a:off x="6273631" y="3169475"/>
                <a:ext cx="3124200" cy="904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An O(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time algorithm</a:t>
                </a:r>
              </a:p>
            </p:txBody>
          </p:sp>
        </mc:Choice>
        <mc:Fallback xmlns="">
          <p:sp>
            <p:nvSpPr>
              <p:cNvPr id="81" name="Down Ribbon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631" y="3169475"/>
                <a:ext cx="3124200" cy="90443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5"/>
                <a:stretch>
                  <a:fillRect b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77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70" grpId="0" animBg="1"/>
      <p:bldP spid="71" grpId="0" animBg="1"/>
      <p:bldP spid="80" grpId="0" animBg="1"/>
      <p:bldP spid="2" grpId="0" animBg="1"/>
      <p:bldP spid="8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Computing</a:t>
            </a:r>
            <a:r>
              <a:rPr lang="en-US" sz="3600" b="1" dirty="0">
                <a:solidFill>
                  <a:srgbClr val="7030A0"/>
                </a:solidFill>
              </a:rPr>
              <a:t> SCC</a:t>
            </a:r>
            <a:r>
              <a:rPr lang="en-US" sz="3600" b="1" dirty="0"/>
              <a:t>s efficiently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itle 1"/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An O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time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Sub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 rotWithShape="1">
                <a:blip r:embed="rId2"/>
                <a:stretch>
                  <a:fillRect t="-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42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3641-C2F9-7EF5-10E7-B87C2705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1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863E4-154C-4C16-33FB-C39FDAC6C7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2000"/>
                <a:ext cx="8229600" cy="5364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Consider any path from x to z 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Let y be any vertex on this path.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can you infer about y?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is a path from y to z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863E4-154C-4C16-33FB-C39FDAC6C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9600" cy="5364163"/>
              </a:xfrm>
              <a:blipFill>
                <a:blip r:embed="rId2"/>
                <a:stretch>
                  <a:fillRect l="-741" t="-5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 3">
            <a:extLst>
              <a:ext uri="{FF2B5EF4-FFF2-40B4-BE49-F238E27FC236}">
                <a16:creationId xmlns:a16="http://schemas.microsoft.com/office/drawing/2014/main" id="{1C30800E-FB4B-A1C5-BA45-BA4B4FE3C119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C4C3824-0CB4-0BAC-77F6-FB801A3D89CC}"/>
              </a:ext>
            </a:extLst>
          </p:cNvPr>
          <p:cNvSpPr/>
          <p:nvPr/>
        </p:nvSpPr>
        <p:spPr>
          <a:xfrm>
            <a:off x="1278551" y="2286000"/>
            <a:ext cx="986672" cy="35388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9E34F8-73A8-1A9B-BCD0-AE39F58CD3E4}"/>
              </a:ext>
            </a:extLst>
          </p:cNvPr>
          <p:cNvCxnSpPr>
            <a:cxnSpLocks/>
          </p:cNvCxnSpPr>
          <p:nvPr/>
        </p:nvCxnSpPr>
        <p:spPr>
          <a:xfrm>
            <a:off x="1733578" y="275148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17AD01-589D-530D-E6DA-E4EF2776728F}"/>
              </a:ext>
            </a:extLst>
          </p:cNvPr>
          <p:cNvSpPr txBox="1"/>
          <p:nvPr/>
        </p:nvSpPr>
        <p:spPr>
          <a:xfrm>
            <a:off x="1794960" y="2504387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36CE85-8A0E-B9C0-0BC3-85738A92B4FF}"/>
              </a:ext>
            </a:extLst>
          </p:cNvPr>
          <p:cNvSpPr txBox="1"/>
          <p:nvPr/>
        </p:nvSpPr>
        <p:spPr>
          <a:xfrm>
            <a:off x="1828800" y="38216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492385-6B77-28A0-0E2E-AE7EE40248A3}"/>
              </a:ext>
            </a:extLst>
          </p:cNvPr>
          <p:cNvSpPr txBox="1"/>
          <p:nvPr/>
        </p:nvSpPr>
        <p:spPr>
          <a:xfrm>
            <a:off x="1836830" y="5174309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8DE1CB5B-0919-F968-C462-8FFCFDA97041}"/>
              </a:ext>
            </a:extLst>
          </p:cNvPr>
          <p:cNvCxnSpPr/>
          <p:nvPr/>
        </p:nvCxnSpPr>
        <p:spPr>
          <a:xfrm rot="5400000">
            <a:off x="1390469" y="4692831"/>
            <a:ext cx="1168761" cy="12700"/>
          </a:xfrm>
          <a:prstGeom prst="curved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631B6A2-A8E5-5495-8855-17F122401C71}"/>
              </a:ext>
            </a:extLst>
          </p:cNvPr>
          <p:cNvSpPr txBox="1"/>
          <p:nvPr/>
        </p:nvSpPr>
        <p:spPr>
          <a:xfrm>
            <a:off x="5953974" y="29718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31F4FF-EC3E-88F5-31BE-621E8E71ED47}"/>
              </a:ext>
            </a:extLst>
          </p:cNvPr>
          <p:cNvSpPr txBox="1"/>
          <p:nvPr/>
        </p:nvSpPr>
        <p:spPr>
          <a:xfrm>
            <a:off x="7556454" y="4125223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A7BA75-4A26-4DAE-385A-9DCC2F89CF29}"/>
              </a:ext>
            </a:extLst>
          </p:cNvPr>
          <p:cNvSpPr txBox="1"/>
          <p:nvPr/>
        </p:nvSpPr>
        <p:spPr>
          <a:xfrm>
            <a:off x="1356816" y="3796135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loud Callout 73">
                <a:extLst>
                  <a:ext uri="{FF2B5EF4-FFF2-40B4-BE49-F238E27FC236}">
                    <a16:creationId xmlns:a16="http://schemas.microsoft.com/office/drawing/2014/main" id="{7F8995D1-E6BB-FCDB-55EC-ACC3DC956D1C}"/>
                  </a:ext>
                </a:extLst>
              </p:cNvPr>
              <p:cNvSpPr/>
              <p:nvPr/>
            </p:nvSpPr>
            <p:spPr>
              <a:xfrm>
                <a:off x="4419288" y="1219382"/>
                <a:ext cx="3809999" cy="1110733"/>
              </a:xfrm>
              <a:prstGeom prst="cloudCallout">
                <a:avLst>
                  <a:gd name="adj1" fmla="val 42434"/>
                  <a:gd name="adj2" fmla="val 5329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Can you show existence of a path from z to y in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6" name="Cloud Callout 73">
                <a:extLst>
                  <a:ext uri="{FF2B5EF4-FFF2-40B4-BE49-F238E27FC236}">
                    <a16:creationId xmlns:a16="http://schemas.microsoft.com/office/drawing/2014/main" id="{7F8995D1-E6BB-FCDB-55EC-ACC3DC956D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288" y="1219382"/>
                <a:ext cx="3809999" cy="1110733"/>
              </a:xfrm>
              <a:prstGeom prst="cloudCallout">
                <a:avLst>
                  <a:gd name="adj1" fmla="val 42434"/>
                  <a:gd name="adj2" fmla="val 53295"/>
                </a:avLst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2">
            <a:extLst>
              <a:ext uri="{FF2B5EF4-FFF2-40B4-BE49-F238E27FC236}">
                <a16:creationId xmlns:a16="http://schemas.microsoft.com/office/drawing/2014/main" id="{D85A9F63-9B49-FBFA-DBB8-8F9F3E9CA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06795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99BFC133-40D5-350C-4260-7BF1C31DA6CF}"/>
              </a:ext>
            </a:extLst>
          </p:cNvPr>
          <p:cNvSpPr/>
          <p:nvPr/>
        </p:nvSpPr>
        <p:spPr>
          <a:xfrm flipV="1">
            <a:off x="1657378" y="262079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E3AF58-8F0C-1ADE-D706-FBF7AB13EDDF}"/>
              </a:ext>
            </a:extLst>
          </p:cNvPr>
          <p:cNvGrpSpPr/>
          <p:nvPr/>
        </p:nvGrpSpPr>
        <p:grpSpPr>
          <a:xfrm>
            <a:off x="5710133" y="2869378"/>
            <a:ext cx="2015032" cy="1714290"/>
            <a:chOff x="5710133" y="2869378"/>
            <a:chExt cx="2015032" cy="171429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CB8272A-05D7-606D-C3C7-F928F50AADBA}"/>
                </a:ext>
              </a:extLst>
            </p:cNvPr>
            <p:cNvSpPr/>
            <p:nvPr/>
          </p:nvSpPr>
          <p:spPr>
            <a:xfrm flipV="1">
              <a:off x="6019800" y="2895600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E1C04CA-830D-B087-8EA7-020131B69290}"/>
                </a:ext>
              </a:extLst>
            </p:cNvPr>
            <p:cNvSpPr/>
            <p:nvPr/>
          </p:nvSpPr>
          <p:spPr>
            <a:xfrm flipV="1">
              <a:off x="5710133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1C83D64-36E8-F5F0-8721-56A210B2D64E}"/>
                </a:ext>
              </a:extLst>
            </p:cNvPr>
            <p:cNvSpPr/>
            <p:nvPr/>
          </p:nvSpPr>
          <p:spPr>
            <a:xfrm flipV="1">
              <a:off x="6948256" y="286937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036AB1E-1EC8-FEDB-2CB0-7A6F3936B144}"/>
                </a:ext>
              </a:extLst>
            </p:cNvPr>
            <p:cNvSpPr/>
            <p:nvPr/>
          </p:nvSpPr>
          <p:spPr>
            <a:xfrm flipV="1">
              <a:off x="7568992" y="336473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DAC5BF4-549E-0E14-CF5E-95373B3C4BBD}"/>
                </a:ext>
              </a:extLst>
            </p:cNvPr>
            <p:cNvSpPr/>
            <p:nvPr/>
          </p:nvSpPr>
          <p:spPr>
            <a:xfrm flipV="1">
              <a:off x="6700914" y="367454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33002F-0D3E-7A8E-FAAC-5B325D019DE6}"/>
                </a:ext>
              </a:extLst>
            </p:cNvPr>
            <p:cNvSpPr/>
            <p:nvPr/>
          </p:nvSpPr>
          <p:spPr>
            <a:xfrm flipV="1">
              <a:off x="7572765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BD8C80D-8EED-3155-5A67-A5CD9218537F}"/>
                </a:ext>
              </a:extLst>
            </p:cNvPr>
            <p:cNvSpPr/>
            <p:nvPr/>
          </p:nvSpPr>
          <p:spPr>
            <a:xfrm flipV="1">
              <a:off x="6437152" y="443126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90A3ECF3-A25F-971C-D513-5AE964353E50}"/>
              </a:ext>
            </a:extLst>
          </p:cNvPr>
          <p:cNvSpPr/>
          <p:nvPr/>
        </p:nvSpPr>
        <p:spPr>
          <a:xfrm flipV="1">
            <a:off x="1657378" y="530372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611FF919-5F29-062E-4C55-5ED91A80F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51510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3A1E3731-C4F3-0DD9-A85F-5F03ADC5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96226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ADD89218-B0CF-90EF-C812-B1A38B3C6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40941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2">
            <a:extLst>
              <a:ext uri="{FF2B5EF4-FFF2-40B4-BE49-F238E27FC236}">
                <a16:creationId xmlns:a16="http://schemas.microsoft.com/office/drawing/2014/main" id="{461326D1-F2B3-E4EC-88BB-EE68F4826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85657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5CBCDF1-96BF-0D2F-BB25-7C872CC5DC2D}"/>
              </a:ext>
            </a:extLst>
          </p:cNvPr>
          <p:cNvCxnSpPr>
            <a:cxnSpLocks/>
          </p:cNvCxnSpPr>
          <p:nvPr/>
        </p:nvCxnSpPr>
        <p:spPr>
          <a:xfrm>
            <a:off x="1733578" y="320650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AFE2BF-5B57-EACF-C1A8-66D9B344ED58}"/>
              </a:ext>
            </a:extLst>
          </p:cNvPr>
          <p:cNvCxnSpPr>
            <a:cxnSpLocks/>
          </p:cNvCxnSpPr>
          <p:nvPr/>
        </p:nvCxnSpPr>
        <p:spPr>
          <a:xfrm>
            <a:off x="1733578" y="3663434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9AA387E-8828-0DE8-F512-B2DFA3EB8415}"/>
              </a:ext>
            </a:extLst>
          </p:cNvPr>
          <p:cNvCxnSpPr>
            <a:cxnSpLocks/>
          </p:cNvCxnSpPr>
          <p:nvPr/>
        </p:nvCxnSpPr>
        <p:spPr>
          <a:xfrm>
            <a:off x="1727133" y="409294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C87F1C9-872E-0D57-1924-63AF33CD878E}"/>
              </a:ext>
            </a:extLst>
          </p:cNvPr>
          <p:cNvCxnSpPr>
            <a:cxnSpLocks/>
          </p:cNvCxnSpPr>
          <p:nvPr/>
        </p:nvCxnSpPr>
        <p:spPr>
          <a:xfrm>
            <a:off x="1724600" y="4561815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6F12E17-A6BB-FB18-F0FD-62F43EF77292}"/>
              </a:ext>
            </a:extLst>
          </p:cNvPr>
          <p:cNvCxnSpPr>
            <a:cxnSpLocks/>
          </p:cNvCxnSpPr>
          <p:nvPr/>
        </p:nvCxnSpPr>
        <p:spPr>
          <a:xfrm>
            <a:off x="1724600" y="498725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2">
            <a:extLst>
              <a:ext uri="{FF2B5EF4-FFF2-40B4-BE49-F238E27FC236}">
                <a16:creationId xmlns:a16="http://schemas.microsoft.com/office/drawing/2014/main" id="{22176EBE-94EB-D288-64FF-5546B2B02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95" y="373185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" name="Picture 2">
            <a:extLst>
              <a:ext uri="{FF2B5EF4-FFF2-40B4-BE49-F238E27FC236}">
                <a16:creationId xmlns:a16="http://schemas.microsoft.com/office/drawing/2014/main" id="{E995B791-0D8E-4D90-5FA4-11FCF8A2F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290" y="41910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EF91F923-A631-5B8B-E26E-865D62E6D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23" y="4876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" name="Picture 2">
            <a:extLst>
              <a:ext uri="{FF2B5EF4-FFF2-40B4-BE49-F238E27FC236}">
                <a16:creationId xmlns:a16="http://schemas.microsoft.com/office/drawing/2014/main" id="{8C8B74EB-E44D-036D-9465-22FE023EE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760" y="307791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6ADA977C-5407-E8DE-4458-054888F36B38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cxnSp>
        <p:nvCxnSpPr>
          <p:cNvPr id="69" name="Curved Connector 3">
            <a:extLst>
              <a:ext uri="{FF2B5EF4-FFF2-40B4-BE49-F238E27FC236}">
                <a16:creationId xmlns:a16="http://schemas.microsoft.com/office/drawing/2014/main" id="{D4E7AE7F-EB56-F03D-78B5-4879853BDA9F}"/>
              </a:ext>
            </a:extLst>
          </p:cNvPr>
          <p:cNvCxnSpPr>
            <a:cxnSpLocks/>
            <a:stCxn id="49" idx="2"/>
            <a:endCxn id="63" idx="2"/>
          </p:cNvCxnSpPr>
          <p:nvPr/>
        </p:nvCxnSpPr>
        <p:spPr>
          <a:xfrm rot="10800000">
            <a:off x="1200082" y="5029201"/>
            <a:ext cx="457296" cy="350725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urved Connector 25">
            <a:extLst>
              <a:ext uri="{FF2B5EF4-FFF2-40B4-BE49-F238E27FC236}">
                <a16:creationId xmlns:a16="http://schemas.microsoft.com/office/drawing/2014/main" id="{2E5DC32E-0E8C-913E-F584-5B55A9D9230C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rot="16200000" flipV="1">
            <a:off x="812016" y="4488733"/>
            <a:ext cx="533400" cy="242733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urved Connector 25">
            <a:extLst>
              <a:ext uri="{FF2B5EF4-FFF2-40B4-BE49-F238E27FC236}">
                <a16:creationId xmlns:a16="http://schemas.microsoft.com/office/drawing/2014/main" id="{4014CB30-04FF-00D8-8DCA-E647A8EE3650}"/>
              </a:ext>
            </a:extLst>
          </p:cNvPr>
          <p:cNvCxnSpPr>
            <a:cxnSpLocks/>
            <a:stCxn id="62" idx="0"/>
            <a:endCxn id="61" idx="2"/>
          </p:cNvCxnSpPr>
          <p:nvPr/>
        </p:nvCxnSpPr>
        <p:spPr>
          <a:xfrm rot="5400000" flipH="1" flipV="1">
            <a:off x="808429" y="4033176"/>
            <a:ext cx="306745" cy="8905"/>
          </a:xfrm>
          <a:prstGeom prst="curvedConnector3">
            <a:avLst>
              <a:gd name="adj1" fmla="val 3694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urved Connector 25">
            <a:extLst>
              <a:ext uri="{FF2B5EF4-FFF2-40B4-BE49-F238E27FC236}">
                <a16:creationId xmlns:a16="http://schemas.microsoft.com/office/drawing/2014/main" id="{9E846D2E-D844-547A-B356-8B1E5B1A0FD3}"/>
              </a:ext>
            </a:extLst>
          </p:cNvPr>
          <p:cNvCxnSpPr>
            <a:cxnSpLocks/>
            <a:stCxn id="61" idx="0"/>
          </p:cNvCxnSpPr>
          <p:nvPr/>
        </p:nvCxnSpPr>
        <p:spPr>
          <a:xfrm rot="5400000" flipH="1" flipV="1">
            <a:off x="716784" y="3469821"/>
            <a:ext cx="511505" cy="12565"/>
          </a:xfrm>
          <a:prstGeom prst="curvedConnector3">
            <a:avLst>
              <a:gd name="adj1" fmla="val 81241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urved Connector 25">
            <a:extLst>
              <a:ext uri="{FF2B5EF4-FFF2-40B4-BE49-F238E27FC236}">
                <a16:creationId xmlns:a16="http://schemas.microsoft.com/office/drawing/2014/main" id="{321959B6-8A77-9DEF-40B5-0D2EEC2C4BDE}"/>
              </a:ext>
            </a:extLst>
          </p:cNvPr>
          <p:cNvCxnSpPr>
            <a:cxnSpLocks/>
            <a:stCxn id="64" idx="0"/>
            <a:endCxn id="46" idx="2"/>
          </p:cNvCxnSpPr>
          <p:nvPr/>
        </p:nvCxnSpPr>
        <p:spPr>
          <a:xfrm rot="5400000" flipH="1" flipV="1">
            <a:off x="1127639" y="2548176"/>
            <a:ext cx="380919" cy="678559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B818954B-E7C0-8D75-7FFD-2B8883908EF8}"/>
              </a:ext>
            </a:extLst>
          </p:cNvPr>
          <p:cNvSpPr txBox="1"/>
          <p:nvPr/>
        </p:nvSpPr>
        <p:spPr>
          <a:xfrm>
            <a:off x="219880" y="6019019"/>
            <a:ext cx="323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is surely a path from z to x</a:t>
            </a:r>
            <a:endParaRPr lang="en-IN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EB3C4F2-6CD2-3D19-F1F9-559C74030C39}"/>
              </a:ext>
            </a:extLst>
          </p:cNvPr>
          <p:cNvSpPr txBox="1"/>
          <p:nvPr/>
        </p:nvSpPr>
        <p:spPr>
          <a:xfrm>
            <a:off x="3851418" y="6019019"/>
            <a:ext cx="527202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Just trace this path slowly to build a path from z to y.</a:t>
            </a:r>
            <a:endParaRPr lang="en-IN" dirty="0"/>
          </a:p>
        </p:txBody>
      </p:sp>
      <p:cxnSp>
        <p:nvCxnSpPr>
          <p:cNvPr id="104" name="Curved Connector 25">
            <a:extLst>
              <a:ext uri="{FF2B5EF4-FFF2-40B4-BE49-F238E27FC236}">
                <a16:creationId xmlns:a16="http://schemas.microsoft.com/office/drawing/2014/main" id="{5D9F3B6C-DF43-7B44-D4D2-7E237C5626A6}"/>
              </a:ext>
            </a:extLst>
          </p:cNvPr>
          <p:cNvCxnSpPr/>
          <p:nvPr/>
        </p:nvCxnSpPr>
        <p:spPr>
          <a:xfrm rot="5400000">
            <a:off x="1374843" y="3354585"/>
            <a:ext cx="1168761" cy="12700"/>
          </a:xfrm>
          <a:prstGeom prst="curved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65B04DF-D283-9A70-AE0C-34E0C7B08E8A}"/>
              </a:ext>
            </a:extLst>
          </p:cNvPr>
          <p:cNvSpPr txBox="1"/>
          <p:nvPr/>
        </p:nvSpPr>
        <p:spPr>
          <a:xfrm>
            <a:off x="219880" y="6315257"/>
            <a:ext cx="3388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they are strongly connected.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6B436-AC66-F4A2-3EB2-1C5889BE1890}"/>
              </a:ext>
            </a:extLst>
          </p:cNvPr>
          <p:cNvSpPr txBox="1"/>
          <p:nvPr/>
        </p:nvSpPr>
        <p:spPr>
          <a:xfrm>
            <a:off x="2609083" y="3176269"/>
            <a:ext cx="199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could be like this.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A0C8D-F3C0-900E-19A2-46BAE39F0074}"/>
              </a:ext>
            </a:extLst>
          </p:cNvPr>
          <p:cNvSpPr txBox="1"/>
          <p:nvPr/>
        </p:nvSpPr>
        <p:spPr>
          <a:xfrm>
            <a:off x="2609083" y="363135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065408-1387-61A1-392C-E86DDABC83E3}"/>
              </a:ext>
            </a:extLst>
          </p:cNvPr>
          <p:cNvSpPr/>
          <p:nvPr/>
        </p:nvSpPr>
        <p:spPr>
          <a:xfrm>
            <a:off x="1516521" y="2886670"/>
            <a:ext cx="404476" cy="84615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72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500"/>
                            </p:stCondLst>
                            <p:childTnLst>
                              <p:par>
                                <p:cTn id="8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500"/>
                            </p:stCondLst>
                            <p:childTnLst>
                              <p:par>
                                <p:cTn id="9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12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12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000"/>
                            </p:stCondLst>
                            <p:childTnLst>
                              <p:par>
                                <p:cTn id="1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500"/>
                            </p:stCondLst>
                            <p:childTnLst>
                              <p:par>
                                <p:cTn id="17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000"/>
                            </p:stCondLst>
                            <p:childTnLst>
                              <p:par>
                                <p:cTn id="18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500"/>
                            </p:stCondLst>
                            <p:childTnLst>
                              <p:par>
                                <p:cTn id="18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000"/>
                            </p:stCondLst>
                            <p:childTnLst>
                              <p:par>
                                <p:cTn id="1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3500"/>
                            </p:stCondLst>
                            <p:childTnLst>
                              <p:par>
                                <p:cTn id="19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4000"/>
                            </p:stCondLst>
                            <p:childTnLst>
                              <p:par>
                                <p:cTn id="19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 animBg="1"/>
      <p:bldP spid="13" grpId="0" animBg="1"/>
      <p:bldP spid="22" grpId="0"/>
      <p:bldP spid="23" grpId="0"/>
      <p:bldP spid="24" grpId="0"/>
      <p:bldP spid="40" grpId="0"/>
      <p:bldP spid="41" grpId="0"/>
      <p:bldP spid="42" grpId="0"/>
      <p:bldP spid="16" grpId="0" animBg="1"/>
      <p:bldP spid="16" grpId="1" animBg="1"/>
      <p:bldP spid="46" grpId="0" animBg="1"/>
      <p:bldP spid="49" grpId="0" animBg="1"/>
      <p:bldP spid="68" grpId="0"/>
      <p:bldP spid="102" grpId="0" animBg="1"/>
      <p:bldP spid="102" grpId="1"/>
      <p:bldP spid="103" grpId="0" animBg="1"/>
      <p:bldP spid="103" grpId="1" animBg="1"/>
      <p:bldP spid="5" grpId="0"/>
      <p:bldP spid="5" grpId="1"/>
      <p:bldP spid="6" grpId="0"/>
      <p:bldP spid="7" grpId="0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3641-C2F9-7EF5-10E7-B87C2705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1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863E4-154C-4C16-33FB-C39FDAC6C7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2000"/>
                <a:ext cx="8229600" cy="6096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Consider any path from x to z 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Let y be any vertex on this path.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can you infer about y?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is a path from y to z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Hence y and z are strongly connected.</a:t>
                </a:r>
              </a:p>
              <a:p>
                <a:pPr marL="0" indent="0">
                  <a:buNone/>
                </a:pPr>
                <a:r>
                  <a:rPr lang="en-US" sz="2000" dirty="0"/>
                  <a:t>In fact,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863E4-154C-4C16-33FB-C39FDAC6C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9600" cy="6096000"/>
              </a:xfrm>
              <a:blipFill>
                <a:blip r:embed="rId2"/>
                <a:stretch>
                  <a:fillRect l="-741" t="-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 3">
            <a:extLst>
              <a:ext uri="{FF2B5EF4-FFF2-40B4-BE49-F238E27FC236}">
                <a16:creationId xmlns:a16="http://schemas.microsoft.com/office/drawing/2014/main" id="{1C30800E-FB4B-A1C5-BA45-BA4B4FE3C119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C4C3824-0CB4-0BAC-77F6-FB801A3D89CC}"/>
              </a:ext>
            </a:extLst>
          </p:cNvPr>
          <p:cNvSpPr/>
          <p:nvPr/>
        </p:nvSpPr>
        <p:spPr>
          <a:xfrm>
            <a:off x="1278551" y="2286000"/>
            <a:ext cx="986672" cy="35388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99E34F8-73A8-1A9B-BCD0-AE39F58CD3E4}"/>
              </a:ext>
            </a:extLst>
          </p:cNvPr>
          <p:cNvCxnSpPr>
            <a:cxnSpLocks/>
          </p:cNvCxnSpPr>
          <p:nvPr/>
        </p:nvCxnSpPr>
        <p:spPr>
          <a:xfrm>
            <a:off x="1733578" y="275148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17AD01-589D-530D-E6DA-E4EF2776728F}"/>
              </a:ext>
            </a:extLst>
          </p:cNvPr>
          <p:cNvSpPr txBox="1"/>
          <p:nvPr/>
        </p:nvSpPr>
        <p:spPr>
          <a:xfrm>
            <a:off x="1794960" y="2504387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36CE85-8A0E-B9C0-0BC3-85738A92B4FF}"/>
              </a:ext>
            </a:extLst>
          </p:cNvPr>
          <p:cNvSpPr txBox="1"/>
          <p:nvPr/>
        </p:nvSpPr>
        <p:spPr>
          <a:xfrm>
            <a:off x="1828800" y="38216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492385-6B77-28A0-0E2E-AE7EE40248A3}"/>
              </a:ext>
            </a:extLst>
          </p:cNvPr>
          <p:cNvSpPr txBox="1"/>
          <p:nvPr/>
        </p:nvSpPr>
        <p:spPr>
          <a:xfrm>
            <a:off x="1836830" y="5174309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cxnSp>
        <p:nvCxnSpPr>
          <p:cNvPr id="26" name="Curved Connector 25">
            <a:extLst>
              <a:ext uri="{FF2B5EF4-FFF2-40B4-BE49-F238E27FC236}">
                <a16:creationId xmlns:a16="http://schemas.microsoft.com/office/drawing/2014/main" id="{8DE1CB5B-0919-F968-C462-8FFCFDA97041}"/>
              </a:ext>
            </a:extLst>
          </p:cNvPr>
          <p:cNvCxnSpPr/>
          <p:nvPr/>
        </p:nvCxnSpPr>
        <p:spPr>
          <a:xfrm rot="5400000">
            <a:off x="1390469" y="4692831"/>
            <a:ext cx="1168761" cy="12700"/>
          </a:xfrm>
          <a:prstGeom prst="curved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631B6A2-A8E5-5495-8855-17F122401C71}"/>
              </a:ext>
            </a:extLst>
          </p:cNvPr>
          <p:cNvSpPr txBox="1"/>
          <p:nvPr/>
        </p:nvSpPr>
        <p:spPr>
          <a:xfrm>
            <a:off x="5953974" y="29718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31F4FF-EC3E-88F5-31BE-621E8E71ED47}"/>
              </a:ext>
            </a:extLst>
          </p:cNvPr>
          <p:cNvSpPr txBox="1"/>
          <p:nvPr/>
        </p:nvSpPr>
        <p:spPr>
          <a:xfrm>
            <a:off x="7556454" y="4125223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A7BA75-4A26-4DAE-385A-9DCC2F89CF29}"/>
              </a:ext>
            </a:extLst>
          </p:cNvPr>
          <p:cNvSpPr txBox="1"/>
          <p:nvPr/>
        </p:nvSpPr>
        <p:spPr>
          <a:xfrm>
            <a:off x="1356816" y="3796135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?</a:t>
            </a: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D85A9F63-9B49-FBFA-DBB8-8F9F3E9CA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06795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99BFC133-40D5-350C-4260-7BF1C31DA6CF}"/>
              </a:ext>
            </a:extLst>
          </p:cNvPr>
          <p:cNvSpPr/>
          <p:nvPr/>
        </p:nvSpPr>
        <p:spPr>
          <a:xfrm flipV="1">
            <a:off x="1657378" y="262079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E3AF58-8F0C-1ADE-D706-FBF7AB13EDDF}"/>
              </a:ext>
            </a:extLst>
          </p:cNvPr>
          <p:cNvGrpSpPr/>
          <p:nvPr/>
        </p:nvGrpSpPr>
        <p:grpSpPr>
          <a:xfrm>
            <a:off x="5710133" y="2869378"/>
            <a:ext cx="2015032" cy="1714290"/>
            <a:chOff x="5710133" y="2869378"/>
            <a:chExt cx="2015032" cy="171429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CB8272A-05D7-606D-C3C7-F928F50AADBA}"/>
                </a:ext>
              </a:extLst>
            </p:cNvPr>
            <p:cNvSpPr/>
            <p:nvPr/>
          </p:nvSpPr>
          <p:spPr>
            <a:xfrm flipV="1">
              <a:off x="6019800" y="2895600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E1C04CA-830D-B087-8EA7-020131B69290}"/>
                </a:ext>
              </a:extLst>
            </p:cNvPr>
            <p:cNvSpPr/>
            <p:nvPr/>
          </p:nvSpPr>
          <p:spPr>
            <a:xfrm flipV="1">
              <a:off x="5710133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1C83D64-36E8-F5F0-8721-56A210B2D64E}"/>
                </a:ext>
              </a:extLst>
            </p:cNvPr>
            <p:cNvSpPr/>
            <p:nvPr/>
          </p:nvSpPr>
          <p:spPr>
            <a:xfrm flipV="1">
              <a:off x="6948256" y="286937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036AB1E-1EC8-FEDB-2CB0-7A6F3936B144}"/>
                </a:ext>
              </a:extLst>
            </p:cNvPr>
            <p:cNvSpPr/>
            <p:nvPr/>
          </p:nvSpPr>
          <p:spPr>
            <a:xfrm flipV="1">
              <a:off x="7568992" y="336473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DAC5BF4-549E-0E14-CF5E-95373B3C4BBD}"/>
                </a:ext>
              </a:extLst>
            </p:cNvPr>
            <p:cNvSpPr/>
            <p:nvPr/>
          </p:nvSpPr>
          <p:spPr>
            <a:xfrm flipV="1">
              <a:off x="6700914" y="367454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33002F-0D3E-7A8E-FAAC-5B325D019DE6}"/>
                </a:ext>
              </a:extLst>
            </p:cNvPr>
            <p:cNvSpPr/>
            <p:nvPr/>
          </p:nvSpPr>
          <p:spPr>
            <a:xfrm flipV="1">
              <a:off x="7572765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BD8C80D-8EED-3155-5A67-A5CD9218537F}"/>
                </a:ext>
              </a:extLst>
            </p:cNvPr>
            <p:cNvSpPr/>
            <p:nvPr/>
          </p:nvSpPr>
          <p:spPr>
            <a:xfrm flipV="1">
              <a:off x="6437152" y="443126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90A3ECF3-A25F-971C-D513-5AE964353E50}"/>
              </a:ext>
            </a:extLst>
          </p:cNvPr>
          <p:cNvSpPr/>
          <p:nvPr/>
        </p:nvSpPr>
        <p:spPr>
          <a:xfrm flipV="1">
            <a:off x="1657378" y="530372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611FF919-5F29-062E-4C55-5ED91A80F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51510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3A1E3731-C4F3-0DD9-A85F-5F03ADC5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96226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ADD89218-B0CF-90EF-C812-B1A38B3C6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40941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2">
            <a:extLst>
              <a:ext uri="{FF2B5EF4-FFF2-40B4-BE49-F238E27FC236}">
                <a16:creationId xmlns:a16="http://schemas.microsoft.com/office/drawing/2014/main" id="{461326D1-F2B3-E4EC-88BB-EE68F4826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85657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5CBCDF1-96BF-0D2F-BB25-7C872CC5DC2D}"/>
              </a:ext>
            </a:extLst>
          </p:cNvPr>
          <p:cNvCxnSpPr>
            <a:cxnSpLocks/>
          </p:cNvCxnSpPr>
          <p:nvPr/>
        </p:nvCxnSpPr>
        <p:spPr>
          <a:xfrm>
            <a:off x="1733578" y="320650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6AFE2BF-5B57-EACF-C1A8-66D9B344ED58}"/>
              </a:ext>
            </a:extLst>
          </p:cNvPr>
          <p:cNvCxnSpPr>
            <a:cxnSpLocks/>
          </p:cNvCxnSpPr>
          <p:nvPr/>
        </p:nvCxnSpPr>
        <p:spPr>
          <a:xfrm>
            <a:off x="1733578" y="3663434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9AA387E-8828-0DE8-F512-B2DFA3EB8415}"/>
              </a:ext>
            </a:extLst>
          </p:cNvPr>
          <p:cNvCxnSpPr>
            <a:cxnSpLocks/>
          </p:cNvCxnSpPr>
          <p:nvPr/>
        </p:nvCxnSpPr>
        <p:spPr>
          <a:xfrm>
            <a:off x="1727133" y="409294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C87F1C9-872E-0D57-1924-63AF33CD878E}"/>
              </a:ext>
            </a:extLst>
          </p:cNvPr>
          <p:cNvCxnSpPr>
            <a:cxnSpLocks/>
          </p:cNvCxnSpPr>
          <p:nvPr/>
        </p:nvCxnSpPr>
        <p:spPr>
          <a:xfrm>
            <a:off x="1724600" y="4561815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6F12E17-A6BB-FB18-F0FD-62F43EF77292}"/>
              </a:ext>
            </a:extLst>
          </p:cNvPr>
          <p:cNvCxnSpPr>
            <a:cxnSpLocks/>
          </p:cNvCxnSpPr>
          <p:nvPr/>
        </p:nvCxnSpPr>
        <p:spPr>
          <a:xfrm>
            <a:off x="1724600" y="498725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2">
            <a:extLst>
              <a:ext uri="{FF2B5EF4-FFF2-40B4-BE49-F238E27FC236}">
                <a16:creationId xmlns:a16="http://schemas.microsoft.com/office/drawing/2014/main" id="{22176EBE-94EB-D288-64FF-5546B2B02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95" y="373185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" name="Picture 2">
            <a:extLst>
              <a:ext uri="{FF2B5EF4-FFF2-40B4-BE49-F238E27FC236}">
                <a16:creationId xmlns:a16="http://schemas.microsoft.com/office/drawing/2014/main" id="{E995B791-0D8E-4D90-5FA4-11FCF8A2F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290" y="41910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EF91F923-A631-5B8B-E26E-865D62E6D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023" y="48768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6ADA977C-5407-E8DE-4458-054888F36B38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cxnSp>
        <p:nvCxnSpPr>
          <p:cNvPr id="69" name="Curved Connector 3">
            <a:extLst>
              <a:ext uri="{FF2B5EF4-FFF2-40B4-BE49-F238E27FC236}">
                <a16:creationId xmlns:a16="http://schemas.microsoft.com/office/drawing/2014/main" id="{D4E7AE7F-EB56-F03D-78B5-4879853BDA9F}"/>
              </a:ext>
            </a:extLst>
          </p:cNvPr>
          <p:cNvCxnSpPr>
            <a:cxnSpLocks/>
            <a:stCxn id="49" idx="2"/>
            <a:endCxn id="63" idx="2"/>
          </p:cNvCxnSpPr>
          <p:nvPr/>
        </p:nvCxnSpPr>
        <p:spPr>
          <a:xfrm rot="10800000">
            <a:off x="1200082" y="5029201"/>
            <a:ext cx="457296" cy="350725"/>
          </a:xfrm>
          <a:prstGeom prst="curved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urved Connector 25">
            <a:extLst>
              <a:ext uri="{FF2B5EF4-FFF2-40B4-BE49-F238E27FC236}">
                <a16:creationId xmlns:a16="http://schemas.microsoft.com/office/drawing/2014/main" id="{2E5DC32E-0E8C-913E-F584-5B55A9D9230C}"/>
              </a:ext>
            </a:extLst>
          </p:cNvPr>
          <p:cNvCxnSpPr>
            <a:cxnSpLocks/>
            <a:stCxn id="63" idx="0"/>
            <a:endCxn id="62" idx="2"/>
          </p:cNvCxnSpPr>
          <p:nvPr/>
        </p:nvCxnSpPr>
        <p:spPr>
          <a:xfrm rot="16200000" flipV="1">
            <a:off x="812016" y="4488733"/>
            <a:ext cx="533400" cy="242733"/>
          </a:xfrm>
          <a:prstGeom prst="curved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urved Connector 25">
            <a:extLst>
              <a:ext uri="{FF2B5EF4-FFF2-40B4-BE49-F238E27FC236}">
                <a16:creationId xmlns:a16="http://schemas.microsoft.com/office/drawing/2014/main" id="{4014CB30-04FF-00D8-8DCA-E647A8EE3650}"/>
              </a:ext>
            </a:extLst>
          </p:cNvPr>
          <p:cNvCxnSpPr>
            <a:cxnSpLocks/>
            <a:stCxn id="62" idx="0"/>
            <a:endCxn id="61" idx="2"/>
          </p:cNvCxnSpPr>
          <p:nvPr/>
        </p:nvCxnSpPr>
        <p:spPr>
          <a:xfrm rot="5400000" flipH="1" flipV="1">
            <a:off x="808429" y="4033176"/>
            <a:ext cx="306745" cy="8905"/>
          </a:xfrm>
          <a:prstGeom prst="curvedConnector3">
            <a:avLst>
              <a:gd name="adj1" fmla="val 3694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urved Connector 25">
            <a:extLst>
              <a:ext uri="{FF2B5EF4-FFF2-40B4-BE49-F238E27FC236}">
                <a16:creationId xmlns:a16="http://schemas.microsoft.com/office/drawing/2014/main" id="{321959B6-8A77-9DEF-40B5-0D2EEC2C4BDE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959797" y="3144150"/>
            <a:ext cx="695723" cy="597821"/>
          </a:xfrm>
          <a:prstGeom prst="curvedConnector3">
            <a:avLst>
              <a:gd name="adj1" fmla="val 27031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urved Connector 25">
            <a:extLst>
              <a:ext uri="{FF2B5EF4-FFF2-40B4-BE49-F238E27FC236}">
                <a16:creationId xmlns:a16="http://schemas.microsoft.com/office/drawing/2014/main" id="{5D9F3B6C-DF43-7B44-D4D2-7E237C5626A6}"/>
              </a:ext>
            </a:extLst>
          </p:cNvPr>
          <p:cNvCxnSpPr>
            <a:cxnSpLocks/>
          </p:cNvCxnSpPr>
          <p:nvPr/>
        </p:nvCxnSpPr>
        <p:spPr>
          <a:xfrm rot="5400000">
            <a:off x="1562926" y="3546416"/>
            <a:ext cx="788847" cy="8950"/>
          </a:xfrm>
          <a:prstGeom prst="curvedConnector3">
            <a:avLst>
              <a:gd name="adj1" fmla="val 50000"/>
            </a:avLst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CD0923-508D-5226-9B0F-723E42A50B6E}"/>
              </a:ext>
            </a:extLst>
          </p:cNvPr>
          <p:cNvSpPr txBox="1"/>
          <p:nvPr/>
        </p:nvSpPr>
        <p:spPr>
          <a:xfrm>
            <a:off x="2609083" y="3176269"/>
            <a:ext cx="199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could be like this.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F2BDD-FD2A-F5C4-A98B-C08AD75B0527}"/>
              </a:ext>
            </a:extLst>
          </p:cNvPr>
          <p:cNvSpPr txBox="1"/>
          <p:nvPr/>
        </p:nvSpPr>
        <p:spPr>
          <a:xfrm>
            <a:off x="2609083" y="3631358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CCFE9F-AE81-F5C5-0820-0868D75BEE73}"/>
              </a:ext>
            </a:extLst>
          </p:cNvPr>
          <p:cNvSpPr txBox="1"/>
          <p:nvPr/>
        </p:nvSpPr>
        <p:spPr>
          <a:xfrm>
            <a:off x="2619315" y="4116283"/>
            <a:ext cx="199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could be like this.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080219E-9A8C-EAD4-A272-EC57F5ABF8F0}"/>
              </a:ext>
            </a:extLst>
          </p:cNvPr>
          <p:cNvSpPr/>
          <p:nvPr/>
        </p:nvSpPr>
        <p:spPr>
          <a:xfrm>
            <a:off x="1516521" y="2886670"/>
            <a:ext cx="404476" cy="84615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1ADD843-3656-B76F-C25F-6A7D526DD5E7}"/>
              </a:ext>
            </a:extLst>
          </p:cNvPr>
          <p:cNvSpPr/>
          <p:nvPr/>
        </p:nvSpPr>
        <p:spPr>
          <a:xfrm flipV="1">
            <a:off x="1651268" y="3960557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35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9" grpId="0"/>
      <p:bldP spid="10" grpId="0"/>
      <p:bldP spid="10" grpId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214F-A92F-7F35-ECAD-2E673535C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C4D4-3C72-6EF3-DC18-9CA733DA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Observation 1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2DE7F3-C305-45D7-DA78-6BE50A5B0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2000"/>
                <a:ext cx="8229600" cy="6096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Consider any path from x to z in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r>
                  <a:rPr lang="en-US" sz="2000" dirty="0"/>
                  <a:t>Let y be any vertex on this path.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can you infer about y?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is a path from y to z in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Hence y and z are strongly connected.</a:t>
                </a:r>
              </a:p>
              <a:p>
                <a:pPr marL="0" indent="0">
                  <a:buNone/>
                </a:pPr>
                <a:r>
                  <a:rPr lang="en-US" sz="2000" dirty="0"/>
                  <a:t>In fact,  all vertices on the path are strongly connected.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863E4-154C-4C16-33FB-C39FDAC6C7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9600" cy="6096000"/>
              </a:xfrm>
              <a:blipFill>
                <a:blip r:embed="rId2"/>
                <a:stretch>
                  <a:fillRect l="-741" t="-5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 3">
            <a:extLst>
              <a:ext uri="{FF2B5EF4-FFF2-40B4-BE49-F238E27FC236}">
                <a16:creationId xmlns:a16="http://schemas.microsoft.com/office/drawing/2014/main" id="{3AF8421C-E4F8-F44F-B018-B9F4771F4567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1527E87-7951-B84E-4093-975635DF1433}"/>
              </a:ext>
            </a:extLst>
          </p:cNvPr>
          <p:cNvSpPr/>
          <p:nvPr/>
        </p:nvSpPr>
        <p:spPr>
          <a:xfrm>
            <a:off x="1278551" y="2286000"/>
            <a:ext cx="986672" cy="35388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1946EF4-A0B7-F110-75C6-AA39C740A2C5}"/>
              </a:ext>
            </a:extLst>
          </p:cNvPr>
          <p:cNvCxnSpPr>
            <a:cxnSpLocks/>
          </p:cNvCxnSpPr>
          <p:nvPr/>
        </p:nvCxnSpPr>
        <p:spPr>
          <a:xfrm>
            <a:off x="1733578" y="275148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CE86E34-CE4A-3B5C-29CD-B262AB4EC779}"/>
              </a:ext>
            </a:extLst>
          </p:cNvPr>
          <p:cNvSpPr txBox="1"/>
          <p:nvPr/>
        </p:nvSpPr>
        <p:spPr>
          <a:xfrm>
            <a:off x="1794960" y="2504387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398FC7-AC39-C55D-EE58-7063861A9039}"/>
              </a:ext>
            </a:extLst>
          </p:cNvPr>
          <p:cNvSpPr txBox="1"/>
          <p:nvPr/>
        </p:nvSpPr>
        <p:spPr>
          <a:xfrm>
            <a:off x="1828800" y="38216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31D959-94F7-6601-6F2E-F554A7F4B471}"/>
              </a:ext>
            </a:extLst>
          </p:cNvPr>
          <p:cNvSpPr txBox="1"/>
          <p:nvPr/>
        </p:nvSpPr>
        <p:spPr>
          <a:xfrm>
            <a:off x="1836830" y="5174309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C716CD-DB5E-B6F1-C4A0-D637C14959AA}"/>
              </a:ext>
            </a:extLst>
          </p:cNvPr>
          <p:cNvSpPr txBox="1"/>
          <p:nvPr/>
        </p:nvSpPr>
        <p:spPr>
          <a:xfrm>
            <a:off x="5953974" y="29718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350EEC-6EBA-B819-6D5A-F8335346CEDD}"/>
              </a:ext>
            </a:extLst>
          </p:cNvPr>
          <p:cNvSpPr txBox="1"/>
          <p:nvPr/>
        </p:nvSpPr>
        <p:spPr>
          <a:xfrm>
            <a:off x="7556454" y="4125223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pic>
        <p:nvPicPr>
          <p:cNvPr id="35" name="Picture 2">
            <a:extLst>
              <a:ext uri="{FF2B5EF4-FFF2-40B4-BE49-F238E27FC236}">
                <a16:creationId xmlns:a16="http://schemas.microsoft.com/office/drawing/2014/main" id="{AE9EA06B-E372-13A0-9A36-1D30A72CD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06795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E0519B93-713E-6E9F-8B21-4893800461B8}"/>
              </a:ext>
            </a:extLst>
          </p:cNvPr>
          <p:cNvSpPr/>
          <p:nvPr/>
        </p:nvSpPr>
        <p:spPr>
          <a:xfrm flipV="1">
            <a:off x="1657378" y="262079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C2FF02D-C008-F724-E44E-4687916CAC29}"/>
              </a:ext>
            </a:extLst>
          </p:cNvPr>
          <p:cNvGrpSpPr/>
          <p:nvPr/>
        </p:nvGrpSpPr>
        <p:grpSpPr>
          <a:xfrm>
            <a:off x="5710133" y="2869378"/>
            <a:ext cx="2015032" cy="1714290"/>
            <a:chOff x="5710133" y="2869378"/>
            <a:chExt cx="2015032" cy="171429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40EDFED-B49B-8B2B-66F1-FF8EC32B0E2A}"/>
                </a:ext>
              </a:extLst>
            </p:cNvPr>
            <p:cNvSpPr/>
            <p:nvPr/>
          </p:nvSpPr>
          <p:spPr>
            <a:xfrm flipV="1">
              <a:off x="6019800" y="2895600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0462DEE-D99E-98BB-7797-769A43594B9A}"/>
                </a:ext>
              </a:extLst>
            </p:cNvPr>
            <p:cNvSpPr/>
            <p:nvPr/>
          </p:nvSpPr>
          <p:spPr>
            <a:xfrm flipV="1">
              <a:off x="5710133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E09D316-361C-A2DA-6E15-43F00B78FF4C}"/>
                </a:ext>
              </a:extLst>
            </p:cNvPr>
            <p:cNvSpPr/>
            <p:nvPr/>
          </p:nvSpPr>
          <p:spPr>
            <a:xfrm flipV="1">
              <a:off x="6948256" y="286937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3AA597B-DD3F-A5D4-F161-9CCAC983BAA8}"/>
                </a:ext>
              </a:extLst>
            </p:cNvPr>
            <p:cNvSpPr/>
            <p:nvPr/>
          </p:nvSpPr>
          <p:spPr>
            <a:xfrm flipV="1">
              <a:off x="7568992" y="336473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D76F7E4-3523-C638-4712-6541681FCA77}"/>
                </a:ext>
              </a:extLst>
            </p:cNvPr>
            <p:cNvSpPr/>
            <p:nvPr/>
          </p:nvSpPr>
          <p:spPr>
            <a:xfrm flipV="1">
              <a:off x="6700914" y="367454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1B6F092-4718-E1C6-A238-809DF473C066}"/>
                </a:ext>
              </a:extLst>
            </p:cNvPr>
            <p:cNvSpPr/>
            <p:nvPr/>
          </p:nvSpPr>
          <p:spPr>
            <a:xfrm flipV="1">
              <a:off x="7572765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943F103-2B34-F73E-0A4D-3F0A14E7FE66}"/>
                </a:ext>
              </a:extLst>
            </p:cNvPr>
            <p:cNvSpPr/>
            <p:nvPr/>
          </p:nvSpPr>
          <p:spPr>
            <a:xfrm flipV="1">
              <a:off x="6437152" y="443126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2B9C22C6-EA33-1B3C-901E-C70ECDAB1A91}"/>
              </a:ext>
            </a:extLst>
          </p:cNvPr>
          <p:cNvSpPr/>
          <p:nvPr/>
        </p:nvSpPr>
        <p:spPr>
          <a:xfrm flipV="1">
            <a:off x="1657378" y="530372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Picture 2">
            <a:extLst>
              <a:ext uri="{FF2B5EF4-FFF2-40B4-BE49-F238E27FC236}">
                <a16:creationId xmlns:a16="http://schemas.microsoft.com/office/drawing/2014/main" id="{2F70BC77-2AC6-9C5C-BBB7-EB9C6BAD4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51510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0076935-86BC-677F-9846-73EB0367B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396226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3" name="Picture 2">
            <a:extLst>
              <a:ext uri="{FF2B5EF4-FFF2-40B4-BE49-F238E27FC236}">
                <a16:creationId xmlns:a16="http://schemas.microsoft.com/office/drawing/2014/main" id="{FFAEF204-37FF-CA2F-9DC2-0387DB263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409415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" name="Picture 2">
            <a:extLst>
              <a:ext uri="{FF2B5EF4-FFF2-40B4-BE49-F238E27FC236}">
                <a16:creationId xmlns:a16="http://schemas.microsoft.com/office/drawing/2014/main" id="{2ED0EFCE-D23B-A365-F807-4545428D6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520" y="485657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F8BF73C-81CF-0C23-F4BE-FBDFF10EFD55}"/>
              </a:ext>
            </a:extLst>
          </p:cNvPr>
          <p:cNvCxnSpPr>
            <a:cxnSpLocks/>
          </p:cNvCxnSpPr>
          <p:nvPr/>
        </p:nvCxnSpPr>
        <p:spPr>
          <a:xfrm>
            <a:off x="1733578" y="3206502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042A437-E504-6F19-DE1F-F9AC046C4348}"/>
              </a:ext>
            </a:extLst>
          </p:cNvPr>
          <p:cNvCxnSpPr>
            <a:cxnSpLocks/>
          </p:cNvCxnSpPr>
          <p:nvPr/>
        </p:nvCxnSpPr>
        <p:spPr>
          <a:xfrm>
            <a:off x="1733578" y="3663434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1666DD2-1564-44CF-4E49-4FBE538CBC72}"/>
              </a:ext>
            </a:extLst>
          </p:cNvPr>
          <p:cNvCxnSpPr>
            <a:cxnSpLocks/>
          </p:cNvCxnSpPr>
          <p:nvPr/>
        </p:nvCxnSpPr>
        <p:spPr>
          <a:xfrm>
            <a:off x="1727133" y="409294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1B88A92-59AC-B757-69A2-51A26CE7F955}"/>
              </a:ext>
            </a:extLst>
          </p:cNvPr>
          <p:cNvCxnSpPr>
            <a:cxnSpLocks/>
          </p:cNvCxnSpPr>
          <p:nvPr/>
        </p:nvCxnSpPr>
        <p:spPr>
          <a:xfrm>
            <a:off x="1724600" y="4561815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3959C29-9547-1B3C-B3FC-FDD4C31332F2}"/>
              </a:ext>
            </a:extLst>
          </p:cNvPr>
          <p:cNvCxnSpPr>
            <a:cxnSpLocks/>
          </p:cNvCxnSpPr>
          <p:nvPr/>
        </p:nvCxnSpPr>
        <p:spPr>
          <a:xfrm>
            <a:off x="1724600" y="4987257"/>
            <a:ext cx="0" cy="31646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3B96A06-EC55-C36C-AED2-DAF0B99B0060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BC67420-1ABC-5E04-03A8-29BE0376C101}"/>
              </a:ext>
            </a:extLst>
          </p:cNvPr>
          <p:cNvSpPr/>
          <p:nvPr/>
        </p:nvSpPr>
        <p:spPr>
          <a:xfrm flipV="1">
            <a:off x="1651268" y="3960557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F1FD851-D7AC-CA6B-20FB-60882B7A2ED0}"/>
              </a:ext>
            </a:extLst>
          </p:cNvPr>
          <p:cNvSpPr/>
          <p:nvPr/>
        </p:nvSpPr>
        <p:spPr>
          <a:xfrm flipV="1">
            <a:off x="1653696" y="351510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2B1446-DB2D-2A0D-1DDD-A603AB052EB6}"/>
              </a:ext>
            </a:extLst>
          </p:cNvPr>
          <p:cNvSpPr/>
          <p:nvPr/>
        </p:nvSpPr>
        <p:spPr>
          <a:xfrm flipV="1">
            <a:off x="1655154" y="3075815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3F5760-664C-58DB-9E5D-524F59F700D6}"/>
              </a:ext>
            </a:extLst>
          </p:cNvPr>
          <p:cNvSpPr/>
          <p:nvPr/>
        </p:nvSpPr>
        <p:spPr>
          <a:xfrm flipV="1">
            <a:off x="1655154" y="440103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D61FE5-4285-1E33-370C-474690D59952}"/>
              </a:ext>
            </a:extLst>
          </p:cNvPr>
          <p:cNvSpPr/>
          <p:nvPr/>
        </p:nvSpPr>
        <p:spPr>
          <a:xfrm flipV="1">
            <a:off x="1645458" y="485657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16A987-9489-A634-BAC6-70D8FB983541}"/>
              </a:ext>
            </a:extLst>
          </p:cNvPr>
          <p:cNvSpPr/>
          <p:nvPr/>
        </p:nvSpPr>
        <p:spPr>
          <a:xfrm>
            <a:off x="1304444" y="6300671"/>
            <a:ext cx="4953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66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3641-C2F9-7EF5-10E7-B87C2705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Inference </a:t>
            </a:r>
            <a:r>
              <a:rPr lang="en-US" sz="3600" b="1" dirty="0"/>
              <a:t>of </a:t>
            </a:r>
            <a:r>
              <a:rPr lang="en-US" sz="3600" b="1" dirty="0">
                <a:solidFill>
                  <a:srgbClr val="7030A0"/>
                </a:solidFill>
              </a:rPr>
              <a:t>Observation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63E4-154C-4C16-33FB-C39FDAC6C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Notation </a:t>
            </a:r>
            <a:r>
              <a:rPr lang="en-US" sz="2000" dirty="0"/>
              <a:t>(</a:t>
            </a:r>
            <a:r>
              <a:rPr lang="en-US" sz="2000" b="1" dirty="0"/>
              <a:t>root</a:t>
            </a:r>
            <a:r>
              <a:rPr lang="en-US" sz="2000" dirty="0"/>
              <a:t> of an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>
                <a:sym typeface="Wingdings" pitchFamily="2" charset="2"/>
              </a:rPr>
              <a:t>):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the vertex of the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which is visited first during the </a:t>
            </a:r>
            <a:r>
              <a:rPr lang="en-US" sz="2000" b="1" dirty="0"/>
              <a:t>DFS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Inference</a:t>
            </a:r>
            <a:r>
              <a:rPr lang="en-US" sz="2000" dirty="0"/>
              <a:t>: </a:t>
            </a:r>
          </a:p>
          <a:p>
            <a:pPr marL="0" indent="0">
              <a:buNone/>
            </a:pPr>
            <a:r>
              <a:rPr lang="en-US" sz="2000" dirty="0"/>
              <a:t>At the moment r is visited,</a:t>
            </a:r>
          </a:p>
          <a:p>
            <a:pPr marL="0" indent="0">
              <a:buNone/>
            </a:pPr>
            <a:r>
              <a:rPr lang="en-US" sz="2000" dirty="0"/>
              <a:t>Surely, no other vertex of the SCC is visited.</a:t>
            </a:r>
          </a:p>
          <a:p>
            <a:pPr marL="0" indent="0">
              <a:buNone/>
            </a:pPr>
            <a:r>
              <a:rPr lang="en-US" sz="2000" dirty="0"/>
              <a:t>Moreover, using </a:t>
            </a:r>
            <a:r>
              <a:rPr lang="en-US" sz="2000" b="1" dirty="0">
                <a:solidFill>
                  <a:srgbClr val="7030A0"/>
                </a:solidFill>
              </a:rPr>
              <a:t>Observation 1</a:t>
            </a:r>
            <a:r>
              <a:rPr lang="en-US" sz="2000" dirty="0"/>
              <a:t>,</a:t>
            </a:r>
          </a:p>
          <a:p>
            <a:pPr marL="0" indent="0">
              <a:buNone/>
            </a:pPr>
            <a:r>
              <a:rPr lang="en-US" sz="2000" dirty="0"/>
              <a:t>every path from r to every other vertex of the SCC is intact</a:t>
            </a:r>
          </a:p>
          <a:p>
            <a:pPr marL="0" indent="0">
              <a:buNone/>
            </a:pPr>
            <a:r>
              <a:rPr lang="en-US" sz="2000" dirty="0"/>
              <a:t>                              (it is present in the subgraph induced by unvisited vertices)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C30800E-FB4B-A1C5-BA45-BA4B4FE3C119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31B6A2-A8E5-5495-8855-17F122401C71}"/>
              </a:ext>
            </a:extLst>
          </p:cNvPr>
          <p:cNvSpPr txBox="1"/>
          <p:nvPr/>
        </p:nvSpPr>
        <p:spPr>
          <a:xfrm>
            <a:off x="5953974" y="2971800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31F4FF-EC3E-88F5-31BE-621E8E71ED47}"/>
              </a:ext>
            </a:extLst>
          </p:cNvPr>
          <p:cNvSpPr txBox="1"/>
          <p:nvPr/>
        </p:nvSpPr>
        <p:spPr>
          <a:xfrm>
            <a:off x="7556454" y="4125223"/>
            <a:ext cx="27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9E3AF58-8F0C-1ADE-D706-FBF7AB13EDDF}"/>
              </a:ext>
            </a:extLst>
          </p:cNvPr>
          <p:cNvGrpSpPr/>
          <p:nvPr/>
        </p:nvGrpSpPr>
        <p:grpSpPr>
          <a:xfrm>
            <a:off x="5710133" y="2869378"/>
            <a:ext cx="2015032" cy="1714290"/>
            <a:chOff x="5710133" y="2869378"/>
            <a:chExt cx="2015032" cy="171429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CB8272A-05D7-606D-C3C7-F928F50AADBA}"/>
                </a:ext>
              </a:extLst>
            </p:cNvPr>
            <p:cNvSpPr/>
            <p:nvPr/>
          </p:nvSpPr>
          <p:spPr>
            <a:xfrm flipV="1">
              <a:off x="6019800" y="2895600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E1C04CA-830D-B087-8EA7-020131B69290}"/>
                </a:ext>
              </a:extLst>
            </p:cNvPr>
            <p:cNvSpPr/>
            <p:nvPr/>
          </p:nvSpPr>
          <p:spPr>
            <a:xfrm flipV="1">
              <a:off x="5710133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1C83D64-36E8-F5F0-8721-56A210B2D64E}"/>
                </a:ext>
              </a:extLst>
            </p:cNvPr>
            <p:cNvSpPr/>
            <p:nvPr/>
          </p:nvSpPr>
          <p:spPr>
            <a:xfrm flipV="1">
              <a:off x="6948256" y="286937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036AB1E-1EC8-FEDB-2CB0-7A6F3936B144}"/>
                </a:ext>
              </a:extLst>
            </p:cNvPr>
            <p:cNvSpPr/>
            <p:nvPr/>
          </p:nvSpPr>
          <p:spPr>
            <a:xfrm flipV="1">
              <a:off x="7568992" y="336473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DDAC5BF4-549E-0E14-CF5E-95373B3C4BBD}"/>
                </a:ext>
              </a:extLst>
            </p:cNvPr>
            <p:cNvSpPr/>
            <p:nvPr/>
          </p:nvSpPr>
          <p:spPr>
            <a:xfrm flipV="1">
              <a:off x="6700914" y="367454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33002F-0D3E-7A8E-FAAC-5B325D019DE6}"/>
                </a:ext>
              </a:extLst>
            </p:cNvPr>
            <p:cNvSpPr/>
            <p:nvPr/>
          </p:nvSpPr>
          <p:spPr>
            <a:xfrm flipV="1">
              <a:off x="7572765" y="4064896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BD8C80D-8EED-3155-5A67-A5CD9218537F}"/>
                </a:ext>
              </a:extLst>
            </p:cNvPr>
            <p:cNvSpPr/>
            <p:nvPr/>
          </p:nvSpPr>
          <p:spPr>
            <a:xfrm flipV="1">
              <a:off x="6437152" y="4431268"/>
              <a:ext cx="152400" cy="1524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6ADA977C-5407-E8DE-4458-054888F36B38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716C6F-38B3-50A5-410D-9602FABE4D78}"/>
              </a:ext>
            </a:extLst>
          </p:cNvPr>
          <p:cNvSpPr/>
          <p:nvPr/>
        </p:nvSpPr>
        <p:spPr>
          <a:xfrm>
            <a:off x="5257800" y="5741285"/>
            <a:ext cx="5300767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23FAAB3-62F1-576C-5534-EE918F974DBA}"/>
              </a:ext>
            </a:extLst>
          </p:cNvPr>
          <p:cNvSpPr/>
          <p:nvPr/>
        </p:nvSpPr>
        <p:spPr>
          <a:xfrm>
            <a:off x="6937882" y="2859314"/>
            <a:ext cx="15183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890E5-C337-B6C5-DF3D-E8B25A1EBB01}"/>
              </a:ext>
            </a:extLst>
          </p:cNvPr>
          <p:cNvSpPr txBox="1"/>
          <p:nvPr/>
        </p:nvSpPr>
        <p:spPr>
          <a:xfrm>
            <a:off x="7093291" y="2734084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1D8D51-ECD9-4DCC-9D32-BCBA5B49F95D}"/>
              </a:ext>
            </a:extLst>
          </p:cNvPr>
          <p:cNvSpPr/>
          <p:nvPr/>
        </p:nvSpPr>
        <p:spPr>
          <a:xfrm>
            <a:off x="1930111" y="5822632"/>
            <a:ext cx="5300767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loud Callout 73">
            <a:extLst>
              <a:ext uri="{FF2B5EF4-FFF2-40B4-BE49-F238E27FC236}">
                <a16:creationId xmlns:a16="http://schemas.microsoft.com/office/drawing/2014/main" id="{5368B94B-AF94-D1F6-D070-EB8CA59D9827}"/>
              </a:ext>
            </a:extLst>
          </p:cNvPr>
          <p:cNvSpPr/>
          <p:nvPr/>
        </p:nvSpPr>
        <p:spPr>
          <a:xfrm>
            <a:off x="937812" y="2600063"/>
            <a:ext cx="3809999" cy="1110733"/>
          </a:xfrm>
          <a:prstGeom prst="cloudCallout">
            <a:avLst>
              <a:gd name="adj1" fmla="val -31430"/>
              <a:gd name="adj2" fmla="val 8766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use this inference to claim anything about the DFS trees and the SCCs ?</a:t>
            </a:r>
          </a:p>
        </p:txBody>
      </p:sp>
    </p:spTree>
    <p:extLst>
      <p:ext uri="{BB962C8B-B14F-4D97-AF65-F5344CB8AC3E}">
        <p14:creationId xmlns:p14="http://schemas.microsoft.com/office/powerpoint/2010/main" val="398299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2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2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2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7" grpId="0" animBg="1"/>
      <p:bldP spid="8" grpId="0"/>
      <p:bldP spid="9" grpId="0" animBg="1"/>
      <p:bldP spid="10" grpId="0" animBg="1"/>
      <p:bldP spid="10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E4539-655D-81F8-3313-25A8233CD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EAEC-E12E-CFB6-23B8-221D63926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Inference </a:t>
            </a:r>
            <a:r>
              <a:rPr lang="en-US" sz="3600" b="1" dirty="0"/>
              <a:t>of </a:t>
            </a:r>
            <a:r>
              <a:rPr lang="en-US" sz="3600" b="1" dirty="0">
                <a:solidFill>
                  <a:srgbClr val="7030A0"/>
                </a:solidFill>
              </a:rPr>
              <a:t>Observation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BC85A-85EB-442B-E371-02D8C81E2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624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Notation </a:t>
            </a:r>
            <a:r>
              <a:rPr lang="en-US" sz="2000" dirty="0"/>
              <a:t>(</a:t>
            </a:r>
            <a:r>
              <a:rPr lang="en-US" sz="2000" b="1" dirty="0"/>
              <a:t>root</a:t>
            </a:r>
            <a:r>
              <a:rPr lang="en-US" sz="2000" dirty="0"/>
              <a:t> of an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>
                <a:sym typeface="Wingdings" pitchFamily="2" charset="2"/>
              </a:rPr>
              <a:t>):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the vertex of the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which is visited first during the </a:t>
            </a:r>
            <a:r>
              <a:rPr lang="en-US" sz="2000" b="1" dirty="0"/>
              <a:t>DFS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D3C030E-5551-44ED-920A-1423A82E85AB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119BA74-C71B-34FD-D50F-1E16922DD980}"/>
              </a:ext>
            </a:extLst>
          </p:cNvPr>
          <p:cNvSpPr/>
          <p:nvPr/>
        </p:nvSpPr>
        <p:spPr>
          <a:xfrm flipV="1">
            <a:off x="6019800" y="28956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CC33A31-C6AF-644A-5A96-F8B21F7C55B6}"/>
              </a:ext>
            </a:extLst>
          </p:cNvPr>
          <p:cNvSpPr/>
          <p:nvPr/>
        </p:nvSpPr>
        <p:spPr>
          <a:xfrm flipV="1">
            <a:off x="5710133" y="406489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803BC38-06D2-CC55-A9C9-9C0EDF8B4EEF}"/>
              </a:ext>
            </a:extLst>
          </p:cNvPr>
          <p:cNvSpPr/>
          <p:nvPr/>
        </p:nvSpPr>
        <p:spPr>
          <a:xfrm flipV="1">
            <a:off x="6948256" y="286937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039250F-25BC-153D-FDFC-6EB55C9140E2}"/>
              </a:ext>
            </a:extLst>
          </p:cNvPr>
          <p:cNvSpPr/>
          <p:nvPr/>
        </p:nvSpPr>
        <p:spPr>
          <a:xfrm flipV="1">
            <a:off x="7568992" y="336473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DA968BC-FD8A-D287-1184-C416A2B51295}"/>
              </a:ext>
            </a:extLst>
          </p:cNvPr>
          <p:cNvSpPr/>
          <p:nvPr/>
        </p:nvSpPr>
        <p:spPr>
          <a:xfrm flipV="1">
            <a:off x="6700914" y="367454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EC13000-3BEB-E96D-DAA3-1952E3218A4C}"/>
              </a:ext>
            </a:extLst>
          </p:cNvPr>
          <p:cNvSpPr/>
          <p:nvPr/>
        </p:nvSpPr>
        <p:spPr>
          <a:xfrm flipV="1">
            <a:off x="7572765" y="406489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9BB4A8D-78EA-B56F-4814-D9D0164E3F68}"/>
              </a:ext>
            </a:extLst>
          </p:cNvPr>
          <p:cNvSpPr/>
          <p:nvPr/>
        </p:nvSpPr>
        <p:spPr>
          <a:xfrm flipV="1">
            <a:off x="6437152" y="443126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5C2555D-F124-5B78-5324-FE60B2CE6E99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2E465F-BA19-AB2B-1AE6-D04EB8968E66}"/>
              </a:ext>
            </a:extLst>
          </p:cNvPr>
          <p:cNvSpPr/>
          <p:nvPr/>
        </p:nvSpPr>
        <p:spPr>
          <a:xfrm>
            <a:off x="6937882" y="2859314"/>
            <a:ext cx="15183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DE4516-20CD-1581-E647-28C5595AED1E}"/>
              </a:ext>
            </a:extLst>
          </p:cNvPr>
          <p:cNvSpPr txBox="1"/>
          <p:nvPr/>
        </p:nvSpPr>
        <p:spPr>
          <a:xfrm>
            <a:off x="7093291" y="2734084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5" name="Flowchart: Extract 4">
            <a:extLst>
              <a:ext uri="{FF2B5EF4-FFF2-40B4-BE49-F238E27FC236}">
                <a16:creationId xmlns:a16="http://schemas.microsoft.com/office/drawing/2014/main" id="{FCC0D26C-E674-902C-3244-5CF06D19EAFD}"/>
              </a:ext>
            </a:extLst>
          </p:cNvPr>
          <p:cNvSpPr/>
          <p:nvPr/>
        </p:nvSpPr>
        <p:spPr>
          <a:xfrm>
            <a:off x="2365282" y="3939988"/>
            <a:ext cx="1252440" cy="1573905"/>
          </a:xfrm>
          <a:prstGeom prst="flowChartExtra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C6916A-C8F3-88AD-8D56-ED94540C821D}"/>
              </a:ext>
            </a:extLst>
          </p:cNvPr>
          <p:cNvGrpSpPr/>
          <p:nvPr/>
        </p:nvGrpSpPr>
        <p:grpSpPr>
          <a:xfrm>
            <a:off x="2903301" y="2357264"/>
            <a:ext cx="314097" cy="1415145"/>
            <a:chOff x="4255834" y="1457324"/>
            <a:chExt cx="258468" cy="1689047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9C318C9-1FE7-953F-A177-04F4B881C2AA}"/>
                </a:ext>
              </a:extLst>
            </p:cNvPr>
            <p:cNvSpPr/>
            <p:nvPr/>
          </p:nvSpPr>
          <p:spPr>
            <a:xfrm>
              <a:off x="4270917" y="1457324"/>
              <a:ext cx="205833" cy="1447801"/>
            </a:xfrm>
            <a:custGeom>
              <a:avLst/>
              <a:gdLst>
                <a:gd name="connsiteX0" fmla="*/ 19050 w 257175"/>
                <a:gd name="connsiteY0" fmla="*/ 0 h 1066800"/>
                <a:gd name="connsiteX1" fmla="*/ 123825 w 257175"/>
                <a:gd name="connsiteY1" fmla="*/ 28575 h 1066800"/>
                <a:gd name="connsiteX2" fmla="*/ 180975 w 257175"/>
                <a:gd name="connsiteY2" fmla="*/ 66675 h 1066800"/>
                <a:gd name="connsiteX3" fmla="*/ 200025 w 257175"/>
                <a:gd name="connsiteY3" fmla="*/ 123825 h 1066800"/>
                <a:gd name="connsiteX4" fmla="*/ 209550 w 257175"/>
                <a:gd name="connsiteY4" fmla="*/ 152400 h 1066800"/>
                <a:gd name="connsiteX5" fmla="*/ 200025 w 257175"/>
                <a:gd name="connsiteY5" fmla="*/ 228600 h 1066800"/>
                <a:gd name="connsiteX6" fmla="*/ 190500 w 257175"/>
                <a:gd name="connsiteY6" fmla="*/ 257175 h 1066800"/>
                <a:gd name="connsiteX7" fmla="*/ 133350 w 257175"/>
                <a:gd name="connsiteY7" fmla="*/ 295275 h 1066800"/>
                <a:gd name="connsiteX8" fmla="*/ 85725 w 257175"/>
                <a:gd name="connsiteY8" fmla="*/ 333375 h 1066800"/>
                <a:gd name="connsiteX9" fmla="*/ 66675 w 257175"/>
                <a:gd name="connsiteY9" fmla="*/ 361950 h 1066800"/>
                <a:gd name="connsiteX10" fmla="*/ 38100 w 257175"/>
                <a:gd name="connsiteY10" fmla="*/ 381000 h 1066800"/>
                <a:gd name="connsiteX11" fmla="*/ 28575 w 257175"/>
                <a:gd name="connsiteY11" fmla="*/ 409575 h 1066800"/>
                <a:gd name="connsiteX12" fmla="*/ 0 w 257175"/>
                <a:gd name="connsiteY12" fmla="*/ 466725 h 1066800"/>
                <a:gd name="connsiteX13" fmla="*/ 38100 w 257175"/>
                <a:gd name="connsiteY13" fmla="*/ 552450 h 1066800"/>
                <a:gd name="connsiteX14" fmla="*/ 47625 w 257175"/>
                <a:gd name="connsiteY14" fmla="*/ 581025 h 1066800"/>
                <a:gd name="connsiteX15" fmla="*/ 76200 w 257175"/>
                <a:gd name="connsiteY15" fmla="*/ 590550 h 1066800"/>
                <a:gd name="connsiteX16" fmla="*/ 161925 w 257175"/>
                <a:gd name="connsiteY16" fmla="*/ 647700 h 1066800"/>
                <a:gd name="connsiteX17" fmla="*/ 190500 w 257175"/>
                <a:gd name="connsiteY17" fmla="*/ 666750 h 1066800"/>
                <a:gd name="connsiteX18" fmla="*/ 247650 w 257175"/>
                <a:gd name="connsiteY18" fmla="*/ 781050 h 1066800"/>
                <a:gd name="connsiteX19" fmla="*/ 257175 w 257175"/>
                <a:gd name="connsiteY19" fmla="*/ 809625 h 1066800"/>
                <a:gd name="connsiteX20" fmla="*/ 247650 w 257175"/>
                <a:gd name="connsiteY20" fmla="*/ 885825 h 1066800"/>
                <a:gd name="connsiteX21" fmla="*/ 228600 w 257175"/>
                <a:gd name="connsiteY21" fmla="*/ 914400 h 1066800"/>
                <a:gd name="connsiteX22" fmla="*/ 209550 w 257175"/>
                <a:gd name="connsiteY22" fmla="*/ 971550 h 1066800"/>
                <a:gd name="connsiteX23" fmla="*/ 200025 w 257175"/>
                <a:gd name="connsiteY23" fmla="*/ 1000125 h 1066800"/>
                <a:gd name="connsiteX24" fmla="*/ 190500 w 257175"/>
                <a:gd name="connsiteY24" fmla="*/ 1028700 h 1066800"/>
                <a:gd name="connsiteX25" fmla="*/ 190500 w 257175"/>
                <a:gd name="connsiteY25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7175" h="1066800">
                  <a:moveTo>
                    <a:pt x="19050" y="0"/>
                  </a:moveTo>
                  <a:cubicBezTo>
                    <a:pt x="44610" y="5112"/>
                    <a:pt x="103108" y="14764"/>
                    <a:pt x="123825" y="28575"/>
                  </a:cubicBezTo>
                  <a:lnTo>
                    <a:pt x="180975" y="66675"/>
                  </a:lnTo>
                  <a:lnTo>
                    <a:pt x="200025" y="123825"/>
                  </a:lnTo>
                  <a:lnTo>
                    <a:pt x="209550" y="152400"/>
                  </a:lnTo>
                  <a:cubicBezTo>
                    <a:pt x="206375" y="177800"/>
                    <a:pt x="204604" y="203415"/>
                    <a:pt x="200025" y="228600"/>
                  </a:cubicBezTo>
                  <a:cubicBezTo>
                    <a:pt x="198229" y="238478"/>
                    <a:pt x="197600" y="250075"/>
                    <a:pt x="190500" y="257175"/>
                  </a:cubicBezTo>
                  <a:cubicBezTo>
                    <a:pt x="174311" y="273364"/>
                    <a:pt x="133350" y="295275"/>
                    <a:pt x="133350" y="295275"/>
                  </a:cubicBezTo>
                  <a:cubicBezTo>
                    <a:pt x="78755" y="377167"/>
                    <a:pt x="151450" y="280795"/>
                    <a:pt x="85725" y="333375"/>
                  </a:cubicBezTo>
                  <a:cubicBezTo>
                    <a:pt x="76786" y="340526"/>
                    <a:pt x="74770" y="353855"/>
                    <a:pt x="66675" y="361950"/>
                  </a:cubicBezTo>
                  <a:cubicBezTo>
                    <a:pt x="58580" y="370045"/>
                    <a:pt x="47625" y="374650"/>
                    <a:pt x="38100" y="381000"/>
                  </a:cubicBezTo>
                  <a:cubicBezTo>
                    <a:pt x="34925" y="390525"/>
                    <a:pt x="33065" y="400595"/>
                    <a:pt x="28575" y="409575"/>
                  </a:cubicBezTo>
                  <a:cubicBezTo>
                    <a:pt x="-8354" y="483433"/>
                    <a:pt x="23941" y="394901"/>
                    <a:pt x="0" y="466725"/>
                  </a:cubicBezTo>
                  <a:cubicBezTo>
                    <a:pt x="20546" y="610545"/>
                    <a:pt x="-13949" y="487389"/>
                    <a:pt x="38100" y="552450"/>
                  </a:cubicBezTo>
                  <a:cubicBezTo>
                    <a:pt x="44372" y="560290"/>
                    <a:pt x="40525" y="573925"/>
                    <a:pt x="47625" y="581025"/>
                  </a:cubicBezTo>
                  <a:cubicBezTo>
                    <a:pt x="54725" y="588125"/>
                    <a:pt x="67423" y="585674"/>
                    <a:pt x="76200" y="590550"/>
                  </a:cubicBezTo>
                  <a:lnTo>
                    <a:pt x="161925" y="647700"/>
                  </a:lnTo>
                  <a:lnTo>
                    <a:pt x="190500" y="666750"/>
                  </a:lnTo>
                  <a:cubicBezTo>
                    <a:pt x="239739" y="740608"/>
                    <a:pt x="221360" y="702180"/>
                    <a:pt x="247650" y="781050"/>
                  </a:cubicBezTo>
                  <a:lnTo>
                    <a:pt x="257175" y="809625"/>
                  </a:lnTo>
                  <a:cubicBezTo>
                    <a:pt x="254000" y="835025"/>
                    <a:pt x="254385" y="861129"/>
                    <a:pt x="247650" y="885825"/>
                  </a:cubicBezTo>
                  <a:cubicBezTo>
                    <a:pt x="244638" y="896869"/>
                    <a:pt x="233249" y="903939"/>
                    <a:pt x="228600" y="914400"/>
                  </a:cubicBezTo>
                  <a:cubicBezTo>
                    <a:pt x="220445" y="932750"/>
                    <a:pt x="215900" y="952500"/>
                    <a:pt x="209550" y="971550"/>
                  </a:cubicBezTo>
                  <a:lnTo>
                    <a:pt x="200025" y="1000125"/>
                  </a:lnTo>
                  <a:cubicBezTo>
                    <a:pt x="196850" y="1009650"/>
                    <a:pt x="190500" y="1018660"/>
                    <a:pt x="190500" y="1028700"/>
                  </a:cubicBezTo>
                  <a:lnTo>
                    <a:pt x="190500" y="106680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848A230-DC00-B2C5-1B62-A1E3D6D3BE9C}"/>
                </a:ext>
              </a:extLst>
            </p:cNvPr>
            <p:cNvCxnSpPr>
              <a:cxnSpLocks/>
              <a:stCxn id="11" idx="23"/>
            </p:cNvCxnSpPr>
            <p:nvPr/>
          </p:nvCxnSpPr>
          <p:spPr>
            <a:xfrm rot="19908639" flipH="1">
              <a:off x="4255834" y="2858621"/>
              <a:ext cx="258468" cy="28775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B92A88DF-B24E-7DDE-6DB6-36F4F2504B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697" y="228106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C0126C9E-17EE-BAF3-7719-374023CFD8EB}"/>
              </a:ext>
            </a:extLst>
          </p:cNvPr>
          <p:cNvSpPr/>
          <p:nvPr/>
        </p:nvSpPr>
        <p:spPr>
          <a:xfrm>
            <a:off x="2915587" y="3836330"/>
            <a:ext cx="15183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B58BDC-EB59-5247-8F11-3F02EDEA455C}"/>
              </a:ext>
            </a:extLst>
          </p:cNvPr>
          <p:cNvSpPr/>
          <p:nvPr/>
        </p:nvSpPr>
        <p:spPr>
          <a:xfrm flipV="1">
            <a:off x="6030174" y="28956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08FCF97-DADD-A6DA-166F-9D0C9221AC93}"/>
              </a:ext>
            </a:extLst>
          </p:cNvPr>
          <p:cNvSpPr/>
          <p:nvPr/>
        </p:nvSpPr>
        <p:spPr>
          <a:xfrm flipV="1">
            <a:off x="6700914" y="368393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14E8983-3CAF-E4C6-C089-3B47A14DAAF3}"/>
              </a:ext>
            </a:extLst>
          </p:cNvPr>
          <p:cNvSpPr/>
          <p:nvPr/>
        </p:nvSpPr>
        <p:spPr>
          <a:xfrm flipV="1">
            <a:off x="7568992" y="336473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F00FF2-FA6F-2006-9C88-BEE180329D7A}"/>
              </a:ext>
            </a:extLst>
          </p:cNvPr>
          <p:cNvSpPr/>
          <p:nvPr/>
        </p:nvSpPr>
        <p:spPr>
          <a:xfrm flipV="1">
            <a:off x="7579119" y="4064484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C37D52B-811D-F651-DEF9-72CACB93FD78}"/>
              </a:ext>
            </a:extLst>
          </p:cNvPr>
          <p:cNvSpPr/>
          <p:nvPr/>
        </p:nvSpPr>
        <p:spPr>
          <a:xfrm flipV="1">
            <a:off x="6437152" y="4430704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F5D1A39-7218-7E84-095C-88263D4C0F1A}"/>
              </a:ext>
            </a:extLst>
          </p:cNvPr>
          <p:cNvSpPr/>
          <p:nvPr/>
        </p:nvSpPr>
        <p:spPr>
          <a:xfrm flipV="1">
            <a:off x="5710133" y="4064484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05AA36B-85D6-6EFE-E222-1D03CDA367F3}"/>
              </a:ext>
            </a:extLst>
          </p:cNvPr>
          <p:cNvSpPr/>
          <p:nvPr/>
        </p:nvSpPr>
        <p:spPr>
          <a:xfrm>
            <a:off x="6937882" y="2859314"/>
            <a:ext cx="15183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67976A-8253-6366-7B42-763472ABB5B9}"/>
              </a:ext>
            </a:extLst>
          </p:cNvPr>
          <p:cNvSpPr txBox="1"/>
          <p:nvPr/>
        </p:nvSpPr>
        <p:spPr>
          <a:xfrm>
            <a:off x="3085047" y="3701478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9E1FA3-4986-48F2-F9B6-D6AD8E06EE7B}"/>
              </a:ext>
            </a:extLst>
          </p:cNvPr>
          <p:cNvSpPr/>
          <p:nvPr/>
        </p:nvSpPr>
        <p:spPr>
          <a:xfrm flipV="1">
            <a:off x="6155680" y="37583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481C64-9845-D228-C918-F8724B10AE64}"/>
              </a:ext>
            </a:extLst>
          </p:cNvPr>
          <p:cNvSpPr/>
          <p:nvPr/>
        </p:nvSpPr>
        <p:spPr>
          <a:xfrm flipV="1">
            <a:off x="6155680" y="376002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4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/>
      <p:bldP spid="5" grpId="0" animBg="1"/>
      <p:bldP spid="14" grpId="0" animBg="1"/>
      <p:bldP spid="22" grpId="0" animBg="1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4CAC5-AF62-1CB3-E3D2-4C44B2125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28A09-4C43-5C80-336D-D858F9A9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514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0070C0"/>
                </a:solidFill>
              </a:rPr>
              <a:t>Inference </a:t>
            </a:r>
            <a:r>
              <a:rPr lang="en-US" sz="3600" b="1" dirty="0"/>
              <a:t>of </a:t>
            </a:r>
            <a:r>
              <a:rPr lang="en-US" sz="3600" b="1" dirty="0">
                <a:solidFill>
                  <a:srgbClr val="7030A0"/>
                </a:solidFill>
              </a:rPr>
              <a:t>Observation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60EE3-8522-BE93-9696-C6ED2495B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6800"/>
            <a:ext cx="9144000" cy="617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Notation </a:t>
            </a:r>
            <a:r>
              <a:rPr lang="en-US" sz="2000" dirty="0"/>
              <a:t>(</a:t>
            </a:r>
            <a:r>
              <a:rPr lang="en-US" sz="2000" b="1" dirty="0"/>
              <a:t>root</a:t>
            </a:r>
            <a:r>
              <a:rPr lang="en-US" sz="2000" dirty="0"/>
              <a:t> of an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>
                <a:sym typeface="Wingdings" pitchFamily="2" charset="2"/>
              </a:rPr>
              <a:t>):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the vertex of the </a:t>
            </a:r>
            <a:r>
              <a:rPr lang="en-US" sz="2000" b="1" dirty="0">
                <a:solidFill>
                  <a:srgbClr val="7030A0"/>
                </a:solidFill>
              </a:rPr>
              <a:t>SCC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which is visited first during the </a:t>
            </a:r>
            <a:r>
              <a:rPr lang="en-US" sz="2000" b="1" dirty="0"/>
              <a:t>DFS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All vertices of the </a:t>
            </a:r>
            <a:r>
              <a:rPr lang="en-US" sz="2000" b="1" dirty="0"/>
              <a:t>SCC</a:t>
            </a:r>
            <a:r>
              <a:rPr lang="en-US" sz="2000" dirty="0"/>
              <a:t> will be </a:t>
            </a:r>
            <a:r>
              <a:rPr lang="en-US" sz="2000" b="1" dirty="0"/>
              <a:t>descendants of r </a:t>
            </a:r>
            <a:r>
              <a:rPr lang="en-US" sz="2000" dirty="0"/>
              <a:t>in the DFS tree.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There may be vertices from </a:t>
            </a:r>
            <a:r>
              <a:rPr lang="en-US" sz="2000" u="sng" dirty="0"/>
              <a:t>other SCCs</a:t>
            </a:r>
            <a:r>
              <a:rPr lang="en-US" sz="2000" dirty="0"/>
              <a:t> that will be descendant of 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But, the entire SCC appears </a:t>
            </a:r>
            <a:r>
              <a:rPr lang="en-US" sz="2000" b="1" u="sng" dirty="0"/>
              <a:t>contiguously</a:t>
            </a:r>
            <a:r>
              <a:rPr lang="en-US" sz="2000" dirty="0"/>
              <a:t> in the subtree rooted at r.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C8214DE-667E-D2DB-F17A-289B43B97858}"/>
              </a:ext>
            </a:extLst>
          </p:cNvPr>
          <p:cNvSpPr/>
          <p:nvPr/>
        </p:nvSpPr>
        <p:spPr>
          <a:xfrm>
            <a:off x="5102288" y="2554632"/>
            <a:ext cx="3355912" cy="247456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  <a:gd name="connsiteX0" fmla="*/ 1048214 w 1943115"/>
              <a:gd name="connsiteY0" fmla="*/ 232751 h 2942498"/>
              <a:gd name="connsiteX1" fmla="*/ 0 w 1943115"/>
              <a:gd name="connsiteY1" fmla="*/ 2786381 h 2942498"/>
              <a:gd name="connsiteX2" fmla="*/ 267629 w 1943115"/>
              <a:gd name="connsiteY2" fmla="*/ 2942498 h 2942498"/>
              <a:gd name="connsiteX3" fmla="*/ 1555491 w 1943115"/>
              <a:gd name="connsiteY3" fmla="*/ 2768113 h 2942498"/>
              <a:gd name="connsiteX4" fmla="*/ 1516565 w 1943115"/>
              <a:gd name="connsiteY4" fmla="*/ 2005795 h 2942498"/>
              <a:gd name="connsiteX5" fmla="*/ 1943115 w 1943115"/>
              <a:gd name="connsiteY5" fmla="*/ 0 h 2942498"/>
              <a:gd name="connsiteX6" fmla="*/ 1048214 w 1943115"/>
              <a:gd name="connsiteY6" fmla="*/ 232751 h 2942498"/>
              <a:gd name="connsiteX0" fmla="*/ 1048214 w 3630426"/>
              <a:gd name="connsiteY0" fmla="*/ 232751 h 2942498"/>
              <a:gd name="connsiteX1" fmla="*/ 0 w 3630426"/>
              <a:gd name="connsiteY1" fmla="*/ 2786381 h 2942498"/>
              <a:gd name="connsiteX2" fmla="*/ 267629 w 3630426"/>
              <a:gd name="connsiteY2" fmla="*/ 2942498 h 2942498"/>
              <a:gd name="connsiteX3" fmla="*/ 1555491 w 3630426"/>
              <a:gd name="connsiteY3" fmla="*/ 2768113 h 2942498"/>
              <a:gd name="connsiteX4" fmla="*/ 3630426 w 3630426"/>
              <a:gd name="connsiteY4" fmla="*/ 2444250 h 2942498"/>
              <a:gd name="connsiteX5" fmla="*/ 1943115 w 3630426"/>
              <a:gd name="connsiteY5" fmla="*/ 0 h 2942498"/>
              <a:gd name="connsiteX6" fmla="*/ 1048214 w 3630426"/>
              <a:gd name="connsiteY6" fmla="*/ 232751 h 2942498"/>
              <a:gd name="connsiteX0" fmla="*/ 1048214 w 3630426"/>
              <a:gd name="connsiteY0" fmla="*/ 765160 h 3474907"/>
              <a:gd name="connsiteX1" fmla="*/ 0 w 3630426"/>
              <a:gd name="connsiteY1" fmla="*/ 3318790 h 3474907"/>
              <a:gd name="connsiteX2" fmla="*/ 267629 w 3630426"/>
              <a:gd name="connsiteY2" fmla="*/ 3474907 h 3474907"/>
              <a:gd name="connsiteX3" fmla="*/ 1555491 w 3630426"/>
              <a:gd name="connsiteY3" fmla="*/ 3300522 h 3474907"/>
              <a:gd name="connsiteX4" fmla="*/ 3630426 w 3630426"/>
              <a:gd name="connsiteY4" fmla="*/ 2976659 h 3474907"/>
              <a:gd name="connsiteX5" fmla="*/ 2796790 w 3630426"/>
              <a:gd name="connsiteY5" fmla="*/ 0 h 3474907"/>
              <a:gd name="connsiteX6" fmla="*/ 1048214 w 3630426"/>
              <a:gd name="connsiteY6" fmla="*/ 765160 h 3474907"/>
              <a:gd name="connsiteX0" fmla="*/ 1048214 w 3703842"/>
              <a:gd name="connsiteY0" fmla="*/ 765160 h 3474907"/>
              <a:gd name="connsiteX1" fmla="*/ 0 w 3703842"/>
              <a:gd name="connsiteY1" fmla="*/ 3318790 h 3474907"/>
              <a:gd name="connsiteX2" fmla="*/ 267629 w 3703842"/>
              <a:gd name="connsiteY2" fmla="*/ 3474907 h 3474907"/>
              <a:gd name="connsiteX3" fmla="*/ 1555491 w 3703842"/>
              <a:gd name="connsiteY3" fmla="*/ 3300522 h 3474907"/>
              <a:gd name="connsiteX4" fmla="*/ 3630426 w 3703842"/>
              <a:gd name="connsiteY4" fmla="*/ 2976659 h 3474907"/>
              <a:gd name="connsiteX5" fmla="*/ 2796790 w 3703842"/>
              <a:gd name="connsiteY5" fmla="*/ 0 h 3474907"/>
              <a:gd name="connsiteX6" fmla="*/ 1048214 w 3703842"/>
              <a:gd name="connsiteY6" fmla="*/ 765160 h 3474907"/>
              <a:gd name="connsiteX0" fmla="*/ 1048214 w 4110833"/>
              <a:gd name="connsiteY0" fmla="*/ 765160 h 3474907"/>
              <a:gd name="connsiteX1" fmla="*/ 0 w 4110833"/>
              <a:gd name="connsiteY1" fmla="*/ 3318790 h 3474907"/>
              <a:gd name="connsiteX2" fmla="*/ 267629 w 4110833"/>
              <a:gd name="connsiteY2" fmla="*/ 3474907 h 3474907"/>
              <a:gd name="connsiteX3" fmla="*/ 1555491 w 4110833"/>
              <a:gd name="connsiteY3" fmla="*/ 3300522 h 3474907"/>
              <a:gd name="connsiteX4" fmla="*/ 3630426 w 4110833"/>
              <a:gd name="connsiteY4" fmla="*/ 2976659 h 3474907"/>
              <a:gd name="connsiteX5" fmla="*/ 2796790 w 4110833"/>
              <a:gd name="connsiteY5" fmla="*/ 0 h 3474907"/>
              <a:gd name="connsiteX6" fmla="*/ 1048214 w 4110833"/>
              <a:gd name="connsiteY6" fmla="*/ 765160 h 3474907"/>
              <a:gd name="connsiteX0" fmla="*/ 1048214 w 4636084"/>
              <a:gd name="connsiteY0" fmla="*/ 765160 h 3474907"/>
              <a:gd name="connsiteX1" fmla="*/ 0 w 4636084"/>
              <a:gd name="connsiteY1" fmla="*/ 3318790 h 3474907"/>
              <a:gd name="connsiteX2" fmla="*/ 267629 w 4636084"/>
              <a:gd name="connsiteY2" fmla="*/ 3474907 h 3474907"/>
              <a:gd name="connsiteX3" fmla="*/ 1555491 w 4636084"/>
              <a:gd name="connsiteY3" fmla="*/ 3300522 h 3474907"/>
              <a:gd name="connsiteX4" fmla="*/ 3630426 w 4636084"/>
              <a:gd name="connsiteY4" fmla="*/ 2976659 h 3474907"/>
              <a:gd name="connsiteX5" fmla="*/ 4618421 w 4636084"/>
              <a:gd name="connsiteY5" fmla="*/ 1063409 h 3474907"/>
              <a:gd name="connsiteX6" fmla="*/ 2796790 w 4636084"/>
              <a:gd name="connsiteY6" fmla="*/ 0 h 3474907"/>
              <a:gd name="connsiteX7" fmla="*/ 1048214 w 4636084"/>
              <a:gd name="connsiteY7" fmla="*/ 765160 h 3474907"/>
              <a:gd name="connsiteX0" fmla="*/ 1292120 w 4636085"/>
              <a:gd name="connsiteY0" fmla="*/ 827797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1292120 w 4636085"/>
              <a:gd name="connsiteY7" fmla="*/ 827797 h 3474907"/>
              <a:gd name="connsiteX0" fmla="*/ 492648 w 4636085"/>
              <a:gd name="connsiteY0" fmla="*/ 420661 h 3474907"/>
              <a:gd name="connsiteX1" fmla="*/ 0 w 4636085"/>
              <a:gd name="connsiteY1" fmla="*/ 3318790 h 3474907"/>
              <a:gd name="connsiteX2" fmla="*/ 267629 w 4636085"/>
              <a:gd name="connsiteY2" fmla="*/ 3474907 h 3474907"/>
              <a:gd name="connsiteX3" fmla="*/ 1555491 w 4636085"/>
              <a:gd name="connsiteY3" fmla="*/ 3300522 h 3474907"/>
              <a:gd name="connsiteX4" fmla="*/ 3630426 w 4636085"/>
              <a:gd name="connsiteY4" fmla="*/ 2976659 h 3474907"/>
              <a:gd name="connsiteX5" fmla="*/ 4618421 w 4636085"/>
              <a:gd name="connsiteY5" fmla="*/ 1063409 h 3474907"/>
              <a:gd name="connsiteX6" fmla="*/ 2796790 w 4636085"/>
              <a:gd name="connsiteY6" fmla="*/ 0 h 3474907"/>
              <a:gd name="connsiteX7" fmla="*/ 492648 w 4636085"/>
              <a:gd name="connsiteY7" fmla="*/ 420661 h 3474907"/>
              <a:gd name="connsiteX0" fmla="*/ 492648 w 4077930"/>
              <a:gd name="connsiteY0" fmla="*/ 420661 h 3474907"/>
              <a:gd name="connsiteX1" fmla="*/ 0 w 4077930"/>
              <a:gd name="connsiteY1" fmla="*/ 3318790 h 3474907"/>
              <a:gd name="connsiteX2" fmla="*/ 267629 w 4077930"/>
              <a:gd name="connsiteY2" fmla="*/ 3474907 h 3474907"/>
              <a:gd name="connsiteX3" fmla="*/ 1555491 w 4077930"/>
              <a:gd name="connsiteY3" fmla="*/ 3300522 h 3474907"/>
              <a:gd name="connsiteX4" fmla="*/ 3630426 w 4077930"/>
              <a:gd name="connsiteY4" fmla="*/ 2976659 h 3474907"/>
              <a:gd name="connsiteX5" fmla="*/ 4022206 w 4077930"/>
              <a:gd name="connsiteY5" fmla="*/ 1047750 h 3474907"/>
              <a:gd name="connsiteX6" fmla="*/ 2796790 w 4077930"/>
              <a:gd name="connsiteY6" fmla="*/ 0 h 3474907"/>
              <a:gd name="connsiteX7" fmla="*/ 492648 w 4077930"/>
              <a:gd name="connsiteY7" fmla="*/ 420661 h 347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77930" h="3474907">
                <a:moveTo>
                  <a:pt x="492648" y="420661"/>
                </a:moveTo>
                <a:lnTo>
                  <a:pt x="0" y="3318790"/>
                </a:lnTo>
                <a:lnTo>
                  <a:pt x="267629" y="3474907"/>
                </a:lnTo>
                <a:lnTo>
                  <a:pt x="1555491" y="3300522"/>
                </a:lnTo>
                <a:lnTo>
                  <a:pt x="3630426" y="2976659"/>
                </a:lnTo>
                <a:cubicBezTo>
                  <a:pt x="4043803" y="2619466"/>
                  <a:pt x="4161145" y="1543860"/>
                  <a:pt x="4022206" y="1047750"/>
                </a:cubicBezTo>
                <a:cubicBezTo>
                  <a:pt x="3883267" y="551640"/>
                  <a:pt x="3294714" y="65367"/>
                  <a:pt x="2796790" y="0"/>
                </a:cubicBezTo>
                <a:lnTo>
                  <a:pt x="492648" y="420661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0E29505-97FD-BE4C-77FA-3C8434D54E94}"/>
              </a:ext>
            </a:extLst>
          </p:cNvPr>
          <p:cNvSpPr/>
          <p:nvPr/>
        </p:nvSpPr>
        <p:spPr>
          <a:xfrm flipV="1">
            <a:off x="6019800" y="28956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4EAC742-E308-B99B-B59B-B511F6A77A01}"/>
              </a:ext>
            </a:extLst>
          </p:cNvPr>
          <p:cNvSpPr/>
          <p:nvPr/>
        </p:nvSpPr>
        <p:spPr>
          <a:xfrm flipV="1">
            <a:off x="5710133" y="406489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5633BD4-8F7A-C026-DD1D-8D6B9ED9FA6E}"/>
              </a:ext>
            </a:extLst>
          </p:cNvPr>
          <p:cNvSpPr/>
          <p:nvPr/>
        </p:nvSpPr>
        <p:spPr>
          <a:xfrm flipV="1">
            <a:off x="6948256" y="286937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29ABEC2-ADA5-5FD9-2B73-25EA1608382B}"/>
              </a:ext>
            </a:extLst>
          </p:cNvPr>
          <p:cNvSpPr/>
          <p:nvPr/>
        </p:nvSpPr>
        <p:spPr>
          <a:xfrm flipV="1">
            <a:off x="7568992" y="336473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0C1D21F-28C6-CAC8-DD6E-9068321D631E}"/>
              </a:ext>
            </a:extLst>
          </p:cNvPr>
          <p:cNvSpPr/>
          <p:nvPr/>
        </p:nvSpPr>
        <p:spPr>
          <a:xfrm flipV="1">
            <a:off x="6700914" y="367454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B62A517-4495-F680-A773-CD4D443B04DE}"/>
              </a:ext>
            </a:extLst>
          </p:cNvPr>
          <p:cNvSpPr/>
          <p:nvPr/>
        </p:nvSpPr>
        <p:spPr>
          <a:xfrm flipV="1">
            <a:off x="7572765" y="406489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F00CF6C-7D9B-E8D7-19FD-306937688EA1}"/>
              </a:ext>
            </a:extLst>
          </p:cNvPr>
          <p:cNvSpPr/>
          <p:nvPr/>
        </p:nvSpPr>
        <p:spPr>
          <a:xfrm flipV="1">
            <a:off x="6437152" y="4431268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21DBEA-09CA-1851-507D-D7277E1BF35C}"/>
              </a:ext>
            </a:extLst>
          </p:cNvPr>
          <p:cNvSpPr txBox="1"/>
          <p:nvPr/>
        </p:nvSpPr>
        <p:spPr>
          <a:xfrm>
            <a:off x="6752949" y="4989643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SCC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50668-9C74-1570-9EAC-FDAD12222F32}"/>
              </a:ext>
            </a:extLst>
          </p:cNvPr>
          <p:cNvSpPr txBox="1"/>
          <p:nvPr/>
        </p:nvSpPr>
        <p:spPr>
          <a:xfrm>
            <a:off x="7093291" y="2734084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5" name="Flowchart: Extract 4">
            <a:extLst>
              <a:ext uri="{FF2B5EF4-FFF2-40B4-BE49-F238E27FC236}">
                <a16:creationId xmlns:a16="http://schemas.microsoft.com/office/drawing/2014/main" id="{09A80E7D-B54E-A6A9-6662-AF899317B210}"/>
              </a:ext>
            </a:extLst>
          </p:cNvPr>
          <p:cNvSpPr/>
          <p:nvPr/>
        </p:nvSpPr>
        <p:spPr>
          <a:xfrm>
            <a:off x="2365282" y="3939988"/>
            <a:ext cx="1252440" cy="1573905"/>
          </a:xfrm>
          <a:prstGeom prst="flowChartExtra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DA5B9BC-16A4-3D67-435F-4498F410858D}"/>
              </a:ext>
            </a:extLst>
          </p:cNvPr>
          <p:cNvGrpSpPr/>
          <p:nvPr/>
        </p:nvGrpSpPr>
        <p:grpSpPr>
          <a:xfrm>
            <a:off x="2903301" y="2357264"/>
            <a:ext cx="314097" cy="1415145"/>
            <a:chOff x="4255834" y="1457324"/>
            <a:chExt cx="258468" cy="1689047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594C4E5-94F1-CF8C-1670-7FFCEBEAD923}"/>
                </a:ext>
              </a:extLst>
            </p:cNvPr>
            <p:cNvSpPr/>
            <p:nvPr/>
          </p:nvSpPr>
          <p:spPr>
            <a:xfrm>
              <a:off x="4270917" y="1457324"/>
              <a:ext cx="205833" cy="1447801"/>
            </a:xfrm>
            <a:custGeom>
              <a:avLst/>
              <a:gdLst>
                <a:gd name="connsiteX0" fmla="*/ 19050 w 257175"/>
                <a:gd name="connsiteY0" fmla="*/ 0 h 1066800"/>
                <a:gd name="connsiteX1" fmla="*/ 123825 w 257175"/>
                <a:gd name="connsiteY1" fmla="*/ 28575 h 1066800"/>
                <a:gd name="connsiteX2" fmla="*/ 180975 w 257175"/>
                <a:gd name="connsiteY2" fmla="*/ 66675 h 1066800"/>
                <a:gd name="connsiteX3" fmla="*/ 200025 w 257175"/>
                <a:gd name="connsiteY3" fmla="*/ 123825 h 1066800"/>
                <a:gd name="connsiteX4" fmla="*/ 209550 w 257175"/>
                <a:gd name="connsiteY4" fmla="*/ 152400 h 1066800"/>
                <a:gd name="connsiteX5" fmla="*/ 200025 w 257175"/>
                <a:gd name="connsiteY5" fmla="*/ 228600 h 1066800"/>
                <a:gd name="connsiteX6" fmla="*/ 190500 w 257175"/>
                <a:gd name="connsiteY6" fmla="*/ 257175 h 1066800"/>
                <a:gd name="connsiteX7" fmla="*/ 133350 w 257175"/>
                <a:gd name="connsiteY7" fmla="*/ 295275 h 1066800"/>
                <a:gd name="connsiteX8" fmla="*/ 85725 w 257175"/>
                <a:gd name="connsiteY8" fmla="*/ 333375 h 1066800"/>
                <a:gd name="connsiteX9" fmla="*/ 66675 w 257175"/>
                <a:gd name="connsiteY9" fmla="*/ 361950 h 1066800"/>
                <a:gd name="connsiteX10" fmla="*/ 38100 w 257175"/>
                <a:gd name="connsiteY10" fmla="*/ 381000 h 1066800"/>
                <a:gd name="connsiteX11" fmla="*/ 28575 w 257175"/>
                <a:gd name="connsiteY11" fmla="*/ 409575 h 1066800"/>
                <a:gd name="connsiteX12" fmla="*/ 0 w 257175"/>
                <a:gd name="connsiteY12" fmla="*/ 466725 h 1066800"/>
                <a:gd name="connsiteX13" fmla="*/ 38100 w 257175"/>
                <a:gd name="connsiteY13" fmla="*/ 552450 h 1066800"/>
                <a:gd name="connsiteX14" fmla="*/ 47625 w 257175"/>
                <a:gd name="connsiteY14" fmla="*/ 581025 h 1066800"/>
                <a:gd name="connsiteX15" fmla="*/ 76200 w 257175"/>
                <a:gd name="connsiteY15" fmla="*/ 590550 h 1066800"/>
                <a:gd name="connsiteX16" fmla="*/ 161925 w 257175"/>
                <a:gd name="connsiteY16" fmla="*/ 647700 h 1066800"/>
                <a:gd name="connsiteX17" fmla="*/ 190500 w 257175"/>
                <a:gd name="connsiteY17" fmla="*/ 666750 h 1066800"/>
                <a:gd name="connsiteX18" fmla="*/ 247650 w 257175"/>
                <a:gd name="connsiteY18" fmla="*/ 781050 h 1066800"/>
                <a:gd name="connsiteX19" fmla="*/ 257175 w 257175"/>
                <a:gd name="connsiteY19" fmla="*/ 809625 h 1066800"/>
                <a:gd name="connsiteX20" fmla="*/ 247650 w 257175"/>
                <a:gd name="connsiteY20" fmla="*/ 885825 h 1066800"/>
                <a:gd name="connsiteX21" fmla="*/ 228600 w 257175"/>
                <a:gd name="connsiteY21" fmla="*/ 914400 h 1066800"/>
                <a:gd name="connsiteX22" fmla="*/ 209550 w 257175"/>
                <a:gd name="connsiteY22" fmla="*/ 971550 h 1066800"/>
                <a:gd name="connsiteX23" fmla="*/ 200025 w 257175"/>
                <a:gd name="connsiteY23" fmla="*/ 1000125 h 1066800"/>
                <a:gd name="connsiteX24" fmla="*/ 190500 w 257175"/>
                <a:gd name="connsiteY24" fmla="*/ 1028700 h 1066800"/>
                <a:gd name="connsiteX25" fmla="*/ 190500 w 257175"/>
                <a:gd name="connsiteY25" fmla="*/ 10668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57175" h="1066800">
                  <a:moveTo>
                    <a:pt x="19050" y="0"/>
                  </a:moveTo>
                  <a:cubicBezTo>
                    <a:pt x="44610" y="5112"/>
                    <a:pt x="103108" y="14764"/>
                    <a:pt x="123825" y="28575"/>
                  </a:cubicBezTo>
                  <a:lnTo>
                    <a:pt x="180975" y="66675"/>
                  </a:lnTo>
                  <a:lnTo>
                    <a:pt x="200025" y="123825"/>
                  </a:lnTo>
                  <a:lnTo>
                    <a:pt x="209550" y="152400"/>
                  </a:lnTo>
                  <a:cubicBezTo>
                    <a:pt x="206375" y="177800"/>
                    <a:pt x="204604" y="203415"/>
                    <a:pt x="200025" y="228600"/>
                  </a:cubicBezTo>
                  <a:cubicBezTo>
                    <a:pt x="198229" y="238478"/>
                    <a:pt x="197600" y="250075"/>
                    <a:pt x="190500" y="257175"/>
                  </a:cubicBezTo>
                  <a:cubicBezTo>
                    <a:pt x="174311" y="273364"/>
                    <a:pt x="133350" y="295275"/>
                    <a:pt x="133350" y="295275"/>
                  </a:cubicBezTo>
                  <a:cubicBezTo>
                    <a:pt x="78755" y="377167"/>
                    <a:pt x="151450" y="280795"/>
                    <a:pt x="85725" y="333375"/>
                  </a:cubicBezTo>
                  <a:cubicBezTo>
                    <a:pt x="76786" y="340526"/>
                    <a:pt x="74770" y="353855"/>
                    <a:pt x="66675" y="361950"/>
                  </a:cubicBezTo>
                  <a:cubicBezTo>
                    <a:pt x="58580" y="370045"/>
                    <a:pt x="47625" y="374650"/>
                    <a:pt x="38100" y="381000"/>
                  </a:cubicBezTo>
                  <a:cubicBezTo>
                    <a:pt x="34925" y="390525"/>
                    <a:pt x="33065" y="400595"/>
                    <a:pt x="28575" y="409575"/>
                  </a:cubicBezTo>
                  <a:cubicBezTo>
                    <a:pt x="-8354" y="483433"/>
                    <a:pt x="23941" y="394901"/>
                    <a:pt x="0" y="466725"/>
                  </a:cubicBezTo>
                  <a:cubicBezTo>
                    <a:pt x="20546" y="610545"/>
                    <a:pt x="-13949" y="487389"/>
                    <a:pt x="38100" y="552450"/>
                  </a:cubicBezTo>
                  <a:cubicBezTo>
                    <a:pt x="44372" y="560290"/>
                    <a:pt x="40525" y="573925"/>
                    <a:pt x="47625" y="581025"/>
                  </a:cubicBezTo>
                  <a:cubicBezTo>
                    <a:pt x="54725" y="588125"/>
                    <a:pt x="67423" y="585674"/>
                    <a:pt x="76200" y="590550"/>
                  </a:cubicBezTo>
                  <a:lnTo>
                    <a:pt x="161925" y="647700"/>
                  </a:lnTo>
                  <a:lnTo>
                    <a:pt x="190500" y="666750"/>
                  </a:lnTo>
                  <a:cubicBezTo>
                    <a:pt x="239739" y="740608"/>
                    <a:pt x="221360" y="702180"/>
                    <a:pt x="247650" y="781050"/>
                  </a:cubicBezTo>
                  <a:lnTo>
                    <a:pt x="257175" y="809625"/>
                  </a:lnTo>
                  <a:cubicBezTo>
                    <a:pt x="254000" y="835025"/>
                    <a:pt x="254385" y="861129"/>
                    <a:pt x="247650" y="885825"/>
                  </a:cubicBezTo>
                  <a:cubicBezTo>
                    <a:pt x="244638" y="896869"/>
                    <a:pt x="233249" y="903939"/>
                    <a:pt x="228600" y="914400"/>
                  </a:cubicBezTo>
                  <a:cubicBezTo>
                    <a:pt x="220445" y="932750"/>
                    <a:pt x="215900" y="952500"/>
                    <a:pt x="209550" y="971550"/>
                  </a:cubicBezTo>
                  <a:lnTo>
                    <a:pt x="200025" y="1000125"/>
                  </a:lnTo>
                  <a:cubicBezTo>
                    <a:pt x="196850" y="1009650"/>
                    <a:pt x="190500" y="1018660"/>
                    <a:pt x="190500" y="1028700"/>
                  </a:cubicBezTo>
                  <a:lnTo>
                    <a:pt x="190500" y="1066800"/>
                  </a:lnTo>
                </a:path>
              </a:pathLst>
            </a:cu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6C31"/>
                </a:solidFill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2616AB2-D370-BBC2-F00D-3C93A133270F}"/>
                </a:ext>
              </a:extLst>
            </p:cNvPr>
            <p:cNvCxnSpPr>
              <a:cxnSpLocks/>
              <a:stCxn id="11" idx="23"/>
            </p:cNvCxnSpPr>
            <p:nvPr/>
          </p:nvCxnSpPr>
          <p:spPr>
            <a:xfrm rot="19908639" flipH="1">
              <a:off x="4255834" y="2858621"/>
              <a:ext cx="258468" cy="28775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97AABD7E-1BD9-D3E0-6B86-35C194044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697" y="228106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E66A774-0026-0C91-973D-832C71994BB0}"/>
              </a:ext>
            </a:extLst>
          </p:cNvPr>
          <p:cNvSpPr/>
          <p:nvPr/>
        </p:nvSpPr>
        <p:spPr>
          <a:xfrm>
            <a:off x="2915587" y="3836330"/>
            <a:ext cx="15183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0EFA5A-EFFC-E3BE-A187-E6D2F45D66FC}"/>
              </a:ext>
            </a:extLst>
          </p:cNvPr>
          <p:cNvSpPr/>
          <p:nvPr/>
        </p:nvSpPr>
        <p:spPr>
          <a:xfrm flipV="1">
            <a:off x="2889953" y="4275753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8373B96-6C79-E3EC-061B-58F07F55ECAA}"/>
              </a:ext>
            </a:extLst>
          </p:cNvPr>
          <p:cNvSpPr/>
          <p:nvPr/>
        </p:nvSpPr>
        <p:spPr>
          <a:xfrm flipV="1">
            <a:off x="3123769" y="472818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E436AC-B489-2F01-F750-7ADFAEA354F4}"/>
              </a:ext>
            </a:extLst>
          </p:cNvPr>
          <p:cNvSpPr/>
          <p:nvPr/>
        </p:nvSpPr>
        <p:spPr>
          <a:xfrm flipV="1">
            <a:off x="2963877" y="4935532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67DD949-6FF7-24B6-CF20-D57DB6DCB263}"/>
              </a:ext>
            </a:extLst>
          </p:cNvPr>
          <p:cNvSpPr/>
          <p:nvPr/>
        </p:nvSpPr>
        <p:spPr>
          <a:xfrm flipV="1">
            <a:off x="2813753" y="4563297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C8D1D6A-5E0A-FE35-E0FA-08017C88DDD2}"/>
              </a:ext>
            </a:extLst>
          </p:cNvPr>
          <p:cNvSpPr/>
          <p:nvPr/>
        </p:nvSpPr>
        <p:spPr>
          <a:xfrm flipV="1">
            <a:off x="3031462" y="4517609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7FF402F-B5BE-584E-80B7-DE0D99D64DFE}"/>
              </a:ext>
            </a:extLst>
          </p:cNvPr>
          <p:cNvSpPr/>
          <p:nvPr/>
        </p:nvSpPr>
        <p:spPr>
          <a:xfrm flipV="1">
            <a:off x="2712585" y="480438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396A70-BBD4-D8D9-8FCD-375FAB765046}"/>
              </a:ext>
            </a:extLst>
          </p:cNvPr>
          <p:cNvSpPr/>
          <p:nvPr/>
        </p:nvSpPr>
        <p:spPr>
          <a:xfrm flipV="1">
            <a:off x="3018417" y="5257800"/>
            <a:ext cx="152400" cy="152400"/>
          </a:xfrm>
          <a:prstGeom prst="ellipse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1FD5CF-486E-26E3-5059-F4517EB4F583}"/>
              </a:ext>
            </a:extLst>
          </p:cNvPr>
          <p:cNvSpPr/>
          <p:nvPr/>
        </p:nvSpPr>
        <p:spPr>
          <a:xfrm flipV="1">
            <a:off x="2743200" y="5181600"/>
            <a:ext cx="152400" cy="152400"/>
          </a:xfrm>
          <a:prstGeom prst="ellipse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C9B14E8-B850-B559-7401-B38CB9D30985}"/>
              </a:ext>
            </a:extLst>
          </p:cNvPr>
          <p:cNvSpPr/>
          <p:nvPr/>
        </p:nvSpPr>
        <p:spPr>
          <a:xfrm flipV="1">
            <a:off x="3357933" y="5282775"/>
            <a:ext cx="152400" cy="152400"/>
          </a:xfrm>
          <a:prstGeom prst="ellipse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5C8DFB0-CFD4-5722-5A82-9FA991A2FBA0}"/>
              </a:ext>
            </a:extLst>
          </p:cNvPr>
          <p:cNvSpPr/>
          <p:nvPr/>
        </p:nvSpPr>
        <p:spPr>
          <a:xfrm flipV="1">
            <a:off x="2539450" y="5282775"/>
            <a:ext cx="152400" cy="152400"/>
          </a:xfrm>
          <a:prstGeom prst="ellipse">
            <a:avLst/>
          </a:prstGeom>
          <a:solidFill>
            <a:srgbClr val="FFC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DA33941-4DEB-E4E2-9425-20835AF501C7}"/>
              </a:ext>
            </a:extLst>
          </p:cNvPr>
          <p:cNvGrpSpPr/>
          <p:nvPr/>
        </p:nvGrpSpPr>
        <p:grpSpPr>
          <a:xfrm>
            <a:off x="2539450" y="5066679"/>
            <a:ext cx="899826" cy="107630"/>
            <a:chOff x="2539451" y="5029200"/>
            <a:chExt cx="811122" cy="14510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EE9FF1-D0BF-8FD9-80C8-C5E2B0B579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9451" y="5037016"/>
              <a:ext cx="325534" cy="3979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3604600-0F6F-FC30-3780-EE82595782D1}"/>
                </a:ext>
              </a:extLst>
            </p:cNvPr>
            <p:cNvCxnSpPr>
              <a:cxnSpLocks/>
            </p:cNvCxnSpPr>
            <p:nvPr/>
          </p:nvCxnSpPr>
          <p:spPr>
            <a:xfrm>
              <a:off x="2835737" y="5029200"/>
              <a:ext cx="210252" cy="145109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258F4F5-2FC5-F89F-8BDA-53662AE1D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9153" y="5076808"/>
              <a:ext cx="114116" cy="90482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80E570B-CE8B-6BBB-ED75-51A4515FC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0321" y="5057854"/>
              <a:ext cx="210252" cy="26231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D05C8F-3CE3-E498-2591-376EA8FE2F62}"/>
              </a:ext>
            </a:extLst>
          </p:cNvPr>
          <p:cNvSpPr/>
          <p:nvPr/>
        </p:nvSpPr>
        <p:spPr>
          <a:xfrm flipV="1">
            <a:off x="6155680" y="3758300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6FF3C0-356C-7A57-E771-FD3EB6CE346A}"/>
              </a:ext>
            </a:extLst>
          </p:cNvPr>
          <p:cNvSpPr/>
          <p:nvPr/>
        </p:nvSpPr>
        <p:spPr>
          <a:xfrm flipV="1">
            <a:off x="2910255" y="4728186"/>
            <a:ext cx="152400" cy="1524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76DA0B-CDE1-4E10-4984-DBB95751228C}"/>
              </a:ext>
            </a:extLst>
          </p:cNvPr>
          <p:cNvSpPr txBox="1"/>
          <p:nvPr/>
        </p:nvSpPr>
        <p:spPr>
          <a:xfrm>
            <a:off x="3085047" y="3701478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4101281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  <p:bldP spid="15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D23E7-94C7-3214-638A-BEE30E62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DAC777-271C-B41E-6390-371B6BC8F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98637"/>
            <a:ext cx="8229600" cy="48307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4F07BE4-E633-8012-66A3-4236A7ED6926}"/>
              </a:ext>
            </a:extLst>
          </p:cNvPr>
          <p:cNvGrpSpPr/>
          <p:nvPr/>
        </p:nvGrpSpPr>
        <p:grpSpPr>
          <a:xfrm>
            <a:off x="1752599" y="4594303"/>
            <a:ext cx="1146718" cy="1163444"/>
            <a:chOff x="6705599" y="2308303"/>
            <a:chExt cx="1146718" cy="1163444"/>
          </a:xfrm>
        </p:grpSpPr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BCDEB8C0-3E0F-9886-61E4-BFDD1D6BC5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2308303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9927525-E0E4-A9B5-658E-57C1D65AA2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599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7" name="Picture 2">
              <a:extLst>
                <a:ext uri="{FF2B5EF4-FFF2-40B4-BE49-F238E27FC236}">
                  <a16:creationId xmlns:a16="http://schemas.microsoft.com/office/drawing/2014/main" id="{61E35D14-2D23-AFBA-9293-36E0A8C064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0" y="3319347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4DCD3150-CE08-53E2-CAB7-5E50484A06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8" y="2360342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D6A8EDF-EA1D-00D3-FBA2-DD0DBC89EDDB}"/>
              </a:ext>
            </a:extLst>
          </p:cNvPr>
          <p:cNvCxnSpPr/>
          <p:nvPr/>
        </p:nvCxnSpPr>
        <p:spPr>
          <a:xfrm flipH="1">
            <a:off x="1830658" y="4724400"/>
            <a:ext cx="24668" cy="88094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4CB2837-884F-34D9-289F-A019CDB9686B}"/>
              </a:ext>
            </a:extLst>
          </p:cNvPr>
          <p:cNvCxnSpPr/>
          <p:nvPr/>
        </p:nvCxnSpPr>
        <p:spPr>
          <a:xfrm>
            <a:off x="2821257" y="4798742"/>
            <a:ext cx="2" cy="80660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A7B634B-F985-7FE1-060B-679B69C4A33C}"/>
              </a:ext>
            </a:extLst>
          </p:cNvPr>
          <p:cNvCxnSpPr/>
          <p:nvPr/>
        </p:nvCxnSpPr>
        <p:spPr>
          <a:xfrm>
            <a:off x="1908717" y="4670503"/>
            <a:ext cx="834481" cy="52039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07E5EF0-CB2B-3619-C2EA-59168811EF69}"/>
              </a:ext>
            </a:extLst>
          </p:cNvPr>
          <p:cNvCxnSpPr/>
          <p:nvPr/>
        </p:nvCxnSpPr>
        <p:spPr>
          <a:xfrm>
            <a:off x="1908717" y="4670503"/>
            <a:ext cx="834483" cy="1011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Curved Connector 1042">
            <a:extLst>
              <a:ext uri="{FF2B5EF4-FFF2-40B4-BE49-F238E27FC236}">
                <a16:creationId xmlns:a16="http://schemas.microsoft.com/office/drawing/2014/main" id="{8552D9C3-E483-B44B-E9E1-CF89677C7E42}"/>
              </a:ext>
            </a:extLst>
          </p:cNvPr>
          <p:cNvCxnSpPr/>
          <p:nvPr/>
        </p:nvCxnSpPr>
        <p:spPr>
          <a:xfrm flipH="1" flipV="1">
            <a:off x="1901282" y="4634261"/>
            <a:ext cx="998035" cy="1047286"/>
          </a:xfrm>
          <a:prstGeom prst="curvedConnector4">
            <a:avLst>
              <a:gd name="adj1" fmla="val -22905"/>
              <a:gd name="adj2" fmla="val 144144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AA4A681-ACD4-EE84-BF37-3D04F603F992}"/>
              </a:ext>
            </a:extLst>
          </p:cNvPr>
          <p:cNvCxnSpPr>
            <a:stCxn id="120" idx="2"/>
            <a:endCxn id="122" idx="0"/>
          </p:cNvCxnSpPr>
          <p:nvPr/>
        </p:nvCxnSpPr>
        <p:spPr>
          <a:xfrm flipH="1">
            <a:off x="2064836" y="838200"/>
            <a:ext cx="411709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3C8F97A6-0B80-250F-EB90-1F52AD2EDD7B}"/>
              </a:ext>
            </a:extLst>
          </p:cNvPr>
          <p:cNvGrpSpPr/>
          <p:nvPr/>
        </p:nvGrpSpPr>
        <p:grpSpPr>
          <a:xfrm>
            <a:off x="2398486" y="685800"/>
            <a:ext cx="568587" cy="914400"/>
            <a:chOff x="2398486" y="685800"/>
            <a:chExt cx="568587" cy="914400"/>
          </a:xfrm>
        </p:grpSpPr>
        <p:pic>
          <p:nvPicPr>
            <p:cNvPr id="120" name="Picture 2">
              <a:extLst>
                <a:ext uri="{FF2B5EF4-FFF2-40B4-BE49-F238E27FC236}">
                  <a16:creationId xmlns:a16="http://schemas.microsoft.com/office/drawing/2014/main" id="{A9D95039-B820-0E15-8792-9D909CA221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8486" y="685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" name="Picture 2">
              <a:extLst>
                <a:ext uri="{FF2B5EF4-FFF2-40B4-BE49-F238E27FC236}">
                  <a16:creationId xmlns:a16="http://schemas.microsoft.com/office/drawing/2014/main" id="{D0E843C3-F298-71BC-E6C6-D26A5AB84B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0956" y="14478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A8725C9-07FC-CE82-0B49-872B89DA5DF5}"/>
              </a:ext>
            </a:extLst>
          </p:cNvPr>
          <p:cNvCxnSpPr>
            <a:stCxn id="120" idx="2"/>
            <a:endCxn id="123" idx="0"/>
          </p:cNvCxnSpPr>
          <p:nvPr/>
        </p:nvCxnSpPr>
        <p:spPr>
          <a:xfrm>
            <a:off x="2476545" y="838200"/>
            <a:ext cx="41247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BCEBB45-0612-79C8-3BE9-56F20D75B1EE}"/>
              </a:ext>
            </a:extLst>
          </p:cNvPr>
          <p:cNvCxnSpPr>
            <a:stCxn id="122" idx="2"/>
            <a:endCxn id="124" idx="0"/>
          </p:cNvCxnSpPr>
          <p:nvPr/>
        </p:nvCxnSpPr>
        <p:spPr>
          <a:xfrm flipH="1">
            <a:off x="1761895" y="1524000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7A9097A3-5E3D-76C1-657F-CB77C053FEDE}"/>
              </a:ext>
            </a:extLst>
          </p:cNvPr>
          <p:cNvCxnSpPr>
            <a:stCxn id="124" idx="2"/>
            <a:endCxn id="126" idx="0"/>
          </p:cNvCxnSpPr>
          <p:nvPr/>
        </p:nvCxnSpPr>
        <p:spPr>
          <a:xfrm flipH="1">
            <a:off x="1457095" y="2209800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5F5820E-C069-7C0F-E0C2-25BD995D95A1}"/>
              </a:ext>
            </a:extLst>
          </p:cNvPr>
          <p:cNvCxnSpPr>
            <a:stCxn id="124" idx="2"/>
            <a:endCxn id="127" idx="0"/>
          </p:cNvCxnSpPr>
          <p:nvPr/>
        </p:nvCxnSpPr>
        <p:spPr>
          <a:xfrm>
            <a:off x="1761895" y="2209800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E1D2A971-2A8C-2380-2EC3-673D7889E858}"/>
              </a:ext>
            </a:extLst>
          </p:cNvPr>
          <p:cNvCxnSpPr>
            <a:stCxn id="131" idx="0"/>
            <a:endCxn id="125" idx="1"/>
          </p:cNvCxnSpPr>
          <p:nvPr/>
        </p:nvCxnSpPr>
        <p:spPr>
          <a:xfrm flipV="1">
            <a:off x="2751737" y="2146610"/>
            <a:ext cx="136518" cy="7489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833CF7EC-DD8D-891A-4A37-1F0AE8A5DDD1}"/>
              </a:ext>
            </a:extLst>
          </p:cNvPr>
          <p:cNvCxnSpPr>
            <a:stCxn id="125" idx="2"/>
            <a:endCxn id="128" idx="0"/>
          </p:cNvCxnSpPr>
          <p:nvPr/>
        </p:nvCxnSpPr>
        <p:spPr>
          <a:xfrm>
            <a:off x="2966314" y="2222810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EFA61FE5-0320-2B97-4211-E561C3CB2BFF}"/>
              </a:ext>
            </a:extLst>
          </p:cNvPr>
          <p:cNvCxnSpPr>
            <a:stCxn id="122" idx="2"/>
            <a:endCxn id="125" idx="1"/>
          </p:cNvCxnSpPr>
          <p:nvPr/>
        </p:nvCxnSpPr>
        <p:spPr>
          <a:xfrm>
            <a:off x="2064836" y="1524000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42A9F01B-CFC5-F092-746B-4B9169D0480A}"/>
              </a:ext>
            </a:extLst>
          </p:cNvPr>
          <p:cNvCxnSpPr>
            <a:stCxn id="126" idx="2"/>
            <a:endCxn id="129" idx="0"/>
          </p:cNvCxnSpPr>
          <p:nvPr/>
        </p:nvCxnSpPr>
        <p:spPr>
          <a:xfrm flipH="1">
            <a:off x="1228495" y="3048000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E10C5AB-159B-49EC-E6AC-5AA8882F196F}"/>
              </a:ext>
            </a:extLst>
          </p:cNvPr>
          <p:cNvCxnSpPr>
            <a:stCxn id="123" idx="1"/>
            <a:endCxn id="122" idx="3"/>
          </p:cNvCxnSpPr>
          <p:nvPr/>
        </p:nvCxnSpPr>
        <p:spPr>
          <a:xfrm flipH="1" flipV="1">
            <a:off x="2142894" y="1447800"/>
            <a:ext cx="668062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D02CE8DB-0F92-324F-D018-3B9360CA7B5F}"/>
              </a:ext>
            </a:extLst>
          </p:cNvPr>
          <p:cNvCxnSpPr>
            <a:stCxn id="123" idx="2"/>
            <a:endCxn id="125" idx="0"/>
          </p:cNvCxnSpPr>
          <p:nvPr/>
        </p:nvCxnSpPr>
        <p:spPr>
          <a:xfrm>
            <a:off x="2889015" y="1600200"/>
            <a:ext cx="77299" cy="4702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990D6C7-777C-FF77-0AD1-17615896B533}"/>
              </a:ext>
            </a:extLst>
          </p:cNvPr>
          <p:cNvCxnSpPr>
            <a:stCxn id="127" idx="1"/>
            <a:endCxn id="129" idx="3"/>
          </p:cNvCxnSpPr>
          <p:nvPr/>
        </p:nvCxnSpPr>
        <p:spPr>
          <a:xfrm flipH="1">
            <a:off x="1306553" y="2971800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DAC9852D-C24F-8E68-4E94-757F6E7434AB}"/>
              </a:ext>
            </a:extLst>
          </p:cNvPr>
          <p:cNvCxnSpPr>
            <a:stCxn id="127" idx="2"/>
            <a:endCxn id="145" idx="0"/>
          </p:cNvCxnSpPr>
          <p:nvPr/>
        </p:nvCxnSpPr>
        <p:spPr>
          <a:xfrm>
            <a:off x="2227881" y="3048000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B354AF4-3F93-80EA-C68D-C269B343024E}"/>
              </a:ext>
            </a:extLst>
          </p:cNvPr>
          <p:cNvGrpSpPr/>
          <p:nvPr/>
        </p:nvGrpSpPr>
        <p:grpSpPr>
          <a:xfrm>
            <a:off x="1150436" y="1371600"/>
            <a:ext cx="2278564" cy="2438400"/>
            <a:chOff x="1150436" y="1371600"/>
            <a:chExt cx="2278564" cy="2438400"/>
          </a:xfrm>
        </p:grpSpPr>
        <p:pic>
          <p:nvPicPr>
            <p:cNvPr id="122" name="Picture 2">
              <a:extLst>
                <a:ext uri="{FF2B5EF4-FFF2-40B4-BE49-F238E27FC236}">
                  <a16:creationId xmlns:a16="http://schemas.microsoft.com/office/drawing/2014/main" id="{A85021A7-33C3-C03C-A50D-6A6255B4C9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6777" y="1371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>
              <a:extLst>
                <a:ext uri="{FF2B5EF4-FFF2-40B4-BE49-F238E27FC236}">
                  <a16:creationId xmlns:a16="http://schemas.microsoft.com/office/drawing/2014/main" id="{D9AC89BE-648D-19BA-BBB2-8A179D1DD7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3836" y="2057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>
              <a:extLst>
                <a:ext uri="{FF2B5EF4-FFF2-40B4-BE49-F238E27FC236}">
                  <a16:creationId xmlns:a16="http://schemas.microsoft.com/office/drawing/2014/main" id="{2DBDB779-3D6B-0787-82CB-B4E078009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8255" y="207041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>
              <a:extLst>
                <a:ext uri="{FF2B5EF4-FFF2-40B4-BE49-F238E27FC236}">
                  <a16:creationId xmlns:a16="http://schemas.microsoft.com/office/drawing/2014/main" id="{B0CEA9AB-AA7F-CFFB-427E-FE6A090CD3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9036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>
              <a:extLst>
                <a:ext uri="{FF2B5EF4-FFF2-40B4-BE49-F238E27FC236}">
                  <a16:creationId xmlns:a16="http://schemas.microsoft.com/office/drawing/2014/main" id="{C6045A37-EFC1-9207-DF51-5FAC8CF924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9822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>
              <a:extLst>
                <a:ext uri="{FF2B5EF4-FFF2-40B4-BE49-F238E27FC236}">
                  <a16:creationId xmlns:a16="http://schemas.microsoft.com/office/drawing/2014/main" id="{E1DC72BC-30A3-261B-5062-995D31C60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2883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>
              <a:extLst>
                <a:ext uri="{FF2B5EF4-FFF2-40B4-BE49-F238E27FC236}">
                  <a16:creationId xmlns:a16="http://schemas.microsoft.com/office/drawing/2014/main" id="{ADEC5032-E87C-200E-5334-1D6DA45C03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0436" y="3657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>
              <a:extLst>
                <a:ext uri="{FF2B5EF4-FFF2-40B4-BE49-F238E27FC236}">
                  <a16:creationId xmlns:a16="http://schemas.microsoft.com/office/drawing/2014/main" id="{F05AC643-1D88-6324-000A-4F1FBF8DCB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3678" y="2895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5" name="Picture 2">
              <a:extLst>
                <a:ext uri="{FF2B5EF4-FFF2-40B4-BE49-F238E27FC236}">
                  <a16:creationId xmlns:a16="http://schemas.microsoft.com/office/drawing/2014/main" id="{9FE14E1D-B911-D04A-001E-55A039E6C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3519" y="35814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490896B8-8C1C-3364-8A7F-700CF7F82711}"/>
              </a:ext>
            </a:extLst>
          </p:cNvPr>
          <p:cNvCxnSpPr>
            <a:stCxn id="128" idx="1"/>
            <a:endCxn id="131" idx="3"/>
          </p:cNvCxnSpPr>
          <p:nvPr/>
        </p:nvCxnSpPr>
        <p:spPr>
          <a:xfrm flipH="1">
            <a:off x="2829795" y="2971800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C993EE9-A62B-4FA8-7870-AC77590FDB6C}"/>
              </a:ext>
            </a:extLst>
          </p:cNvPr>
          <p:cNvGrpSpPr/>
          <p:nvPr/>
        </p:nvGrpSpPr>
        <p:grpSpPr>
          <a:xfrm>
            <a:off x="6477000" y="4431268"/>
            <a:ext cx="1601894" cy="1436132"/>
            <a:chOff x="6477000" y="4431268"/>
            <a:chExt cx="1601894" cy="1436132"/>
          </a:xfrm>
        </p:grpSpPr>
        <p:pic>
          <p:nvPicPr>
            <p:cNvPr id="152" name="Picture 2">
              <a:extLst>
                <a:ext uri="{FF2B5EF4-FFF2-40B4-BE49-F238E27FC236}">
                  <a16:creationId xmlns:a16="http://schemas.microsoft.com/office/drawing/2014/main" id="{526A05C2-C4AD-2712-7C22-E92D10352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1" y="4551556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" name="Picture 2">
              <a:extLst>
                <a:ext uri="{FF2B5EF4-FFF2-40B4-BE49-F238E27FC236}">
                  <a16:creationId xmlns:a16="http://schemas.microsoft.com/office/drawing/2014/main" id="{99047F8C-9FE9-5F63-AB35-485FB16E0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5600" y="5562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4" name="Picture 2">
              <a:extLst>
                <a:ext uri="{FF2B5EF4-FFF2-40B4-BE49-F238E27FC236}">
                  <a16:creationId xmlns:a16="http://schemas.microsoft.com/office/drawing/2014/main" id="{C7075DA7-B72E-770A-120C-8CE49FDB4F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201" y="55626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5" name="Picture 2">
              <a:extLst>
                <a:ext uri="{FF2B5EF4-FFF2-40B4-BE49-F238E27FC236}">
                  <a16:creationId xmlns:a16="http://schemas.microsoft.com/office/drawing/2014/main" id="{FD1A5F8A-755B-A722-5C6C-5F5DC07B2A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96199" y="4603595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D85F9CD3-61CE-98DA-9E51-EDF7AF9693FC}"/>
                </a:ext>
              </a:extLst>
            </p:cNvPr>
            <p:cNvCxnSpPr>
              <a:endCxn id="153" idx="0"/>
            </p:cNvCxnSpPr>
            <p:nvPr/>
          </p:nvCxnSpPr>
          <p:spPr>
            <a:xfrm flipH="1">
              <a:off x="6783659" y="4681653"/>
              <a:ext cx="24668" cy="880947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52774068-D727-6852-1E9B-962DF4F5F211}"/>
                </a:ext>
              </a:extLst>
            </p:cNvPr>
            <p:cNvCxnSpPr>
              <a:stCxn id="155" idx="2"/>
              <a:endCxn id="154" idx="0"/>
            </p:cNvCxnSpPr>
            <p:nvPr/>
          </p:nvCxnSpPr>
          <p:spPr>
            <a:xfrm>
              <a:off x="7774258" y="4755995"/>
              <a:ext cx="2" cy="806605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2F7DC2AD-755A-1D01-A1A3-898093981E19}"/>
                </a:ext>
              </a:extLst>
            </p:cNvPr>
            <p:cNvCxnSpPr>
              <a:stCxn id="152" idx="3"/>
              <a:endCxn id="155" idx="1"/>
            </p:cNvCxnSpPr>
            <p:nvPr/>
          </p:nvCxnSpPr>
          <p:spPr>
            <a:xfrm>
              <a:off x="6861718" y="4627756"/>
              <a:ext cx="834481" cy="52039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82317F3E-18C4-1031-F138-8A0C5F9F50DB}"/>
                </a:ext>
              </a:extLst>
            </p:cNvPr>
            <p:cNvSpPr txBox="1"/>
            <p:nvPr/>
          </p:nvSpPr>
          <p:spPr>
            <a:xfrm>
              <a:off x="6477000" y="4431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77DCF3D7-9903-77EF-9B1A-DFC9B11C6AD6}"/>
                </a:ext>
              </a:extLst>
            </p:cNvPr>
            <p:cNvSpPr txBox="1"/>
            <p:nvPr/>
          </p:nvSpPr>
          <p:spPr>
            <a:xfrm>
              <a:off x="7772400" y="45074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A2348745-213D-CF56-1433-283D544D9CE4}"/>
                </a:ext>
              </a:extLst>
            </p:cNvPr>
            <p:cNvSpPr txBox="1"/>
            <p:nvPr/>
          </p:nvSpPr>
          <p:spPr>
            <a:xfrm>
              <a:off x="7772400" y="5421868"/>
              <a:ext cx="2824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5A01026D-B0EF-B269-F586-927F934A881D}"/>
                </a:ext>
              </a:extLst>
            </p:cNvPr>
            <p:cNvSpPr txBox="1"/>
            <p:nvPr/>
          </p:nvSpPr>
          <p:spPr>
            <a:xfrm>
              <a:off x="6477000" y="54980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38F61BE2-D9E8-8E33-9513-38AFA7197057}"/>
              </a:ext>
            </a:extLst>
          </p:cNvPr>
          <p:cNvSpPr txBox="1"/>
          <p:nvPr/>
        </p:nvSpPr>
        <p:spPr>
          <a:xfrm>
            <a:off x="2590800" y="2971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472FD0B-66A2-7439-76E6-28F36BEF3ED2}"/>
              </a:ext>
            </a:extLst>
          </p:cNvPr>
          <p:cNvSpPr txBox="1"/>
          <p:nvPr/>
        </p:nvSpPr>
        <p:spPr>
          <a:xfrm>
            <a:off x="1979506" y="14594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0CCE24E-B9D1-60AF-B281-7425708D8F82}"/>
              </a:ext>
            </a:extLst>
          </p:cNvPr>
          <p:cNvSpPr txBox="1"/>
          <p:nvPr/>
        </p:nvSpPr>
        <p:spPr>
          <a:xfrm>
            <a:off x="2459148" y="621268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25CA919F-8968-D73C-1067-47DBED923C84}"/>
              </a:ext>
            </a:extLst>
          </p:cNvPr>
          <p:cNvSpPr txBox="1"/>
          <p:nvPr/>
        </p:nvSpPr>
        <p:spPr>
          <a:xfrm>
            <a:off x="1522306" y="44958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28FD897-D248-4BE7-9303-FA87BD18D75B}"/>
              </a:ext>
            </a:extLst>
          </p:cNvPr>
          <p:cNvSpPr txBox="1"/>
          <p:nvPr/>
        </p:nvSpPr>
        <p:spPr>
          <a:xfrm>
            <a:off x="2895600" y="130706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EE3FD817-A7FC-A949-9176-31A85BEFBC9F}"/>
              </a:ext>
            </a:extLst>
          </p:cNvPr>
          <p:cNvSpPr txBox="1"/>
          <p:nvPr/>
        </p:nvSpPr>
        <p:spPr>
          <a:xfrm>
            <a:off x="1522306" y="54980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68633DE-A990-BF6A-4AD6-114C69508D96}"/>
              </a:ext>
            </a:extLst>
          </p:cNvPr>
          <p:cNvSpPr txBox="1"/>
          <p:nvPr/>
        </p:nvSpPr>
        <p:spPr>
          <a:xfrm>
            <a:off x="2817706" y="45720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B5E9553-9DEB-860C-2663-33F9CC6DF314}"/>
              </a:ext>
            </a:extLst>
          </p:cNvPr>
          <p:cNvSpPr txBox="1"/>
          <p:nvPr/>
        </p:nvSpPr>
        <p:spPr>
          <a:xfrm>
            <a:off x="1447800" y="19050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6EF1630-B091-36D0-4B4D-23CB934D5DB8}"/>
              </a:ext>
            </a:extLst>
          </p:cNvPr>
          <p:cNvSpPr txBox="1"/>
          <p:nvPr/>
        </p:nvSpPr>
        <p:spPr>
          <a:xfrm>
            <a:off x="1065106" y="2754868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A8298026-6C86-C896-A1B2-FE0673F68303}"/>
              </a:ext>
            </a:extLst>
          </p:cNvPr>
          <p:cNvSpPr txBox="1"/>
          <p:nvPr/>
        </p:nvSpPr>
        <p:spPr>
          <a:xfrm>
            <a:off x="988906" y="3669268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96DD0BC-BCC4-E369-3DB0-D1BD62B98E29}"/>
              </a:ext>
            </a:extLst>
          </p:cNvPr>
          <p:cNvSpPr txBox="1"/>
          <p:nvPr/>
        </p:nvSpPr>
        <p:spPr>
          <a:xfrm>
            <a:off x="2131906" y="365760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3D8D6A12-47F7-696E-7D16-942884109F34}"/>
              </a:ext>
            </a:extLst>
          </p:cNvPr>
          <p:cNvSpPr txBox="1"/>
          <p:nvPr/>
        </p:nvSpPr>
        <p:spPr>
          <a:xfrm>
            <a:off x="3046306" y="1981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FB711581-CB03-8B04-076E-76E780B43ACA}"/>
              </a:ext>
            </a:extLst>
          </p:cNvPr>
          <p:cNvSpPr txBox="1"/>
          <p:nvPr/>
        </p:nvSpPr>
        <p:spPr>
          <a:xfrm>
            <a:off x="3274906" y="29072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31605161-1864-0F7F-0252-929026DC33AE}"/>
              </a:ext>
            </a:extLst>
          </p:cNvPr>
          <p:cNvSpPr txBox="1"/>
          <p:nvPr/>
        </p:nvSpPr>
        <p:spPr>
          <a:xfrm>
            <a:off x="1905000" y="2754868"/>
            <a:ext cx="239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415B1FB-BA85-7811-8FCC-7D7803BA0082}"/>
              </a:ext>
            </a:extLst>
          </p:cNvPr>
          <p:cNvGrpSpPr/>
          <p:nvPr/>
        </p:nvGrpSpPr>
        <p:grpSpPr>
          <a:xfrm>
            <a:off x="6442296" y="1230868"/>
            <a:ext cx="2549304" cy="2731532"/>
            <a:chOff x="957590" y="4050268"/>
            <a:chExt cx="2549304" cy="2731532"/>
          </a:xfrm>
        </p:grpSpPr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B1DE55F2-F569-7B53-8595-A439C2608C57}"/>
                </a:ext>
              </a:extLst>
            </p:cNvPr>
            <p:cNvSpPr txBox="1"/>
            <p:nvPr/>
          </p:nvSpPr>
          <p:spPr>
            <a:xfrm>
              <a:off x="1752600" y="4050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E941D94A-8AC2-BAC2-328C-86608F1EAE73}"/>
                </a:ext>
              </a:extLst>
            </p:cNvPr>
            <p:cNvGrpSpPr/>
            <p:nvPr/>
          </p:nvGrpSpPr>
          <p:grpSpPr>
            <a:xfrm>
              <a:off x="957590" y="4191000"/>
              <a:ext cx="2549304" cy="2590800"/>
              <a:chOff x="957590" y="4191000"/>
              <a:chExt cx="2549304" cy="2590800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72A2FD3-F0F3-F4D1-134E-9B55E9A01D5C}"/>
                  </a:ext>
                </a:extLst>
              </p:cNvPr>
              <p:cNvSpPr txBox="1"/>
              <p:nvPr/>
            </p:nvSpPr>
            <p:spPr>
              <a:xfrm>
                <a:off x="957590" y="6412468"/>
                <a:ext cx="2616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</a:t>
                </a: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2EC18327-03B5-8233-1B8F-7E5EACB4F02F}"/>
                  </a:ext>
                </a:extLst>
              </p:cNvPr>
              <p:cNvGrpSpPr/>
              <p:nvPr/>
            </p:nvGrpSpPr>
            <p:grpSpPr>
              <a:xfrm>
                <a:off x="1098024" y="4191000"/>
                <a:ext cx="2408870" cy="2438400"/>
                <a:chOff x="1098024" y="4191000"/>
                <a:chExt cx="2408870" cy="2438400"/>
              </a:xfrm>
            </p:grpSpPr>
            <p:pic>
              <p:nvPicPr>
                <p:cNvPr id="9" name="Picture 2">
                  <a:extLst>
                    <a:ext uri="{FF2B5EF4-FFF2-40B4-BE49-F238E27FC236}">
                      <a16:creationId xmlns:a16="http://schemas.microsoft.com/office/drawing/2014/main" id="{C9DD2077-DEC8-831C-0215-DC036A1C271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979341" y="4191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1" name="Picture 2">
                  <a:extLst>
                    <a:ext uri="{FF2B5EF4-FFF2-40B4-BE49-F238E27FC236}">
                      <a16:creationId xmlns:a16="http://schemas.microsoft.com/office/drawing/2014/main" id="{E83264F1-23DB-6B2C-48EB-C575EA55CEF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76400" y="4876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2" name="Picture 2">
                  <a:extLst>
                    <a:ext uri="{FF2B5EF4-FFF2-40B4-BE49-F238E27FC236}">
                      <a16:creationId xmlns:a16="http://schemas.microsoft.com/office/drawing/2014/main" id="{FCE992B3-3D15-194F-01E9-E18B61BEB6C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80819" y="488981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3" name="Picture 2">
                  <a:extLst>
                    <a:ext uri="{FF2B5EF4-FFF2-40B4-BE49-F238E27FC236}">
                      <a16:creationId xmlns:a16="http://schemas.microsoft.com/office/drawing/2014/main" id="{0F7E0E67-329C-10D2-57E4-719F70A6A18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71600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4" name="Picture 2">
                  <a:extLst>
                    <a:ext uri="{FF2B5EF4-FFF2-40B4-BE49-F238E27FC236}">
                      <a16:creationId xmlns:a16="http://schemas.microsoft.com/office/drawing/2014/main" id="{C0848EFF-FCA5-6C1B-3BB4-06E766236BE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142386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5" name="Picture 2">
                  <a:extLst>
                    <a:ext uri="{FF2B5EF4-FFF2-40B4-BE49-F238E27FC236}">
                      <a16:creationId xmlns:a16="http://schemas.microsoft.com/office/drawing/2014/main" id="{11EAC0A1-9F75-0173-9682-DCD93779EE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65447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16" name="Picture 2">
                  <a:extLst>
                    <a:ext uri="{FF2B5EF4-FFF2-40B4-BE49-F238E27FC236}">
                      <a16:creationId xmlns:a16="http://schemas.microsoft.com/office/drawing/2014/main" id="{185F1995-2B5C-CAB7-1033-EFBEDD2573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3000" y="6477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24" name="Picture 2">
                  <a:extLst>
                    <a:ext uri="{FF2B5EF4-FFF2-40B4-BE49-F238E27FC236}">
                      <a16:creationId xmlns:a16="http://schemas.microsoft.com/office/drawing/2014/main" id="{E9A0D825-3630-C723-AE8A-0971E45EC6E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66242" y="57150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E7AE8F58-9259-42A6-6B45-330B4D19D12E}"/>
                    </a:ext>
                  </a:extLst>
                </p:cNvPr>
                <p:cNvCxnSpPr>
                  <a:stCxn id="9" idx="2"/>
                  <a:endCxn id="11" idx="0"/>
                </p:cNvCxnSpPr>
                <p:nvPr/>
              </p:nvCxnSpPr>
              <p:spPr>
                <a:xfrm flipH="1">
                  <a:off x="1754459" y="4343400"/>
                  <a:ext cx="302941" cy="5334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517F86C1-9997-53D1-3B8E-3EDB461E83AE}"/>
                    </a:ext>
                  </a:extLst>
                </p:cNvPr>
                <p:cNvCxnSpPr>
                  <a:stCxn id="11" idx="2"/>
                  <a:endCxn id="13" idx="0"/>
                </p:cNvCxnSpPr>
                <p:nvPr/>
              </p:nvCxnSpPr>
              <p:spPr>
                <a:xfrm flipH="1">
                  <a:off x="1449659" y="5029200"/>
                  <a:ext cx="304800" cy="6858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B73AEF87-5B7F-8234-6EBB-A0F4B04CC94B}"/>
                    </a:ext>
                  </a:extLst>
                </p:cNvPr>
                <p:cNvCxnSpPr>
                  <a:stCxn id="11" idx="2"/>
                  <a:endCxn id="14" idx="0"/>
                </p:cNvCxnSpPr>
                <p:nvPr/>
              </p:nvCxnSpPr>
              <p:spPr>
                <a:xfrm>
                  <a:off x="1754459" y="5029200"/>
                  <a:ext cx="465986" cy="6858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7CE97B0D-DAC0-67A7-8ED6-9F38141AEC43}"/>
                    </a:ext>
                  </a:extLst>
                </p:cNvPr>
                <p:cNvCxnSpPr>
                  <a:stCxn id="12" idx="2"/>
                  <a:endCxn id="15" idx="0"/>
                </p:cNvCxnSpPr>
                <p:nvPr/>
              </p:nvCxnSpPr>
              <p:spPr>
                <a:xfrm>
                  <a:off x="2958878" y="5042210"/>
                  <a:ext cx="384628" cy="67279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ACD70DB7-1137-00DA-A2B7-419054D94A49}"/>
                    </a:ext>
                  </a:extLst>
                </p:cNvPr>
                <p:cNvCxnSpPr>
                  <a:stCxn id="9" idx="2"/>
                  <a:endCxn id="12" idx="1"/>
                </p:cNvCxnSpPr>
                <p:nvPr/>
              </p:nvCxnSpPr>
              <p:spPr>
                <a:xfrm>
                  <a:off x="2057400" y="4343400"/>
                  <a:ext cx="823419" cy="62261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66456FD4-F929-9289-889C-0D82D3111D04}"/>
                    </a:ext>
                  </a:extLst>
                </p:cNvPr>
                <p:cNvCxnSpPr>
                  <a:stCxn id="13" idx="2"/>
                  <a:endCxn id="16" idx="0"/>
                </p:cNvCxnSpPr>
                <p:nvPr/>
              </p:nvCxnSpPr>
              <p:spPr>
                <a:xfrm flipH="1">
                  <a:off x="1221059" y="5867400"/>
                  <a:ext cx="228600" cy="6096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Arrow Connector 110">
                  <a:extLst>
                    <a:ext uri="{FF2B5EF4-FFF2-40B4-BE49-F238E27FC236}">
                      <a16:creationId xmlns:a16="http://schemas.microsoft.com/office/drawing/2014/main" id="{9971C225-56F7-31AB-DC04-C4E8483B8E6B}"/>
                    </a:ext>
                  </a:extLst>
                </p:cNvPr>
                <p:cNvCxnSpPr>
                  <a:stCxn id="14" idx="2"/>
                  <a:endCxn id="114" idx="0"/>
                </p:cNvCxnSpPr>
                <p:nvPr/>
              </p:nvCxnSpPr>
              <p:spPr>
                <a:xfrm>
                  <a:off x="2220445" y="5867400"/>
                  <a:ext cx="63697" cy="53340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114" name="Picture 2">
                  <a:extLst>
                    <a:ext uri="{FF2B5EF4-FFF2-40B4-BE49-F238E27FC236}">
                      <a16:creationId xmlns:a16="http://schemas.microsoft.com/office/drawing/2014/main" id="{C6590C9C-ED6B-F20A-7645-BEA956ABD25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6083" y="6400800"/>
                  <a:ext cx="156117" cy="1524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cxnSp>
              <p:nvCxnSpPr>
                <p:cNvPr id="117" name="Straight Arrow Connector 116">
                  <a:extLst>
                    <a:ext uri="{FF2B5EF4-FFF2-40B4-BE49-F238E27FC236}">
                      <a16:creationId xmlns:a16="http://schemas.microsoft.com/office/drawing/2014/main" id="{56BC8912-BDFA-99A5-3BAB-2AB818851BE8}"/>
                    </a:ext>
                  </a:extLst>
                </p:cNvPr>
                <p:cNvCxnSpPr>
                  <a:stCxn id="15" idx="1"/>
                  <a:endCxn id="24" idx="3"/>
                </p:cNvCxnSpPr>
                <p:nvPr/>
              </p:nvCxnSpPr>
              <p:spPr>
                <a:xfrm flipH="1">
                  <a:off x="2822359" y="5791200"/>
                  <a:ext cx="443088" cy="0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FBBA074F-D03A-5187-0664-3E5D14B211C3}"/>
                    </a:ext>
                  </a:extLst>
                </p:cNvPr>
                <p:cNvSpPr txBox="1"/>
                <p:nvPr/>
              </p:nvSpPr>
              <p:spPr>
                <a:xfrm>
                  <a:off x="1387538" y="473606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v</a:t>
                  </a:r>
                </a:p>
              </p:txBody>
            </p:sp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03D28D3E-4AA9-3798-5134-ED2D40C637BC}"/>
                    </a:ext>
                  </a:extLst>
                </p:cNvPr>
                <p:cNvSpPr txBox="1"/>
                <p:nvPr/>
              </p:nvSpPr>
              <p:spPr>
                <a:xfrm>
                  <a:off x="2971800" y="47360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q</a:t>
                  </a:r>
                </a:p>
              </p:txBody>
            </p: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8DF55139-2922-0F03-1D06-17CCE6D67930}"/>
                    </a:ext>
                  </a:extLst>
                </p:cNvPr>
                <p:cNvSpPr txBox="1"/>
                <p:nvPr/>
              </p:nvSpPr>
              <p:spPr>
                <a:xfrm>
                  <a:off x="3200400" y="5726668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p</a:t>
                  </a:r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A0D0A241-C20A-A4CD-9B9C-095F05EE0DE1}"/>
                    </a:ext>
                  </a:extLst>
                </p:cNvPr>
                <p:cNvSpPr txBox="1"/>
                <p:nvPr/>
              </p:nvSpPr>
              <p:spPr>
                <a:xfrm>
                  <a:off x="2630784" y="5726668"/>
                  <a:ext cx="2648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r</a:t>
                  </a: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0D8AA2EC-B4D5-68AF-53A0-B77CB3790CE2}"/>
                    </a:ext>
                  </a:extLst>
                </p:cNvPr>
                <p:cNvSpPr txBox="1"/>
                <p:nvPr/>
              </p:nvSpPr>
              <p:spPr>
                <a:xfrm>
                  <a:off x="1098024" y="5574268"/>
                  <a:ext cx="34977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w</a:t>
                  </a: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F35CF507-3D49-91B7-0409-31C35CF2F0F2}"/>
                    </a:ext>
                  </a:extLst>
                </p:cNvPr>
                <p:cNvSpPr txBox="1"/>
                <p:nvPr/>
              </p:nvSpPr>
              <p:spPr>
                <a:xfrm>
                  <a:off x="1970632" y="5650468"/>
                  <a:ext cx="23916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j</a:t>
                  </a:r>
                </a:p>
              </p:txBody>
            </p:sp>
            <p:sp>
              <p:nvSpPr>
                <p:cNvPr id="197" name="TextBox 196">
                  <a:extLst>
                    <a:ext uri="{FF2B5EF4-FFF2-40B4-BE49-F238E27FC236}">
                      <a16:creationId xmlns:a16="http://schemas.microsoft.com/office/drawing/2014/main" id="{E0A50EE7-F6F0-6103-402A-58EC4E4D55B2}"/>
                    </a:ext>
                  </a:extLst>
                </p:cNvPr>
                <p:cNvSpPr txBox="1"/>
                <p:nvPr/>
              </p:nvSpPr>
              <p:spPr>
                <a:xfrm>
                  <a:off x="1981200" y="6260068"/>
                  <a:ext cx="2888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k</a:t>
                  </a:r>
                </a:p>
              </p:txBody>
            </p:sp>
          </p:grp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11B93D3-0F94-B594-1BA5-C40E6512514C}"/>
              </a:ext>
            </a:extLst>
          </p:cNvPr>
          <p:cNvGrpSpPr/>
          <p:nvPr/>
        </p:nvGrpSpPr>
        <p:grpSpPr>
          <a:xfrm>
            <a:off x="6830991" y="152400"/>
            <a:ext cx="1017609" cy="1055803"/>
            <a:chOff x="4605253" y="4571329"/>
            <a:chExt cx="1017609" cy="1055803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3B9EDACF-39B7-A0AF-8B60-2DEF9DB0D6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5069" y="5410200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9A33C7C-EBBA-6922-104E-396A85268D26}"/>
                </a:ext>
              </a:extLst>
            </p:cNvPr>
            <p:cNvCxnSpPr/>
            <p:nvPr/>
          </p:nvCxnSpPr>
          <p:spPr>
            <a:xfrm>
              <a:off x="4889305" y="4827549"/>
              <a:ext cx="430674" cy="60960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9" name="Picture 2">
              <a:extLst>
                <a:ext uri="{FF2B5EF4-FFF2-40B4-BE49-F238E27FC236}">
                  <a16:creationId xmlns:a16="http://schemas.microsoft.com/office/drawing/2014/main" id="{3565FDE5-F752-D837-C9AF-A9E0A13EA1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600" y="4713249"/>
              <a:ext cx="156117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83340728-817F-74C7-9208-E46C65A19954}"/>
                </a:ext>
              </a:extLst>
            </p:cNvPr>
            <p:cNvSpPr txBox="1"/>
            <p:nvPr/>
          </p:nvSpPr>
          <p:spPr>
            <a:xfrm>
              <a:off x="4605253" y="4571329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DAE37D0-827B-8AA1-6EA3-812E275A802D}"/>
                </a:ext>
              </a:extLst>
            </p:cNvPr>
            <p:cNvSpPr txBox="1"/>
            <p:nvPr/>
          </p:nvSpPr>
          <p:spPr>
            <a:xfrm>
              <a:off x="5334000" y="52578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</p:grpSp>
      <p:sp>
        <p:nvSpPr>
          <p:cNvPr id="99" name="Right Arrow 98">
            <a:extLst>
              <a:ext uri="{FF2B5EF4-FFF2-40B4-BE49-F238E27FC236}">
                <a16:creationId xmlns:a16="http://schemas.microsoft.com/office/drawing/2014/main" id="{FF4E4C08-B8F4-D711-0AAA-C84EEC628F39}"/>
              </a:ext>
            </a:extLst>
          </p:cNvPr>
          <p:cNvSpPr/>
          <p:nvPr/>
        </p:nvSpPr>
        <p:spPr>
          <a:xfrm rot="1556459">
            <a:off x="1760117" y="1184012"/>
            <a:ext cx="250464" cy="273326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ight Arrow 204">
            <a:extLst>
              <a:ext uri="{FF2B5EF4-FFF2-40B4-BE49-F238E27FC236}">
                <a16:creationId xmlns:a16="http://schemas.microsoft.com/office/drawing/2014/main" id="{E83E4A16-F956-E163-E322-70454F3854E7}"/>
              </a:ext>
            </a:extLst>
          </p:cNvPr>
          <p:cNvSpPr/>
          <p:nvPr/>
        </p:nvSpPr>
        <p:spPr>
          <a:xfrm rot="1556459">
            <a:off x="2197446" y="495684"/>
            <a:ext cx="245977" cy="304030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ight Arrow 205">
            <a:extLst>
              <a:ext uri="{FF2B5EF4-FFF2-40B4-BE49-F238E27FC236}">
                <a16:creationId xmlns:a16="http://schemas.microsoft.com/office/drawing/2014/main" id="{205A6CB6-28C5-BE0B-847A-00DD9A5C9A6E}"/>
              </a:ext>
            </a:extLst>
          </p:cNvPr>
          <p:cNvSpPr/>
          <p:nvPr/>
        </p:nvSpPr>
        <p:spPr>
          <a:xfrm rot="1556459">
            <a:off x="1500843" y="4315277"/>
            <a:ext cx="285418" cy="284844"/>
          </a:xfrm>
          <a:prstGeom prst="rightArrow">
            <a:avLst>
              <a:gd name="adj1" fmla="val 50000"/>
              <a:gd name="adj2" fmla="val 52301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1C11B29-269F-9201-3CB9-D86728467229}"/>
              </a:ext>
            </a:extLst>
          </p:cNvPr>
          <p:cNvCxnSpPr/>
          <p:nvPr/>
        </p:nvCxnSpPr>
        <p:spPr>
          <a:xfrm>
            <a:off x="1527717" y="762000"/>
            <a:ext cx="2053683" cy="1403866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Freeform 107">
            <a:extLst>
              <a:ext uri="{FF2B5EF4-FFF2-40B4-BE49-F238E27FC236}">
                <a16:creationId xmlns:a16="http://schemas.microsoft.com/office/drawing/2014/main" id="{9CFCB895-18BD-3800-F360-153CDD610A09}"/>
              </a:ext>
            </a:extLst>
          </p:cNvPr>
          <p:cNvSpPr/>
          <p:nvPr/>
        </p:nvSpPr>
        <p:spPr>
          <a:xfrm>
            <a:off x="1150437" y="1270722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20CC0CF-3040-D568-57F3-E9805DEB4723}"/>
              </a:ext>
            </a:extLst>
          </p:cNvPr>
          <p:cNvSpPr/>
          <p:nvPr/>
        </p:nvSpPr>
        <p:spPr>
          <a:xfrm>
            <a:off x="2133600" y="35052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 109">
            <a:extLst>
              <a:ext uri="{FF2B5EF4-FFF2-40B4-BE49-F238E27FC236}">
                <a16:creationId xmlns:a16="http://schemas.microsoft.com/office/drawing/2014/main" id="{C77F6988-A2ED-E049-85BB-D7E3F4EFA8C5}"/>
              </a:ext>
            </a:extLst>
          </p:cNvPr>
          <p:cNvSpPr/>
          <p:nvPr/>
        </p:nvSpPr>
        <p:spPr>
          <a:xfrm>
            <a:off x="2185639" y="457200"/>
            <a:ext cx="959005" cy="1092819"/>
          </a:xfrm>
          <a:custGeom>
            <a:avLst/>
            <a:gdLst>
              <a:gd name="connsiteX0" fmla="*/ 44605 w 959005"/>
              <a:gd name="connsiteY0" fmla="*/ 44605 h 1092819"/>
              <a:gd name="connsiteX1" fmla="*/ 0 w 959005"/>
              <a:gd name="connsiteY1" fmla="*/ 312234 h 1092819"/>
              <a:gd name="connsiteX2" fmla="*/ 546410 w 959005"/>
              <a:gd name="connsiteY2" fmla="*/ 1092819 h 1092819"/>
              <a:gd name="connsiteX3" fmla="*/ 959005 w 959005"/>
              <a:gd name="connsiteY3" fmla="*/ 1092819 h 1092819"/>
              <a:gd name="connsiteX4" fmla="*/ 869795 w 959005"/>
              <a:gd name="connsiteY4" fmla="*/ 546410 h 1092819"/>
              <a:gd name="connsiteX5" fmla="*/ 256478 w 959005"/>
              <a:gd name="connsiteY5" fmla="*/ 0 h 1092819"/>
              <a:gd name="connsiteX6" fmla="*/ 44605 w 959005"/>
              <a:gd name="connsiteY6" fmla="*/ 44605 h 109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9005" h="1092819">
                <a:moveTo>
                  <a:pt x="44605" y="44605"/>
                </a:moveTo>
                <a:lnTo>
                  <a:pt x="0" y="312234"/>
                </a:lnTo>
                <a:lnTo>
                  <a:pt x="546410" y="1092819"/>
                </a:lnTo>
                <a:lnTo>
                  <a:pt x="959005" y="1092819"/>
                </a:lnTo>
                <a:lnTo>
                  <a:pt x="869795" y="546410"/>
                </a:lnTo>
                <a:lnTo>
                  <a:pt x="256478" y="0"/>
                </a:lnTo>
                <a:lnTo>
                  <a:pt x="44605" y="44605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FA875422-B01C-C01F-41E6-E392B6BEACD4}"/>
              </a:ext>
            </a:extLst>
          </p:cNvPr>
          <p:cNvSpPr/>
          <p:nvPr/>
        </p:nvSpPr>
        <p:spPr>
          <a:xfrm>
            <a:off x="990600" y="35814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 112">
            <a:extLst>
              <a:ext uri="{FF2B5EF4-FFF2-40B4-BE49-F238E27FC236}">
                <a16:creationId xmlns:a16="http://schemas.microsoft.com/office/drawing/2014/main" id="{78C24CE5-ACF2-3CC2-54FC-204DC8B3D990}"/>
              </a:ext>
            </a:extLst>
          </p:cNvPr>
          <p:cNvSpPr/>
          <p:nvPr/>
        </p:nvSpPr>
        <p:spPr>
          <a:xfrm>
            <a:off x="6858000" y="152400"/>
            <a:ext cx="959005" cy="1092819"/>
          </a:xfrm>
          <a:custGeom>
            <a:avLst/>
            <a:gdLst>
              <a:gd name="connsiteX0" fmla="*/ 44605 w 959005"/>
              <a:gd name="connsiteY0" fmla="*/ 44605 h 1092819"/>
              <a:gd name="connsiteX1" fmla="*/ 0 w 959005"/>
              <a:gd name="connsiteY1" fmla="*/ 312234 h 1092819"/>
              <a:gd name="connsiteX2" fmla="*/ 546410 w 959005"/>
              <a:gd name="connsiteY2" fmla="*/ 1092819 h 1092819"/>
              <a:gd name="connsiteX3" fmla="*/ 959005 w 959005"/>
              <a:gd name="connsiteY3" fmla="*/ 1092819 h 1092819"/>
              <a:gd name="connsiteX4" fmla="*/ 869795 w 959005"/>
              <a:gd name="connsiteY4" fmla="*/ 546410 h 1092819"/>
              <a:gd name="connsiteX5" fmla="*/ 256478 w 959005"/>
              <a:gd name="connsiteY5" fmla="*/ 0 h 1092819"/>
              <a:gd name="connsiteX6" fmla="*/ 44605 w 959005"/>
              <a:gd name="connsiteY6" fmla="*/ 44605 h 1092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9005" h="1092819">
                <a:moveTo>
                  <a:pt x="44605" y="44605"/>
                </a:moveTo>
                <a:lnTo>
                  <a:pt x="0" y="312234"/>
                </a:lnTo>
                <a:lnTo>
                  <a:pt x="546410" y="1092819"/>
                </a:lnTo>
                <a:lnTo>
                  <a:pt x="959005" y="1092819"/>
                </a:lnTo>
                <a:lnTo>
                  <a:pt x="869795" y="546410"/>
                </a:lnTo>
                <a:lnTo>
                  <a:pt x="256478" y="0"/>
                </a:lnTo>
                <a:lnTo>
                  <a:pt x="44605" y="44605"/>
                </a:lnTo>
                <a:close/>
              </a:path>
            </a:pathLst>
          </a:cu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62FB29B9-E831-BA3D-09AE-A2D50558C01F}"/>
              </a:ext>
            </a:extLst>
          </p:cNvPr>
          <p:cNvSpPr/>
          <p:nvPr/>
        </p:nvSpPr>
        <p:spPr>
          <a:xfrm>
            <a:off x="6553200" y="1295400"/>
            <a:ext cx="1280084" cy="1929678"/>
          </a:xfrm>
          <a:custGeom>
            <a:avLst/>
            <a:gdLst>
              <a:gd name="connsiteX0" fmla="*/ 1048214 w 1516565"/>
              <a:gd name="connsiteY0" fmla="*/ 0 h 2709747"/>
              <a:gd name="connsiteX1" fmla="*/ 0 w 1516565"/>
              <a:gd name="connsiteY1" fmla="*/ 2553630 h 2709747"/>
              <a:gd name="connsiteX2" fmla="*/ 267629 w 1516565"/>
              <a:gd name="connsiteY2" fmla="*/ 2709747 h 2709747"/>
              <a:gd name="connsiteX3" fmla="*/ 579863 w 1516565"/>
              <a:gd name="connsiteY3" fmla="*/ 2676293 h 2709747"/>
              <a:gd name="connsiteX4" fmla="*/ 1516565 w 1516565"/>
              <a:gd name="connsiteY4" fmla="*/ 1773044 h 2709747"/>
              <a:gd name="connsiteX5" fmla="*/ 1360448 w 1516565"/>
              <a:gd name="connsiteY5" fmla="*/ 33454 h 2709747"/>
              <a:gd name="connsiteX6" fmla="*/ 1048214 w 1516565"/>
              <a:gd name="connsiteY6" fmla="*/ 0 h 2709747"/>
              <a:gd name="connsiteX0" fmla="*/ 1048214 w 1555491"/>
              <a:gd name="connsiteY0" fmla="*/ 0 h 2709747"/>
              <a:gd name="connsiteX1" fmla="*/ 0 w 1555491"/>
              <a:gd name="connsiteY1" fmla="*/ 2553630 h 2709747"/>
              <a:gd name="connsiteX2" fmla="*/ 267629 w 1555491"/>
              <a:gd name="connsiteY2" fmla="*/ 2709747 h 2709747"/>
              <a:gd name="connsiteX3" fmla="*/ 1555491 w 1555491"/>
              <a:gd name="connsiteY3" fmla="*/ 2535362 h 2709747"/>
              <a:gd name="connsiteX4" fmla="*/ 1516565 w 1555491"/>
              <a:gd name="connsiteY4" fmla="*/ 1773044 h 2709747"/>
              <a:gd name="connsiteX5" fmla="*/ 1360448 w 1555491"/>
              <a:gd name="connsiteY5" fmla="*/ 33454 h 2709747"/>
              <a:gd name="connsiteX6" fmla="*/ 1048214 w 1555491"/>
              <a:gd name="connsiteY6" fmla="*/ 0 h 270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55491" h="2709747">
                <a:moveTo>
                  <a:pt x="1048214" y="0"/>
                </a:moveTo>
                <a:lnTo>
                  <a:pt x="0" y="2553630"/>
                </a:lnTo>
                <a:lnTo>
                  <a:pt x="267629" y="2709747"/>
                </a:lnTo>
                <a:lnTo>
                  <a:pt x="1555491" y="2535362"/>
                </a:lnTo>
                <a:lnTo>
                  <a:pt x="1516565" y="1773044"/>
                </a:lnTo>
                <a:lnTo>
                  <a:pt x="1360448" y="33454"/>
                </a:lnTo>
                <a:lnTo>
                  <a:pt x="1048214" y="0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7532F42C-0235-ACA1-9050-442677F2DDF1}"/>
              </a:ext>
            </a:extLst>
          </p:cNvPr>
          <p:cNvSpPr/>
          <p:nvPr/>
        </p:nvSpPr>
        <p:spPr>
          <a:xfrm>
            <a:off x="2507166" y="1981200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F82FCB71-2B2F-E084-719D-0C1C95C9437A}"/>
              </a:ext>
            </a:extLst>
          </p:cNvPr>
          <p:cNvSpPr/>
          <p:nvPr/>
        </p:nvSpPr>
        <p:spPr>
          <a:xfrm>
            <a:off x="7560020" y="35052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55731DFD-28F0-2DE2-8F0A-42A67BF282B0}"/>
              </a:ext>
            </a:extLst>
          </p:cNvPr>
          <p:cNvSpPr/>
          <p:nvPr/>
        </p:nvSpPr>
        <p:spPr>
          <a:xfrm>
            <a:off x="6417020" y="35814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Freeform 146">
            <a:extLst>
              <a:ext uri="{FF2B5EF4-FFF2-40B4-BE49-F238E27FC236}">
                <a16:creationId xmlns:a16="http://schemas.microsoft.com/office/drawing/2014/main" id="{C7366943-8A03-0228-33D6-174286FAA441}"/>
              </a:ext>
            </a:extLst>
          </p:cNvPr>
          <p:cNvSpPr/>
          <p:nvPr/>
        </p:nvSpPr>
        <p:spPr>
          <a:xfrm>
            <a:off x="6553200" y="4419600"/>
            <a:ext cx="1438507" cy="1382751"/>
          </a:xfrm>
          <a:custGeom>
            <a:avLst/>
            <a:gdLst>
              <a:gd name="connsiteX0" fmla="*/ 22303 w 1438507"/>
              <a:gd name="connsiteY0" fmla="*/ 33454 h 1382751"/>
              <a:gd name="connsiteX1" fmla="*/ 0 w 1438507"/>
              <a:gd name="connsiteY1" fmla="*/ 234176 h 1382751"/>
              <a:gd name="connsiteX2" fmla="*/ 936703 w 1438507"/>
              <a:gd name="connsiteY2" fmla="*/ 1293542 h 1382751"/>
              <a:gd name="connsiteX3" fmla="*/ 1226634 w 1438507"/>
              <a:gd name="connsiteY3" fmla="*/ 1382751 h 1382751"/>
              <a:gd name="connsiteX4" fmla="*/ 1438507 w 1438507"/>
              <a:gd name="connsiteY4" fmla="*/ 1260088 h 1382751"/>
              <a:gd name="connsiteX5" fmla="*/ 1427356 w 1438507"/>
              <a:gd name="connsiteY5" fmla="*/ 0 h 1382751"/>
              <a:gd name="connsiteX6" fmla="*/ 22303 w 1438507"/>
              <a:gd name="connsiteY6" fmla="*/ 33454 h 138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8507" h="1382751">
                <a:moveTo>
                  <a:pt x="22303" y="33454"/>
                </a:moveTo>
                <a:lnTo>
                  <a:pt x="0" y="234176"/>
                </a:lnTo>
                <a:lnTo>
                  <a:pt x="936703" y="1293542"/>
                </a:lnTo>
                <a:lnTo>
                  <a:pt x="1226634" y="1382751"/>
                </a:lnTo>
                <a:lnTo>
                  <a:pt x="1438507" y="1260088"/>
                </a:lnTo>
                <a:lnTo>
                  <a:pt x="1427356" y="0"/>
                </a:lnTo>
                <a:lnTo>
                  <a:pt x="22303" y="33454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C079E160-3461-144B-187A-6C3A3D0289E2}"/>
              </a:ext>
            </a:extLst>
          </p:cNvPr>
          <p:cNvSpPr/>
          <p:nvPr/>
        </p:nvSpPr>
        <p:spPr>
          <a:xfrm>
            <a:off x="6477000" y="5486400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Freeform 149">
            <a:extLst>
              <a:ext uri="{FF2B5EF4-FFF2-40B4-BE49-F238E27FC236}">
                <a16:creationId xmlns:a16="http://schemas.microsoft.com/office/drawing/2014/main" id="{63007BF3-C234-B2F7-C7F4-D29E93E7DDC4}"/>
              </a:ext>
            </a:extLst>
          </p:cNvPr>
          <p:cNvSpPr/>
          <p:nvPr/>
        </p:nvSpPr>
        <p:spPr>
          <a:xfrm>
            <a:off x="7917366" y="1813932"/>
            <a:ext cx="1226634" cy="1538868"/>
          </a:xfrm>
          <a:custGeom>
            <a:avLst/>
            <a:gdLst>
              <a:gd name="connsiteX0" fmla="*/ 178419 w 1226634"/>
              <a:gd name="connsiteY0" fmla="*/ 144966 h 1538868"/>
              <a:gd name="connsiteX1" fmla="*/ 33454 w 1226634"/>
              <a:gd name="connsiteY1" fmla="*/ 546410 h 1538868"/>
              <a:gd name="connsiteX2" fmla="*/ 0 w 1226634"/>
              <a:gd name="connsiteY2" fmla="*/ 1092820 h 1538868"/>
              <a:gd name="connsiteX3" fmla="*/ 0 w 1226634"/>
              <a:gd name="connsiteY3" fmla="*/ 1505415 h 1538868"/>
              <a:gd name="connsiteX4" fmla="*/ 691376 w 1226634"/>
              <a:gd name="connsiteY4" fmla="*/ 1538868 h 1538868"/>
              <a:gd name="connsiteX5" fmla="*/ 1226634 w 1226634"/>
              <a:gd name="connsiteY5" fmla="*/ 1193181 h 1538868"/>
              <a:gd name="connsiteX6" fmla="*/ 1126273 w 1226634"/>
              <a:gd name="connsiteY6" fmla="*/ 780585 h 1538868"/>
              <a:gd name="connsiteX7" fmla="*/ 1025912 w 1226634"/>
              <a:gd name="connsiteY7" fmla="*/ 412595 h 1538868"/>
              <a:gd name="connsiteX8" fmla="*/ 713678 w 1226634"/>
              <a:gd name="connsiteY8" fmla="*/ 33454 h 1538868"/>
              <a:gd name="connsiteX9" fmla="*/ 345688 w 1226634"/>
              <a:gd name="connsiteY9" fmla="*/ 0 h 1538868"/>
              <a:gd name="connsiteX10" fmla="*/ 178419 w 1226634"/>
              <a:gd name="connsiteY10" fmla="*/ 144966 h 15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26634" h="1538868">
                <a:moveTo>
                  <a:pt x="178419" y="144966"/>
                </a:moveTo>
                <a:lnTo>
                  <a:pt x="33454" y="546410"/>
                </a:lnTo>
                <a:lnTo>
                  <a:pt x="0" y="1092820"/>
                </a:lnTo>
                <a:lnTo>
                  <a:pt x="0" y="1505415"/>
                </a:lnTo>
                <a:lnTo>
                  <a:pt x="691376" y="1538868"/>
                </a:lnTo>
                <a:lnTo>
                  <a:pt x="1226634" y="1193181"/>
                </a:lnTo>
                <a:lnTo>
                  <a:pt x="1126273" y="780585"/>
                </a:lnTo>
                <a:lnTo>
                  <a:pt x="1025912" y="412595"/>
                </a:lnTo>
                <a:lnTo>
                  <a:pt x="713678" y="33454"/>
                </a:lnTo>
                <a:lnTo>
                  <a:pt x="345688" y="0"/>
                </a:lnTo>
                <a:lnTo>
                  <a:pt x="178419" y="144966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Freeform 150">
            <a:extLst>
              <a:ext uri="{FF2B5EF4-FFF2-40B4-BE49-F238E27FC236}">
                <a16:creationId xmlns:a16="http://schemas.microsoft.com/office/drawing/2014/main" id="{DB4C3814-FA67-3D62-560F-161533436A46}"/>
              </a:ext>
            </a:extLst>
          </p:cNvPr>
          <p:cNvSpPr/>
          <p:nvPr/>
        </p:nvSpPr>
        <p:spPr>
          <a:xfrm>
            <a:off x="1685693" y="4484649"/>
            <a:ext cx="1438507" cy="1382751"/>
          </a:xfrm>
          <a:custGeom>
            <a:avLst/>
            <a:gdLst>
              <a:gd name="connsiteX0" fmla="*/ 22303 w 1438507"/>
              <a:gd name="connsiteY0" fmla="*/ 33454 h 1382751"/>
              <a:gd name="connsiteX1" fmla="*/ 0 w 1438507"/>
              <a:gd name="connsiteY1" fmla="*/ 234176 h 1382751"/>
              <a:gd name="connsiteX2" fmla="*/ 936703 w 1438507"/>
              <a:gd name="connsiteY2" fmla="*/ 1293542 h 1382751"/>
              <a:gd name="connsiteX3" fmla="*/ 1226634 w 1438507"/>
              <a:gd name="connsiteY3" fmla="*/ 1382751 h 1382751"/>
              <a:gd name="connsiteX4" fmla="*/ 1438507 w 1438507"/>
              <a:gd name="connsiteY4" fmla="*/ 1260088 h 1382751"/>
              <a:gd name="connsiteX5" fmla="*/ 1427356 w 1438507"/>
              <a:gd name="connsiteY5" fmla="*/ 0 h 1382751"/>
              <a:gd name="connsiteX6" fmla="*/ 22303 w 1438507"/>
              <a:gd name="connsiteY6" fmla="*/ 33454 h 138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8507" h="1382751">
                <a:moveTo>
                  <a:pt x="22303" y="33454"/>
                </a:moveTo>
                <a:lnTo>
                  <a:pt x="0" y="234176"/>
                </a:lnTo>
                <a:lnTo>
                  <a:pt x="936703" y="1293542"/>
                </a:lnTo>
                <a:lnTo>
                  <a:pt x="1226634" y="1382751"/>
                </a:lnTo>
                <a:lnTo>
                  <a:pt x="1438507" y="1260088"/>
                </a:lnTo>
                <a:lnTo>
                  <a:pt x="1427356" y="0"/>
                </a:lnTo>
                <a:lnTo>
                  <a:pt x="22303" y="33454"/>
                </a:lnTo>
                <a:close/>
              </a:path>
            </a:pathLst>
          </a:cu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A0D55735-E9F2-F973-2E1D-C447367169B9}"/>
              </a:ext>
            </a:extLst>
          </p:cNvPr>
          <p:cNvSpPr/>
          <p:nvPr/>
        </p:nvSpPr>
        <p:spPr>
          <a:xfrm>
            <a:off x="1609493" y="5551449"/>
            <a:ext cx="440980" cy="3048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" name="Curved Connector 159">
            <a:extLst>
              <a:ext uri="{FF2B5EF4-FFF2-40B4-BE49-F238E27FC236}">
                <a16:creationId xmlns:a16="http://schemas.microsoft.com/office/drawing/2014/main" id="{A8F87836-44D8-8FCE-93C9-A0C77D753663}"/>
              </a:ext>
            </a:extLst>
          </p:cNvPr>
          <p:cNvCxnSpPr/>
          <p:nvPr/>
        </p:nvCxnSpPr>
        <p:spPr>
          <a:xfrm rot="10800000">
            <a:off x="2504553" y="762000"/>
            <a:ext cx="436452" cy="685800"/>
          </a:xfrm>
          <a:prstGeom prst="curvedConnector3">
            <a:avLst>
              <a:gd name="adj1" fmla="val -57131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urved Connector 160">
            <a:extLst>
              <a:ext uri="{FF2B5EF4-FFF2-40B4-BE49-F238E27FC236}">
                <a16:creationId xmlns:a16="http://schemas.microsoft.com/office/drawing/2014/main" id="{D2ADD795-4F65-4466-C462-64D7379912B7}"/>
              </a:ext>
            </a:extLst>
          </p:cNvPr>
          <p:cNvCxnSpPr/>
          <p:nvPr/>
        </p:nvCxnSpPr>
        <p:spPr>
          <a:xfrm flipV="1">
            <a:off x="1414882" y="1447800"/>
            <a:ext cx="571895" cy="1491734"/>
          </a:xfrm>
          <a:prstGeom prst="curvedConnector3">
            <a:avLst>
              <a:gd name="adj1" fmla="val -5529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3EF121C-1865-45F2-A388-6EF9DC3339F6}"/>
              </a:ext>
            </a:extLst>
          </p:cNvPr>
          <p:cNvCxnSpPr/>
          <p:nvPr/>
        </p:nvCxnSpPr>
        <p:spPr>
          <a:xfrm flipH="1">
            <a:off x="1535153" y="2971800"/>
            <a:ext cx="614669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C978DC4-DB05-3B91-6C0A-29050D413254}"/>
              </a:ext>
            </a:extLst>
          </p:cNvPr>
          <p:cNvCxnSpPr/>
          <p:nvPr/>
        </p:nvCxnSpPr>
        <p:spPr>
          <a:xfrm flipH="1">
            <a:off x="1899932" y="5681547"/>
            <a:ext cx="843268" cy="33453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05234CC9-91AF-0D83-E832-5031A5D3C7EF}"/>
              </a:ext>
            </a:extLst>
          </p:cNvPr>
          <p:cNvSpPr/>
          <p:nvPr/>
        </p:nvSpPr>
        <p:spPr>
          <a:xfrm>
            <a:off x="7467600" y="13716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3E526C-B552-543E-63DE-02D73421D273}"/>
              </a:ext>
            </a:extLst>
          </p:cNvPr>
          <p:cNvSpPr/>
          <p:nvPr/>
        </p:nvSpPr>
        <p:spPr>
          <a:xfrm>
            <a:off x="7010400" y="3048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2086E7-6EB8-5FE9-D770-5B67A7F9663C}"/>
              </a:ext>
            </a:extLst>
          </p:cNvPr>
          <p:cNvSpPr/>
          <p:nvPr/>
        </p:nvSpPr>
        <p:spPr>
          <a:xfrm>
            <a:off x="8382000" y="20574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F39EBB-D7B9-61E4-46A0-1B7F11E8BE9D}"/>
              </a:ext>
            </a:extLst>
          </p:cNvPr>
          <p:cNvSpPr/>
          <p:nvPr/>
        </p:nvSpPr>
        <p:spPr>
          <a:xfrm>
            <a:off x="6705600" y="45720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23C610-40E9-1614-A44A-1513018A122E}"/>
              </a:ext>
            </a:extLst>
          </p:cNvPr>
          <p:cNvSpPr/>
          <p:nvPr/>
        </p:nvSpPr>
        <p:spPr>
          <a:xfrm>
            <a:off x="6629400" y="3665034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EC6C33-CE4E-CBC4-E8CF-D119C49D7943}"/>
              </a:ext>
            </a:extLst>
          </p:cNvPr>
          <p:cNvSpPr/>
          <p:nvPr/>
        </p:nvSpPr>
        <p:spPr>
          <a:xfrm>
            <a:off x="7696200" y="3581400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09B6C82-CD14-4B92-9E44-1BB5767E4D19}"/>
              </a:ext>
            </a:extLst>
          </p:cNvPr>
          <p:cNvSpPr/>
          <p:nvPr/>
        </p:nvSpPr>
        <p:spPr>
          <a:xfrm>
            <a:off x="6705600" y="5570034"/>
            <a:ext cx="152400" cy="144966"/>
          </a:xfrm>
          <a:prstGeom prst="ellipse">
            <a:avLst/>
          </a:prstGeom>
          <a:solidFill>
            <a:srgbClr val="FFC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Cloud Callout 73">
            <a:extLst>
              <a:ext uri="{FF2B5EF4-FFF2-40B4-BE49-F238E27FC236}">
                <a16:creationId xmlns:a16="http://schemas.microsoft.com/office/drawing/2014/main" id="{A0C9F96C-EEBC-8CDD-5BC6-C88AC45AE990}"/>
              </a:ext>
            </a:extLst>
          </p:cNvPr>
          <p:cNvSpPr/>
          <p:nvPr/>
        </p:nvSpPr>
        <p:spPr>
          <a:xfrm>
            <a:off x="152400" y="5819286"/>
            <a:ext cx="9296400" cy="959919"/>
          </a:xfrm>
          <a:prstGeom prst="cloudCallout">
            <a:avLst>
              <a:gd name="adj1" fmla="val -23908"/>
              <a:gd name="adj2" fmla="val 5591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Having seen nice structure of </a:t>
            </a:r>
            <a:r>
              <a:rPr lang="en-US" sz="1600" b="1" dirty="0">
                <a:solidFill>
                  <a:schemeClr val="tx1"/>
                </a:solidFill>
              </a:rPr>
              <a:t>SCC</a:t>
            </a:r>
            <a:r>
              <a:rPr lang="en-US" sz="1600" dirty="0">
                <a:solidFill>
                  <a:schemeClr val="tx1"/>
                </a:solidFill>
              </a:rPr>
              <a:t>s in the </a:t>
            </a:r>
            <a:r>
              <a:rPr lang="en-US" sz="1600" b="1" dirty="0">
                <a:solidFill>
                  <a:schemeClr val="tx1"/>
                </a:solidFill>
              </a:rPr>
              <a:t>DFS</a:t>
            </a:r>
            <a:r>
              <a:rPr lang="en-US" sz="1600" dirty="0">
                <a:solidFill>
                  <a:schemeClr val="tx1"/>
                </a:solidFill>
              </a:rPr>
              <a:t> forest, we feel motivated to design an efficient algorithm based on </a:t>
            </a:r>
            <a:r>
              <a:rPr lang="en-US" sz="1600" b="1" dirty="0">
                <a:solidFill>
                  <a:schemeClr val="tx1"/>
                </a:solidFill>
              </a:rPr>
              <a:t>DFS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But how should we start with ?</a:t>
            </a:r>
          </a:p>
        </p:txBody>
      </p:sp>
      <p:sp>
        <p:nvSpPr>
          <p:cNvPr id="20" name="Down Ribbon 74">
            <a:extLst>
              <a:ext uri="{FF2B5EF4-FFF2-40B4-BE49-F238E27FC236}">
                <a16:creationId xmlns:a16="http://schemas.microsoft.com/office/drawing/2014/main" id="{3B7C7FDF-D975-5975-18F3-EEFB1BA33DF2}"/>
              </a:ext>
            </a:extLst>
          </p:cNvPr>
          <p:cNvSpPr/>
          <p:nvPr/>
        </p:nvSpPr>
        <p:spPr>
          <a:xfrm>
            <a:off x="3167738" y="43753"/>
            <a:ext cx="3124200" cy="729734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Try to spot the roots of </a:t>
            </a:r>
            <a:r>
              <a:rPr lang="en-US" b="1" dirty="0">
                <a:solidFill>
                  <a:srgbClr val="7030A0"/>
                </a:solidFill>
              </a:rPr>
              <a:t>SCC</a:t>
            </a:r>
            <a:r>
              <a:rPr lang="en-US" dirty="0">
                <a:solidFill>
                  <a:schemeClr val="tx1"/>
                </a:solidFill>
              </a:rPr>
              <a:t> in the </a:t>
            </a:r>
            <a:r>
              <a:rPr lang="en-US" b="1" dirty="0">
                <a:solidFill>
                  <a:schemeClr val="tx1"/>
                </a:solidFill>
              </a:rPr>
              <a:t>DFS</a:t>
            </a:r>
            <a:r>
              <a:rPr lang="en-US" dirty="0">
                <a:solidFill>
                  <a:schemeClr val="tx1"/>
                </a:solidFill>
              </a:rPr>
              <a:t> forest.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D42CCE-D4E5-534E-330B-8924ED6FF6FB}"/>
              </a:ext>
            </a:extLst>
          </p:cNvPr>
          <p:cNvSpPr txBox="1"/>
          <p:nvPr/>
        </p:nvSpPr>
        <p:spPr>
          <a:xfrm>
            <a:off x="1790479" y="6059543"/>
            <a:ext cx="6376104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If we can find out the roots of SCCs, we can find respective SCCs. </a:t>
            </a:r>
          </a:p>
          <a:p>
            <a:r>
              <a:rPr lang="en-US" dirty="0"/>
              <a:t>But this appears to be as difficult as computing SCCs.</a:t>
            </a:r>
            <a:endParaRPr lang="en-IN" dirty="0"/>
          </a:p>
        </p:txBody>
      </p:sp>
      <p:sp>
        <p:nvSpPr>
          <p:cNvPr id="22" name="Cloud Callout 49">
            <a:extLst>
              <a:ext uri="{FF2B5EF4-FFF2-40B4-BE49-F238E27FC236}">
                <a16:creationId xmlns:a16="http://schemas.microsoft.com/office/drawing/2014/main" id="{56F41AD7-FEF5-07C6-8F0C-07D0CFE8EFA5}"/>
              </a:ext>
            </a:extLst>
          </p:cNvPr>
          <p:cNvSpPr/>
          <p:nvPr/>
        </p:nvSpPr>
        <p:spPr>
          <a:xfrm>
            <a:off x="2601174" y="5651581"/>
            <a:ext cx="3998640" cy="1116980"/>
          </a:xfrm>
          <a:prstGeom prst="cloudCallout">
            <a:avLst>
              <a:gd name="adj1" fmla="val 20441"/>
              <a:gd name="adj2" fmla="val 6948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should we do ?</a:t>
            </a:r>
          </a:p>
        </p:txBody>
      </p:sp>
      <p:sp>
        <p:nvSpPr>
          <p:cNvPr id="23" name="Ribbon: Curved and Tilted Down 22">
            <a:extLst>
              <a:ext uri="{FF2B5EF4-FFF2-40B4-BE49-F238E27FC236}">
                <a16:creationId xmlns:a16="http://schemas.microsoft.com/office/drawing/2014/main" id="{84DE9902-BE41-E537-4466-DEB3DD44E09E}"/>
              </a:ext>
            </a:extLst>
          </p:cNvPr>
          <p:cNvSpPr/>
          <p:nvPr/>
        </p:nvSpPr>
        <p:spPr>
          <a:xfrm>
            <a:off x="2650780" y="3525217"/>
            <a:ext cx="4120033" cy="1109044"/>
          </a:xfrm>
          <a:prstGeom prst="ellipseRibbon">
            <a:avLst>
              <a:gd name="adj1" fmla="val 25000"/>
              <a:gd name="adj2" fmla="val 75000"/>
              <a:gd name="adj3" fmla="val 125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Let us </a:t>
            </a:r>
            <a:r>
              <a:rPr lang="en-US" sz="1600" dirty="0" err="1">
                <a:solidFill>
                  <a:schemeClr val="tx1"/>
                </a:solidFill>
              </a:rPr>
              <a:t>analyse</a:t>
            </a:r>
            <a:r>
              <a:rPr lang="en-US" sz="1600" dirty="0">
                <a:solidFill>
                  <a:schemeClr val="tx1"/>
                </a:solidFill>
              </a:rPr>
              <a:t> the finish time.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Since it worked for topological ordering 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03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1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3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3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99" grpId="1" animBg="1"/>
      <p:bldP spid="205" grpId="0" animBg="1"/>
      <p:bldP spid="205" grpId="1" animBg="1"/>
      <p:bldP spid="206" grpId="0" animBg="1"/>
      <p:bldP spid="206" grpId="1" animBg="1"/>
      <p:bldP spid="108" grpId="0" animBg="1"/>
      <p:bldP spid="109" grpId="0" animBg="1"/>
      <p:bldP spid="110" grpId="0" animBg="1"/>
      <p:bldP spid="112" grpId="0" animBg="1"/>
      <p:bldP spid="113" grpId="0" animBg="1"/>
      <p:bldP spid="115" grpId="0" animBg="1"/>
      <p:bldP spid="116" grpId="0" animBg="1"/>
      <p:bldP spid="118" grpId="0" animBg="1"/>
      <p:bldP spid="119" grpId="0" animBg="1"/>
      <p:bldP spid="147" grpId="0" animBg="1"/>
      <p:bldP spid="148" grpId="0" animBg="1"/>
      <p:bldP spid="150" grpId="0" animBg="1"/>
      <p:bldP spid="151" grpId="0" animBg="1"/>
      <p:bldP spid="159" grpId="0" animBg="1"/>
      <p:bldP spid="3" grpId="0" animBg="1"/>
      <p:bldP spid="4" grpId="0" animBg="1"/>
      <p:bldP spid="6" grpId="0" animBg="1"/>
      <p:bldP spid="7" grpId="0" animBg="1"/>
      <p:bldP spid="8" grpId="0" animBg="1"/>
      <p:bldP spid="17" grpId="0" animBg="1"/>
      <p:bldP spid="18" grpId="0" animBg="1"/>
      <p:bldP spid="19" grpId="0" animBg="1"/>
      <p:bldP spid="19" grpId="1" animBg="1"/>
      <p:bldP spid="20" grpId="0" animBg="1"/>
      <p:bldP spid="2" grpId="0" uiExpand="1" build="allAtOnce"/>
      <p:bldP spid="2" grpId="1" uiExpand="1" build="allAtOnce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514B3-3A0C-E571-E289-97922F367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2BD2-5D99-626D-3F70-DB528CBC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Study</a:t>
            </a:r>
            <a:r>
              <a:rPr lang="en-US" sz="4000" b="1" dirty="0">
                <a:solidFill>
                  <a:srgbClr val="7030A0"/>
                </a:solidFill>
              </a:rPr>
              <a:t> Finish time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BEF11E3-69D1-45EF-E5FA-9115F4902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There does not appear to be any order </a:t>
            </a:r>
            <a:r>
              <a:rPr lang="en-US" sz="2000" dirty="0">
                <a:sym typeface="Wingdings" panose="05000000000000000000" pitchFamily="2" charset="2"/>
              </a:rPr>
              <a:t>.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5B7F30F-2564-4FCA-F6AB-95DC869BA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875" y="1471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C643691-196C-4ACD-81F3-CA5F709D1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934" y="21577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C24FAC93-ABB2-8E71-9486-A9E259290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353" y="217077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BCF86BE-556A-6774-BB9C-3EB13BDCD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134" y="2995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FE2102F-BF14-C105-F448-93AC2DC83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920" y="2995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C1E69C51-52BF-B661-44BC-67FF3E11D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981" y="2995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7AB8E9BD-F8D7-7BF1-7742-8DC587561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534" y="3757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0F3F86E9-FBE2-0BB4-E8FA-0B4E5CC4D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776" y="29959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D674BF7-8FD5-E291-68CB-8179CC1F2EA9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2987993" y="1624361"/>
            <a:ext cx="302941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B07030-97A7-12C4-10EF-DFA008D99E20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2683193" y="2310161"/>
            <a:ext cx="304800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CD9375-8479-9E38-640A-251383905A10}"/>
              </a:ext>
            </a:extLst>
          </p:cNvPr>
          <p:cNvCxnSpPr>
            <a:stCxn id="8" idx="2"/>
            <a:endCxn id="11" idx="0"/>
          </p:cNvCxnSpPr>
          <p:nvPr/>
        </p:nvCxnSpPr>
        <p:spPr>
          <a:xfrm>
            <a:off x="2987993" y="2310161"/>
            <a:ext cx="465986" cy="6858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0141960-4C36-D9DB-CE89-A21EED4A7508}"/>
              </a:ext>
            </a:extLst>
          </p:cNvPr>
          <p:cNvCxnSpPr>
            <a:stCxn id="15" idx="0"/>
            <a:endCxn id="9" idx="1"/>
          </p:cNvCxnSpPr>
          <p:nvPr/>
        </p:nvCxnSpPr>
        <p:spPr>
          <a:xfrm flipV="1">
            <a:off x="3977835" y="2246971"/>
            <a:ext cx="136518" cy="7489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CD3528-D032-5953-C4A8-153CB269F067}"/>
              </a:ext>
            </a:extLst>
          </p:cNvPr>
          <p:cNvCxnSpPr>
            <a:stCxn id="9" idx="2"/>
            <a:endCxn id="12" idx="0"/>
          </p:cNvCxnSpPr>
          <p:nvPr/>
        </p:nvCxnSpPr>
        <p:spPr>
          <a:xfrm>
            <a:off x="4192412" y="2323171"/>
            <a:ext cx="384628" cy="67279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C84810F-0ED4-CE38-DD1E-42839614C51C}"/>
              </a:ext>
            </a:extLst>
          </p:cNvPr>
          <p:cNvCxnSpPr>
            <a:stCxn id="6" idx="2"/>
            <a:endCxn id="9" idx="1"/>
          </p:cNvCxnSpPr>
          <p:nvPr/>
        </p:nvCxnSpPr>
        <p:spPr>
          <a:xfrm>
            <a:off x="3290934" y="1624361"/>
            <a:ext cx="823419" cy="62261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55132D-D323-88B7-8967-803781B1F317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2454593" y="3148361"/>
            <a:ext cx="228600" cy="6096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C86A6E88-E27D-996D-D0E2-5843A50D617D}"/>
              </a:ext>
            </a:extLst>
          </p:cNvPr>
          <p:cNvCxnSpPr>
            <a:endCxn id="6" idx="1"/>
          </p:cNvCxnSpPr>
          <p:nvPr/>
        </p:nvCxnSpPr>
        <p:spPr>
          <a:xfrm flipV="1">
            <a:off x="2640980" y="1548161"/>
            <a:ext cx="571895" cy="1491734"/>
          </a:xfrm>
          <a:prstGeom prst="curvedConnector3">
            <a:avLst>
              <a:gd name="adj1" fmla="val -55293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46090BD-F99D-7D59-DB41-D12C8F2561CB}"/>
              </a:ext>
            </a:extLst>
          </p:cNvPr>
          <p:cNvCxnSpPr>
            <a:stCxn id="11" idx="1"/>
            <a:endCxn id="13" idx="3"/>
          </p:cNvCxnSpPr>
          <p:nvPr/>
        </p:nvCxnSpPr>
        <p:spPr>
          <a:xfrm flipH="1">
            <a:off x="2532651" y="3072161"/>
            <a:ext cx="843269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F3F635-A5AE-6005-53A0-1AA46D97BF11}"/>
              </a:ext>
            </a:extLst>
          </p:cNvPr>
          <p:cNvCxnSpPr>
            <a:stCxn id="11" idx="2"/>
            <a:endCxn id="28" idx="0"/>
          </p:cNvCxnSpPr>
          <p:nvPr/>
        </p:nvCxnSpPr>
        <p:spPr>
          <a:xfrm>
            <a:off x="3453979" y="3148361"/>
            <a:ext cx="63697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>
            <a:extLst>
              <a:ext uri="{FF2B5EF4-FFF2-40B4-BE49-F238E27FC236}">
                <a16:creationId xmlns:a16="http://schemas.microsoft.com/office/drawing/2014/main" id="{CE468CC2-8165-1D53-A25A-7FFC36745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617" y="3681761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8BBE44A-64F3-B324-B3E7-5D2F02B26675}"/>
              </a:ext>
            </a:extLst>
          </p:cNvPr>
          <p:cNvCxnSpPr>
            <a:stCxn id="12" idx="1"/>
            <a:endCxn id="15" idx="3"/>
          </p:cNvCxnSpPr>
          <p:nvPr/>
        </p:nvCxnSpPr>
        <p:spPr>
          <a:xfrm flipH="1">
            <a:off x="4055893" y="3072161"/>
            <a:ext cx="443088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3C8934A-5A98-6B63-9A31-259A4F44CEFB}"/>
              </a:ext>
            </a:extLst>
          </p:cNvPr>
          <p:cNvGrpSpPr/>
          <p:nvPr/>
        </p:nvGrpSpPr>
        <p:grpSpPr>
          <a:xfrm>
            <a:off x="2215004" y="1559829"/>
            <a:ext cx="2592494" cy="2579132"/>
            <a:chOff x="988906" y="1459468"/>
            <a:chExt cx="2592494" cy="25791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D9D962B-6E59-67BD-FC45-768DBFC6678D}"/>
                </a:ext>
              </a:extLst>
            </p:cNvPr>
            <p:cNvSpPr txBox="1"/>
            <p:nvPr/>
          </p:nvSpPr>
          <p:spPr>
            <a:xfrm>
              <a:off x="1979506" y="14594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01CD035-422B-4B70-EDB8-BF3FDB5FBBB9}"/>
                </a:ext>
              </a:extLst>
            </p:cNvPr>
            <p:cNvSpPr txBox="1"/>
            <p:nvPr/>
          </p:nvSpPr>
          <p:spPr>
            <a:xfrm>
              <a:off x="1447800" y="19050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D34DFEE-BBE8-7EE0-2553-AAB89ABFEDC7}"/>
                </a:ext>
              </a:extLst>
            </p:cNvPr>
            <p:cNvSpPr txBox="1"/>
            <p:nvPr/>
          </p:nvSpPr>
          <p:spPr>
            <a:xfrm>
              <a:off x="1065106" y="27548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F8ED63-7285-789A-04D9-CC66FFF8A0AF}"/>
                </a:ext>
              </a:extLst>
            </p:cNvPr>
            <p:cNvSpPr txBox="1"/>
            <p:nvPr/>
          </p:nvSpPr>
          <p:spPr>
            <a:xfrm>
              <a:off x="988906" y="36692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F2D2EC6-D57E-9F6A-7E20-AD8B73AE4880}"/>
                </a:ext>
              </a:extLst>
            </p:cNvPr>
            <p:cNvSpPr txBox="1"/>
            <p:nvPr/>
          </p:nvSpPr>
          <p:spPr>
            <a:xfrm>
              <a:off x="2131906" y="36576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04E6190-99B2-6BC3-02DA-69050C7D4EFE}"/>
                </a:ext>
              </a:extLst>
            </p:cNvPr>
            <p:cNvSpPr txBox="1"/>
            <p:nvPr/>
          </p:nvSpPr>
          <p:spPr>
            <a:xfrm>
              <a:off x="3046306" y="19812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CD9969A-9DCF-FD1C-1785-80A2033E1C5D}"/>
                </a:ext>
              </a:extLst>
            </p:cNvPr>
            <p:cNvSpPr txBox="1"/>
            <p:nvPr/>
          </p:nvSpPr>
          <p:spPr>
            <a:xfrm>
              <a:off x="3274906" y="29072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02F4380-D3D5-B533-8E7C-F364E2D78098}"/>
                </a:ext>
              </a:extLst>
            </p:cNvPr>
            <p:cNvSpPr txBox="1"/>
            <p:nvPr/>
          </p:nvSpPr>
          <p:spPr>
            <a:xfrm>
              <a:off x="1905000" y="2754868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20233C0-847B-1590-8318-E65DBBD38523}"/>
                </a:ext>
              </a:extLst>
            </p:cNvPr>
            <p:cNvSpPr txBox="1"/>
            <p:nvPr/>
          </p:nvSpPr>
          <p:spPr>
            <a:xfrm>
              <a:off x="2590800" y="2971800"/>
              <a:ext cx="264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</a:t>
              </a: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DC552AE-D1E4-4F6E-1BFC-6CF08FB5FE8E}"/>
              </a:ext>
            </a:extLst>
          </p:cNvPr>
          <p:cNvCxnSpPr>
            <a:stCxn id="11" idx="1"/>
            <a:endCxn id="10" idx="3"/>
          </p:cNvCxnSpPr>
          <p:nvPr/>
        </p:nvCxnSpPr>
        <p:spPr>
          <a:xfrm flipH="1">
            <a:off x="2761251" y="3072161"/>
            <a:ext cx="614669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C07968D-4EE4-F493-E05B-0F80F9525D74}"/>
              </a:ext>
            </a:extLst>
          </p:cNvPr>
          <p:cNvCxnSpPr/>
          <p:nvPr/>
        </p:nvCxnSpPr>
        <p:spPr>
          <a:xfrm flipH="1">
            <a:off x="2543550" y="3796061"/>
            <a:ext cx="906966" cy="762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777E8204-17C9-7D16-AA0A-2DE84531E8C0}"/>
              </a:ext>
            </a:extLst>
          </p:cNvPr>
          <p:cNvGrpSpPr/>
          <p:nvPr/>
        </p:nvGrpSpPr>
        <p:grpSpPr>
          <a:xfrm>
            <a:off x="2209800" y="3681761"/>
            <a:ext cx="967482" cy="966439"/>
            <a:chOff x="2209800" y="3681761"/>
            <a:chExt cx="967482" cy="966439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67A96A7-7BD4-AC8B-E08F-D13E2206C2C0}"/>
                </a:ext>
              </a:extLst>
            </p:cNvPr>
            <p:cNvSpPr/>
            <p:nvPr/>
          </p:nvSpPr>
          <p:spPr>
            <a:xfrm>
              <a:off x="2209800" y="3681761"/>
              <a:ext cx="440980" cy="3048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92B2589-8843-4CA1-2283-F82029D87CE8}"/>
                </a:ext>
              </a:extLst>
            </p:cNvPr>
            <p:cNvSpPr/>
            <p:nvPr/>
          </p:nvSpPr>
          <p:spPr>
            <a:xfrm>
              <a:off x="2736302" y="4343400"/>
              <a:ext cx="440980" cy="3048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22C573-010F-1D2E-571E-CA9EAF0A50C2}"/>
              </a:ext>
            </a:extLst>
          </p:cNvPr>
          <p:cNvGrpSpPr/>
          <p:nvPr/>
        </p:nvGrpSpPr>
        <p:grpSpPr>
          <a:xfrm>
            <a:off x="3265337" y="3630910"/>
            <a:ext cx="842565" cy="1017290"/>
            <a:chOff x="3265337" y="3630910"/>
            <a:chExt cx="842565" cy="101729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D946E29-49D8-A86D-D85E-9B84DB7948AC}"/>
                </a:ext>
              </a:extLst>
            </p:cNvPr>
            <p:cNvSpPr/>
            <p:nvPr/>
          </p:nvSpPr>
          <p:spPr>
            <a:xfrm>
              <a:off x="3265337" y="3630910"/>
              <a:ext cx="440980" cy="323385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A7E0338-9A47-8B22-9337-A3950DBF5D5C}"/>
                </a:ext>
              </a:extLst>
            </p:cNvPr>
            <p:cNvSpPr/>
            <p:nvPr/>
          </p:nvSpPr>
          <p:spPr>
            <a:xfrm>
              <a:off x="3666922" y="4343400"/>
              <a:ext cx="440980" cy="3048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B49262-DC81-4167-2CAB-100335EC3ACB}"/>
              </a:ext>
            </a:extLst>
          </p:cNvPr>
          <p:cNvGrpSpPr/>
          <p:nvPr/>
        </p:nvGrpSpPr>
        <p:grpSpPr>
          <a:xfrm>
            <a:off x="3733264" y="1852961"/>
            <a:ext cx="1829336" cy="2947639"/>
            <a:chOff x="3733264" y="1852961"/>
            <a:chExt cx="1829336" cy="2947639"/>
          </a:xfrm>
        </p:grpSpPr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9CB0AF1-BCD2-23D6-7F82-912FD2004ED2}"/>
                </a:ext>
              </a:extLst>
            </p:cNvPr>
            <p:cNvSpPr/>
            <p:nvPr/>
          </p:nvSpPr>
          <p:spPr>
            <a:xfrm>
              <a:off x="3733264" y="1852961"/>
              <a:ext cx="1226634" cy="1538868"/>
            </a:xfrm>
            <a:custGeom>
              <a:avLst/>
              <a:gdLst>
                <a:gd name="connsiteX0" fmla="*/ 178419 w 1226634"/>
                <a:gd name="connsiteY0" fmla="*/ 144966 h 1538868"/>
                <a:gd name="connsiteX1" fmla="*/ 33454 w 1226634"/>
                <a:gd name="connsiteY1" fmla="*/ 546410 h 1538868"/>
                <a:gd name="connsiteX2" fmla="*/ 0 w 1226634"/>
                <a:gd name="connsiteY2" fmla="*/ 1092820 h 1538868"/>
                <a:gd name="connsiteX3" fmla="*/ 0 w 1226634"/>
                <a:gd name="connsiteY3" fmla="*/ 1505415 h 1538868"/>
                <a:gd name="connsiteX4" fmla="*/ 691376 w 1226634"/>
                <a:gd name="connsiteY4" fmla="*/ 1538868 h 1538868"/>
                <a:gd name="connsiteX5" fmla="*/ 1226634 w 1226634"/>
                <a:gd name="connsiteY5" fmla="*/ 1193181 h 1538868"/>
                <a:gd name="connsiteX6" fmla="*/ 1126273 w 1226634"/>
                <a:gd name="connsiteY6" fmla="*/ 780585 h 1538868"/>
                <a:gd name="connsiteX7" fmla="*/ 1025912 w 1226634"/>
                <a:gd name="connsiteY7" fmla="*/ 412595 h 1538868"/>
                <a:gd name="connsiteX8" fmla="*/ 713678 w 1226634"/>
                <a:gd name="connsiteY8" fmla="*/ 33454 h 1538868"/>
                <a:gd name="connsiteX9" fmla="*/ 345688 w 1226634"/>
                <a:gd name="connsiteY9" fmla="*/ 0 h 1538868"/>
                <a:gd name="connsiteX10" fmla="*/ 178419 w 1226634"/>
                <a:gd name="connsiteY10" fmla="*/ 144966 h 153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26634" h="1538868">
                  <a:moveTo>
                    <a:pt x="178419" y="144966"/>
                  </a:moveTo>
                  <a:lnTo>
                    <a:pt x="33454" y="546410"/>
                  </a:lnTo>
                  <a:lnTo>
                    <a:pt x="0" y="1092820"/>
                  </a:lnTo>
                  <a:lnTo>
                    <a:pt x="0" y="1505415"/>
                  </a:lnTo>
                  <a:lnTo>
                    <a:pt x="691376" y="1538868"/>
                  </a:lnTo>
                  <a:lnTo>
                    <a:pt x="1226634" y="1193181"/>
                  </a:lnTo>
                  <a:lnTo>
                    <a:pt x="1126273" y="780585"/>
                  </a:lnTo>
                  <a:lnTo>
                    <a:pt x="1025912" y="412595"/>
                  </a:lnTo>
                  <a:lnTo>
                    <a:pt x="713678" y="33454"/>
                  </a:lnTo>
                  <a:lnTo>
                    <a:pt x="345688" y="0"/>
                  </a:lnTo>
                  <a:lnTo>
                    <a:pt x="178419" y="144966"/>
                  </a:lnTo>
                  <a:close/>
                </a:path>
              </a:pathLst>
            </a:cu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B25BADA7-8823-AC0E-EDEE-EC91722C6135}"/>
                </a:ext>
              </a:extLst>
            </p:cNvPr>
            <p:cNvSpPr/>
            <p:nvPr/>
          </p:nvSpPr>
          <p:spPr>
            <a:xfrm>
              <a:off x="4641302" y="4191000"/>
              <a:ext cx="921298" cy="609600"/>
            </a:xfrm>
            <a:prstGeom prst="ellipse">
              <a:avLst/>
            </a:prstGeom>
            <a:noFill/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7D796E39-9B87-603A-987C-5EC0DF7E88C6}"/>
              </a:ext>
            </a:extLst>
          </p:cNvPr>
          <p:cNvSpPr txBox="1"/>
          <p:nvPr/>
        </p:nvSpPr>
        <p:spPr>
          <a:xfrm>
            <a:off x="2796027" y="4343400"/>
            <a:ext cx="4519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     w      k      j    v    r    p    q    u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B8FCD3D-A780-2E30-EA90-5B81EE190456}"/>
              </a:ext>
            </a:extLst>
          </p:cNvPr>
          <p:cNvGrpSpPr/>
          <p:nvPr/>
        </p:nvGrpSpPr>
        <p:grpSpPr>
          <a:xfrm>
            <a:off x="5103706" y="1295400"/>
            <a:ext cx="2592494" cy="2667000"/>
            <a:chOff x="5103706" y="1295400"/>
            <a:chExt cx="2592494" cy="2667000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1D5A0B1-B260-C531-257E-AC0ECEA0E3C5}"/>
                </a:ext>
              </a:extLst>
            </p:cNvPr>
            <p:cNvGrpSpPr/>
            <p:nvPr/>
          </p:nvGrpSpPr>
          <p:grpSpPr>
            <a:xfrm>
              <a:off x="5341436" y="1371600"/>
              <a:ext cx="2278564" cy="2438400"/>
              <a:chOff x="1683836" y="4191000"/>
              <a:chExt cx="2278564" cy="2438400"/>
            </a:xfrm>
          </p:grpSpPr>
          <p:pic>
            <p:nvPicPr>
              <p:cNvPr id="59" name="Picture 2">
                <a:extLst>
                  <a:ext uri="{FF2B5EF4-FFF2-40B4-BE49-F238E27FC236}">
                    <a16:creationId xmlns:a16="http://schemas.microsoft.com/office/drawing/2014/main" id="{68D9CFF3-36AF-4BAE-AF7A-A7EA87BD88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0177" y="4191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0" name="Picture 2">
                <a:extLst>
                  <a:ext uri="{FF2B5EF4-FFF2-40B4-BE49-F238E27FC236}">
                    <a16:creationId xmlns:a16="http://schemas.microsoft.com/office/drawing/2014/main" id="{EAC6EB5C-3709-2CCA-67D0-D7A7A70D40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17236" y="4876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1" name="Picture 2">
                <a:extLst>
                  <a:ext uri="{FF2B5EF4-FFF2-40B4-BE49-F238E27FC236}">
                    <a16:creationId xmlns:a16="http://schemas.microsoft.com/office/drawing/2014/main" id="{596E7E6A-DA38-2C66-AC4F-D557BCD8AD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21655" y="488981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2" name="Picture 2">
                <a:extLst>
                  <a:ext uri="{FF2B5EF4-FFF2-40B4-BE49-F238E27FC236}">
                    <a16:creationId xmlns:a16="http://schemas.microsoft.com/office/drawing/2014/main" id="{68CBEA4A-06A5-49F7-F69C-B30A4DF836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12436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3" name="Picture 2">
                <a:extLst>
                  <a:ext uri="{FF2B5EF4-FFF2-40B4-BE49-F238E27FC236}">
                    <a16:creationId xmlns:a16="http://schemas.microsoft.com/office/drawing/2014/main" id="{53E5ACC4-0742-4435-FC62-944C4527C7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83222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4" name="Picture 2">
                <a:extLst>
                  <a:ext uri="{FF2B5EF4-FFF2-40B4-BE49-F238E27FC236}">
                    <a16:creationId xmlns:a16="http://schemas.microsoft.com/office/drawing/2014/main" id="{2A6D7421-15F1-5DB8-F077-8C53B7DEF3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06283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5" name="Picture 2">
                <a:extLst>
                  <a:ext uri="{FF2B5EF4-FFF2-40B4-BE49-F238E27FC236}">
                    <a16:creationId xmlns:a16="http://schemas.microsoft.com/office/drawing/2014/main" id="{8ED55F7C-A104-7C89-04B8-BD772F74B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3836" y="6477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66" name="Picture 2">
                <a:extLst>
                  <a:ext uri="{FF2B5EF4-FFF2-40B4-BE49-F238E27FC236}">
                    <a16:creationId xmlns:a16="http://schemas.microsoft.com/office/drawing/2014/main" id="{7239384E-14E7-F997-380F-3FEC518F09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07078" y="57150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059C857-D416-4C7B-5C4B-FB1E5E7B3E9E}"/>
                  </a:ext>
                </a:extLst>
              </p:cNvPr>
              <p:cNvCxnSpPr>
                <a:stCxn id="59" idx="2"/>
                <a:endCxn id="60" idx="0"/>
              </p:cNvCxnSpPr>
              <p:nvPr/>
            </p:nvCxnSpPr>
            <p:spPr>
              <a:xfrm flipH="1">
                <a:off x="2295295" y="4343400"/>
                <a:ext cx="302941" cy="5334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C0DE563B-3638-A381-FBBF-3BB3DF328E1F}"/>
                  </a:ext>
                </a:extLst>
              </p:cNvPr>
              <p:cNvCxnSpPr>
                <a:stCxn id="60" idx="2"/>
                <a:endCxn id="62" idx="0"/>
              </p:cNvCxnSpPr>
              <p:nvPr/>
            </p:nvCxnSpPr>
            <p:spPr>
              <a:xfrm flipH="1">
                <a:off x="1990495" y="5029200"/>
                <a:ext cx="304800" cy="6858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0881314E-9E6A-CE61-95AA-1CD989DE23F0}"/>
                  </a:ext>
                </a:extLst>
              </p:cNvPr>
              <p:cNvCxnSpPr>
                <a:stCxn id="60" idx="2"/>
                <a:endCxn id="63" idx="0"/>
              </p:cNvCxnSpPr>
              <p:nvPr/>
            </p:nvCxnSpPr>
            <p:spPr>
              <a:xfrm>
                <a:off x="2295295" y="5029200"/>
                <a:ext cx="465986" cy="6858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A0CA11F8-AC85-1C14-E0BA-34A3D3B04440}"/>
                  </a:ext>
                </a:extLst>
              </p:cNvPr>
              <p:cNvCxnSpPr>
                <a:stCxn id="61" idx="2"/>
                <a:endCxn id="64" idx="0"/>
              </p:cNvCxnSpPr>
              <p:nvPr/>
            </p:nvCxnSpPr>
            <p:spPr>
              <a:xfrm>
                <a:off x="3499714" y="5042210"/>
                <a:ext cx="384628" cy="67279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91271409-CE49-A2C4-86D1-11AB887794A8}"/>
                  </a:ext>
                </a:extLst>
              </p:cNvPr>
              <p:cNvCxnSpPr>
                <a:stCxn id="59" idx="2"/>
                <a:endCxn id="61" idx="1"/>
              </p:cNvCxnSpPr>
              <p:nvPr/>
            </p:nvCxnSpPr>
            <p:spPr>
              <a:xfrm>
                <a:off x="2598236" y="4343400"/>
                <a:ext cx="823419" cy="62261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F5A2C4BF-CAC9-540B-837A-E027038BD81F}"/>
                  </a:ext>
                </a:extLst>
              </p:cNvPr>
              <p:cNvCxnSpPr>
                <a:stCxn id="62" idx="2"/>
                <a:endCxn id="65" idx="0"/>
              </p:cNvCxnSpPr>
              <p:nvPr/>
            </p:nvCxnSpPr>
            <p:spPr>
              <a:xfrm flipH="1">
                <a:off x="1761895" y="5867400"/>
                <a:ext cx="228600" cy="6096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7FF1C088-429B-F272-D78E-E5FD88F6B68C}"/>
                  </a:ext>
                </a:extLst>
              </p:cNvPr>
              <p:cNvCxnSpPr>
                <a:stCxn id="63" idx="2"/>
                <a:endCxn id="74" idx="0"/>
              </p:cNvCxnSpPr>
              <p:nvPr/>
            </p:nvCxnSpPr>
            <p:spPr>
              <a:xfrm>
                <a:off x="2761281" y="5867400"/>
                <a:ext cx="63697" cy="53340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4" name="Picture 2">
                <a:extLst>
                  <a:ext uri="{FF2B5EF4-FFF2-40B4-BE49-F238E27FC236}">
                    <a16:creationId xmlns:a16="http://schemas.microsoft.com/office/drawing/2014/main" id="{F37C7EEB-9DC8-6836-58E2-D9EDBC75FF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6919" y="6400800"/>
                <a:ext cx="156117" cy="1524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ED472004-D00C-60C5-E2F3-B0924EA2B6A6}"/>
                  </a:ext>
                </a:extLst>
              </p:cNvPr>
              <p:cNvCxnSpPr>
                <a:stCxn id="64" idx="1"/>
                <a:endCxn id="66" idx="3"/>
              </p:cNvCxnSpPr>
              <p:nvPr/>
            </p:nvCxnSpPr>
            <p:spPr>
              <a:xfrm flipH="1">
                <a:off x="3363195" y="5791200"/>
                <a:ext cx="443088" cy="0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E14D4CD-673D-45B0-05AA-12E7F37752C1}"/>
                </a:ext>
              </a:extLst>
            </p:cNvPr>
            <p:cNvSpPr txBox="1"/>
            <p:nvPr/>
          </p:nvSpPr>
          <p:spPr>
            <a:xfrm>
              <a:off x="5941906" y="12954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8E896B2-8FF9-01C9-D5E8-3E9E0A466085}"/>
                </a:ext>
              </a:extLst>
            </p:cNvPr>
            <p:cNvSpPr txBox="1"/>
            <p:nvPr/>
          </p:nvSpPr>
          <p:spPr>
            <a:xfrm>
              <a:off x="5638800" y="1905000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DCDE2A0-3B42-5247-A201-D0DAC6FD49D8}"/>
                </a:ext>
              </a:extLst>
            </p:cNvPr>
            <p:cNvSpPr txBox="1"/>
            <p:nvPr/>
          </p:nvSpPr>
          <p:spPr>
            <a:xfrm>
              <a:off x="5257800" y="27548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EDABCEBD-AA0B-01A6-7540-D800A0D94DFD}"/>
                </a:ext>
              </a:extLst>
            </p:cNvPr>
            <p:cNvSpPr txBox="1"/>
            <p:nvPr/>
          </p:nvSpPr>
          <p:spPr>
            <a:xfrm>
              <a:off x="5103706" y="358140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30C6D652-C5AC-D0F0-C5D4-79171A9D8917}"/>
                </a:ext>
              </a:extLst>
            </p:cNvPr>
            <p:cNvSpPr txBox="1"/>
            <p:nvPr/>
          </p:nvSpPr>
          <p:spPr>
            <a:xfrm>
              <a:off x="6322906" y="3593068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k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9367F9C-BB61-BFFF-AB60-3C5FE9B02900}"/>
                </a:ext>
              </a:extLst>
            </p:cNvPr>
            <p:cNvSpPr txBox="1"/>
            <p:nvPr/>
          </p:nvSpPr>
          <p:spPr>
            <a:xfrm>
              <a:off x="6085598" y="2834114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j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7A1A1269-6847-3B72-6EAE-A84D175B924C}"/>
                </a:ext>
              </a:extLst>
            </p:cNvPr>
            <p:cNvSpPr txBox="1"/>
            <p:nvPr/>
          </p:nvSpPr>
          <p:spPr>
            <a:xfrm>
              <a:off x="7237306" y="19050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D75043A-0C80-EA1A-83AB-421657340C54}"/>
                </a:ext>
              </a:extLst>
            </p:cNvPr>
            <p:cNvSpPr txBox="1"/>
            <p:nvPr/>
          </p:nvSpPr>
          <p:spPr>
            <a:xfrm>
              <a:off x="7389706" y="2983468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E4978139-CACA-2B14-19C8-0123A4DA0CBE}"/>
              </a:ext>
            </a:extLst>
          </p:cNvPr>
          <p:cNvSpPr txBox="1"/>
          <p:nvPr/>
        </p:nvSpPr>
        <p:spPr>
          <a:xfrm>
            <a:off x="6781800" y="2971800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1F80724-C435-4EC4-7D7B-9B3655027F71}"/>
              </a:ext>
            </a:extLst>
          </p:cNvPr>
          <p:cNvGrpSpPr/>
          <p:nvPr/>
        </p:nvGrpSpPr>
        <p:grpSpPr>
          <a:xfrm>
            <a:off x="2369098" y="1395761"/>
            <a:ext cx="3735266" cy="3521927"/>
            <a:chOff x="2369098" y="1395761"/>
            <a:chExt cx="3735266" cy="3521927"/>
          </a:xfrm>
        </p:grpSpPr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55C4DD80-16EE-5733-E7CF-F7EDDF96FCCD}"/>
                </a:ext>
              </a:extLst>
            </p:cNvPr>
            <p:cNvSpPr/>
            <p:nvPr/>
          </p:nvSpPr>
          <p:spPr>
            <a:xfrm>
              <a:off x="2369098" y="1395761"/>
              <a:ext cx="1280084" cy="1929678"/>
            </a:xfrm>
            <a:custGeom>
              <a:avLst/>
              <a:gdLst>
                <a:gd name="connsiteX0" fmla="*/ 1048214 w 1516565"/>
                <a:gd name="connsiteY0" fmla="*/ 0 h 2709747"/>
                <a:gd name="connsiteX1" fmla="*/ 0 w 1516565"/>
                <a:gd name="connsiteY1" fmla="*/ 2553630 h 2709747"/>
                <a:gd name="connsiteX2" fmla="*/ 267629 w 1516565"/>
                <a:gd name="connsiteY2" fmla="*/ 2709747 h 2709747"/>
                <a:gd name="connsiteX3" fmla="*/ 579863 w 1516565"/>
                <a:gd name="connsiteY3" fmla="*/ 2676293 h 2709747"/>
                <a:gd name="connsiteX4" fmla="*/ 1516565 w 1516565"/>
                <a:gd name="connsiteY4" fmla="*/ 1773044 h 2709747"/>
                <a:gd name="connsiteX5" fmla="*/ 1360448 w 1516565"/>
                <a:gd name="connsiteY5" fmla="*/ 33454 h 2709747"/>
                <a:gd name="connsiteX6" fmla="*/ 1048214 w 1516565"/>
                <a:gd name="connsiteY6" fmla="*/ 0 h 2709747"/>
                <a:gd name="connsiteX0" fmla="*/ 1048214 w 1555491"/>
                <a:gd name="connsiteY0" fmla="*/ 0 h 2709747"/>
                <a:gd name="connsiteX1" fmla="*/ 0 w 1555491"/>
                <a:gd name="connsiteY1" fmla="*/ 2553630 h 2709747"/>
                <a:gd name="connsiteX2" fmla="*/ 267629 w 1555491"/>
                <a:gd name="connsiteY2" fmla="*/ 2709747 h 2709747"/>
                <a:gd name="connsiteX3" fmla="*/ 1555491 w 1555491"/>
                <a:gd name="connsiteY3" fmla="*/ 2535362 h 2709747"/>
                <a:gd name="connsiteX4" fmla="*/ 1516565 w 1555491"/>
                <a:gd name="connsiteY4" fmla="*/ 1773044 h 2709747"/>
                <a:gd name="connsiteX5" fmla="*/ 1360448 w 1555491"/>
                <a:gd name="connsiteY5" fmla="*/ 33454 h 2709747"/>
                <a:gd name="connsiteX6" fmla="*/ 1048214 w 1555491"/>
                <a:gd name="connsiteY6" fmla="*/ 0 h 2709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55491" h="2709747">
                  <a:moveTo>
                    <a:pt x="1048214" y="0"/>
                  </a:moveTo>
                  <a:lnTo>
                    <a:pt x="0" y="2553630"/>
                  </a:lnTo>
                  <a:lnTo>
                    <a:pt x="267629" y="2709747"/>
                  </a:lnTo>
                  <a:lnTo>
                    <a:pt x="1555491" y="2535362"/>
                  </a:lnTo>
                  <a:lnTo>
                    <a:pt x="1516565" y="1773044"/>
                  </a:lnTo>
                  <a:lnTo>
                    <a:pt x="1360448" y="33454"/>
                  </a:lnTo>
                  <a:lnTo>
                    <a:pt x="1048214" y="0"/>
                  </a:lnTo>
                  <a:close/>
                </a:path>
              </a:pathLst>
            </a:custGeom>
            <a:noFill/>
            <a:ln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B7E4A35-1865-59D9-C437-E43A3028C21D}"/>
                </a:ext>
              </a:extLst>
            </p:cNvPr>
            <p:cNvSpPr/>
            <p:nvPr/>
          </p:nvSpPr>
          <p:spPr>
            <a:xfrm>
              <a:off x="3233853" y="4192859"/>
              <a:ext cx="2870511" cy="724829"/>
            </a:xfrm>
            <a:custGeom>
              <a:avLst/>
              <a:gdLst>
                <a:gd name="connsiteX0" fmla="*/ 0 w 2732048"/>
                <a:gd name="connsiteY0" fmla="*/ 167268 h 724829"/>
                <a:gd name="connsiteX1" fmla="*/ 0 w 2732048"/>
                <a:gd name="connsiteY1" fmla="*/ 535258 h 724829"/>
                <a:gd name="connsiteX2" fmla="*/ 11151 w 2732048"/>
                <a:gd name="connsiteY2" fmla="*/ 669073 h 724829"/>
                <a:gd name="connsiteX3" fmla="*/ 2732048 w 2732048"/>
                <a:gd name="connsiteY3" fmla="*/ 724829 h 724829"/>
                <a:gd name="connsiteX4" fmla="*/ 2720897 w 2732048"/>
                <a:gd name="connsiteY4" fmla="*/ 0 h 724829"/>
                <a:gd name="connsiteX5" fmla="*/ 2419814 w 2732048"/>
                <a:gd name="connsiteY5" fmla="*/ 0 h 724829"/>
                <a:gd name="connsiteX6" fmla="*/ 2419814 w 2732048"/>
                <a:gd name="connsiteY6" fmla="*/ 635619 h 724829"/>
                <a:gd name="connsiteX7" fmla="*/ 1326995 w 2732048"/>
                <a:gd name="connsiteY7" fmla="*/ 613317 h 724829"/>
                <a:gd name="connsiteX8" fmla="*/ 1326995 w 2732048"/>
                <a:gd name="connsiteY8" fmla="*/ 22302 h 724829"/>
                <a:gd name="connsiteX9" fmla="*/ 880946 w 2732048"/>
                <a:gd name="connsiteY9" fmla="*/ 11151 h 724829"/>
                <a:gd name="connsiteX10" fmla="*/ 869795 w 2732048"/>
                <a:gd name="connsiteY10" fmla="*/ 579863 h 724829"/>
                <a:gd name="connsiteX11" fmla="*/ 323385 w 2732048"/>
                <a:gd name="connsiteY11" fmla="*/ 591014 h 724829"/>
                <a:gd name="connsiteX12" fmla="*/ 323385 w 2732048"/>
                <a:gd name="connsiteY12" fmla="*/ 156117 h 724829"/>
                <a:gd name="connsiteX13" fmla="*/ 0 w 2732048"/>
                <a:gd name="connsiteY13" fmla="*/ 167268 h 724829"/>
                <a:gd name="connsiteX0" fmla="*/ 0 w 2732048"/>
                <a:gd name="connsiteY0" fmla="*/ 167268 h 724829"/>
                <a:gd name="connsiteX1" fmla="*/ 0 w 2732048"/>
                <a:gd name="connsiteY1" fmla="*/ 535258 h 724829"/>
                <a:gd name="connsiteX2" fmla="*/ 11151 w 2732048"/>
                <a:gd name="connsiteY2" fmla="*/ 669073 h 724829"/>
                <a:gd name="connsiteX3" fmla="*/ 2732048 w 2732048"/>
                <a:gd name="connsiteY3" fmla="*/ 724829 h 724829"/>
                <a:gd name="connsiteX4" fmla="*/ 2720897 w 2732048"/>
                <a:gd name="connsiteY4" fmla="*/ 0 h 724829"/>
                <a:gd name="connsiteX5" fmla="*/ 2419814 w 2732048"/>
                <a:gd name="connsiteY5" fmla="*/ 0 h 724829"/>
                <a:gd name="connsiteX6" fmla="*/ 2281841 w 2732048"/>
                <a:gd name="connsiteY6" fmla="*/ 635619 h 724829"/>
                <a:gd name="connsiteX7" fmla="*/ 1326995 w 2732048"/>
                <a:gd name="connsiteY7" fmla="*/ 613317 h 724829"/>
                <a:gd name="connsiteX8" fmla="*/ 1326995 w 2732048"/>
                <a:gd name="connsiteY8" fmla="*/ 22302 h 724829"/>
                <a:gd name="connsiteX9" fmla="*/ 880946 w 2732048"/>
                <a:gd name="connsiteY9" fmla="*/ 11151 h 724829"/>
                <a:gd name="connsiteX10" fmla="*/ 869795 w 2732048"/>
                <a:gd name="connsiteY10" fmla="*/ 579863 h 724829"/>
                <a:gd name="connsiteX11" fmla="*/ 323385 w 2732048"/>
                <a:gd name="connsiteY11" fmla="*/ 591014 h 724829"/>
                <a:gd name="connsiteX12" fmla="*/ 323385 w 2732048"/>
                <a:gd name="connsiteY12" fmla="*/ 156117 h 724829"/>
                <a:gd name="connsiteX13" fmla="*/ 0 w 2732048"/>
                <a:gd name="connsiteY13" fmla="*/ 167268 h 724829"/>
                <a:gd name="connsiteX0" fmla="*/ 0 w 2732048"/>
                <a:gd name="connsiteY0" fmla="*/ 167268 h 724829"/>
                <a:gd name="connsiteX1" fmla="*/ 0 w 2732048"/>
                <a:gd name="connsiteY1" fmla="*/ 535258 h 724829"/>
                <a:gd name="connsiteX2" fmla="*/ 11151 w 2732048"/>
                <a:gd name="connsiteY2" fmla="*/ 669073 h 724829"/>
                <a:gd name="connsiteX3" fmla="*/ 2732048 w 2732048"/>
                <a:gd name="connsiteY3" fmla="*/ 724829 h 724829"/>
                <a:gd name="connsiteX4" fmla="*/ 2720897 w 2732048"/>
                <a:gd name="connsiteY4" fmla="*/ 0 h 724829"/>
                <a:gd name="connsiteX5" fmla="*/ 2292454 w 2732048"/>
                <a:gd name="connsiteY5" fmla="*/ 0 h 724829"/>
                <a:gd name="connsiteX6" fmla="*/ 2281841 w 2732048"/>
                <a:gd name="connsiteY6" fmla="*/ 635619 h 724829"/>
                <a:gd name="connsiteX7" fmla="*/ 1326995 w 2732048"/>
                <a:gd name="connsiteY7" fmla="*/ 613317 h 724829"/>
                <a:gd name="connsiteX8" fmla="*/ 1326995 w 2732048"/>
                <a:gd name="connsiteY8" fmla="*/ 22302 h 724829"/>
                <a:gd name="connsiteX9" fmla="*/ 880946 w 2732048"/>
                <a:gd name="connsiteY9" fmla="*/ 11151 h 724829"/>
                <a:gd name="connsiteX10" fmla="*/ 869795 w 2732048"/>
                <a:gd name="connsiteY10" fmla="*/ 579863 h 724829"/>
                <a:gd name="connsiteX11" fmla="*/ 323385 w 2732048"/>
                <a:gd name="connsiteY11" fmla="*/ 591014 h 724829"/>
                <a:gd name="connsiteX12" fmla="*/ 323385 w 2732048"/>
                <a:gd name="connsiteY12" fmla="*/ 156117 h 724829"/>
                <a:gd name="connsiteX13" fmla="*/ 0 w 2732048"/>
                <a:gd name="connsiteY13" fmla="*/ 167268 h 72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32048" h="724829">
                  <a:moveTo>
                    <a:pt x="0" y="167268"/>
                  </a:moveTo>
                  <a:lnTo>
                    <a:pt x="0" y="535258"/>
                  </a:lnTo>
                  <a:lnTo>
                    <a:pt x="11151" y="669073"/>
                  </a:lnTo>
                  <a:lnTo>
                    <a:pt x="2732048" y="724829"/>
                  </a:lnTo>
                  <a:lnTo>
                    <a:pt x="2720897" y="0"/>
                  </a:lnTo>
                  <a:lnTo>
                    <a:pt x="2292454" y="0"/>
                  </a:lnTo>
                  <a:lnTo>
                    <a:pt x="2281841" y="635619"/>
                  </a:lnTo>
                  <a:lnTo>
                    <a:pt x="1326995" y="613317"/>
                  </a:lnTo>
                  <a:lnTo>
                    <a:pt x="1326995" y="22302"/>
                  </a:lnTo>
                  <a:lnTo>
                    <a:pt x="880946" y="11151"/>
                  </a:lnTo>
                  <a:lnTo>
                    <a:pt x="869795" y="579863"/>
                  </a:lnTo>
                  <a:lnTo>
                    <a:pt x="323385" y="591014"/>
                  </a:lnTo>
                  <a:lnTo>
                    <a:pt x="323385" y="156117"/>
                  </a:lnTo>
                  <a:lnTo>
                    <a:pt x="0" y="167268"/>
                  </a:lnTo>
                  <a:close/>
                </a:path>
              </a:pathLst>
            </a:custGeom>
            <a:noFill/>
            <a:ln>
              <a:solidFill>
                <a:srgbClr val="7030A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Right Arrow 81">
            <a:extLst>
              <a:ext uri="{FF2B5EF4-FFF2-40B4-BE49-F238E27FC236}">
                <a16:creationId xmlns:a16="http://schemas.microsoft.com/office/drawing/2014/main" id="{2BF15123-1626-8AC3-B459-B25CA6163353}"/>
              </a:ext>
            </a:extLst>
          </p:cNvPr>
          <p:cNvSpPr/>
          <p:nvPr/>
        </p:nvSpPr>
        <p:spPr>
          <a:xfrm>
            <a:off x="2790513" y="4798318"/>
            <a:ext cx="3229287" cy="82881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Increasing order of </a:t>
            </a:r>
            <a:r>
              <a:rPr lang="en-US" sz="2400" b="1" dirty="0">
                <a:solidFill>
                  <a:srgbClr val="0070C0"/>
                </a:solidFill>
              </a:rPr>
              <a:t>F</a:t>
            </a:r>
            <a:r>
              <a:rPr lang="en-US" b="1" dirty="0">
                <a:solidFill>
                  <a:schemeClr val="tx1"/>
                </a:solidFill>
              </a:rPr>
              <a:t>[]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FCC0B1-09D4-345F-3C6B-523B765F3A4A}"/>
              </a:ext>
            </a:extLst>
          </p:cNvPr>
          <p:cNvSpPr/>
          <p:nvPr/>
        </p:nvSpPr>
        <p:spPr>
          <a:xfrm>
            <a:off x="4346581" y="4358114"/>
            <a:ext cx="183691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130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 build="p"/>
      <p:bldP spid="78" grpId="0"/>
      <p:bldP spid="92" grpId="0"/>
      <p:bldP spid="82" grpId="0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8632-B2CB-ECCD-9409-5B84AFF0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626" y="33339"/>
            <a:ext cx="3968748" cy="1628775"/>
          </a:xfrm>
        </p:spPr>
        <p:txBody>
          <a:bodyPr anchor="b">
            <a:normAutofit fontScale="90000"/>
          </a:bodyPr>
          <a:lstStyle/>
          <a:p>
            <a:r>
              <a:rPr lang="en-US" sz="3500" b="1" dirty="0">
                <a:solidFill>
                  <a:srgbClr val="7030A0"/>
                </a:solidFill>
              </a:rPr>
              <a:t>Kosaraju</a:t>
            </a:r>
            <a:r>
              <a:rPr lang="en-US" sz="3500" b="1" dirty="0"/>
              <a:t>’s Algorithm</a:t>
            </a:r>
            <a:br>
              <a:rPr lang="en-US" sz="3500" dirty="0"/>
            </a:br>
            <a:endParaRPr lang="en-IN" sz="3500" dirty="0"/>
          </a:p>
        </p:txBody>
      </p:sp>
      <p:pic>
        <p:nvPicPr>
          <p:cNvPr id="5" name="Content Placeholder 4" descr="A person in a suit&#10;&#10;Description automatically generated">
            <a:extLst>
              <a:ext uri="{FF2B5EF4-FFF2-40B4-BE49-F238E27FC236}">
                <a16:creationId xmlns:a16="http://schemas.microsoft.com/office/drawing/2014/main" id="{96A54F75-3461-993E-C0F1-79680050F7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9" r="17159"/>
          <a:stretch/>
        </p:blipFill>
        <p:spPr>
          <a:xfrm>
            <a:off x="0" y="1600623"/>
            <a:ext cx="2438399" cy="365675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95776AD-181C-A73D-01F4-F37B587B2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609588"/>
            <a:ext cx="3968747" cy="375284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DFS Traversal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5C9EB-8F30-3BAF-B626-07D2B948C655}"/>
              </a:ext>
            </a:extLst>
          </p:cNvPr>
          <p:cNvSpPr txBox="1"/>
          <p:nvPr/>
        </p:nvSpPr>
        <p:spPr>
          <a:xfrm>
            <a:off x="0" y="5257800"/>
            <a:ext cx="33809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Mtech</a:t>
            </a:r>
            <a:r>
              <a:rPr lang="en-US" dirty="0"/>
              <a:t> IIT KGP</a:t>
            </a:r>
          </a:p>
          <a:p>
            <a:r>
              <a:rPr lang="en-US" dirty="0"/>
              <a:t>PhD Uni. Pennsylvania</a:t>
            </a:r>
          </a:p>
          <a:p>
            <a:r>
              <a:rPr lang="en-US" dirty="0"/>
              <a:t>Faculty at John Hopkins University</a:t>
            </a:r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CFF9785-C6AB-8ED5-CF7B-916B1FEC480A}"/>
              </a:ext>
            </a:extLst>
          </p:cNvPr>
          <p:cNvSpPr txBox="1">
            <a:spLocks/>
          </p:cNvSpPr>
          <p:nvPr/>
        </p:nvSpPr>
        <p:spPr>
          <a:xfrm>
            <a:off x="1969404" y="321146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A </a:t>
            </a:r>
            <a:r>
              <a:rPr lang="en-US" sz="2800" b="1" u="sng" dirty="0"/>
              <a:t>simple</a:t>
            </a:r>
            <a:r>
              <a:rPr lang="en-US" sz="2800" b="1" dirty="0"/>
              <a:t> but very </a:t>
            </a:r>
            <a:r>
              <a:rPr lang="en-US" sz="2800" b="1" u="sng" dirty="0"/>
              <a:t>powerful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7030A0"/>
                </a:solidFill>
              </a:rPr>
              <a:t>idea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3F4E3EBC-905D-CF12-B085-8A5081BB9085}"/>
              </a:ext>
            </a:extLst>
          </p:cNvPr>
          <p:cNvSpPr/>
          <p:nvPr/>
        </p:nvSpPr>
        <p:spPr>
          <a:xfrm>
            <a:off x="5260973" y="2363042"/>
            <a:ext cx="914400" cy="914400"/>
          </a:xfrm>
          <a:prstGeom prst="mathPlus">
            <a:avLst>
              <a:gd name="adj1" fmla="val 117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73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6" grpId="0"/>
      <p:bldP spid="7" grpId="0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562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400" dirty="0"/>
                  <a:t>   : the given directed graph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sz="24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  <m:r>
                      <a:rPr lang="en-US" sz="2400" b="1" i="1">
                        <a:solidFill>
                          <a:srgbClr val="7030A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: the graph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400" dirty="0"/>
                  <a:t> after reversing edge directions;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Let us see whether you can use it in the next lecture </a:t>
                </a:r>
                <a:r>
                  <a:rPr lang="en-US" sz="2400" dirty="0">
                    <a:sym typeface="Wingdings" pitchFamily="2" charset="2"/>
                  </a:rPr>
                  <a:t>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562600"/>
              </a:xfrm>
              <a:blipFill>
                <a:blip r:embed="rId2"/>
                <a:stretch>
                  <a:fillRect l="-1111" t="-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1066800" y="2057400"/>
            <a:ext cx="57912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362200" y="3704064"/>
                <a:ext cx="1188146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b="1" dirty="0"/>
                  <a:t>s</a:t>
                </a:r>
                <a:r>
                  <a:rPr lang="en-US" dirty="0"/>
                  <a:t> of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3704064"/>
                <a:ext cx="1188146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4082" t="-6452" r="-7653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029200" y="3739376"/>
                <a:ext cx="1287468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b="1" dirty="0"/>
                  <a:t>s</a:t>
                </a:r>
                <a:r>
                  <a:rPr lang="en-US" dirty="0"/>
                  <a:t> of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𝑮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3739376"/>
                <a:ext cx="1287468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286" t="-6349" r="-657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qual 9"/>
          <p:cNvSpPr/>
          <p:nvPr/>
        </p:nvSpPr>
        <p:spPr>
          <a:xfrm>
            <a:off x="3810000" y="3604632"/>
            <a:ext cx="914400" cy="568196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Graphic 14" descr="A lightbulb">
            <a:extLst>
              <a:ext uri="{FF2B5EF4-FFF2-40B4-BE49-F238E27FC236}">
                <a16:creationId xmlns:a16="http://schemas.microsoft.com/office/drawing/2014/main" id="{AA2097A7-E6C2-5880-98CF-091F4AD4D1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38500" y="4572000"/>
            <a:ext cx="2057400" cy="20574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1719B22-DB0B-F4EE-2EB2-6023ED1F679E}"/>
              </a:ext>
            </a:extLst>
          </p:cNvPr>
          <p:cNvSpPr txBox="1">
            <a:spLocks/>
          </p:cNvSpPr>
          <p:nvPr/>
        </p:nvSpPr>
        <p:spPr>
          <a:xfrm>
            <a:off x="304800" y="5802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A </a:t>
            </a:r>
            <a:r>
              <a:rPr lang="en-US" sz="2800" b="1" u="sng" dirty="0"/>
              <a:t>simple</a:t>
            </a:r>
            <a:r>
              <a:rPr lang="en-US" sz="2800" b="1" dirty="0"/>
              <a:t> but very </a:t>
            </a:r>
            <a:r>
              <a:rPr lang="en-US" sz="2800" b="1" u="sng" dirty="0"/>
              <a:t>powerful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rgbClr val="7030A0"/>
                </a:solidFill>
              </a:rPr>
              <a:t>idea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CE05F8-D374-1ED7-4792-2A2E608C20FA}"/>
              </a:ext>
            </a:extLst>
          </p:cNvPr>
          <p:cNvSpPr/>
          <p:nvPr/>
        </p:nvSpPr>
        <p:spPr>
          <a:xfrm>
            <a:off x="1066800" y="1447800"/>
            <a:ext cx="57912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6CCEE-BD45-BC90-985D-6A6930B1A410}"/>
              </a:ext>
            </a:extLst>
          </p:cNvPr>
          <p:cNvSpPr txBox="1"/>
          <p:nvPr/>
        </p:nvSpPr>
        <p:spPr>
          <a:xfrm>
            <a:off x="4079488" y="3588053"/>
            <a:ext cx="3754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?</a:t>
            </a:r>
            <a:endParaRPr lang="en-IN" sz="3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256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8" grpId="0" animBg="1"/>
      <p:bldP spid="9" grpId="0" animBg="1"/>
      <p:bldP spid="10" grpId="0" animBg="1"/>
      <p:bldP spid="2" grpId="0" animBg="1"/>
      <p:bldP spid="4" grpId="0"/>
      <p:bldP spid="4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Computing</a:t>
            </a:r>
            <a:r>
              <a:rPr lang="en-US" sz="3600" b="1" dirty="0">
                <a:solidFill>
                  <a:srgbClr val="7030A0"/>
                </a:solidFill>
              </a:rPr>
              <a:t> SCC</a:t>
            </a:r>
            <a:r>
              <a:rPr lang="en-US" sz="3600" b="1" dirty="0"/>
              <a:t>s efficiently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itle 1"/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An O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time algorithm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Sub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 rotWithShape="1">
                <a:blip r:embed="rId2"/>
                <a:stretch>
                  <a:fillRect t="-2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89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Searching for an </a:t>
            </a:r>
            <a:r>
              <a:rPr lang="en-US" sz="3200" b="1" dirty="0">
                <a:solidFill>
                  <a:srgbClr val="7030A0"/>
                </a:solidFill>
              </a:rPr>
              <a:t>order </a:t>
            </a:r>
            <a:r>
              <a:rPr lang="en-US" sz="3200" b="1" dirty="0"/>
              <a:t>using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0070C0"/>
                </a:solidFill>
              </a:rPr>
              <a:t>Finish time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8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283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19" y="3588834"/>
            <a:ext cx="156117" cy="15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ight Arrow 15"/>
          <p:cNvSpPr/>
          <p:nvPr/>
        </p:nvSpPr>
        <p:spPr>
          <a:xfrm>
            <a:off x="3476313" y="4962386"/>
            <a:ext cx="3229287" cy="676414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Increasing order of </a:t>
            </a:r>
            <a:r>
              <a:rPr lang="en-US" sz="2400" b="1" dirty="0">
                <a:solidFill>
                  <a:srgbClr val="0070C0"/>
                </a:solidFill>
                <a:sym typeface="Wingdings" pitchFamily="2" charset="2"/>
              </a:rPr>
              <a:t>F</a:t>
            </a:r>
            <a:r>
              <a:rPr lang="en-US" dirty="0">
                <a:solidFill>
                  <a:schemeClr val="tx1"/>
                </a:solidFill>
                <a:sym typeface="Wingdings" pitchFamily="2" charset="2"/>
              </a:rPr>
              <a:t>[]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48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6919" y="3588834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19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0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3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6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2483" y="3581400"/>
            <a:ext cx="15611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Cloud Callout 49"/>
          <p:cNvSpPr/>
          <p:nvPr/>
        </p:nvSpPr>
        <p:spPr>
          <a:xfrm>
            <a:off x="731387" y="5575034"/>
            <a:ext cx="3998640" cy="1116980"/>
          </a:xfrm>
          <a:prstGeom prst="cloudCallout">
            <a:avLst>
              <a:gd name="adj1" fmla="val 20441"/>
              <a:gd name="adj2" fmla="val 6948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Where might be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the roots of each SCC ?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1905000" y="1905000"/>
            <a:ext cx="2891802" cy="1828800"/>
            <a:chOff x="1905000" y="1905000"/>
            <a:chExt cx="2891802" cy="1828800"/>
          </a:xfrm>
        </p:grpSpPr>
        <p:sp>
          <p:nvSpPr>
            <p:cNvPr id="38" name="Oval 37"/>
            <p:cNvSpPr/>
            <p:nvPr/>
          </p:nvSpPr>
          <p:spPr>
            <a:xfrm>
              <a:off x="1905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22860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33528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4648200" y="3581400"/>
              <a:ext cx="148602" cy="152400"/>
            </a:xfrm>
            <a:prstGeom prst="ellipse">
              <a:avLst/>
            </a:prstGeom>
            <a:solidFill>
              <a:srgbClr val="C00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2" name="Straight Connector 51"/>
            <p:cNvCxnSpPr/>
            <p:nvPr/>
          </p:nvCxnSpPr>
          <p:spPr>
            <a:xfrm flipH="1">
              <a:off x="2057402" y="2286000"/>
              <a:ext cx="765634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2388262" y="2286000"/>
              <a:ext cx="583538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3048000" y="2286000"/>
              <a:ext cx="304800" cy="12192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126058" y="2286000"/>
              <a:ext cx="1522142" cy="1143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2590800" y="1905000"/>
              <a:ext cx="7761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SCC</a:t>
              </a:r>
              <a:r>
                <a:rPr lang="en-US" dirty="0"/>
                <a:t> </a:t>
              </a:r>
              <a:r>
                <a:rPr lang="en-US" sz="2400" b="1" dirty="0">
                  <a:solidFill>
                    <a:srgbClr val="C00000"/>
                  </a:solidFill>
                </a:rPr>
                <a:t>A</a:t>
              </a:r>
              <a:endParaRPr lang="en-US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1524000" y="3581400"/>
            <a:ext cx="4191000" cy="1295400"/>
            <a:chOff x="1524000" y="3581400"/>
            <a:chExt cx="4191000" cy="1295400"/>
          </a:xfrm>
        </p:grpSpPr>
        <p:sp>
          <p:nvSpPr>
            <p:cNvPr id="37" name="Oval 36"/>
            <p:cNvSpPr/>
            <p:nvPr/>
          </p:nvSpPr>
          <p:spPr>
            <a:xfrm>
              <a:off x="3733800" y="3581400"/>
              <a:ext cx="148602" cy="152400"/>
            </a:xfrm>
            <a:prstGeom prst="ellipse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1524000" y="3581400"/>
              <a:ext cx="4191000" cy="1295400"/>
              <a:chOff x="1524000" y="3581400"/>
              <a:chExt cx="4191000" cy="1295400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5566398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3048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524000" y="3581400"/>
                <a:ext cx="148602" cy="152400"/>
              </a:xfrm>
              <a:prstGeom prst="ellipse">
                <a:avLst/>
              </a:prstGeom>
              <a:solidFill>
                <a:srgbClr val="00B0F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8" name="Straight Connector 67"/>
              <p:cNvCxnSpPr/>
              <p:nvPr/>
            </p:nvCxnSpPr>
            <p:spPr>
              <a:xfrm>
                <a:off x="1601977" y="3810000"/>
                <a:ext cx="988823" cy="69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 flipH="1">
                <a:off x="2743200" y="3876814"/>
                <a:ext cx="381000" cy="62837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H="1">
                <a:off x="2823036" y="3810000"/>
                <a:ext cx="985066" cy="69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H="1">
                <a:off x="2971800" y="3810000"/>
                <a:ext cx="2668858" cy="69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2362200" y="4415135"/>
                <a:ext cx="7633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B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p:grpSp>
      </p:grpSp>
      <p:grpSp>
        <p:nvGrpSpPr>
          <p:cNvPr id="114" name="Group 113"/>
          <p:cNvGrpSpPr/>
          <p:nvPr/>
        </p:nvGrpSpPr>
        <p:grpSpPr>
          <a:xfrm>
            <a:off x="4114800" y="3581400"/>
            <a:ext cx="3733800" cy="1600200"/>
            <a:chOff x="4114800" y="3581400"/>
            <a:chExt cx="3733800" cy="1600200"/>
          </a:xfrm>
        </p:grpSpPr>
        <p:grpSp>
          <p:nvGrpSpPr>
            <p:cNvPr id="53" name="Group 52"/>
            <p:cNvGrpSpPr/>
            <p:nvPr/>
          </p:nvGrpSpPr>
          <p:grpSpPr>
            <a:xfrm>
              <a:off x="4114800" y="3581400"/>
              <a:ext cx="3733800" cy="1600200"/>
              <a:chOff x="1905000" y="3276600"/>
              <a:chExt cx="3733800" cy="1600200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4876800" y="3276600"/>
                <a:ext cx="148602" cy="152400"/>
              </a:xfrm>
              <a:prstGeom prst="ellipse">
                <a:avLst/>
              </a:prstGeom>
              <a:solidFill>
                <a:srgbClr val="006C3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/>
              <p:cNvGrpSpPr/>
              <p:nvPr/>
            </p:nvGrpSpPr>
            <p:grpSpPr>
              <a:xfrm>
                <a:off x="1905000" y="3276600"/>
                <a:ext cx="3733800" cy="1600200"/>
                <a:chOff x="1905000" y="3276600"/>
                <a:chExt cx="3733800" cy="1600200"/>
              </a:xfrm>
            </p:grpSpPr>
            <p:sp>
              <p:nvSpPr>
                <p:cNvPr id="58" name="Oval 57"/>
                <p:cNvSpPr/>
                <p:nvPr/>
              </p:nvSpPr>
              <p:spPr>
                <a:xfrm>
                  <a:off x="5490198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/>
                <p:cNvSpPr/>
                <p:nvPr/>
              </p:nvSpPr>
              <p:spPr>
                <a:xfrm>
                  <a:off x="3048000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/>
                <p:cNvSpPr/>
                <p:nvPr/>
              </p:nvSpPr>
              <p:spPr>
                <a:xfrm>
                  <a:off x="1905000" y="3276600"/>
                  <a:ext cx="148602" cy="152400"/>
                </a:xfrm>
                <a:prstGeom prst="ellipse">
                  <a:avLst/>
                </a:prstGeom>
                <a:solidFill>
                  <a:srgbClr val="006C3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2053602" y="3505200"/>
                  <a:ext cx="537198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 flipH="1">
                  <a:off x="2743200" y="3505200"/>
                  <a:ext cx="304800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 flipH="1">
                  <a:off x="2823036" y="3505200"/>
                  <a:ext cx="1135647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 flipH="1">
                  <a:off x="2971800" y="3505200"/>
                  <a:ext cx="1905000" cy="999986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TextBox 65"/>
                <p:cNvSpPr txBox="1"/>
                <p:nvPr/>
              </p:nvSpPr>
              <p:spPr>
                <a:xfrm>
                  <a:off x="2362200" y="4415135"/>
                  <a:ext cx="75373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SCC</a:t>
                  </a:r>
                  <a:r>
                    <a:rPr lang="en-US" dirty="0"/>
                    <a:t> </a:t>
                  </a:r>
                  <a:r>
                    <a:rPr lang="en-US" sz="2400" b="1" dirty="0">
                      <a:solidFill>
                        <a:srgbClr val="006C31"/>
                      </a:solidFill>
                    </a:rPr>
                    <a:t>C</a:t>
                  </a:r>
                  <a:endParaRPr lang="en-US" b="1" dirty="0">
                    <a:solidFill>
                      <a:srgbClr val="006C31"/>
                    </a:solidFill>
                  </a:endParaRPr>
                </a:p>
              </p:txBody>
            </p:sp>
          </p:grpSp>
        </p:grpSp>
        <p:sp>
          <p:nvSpPr>
            <p:cNvPr id="67" name="Oval 66"/>
            <p:cNvSpPr/>
            <p:nvPr/>
          </p:nvSpPr>
          <p:spPr>
            <a:xfrm>
              <a:off x="6175998" y="3581400"/>
              <a:ext cx="148602" cy="152400"/>
            </a:xfrm>
            <a:prstGeom prst="ellipse">
              <a:avLst/>
            </a:prstGeom>
            <a:solidFill>
              <a:srgbClr val="006C3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9" name="Straight Connector 68"/>
            <p:cNvCxnSpPr/>
            <p:nvPr/>
          </p:nvCxnSpPr>
          <p:spPr>
            <a:xfrm flipH="1">
              <a:off x="5332101" y="3810000"/>
              <a:ext cx="2360383" cy="1066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836342" y="1828800"/>
            <a:ext cx="6555058" cy="1676400"/>
            <a:chOff x="836342" y="1828800"/>
            <a:chExt cx="6555058" cy="1676400"/>
          </a:xfrm>
        </p:grpSpPr>
        <p:grpSp>
          <p:nvGrpSpPr>
            <p:cNvPr id="72" name="Group 71"/>
            <p:cNvGrpSpPr/>
            <p:nvPr/>
          </p:nvGrpSpPr>
          <p:grpSpPr>
            <a:xfrm>
              <a:off x="4419598" y="1828800"/>
              <a:ext cx="2971802" cy="1676400"/>
              <a:chOff x="2590800" y="1905000"/>
              <a:chExt cx="2971802" cy="1676400"/>
            </a:xfrm>
          </p:grpSpPr>
          <p:cxnSp>
            <p:nvCxnSpPr>
              <p:cNvPr id="79" name="Straight Connector 78"/>
              <p:cNvCxnSpPr/>
              <p:nvPr/>
            </p:nvCxnSpPr>
            <p:spPr>
              <a:xfrm>
                <a:off x="2823036" y="2286000"/>
                <a:ext cx="379143" cy="1295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2971800" y="2286000"/>
                <a:ext cx="1672685" cy="12512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3048000" y="2286000"/>
                <a:ext cx="1901285" cy="125120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>
                <a:off x="3126058" y="2286000"/>
                <a:ext cx="2436544" cy="12954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/>
              <p:cNvSpPr txBox="1"/>
              <p:nvPr/>
            </p:nvSpPr>
            <p:spPr>
              <a:xfrm>
                <a:off x="2590800" y="1905000"/>
                <a:ext cx="7841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SCC</a:t>
                </a:r>
                <a:r>
                  <a:rPr lang="en-US" dirty="0"/>
                  <a:t> </a:t>
                </a:r>
                <a:r>
                  <a:rPr lang="en-US" sz="2400" b="1" dirty="0">
                    <a:solidFill>
                      <a:srgbClr val="FFC000"/>
                    </a:solidFill>
                  </a:rPr>
                  <a:t>D</a:t>
                </a:r>
                <a:endParaRPr lang="en-US" b="1" dirty="0">
                  <a:solidFill>
                    <a:srgbClr val="FFC000"/>
                  </a:solidFill>
                </a:endParaRPr>
              </a:p>
            </p:txBody>
          </p:sp>
        </p:grpSp>
        <p:cxnSp>
          <p:nvCxnSpPr>
            <p:cNvPr id="94" name="Straight Connector 93"/>
            <p:cNvCxnSpPr/>
            <p:nvPr/>
          </p:nvCxnSpPr>
          <p:spPr>
            <a:xfrm>
              <a:off x="4722501" y="2209800"/>
              <a:ext cx="1144899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flipH="1">
              <a:off x="4457540" y="2209800"/>
              <a:ext cx="129112" cy="12512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flipH="1">
              <a:off x="2744977" y="2209800"/>
              <a:ext cx="1712562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flipH="1">
              <a:off x="1217341" y="2209800"/>
              <a:ext cx="3202257" cy="1295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flipH="1">
              <a:off x="836342" y="2135832"/>
              <a:ext cx="3543138" cy="13251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621634" y="3041359"/>
            <a:ext cx="3226966" cy="497718"/>
            <a:chOff x="4621634" y="3041359"/>
            <a:chExt cx="3226966" cy="497718"/>
          </a:xfrm>
        </p:grpSpPr>
        <p:grpSp>
          <p:nvGrpSpPr>
            <p:cNvPr id="89" name="Group 88"/>
            <p:cNvGrpSpPr/>
            <p:nvPr/>
          </p:nvGrpSpPr>
          <p:grpSpPr>
            <a:xfrm>
              <a:off x="4621634" y="3041359"/>
              <a:ext cx="1122280" cy="497718"/>
              <a:chOff x="4621634" y="3041359"/>
              <a:chExt cx="1122280" cy="497718"/>
            </a:xfrm>
          </p:grpSpPr>
          <p:sp>
            <p:nvSpPr>
              <p:cNvPr id="87" name="Right Arrow 86"/>
              <p:cNvSpPr/>
              <p:nvPr/>
            </p:nvSpPr>
            <p:spPr>
              <a:xfrm rot="5400000">
                <a:off x="4484006" y="3178987"/>
                <a:ext cx="489204" cy="213948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ight Arrow 87"/>
              <p:cNvSpPr/>
              <p:nvPr/>
            </p:nvSpPr>
            <p:spPr>
              <a:xfrm rot="5400000">
                <a:off x="5392338" y="3187501"/>
                <a:ext cx="489204" cy="213948"/>
              </a:xfrm>
              <a:prstGeom prst="rightArrow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5" name="Right Arrow 104"/>
            <p:cNvSpPr/>
            <p:nvPr/>
          </p:nvSpPr>
          <p:spPr>
            <a:xfrm rot="5400000">
              <a:off x="7497024" y="3185628"/>
              <a:ext cx="489204" cy="213948"/>
            </a:xfrm>
            <a:prstGeom prst="rightArrow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ight Arrow 105"/>
            <p:cNvSpPr/>
            <p:nvPr/>
          </p:nvSpPr>
          <p:spPr>
            <a:xfrm rot="5400000">
              <a:off x="7192224" y="3185628"/>
              <a:ext cx="489204" cy="213948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9" name="Oval 108"/>
          <p:cNvSpPr/>
          <p:nvPr/>
        </p:nvSpPr>
        <p:spPr>
          <a:xfrm>
            <a:off x="76962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Oval 110"/>
          <p:cNvSpPr/>
          <p:nvPr/>
        </p:nvSpPr>
        <p:spPr>
          <a:xfrm>
            <a:off x="73914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2" name="Oval 111"/>
          <p:cNvSpPr/>
          <p:nvPr/>
        </p:nvSpPr>
        <p:spPr>
          <a:xfrm>
            <a:off x="55626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3" name="Oval 112"/>
          <p:cNvSpPr/>
          <p:nvPr/>
        </p:nvSpPr>
        <p:spPr>
          <a:xfrm>
            <a:off x="4648200" y="3581400"/>
            <a:ext cx="152400" cy="144966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miley Face 2"/>
          <p:cNvSpPr/>
          <p:nvPr/>
        </p:nvSpPr>
        <p:spPr>
          <a:xfrm>
            <a:off x="914400" y="2133600"/>
            <a:ext cx="609519" cy="609600"/>
          </a:xfrm>
          <a:prstGeom prst="smileyFace">
            <a:avLst>
              <a:gd name="adj" fmla="val -465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Callout 3"/>
          <p:cNvSpPr/>
          <p:nvPr/>
        </p:nvSpPr>
        <p:spPr>
          <a:xfrm>
            <a:off x="152400" y="1371600"/>
            <a:ext cx="1943988" cy="612648"/>
          </a:xfrm>
          <a:prstGeom prst="wedgeEllipseCallout">
            <a:avLst>
              <a:gd name="adj1" fmla="val 10310"/>
              <a:gd name="adj2" fmla="val 75241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It looks too complex  !</a:t>
            </a:r>
          </a:p>
        </p:txBody>
      </p:sp>
      <p:sp>
        <p:nvSpPr>
          <p:cNvPr id="17" name="Oval Callout 16"/>
          <p:cNvSpPr/>
          <p:nvPr/>
        </p:nvSpPr>
        <p:spPr>
          <a:xfrm>
            <a:off x="397836" y="4754171"/>
            <a:ext cx="2985976" cy="776667"/>
          </a:xfrm>
          <a:prstGeom prst="wedgeEllipseCallout">
            <a:avLst>
              <a:gd name="adj1" fmla="val -70223"/>
              <a:gd name="adj2" fmla="val 6978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Have some perseverance, buddy !</a:t>
            </a:r>
          </a:p>
        </p:txBody>
      </p:sp>
      <p:sp>
        <p:nvSpPr>
          <p:cNvPr id="19" name="Ribbon: Curved and Tilted Down 18">
            <a:extLst>
              <a:ext uri="{FF2B5EF4-FFF2-40B4-BE49-F238E27FC236}">
                <a16:creationId xmlns:a16="http://schemas.microsoft.com/office/drawing/2014/main" id="{7B5BD81D-D557-3DDD-52C9-A5D771C48CE9}"/>
              </a:ext>
            </a:extLst>
          </p:cNvPr>
          <p:cNvSpPr/>
          <p:nvPr/>
        </p:nvSpPr>
        <p:spPr>
          <a:xfrm>
            <a:off x="4831100" y="5564206"/>
            <a:ext cx="4120033" cy="1109044"/>
          </a:xfrm>
          <a:prstGeom prst="ellipseRibbon">
            <a:avLst>
              <a:gd name="adj1" fmla="val 25000"/>
              <a:gd name="adj2" fmla="val 75000"/>
              <a:gd name="adj3" fmla="val 125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Let us </a:t>
            </a:r>
            <a:r>
              <a:rPr lang="en-US" sz="1600" dirty="0" err="1">
                <a:solidFill>
                  <a:schemeClr val="tx1"/>
                </a:solidFill>
              </a:rPr>
              <a:t>analyse</a:t>
            </a:r>
            <a:r>
              <a:rPr lang="en-US" sz="1600" dirty="0">
                <a:solidFill>
                  <a:schemeClr val="tx1"/>
                </a:solidFill>
              </a:rPr>
              <a:t> the finish time.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Of the </a:t>
            </a:r>
            <a:r>
              <a:rPr lang="en-US" sz="1600" b="1" dirty="0">
                <a:solidFill>
                  <a:schemeClr val="tx1"/>
                </a:solidFill>
              </a:rPr>
              <a:t>roots</a:t>
            </a:r>
            <a:r>
              <a:rPr lang="en-US" sz="1600" dirty="0">
                <a:solidFill>
                  <a:schemeClr val="tx1"/>
                </a:solidFill>
              </a:rPr>
              <a:t> of </a:t>
            </a:r>
            <a:r>
              <a:rPr lang="en-US" sz="1600" b="1" dirty="0">
                <a:solidFill>
                  <a:schemeClr val="tx1"/>
                </a:solidFill>
              </a:rPr>
              <a:t>SCC</a:t>
            </a:r>
            <a:r>
              <a:rPr lang="en-US" sz="1600" dirty="0">
                <a:solidFill>
                  <a:schemeClr val="tx1"/>
                </a:solidFill>
              </a:rPr>
              <a:t>s. May be there exists some order there !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189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1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1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  <p:bldP spid="50" grpId="0" animBg="1"/>
      <p:bldP spid="109" grpId="0" animBg="1"/>
      <p:bldP spid="111" grpId="0" animBg="1"/>
      <p:bldP spid="112" grpId="0" animBg="1"/>
      <p:bldP spid="113" grpId="0" animBg="1"/>
      <p:bldP spid="3" grpId="0" animBg="1"/>
      <p:bldP spid="3" grpId="1" animBg="1"/>
      <p:bldP spid="4" grpId="0" animBg="1"/>
      <p:bldP spid="4" grpId="1" animBg="1"/>
      <p:bldP spid="17" grpId="0" animBg="1"/>
      <p:bldP spid="17" grpId="1" animBg="1"/>
      <p:bldP spid="1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AA2F1-4569-E199-D55F-0EBC350F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endParaRPr lang="en-IN" b="1" dirty="0">
              <a:solidFill>
                <a:srgbClr val="006C3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46AB1-EC78-B9FE-CABF-9BF043EC70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Spend at least 30 minutes figuring out the relation between the finish time of roots of two SCCs. In particular, when there is an edge from SCC </a:t>
                </a:r>
                <a:r>
                  <a:rPr lang="en-US" sz="2000" b="1" dirty="0"/>
                  <a:t>A</a:t>
                </a:r>
                <a:r>
                  <a:rPr lang="en-US" sz="2000" dirty="0"/>
                  <a:t> to SCC </a:t>
                </a:r>
                <a:r>
                  <a:rPr lang="en-US" sz="2000" b="1" dirty="0"/>
                  <a:t>B</a:t>
                </a:r>
                <a:r>
                  <a:rPr lang="en-US" sz="2000" dirty="0"/>
                  <a:t>. 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Hint</a:t>
                </a:r>
                <a:r>
                  <a:rPr lang="en-US" sz="2000" dirty="0"/>
                  <a:t>: Try to proceed along similar lines as the case of an edge in a DAG.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Once you are able to establish the relation, ponder over the algorithm </a:t>
                </a:r>
              </a:p>
              <a:p>
                <a:pPr marL="0" indent="0">
                  <a:buNone/>
                </a:pPr>
                <a:r>
                  <a:rPr lang="en-US" sz="2000" dirty="0"/>
                  <a:t>based on this relation and </a:t>
                </a:r>
                <a:r>
                  <a:rPr lang="en-US" sz="2000" u="sng" dirty="0"/>
                  <a:t>the idea </a:t>
                </a:r>
                <a:r>
                  <a:rPr lang="en-US" sz="2000" dirty="0"/>
                  <a:t>used by </a:t>
                </a:r>
                <a:r>
                  <a:rPr lang="en-US" sz="2000" b="1" dirty="0"/>
                  <a:t>Kosaraju</a:t>
                </a:r>
                <a:r>
                  <a:rPr lang="en-US" sz="2000" dirty="0"/>
                  <a:t> :</a:t>
                </a:r>
              </a:p>
              <a:p>
                <a:pPr marL="0" indent="0">
                  <a:buNone/>
                </a:pPr>
                <a:r>
                  <a:rPr lang="en-US" sz="2000" dirty="0"/>
                  <a:t>				</a:t>
                </a:r>
              </a:p>
              <a:p>
                <a:pPr marL="0" indent="0">
                  <a:buNone/>
                </a:pPr>
                <a:r>
                  <a:rPr lang="en-US" sz="2000" dirty="0"/>
                  <a:t>				(SCCs(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dirty="0"/>
                  <a:t>) =SCCs(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sz="2000" dirty="0"/>
                  <a:t>)).</a:t>
                </a:r>
                <a:endParaRPr lang="en-IN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B46AB1-EC78-B9FE-CABF-9BF043EC70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4525963"/>
              </a:xfrm>
              <a:blipFill>
                <a:blip r:embed="rId2"/>
                <a:stretch>
                  <a:fillRect l="-667" t="-809" r="-7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172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7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7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6977</TotalTime>
  <Words>2146</Words>
  <Application>Microsoft Office PowerPoint</Application>
  <PresentationFormat>On-screen Show (4:3)</PresentationFormat>
  <Paragraphs>593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Recap of the last lecture</vt:lpstr>
      <vt:lpstr>DFS traversal in directed graph</vt:lpstr>
      <vt:lpstr>Relation between  </vt:lpstr>
      <vt:lpstr> </vt:lpstr>
      <vt:lpstr>Classification of non-tree edges </vt:lpstr>
      <vt:lpstr>(u,v) is Forward edge</vt:lpstr>
      <vt:lpstr>(u,v) is Backward edge</vt:lpstr>
      <vt:lpstr>(u,v) is Cross edge</vt:lpstr>
      <vt:lpstr>Classification of non-tree edges </vt:lpstr>
      <vt:lpstr>Classification of non-tree edges </vt:lpstr>
      <vt:lpstr>Classification of non-tree edges </vt:lpstr>
      <vt:lpstr>Classification of non-tree edges </vt:lpstr>
      <vt:lpstr>Application - I</vt:lpstr>
      <vt:lpstr>Unique-path graph </vt:lpstr>
      <vt:lpstr>An O(mn) time algorithm</vt:lpstr>
      <vt:lpstr>An O(mn) time algorithm</vt:lpstr>
      <vt:lpstr>An O(mn) time algorithm</vt:lpstr>
      <vt:lpstr>An O(mn) time algorithm</vt:lpstr>
      <vt:lpstr>An O(mn) time algorithm</vt:lpstr>
      <vt:lpstr>Application - II</vt:lpstr>
      <vt:lpstr>Strongly connected components </vt:lpstr>
      <vt:lpstr>Computing SCCs efficiently</vt:lpstr>
      <vt:lpstr>Observation 1 </vt:lpstr>
      <vt:lpstr>Observation 1 </vt:lpstr>
      <vt:lpstr>Observation 1 </vt:lpstr>
      <vt:lpstr>Inference of Observation 1</vt:lpstr>
      <vt:lpstr>Inference of Observation 1</vt:lpstr>
      <vt:lpstr>Inference of Observation 1</vt:lpstr>
      <vt:lpstr>PowerPoint Presentation</vt:lpstr>
      <vt:lpstr>Study Finish time</vt:lpstr>
      <vt:lpstr>Kosaraju’s Algorithm </vt:lpstr>
      <vt:lpstr>PowerPoint Presentation</vt:lpstr>
      <vt:lpstr>Computing SCCs efficiently</vt:lpstr>
      <vt:lpstr>Searching for an order using Finish time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483</cp:revision>
  <dcterms:created xsi:type="dcterms:W3CDTF">2011-12-03T04:13:03Z</dcterms:created>
  <dcterms:modified xsi:type="dcterms:W3CDTF">2025-09-01T06:14:39Z</dcterms:modified>
</cp:coreProperties>
</file>