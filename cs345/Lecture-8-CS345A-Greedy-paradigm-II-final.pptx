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6"/>
  </p:notesMasterIdLst>
  <p:sldIdLst>
    <p:sldId id="550" r:id="rId2"/>
    <p:sldId id="505" r:id="rId3"/>
    <p:sldId id="415" r:id="rId4"/>
    <p:sldId id="416" r:id="rId5"/>
    <p:sldId id="364" r:id="rId6"/>
    <p:sldId id="418" r:id="rId7"/>
    <p:sldId id="419" r:id="rId8"/>
    <p:sldId id="395" r:id="rId9"/>
    <p:sldId id="420" r:id="rId10"/>
    <p:sldId id="421" r:id="rId11"/>
    <p:sldId id="422" r:id="rId12"/>
    <p:sldId id="423" r:id="rId13"/>
    <p:sldId id="424" r:id="rId14"/>
    <p:sldId id="698" r:id="rId15"/>
    <p:sldId id="694" r:id="rId16"/>
    <p:sldId id="426" r:id="rId17"/>
    <p:sldId id="402" r:id="rId18"/>
    <p:sldId id="406" r:id="rId19"/>
    <p:sldId id="407" r:id="rId20"/>
    <p:sldId id="686" r:id="rId21"/>
    <p:sldId id="408" r:id="rId22"/>
    <p:sldId id="443" r:id="rId23"/>
    <p:sldId id="697" r:id="rId24"/>
    <p:sldId id="524" r:id="rId25"/>
    <p:sldId id="568" r:id="rId26"/>
    <p:sldId id="685" r:id="rId27"/>
    <p:sldId id="696" r:id="rId28"/>
    <p:sldId id="528" r:id="rId29"/>
    <p:sldId id="504" r:id="rId30"/>
    <p:sldId id="529" r:id="rId31"/>
    <p:sldId id="551" r:id="rId32"/>
    <p:sldId id="487" r:id="rId33"/>
    <p:sldId id="489" r:id="rId34"/>
    <p:sldId id="488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4" autoAdjust="0"/>
    <p:restoredTop sz="94177" autoAdjust="0"/>
  </p:normalViewPr>
  <p:slideViewPr>
    <p:cSldViewPr>
      <p:cViewPr varScale="1">
        <p:scale>
          <a:sx n="105" d="100"/>
          <a:sy n="105" d="100"/>
        </p:scale>
        <p:origin x="117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8/20/2025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8/20/2025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0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21.png"/><Relationship Id="rId3" Type="http://schemas.openxmlformats.org/officeDocument/2006/relationships/image" Target="../media/image200.png"/><Relationship Id="rId7" Type="http://schemas.openxmlformats.org/officeDocument/2006/relationships/image" Target="../media/image62.png"/><Relationship Id="rId12" Type="http://schemas.openxmlformats.org/officeDocument/2006/relationships/image" Target="../media/image11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101.png"/><Relationship Id="rId5" Type="http://schemas.openxmlformats.org/officeDocument/2006/relationships/image" Target="../media/image41.png"/><Relationship Id="rId15" Type="http://schemas.openxmlformats.org/officeDocument/2006/relationships/image" Target="../media/image141.png"/><Relationship Id="rId10" Type="http://schemas.openxmlformats.org/officeDocument/2006/relationships/image" Target="../media/image91.png"/><Relationship Id="rId4" Type="http://schemas.openxmlformats.org/officeDocument/2006/relationships/image" Target="../media/image32.png"/><Relationship Id="rId9" Type="http://schemas.openxmlformats.org/officeDocument/2006/relationships/image" Target="../media/image81.png"/><Relationship Id="rId14" Type="http://schemas.openxmlformats.org/officeDocument/2006/relationships/image" Target="../media/image13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9.png"/><Relationship Id="rId3" Type="http://schemas.openxmlformats.org/officeDocument/2006/relationships/image" Target="../media/image7.png"/><Relationship Id="rId12" Type="http://schemas.openxmlformats.org/officeDocument/2006/relationships/image" Target="../media/image18.png"/><Relationship Id="rId2" Type="http://schemas.openxmlformats.org/officeDocument/2006/relationships/image" Target="../media/image6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36.png"/><Relationship Id="rId1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5.png"/><Relationship Id="rId3" Type="http://schemas.openxmlformats.org/officeDocument/2006/relationships/image" Target="../media/image7.png"/><Relationship Id="rId7" Type="http://schemas.openxmlformats.org/officeDocument/2006/relationships/image" Target="../media/image23.png"/><Relationship Id="rId12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14.pn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Relationship Id="rId1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0086" y="4499848"/>
            <a:ext cx="65532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8</a:t>
            </a:r>
            <a:endParaRPr lang="en-US" sz="2400" b="1" dirty="0">
              <a:solidFill>
                <a:srgbClr val="0070C0"/>
              </a:solidFill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lang="en-US" sz="1800" b="1" dirty="0">
                <a:solidFill>
                  <a:srgbClr val="7030A0"/>
                </a:solidFill>
              </a:rPr>
              <a:t>		      </a:t>
            </a:r>
            <a:r>
              <a:rPr lang="en-US" sz="2000" b="1" dirty="0">
                <a:solidFill>
                  <a:srgbClr val="7030A0"/>
                </a:solidFill>
              </a:rPr>
              <a:t>Greedy Paradigm - II</a:t>
            </a:r>
            <a:endParaRPr lang="en-US" sz="1800" b="1" dirty="0">
              <a:solidFill>
                <a:schemeClr val="tx1"/>
              </a:solidFill>
            </a:endParaRP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b="1" dirty="0">
                <a:solidFill>
                  <a:srgbClr val="7030A0"/>
                </a:solidFill>
              </a:rPr>
              <a:t>Job scheduling </a:t>
            </a:r>
            <a:r>
              <a:rPr lang="en-US" sz="1800" b="1" dirty="0">
                <a:solidFill>
                  <a:schemeClr val="tx1"/>
                </a:solidFill>
              </a:rPr>
              <a:t>problems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3062734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2060"/>
                </a:solidFill>
              </a:rPr>
              <a:t>                  CS345</a:t>
            </a:r>
            <a:endParaRPr 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494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Problem 1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8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Path</a:t>
            </a:r>
            <a:r>
              <a:rPr lang="en-US" sz="3200" dirty="0"/>
              <a:t> </a:t>
            </a:r>
            <a:r>
              <a:rPr lang="en-US" sz="3200" b="1" dirty="0"/>
              <a:t>to the </a:t>
            </a:r>
            <a:r>
              <a:rPr lang="en-US" sz="3200" b="1" dirty="0">
                <a:solidFill>
                  <a:srgbClr val="7030A0"/>
                </a:solidFill>
              </a:rPr>
              <a:t>solution</a:t>
            </a:r>
            <a:r>
              <a:rPr lang="en-US" sz="3200" b="1" dirty="0"/>
              <a:t> of a problem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0"/>
            <a:ext cx="3999710" cy="3185335"/>
          </a:xfrm>
        </p:spPr>
      </p:pic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030A0"/>
                </a:solidFill>
              </a:rPr>
              <a:t>Examples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7030A0"/>
                </a:solidFill>
              </a:rPr>
              <a:t>intuition/insight</a:t>
            </a:r>
          </a:p>
          <a:p>
            <a:pPr marL="0" indent="0" algn="ctr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7030A0"/>
                </a:solidFill>
              </a:rPr>
              <a:t>Strategy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6477000" y="2057400"/>
            <a:ext cx="381000" cy="609600"/>
          </a:xfrm>
          <a:prstGeom prst="down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6477000" y="2971800"/>
            <a:ext cx="381000" cy="609600"/>
          </a:xfrm>
          <a:prstGeom prst="down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rved Right Arrow 10"/>
          <p:cNvSpPr/>
          <p:nvPr/>
        </p:nvSpPr>
        <p:spPr>
          <a:xfrm rot="1994739">
            <a:off x="5508577" y="3628230"/>
            <a:ext cx="342628" cy="1506540"/>
          </a:xfrm>
          <a:prstGeom prst="curvedRightArrow">
            <a:avLst>
              <a:gd name="adj1" fmla="val 25000"/>
              <a:gd name="adj2" fmla="val 91153"/>
              <a:gd name="adj3" fmla="val 54058"/>
            </a:avLst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34000" y="4964668"/>
            <a:ext cx="1076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Failure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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43867" y="4964668"/>
            <a:ext cx="1723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Better Insight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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4" name="Curved Up Arrow 13"/>
          <p:cNvSpPr/>
          <p:nvPr/>
        </p:nvSpPr>
        <p:spPr>
          <a:xfrm>
            <a:off x="5679891" y="5334000"/>
            <a:ext cx="2321109" cy="685800"/>
          </a:xfrm>
          <a:prstGeom prst="curvedUp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urved Right Arrow 14"/>
          <p:cNvSpPr/>
          <p:nvPr/>
        </p:nvSpPr>
        <p:spPr>
          <a:xfrm rot="8023794">
            <a:off x="7470709" y="3482400"/>
            <a:ext cx="396619" cy="1569599"/>
          </a:xfrm>
          <a:prstGeom prst="curvedRightArrow">
            <a:avLst>
              <a:gd name="adj1" fmla="val 25000"/>
              <a:gd name="adj2" fmla="val 91153"/>
              <a:gd name="adj3" fmla="val 54058"/>
            </a:avLst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Down Arrow 15"/>
          <p:cNvSpPr/>
          <p:nvPr/>
        </p:nvSpPr>
        <p:spPr>
          <a:xfrm>
            <a:off x="6477000" y="6096000"/>
            <a:ext cx="676367" cy="457200"/>
          </a:xfrm>
          <a:prstGeom prst="down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238495" y="6488668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Success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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05000" y="5486400"/>
            <a:ext cx="12457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 formula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583668"/>
            <a:ext cx="196181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Have perseverance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2400" y="6107668"/>
            <a:ext cx="557678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But there is a </a:t>
            </a:r>
            <a:r>
              <a:rPr lang="en-US" b="1" dirty="0"/>
              <a:t>systematic approach</a:t>
            </a:r>
            <a:r>
              <a:rPr lang="en-US" dirty="0"/>
              <a:t> which usually works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36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uiExpand="1" build="p"/>
      <p:bldP spid="9" grpId="0" animBg="1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 animBg="1"/>
      <p:bldP spid="17" grpId="0"/>
      <p:bldP spid="19" grpId="0" animBg="1"/>
      <p:bldP spid="20" grpId="0" animBg="1"/>
      <p:bldP spid="2" grpId="0" animBg="1"/>
      <p:bldP spid="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 dirty="0"/>
              <a:t>Today’s lecture will demonstrate this approach </a:t>
            </a:r>
            <a:r>
              <a:rPr lang="en-US" sz="2800" b="1" dirty="0">
                <a:sym typeface="Wingdings" pitchFamily="2" charset="2"/>
              </a:rPr>
              <a:t></a:t>
            </a:r>
            <a:br>
              <a:rPr lang="en-US" sz="2800" b="1" dirty="0">
                <a:sym typeface="Wingdings" pitchFamily="2" charset="2"/>
              </a:rPr>
            </a:b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</a:rPr>
              <a:t>Problem :</a:t>
            </a:r>
            <a:r>
              <a:rPr lang="en-US" sz="2800" b="1" dirty="0">
                <a:solidFill>
                  <a:srgbClr val="7030A0"/>
                </a:solidFill>
              </a:rPr>
              <a:t> JOB Scheduling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Largest subset of non-overlapping job</a:t>
            </a:r>
          </a:p>
        </p:txBody>
      </p:sp>
    </p:spTree>
    <p:extLst>
      <p:ext uri="{BB962C8B-B14F-4D97-AF65-F5344CB8AC3E}">
        <p14:creationId xmlns:p14="http://schemas.microsoft.com/office/powerpoint/2010/main" val="678847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b="1" dirty="0">
                <a:solidFill>
                  <a:srgbClr val="7030A0"/>
                </a:solidFill>
              </a:rPr>
            </a:br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3600" b="1" dirty="0">
                <a:solidFill>
                  <a:srgbClr val="7030A0"/>
                </a:solidFill>
              </a:rPr>
              <a:t>A job scheduling problem</a:t>
            </a:r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3600" b="1" dirty="0">
                <a:solidFill>
                  <a:srgbClr val="7030A0"/>
                </a:solidFill>
              </a:rPr>
              <a:t> </a:t>
            </a:r>
            <a:endParaRPr lang="en-US" sz="28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/>
                  <a:t>INPUT: </a:t>
                </a:r>
              </a:p>
              <a:p>
                <a:r>
                  <a:rPr lang="en-US" sz="1800" dirty="0"/>
                  <a:t>A</a:t>
                </a:r>
                <a:r>
                  <a:rPr lang="en-US" sz="1800" b="1" dirty="0"/>
                  <a:t> </a:t>
                </a:r>
                <a:r>
                  <a:rPr lang="en-US" sz="1800" dirty="0"/>
                  <a:t>set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 jobs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800" dirty="0"/>
                  <a:t>,…,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1800" dirty="0"/>
                  <a:t>} </a:t>
                </a:r>
              </a:p>
              <a:p>
                <a:r>
                  <a:rPr lang="en-US" sz="1800" dirty="0"/>
                  <a:t>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/>
                  <a:t> is specified by two real numbers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	s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): start time of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	f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): finish time of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endParaRPr lang="en-US" sz="1800" dirty="0"/>
              </a:p>
              <a:p>
                <a:r>
                  <a:rPr lang="en-US" sz="1800" dirty="0"/>
                  <a:t>A single server 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Constraints</a:t>
                </a:r>
                <a:r>
                  <a:rPr lang="en-US" sz="1800" b="1" dirty="0"/>
                  <a:t>: </a:t>
                </a:r>
                <a:r>
                  <a:rPr lang="en-US" sz="1800" dirty="0"/>
                  <a:t> </a:t>
                </a:r>
              </a:p>
              <a:p>
                <a:r>
                  <a:rPr lang="en-US" sz="1800" dirty="0"/>
                  <a:t>Server can execute </a:t>
                </a:r>
                <a:r>
                  <a:rPr lang="en-US" sz="1800" u="sng" dirty="0"/>
                  <a:t>at most one job </a:t>
                </a:r>
                <a:r>
                  <a:rPr lang="en-US" sz="1800" dirty="0"/>
                  <a:t>at any moment of time.</a:t>
                </a:r>
              </a:p>
              <a:p>
                <a:r>
                  <a:rPr lang="en-US" sz="1800" b="1" dirty="0"/>
                  <a:t>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/>
                  <a:t>, if scheduled, has to be scheduled during  [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s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),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 f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)] only.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Aim</a:t>
                </a:r>
                <a:r>
                  <a:rPr lang="en-US" sz="1800" b="1" dirty="0"/>
                  <a:t>:</a:t>
                </a:r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dirty="0"/>
                  <a:t>To select the </a:t>
                </a:r>
                <a:r>
                  <a:rPr lang="en-US" sz="1800" b="1" dirty="0"/>
                  <a:t>largest </a:t>
                </a:r>
                <a:r>
                  <a:rPr lang="en-US" sz="1800" dirty="0"/>
                  <a:t>subset of </a:t>
                </a:r>
                <a:r>
                  <a:rPr lang="en-US" sz="1800" b="1" u="sng" dirty="0"/>
                  <a:t>non-overlapping</a:t>
                </a:r>
                <a:r>
                  <a:rPr lang="en-US" sz="1800" dirty="0"/>
                  <a:t> jobs.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  <a:blipFill>
                <a:blip r:embed="rId2"/>
                <a:stretch>
                  <a:fillRect l="-585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08398" y="238780"/>
            <a:ext cx="3011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Formal Description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2743200" y="4572000"/>
            <a:ext cx="41910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3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25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/>
                  <a:t>INPUT:  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1600" dirty="0"/>
                  <a:t>),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𝟖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𝟖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𝟔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𝟗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dirty="0"/>
                  <a:t>job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is said to be </a:t>
                </a:r>
                <a:r>
                  <a:rPr lang="en-US" sz="2000" b="1" dirty="0"/>
                  <a:t>non-overlapping</a:t>
                </a:r>
                <a:r>
                  <a:rPr lang="en-US" sz="2000" dirty="0"/>
                  <a:t> with job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if  </a:t>
                </a:r>
                <a:r>
                  <a:rPr lang="en-US" sz="2000" b="1" dirty="0"/>
                  <a:t>[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),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b="1" dirty="0"/>
                  <a:t>]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rgbClr val="006C31"/>
                    </a:solidFill>
                    <a:latin typeface="Cambria Math"/>
                    <a:ea typeface="Cambria Math"/>
                  </a:rPr>
                  <a:t>∩</a:t>
                </a:r>
                <a:r>
                  <a:rPr lang="en-US" sz="2000" b="1" dirty="0"/>
                  <a:t>[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dirty="0"/>
                  <a:t>),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b="1" dirty="0"/>
                  <a:t>]</a:t>
                </a:r>
                <a:r>
                  <a:rPr lang="en-US" sz="2000" dirty="0"/>
                  <a:t> </a:t>
                </a:r>
                <a:r>
                  <a:rPr lang="en-US" sz="2000" b="1" dirty="0"/>
                  <a:t>= </a:t>
                </a:r>
                <a:r>
                  <a:rPr lang="en-US" sz="2000" b="1" dirty="0">
                    <a:solidFill>
                      <a:srgbClr val="0070C0"/>
                    </a:solidFill>
                    <a:latin typeface="Cambria Math"/>
                    <a:ea typeface="Cambria Math"/>
                  </a:rPr>
                  <a:t>∅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990600" y="3886200"/>
            <a:ext cx="6629400" cy="152400"/>
            <a:chOff x="990600" y="3810000"/>
            <a:chExt cx="6629400" cy="1524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990600" y="3886200"/>
              <a:ext cx="6629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981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9718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9624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48768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5791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66294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74676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219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1066800" y="3962400"/>
            <a:ext cx="6569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0            1                  2               3               4                5              6             7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1981200" y="3048000"/>
            <a:ext cx="4114800" cy="685800"/>
            <a:chOff x="1981200" y="2971800"/>
            <a:chExt cx="4114800" cy="68580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1981200" y="3429000"/>
              <a:ext cx="9906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09800" y="3276600"/>
              <a:ext cx="15240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124200" y="3429000"/>
              <a:ext cx="8382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3962400" y="2971800"/>
              <a:ext cx="1828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4724400" y="3124200"/>
              <a:ext cx="533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4191000" y="3276600"/>
              <a:ext cx="8001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5181600" y="3276600"/>
              <a:ext cx="914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2743200" y="3657600"/>
              <a:ext cx="26670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3733800" y="838200"/>
            <a:ext cx="1269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Example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55086" y="4495800"/>
            <a:ext cx="573631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It makes sense to work with pictures than these numbers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  <p:sp>
        <p:nvSpPr>
          <p:cNvPr id="28" name="Down Ribbon 27"/>
          <p:cNvSpPr/>
          <p:nvPr/>
        </p:nvSpPr>
        <p:spPr>
          <a:xfrm>
            <a:off x="2209800" y="5867400"/>
            <a:ext cx="4419600" cy="6888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Try to find solution for the above example.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62238" y="5181600"/>
            <a:ext cx="2919761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75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4" grpId="0"/>
      <p:bldP spid="7" grpId="0"/>
      <p:bldP spid="5" grpId="0" animBg="1"/>
      <p:bldP spid="5" grpId="1" animBg="1"/>
      <p:bldP spid="28" grpId="0" animBg="1"/>
      <p:bldP spid="28" grpId="1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3600" b="1" dirty="0">
                <a:solidFill>
                  <a:srgbClr val="7030A0"/>
                </a:solidFill>
              </a:rPr>
              <a:t> </a:t>
            </a:r>
            <a:endParaRPr lang="en-US" sz="20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/>
                  <a:t>INPUT:  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1600" dirty="0"/>
                  <a:t>),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𝟖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𝟖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𝟔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𝟗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job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is said to be </a:t>
                </a:r>
                <a:r>
                  <a:rPr lang="en-US" sz="2000" b="1" dirty="0"/>
                  <a:t>non-overlapping</a:t>
                </a:r>
                <a:r>
                  <a:rPr lang="en-US" sz="2000" dirty="0"/>
                  <a:t> with job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if  </a:t>
                </a:r>
                <a:r>
                  <a:rPr lang="en-US" sz="2000" b="1" dirty="0"/>
                  <a:t>[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),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b="1" dirty="0"/>
                  <a:t>]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rgbClr val="006C31"/>
                    </a:solidFill>
                    <a:latin typeface="Cambria Math"/>
                    <a:ea typeface="Cambria Math"/>
                  </a:rPr>
                  <a:t>∩</a:t>
                </a:r>
                <a:r>
                  <a:rPr lang="en-US" sz="2000" b="1" dirty="0"/>
                  <a:t>[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dirty="0"/>
                  <a:t>),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b="1" dirty="0"/>
                  <a:t>]</a:t>
                </a:r>
                <a:r>
                  <a:rPr lang="en-US" sz="2000" dirty="0"/>
                  <a:t> </a:t>
                </a:r>
                <a:r>
                  <a:rPr lang="en-US" sz="2000" b="1" dirty="0"/>
                  <a:t>= </a:t>
                </a:r>
                <a:r>
                  <a:rPr lang="en-US" sz="2000" b="1" dirty="0">
                    <a:solidFill>
                      <a:srgbClr val="0070C0"/>
                    </a:solidFill>
                    <a:latin typeface="Cambria Math"/>
                    <a:ea typeface="Cambria Math"/>
                  </a:rPr>
                  <a:t>∅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47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990600" y="3886200"/>
            <a:ext cx="6629400" cy="152400"/>
            <a:chOff x="990600" y="3810000"/>
            <a:chExt cx="6629400" cy="1524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990600" y="3886200"/>
              <a:ext cx="6629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981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9718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9624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48768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5791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66294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74676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219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1066800" y="3962400"/>
            <a:ext cx="6569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0            1                  2               3               4                5              6             7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981200" y="3505200"/>
            <a:ext cx="990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209800" y="3352800"/>
            <a:ext cx="15240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124200" y="3505200"/>
            <a:ext cx="838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962400" y="3048000"/>
            <a:ext cx="18288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4724400" y="3200400"/>
            <a:ext cx="5334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191000" y="3352800"/>
            <a:ext cx="800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5181600" y="3352800"/>
            <a:ext cx="914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2743200" y="3733800"/>
            <a:ext cx="26670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loud Callout 4"/>
          <p:cNvSpPr/>
          <p:nvPr/>
        </p:nvSpPr>
        <p:spPr>
          <a:xfrm>
            <a:off x="3810000" y="4495800"/>
            <a:ext cx="3352800" cy="1371600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strategy come to your mind?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3800" y="838200"/>
            <a:ext cx="1269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Example</a:t>
            </a: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17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any problem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Choose a strategy based on some intuition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Transform the strategy into an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2514600" y="2514600"/>
            <a:ext cx="381000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09218" y="2438400"/>
            <a:ext cx="10986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Try to prove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correctness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of the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algorithm</a:t>
            </a:r>
          </a:p>
        </p:txBody>
      </p:sp>
      <p:sp>
        <p:nvSpPr>
          <p:cNvPr id="7" name="Down Arrow 6"/>
          <p:cNvSpPr/>
          <p:nvPr/>
        </p:nvSpPr>
        <p:spPr>
          <a:xfrm>
            <a:off x="5029200" y="2514600"/>
            <a:ext cx="381000" cy="978408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9047" y="2667000"/>
            <a:ext cx="1283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Try to design a </a:t>
            </a:r>
          </a:p>
          <a:p>
            <a:r>
              <a:rPr lang="en-US" sz="1400" dirty="0" err="1">
                <a:solidFill>
                  <a:srgbClr val="C00000"/>
                </a:solidFill>
              </a:rPr>
              <a:t>conterexample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2514600" y="3898392"/>
            <a:ext cx="381000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5029200" y="3822192"/>
            <a:ext cx="381000" cy="978408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4" name="Down Ribbon 13"/>
          <p:cNvSpPr/>
          <p:nvPr/>
        </p:nvSpPr>
        <p:spPr>
          <a:xfrm>
            <a:off x="2209800" y="5330952"/>
            <a:ext cx="3773222" cy="9174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Stop as soon as either of these goals is reached</a:t>
            </a:r>
          </a:p>
        </p:txBody>
      </p:sp>
    </p:spTree>
    <p:extLst>
      <p:ext uri="{BB962C8B-B14F-4D97-AF65-F5344CB8AC3E}">
        <p14:creationId xmlns:p14="http://schemas.microsoft.com/office/powerpoint/2010/main" val="165211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/>
      <p:bldP spid="7" grpId="0" animBg="1"/>
      <p:bldP spid="8" grpId="0"/>
      <p:bldP spid="10" grpId="0" animBg="1"/>
      <p:bldP spid="12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7630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It might be better to assign jobs as early as possible so as </a:t>
            </a:r>
            <a:r>
              <a:rPr lang="en-US" sz="1800" b="1" dirty="0"/>
              <a:t>to make optimum use of server</a:t>
            </a:r>
            <a:r>
              <a:rPr lang="en-US" sz="1800" dirty="0"/>
              <a:t>.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209800" y="3200400"/>
            <a:ext cx="3200400" cy="304800"/>
            <a:chOff x="2209800" y="3200400"/>
            <a:chExt cx="3200400" cy="30480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2209800" y="3352800"/>
              <a:ext cx="1295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590800" y="3505200"/>
              <a:ext cx="2438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876800" y="3200400"/>
              <a:ext cx="533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2286000" y="838200"/>
            <a:ext cx="4793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1: </a:t>
            </a:r>
            <a:r>
              <a:rPr lang="en-US" b="1" dirty="0"/>
              <a:t>Select the </a:t>
            </a:r>
            <a:r>
              <a:rPr lang="en-US" b="1" dirty="0">
                <a:solidFill>
                  <a:srgbClr val="C00000"/>
                </a:solidFill>
              </a:rPr>
              <a:t>earliest start time </a:t>
            </a:r>
            <a:r>
              <a:rPr lang="en-US" b="1" dirty="0"/>
              <a:t>job</a:t>
            </a:r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2209800" y="3200400"/>
            <a:ext cx="3200400" cy="152400"/>
            <a:chOff x="2362200" y="3429000"/>
            <a:chExt cx="3200400" cy="152400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2362200" y="3581400"/>
              <a:ext cx="12954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5029200" y="3429000"/>
              <a:ext cx="5334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Down Ribbon 24"/>
          <p:cNvSpPr/>
          <p:nvPr/>
        </p:nvSpPr>
        <p:spPr>
          <a:xfrm>
            <a:off x="1981200" y="4419600"/>
            <a:ext cx="6400800" cy="11430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When one fails to prove the correctness of this strategy, one should search for a counterexample. Can you transform the above example into a counterexample ?</a:t>
            </a:r>
          </a:p>
        </p:txBody>
      </p:sp>
    </p:spTree>
    <p:extLst>
      <p:ext uri="{BB962C8B-B14F-4D97-AF65-F5344CB8AC3E}">
        <p14:creationId xmlns:p14="http://schemas.microsoft.com/office/powerpoint/2010/main" val="3296693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/>
      <p:bldP spid="25" grpId="0" animBg="1"/>
      <p:bldP spid="2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7630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cxnSp>
        <p:nvCxnSpPr>
          <p:cNvPr id="16" name="Straight Connector 15"/>
          <p:cNvCxnSpPr/>
          <p:nvPr/>
        </p:nvCxnSpPr>
        <p:spPr>
          <a:xfrm>
            <a:off x="2209800" y="3352800"/>
            <a:ext cx="29337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590800" y="3505200"/>
            <a:ext cx="9144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876800" y="3200400"/>
            <a:ext cx="5334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00" y="838200"/>
            <a:ext cx="4793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1: </a:t>
            </a:r>
            <a:r>
              <a:rPr lang="en-US" b="1" dirty="0"/>
              <a:t>Select the </a:t>
            </a:r>
            <a:r>
              <a:rPr lang="en-US" b="1" dirty="0">
                <a:solidFill>
                  <a:srgbClr val="C00000"/>
                </a:solidFill>
              </a:rPr>
              <a:t>earliest start time </a:t>
            </a:r>
            <a:r>
              <a:rPr lang="en-US" b="1" dirty="0"/>
              <a:t>job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04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7630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cxnSp>
        <p:nvCxnSpPr>
          <p:cNvPr id="16" name="Straight Connector 15"/>
          <p:cNvCxnSpPr/>
          <p:nvPr/>
        </p:nvCxnSpPr>
        <p:spPr>
          <a:xfrm>
            <a:off x="2209800" y="3352800"/>
            <a:ext cx="29337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590800" y="3505200"/>
            <a:ext cx="914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876800" y="3200400"/>
            <a:ext cx="533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own Ribbon 20"/>
          <p:cNvSpPr/>
          <p:nvPr/>
        </p:nvSpPr>
        <p:spPr>
          <a:xfrm>
            <a:off x="2895600" y="4610100"/>
            <a:ext cx="3200400" cy="7239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counterexample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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86000" y="838200"/>
            <a:ext cx="4793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1: </a:t>
            </a:r>
            <a:r>
              <a:rPr lang="en-US" b="1" dirty="0"/>
              <a:t>Select the </a:t>
            </a:r>
            <a:r>
              <a:rPr lang="en-US" b="1" dirty="0">
                <a:solidFill>
                  <a:srgbClr val="C00000"/>
                </a:solidFill>
              </a:rPr>
              <a:t>earliest start time </a:t>
            </a:r>
            <a:r>
              <a:rPr lang="en-US" b="1" dirty="0"/>
              <a:t>job</a:t>
            </a:r>
            <a:endParaRPr lang="en-US" dirty="0"/>
          </a:p>
        </p:txBody>
      </p:sp>
      <p:sp>
        <p:nvSpPr>
          <p:cNvPr id="23" name="Down Ribbon 22"/>
          <p:cNvSpPr/>
          <p:nvPr/>
        </p:nvSpPr>
        <p:spPr>
          <a:xfrm>
            <a:off x="1676399" y="4495800"/>
            <a:ext cx="5959827" cy="12192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Instead of getting disappointed, try to realize that this counterexample points towards some other strategy which might work.</a:t>
            </a:r>
          </a:p>
        </p:txBody>
      </p:sp>
    </p:spTree>
    <p:extLst>
      <p:ext uri="{BB962C8B-B14F-4D97-AF65-F5344CB8AC3E}">
        <p14:creationId xmlns:p14="http://schemas.microsoft.com/office/powerpoint/2010/main" val="598304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4" grpId="0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7630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Such a job will make </a:t>
            </a:r>
            <a:r>
              <a:rPr lang="en-US" sz="1800" b="1" dirty="0"/>
              <a:t>least use of the server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 this</a:t>
            </a:r>
            <a:r>
              <a:rPr lang="en-US" sz="1800" dirty="0"/>
              <a:t> might lead to larger number of jobs to be executed 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819400" y="2819400"/>
            <a:ext cx="3429000" cy="381000"/>
            <a:chOff x="2819400" y="2819400"/>
            <a:chExt cx="3429000" cy="38100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2819400" y="2819400"/>
              <a:ext cx="27432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29200" y="2971800"/>
              <a:ext cx="12192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114800" y="3200400"/>
              <a:ext cx="533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1981200" y="990600"/>
            <a:ext cx="5243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2: </a:t>
            </a:r>
            <a:r>
              <a:rPr lang="en-US" b="1" dirty="0"/>
              <a:t>Select the job with </a:t>
            </a:r>
            <a:r>
              <a:rPr lang="en-US" b="1" dirty="0">
                <a:solidFill>
                  <a:srgbClr val="C00000"/>
                </a:solidFill>
              </a:rPr>
              <a:t>smallest duration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4114800" y="2971800"/>
            <a:ext cx="2133600" cy="228600"/>
            <a:chOff x="4267200" y="3124200"/>
            <a:chExt cx="2133600" cy="228600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5181600" y="3124200"/>
              <a:ext cx="12192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267200" y="3352800"/>
              <a:ext cx="5334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Down Ribbon 26"/>
          <p:cNvSpPr/>
          <p:nvPr/>
        </p:nvSpPr>
        <p:spPr>
          <a:xfrm>
            <a:off x="1981200" y="4267200"/>
            <a:ext cx="7086600" cy="10668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When one fails to prove the correctness of this strategy, one should search for a counterexample. Can you transform the above example into a counterexample ?</a:t>
            </a:r>
          </a:p>
        </p:txBody>
      </p:sp>
    </p:spTree>
    <p:extLst>
      <p:ext uri="{BB962C8B-B14F-4D97-AF65-F5344CB8AC3E}">
        <p14:creationId xmlns:p14="http://schemas.microsoft.com/office/powerpoint/2010/main" val="201005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3" grpId="0"/>
      <p:bldP spid="27" grpId="0" animBg="1"/>
      <p:bldP spid="2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7630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Such a job will make </a:t>
            </a:r>
            <a:r>
              <a:rPr lang="en-US" sz="1800" b="1" dirty="0"/>
              <a:t>least use of the server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 this</a:t>
            </a:r>
            <a:r>
              <a:rPr lang="en-US" sz="1800" dirty="0"/>
              <a:t> might lead to larger number of jobs to be executed 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819400" y="2819400"/>
            <a:ext cx="3429000" cy="381000"/>
            <a:chOff x="2819400" y="2819400"/>
            <a:chExt cx="3429000" cy="38100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2819400" y="2819400"/>
              <a:ext cx="13716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4572000" y="2971800"/>
              <a:ext cx="1676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114800" y="3200400"/>
              <a:ext cx="533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1981200" y="990600"/>
            <a:ext cx="5243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2: </a:t>
            </a:r>
            <a:r>
              <a:rPr lang="en-US" b="1" dirty="0"/>
              <a:t>Select the job with </a:t>
            </a:r>
            <a:r>
              <a:rPr lang="en-US" b="1" dirty="0">
                <a:solidFill>
                  <a:srgbClr val="C00000"/>
                </a:solidFill>
              </a:rPr>
              <a:t>smallest duration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3" name="Down Ribbon 22"/>
          <p:cNvSpPr/>
          <p:nvPr/>
        </p:nvSpPr>
        <p:spPr>
          <a:xfrm>
            <a:off x="2895600" y="4419600"/>
            <a:ext cx="3200400" cy="7239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counterexample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</a:t>
            </a: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819400" y="2819400"/>
            <a:ext cx="3429000" cy="152400"/>
            <a:chOff x="2971800" y="2971800"/>
            <a:chExt cx="3429000" cy="152400"/>
          </a:xfrm>
        </p:grpSpPr>
        <p:cxnSp>
          <p:nvCxnSpPr>
            <p:cNvPr id="24" name="Straight Connector 23"/>
            <p:cNvCxnSpPr/>
            <p:nvPr/>
          </p:nvCxnSpPr>
          <p:spPr>
            <a:xfrm>
              <a:off x="2971800" y="2971800"/>
              <a:ext cx="13716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4724400" y="3124200"/>
              <a:ext cx="16764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Down Ribbon 25"/>
          <p:cNvSpPr/>
          <p:nvPr/>
        </p:nvSpPr>
        <p:spPr>
          <a:xfrm>
            <a:off x="1600200" y="4267200"/>
            <a:ext cx="5943601" cy="10668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Instead of getting disappointed, try to realize that this counterexample points towards some other strategy which might work.</a:t>
            </a:r>
          </a:p>
        </p:txBody>
      </p:sp>
    </p:spTree>
    <p:extLst>
      <p:ext uri="{BB962C8B-B14F-4D97-AF65-F5344CB8AC3E}">
        <p14:creationId xmlns:p14="http://schemas.microsoft.com/office/powerpoint/2010/main" val="3584242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1" grpId="0"/>
      <p:bldP spid="23" grpId="0" animBg="1"/>
      <p:bldP spid="23" grpId="1" animBg="1"/>
      <p:bldP spid="26" grpId="0" animBg="1"/>
      <p:bldP spid="2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159EB-8A10-0521-11D1-C34190CC8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E3FF-93D9-11B8-8D89-2A3B1CD9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2BC9C-AFCA-034D-F0B8-F0D8FC3F1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87630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Selecting such a job will result in </a:t>
            </a:r>
            <a:r>
              <a:rPr lang="en-US" sz="1800" b="1" dirty="0"/>
              <a:t>least number of other jobs to be discarded</a:t>
            </a:r>
            <a:r>
              <a:rPr lang="en-US" sz="1800" dirty="0"/>
              <a:t>.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D295C-ACD3-9453-F666-51A6A07BB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5C7B45A-03FC-576C-428E-1A1872BABEF5}"/>
              </a:ext>
            </a:extLst>
          </p:cNvPr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8571259-6099-E33D-1A45-77686B7F8971}"/>
                </a:ext>
              </a:extLst>
            </p:cNvPr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89CFC018-5EB0-EA87-E846-A3D03EC8CB22}"/>
                  </a:ext>
                </a:extLst>
              </p:cNvPr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51A03BC4-7B2C-7E98-0169-AF13D3228019}"/>
                  </a:ext>
                </a:extLst>
              </p:cNvPr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F45AB57D-CD10-B8E4-AF87-629F87828464}"/>
                  </a:ext>
                </a:extLst>
              </p:cNvPr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4E16382-DCAD-E7A5-0603-631837A62C88}"/>
                  </a:ext>
                </a:extLst>
              </p:cNvPr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6B42717-B8E7-2B65-0A15-5AFA6E6A8DC3}"/>
                  </a:ext>
                </a:extLst>
              </p:cNvPr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804381E-E5D8-09D1-21BC-FDB9081CBD27}"/>
                  </a:ext>
                </a:extLst>
              </p:cNvPr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EE739FA-E37E-E0CF-8E3D-26DB1A5719E4}"/>
                  </a:ext>
                </a:extLst>
              </p:cNvPr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F1AE2AC-5D54-13B8-C5FD-B8BDB4069AA2}"/>
                  </a:ext>
                </a:extLst>
              </p:cNvPr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C9D20F2-10B7-84C3-1BE3-9D636D3EE97B}"/>
                  </a:ext>
                </a:extLst>
              </p:cNvPr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512597-B564-40E2-3951-F6FF7C1F7970}"/>
                </a:ext>
              </a:extLst>
            </p:cNvPr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5810C9B-885D-4747-237E-F38DACEFBDFC}"/>
              </a:ext>
            </a:extLst>
          </p:cNvPr>
          <p:cNvGrpSpPr/>
          <p:nvPr/>
        </p:nvGrpSpPr>
        <p:grpSpPr>
          <a:xfrm>
            <a:off x="1981200" y="2971800"/>
            <a:ext cx="4724400" cy="381000"/>
            <a:chOff x="1981200" y="2971800"/>
            <a:chExt cx="4724400" cy="38100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95E20C8-E9DC-A999-1AAA-4001C6EA94F8}"/>
                </a:ext>
              </a:extLst>
            </p:cNvPr>
            <p:cNvCxnSpPr/>
            <p:nvPr/>
          </p:nvCxnSpPr>
          <p:spPr>
            <a:xfrm>
              <a:off x="2819400" y="33528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6559DFA-DB48-780C-DCF3-84382DD6A54E}"/>
                </a:ext>
              </a:extLst>
            </p:cNvPr>
            <p:cNvGrpSpPr/>
            <p:nvPr/>
          </p:nvGrpSpPr>
          <p:grpSpPr>
            <a:xfrm>
              <a:off x="1981200" y="2971800"/>
              <a:ext cx="4724400" cy="381000"/>
              <a:chOff x="1981200" y="2971800"/>
              <a:chExt cx="4724400" cy="381000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B0EDBE25-A5C1-EE0E-76F2-5D49CFC0A9D7}"/>
                  </a:ext>
                </a:extLst>
              </p:cNvPr>
              <p:cNvGrpSpPr/>
              <p:nvPr/>
            </p:nvGrpSpPr>
            <p:grpSpPr>
              <a:xfrm>
                <a:off x="1981200" y="2971800"/>
                <a:ext cx="4724400" cy="228600"/>
                <a:chOff x="1981200" y="2971800"/>
                <a:chExt cx="4724400" cy="228600"/>
              </a:xfrm>
            </p:grpSpPr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17ADE3CE-B8FE-D21E-46D3-0A75E4B3EA36}"/>
                    </a:ext>
                  </a:extLst>
                </p:cNvPr>
                <p:cNvCxnSpPr/>
                <p:nvPr/>
              </p:nvCxnSpPr>
              <p:spPr>
                <a:xfrm>
                  <a:off x="32766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28292304-C20A-FCBB-EC40-F0A98C016AD5}"/>
                    </a:ext>
                  </a:extLst>
                </p:cNvPr>
                <p:cNvCxnSpPr/>
                <p:nvPr/>
              </p:nvCxnSpPr>
              <p:spPr>
                <a:xfrm>
                  <a:off x="44958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30504E75-EF3A-0C7D-E8F9-7E32F8739853}"/>
                    </a:ext>
                  </a:extLst>
                </p:cNvPr>
                <p:cNvCxnSpPr/>
                <p:nvPr/>
              </p:nvCxnSpPr>
              <p:spPr>
                <a:xfrm>
                  <a:off x="4114800" y="3200400"/>
                  <a:ext cx="5334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B40E3CFE-20F7-42DC-28AD-0982AE0F6FBB}"/>
                    </a:ext>
                  </a:extLst>
                </p:cNvPr>
                <p:cNvCxnSpPr/>
                <p:nvPr/>
              </p:nvCxnSpPr>
              <p:spPr>
                <a:xfrm>
                  <a:off x="19812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47308F1F-21D5-125F-33D8-64EDBA404305}"/>
                    </a:ext>
                  </a:extLst>
                </p:cNvPr>
                <p:cNvCxnSpPr/>
                <p:nvPr/>
              </p:nvCxnSpPr>
              <p:spPr>
                <a:xfrm>
                  <a:off x="57150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E425C523-EDDB-5DA4-EB6A-BFE0F76ED128}"/>
                    </a:ext>
                  </a:extLst>
                </p:cNvPr>
                <p:cNvCxnSpPr/>
                <p:nvPr/>
              </p:nvCxnSpPr>
              <p:spPr>
                <a:xfrm>
                  <a:off x="2819400" y="3200400"/>
                  <a:ext cx="6858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7EEB8C4E-EA98-F1CF-2B93-93D0F58FCDCC}"/>
                    </a:ext>
                  </a:extLst>
                </p:cNvPr>
                <p:cNvCxnSpPr/>
                <p:nvPr/>
              </p:nvCxnSpPr>
              <p:spPr>
                <a:xfrm>
                  <a:off x="5334000" y="3200400"/>
                  <a:ext cx="6858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96CA6F8-807A-158C-7B38-8106736DBBE5}"/>
                  </a:ext>
                </a:extLst>
              </p:cNvPr>
              <p:cNvCxnSpPr/>
              <p:nvPr/>
            </p:nvCxnSpPr>
            <p:spPr>
              <a:xfrm>
                <a:off x="5334000" y="3352800"/>
                <a:ext cx="685800" cy="0"/>
              </a:xfrm>
              <a:prstGeom prst="line">
                <a:avLst/>
              </a:prstGeom>
              <a:ln w="19050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764964F-923A-ECD5-C3D1-340BD5C2FD35}"/>
                  </a:ext>
                </a:extLst>
              </p:cNvPr>
              <p:cNvCxnSpPr/>
              <p:nvPr/>
            </p:nvCxnSpPr>
            <p:spPr>
              <a:xfrm>
                <a:off x="4114800" y="3352800"/>
                <a:ext cx="533400" cy="0"/>
              </a:xfrm>
              <a:prstGeom prst="line">
                <a:avLst/>
              </a:prstGeom>
              <a:ln w="19050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59C92E8F-8037-7827-C16B-A534D04EC916}"/>
              </a:ext>
            </a:extLst>
          </p:cNvPr>
          <p:cNvSpPr txBox="1"/>
          <p:nvPr/>
        </p:nvSpPr>
        <p:spPr>
          <a:xfrm>
            <a:off x="1981200" y="990600"/>
            <a:ext cx="57223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3: </a:t>
            </a:r>
            <a:r>
              <a:rPr lang="en-US" b="1" dirty="0"/>
              <a:t>Select the job with </a:t>
            </a:r>
            <a:r>
              <a:rPr lang="en-US" b="1" dirty="0">
                <a:solidFill>
                  <a:srgbClr val="C00000"/>
                </a:solidFill>
              </a:rPr>
              <a:t>smallest no. of overlaps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D1D781C-26F9-EDE4-5469-095426D24DD9}"/>
              </a:ext>
            </a:extLst>
          </p:cNvPr>
          <p:cNvGrpSpPr/>
          <p:nvPr/>
        </p:nvGrpSpPr>
        <p:grpSpPr>
          <a:xfrm>
            <a:off x="1981200" y="2971800"/>
            <a:ext cx="4724400" cy="0"/>
            <a:chOff x="2133600" y="3124200"/>
            <a:chExt cx="4724400" cy="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7F2EA4B-EB22-F6A7-AD84-7B9D2320C37C}"/>
                </a:ext>
              </a:extLst>
            </p:cNvPr>
            <p:cNvCxnSpPr/>
            <p:nvPr/>
          </p:nvCxnSpPr>
          <p:spPr>
            <a:xfrm>
              <a:off x="3429000" y="3124200"/>
              <a:ext cx="9906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916026D-D098-86B8-35A2-DD289A3771EC}"/>
                </a:ext>
              </a:extLst>
            </p:cNvPr>
            <p:cNvCxnSpPr/>
            <p:nvPr/>
          </p:nvCxnSpPr>
          <p:spPr>
            <a:xfrm>
              <a:off x="4648200" y="3124200"/>
              <a:ext cx="9906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F6425E4-A74E-0E4D-D6AD-A02FE076E2F4}"/>
                </a:ext>
              </a:extLst>
            </p:cNvPr>
            <p:cNvCxnSpPr/>
            <p:nvPr/>
          </p:nvCxnSpPr>
          <p:spPr>
            <a:xfrm>
              <a:off x="2133600" y="3124200"/>
              <a:ext cx="9906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4AD6B-AB35-0DCF-9C2B-66E41E169E71}"/>
                </a:ext>
              </a:extLst>
            </p:cNvPr>
            <p:cNvCxnSpPr/>
            <p:nvPr/>
          </p:nvCxnSpPr>
          <p:spPr>
            <a:xfrm>
              <a:off x="5867400" y="3124200"/>
              <a:ext cx="9906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2377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E7B62-3473-3900-8707-0ECF70552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0A2CA-7BA2-06C9-090B-33F1C145C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3C8EE4-D862-754A-93A5-346B34E67A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763000" cy="5121275"/>
              </a:xfrm>
            </p:spPr>
            <p:txBody>
              <a:bodyPr/>
              <a:lstStyle/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Hint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Add a few more jobs so that we pick only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/>
                  <a:t> jobs with this strategy </a:t>
                </a:r>
              </a:p>
              <a:p>
                <a:pPr marL="0" indent="0">
                  <a:buNone/>
                </a:pPr>
                <a:r>
                  <a:rPr lang="en-US" sz="2000" dirty="0"/>
                  <a:t>although the optimal solution has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000" dirty="0"/>
                  <a:t> jobs.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3C8EE4-D862-754A-93A5-346B34E67A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763000" cy="5121275"/>
              </a:xfrm>
              <a:blipFill>
                <a:blip r:embed="rId2"/>
                <a:stretch>
                  <a:fillRect l="-695" b="-26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4A32C-4B4B-BBCC-C880-9D60C233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FA5DA65-8B28-6D01-E97C-EAAF5789C66D}"/>
              </a:ext>
            </a:extLst>
          </p:cNvPr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8432609-0CE0-3CE0-E473-8B3CCA8DCE90}"/>
                </a:ext>
              </a:extLst>
            </p:cNvPr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AA41AD56-4D9F-F68A-8DEC-7E63C64AF2E5}"/>
                  </a:ext>
                </a:extLst>
              </p:cNvPr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4099DA4D-96F4-DB08-8942-98606F7790AB}"/>
                  </a:ext>
                </a:extLst>
              </p:cNvPr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4FCAF41B-4A47-92BF-6D9A-82DD36116897}"/>
                  </a:ext>
                </a:extLst>
              </p:cNvPr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8FD40655-3F22-7685-2C75-535F816CC740}"/>
                  </a:ext>
                </a:extLst>
              </p:cNvPr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33AEB88A-EAA7-BECC-9F98-FC1004E45C6C}"/>
                  </a:ext>
                </a:extLst>
              </p:cNvPr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3AF03F4-5E9D-7910-B4CF-DDB81D8E7E2E}"/>
                  </a:ext>
                </a:extLst>
              </p:cNvPr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4BC1A0A-9B65-477E-37EA-86E0EECC5475}"/>
                  </a:ext>
                </a:extLst>
              </p:cNvPr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3FAC5DD-384C-0D8C-160C-AC396B716FC0}"/>
                  </a:ext>
                </a:extLst>
              </p:cNvPr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C5811066-0683-F636-9934-59D9154A1737}"/>
                  </a:ext>
                </a:extLst>
              </p:cNvPr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F80B078-42CE-86B5-E42D-33F064593C9B}"/>
                </a:ext>
              </a:extLst>
            </p:cNvPr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9C71BD3-8715-B7E7-FEED-FC18F6EE71F1}"/>
              </a:ext>
            </a:extLst>
          </p:cNvPr>
          <p:cNvGrpSpPr/>
          <p:nvPr/>
        </p:nvGrpSpPr>
        <p:grpSpPr>
          <a:xfrm>
            <a:off x="1981200" y="2971800"/>
            <a:ext cx="4724400" cy="381000"/>
            <a:chOff x="1981200" y="2971800"/>
            <a:chExt cx="4724400" cy="38100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0A92A98-4886-5938-1B8C-89B0284DF6EC}"/>
                </a:ext>
              </a:extLst>
            </p:cNvPr>
            <p:cNvCxnSpPr/>
            <p:nvPr/>
          </p:nvCxnSpPr>
          <p:spPr>
            <a:xfrm>
              <a:off x="2819400" y="33528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196EA8A-D446-A6B4-E78D-2661A2B22F25}"/>
                </a:ext>
              </a:extLst>
            </p:cNvPr>
            <p:cNvGrpSpPr/>
            <p:nvPr/>
          </p:nvGrpSpPr>
          <p:grpSpPr>
            <a:xfrm>
              <a:off x="1981200" y="2971800"/>
              <a:ext cx="4724400" cy="381000"/>
              <a:chOff x="1981200" y="2971800"/>
              <a:chExt cx="4724400" cy="381000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F1465A54-E612-AC02-D8BB-8E352C482AE8}"/>
                  </a:ext>
                </a:extLst>
              </p:cNvPr>
              <p:cNvGrpSpPr/>
              <p:nvPr/>
            </p:nvGrpSpPr>
            <p:grpSpPr>
              <a:xfrm>
                <a:off x="1981200" y="2971800"/>
                <a:ext cx="4724400" cy="228600"/>
                <a:chOff x="1981200" y="2971800"/>
                <a:chExt cx="4724400" cy="228600"/>
              </a:xfrm>
            </p:grpSpPr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26441334-5CDB-DAE3-2405-5870DAF7F8B3}"/>
                    </a:ext>
                  </a:extLst>
                </p:cNvPr>
                <p:cNvCxnSpPr/>
                <p:nvPr/>
              </p:nvCxnSpPr>
              <p:spPr>
                <a:xfrm>
                  <a:off x="32766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46D05E4C-8F55-0D6B-CEDE-1090E597E315}"/>
                    </a:ext>
                  </a:extLst>
                </p:cNvPr>
                <p:cNvCxnSpPr/>
                <p:nvPr/>
              </p:nvCxnSpPr>
              <p:spPr>
                <a:xfrm>
                  <a:off x="44958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875BE794-107A-49CA-A999-0A60865B913E}"/>
                    </a:ext>
                  </a:extLst>
                </p:cNvPr>
                <p:cNvCxnSpPr/>
                <p:nvPr/>
              </p:nvCxnSpPr>
              <p:spPr>
                <a:xfrm>
                  <a:off x="4114800" y="3200400"/>
                  <a:ext cx="5334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43F908E9-D16A-0BB4-BC1F-EB3B4F0B9ED8}"/>
                    </a:ext>
                  </a:extLst>
                </p:cNvPr>
                <p:cNvCxnSpPr/>
                <p:nvPr/>
              </p:nvCxnSpPr>
              <p:spPr>
                <a:xfrm>
                  <a:off x="19812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5CBA8FF4-B156-A192-F409-0AE7598C1A06}"/>
                    </a:ext>
                  </a:extLst>
                </p:cNvPr>
                <p:cNvCxnSpPr/>
                <p:nvPr/>
              </p:nvCxnSpPr>
              <p:spPr>
                <a:xfrm>
                  <a:off x="57150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7F9445CA-AC1A-A513-437F-151676F16635}"/>
                    </a:ext>
                  </a:extLst>
                </p:cNvPr>
                <p:cNvCxnSpPr/>
                <p:nvPr/>
              </p:nvCxnSpPr>
              <p:spPr>
                <a:xfrm>
                  <a:off x="2819400" y="3200400"/>
                  <a:ext cx="6858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79FC81BE-608F-8BBA-5E44-4C23699EE9B8}"/>
                    </a:ext>
                  </a:extLst>
                </p:cNvPr>
                <p:cNvCxnSpPr/>
                <p:nvPr/>
              </p:nvCxnSpPr>
              <p:spPr>
                <a:xfrm>
                  <a:off x="5334000" y="3200400"/>
                  <a:ext cx="6858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DEDBE71-9EA6-B781-B3EF-130691B0F677}"/>
                  </a:ext>
                </a:extLst>
              </p:cNvPr>
              <p:cNvCxnSpPr/>
              <p:nvPr/>
            </p:nvCxnSpPr>
            <p:spPr>
              <a:xfrm>
                <a:off x="5334000" y="3352800"/>
                <a:ext cx="685800" cy="0"/>
              </a:xfrm>
              <a:prstGeom prst="line">
                <a:avLst/>
              </a:prstGeom>
              <a:ln w="19050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803564C5-474F-EA7A-873C-2241421C93FC}"/>
                  </a:ext>
                </a:extLst>
              </p:cNvPr>
              <p:cNvCxnSpPr/>
              <p:nvPr/>
            </p:nvCxnSpPr>
            <p:spPr>
              <a:xfrm>
                <a:off x="4114800" y="3352800"/>
                <a:ext cx="533400" cy="0"/>
              </a:xfrm>
              <a:prstGeom prst="line">
                <a:avLst/>
              </a:prstGeom>
              <a:ln w="19050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424A09D6-4F6F-4500-8E17-A67DA4DB3383}"/>
              </a:ext>
            </a:extLst>
          </p:cNvPr>
          <p:cNvSpPr txBox="1"/>
          <p:nvPr/>
        </p:nvSpPr>
        <p:spPr>
          <a:xfrm>
            <a:off x="1981200" y="990600"/>
            <a:ext cx="57223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3: </a:t>
            </a:r>
            <a:r>
              <a:rPr lang="en-US" b="1" dirty="0"/>
              <a:t>Select the job with </a:t>
            </a:r>
            <a:r>
              <a:rPr lang="en-US" b="1" dirty="0">
                <a:solidFill>
                  <a:srgbClr val="C00000"/>
                </a:solidFill>
              </a:rPr>
              <a:t>smallest no. of overlaps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7" name="Down Ribbon 25">
            <a:extLst>
              <a:ext uri="{FF2B5EF4-FFF2-40B4-BE49-F238E27FC236}">
                <a16:creationId xmlns:a16="http://schemas.microsoft.com/office/drawing/2014/main" id="{50E1B795-1F84-32EE-6CE7-03D634BDACFC}"/>
              </a:ext>
            </a:extLst>
          </p:cNvPr>
          <p:cNvSpPr/>
          <p:nvPr/>
        </p:nvSpPr>
        <p:spPr>
          <a:xfrm>
            <a:off x="1600200" y="4267200"/>
            <a:ext cx="5943601" cy="10668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Give a counter example for this strategy. </a:t>
            </a:r>
          </a:p>
        </p:txBody>
      </p:sp>
    </p:spTree>
    <p:extLst>
      <p:ext uri="{BB962C8B-B14F-4D97-AF65-F5344CB8AC3E}">
        <p14:creationId xmlns:p14="http://schemas.microsoft.com/office/powerpoint/2010/main" val="3591797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75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7" grpId="0" animBg="1"/>
      <p:bldP spid="17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7630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2819400" y="3505200"/>
            <a:ext cx="3200400" cy="152400"/>
            <a:chOff x="2819400" y="3505200"/>
            <a:chExt cx="3200400" cy="152400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2819400" y="35052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2819400" y="36576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5334000" y="36576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5334000" y="35052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1981200" y="2971800"/>
            <a:ext cx="4724400" cy="381000"/>
            <a:chOff x="1981200" y="2971800"/>
            <a:chExt cx="4724400" cy="381000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819400" y="33528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/>
            <p:cNvGrpSpPr/>
            <p:nvPr/>
          </p:nvGrpSpPr>
          <p:grpSpPr>
            <a:xfrm>
              <a:off x="1981200" y="2971800"/>
              <a:ext cx="4724400" cy="381000"/>
              <a:chOff x="1981200" y="2971800"/>
              <a:chExt cx="4724400" cy="381000"/>
            </a:xfrm>
          </p:grpSpPr>
          <p:grpSp>
            <p:nvGrpSpPr>
              <p:cNvPr id="37" name="Group 36"/>
              <p:cNvGrpSpPr/>
              <p:nvPr/>
            </p:nvGrpSpPr>
            <p:grpSpPr>
              <a:xfrm>
                <a:off x="1981200" y="2971800"/>
                <a:ext cx="4724400" cy="228600"/>
                <a:chOff x="1981200" y="2971800"/>
                <a:chExt cx="4724400" cy="228600"/>
              </a:xfrm>
            </p:grpSpPr>
            <p:cxnSp>
              <p:nvCxnSpPr>
                <p:cNvPr id="16" name="Straight Connector 15"/>
                <p:cNvCxnSpPr/>
                <p:nvPr/>
              </p:nvCxnSpPr>
              <p:spPr>
                <a:xfrm>
                  <a:off x="32766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>
                  <a:off x="44958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4114800" y="3200400"/>
                  <a:ext cx="5334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>
                  <a:off x="19812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57150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>
                  <a:off x="2819400" y="3200400"/>
                  <a:ext cx="6858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>
                  <a:off x="5334000" y="3200400"/>
                  <a:ext cx="6858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Straight Connector 34"/>
              <p:cNvCxnSpPr/>
              <p:nvPr/>
            </p:nvCxnSpPr>
            <p:spPr>
              <a:xfrm>
                <a:off x="5334000" y="3352800"/>
                <a:ext cx="685800" cy="0"/>
              </a:xfrm>
              <a:prstGeom prst="line">
                <a:avLst/>
              </a:prstGeom>
              <a:ln w="19050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4114800" y="3352800"/>
                <a:ext cx="533400" cy="0"/>
              </a:xfrm>
              <a:prstGeom prst="line">
                <a:avLst/>
              </a:prstGeom>
              <a:ln w="19050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TextBox 45"/>
          <p:cNvSpPr txBox="1"/>
          <p:nvPr/>
        </p:nvSpPr>
        <p:spPr>
          <a:xfrm>
            <a:off x="1981200" y="990600"/>
            <a:ext cx="57223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3: </a:t>
            </a:r>
            <a:r>
              <a:rPr lang="en-US" b="1" dirty="0"/>
              <a:t>Select the job with </a:t>
            </a:r>
            <a:r>
              <a:rPr lang="en-US" b="1" dirty="0">
                <a:solidFill>
                  <a:srgbClr val="C00000"/>
                </a:solidFill>
              </a:rPr>
              <a:t>smallest no. of overlaps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4114800" y="3200400"/>
            <a:ext cx="5334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819400" y="3200400"/>
            <a:ext cx="6858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334000" y="3200400"/>
            <a:ext cx="6858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Down Ribbon 49"/>
          <p:cNvSpPr/>
          <p:nvPr/>
        </p:nvSpPr>
        <p:spPr>
          <a:xfrm>
            <a:off x="2895600" y="4648200"/>
            <a:ext cx="3200400" cy="7239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counterexample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04245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Selecting such a job will </a:t>
            </a:r>
            <a:r>
              <a:rPr lang="en-US" sz="1800" b="1" dirty="0"/>
              <a:t>free </a:t>
            </a:r>
            <a:r>
              <a:rPr lang="en-US" sz="1800" dirty="0"/>
              <a:t>the server </a:t>
            </a:r>
            <a:r>
              <a:rPr lang="en-US" sz="1800" b="1" dirty="0"/>
              <a:t>earliest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</a:t>
            </a:r>
            <a:r>
              <a:rPr lang="en-US" sz="1800" dirty="0"/>
              <a:t> hence more no. of jobs might get scheduled.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981200" y="990600"/>
            <a:ext cx="52357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4: </a:t>
            </a:r>
            <a:r>
              <a:rPr lang="en-US" b="1" dirty="0"/>
              <a:t>Select the job with </a:t>
            </a:r>
            <a:r>
              <a:rPr lang="en-US" b="1" dirty="0">
                <a:solidFill>
                  <a:srgbClr val="C00000"/>
                </a:solidFill>
              </a:rPr>
              <a:t>earliest finish time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219200" y="3048000"/>
            <a:ext cx="4495800" cy="609600"/>
            <a:chOff x="1219200" y="3048000"/>
            <a:chExt cx="4495800" cy="609600"/>
          </a:xfrm>
        </p:grpSpPr>
        <p:grpSp>
          <p:nvGrpSpPr>
            <p:cNvPr id="24" name="Group 23"/>
            <p:cNvGrpSpPr/>
            <p:nvPr/>
          </p:nvGrpSpPr>
          <p:grpSpPr>
            <a:xfrm>
              <a:off x="1219200" y="3048000"/>
              <a:ext cx="4495800" cy="304800"/>
              <a:chOff x="1219200" y="3048000"/>
              <a:chExt cx="4495800" cy="304800"/>
            </a:xfrm>
          </p:grpSpPr>
          <p:grpSp>
            <p:nvGrpSpPr>
              <p:cNvPr id="23" name="Group 22"/>
              <p:cNvGrpSpPr/>
              <p:nvPr/>
            </p:nvGrpSpPr>
            <p:grpSpPr>
              <a:xfrm>
                <a:off x="1219200" y="3048000"/>
                <a:ext cx="3657600" cy="304800"/>
                <a:chOff x="1219200" y="3048000"/>
                <a:chExt cx="3657600" cy="304800"/>
              </a:xfrm>
            </p:grpSpPr>
            <p:cxnSp>
              <p:nvCxnSpPr>
                <p:cNvPr id="38" name="Straight Connector 37"/>
                <p:cNvCxnSpPr/>
                <p:nvPr/>
              </p:nvCxnSpPr>
              <p:spPr>
                <a:xfrm>
                  <a:off x="2971800" y="3352800"/>
                  <a:ext cx="11430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>
                  <a:off x="1219200" y="3200400"/>
                  <a:ext cx="19812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>
                  <a:off x="2057400" y="3048000"/>
                  <a:ext cx="6858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>
                  <a:off x="4343400" y="3352800"/>
                  <a:ext cx="5334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Connector 52"/>
              <p:cNvCxnSpPr/>
              <p:nvPr/>
            </p:nvCxnSpPr>
            <p:spPr>
              <a:xfrm>
                <a:off x="3962400" y="3200400"/>
                <a:ext cx="1485900" cy="0"/>
              </a:xfrm>
              <a:prstGeom prst="line">
                <a:avLst/>
              </a:prstGeom>
              <a:ln w="19050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5181600" y="3352800"/>
                <a:ext cx="533400" cy="0"/>
              </a:xfrm>
              <a:prstGeom prst="line">
                <a:avLst/>
              </a:prstGeom>
              <a:ln w="19050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Straight Connector 26"/>
            <p:cNvCxnSpPr/>
            <p:nvPr/>
          </p:nvCxnSpPr>
          <p:spPr>
            <a:xfrm>
              <a:off x="3276600" y="36576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603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75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Selecting such a job will </a:t>
            </a:r>
            <a:r>
              <a:rPr lang="en-US" sz="1800" b="1" dirty="0"/>
              <a:t>free </a:t>
            </a:r>
            <a:r>
              <a:rPr lang="en-US" sz="1800" dirty="0"/>
              <a:t>the server </a:t>
            </a:r>
            <a:r>
              <a:rPr lang="en-US" sz="1800" b="1" dirty="0"/>
              <a:t>earliest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</a:t>
            </a:r>
            <a:r>
              <a:rPr lang="en-US" sz="1800" dirty="0"/>
              <a:t> hence more no. of jobs might get scheduled.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219200" y="3048000"/>
            <a:ext cx="4229100" cy="304800"/>
            <a:chOff x="1219200" y="3048000"/>
            <a:chExt cx="4229100" cy="304800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2971800" y="3352800"/>
              <a:ext cx="11430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219200" y="3200400"/>
              <a:ext cx="19812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962400" y="3200400"/>
              <a:ext cx="14859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057400" y="3048000"/>
              <a:ext cx="6858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4343400" y="3352800"/>
              <a:ext cx="5334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/>
          <p:cNvCxnSpPr/>
          <p:nvPr/>
        </p:nvCxnSpPr>
        <p:spPr>
          <a:xfrm>
            <a:off x="5181600" y="3352800"/>
            <a:ext cx="5334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Down Ribbon 17"/>
          <p:cNvSpPr/>
          <p:nvPr/>
        </p:nvSpPr>
        <p:spPr>
          <a:xfrm>
            <a:off x="1828800" y="4343400"/>
            <a:ext cx="7162800" cy="9906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It is indeed a correct solution for this example. We should try to prove the correctness of the </a:t>
            </a:r>
            <a:r>
              <a:rPr lang="en-US" sz="1600" dirty="0" err="1">
                <a:solidFill>
                  <a:schemeClr val="tx1"/>
                </a:solidFill>
              </a:rPr>
              <a:t>algorithm.</a:t>
            </a:r>
            <a:r>
              <a:rPr lang="en-US" sz="1600" dirty="0" err="1">
                <a:solidFill>
                  <a:schemeClr val="tx1"/>
                </a:solidFill>
                <a:sym typeface="Wingdings" pitchFamily="2" charset="2"/>
              </a:rPr>
              <a:t>But</a:t>
            </a: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 first we give a full description of the algorithm based on this strategy.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81200" y="990600"/>
            <a:ext cx="52357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4: </a:t>
            </a:r>
            <a:r>
              <a:rPr lang="en-US" b="1" dirty="0"/>
              <a:t>Select the job with </a:t>
            </a:r>
            <a:r>
              <a:rPr lang="en-US" b="1" dirty="0">
                <a:solidFill>
                  <a:srgbClr val="C00000"/>
                </a:solidFill>
              </a:rPr>
              <a:t>earliest finish time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3276600" y="3657600"/>
            <a:ext cx="685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258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Algorithm</a:t>
            </a:r>
            <a:r>
              <a:rPr lang="en-US" sz="2400" b="1" dirty="0">
                <a:solidFill>
                  <a:srgbClr val="C00000"/>
                </a:solidFill>
              </a:rPr>
              <a:t> “earliest finish time”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800" b="1" dirty="0">
                <a:solidFill>
                  <a:srgbClr val="7030A0"/>
                </a:solidFill>
              </a:rPr>
              <a:t>Description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4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Algorithm </a:t>
                </a:r>
                <a:r>
                  <a:rPr lang="en-US" sz="2000" b="1" dirty="0"/>
                  <a:t>(Input : </a:t>
                </a:r>
                <a:r>
                  <a:rPr lang="en-US" sz="2000" dirty="0"/>
                  <a:t>set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jobs.)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Define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>
                    <a:solidFill>
                      <a:srgbClr val="C00000"/>
                    </a:solidFill>
                    <a:latin typeface="Cambria Math"/>
                    <a:ea typeface="Cambria Math"/>
                  </a:rPr>
                  <a:t> ∅</a:t>
                </a:r>
                <a:r>
                  <a:rPr lang="en-US" sz="2000" dirty="0">
                    <a:latin typeface="Cambria Math"/>
                    <a:ea typeface="Cambria Math"/>
                  </a:rPr>
                  <a:t>;</a:t>
                </a: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/>
                  <a:t>While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&lt;&gt;</a:t>
                </a:r>
                <a:r>
                  <a:rPr lang="en-US" sz="2000" dirty="0">
                    <a:solidFill>
                      <a:srgbClr val="C00000"/>
                    </a:solidFill>
                    <a:latin typeface="Cambria Math"/>
                    <a:ea typeface="Cambria Math"/>
                  </a:rPr>
                  <a:t>∅ </a:t>
                </a:r>
                <a:r>
                  <a:rPr lang="en-US" sz="2000" b="1" dirty="0"/>
                  <a:t>do</a:t>
                </a:r>
                <a:r>
                  <a:rPr lang="en-US" sz="2000" dirty="0">
                    <a:solidFill>
                      <a:srgbClr val="C00000"/>
                    </a:solidFill>
                    <a:latin typeface="Cambria Math"/>
                    <a:ea typeface="Cambria Math"/>
                  </a:rPr>
                  <a:t> </a:t>
                </a:r>
                <a:endParaRPr lang="en-US" sz="20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/>
                  <a:t>         {</a:t>
                </a:r>
                <a:r>
                  <a:rPr lang="en-US" sz="1800" dirty="0"/>
                  <a:t>       Let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be the job from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with earliest finish time;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</a:t>
                </a:r>
                <a:r>
                  <a:rPr lang="en-US" sz="1800" dirty="0">
                    <a:solidFill>
                      <a:srgbClr val="C00000"/>
                    </a:solidFill>
                    <a:latin typeface="Cambria Math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1800" dirty="0">
                    <a:latin typeface="Cambria Math"/>
                    <a:ea typeface="Cambria Math"/>
                  </a:rPr>
                  <a:t> </a:t>
                </a:r>
                <a:r>
                  <a:rPr lang="en-US" sz="2800" dirty="0">
                    <a:latin typeface="Cambria Math"/>
                    <a:ea typeface="Cambria Math"/>
                  </a:rPr>
                  <a:t>U</a:t>
                </a:r>
                <a:r>
                  <a:rPr lang="en-US" sz="1800" dirty="0">
                    <a:latin typeface="Cambria Math"/>
                    <a:ea typeface="Cambria Math"/>
                  </a:rPr>
                  <a:t> {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>
                    <a:latin typeface="Cambria Math"/>
                    <a:ea typeface="Cambria Math"/>
                  </a:rPr>
                  <a:t>};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ambria Math"/>
                    <a:ea typeface="Cambria Math"/>
                  </a:rPr>
                  <a:t>                   </a:t>
                </a:r>
                <a:r>
                  <a:rPr lang="en-US" sz="1800" dirty="0"/>
                  <a:t>Remove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and all jobs that overlap with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from set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</m:oMath>
                </a14:m>
                <a:r>
                  <a:rPr lang="en-US" sz="1800" dirty="0"/>
                  <a:t>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</a:t>
                </a:r>
                <a:r>
                  <a:rPr lang="en-US" sz="1800" b="1" dirty="0"/>
                  <a:t>}</a:t>
                </a:r>
              </a:p>
              <a:p>
                <a:pPr>
                  <a:buAutoNum type="arabicPeriod" startAt="3"/>
                </a:pPr>
                <a:r>
                  <a:rPr lang="en-US" sz="1800" dirty="0"/>
                  <a:t>Return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1800" dirty="0"/>
                  <a:t>;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/>
                  <a:t>Running time of  the above algorithm: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                                                                    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800" dirty="0"/>
                  <a:t>)</a:t>
                </a:r>
                <a:endParaRPr lang="en-US" sz="1800" b="1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5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Algorithm</a:t>
            </a:r>
            <a:r>
              <a:rPr lang="en-US" sz="2400" b="1" dirty="0">
                <a:solidFill>
                  <a:srgbClr val="C00000"/>
                </a:solidFill>
              </a:rPr>
              <a:t> “earliest finish time”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800" b="1" dirty="0">
                <a:solidFill>
                  <a:srgbClr val="7030A0"/>
                </a:solidFill>
              </a:rPr>
              <a:t>Correctness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 be the job with earliest finish time.</a:t>
                </a: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Lemma1: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is present in </a:t>
                </a:r>
                <a:r>
                  <a:rPr lang="en-US" sz="1800" b="1" dirty="0"/>
                  <a:t>the optimal </a:t>
                </a:r>
                <a:r>
                  <a:rPr lang="en-US" sz="1800" dirty="0"/>
                  <a:t>solution for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 algn="ctr">
                  <a:buNone/>
                </a:pPr>
                <a:r>
                  <a:rPr lang="en-US" sz="1800" dirty="0"/>
                  <a:t>Too strong a claim !</a:t>
                </a:r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  <a:blipFill>
                <a:blip r:embed="rId2"/>
                <a:stretch>
                  <a:fillRect l="-617" t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90600" y="4507468"/>
            <a:ext cx="6629400" cy="152400"/>
            <a:chOff x="990600" y="3810000"/>
            <a:chExt cx="6629400" cy="1524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990600" y="3886200"/>
              <a:ext cx="6629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1981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29718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39624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8768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5791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6294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74676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1219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1066800" y="4583668"/>
            <a:ext cx="6569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0            1                  2               3               4                5              6             7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981200" y="3669268"/>
            <a:ext cx="4114800" cy="685800"/>
            <a:chOff x="1981200" y="2971800"/>
            <a:chExt cx="4114800" cy="685800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1981200" y="3429000"/>
              <a:ext cx="9906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209800" y="3276600"/>
              <a:ext cx="6096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124200" y="3429000"/>
              <a:ext cx="8382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962400" y="2971800"/>
              <a:ext cx="1828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24400" y="3124200"/>
              <a:ext cx="533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4191000" y="3276600"/>
              <a:ext cx="8001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5181600" y="3276600"/>
              <a:ext cx="914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2514600" y="3657600"/>
              <a:ext cx="28956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Explosion 2 25"/>
          <p:cNvSpPr/>
          <p:nvPr/>
        </p:nvSpPr>
        <p:spPr>
          <a:xfrm>
            <a:off x="6038850" y="1676400"/>
            <a:ext cx="2190750" cy="1524000"/>
          </a:xfrm>
          <a:prstGeom prst="irregularSeal2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Wrong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981200" y="3962400"/>
            <a:ext cx="4114800" cy="152400"/>
            <a:chOff x="1981200" y="3962400"/>
            <a:chExt cx="4114800" cy="1524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1981200" y="4114800"/>
              <a:ext cx="9906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124200" y="4114800"/>
              <a:ext cx="8382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191000" y="3962400"/>
              <a:ext cx="8001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5181600" y="3962400"/>
              <a:ext cx="9144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4051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Algorithm</a:t>
            </a:r>
            <a:r>
              <a:rPr lang="en-US" sz="2400" b="1" dirty="0">
                <a:solidFill>
                  <a:srgbClr val="C00000"/>
                </a:solidFill>
              </a:rPr>
              <a:t> “earliest finish time”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800" b="1" dirty="0">
                <a:solidFill>
                  <a:srgbClr val="7030A0"/>
                </a:solidFill>
              </a:rPr>
              <a:t>Correctness</a:t>
            </a:r>
            <a:endParaRPr lang="en-US" sz="28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5344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 be the job with earliest finish time.</a:t>
                </a: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Lemma1:  </a:t>
                </a:r>
                <a:r>
                  <a:rPr lang="en-US" sz="1800" dirty="0"/>
                  <a:t>There exists </a:t>
                </a:r>
                <a:r>
                  <a:rPr lang="en-US" sz="1800" b="1" dirty="0"/>
                  <a:t>an optimal </a:t>
                </a:r>
                <a:r>
                  <a:rPr lang="en-US" sz="1800" dirty="0"/>
                  <a:t>solution for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in which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is present.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Proof: </a:t>
                </a:r>
                <a:r>
                  <a:rPr lang="en-US" sz="1800" dirty="0"/>
                  <a:t>Consider any optimal solution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𝑶</m:t>
                    </m:r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for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</m:oMath>
                </a14:m>
                <a:r>
                  <a:rPr lang="en-US" sz="1800" dirty="0"/>
                  <a:t>. Let us suppose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∉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𝑶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marL="0" indent="0">
                  <a:buNone/>
                </a:pP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 be the job from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𝑶</m:t>
                    </m:r>
                  </m:oMath>
                </a14:m>
                <a:r>
                  <a:rPr lang="en-US" sz="1800" dirty="0"/>
                  <a:t> with earliest finish time.</a:t>
                </a:r>
              </a:p>
              <a:p>
                <a:pPr marL="0" indent="0">
                  <a:buNone/>
                </a:pPr>
                <a:r>
                  <a:rPr lang="en-US" sz="1800" dirty="0"/>
                  <a:t>Let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𝑶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′ 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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𝑶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{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1800" dirty="0"/>
                  <a:t> </a:t>
                </a:r>
                <a:endParaRPr lang="en-US" sz="1800" b="1" i="1" dirty="0">
                  <a:solidFill>
                    <a:srgbClr val="0070C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1800" dirty="0"/>
                  <a:t>So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𝑶</m:t>
                        </m:r>
                      </m:e>
                      <m:sup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∪{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1800" dirty="0"/>
                  <a:t> is also an optimal solution.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Reason</a:t>
                </a:r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𝑶</m:t>
                        </m:r>
                      </m:e>
                      <m:sup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∪{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1800" dirty="0"/>
                  <a:t> has no overlapping intervals and has the same cardinality as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𝑶</m:t>
                    </m:r>
                  </m:oMath>
                </a14:m>
                <a:r>
                  <a:rPr lang="en-US" sz="1800" dirty="0"/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534400" cy="4830763"/>
              </a:xfrm>
              <a:blipFill>
                <a:blip r:embed="rId2"/>
                <a:stretch>
                  <a:fillRect l="-571" t="-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898173" y="5345668"/>
            <a:ext cx="6645627" cy="445532"/>
            <a:chOff x="990600" y="3886200"/>
            <a:chExt cx="6645627" cy="445532"/>
          </a:xfrm>
        </p:grpSpPr>
        <p:grpSp>
          <p:nvGrpSpPr>
            <p:cNvPr id="6" name="Group 5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TextBox 6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600200" y="4419600"/>
            <a:ext cx="4114800" cy="457200"/>
            <a:chOff x="1600200" y="4419600"/>
            <a:chExt cx="4114800" cy="457200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1600200" y="4648200"/>
              <a:ext cx="6858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181600" y="4724400"/>
              <a:ext cx="5334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2667000" y="4876800"/>
              <a:ext cx="6858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505200" y="4419600"/>
              <a:ext cx="1279173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1295400" y="3657600"/>
            <a:ext cx="685800" cy="369332"/>
            <a:chOff x="1295400" y="3657600"/>
            <a:chExt cx="685800" cy="369332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1295400" y="39624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1447800" y="3657600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7800" y="3657600"/>
                  <a:ext cx="37061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333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762986" y="4343400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986" y="4343400"/>
                <a:ext cx="375423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2096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2286000" y="3657600"/>
            <a:ext cx="0" cy="228600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981200" y="3657600"/>
            <a:ext cx="0" cy="228600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293361" y="2602468"/>
                <a:ext cx="2266967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>
                    <a:solidFill>
                      <a:srgbClr val="C00000"/>
                    </a:solidFill>
                  </a:rPr>
                  <a:t>f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dirty="0"/>
                  <a:t>) &lt; </a:t>
                </a:r>
                <a:r>
                  <a:rPr lang="en-US" b="1" dirty="0">
                    <a:solidFill>
                      <a:srgbClr val="C00000"/>
                    </a:solidFill>
                  </a:rPr>
                  <a:t>s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𝒛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∀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𝒛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𝑶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361" y="2602468"/>
                <a:ext cx="226696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151" t="-9836" r="-349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830546" y="1916668"/>
                <a:ext cx="1463862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>
                    <a:solidFill>
                      <a:srgbClr val="C00000"/>
                    </a:solidFill>
                  </a:rPr>
                  <a:t>f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rgbClr val="C00000"/>
                    </a:solidFill>
                  </a:rPr>
                  <a:t>f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546" y="1916668"/>
                <a:ext cx="1463862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3320" t="-9836" r="-62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800833" y="2667000"/>
                <a:ext cx="2262158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>
                    <a:solidFill>
                      <a:srgbClr val="C00000"/>
                    </a:solidFill>
                  </a:rPr>
                  <a:t>f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) &lt; </a:t>
                </a:r>
                <a:r>
                  <a:rPr lang="en-US" b="1" dirty="0">
                    <a:solidFill>
                      <a:srgbClr val="C00000"/>
                    </a:solidFill>
                  </a:rPr>
                  <a:t>s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𝒛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∀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𝒛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𝑶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833" y="2667000"/>
                <a:ext cx="2262158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2426" t="-10000" r="-3504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/>
          <p:cNvGrpSpPr/>
          <p:nvPr/>
        </p:nvGrpSpPr>
        <p:grpSpPr>
          <a:xfrm>
            <a:off x="4571999" y="2286000"/>
            <a:ext cx="3352801" cy="692634"/>
            <a:chOff x="4571999" y="2286000"/>
            <a:chExt cx="3352801" cy="692634"/>
          </a:xfrm>
        </p:grpSpPr>
        <p:sp>
          <p:nvSpPr>
            <p:cNvPr id="23" name="Right Arrow 22"/>
            <p:cNvSpPr/>
            <p:nvPr/>
          </p:nvSpPr>
          <p:spPr>
            <a:xfrm>
              <a:off x="4571999" y="2787134"/>
              <a:ext cx="2228833" cy="1915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Down Arrow 25"/>
            <p:cNvSpPr/>
            <p:nvPr/>
          </p:nvSpPr>
          <p:spPr>
            <a:xfrm>
              <a:off x="7682484" y="2286000"/>
              <a:ext cx="242316" cy="3810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Down Arrow 31"/>
          <p:cNvSpPr/>
          <p:nvPr/>
        </p:nvSpPr>
        <p:spPr>
          <a:xfrm>
            <a:off x="7162800" y="3160411"/>
            <a:ext cx="1371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6477000" y="3733800"/>
                <a:ext cx="265002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Hence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 does not overlap </a:t>
                </a:r>
              </a:p>
              <a:p>
                <a:r>
                  <a:rPr lang="en-US" dirty="0"/>
                  <a:t>With any interval of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𝑶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3733800"/>
                <a:ext cx="2650021" cy="646331"/>
              </a:xfrm>
              <a:prstGeom prst="rect">
                <a:avLst/>
              </a:prstGeom>
              <a:blipFill>
                <a:blip r:embed="rId8"/>
                <a:stretch>
                  <a:fillRect l="-2074" t="-5660" r="-1152" b="-132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4724399" y="1981200"/>
            <a:ext cx="2076433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5010167" y="1600200"/>
            <a:ext cx="2076433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C06C92-D3A0-6B14-941D-B922C4683D82}"/>
              </a:ext>
            </a:extLst>
          </p:cNvPr>
          <p:cNvSpPr txBox="1"/>
          <p:nvPr/>
        </p:nvSpPr>
        <p:spPr>
          <a:xfrm>
            <a:off x="228600" y="6356350"/>
            <a:ext cx="8650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  <a:r>
              <a:rPr lang="en-US" dirty="0"/>
              <a:t>:  Is the lemma sufficient for the correctness of the algorithm ? Ponder over it… </a:t>
            </a:r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A617074-D7EA-7BC5-3D50-568D9B88D1C3}"/>
              </a:ext>
            </a:extLst>
          </p:cNvPr>
          <p:cNvSpPr/>
          <p:nvPr/>
        </p:nvSpPr>
        <p:spPr>
          <a:xfrm>
            <a:off x="7216676" y="6202363"/>
            <a:ext cx="2079723" cy="51911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B9D7518-0460-76F5-96B8-58C1CD58847D}"/>
              </a:ext>
            </a:extLst>
          </p:cNvPr>
          <p:cNvSpPr/>
          <p:nvPr/>
        </p:nvSpPr>
        <p:spPr>
          <a:xfrm>
            <a:off x="1447800" y="6262688"/>
            <a:ext cx="5791200" cy="51911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986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5" grpId="0"/>
      <p:bldP spid="21" grpId="0" animBg="1"/>
      <p:bldP spid="30" grpId="0" animBg="1"/>
      <p:bldP spid="31" grpId="0" animBg="1"/>
      <p:bldP spid="32" grpId="0" animBg="1"/>
      <p:bldP spid="32" grpId="1" animBg="1"/>
      <p:bldP spid="35" grpId="0"/>
      <p:bldP spid="35" grpId="1"/>
      <p:bldP spid="36" grpId="0" animBg="1"/>
      <p:bldP spid="37" grpId="0" animBg="1"/>
      <p:bldP spid="38" grpId="0"/>
      <p:bldP spid="39" grpId="0" animBg="1"/>
      <p:bldP spid="4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6C31"/>
                </a:solidFill>
              </a:rPr>
              <a:t>Homework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514350" indent="-514350">
                  <a:buFont typeface="+mj-lt"/>
                  <a:buAutoNum type="arabicPeriod"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000" dirty="0"/>
                  <a:t>Design an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log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implementation of the algorithm.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4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9C4E1-4300-1055-B46B-54D18B344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1227291-107E-5418-A7E1-ADADA3D110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Problem 2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59C2DEB-CFDB-C561-C07A-C4F31E9ECC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7513C-29D3-C8FB-7368-69A4DA0D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74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dirty="0"/>
                  <a:t>There are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 jobs: </a:t>
                </a:r>
              </a:p>
              <a:p>
                <a:r>
                  <a:rPr lang="en-US" sz="1800" dirty="0"/>
                  <a:t>Each job takes certain </a:t>
                </a:r>
                <a:r>
                  <a:rPr lang="en-US" sz="1800" b="1" dirty="0"/>
                  <a:t>time</a:t>
                </a:r>
                <a:r>
                  <a:rPr lang="en-US" sz="1800" dirty="0"/>
                  <a:t> for execution.</a:t>
                </a:r>
              </a:p>
              <a:p>
                <a:r>
                  <a:rPr lang="en-US" sz="1800" dirty="0"/>
                  <a:t>Each job also has a </a:t>
                </a:r>
                <a:r>
                  <a:rPr lang="en-US" sz="1800" b="1" dirty="0"/>
                  <a:t>deadline</a:t>
                </a:r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There is a </a:t>
                </a:r>
                <a:r>
                  <a:rPr lang="en-US" sz="1800" u="sng" dirty="0"/>
                  <a:t>single</a:t>
                </a:r>
                <a:r>
                  <a:rPr lang="en-US" sz="1800" dirty="0"/>
                  <a:t> server.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All jobs need to </a:t>
                </a:r>
                <a:r>
                  <a:rPr lang="en-US" sz="1800"/>
                  <a:t>be scheduled. 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Aim</a:t>
                </a:r>
                <a:r>
                  <a:rPr lang="en-US" sz="1800" dirty="0"/>
                  <a:t>: Compute an order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/>
                  <a:t>,…,</a:t>
                </a:r>
                <a:r>
                  <a:rPr lang="en-US" sz="1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/>
                  <a:t> in which the jobs should be scheduled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such that maximum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lateness</a:t>
                </a:r>
                <a:r>
                  <a:rPr lang="en-US" sz="1800" dirty="0"/>
                  <a:t> is minimized.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95065" y="1627042"/>
                <a:ext cx="1062150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,</a:t>
                </a:r>
                <a:r>
                  <a:rPr lang="en-US" sz="16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,…,</a:t>
                </a:r>
                <a:r>
                  <a:rPr lang="en-US" sz="16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065" y="1627042"/>
                <a:ext cx="1062150" cy="338554"/>
              </a:xfrm>
              <a:prstGeom prst="rect">
                <a:avLst/>
              </a:prstGeom>
              <a:blipFill rotWithShape="1">
                <a:blip r:embed="rId3"/>
                <a:stretch>
                  <a:fillRect t="-3509" r="-5682" b="-2105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800600" y="1947446"/>
                <a:ext cx="1746184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Job</a:t>
                </a:r>
                <a:r>
                  <a:rPr lang="en-US" sz="16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takes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time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1947446"/>
                <a:ext cx="1746184" cy="338554"/>
              </a:xfrm>
              <a:prstGeom prst="rect">
                <a:avLst/>
              </a:prstGeom>
              <a:blipFill rotWithShape="1">
                <a:blip r:embed="rId4"/>
                <a:stretch>
                  <a:fillRect l="-1736" t="-3448" r="-2778" b="-189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733800" y="2328446"/>
                <a:ext cx="2021194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Job</a:t>
                </a:r>
                <a:r>
                  <a:rPr lang="en-US" sz="16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has deadline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2328446"/>
                <a:ext cx="2021194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1502" t="-3448" r="-2703" b="-189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457200" y="6336268"/>
            <a:ext cx="77724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29129" y="6336268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/>
              <p:cNvSpPr/>
              <p:nvPr/>
            </p:nvSpPr>
            <p:spPr>
              <a:xfrm>
                <a:off x="494232" y="5879068"/>
                <a:ext cx="1066800" cy="316468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32" y="5879068"/>
                <a:ext cx="1066800" cy="316468"/>
              </a:xfrm>
              <a:prstGeom prst="roundRect">
                <a:avLst/>
              </a:prstGeom>
              <a:blipFill rotWithShape="1">
                <a:blip r:embed="rId6"/>
                <a:stretch>
                  <a:fillRect t="-14286" b="-30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/>
              <p:cNvSpPr/>
              <p:nvPr/>
            </p:nvSpPr>
            <p:spPr>
              <a:xfrm>
                <a:off x="6172200" y="5879068"/>
                <a:ext cx="1905000" cy="3048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5879068"/>
                <a:ext cx="1905000" cy="304800"/>
              </a:xfrm>
              <a:prstGeom prst="roundRect">
                <a:avLst/>
              </a:prstGeom>
              <a:blipFill rotWithShape="1">
                <a:blip r:embed="rId7"/>
                <a:stretch>
                  <a:fillRect t="-1666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/>
              <p:cNvSpPr/>
              <p:nvPr/>
            </p:nvSpPr>
            <p:spPr>
              <a:xfrm>
                <a:off x="1588037" y="5884902"/>
                <a:ext cx="1600200" cy="3048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037" y="5884902"/>
                <a:ext cx="1600200" cy="304800"/>
              </a:xfrm>
              <a:prstGeom prst="roundRect">
                <a:avLst/>
              </a:prstGeom>
              <a:blipFill rotWithShape="1">
                <a:blip r:embed="rId8"/>
                <a:stretch>
                  <a:fillRect t="-1666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/>
              <p:cNvSpPr/>
              <p:nvPr/>
            </p:nvSpPr>
            <p:spPr>
              <a:xfrm>
                <a:off x="3200400" y="5867400"/>
                <a:ext cx="528729" cy="328136"/>
              </a:xfrm>
              <a:prstGeom prst="roundRect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5867400"/>
                <a:ext cx="528729" cy="328136"/>
              </a:xfrm>
              <a:prstGeom prst="roundRect">
                <a:avLst/>
              </a:prstGeom>
              <a:blipFill rotWithShape="1">
                <a:blip r:embed="rId9"/>
                <a:stretch>
                  <a:fillRect t="-14035" r="-2198" b="-28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457200" y="6160532"/>
            <a:ext cx="0" cy="3164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69488" y="6472015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88" y="6472015"/>
                <a:ext cx="375424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333" r="-2096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3962400" y="6019800"/>
            <a:ext cx="381000" cy="76200"/>
            <a:chOff x="4572000" y="4724400"/>
            <a:chExt cx="381000" cy="76200"/>
          </a:xfrm>
        </p:grpSpPr>
        <p:sp>
          <p:nvSpPr>
            <p:cNvPr id="18" name="Oval 17"/>
            <p:cNvSpPr/>
            <p:nvPr/>
          </p:nvSpPr>
          <p:spPr>
            <a:xfrm>
              <a:off x="45720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7244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48768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le 21"/>
              <p:cNvSpPr/>
              <p:nvPr/>
            </p:nvSpPr>
            <p:spPr>
              <a:xfrm>
                <a:off x="4424271" y="5867400"/>
                <a:ext cx="757329" cy="328136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ounded 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271" y="5867400"/>
                <a:ext cx="757329" cy="328136"/>
              </a:xfrm>
              <a:prstGeom prst="roundRect">
                <a:avLst/>
              </a:prstGeom>
              <a:blipFill rotWithShape="1">
                <a:blip r:embed="rId11"/>
                <a:stretch>
                  <a:fillRect t="-14035" b="-28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/>
          <p:cNvGrpSpPr/>
          <p:nvPr/>
        </p:nvGrpSpPr>
        <p:grpSpPr>
          <a:xfrm>
            <a:off x="5334000" y="6019800"/>
            <a:ext cx="381000" cy="76200"/>
            <a:chOff x="4572000" y="4724400"/>
            <a:chExt cx="381000" cy="76200"/>
          </a:xfrm>
        </p:grpSpPr>
        <p:sp>
          <p:nvSpPr>
            <p:cNvPr id="24" name="Oval 23"/>
            <p:cNvSpPr/>
            <p:nvPr/>
          </p:nvSpPr>
          <p:spPr>
            <a:xfrm>
              <a:off x="45720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47244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48768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Connector 26"/>
          <p:cNvCxnSpPr/>
          <p:nvPr/>
        </p:nvCxnSpPr>
        <p:spPr>
          <a:xfrm>
            <a:off x="5181600" y="4953000"/>
            <a:ext cx="0" cy="13716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446915" y="5029200"/>
            <a:ext cx="0" cy="45720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197564" y="4633771"/>
                <a:ext cx="536236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564" y="4633771"/>
                <a:ext cx="536236" cy="395429"/>
              </a:xfrm>
              <a:prstGeom prst="rect">
                <a:avLst/>
              </a:prstGeom>
              <a:blipFill rotWithShape="1">
                <a:blip r:embed="rId12"/>
                <a:stretch>
                  <a:fillRect t="-6154" r="-14773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876800" y="4495800"/>
                <a:ext cx="493789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4495800"/>
                <a:ext cx="493789" cy="395429"/>
              </a:xfrm>
              <a:prstGeom prst="rect">
                <a:avLst/>
              </a:prstGeom>
              <a:blipFill rotWithShape="1">
                <a:blip r:embed="rId13"/>
                <a:stretch>
                  <a:fillRect t="-6250" r="-16049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/>
          <p:cNvCxnSpPr/>
          <p:nvPr/>
        </p:nvCxnSpPr>
        <p:spPr>
          <a:xfrm>
            <a:off x="6723515" y="5029200"/>
            <a:ext cx="0" cy="45720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474164" y="4633771"/>
                <a:ext cx="536236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164" y="4633771"/>
                <a:ext cx="536236" cy="395429"/>
              </a:xfrm>
              <a:prstGeom prst="rect">
                <a:avLst/>
              </a:prstGeom>
              <a:blipFill rotWithShape="1">
                <a:blip r:embed="rId14"/>
                <a:stretch>
                  <a:fillRect t="-6154" r="-15909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>
            <a:off x="3446915" y="5257800"/>
            <a:ext cx="17346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733800" y="5181600"/>
                <a:ext cx="1234569" cy="327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C00000"/>
                    </a:solidFill>
                  </a:rPr>
                  <a:t>Lateness</a:t>
                </a:r>
                <a:r>
                  <a:rPr lang="en-US" sz="1400" dirty="0">
                    <a:solidFill>
                      <a:srgbClr val="C00000"/>
                    </a:solidFill>
                  </a:rPr>
                  <a:t> </a:t>
                </a:r>
                <a:r>
                  <a:rPr lang="en-US" sz="1400" dirty="0"/>
                  <a:t>of</a:t>
                </a:r>
                <a:r>
                  <a:rPr lang="en-US" sz="14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𝑗</m:t>
                        </m:r>
                      </m:e>
                      <m:sub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4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5181600"/>
                <a:ext cx="1234569" cy="327975"/>
              </a:xfrm>
              <a:prstGeom prst="rect">
                <a:avLst/>
              </a:prstGeom>
              <a:blipFill rotWithShape="1">
                <a:blip r:embed="rId15"/>
                <a:stretch>
                  <a:fillRect l="-1485" r="-4950" b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066800" y="3540760"/>
            <a:ext cx="2895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62400" y="3505200"/>
            <a:ext cx="3657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2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1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1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9" grpId="0"/>
      <p:bldP spid="10" grpId="0" animBg="1"/>
      <p:bldP spid="11" grpId="0" animBg="1"/>
      <p:bldP spid="12" grpId="0" animBg="1"/>
      <p:bldP spid="13" grpId="0" animBg="1"/>
      <p:bldP spid="17" grpId="0"/>
      <p:bldP spid="22" grpId="0" animBg="1"/>
      <p:bldP spid="30" grpId="0"/>
      <p:bldP spid="31" grpId="0"/>
      <p:bldP spid="33" grpId="0"/>
      <p:bldP spid="33" grpId="1"/>
      <p:bldP spid="36" grpId="0"/>
      <p:bldP spid="14" grpId="0" animBg="1"/>
      <p:bldP spid="3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B650E55-BF88-7FD5-D8A3-1C6DF3991709}"/>
              </a:ext>
            </a:extLst>
          </p:cNvPr>
          <p:cNvSpPr/>
          <p:nvPr/>
        </p:nvSpPr>
        <p:spPr>
          <a:xfrm>
            <a:off x="5842340" y="3350229"/>
            <a:ext cx="2225221" cy="61779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Example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457200" y="1693904"/>
                <a:ext cx="1447800" cy="4572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93904"/>
                <a:ext cx="1447800" cy="4572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>
            <a:off x="457200" y="5715000"/>
            <a:ext cx="77724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29129" y="5715000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/>
              <p:cNvSpPr/>
              <p:nvPr/>
            </p:nvSpPr>
            <p:spPr>
              <a:xfrm>
                <a:off x="457200" y="2760703"/>
                <a:ext cx="2286000" cy="4572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ounded 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60703"/>
                <a:ext cx="2286000" cy="4572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>
            <a:off x="2971800" y="2743200"/>
            <a:ext cx="0" cy="4572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743200" y="3294103"/>
                <a:ext cx="477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294103"/>
                <a:ext cx="47795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>
            <a:off x="457200" y="1588532"/>
            <a:ext cx="14478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371600" y="2362200"/>
                <a:ext cx="43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2362200"/>
                <a:ext cx="43287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975170" y="1295400"/>
                <a:ext cx="4275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70" y="1295400"/>
                <a:ext cx="42755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457200" y="2667000"/>
            <a:ext cx="22860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ounded Rectangle 29"/>
              <p:cNvSpPr/>
              <p:nvPr/>
            </p:nvSpPr>
            <p:spPr>
              <a:xfrm>
                <a:off x="457200" y="5181600"/>
                <a:ext cx="1447800" cy="4572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ounded 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181600"/>
                <a:ext cx="1447800" cy="457200"/>
              </a:xfrm>
              <a:prstGeom prst="roundRect">
                <a:avLst/>
              </a:prstGeom>
              <a:blipFill rotWithShape="1">
                <a:blip r:embed="rId8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ounded Rectangle 32"/>
              <p:cNvSpPr/>
              <p:nvPr/>
            </p:nvSpPr>
            <p:spPr>
              <a:xfrm>
                <a:off x="1905000" y="5181600"/>
                <a:ext cx="2286000" cy="4572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Rounded 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81600"/>
                <a:ext cx="2286000" cy="457200"/>
              </a:xfrm>
              <a:prstGeom prst="roundRect">
                <a:avLst/>
              </a:prstGeom>
              <a:blipFill rotWithShape="1">
                <a:blip r:embed="rId9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/>
          <p:cNvCxnSpPr/>
          <p:nvPr/>
        </p:nvCxnSpPr>
        <p:spPr>
          <a:xfrm>
            <a:off x="4191000" y="1937266"/>
            <a:ext cx="0" cy="377773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>
            <a:off x="2971800" y="2971800"/>
            <a:ext cx="1219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11">
                <a:extLst>
                  <a:ext uri="{FF2B5EF4-FFF2-40B4-BE49-F238E27FC236}">
                    <a16:creationId xmlns:a16="http://schemas.microsoft.com/office/drawing/2014/main" id="{57CD70CD-190B-AB66-09C8-650FBDD5AA0B}"/>
                  </a:ext>
                </a:extLst>
              </p:cNvPr>
              <p:cNvSpPr/>
              <p:nvPr/>
            </p:nvSpPr>
            <p:spPr>
              <a:xfrm>
                <a:off x="457200" y="3892393"/>
                <a:ext cx="1066798" cy="439338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ounded Rectangle 11">
                <a:extLst>
                  <a:ext uri="{FF2B5EF4-FFF2-40B4-BE49-F238E27FC236}">
                    <a16:creationId xmlns:a16="http://schemas.microsoft.com/office/drawing/2014/main" id="{57CD70CD-190B-AB66-09C8-650FBDD5A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892393"/>
                <a:ext cx="1066798" cy="439338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31AEB6-274E-F399-29B0-585230AFE75B}"/>
              </a:ext>
            </a:extLst>
          </p:cNvPr>
          <p:cNvCxnSpPr>
            <a:cxnSpLocks/>
          </p:cNvCxnSpPr>
          <p:nvPr/>
        </p:nvCxnSpPr>
        <p:spPr>
          <a:xfrm>
            <a:off x="420682" y="3798332"/>
            <a:ext cx="1103316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550023-7DBC-8999-7C3A-1C8E0A017DE2}"/>
                  </a:ext>
                </a:extLst>
              </p:cNvPr>
              <p:cNvSpPr txBox="1"/>
              <p:nvPr/>
            </p:nvSpPr>
            <p:spPr>
              <a:xfrm>
                <a:off x="815837" y="3470231"/>
                <a:ext cx="432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550023-7DBC-8999-7C3A-1C8E0A017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37" y="3470231"/>
                <a:ext cx="43287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993578-7CE0-3D44-B39A-C88CCF344357}"/>
              </a:ext>
            </a:extLst>
          </p:cNvPr>
          <p:cNvCxnSpPr/>
          <p:nvPr/>
        </p:nvCxnSpPr>
        <p:spPr>
          <a:xfrm>
            <a:off x="4572000" y="3833694"/>
            <a:ext cx="0" cy="4572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94ADAC-A29E-9292-F46C-A285D6D166B9}"/>
              </a:ext>
            </a:extLst>
          </p:cNvPr>
          <p:cNvCxnSpPr/>
          <p:nvPr/>
        </p:nvCxnSpPr>
        <p:spPr>
          <a:xfrm>
            <a:off x="3962400" y="1672614"/>
            <a:ext cx="0" cy="45720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C78A78-5B6B-CD53-5781-4F032251A6C7}"/>
                  </a:ext>
                </a:extLst>
              </p:cNvPr>
              <p:cNvSpPr txBox="1"/>
              <p:nvPr/>
            </p:nvSpPr>
            <p:spPr>
              <a:xfrm>
                <a:off x="3711630" y="2129814"/>
                <a:ext cx="472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C78A78-5B6B-CD53-5781-4F032251A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630" y="2129814"/>
                <a:ext cx="47263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61B6D13-39CE-3DD0-8FDF-C9A966AB6FA0}"/>
                  </a:ext>
                </a:extLst>
              </p:cNvPr>
              <p:cNvSpPr txBox="1"/>
              <p:nvPr/>
            </p:nvSpPr>
            <p:spPr>
              <a:xfrm>
                <a:off x="4356206" y="4290894"/>
                <a:ext cx="477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61B6D13-39CE-3DD0-8FDF-C9A966AB6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206" y="4290894"/>
                <a:ext cx="47795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1">
                <a:extLst>
                  <a:ext uri="{FF2B5EF4-FFF2-40B4-BE49-F238E27FC236}">
                    <a16:creationId xmlns:a16="http://schemas.microsoft.com/office/drawing/2014/main" id="{2403D4AA-9F0F-FF98-E110-4ABB3DFE0C67}"/>
                  </a:ext>
                </a:extLst>
              </p:cNvPr>
              <p:cNvSpPr/>
              <p:nvPr/>
            </p:nvSpPr>
            <p:spPr>
              <a:xfrm>
                <a:off x="4194693" y="5195372"/>
                <a:ext cx="1066798" cy="443428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ounded Rectangle 11">
                <a:extLst>
                  <a:ext uri="{FF2B5EF4-FFF2-40B4-BE49-F238E27FC236}">
                    <a16:creationId xmlns:a16="http://schemas.microsoft.com/office/drawing/2014/main" id="{2403D4AA-9F0F-FF98-E110-4ABB3DFE0C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693" y="5195372"/>
                <a:ext cx="1066798" cy="443428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EE1ED46-E49E-2C7F-4649-C90607DE4431}"/>
              </a:ext>
            </a:extLst>
          </p:cNvPr>
          <p:cNvCxnSpPr/>
          <p:nvPr/>
        </p:nvCxnSpPr>
        <p:spPr>
          <a:xfrm>
            <a:off x="5261491" y="1937266"/>
            <a:ext cx="0" cy="377773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6096F9F-31E5-2015-551A-186B9FB1D6ED}"/>
              </a:ext>
            </a:extLst>
          </p:cNvPr>
          <p:cNvCxnSpPr>
            <a:cxnSpLocks/>
          </p:cNvCxnSpPr>
          <p:nvPr/>
        </p:nvCxnSpPr>
        <p:spPr>
          <a:xfrm>
            <a:off x="4572000" y="4062294"/>
            <a:ext cx="68949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Line Callout 1 24">
                <a:extLst>
                  <a:ext uri="{FF2B5EF4-FFF2-40B4-BE49-F238E27FC236}">
                    <a16:creationId xmlns:a16="http://schemas.microsoft.com/office/drawing/2014/main" id="{99BF5E85-ED54-A89C-0221-CE5810B57222}"/>
                  </a:ext>
                </a:extLst>
              </p:cNvPr>
              <p:cNvSpPr/>
              <p:nvPr/>
            </p:nvSpPr>
            <p:spPr>
              <a:xfrm>
                <a:off x="6090920" y="3498596"/>
                <a:ext cx="1676400" cy="306324"/>
              </a:xfrm>
              <a:prstGeom prst="borderCallout1">
                <a:avLst>
                  <a:gd name="adj1" fmla="val 49438"/>
                  <a:gd name="adj2" fmla="val 936"/>
                  <a:gd name="adj3" fmla="val -165084"/>
                  <a:gd name="adj4" fmla="val -140797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+</a:t>
                </a:r>
                <a:r>
                  <a:rPr lang="en-US" sz="1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1" name="Line Callout 1 24">
                <a:extLst>
                  <a:ext uri="{FF2B5EF4-FFF2-40B4-BE49-F238E27FC236}">
                    <a16:creationId xmlns:a16="http://schemas.microsoft.com/office/drawing/2014/main" id="{99BF5E85-ED54-A89C-0221-CE5810B572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920" y="3498596"/>
                <a:ext cx="1676400" cy="306324"/>
              </a:xfrm>
              <a:prstGeom prst="borderCallout1">
                <a:avLst>
                  <a:gd name="adj1" fmla="val 49438"/>
                  <a:gd name="adj2" fmla="val 936"/>
                  <a:gd name="adj3" fmla="val -165084"/>
                  <a:gd name="adj4" fmla="val -140797"/>
                </a:avLst>
              </a:prstGeom>
              <a:blipFill>
                <a:blip r:embed="rId15"/>
                <a:stretch>
                  <a:fillRect b="-65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Line Callout 1 28">
                <a:extLst>
                  <a:ext uri="{FF2B5EF4-FFF2-40B4-BE49-F238E27FC236}">
                    <a16:creationId xmlns:a16="http://schemas.microsoft.com/office/drawing/2014/main" id="{04FE12E9-7DD2-0D31-465D-17AF6EE5A30F}"/>
                  </a:ext>
                </a:extLst>
              </p:cNvPr>
              <p:cNvSpPr/>
              <p:nvPr/>
            </p:nvSpPr>
            <p:spPr>
              <a:xfrm>
                <a:off x="6090920" y="4300474"/>
                <a:ext cx="1676400" cy="306324"/>
              </a:xfrm>
              <a:prstGeom prst="borderCallout1">
                <a:avLst>
                  <a:gd name="adj1" fmla="val 49438"/>
                  <a:gd name="adj2" fmla="val 391"/>
                  <a:gd name="adj3" fmla="val -72546"/>
                  <a:gd name="adj4" fmla="val -75343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+</a:t>
                </a:r>
                <a:r>
                  <a:rPr lang="en-US" sz="1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400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2" name="Line Callout 1 28">
                <a:extLst>
                  <a:ext uri="{FF2B5EF4-FFF2-40B4-BE49-F238E27FC236}">
                    <a16:creationId xmlns:a16="http://schemas.microsoft.com/office/drawing/2014/main" id="{04FE12E9-7DD2-0D31-465D-17AF6EE5A3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920" y="4300474"/>
                <a:ext cx="1676400" cy="306324"/>
              </a:xfrm>
              <a:prstGeom prst="borderCallout1">
                <a:avLst>
                  <a:gd name="adj1" fmla="val 49438"/>
                  <a:gd name="adj2" fmla="val 391"/>
                  <a:gd name="adj3" fmla="val -72546"/>
                  <a:gd name="adj4" fmla="val -75343"/>
                </a:avLst>
              </a:prstGeom>
              <a:blipFill>
                <a:blip r:embed="rId16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1925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2" grpId="0"/>
      <p:bldP spid="5" grpId="0" animBg="1"/>
      <p:bldP spid="14" grpId="0"/>
      <p:bldP spid="18" grpId="0" animBg="1"/>
      <p:bldP spid="20" grpId="0"/>
      <p:bldP spid="26" grpId="0"/>
      <p:bldP spid="27" grpId="0"/>
      <p:bldP spid="30" grpId="0" animBg="1"/>
      <p:bldP spid="33" grpId="0" animBg="1"/>
      <p:bldP spid="7" grpId="0" animBg="1"/>
      <p:bldP spid="11" grpId="0"/>
      <p:bldP spid="15" grpId="0"/>
      <p:bldP spid="16" grpId="0"/>
      <p:bldP spid="17" grpId="0" animBg="1"/>
      <p:bldP spid="31" grpId="0" animBg="1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D4ADC-84F8-B615-B46C-98B96CC0B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58500AF-1D80-B63E-1D0D-706215A96347}"/>
              </a:ext>
            </a:extLst>
          </p:cNvPr>
          <p:cNvSpPr/>
          <p:nvPr/>
        </p:nvSpPr>
        <p:spPr>
          <a:xfrm>
            <a:off x="6454929" y="2254758"/>
            <a:ext cx="2225221" cy="61779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C853F-97A9-7B7B-4072-5A69BAABF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Example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0AD7F-057C-90AB-F27D-B6683DC4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F552D377-9A48-61A4-5826-A634F437753A}"/>
                  </a:ext>
                </a:extLst>
              </p:cNvPr>
              <p:cNvSpPr/>
              <p:nvPr/>
            </p:nvSpPr>
            <p:spPr>
              <a:xfrm>
                <a:off x="457200" y="1693904"/>
                <a:ext cx="1447800" cy="4572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F552D377-9A48-61A4-5826-A634F4377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93904"/>
                <a:ext cx="1447800" cy="4572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03533C-E6F3-FF56-B210-B3F5D3F12086}"/>
              </a:ext>
            </a:extLst>
          </p:cNvPr>
          <p:cNvCxnSpPr/>
          <p:nvPr/>
        </p:nvCxnSpPr>
        <p:spPr>
          <a:xfrm>
            <a:off x="457200" y="5715000"/>
            <a:ext cx="77724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E1AE336-7AEE-FF74-8324-061771B3FB1F}"/>
              </a:ext>
            </a:extLst>
          </p:cNvPr>
          <p:cNvSpPr txBox="1"/>
          <p:nvPr/>
        </p:nvSpPr>
        <p:spPr>
          <a:xfrm>
            <a:off x="3729129" y="5715000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38A2BFDD-EE81-8CB2-4B43-A3B371FB3362}"/>
                  </a:ext>
                </a:extLst>
              </p:cNvPr>
              <p:cNvSpPr/>
              <p:nvPr/>
            </p:nvSpPr>
            <p:spPr>
              <a:xfrm>
                <a:off x="457200" y="2760703"/>
                <a:ext cx="2286000" cy="4572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38A2BFDD-EE81-8CB2-4B43-A3B371FB33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60703"/>
                <a:ext cx="2286000" cy="4572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C18ED6-0DAC-49F6-E090-033719145485}"/>
              </a:ext>
            </a:extLst>
          </p:cNvPr>
          <p:cNvCxnSpPr/>
          <p:nvPr/>
        </p:nvCxnSpPr>
        <p:spPr>
          <a:xfrm>
            <a:off x="2971800" y="2743200"/>
            <a:ext cx="0" cy="4572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8995A68-E514-A64F-F9AF-20C94B02BED7}"/>
                  </a:ext>
                </a:extLst>
              </p:cNvPr>
              <p:cNvSpPr txBox="1"/>
              <p:nvPr/>
            </p:nvSpPr>
            <p:spPr>
              <a:xfrm>
                <a:off x="2743200" y="3294103"/>
                <a:ext cx="477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8995A68-E514-A64F-F9AF-20C94B02B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294103"/>
                <a:ext cx="47795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E5C4853-2B3C-5459-2B98-3D159D6951E3}"/>
              </a:ext>
            </a:extLst>
          </p:cNvPr>
          <p:cNvCxnSpPr/>
          <p:nvPr/>
        </p:nvCxnSpPr>
        <p:spPr>
          <a:xfrm>
            <a:off x="457200" y="1588532"/>
            <a:ext cx="14478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CB3B646-DF1B-F754-DA0B-699853482A9A}"/>
                  </a:ext>
                </a:extLst>
              </p:cNvPr>
              <p:cNvSpPr txBox="1"/>
              <p:nvPr/>
            </p:nvSpPr>
            <p:spPr>
              <a:xfrm>
                <a:off x="1371600" y="2362200"/>
                <a:ext cx="43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CB3B646-DF1B-F754-DA0B-699853482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2362200"/>
                <a:ext cx="43287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09A263D-6DF1-BD83-9F1A-A5F5CAEADA52}"/>
                  </a:ext>
                </a:extLst>
              </p:cNvPr>
              <p:cNvSpPr txBox="1"/>
              <p:nvPr/>
            </p:nvSpPr>
            <p:spPr>
              <a:xfrm>
                <a:off x="975170" y="1295400"/>
                <a:ext cx="4275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09A263D-6DF1-BD83-9F1A-A5F5CAEAD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70" y="1295400"/>
                <a:ext cx="42755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827BBF-C241-ADB4-CCEF-8141FA919F8E}"/>
              </a:ext>
            </a:extLst>
          </p:cNvPr>
          <p:cNvCxnSpPr/>
          <p:nvPr/>
        </p:nvCxnSpPr>
        <p:spPr>
          <a:xfrm>
            <a:off x="457200" y="2667000"/>
            <a:ext cx="22860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EB92BC3C-C24E-50D3-A825-A827616FB270}"/>
                  </a:ext>
                </a:extLst>
              </p:cNvPr>
              <p:cNvSpPr/>
              <p:nvPr/>
            </p:nvSpPr>
            <p:spPr>
              <a:xfrm>
                <a:off x="3813691" y="5222832"/>
                <a:ext cx="1447800" cy="4572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EB92BC3C-C24E-50D3-A825-A827616FB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691" y="5222832"/>
                <a:ext cx="1447800" cy="4572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058E3A9B-D7EF-BA5D-D582-3C625CDC68AF}"/>
                  </a:ext>
                </a:extLst>
              </p:cNvPr>
              <p:cNvSpPr/>
              <p:nvPr/>
            </p:nvSpPr>
            <p:spPr>
              <a:xfrm>
                <a:off x="460891" y="5222832"/>
                <a:ext cx="2286000" cy="4572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058E3A9B-D7EF-BA5D-D582-3C625CDC68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891" y="5222832"/>
                <a:ext cx="2286000" cy="4572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DDD6D47-A070-C978-83AA-D51B5B30DADE}"/>
              </a:ext>
            </a:extLst>
          </p:cNvPr>
          <p:cNvCxnSpPr>
            <a:cxnSpLocks/>
          </p:cNvCxnSpPr>
          <p:nvPr/>
        </p:nvCxnSpPr>
        <p:spPr>
          <a:xfrm>
            <a:off x="3962400" y="1909834"/>
            <a:ext cx="129909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11">
                <a:extLst>
                  <a:ext uri="{FF2B5EF4-FFF2-40B4-BE49-F238E27FC236}">
                    <a16:creationId xmlns:a16="http://schemas.microsoft.com/office/drawing/2014/main" id="{C606A3EB-8930-9FD3-5282-941CDB0FBE07}"/>
                  </a:ext>
                </a:extLst>
              </p:cNvPr>
              <p:cNvSpPr/>
              <p:nvPr/>
            </p:nvSpPr>
            <p:spPr>
              <a:xfrm>
                <a:off x="457200" y="3892393"/>
                <a:ext cx="1066798" cy="439338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ounded Rectangle 11">
                <a:extLst>
                  <a:ext uri="{FF2B5EF4-FFF2-40B4-BE49-F238E27FC236}">
                    <a16:creationId xmlns:a16="http://schemas.microsoft.com/office/drawing/2014/main" id="{C606A3EB-8930-9FD3-5282-941CDB0FB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892393"/>
                <a:ext cx="1066798" cy="439338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0CB9FAB-0EF1-D510-FAAD-05ECD87A2AC5}"/>
              </a:ext>
            </a:extLst>
          </p:cNvPr>
          <p:cNvCxnSpPr>
            <a:cxnSpLocks/>
          </p:cNvCxnSpPr>
          <p:nvPr/>
        </p:nvCxnSpPr>
        <p:spPr>
          <a:xfrm>
            <a:off x="420682" y="3798332"/>
            <a:ext cx="1103316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28A9A2-537C-A150-CF05-F2D2CF74D13E}"/>
                  </a:ext>
                </a:extLst>
              </p:cNvPr>
              <p:cNvSpPr txBox="1"/>
              <p:nvPr/>
            </p:nvSpPr>
            <p:spPr>
              <a:xfrm>
                <a:off x="815837" y="3470231"/>
                <a:ext cx="432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28A9A2-537C-A150-CF05-F2D2CF74D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37" y="3470231"/>
                <a:ext cx="43287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AA81B5A-CD5F-E5AD-13E2-62A63B97966F}"/>
              </a:ext>
            </a:extLst>
          </p:cNvPr>
          <p:cNvCxnSpPr/>
          <p:nvPr/>
        </p:nvCxnSpPr>
        <p:spPr>
          <a:xfrm>
            <a:off x="4572000" y="3833694"/>
            <a:ext cx="0" cy="4572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193626-C78C-43FE-C491-222A11A49CB1}"/>
              </a:ext>
            </a:extLst>
          </p:cNvPr>
          <p:cNvCxnSpPr/>
          <p:nvPr/>
        </p:nvCxnSpPr>
        <p:spPr>
          <a:xfrm>
            <a:off x="3962400" y="1672614"/>
            <a:ext cx="0" cy="45720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92EA17-9FBB-2159-BAF2-6916ECF9D920}"/>
                  </a:ext>
                </a:extLst>
              </p:cNvPr>
              <p:cNvSpPr txBox="1"/>
              <p:nvPr/>
            </p:nvSpPr>
            <p:spPr>
              <a:xfrm>
                <a:off x="3711630" y="2129814"/>
                <a:ext cx="472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92EA17-9FBB-2159-BAF2-6916ECF9D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630" y="2129814"/>
                <a:ext cx="47263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5F229CE-4ECE-6ABC-0A34-D9E7BAE0E4FD}"/>
                  </a:ext>
                </a:extLst>
              </p:cNvPr>
              <p:cNvSpPr txBox="1"/>
              <p:nvPr/>
            </p:nvSpPr>
            <p:spPr>
              <a:xfrm>
                <a:off x="4356206" y="4290894"/>
                <a:ext cx="477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5F229CE-4ECE-6ABC-0A34-D9E7BAE0E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206" y="4290894"/>
                <a:ext cx="47795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1">
                <a:extLst>
                  <a:ext uri="{FF2B5EF4-FFF2-40B4-BE49-F238E27FC236}">
                    <a16:creationId xmlns:a16="http://schemas.microsoft.com/office/drawing/2014/main" id="{36323EA6-AC0A-7A2A-E483-350448DB9573}"/>
                  </a:ext>
                </a:extLst>
              </p:cNvPr>
              <p:cNvSpPr/>
              <p:nvPr/>
            </p:nvSpPr>
            <p:spPr>
              <a:xfrm>
                <a:off x="2753631" y="5222832"/>
                <a:ext cx="1066798" cy="443428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ounded Rectangle 11">
                <a:extLst>
                  <a:ext uri="{FF2B5EF4-FFF2-40B4-BE49-F238E27FC236}">
                    <a16:creationId xmlns:a16="http://schemas.microsoft.com/office/drawing/2014/main" id="{36323EA6-AC0A-7A2A-E483-350448DB95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631" y="5222832"/>
                <a:ext cx="1066798" cy="44342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E95C898-A42C-B7F4-2450-A9A782033974}"/>
              </a:ext>
            </a:extLst>
          </p:cNvPr>
          <p:cNvCxnSpPr>
            <a:cxnSpLocks/>
          </p:cNvCxnSpPr>
          <p:nvPr/>
        </p:nvCxnSpPr>
        <p:spPr>
          <a:xfrm>
            <a:off x="5261491" y="1417638"/>
            <a:ext cx="0" cy="429736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Line Callout 1 24">
                <a:extLst>
                  <a:ext uri="{FF2B5EF4-FFF2-40B4-BE49-F238E27FC236}">
                    <a16:creationId xmlns:a16="http://schemas.microsoft.com/office/drawing/2014/main" id="{EF23B12C-1DCF-52C1-5B86-4F9677632DC4}"/>
                  </a:ext>
                </a:extLst>
              </p:cNvPr>
              <p:cNvSpPr/>
              <p:nvPr/>
            </p:nvSpPr>
            <p:spPr>
              <a:xfrm>
                <a:off x="6729340" y="2410492"/>
                <a:ext cx="1676400" cy="306324"/>
              </a:xfrm>
              <a:prstGeom prst="borderCallout1">
                <a:avLst>
                  <a:gd name="adj1" fmla="val 49438"/>
                  <a:gd name="adj2" fmla="val 936"/>
                  <a:gd name="adj3" fmla="val -165084"/>
                  <a:gd name="adj4" fmla="val -140797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+</a:t>
                </a:r>
                <a:r>
                  <a:rPr lang="en-US" sz="1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400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Line Callout 1 24">
                <a:extLst>
                  <a:ext uri="{FF2B5EF4-FFF2-40B4-BE49-F238E27FC236}">
                    <a16:creationId xmlns:a16="http://schemas.microsoft.com/office/drawing/2014/main" id="{EF23B12C-1DCF-52C1-5B86-4F9677632D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340" y="2410492"/>
                <a:ext cx="1676400" cy="306324"/>
              </a:xfrm>
              <a:prstGeom prst="borderCallout1">
                <a:avLst>
                  <a:gd name="adj1" fmla="val 49438"/>
                  <a:gd name="adj2" fmla="val 936"/>
                  <a:gd name="adj3" fmla="val -165084"/>
                  <a:gd name="adj4" fmla="val -140797"/>
                </a:avLst>
              </a:prstGeom>
              <a:blipFill>
                <a:blip r:embed="rId14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8825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AC495-DD3D-5FA4-8B2D-1709A4DB9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92DAD-751F-620C-F73D-1BC2EF1CD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Towards</a:t>
            </a:r>
            <a:r>
              <a:rPr lang="en-US" sz="3200" b="1" dirty="0"/>
              <a:t> designing 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2E8521-788D-F171-9230-56894BF9E3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Each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 has two parameters</a:t>
                </a:r>
              </a:p>
              <a:p>
                <a:r>
                  <a:rPr lang="en-US" sz="2000" b="1" dirty="0"/>
                  <a:t>Time</a:t>
                </a:r>
                <a:r>
                  <a:rPr lang="en-US" sz="2000" dirty="0"/>
                  <a:t> </a:t>
                </a:r>
                <a:r>
                  <a:rPr lang="en-US" sz="2000" b="1" dirty="0"/>
                  <a:t>of execution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000" b="1" dirty="0"/>
                  <a:t>Deadline</a:t>
                </a: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Idea 1</a:t>
                </a:r>
                <a:r>
                  <a:rPr lang="en-US" sz="2000" dirty="0"/>
                  <a:t>: Schedule the jobs in the increasing order of </a:t>
                </a:r>
                <a:r>
                  <a:rPr lang="en-US" sz="2000" b="1" dirty="0"/>
                  <a:t>Time</a:t>
                </a:r>
                <a:r>
                  <a:rPr lang="en-US" sz="2000" dirty="0"/>
                  <a:t> </a:t>
                </a:r>
                <a:r>
                  <a:rPr lang="en-US" sz="2000" b="1" dirty="0"/>
                  <a:t>of execution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1075B-44BA-45B3-5801-84F7367BC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9C67DCBB-EBC7-4410-6BB7-6A030548893D}"/>
              </a:ext>
            </a:extLst>
          </p:cNvPr>
          <p:cNvSpPr/>
          <p:nvPr/>
        </p:nvSpPr>
        <p:spPr>
          <a:xfrm>
            <a:off x="2819400" y="4584192"/>
            <a:ext cx="411487" cy="20452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4B987510-C115-DAD1-3247-0ECA379DD1C2}"/>
              </a:ext>
            </a:extLst>
          </p:cNvPr>
          <p:cNvSpPr/>
          <p:nvPr/>
        </p:nvSpPr>
        <p:spPr>
          <a:xfrm>
            <a:off x="5763768" y="4584192"/>
            <a:ext cx="408432" cy="20452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1253B3-A604-039E-8A24-B0132B776987}"/>
              </a:ext>
            </a:extLst>
          </p:cNvPr>
          <p:cNvSpPr txBox="1"/>
          <p:nvPr/>
        </p:nvSpPr>
        <p:spPr>
          <a:xfrm>
            <a:off x="1905000" y="4191000"/>
            <a:ext cx="219457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Try to prove correctness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D6D090-0ABA-3DFB-1A21-3B78B18B7230}"/>
              </a:ext>
            </a:extLst>
          </p:cNvPr>
          <p:cNvSpPr txBox="1"/>
          <p:nvPr/>
        </p:nvSpPr>
        <p:spPr>
          <a:xfrm>
            <a:off x="4434825" y="4191000"/>
            <a:ext cx="343158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Try to come up with a counter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ED761A-868B-E50E-9692-486DE5230B7E}"/>
              </a:ext>
            </a:extLst>
          </p:cNvPr>
          <p:cNvSpPr/>
          <p:nvPr/>
        </p:nvSpPr>
        <p:spPr>
          <a:xfrm>
            <a:off x="1295400" y="3429000"/>
            <a:ext cx="1828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39C52-F8F8-92E3-1920-008EA139BE0E}"/>
              </a:ext>
            </a:extLst>
          </p:cNvPr>
          <p:cNvSpPr/>
          <p:nvPr/>
        </p:nvSpPr>
        <p:spPr>
          <a:xfrm>
            <a:off x="3200400" y="34290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B9CB1A-C04B-319B-042A-A0D7EFAEF01A}"/>
              </a:ext>
            </a:extLst>
          </p:cNvPr>
          <p:cNvSpPr txBox="1"/>
          <p:nvPr/>
        </p:nvSpPr>
        <p:spPr>
          <a:xfrm>
            <a:off x="3102773" y="6430963"/>
            <a:ext cx="282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  <a:r>
              <a:rPr lang="en-US" dirty="0"/>
              <a:t>: Pursue this idea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239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7" grpId="0" animBg="1"/>
      <p:bldP spid="8" grpId="0" animBg="1"/>
      <p:bldP spid="9" grpId="0" animBg="1"/>
      <p:bldP spid="10" grpId="0" animBg="1"/>
      <p:bldP spid="5" grpId="0" animBg="1"/>
      <p:bldP spid="11" grpId="0" animBg="1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Huffman Codes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dirty="0">
                <a:solidFill>
                  <a:srgbClr val="0070C0"/>
                </a:solidFill>
              </a:rPr>
              <a:t>novel</a:t>
            </a:r>
            <a:r>
              <a:rPr lang="en-US" dirty="0">
                <a:solidFill>
                  <a:schemeClr val="tx1"/>
                </a:solidFill>
              </a:rPr>
              <a:t> and quite </a:t>
            </a:r>
            <a:r>
              <a:rPr lang="en-US" dirty="0">
                <a:solidFill>
                  <a:srgbClr val="0070C0"/>
                </a:solidFill>
              </a:rPr>
              <a:t>inspiring</a:t>
            </a:r>
            <a:r>
              <a:rPr lang="en-US" dirty="0">
                <a:solidFill>
                  <a:schemeClr val="tx1"/>
                </a:solidFill>
              </a:rPr>
              <a:t> application of greedy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74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Binary coding</a:t>
            </a:r>
            <a:br>
              <a:rPr lang="en-US" sz="3600" b="1" dirty="0"/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181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alphabet set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𝑨</m:t>
                    </m:r>
                    <m:r>
                      <a:rPr lang="en-US" sz="2000" b="1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: 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 }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 text File</a:t>
                </a:r>
                <a:r>
                  <a:rPr lang="en-US" sz="2000" dirty="0"/>
                  <a:t>: a sequence of alphabets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 How many bits needed to encode a text file of size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</m:oMath>
                </a14:m>
                <a:r>
                  <a:rPr lang="en-US" sz="2000" dirty="0"/>
                  <a:t> alphabets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 </m:t>
                    </m:r>
                    <m:d>
                      <m:dPr>
                        <m:begChr m:val="⌈"/>
                        <m:endChr m:val="⌉"/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000" dirty="0"/>
                  <a:t> bits.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181600"/>
              </a:xfrm>
              <a:blipFill rotWithShape="1">
                <a:blip r:embed="rId2"/>
                <a:stretch>
                  <a:fillRect l="-741" t="-588" b="-8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3657600" y="2895600"/>
            <a:ext cx="762000" cy="637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990600" y="2362200"/>
            <a:ext cx="2438400" cy="2350532"/>
            <a:chOff x="990600" y="2362200"/>
            <a:chExt cx="2438400" cy="2350532"/>
          </a:xfrm>
        </p:grpSpPr>
        <p:sp>
          <p:nvSpPr>
            <p:cNvPr id="5" name="Rounded Rectangle 4"/>
            <p:cNvSpPr/>
            <p:nvPr/>
          </p:nvSpPr>
          <p:spPr>
            <a:xfrm>
              <a:off x="990600" y="2362200"/>
              <a:ext cx="2438400" cy="1905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6C31"/>
                  </a:solidFill>
                  <a:latin typeface="Edwardian Script ITC" pitchFamily="66" charset="0"/>
                </a:rPr>
                <a:t>once upon a time </a:t>
              </a:r>
              <a:r>
                <a:rPr lang="en-US" dirty="0">
                  <a:solidFill>
                    <a:srgbClr val="006C31"/>
                  </a:solidFill>
                </a:rPr>
                <a:t>…………..</a:t>
              </a:r>
            </a:p>
            <a:p>
              <a:pPr algn="ctr"/>
              <a:r>
                <a:rPr lang="en-US" dirty="0">
                  <a:solidFill>
                    <a:srgbClr val="006C31"/>
                  </a:solidFill>
                </a:rPr>
                <a:t>…………………………….</a:t>
              </a:r>
            </a:p>
            <a:p>
              <a:pPr algn="ctr"/>
              <a:r>
                <a:rPr lang="en-US" dirty="0">
                  <a:solidFill>
                    <a:srgbClr val="006C31"/>
                  </a:solidFill>
                </a:rPr>
                <a:t>……………………………..</a:t>
              </a:r>
            </a:p>
            <a:p>
              <a:r>
                <a:rPr lang="en-US" dirty="0">
                  <a:solidFill>
                    <a:srgbClr val="006C31"/>
                  </a:solidFill>
                </a:rPr>
                <a:t>  …………………</a:t>
              </a:r>
            </a:p>
            <a:p>
              <a:pPr algn="ctr"/>
              <a:endParaRPr lang="en-US" dirty="0">
                <a:solidFill>
                  <a:srgbClr val="006C31"/>
                </a:solidFill>
              </a:endParaRPr>
            </a:p>
            <a:p>
              <a:pPr algn="ctr"/>
              <a:endParaRPr lang="en-US" dirty="0">
                <a:solidFill>
                  <a:srgbClr val="006C31"/>
                </a:solidFill>
              </a:endParaRPr>
            </a:p>
            <a:p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00200" y="4343400"/>
              <a:ext cx="1265090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 text file </a:t>
              </a:r>
              <a:r>
                <a:rPr lang="en-US" b="1" dirty="0">
                  <a:solidFill>
                    <a:srgbClr val="7030A0"/>
                  </a:solidFill>
                </a:rPr>
                <a:t>F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648201" y="1905000"/>
            <a:ext cx="3047999" cy="3341132"/>
            <a:chOff x="4648201" y="1905000"/>
            <a:chExt cx="3047999" cy="3341132"/>
          </a:xfrm>
        </p:grpSpPr>
        <p:pic>
          <p:nvPicPr>
            <p:cNvPr id="1026" name="Picture 2" descr="C:\Users\Surender Baswana\Desktop\CS345\binary_file_icon-999px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201" y="1905000"/>
              <a:ext cx="3047999" cy="30479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5334000" y="4876800"/>
              <a:ext cx="1891736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Binary coding of </a:t>
              </a:r>
              <a:r>
                <a:rPr lang="en-US" b="1" dirty="0">
                  <a:solidFill>
                    <a:srgbClr val="7030A0"/>
                  </a:solidFill>
                </a:rPr>
                <a:t>F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1676400" y="1600200"/>
            <a:ext cx="26670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286000" y="1143000"/>
            <a:ext cx="26670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076700" y="52578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600200" y="52578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Fixed length </a:t>
            </a:r>
            <a:r>
              <a:rPr lang="en-US" sz="3600" b="1" dirty="0"/>
              <a:t>coding</a:t>
            </a:r>
            <a:br>
              <a:rPr lang="en-US" sz="3600" b="1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alphabet set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: 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 }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What is a binary coding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?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     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</a:t>
                </a:r>
                <a:r>
                  <a:rPr lang="en-US" sz="2000" b="1" dirty="0">
                    <a:sym typeface="Wingdings" pitchFamily="2" charset="2"/>
                  </a:rPr>
                  <a:t>binary strings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What is a </a:t>
                </a:r>
                <a:r>
                  <a:rPr lang="en-US" sz="2000" b="1" dirty="0"/>
                  <a:t>fixed length </a:t>
                </a:r>
                <a:r>
                  <a:rPr lang="en-US" sz="2000" dirty="0"/>
                  <a:t>coding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?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each alphabet </a:t>
                </a:r>
                <a:r>
                  <a:rPr lang="en-US" sz="2000" dirty="0">
                    <a:sym typeface="Wingdings" pitchFamily="2" charset="2"/>
                  </a:rPr>
                  <a:t> a unique binary </a:t>
                </a:r>
                <a:r>
                  <a:rPr lang="en-US" sz="2000" dirty="0"/>
                  <a:t>string of length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dirty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2000" b="1" i="1" dirty="0">
                            <a:latin typeface="Cambria Math"/>
                          </a:rPr>
                          <m:t> 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How to decode a </a:t>
                </a:r>
                <a:r>
                  <a:rPr lang="en-US" sz="2000" b="1" dirty="0"/>
                  <a:t>fixed length binary </a:t>
                </a:r>
                <a:r>
                  <a:rPr lang="en-US" sz="2000" dirty="0"/>
                  <a:t>coding?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</a:t>
                </a:r>
                <a:r>
                  <a:rPr lang="en-US" sz="2000" dirty="0">
                    <a:solidFill>
                      <a:srgbClr val="7030A0"/>
                    </a:solidFill>
                  </a:rPr>
                  <a:t>easy </a:t>
                </a:r>
                <a:r>
                  <a:rPr lang="en-US" sz="2000" dirty="0">
                    <a:solidFill>
                      <a:srgbClr val="7030A0"/>
                    </a:solidFill>
                    <a:sym typeface="Wingdings" pitchFamily="2" charset="2"/>
                  </a:rPr>
                  <a:t></a:t>
                </a: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7030A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/>
                        </a:rPr>
                        <m:t>    </m:t>
                      </m:r>
                      <m:r>
                        <a:rPr lang="en-US" sz="2000" b="1" i="1" dirty="0">
                          <a:latin typeface="Cambria Math"/>
                        </a:rPr>
                        <m:t>𝟎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𝟏𝟎𝟎𝟏𝟎𝟏𝟎𝟎𝟎𝟎𝟎𝟏𝟎𝟏𝟏</m:t>
                      </m:r>
                      <m:r>
                        <a:rPr lang="en-US" sz="2000" b="1" i="1" dirty="0" smtClean="0">
                          <a:latin typeface="Cambria Math"/>
                        </a:rPr>
                        <m:t>…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  <a:blipFill rotWithShape="1">
                <a:blip r:embed="rId2"/>
                <a:stretch>
                  <a:fillRect l="-741" t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3962400" y="4800600"/>
            <a:ext cx="1828800" cy="457200"/>
            <a:chOff x="3962400" y="4800600"/>
            <a:chExt cx="1828800" cy="4572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962400" y="4800600"/>
              <a:ext cx="0" cy="45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572000" y="4800600"/>
              <a:ext cx="0" cy="45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5181600" y="4800600"/>
              <a:ext cx="0" cy="45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5791200" y="4800600"/>
              <a:ext cx="0" cy="45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/>
          <p:nvPr/>
        </p:nvSpPr>
        <p:spPr>
          <a:xfrm>
            <a:off x="1600200" y="37338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600200" y="26670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600200" y="16002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971800" y="30480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69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4" grpId="0" animBg="1"/>
      <p:bldP spid="15" grpId="0" animBg="1"/>
      <p:bldP spid="16" grpId="0" animBg="1"/>
      <p:bldP spid="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Fixed length </a:t>
            </a:r>
            <a:r>
              <a:rPr lang="en-US" sz="3600" b="1" dirty="0"/>
              <a:t>coding</a:t>
            </a:r>
            <a:br>
              <a:rPr lang="en-US" sz="3600" b="1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alphabet set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: 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 }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Can we use fewer than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dirty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2000" b="1" i="1" dirty="0">
                            <a:latin typeface="Cambria Math"/>
                          </a:rPr>
                          <m:t> 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000" dirty="0"/>
                  <a:t> bits for each </a:t>
                </a:r>
                <a:r>
                  <a:rPr lang="en-US" sz="2000" u="sng" dirty="0"/>
                  <a:t>alphabet of  </a:t>
                </a:r>
                <a14:m>
                  <m:oMath xmlns:m="http://schemas.openxmlformats.org/officeDocument/2006/math">
                    <m:r>
                      <a:rPr lang="en-US" sz="2000" b="1" i="1" u="sng" dirty="0">
                        <a:latin typeface="Cambria Math"/>
                      </a:rPr>
                      <m:t>𝑨</m:t>
                    </m:r>
                    <m:r>
                      <a:rPr lang="en-US" sz="2000" b="1" i="1" u="sng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u="sng" dirty="0"/>
                  <a:t> </a:t>
                </a:r>
                <a:r>
                  <a:rPr lang="en-US" sz="2000" dirty="0"/>
                  <a:t>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No.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Can we use fewer than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 </m:t>
                    </m:r>
                    <m:d>
                      <m:dPr>
                        <m:begChr m:val="⌈"/>
                        <m:endChr m:val="⌉"/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dirty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2000" b="1" i="1" dirty="0">
                            <a:latin typeface="Cambria Math"/>
                          </a:rPr>
                          <m:t> 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000" dirty="0"/>
                  <a:t> bits to store a </a:t>
                </a:r>
                <a:r>
                  <a:rPr lang="en-US" sz="2000" u="sng" dirty="0"/>
                  <a:t>file</a:t>
                </a:r>
                <a:r>
                  <a:rPr lang="en-US" sz="2000" dirty="0"/>
                  <a:t> of length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</m:oMath>
                </a14:m>
                <a:r>
                  <a:rPr lang="en-US" sz="2000" dirty="0"/>
                  <a:t>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</a:t>
                </a:r>
                <a:r>
                  <a:rPr lang="en-US" sz="2000" dirty="0">
                    <a:solidFill>
                      <a:srgbClr val="006C31"/>
                    </a:solidFill>
                  </a:rPr>
                  <a:t>Yes most likely.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  <a:blipFill>
                <a:blip r:embed="rId2"/>
                <a:stretch>
                  <a:fillRect l="-772" t="-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24148" y="1966119"/>
            <a:ext cx="3709851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00200" y="4114800"/>
            <a:ext cx="7086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344885" y="2003051"/>
            <a:ext cx="3709851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2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huge variation </a:t>
            </a:r>
            <a:r>
              <a:rPr lang="en-US" sz="3200" b="1" dirty="0"/>
              <a:t>in the </a:t>
            </a:r>
            <a:r>
              <a:rPr lang="en-US" sz="3200" b="1" dirty="0">
                <a:solidFill>
                  <a:srgbClr val="0070C0"/>
                </a:solidFill>
              </a:rPr>
              <a:t>frequency</a:t>
            </a:r>
            <a:r>
              <a:rPr lang="en-US" sz="3200" b="1" dirty="0"/>
              <a:t> of </a:t>
            </a:r>
            <a:br>
              <a:rPr lang="en-US" sz="3200" b="1" dirty="0"/>
            </a:br>
            <a:r>
              <a:rPr lang="en-US" sz="3200" b="1" dirty="0"/>
              <a:t>alphabets in a text.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4179"/>
            <a:ext cx="5419526" cy="4335621"/>
          </a:xfrm>
        </p:spPr>
      </p:pic>
      <p:pic>
        <p:nvPicPr>
          <p:cNvPr id="15" name="Content Placeholder 1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054" y="1600200"/>
            <a:ext cx="2185546" cy="492395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09600" y="6107668"/>
            <a:ext cx="454509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http://en.wikipedia.org/wiki/Letter_frequency</a:t>
            </a:r>
          </a:p>
        </p:txBody>
      </p:sp>
    </p:spTree>
    <p:extLst>
      <p:ext uri="{BB962C8B-B14F-4D97-AF65-F5344CB8AC3E}">
        <p14:creationId xmlns:p14="http://schemas.microsoft.com/office/powerpoint/2010/main" val="3308296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huge variation </a:t>
            </a:r>
            <a:r>
              <a:rPr lang="en-US" sz="3200" b="1" dirty="0"/>
              <a:t>in the </a:t>
            </a:r>
            <a:r>
              <a:rPr lang="en-US" sz="3200" b="1" dirty="0">
                <a:solidFill>
                  <a:srgbClr val="0070C0"/>
                </a:solidFill>
              </a:rPr>
              <a:t>frequency</a:t>
            </a:r>
            <a:r>
              <a:rPr lang="en-US" sz="3200" b="1" dirty="0"/>
              <a:t> of </a:t>
            </a:r>
            <a:br>
              <a:rPr lang="en-US" sz="3200" b="1" dirty="0"/>
            </a:br>
            <a:r>
              <a:rPr lang="en-US" sz="3200" b="1" dirty="0"/>
              <a:t>alphabets in a text.</a:t>
            </a:r>
            <a:endParaRPr lang="en-US" sz="32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</a:t>
            </a:r>
            <a:r>
              <a:rPr lang="en-US" sz="2000" dirty="0"/>
              <a:t>: How to exploit variation in the frequencies of alphabets 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Answer</a:t>
            </a:r>
            <a:r>
              <a:rPr lang="en-US" sz="2000" dirty="0"/>
              <a:t>: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More frequent </a:t>
            </a:r>
            <a:r>
              <a:rPr lang="en-US" sz="2000" dirty="0"/>
              <a:t>alphabets </a:t>
            </a:r>
            <a:r>
              <a:rPr lang="en-US" sz="2000" dirty="0">
                <a:sym typeface="Wingdings" pitchFamily="2" charset="2"/>
              </a:rPr>
              <a:t> coding with </a:t>
            </a:r>
            <a:r>
              <a:rPr lang="en-US" sz="2000" b="1" dirty="0">
                <a:sym typeface="Wingdings" pitchFamily="2" charset="2"/>
              </a:rPr>
              <a:t>shorter bit string</a:t>
            </a:r>
          </a:p>
          <a:p>
            <a:pPr marL="0" indent="0">
              <a:buNone/>
            </a:pPr>
            <a:r>
              <a:rPr lang="en-US" sz="2000" b="1" dirty="0">
                <a:sym typeface="Wingdings" pitchFamily="2" charset="2"/>
              </a:rPr>
              <a:t>Less frequent </a:t>
            </a:r>
            <a:r>
              <a:rPr lang="en-US" sz="2000" dirty="0">
                <a:sym typeface="Wingdings" pitchFamily="2" charset="2"/>
              </a:rPr>
              <a:t>alphabets  coding with </a:t>
            </a:r>
            <a:r>
              <a:rPr lang="en-US" sz="2000" b="1" dirty="0">
                <a:sym typeface="Wingdings" pitchFamily="2" charset="2"/>
              </a:rPr>
              <a:t>longer bit string</a:t>
            </a:r>
            <a:endParaRPr lang="en-US" sz="20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200400" y="41148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124200" y="45720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00200" y="2667000"/>
            <a:ext cx="6019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73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Variable</a:t>
            </a:r>
            <a:r>
              <a:rPr lang="en-US" sz="3200" b="1" dirty="0"/>
              <a:t> length encoding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37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Alphabets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Frequency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Encoding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dirty="0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𝜸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𝒆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658900028"/>
                  </p:ext>
                </p:extLst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/>
                    <a:gridCol w="1168400"/>
                    <a:gridCol w="1168400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Alphabets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1047" t="-4762" r="-100524" b="-4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0000" t="-4762" b="-436190"/>
                          </a:stretch>
                        </a:blipFill>
                      </a:tcPr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120879" r="-199479" b="-4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218478" r="-199479" b="-298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321978" r="-199479" b="-20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417391" r="-1994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523077" r="-199479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191000" y="1600200"/>
                <a:ext cx="4876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/>
                  <a:t>Average bit length </a:t>
                </a:r>
                <a:r>
                  <a:rPr lang="en-US" sz="1800" dirty="0"/>
                  <a:t>per symbol using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0" dirty="0" smtClean="0">
                          <a:latin typeface="Cambria Math"/>
                        </a:rPr>
                        <m:t>𝐀𝐁𝐋</m:t>
                      </m:r>
                      <m:d>
                        <m:d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𝜸</m:t>
                          </m:r>
                        </m:e>
                      </m:d>
                      <m:r>
                        <a:rPr lang="en-US" sz="1800" b="0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dirty="0" smtClean="0">
                              <a:latin typeface="Cambria Math"/>
                            </a:rPr>
                            <m:t>𝑥</m:t>
                          </m:r>
                          <m:r>
                            <a:rPr lang="en-US" sz="1800" b="0" i="1" dirty="0" smtClean="0">
                              <a:latin typeface="Cambria Math"/>
                            </a:rPr>
                            <m:t>∈</m:t>
                          </m:r>
                          <m:r>
                            <a:rPr lang="en-US" sz="1800" b="1" i="1" dirty="0" smtClean="0">
                              <a:latin typeface="Cambria Math"/>
                            </a:rPr>
                            <m:t>𝑨</m:t>
                          </m:r>
                        </m:sub>
                        <m:sup/>
                        <m:e>
                          <m:r>
                            <a:rPr lang="en-US" sz="1800" b="0" i="1" dirty="0" smtClean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800" b="0" i="1" dirty="0" smtClean="0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dirty="0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𝜸</m:t>
                              </m:r>
                              <m:d>
                                <m:dPr>
                                  <m:ctrlP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800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US" sz="1800" i="1" dirty="0">
                    <a:latin typeface="Cambria Math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𝟒𝟓</m:t>
                    </m:r>
                    <m:r>
                      <a:rPr lang="en-US" sz="1600" b="0" i="1" dirty="0" smtClean="0">
                        <a:latin typeface="Cambria Math"/>
                        <a:ea typeface="Cambria Math"/>
                      </a:rPr>
                      <m:t>⨯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𝟏𝟖</m:t>
                    </m:r>
                    <m:r>
                      <a:rPr lang="en-US" sz="1600" i="1" dirty="0">
                        <a:latin typeface="Cambria Math"/>
                        <a:ea typeface="Cambria Math"/>
                      </a:rPr>
                      <m:t>⨯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𝟐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𝟏𝟐</m:t>
                    </m:r>
                    <m:r>
                      <a:rPr lang="en-US" sz="1600" b="1" i="1" dirty="0">
                        <a:latin typeface="Cambria Math"/>
                      </a:rPr>
                      <m:t>+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𝟏𝟎</m:t>
                    </m:r>
                    <m:r>
                      <a:rPr lang="en-US" sz="16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  <m:r>
                      <a:rPr lang="en-US" sz="1600" i="1" dirty="0">
                        <a:latin typeface="Cambria Math"/>
                        <a:ea typeface="Cambria Math"/>
                      </a:rPr>
                      <m:t>⨯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𝟑</m:t>
                    </m:r>
                  </m:oMath>
                </a14:m>
                <a:endParaRPr lang="en-US" sz="1600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𝟗𝟐</m:t>
                    </m:r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191000" y="1600200"/>
                <a:ext cx="4876800" cy="4525963"/>
              </a:xfrm>
              <a:blipFill>
                <a:blip r:embed="rId3"/>
                <a:stretch>
                  <a:fillRect l="-1125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124200" y="2831068"/>
            <a:ext cx="573428" cy="2643664"/>
            <a:chOff x="3467496" y="2831068"/>
            <a:chExt cx="573428" cy="2643664"/>
          </a:xfrm>
        </p:grpSpPr>
        <p:sp>
          <p:nvSpPr>
            <p:cNvPr id="13" name="TextBox 12"/>
            <p:cNvSpPr txBox="1"/>
            <p:nvPr/>
          </p:nvSpPr>
          <p:spPr>
            <a:xfrm>
              <a:off x="3467496" y="34290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05200" y="2831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05200" y="3962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02876" y="4507468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505200" y="5105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111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Down Ribbon 18"/>
              <p:cNvSpPr/>
              <p:nvPr/>
            </p:nvSpPr>
            <p:spPr>
              <a:xfrm>
                <a:off x="4495800" y="4841319"/>
                <a:ext cx="4419600" cy="9906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There is a serious problem with the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  <m:r>
                      <a:rPr lang="en-US" b="1" i="1" dirty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encoding. Can you see? </a:t>
                </a:r>
              </a:p>
            </p:txBody>
          </p:sp>
        </mc:Choice>
        <mc:Fallback>
          <p:sp>
            <p:nvSpPr>
              <p:cNvPr id="19" name="Down Ribbon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4841319"/>
                <a:ext cx="4419600" cy="9906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6781800" y="1981200"/>
            <a:ext cx="427578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981200"/>
            <a:ext cx="609600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6172200" y="1942068"/>
            <a:ext cx="1676400" cy="6487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83381" y="3352800"/>
            <a:ext cx="574219" cy="533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124200" y="4495800"/>
            <a:ext cx="574219" cy="533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DB69B9-1263-310F-35CD-C84B3A8B63B6}"/>
              </a:ext>
            </a:extLst>
          </p:cNvPr>
          <p:cNvSpPr/>
          <p:nvPr/>
        </p:nvSpPr>
        <p:spPr>
          <a:xfrm>
            <a:off x="6172200" y="1942068"/>
            <a:ext cx="1981200" cy="6487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EFF6E6-55D1-3920-0BD0-D37CFC71C648}"/>
              </a:ext>
            </a:extLst>
          </p:cNvPr>
          <p:cNvSpPr/>
          <p:nvPr/>
        </p:nvSpPr>
        <p:spPr>
          <a:xfrm>
            <a:off x="6019800" y="1295400"/>
            <a:ext cx="2133600" cy="6487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3E6C7C-3C42-698A-3228-77958B76C5FB}"/>
              </a:ext>
            </a:extLst>
          </p:cNvPr>
          <p:cNvSpPr/>
          <p:nvPr/>
        </p:nvSpPr>
        <p:spPr>
          <a:xfrm>
            <a:off x="6477000" y="2656820"/>
            <a:ext cx="2590800" cy="6197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84498E-A4B2-82B2-2A3E-81D64360B17D}"/>
              </a:ext>
            </a:extLst>
          </p:cNvPr>
          <p:cNvSpPr/>
          <p:nvPr/>
        </p:nvSpPr>
        <p:spPr>
          <a:xfrm>
            <a:off x="5410200" y="2667000"/>
            <a:ext cx="2590800" cy="6197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1CD6E7-E2BD-5846-3892-8DB2506F46D6}"/>
              </a:ext>
            </a:extLst>
          </p:cNvPr>
          <p:cNvSpPr/>
          <p:nvPr/>
        </p:nvSpPr>
        <p:spPr>
          <a:xfrm>
            <a:off x="4495800" y="2656820"/>
            <a:ext cx="2590800" cy="6197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DB24DD-A62F-E10B-CA64-DECA892CA101}"/>
              </a:ext>
            </a:extLst>
          </p:cNvPr>
          <p:cNvSpPr txBox="1"/>
          <p:nvPr/>
        </p:nvSpPr>
        <p:spPr>
          <a:xfrm>
            <a:off x="76200" y="1417638"/>
            <a:ext cx="4018857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Let us think of some encoding exploiting </a:t>
            </a:r>
          </a:p>
          <a:p>
            <a:r>
              <a:rPr lang="en-US" dirty="0"/>
              <a:t>the variation in frequencies.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CFE84D-BE1D-8489-7119-0324006C7F0F}"/>
              </a:ext>
            </a:extLst>
          </p:cNvPr>
          <p:cNvSpPr txBox="1"/>
          <p:nvPr/>
        </p:nvSpPr>
        <p:spPr>
          <a:xfrm>
            <a:off x="3102773" y="6430963"/>
            <a:ext cx="2743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  <a:r>
              <a:rPr lang="en-US" dirty="0"/>
              <a:t>: Ponder over 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075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9" grpId="0" animBg="1"/>
      <p:bldP spid="19" grpId="1" animBg="1"/>
      <p:bldP spid="3" grpId="0" animBg="1"/>
      <p:bldP spid="3" grpId="1" animBg="1"/>
      <p:bldP spid="22" grpId="0" animBg="1"/>
      <p:bldP spid="22" grpId="1" animBg="1"/>
      <p:bldP spid="4" grpId="0" animBg="1"/>
      <p:bldP spid="6" grpId="0" animBg="1"/>
      <p:bldP spid="24" grpId="0" animBg="1"/>
      <p:bldP spid="2" grpId="0" animBg="1"/>
      <p:bldP spid="7" grpId="0" animBg="1"/>
      <p:bldP spid="9" grpId="0" animBg="1"/>
      <p:bldP spid="12" grpId="0" animBg="1"/>
      <p:bldP spid="21" grpId="0" animBg="1"/>
      <p:bldP spid="25" grpId="0" animBg="1"/>
      <p:bldP spid="25" grpId="1" animBg="1"/>
      <p:bldP spid="2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14338</TotalTime>
  <Words>1916</Words>
  <Application>Microsoft Office PowerPoint</Application>
  <PresentationFormat>On-screen Show (4:3)</PresentationFormat>
  <Paragraphs>476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Cambria Math</vt:lpstr>
      <vt:lpstr>Edwardian Script ITC</vt:lpstr>
      <vt:lpstr>Wingdings</vt:lpstr>
      <vt:lpstr>Office Theme</vt:lpstr>
      <vt:lpstr>Design and Analysis of Algorithms </vt:lpstr>
      <vt:lpstr>Problem 1</vt:lpstr>
      <vt:lpstr>Path to the solution of a problem</vt:lpstr>
      <vt:lpstr>Today’s lecture will demonstrate this approach  </vt:lpstr>
      <vt:lpstr>  A job scheduling problem  </vt:lpstr>
      <vt:lpstr>PowerPoint Presentation</vt:lpstr>
      <vt:lpstr>  </vt:lpstr>
      <vt:lpstr>Designing algorithm for any problem </vt:lpstr>
      <vt:lpstr>Designing algorithm for the problem </vt:lpstr>
      <vt:lpstr>Designing algorithm for the problem </vt:lpstr>
      <vt:lpstr>Designing algorithm for the problem </vt:lpstr>
      <vt:lpstr>Designing algorithm for the problem </vt:lpstr>
      <vt:lpstr>Designing algorithm for the problem </vt:lpstr>
      <vt:lpstr>Designing algorithm for the problem </vt:lpstr>
      <vt:lpstr>Designing algorithm for the problem </vt:lpstr>
      <vt:lpstr>Designing algorithm for the problem </vt:lpstr>
      <vt:lpstr>Designing algorithm for the problem </vt:lpstr>
      <vt:lpstr>Designing algorithm for the problem </vt:lpstr>
      <vt:lpstr>Algorithm “earliest finish time” Description</vt:lpstr>
      <vt:lpstr>Algorithm “earliest finish time” Correctness</vt:lpstr>
      <vt:lpstr>Algorithm “earliest finish time” Correctness</vt:lpstr>
      <vt:lpstr>Homework</vt:lpstr>
      <vt:lpstr>Problem 2</vt:lpstr>
      <vt:lpstr>PowerPoint Presentation</vt:lpstr>
      <vt:lpstr>Example</vt:lpstr>
      <vt:lpstr>Example</vt:lpstr>
      <vt:lpstr>Towards designing an algorithm</vt:lpstr>
      <vt:lpstr>Huffman Codes</vt:lpstr>
      <vt:lpstr>Binary coding </vt:lpstr>
      <vt:lpstr>Fixed length coding </vt:lpstr>
      <vt:lpstr>Fixed length coding </vt:lpstr>
      <vt:lpstr>huge variation in the frequency of  alphabets in a text.</vt:lpstr>
      <vt:lpstr>huge variation in the frequency of  alphabets in a text.</vt:lpstr>
      <vt:lpstr>Variable length encoding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1370</cp:revision>
  <dcterms:created xsi:type="dcterms:W3CDTF">2011-12-03T04:13:03Z</dcterms:created>
  <dcterms:modified xsi:type="dcterms:W3CDTF">2025-08-20T11:16:11Z</dcterms:modified>
</cp:coreProperties>
</file>