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6"/>
  </p:notesMasterIdLst>
  <p:sldIdLst>
    <p:sldId id="516" r:id="rId2"/>
    <p:sldId id="604" r:id="rId3"/>
    <p:sldId id="603" r:id="rId4"/>
    <p:sldId id="610" r:id="rId5"/>
    <p:sldId id="688" r:id="rId6"/>
    <p:sldId id="692" r:id="rId7"/>
    <p:sldId id="613" r:id="rId8"/>
    <p:sldId id="689" r:id="rId9"/>
    <p:sldId id="693" r:id="rId10"/>
    <p:sldId id="615" r:id="rId11"/>
    <p:sldId id="690" r:id="rId12"/>
    <p:sldId id="694" r:id="rId13"/>
    <p:sldId id="617" r:id="rId14"/>
    <p:sldId id="619" r:id="rId15"/>
    <p:sldId id="630" r:id="rId16"/>
    <p:sldId id="631" r:id="rId17"/>
    <p:sldId id="702" r:id="rId18"/>
    <p:sldId id="539" r:id="rId19"/>
    <p:sldId id="536" r:id="rId20"/>
    <p:sldId id="537" r:id="rId21"/>
    <p:sldId id="544" r:id="rId22"/>
    <p:sldId id="572" r:id="rId23"/>
    <p:sldId id="538" r:id="rId24"/>
    <p:sldId id="513" r:id="rId25"/>
    <p:sldId id="533" r:id="rId26"/>
    <p:sldId id="502" r:id="rId27"/>
    <p:sldId id="545" r:id="rId28"/>
    <p:sldId id="695" r:id="rId29"/>
    <p:sldId id="487" r:id="rId30"/>
    <p:sldId id="696" r:id="rId31"/>
    <p:sldId id="697" r:id="rId32"/>
    <p:sldId id="698" r:id="rId33"/>
    <p:sldId id="632" r:id="rId34"/>
    <p:sldId id="699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3" autoAdjust="0"/>
    <p:restoredTop sz="94038" autoAdjust="0"/>
  </p:normalViewPr>
  <p:slideViewPr>
    <p:cSldViewPr>
      <p:cViewPr varScale="1">
        <p:scale>
          <a:sx n="105" d="100"/>
          <a:sy n="105" d="100"/>
        </p:scale>
        <p:origin x="178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png"/><Relationship Id="rId3" Type="http://schemas.openxmlformats.org/officeDocument/2006/relationships/image" Target="../media/image361.png"/><Relationship Id="rId7" Type="http://schemas.openxmlformats.org/officeDocument/2006/relationships/image" Target="../media/image411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10.png"/><Relationship Id="rId5" Type="http://schemas.openxmlformats.org/officeDocument/2006/relationships/image" Target="../media/image381.png"/><Relationship Id="rId10" Type="http://schemas.openxmlformats.org/officeDocument/2006/relationships/image" Target="../media/image232.png"/><Relationship Id="rId4" Type="http://schemas.openxmlformats.org/officeDocument/2006/relationships/image" Target="../media/image3710.png"/><Relationship Id="rId9" Type="http://schemas.openxmlformats.org/officeDocument/2006/relationships/image" Target="../media/image43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373.png"/><Relationship Id="rId7" Type="http://schemas.openxmlformats.org/officeDocument/2006/relationships/image" Target="../media/image350.png"/><Relationship Id="rId2" Type="http://schemas.openxmlformats.org/officeDocument/2006/relationships/image" Target="../media/image3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5" Type="http://schemas.openxmlformats.org/officeDocument/2006/relationships/image" Target="../media/image381.png"/><Relationship Id="rId4" Type="http://schemas.openxmlformats.org/officeDocument/2006/relationships/image" Target="../media/image382.png"/><Relationship Id="rId9" Type="http://schemas.openxmlformats.org/officeDocument/2006/relationships/image" Target="../media/image4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49.png"/><Relationship Id="rId3" Type="http://schemas.openxmlformats.org/officeDocument/2006/relationships/image" Target="../media/image373.png"/><Relationship Id="rId7" Type="http://schemas.openxmlformats.org/officeDocument/2006/relationships/image" Target="../media/image350.png"/><Relationship Id="rId12" Type="http://schemas.openxmlformats.org/officeDocument/2006/relationships/image" Target="../media/image481.png"/><Relationship Id="rId2" Type="http://schemas.openxmlformats.org/officeDocument/2006/relationships/image" Target="../media/image4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11" Type="http://schemas.openxmlformats.org/officeDocument/2006/relationships/image" Target="../media/image471.png"/><Relationship Id="rId5" Type="http://schemas.openxmlformats.org/officeDocument/2006/relationships/image" Target="../media/image381.png"/><Relationship Id="rId15" Type="http://schemas.openxmlformats.org/officeDocument/2006/relationships/image" Target="../media/image53.png"/><Relationship Id="rId10" Type="http://schemas.openxmlformats.org/officeDocument/2006/relationships/image" Target="../media/image433.png"/><Relationship Id="rId4" Type="http://schemas.openxmlformats.org/officeDocument/2006/relationships/image" Target="../media/image382.png"/><Relationship Id="rId9" Type="http://schemas.openxmlformats.org/officeDocument/2006/relationships/image" Target="../media/image452.png"/><Relationship Id="rId1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7" Type="http://schemas.openxmlformats.org/officeDocument/2006/relationships/image" Target="../media/image230.png"/><Relationship Id="rId2" Type="http://schemas.openxmlformats.org/officeDocument/2006/relationships/image" Target="../media/image3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.png"/><Relationship Id="rId5" Type="http://schemas.openxmlformats.org/officeDocument/2006/relationships/image" Target="../media/image203.png"/><Relationship Id="rId4" Type="http://schemas.openxmlformats.org/officeDocument/2006/relationships/image" Target="../media/image19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132.png"/><Relationship Id="rId3" Type="http://schemas.openxmlformats.org/officeDocument/2006/relationships/image" Target="../media/image373.png"/><Relationship Id="rId7" Type="http://schemas.openxmlformats.org/officeDocument/2006/relationships/image" Target="../media/image350.png"/><Relationship Id="rId12" Type="http://schemas.openxmlformats.org/officeDocument/2006/relationships/image" Target="../media/image122.png"/><Relationship Id="rId2" Type="http://schemas.openxmlformats.org/officeDocument/2006/relationships/image" Target="../media/image3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11" Type="http://schemas.openxmlformats.org/officeDocument/2006/relationships/image" Target="../media/image114.png"/><Relationship Id="rId5" Type="http://schemas.openxmlformats.org/officeDocument/2006/relationships/image" Target="../media/image381.png"/><Relationship Id="rId15" Type="http://schemas.openxmlformats.org/officeDocument/2006/relationships/image" Target="../media/image55.png"/><Relationship Id="rId10" Type="http://schemas.openxmlformats.org/officeDocument/2006/relationships/image" Target="../media/image102.png"/><Relationship Id="rId4" Type="http://schemas.openxmlformats.org/officeDocument/2006/relationships/image" Target="../media/image382.png"/><Relationship Id="rId9" Type="http://schemas.openxmlformats.org/officeDocument/2006/relationships/image" Target="../media/image93.png"/><Relationship Id="rId14" Type="http://schemas.openxmlformats.org/officeDocument/2006/relationships/image" Target="../media/image1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13" Type="http://schemas.openxmlformats.org/officeDocument/2006/relationships/image" Target="../media/image56.png"/><Relationship Id="rId7" Type="http://schemas.openxmlformats.org/officeDocument/2006/relationships/image" Target="../media/image1210.png"/><Relationship Id="rId12" Type="http://schemas.openxmlformats.org/officeDocument/2006/relationships/image" Target="../media/image1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0.png"/><Relationship Id="rId11" Type="http://schemas.openxmlformats.org/officeDocument/2006/relationships/image" Target="../media/image910.png"/><Relationship Id="rId5" Type="http://schemas.openxmlformats.org/officeDocument/2006/relationships/image" Target="../media/image1010.png"/><Relationship Id="rId10" Type="http://schemas.openxmlformats.org/officeDocument/2006/relationships/image" Target="../media/image810.png"/><Relationship Id="rId9" Type="http://schemas.openxmlformats.org/officeDocument/2006/relationships/image" Target="../media/image70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2.png"/><Relationship Id="rId3" Type="http://schemas.openxmlformats.org/officeDocument/2006/relationships/image" Target="../media/image530.png"/><Relationship Id="rId7" Type="http://schemas.openxmlformats.org/officeDocument/2006/relationships/image" Target="../media/image57.png"/><Relationship Id="rId12" Type="http://schemas.openxmlformats.org/officeDocument/2006/relationships/image" Target="../media/image2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0.png"/><Relationship Id="rId11" Type="http://schemas.openxmlformats.org/officeDocument/2006/relationships/image" Target="../media/image432.png"/><Relationship Id="rId5" Type="http://schemas.openxmlformats.org/officeDocument/2006/relationships/image" Target="../media/image550.png"/><Relationship Id="rId10" Type="http://schemas.openxmlformats.org/officeDocument/2006/relationships/image" Target="../media/image60.png"/><Relationship Id="rId4" Type="http://schemas.openxmlformats.org/officeDocument/2006/relationships/image" Target="../media/image540.png"/><Relationship Id="rId9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13" Type="http://schemas.openxmlformats.org/officeDocument/2006/relationships/image" Target="../media/image67.png"/><Relationship Id="rId3" Type="http://schemas.openxmlformats.org/officeDocument/2006/relationships/image" Target="../media/image531.png"/><Relationship Id="rId7" Type="http://schemas.openxmlformats.org/officeDocument/2006/relationships/image" Target="../media/image570.png"/><Relationship Id="rId12" Type="http://schemas.openxmlformats.org/officeDocument/2006/relationships/image" Target="../media/image44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1.png"/><Relationship Id="rId11" Type="http://schemas.openxmlformats.org/officeDocument/2006/relationships/image" Target="../media/image4320.png"/><Relationship Id="rId5" Type="http://schemas.openxmlformats.org/officeDocument/2006/relationships/image" Target="../media/image551.png"/><Relationship Id="rId10" Type="http://schemas.openxmlformats.org/officeDocument/2006/relationships/image" Target="../media/image600.png"/><Relationship Id="rId4" Type="http://schemas.openxmlformats.org/officeDocument/2006/relationships/image" Target="../media/image5400.png"/><Relationship Id="rId9" Type="http://schemas.openxmlformats.org/officeDocument/2006/relationships/image" Target="../media/image590.png"/><Relationship Id="rId1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7" Type="http://schemas.openxmlformats.org/officeDocument/2006/relationships/image" Target="../media/image21.png"/><Relationship Id="rId12" Type="http://schemas.openxmlformats.org/officeDocument/2006/relationships/image" Target="../media/image500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0.png"/><Relationship Id="rId10" Type="http://schemas.openxmlformats.org/officeDocument/2006/relationships/image" Target="../media/image3500.png"/><Relationship Id="rId9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0.png"/><Relationship Id="rId5" Type="http://schemas.openxmlformats.org/officeDocument/2006/relationships/image" Target="../media/image71.png"/><Relationship Id="rId4" Type="http://schemas.openxmlformats.org/officeDocument/2006/relationships/image" Target="../media/image16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900.png"/><Relationship Id="rId7" Type="http://schemas.openxmlformats.org/officeDocument/2006/relationships/image" Target="../media/image21.png"/><Relationship Id="rId12" Type="http://schemas.openxmlformats.org/officeDocument/2006/relationships/image" Target="../media/image5000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0.png"/><Relationship Id="rId10" Type="http://schemas.openxmlformats.org/officeDocument/2006/relationships/image" Target="../media/image3500.png"/><Relationship Id="rId9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6000.png"/><Relationship Id="rId7" Type="http://schemas.openxmlformats.org/officeDocument/2006/relationships/image" Target="../media/image21.png"/><Relationship Id="rId12" Type="http://schemas.openxmlformats.org/officeDocument/2006/relationships/image" Target="../media/image500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0.png"/><Relationship Id="rId10" Type="http://schemas.openxmlformats.org/officeDocument/2006/relationships/image" Target="../media/image3500.png"/><Relationship Id="rId9" Type="http://schemas.openxmlformats.org/officeDocument/2006/relationships/image" Target="../media/image29.png"/><Relationship Id="rId14" Type="http://schemas.openxmlformats.org/officeDocument/2006/relationships/image" Target="../media/image12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200.png"/><Relationship Id="rId7" Type="http://schemas.openxmlformats.org/officeDocument/2006/relationships/image" Target="../media/image21.png"/><Relationship Id="rId12" Type="http://schemas.openxmlformats.org/officeDocument/2006/relationships/image" Target="../media/image500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0.png"/><Relationship Id="rId10" Type="http://schemas.openxmlformats.org/officeDocument/2006/relationships/image" Target="../media/image3500.png"/><Relationship Id="rId9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99848"/>
            <a:ext cx="7239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C00000"/>
                </a:solidFill>
              </a:rPr>
              <a:t>Lecture 21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7030A0"/>
                </a:solidFill>
              </a:rPr>
              <a:t>Detecting negative cycle during shortest </a:t>
            </a:r>
            <a:r>
              <a:rPr lang="en-US" sz="2400" b="1">
                <a:solidFill>
                  <a:srgbClr val="7030A0"/>
                </a:solidFill>
              </a:rPr>
              <a:t>paths computation </a:t>
            </a:r>
            <a:r>
              <a:rPr lang="en-US" sz="2400" b="1" dirty="0">
                <a:solidFill>
                  <a:srgbClr val="7030A0"/>
                </a:solidFill>
              </a:rPr>
              <a:t>&amp;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7030A0"/>
                </a:solidFill>
              </a:rPr>
              <a:t>Overview of the 2</a:t>
            </a:r>
            <a:r>
              <a:rPr lang="en-US" sz="2400" b="1" baseline="30000" dirty="0">
                <a:solidFill>
                  <a:srgbClr val="7030A0"/>
                </a:solidFill>
              </a:rPr>
              <a:t>nd</a:t>
            </a:r>
            <a:r>
              <a:rPr lang="en-US" sz="2400" b="1" dirty="0">
                <a:solidFill>
                  <a:srgbClr val="7030A0"/>
                </a:solidFill>
              </a:rPr>
              <a:t> part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38600" y="3042817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749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Bellman-Ford</a:t>
            </a:r>
            <a:r>
              <a:rPr lang="en-US" sz="3600" b="1" dirty="0"/>
              <a:t> algorithm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dirty="0"/>
                  <a:t>: Given a directed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>
                        <a:latin typeface="Cambria Math"/>
                      </a:rPr>
                      <m:t>=(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r>
                      <a:rPr lang="en-US" sz="2000" b="1" i="1" dirty="0">
                        <a:latin typeface="Cambria Math"/>
                      </a:rPr>
                      <m:t>: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𝑹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/>
                  <a:t>if there is no negative cycle,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in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2000" dirty="0"/>
                  <a:t>) time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using</a:t>
                </a:r>
                <a:r>
                  <a:rPr lang="en-US" sz="2000" b="1" dirty="0"/>
                  <a:t> 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 space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It just requires a better insight into the Ballman-Ford algorithm </a:t>
                </a:r>
                <a:r>
                  <a:rPr lang="en-US" sz="2000" dirty="0">
                    <a:sym typeface="Wingdings" panose="05000000000000000000" pitchFamily="2" charset="2"/>
                  </a:rPr>
                  <a:t></a:t>
                </a:r>
                <a:r>
                  <a:rPr lang="en-US" sz="20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29000" y="2343090"/>
                <a:ext cx="47975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then we can compute shortest paths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343090"/>
                <a:ext cx="4797595" cy="400110"/>
              </a:xfrm>
              <a:prstGeom prst="rect">
                <a:avLst/>
              </a:prstGeom>
              <a:blipFill>
                <a:blip r:embed="rId3"/>
                <a:stretch>
                  <a:fillRect l="-1398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D48BA1-16C1-F80D-5CA6-88280D3591B6}"/>
              </a:ext>
            </a:extLst>
          </p:cNvPr>
          <p:cNvSpPr/>
          <p:nvPr/>
        </p:nvSpPr>
        <p:spPr>
          <a:xfrm>
            <a:off x="419100" y="2314545"/>
            <a:ext cx="3048000" cy="4572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Callout 7">
            <a:extLst>
              <a:ext uri="{FF2B5EF4-FFF2-40B4-BE49-F238E27FC236}">
                <a16:creationId xmlns:a16="http://schemas.microsoft.com/office/drawing/2014/main" id="{1BCA0256-E4BA-FA01-8A33-6A08B64C19CD}"/>
              </a:ext>
            </a:extLst>
          </p:cNvPr>
          <p:cNvSpPr/>
          <p:nvPr/>
        </p:nvSpPr>
        <p:spPr>
          <a:xfrm>
            <a:off x="2743200" y="4018599"/>
            <a:ext cx="5791200" cy="895350"/>
          </a:xfrm>
          <a:prstGeom prst="cloudCallout">
            <a:avLst>
              <a:gd name="adj1" fmla="val -23165"/>
              <a:gd name="adj2" fmla="val 78526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How to get rid of the “if” condition?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How to detect a negative cycle, if present ?</a:t>
            </a:r>
          </a:p>
        </p:txBody>
      </p:sp>
    </p:spTree>
    <p:extLst>
      <p:ext uri="{BB962C8B-B14F-4D97-AF65-F5344CB8AC3E}">
        <p14:creationId xmlns:p14="http://schemas.microsoft.com/office/powerpoint/2010/main" val="104187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Bellman-Ford</a:t>
            </a:r>
            <a:r>
              <a:rPr lang="en-US" sz="3600" b="1" dirty="0"/>
              <a:t> algorithm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Bellman-Ford-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           If </a:t>
                </a:r>
                <a14:m>
                  <m:oMath xmlns:m="http://schemas.openxmlformats.org/officeDocument/2006/math"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/>
                  <a:t>   then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ea typeface="Cambria Math"/>
                    <a:sym typeface="Wingdings" pitchFamily="2" charset="2"/>
                  </a:rPr>
                  <a:t>                                    </a:t>
                </a:r>
                <a:r>
                  <a:rPr lang="en-US" sz="2000" b="1" dirty="0">
                    <a:ea typeface="Cambria Math"/>
                    <a:sym typeface="Wingdings" pitchFamily="2" charset="2"/>
                  </a:rPr>
                  <a:t>else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C00000"/>
                    </a:solidFill>
                  </a:rPr>
                  <a:t> ?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   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{   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	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m:rPr>
                        <m:nor/>
                      </m:rPr>
                      <a:rPr lang="en-US" sz="2000" dirty="0">
                        <a:sym typeface="Wingdings" pitchFamily="2" charset="2"/>
                      </a:rPr>
                      <m:t>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min</a:t>
                </a:r>
                <a:r>
                  <a:rPr lang="en-US" sz="2000" dirty="0"/>
                  <a:t>(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r>
                  <a:rPr lang="en-US" sz="2000" dirty="0"/>
                  <a:t>                  , 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 ?</a:t>
                </a:r>
                <a:r>
                  <a:rPr lang="en-US" sz="2000" dirty="0"/>
                  <a:t>                       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 rotWithShape="1">
                <a:blip r:embed="rId2"/>
                <a:stretch>
                  <a:fillRect l="-741" t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27532" y="2362200"/>
                <a:ext cx="8254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532" y="2362200"/>
                <a:ext cx="82546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2720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0" y="2678668"/>
                <a:ext cx="60960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dirty="0"/>
                  <a:t>; </a:t>
                </a:r>
                <a:endParaRPr lang="en-US" b="1" i="1" dirty="0">
                  <a:solidFill>
                    <a:srgbClr val="006C3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678668"/>
                <a:ext cx="609600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76400" y="3059668"/>
                <a:ext cx="48893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𝟎</m:t>
                    </m:r>
                  </m:oMath>
                </a14:m>
                <a:r>
                  <a:rPr lang="en-US" dirty="0"/>
                  <a:t>;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059668"/>
                <a:ext cx="488934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62400" y="4876800"/>
                <a:ext cx="8254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𝑳</m:t>
                      </m:r>
                      <m:r>
                        <a:rPr lang="en-US" b="1" dirty="0">
                          <a:latin typeface="Cambria Math"/>
                        </a:rPr>
                        <m:t>[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dirty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4876800"/>
                <a:ext cx="825468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963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10200" y="4888468"/>
                <a:ext cx="243840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b="1" dirty="0"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>
                        <a:latin typeface="Cambria Math"/>
                      </a:rPr>
                      <m:t>]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4888468"/>
                <a:ext cx="2438400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225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54384" y="41148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384" y="53340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}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026152" y="1981200"/>
            <a:ext cx="2289048" cy="1447800"/>
            <a:chOff x="5026152" y="1981200"/>
            <a:chExt cx="2289048" cy="1447800"/>
          </a:xfrm>
        </p:grpSpPr>
        <p:sp>
          <p:nvSpPr>
            <p:cNvPr id="12" name="Right Brace 11"/>
            <p:cNvSpPr/>
            <p:nvPr/>
          </p:nvSpPr>
          <p:spPr>
            <a:xfrm>
              <a:off x="5026152" y="1981200"/>
              <a:ext cx="384048" cy="1447800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5497074" y="2546866"/>
                  <a:ext cx="1818126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Initializing 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𝑳</m:t>
                      </m:r>
                      <m:r>
                        <a:rPr lang="en-US" b="1" dirty="0">
                          <a:latin typeface="Cambria Math"/>
                        </a:rPr>
                        <m:t>[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∗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>
                          <a:latin typeface="Cambria Math"/>
                        </a:rPr>
                        <m:t>]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074" y="2546866"/>
                  <a:ext cx="1818126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3020" t="-8333" r="-5034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/>
          <p:cNvGrpSpPr/>
          <p:nvPr/>
        </p:nvGrpSpPr>
        <p:grpSpPr>
          <a:xfrm>
            <a:off x="5090078" y="4114800"/>
            <a:ext cx="2453721" cy="1419257"/>
            <a:chOff x="5085145" y="2214716"/>
            <a:chExt cx="2377735" cy="869867"/>
          </a:xfrm>
        </p:grpSpPr>
        <p:sp>
          <p:nvSpPr>
            <p:cNvPr id="16" name="Right Brace 15"/>
            <p:cNvSpPr/>
            <p:nvPr/>
          </p:nvSpPr>
          <p:spPr>
            <a:xfrm>
              <a:off x="5085145" y="2214716"/>
              <a:ext cx="457888" cy="869867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497074" y="2546866"/>
                  <a:ext cx="1965806" cy="226365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Computing</a:t>
                  </a:r>
                  <a14:m>
                    <m:oMath xmlns:m="http://schemas.openxmlformats.org/officeDocument/2006/math">
                      <m:r>
                        <a:rPr lang="en-US" b="0" i="0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𝑳</m:t>
                      </m:r>
                      <m:r>
                        <a:rPr lang="en-US" b="1" dirty="0">
                          <a:latin typeface="Cambria Math"/>
                        </a:rPr>
                        <m:t>[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dirty="0">
                          <a:latin typeface="Cambria Math"/>
                        </a:rPr>
                        <m:t>]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074" y="2546866"/>
                  <a:ext cx="1965806" cy="2263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2711" t="-833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38688" y="6336268"/>
                <a:ext cx="72337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Lemma:</a:t>
                </a:r>
                <a:r>
                  <a:rPr lang="en-US" dirty="0" err="1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b="1" dirty="0"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stores the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having </a:t>
                </a:r>
                <a:r>
                  <a:rPr lang="en-US" b="1" dirty="0"/>
                  <a:t>at most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edges.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88" y="6336268"/>
                <a:ext cx="7233712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674" t="-8197" r="-9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648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1676400"/>
            <a:ext cx="7772400" cy="1362075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7030A0"/>
                </a:solidFill>
              </a:rPr>
              <a:t>Key Observations </a:t>
            </a:r>
            <a:r>
              <a:rPr lang="en-US" sz="3600" dirty="0"/>
              <a:t>on</a:t>
            </a:r>
            <a:br>
              <a:rPr lang="en-US" sz="3600" dirty="0">
                <a:solidFill>
                  <a:srgbClr val="C00000"/>
                </a:solidFill>
              </a:rPr>
            </a:br>
            <a:r>
              <a:rPr lang="en-US" sz="3600" dirty="0">
                <a:solidFill>
                  <a:srgbClr val="0070C0"/>
                </a:solidFill>
              </a:rPr>
              <a:t>Bellman-Ford algorithm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9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Observation 1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Bellman-Ford-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      If </a:t>
                </a:r>
                <a14:m>
                  <m:oMath xmlns:m="http://schemas.openxmlformats.org/officeDocument/2006/math"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/>
                  <a:t>   then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ea typeface="Cambria Math"/>
                    <a:sym typeface="Wingdings" pitchFamily="2" charset="2"/>
                  </a:rPr>
                  <a:t>                               </a:t>
                </a:r>
                <a:r>
                  <a:rPr lang="en-US" sz="2000" b="1" dirty="0">
                    <a:ea typeface="Cambria Math"/>
                    <a:sym typeface="Wingdings" pitchFamily="2" charset="2"/>
                  </a:rPr>
                  <a:t>else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C00000"/>
                    </a:solidFill>
                  </a:rPr>
                  <a:t> ?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   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{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m:rPr>
                        <m:nor/>
                      </m:rPr>
                      <a:rPr lang="en-US" sz="2000" dirty="0">
                        <a:sym typeface="Wingdings" pitchFamily="2" charset="2"/>
                      </a:rPr>
                      <m:t>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min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 rotWithShape="1">
                <a:blip r:embed="rId2"/>
                <a:stretch>
                  <a:fillRect l="-741" t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0" y="2286000"/>
                <a:ext cx="8254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286000"/>
                <a:ext cx="82546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2740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86200" y="2678668"/>
                <a:ext cx="60960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dirty="0"/>
                  <a:t>; </a:t>
                </a:r>
                <a:endParaRPr lang="en-US" b="1" i="1" dirty="0">
                  <a:solidFill>
                    <a:srgbClr val="006C3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2678668"/>
                <a:ext cx="609600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76400" y="3059668"/>
                <a:ext cx="48893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𝟎</m:t>
                    </m:r>
                  </m:oMath>
                </a14:m>
                <a:r>
                  <a:rPr lang="en-US" dirty="0"/>
                  <a:t>;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059668"/>
                <a:ext cx="488934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2000" y="41148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84" y="53340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}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145505" y="2069068"/>
            <a:ext cx="3769895" cy="2590800"/>
            <a:chOff x="1828800" y="3048000"/>
            <a:chExt cx="3769895" cy="2590800"/>
          </a:xfrm>
        </p:grpSpPr>
        <p:grpSp>
          <p:nvGrpSpPr>
            <p:cNvPr id="19" name="Group 18"/>
            <p:cNvGrpSpPr/>
            <p:nvPr/>
          </p:nvGrpSpPr>
          <p:grpSpPr>
            <a:xfrm>
              <a:off x="2590800" y="3048000"/>
              <a:ext cx="3007895" cy="2590800"/>
              <a:chOff x="3733800" y="1728216"/>
              <a:chExt cx="4343400" cy="3910584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3733800" y="1752600"/>
                <a:ext cx="4343400" cy="38862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5334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562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5791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6019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6248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6477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6705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6934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7162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7391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7620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7848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3733800" y="2895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3733800" y="3124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3733800" y="3352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3733800" y="3581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3733800" y="3810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3733800" y="4038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3733800" y="4267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5105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3733800" y="1981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3733800" y="2209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3733800" y="2438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3733800" y="2667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4876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4648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4419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4191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3962400" y="1728216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3733800" y="4495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3733800" y="4724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3733800" y="4953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3733800" y="5181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3733800" y="5410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1828800" y="4050268"/>
                  <a:ext cx="367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B050"/>
                            </a:solidFill>
                            <a:latin typeface="Cambria Math"/>
                          </a:rPr>
                          <m:t>𝑳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800" y="4050268"/>
                  <a:ext cx="367408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1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/>
          <p:cNvGrpSpPr/>
          <p:nvPr/>
        </p:nvGrpSpPr>
        <p:grpSpPr>
          <a:xfrm>
            <a:off x="5526505" y="2896815"/>
            <a:ext cx="386644" cy="1305853"/>
            <a:chOff x="2209800" y="3875747"/>
            <a:chExt cx="386644" cy="1305853"/>
          </a:xfrm>
        </p:grpSpPr>
        <p:cxnSp>
          <p:nvCxnSpPr>
            <p:cNvPr id="57" name="Straight Arrow Connector 56"/>
            <p:cNvCxnSpPr/>
            <p:nvPr/>
          </p:nvCxnSpPr>
          <p:spPr>
            <a:xfrm flipV="1">
              <a:off x="2438400" y="3875747"/>
              <a:ext cx="0" cy="9248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2209800" y="4812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4812268"/>
                  <a:ext cx="38664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/>
          <p:cNvGrpSpPr/>
          <p:nvPr/>
        </p:nvGrpSpPr>
        <p:grpSpPr>
          <a:xfrm>
            <a:off x="6898105" y="4736068"/>
            <a:ext cx="1371600" cy="369332"/>
            <a:chOff x="3352800" y="5715000"/>
            <a:chExt cx="137160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3352800" y="5715000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2800" y="5715000"/>
                  <a:ext cx="3225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333" r="-25000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Arrow Connector 60"/>
            <p:cNvCxnSpPr/>
            <p:nvPr/>
          </p:nvCxnSpPr>
          <p:spPr>
            <a:xfrm>
              <a:off x="3639876" y="5867009"/>
              <a:ext cx="10845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56D1705-1643-B15C-20C9-15250460315D}"/>
              </a:ext>
            </a:extLst>
          </p:cNvPr>
          <p:cNvSpPr/>
          <p:nvPr/>
        </p:nvSpPr>
        <p:spPr>
          <a:xfrm>
            <a:off x="547809" y="5383026"/>
            <a:ext cx="5942068" cy="126864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023581-E4A0-3002-CBC5-A0B77511B0A0}"/>
              </a:ext>
            </a:extLst>
          </p:cNvPr>
          <p:cNvSpPr/>
          <p:nvPr/>
        </p:nvSpPr>
        <p:spPr>
          <a:xfrm>
            <a:off x="294090" y="1241469"/>
            <a:ext cx="4440861" cy="289914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8F9CFC-C318-D5E8-FC92-6AA76AD88473}"/>
              </a:ext>
            </a:extLst>
          </p:cNvPr>
          <p:cNvSpPr/>
          <p:nvPr/>
        </p:nvSpPr>
        <p:spPr>
          <a:xfrm>
            <a:off x="535443" y="3805858"/>
            <a:ext cx="448908" cy="74692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7B2160B-1D05-B082-6278-58ADA0EC1B08}"/>
              </a:ext>
            </a:extLst>
          </p:cNvPr>
          <p:cNvSpPr/>
          <p:nvPr/>
        </p:nvSpPr>
        <p:spPr>
          <a:xfrm rot="5400000">
            <a:off x="5802124" y="3304898"/>
            <a:ext cx="2590800" cy="151450"/>
          </a:xfrm>
          <a:prstGeom prst="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38FB160-CFB6-1D70-CD6B-813F965E5E09}"/>
              </a:ext>
            </a:extLst>
          </p:cNvPr>
          <p:cNvSpPr/>
          <p:nvPr/>
        </p:nvSpPr>
        <p:spPr>
          <a:xfrm rot="5400000">
            <a:off x="5646656" y="3294078"/>
            <a:ext cx="2590800" cy="151450"/>
          </a:xfrm>
          <a:prstGeom prst="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loud Callout 7">
                <a:extLst>
                  <a:ext uri="{FF2B5EF4-FFF2-40B4-BE49-F238E27FC236}">
                    <a16:creationId xmlns:a16="http://schemas.microsoft.com/office/drawing/2014/main" id="{BB438C98-9BD7-FF82-AB53-4D02DDA8E04D}"/>
                  </a:ext>
                </a:extLst>
              </p:cNvPr>
              <p:cNvSpPr/>
              <p:nvPr/>
            </p:nvSpPr>
            <p:spPr>
              <a:xfrm>
                <a:off x="4284295" y="994175"/>
                <a:ext cx="5088303" cy="895350"/>
              </a:xfrm>
              <a:prstGeom prst="cloudCallout">
                <a:avLst>
                  <a:gd name="adj1" fmla="val -23165"/>
                  <a:gd name="adj2" fmla="val 78526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i="1" dirty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e>
                    </m:d>
                    <m:r>
                      <a:rPr lang="en-US" sz="1600" b="1" i="1" dirty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16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i="1" dirty="0">
                        <a:solidFill>
                          <a:srgbClr val="00B050"/>
                        </a:solidFill>
                        <a:latin typeface="Cambria Math"/>
                      </a:rPr>
                      <m:t> [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600" b="1" i="1" dirty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What can we say about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i="1" dirty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66" name="Cloud Callout 7">
                <a:extLst>
                  <a:ext uri="{FF2B5EF4-FFF2-40B4-BE49-F238E27FC236}">
                    <a16:creationId xmlns:a16="http://schemas.microsoft.com/office/drawing/2014/main" id="{BB438C98-9BD7-FF82-AB53-4D02DDA8E0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295" y="994175"/>
                <a:ext cx="5088303" cy="895350"/>
              </a:xfrm>
              <a:prstGeom prst="cloudCallout">
                <a:avLst>
                  <a:gd name="adj1" fmla="val -23165"/>
                  <a:gd name="adj2" fmla="val 78526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70AB4D7B-C9B2-052E-828B-7D5A2D8DDAAD}"/>
              </a:ext>
            </a:extLst>
          </p:cNvPr>
          <p:cNvSpPr txBox="1"/>
          <p:nvPr/>
        </p:nvSpPr>
        <p:spPr>
          <a:xfrm>
            <a:off x="6895434" y="2056533"/>
            <a:ext cx="248786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52838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animBg="1"/>
      <p:bldP spid="17" grpId="0" animBg="1"/>
      <p:bldP spid="63" grpId="0" animBg="1"/>
      <p:bldP spid="64" grpId="0" animBg="1"/>
      <p:bldP spid="65" grpId="0" animBg="1"/>
      <p:bldP spid="66" grpId="0" animBg="1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801984" y="53340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Bellman-Ford-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      If </a:t>
                </a:r>
                <a14:m>
                  <m:oMath xmlns:m="http://schemas.openxmlformats.org/officeDocument/2006/math"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/>
                  <a:t>   then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ea typeface="Cambria Math"/>
                    <a:sym typeface="Wingdings" pitchFamily="2" charset="2"/>
                  </a:rPr>
                  <a:t>                               </a:t>
                </a:r>
                <a:r>
                  <a:rPr lang="en-US" sz="2000" b="1" dirty="0">
                    <a:ea typeface="Cambria Math"/>
                    <a:sym typeface="Wingdings" pitchFamily="2" charset="2"/>
                  </a:rPr>
                  <a:t>else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C00000"/>
                    </a:solidFill>
                  </a:rPr>
                  <a:t> ?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   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{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m:rPr>
                        <m:nor/>
                      </m:rPr>
                      <a:rPr lang="en-US" sz="2000" dirty="0">
                        <a:sym typeface="Wingdings" pitchFamily="2" charset="2"/>
                      </a:rPr>
                      <m:t>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min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>
                <a:blip r:embed="rId2"/>
                <a:stretch>
                  <a:fillRect l="-741" t="-5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Observation 1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DE9747-458E-4F76-112C-2CF6214C1BCC}"/>
              </a:ext>
            </a:extLst>
          </p:cNvPr>
          <p:cNvSpPr/>
          <p:nvPr/>
        </p:nvSpPr>
        <p:spPr>
          <a:xfrm>
            <a:off x="547809" y="5383026"/>
            <a:ext cx="5942068" cy="126864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0" y="2286000"/>
                <a:ext cx="8254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286000"/>
                <a:ext cx="82546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2740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86200" y="2678668"/>
                <a:ext cx="60960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dirty="0"/>
                  <a:t>; </a:t>
                </a:r>
                <a:endParaRPr lang="en-US" b="1" i="1" dirty="0">
                  <a:solidFill>
                    <a:srgbClr val="006C3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2678668"/>
                <a:ext cx="609600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76400" y="3059668"/>
                <a:ext cx="48893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𝟎</m:t>
                    </m:r>
                  </m:oMath>
                </a14:m>
                <a:r>
                  <a:rPr lang="en-US" dirty="0"/>
                  <a:t>;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059668"/>
                <a:ext cx="488934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2000" y="41148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{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145505" y="2069068"/>
            <a:ext cx="3769895" cy="2590800"/>
            <a:chOff x="1828800" y="3048000"/>
            <a:chExt cx="3769895" cy="2590800"/>
          </a:xfrm>
        </p:grpSpPr>
        <p:grpSp>
          <p:nvGrpSpPr>
            <p:cNvPr id="19" name="Group 18"/>
            <p:cNvGrpSpPr/>
            <p:nvPr/>
          </p:nvGrpSpPr>
          <p:grpSpPr>
            <a:xfrm>
              <a:off x="2590800" y="3048000"/>
              <a:ext cx="3007895" cy="2590800"/>
              <a:chOff x="3733800" y="1728216"/>
              <a:chExt cx="4343400" cy="3910584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3733800" y="1752600"/>
                <a:ext cx="4343400" cy="38862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5334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562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5791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6019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6248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6477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6705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6934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7162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7391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7620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7848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3733800" y="2895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3733800" y="3124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3733800" y="3352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3733800" y="3581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3733800" y="3810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3733800" y="4038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3733800" y="4267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5105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3733800" y="1981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3733800" y="2209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3733800" y="2438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3733800" y="2667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4876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4648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4419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4191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3962400" y="1728216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3733800" y="4495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3733800" y="4724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3733800" y="4953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3733800" y="5181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3733800" y="5410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1828800" y="4050268"/>
                  <a:ext cx="367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B050"/>
                            </a:solidFill>
                            <a:latin typeface="Cambria Math"/>
                          </a:rPr>
                          <m:t>𝑳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800" y="4050268"/>
                  <a:ext cx="367408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1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/>
          <p:cNvGrpSpPr/>
          <p:nvPr/>
        </p:nvGrpSpPr>
        <p:grpSpPr>
          <a:xfrm>
            <a:off x="5526505" y="2896815"/>
            <a:ext cx="386644" cy="1305853"/>
            <a:chOff x="2209800" y="3875747"/>
            <a:chExt cx="386644" cy="1305853"/>
          </a:xfrm>
        </p:grpSpPr>
        <p:cxnSp>
          <p:nvCxnSpPr>
            <p:cNvPr id="57" name="Straight Arrow Connector 56"/>
            <p:cNvCxnSpPr/>
            <p:nvPr/>
          </p:nvCxnSpPr>
          <p:spPr>
            <a:xfrm flipV="1">
              <a:off x="2438400" y="3875747"/>
              <a:ext cx="0" cy="9248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2209800" y="4812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4812268"/>
                  <a:ext cx="38664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/>
          <p:cNvGrpSpPr/>
          <p:nvPr/>
        </p:nvGrpSpPr>
        <p:grpSpPr>
          <a:xfrm>
            <a:off x="6898105" y="4736068"/>
            <a:ext cx="1371600" cy="369332"/>
            <a:chOff x="3352800" y="5715000"/>
            <a:chExt cx="137160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3352800" y="5715000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2800" y="5715000"/>
                  <a:ext cx="3225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333" r="-25000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Arrow Connector 60"/>
            <p:cNvCxnSpPr/>
            <p:nvPr/>
          </p:nvCxnSpPr>
          <p:spPr>
            <a:xfrm>
              <a:off x="3639876" y="5867009"/>
              <a:ext cx="10845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ctangle 61"/>
          <p:cNvSpPr/>
          <p:nvPr/>
        </p:nvSpPr>
        <p:spPr>
          <a:xfrm rot="5400000">
            <a:off x="5802124" y="3304898"/>
            <a:ext cx="2590800" cy="151450"/>
          </a:xfrm>
          <a:prstGeom prst="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9A8688-CFFD-BD21-FE16-DFC9FA808D26}"/>
              </a:ext>
            </a:extLst>
          </p:cNvPr>
          <p:cNvSpPr/>
          <p:nvPr/>
        </p:nvSpPr>
        <p:spPr>
          <a:xfrm rot="5400000">
            <a:off x="5646656" y="3294078"/>
            <a:ext cx="2590800" cy="151450"/>
          </a:xfrm>
          <a:prstGeom prst="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AA9F7B-5EFC-CD2B-4D93-5167F9B84585}"/>
              </a:ext>
            </a:extLst>
          </p:cNvPr>
          <p:cNvSpPr/>
          <p:nvPr/>
        </p:nvSpPr>
        <p:spPr>
          <a:xfrm rot="5400000">
            <a:off x="5953712" y="3304898"/>
            <a:ext cx="2590800" cy="151450"/>
          </a:xfrm>
          <a:prstGeom prst="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EE6520-4DB1-968C-6479-7B8D1C0BCCCA}"/>
              </a:ext>
            </a:extLst>
          </p:cNvPr>
          <p:cNvSpPr/>
          <p:nvPr/>
        </p:nvSpPr>
        <p:spPr>
          <a:xfrm rot="5400000">
            <a:off x="6823826" y="2578968"/>
            <a:ext cx="2590800" cy="1592340"/>
          </a:xfrm>
          <a:prstGeom prst="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Down Ribbon 63">
                <a:extLst>
                  <a:ext uri="{FF2B5EF4-FFF2-40B4-BE49-F238E27FC236}">
                    <a16:creationId xmlns:a16="http://schemas.microsoft.com/office/drawing/2014/main" id="{20ED5DC5-463E-251C-FAF4-7A51F7BBC633}"/>
                  </a:ext>
                </a:extLst>
              </p:cNvPr>
              <p:cNvSpPr/>
              <p:nvPr/>
            </p:nvSpPr>
            <p:spPr>
              <a:xfrm>
                <a:off x="1185057" y="43034"/>
                <a:ext cx="7391400" cy="609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Answer</a:t>
                </a:r>
                <a:r>
                  <a:rPr lang="en-US" dirty="0">
                    <a:solidFill>
                      <a:schemeClr val="tx1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e>
                    </m:d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 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for all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14" name="Down Ribbon 63">
                <a:extLst>
                  <a:ext uri="{FF2B5EF4-FFF2-40B4-BE49-F238E27FC236}">
                    <a16:creationId xmlns:a16="http://schemas.microsoft.com/office/drawing/2014/main" id="{20ED5DC5-463E-251C-FAF4-7A51F7BBC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057" y="43034"/>
                <a:ext cx="7391400" cy="609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9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7874C759-A1AF-82DC-F0B9-D12428768503}"/>
              </a:ext>
            </a:extLst>
          </p:cNvPr>
          <p:cNvSpPr/>
          <p:nvPr/>
        </p:nvSpPr>
        <p:spPr>
          <a:xfrm>
            <a:off x="294090" y="1241469"/>
            <a:ext cx="4440861" cy="289914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loud Callout 7">
                <a:extLst>
                  <a:ext uri="{FF2B5EF4-FFF2-40B4-BE49-F238E27FC236}">
                    <a16:creationId xmlns:a16="http://schemas.microsoft.com/office/drawing/2014/main" id="{64C25605-7C68-141D-5E9F-1AD8A9AF2E73}"/>
                  </a:ext>
                </a:extLst>
              </p:cNvPr>
              <p:cNvSpPr/>
              <p:nvPr/>
            </p:nvSpPr>
            <p:spPr>
              <a:xfrm>
                <a:off x="4284295" y="994175"/>
                <a:ext cx="5088303" cy="895350"/>
              </a:xfrm>
              <a:prstGeom prst="cloudCallout">
                <a:avLst>
                  <a:gd name="adj1" fmla="val -23165"/>
                  <a:gd name="adj2" fmla="val 78526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i="1" dirty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e>
                    </m:d>
                    <m:r>
                      <a:rPr lang="en-US" sz="1600" b="1" i="1" dirty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16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i="1" dirty="0">
                        <a:solidFill>
                          <a:srgbClr val="00B050"/>
                        </a:solidFill>
                        <a:latin typeface="Cambria Math"/>
                      </a:rPr>
                      <m:t> [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600" b="1" i="1" dirty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What can we say about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i="1" dirty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17" name="Cloud Callout 7">
                <a:extLst>
                  <a:ext uri="{FF2B5EF4-FFF2-40B4-BE49-F238E27FC236}">
                    <a16:creationId xmlns:a16="http://schemas.microsoft.com/office/drawing/2014/main" id="{64C25605-7C68-141D-5E9F-1AD8A9AF2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295" y="994175"/>
                <a:ext cx="5088303" cy="895350"/>
              </a:xfrm>
              <a:prstGeom prst="cloudCallout">
                <a:avLst>
                  <a:gd name="adj1" fmla="val -23165"/>
                  <a:gd name="adj2" fmla="val 78526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93D1133-AA0B-A2B9-098C-2FC85E53EE1E}"/>
                  </a:ext>
                </a:extLst>
              </p:cNvPr>
              <p:cNvSpPr/>
              <p:nvPr/>
            </p:nvSpPr>
            <p:spPr>
              <a:xfrm>
                <a:off x="1021842" y="5762243"/>
                <a:ext cx="670560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b="1" dirty="0"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latin typeface="Cambria Math"/>
                      </a:rPr>
                      <m:t>]</m:t>
                    </m:r>
                    <m:r>
                      <m:rPr>
                        <m:nor/>
                      </m:rPr>
                      <a:rPr lang="en-US" dirty="0">
                        <a:sym typeface="Wingdings" pitchFamily="2" charset="2"/>
                      </a:rPr>
                      <m:t>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min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>
                        <a:latin typeface="Cambria Math"/>
                      </a:rPr>
                      <m:t>, 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                           </a:t>
                </a:r>
                <a:r>
                  <a:rPr lang="en-US" dirty="0">
                    <a:solidFill>
                      <a:srgbClr val="C00000"/>
                    </a:solidFill>
                  </a:rPr>
                  <a:t> ?</a:t>
                </a:r>
                <a:r>
                  <a:rPr lang="en-US" dirty="0"/>
                  <a:t>                                )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93D1133-AA0B-A2B9-098C-2FC85E53EE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42" y="5762243"/>
                <a:ext cx="6705601" cy="369332"/>
              </a:xfrm>
              <a:prstGeom prst="rect">
                <a:avLst/>
              </a:prstGeom>
              <a:blipFill>
                <a:blip r:embed="rId11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729AB22-8F76-E024-873C-09EA4BDB5EFA}"/>
                  </a:ext>
                </a:extLst>
              </p:cNvPr>
              <p:cNvSpPr txBox="1"/>
              <p:nvPr/>
            </p:nvSpPr>
            <p:spPr>
              <a:xfrm>
                <a:off x="3518843" y="5741614"/>
                <a:ext cx="3289170" cy="50962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</m:d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𝑬</m:t>
                              </m:r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𝑳</m:t>
                              </m:r>
                              <m:d>
                                <m:d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 dirty="0">
                                      <a:latin typeface="Cambria Math"/>
                                    </a:rPr>
                                    <m:t>, 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𝒊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 </m:t>
                              </m:r>
                              <m:r>
                                <a:rPr lang="en-US" b="1" i="1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𝝎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729AB22-8F76-E024-873C-09EA4BDB5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843" y="5741614"/>
                <a:ext cx="3289170" cy="509627"/>
              </a:xfrm>
              <a:prstGeom prst="rect">
                <a:avLst/>
              </a:prstGeom>
              <a:blipFill>
                <a:blip r:embed="rId12"/>
                <a:stretch>
                  <a:fillRect b="-72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C44F3B89-401C-8393-D685-5B180CAC4B83}"/>
              </a:ext>
            </a:extLst>
          </p:cNvPr>
          <p:cNvSpPr/>
          <p:nvPr/>
        </p:nvSpPr>
        <p:spPr>
          <a:xfrm>
            <a:off x="535443" y="3805858"/>
            <a:ext cx="448908" cy="74692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6A4E084A-AC41-F653-7B34-CDD259A79729}"/>
              </a:ext>
            </a:extLst>
          </p:cNvPr>
          <p:cNvSpPr/>
          <p:nvPr/>
        </p:nvSpPr>
        <p:spPr>
          <a:xfrm>
            <a:off x="3365611" y="5283755"/>
            <a:ext cx="444389" cy="5489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E7302F8-8D2D-F7E9-C2BB-BB21D624C437}"/>
              </a:ext>
            </a:extLst>
          </p:cNvPr>
          <p:cNvSpPr/>
          <p:nvPr/>
        </p:nvSpPr>
        <p:spPr>
          <a:xfrm>
            <a:off x="1109738" y="4092132"/>
            <a:ext cx="4769506" cy="146248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204392C2-CE69-AF18-3CFD-34BF996C39A7}"/>
                  </a:ext>
                </a:extLst>
              </p:cNvPr>
              <p:cNvSpPr/>
              <p:nvPr/>
            </p:nvSpPr>
            <p:spPr>
              <a:xfrm>
                <a:off x="685800" y="4734053"/>
                <a:ext cx="670560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b="1" dirty="0"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>
                        <a:latin typeface="Cambria Math"/>
                      </a:rPr>
                      <m:t>]</m:t>
                    </m:r>
                    <m:r>
                      <m:rPr>
                        <m:nor/>
                      </m:rPr>
                      <a:rPr lang="en-US" dirty="0">
                        <a:sym typeface="Wingdings" pitchFamily="2" charset="2"/>
                      </a:rPr>
                      <m:t>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min</a:t>
                </a:r>
                <a:r>
                  <a:rPr lang="en-US" dirty="0"/>
                  <a:t>(          </a:t>
                </a:r>
                <a:r>
                  <a:rPr lang="en-US" dirty="0">
                    <a:solidFill>
                      <a:srgbClr val="C00000"/>
                    </a:solidFill>
                  </a:rPr>
                  <a:t>?</a:t>
                </a:r>
                <a:r>
                  <a:rPr lang="en-US" dirty="0"/>
                  <a:t>      ,                                                           )</a:t>
                </a:r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204392C2-CE69-AF18-3CFD-34BF996C39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734053"/>
                <a:ext cx="6705601" cy="369332"/>
              </a:xfrm>
              <a:prstGeom prst="rect">
                <a:avLst/>
              </a:prstGeom>
              <a:blipFill>
                <a:blip r:embed="rId1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8DABEC1-24BA-B8C6-BB02-DA729BF5D9E1}"/>
                  </a:ext>
                </a:extLst>
              </p:cNvPr>
              <p:cNvSpPr txBox="1"/>
              <p:nvPr/>
            </p:nvSpPr>
            <p:spPr>
              <a:xfrm>
                <a:off x="3515012" y="4724400"/>
                <a:ext cx="2813078" cy="50962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</m:d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𝑬</m:t>
                              </m:r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𝑳</m:t>
                              </m:r>
                              <m:d>
                                <m:d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 dirty="0">
                                      <a:latin typeface="Cambria Math"/>
                                    </a:rPr>
                                    <m:t>, 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 </m:t>
                              </m:r>
                              <m:r>
                                <a:rPr lang="en-US" b="1" i="1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𝝎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8DABEC1-24BA-B8C6-BB02-DA729BF5D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012" y="4724400"/>
                <a:ext cx="2813078" cy="509627"/>
              </a:xfrm>
              <a:prstGeom prst="rect">
                <a:avLst/>
              </a:prstGeom>
              <a:blipFill>
                <a:blip r:embed="rId14"/>
                <a:stretch>
                  <a:fillRect b="-59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6DA1709-0A15-D121-8B14-C1134A10560A}"/>
                  </a:ext>
                </a:extLst>
              </p:cNvPr>
              <p:cNvSpPr txBox="1"/>
              <p:nvPr/>
            </p:nvSpPr>
            <p:spPr>
              <a:xfrm>
                <a:off x="2510422" y="4739593"/>
                <a:ext cx="869149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𝑳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b="1" i="1" dirty="0">
                          <a:latin typeface="Cambria Math"/>
                        </a:rPr>
                        <m:t>, 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6DA1709-0A15-D121-8B14-C1134A105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22" y="4739593"/>
                <a:ext cx="869149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B4EB9E43-BA98-0F61-C754-4C7F9805D6FD}"/>
              </a:ext>
            </a:extLst>
          </p:cNvPr>
          <p:cNvGrpSpPr/>
          <p:nvPr/>
        </p:nvGrpSpPr>
        <p:grpSpPr>
          <a:xfrm>
            <a:off x="2684233" y="5063502"/>
            <a:ext cx="338554" cy="765218"/>
            <a:chOff x="76886" y="914400"/>
            <a:chExt cx="349888" cy="838200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D29A4C8-7E14-BFB0-07D2-7D0F92DDAC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829" y="914400"/>
              <a:ext cx="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E978A47-2937-6221-8ACF-53B94D539032}"/>
                </a:ext>
              </a:extLst>
            </p:cNvPr>
            <p:cNvSpPr txBox="1"/>
            <p:nvPr/>
          </p:nvSpPr>
          <p:spPr>
            <a:xfrm>
              <a:off x="76886" y="1102667"/>
              <a:ext cx="349888" cy="505696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=</a:t>
              </a:r>
              <a:endParaRPr lang="en-IN" sz="24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24ED701-0A05-809B-2AE3-508D8910CB57}"/>
              </a:ext>
            </a:extLst>
          </p:cNvPr>
          <p:cNvGrpSpPr/>
          <p:nvPr/>
        </p:nvGrpSpPr>
        <p:grpSpPr>
          <a:xfrm>
            <a:off x="4716963" y="5076443"/>
            <a:ext cx="338554" cy="765218"/>
            <a:chOff x="76886" y="914400"/>
            <a:chExt cx="349888" cy="838200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CE48793-7185-F2D2-1D6F-88D877EE06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829" y="914400"/>
              <a:ext cx="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4141FE7-F3D7-BDDC-9130-8C178E94E07B}"/>
                </a:ext>
              </a:extLst>
            </p:cNvPr>
            <p:cNvSpPr txBox="1"/>
            <p:nvPr/>
          </p:nvSpPr>
          <p:spPr>
            <a:xfrm>
              <a:off x="76886" y="1102667"/>
              <a:ext cx="349888" cy="505696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=</a:t>
              </a:r>
              <a:endParaRPr lang="en-IN" sz="24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BFF7725-89E4-D6FB-08FD-87398D659BC0}"/>
              </a:ext>
            </a:extLst>
          </p:cNvPr>
          <p:cNvGrpSpPr/>
          <p:nvPr/>
        </p:nvGrpSpPr>
        <p:grpSpPr>
          <a:xfrm rot="19982276">
            <a:off x="5805009" y="5041871"/>
            <a:ext cx="338554" cy="765218"/>
            <a:chOff x="76886" y="914400"/>
            <a:chExt cx="349888" cy="838200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2C8F755-92F7-89CF-07E2-8D0782C217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829" y="914400"/>
              <a:ext cx="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BE285CC-6E8F-642E-33E9-393F54251D20}"/>
                </a:ext>
              </a:extLst>
            </p:cNvPr>
            <p:cNvSpPr txBox="1"/>
            <p:nvPr/>
          </p:nvSpPr>
          <p:spPr>
            <a:xfrm>
              <a:off x="76886" y="1102667"/>
              <a:ext cx="349888" cy="505696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=</a:t>
              </a:r>
              <a:endParaRPr lang="en-IN" sz="2400" dirty="0">
                <a:solidFill>
                  <a:srgbClr val="00B050"/>
                </a:solidFill>
              </a:endParaRP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93692F75-CCB4-31B2-B5E9-35543DD89B09}"/>
              </a:ext>
            </a:extLst>
          </p:cNvPr>
          <p:cNvSpPr txBox="1"/>
          <p:nvPr/>
        </p:nvSpPr>
        <p:spPr>
          <a:xfrm>
            <a:off x="6895434" y="2056533"/>
            <a:ext cx="248786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  <a:endParaRPr lang="en-IN" sz="10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D29AFA8-12F4-123F-E8B5-1E73E176C29C}"/>
              </a:ext>
            </a:extLst>
          </p:cNvPr>
          <p:cNvSpPr txBox="1"/>
          <p:nvPr/>
        </p:nvSpPr>
        <p:spPr>
          <a:xfrm>
            <a:off x="7059367" y="2069830"/>
            <a:ext cx="248786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</a:p>
          <a:p>
            <a:r>
              <a:rPr lang="en-US" sz="1000" dirty="0"/>
              <a:t>=</a:t>
            </a:r>
            <a:endParaRPr lang="en-IN" sz="1000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9A6DB15-229C-39D3-889D-EB26A0C1B60B}"/>
              </a:ext>
            </a:extLst>
          </p:cNvPr>
          <p:cNvGrpSpPr/>
          <p:nvPr/>
        </p:nvGrpSpPr>
        <p:grpSpPr>
          <a:xfrm>
            <a:off x="1167398" y="5063502"/>
            <a:ext cx="338554" cy="765218"/>
            <a:chOff x="76886" y="914400"/>
            <a:chExt cx="349888" cy="83820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1C346A9-40DC-D468-715B-5E23C46E25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829" y="914400"/>
              <a:ext cx="0" cy="838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C0F7112-9413-1304-4786-12387157FE39}"/>
                </a:ext>
              </a:extLst>
            </p:cNvPr>
            <p:cNvSpPr txBox="1"/>
            <p:nvPr/>
          </p:nvSpPr>
          <p:spPr>
            <a:xfrm>
              <a:off x="76886" y="1102667"/>
              <a:ext cx="349888" cy="505696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=</a:t>
              </a:r>
              <a:endParaRPr lang="en-IN" sz="2400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4468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65" grpId="0"/>
      <p:bldP spid="67" grpId="0" animBg="1"/>
      <p:bldP spid="69" grpId="0" animBg="1"/>
      <p:bldP spid="69" grpId="1" animBg="1"/>
      <p:bldP spid="70" grpId="0" animBg="1"/>
      <p:bldP spid="71" grpId="0"/>
      <p:bldP spid="72" grpId="0" animBg="1"/>
      <p:bldP spid="73" grpId="0" animBg="1"/>
      <p:bldP spid="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Observations 2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If there is no negative cycle, </a:t>
                </a:r>
              </a:p>
              <a:p>
                <a:pPr marL="0" indent="0">
                  <a:buNone/>
                </a:pPr>
                <a:r>
                  <a:rPr lang="en-US" sz="2000" dirty="0"/>
                  <a:t>then what happens if we execute Bellman-Ford algorithm for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iteration?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sz="2000" b="1" i="1" dirty="0" smtClean="0">
                        <a:latin typeface="Cambria Math"/>
                      </a:rPr>
                      <m:t>=</m:t>
                    </m:r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000" dirty="0"/>
                  <a:t>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  <a:blipFill rotWithShape="1">
                <a:blip r:embed="rId2"/>
                <a:stretch>
                  <a:fillRect l="-741" t="-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048000" y="2743200"/>
            <a:ext cx="1981200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 negative cycle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810000" y="3244596"/>
            <a:ext cx="602570" cy="3368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048000" y="3581400"/>
            <a:ext cx="1981200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6C31"/>
                </a:solidFill>
              </a:rPr>
              <a:t>Optimal </a:t>
            </a:r>
            <a:r>
              <a:rPr lang="en-US" sz="1600" b="1" dirty="0" err="1">
                <a:solidFill>
                  <a:srgbClr val="006C31"/>
                </a:solidFill>
              </a:rPr>
              <a:t>Subpath</a:t>
            </a:r>
            <a:r>
              <a:rPr lang="en-US" sz="1600" b="1" dirty="0">
                <a:solidFill>
                  <a:srgbClr val="006C3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property holds</a:t>
            </a:r>
          </a:p>
        </p:txBody>
      </p:sp>
      <p:sp>
        <p:nvSpPr>
          <p:cNvPr id="8" name="Down Arrow 7"/>
          <p:cNvSpPr/>
          <p:nvPr/>
        </p:nvSpPr>
        <p:spPr>
          <a:xfrm>
            <a:off x="3810000" y="4082796"/>
            <a:ext cx="602570" cy="3368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1905000" y="4419600"/>
                <a:ext cx="4724400" cy="6858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? </a:t>
                </a: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419600"/>
                <a:ext cx="4724400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/>
          <p:cNvSpPr/>
          <p:nvPr/>
        </p:nvSpPr>
        <p:spPr>
          <a:xfrm>
            <a:off x="3810000" y="5105400"/>
            <a:ext cx="6096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86001" y="4766846"/>
                <a:ext cx="4267200" cy="33855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Length of shortest path to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with at most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 edges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1" y="4766846"/>
                <a:ext cx="4267200" cy="338554"/>
              </a:xfrm>
              <a:prstGeom prst="rect">
                <a:avLst/>
              </a:prstGeom>
              <a:blipFill>
                <a:blip r:embed="rId4"/>
                <a:stretch>
                  <a:fillRect l="-893" t="-7143" r="-2083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1828800" y="5486400"/>
                <a:ext cx="4724400" cy="9144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? </a:t>
                </a:r>
              </a:p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5486400"/>
                <a:ext cx="4724400" cy="9144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570217" y="5833646"/>
                <a:ext cx="2936766" cy="33855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Length of the shortest path to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600" dirty="0"/>
                  <a:t> 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217" y="5833646"/>
                <a:ext cx="2936766" cy="338554"/>
              </a:xfrm>
              <a:prstGeom prst="rect">
                <a:avLst/>
              </a:prstGeom>
              <a:blipFill>
                <a:blip r:embed="rId6"/>
                <a:stretch>
                  <a:fillRect l="-1293" t="-7143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2590800" y="1447800"/>
            <a:ext cx="3886200" cy="342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477000" y="1371600"/>
            <a:ext cx="2362200" cy="342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433547" y="6062246"/>
                <a:ext cx="10340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𝑳</m:t>
                      </m:r>
                      <m:r>
                        <a:rPr lang="en-US" sz="1600" b="1" dirty="0">
                          <a:latin typeface="Cambria Math"/>
                        </a:rPr>
                        <m:t>[</m:t>
                      </m:r>
                      <m:r>
                        <a:rPr lang="en-US" sz="1600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600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600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600" b="1" i="1" dirty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547" y="6062246"/>
                <a:ext cx="1034065" cy="338554"/>
              </a:xfrm>
              <a:prstGeom prst="rect">
                <a:avLst/>
              </a:prstGeom>
              <a:blipFill>
                <a:blip r:embed="rId7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84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3" grpId="0" animBg="1"/>
      <p:bldP spid="46" grpId="0" animBg="1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Observation 3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Bellman-Ford-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      If </a:t>
                </a:r>
                <a14:m>
                  <m:oMath xmlns:m="http://schemas.openxmlformats.org/officeDocument/2006/math"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/>
                  <a:t>   then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ea typeface="Cambria Math"/>
                    <a:sym typeface="Wingdings" pitchFamily="2" charset="2"/>
                  </a:rPr>
                  <a:t>                               </a:t>
                </a:r>
                <a:r>
                  <a:rPr lang="en-US" sz="2000" b="1" dirty="0">
                    <a:ea typeface="Cambria Math"/>
                    <a:sym typeface="Wingdings" pitchFamily="2" charset="2"/>
                  </a:rPr>
                  <a:t>else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C00000"/>
                    </a:solidFill>
                  </a:rPr>
                  <a:t> ?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   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{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m:rPr>
                        <m:nor/>
                      </m:rPr>
                      <a:rPr lang="en-US" sz="2000" dirty="0">
                        <a:sym typeface="Wingdings" pitchFamily="2" charset="2"/>
                      </a:rPr>
                      <m:t>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min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 rotWithShape="1">
                <a:blip r:embed="rId2"/>
                <a:stretch>
                  <a:fillRect l="-741" t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0" y="2286000"/>
                <a:ext cx="8254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286000"/>
                <a:ext cx="82546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2740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86200" y="2678668"/>
                <a:ext cx="60960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dirty="0"/>
                  <a:t>; </a:t>
                </a:r>
                <a:endParaRPr lang="en-US" b="1" i="1" dirty="0">
                  <a:solidFill>
                    <a:srgbClr val="006C3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2678668"/>
                <a:ext cx="609600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76400" y="3059668"/>
                <a:ext cx="48893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𝟎</m:t>
                    </m:r>
                  </m:oMath>
                </a14:m>
                <a:r>
                  <a:rPr lang="en-US" dirty="0"/>
                  <a:t>;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059668"/>
                <a:ext cx="488934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2000" y="41148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84" y="53340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}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145505" y="2069068"/>
            <a:ext cx="3769895" cy="2590800"/>
            <a:chOff x="1828800" y="3048000"/>
            <a:chExt cx="3769895" cy="2590800"/>
          </a:xfrm>
        </p:grpSpPr>
        <p:grpSp>
          <p:nvGrpSpPr>
            <p:cNvPr id="19" name="Group 18"/>
            <p:cNvGrpSpPr/>
            <p:nvPr/>
          </p:nvGrpSpPr>
          <p:grpSpPr>
            <a:xfrm>
              <a:off x="2590800" y="3048000"/>
              <a:ext cx="3007895" cy="2590800"/>
              <a:chOff x="3733800" y="1728216"/>
              <a:chExt cx="4343400" cy="3910584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3733800" y="1752600"/>
                <a:ext cx="4343400" cy="38862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5334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562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5791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6019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6248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6477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6705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6934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7162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7391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7620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7848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3733800" y="2895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3733800" y="3124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3733800" y="3352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3733800" y="3581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3733800" y="3810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3733800" y="4038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3733800" y="4267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5105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3733800" y="1981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3733800" y="2209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3733800" y="2438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3733800" y="2667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4876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4648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4419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4191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3962400" y="1728216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3733800" y="4495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3733800" y="4724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3733800" y="4953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3733800" y="5181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3733800" y="5410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1828800" y="4050268"/>
                  <a:ext cx="367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B050"/>
                            </a:solidFill>
                            <a:latin typeface="Cambria Math"/>
                          </a:rPr>
                          <m:t>𝑳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800" y="4050268"/>
                  <a:ext cx="367408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1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/>
          <p:cNvGrpSpPr/>
          <p:nvPr/>
        </p:nvGrpSpPr>
        <p:grpSpPr>
          <a:xfrm>
            <a:off x="5526505" y="2896815"/>
            <a:ext cx="386644" cy="1305853"/>
            <a:chOff x="2209800" y="3875747"/>
            <a:chExt cx="386644" cy="1305853"/>
          </a:xfrm>
        </p:grpSpPr>
        <p:cxnSp>
          <p:nvCxnSpPr>
            <p:cNvPr id="57" name="Straight Arrow Connector 56"/>
            <p:cNvCxnSpPr/>
            <p:nvPr/>
          </p:nvCxnSpPr>
          <p:spPr>
            <a:xfrm flipV="1">
              <a:off x="2438400" y="3875747"/>
              <a:ext cx="0" cy="9248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2209800" y="4812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4812268"/>
                  <a:ext cx="38664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/>
          <p:cNvGrpSpPr/>
          <p:nvPr/>
        </p:nvGrpSpPr>
        <p:grpSpPr>
          <a:xfrm>
            <a:off x="6898105" y="4736068"/>
            <a:ext cx="1371600" cy="369332"/>
            <a:chOff x="3352800" y="5715000"/>
            <a:chExt cx="137160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3352800" y="5715000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2800" y="5715000"/>
                  <a:ext cx="3225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333" r="-25000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Arrow Connector 60"/>
            <p:cNvCxnSpPr/>
            <p:nvPr/>
          </p:nvCxnSpPr>
          <p:spPr>
            <a:xfrm>
              <a:off x="3639876" y="5867009"/>
              <a:ext cx="10845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0912D5-9F40-4F9D-B9AB-130A992C7641}"/>
                  </a:ext>
                </a:extLst>
              </p:cNvPr>
              <p:cNvSpPr txBox="1"/>
              <p:nvPr/>
            </p:nvSpPr>
            <p:spPr>
              <a:xfrm>
                <a:off x="5791200" y="2583296"/>
                <a:ext cx="3866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0912D5-9F40-4F9D-B9AB-130A992C7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583296"/>
                <a:ext cx="386644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41F0D1-AFAB-D7BB-99E4-335F1C4768B3}"/>
                  </a:ext>
                </a:extLst>
              </p:cNvPr>
              <p:cNvSpPr txBox="1"/>
              <p:nvPr/>
            </p:nvSpPr>
            <p:spPr>
              <a:xfrm>
                <a:off x="5699841" y="2591369"/>
                <a:ext cx="9137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41F0D1-AFAB-D7BB-99E4-335F1C476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841" y="2591369"/>
                <a:ext cx="91376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4B3682-D89E-F6B8-3D0F-4D33CF808833}"/>
                  </a:ext>
                </a:extLst>
              </p:cNvPr>
              <p:cNvSpPr txBox="1"/>
              <p:nvPr/>
            </p:nvSpPr>
            <p:spPr>
              <a:xfrm>
                <a:off x="6325233" y="2590800"/>
                <a:ext cx="9137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4B3682-D89E-F6B8-3D0F-4D33CF808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233" y="2590800"/>
                <a:ext cx="91376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A542331-5068-1A13-BD4C-227FE61C6949}"/>
                  </a:ext>
                </a:extLst>
              </p:cNvPr>
              <p:cNvSpPr txBox="1"/>
              <p:nvPr/>
            </p:nvSpPr>
            <p:spPr>
              <a:xfrm>
                <a:off x="6477000" y="2590800"/>
                <a:ext cx="9137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A542331-5068-1A13-BD4C-227FE61C6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590800"/>
                <a:ext cx="913767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50B6774-CE6D-8C2A-BBF1-83F34508F232}"/>
                  </a:ext>
                </a:extLst>
              </p:cNvPr>
              <p:cNvSpPr txBox="1"/>
              <p:nvPr/>
            </p:nvSpPr>
            <p:spPr>
              <a:xfrm>
                <a:off x="6764076" y="4583668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50B6774-CE6D-8C2A-BBF1-83F34508F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076" y="4583668"/>
                <a:ext cx="327334" cy="369332"/>
              </a:xfrm>
              <a:prstGeom prst="rect">
                <a:avLst/>
              </a:prstGeom>
              <a:blipFill>
                <a:blip r:embed="rId1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A7BD479-4B68-F6E6-8F37-5853E6D2B8D6}"/>
                  </a:ext>
                </a:extLst>
              </p:cNvPr>
              <p:cNvSpPr txBox="1"/>
              <p:nvPr/>
            </p:nvSpPr>
            <p:spPr>
              <a:xfrm>
                <a:off x="5590199" y="2588331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A7BD479-4B68-F6E6-8F37-5853E6D2B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199" y="2588331"/>
                <a:ext cx="37542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loud Callout 7">
                <a:extLst>
                  <a:ext uri="{FF2B5EF4-FFF2-40B4-BE49-F238E27FC236}">
                    <a16:creationId xmlns:a16="http://schemas.microsoft.com/office/drawing/2014/main" id="{48E7CDCF-35BA-9876-E56E-E9A3D165CDC9}"/>
                  </a:ext>
                </a:extLst>
              </p:cNvPr>
              <p:cNvSpPr/>
              <p:nvPr/>
            </p:nvSpPr>
            <p:spPr>
              <a:xfrm>
                <a:off x="3972953" y="1051678"/>
                <a:ext cx="5850303" cy="834373"/>
              </a:xfrm>
              <a:prstGeom prst="cloudCallout">
                <a:avLst>
                  <a:gd name="adj1" fmla="val -23165"/>
                  <a:gd name="adj2" fmla="val 78526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is reachable from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what is the smallest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16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600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is a </a:t>
                </a:r>
                <a:r>
                  <a:rPr lang="en-US" sz="1600" u="sng" dirty="0">
                    <a:solidFill>
                      <a:schemeClr val="tx1"/>
                    </a:solidFill>
                  </a:rPr>
                  <a:t>finite</a:t>
                </a:r>
                <a:r>
                  <a:rPr lang="en-US" sz="1600" dirty="0">
                    <a:solidFill>
                      <a:schemeClr val="tx1"/>
                    </a:solidFill>
                  </a:rPr>
                  <a:t> value ?</a:t>
                </a:r>
              </a:p>
            </p:txBody>
          </p:sp>
        </mc:Choice>
        <mc:Fallback xmlns="">
          <p:sp>
            <p:nvSpPr>
              <p:cNvPr id="9" name="Cloud Callout 7">
                <a:extLst>
                  <a:ext uri="{FF2B5EF4-FFF2-40B4-BE49-F238E27FC236}">
                    <a16:creationId xmlns:a16="http://schemas.microsoft.com/office/drawing/2014/main" id="{48E7CDCF-35BA-9876-E56E-E9A3D165CD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953" y="1051678"/>
                <a:ext cx="5850303" cy="834373"/>
              </a:xfrm>
              <a:prstGeom prst="cloudCallout">
                <a:avLst>
                  <a:gd name="adj1" fmla="val -23165"/>
                  <a:gd name="adj2" fmla="val 78526"/>
                </a:avLst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264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4" grpId="0"/>
      <p:bldP spid="17" grpId="0"/>
      <p:bldP spid="63" grpId="0"/>
      <p:bldP spid="65" grpId="0"/>
      <p:bldP spid="67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981200" y="1600200"/>
            <a:ext cx="4648200" cy="44958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2286000" y="1905000"/>
            <a:ext cx="4038600" cy="3886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971800" y="2590800"/>
            <a:ext cx="2667000" cy="2514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1792AB-33EE-51D1-85A9-4B5A7C469995}"/>
              </a:ext>
            </a:extLst>
          </p:cNvPr>
          <p:cNvSpPr/>
          <p:nvPr/>
        </p:nvSpPr>
        <p:spPr>
          <a:xfrm>
            <a:off x="2969012" y="2590800"/>
            <a:ext cx="2667000" cy="25146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410200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execution of </a:t>
            </a:r>
            <a:r>
              <a:rPr lang="en-US" sz="3200" b="1" dirty="0">
                <a:solidFill>
                  <a:srgbClr val="7030A0"/>
                </a:solidFill>
              </a:rPr>
              <a:t>Bellman Ford </a:t>
            </a:r>
            <a:r>
              <a:rPr lang="en-US" sz="3200" b="1" dirty="0"/>
              <a:t>algorithm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562600" y="3423166"/>
            <a:ext cx="1360784" cy="381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25" idx="1"/>
          </p:cNvCxnSpPr>
          <p:nvPr/>
        </p:nvCxnSpPr>
        <p:spPr>
          <a:xfrm>
            <a:off x="5181600" y="4202668"/>
            <a:ext cx="1752600" cy="1687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577" t="-3509" r="-2839" b="-192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1351" t="-3448" r="-1892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937250" y="1295400"/>
                <a:ext cx="800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50" y="1295400"/>
                <a:ext cx="800219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916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28600" y="3663434"/>
                <a:ext cx="1669624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All paths from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663434"/>
                <a:ext cx="1669624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2909" t="-6349" r="-5091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/>
          <p:cNvSpPr/>
          <p:nvPr/>
        </p:nvSpPr>
        <p:spPr>
          <a:xfrm>
            <a:off x="4876800" y="34290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4267200" y="1905000"/>
            <a:ext cx="76200" cy="381000"/>
            <a:chOff x="4267200" y="1905000"/>
            <a:chExt cx="76200" cy="381000"/>
          </a:xfrm>
        </p:grpSpPr>
        <p:sp>
          <p:nvSpPr>
            <p:cNvPr id="27" name="Oval 26"/>
            <p:cNvSpPr/>
            <p:nvPr/>
          </p:nvSpPr>
          <p:spPr>
            <a:xfrm>
              <a:off x="4267200" y="22098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267200" y="20574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267200" y="19050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Oval 25"/>
          <p:cNvSpPr/>
          <p:nvPr/>
        </p:nvSpPr>
        <p:spPr>
          <a:xfrm>
            <a:off x="3352800" y="2971800"/>
            <a:ext cx="1905000" cy="17526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067838" y="3615155"/>
            <a:ext cx="427962" cy="435114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2264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962400" y="1611868"/>
                <a:ext cx="800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611868"/>
                <a:ext cx="80021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197" r="-91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BA642793-ABA1-7D89-558E-2BAE39A598D0}"/>
              </a:ext>
            </a:extLst>
          </p:cNvPr>
          <p:cNvSpPr/>
          <p:nvPr/>
        </p:nvSpPr>
        <p:spPr>
          <a:xfrm>
            <a:off x="3350012" y="2963079"/>
            <a:ext cx="1905000" cy="17526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991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/>
          <p:cNvGrpSpPr/>
          <p:nvPr/>
        </p:nvGrpSpPr>
        <p:grpSpPr>
          <a:xfrm>
            <a:off x="4267200" y="3048000"/>
            <a:ext cx="76200" cy="381000"/>
            <a:chOff x="4267200" y="1905000"/>
            <a:chExt cx="76200" cy="381000"/>
          </a:xfrm>
        </p:grpSpPr>
        <p:sp>
          <p:nvSpPr>
            <p:cNvPr id="32" name="Oval 31"/>
            <p:cNvSpPr/>
            <p:nvPr/>
          </p:nvSpPr>
          <p:spPr>
            <a:xfrm>
              <a:off x="4267200" y="22098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4267200" y="20574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267200" y="19050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7F42F941-EE24-D75E-000B-B17FCF7693FD}"/>
              </a:ext>
            </a:extLst>
          </p:cNvPr>
          <p:cNvSpPr/>
          <p:nvPr/>
        </p:nvSpPr>
        <p:spPr>
          <a:xfrm>
            <a:off x="4067838" y="3610868"/>
            <a:ext cx="427962" cy="4351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725851-97D3-0320-591F-CD9D132AC4AB}"/>
              </a:ext>
            </a:extLst>
          </p:cNvPr>
          <p:cNvSpPr txBox="1"/>
          <p:nvPr/>
        </p:nvSpPr>
        <p:spPr>
          <a:xfrm>
            <a:off x="3564200" y="835357"/>
            <a:ext cx="165615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Like a wave …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BF6080-937D-C988-3461-94DF41106BD1}"/>
                  </a:ext>
                </a:extLst>
              </p:cNvPr>
              <p:cNvSpPr txBox="1"/>
              <p:nvPr/>
            </p:nvSpPr>
            <p:spPr>
              <a:xfrm>
                <a:off x="1622769" y="6141303"/>
                <a:ext cx="5542671" cy="64633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It reaches a vertex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for the first time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iteration </a:t>
                </a:r>
              </a:p>
              <a:p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least number of edges on any path from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dirty="0"/>
                  <a:t> to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BF6080-937D-C988-3461-94DF41106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769" y="6141303"/>
                <a:ext cx="5542671" cy="646331"/>
              </a:xfrm>
              <a:prstGeom prst="rect">
                <a:avLst/>
              </a:prstGeom>
              <a:blipFill>
                <a:blip r:embed="rId13"/>
                <a:stretch>
                  <a:fillRect l="-880" t="-4717" r="-110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698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" grpId="0"/>
      <p:bldP spid="13" grpId="0" animBg="1"/>
      <p:bldP spid="12" grpId="0" animBg="1"/>
      <p:bldP spid="17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5"/>
              <p:cNvSpPr>
                <a:spLocks noGrp="1"/>
              </p:cNvSpPr>
              <p:nvPr>
                <p:ph type="title"/>
              </p:nvPr>
            </p:nvSpPr>
            <p:spPr>
              <a:xfrm>
                <a:off x="722313" y="1905000"/>
                <a:ext cx="7772400" cy="1362075"/>
              </a:xfrm>
            </p:spPr>
            <p:txBody>
              <a:bodyPr/>
              <a:lstStyle/>
              <a:p>
                <a:pPr algn="ctr"/>
                <a:r>
                  <a:rPr lang="en-US" sz="3600" dirty="0">
                    <a:solidFill>
                      <a:srgbClr val="7030A0"/>
                    </a:solidFill>
                  </a:rPr>
                  <a:t>Detecting negative cycle</a:t>
                </a:r>
                <a:br>
                  <a:rPr lang="en-US" sz="3600" dirty="0">
                    <a:solidFill>
                      <a:srgbClr val="7030A0"/>
                    </a:solidFill>
                  </a:rPr>
                </a:br>
                <a:r>
                  <a:rPr lang="en-US" sz="3600" dirty="0">
                    <a:solidFill>
                      <a:srgbClr val="7030A0"/>
                    </a:solidFill>
                  </a:rPr>
                  <a:t>in</a:t>
                </a:r>
                <a:r>
                  <a:rPr lang="en-US" sz="36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Tit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2313" y="1905000"/>
                <a:ext cx="7772400" cy="1362075"/>
              </a:xfrm>
              <a:blipFill rotWithShape="1">
                <a:blip r:embed="rId2"/>
                <a:stretch>
                  <a:fillRect t="-6726" b="-4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0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ontent Placeholder 7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381000" y="3581400"/>
            <a:ext cx="352981" cy="533400"/>
            <a:chOff x="1171019" y="3581400"/>
            <a:chExt cx="352981" cy="533400"/>
          </a:xfrm>
        </p:grpSpPr>
        <p:sp>
          <p:nvSpPr>
            <p:cNvPr id="51" name="Oval 50"/>
            <p:cNvSpPr/>
            <p:nvPr/>
          </p:nvSpPr>
          <p:spPr>
            <a:xfrm>
              <a:off x="1267381" y="3581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1171019" y="3745468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1019" y="3745468"/>
                  <a:ext cx="35298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456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/>
          <p:cNvGrpSpPr/>
          <p:nvPr/>
        </p:nvGrpSpPr>
        <p:grpSpPr>
          <a:xfrm>
            <a:off x="1295400" y="1676400"/>
            <a:ext cx="3076767" cy="3886200"/>
            <a:chOff x="3429000" y="2286000"/>
            <a:chExt cx="3076767" cy="3886200"/>
          </a:xfrm>
        </p:grpSpPr>
        <p:sp>
          <p:nvSpPr>
            <p:cNvPr id="22" name="Oval 21"/>
            <p:cNvSpPr/>
            <p:nvPr/>
          </p:nvSpPr>
          <p:spPr>
            <a:xfrm>
              <a:off x="5867400" y="3200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867400" y="4191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5867400" y="5029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953000" y="5715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>
              <a:stCxn id="50" idx="6"/>
              <a:endCxn id="22" idx="1"/>
            </p:cNvCxnSpPr>
            <p:nvPr/>
          </p:nvCxnSpPr>
          <p:spPr>
            <a:xfrm>
              <a:off x="5105400" y="2667000"/>
              <a:ext cx="784318" cy="5557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22" idx="4"/>
              <a:endCxn id="23" idx="0"/>
            </p:cNvCxnSpPr>
            <p:nvPr/>
          </p:nvCxnSpPr>
          <p:spPr>
            <a:xfrm>
              <a:off x="5943600" y="3352800"/>
              <a:ext cx="0" cy="8382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23" idx="4"/>
              <a:endCxn id="24" idx="0"/>
            </p:cNvCxnSpPr>
            <p:nvPr/>
          </p:nvCxnSpPr>
          <p:spPr>
            <a:xfrm>
              <a:off x="5943600" y="4343400"/>
              <a:ext cx="0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24" idx="3"/>
              <a:endCxn id="25" idx="6"/>
            </p:cNvCxnSpPr>
            <p:nvPr/>
          </p:nvCxnSpPr>
          <p:spPr>
            <a:xfrm flipH="1">
              <a:off x="5105400" y="5159282"/>
              <a:ext cx="784318" cy="6319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/>
            <p:nvPr/>
          </p:nvSpPr>
          <p:spPr>
            <a:xfrm>
              <a:off x="3886200" y="3200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/>
            <p:cNvCxnSpPr>
              <a:stCxn id="25" idx="2"/>
            </p:cNvCxnSpPr>
            <p:nvPr/>
          </p:nvCxnSpPr>
          <p:spPr>
            <a:xfrm flipH="1" flipV="1">
              <a:off x="3962400" y="5181600"/>
              <a:ext cx="990600" cy="609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3860337" y="5029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/>
            <p:cNvCxnSpPr>
              <a:stCxn id="45" idx="0"/>
            </p:cNvCxnSpPr>
            <p:nvPr/>
          </p:nvCxnSpPr>
          <p:spPr>
            <a:xfrm flipV="1">
              <a:off x="3936537" y="3352800"/>
              <a:ext cx="0" cy="167640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/>
            <p:cNvSpPr/>
            <p:nvPr/>
          </p:nvSpPr>
          <p:spPr>
            <a:xfrm>
              <a:off x="4953000" y="2590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4810986" y="2286000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0986" y="2286000"/>
                  <a:ext cx="48596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/>
            <p:cNvCxnSpPr/>
            <p:nvPr/>
          </p:nvCxnSpPr>
          <p:spPr>
            <a:xfrm flipV="1">
              <a:off x="4038600" y="2667000"/>
              <a:ext cx="914400" cy="5557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6019800" y="3124200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3124200"/>
                  <a:ext cx="485967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645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6019800" y="4126468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126468"/>
                  <a:ext cx="485967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645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6019800" y="4953000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953000"/>
                  <a:ext cx="48596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1645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800600" y="5802868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0" y="5802868"/>
                  <a:ext cx="48596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645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3628833" y="5117068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8833" y="5117068"/>
                  <a:ext cx="485967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3429000" y="2971800"/>
                  <a:ext cx="4875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971800"/>
                  <a:ext cx="487569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333" r="-1772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/>
          <p:cNvGrpSpPr/>
          <p:nvPr/>
        </p:nvGrpSpPr>
        <p:grpSpPr>
          <a:xfrm>
            <a:off x="629762" y="3728720"/>
            <a:ext cx="2225198" cy="1707923"/>
            <a:chOff x="629762" y="3728720"/>
            <a:chExt cx="2225198" cy="1707923"/>
          </a:xfrm>
        </p:grpSpPr>
        <p:sp>
          <p:nvSpPr>
            <p:cNvPr id="67" name="Freeform 66"/>
            <p:cNvSpPr/>
            <p:nvPr/>
          </p:nvSpPr>
          <p:spPr>
            <a:xfrm>
              <a:off x="629762" y="3728720"/>
              <a:ext cx="2225198" cy="1707923"/>
            </a:xfrm>
            <a:custGeom>
              <a:avLst/>
              <a:gdLst>
                <a:gd name="connsiteX0" fmla="*/ 0 w 2265680"/>
                <a:gd name="connsiteY0" fmla="*/ 0 h 1809523"/>
                <a:gd name="connsiteX1" fmla="*/ 467360 w 2265680"/>
                <a:gd name="connsiteY1" fmla="*/ 904240 h 1809523"/>
                <a:gd name="connsiteX2" fmla="*/ 1107440 w 2265680"/>
                <a:gd name="connsiteY2" fmla="*/ 1310640 h 1809523"/>
                <a:gd name="connsiteX3" fmla="*/ 1747520 w 2265680"/>
                <a:gd name="connsiteY3" fmla="*/ 1798320 h 1809523"/>
                <a:gd name="connsiteX4" fmla="*/ 2265680 w 2265680"/>
                <a:gd name="connsiteY4" fmla="*/ 1605280 h 1809523"/>
                <a:gd name="connsiteX0" fmla="*/ 0 w 2225040"/>
                <a:gd name="connsiteY0" fmla="*/ 0 h 1707923"/>
                <a:gd name="connsiteX1" fmla="*/ 426720 w 2225040"/>
                <a:gd name="connsiteY1" fmla="*/ 802640 h 1707923"/>
                <a:gd name="connsiteX2" fmla="*/ 1066800 w 2225040"/>
                <a:gd name="connsiteY2" fmla="*/ 1209040 h 1707923"/>
                <a:gd name="connsiteX3" fmla="*/ 1706880 w 2225040"/>
                <a:gd name="connsiteY3" fmla="*/ 1696720 h 1707923"/>
                <a:gd name="connsiteX4" fmla="*/ 2225040 w 2225040"/>
                <a:gd name="connsiteY4" fmla="*/ 1503680 h 170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5040" h="1707923">
                  <a:moveTo>
                    <a:pt x="0" y="0"/>
                  </a:moveTo>
                  <a:cubicBezTo>
                    <a:pt x="141393" y="342900"/>
                    <a:pt x="248920" y="601133"/>
                    <a:pt x="426720" y="802640"/>
                  </a:cubicBezTo>
                  <a:cubicBezTo>
                    <a:pt x="604520" y="1004147"/>
                    <a:pt x="853440" y="1060027"/>
                    <a:pt x="1066800" y="1209040"/>
                  </a:cubicBezTo>
                  <a:cubicBezTo>
                    <a:pt x="1280160" y="1358053"/>
                    <a:pt x="1513840" y="1647613"/>
                    <a:pt x="1706880" y="1696720"/>
                  </a:cubicBezTo>
                  <a:cubicBezTo>
                    <a:pt x="1899920" y="1745827"/>
                    <a:pt x="2062480" y="1624753"/>
                    <a:pt x="2225040" y="1503680"/>
                  </a:cubicBezTo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Arrow Connector 67"/>
            <p:cNvCxnSpPr>
              <a:endCxn id="67" idx="4"/>
            </p:cNvCxnSpPr>
            <p:nvPr/>
          </p:nvCxnSpPr>
          <p:spPr>
            <a:xfrm flipV="1">
              <a:off x="2766173" y="5232400"/>
              <a:ext cx="88787" cy="727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1905000" y="2839134"/>
                <a:ext cx="1676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: </a:t>
                </a:r>
              </a:p>
              <a:p>
                <a:pPr algn="ctr"/>
                <a:r>
                  <a:rPr lang="en-US" dirty="0"/>
                  <a:t>a negative cycle</a:t>
                </a:r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39134"/>
                <a:ext cx="1676399" cy="646331"/>
              </a:xfrm>
              <a:prstGeom prst="rect">
                <a:avLst/>
              </a:prstGeom>
              <a:blipFill rotWithShape="1">
                <a:blip r:embed="rId11"/>
                <a:stretch>
                  <a:fillRect l="-2920" t="-4717" r="-5839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D2568FB-9F31-EF3E-520F-6FB2AAA5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E0EFFC-494F-1BBB-501E-5B2114DB511A}"/>
                  </a:ext>
                </a:extLst>
              </p:cNvPr>
              <p:cNvSpPr txBox="1"/>
              <p:nvPr/>
            </p:nvSpPr>
            <p:spPr>
              <a:xfrm>
                <a:off x="978401" y="5501175"/>
                <a:ext cx="1370440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iteration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E0EFFC-494F-1BBB-501E-5B2114DB5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01" y="5501175"/>
                <a:ext cx="1370440" cy="369332"/>
              </a:xfrm>
              <a:prstGeom prst="rect">
                <a:avLst/>
              </a:prstGeom>
              <a:blipFill>
                <a:blip r:embed="rId12"/>
                <a:stretch>
                  <a:fillRect t="-322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CF885A-8595-5012-E3EE-D5B90F10F4C6}"/>
                  </a:ext>
                </a:extLst>
              </p:cNvPr>
              <p:cNvSpPr txBox="1"/>
              <p:nvPr/>
            </p:nvSpPr>
            <p:spPr>
              <a:xfrm>
                <a:off x="4384456" y="3119735"/>
                <a:ext cx="491833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1800" dirty="0"/>
                  <a:t>: </a:t>
                </a:r>
              </a:p>
              <a:p>
                <a:pPr marL="0" indent="0">
                  <a:buNone/>
                </a:pPr>
                <a:r>
                  <a:rPr lang="en-US" sz="1800" dirty="0"/>
                  <a:t>Once the cycle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7030A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sz="1800" dirty="0"/>
                  <a:t> has been </a:t>
                </a:r>
                <a:r>
                  <a:rPr lang="en-US" sz="1800" b="1" i="1" dirty="0"/>
                  <a:t>reached </a:t>
                </a:r>
                <a:r>
                  <a:rPr lang="en-US" sz="1800" dirty="0"/>
                  <a:t>by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,</a:t>
                </a:r>
              </a:p>
              <a:p>
                <a:pPr marL="0" indent="0">
                  <a:buNone/>
                </a:pPr>
                <a:r>
                  <a:rPr lang="en-US" sz="1800" dirty="0"/>
                  <a:t>what will happen to labels of its vertices in future?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CF885A-8595-5012-E3EE-D5B90F10F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456" y="3119735"/>
                <a:ext cx="4918334" cy="923330"/>
              </a:xfrm>
              <a:prstGeom prst="rect">
                <a:avLst/>
              </a:prstGeom>
              <a:blipFill>
                <a:blip r:embed="rId13"/>
                <a:stretch>
                  <a:fillRect l="-991" t="-3974" r="-496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33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5BE53E32-D27A-BB7D-41D8-DC2A2E0CC415}"/>
              </a:ext>
            </a:extLst>
          </p:cNvPr>
          <p:cNvSpPr/>
          <p:nvPr/>
        </p:nvSpPr>
        <p:spPr>
          <a:xfrm>
            <a:off x="1650537" y="4343400"/>
            <a:ext cx="304800" cy="3251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342B43-9CC1-7914-1F3B-C1A5A1C3F73B}"/>
              </a:ext>
            </a:extLst>
          </p:cNvPr>
          <p:cNvSpPr/>
          <p:nvPr/>
        </p:nvSpPr>
        <p:spPr>
          <a:xfrm>
            <a:off x="1663621" y="2516672"/>
            <a:ext cx="304800" cy="3251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EE4E27-679D-C581-290D-8B33DB08EE33}"/>
              </a:ext>
            </a:extLst>
          </p:cNvPr>
          <p:cNvSpPr/>
          <p:nvPr/>
        </p:nvSpPr>
        <p:spPr>
          <a:xfrm>
            <a:off x="2743200" y="5024874"/>
            <a:ext cx="304800" cy="3251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299ECC-36AE-1367-4DBD-F995E23D19D9}"/>
              </a:ext>
            </a:extLst>
          </p:cNvPr>
          <p:cNvSpPr/>
          <p:nvPr/>
        </p:nvSpPr>
        <p:spPr>
          <a:xfrm>
            <a:off x="3649818" y="4365506"/>
            <a:ext cx="304800" cy="3251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EF9EED-D781-5679-812A-41BD4A959CD2}"/>
              </a:ext>
            </a:extLst>
          </p:cNvPr>
          <p:cNvSpPr/>
          <p:nvPr/>
        </p:nvSpPr>
        <p:spPr>
          <a:xfrm>
            <a:off x="3657598" y="3482297"/>
            <a:ext cx="304800" cy="3251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76A105-C440-5738-58D9-007EE393251F}"/>
              </a:ext>
            </a:extLst>
          </p:cNvPr>
          <p:cNvSpPr/>
          <p:nvPr/>
        </p:nvSpPr>
        <p:spPr>
          <a:xfrm>
            <a:off x="3667902" y="2514014"/>
            <a:ext cx="304800" cy="3251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1CDF76-3D80-6071-B4F4-A3B46B33B20D}"/>
              </a:ext>
            </a:extLst>
          </p:cNvPr>
          <p:cNvSpPr/>
          <p:nvPr/>
        </p:nvSpPr>
        <p:spPr>
          <a:xfrm>
            <a:off x="2757583" y="1914095"/>
            <a:ext cx="304800" cy="3251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ontent Placeholder 7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372167" y="1143000"/>
                <a:ext cx="4695633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C0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>
                    <a:latin typeface="Cambria Math"/>
                  </a:rPr>
                  <a:t>Answer: </a:t>
                </a:r>
                <a:r>
                  <a:rPr lang="en-US" sz="1600" dirty="0"/>
                  <a:t> Label of at least one vertex in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7030A0"/>
                        </a:solidFill>
                        <a:latin typeface="Cambria Math"/>
                      </a:rPr>
                      <m:t>𝑪</m:t>
                    </m:r>
                    <m:r>
                      <a:rPr lang="en-US" sz="1600" b="1" i="1" dirty="0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will change in each subsequent  iteration.</a:t>
                </a:r>
                <a:endParaRPr lang="en-US" sz="1600" b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latin typeface="Cambria Math"/>
                  </a:rPr>
                  <a:t>Proof: Consider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1600" b="1" dirty="0" err="1">
                    <a:latin typeface="Cambria Math"/>
                  </a:rPr>
                  <a:t>th</a:t>
                </a:r>
                <a:r>
                  <a:rPr lang="en-US" sz="1600" b="1" dirty="0">
                    <a:latin typeface="Cambria Math"/>
                  </a:rPr>
                  <a:t> iteration for any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600" b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b="1" dirty="0">
                    <a:latin typeface="Cambria Math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latin typeface="Cambria Math"/>
                  </a:rPr>
                  <a:t>It follows from the algorithm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e>
                    </m:d>
                    <m:r>
                      <a:rPr lang="en-US" sz="1600" b="1" i="1" dirty="0" smtClean="0">
                        <a:latin typeface="Cambria Math"/>
                      </a:rPr>
                      <m:t>≤</m:t>
                    </m:r>
                    <m:r>
                      <a:rPr lang="en-US" sz="16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dirty="0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>
                        <a:latin typeface="Cambria Math"/>
                      </a:rPr>
                      <m:t>]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e>
                    </m:d>
                    <m:r>
                      <a:rPr lang="en-US" sz="1600" b="1" i="1" dirty="0">
                        <a:latin typeface="Cambria Math"/>
                      </a:rPr>
                      <m:t>≤</m:t>
                    </m:r>
                    <m:r>
                      <a:rPr lang="en-US" sz="16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dirty="0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>
                        <a:latin typeface="Cambria Math"/>
                      </a:rPr>
                      <m:t>]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e>
                    </m:d>
                    <m:r>
                      <a:rPr lang="en-US" sz="1600" b="1" i="1" dirty="0">
                        <a:latin typeface="Cambria Math"/>
                      </a:rPr>
                      <m:t>≤</m:t>
                    </m:r>
                    <m:r>
                      <a:rPr lang="en-US" sz="16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dirty="0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>
                        <a:latin typeface="Cambria Math"/>
                      </a:rPr>
                      <m:t>]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buNone/>
                </a:pPr>
                <a:r>
                  <a:rPr lang="en-US" sz="1600" dirty="0"/>
                  <a:t>:     </a:t>
                </a:r>
              </a:p>
              <a:p>
                <a:pPr marL="0" indent="0">
                  <a:buNone/>
                </a:pP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e>
                    </m:d>
                    <m:r>
                      <a:rPr lang="en-US" sz="1600" b="1" i="1" dirty="0">
                        <a:latin typeface="Cambria Math"/>
                      </a:rPr>
                      <m:t>≤</m:t>
                    </m:r>
                    <m:r>
                      <a:rPr lang="en-US" sz="16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dirty="0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>
                        <a:latin typeface="Cambria Math"/>
                      </a:rPr>
                      <m:t>]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e>
                    </m:d>
                    <m:r>
                      <a:rPr lang="en-US" sz="1600" b="1" i="1" dirty="0">
                        <a:latin typeface="Cambria Math"/>
                      </a:rPr>
                      <m:t>≤</m:t>
                    </m:r>
                    <m:r>
                      <a:rPr lang="en-US" sz="16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1600" b="1" dirty="0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>
                        <a:latin typeface="Cambria Math"/>
                      </a:rPr>
                      <m:t>]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>
                    <a:latin typeface="Cambria Math"/>
                  </a:rPr>
                  <a:t>If  no label changes during 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1600" b="1" dirty="0" err="1">
                    <a:latin typeface="Cambria Math"/>
                  </a:rPr>
                  <a:t>th</a:t>
                </a:r>
                <a:r>
                  <a:rPr lang="en-US" sz="1600" b="1" dirty="0">
                    <a:latin typeface="Cambria Math"/>
                  </a:rPr>
                  <a:t> iteration then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ℓ</m:t>
                            </m:r>
                          </m:sub>
                        </m:s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e>
                    </m:d>
                  </m:oMath>
                </a14:m>
                <a:r>
                  <a:rPr lang="en-US" sz="1600" dirty="0">
                    <a:sym typeface="Wingdings" pitchFamily="2" charset="2"/>
                  </a:rPr>
                  <a:t> =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ℓ</m:t>
                            </m:r>
                          </m:sub>
                        </m:s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1600" dirty="0">
                    <a:sym typeface="Wingdings" pitchFamily="2" charset="2"/>
                  </a:rPr>
                  <a:t>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 in cycle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7030A0"/>
                        </a:solidFill>
                        <a:latin typeface="Cambria Math"/>
                      </a:rPr>
                      <m:t>𝑪</m:t>
                    </m:r>
                  </m:oMath>
                </a14:m>
                <a:endParaRPr lang="en-US" sz="16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</a:t>
                </a:r>
                <a:endParaRPr lang="en-US" sz="1600" b="1" dirty="0"/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≤</m:t>
                    </m:r>
                    <m:r>
                      <a:rPr lang="en-US" sz="16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+…+</m:t>
                    </m:r>
                    <m:r>
                      <a:rPr lang="en-US" sz="16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6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A contradiction !!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75" name="Content Placeholder 7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372167" y="1143000"/>
                <a:ext cx="4695633" cy="4983163"/>
              </a:xfrm>
              <a:blipFill>
                <a:blip r:embed="rId2"/>
                <a:stretch>
                  <a:fillRect l="-649" b="-129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381000" y="3581400"/>
            <a:ext cx="352981" cy="533400"/>
            <a:chOff x="1171019" y="3581400"/>
            <a:chExt cx="352981" cy="533400"/>
          </a:xfrm>
        </p:grpSpPr>
        <p:sp>
          <p:nvSpPr>
            <p:cNvPr id="51" name="Oval 50"/>
            <p:cNvSpPr/>
            <p:nvPr/>
          </p:nvSpPr>
          <p:spPr>
            <a:xfrm>
              <a:off x="1267381" y="3581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1171019" y="3745468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1019" y="3745468"/>
                  <a:ext cx="35298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456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/>
          <p:cNvGrpSpPr/>
          <p:nvPr/>
        </p:nvGrpSpPr>
        <p:grpSpPr>
          <a:xfrm>
            <a:off x="1295400" y="1676400"/>
            <a:ext cx="3076767" cy="3886200"/>
            <a:chOff x="3429000" y="2286000"/>
            <a:chExt cx="3076767" cy="3886200"/>
          </a:xfrm>
        </p:grpSpPr>
        <p:sp>
          <p:nvSpPr>
            <p:cNvPr id="22" name="Oval 21"/>
            <p:cNvSpPr/>
            <p:nvPr/>
          </p:nvSpPr>
          <p:spPr>
            <a:xfrm>
              <a:off x="5867400" y="3200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867400" y="4191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5867400" y="5029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953000" y="5715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>
              <a:stCxn id="50" idx="6"/>
              <a:endCxn id="22" idx="1"/>
            </p:cNvCxnSpPr>
            <p:nvPr/>
          </p:nvCxnSpPr>
          <p:spPr>
            <a:xfrm>
              <a:off x="5105400" y="2667000"/>
              <a:ext cx="784318" cy="5557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22" idx="4"/>
              <a:endCxn id="23" idx="0"/>
            </p:cNvCxnSpPr>
            <p:nvPr/>
          </p:nvCxnSpPr>
          <p:spPr>
            <a:xfrm>
              <a:off x="5943600" y="3352800"/>
              <a:ext cx="0" cy="8382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23" idx="4"/>
              <a:endCxn id="24" idx="0"/>
            </p:cNvCxnSpPr>
            <p:nvPr/>
          </p:nvCxnSpPr>
          <p:spPr>
            <a:xfrm>
              <a:off x="5943600" y="4343400"/>
              <a:ext cx="0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24" idx="3"/>
              <a:endCxn id="25" idx="6"/>
            </p:cNvCxnSpPr>
            <p:nvPr/>
          </p:nvCxnSpPr>
          <p:spPr>
            <a:xfrm flipH="1">
              <a:off x="5105400" y="5159282"/>
              <a:ext cx="784318" cy="6319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/>
            <p:nvPr/>
          </p:nvSpPr>
          <p:spPr>
            <a:xfrm>
              <a:off x="3886200" y="3200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/>
            <p:cNvCxnSpPr>
              <a:stCxn id="25" idx="2"/>
            </p:cNvCxnSpPr>
            <p:nvPr/>
          </p:nvCxnSpPr>
          <p:spPr>
            <a:xfrm flipH="1" flipV="1">
              <a:off x="3962400" y="5181600"/>
              <a:ext cx="990600" cy="609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3860337" y="5029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/>
            <p:cNvCxnSpPr>
              <a:stCxn id="45" idx="0"/>
            </p:cNvCxnSpPr>
            <p:nvPr/>
          </p:nvCxnSpPr>
          <p:spPr>
            <a:xfrm flipV="1">
              <a:off x="3936537" y="3352800"/>
              <a:ext cx="0" cy="167640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/>
            <p:cNvSpPr/>
            <p:nvPr/>
          </p:nvSpPr>
          <p:spPr>
            <a:xfrm>
              <a:off x="4953000" y="2590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4810986" y="2286000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0986" y="2286000"/>
                  <a:ext cx="48596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/>
            <p:cNvCxnSpPr/>
            <p:nvPr/>
          </p:nvCxnSpPr>
          <p:spPr>
            <a:xfrm flipV="1">
              <a:off x="4038600" y="2667000"/>
              <a:ext cx="914400" cy="5557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6019800" y="3124200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3124200"/>
                  <a:ext cx="485967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645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6019800" y="4126468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126468"/>
                  <a:ext cx="485967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645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6019800" y="4953000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953000"/>
                  <a:ext cx="48596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1645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800600" y="5802868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0" y="5802868"/>
                  <a:ext cx="48596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645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3628833" y="5117068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8833" y="5117068"/>
                  <a:ext cx="485967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3429000" y="2971800"/>
                  <a:ext cx="4875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971800"/>
                  <a:ext cx="487569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333" r="-1772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/>
          <p:cNvGrpSpPr/>
          <p:nvPr/>
        </p:nvGrpSpPr>
        <p:grpSpPr>
          <a:xfrm>
            <a:off x="629762" y="3728720"/>
            <a:ext cx="2225198" cy="1707923"/>
            <a:chOff x="629762" y="3728720"/>
            <a:chExt cx="2225198" cy="1707923"/>
          </a:xfrm>
        </p:grpSpPr>
        <p:sp>
          <p:nvSpPr>
            <p:cNvPr id="67" name="Freeform 66"/>
            <p:cNvSpPr/>
            <p:nvPr/>
          </p:nvSpPr>
          <p:spPr>
            <a:xfrm>
              <a:off x="629762" y="3728720"/>
              <a:ext cx="2225198" cy="1707923"/>
            </a:xfrm>
            <a:custGeom>
              <a:avLst/>
              <a:gdLst>
                <a:gd name="connsiteX0" fmla="*/ 0 w 2265680"/>
                <a:gd name="connsiteY0" fmla="*/ 0 h 1809523"/>
                <a:gd name="connsiteX1" fmla="*/ 467360 w 2265680"/>
                <a:gd name="connsiteY1" fmla="*/ 904240 h 1809523"/>
                <a:gd name="connsiteX2" fmla="*/ 1107440 w 2265680"/>
                <a:gd name="connsiteY2" fmla="*/ 1310640 h 1809523"/>
                <a:gd name="connsiteX3" fmla="*/ 1747520 w 2265680"/>
                <a:gd name="connsiteY3" fmla="*/ 1798320 h 1809523"/>
                <a:gd name="connsiteX4" fmla="*/ 2265680 w 2265680"/>
                <a:gd name="connsiteY4" fmla="*/ 1605280 h 1809523"/>
                <a:gd name="connsiteX0" fmla="*/ 0 w 2225040"/>
                <a:gd name="connsiteY0" fmla="*/ 0 h 1707923"/>
                <a:gd name="connsiteX1" fmla="*/ 426720 w 2225040"/>
                <a:gd name="connsiteY1" fmla="*/ 802640 h 1707923"/>
                <a:gd name="connsiteX2" fmla="*/ 1066800 w 2225040"/>
                <a:gd name="connsiteY2" fmla="*/ 1209040 h 1707923"/>
                <a:gd name="connsiteX3" fmla="*/ 1706880 w 2225040"/>
                <a:gd name="connsiteY3" fmla="*/ 1696720 h 1707923"/>
                <a:gd name="connsiteX4" fmla="*/ 2225040 w 2225040"/>
                <a:gd name="connsiteY4" fmla="*/ 1503680 h 170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5040" h="1707923">
                  <a:moveTo>
                    <a:pt x="0" y="0"/>
                  </a:moveTo>
                  <a:cubicBezTo>
                    <a:pt x="141393" y="342900"/>
                    <a:pt x="248920" y="601133"/>
                    <a:pt x="426720" y="802640"/>
                  </a:cubicBezTo>
                  <a:cubicBezTo>
                    <a:pt x="604520" y="1004147"/>
                    <a:pt x="853440" y="1060027"/>
                    <a:pt x="1066800" y="1209040"/>
                  </a:cubicBezTo>
                  <a:cubicBezTo>
                    <a:pt x="1280160" y="1358053"/>
                    <a:pt x="1513840" y="1647613"/>
                    <a:pt x="1706880" y="1696720"/>
                  </a:cubicBezTo>
                  <a:cubicBezTo>
                    <a:pt x="1899920" y="1745827"/>
                    <a:pt x="2062480" y="1624753"/>
                    <a:pt x="2225040" y="1503680"/>
                  </a:cubicBezTo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Arrow Connector 67"/>
            <p:cNvCxnSpPr>
              <a:endCxn id="67" idx="4"/>
            </p:cNvCxnSpPr>
            <p:nvPr/>
          </p:nvCxnSpPr>
          <p:spPr>
            <a:xfrm flipV="1">
              <a:off x="2766173" y="5232400"/>
              <a:ext cx="88787" cy="727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1905000" y="2839134"/>
                <a:ext cx="1676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: </a:t>
                </a:r>
              </a:p>
              <a:p>
                <a:pPr algn="ctr"/>
                <a:r>
                  <a:rPr lang="en-US" dirty="0"/>
                  <a:t>a negative cycle</a:t>
                </a:r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39134"/>
                <a:ext cx="1676399" cy="646331"/>
              </a:xfrm>
              <a:prstGeom prst="rect">
                <a:avLst/>
              </a:prstGeom>
              <a:blipFill rotWithShape="1">
                <a:blip r:embed="rId11"/>
                <a:stretch>
                  <a:fillRect l="-2920" t="-4717" r="-5839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/>
          <p:cNvSpPr/>
          <p:nvPr/>
        </p:nvSpPr>
        <p:spPr>
          <a:xfrm>
            <a:off x="4876800" y="5715000"/>
            <a:ext cx="3733799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172200" y="6172200"/>
                <a:ext cx="1350691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Weight of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6172200"/>
                <a:ext cx="1350691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4072" t="-8333" r="-678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B10D6F-5215-29D1-350A-ED24ED4C3718}"/>
                  </a:ext>
                </a:extLst>
              </p:cNvPr>
              <p:cNvSpPr txBox="1"/>
              <p:nvPr/>
            </p:nvSpPr>
            <p:spPr>
              <a:xfrm>
                <a:off x="978401" y="5501175"/>
                <a:ext cx="1370440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iteration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B10D6F-5215-29D1-350A-ED24ED4C3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01" y="5501175"/>
                <a:ext cx="1370440" cy="369332"/>
              </a:xfrm>
              <a:prstGeom prst="rect">
                <a:avLst/>
              </a:prstGeom>
              <a:blipFill>
                <a:blip r:embed="rId13"/>
                <a:stretch>
                  <a:fillRect t="-8197" r="-889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FD6454-1057-A6DF-5AC9-BBDAA8F0E277}"/>
                  </a:ext>
                </a:extLst>
              </p:cNvPr>
              <p:cNvSpPr txBox="1"/>
              <p:nvPr/>
            </p:nvSpPr>
            <p:spPr>
              <a:xfrm>
                <a:off x="1981200" y="337443"/>
                <a:ext cx="491833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1800" dirty="0"/>
                  <a:t>: </a:t>
                </a:r>
              </a:p>
              <a:p>
                <a:pPr marL="0" indent="0">
                  <a:buNone/>
                </a:pPr>
                <a:r>
                  <a:rPr lang="en-US" sz="1800" dirty="0"/>
                  <a:t>Once the cycle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7030A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sz="1800" dirty="0"/>
                  <a:t> has been </a:t>
                </a:r>
                <a:r>
                  <a:rPr lang="en-US" sz="1800" b="1" i="1" dirty="0"/>
                  <a:t>reached </a:t>
                </a:r>
                <a:r>
                  <a:rPr lang="en-US" sz="1800" dirty="0"/>
                  <a:t>by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,</a:t>
                </a:r>
              </a:p>
              <a:p>
                <a:pPr marL="0" indent="0">
                  <a:buNone/>
                </a:pPr>
                <a:r>
                  <a:rPr lang="en-US" sz="1800" dirty="0"/>
                  <a:t>what will happen to labels of its vertices in future?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FD6454-1057-A6DF-5AC9-BBDAA8F0E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37443"/>
                <a:ext cx="4918334" cy="923330"/>
              </a:xfrm>
              <a:prstGeom prst="rect">
                <a:avLst/>
              </a:prstGeom>
              <a:blipFill>
                <a:blip r:embed="rId14"/>
                <a:stretch>
                  <a:fillRect l="-991" t="-3289" r="-372" b="-9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E4F4DDCB-7229-2ADE-952E-685A9AC99C93}"/>
              </a:ext>
            </a:extLst>
          </p:cNvPr>
          <p:cNvSpPr/>
          <p:nvPr/>
        </p:nvSpPr>
        <p:spPr>
          <a:xfrm>
            <a:off x="5335121" y="3102683"/>
            <a:ext cx="2436157" cy="4098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15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2" grpId="0" animBg="1"/>
      <p:bldP spid="11" grpId="0" animBg="1"/>
      <p:bldP spid="10" grpId="0" animBg="1"/>
      <p:bldP spid="9" grpId="0" animBg="1"/>
      <p:bldP spid="8" grpId="0" animBg="1"/>
      <p:bldP spid="75" grpId="0" uiExpand="1" build="p"/>
      <p:bldP spid="2" grpId="0" animBg="1"/>
      <p:bldP spid="3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5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Detecting negative cycle in</a:t>
                </a:r>
                <a:r>
                  <a:rPr lang="en-US" sz="32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6" name="Tit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Execute Bellman-Ford algorithm.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Run </a:t>
                </a:r>
                <a:r>
                  <a:rPr lang="en-US" sz="2000" b="1" u="sng" dirty="0"/>
                  <a:t>one more </a:t>
                </a:r>
                <a:r>
                  <a:rPr lang="en-US" sz="2000" dirty="0"/>
                  <a:t>iteration of the </a:t>
                </a:r>
                <a:r>
                  <a:rPr lang="en-US" sz="2000" b="1" dirty="0"/>
                  <a:t>For</a:t>
                </a:r>
                <a:r>
                  <a:rPr lang="en-US" sz="2000" dirty="0"/>
                  <a:t> loop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If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000" dirty="0">
                    <a:sym typeface="Wingdings" pitchFamily="2" charset="2"/>
                  </a:rPr>
                  <a:t> for any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</a:t>
                </a:r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	declare “there is </a:t>
                </a:r>
                <a:r>
                  <a:rPr lang="en-US" sz="2000" u="sng" dirty="0"/>
                  <a:t>a negative cycle</a:t>
                </a:r>
                <a:r>
                  <a:rPr lang="en-US" sz="2000" dirty="0"/>
                  <a:t>”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</a:t>
                </a:r>
                <a:r>
                  <a:rPr lang="en-US" sz="2000" b="1" dirty="0"/>
                  <a:t>else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	declare “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is the distance </a:t>
                </a:r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”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6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</a:rPr>
              <a:t>Shortest paths </a:t>
            </a:r>
            <a:r>
              <a:rPr lang="en-US" sz="3200" b="1" dirty="0"/>
              <a:t>in presence of </a:t>
            </a:r>
            <a:r>
              <a:rPr lang="en-US" sz="3200" b="1" dirty="0">
                <a:solidFill>
                  <a:srgbClr val="7030A0"/>
                </a:solidFill>
              </a:rPr>
              <a:t>negative weight cycles</a:t>
            </a:r>
            <a:endParaRPr 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Given a directed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>
                        <a:latin typeface="Cambria Math"/>
                      </a:rPr>
                      <m:t>=(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r>
                      <a:rPr lang="en-US" sz="2000" b="1" i="1" dirty="0">
                        <a:latin typeface="Cambria Math"/>
                      </a:rPr>
                      <m:t>: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𝑹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if there is a negative weight cycle reachable from source,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There is </a:t>
                </a:r>
                <a:r>
                  <a:rPr lang="en-US" sz="2000" b="1" dirty="0"/>
                  <a:t>no</a:t>
                </a:r>
                <a:r>
                  <a:rPr lang="en-US" sz="2000" dirty="0"/>
                  <a:t> polynomial time algorithm till date to compute shortest paths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u="sng" dirty="0"/>
                  <a:t>A firm belief 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no such algorithm </a:t>
                </a:r>
                <a:r>
                  <a:rPr lang="en-US" sz="2000" b="1" dirty="0"/>
                  <a:t>can ever be </a:t>
                </a:r>
                <a:r>
                  <a:rPr lang="en-US" sz="2000" dirty="0"/>
                  <a:t>designed unless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</m:oMath>
                </a14:m>
                <a:r>
                  <a:rPr lang="en-US" sz="2000" dirty="0"/>
                  <a:t>=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𝑵𝑷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r>
                  <a:rPr lang="en-US" sz="2000" dirty="0"/>
                  <a:t>[We shall revisit it when we discuss NP-complete problems towards the end of this course]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4525963"/>
              </a:xfrm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97FD2F6B-B663-0E00-99E1-13FF0DFEA959}"/>
              </a:ext>
            </a:extLst>
          </p:cNvPr>
          <p:cNvSpPr/>
          <p:nvPr/>
        </p:nvSpPr>
        <p:spPr>
          <a:xfrm>
            <a:off x="3657600" y="3505200"/>
            <a:ext cx="914400" cy="914400"/>
          </a:xfrm>
          <a:prstGeom prst="smileyFace">
            <a:avLst>
              <a:gd name="adj" fmla="val -465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33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56E51-583D-EE38-FC30-3C1B3CAA3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Journey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29E8E8-7A95-E562-540F-27B844D64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sz="3200" b="1" dirty="0"/>
              <a:t>Journey </a:t>
            </a:r>
            <a:r>
              <a:rPr lang="en-US" sz="3200" b="1" dirty="0">
                <a:solidFill>
                  <a:srgbClr val="0070C0"/>
                </a:solidFill>
              </a:rPr>
              <a:t>So Far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81AA7D6-812D-8252-A3D9-E2937235A9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76FC9DF-775E-9231-B6B6-43F965FDD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sz="3200" b="1" dirty="0"/>
              <a:t>Journey</a:t>
            </a:r>
            <a:r>
              <a:rPr lang="en-US" sz="3200" b="1" dirty="0">
                <a:solidFill>
                  <a:srgbClr val="7030A0"/>
                </a:solidFill>
              </a:rPr>
              <a:t> Ahead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4F18D-FD82-C284-4029-AFFE9571F18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F91E7-7975-282A-7795-976380EA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BC752A2C-7C4B-D184-629B-62CC6DCBAF2A}"/>
                  </a:ext>
                </a:extLst>
              </p:cNvPr>
              <p:cNvSpPr/>
              <p:nvPr/>
            </p:nvSpPr>
            <p:spPr>
              <a:xfrm>
                <a:off x="448456" y="3022900"/>
                <a:ext cx="1828800" cy="6858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Lectures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BC752A2C-7C4B-D184-629B-62CC6DCBAF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456" y="3022900"/>
                <a:ext cx="1828800" cy="685800"/>
              </a:xfrm>
              <a:prstGeom prst="roundRect">
                <a:avLst/>
              </a:prstGeom>
              <a:blipFill>
                <a:blip r:embed="rId2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06330212-2B8D-9C24-2D56-AA6D568B3CB0}"/>
                  </a:ext>
                </a:extLst>
              </p:cNvPr>
              <p:cNvSpPr/>
              <p:nvPr/>
            </p:nvSpPr>
            <p:spPr>
              <a:xfrm>
                <a:off x="457200" y="4495800"/>
                <a:ext cx="1828800" cy="6858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𝟒𝟓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en-US" sz="2400" dirty="0"/>
                  <a:t>Marks</a:t>
                </a: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06330212-2B8D-9C24-2D56-AA6D568B3C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95800"/>
                <a:ext cx="1828800" cy="685800"/>
              </a:xfrm>
              <a:prstGeom prst="roundRect">
                <a:avLst/>
              </a:prstGeom>
              <a:blipFill>
                <a:blip r:embed="rId3"/>
                <a:stretch>
                  <a:fillRect b="-17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056ED1A-4562-BD2B-0A5C-4FC9D4734DA4}"/>
                  </a:ext>
                </a:extLst>
              </p:cNvPr>
              <p:cNvSpPr/>
              <p:nvPr/>
            </p:nvSpPr>
            <p:spPr>
              <a:xfrm>
                <a:off x="4633782" y="3042887"/>
                <a:ext cx="1828800" cy="6858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Lectures</a:t>
                </a: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056ED1A-4562-BD2B-0A5C-4FC9D4734D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782" y="3042887"/>
                <a:ext cx="1828800" cy="685800"/>
              </a:xfrm>
              <a:prstGeom prst="roundRect">
                <a:avLst/>
              </a:prstGeom>
              <a:blipFill>
                <a:blip r:embed="rId4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1C29AC4C-2CD3-261B-2487-74C8E19F5F33}"/>
                  </a:ext>
                </a:extLst>
              </p:cNvPr>
              <p:cNvSpPr/>
              <p:nvPr/>
            </p:nvSpPr>
            <p:spPr>
              <a:xfrm>
                <a:off x="4658702" y="4497179"/>
                <a:ext cx="1828800" cy="6858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en-US" sz="2400" dirty="0"/>
                  <a:t>Marks</a:t>
                </a:r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1C29AC4C-2CD3-261B-2487-74C8E19F5F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702" y="4497179"/>
                <a:ext cx="1828800" cy="685800"/>
              </a:xfrm>
              <a:prstGeom prst="roundRect">
                <a:avLst/>
              </a:prstGeom>
              <a:blipFill>
                <a:blip r:embed="rId5"/>
                <a:stretch>
                  <a:fillRect b="-17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606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 build="p" animBg="1"/>
      <p:bldP spid="9" grpId="0" uiExpand="1" build="p" animBg="1"/>
      <p:bldP spid="6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56E51-583D-EE38-FC30-3C1B3CAA3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Journey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76FC9DF-775E-9231-B6B6-43F965FDD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8443" y="1535113"/>
            <a:ext cx="4041775" cy="639762"/>
          </a:xfr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sz="3200" b="1" dirty="0"/>
              <a:t>Journey</a:t>
            </a:r>
            <a:r>
              <a:rPr lang="en-US" sz="3200" b="1" dirty="0">
                <a:solidFill>
                  <a:srgbClr val="7030A0"/>
                </a:solidFill>
              </a:rPr>
              <a:t> Ahead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4F18D-FD82-C284-4029-AFFE9571F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8443" y="2174875"/>
            <a:ext cx="4041775" cy="39512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F91E7-7975-282A-7795-976380EA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056ED1A-4562-BD2B-0A5C-4FC9D4734DA4}"/>
                  </a:ext>
                </a:extLst>
              </p:cNvPr>
              <p:cNvSpPr/>
              <p:nvPr/>
            </p:nvSpPr>
            <p:spPr>
              <a:xfrm>
                <a:off x="457200" y="3581400"/>
                <a:ext cx="1828800" cy="6858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Lectures</a:t>
                </a: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056ED1A-4562-BD2B-0A5C-4FC9D4734D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81400"/>
                <a:ext cx="1828800" cy="685800"/>
              </a:xfrm>
              <a:prstGeom prst="roundRect">
                <a:avLst/>
              </a:prstGeom>
              <a:blipFill>
                <a:blip r:embed="rId2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B83139DF-44C0-9E2B-3C63-2CDF17E25C0D}"/>
                  </a:ext>
                </a:extLst>
              </p:cNvPr>
              <p:cNvSpPr/>
              <p:nvPr/>
            </p:nvSpPr>
            <p:spPr>
              <a:xfrm>
                <a:off x="4829308" y="3075624"/>
                <a:ext cx="3784339" cy="68580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𝐍𝐞𝐭𝐰𝐨𝐫𝐤</m:t>
                      </m:r>
                      <m:r>
                        <a:rPr lang="en-US" sz="2400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𝐅𝐥𝐨𝐰𝐬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B83139DF-44C0-9E2B-3C63-2CDF17E25C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308" y="3075624"/>
                <a:ext cx="3784339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C6799A91-27E3-E9B9-AA88-AC7B3FDCD2DF}"/>
                  </a:ext>
                </a:extLst>
              </p:cNvPr>
              <p:cNvSpPr/>
              <p:nvPr/>
            </p:nvSpPr>
            <p:spPr>
              <a:xfrm>
                <a:off x="4826260" y="1813719"/>
                <a:ext cx="3784339" cy="68580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𝐀𝐦𝐨𝐫𝐭𝐢𝐳𝐞𝐝</m:t>
                      </m:r>
                      <m:r>
                        <a:rPr lang="en-US" sz="24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𝐀𝐧𝐚𝐥𝐲𝐬𝐢𝐬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C6799A91-27E3-E9B9-AA88-AC7B3FDCD2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260" y="1813719"/>
                <a:ext cx="3784339" cy="6858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2324202A-6014-AEDC-5FFF-0967AA8029C2}"/>
                  </a:ext>
                </a:extLst>
              </p:cNvPr>
              <p:cNvSpPr/>
              <p:nvPr/>
            </p:nvSpPr>
            <p:spPr>
              <a:xfrm>
                <a:off x="4826260" y="4358482"/>
                <a:ext cx="3784339" cy="68580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𝐍𝐏</m:t>
                      </m:r>
                      <m:r>
                        <a:rPr lang="en-US" sz="24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𝐂𝐨𝐦𝐩𝐥𝐞𝐭𝐞𝐧𝐞𝐬𝐬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2324202A-6014-AEDC-5FFF-0967AA8029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260" y="4358482"/>
                <a:ext cx="3784339" cy="6858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4">
                <a:extLst>
                  <a:ext uri="{FF2B5EF4-FFF2-40B4-BE49-F238E27FC236}">
                    <a16:creationId xmlns:a16="http://schemas.microsoft.com/office/drawing/2014/main" id="{D434E301-26C3-27BE-BF77-4B8CAD92177C}"/>
                  </a:ext>
                </a:extLst>
              </p:cNvPr>
              <p:cNvSpPr/>
              <p:nvPr/>
            </p:nvSpPr>
            <p:spPr>
              <a:xfrm>
                <a:off x="4826260" y="5419410"/>
                <a:ext cx="3784339" cy="68580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𝐌𝐢𝐬𝐜𝐞𝐥𝐥𝐚𝐧𝐞𝐨𝐮𝐬</m:t>
                      </m:r>
                      <m:r>
                        <a:rPr lang="en-US" sz="2400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𝐏𝐫𝐨𝐛𝐥𝐞𝐦𝐬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ounded Rectangle 4">
                <a:extLst>
                  <a:ext uri="{FF2B5EF4-FFF2-40B4-BE49-F238E27FC236}">
                    <a16:creationId xmlns:a16="http://schemas.microsoft.com/office/drawing/2014/main" id="{D434E301-26C3-27BE-BF77-4B8CAD9217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260" y="5419410"/>
                <a:ext cx="3784339" cy="6858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776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14952-91FC-3888-8E60-08D27C41C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EBDD27-41F9-A4A8-F56D-4D617411F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Binary Search Trees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22D014F-D2B0-A127-D934-36F42B92B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Examples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AVL</a:t>
                </a:r>
                <a:r>
                  <a:rPr lang="en-US" sz="2000" dirty="0"/>
                  <a:t> tree 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C00000"/>
                    </a:solidFill>
                  </a:rPr>
                  <a:t>Red</a:t>
                </a:r>
                <a:r>
                  <a:rPr lang="en-US" sz="2000" dirty="0"/>
                  <a:t>-Black tree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Strength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Achieve worst case </a:t>
                </a:r>
                <a:r>
                  <a:rPr lang="en-US" sz="2000" b="1" dirty="0"/>
                  <a:t>O</a:t>
                </a:r>
                <a:r>
                  <a:rPr lang="en-US" sz="2000" dirty="0"/>
                  <a:t>(log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time for all operations.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Weakness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Very difficult to implement.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 algn="ctr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Splay </a:t>
                </a:r>
                <a:r>
                  <a:rPr lang="en-US" sz="2000" b="1" dirty="0"/>
                  <a:t>tree</a:t>
                </a:r>
                <a:endParaRPr lang="en-US" sz="2000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741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1C621-5854-3A9F-4AFE-83AAFD73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3">
                <a:extLst>
                  <a:ext uri="{FF2B5EF4-FFF2-40B4-BE49-F238E27FC236}">
                    <a16:creationId xmlns:a16="http://schemas.microsoft.com/office/drawing/2014/main" id="{03760D18-AD60-65A9-243D-79FB868CAEA4}"/>
                  </a:ext>
                </a:extLst>
              </p:cNvPr>
              <p:cNvSpPr/>
              <p:nvPr/>
            </p:nvSpPr>
            <p:spPr>
              <a:xfrm>
                <a:off x="2679830" y="217869"/>
                <a:ext cx="3784339" cy="68580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𝐀𝐦𝐨𝐫𝐭𝐢𝐳𝐞𝐝</m:t>
                      </m:r>
                      <m:r>
                        <a:rPr lang="en-US" sz="24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𝐀𝐧𝐚𝐥𝐲𝐬𝐢𝐬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" name="Rounded Rectangle 13">
                <a:extLst>
                  <a:ext uri="{FF2B5EF4-FFF2-40B4-BE49-F238E27FC236}">
                    <a16:creationId xmlns:a16="http://schemas.microsoft.com/office/drawing/2014/main" id="{03760D18-AD60-65A9-243D-79FB868CAE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830" y="217869"/>
                <a:ext cx="3784339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loud Callout 2">
            <a:extLst>
              <a:ext uri="{FF2B5EF4-FFF2-40B4-BE49-F238E27FC236}">
                <a16:creationId xmlns:a16="http://schemas.microsoft.com/office/drawing/2014/main" id="{292ADA9D-5E18-5148-A65B-5E3F2DAEF4E7}"/>
              </a:ext>
            </a:extLst>
          </p:cNvPr>
          <p:cNvSpPr/>
          <p:nvPr/>
        </p:nvSpPr>
        <p:spPr>
          <a:xfrm>
            <a:off x="2590800" y="4495800"/>
            <a:ext cx="4855029" cy="762000"/>
          </a:xfrm>
          <a:prstGeom prst="cloudCallout">
            <a:avLst>
              <a:gd name="adj1" fmla="val -29166"/>
              <a:gd name="adj2" fmla="val 7493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have a simpler BST ?</a:t>
            </a:r>
          </a:p>
        </p:txBody>
      </p:sp>
    </p:spTree>
    <p:extLst>
      <p:ext uri="{BB962C8B-B14F-4D97-AF65-F5344CB8AC3E}">
        <p14:creationId xmlns:p14="http://schemas.microsoft.com/office/powerpoint/2010/main" val="349807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2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Splay </a:t>
            </a:r>
            <a:r>
              <a:rPr lang="en-US" sz="3200" b="1" dirty="0"/>
              <a:t>tree</a:t>
            </a:r>
            <a:r>
              <a:rPr lang="en-US" sz="3200" dirty="0"/>
              <a:t>: </a:t>
            </a:r>
            <a:br>
              <a:rPr lang="en-US" sz="3200" dirty="0"/>
            </a:br>
            <a:r>
              <a:rPr lang="en-US" sz="3200" dirty="0"/>
              <a:t>A </a:t>
            </a:r>
            <a:r>
              <a:rPr lang="en-US" sz="3200" b="1" i="1" u="sng" dirty="0">
                <a:solidFill>
                  <a:srgbClr val="006C31"/>
                </a:solidFill>
              </a:rPr>
              <a:t>self organizing </a:t>
            </a:r>
            <a:r>
              <a:rPr lang="en-US" sz="3200" dirty="0"/>
              <a:t>Binary search trees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31" y="1600200"/>
            <a:ext cx="3682937" cy="452596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219200" y="457200"/>
            <a:ext cx="6629400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91000" y="6248400"/>
                <a:ext cx="1321452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JACM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𝟏𝟗𝟖𝟓</m:t>
                    </m:r>
                  </m:oMath>
                </a14:m>
                <a:endParaRPr 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248400"/>
                <a:ext cx="1321452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3670" t="-6349" r="-6881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700035" y="1186934"/>
            <a:ext cx="152362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Daniel </a:t>
            </a:r>
            <a:r>
              <a:rPr lang="en-US" b="1" dirty="0" err="1">
                <a:solidFill>
                  <a:srgbClr val="002060"/>
                </a:solidFill>
              </a:rPr>
              <a:t>Sleator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05400" y="1186934"/>
            <a:ext cx="147604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Robert </a:t>
            </a:r>
            <a:r>
              <a:rPr lang="en-US" b="1" dirty="0" err="1">
                <a:solidFill>
                  <a:srgbClr val="002060"/>
                </a:solidFill>
              </a:rPr>
              <a:t>Tarjan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88195" y="1208705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203359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Splay</a:t>
            </a:r>
            <a:r>
              <a:rPr lang="en-US" sz="3600" b="1" dirty="0"/>
              <a:t> operation  </a:t>
            </a:r>
            <a:br>
              <a:rPr lang="en-US" sz="3600" b="1" dirty="0"/>
            </a:br>
            <a:endParaRPr lang="en-US" sz="3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675" y="1676400"/>
            <a:ext cx="3676650" cy="98107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862" y="3048000"/>
            <a:ext cx="3724275" cy="1381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575" y="4876800"/>
            <a:ext cx="3752850" cy="1352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40750" y="990600"/>
            <a:ext cx="935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Splay(</a:t>
            </a:r>
            <a:r>
              <a:rPr lang="en-US" dirty="0"/>
              <a:t>x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038600" y="1371600"/>
            <a:ext cx="2438400" cy="1295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95800" y="2819400"/>
            <a:ext cx="2438400" cy="167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114800" y="4648200"/>
            <a:ext cx="2438400" cy="167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04800" y="2019300"/>
            <a:ext cx="154978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Single rotation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" y="4355068"/>
            <a:ext cx="166840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Double rotation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600" y="355389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Zig-zig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4800" y="5193268"/>
            <a:ext cx="842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Zig-</a:t>
            </a:r>
            <a:r>
              <a:rPr lang="en-US" b="1" dirty="0" err="1">
                <a:solidFill>
                  <a:srgbClr val="C00000"/>
                </a:solidFill>
              </a:rPr>
              <a:t>zag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24800" y="19050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Zig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50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Splay</a:t>
            </a:r>
            <a:r>
              <a:rPr lang="en-US" sz="3600" b="1" dirty="0"/>
              <a:t> operation  </a:t>
            </a:r>
            <a:br>
              <a:rPr lang="en-US" sz="3600" b="1" dirty="0"/>
            </a:br>
            <a:endParaRPr lang="en-US" sz="3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0" y="1986756"/>
            <a:ext cx="4191000" cy="375285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267200" y="1981200"/>
            <a:ext cx="2438400" cy="2057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67200" y="4038600"/>
            <a:ext cx="2514600" cy="1905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05000" y="4038600"/>
            <a:ext cx="2438400" cy="1905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114800" y="926068"/>
            <a:ext cx="96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Splay(</a:t>
            </a:r>
            <a:r>
              <a:rPr lang="en-US" dirty="0"/>
              <a:t>B</a:t>
            </a:r>
            <a:r>
              <a:rPr lang="en-US" b="1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81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/>
                  <a:t>Search(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3600" b="1" dirty="0"/>
                  <a:t>) on a 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Splay Tree</a:t>
                </a:r>
                <a:endParaRPr lang="en-US" sz="3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r>
                  <a:rPr lang="en-US" sz="2000" dirty="0"/>
                  <a:t>Perform ordinary search for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on the BST.</a:t>
                </a:r>
              </a:p>
              <a:p>
                <a:r>
                  <a:rPr lang="en-US" sz="2000" dirty="0"/>
                  <a:t>Bring the element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to the root by a sequence of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splaying</a:t>
                </a:r>
                <a:r>
                  <a:rPr lang="en-US" sz="2000" dirty="0"/>
                  <a:t>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593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2362200"/>
            <a:ext cx="2819400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8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 magic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2000" b="1" dirty="0">
                <a:solidFill>
                  <a:srgbClr val="7030A0"/>
                </a:solidFill>
              </a:rPr>
              <a:t>Insertion</a:t>
            </a:r>
            <a:r>
              <a:rPr lang="en-US" sz="2000" b="1" dirty="0"/>
              <a:t>    </a:t>
            </a:r>
            <a:r>
              <a:rPr lang="en-US" sz="2000" b="1" dirty="0">
                <a:solidFill>
                  <a:srgbClr val="C00000"/>
                </a:solidFill>
              </a:rPr>
              <a:t>?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Deletion</a:t>
            </a:r>
            <a:r>
              <a:rPr lang="en-US" sz="2000" b="1" dirty="0"/>
              <a:t>    </a:t>
            </a:r>
            <a:r>
              <a:rPr lang="en-US" sz="2000" b="1" dirty="0">
                <a:solidFill>
                  <a:srgbClr val="C00000"/>
                </a:solidFill>
              </a:rPr>
              <a:t>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3276600" y="1676400"/>
                <a:ext cx="3124200" cy="4572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Any </a:t>
                </a:r>
                <a:r>
                  <a:rPr lang="en-US" u="sng" dirty="0">
                    <a:solidFill>
                      <a:schemeClr val="tx1"/>
                    </a:solidFill>
                  </a:rPr>
                  <a:t>arbitrary</a:t>
                </a:r>
                <a:r>
                  <a:rPr lang="en-US" dirty="0">
                    <a:solidFill>
                      <a:schemeClr val="tx1"/>
                    </a:solidFill>
                  </a:rPr>
                  <a:t> BST on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keys</a:t>
                </a: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76400"/>
                <a:ext cx="3124200" cy="457200"/>
              </a:xfrm>
              <a:prstGeom prst="roundRect">
                <a:avLst/>
              </a:prstGeom>
              <a:blipFill rotWithShape="1">
                <a:blip r:embed="rId2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2819400" y="3232666"/>
                <a:ext cx="3988880" cy="4572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Any </a:t>
                </a:r>
                <a:r>
                  <a:rPr lang="en-US" u="sng" dirty="0">
                    <a:solidFill>
                      <a:schemeClr val="tx1"/>
                    </a:solidFill>
                  </a:rPr>
                  <a:t>arbitrary</a:t>
                </a:r>
                <a:r>
                  <a:rPr lang="en-US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search operations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232666"/>
                <a:ext cx="3988880" cy="457200"/>
              </a:xfrm>
              <a:prstGeom prst="roundRect">
                <a:avLst/>
              </a:prstGeom>
              <a:blipFill rotWithShape="1">
                <a:blip r:embed="rId3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/>
          <p:cNvSpPr/>
          <p:nvPr/>
        </p:nvSpPr>
        <p:spPr>
          <a:xfrm>
            <a:off x="4495800" y="2133600"/>
            <a:ext cx="609600" cy="1099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4495800" y="3689866"/>
            <a:ext cx="609600" cy="10345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590800" y="4772995"/>
            <a:ext cx="42672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Time taken </a:t>
            </a:r>
            <a:r>
              <a:rPr lang="en-US" dirty="0">
                <a:solidFill>
                  <a:schemeClr val="tx1"/>
                </a:solidFill>
              </a:rPr>
              <a:t>:                      </a:t>
            </a:r>
            <a:r>
              <a:rPr lang="en-US" dirty="0">
                <a:solidFill>
                  <a:srgbClr val="C00000"/>
                </a:solidFill>
              </a:rPr>
              <a:t>??????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67200" y="4855029"/>
                <a:ext cx="2541080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 log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).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4855029"/>
                <a:ext cx="2541080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671" t="-6349" r="-3103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909067" y="5638800"/>
            <a:ext cx="2567113" cy="58477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6C31"/>
                </a:solidFill>
              </a:rPr>
              <a:t>EQUALLY </a:t>
            </a:r>
            <a:r>
              <a:rPr lang="en-US" sz="2000" b="1" dirty="0"/>
              <a:t>SIMPLE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C2855-5DF4-03F3-9ABE-9631BE448DC5}"/>
              </a:ext>
            </a:extLst>
          </p:cNvPr>
          <p:cNvSpPr txBox="1"/>
          <p:nvPr/>
        </p:nvSpPr>
        <p:spPr>
          <a:xfrm>
            <a:off x="3496540" y="6444296"/>
            <a:ext cx="229633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IN" b="0" i="0" dirty="0">
                <a:solidFill>
                  <a:srgbClr val="4D5156"/>
                </a:solidFill>
                <a:effectLst/>
                <a:latin typeface="Google Sans"/>
              </a:rPr>
              <a:t>Used in GCC compilers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790806-F035-FC04-86FB-7BF8709D24EB}"/>
                  </a:ext>
                </a:extLst>
              </p:cNvPr>
              <p:cNvSpPr txBox="1"/>
              <p:nvPr/>
            </p:nvSpPr>
            <p:spPr>
              <a:xfrm>
                <a:off x="4387425" y="4855029"/>
                <a:ext cx="2300630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dirty="0"/>
                  <a:t> log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dirty="0"/>
                  <a:t>)  if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790806-F035-FC04-86FB-7BF8709D2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25" y="4855029"/>
                <a:ext cx="2300630" cy="369332"/>
              </a:xfrm>
              <a:prstGeom prst="rect">
                <a:avLst/>
              </a:prstGeom>
              <a:blipFill>
                <a:blip r:embed="rId5"/>
                <a:stretch>
                  <a:fillRect l="-2111" t="-63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loud Callout 2">
            <a:extLst>
              <a:ext uri="{FF2B5EF4-FFF2-40B4-BE49-F238E27FC236}">
                <a16:creationId xmlns:a16="http://schemas.microsoft.com/office/drawing/2014/main" id="{06810E42-3F26-E7B8-FECC-D01ECEC4E4A7}"/>
              </a:ext>
            </a:extLst>
          </p:cNvPr>
          <p:cNvSpPr/>
          <p:nvPr/>
        </p:nvSpPr>
        <p:spPr>
          <a:xfrm>
            <a:off x="190500" y="483543"/>
            <a:ext cx="9067800" cy="1068062"/>
          </a:xfrm>
          <a:prstGeom prst="cloudCallout">
            <a:avLst>
              <a:gd name="adj1" fmla="val -22009"/>
              <a:gd name="adj2" fmla="val 8933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to establish this bound? Ponder over it using your excellent analytical skills. You might still fail most likely.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The analysis uses …</a:t>
            </a:r>
          </a:p>
        </p:txBody>
      </p:sp>
    </p:spTree>
    <p:extLst>
      <p:ext uri="{BB962C8B-B14F-4D97-AF65-F5344CB8AC3E}">
        <p14:creationId xmlns:p14="http://schemas.microsoft.com/office/powerpoint/2010/main" val="56403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 animBg="1"/>
      <p:bldP spid="8" grpId="0" animBg="1"/>
      <p:bldP spid="10" grpId="0" animBg="1"/>
      <p:bldP spid="11" grpId="0" animBg="1"/>
      <p:bldP spid="12" grpId="0" animBg="1"/>
      <p:bldP spid="5" grpId="0" animBg="1"/>
      <p:bldP spid="5" grpId="1" animBg="1"/>
      <p:bldP spid="13" grpId="0" animBg="1"/>
      <p:bldP spid="6" grpId="0" animBg="1"/>
      <p:bldP spid="9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Amortized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9CDFBF-E970-0242-A5E6-9B5947DA3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powerful technique to </a:t>
            </a:r>
            <a:r>
              <a:rPr lang="en-US" dirty="0" err="1">
                <a:solidFill>
                  <a:schemeClr val="tx1"/>
                </a:solidFill>
              </a:rPr>
              <a:t>analyse</a:t>
            </a:r>
            <a:r>
              <a:rPr lang="en-US" dirty="0">
                <a:solidFill>
                  <a:schemeClr val="tx1"/>
                </a:solidFill>
              </a:rPr>
              <a:t> the time complexity of an algorithm.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073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447925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Maximum Flow </a:t>
            </a: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/>
              <a:t>in a Network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4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095500"/>
            <a:ext cx="2552700" cy="2552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1" y="2057400"/>
            <a:ext cx="3726714" cy="24819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000250"/>
            <a:ext cx="2597886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0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Problem definition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200" b="1" dirty="0"/>
              <a:t>(Informal)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Given a network, where each edge has a certain </a:t>
                </a:r>
                <a:r>
                  <a:rPr lang="en-US" sz="2000" i="1" u="sng" dirty="0"/>
                  <a:t>capacity</a:t>
                </a:r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is a designated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source</a:t>
                </a:r>
                <a:r>
                  <a:rPr lang="en-US" sz="2000" dirty="0"/>
                  <a:t> vertex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sink</a:t>
                </a:r>
                <a:r>
                  <a:rPr lang="en-US" sz="2000" dirty="0"/>
                  <a:t>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the </a:t>
                </a:r>
                <a:r>
                  <a:rPr lang="en-US" sz="2000" b="1" u="sng" dirty="0"/>
                  <a:t>maximum flow</a:t>
                </a:r>
                <a:r>
                  <a:rPr lang="en-US" sz="2000" dirty="0"/>
                  <a:t> that we can send from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1981200" y="1676400"/>
            <a:ext cx="4343400" cy="2743200"/>
            <a:chOff x="1981200" y="1676400"/>
            <a:chExt cx="4343400" cy="2743200"/>
          </a:xfrm>
        </p:grpSpPr>
        <p:grpSp>
          <p:nvGrpSpPr>
            <p:cNvPr id="5" name="Group 4"/>
            <p:cNvGrpSpPr/>
            <p:nvPr/>
          </p:nvGrpSpPr>
          <p:grpSpPr>
            <a:xfrm>
              <a:off x="2388063" y="1981199"/>
              <a:ext cx="2793537" cy="936719"/>
              <a:chOff x="2873282" y="1981200"/>
              <a:chExt cx="2793537" cy="936719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3761819" y="1981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5514419" y="1981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Arrow Connector 7"/>
              <p:cNvCxnSpPr>
                <a:stCxn id="23" idx="7"/>
                <a:endCxn id="6" idx="3"/>
              </p:cNvCxnSpPr>
              <p:nvPr/>
            </p:nvCxnSpPr>
            <p:spPr>
              <a:xfrm flipV="1">
                <a:off x="2873282" y="2111282"/>
                <a:ext cx="910855" cy="80663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6" idx="6"/>
                <a:endCxn id="7" idx="2"/>
              </p:cNvCxnSpPr>
              <p:nvPr/>
            </p:nvCxnSpPr>
            <p:spPr>
              <a:xfrm>
                <a:off x="3914219" y="2057400"/>
                <a:ext cx="16002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1981200" y="1676400"/>
              <a:ext cx="3581400" cy="2743200"/>
              <a:chOff x="2466419" y="1676400"/>
              <a:chExt cx="3581400" cy="2743200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2466419" y="2895600"/>
                <a:ext cx="429181" cy="369332"/>
                <a:chOff x="4676219" y="3048000"/>
                <a:chExt cx="429181" cy="369332"/>
              </a:xfrm>
            </p:grpSpPr>
            <p:sp>
              <p:nvSpPr>
                <p:cNvPr id="23" name="Oval 22"/>
                <p:cNvSpPr/>
                <p:nvPr/>
              </p:nvSpPr>
              <p:spPr>
                <a:xfrm>
                  <a:off x="4953000" y="3048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/>
                    <p:cNvSpPr txBox="1"/>
                    <p:nvPr/>
                  </p:nvSpPr>
                  <p:spPr>
                    <a:xfrm>
                      <a:off x="4676219" y="3048000"/>
                      <a:ext cx="3529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6" name="TextBox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76219" y="3048000"/>
                      <a:ext cx="352981" cy="369332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 t="-8197" r="-24138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3457019" y="1688068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7019" y="1688068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193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" name="Group 12"/>
              <p:cNvGrpSpPr/>
              <p:nvPr/>
            </p:nvGrpSpPr>
            <p:grpSpPr>
              <a:xfrm>
                <a:off x="3575756" y="3886200"/>
                <a:ext cx="386644" cy="533400"/>
                <a:chOff x="4566356" y="3810000"/>
                <a:chExt cx="386644" cy="5334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/>
                    <p:cNvSpPr txBox="1"/>
                    <p:nvPr/>
                  </p:nvSpPr>
                  <p:spPr>
                    <a:xfrm>
                      <a:off x="4566356" y="3974068"/>
                      <a:ext cx="3866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" name="TextBox 1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66356" y="3974068"/>
                      <a:ext cx="386644" cy="369332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t="-8197" r="-2031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" name="Oval 21"/>
                <p:cNvSpPr/>
                <p:nvPr/>
              </p:nvSpPr>
              <p:spPr>
                <a:xfrm>
                  <a:off x="4676219" y="3810000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5492044" y="1676400"/>
                <a:ext cx="555775" cy="2362200"/>
                <a:chOff x="4648200" y="1600200"/>
                <a:chExt cx="555775" cy="23622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/>
                    <p:cNvSpPr txBox="1"/>
                    <p:nvPr/>
                  </p:nvSpPr>
                  <p:spPr>
                    <a:xfrm>
                      <a:off x="4833361" y="1600200"/>
                      <a:ext cx="37061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6" name="TextBox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33361" y="1600200"/>
                      <a:ext cx="370614" cy="369332"/>
                    </a:xfrm>
                    <a:prstGeom prst="rect">
                      <a:avLst/>
                    </a:prstGeom>
                    <a:blipFill rotWithShape="1">
                      <a:blip r:embed="rId10"/>
                      <a:stretch>
                        <a:fillRect t="-8197" r="-22951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Oval 19"/>
                <p:cNvSpPr/>
                <p:nvPr/>
              </p:nvSpPr>
              <p:spPr>
                <a:xfrm>
                  <a:off x="4648200" y="3810000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5590619" y="3974068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0619" y="3974068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93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/>
              <p:cNvCxnSpPr>
                <a:stCxn id="23" idx="5"/>
                <a:endCxn id="22" idx="1"/>
              </p:cNvCxnSpPr>
              <p:nvPr/>
            </p:nvCxnSpPr>
            <p:spPr>
              <a:xfrm>
                <a:off x="2873282" y="3025682"/>
                <a:ext cx="834655" cy="8828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>
                <a:endCxn id="20" idx="2"/>
              </p:cNvCxnSpPr>
              <p:nvPr/>
            </p:nvCxnSpPr>
            <p:spPr>
              <a:xfrm>
                <a:off x="3838019" y="3962400"/>
                <a:ext cx="165402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 flipH="1">
                <a:off x="5568244" y="2133599"/>
                <a:ext cx="22375" cy="175260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Arc 27"/>
            <p:cNvSpPr/>
            <p:nvPr/>
          </p:nvSpPr>
          <p:spPr>
            <a:xfrm>
              <a:off x="3090537" y="1806482"/>
              <a:ext cx="2252311" cy="1165318"/>
            </a:xfrm>
            <a:prstGeom prst="arc">
              <a:avLst>
                <a:gd name="adj1" fmla="val 12452853"/>
                <a:gd name="adj2" fmla="val 20215559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H="1">
              <a:off x="3406682" y="1938125"/>
              <a:ext cx="131529" cy="653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3330425" y="2133600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3406682" y="2111281"/>
              <a:ext cx="1622461" cy="17972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V="1">
              <a:off x="3330482" y="2111281"/>
              <a:ext cx="1721036" cy="17972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/>
            <p:cNvGrpSpPr/>
            <p:nvPr/>
          </p:nvGrpSpPr>
          <p:grpSpPr>
            <a:xfrm>
              <a:off x="5914655" y="2667000"/>
              <a:ext cx="409945" cy="369332"/>
              <a:chOff x="4191000" y="3593068"/>
              <a:chExt cx="409945" cy="369332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4191000" y="37338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4267200" y="3593068"/>
                    <a:ext cx="33374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𝒕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2" name="TextBox 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7200" y="3593068"/>
                    <a:ext cx="33374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333" r="-2545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0" name="Straight Arrow Connector 39"/>
            <p:cNvCxnSpPr/>
            <p:nvPr/>
          </p:nvCxnSpPr>
          <p:spPr>
            <a:xfrm>
              <a:off x="5159282" y="2111281"/>
              <a:ext cx="777691" cy="7187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5136907" y="2937814"/>
              <a:ext cx="800066" cy="9707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2619562" y="1521023"/>
            <a:ext cx="3234246" cy="2746177"/>
            <a:chOff x="2619562" y="1521023"/>
            <a:chExt cx="3234246" cy="2746177"/>
          </a:xfrm>
        </p:grpSpPr>
        <p:sp>
          <p:nvSpPr>
            <p:cNvPr id="58" name="TextBox 57"/>
            <p:cNvSpPr txBox="1"/>
            <p:nvPr/>
          </p:nvSpPr>
          <p:spPr>
            <a:xfrm>
              <a:off x="4067362" y="1521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486400" y="33528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17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052192" y="2054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057962" y="2816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305362" y="27402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619562" y="3426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012860" y="3959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334000" y="24354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15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771962" y="2435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343400" y="33498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733800" y="3349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695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dirty="0"/>
              <a:t>: What is </a:t>
            </a:r>
            <a:r>
              <a:rPr lang="en-US" sz="2000" i="1" u="sng" dirty="0"/>
              <a:t>flow</a:t>
            </a:r>
            <a:r>
              <a:rPr lang="en-US" sz="2000" dirty="0"/>
              <a:t> along an edge ?</a:t>
            </a:r>
          </a:p>
          <a:p>
            <a:pPr marL="0" indent="0">
              <a:buNone/>
            </a:pPr>
            <a:r>
              <a:rPr lang="en-US" sz="2000" dirty="0"/>
              <a:t>Answer: The rate at which the commodity is being transported along the edge.</a:t>
            </a: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dirty="0"/>
              <a:t>: What is </a:t>
            </a:r>
            <a:r>
              <a:rPr lang="en-US" sz="2000" i="1" u="sng" dirty="0"/>
              <a:t>capacit</a:t>
            </a:r>
            <a:r>
              <a:rPr lang="en-US" sz="2000" i="1" dirty="0"/>
              <a:t>y</a:t>
            </a:r>
            <a:r>
              <a:rPr lang="en-US" sz="2000" dirty="0"/>
              <a:t> of an edge ?</a:t>
            </a:r>
          </a:p>
          <a:p>
            <a:pPr marL="0" indent="0">
              <a:buNone/>
            </a:pPr>
            <a:r>
              <a:rPr lang="en-US" sz="2000" dirty="0"/>
              <a:t>Answer: The maximum rate at which the commodity can be transported </a:t>
            </a:r>
          </a:p>
          <a:p>
            <a:pPr marL="0" indent="0">
              <a:buNone/>
            </a:pPr>
            <a:r>
              <a:rPr lang="en-US" sz="2000" dirty="0"/>
              <a:t>along the edge.</a:t>
            </a:r>
          </a:p>
          <a:p>
            <a:pPr marL="0" indent="0" algn="ctr">
              <a:buNone/>
            </a:pPr>
            <a:r>
              <a:rPr lang="en-US" sz="2000" b="1" dirty="0"/>
              <a:t>Example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0070C0"/>
                </a:solidFill>
              </a:rPr>
              <a:t>25 </a:t>
            </a:r>
            <a:r>
              <a:rPr lang="en-US" sz="2000" dirty="0" err="1"/>
              <a:t>litre</a:t>
            </a:r>
            <a:r>
              <a:rPr lang="en-US" sz="2000" dirty="0"/>
              <a:t>/sec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0070C0"/>
                </a:solidFill>
              </a:rPr>
              <a:t>1</a:t>
            </a:r>
            <a:r>
              <a:rPr lang="en-US" sz="2000" dirty="0"/>
              <a:t> GB /sec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429000" y="381000"/>
            <a:ext cx="2362200" cy="2743200"/>
            <a:chOff x="3429000" y="762000"/>
            <a:chExt cx="2362200" cy="274320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0" y="762000"/>
              <a:ext cx="2362200" cy="23622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229416" y="3135868"/>
              <a:ext cx="9521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 edge</a:t>
              </a:r>
            </a:p>
          </p:txBody>
        </p:sp>
      </p:grpSp>
      <p:sp>
        <p:nvSpPr>
          <p:cNvPr id="2" name="Down Arrow 1"/>
          <p:cNvSpPr/>
          <p:nvPr/>
        </p:nvSpPr>
        <p:spPr>
          <a:xfrm rot="14252187">
            <a:off x="4721987" y="1262118"/>
            <a:ext cx="343810" cy="92263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47800" y="3810000"/>
            <a:ext cx="838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362200" y="3810000"/>
            <a:ext cx="4648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010400" y="3810000"/>
            <a:ext cx="1752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0" y="48768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429000" y="4876800"/>
            <a:ext cx="4572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841609-9786-774B-A2BD-A8A04D35444F}"/>
              </a:ext>
            </a:extLst>
          </p:cNvPr>
          <p:cNvSpPr/>
          <p:nvPr/>
        </p:nvSpPr>
        <p:spPr>
          <a:xfrm>
            <a:off x="1600200" y="3429000"/>
            <a:ext cx="4648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38E0AF-4B2A-304A-AE9C-0AE43D6B7056}"/>
              </a:ext>
            </a:extLst>
          </p:cNvPr>
          <p:cNvSpPr/>
          <p:nvPr/>
        </p:nvSpPr>
        <p:spPr>
          <a:xfrm>
            <a:off x="1600200" y="4495800"/>
            <a:ext cx="4648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0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Are there any </a:t>
            </a:r>
            <a:r>
              <a:rPr lang="en-US" sz="3200" b="1" dirty="0">
                <a:solidFill>
                  <a:srgbClr val="7030A0"/>
                </a:solidFill>
              </a:rPr>
              <a:t>constraints</a:t>
            </a:r>
            <a:r>
              <a:rPr lang="en-US" sz="3200" b="1" dirty="0"/>
              <a:t> for a flow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Capacity </a:t>
                </a:r>
                <a:r>
                  <a:rPr lang="en-US" sz="2000" b="1" dirty="0"/>
                  <a:t>constraint :</a:t>
                </a:r>
              </a:p>
              <a:p>
                <a:pPr marL="0" indent="0">
                  <a:buNone/>
                </a:pPr>
                <a:r>
                  <a:rPr lang="en-US" sz="2000" dirty="0"/>
                  <a:t>Flow along an edge </a:t>
                </a:r>
                <a:r>
                  <a:rPr lang="en-US" sz="2000" b="1" u="sng" dirty="0"/>
                  <a:t>cannot</a:t>
                </a:r>
                <a:r>
                  <a:rPr lang="en-US" sz="2000" dirty="0"/>
                  <a:t> exceed its </a:t>
                </a:r>
                <a:r>
                  <a:rPr lang="en-US" sz="2000" b="1" dirty="0"/>
                  <a:t>capacity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Conservation </a:t>
                </a:r>
                <a:r>
                  <a:rPr lang="en-US" sz="2000" b="1" dirty="0"/>
                  <a:t>constraint :</a:t>
                </a:r>
              </a:p>
              <a:p>
                <a:pPr marL="0" indent="0">
                  <a:buNone/>
                </a:pPr>
                <a:r>
                  <a:rPr lang="en-US" sz="2000" dirty="0"/>
                  <a:t>Flow entering node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 = Flow leaving node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330482" y="4811212"/>
            <a:ext cx="2330636" cy="979988"/>
            <a:chOff x="3330482" y="4811212"/>
            <a:chExt cx="2330636" cy="979988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3330482" y="4811212"/>
              <a:ext cx="1089118" cy="479518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4572000" y="5334000"/>
              <a:ext cx="108911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endCxn id="5" idx="3"/>
            </p:cNvCxnSpPr>
            <p:nvPr/>
          </p:nvCxnSpPr>
          <p:spPr>
            <a:xfrm flipV="1">
              <a:off x="3330482" y="5387882"/>
              <a:ext cx="1111436" cy="403318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3875041" y="48006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114" y="53340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2296" y="5574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20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267200" y="5257800"/>
            <a:ext cx="386644" cy="445532"/>
            <a:chOff x="4267200" y="5257800"/>
            <a:chExt cx="386644" cy="445532"/>
          </a:xfrm>
        </p:grpSpPr>
        <p:sp>
          <p:nvSpPr>
            <p:cNvPr id="5" name="Oval 4"/>
            <p:cNvSpPr/>
            <p:nvPr/>
          </p:nvSpPr>
          <p:spPr>
            <a:xfrm>
              <a:off x="4419600" y="5257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267200" y="53340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5334000"/>
                  <a:ext cx="38664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315200" y="1447800"/>
                <a:ext cx="59182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b="1" dirty="0">
                    <a:solidFill>
                      <a:srgbClr val="00B050"/>
                    </a:solidFill>
                  </a:rPr>
                  <a:t>25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447800"/>
                <a:ext cx="591829" cy="369332"/>
              </a:xfrm>
              <a:prstGeom prst="rect">
                <a:avLst/>
              </a:prstGeom>
              <a:blipFill>
                <a:blip r:embed="rId4"/>
                <a:stretch>
                  <a:fillRect t="-10000" r="-8511" b="-2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7004756" y="1066800"/>
            <a:ext cx="1605844" cy="1828800"/>
            <a:chOff x="7004756" y="1066800"/>
            <a:chExt cx="1605844" cy="1828800"/>
          </a:xfrm>
        </p:grpSpPr>
        <p:grpSp>
          <p:nvGrpSpPr>
            <p:cNvPr id="6" name="Group 5"/>
            <p:cNvGrpSpPr/>
            <p:nvPr/>
          </p:nvGrpSpPr>
          <p:grpSpPr>
            <a:xfrm>
              <a:off x="7004756" y="1066800"/>
              <a:ext cx="1605844" cy="1828800"/>
              <a:chOff x="7004756" y="1066800"/>
              <a:chExt cx="1605844" cy="1828800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8077200" y="1371599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7004756" y="2526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04756" y="2526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Oval 22"/>
              <p:cNvSpPr/>
              <p:nvPr/>
            </p:nvSpPr>
            <p:spPr>
              <a:xfrm>
                <a:off x="7114619" y="2362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8239986" y="10668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39986" y="10668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131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4"/>
              <p:cNvCxnSpPr/>
              <p:nvPr/>
            </p:nvCxnSpPr>
            <p:spPr>
              <a:xfrm flipV="1">
                <a:off x="7239000" y="1501682"/>
                <a:ext cx="860518" cy="89861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/>
            <p:cNvSpPr txBox="1"/>
            <p:nvPr/>
          </p:nvSpPr>
          <p:spPr>
            <a:xfrm>
              <a:off x="7658496" y="1840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25</a:t>
              </a: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 flipV="1">
            <a:off x="7249789" y="1493792"/>
            <a:ext cx="860518" cy="898617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19400" y="3810000"/>
            <a:ext cx="3429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1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5" grpId="0"/>
      <p:bldP spid="16" grpId="0"/>
      <p:bldP spid="17" grpId="0"/>
      <p:bldP spid="27" grpId="0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Formal Description </a:t>
            </a:r>
            <a:r>
              <a:rPr lang="en-US" sz="3200" b="1" dirty="0"/>
              <a:t>of Flow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22" name="Content Placeholder 21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329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Formal Description </a:t>
            </a:r>
            <a:r>
              <a:rPr lang="en-US" sz="3200" b="1" dirty="0"/>
              <a:t>of Flow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600200"/>
            <a:ext cx="4343400" cy="5105400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179" name="Group 178"/>
          <p:cNvGrpSpPr/>
          <p:nvPr/>
        </p:nvGrpSpPr>
        <p:grpSpPr>
          <a:xfrm>
            <a:off x="787863" y="1981199"/>
            <a:ext cx="2793537" cy="936719"/>
            <a:chOff x="2873282" y="1981200"/>
            <a:chExt cx="2793537" cy="936719"/>
          </a:xfrm>
        </p:grpSpPr>
        <p:sp>
          <p:nvSpPr>
            <p:cNvPr id="196" name="Oval 195"/>
            <p:cNvSpPr/>
            <p:nvPr/>
          </p:nvSpPr>
          <p:spPr>
            <a:xfrm>
              <a:off x="37618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55144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4" name="Straight Arrow Connector 183"/>
            <p:cNvCxnSpPr>
              <a:stCxn id="7" idx="7"/>
              <a:endCxn id="196" idx="3"/>
            </p:cNvCxnSpPr>
            <p:nvPr/>
          </p:nvCxnSpPr>
          <p:spPr>
            <a:xfrm flipV="1">
              <a:off x="2873282" y="2111282"/>
              <a:ext cx="910855" cy="8066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stCxn id="196" idx="6"/>
              <a:endCxn id="192" idx="2"/>
            </p:cNvCxnSpPr>
            <p:nvPr/>
          </p:nvCxnSpPr>
          <p:spPr>
            <a:xfrm>
              <a:off x="3914219" y="2057400"/>
              <a:ext cx="1600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381000" y="1676400"/>
            <a:ext cx="3581400" cy="2743200"/>
            <a:chOff x="2466419" y="1676400"/>
            <a:chExt cx="3581400" cy="2743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75756" y="3886200"/>
              <a:ext cx="386644" cy="533400"/>
              <a:chOff x="4566356" y="3810000"/>
              <a:chExt cx="386644" cy="533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76219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92044" y="1676400"/>
              <a:ext cx="555775" cy="2362200"/>
              <a:chOff x="4648200" y="1600200"/>
              <a:chExt cx="555775" cy="2362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295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>
              <a:stCxn id="7" idx="5"/>
              <a:endCxn id="14" idx="1"/>
            </p:cNvCxnSpPr>
            <p:nvPr/>
          </p:nvCxnSpPr>
          <p:spPr>
            <a:xfrm>
              <a:off x="2873282" y="3025682"/>
              <a:ext cx="834655" cy="882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7" idx="2"/>
            </p:cNvCxnSpPr>
            <p:nvPr/>
          </p:nvCxnSpPr>
          <p:spPr>
            <a:xfrm>
              <a:off x="3838019" y="3962400"/>
              <a:ext cx="16540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5568244" y="2133599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33528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1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19600" cy="49530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=(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) : a directed graph with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: source,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1800" dirty="0"/>
                  <a:t>: sink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sym typeface="Wingdings" pitchFamily="2" charset="2"/>
                  </a:rPr>
                  <a:t>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𝐑</m:t>
                        </m:r>
                      </m:e>
                      <m:sup>
                        <m:r>
                          <a:rPr lang="en-US" sz="1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= </a:t>
                </a:r>
                <a:r>
                  <a:rPr lang="en-US" sz="1800" u="sng" dirty="0"/>
                  <a:t>capacity</a:t>
                </a:r>
                <a:r>
                  <a:rPr lang="en-US" sz="1800" dirty="0"/>
                  <a:t> of edge 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Flow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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𝐑</m:t>
                        </m:r>
                      </m:e>
                      <m:sup>
                        <m:r>
                          <a:rPr lang="en-US" sz="1800" b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</a:t>
                </a:r>
                <a:r>
                  <a:rPr lang="en-US" sz="1800" dirty="0"/>
                  <a:t>such that </a:t>
                </a:r>
              </a:p>
              <a:p>
                <a:r>
                  <a:rPr lang="en-US" sz="1800" dirty="0"/>
                  <a:t>For each edge 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endParaRPr lang="en-US" sz="1800" dirty="0"/>
              </a:p>
              <a:p>
                <a:pPr marL="0" indent="0" algn="ctr">
                  <a:buNone/>
                </a:pP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 algn="ctr">
                  <a:buNone/>
                </a:pPr>
                <a:endParaRPr lang="en-US" sz="1800" dirty="0"/>
              </a:p>
              <a:p>
                <a:r>
                  <a:rPr lang="en-US" sz="1800" dirty="0"/>
                  <a:t>For each vertex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1800" b="1" i="1" dirty="0"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1800" b="1" i="1" dirty="0">
                        <a:latin typeface="Cambria Math"/>
                      </a:rPr>
                      <m:t>{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1800" b="1" i="1" dirty="0">
                        <a:latin typeface="Cambria Math"/>
                      </a:rPr>
                      <m:t>}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𝒖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∈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</m:sub>
                        <m:sup/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(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,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)</m:t>
                          </m:r>
                        </m:e>
                      </m:nary>
                      <m:r>
                        <a:rPr lang="en-US" sz="1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sz="1800" dirty="0"/>
                            <m:t> </m:t>
                          </m:r>
                          <m:d>
                            <m:d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𝒛</m:t>
                              </m:r>
                            </m:e>
                          </m:d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∈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 </m:t>
                          </m:r>
                        </m:sub>
                        <m:sup/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(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</m:nary>
                      <m:r>
                        <a:rPr lang="en-US" sz="1800" i="1">
                          <a:latin typeface="Cambria Math"/>
                        </a:rPr>
                        <m:t>,</m:t>
                      </m:r>
                      <m:r>
                        <a:rPr lang="en-US" sz="1800" b="1" i="1">
                          <a:solidFill>
                            <a:srgbClr val="0070C0"/>
                          </a:solidFill>
                          <a:latin typeface="Cambria Math"/>
                        </a:rPr>
                        <m:t>𝒛</m:t>
                      </m:r>
                      <m:r>
                        <a:rPr lang="en-US" sz="18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Content Placeholder 2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19600" cy="4953000"/>
              </a:xfrm>
              <a:blipFill rotWithShape="1">
                <a:blip r:embed="rId13"/>
                <a:stretch>
                  <a:fillRect l="-1241" t="-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435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49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408793" y="4328755"/>
            <a:ext cx="2208544" cy="929045"/>
            <a:chOff x="2408793" y="4328755"/>
            <a:chExt cx="2208544" cy="929045"/>
          </a:xfrm>
        </p:grpSpPr>
        <p:sp>
          <p:nvSpPr>
            <p:cNvPr id="5" name="TextBox 4"/>
            <p:cNvSpPr txBox="1"/>
            <p:nvPr/>
          </p:nvSpPr>
          <p:spPr>
            <a:xfrm>
              <a:off x="2408793" y="4648200"/>
              <a:ext cx="2010807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C00000"/>
                  </a:solidFill>
                </a:rPr>
                <a:t>Capacity </a:t>
              </a:r>
              <a:r>
                <a:rPr lang="en-US" b="1" dirty="0"/>
                <a:t>constraint</a:t>
              </a:r>
            </a:p>
          </p:txBody>
        </p:sp>
        <p:sp>
          <p:nvSpPr>
            <p:cNvPr id="10" name="Left Brace 9"/>
            <p:cNvSpPr/>
            <p:nvPr/>
          </p:nvSpPr>
          <p:spPr>
            <a:xfrm>
              <a:off x="4419600" y="4328755"/>
              <a:ext cx="197737" cy="929045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963415" y="5319355"/>
            <a:ext cx="2653922" cy="929045"/>
            <a:chOff x="1963415" y="5319355"/>
            <a:chExt cx="2653922" cy="929045"/>
          </a:xfrm>
        </p:grpSpPr>
        <p:sp>
          <p:nvSpPr>
            <p:cNvPr id="51" name="TextBox 50"/>
            <p:cNvSpPr txBox="1"/>
            <p:nvPr/>
          </p:nvSpPr>
          <p:spPr>
            <a:xfrm>
              <a:off x="1963415" y="5638800"/>
              <a:ext cx="2456185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C00000"/>
                  </a:solidFill>
                </a:rPr>
                <a:t>Conservation </a:t>
              </a:r>
              <a:r>
                <a:rPr lang="en-US" b="1" dirty="0"/>
                <a:t>constraint</a:t>
              </a:r>
            </a:p>
          </p:txBody>
        </p:sp>
        <p:sp>
          <p:nvSpPr>
            <p:cNvPr id="52" name="Left Brace 51"/>
            <p:cNvSpPr/>
            <p:nvPr/>
          </p:nvSpPr>
          <p:spPr>
            <a:xfrm>
              <a:off x="4419600" y="5319355"/>
              <a:ext cx="197737" cy="929045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53"/>
          <p:cNvSpPr/>
          <p:nvPr/>
        </p:nvSpPr>
        <p:spPr>
          <a:xfrm>
            <a:off x="5486400" y="38100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105400" y="5562600"/>
            <a:ext cx="914400" cy="76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6705600" y="5562600"/>
            <a:ext cx="1752600" cy="76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4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/>
      <p:bldP spid="54" grpId="0" animBg="1"/>
      <p:bldP spid="55" grpId="0" animBg="1"/>
      <p:bldP spid="5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Formal Description </a:t>
            </a:r>
            <a:r>
              <a:rPr lang="en-US" sz="3200" b="1" dirty="0"/>
              <a:t>of Flow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52400" y="1600200"/>
                <a:ext cx="43434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dirty="0"/>
                      <m:t>value</m:t>
                    </m:r>
                    <m:r>
                      <m:rPr>
                        <m:nor/>
                      </m:rPr>
                      <a:rPr lang="en-US" sz="1800" dirty="0"/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  <m:r>
                      <m:rPr>
                        <m:nor/>
                      </m:rPr>
                      <a:rPr lang="en-US" sz="1800" dirty="0"/>
                      <m:t>)=</m:t>
                    </m:r>
                  </m:oMath>
                </a14:m>
                <a:r>
                  <a:rPr lang="en-US" sz="1800" dirty="0"/>
                  <a:t> flow </a:t>
                </a:r>
                <a:r>
                  <a:rPr lang="en-US" sz="1800" b="1" dirty="0"/>
                  <a:t>leaving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∈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</m:sub>
                        <m:sup/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(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,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52400" y="1600200"/>
                <a:ext cx="4343400" cy="5105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grpSp>
        <p:nvGrpSpPr>
          <p:cNvPr id="179" name="Group 178"/>
          <p:cNvGrpSpPr/>
          <p:nvPr/>
        </p:nvGrpSpPr>
        <p:grpSpPr>
          <a:xfrm>
            <a:off x="787863" y="1981199"/>
            <a:ext cx="2793537" cy="936719"/>
            <a:chOff x="2873282" y="1981200"/>
            <a:chExt cx="2793537" cy="936719"/>
          </a:xfrm>
        </p:grpSpPr>
        <p:sp>
          <p:nvSpPr>
            <p:cNvPr id="196" name="Oval 195"/>
            <p:cNvSpPr/>
            <p:nvPr/>
          </p:nvSpPr>
          <p:spPr>
            <a:xfrm>
              <a:off x="37618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55144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4" name="Straight Arrow Connector 183"/>
            <p:cNvCxnSpPr>
              <a:stCxn id="7" idx="7"/>
              <a:endCxn id="196" idx="3"/>
            </p:cNvCxnSpPr>
            <p:nvPr/>
          </p:nvCxnSpPr>
          <p:spPr>
            <a:xfrm flipV="1">
              <a:off x="2873282" y="2111282"/>
              <a:ext cx="910855" cy="8066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stCxn id="196" idx="6"/>
              <a:endCxn id="192" idx="2"/>
            </p:cNvCxnSpPr>
            <p:nvPr/>
          </p:nvCxnSpPr>
          <p:spPr>
            <a:xfrm>
              <a:off x="3914219" y="2057400"/>
              <a:ext cx="1600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381000" y="1676400"/>
            <a:ext cx="3581400" cy="2743200"/>
            <a:chOff x="2466419" y="1676400"/>
            <a:chExt cx="3581400" cy="2743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75756" y="3886200"/>
              <a:ext cx="386644" cy="533400"/>
              <a:chOff x="4566356" y="3810000"/>
              <a:chExt cx="386644" cy="533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76219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92044" y="1676400"/>
              <a:ext cx="555775" cy="2362200"/>
              <a:chOff x="4648200" y="1600200"/>
              <a:chExt cx="555775" cy="2362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295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>
              <a:stCxn id="7" idx="5"/>
              <a:endCxn id="14" idx="1"/>
            </p:cNvCxnSpPr>
            <p:nvPr/>
          </p:nvCxnSpPr>
          <p:spPr>
            <a:xfrm>
              <a:off x="2873282" y="3025682"/>
              <a:ext cx="834655" cy="882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7" idx="2"/>
            </p:cNvCxnSpPr>
            <p:nvPr/>
          </p:nvCxnSpPr>
          <p:spPr>
            <a:xfrm>
              <a:off x="3838019" y="3962400"/>
              <a:ext cx="16540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5568244" y="2133599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33528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1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19600" cy="49530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=(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) : a directed graph with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: source,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1800" dirty="0"/>
                  <a:t>: sink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sym typeface="Wingdings" pitchFamily="2" charset="2"/>
                  </a:rPr>
                  <a:t>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𝐑</m:t>
                        </m:r>
                      </m:e>
                      <m:sup>
                        <m:r>
                          <a:rPr lang="en-US" sz="1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= </a:t>
                </a:r>
                <a:r>
                  <a:rPr lang="en-US" sz="1800" u="sng" dirty="0"/>
                  <a:t>capacity</a:t>
                </a:r>
                <a:r>
                  <a:rPr lang="en-US" sz="1800" dirty="0"/>
                  <a:t> of edge 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Flow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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𝐑</m:t>
                        </m:r>
                      </m:e>
                      <m:sup>
                        <m:r>
                          <a:rPr lang="en-US" sz="1800" b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</a:t>
                </a:r>
                <a:r>
                  <a:rPr lang="en-US" sz="1800" dirty="0"/>
                  <a:t>such that </a:t>
                </a:r>
              </a:p>
              <a:p>
                <a:r>
                  <a:rPr lang="en-US" sz="1800" dirty="0"/>
                  <a:t>For each edge 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endParaRPr lang="en-US" sz="1800" dirty="0"/>
              </a:p>
              <a:p>
                <a:pPr marL="0" indent="0" algn="ctr">
                  <a:buNone/>
                </a:pP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 algn="ctr">
                  <a:buNone/>
                </a:pPr>
                <a:endParaRPr lang="en-US" sz="1800" dirty="0"/>
              </a:p>
              <a:p>
                <a:r>
                  <a:rPr lang="en-US" sz="1800" dirty="0"/>
                  <a:t>For each vertex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{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}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𝒖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∈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</m:sub>
                        <m:sup/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(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,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)</m:t>
                          </m:r>
                        </m:e>
                      </m:nary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sz="1800" dirty="0"/>
                            <m:t> </m:t>
                          </m:r>
                          <m:d>
                            <m:dPr>
                              <m:ctrlPr>
                                <a:rPr lang="en-US" sz="18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𝒛</m:t>
                              </m:r>
                            </m:e>
                          </m:d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 </m:t>
                          </m:r>
                        </m:sub>
                        <m:sup/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(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</m:nary>
                      <m:r>
                        <a:rPr lang="en-US" sz="1800" b="0" i="1" smtClean="0">
                          <a:latin typeface="Cambria Math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𝒛</m:t>
                      </m:r>
                      <m:r>
                        <a:rPr lang="en-US" sz="18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Content Placeholder 2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19600" cy="4953000"/>
              </a:xfrm>
              <a:blipFill rotWithShape="1">
                <a:blip r:embed="rId13"/>
                <a:stretch>
                  <a:fillRect l="-1241" t="-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435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49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066800" y="1828800"/>
            <a:ext cx="3215570" cy="1676400"/>
            <a:chOff x="1066800" y="1828800"/>
            <a:chExt cx="3215570" cy="1676400"/>
          </a:xfrm>
        </p:grpSpPr>
        <p:sp>
          <p:nvSpPr>
            <p:cNvPr id="53" name="TextBox 52"/>
            <p:cNvSpPr txBox="1"/>
            <p:nvPr/>
          </p:nvSpPr>
          <p:spPr>
            <a:xfrm>
              <a:off x="1066800" y="2209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95562" y="3197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62362" y="3048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286000" y="2435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467162" y="1828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4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914962" y="2206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838762" y="3045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</a:rPr>
                <a:t>1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43000" y="4419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DF5DD9-7613-C4E1-0CEE-DA1C260DE04E}"/>
                  </a:ext>
                </a:extLst>
              </p:cNvPr>
              <p:cNvSpPr txBox="1"/>
              <p:nvPr/>
            </p:nvSpPr>
            <p:spPr>
              <a:xfrm>
                <a:off x="170985" y="6341593"/>
                <a:ext cx="494212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It takes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to verify 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dirty="0"/>
                  <a:t> is a valid flow.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DF5DD9-7613-C4E1-0CEE-DA1C260D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85" y="6341593"/>
                <a:ext cx="4942122" cy="369332"/>
              </a:xfrm>
              <a:prstGeom prst="rect">
                <a:avLst/>
              </a:prstGeom>
              <a:blipFill>
                <a:blip r:embed="rId14"/>
                <a:stretch>
                  <a:fillRect l="-986" t="-8197" r="-370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034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6" grpId="0" animBg="1"/>
      <p:bldP spid="5" grpId="0" animBg="1"/>
      <p:bldP spid="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Formal Description </a:t>
            </a:r>
            <a:r>
              <a:rPr lang="en-US" sz="3200" b="1" dirty="0"/>
              <a:t>of Flow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52400" y="1600200"/>
                <a:ext cx="43434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dirty="0"/>
                      <m:t>value</m:t>
                    </m:r>
                    <m:r>
                      <m:rPr>
                        <m:nor/>
                      </m:rPr>
                      <a:rPr lang="en-US" sz="1800" dirty="0"/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  <m:r>
                      <m:rPr>
                        <m:nor/>
                      </m:rPr>
                      <a:rPr lang="en-US" sz="1800" dirty="0"/>
                      <m:t>)=</m:t>
                    </m:r>
                  </m:oMath>
                </a14:m>
                <a:r>
                  <a:rPr lang="en-US" sz="1800" dirty="0"/>
                  <a:t> flow </a:t>
                </a:r>
                <a:r>
                  <a:rPr lang="en-US" sz="1800" b="1" dirty="0"/>
                  <a:t>leaving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8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∈ 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</m:sub>
                        <m:sup/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(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,</m:t>
                          </m:r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52400" y="1600200"/>
                <a:ext cx="4343400" cy="5105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grpSp>
        <p:nvGrpSpPr>
          <p:cNvPr id="179" name="Group 178"/>
          <p:cNvGrpSpPr/>
          <p:nvPr/>
        </p:nvGrpSpPr>
        <p:grpSpPr>
          <a:xfrm>
            <a:off x="787863" y="1981199"/>
            <a:ext cx="2793537" cy="936719"/>
            <a:chOff x="2873282" y="1981200"/>
            <a:chExt cx="2793537" cy="936719"/>
          </a:xfrm>
        </p:grpSpPr>
        <p:sp>
          <p:nvSpPr>
            <p:cNvPr id="196" name="Oval 195"/>
            <p:cNvSpPr/>
            <p:nvPr/>
          </p:nvSpPr>
          <p:spPr>
            <a:xfrm>
              <a:off x="37618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55144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4" name="Straight Arrow Connector 183"/>
            <p:cNvCxnSpPr>
              <a:stCxn id="7" idx="7"/>
              <a:endCxn id="196" idx="3"/>
            </p:cNvCxnSpPr>
            <p:nvPr/>
          </p:nvCxnSpPr>
          <p:spPr>
            <a:xfrm flipV="1">
              <a:off x="2873282" y="2111282"/>
              <a:ext cx="910855" cy="8066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stCxn id="196" idx="6"/>
              <a:endCxn id="192" idx="2"/>
            </p:cNvCxnSpPr>
            <p:nvPr/>
          </p:nvCxnSpPr>
          <p:spPr>
            <a:xfrm>
              <a:off x="3914219" y="2057400"/>
              <a:ext cx="1600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381000" y="1676400"/>
            <a:ext cx="3581400" cy="2743200"/>
            <a:chOff x="2466419" y="1676400"/>
            <a:chExt cx="3581400" cy="2743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75756" y="3886200"/>
              <a:ext cx="386644" cy="533400"/>
              <a:chOff x="4566356" y="3810000"/>
              <a:chExt cx="386644" cy="533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76219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92044" y="1676400"/>
              <a:ext cx="555775" cy="2362200"/>
              <a:chOff x="4648200" y="1600200"/>
              <a:chExt cx="555775" cy="2362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295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>
              <a:stCxn id="7" idx="5"/>
              <a:endCxn id="14" idx="1"/>
            </p:cNvCxnSpPr>
            <p:nvPr/>
          </p:nvCxnSpPr>
          <p:spPr>
            <a:xfrm>
              <a:off x="2873282" y="3025682"/>
              <a:ext cx="834655" cy="882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7" idx="2"/>
            </p:cNvCxnSpPr>
            <p:nvPr/>
          </p:nvCxnSpPr>
          <p:spPr>
            <a:xfrm>
              <a:off x="3838019" y="3962400"/>
              <a:ext cx="16540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5568244" y="2133599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TextBox 85"/>
          <p:cNvSpPr txBox="1"/>
          <p:nvPr/>
        </p:nvSpPr>
        <p:spPr>
          <a:xfrm>
            <a:off x="2467162" y="1521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33528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314455" y="2667000"/>
            <a:ext cx="409945" cy="369332"/>
            <a:chOff x="4191000" y="3593068"/>
            <a:chExt cx="409945" cy="369332"/>
          </a:xfrm>
        </p:grpSpPr>
        <p:sp>
          <p:nvSpPr>
            <p:cNvPr id="61" name="Oval 60"/>
            <p:cNvSpPr/>
            <p:nvPr/>
          </p:nvSpPr>
          <p:spPr>
            <a:xfrm>
              <a:off x="4191000" y="3733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200" y="3593068"/>
                  <a:ext cx="33374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254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>
            <a:stCxn id="192" idx="5"/>
            <a:endCxn id="61" idx="1"/>
          </p:cNvCxnSpPr>
          <p:nvPr/>
        </p:nvCxnSpPr>
        <p:spPr>
          <a:xfrm>
            <a:off x="3559082" y="2111281"/>
            <a:ext cx="777691" cy="71876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17" idx="7"/>
            <a:endCxn id="61" idx="3"/>
          </p:cNvCxnSpPr>
          <p:nvPr/>
        </p:nvCxnSpPr>
        <p:spPr>
          <a:xfrm flipV="1">
            <a:off x="3536707" y="2937814"/>
            <a:ext cx="800066" cy="970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1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19600" cy="49530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=(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) : a directed graph with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: source,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1800" dirty="0"/>
                  <a:t>: sink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sym typeface="Wingdings" pitchFamily="2" charset="2"/>
                  </a:rPr>
                  <a:t>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𝐑</m:t>
                        </m:r>
                      </m:e>
                      <m:sup>
                        <m:r>
                          <a:rPr lang="en-US" sz="1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= </a:t>
                </a:r>
                <a:r>
                  <a:rPr lang="en-US" sz="1800" u="sng" dirty="0"/>
                  <a:t>capacity</a:t>
                </a:r>
                <a:r>
                  <a:rPr lang="en-US" sz="1800" dirty="0"/>
                  <a:t> of edge 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Max-Flow</a:t>
                </a:r>
                <a:r>
                  <a:rPr lang="en-US" sz="1800" b="1" dirty="0"/>
                  <a:t>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:r>
                  <a:rPr lang="en-US" sz="1800" dirty="0"/>
                  <a:t>Given a network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=(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), </a:t>
                </a:r>
              </a:p>
              <a:p>
                <a:pPr marL="0" indent="0">
                  <a:buNone/>
                </a:pPr>
                <a:r>
                  <a:rPr lang="en-US" sz="1800" dirty="0"/>
                  <a:t>and two vertices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:r>
                  <a:rPr lang="en-US" sz="1800" dirty="0"/>
                  <a:t>find a flow from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1800" dirty="0"/>
                  <a:t> of </a:t>
                </a:r>
                <a:r>
                  <a:rPr lang="en-US" sz="1800" b="1" dirty="0"/>
                  <a:t>maximum</a:t>
                </a:r>
                <a:r>
                  <a:rPr lang="en-US" sz="1800" dirty="0"/>
                  <a:t> value.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22" name="Content Placeholder 2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19600" cy="4953000"/>
              </a:xfrm>
              <a:blipFill rotWithShape="1">
                <a:blip r:embed="rId13"/>
                <a:stretch>
                  <a:fillRect l="-1241" t="-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3733800" y="2435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62" y="2435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498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3600" y="3349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77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51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1816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3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/>
      <p:bldP spid="5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4F18D-FD82-C284-4029-AFFE9571F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8443" y="2174875"/>
            <a:ext cx="4041775" cy="3951288"/>
          </a:xfrm>
        </p:spPr>
        <p:txBody>
          <a:bodyPr/>
          <a:lstStyle/>
          <a:p>
            <a:r>
              <a:rPr lang="en-US" dirty="0"/>
              <a:t>Elegance</a:t>
            </a:r>
          </a:p>
          <a:p>
            <a:endParaRPr lang="en-US" dirty="0"/>
          </a:p>
          <a:p>
            <a:r>
              <a:rPr lang="en-US" dirty="0"/>
              <a:t>Depth </a:t>
            </a:r>
          </a:p>
          <a:p>
            <a:endParaRPr lang="en-US" dirty="0"/>
          </a:p>
          <a:p>
            <a:r>
              <a:rPr lang="en-US" dirty="0"/>
              <a:t>A famous graph theorem</a:t>
            </a:r>
          </a:p>
          <a:p>
            <a:endParaRPr lang="en-US" dirty="0"/>
          </a:p>
          <a:p>
            <a:r>
              <a:rPr lang="en-US" dirty="0"/>
              <a:t>Wide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F91E7-7975-282A-7795-976380EA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B83139DF-44C0-9E2B-3C63-2CDF17E25C0D}"/>
                  </a:ext>
                </a:extLst>
              </p:cNvPr>
              <p:cNvSpPr/>
              <p:nvPr/>
            </p:nvSpPr>
            <p:spPr>
              <a:xfrm>
                <a:off x="2921261" y="457200"/>
                <a:ext cx="3784339" cy="68580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𝐍𝐞𝐭𝐰𝐨𝐫𝐤</m:t>
                      </m:r>
                      <m:r>
                        <a:rPr lang="en-US" sz="2400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𝐅𝐥𝐨𝐰𝐬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B83139DF-44C0-9E2B-3C63-2CDF17E25C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261" y="457200"/>
                <a:ext cx="3784339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54AB670-AFF1-71EC-A460-9B04FF7BBBAD}"/>
              </a:ext>
            </a:extLst>
          </p:cNvPr>
          <p:cNvSpPr txBox="1"/>
          <p:nvPr/>
        </p:nvSpPr>
        <p:spPr>
          <a:xfrm>
            <a:off x="2489330" y="2286000"/>
            <a:ext cx="455631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Perhaps the most elegant, intuitive, and fresh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DAF598-4173-C7CF-CFF4-A89706DB7513}"/>
              </a:ext>
            </a:extLst>
          </p:cNvPr>
          <p:cNvSpPr txBox="1"/>
          <p:nvPr/>
        </p:nvSpPr>
        <p:spPr>
          <a:xfrm>
            <a:off x="2489330" y="3059668"/>
            <a:ext cx="500932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Much deeper analysis than Bellman Ford algorithm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6BA4E8-048F-FA06-43AD-D6464C9DCC40}"/>
              </a:ext>
            </a:extLst>
          </p:cNvPr>
          <p:cNvSpPr txBox="1"/>
          <p:nvPr/>
        </p:nvSpPr>
        <p:spPr>
          <a:xfrm>
            <a:off x="4200940" y="3965853"/>
            <a:ext cx="270016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MaxFlow-MinCut</a:t>
            </a:r>
            <a:r>
              <a:rPr lang="en-US" dirty="0"/>
              <a:t> Theorem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6A6AF-D2F0-242B-5A93-41B3DEC82CE2}"/>
              </a:ext>
            </a:extLst>
          </p:cNvPr>
          <p:cNvSpPr txBox="1"/>
          <p:nvPr/>
        </p:nvSpPr>
        <p:spPr>
          <a:xfrm>
            <a:off x="3417404" y="4861342"/>
            <a:ext cx="405675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Wider than MST, DFS, Dijkstra’s algorithm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83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2" grpId="0" animBg="1"/>
      <p:bldP spid="3" grpId="0" animBg="1"/>
      <p:bldP spid="6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90B4331-84DA-64D7-112D-7DC2E27B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 </a:t>
            </a:r>
            <a:r>
              <a:rPr lang="en-US" b="1" dirty="0">
                <a:solidFill>
                  <a:srgbClr val="FF0000"/>
                </a:solidFill>
              </a:rPr>
              <a:t>important</a:t>
            </a:r>
            <a:r>
              <a:rPr lang="en-US" b="1" dirty="0"/>
              <a:t> advice</a:t>
            </a:r>
            <a:endParaRPr lang="en-I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65FD2F9-671E-21EE-4309-7DB0CCFCFA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336" y="1524000"/>
                <a:ext cx="8839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Do not </a:t>
                </a:r>
                <a:r>
                  <a:rPr lang="en-US" b="1" dirty="0"/>
                  <a:t>miss</a:t>
                </a:r>
                <a:r>
                  <a:rPr lang="en-US" dirty="0"/>
                  <a:t> </a:t>
                </a:r>
                <a:r>
                  <a:rPr lang="en-US" u="sng" dirty="0"/>
                  <a:t>any lecture</a:t>
                </a:r>
                <a:r>
                  <a:rPr lang="en-US" dirty="0"/>
                  <a:t> from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lectures.</a:t>
                </a:r>
                <a:endParaRPr lang="en-IN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65FD2F9-671E-21EE-4309-7DB0CCFCFA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36" y="1524000"/>
                <a:ext cx="8839200" cy="4525963"/>
              </a:xfrm>
              <a:blipFill>
                <a:blip r:embed="rId2"/>
                <a:stretch>
                  <a:fillRect l="-17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3005E-DF68-C580-D4C5-E81518AFC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57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13294</TotalTime>
  <Words>2297</Words>
  <Application>Microsoft Office PowerPoint</Application>
  <PresentationFormat>On-screen Show (4:3)</PresentationFormat>
  <Paragraphs>626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 Math</vt:lpstr>
      <vt:lpstr>Google Sans</vt:lpstr>
      <vt:lpstr>Wingdings</vt:lpstr>
      <vt:lpstr>Office Theme</vt:lpstr>
      <vt:lpstr>Design and Analysis of Algorithms </vt:lpstr>
      <vt:lpstr>Bellman-Ford algorithm </vt:lpstr>
      <vt:lpstr>Bellman-Ford algorithm </vt:lpstr>
      <vt:lpstr>Key Observations on Bellman-Ford algorithm </vt:lpstr>
      <vt:lpstr>Observation 1</vt:lpstr>
      <vt:lpstr>Observation 1</vt:lpstr>
      <vt:lpstr>Observations 2 </vt:lpstr>
      <vt:lpstr>Observation 3</vt:lpstr>
      <vt:lpstr>The execution of Bellman Ford algorithm </vt:lpstr>
      <vt:lpstr>Detecting negative cycle in G</vt:lpstr>
      <vt:lpstr>PowerPoint Presentation</vt:lpstr>
      <vt:lpstr>PowerPoint Presentation</vt:lpstr>
      <vt:lpstr>Detecting negative cycle in G</vt:lpstr>
      <vt:lpstr>Shortest paths in presence of negative weight cycles</vt:lpstr>
      <vt:lpstr>The Journey</vt:lpstr>
      <vt:lpstr>The Journey</vt:lpstr>
      <vt:lpstr>Binary Search Trees </vt:lpstr>
      <vt:lpstr>Splay tree:  A self organizing Binary search trees. </vt:lpstr>
      <vt:lpstr>Splay operation   </vt:lpstr>
      <vt:lpstr>Splay operation   </vt:lpstr>
      <vt:lpstr>Search(x) on a Splay Tree</vt:lpstr>
      <vt:lpstr>A magic</vt:lpstr>
      <vt:lpstr>Amortized Analysis</vt:lpstr>
      <vt:lpstr>Maximum Flow  in a Network</vt:lpstr>
      <vt:lpstr>Network</vt:lpstr>
      <vt:lpstr>Problem definition (Informal)</vt:lpstr>
      <vt:lpstr>PowerPoint Presentation</vt:lpstr>
      <vt:lpstr>Are there any constraints for a flow ?</vt:lpstr>
      <vt:lpstr>Formal Description of Flow</vt:lpstr>
      <vt:lpstr>Formal Description of Flow</vt:lpstr>
      <vt:lpstr>Formal Description of Flow</vt:lpstr>
      <vt:lpstr>Formal Description of Flow</vt:lpstr>
      <vt:lpstr>PowerPoint Presentation</vt:lpstr>
      <vt:lpstr>An important advice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1314</cp:revision>
  <dcterms:created xsi:type="dcterms:W3CDTF">2011-12-03T04:13:03Z</dcterms:created>
  <dcterms:modified xsi:type="dcterms:W3CDTF">2025-10-06T05:33:08Z</dcterms:modified>
</cp:coreProperties>
</file>