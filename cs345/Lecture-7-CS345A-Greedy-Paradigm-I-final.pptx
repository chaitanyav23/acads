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42"/>
  </p:notesMasterIdLst>
  <p:sldIdLst>
    <p:sldId id="495" r:id="rId2"/>
    <p:sldId id="527" r:id="rId3"/>
    <p:sldId id="694" r:id="rId4"/>
    <p:sldId id="695" r:id="rId5"/>
    <p:sldId id="696" r:id="rId6"/>
    <p:sldId id="697" r:id="rId7"/>
    <p:sldId id="698" r:id="rId8"/>
    <p:sldId id="699" r:id="rId9"/>
    <p:sldId id="700" r:id="rId10"/>
    <p:sldId id="419" r:id="rId11"/>
    <p:sldId id="420" r:id="rId12"/>
    <p:sldId id="422" r:id="rId13"/>
    <p:sldId id="425" r:id="rId14"/>
    <p:sldId id="421" r:id="rId15"/>
    <p:sldId id="426" r:id="rId16"/>
    <p:sldId id="455" r:id="rId17"/>
    <p:sldId id="423" r:id="rId18"/>
    <p:sldId id="429" r:id="rId19"/>
    <p:sldId id="465" r:id="rId20"/>
    <p:sldId id="466" r:id="rId21"/>
    <p:sldId id="467" r:id="rId22"/>
    <p:sldId id="497" r:id="rId23"/>
    <p:sldId id="441" r:id="rId24"/>
    <p:sldId id="498" r:id="rId25"/>
    <p:sldId id="499" r:id="rId26"/>
    <p:sldId id="500" r:id="rId27"/>
    <p:sldId id="726" r:id="rId28"/>
    <p:sldId id="453" r:id="rId29"/>
    <p:sldId id="506" r:id="rId30"/>
    <p:sldId id="454" r:id="rId31"/>
    <p:sldId id="739" r:id="rId32"/>
    <p:sldId id="729" r:id="rId33"/>
    <p:sldId id="459" r:id="rId34"/>
    <p:sldId id="730" r:id="rId35"/>
    <p:sldId id="461" r:id="rId36"/>
    <p:sldId id="731" r:id="rId37"/>
    <p:sldId id="462" r:id="rId38"/>
    <p:sldId id="732" r:id="rId39"/>
    <p:sldId id="456" r:id="rId40"/>
    <p:sldId id="501" r:id="rId41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27" autoAdjust="0"/>
    <p:restoredTop sz="94052" autoAdjust="0"/>
  </p:normalViewPr>
  <p:slideViewPr>
    <p:cSldViewPr>
      <p:cViewPr varScale="1">
        <p:scale>
          <a:sx n="105" d="100"/>
          <a:sy n="105" d="100"/>
        </p:scale>
        <p:origin x="1998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8/18/2025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8/18/2025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8/18/2025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8/18/2025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8/18/2025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8/18/2025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8/18/2025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8/18/2025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0.png"/><Relationship Id="rId2" Type="http://schemas.openxmlformats.org/officeDocument/2006/relationships/image" Target="../media/image110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2.png"/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0.png"/><Relationship Id="rId5" Type="http://schemas.openxmlformats.org/officeDocument/2006/relationships/image" Target="../media/image19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3.png"/><Relationship Id="rId5" Type="http://schemas.openxmlformats.org/officeDocument/2006/relationships/image" Target="../media/image19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1.png"/><Relationship Id="rId7" Type="http://schemas.openxmlformats.org/officeDocument/2006/relationships/image" Target="../media/image10010.png"/><Relationship Id="rId2" Type="http://schemas.openxmlformats.org/officeDocument/2006/relationships/image" Target="../media/image6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5" Type="http://schemas.openxmlformats.org/officeDocument/2006/relationships/image" Target="../media/image8010.png"/><Relationship Id="rId4" Type="http://schemas.openxmlformats.org/officeDocument/2006/relationships/image" Target="../media/image70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2.png"/><Relationship Id="rId13" Type="http://schemas.openxmlformats.org/officeDocument/2006/relationships/image" Target="../media/image213.png"/><Relationship Id="rId3" Type="http://schemas.openxmlformats.org/officeDocument/2006/relationships/image" Target="../media/image171.png"/><Relationship Id="rId7" Type="http://schemas.openxmlformats.org/officeDocument/2006/relationships/image" Target="../media/image1200.png"/><Relationship Id="rId12" Type="http://schemas.openxmlformats.org/officeDocument/2006/relationships/image" Target="../media/image20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png"/><Relationship Id="rId11" Type="http://schemas.openxmlformats.org/officeDocument/2006/relationships/image" Target="../media/image182.png"/><Relationship Id="rId5" Type="http://schemas.openxmlformats.org/officeDocument/2006/relationships/image" Target="../media/image8010.png"/><Relationship Id="rId15" Type="http://schemas.openxmlformats.org/officeDocument/2006/relationships/image" Target="../media/image222.png"/><Relationship Id="rId10" Type="http://schemas.openxmlformats.org/officeDocument/2006/relationships/image" Target="../media/image161.png"/><Relationship Id="rId4" Type="http://schemas.openxmlformats.org/officeDocument/2006/relationships/image" Target="../media/image420.png"/><Relationship Id="rId9" Type="http://schemas.openxmlformats.org/officeDocument/2006/relationships/image" Target="../media/image1500.png"/><Relationship Id="rId14" Type="http://schemas.openxmlformats.org/officeDocument/2006/relationships/image" Target="../media/image100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3" Type="http://schemas.openxmlformats.org/officeDocument/2006/relationships/image" Target="NULL"/><Relationship Id="rId7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4" Type="http://schemas.openxmlformats.org/officeDocument/2006/relationships/image" Target="NUL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NULL"/><Relationship Id="rId2" Type="http://schemas.openxmlformats.org/officeDocument/2006/relationships/image" Target="NULL"/><Relationship Id="rId1" Type="http://schemas.openxmlformats.org/officeDocument/2006/relationships/slideLayout" Target="../slideLayouts/slideLayout2.xml"/><Relationship Id="rId5" Type="http://schemas.openxmlformats.org/officeDocument/2006/relationships/image" Target="NULL"/><Relationship Id="rId4" Type="http://schemas.openxmlformats.org/officeDocument/2006/relationships/image" Target="NUL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2133600"/>
            <a:ext cx="8382000" cy="146685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endParaRPr lang="en-US" b="1" dirty="0">
              <a:solidFill>
                <a:srgbClr val="C00000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0086" y="4499848"/>
            <a:ext cx="65532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7</a:t>
            </a:r>
            <a:endParaRPr lang="en-US" sz="1600" b="1" dirty="0">
              <a:solidFill>
                <a:srgbClr val="7030A0"/>
              </a:solidFill>
            </a:endParaRPr>
          </a:p>
          <a:p>
            <a:pPr fontAlgn="auto">
              <a:spcAft>
                <a:spcPts val="0"/>
              </a:spcAft>
              <a:defRPr/>
            </a:pPr>
            <a:r>
              <a:rPr lang="en-US" sz="2400" b="1" dirty="0">
                <a:solidFill>
                  <a:srgbClr val="7030A0"/>
                </a:solidFill>
              </a:rPr>
              <a:t>Greedy Paradigm - I</a:t>
            </a:r>
            <a:endParaRPr lang="en-US" sz="2400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962400" y="3077230"/>
            <a:ext cx="42671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CS345</a:t>
            </a:r>
            <a:endParaRPr lang="en-US" sz="2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4090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609600" y="1719262"/>
            <a:ext cx="7772400" cy="1470025"/>
          </a:xfrm>
        </p:spPr>
        <p:txBody>
          <a:bodyPr/>
          <a:lstStyle/>
          <a:p>
            <a:r>
              <a:rPr lang="en-US" sz="3600" b="1" dirty="0">
                <a:solidFill>
                  <a:srgbClr val="006C31"/>
                </a:solidFill>
              </a:rPr>
              <a:t>Homework </a:t>
            </a:r>
            <a:r>
              <a:rPr lang="en-US" sz="3600" b="1" dirty="0">
                <a:solidFill>
                  <a:srgbClr val="7030A0"/>
                </a:solidFill>
              </a:rPr>
              <a:t>from the last Lecture</a:t>
            </a:r>
            <a:endParaRPr lang="en-US" sz="3600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616765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Gayle Shapley </a:t>
            </a:r>
            <a:r>
              <a:rPr lang="en-US" sz="3200" b="1" dirty="0"/>
              <a:t>Algorithm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</a:rPr>
              <a:t>Proof of </a:t>
            </a:r>
            <a:r>
              <a:rPr lang="en-US" b="1" dirty="0">
                <a:solidFill>
                  <a:srgbClr val="7030A0"/>
                </a:solidFill>
              </a:rPr>
              <a:t>Man optimality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3418BA-F048-EC6C-2E30-16742C8F0928}"/>
              </a:ext>
            </a:extLst>
          </p:cNvPr>
          <p:cNvSpPr txBox="1"/>
          <p:nvPr/>
        </p:nvSpPr>
        <p:spPr>
          <a:xfrm>
            <a:off x="3398441" y="3189327"/>
            <a:ext cx="2347117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sz="1800" i="1" dirty="0">
                <a:solidFill>
                  <a:srgbClr val="0070C0"/>
                </a:solidFill>
              </a:rPr>
              <a:t>Man-Proposing </a:t>
            </a:r>
            <a:r>
              <a:rPr lang="en-US" sz="1800" i="1" dirty="0"/>
              <a:t>version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445005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2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215384-D5F4-2FDE-DF77-18B1E4BDF7E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304800"/>
                <a:ext cx="8229600" cy="58213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𝑴</m:t>
                    </m:r>
                    <m:r>
                      <a:rPr lang="en-US" sz="2000" b="1" i="1" smtClean="0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  <m:r>
                      <a:rPr lang="en-US" sz="2000" b="1" i="1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𝑾</m:t>
                    </m:r>
                    <m:r>
                      <a:rPr lang="en-US" sz="2000" b="1" i="1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 </m:t>
                    </m:r>
                  </m:oMath>
                </a14:m>
                <a:r>
                  <a:rPr lang="en-US" sz="2000" dirty="0"/>
                  <a:t>be the matching produced by GS algorithm.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dirty="0">
                        <a:latin typeface="Cambria Math" panose="02040503050406030204" pitchFamily="18" charset="0"/>
                      </a:rPr>
                      <m:t>: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/>
                        <a:sym typeface="Wingdings" pitchFamily="2" charset="2"/>
                      </a:rPr>
                      <m:t>𝑴</m:t>
                    </m:r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  <m:r>
                      <a:rPr lang="en-US" sz="2000" b="1" i="1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𝑾</m:t>
                    </m:r>
                  </m:oMath>
                </a14:m>
                <a:r>
                  <a:rPr lang="en-IN" sz="2000" dirty="0"/>
                  <a:t> be any other stable matching.</a:t>
                </a:r>
              </a:p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endParaRPr lang="en-IN" sz="2000" b="1" dirty="0"/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2F215384-D5F4-2FDE-DF77-18B1E4BDF7E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304800"/>
                <a:ext cx="8229600" cy="5821363"/>
              </a:xfrm>
              <a:blipFill>
                <a:blip r:embed="rId2"/>
                <a:stretch>
                  <a:fillRect l="-77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6C3C9C-5049-0BD7-6B52-7B352776C920}"/>
                  </a:ext>
                </a:extLst>
              </p:cNvPr>
              <p:cNvSpPr txBox="1"/>
              <p:nvPr/>
            </p:nvSpPr>
            <p:spPr>
              <a:xfrm>
                <a:off x="409723" y="3352800"/>
                <a:ext cx="6063904" cy="10650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sz="2000" dirty="0"/>
                  <a:t>(Man Optimality): 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does </a:t>
                </a:r>
                <a:r>
                  <a:rPr lang="en-US" sz="2000" u="sng" dirty="0"/>
                  <a:t>not</a:t>
                </a:r>
                <a:r>
                  <a:rPr lang="en-US" sz="2000" dirty="0"/>
                  <a:t> exist any man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b="1" dirty="0"/>
                  <a:t>   </a:t>
                </a:r>
                <a:r>
                  <a:rPr lang="en-IN" sz="2000" u="sng" dirty="0"/>
                  <a:t>precedes</a:t>
                </a:r>
                <a:r>
                  <a:rPr lang="en-IN" sz="2000" dirty="0"/>
                  <a:t>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 in  the  preference  list 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2000" dirty="0"/>
                  <a:t>.</a:t>
                </a:r>
                <a:endParaRPr lang="en-IN" sz="2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76C3C9C-5049-0BD7-6B52-7B352776C9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23" y="3352800"/>
                <a:ext cx="6063904" cy="1065035"/>
              </a:xfrm>
              <a:prstGeom prst="rect">
                <a:avLst/>
              </a:prstGeom>
              <a:blipFill>
                <a:blip r:embed="rId3"/>
                <a:stretch>
                  <a:fillRect l="-1046" t="-3571" r="-209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7C1F50-EC17-83FD-1E86-6B32CBBFE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EF5E555-1AA8-100D-1EBD-CE9B11E5F205}"/>
              </a:ext>
            </a:extLst>
          </p:cNvPr>
          <p:cNvSpPr/>
          <p:nvPr/>
        </p:nvSpPr>
        <p:spPr>
          <a:xfrm>
            <a:off x="1219200" y="990600"/>
            <a:ext cx="56388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670489-9A50-2759-0ECD-75FD1A65F858}"/>
              </a:ext>
            </a:extLst>
          </p:cNvPr>
          <p:cNvSpPr/>
          <p:nvPr/>
        </p:nvSpPr>
        <p:spPr>
          <a:xfrm>
            <a:off x="1219200" y="1686232"/>
            <a:ext cx="53340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9319A4-0718-A5BC-FBDE-2389B080B1DE}"/>
              </a:ext>
            </a:extLst>
          </p:cNvPr>
          <p:cNvSpPr/>
          <p:nvPr/>
        </p:nvSpPr>
        <p:spPr>
          <a:xfrm>
            <a:off x="2628900" y="3655835"/>
            <a:ext cx="56388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DDFBFD-B137-75B1-DE0C-B7AC582E6DC7}"/>
              </a:ext>
            </a:extLst>
          </p:cNvPr>
          <p:cNvSpPr/>
          <p:nvPr/>
        </p:nvSpPr>
        <p:spPr>
          <a:xfrm>
            <a:off x="3200400" y="4036835"/>
            <a:ext cx="56388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4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25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  <p:bldP spid="5" grpId="0" animBg="1"/>
      <p:bldP spid="6" grpId="0" animBg="1"/>
      <p:bldP spid="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89B3CC-0784-C094-5E0B-45784ADA7C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IN" sz="2000" dirty="0"/>
              </a:p>
              <a:p>
                <a:pPr marL="0" indent="0">
                  <a:buNone/>
                </a:pPr>
                <a:r>
                  <a:rPr lang="en-IN" sz="2000" dirty="0"/>
                  <a:t>At the end of the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N" sz="2000" dirty="0" err="1"/>
                  <a:t>th</a:t>
                </a:r>
                <a:r>
                  <a:rPr lang="en-IN" sz="2000" dirty="0"/>
                  <a:t> iteration, 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en-IN" sz="2000" dirty="0"/>
                  <a:t> the set of men matched by </a:t>
                </a:r>
                <a:r>
                  <a:rPr lang="en-IN" sz="2000" dirty="0">
                    <a:solidFill>
                      <a:srgbClr val="002060"/>
                    </a:solidFill>
                  </a:rPr>
                  <a:t>GS</a:t>
                </a:r>
                <a:r>
                  <a:rPr lang="en-IN" sz="2000" dirty="0"/>
                  <a:t> algorithm.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 :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</m:ctrlPr>
                      </m:sSub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  <a:sym typeface="Wingdings" pitchFamily="2" charset="2"/>
                          </a:rPr>
                          <m:t>𝑴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  <a:sym typeface="Wingdings" pitchFamily="2" charset="2"/>
                          </a:rPr>
                          <m:t>𝒊</m:t>
                        </m:r>
                      </m:sub>
                    </m:sSub>
                    <m:r>
                      <a:rPr lang="en-US" sz="2000" b="1" i="1">
                        <a:solidFill>
                          <a:srgbClr val="00206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sym typeface="Wingdings" pitchFamily="2" charset="2"/>
                      </a:rPr>
                      <m:t>→</m:t>
                    </m:r>
                    <m:r>
                      <a:rPr lang="en-US" sz="2000" b="1" i="1">
                        <a:solidFill>
                          <a:srgbClr val="7030A0"/>
                        </a:solidFill>
                        <a:latin typeface="Cambria Math"/>
                        <a:sym typeface="Wingdings" pitchFamily="2" charset="2"/>
                      </a:rPr>
                      <m:t>𝑾</m:t>
                    </m:r>
                  </m:oMath>
                </a14:m>
                <a:r>
                  <a:rPr lang="en-IN" sz="2000" dirty="0"/>
                  <a:t> </a:t>
                </a:r>
              </a:p>
              <a:p>
                <a:pPr marL="0" indent="0">
                  <a:buNone/>
                </a:pP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89B3CC-0784-C094-5E0B-45784ADA7C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16D856-F307-2EC8-C9A8-A83855512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F1AC53-9AB5-AF43-A43D-7A372B1A4AB9}"/>
                  </a:ext>
                </a:extLst>
              </p:cNvPr>
              <p:cNvSpPr txBox="1"/>
              <p:nvPr/>
            </p:nvSpPr>
            <p:spPr>
              <a:xfrm>
                <a:off x="409723" y="132043"/>
                <a:ext cx="6063904" cy="10650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sz="2000" dirty="0"/>
                  <a:t>(Man Optimality): 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does </a:t>
                </a:r>
                <a:r>
                  <a:rPr lang="en-US" sz="2000" u="sng" dirty="0"/>
                  <a:t>not</a:t>
                </a:r>
                <a:r>
                  <a:rPr lang="en-US" sz="2000" dirty="0"/>
                  <a:t> exist any man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𝑴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b="1" dirty="0"/>
                  <a:t>   </a:t>
                </a:r>
                <a:r>
                  <a:rPr lang="en-IN" sz="2000" u="sng" dirty="0"/>
                  <a:t>precedes</a:t>
                </a:r>
                <a:r>
                  <a:rPr lang="en-IN" sz="2000" dirty="0"/>
                  <a:t>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𝒇</m:t>
                    </m:r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 in  the  preference  list  of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2000" dirty="0"/>
                  <a:t>.</a:t>
                </a:r>
                <a:endParaRPr lang="en-IN" sz="2000" b="1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0F1AC53-9AB5-AF43-A43D-7A372B1A4A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723" y="132043"/>
                <a:ext cx="6063904" cy="1065035"/>
              </a:xfrm>
              <a:prstGeom prst="rect">
                <a:avLst/>
              </a:prstGeom>
              <a:blipFill>
                <a:blip r:embed="rId3"/>
                <a:stretch>
                  <a:fillRect l="-1005" t="-3448" r="-201" b="-804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5FD7BF-6BF1-0039-11F3-64433ADDA8C6}"/>
                  </a:ext>
                </a:extLst>
              </p:cNvPr>
              <p:cNvSpPr txBox="1"/>
              <p:nvPr/>
            </p:nvSpPr>
            <p:spPr>
              <a:xfrm>
                <a:off x="457200" y="3230490"/>
                <a:ext cx="6333657" cy="137550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sz="2000" dirty="0"/>
                  <a:t>(Man Optimality): </a:t>
                </a:r>
                <a:r>
                  <a:rPr lang="en-IN" sz="2000" dirty="0"/>
                  <a:t>At the end of the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N" sz="2000" dirty="0" err="1"/>
                  <a:t>th</a:t>
                </a:r>
                <a:r>
                  <a:rPr lang="en-IN" sz="2000" dirty="0"/>
                  <a:t> iteration,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There does not exist any man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6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b="1" dirty="0">
                    <a:solidFill>
                      <a:schemeClr val="tx1"/>
                    </a:solidFill>
                  </a:rPr>
                  <a:t> </a:t>
                </a:r>
                <a:r>
                  <a:rPr lang="en-IN" sz="2000" u="sng" dirty="0"/>
                  <a:t>precedes</a:t>
                </a:r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</a:t>
                </a:r>
                <a:r>
                  <a:rPr lang="en-US" sz="2000" dirty="0"/>
                  <a:t>in the preference list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2000" dirty="0"/>
                  <a:t>.</a:t>
                </a:r>
                <a:endParaRPr lang="en-IN" sz="2000" b="1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15FD7BF-6BF1-0039-11F3-64433ADDA8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3230490"/>
                <a:ext cx="6333657" cy="1375505"/>
              </a:xfrm>
              <a:prstGeom prst="rect">
                <a:avLst/>
              </a:prstGeom>
              <a:blipFill>
                <a:blip r:embed="rId4"/>
                <a:stretch>
                  <a:fillRect l="-962" t="-26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C1D859EA-A163-9DE5-A7E2-7E1EEB1A13D5}"/>
              </a:ext>
            </a:extLst>
          </p:cNvPr>
          <p:cNvSpPr/>
          <p:nvPr/>
        </p:nvSpPr>
        <p:spPr>
          <a:xfrm>
            <a:off x="914400" y="2368345"/>
            <a:ext cx="56388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53C3445-AD49-1B15-D3F2-B0D765B14C2A}"/>
              </a:ext>
            </a:extLst>
          </p:cNvPr>
          <p:cNvSpPr/>
          <p:nvPr/>
        </p:nvSpPr>
        <p:spPr>
          <a:xfrm>
            <a:off x="914400" y="2667000"/>
            <a:ext cx="56388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8BA2C4-5F13-50D1-3A4C-24DE40BF4D69}"/>
              </a:ext>
            </a:extLst>
          </p:cNvPr>
          <p:cNvSpPr/>
          <p:nvPr/>
        </p:nvSpPr>
        <p:spPr>
          <a:xfrm>
            <a:off x="3124200" y="3581400"/>
            <a:ext cx="56388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4723ECD-C1C2-7F96-9DD5-2491D01BEB20}"/>
              </a:ext>
            </a:extLst>
          </p:cNvPr>
          <p:cNvSpPr/>
          <p:nvPr/>
        </p:nvSpPr>
        <p:spPr>
          <a:xfrm>
            <a:off x="3048000" y="3886200"/>
            <a:ext cx="5638800" cy="5334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C60FF2-B0D8-0A52-0EB8-348817870433}"/>
              </a:ext>
            </a:extLst>
          </p:cNvPr>
          <p:cNvSpPr txBox="1"/>
          <p:nvPr/>
        </p:nvSpPr>
        <p:spPr>
          <a:xfrm>
            <a:off x="152400" y="5257800"/>
            <a:ext cx="1226939" cy="369332"/>
          </a:xfrm>
          <a:prstGeom prst="rect">
            <a:avLst/>
          </a:prstGeom>
          <a:solidFill>
            <a:srgbClr val="FFC00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Tools used:</a:t>
            </a:r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D1C95E8-EEF5-0009-77F5-572FF394C07E}"/>
              </a:ext>
            </a:extLst>
          </p:cNvPr>
          <p:cNvSpPr txBox="1"/>
          <p:nvPr/>
        </p:nvSpPr>
        <p:spPr>
          <a:xfrm>
            <a:off x="1837630" y="6426240"/>
            <a:ext cx="28616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 Induction Hypothesis</a:t>
            </a:r>
            <a:endParaRPr lang="en-IN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3FC5B8-2D3C-6F9E-6B73-0A2F55C6368F}"/>
                  </a:ext>
                </a:extLst>
              </p:cNvPr>
              <p:cNvSpPr txBox="1"/>
              <p:nvPr/>
            </p:nvSpPr>
            <p:spPr>
              <a:xfrm>
                <a:off x="1837630" y="5279572"/>
                <a:ext cx="62581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(Rule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𝟏</m:t>
                    </m:r>
                  </m:oMath>
                </a14:m>
                <a:r>
                  <a:rPr lang="en-US" dirty="0"/>
                  <a:t>) Each man propose in </a:t>
                </a:r>
                <a:r>
                  <a:rPr lang="en-US" u="sng" dirty="0"/>
                  <a:t>decreasing</a:t>
                </a:r>
                <a:r>
                  <a:rPr lang="en-US" dirty="0"/>
                  <a:t> order of preference.</a:t>
                </a:r>
                <a:endParaRPr lang="en-IN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B3FC5B8-2D3C-6F9E-6B73-0A2F55C63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630" y="5279572"/>
                <a:ext cx="6258123" cy="369332"/>
              </a:xfrm>
              <a:prstGeom prst="rect">
                <a:avLst/>
              </a:prstGeom>
              <a:blipFill>
                <a:blip r:embed="rId5"/>
                <a:stretch>
                  <a:fillRect l="-584" t="-8197" r="-682" b="-245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93B352-D2A2-4D52-BEF6-393723934621}"/>
                  </a:ext>
                </a:extLst>
              </p:cNvPr>
              <p:cNvSpPr txBox="1"/>
              <p:nvPr/>
            </p:nvSpPr>
            <p:spPr>
              <a:xfrm>
                <a:off x="1837629" y="5704030"/>
                <a:ext cx="623241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 </a:t>
                </a:r>
                <a:r>
                  <a:rPr lang="en-US" dirty="0">
                    <a:solidFill>
                      <a:srgbClr val="C00000"/>
                    </a:solidFill>
                  </a:rPr>
                  <a:t>(Rule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𝟐</m:t>
                    </m:r>
                  </m:oMath>
                </a14:m>
                <a:r>
                  <a:rPr lang="en-US" dirty="0"/>
                  <a:t>) Woman, once engaged, always remains </a:t>
                </a:r>
                <a:r>
                  <a:rPr lang="en-US" u="sng" dirty="0"/>
                  <a:t>engaged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                     Each new partner is </a:t>
                </a:r>
                <a:r>
                  <a:rPr lang="en-US" u="sng" dirty="0"/>
                  <a:t>preferable</a:t>
                </a:r>
                <a:r>
                  <a:rPr lang="en-US" dirty="0"/>
                  <a:t> to the old partner(s).</a:t>
                </a:r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7793B352-D2A2-4D52-BEF6-393723934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37629" y="5704030"/>
                <a:ext cx="6232412" cy="646331"/>
              </a:xfrm>
              <a:prstGeom prst="rect">
                <a:avLst/>
              </a:prstGeom>
              <a:blipFill>
                <a:blip r:embed="rId6"/>
                <a:stretch>
                  <a:fillRect l="-587" t="-5660" b="-141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B542AE33-32D2-E4A6-8C2D-6F3E78646ECA}"/>
              </a:ext>
            </a:extLst>
          </p:cNvPr>
          <p:cNvSpPr txBox="1"/>
          <p:nvPr/>
        </p:nvSpPr>
        <p:spPr>
          <a:xfrm>
            <a:off x="668175" y="4427845"/>
            <a:ext cx="7807650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Using these tools, we arrived at the proof interactively in the class. </a:t>
            </a:r>
          </a:p>
          <a:p>
            <a:r>
              <a:rPr lang="en-US" dirty="0"/>
              <a:t>The following slides show the steps. As a </a:t>
            </a:r>
            <a:r>
              <a:rPr lang="en-US" b="1" dirty="0">
                <a:solidFill>
                  <a:srgbClr val="006C31"/>
                </a:solidFill>
              </a:rPr>
              <a:t>homework</a:t>
            </a:r>
            <a:r>
              <a:rPr lang="en-US" dirty="0"/>
              <a:t>, fill in the proper arguments.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22141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3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6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3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1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1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" grpId="0" animBg="1"/>
      <p:bldP spid="6" grpId="0" animBg="1"/>
      <p:bldP spid="8" grpId="0" animBg="1"/>
      <p:bldP spid="9" grpId="0" animBg="1"/>
      <p:bldP spid="10" grpId="0" animBg="1"/>
      <p:bldP spid="11" grpId="0"/>
      <p:bldP spid="12" grpId="0"/>
      <p:bldP spid="13" grpId="0"/>
      <p:bldP spid="1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59371-6A92-CF2A-18C7-DF246267F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sz="20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DD8C5-3530-5061-D769-1A253367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E506BC-B812-BB64-4FF6-8F686DDE163C}"/>
                  </a:ext>
                </a:extLst>
              </p:cNvPr>
              <p:cNvSpPr txBox="1"/>
              <p:nvPr/>
            </p:nvSpPr>
            <p:spPr>
              <a:xfrm>
                <a:off x="448143" y="181966"/>
                <a:ext cx="6333657" cy="1384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sz="2000" dirty="0"/>
                  <a:t>(Man Optimality): </a:t>
                </a:r>
                <a:r>
                  <a:rPr lang="en-IN" sz="2000" dirty="0"/>
                  <a:t>At the end of the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N" sz="2000" dirty="0" err="1"/>
                  <a:t>th</a:t>
                </a:r>
                <a:r>
                  <a:rPr lang="en-IN" sz="2000" dirty="0"/>
                  <a:t> iteration,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There does not exist any man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b="1" dirty="0"/>
                  <a:t> </a:t>
                </a:r>
                <a:r>
                  <a:rPr lang="en-IN" sz="2000" u="sng" dirty="0"/>
                  <a:t>precedes</a:t>
                </a:r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in the preference list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2000" dirty="0"/>
                  <a:t>.</a:t>
                </a:r>
                <a:endParaRPr lang="en-IN" sz="2000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E506BC-B812-BB64-4FF6-8F686DDE1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43" y="181966"/>
                <a:ext cx="6333657" cy="1384738"/>
              </a:xfrm>
              <a:prstGeom prst="rect">
                <a:avLst/>
              </a:prstGeom>
              <a:blipFill>
                <a:blip r:embed="rId3"/>
                <a:stretch>
                  <a:fillRect l="-1059" t="-26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B5798-4296-5D38-A1E9-DD1F018C9BDE}"/>
                  </a:ext>
                </a:extLst>
              </p:cNvPr>
              <p:cNvSpPr txBox="1"/>
              <p:nvPr/>
            </p:nvSpPr>
            <p:spPr>
              <a:xfrm>
                <a:off x="6051872" y="6400800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B5798-4296-5D38-A1E9-DD1F018C9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872" y="6400800"/>
                <a:ext cx="393056" cy="369332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F2EB64AB-EBD7-851C-935A-DC8BBF6A11B7}"/>
              </a:ext>
            </a:extLst>
          </p:cNvPr>
          <p:cNvGrpSpPr/>
          <p:nvPr/>
        </p:nvGrpSpPr>
        <p:grpSpPr>
          <a:xfrm>
            <a:off x="609600" y="2209800"/>
            <a:ext cx="2667000" cy="2209800"/>
            <a:chOff x="609600" y="2209800"/>
            <a:chExt cx="2667000" cy="22098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67189B2-D80F-5FA0-5025-5411A31D118E}"/>
                </a:ext>
              </a:extLst>
            </p:cNvPr>
            <p:cNvSpPr/>
            <p:nvPr/>
          </p:nvSpPr>
          <p:spPr>
            <a:xfrm>
              <a:off x="609600" y="2209800"/>
              <a:ext cx="2667000" cy="22098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sp>
          <p:nvSpPr>
            <p:cNvPr id="10" name="Smiley Face 9">
              <a:extLst>
                <a:ext uri="{FF2B5EF4-FFF2-40B4-BE49-F238E27FC236}">
                  <a16:creationId xmlns:a16="http://schemas.microsoft.com/office/drawing/2014/main" id="{387DD314-7274-CCE0-5A78-17225971743C}"/>
                </a:ext>
              </a:extLst>
            </p:cNvPr>
            <p:cNvSpPr/>
            <p:nvPr/>
          </p:nvSpPr>
          <p:spPr>
            <a:xfrm>
              <a:off x="2523565" y="4091779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Smiley Face 11">
              <a:extLst>
                <a:ext uri="{FF2B5EF4-FFF2-40B4-BE49-F238E27FC236}">
                  <a16:creationId xmlns:a16="http://schemas.microsoft.com/office/drawing/2014/main" id="{9874D455-5C57-5F7A-8784-7FC9EAB0F25F}"/>
                </a:ext>
              </a:extLst>
            </p:cNvPr>
            <p:cNvSpPr/>
            <p:nvPr/>
          </p:nvSpPr>
          <p:spPr>
            <a:xfrm>
              <a:off x="1066800" y="409178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Smiley Face 21">
              <a:extLst>
                <a:ext uri="{FF2B5EF4-FFF2-40B4-BE49-F238E27FC236}">
                  <a16:creationId xmlns:a16="http://schemas.microsoft.com/office/drawing/2014/main" id="{5E5EE209-47D1-52E5-FC18-EF5C44AAFFC0}"/>
                </a:ext>
              </a:extLst>
            </p:cNvPr>
            <p:cNvSpPr/>
            <p:nvPr/>
          </p:nvSpPr>
          <p:spPr>
            <a:xfrm>
              <a:off x="2514600" y="236220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miley Face 22">
              <a:extLst>
                <a:ext uri="{FF2B5EF4-FFF2-40B4-BE49-F238E27FC236}">
                  <a16:creationId xmlns:a16="http://schemas.microsoft.com/office/drawing/2014/main" id="{6B4B32EE-886B-D2AE-E003-72B52E53323C}"/>
                </a:ext>
              </a:extLst>
            </p:cNvPr>
            <p:cNvSpPr/>
            <p:nvPr/>
          </p:nvSpPr>
          <p:spPr>
            <a:xfrm>
              <a:off x="1066800" y="236220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C8FBF51-9068-EAAD-190C-885823409913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>
              <a:off x="1295400" y="2488010"/>
              <a:ext cx="12192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D678D7B-B9C1-7EE9-C8C2-D4E1535C63E9}"/>
                </a:ext>
              </a:extLst>
            </p:cNvPr>
            <p:cNvSpPr/>
            <p:nvPr/>
          </p:nvSpPr>
          <p:spPr>
            <a:xfrm>
              <a:off x="11430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1B1E7E9F-C314-7834-3F69-0E1CC6F7CDAE}"/>
                </a:ext>
              </a:extLst>
            </p:cNvPr>
            <p:cNvSpPr/>
            <p:nvPr/>
          </p:nvSpPr>
          <p:spPr>
            <a:xfrm>
              <a:off x="1143000" y="29718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6023758B-013B-6329-BC9E-A346D9E77081}"/>
                </a:ext>
              </a:extLst>
            </p:cNvPr>
            <p:cNvSpPr/>
            <p:nvPr/>
          </p:nvSpPr>
          <p:spPr>
            <a:xfrm>
              <a:off x="1143000" y="3276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D5A94F59-1C57-8DB0-2CE6-39B1D23BCE30}"/>
                </a:ext>
              </a:extLst>
            </p:cNvPr>
            <p:cNvGrpSpPr/>
            <p:nvPr/>
          </p:nvGrpSpPr>
          <p:grpSpPr>
            <a:xfrm>
              <a:off x="2568388" y="2971800"/>
              <a:ext cx="76200" cy="685800"/>
              <a:chOff x="5715000" y="1676400"/>
              <a:chExt cx="76200" cy="685800"/>
            </a:xfrm>
          </p:grpSpPr>
          <p:sp>
            <p:nvSpPr>
              <p:cNvPr id="39" name="Oval 38">
                <a:extLst>
                  <a:ext uri="{FF2B5EF4-FFF2-40B4-BE49-F238E27FC236}">
                    <a16:creationId xmlns:a16="http://schemas.microsoft.com/office/drawing/2014/main" id="{A3F8B173-8C93-6E39-98B2-608C57592375}"/>
                  </a:ext>
                </a:extLst>
              </p:cNvPr>
              <p:cNvSpPr/>
              <p:nvPr/>
            </p:nvSpPr>
            <p:spPr>
              <a:xfrm>
                <a:off x="5715000" y="22860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40" name="Oval 39">
                <a:extLst>
                  <a:ext uri="{FF2B5EF4-FFF2-40B4-BE49-F238E27FC236}">
                    <a16:creationId xmlns:a16="http://schemas.microsoft.com/office/drawing/2014/main" id="{74D2AF27-F06F-109D-4AE6-90DE3ABD9FA2}"/>
                  </a:ext>
                </a:extLst>
              </p:cNvPr>
              <p:cNvSpPr/>
              <p:nvPr/>
            </p:nvSpPr>
            <p:spPr>
              <a:xfrm>
                <a:off x="5715000" y="16764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" name="Oval 40">
                <a:extLst>
                  <a:ext uri="{FF2B5EF4-FFF2-40B4-BE49-F238E27FC236}">
                    <a16:creationId xmlns:a16="http://schemas.microsoft.com/office/drawing/2014/main" id="{A30B32E3-96D8-AE8F-F8BA-67A7B82CA26F}"/>
                  </a:ext>
                </a:extLst>
              </p:cNvPr>
              <p:cNvSpPr/>
              <p:nvPr/>
            </p:nvSpPr>
            <p:spPr>
              <a:xfrm>
                <a:off x="5715000" y="19812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1390915C-C93D-D01F-413D-BD8E242A9161}"/>
                </a:ext>
              </a:extLst>
            </p:cNvPr>
            <p:cNvCxnSpPr>
              <a:cxnSpLocks/>
            </p:cNvCxnSpPr>
            <p:nvPr/>
          </p:nvCxnSpPr>
          <p:spPr>
            <a:xfrm>
              <a:off x="1295400" y="4217588"/>
              <a:ext cx="12192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1288F4B-ABC3-69DE-A888-D7786D734734}"/>
              </a:ext>
            </a:extLst>
          </p:cNvPr>
          <p:cNvGrpSpPr/>
          <p:nvPr/>
        </p:nvGrpSpPr>
        <p:grpSpPr>
          <a:xfrm>
            <a:off x="4800600" y="1676400"/>
            <a:ext cx="2895600" cy="4679950"/>
            <a:chOff x="4800600" y="1676400"/>
            <a:chExt cx="2895600" cy="467995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A5A39A8-0CE3-6EBD-4BF8-7AD31DC4DE65}"/>
                </a:ext>
              </a:extLst>
            </p:cNvPr>
            <p:cNvSpPr/>
            <p:nvPr/>
          </p:nvSpPr>
          <p:spPr>
            <a:xfrm>
              <a:off x="4800600" y="1676400"/>
              <a:ext cx="2895600" cy="467995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Smiley Face 17">
              <a:extLst>
                <a:ext uri="{FF2B5EF4-FFF2-40B4-BE49-F238E27FC236}">
                  <a16:creationId xmlns:a16="http://schemas.microsoft.com/office/drawing/2014/main" id="{307A794B-2E2A-3EE2-18EF-17B47C64CBE7}"/>
                </a:ext>
              </a:extLst>
            </p:cNvPr>
            <p:cNvSpPr/>
            <p:nvPr/>
          </p:nvSpPr>
          <p:spPr>
            <a:xfrm>
              <a:off x="7086600" y="1828801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Smiley Face 18">
              <a:extLst>
                <a:ext uri="{FF2B5EF4-FFF2-40B4-BE49-F238E27FC236}">
                  <a16:creationId xmlns:a16="http://schemas.microsoft.com/office/drawing/2014/main" id="{05EB2358-E304-E770-CB5E-BBC76E11B26A}"/>
                </a:ext>
              </a:extLst>
            </p:cNvPr>
            <p:cNvSpPr/>
            <p:nvPr/>
          </p:nvSpPr>
          <p:spPr>
            <a:xfrm>
              <a:off x="5257800" y="182880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miley Face 19">
              <a:extLst>
                <a:ext uri="{FF2B5EF4-FFF2-40B4-BE49-F238E27FC236}">
                  <a16:creationId xmlns:a16="http://schemas.microsoft.com/office/drawing/2014/main" id="{69DA5033-454A-7D70-D5E2-E48CD46B3077}"/>
                </a:ext>
              </a:extLst>
            </p:cNvPr>
            <p:cNvSpPr/>
            <p:nvPr/>
          </p:nvSpPr>
          <p:spPr>
            <a:xfrm>
              <a:off x="7086600" y="5920581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Smiley Face 20">
              <a:extLst>
                <a:ext uri="{FF2B5EF4-FFF2-40B4-BE49-F238E27FC236}">
                  <a16:creationId xmlns:a16="http://schemas.microsoft.com/office/drawing/2014/main" id="{FD582C9E-AD9D-BE1F-B15C-147E7F8A580D}"/>
                </a:ext>
              </a:extLst>
            </p:cNvPr>
            <p:cNvSpPr/>
            <p:nvPr/>
          </p:nvSpPr>
          <p:spPr>
            <a:xfrm>
              <a:off x="5181600" y="592058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89F8A49-6196-C428-F12D-ADFDD36BD3A7}"/>
                </a:ext>
              </a:extLst>
            </p:cNvPr>
            <p:cNvCxnSpPr>
              <a:cxnSpLocks/>
            </p:cNvCxnSpPr>
            <p:nvPr/>
          </p:nvCxnSpPr>
          <p:spPr>
            <a:xfrm>
              <a:off x="5442272" y="1954609"/>
              <a:ext cx="164432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EE480CB-E1B4-24FD-24BC-02C48191B5E5}"/>
                </a:ext>
              </a:extLst>
            </p:cNvPr>
            <p:cNvCxnSpPr>
              <a:cxnSpLocks/>
            </p:cNvCxnSpPr>
            <p:nvPr/>
          </p:nvCxnSpPr>
          <p:spPr>
            <a:xfrm>
              <a:off x="5410200" y="6037727"/>
              <a:ext cx="164432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0123F21-BB21-7EA2-B21E-B3C87647EDDD}"/>
                </a:ext>
              </a:extLst>
            </p:cNvPr>
            <p:cNvSpPr/>
            <p:nvPr/>
          </p:nvSpPr>
          <p:spPr>
            <a:xfrm>
              <a:off x="53340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BC2F8D0-D612-E705-8A84-9680C625A4D8}"/>
                </a:ext>
              </a:extLst>
            </p:cNvPr>
            <p:cNvSpPr/>
            <p:nvPr/>
          </p:nvSpPr>
          <p:spPr>
            <a:xfrm>
              <a:off x="5334000" y="3810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3CC21DA-254C-837A-454B-6B687268EDDB}"/>
                </a:ext>
              </a:extLst>
            </p:cNvPr>
            <p:cNvGrpSpPr/>
            <p:nvPr/>
          </p:nvGrpSpPr>
          <p:grpSpPr>
            <a:xfrm>
              <a:off x="7124700" y="3597660"/>
              <a:ext cx="76200" cy="533400"/>
              <a:chOff x="5715000" y="1752600"/>
              <a:chExt cx="76200" cy="533400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9037628-1AF8-20DC-1CAF-A5EB04219440}"/>
                  </a:ext>
                </a:extLst>
              </p:cNvPr>
              <p:cNvSpPr/>
              <p:nvPr/>
            </p:nvSpPr>
            <p:spPr>
              <a:xfrm>
                <a:off x="5715000" y="22098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112BE9B-89C1-C5A9-7F03-125E53B28F45}"/>
                  </a:ext>
                </a:extLst>
              </p:cNvPr>
              <p:cNvSpPr/>
              <p:nvPr/>
            </p:nvSpPr>
            <p:spPr>
              <a:xfrm>
                <a:off x="5715000" y="17526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2A5E10E-3488-B471-6125-C2391002E679}"/>
                  </a:ext>
                </a:extLst>
              </p:cNvPr>
              <p:cNvSpPr/>
              <p:nvPr/>
            </p:nvSpPr>
            <p:spPr>
              <a:xfrm>
                <a:off x="5715000" y="19812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3EACC37E-C9FF-3470-D7CC-C827EFAA370E}"/>
                </a:ext>
              </a:extLst>
            </p:cNvPr>
            <p:cNvSpPr/>
            <p:nvPr/>
          </p:nvSpPr>
          <p:spPr>
            <a:xfrm>
              <a:off x="5334000" y="4038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ACF5093-7380-9F13-9E9C-6A406787192C}"/>
                  </a:ext>
                </a:extLst>
              </p:cNvPr>
              <p:cNvSpPr txBox="1"/>
              <p:nvPr/>
            </p:nvSpPr>
            <p:spPr>
              <a:xfrm>
                <a:off x="1723360" y="4419600"/>
                <a:ext cx="439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ACF5093-7380-9F13-9E9C-6A4067871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60" y="4419600"/>
                <a:ext cx="439479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87387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59371-6A92-CF2A-18C7-DF246267F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sz="2000" dirty="0">
                <a:solidFill>
                  <a:srgbClr val="0070C0"/>
                </a:solidFill>
              </a:rPr>
              <a:t>1</a:t>
            </a:r>
            <a:r>
              <a:rPr lang="en-IN" sz="2000" dirty="0"/>
              <a:t>st Iteration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DD8C5-3530-5061-D769-1A253367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E506BC-B812-BB64-4FF6-8F686DDE163C}"/>
                  </a:ext>
                </a:extLst>
              </p:cNvPr>
              <p:cNvSpPr txBox="1"/>
              <p:nvPr/>
            </p:nvSpPr>
            <p:spPr>
              <a:xfrm>
                <a:off x="448143" y="181966"/>
                <a:ext cx="6333657" cy="1384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sz="2000" dirty="0"/>
                  <a:t>(Man Optimality): </a:t>
                </a:r>
                <a:r>
                  <a:rPr lang="en-IN" sz="2000" dirty="0"/>
                  <a:t>At the end of the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N" sz="2000" dirty="0" err="1"/>
                  <a:t>th</a:t>
                </a:r>
                <a:r>
                  <a:rPr lang="en-IN" sz="2000" dirty="0"/>
                  <a:t> iteration,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There does not exist any man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b="1" dirty="0"/>
                  <a:t> </a:t>
                </a:r>
                <a:r>
                  <a:rPr lang="en-IN" sz="2000" u="sng" dirty="0"/>
                  <a:t>precedes</a:t>
                </a:r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in the preference list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2000" dirty="0"/>
                  <a:t>.</a:t>
                </a:r>
                <a:endParaRPr lang="en-IN" sz="2000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E506BC-B812-BB64-4FF6-8F686DDE1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43" y="181966"/>
                <a:ext cx="6333657" cy="1384738"/>
              </a:xfrm>
              <a:prstGeom prst="rect">
                <a:avLst/>
              </a:prstGeom>
              <a:blipFill>
                <a:blip r:embed="rId3"/>
                <a:stretch>
                  <a:fillRect l="-1059" t="-26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B5798-4296-5D38-A1E9-DD1F018C9BDE}"/>
                  </a:ext>
                </a:extLst>
              </p:cNvPr>
              <p:cNvSpPr txBox="1"/>
              <p:nvPr/>
            </p:nvSpPr>
            <p:spPr>
              <a:xfrm>
                <a:off x="6051872" y="6400800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BC7B5798-4296-5D38-A1E9-DD1F018C9B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872" y="6400800"/>
                <a:ext cx="393056" cy="369332"/>
              </a:xfrm>
              <a:prstGeom prst="rect">
                <a:avLst/>
              </a:prstGeom>
              <a:blipFill>
                <a:blip r:embed="rId5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F2EB64AB-EBD7-851C-935A-DC8BBF6A11B7}"/>
              </a:ext>
            </a:extLst>
          </p:cNvPr>
          <p:cNvGrpSpPr/>
          <p:nvPr/>
        </p:nvGrpSpPr>
        <p:grpSpPr>
          <a:xfrm>
            <a:off x="609600" y="2209800"/>
            <a:ext cx="2590800" cy="609600"/>
            <a:chOff x="609600" y="2209800"/>
            <a:chExt cx="2590800" cy="609600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D67189B2-D80F-5FA0-5025-5411A31D118E}"/>
                </a:ext>
              </a:extLst>
            </p:cNvPr>
            <p:cNvSpPr/>
            <p:nvPr/>
          </p:nvSpPr>
          <p:spPr>
            <a:xfrm>
              <a:off x="609600" y="2209800"/>
              <a:ext cx="2590800" cy="609600"/>
            </a:xfrm>
            <a:prstGeom prst="round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2" name="Smiley Face 21">
              <a:extLst>
                <a:ext uri="{FF2B5EF4-FFF2-40B4-BE49-F238E27FC236}">
                  <a16:creationId xmlns:a16="http://schemas.microsoft.com/office/drawing/2014/main" id="{5E5EE209-47D1-52E5-FC18-EF5C44AAFFC0}"/>
                </a:ext>
              </a:extLst>
            </p:cNvPr>
            <p:cNvSpPr/>
            <p:nvPr/>
          </p:nvSpPr>
          <p:spPr>
            <a:xfrm>
              <a:off x="2514600" y="236220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Smiley Face 22">
              <a:extLst>
                <a:ext uri="{FF2B5EF4-FFF2-40B4-BE49-F238E27FC236}">
                  <a16:creationId xmlns:a16="http://schemas.microsoft.com/office/drawing/2014/main" id="{6B4B32EE-886B-D2AE-E003-72B52E53323C}"/>
                </a:ext>
              </a:extLst>
            </p:cNvPr>
            <p:cNvSpPr/>
            <p:nvPr/>
          </p:nvSpPr>
          <p:spPr>
            <a:xfrm>
              <a:off x="1066800" y="236220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5C8FBF51-9068-EAAD-190C-885823409913}"/>
                </a:ext>
              </a:extLst>
            </p:cNvPr>
            <p:cNvCxnSpPr>
              <a:cxnSpLocks/>
              <a:endCxn id="22" idx="2"/>
            </p:cNvCxnSpPr>
            <p:nvPr/>
          </p:nvCxnSpPr>
          <p:spPr>
            <a:xfrm>
              <a:off x="1295400" y="2488010"/>
              <a:ext cx="1219200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1288F4B-ABC3-69DE-A888-D7786D734734}"/>
              </a:ext>
            </a:extLst>
          </p:cNvPr>
          <p:cNvGrpSpPr/>
          <p:nvPr/>
        </p:nvGrpSpPr>
        <p:grpSpPr>
          <a:xfrm>
            <a:off x="4800600" y="1676400"/>
            <a:ext cx="2895600" cy="4679950"/>
            <a:chOff x="4800600" y="1676400"/>
            <a:chExt cx="2895600" cy="4679950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3A5A39A8-0CE3-6EBD-4BF8-7AD31DC4DE65}"/>
                </a:ext>
              </a:extLst>
            </p:cNvPr>
            <p:cNvSpPr/>
            <p:nvPr/>
          </p:nvSpPr>
          <p:spPr>
            <a:xfrm>
              <a:off x="4800600" y="1676400"/>
              <a:ext cx="2895600" cy="467995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18" name="Smiley Face 17">
              <a:extLst>
                <a:ext uri="{FF2B5EF4-FFF2-40B4-BE49-F238E27FC236}">
                  <a16:creationId xmlns:a16="http://schemas.microsoft.com/office/drawing/2014/main" id="{307A794B-2E2A-3EE2-18EF-17B47C64CBE7}"/>
                </a:ext>
              </a:extLst>
            </p:cNvPr>
            <p:cNvSpPr/>
            <p:nvPr/>
          </p:nvSpPr>
          <p:spPr>
            <a:xfrm>
              <a:off x="7086600" y="1828801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Smiley Face 18">
              <a:extLst>
                <a:ext uri="{FF2B5EF4-FFF2-40B4-BE49-F238E27FC236}">
                  <a16:creationId xmlns:a16="http://schemas.microsoft.com/office/drawing/2014/main" id="{05EB2358-E304-E770-CB5E-BBC76E11B26A}"/>
                </a:ext>
              </a:extLst>
            </p:cNvPr>
            <p:cNvSpPr/>
            <p:nvPr/>
          </p:nvSpPr>
          <p:spPr>
            <a:xfrm>
              <a:off x="5257800" y="182880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Smiley Face 19">
              <a:extLst>
                <a:ext uri="{FF2B5EF4-FFF2-40B4-BE49-F238E27FC236}">
                  <a16:creationId xmlns:a16="http://schemas.microsoft.com/office/drawing/2014/main" id="{69DA5033-454A-7D70-D5E2-E48CD46B3077}"/>
                </a:ext>
              </a:extLst>
            </p:cNvPr>
            <p:cNvSpPr/>
            <p:nvPr/>
          </p:nvSpPr>
          <p:spPr>
            <a:xfrm>
              <a:off x="7086600" y="5920581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Smiley Face 20">
              <a:extLst>
                <a:ext uri="{FF2B5EF4-FFF2-40B4-BE49-F238E27FC236}">
                  <a16:creationId xmlns:a16="http://schemas.microsoft.com/office/drawing/2014/main" id="{FD582C9E-AD9D-BE1F-B15C-147E7F8A580D}"/>
                </a:ext>
              </a:extLst>
            </p:cNvPr>
            <p:cNvSpPr/>
            <p:nvPr/>
          </p:nvSpPr>
          <p:spPr>
            <a:xfrm>
              <a:off x="5181600" y="592058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89F8A49-6196-C428-F12D-ADFDD36BD3A7}"/>
                </a:ext>
              </a:extLst>
            </p:cNvPr>
            <p:cNvCxnSpPr>
              <a:cxnSpLocks/>
            </p:cNvCxnSpPr>
            <p:nvPr/>
          </p:nvCxnSpPr>
          <p:spPr>
            <a:xfrm>
              <a:off x="5442272" y="1954609"/>
              <a:ext cx="164432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1EE480CB-E1B4-24FD-24BC-02C48191B5E5}"/>
                </a:ext>
              </a:extLst>
            </p:cNvPr>
            <p:cNvCxnSpPr>
              <a:cxnSpLocks/>
            </p:cNvCxnSpPr>
            <p:nvPr/>
          </p:nvCxnSpPr>
          <p:spPr>
            <a:xfrm>
              <a:off x="5410200" y="6037727"/>
              <a:ext cx="164432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0123F21-BB21-7EA2-B21E-B3C87647EDDD}"/>
                </a:ext>
              </a:extLst>
            </p:cNvPr>
            <p:cNvSpPr/>
            <p:nvPr/>
          </p:nvSpPr>
          <p:spPr>
            <a:xfrm>
              <a:off x="53340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CBC2F8D0-D612-E705-8A84-9680C625A4D8}"/>
                </a:ext>
              </a:extLst>
            </p:cNvPr>
            <p:cNvSpPr/>
            <p:nvPr/>
          </p:nvSpPr>
          <p:spPr>
            <a:xfrm>
              <a:off x="5334000" y="3810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3" name="Group 42">
              <a:extLst>
                <a:ext uri="{FF2B5EF4-FFF2-40B4-BE49-F238E27FC236}">
                  <a16:creationId xmlns:a16="http://schemas.microsoft.com/office/drawing/2014/main" id="{03CC21DA-254C-837A-454B-6B687268EDDB}"/>
                </a:ext>
              </a:extLst>
            </p:cNvPr>
            <p:cNvGrpSpPr/>
            <p:nvPr/>
          </p:nvGrpSpPr>
          <p:grpSpPr>
            <a:xfrm>
              <a:off x="7124700" y="3597660"/>
              <a:ext cx="76200" cy="533400"/>
              <a:chOff x="5715000" y="1752600"/>
              <a:chExt cx="76200" cy="533400"/>
            </a:xfrm>
          </p:grpSpPr>
          <p:sp>
            <p:nvSpPr>
              <p:cNvPr id="44" name="Oval 43">
                <a:extLst>
                  <a:ext uri="{FF2B5EF4-FFF2-40B4-BE49-F238E27FC236}">
                    <a16:creationId xmlns:a16="http://schemas.microsoft.com/office/drawing/2014/main" id="{F9037628-1AF8-20DC-1CAF-A5EB04219440}"/>
                  </a:ext>
                </a:extLst>
              </p:cNvPr>
              <p:cNvSpPr/>
              <p:nvPr/>
            </p:nvSpPr>
            <p:spPr>
              <a:xfrm>
                <a:off x="5715000" y="22098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" name="Oval 44">
                <a:extLst>
                  <a:ext uri="{FF2B5EF4-FFF2-40B4-BE49-F238E27FC236}">
                    <a16:creationId xmlns:a16="http://schemas.microsoft.com/office/drawing/2014/main" id="{8112BE9B-89C1-C5A9-7F03-125E53B28F45}"/>
                  </a:ext>
                </a:extLst>
              </p:cNvPr>
              <p:cNvSpPr/>
              <p:nvPr/>
            </p:nvSpPr>
            <p:spPr>
              <a:xfrm>
                <a:off x="5715000" y="17526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" name="Oval 45">
                <a:extLst>
                  <a:ext uri="{FF2B5EF4-FFF2-40B4-BE49-F238E27FC236}">
                    <a16:creationId xmlns:a16="http://schemas.microsoft.com/office/drawing/2014/main" id="{C2A5E10E-3488-B471-6125-C2391002E679}"/>
                  </a:ext>
                </a:extLst>
              </p:cNvPr>
              <p:cNvSpPr/>
              <p:nvPr/>
            </p:nvSpPr>
            <p:spPr>
              <a:xfrm>
                <a:off x="5715000" y="19812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3EACC37E-C9FF-3470-D7CC-C827EFAA370E}"/>
                </a:ext>
              </a:extLst>
            </p:cNvPr>
            <p:cNvSpPr/>
            <p:nvPr/>
          </p:nvSpPr>
          <p:spPr>
            <a:xfrm>
              <a:off x="5334000" y="4038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ACF5093-7380-9F13-9E9C-6A406787192C}"/>
                  </a:ext>
                </a:extLst>
              </p:cNvPr>
              <p:cNvSpPr txBox="1"/>
              <p:nvPr/>
            </p:nvSpPr>
            <p:spPr>
              <a:xfrm>
                <a:off x="1723360" y="2819400"/>
                <a:ext cx="47795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BACF5093-7380-9F13-9E9C-6A406787192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60" y="2819400"/>
                <a:ext cx="477951" cy="369332"/>
              </a:xfrm>
              <a:prstGeom prst="rect">
                <a:avLst/>
              </a:prstGeom>
              <a:blipFill>
                <a:blip r:embed="rId6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86793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959371-6A92-CF2A-18C7-DF246267FD3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000" b="0" i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−1)</m:t>
                    </m:r>
                  </m:oMath>
                </a14:m>
                <a:r>
                  <a:rPr lang="en-US" sz="2000" dirty="0"/>
                  <a:t>th iteration:</a:t>
                </a:r>
                <a:endParaRPr lang="en-IN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5959371-6A92-CF2A-18C7-DF246267FD3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309" t="-84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DD8C5-3530-5061-D769-1A253367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E506BC-B812-BB64-4FF6-8F686DDE163C}"/>
                  </a:ext>
                </a:extLst>
              </p:cNvPr>
              <p:cNvSpPr txBox="1"/>
              <p:nvPr/>
            </p:nvSpPr>
            <p:spPr>
              <a:xfrm>
                <a:off x="448143" y="181966"/>
                <a:ext cx="6333657" cy="1384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sz="2000" dirty="0"/>
                  <a:t>(Man Optimality): </a:t>
                </a:r>
                <a:r>
                  <a:rPr lang="en-IN" sz="2000" dirty="0"/>
                  <a:t>At the end of the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N" sz="2000" dirty="0" err="1"/>
                  <a:t>th</a:t>
                </a:r>
                <a:r>
                  <a:rPr lang="en-IN" sz="2000" dirty="0"/>
                  <a:t> iteration,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There does not exist any man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b="1" dirty="0"/>
                  <a:t> </a:t>
                </a:r>
                <a:r>
                  <a:rPr lang="en-IN" sz="2000" u="sng" dirty="0"/>
                  <a:t>precedes</a:t>
                </a:r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in the preference list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2000" dirty="0"/>
                  <a:t>.</a:t>
                </a:r>
                <a:endParaRPr lang="en-IN" sz="2000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E506BC-B812-BB64-4FF6-8F686DDE1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43" y="181966"/>
                <a:ext cx="6333657" cy="1384738"/>
              </a:xfrm>
              <a:prstGeom prst="rect">
                <a:avLst/>
              </a:prstGeom>
              <a:blipFill>
                <a:blip r:embed="rId3"/>
                <a:stretch>
                  <a:fillRect l="-1059" t="-26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7189B2-D80F-5FA0-5025-5411A31D118E}"/>
              </a:ext>
            </a:extLst>
          </p:cNvPr>
          <p:cNvSpPr/>
          <p:nvPr/>
        </p:nvSpPr>
        <p:spPr>
          <a:xfrm>
            <a:off x="609600" y="2209800"/>
            <a:ext cx="2667000" cy="22098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863405-AAD7-0A12-78F0-B1B79E502C3A}"/>
                  </a:ext>
                </a:extLst>
              </p:cNvPr>
              <p:cNvSpPr txBox="1"/>
              <p:nvPr/>
            </p:nvSpPr>
            <p:spPr>
              <a:xfrm>
                <a:off x="1723360" y="4419600"/>
                <a:ext cx="6622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863405-AAD7-0A12-78F0-B1B79E502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60" y="4419600"/>
                <a:ext cx="662297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Smiley Face 9">
            <a:extLst>
              <a:ext uri="{FF2B5EF4-FFF2-40B4-BE49-F238E27FC236}">
                <a16:creationId xmlns:a16="http://schemas.microsoft.com/office/drawing/2014/main" id="{387DD314-7274-CCE0-5A78-17225971743C}"/>
              </a:ext>
            </a:extLst>
          </p:cNvPr>
          <p:cNvSpPr/>
          <p:nvPr/>
        </p:nvSpPr>
        <p:spPr>
          <a:xfrm>
            <a:off x="2523565" y="4091779"/>
            <a:ext cx="228600" cy="251619"/>
          </a:xfrm>
          <a:prstGeom prst="smileyFace">
            <a:avLst>
              <a:gd name="adj" fmla="val 179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Smiley Face 11">
            <a:extLst>
              <a:ext uri="{FF2B5EF4-FFF2-40B4-BE49-F238E27FC236}">
                <a16:creationId xmlns:a16="http://schemas.microsoft.com/office/drawing/2014/main" id="{9874D455-5C57-5F7A-8784-7FC9EAB0F25F}"/>
              </a:ext>
            </a:extLst>
          </p:cNvPr>
          <p:cNvSpPr/>
          <p:nvPr/>
        </p:nvSpPr>
        <p:spPr>
          <a:xfrm>
            <a:off x="1066800" y="4091780"/>
            <a:ext cx="228600" cy="251619"/>
          </a:xfrm>
          <a:prstGeom prst="smileyFace">
            <a:avLst>
              <a:gd name="adj" fmla="val 179"/>
            </a:avLst>
          </a:prstGeom>
          <a:solidFill>
            <a:srgbClr val="EFAAF4"/>
          </a:solidFill>
          <a:ln w="190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miley Face 21">
            <a:extLst>
              <a:ext uri="{FF2B5EF4-FFF2-40B4-BE49-F238E27FC236}">
                <a16:creationId xmlns:a16="http://schemas.microsoft.com/office/drawing/2014/main" id="{5E5EE209-47D1-52E5-FC18-EF5C44AAFFC0}"/>
              </a:ext>
            </a:extLst>
          </p:cNvPr>
          <p:cNvSpPr/>
          <p:nvPr/>
        </p:nvSpPr>
        <p:spPr>
          <a:xfrm>
            <a:off x="2514600" y="2362200"/>
            <a:ext cx="228600" cy="251619"/>
          </a:xfrm>
          <a:prstGeom prst="smileyFace">
            <a:avLst>
              <a:gd name="adj" fmla="val 179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miley Face 22">
            <a:extLst>
              <a:ext uri="{FF2B5EF4-FFF2-40B4-BE49-F238E27FC236}">
                <a16:creationId xmlns:a16="http://schemas.microsoft.com/office/drawing/2014/main" id="{6B4B32EE-886B-D2AE-E003-72B52E53323C}"/>
              </a:ext>
            </a:extLst>
          </p:cNvPr>
          <p:cNvSpPr/>
          <p:nvPr/>
        </p:nvSpPr>
        <p:spPr>
          <a:xfrm>
            <a:off x="1066800" y="2362200"/>
            <a:ext cx="228600" cy="251619"/>
          </a:xfrm>
          <a:prstGeom prst="smileyFace">
            <a:avLst>
              <a:gd name="adj" fmla="val 179"/>
            </a:avLst>
          </a:prstGeom>
          <a:solidFill>
            <a:srgbClr val="EFAAF4"/>
          </a:solidFill>
          <a:ln w="190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C8FBF51-9068-EAAD-190C-885823409913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1295400" y="2488010"/>
            <a:ext cx="1219200" cy="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D678D7B-B9C1-7EE9-C8C2-D4E1535C63E9}"/>
              </a:ext>
            </a:extLst>
          </p:cNvPr>
          <p:cNvSpPr/>
          <p:nvPr/>
        </p:nvSpPr>
        <p:spPr>
          <a:xfrm>
            <a:off x="1143000" y="35814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B1E7E9F-C314-7834-3F69-0E1CC6F7CDAE}"/>
              </a:ext>
            </a:extLst>
          </p:cNvPr>
          <p:cNvSpPr/>
          <p:nvPr/>
        </p:nvSpPr>
        <p:spPr>
          <a:xfrm>
            <a:off x="1143000" y="29718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023758B-013B-6329-BC9E-A346D9E77081}"/>
              </a:ext>
            </a:extLst>
          </p:cNvPr>
          <p:cNvSpPr/>
          <p:nvPr/>
        </p:nvSpPr>
        <p:spPr>
          <a:xfrm>
            <a:off x="1143000" y="32766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5A94F59-1C57-8DB0-2CE6-39B1D23BCE30}"/>
              </a:ext>
            </a:extLst>
          </p:cNvPr>
          <p:cNvGrpSpPr/>
          <p:nvPr/>
        </p:nvGrpSpPr>
        <p:grpSpPr>
          <a:xfrm>
            <a:off x="2568388" y="2971800"/>
            <a:ext cx="76200" cy="685800"/>
            <a:chOff x="5715000" y="1676400"/>
            <a:chExt cx="76200" cy="6858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3F8B173-8C93-6E39-98B2-608C57592375}"/>
                </a:ext>
              </a:extLst>
            </p:cNvPr>
            <p:cNvSpPr/>
            <p:nvPr/>
          </p:nvSpPr>
          <p:spPr>
            <a:xfrm>
              <a:off x="5715000" y="22860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4D2AF27-F06F-109D-4AE6-90DE3ABD9FA2}"/>
                </a:ext>
              </a:extLst>
            </p:cNvPr>
            <p:cNvSpPr/>
            <p:nvPr/>
          </p:nvSpPr>
          <p:spPr>
            <a:xfrm>
              <a:off x="5715000" y="16764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30B32E3-96D8-AE8F-F8BA-67A7B82CA26F}"/>
                </a:ext>
              </a:extLst>
            </p:cNvPr>
            <p:cNvSpPr/>
            <p:nvPr/>
          </p:nvSpPr>
          <p:spPr>
            <a:xfrm>
              <a:off x="5715000" y="1981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390915C-C93D-D01F-413D-BD8E242A9161}"/>
              </a:ext>
            </a:extLst>
          </p:cNvPr>
          <p:cNvCxnSpPr>
            <a:cxnSpLocks/>
          </p:cNvCxnSpPr>
          <p:nvPr/>
        </p:nvCxnSpPr>
        <p:spPr>
          <a:xfrm>
            <a:off x="1295400" y="4217588"/>
            <a:ext cx="1219200" cy="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880082A-D1AA-88B0-2559-E39E44FE66C1}"/>
              </a:ext>
            </a:extLst>
          </p:cNvPr>
          <p:cNvGrpSpPr/>
          <p:nvPr/>
        </p:nvGrpSpPr>
        <p:grpSpPr>
          <a:xfrm>
            <a:off x="4800600" y="1676400"/>
            <a:ext cx="2895600" cy="4679950"/>
            <a:chOff x="4800600" y="1676400"/>
            <a:chExt cx="2895600" cy="4679950"/>
          </a:xfrm>
        </p:grpSpPr>
        <p:sp>
          <p:nvSpPr>
            <p:cNvPr id="26" name="Rectangle: Rounded Corners 6">
              <a:extLst>
                <a:ext uri="{FF2B5EF4-FFF2-40B4-BE49-F238E27FC236}">
                  <a16:creationId xmlns:a16="http://schemas.microsoft.com/office/drawing/2014/main" id="{3D5A67F6-2574-C515-A02E-F729076A0418}"/>
                </a:ext>
              </a:extLst>
            </p:cNvPr>
            <p:cNvSpPr/>
            <p:nvPr/>
          </p:nvSpPr>
          <p:spPr>
            <a:xfrm>
              <a:off x="4800600" y="1676400"/>
              <a:ext cx="2895600" cy="467995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Smiley Face 26">
              <a:extLst>
                <a:ext uri="{FF2B5EF4-FFF2-40B4-BE49-F238E27FC236}">
                  <a16:creationId xmlns:a16="http://schemas.microsoft.com/office/drawing/2014/main" id="{C6DCB043-656C-3586-B643-3C932F0D977F}"/>
                </a:ext>
              </a:extLst>
            </p:cNvPr>
            <p:cNvSpPr/>
            <p:nvPr/>
          </p:nvSpPr>
          <p:spPr>
            <a:xfrm>
              <a:off x="7086600" y="1828801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Smiley Face 28">
              <a:extLst>
                <a:ext uri="{FF2B5EF4-FFF2-40B4-BE49-F238E27FC236}">
                  <a16:creationId xmlns:a16="http://schemas.microsoft.com/office/drawing/2014/main" id="{04507603-6C02-D6B9-A979-36C7F57EACE2}"/>
                </a:ext>
              </a:extLst>
            </p:cNvPr>
            <p:cNvSpPr/>
            <p:nvPr/>
          </p:nvSpPr>
          <p:spPr>
            <a:xfrm>
              <a:off x="5257800" y="182880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Smiley Face 31">
              <a:extLst>
                <a:ext uri="{FF2B5EF4-FFF2-40B4-BE49-F238E27FC236}">
                  <a16:creationId xmlns:a16="http://schemas.microsoft.com/office/drawing/2014/main" id="{D643F256-E412-ABAD-EF62-5CE0D4D8E968}"/>
                </a:ext>
              </a:extLst>
            </p:cNvPr>
            <p:cNvSpPr/>
            <p:nvPr/>
          </p:nvSpPr>
          <p:spPr>
            <a:xfrm>
              <a:off x="7086600" y="5920581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Smiley Face 55">
              <a:extLst>
                <a:ext uri="{FF2B5EF4-FFF2-40B4-BE49-F238E27FC236}">
                  <a16:creationId xmlns:a16="http://schemas.microsoft.com/office/drawing/2014/main" id="{A0E71463-A875-A0DC-0225-51D8D437FCCA}"/>
                </a:ext>
              </a:extLst>
            </p:cNvPr>
            <p:cNvSpPr/>
            <p:nvPr/>
          </p:nvSpPr>
          <p:spPr>
            <a:xfrm>
              <a:off x="5181600" y="592058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3683D3A-B2CD-54E8-EE33-3CD44642E1D7}"/>
                </a:ext>
              </a:extLst>
            </p:cNvPr>
            <p:cNvCxnSpPr>
              <a:cxnSpLocks/>
            </p:cNvCxnSpPr>
            <p:nvPr/>
          </p:nvCxnSpPr>
          <p:spPr>
            <a:xfrm>
              <a:off x="5442272" y="1954609"/>
              <a:ext cx="164432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6D048D0-6B7F-69FB-1865-EBA03C5D60E2}"/>
                </a:ext>
              </a:extLst>
            </p:cNvPr>
            <p:cNvCxnSpPr>
              <a:cxnSpLocks/>
            </p:cNvCxnSpPr>
            <p:nvPr/>
          </p:nvCxnSpPr>
          <p:spPr>
            <a:xfrm>
              <a:off x="5410200" y="6037727"/>
              <a:ext cx="164432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1D09C12-0D7E-E33B-919C-2CF426FDB61A}"/>
                </a:ext>
              </a:extLst>
            </p:cNvPr>
            <p:cNvSpPr/>
            <p:nvPr/>
          </p:nvSpPr>
          <p:spPr>
            <a:xfrm>
              <a:off x="53340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5AC3723-653B-B9F3-0F20-104D09ECEDC0}"/>
                </a:ext>
              </a:extLst>
            </p:cNvPr>
            <p:cNvSpPr/>
            <p:nvPr/>
          </p:nvSpPr>
          <p:spPr>
            <a:xfrm>
              <a:off x="5334000" y="3810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04B973C-665F-FA99-BF11-39192C1659FB}"/>
                </a:ext>
              </a:extLst>
            </p:cNvPr>
            <p:cNvGrpSpPr/>
            <p:nvPr/>
          </p:nvGrpSpPr>
          <p:grpSpPr>
            <a:xfrm>
              <a:off x="7124700" y="3597660"/>
              <a:ext cx="76200" cy="533400"/>
              <a:chOff x="5715000" y="1752600"/>
              <a:chExt cx="76200" cy="533400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BE92869E-9AE3-0405-6D7A-EF8401603457}"/>
                  </a:ext>
                </a:extLst>
              </p:cNvPr>
              <p:cNvSpPr/>
              <p:nvPr/>
            </p:nvSpPr>
            <p:spPr>
              <a:xfrm>
                <a:off x="5715000" y="22098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DBE4AE1-AD48-0E94-DCA8-C1829E88427D}"/>
                  </a:ext>
                </a:extLst>
              </p:cNvPr>
              <p:cNvSpPr/>
              <p:nvPr/>
            </p:nvSpPr>
            <p:spPr>
              <a:xfrm>
                <a:off x="5715000" y="17526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4AA89A96-63B5-733E-9052-FFCB946EF19A}"/>
                  </a:ext>
                </a:extLst>
              </p:cNvPr>
              <p:cNvSpPr/>
              <p:nvPr/>
            </p:nvSpPr>
            <p:spPr>
              <a:xfrm>
                <a:off x="5715000" y="19812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2D2B97A-CBDC-5CA5-BEE1-783A9D3E100A}"/>
                </a:ext>
              </a:extLst>
            </p:cNvPr>
            <p:cNvSpPr/>
            <p:nvPr/>
          </p:nvSpPr>
          <p:spPr>
            <a:xfrm>
              <a:off x="5334000" y="4038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8" name="Smiley Face 77">
            <a:extLst>
              <a:ext uri="{FF2B5EF4-FFF2-40B4-BE49-F238E27FC236}">
                <a16:creationId xmlns:a16="http://schemas.microsoft.com/office/drawing/2014/main" id="{45B208C4-EBF4-25AE-A9D5-7C822238DF49}"/>
              </a:ext>
            </a:extLst>
          </p:cNvPr>
          <p:cNvSpPr/>
          <p:nvPr/>
        </p:nvSpPr>
        <p:spPr>
          <a:xfrm>
            <a:off x="2523565" y="4981650"/>
            <a:ext cx="228600" cy="251619"/>
          </a:xfrm>
          <a:prstGeom prst="smileyFace">
            <a:avLst>
              <a:gd name="adj" fmla="val 179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E47B4B8-D3F2-DA60-619E-C62FCC7B6CC9}"/>
                  </a:ext>
                </a:extLst>
              </p:cNvPr>
              <p:cNvSpPr txBox="1"/>
              <p:nvPr/>
            </p:nvSpPr>
            <p:spPr>
              <a:xfrm>
                <a:off x="2742583" y="4866154"/>
                <a:ext cx="504882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E47B4B8-D3F2-DA60-619E-C62FCC7B6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583" y="4866154"/>
                <a:ext cx="504882" cy="391646"/>
              </a:xfrm>
              <a:prstGeom prst="rect">
                <a:avLst/>
              </a:prstGeom>
              <a:blipFill>
                <a:blip r:embed="rId5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B35F30A1-E29B-8BB4-62A3-BDD4363A7A0F}"/>
              </a:ext>
            </a:extLst>
          </p:cNvPr>
          <p:cNvCxnSpPr>
            <a:cxnSpLocks/>
            <a:stCxn id="78" idx="1"/>
          </p:cNvCxnSpPr>
          <p:nvPr/>
        </p:nvCxnSpPr>
        <p:spPr>
          <a:xfrm flipH="1" flipV="1">
            <a:off x="1219200" y="4343398"/>
            <a:ext cx="1337843" cy="67510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6461B6F-CDED-02D5-66A9-CDB9998F61B9}"/>
                  </a:ext>
                </a:extLst>
              </p:cNvPr>
              <p:cNvSpPr txBox="1"/>
              <p:nvPr/>
            </p:nvSpPr>
            <p:spPr>
              <a:xfrm>
                <a:off x="457200" y="1600200"/>
                <a:ext cx="28637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Execution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000" dirty="0"/>
                  <a:t>th iteration:</a:t>
                </a:r>
                <a:endParaRPr lang="en-IN" sz="2000" dirty="0"/>
              </a:p>
            </p:txBody>
          </p:sp>
        </mc:Choice>
        <mc:Fallback xmlns="">
          <p:sp>
            <p:nvSpPr>
              <p:cNvPr id="85" name="TextBox 84">
                <a:extLst>
                  <a:ext uri="{FF2B5EF4-FFF2-40B4-BE49-F238E27FC236}">
                    <a16:creationId xmlns:a16="http://schemas.microsoft.com/office/drawing/2014/main" id="{66461B6F-CDED-02D5-66A9-CDB9998F61B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0200"/>
                <a:ext cx="2863797" cy="400110"/>
              </a:xfrm>
              <a:prstGeom prst="rect">
                <a:avLst/>
              </a:prstGeom>
              <a:blipFill>
                <a:blip r:embed="rId6"/>
                <a:stretch>
                  <a:fillRect l="-2212" t="-9375" r="-132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4A929C0-766A-B100-AEBB-06F245FBDCAE}"/>
                  </a:ext>
                </a:extLst>
              </p:cNvPr>
              <p:cNvSpPr txBox="1"/>
              <p:nvPr/>
            </p:nvSpPr>
            <p:spPr>
              <a:xfrm>
                <a:off x="6051872" y="6400800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7" name="TextBox 86">
                <a:extLst>
                  <a:ext uri="{FF2B5EF4-FFF2-40B4-BE49-F238E27FC236}">
                    <a16:creationId xmlns:a16="http://schemas.microsoft.com/office/drawing/2014/main" id="{A4A929C0-766A-B100-AEBB-06F245FBD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872" y="6400800"/>
                <a:ext cx="393056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479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10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xit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2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6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37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1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+0.2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78">
                                          <p:stCondLst>
                                            <p:cond delay="182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.0,0.0;0.25,0.07;0.50,0.2;0.75,0.467;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5000">
                                          <p:val>
                                            <p:strVal val="ppt_y+0.026"/>
                                          </p:val>
                                        </p:tav>
                                        <p:tav tm="10000">
                                          <p:val>
                                            <p:strVal val="ppt_y+0.052"/>
                                          </p:val>
                                        </p:tav>
                                        <p:tav tm="15000">
                                          <p:val>
                                            <p:strVal val="ppt_y+0.078"/>
                                          </p:val>
                                        </p:tav>
                                        <p:tav tm="20000">
                                          <p:val>
                                            <p:strVal val="ppt_y+0.103"/>
                                          </p:val>
                                        </p:tav>
                                        <p:tav tm="30000">
                                          <p:val>
                                            <p:strVal val="ppt_y+0.151"/>
                                          </p:val>
                                        </p:tav>
                                        <p:tav tm="40000">
                                          <p:val>
                                            <p:strVal val="ppt_y+0.196"/>
                                          </p:val>
                                        </p:tav>
                                        <p:tav tm="50000">
                                          <p:val>
                                            <p:strVal val="ppt_y+0.236"/>
                                          </p:val>
                                        </p:tav>
                                        <p:tav tm="60000">
                                          <p:val>
                                            <p:strVal val="ppt_y+0.270"/>
                                          </p:val>
                                        </p:tav>
                                        <p:tav tm="70000">
                                          <p:val>
                                            <p:strVal val="ppt_y+0.297"/>
                                          </p:val>
                                        </p:tav>
                                        <p:tav tm="80000">
                                          <p:val>
                                            <p:strVal val="ppt_y+0.317"/>
                                          </p:val>
                                        </p:tav>
                                        <p:tav tm="90000">
                                          <p:val>
                                            <p:strVal val="ppt_y+0.329"/>
                                          </p:val>
                                        </p:tav>
                                        <p:tav tm="100000">
                                          <p:val>
                                            <p:strVal val="ppt_y+0.33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111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106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9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65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3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37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35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3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22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11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2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3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4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50000">
                                          <p:val>
                                            <p:strVal val="ppt_y-0.0123"/>
                                          </p:val>
                                        </p:tav>
                                        <p:tav tm="60000">
                                          <p:val>
                                            <p:strVal val="ppt_y-0.012"/>
                                          </p:val>
                                        </p:tav>
                                        <p:tav tm="70000">
                                          <p:val>
                                            <p:strVal val="ppt_y-0.010"/>
                                          </p:val>
                                        </p:tav>
                                        <p:tav tm="80000">
                                          <p:val>
                                            <p:strVal val="ppt_y-0.007"/>
                                          </p:val>
                                        </p:tav>
                                        <p:tav tm="90000">
                                          <p:val>
                                            <p:strVal val="ppt_y-0.004"/>
                                          </p:val>
                                        </p:tav>
                                        <p:tav tm="100000">
                                          <p:val>
                                            <p:strVal val="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80" accel="50000">
                                          <p:stCondLst>
                                            <p:cond delay="182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ppt_h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62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64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 animBg="1"/>
      <p:bldP spid="78" grpId="0" animBg="1"/>
      <p:bldP spid="79" grpId="0"/>
      <p:bldP spid="8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FDD8C5-3530-5061-D769-1A253367D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E506BC-B812-BB64-4FF6-8F686DDE163C}"/>
                  </a:ext>
                </a:extLst>
              </p:cNvPr>
              <p:cNvSpPr txBox="1"/>
              <p:nvPr/>
            </p:nvSpPr>
            <p:spPr>
              <a:xfrm>
                <a:off x="448143" y="181966"/>
                <a:ext cx="6333657" cy="13847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b="1" dirty="0">
                    <a:solidFill>
                      <a:srgbClr val="C00000"/>
                    </a:solidFill>
                  </a:rPr>
                  <a:t>Theorem </a:t>
                </a:r>
                <a:r>
                  <a:rPr lang="en-US" sz="2000" dirty="0"/>
                  <a:t>(Man Optimality): </a:t>
                </a:r>
                <a:r>
                  <a:rPr lang="en-IN" sz="2000" dirty="0"/>
                  <a:t>At the end of the </a:t>
                </a:r>
                <a14:m>
                  <m:oMath xmlns:m="http://schemas.openxmlformats.org/officeDocument/2006/math">
                    <m:r>
                      <a:rPr lang="en-IN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IN" sz="2000" dirty="0" err="1"/>
                  <a:t>th</a:t>
                </a:r>
                <a:r>
                  <a:rPr lang="en-IN" sz="2000" dirty="0"/>
                  <a:t> iteration,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There does not exist any man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  <m:sub>
                        <m:r>
                          <a:rPr lang="en-US" sz="2000" b="1" i="1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b="1" dirty="0"/>
                  <a:t> </a:t>
                </a:r>
                <a:r>
                  <a:rPr lang="en-IN" sz="2000" u="sng" dirty="0"/>
                  <a:t>precedes</a:t>
                </a:r>
                <a:r>
                  <a:rPr lang="en-IN" sz="20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𝒇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  <m:r>
                      <a:rPr lang="en-US" sz="2000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000" dirty="0"/>
                  <a:t> in the preference list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i="1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𝑚</m:t>
                        </m:r>
                      </m:e>
                      <m:sub>
                        <m:r>
                          <a:rPr lang="en-US" sz="20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IN" sz="2000" dirty="0"/>
                  <a:t>.</a:t>
                </a:r>
                <a:endParaRPr lang="en-IN" sz="2000" b="1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FE506BC-B812-BB64-4FF6-8F686DDE16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43" y="181966"/>
                <a:ext cx="6333657" cy="1384738"/>
              </a:xfrm>
              <a:prstGeom prst="rect">
                <a:avLst/>
              </a:prstGeom>
              <a:blipFill>
                <a:blip r:embed="rId3"/>
                <a:stretch>
                  <a:fillRect l="-1059" t="-26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D67189B2-D80F-5FA0-5025-5411A31D118E}"/>
              </a:ext>
            </a:extLst>
          </p:cNvPr>
          <p:cNvSpPr/>
          <p:nvPr/>
        </p:nvSpPr>
        <p:spPr>
          <a:xfrm>
            <a:off x="609600" y="2209800"/>
            <a:ext cx="2667000" cy="220980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863405-AAD7-0A12-78F0-B1B79E502C3A}"/>
                  </a:ext>
                </a:extLst>
              </p:cNvPr>
              <p:cNvSpPr txBox="1"/>
              <p:nvPr/>
            </p:nvSpPr>
            <p:spPr>
              <a:xfrm>
                <a:off x="1723360" y="4419600"/>
                <a:ext cx="43947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𝒇</m:t>
                          </m:r>
                        </m:e>
                        <m:sub>
                          <m:r>
                            <a:rPr lang="en-US" sz="1800" b="1" i="1" dirty="0" smtClean="0">
                              <a:solidFill>
                                <a:srgbClr val="006C31"/>
                              </a:solidFill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E863405-AAD7-0A12-78F0-B1B79E502C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23360" y="4419600"/>
                <a:ext cx="439479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Smiley Face 11">
            <a:extLst>
              <a:ext uri="{FF2B5EF4-FFF2-40B4-BE49-F238E27FC236}">
                <a16:creationId xmlns:a16="http://schemas.microsoft.com/office/drawing/2014/main" id="{9874D455-5C57-5F7A-8784-7FC9EAB0F25F}"/>
              </a:ext>
            </a:extLst>
          </p:cNvPr>
          <p:cNvSpPr/>
          <p:nvPr/>
        </p:nvSpPr>
        <p:spPr>
          <a:xfrm>
            <a:off x="1066800" y="4091780"/>
            <a:ext cx="228600" cy="251619"/>
          </a:xfrm>
          <a:prstGeom prst="smileyFace">
            <a:avLst>
              <a:gd name="adj" fmla="val 179"/>
            </a:avLst>
          </a:prstGeom>
          <a:solidFill>
            <a:srgbClr val="EFAAF4"/>
          </a:solidFill>
          <a:ln w="190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Smiley Face 21">
            <a:extLst>
              <a:ext uri="{FF2B5EF4-FFF2-40B4-BE49-F238E27FC236}">
                <a16:creationId xmlns:a16="http://schemas.microsoft.com/office/drawing/2014/main" id="{5E5EE209-47D1-52E5-FC18-EF5C44AAFFC0}"/>
              </a:ext>
            </a:extLst>
          </p:cNvPr>
          <p:cNvSpPr/>
          <p:nvPr/>
        </p:nvSpPr>
        <p:spPr>
          <a:xfrm>
            <a:off x="2514600" y="2362200"/>
            <a:ext cx="228600" cy="251619"/>
          </a:xfrm>
          <a:prstGeom prst="smileyFace">
            <a:avLst>
              <a:gd name="adj" fmla="val 179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Smiley Face 22">
            <a:extLst>
              <a:ext uri="{FF2B5EF4-FFF2-40B4-BE49-F238E27FC236}">
                <a16:creationId xmlns:a16="http://schemas.microsoft.com/office/drawing/2014/main" id="{6B4B32EE-886B-D2AE-E003-72B52E53323C}"/>
              </a:ext>
            </a:extLst>
          </p:cNvPr>
          <p:cNvSpPr/>
          <p:nvPr/>
        </p:nvSpPr>
        <p:spPr>
          <a:xfrm>
            <a:off x="1066800" y="2362200"/>
            <a:ext cx="228600" cy="251619"/>
          </a:xfrm>
          <a:prstGeom prst="smileyFace">
            <a:avLst>
              <a:gd name="adj" fmla="val 179"/>
            </a:avLst>
          </a:prstGeom>
          <a:solidFill>
            <a:srgbClr val="EFAAF4"/>
          </a:solidFill>
          <a:ln w="190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5C8FBF51-9068-EAAD-190C-885823409913}"/>
              </a:ext>
            </a:extLst>
          </p:cNvPr>
          <p:cNvCxnSpPr>
            <a:cxnSpLocks/>
            <a:endCxn id="22" idx="2"/>
          </p:cNvCxnSpPr>
          <p:nvPr/>
        </p:nvCxnSpPr>
        <p:spPr>
          <a:xfrm>
            <a:off x="1295400" y="2488010"/>
            <a:ext cx="1219200" cy="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Oval 32">
            <a:extLst>
              <a:ext uri="{FF2B5EF4-FFF2-40B4-BE49-F238E27FC236}">
                <a16:creationId xmlns:a16="http://schemas.microsoft.com/office/drawing/2014/main" id="{BD678D7B-B9C1-7EE9-C8C2-D4E1535C63E9}"/>
              </a:ext>
            </a:extLst>
          </p:cNvPr>
          <p:cNvSpPr/>
          <p:nvPr/>
        </p:nvSpPr>
        <p:spPr>
          <a:xfrm>
            <a:off x="1143000" y="35814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1B1E7E9F-C314-7834-3F69-0E1CC6F7CDAE}"/>
              </a:ext>
            </a:extLst>
          </p:cNvPr>
          <p:cNvSpPr/>
          <p:nvPr/>
        </p:nvSpPr>
        <p:spPr>
          <a:xfrm>
            <a:off x="1143000" y="29718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6023758B-013B-6329-BC9E-A346D9E77081}"/>
              </a:ext>
            </a:extLst>
          </p:cNvPr>
          <p:cNvSpPr/>
          <p:nvPr/>
        </p:nvSpPr>
        <p:spPr>
          <a:xfrm>
            <a:off x="1143000" y="32766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2" name="Group 41">
            <a:extLst>
              <a:ext uri="{FF2B5EF4-FFF2-40B4-BE49-F238E27FC236}">
                <a16:creationId xmlns:a16="http://schemas.microsoft.com/office/drawing/2014/main" id="{D5A94F59-1C57-8DB0-2CE6-39B1D23BCE30}"/>
              </a:ext>
            </a:extLst>
          </p:cNvPr>
          <p:cNvGrpSpPr/>
          <p:nvPr/>
        </p:nvGrpSpPr>
        <p:grpSpPr>
          <a:xfrm>
            <a:off x="2568388" y="2971800"/>
            <a:ext cx="76200" cy="685800"/>
            <a:chOff x="5715000" y="1676400"/>
            <a:chExt cx="76200" cy="68580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A3F8B173-8C93-6E39-98B2-608C57592375}"/>
                </a:ext>
              </a:extLst>
            </p:cNvPr>
            <p:cNvSpPr/>
            <p:nvPr/>
          </p:nvSpPr>
          <p:spPr>
            <a:xfrm>
              <a:off x="5715000" y="22860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74D2AF27-F06F-109D-4AE6-90DE3ABD9FA2}"/>
                </a:ext>
              </a:extLst>
            </p:cNvPr>
            <p:cNvSpPr/>
            <p:nvPr/>
          </p:nvSpPr>
          <p:spPr>
            <a:xfrm>
              <a:off x="5715000" y="16764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A30B32E3-96D8-AE8F-F8BA-67A7B82CA26F}"/>
                </a:ext>
              </a:extLst>
            </p:cNvPr>
            <p:cNvSpPr/>
            <p:nvPr/>
          </p:nvSpPr>
          <p:spPr>
            <a:xfrm>
              <a:off x="5715000" y="1981200"/>
              <a:ext cx="76200" cy="762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57" name="Straight Arrow Connector 56">
            <a:extLst>
              <a:ext uri="{FF2B5EF4-FFF2-40B4-BE49-F238E27FC236}">
                <a16:creationId xmlns:a16="http://schemas.microsoft.com/office/drawing/2014/main" id="{1390915C-C93D-D01F-413D-BD8E242A9161}"/>
              </a:ext>
            </a:extLst>
          </p:cNvPr>
          <p:cNvCxnSpPr>
            <a:cxnSpLocks/>
          </p:cNvCxnSpPr>
          <p:nvPr/>
        </p:nvCxnSpPr>
        <p:spPr>
          <a:xfrm>
            <a:off x="1295400" y="4217588"/>
            <a:ext cx="1219200" cy="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880082A-D1AA-88B0-2559-E39E44FE66C1}"/>
              </a:ext>
            </a:extLst>
          </p:cNvPr>
          <p:cNvGrpSpPr/>
          <p:nvPr/>
        </p:nvGrpSpPr>
        <p:grpSpPr>
          <a:xfrm>
            <a:off x="4800600" y="1676400"/>
            <a:ext cx="2895600" cy="4679950"/>
            <a:chOff x="4800600" y="1676400"/>
            <a:chExt cx="2895600" cy="4679950"/>
          </a:xfrm>
        </p:grpSpPr>
        <p:sp>
          <p:nvSpPr>
            <p:cNvPr id="26" name="Rectangle: Rounded Corners 6">
              <a:extLst>
                <a:ext uri="{FF2B5EF4-FFF2-40B4-BE49-F238E27FC236}">
                  <a16:creationId xmlns:a16="http://schemas.microsoft.com/office/drawing/2014/main" id="{3D5A67F6-2574-C515-A02E-F729076A0418}"/>
                </a:ext>
              </a:extLst>
            </p:cNvPr>
            <p:cNvSpPr/>
            <p:nvPr/>
          </p:nvSpPr>
          <p:spPr>
            <a:xfrm>
              <a:off x="4800600" y="1676400"/>
              <a:ext cx="2895600" cy="4679950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27" name="Smiley Face 26">
              <a:extLst>
                <a:ext uri="{FF2B5EF4-FFF2-40B4-BE49-F238E27FC236}">
                  <a16:creationId xmlns:a16="http://schemas.microsoft.com/office/drawing/2014/main" id="{C6DCB043-656C-3586-B643-3C932F0D977F}"/>
                </a:ext>
              </a:extLst>
            </p:cNvPr>
            <p:cNvSpPr/>
            <p:nvPr/>
          </p:nvSpPr>
          <p:spPr>
            <a:xfrm>
              <a:off x="7086600" y="1828801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Smiley Face 28">
              <a:extLst>
                <a:ext uri="{FF2B5EF4-FFF2-40B4-BE49-F238E27FC236}">
                  <a16:creationId xmlns:a16="http://schemas.microsoft.com/office/drawing/2014/main" id="{04507603-6C02-D6B9-A979-36C7F57EACE2}"/>
                </a:ext>
              </a:extLst>
            </p:cNvPr>
            <p:cNvSpPr/>
            <p:nvPr/>
          </p:nvSpPr>
          <p:spPr>
            <a:xfrm>
              <a:off x="5257800" y="182880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Smiley Face 31">
              <a:extLst>
                <a:ext uri="{FF2B5EF4-FFF2-40B4-BE49-F238E27FC236}">
                  <a16:creationId xmlns:a16="http://schemas.microsoft.com/office/drawing/2014/main" id="{D643F256-E412-ABAD-EF62-5CE0D4D8E968}"/>
                </a:ext>
              </a:extLst>
            </p:cNvPr>
            <p:cNvSpPr/>
            <p:nvPr/>
          </p:nvSpPr>
          <p:spPr>
            <a:xfrm>
              <a:off x="7086600" y="5920581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Smiley Face 55">
              <a:extLst>
                <a:ext uri="{FF2B5EF4-FFF2-40B4-BE49-F238E27FC236}">
                  <a16:creationId xmlns:a16="http://schemas.microsoft.com/office/drawing/2014/main" id="{A0E71463-A875-A0DC-0225-51D8D437FCCA}"/>
                </a:ext>
              </a:extLst>
            </p:cNvPr>
            <p:cNvSpPr/>
            <p:nvPr/>
          </p:nvSpPr>
          <p:spPr>
            <a:xfrm>
              <a:off x="5181600" y="5920580"/>
              <a:ext cx="228600" cy="251619"/>
            </a:xfrm>
            <a:prstGeom prst="smileyFace">
              <a:avLst>
                <a:gd name="adj" fmla="val 179"/>
              </a:avLst>
            </a:prstGeom>
            <a:solidFill>
              <a:srgbClr val="EFAAF4"/>
            </a:solidFill>
            <a:ln w="1905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3683D3A-B2CD-54E8-EE33-3CD44642E1D7}"/>
                </a:ext>
              </a:extLst>
            </p:cNvPr>
            <p:cNvCxnSpPr>
              <a:cxnSpLocks/>
            </p:cNvCxnSpPr>
            <p:nvPr/>
          </p:nvCxnSpPr>
          <p:spPr>
            <a:xfrm>
              <a:off x="5442272" y="1954609"/>
              <a:ext cx="164432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96D048D0-6B7F-69FB-1865-EBA03C5D60E2}"/>
                </a:ext>
              </a:extLst>
            </p:cNvPr>
            <p:cNvCxnSpPr>
              <a:cxnSpLocks/>
            </p:cNvCxnSpPr>
            <p:nvPr/>
          </p:nvCxnSpPr>
          <p:spPr>
            <a:xfrm>
              <a:off x="5410200" y="6037727"/>
              <a:ext cx="1644328" cy="0"/>
            </a:xfrm>
            <a:prstGeom prst="straightConnector1">
              <a:avLst/>
            </a:prstGeom>
            <a:ln w="28575">
              <a:solidFill>
                <a:srgbClr val="C00000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1" name="Oval 60">
              <a:extLst>
                <a:ext uri="{FF2B5EF4-FFF2-40B4-BE49-F238E27FC236}">
                  <a16:creationId xmlns:a16="http://schemas.microsoft.com/office/drawing/2014/main" id="{51D09C12-0D7E-E33B-919C-2CF426FDB61A}"/>
                </a:ext>
              </a:extLst>
            </p:cNvPr>
            <p:cNvSpPr/>
            <p:nvPr/>
          </p:nvSpPr>
          <p:spPr>
            <a:xfrm>
              <a:off x="5334000" y="35814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F5AC3723-653B-B9F3-0F20-104D09ECEDC0}"/>
                </a:ext>
              </a:extLst>
            </p:cNvPr>
            <p:cNvSpPr/>
            <p:nvPr/>
          </p:nvSpPr>
          <p:spPr>
            <a:xfrm>
              <a:off x="5334000" y="38100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D04B973C-665F-FA99-BF11-39192C1659FB}"/>
                </a:ext>
              </a:extLst>
            </p:cNvPr>
            <p:cNvGrpSpPr/>
            <p:nvPr/>
          </p:nvGrpSpPr>
          <p:grpSpPr>
            <a:xfrm>
              <a:off x="7124700" y="3597660"/>
              <a:ext cx="76200" cy="533400"/>
              <a:chOff x="5715000" y="1752600"/>
              <a:chExt cx="76200" cy="533400"/>
            </a:xfrm>
          </p:grpSpPr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BE92869E-9AE3-0405-6D7A-EF8401603457}"/>
                  </a:ext>
                </a:extLst>
              </p:cNvPr>
              <p:cNvSpPr/>
              <p:nvPr/>
            </p:nvSpPr>
            <p:spPr>
              <a:xfrm>
                <a:off x="5715000" y="22098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3DBE4AE1-AD48-0E94-DCA8-C1829E88427D}"/>
                  </a:ext>
                </a:extLst>
              </p:cNvPr>
              <p:cNvSpPr/>
              <p:nvPr/>
            </p:nvSpPr>
            <p:spPr>
              <a:xfrm>
                <a:off x="5715000" y="17526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4AA89A96-63B5-733E-9052-FFCB946EF19A}"/>
                  </a:ext>
                </a:extLst>
              </p:cNvPr>
              <p:cNvSpPr/>
              <p:nvPr/>
            </p:nvSpPr>
            <p:spPr>
              <a:xfrm>
                <a:off x="5715000" y="1981200"/>
                <a:ext cx="76200" cy="76200"/>
              </a:xfrm>
              <a:prstGeom prst="ellipse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D2D2B97A-CBDC-5CA5-BEE1-783A9D3E100A}"/>
                </a:ext>
              </a:extLst>
            </p:cNvPr>
            <p:cNvSpPr/>
            <p:nvPr/>
          </p:nvSpPr>
          <p:spPr>
            <a:xfrm>
              <a:off x="5334000" y="4038600"/>
              <a:ext cx="76200" cy="76200"/>
            </a:xfrm>
            <a:prstGeom prst="ellipse">
              <a:avLst/>
            </a:prstGeom>
            <a:solidFill>
              <a:srgbClr val="EFAAF4"/>
            </a:solidFill>
            <a:ln w="12700">
              <a:solidFill>
                <a:srgbClr val="FF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8" name="Smiley Face 77">
            <a:extLst>
              <a:ext uri="{FF2B5EF4-FFF2-40B4-BE49-F238E27FC236}">
                <a16:creationId xmlns:a16="http://schemas.microsoft.com/office/drawing/2014/main" id="{45B208C4-EBF4-25AE-A9D5-7C822238DF49}"/>
              </a:ext>
            </a:extLst>
          </p:cNvPr>
          <p:cNvSpPr/>
          <p:nvPr/>
        </p:nvSpPr>
        <p:spPr>
          <a:xfrm>
            <a:off x="2523565" y="4077896"/>
            <a:ext cx="228600" cy="251619"/>
          </a:xfrm>
          <a:prstGeom prst="smileyFace">
            <a:avLst>
              <a:gd name="adj" fmla="val 179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E47B4B8-D3F2-DA60-619E-C62FCC7B6CC9}"/>
                  </a:ext>
                </a:extLst>
              </p:cNvPr>
              <p:cNvSpPr txBox="1"/>
              <p:nvPr/>
            </p:nvSpPr>
            <p:spPr>
              <a:xfrm>
                <a:off x="2742583" y="3962400"/>
                <a:ext cx="504882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EE47B4B8-D3F2-DA60-619E-C62FCC7B6C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2583" y="3962400"/>
                <a:ext cx="504882" cy="391646"/>
              </a:xfrm>
              <a:prstGeom prst="rect">
                <a:avLst/>
              </a:prstGeom>
              <a:blipFill>
                <a:blip r:embed="rId5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3C4006F-39FE-B196-ABBA-F9F64D398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88D52D-58D4-47EE-0571-0C6D94A2DEE1}"/>
                  </a:ext>
                </a:extLst>
              </p:cNvPr>
              <p:cNvSpPr txBox="1"/>
              <p:nvPr/>
            </p:nvSpPr>
            <p:spPr>
              <a:xfrm>
                <a:off x="457200" y="1600200"/>
                <a:ext cx="2863797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/>
                  <a:t>Execution of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</m:oMath>
                </a14:m>
                <a:r>
                  <a:rPr lang="en-US" sz="2000" dirty="0"/>
                  <a:t>th iteration:</a:t>
                </a:r>
                <a:endParaRPr lang="en-IN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6588D52D-58D4-47EE-0571-0C6D94A2DE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1600200"/>
                <a:ext cx="2863797" cy="400110"/>
              </a:xfrm>
              <a:prstGeom prst="rect">
                <a:avLst/>
              </a:prstGeom>
              <a:blipFill>
                <a:blip r:embed="rId6"/>
                <a:stretch>
                  <a:fillRect l="-2212" t="-9375" r="-132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CC04F8-6931-952D-5F36-0E72FED910E2}"/>
                  </a:ext>
                </a:extLst>
              </p:cNvPr>
              <p:cNvSpPr txBox="1"/>
              <p:nvPr/>
            </p:nvSpPr>
            <p:spPr>
              <a:xfrm>
                <a:off x="609600" y="3989121"/>
                <a:ext cx="473142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9CC04F8-6931-952D-5F36-0E72FED910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" y="3989121"/>
                <a:ext cx="473142" cy="391646"/>
              </a:xfrm>
              <a:prstGeom prst="rect">
                <a:avLst/>
              </a:prstGeom>
              <a:blipFill>
                <a:blip r:embed="rId7"/>
                <a:stretch>
                  <a:fillRect b="-60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Smiley Face 10">
            <a:extLst>
              <a:ext uri="{FF2B5EF4-FFF2-40B4-BE49-F238E27FC236}">
                <a16:creationId xmlns:a16="http://schemas.microsoft.com/office/drawing/2014/main" id="{F35D12C1-073F-108D-1CD4-42FB35A18E39}"/>
              </a:ext>
            </a:extLst>
          </p:cNvPr>
          <p:cNvSpPr/>
          <p:nvPr/>
        </p:nvSpPr>
        <p:spPr>
          <a:xfrm>
            <a:off x="7086600" y="4396580"/>
            <a:ext cx="228600" cy="251619"/>
          </a:xfrm>
          <a:prstGeom prst="smileyFace">
            <a:avLst>
              <a:gd name="adj" fmla="val 179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Smiley Face 12">
            <a:extLst>
              <a:ext uri="{FF2B5EF4-FFF2-40B4-BE49-F238E27FC236}">
                <a16:creationId xmlns:a16="http://schemas.microsoft.com/office/drawing/2014/main" id="{0641F2F5-2D43-7D83-9BB6-429A8FB897A3}"/>
              </a:ext>
            </a:extLst>
          </p:cNvPr>
          <p:cNvSpPr/>
          <p:nvPr/>
        </p:nvSpPr>
        <p:spPr>
          <a:xfrm>
            <a:off x="5257800" y="4396580"/>
            <a:ext cx="228600" cy="251619"/>
          </a:xfrm>
          <a:prstGeom prst="smileyFace">
            <a:avLst>
              <a:gd name="adj" fmla="val 179"/>
            </a:avLst>
          </a:prstGeom>
          <a:solidFill>
            <a:srgbClr val="EFAAF4"/>
          </a:solidFill>
          <a:ln w="190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BE949-4789-E5C0-DAE2-F252A1FC01FF}"/>
                  </a:ext>
                </a:extLst>
              </p:cNvPr>
              <p:cNvSpPr txBox="1"/>
              <p:nvPr/>
            </p:nvSpPr>
            <p:spPr>
              <a:xfrm>
                <a:off x="4841709" y="4343911"/>
                <a:ext cx="526683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0FBE949-4789-E5C0-DAE2-F252A1FC01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1709" y="4343911"/>
                <a:ext cx="526683" cy="391646"/>
              </a:xfrm>
              <a:prstGeom prst="rect">
                <a:avLst/>
              </a:prstGeom>
              <a:blipFill>
                <a:blip r:embed="rId8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EACF6F-9773-A82F-5F38-A30BD79B2D69}"/>
                  </a:ext>
                </a:extLst>
              </p:cNvPr>
              <p:cNvSpPr txBox="1"/>
              <p:nvPr/>
            </p:nvSpPr>
            <p:spPr>
              <a:xfrm>
                <a:off x="7253259" y="4332754"/>
                <a:ext cx="504882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𝑗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4EACF6F-9773-A82F-5F38-A30BD79B2D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3259" y="4332754"/>
                <a:ext cx="504882" cy="391646"/>
              </a:xfrm>
              <a:prstGeom prst="rect">
                <a:avLst/>
              </a:prstGeom>
              <a:blipFill>
                <a:blip r:embed="rId9"/>
                <a:stretch>
                  <a:fillRect b="-96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1761F4AE-8FCF-086C-902C-DDAB8E412AFB}"/>
              </a:ext>
            </a:extLst>
          </p:cNvPr>
          <p:cNvCxnSpPr>
            <a:cxnSpLocks/>
          </p:cNvCxnSpPr>
          <p:nvPr/>
        </p:nvCxnSpPr>
        <p:spPr>
          <a:xfrm>
            <a:off x="5488989" y="4522389"/>
            <a:ext cx="1597611" cy="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Smiley Face 16">
            <a:extLst>
              <a:ext uri="{FF2B5EF4-FFF2-40B4-BE49-F238E27FC236}">
                <a16:creationId xmlns:a16="http://schemas.microsoft.com/office/drawing/2014/main" id="{5E575057-9D6D-5988-05BB-9DD4F7CF9F1E}"/>
              </a:ext>
            </a:extLst>
          </p:cNvPr>
          <p:cNvSpPr/>
          <p:nvPr/>
        </p:nvSpPr>
        <p:spPr>
          <a:xfrm>
            <a:off x="1066800" y="3206516"/>
            <a:ext cx="228600" cy="251619"/>
          </a:xfrm>
          <a:prstGeom prst="smileyFace">
            <a:avLst>
              <a:gd name="adj" fmla="val 179"/>
            </a:avLst>
          </a:prstGeom>
          <a:solidFill>
            <a:srgbClr val="EFAAF4"/>
          </a:solidFill>
          <a:ln w="190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F11115-B285-6585-6CBE-A3A19E1B4030}"/>
                  </a:ext>
                </a:extLst>
              </p:cNvPr>
              <p:cNvSpPr txBox="1"/>
              <p:nvPr/>
            </p:nvSpPr>
            <p:spPr>
              <a:xfrm>
                <a:off x="616317" y="3118877"/>
                <a:ext cx="526683" cy="39164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′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DF11115-B285-6585-6CBE-A3A19E1B4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317" y="3118877"/>
                <a:ext cx="526683" cy="391646"/>
              </a:xfrm>
              <a:prstGeom prst="rect">
                <a:avLst/>
              </a:prstGeom>
              <a:blipFill>
                <a:blip r:embed="rId10"/>
                <a:stretch>
                  <a:fillRect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Smiley Face 18">
            <a:extLst>
              <a:ext uri="{FF2B5EF4-FFF2-40B4-BE49-F238E27FC236}">
                <a16:creationId xmlns:a16="http://schemas.microsoft.com/office/drawing/2014/main" id="{98039148-26C2-1050-1BE0-BE1A78780589}"/>
              </a:ext>
            </a:extLst>
          </p:cNvPr>
          <p:cNvSpPr/>
          <p:nvPr/>
        </p:nvSpPr>
        <p:spPr>
          <a:xfrm>
            <a:off x="2492188" y="3206058"/>
            <a:ext cx="228600" cy="251619"/>
          </a:xfrm>
          <a:prstGeom prst="smileyFace">
            <a:avLst>
              <a:gd name="adj" fmla="val 179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2980A8-BF8A-55AE-A6F4-9354E176CBB1}"/>
                  </a:ext>
                </a:extLst>
              </p:cNvPr>
              <p:cNvSpPr txBox="1"/>
              <p:nvPr/>
            </p:nvSpPr>
            <p:spPr>
              <a:xfrm>
                <a:off x="2651249" y="3122470"/>
                <a:ext cx="54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32980A8-BF8A-55AE-A6F4-9354E176CB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1249" y="3122470"/>
                <a:ext cx="548612" cy="369332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6FEBC47-EEF3-26FB-7479-6896CF10B3B3}"/>
              </a:ext>
            </a:extLst>
          </p:cNvPr>
          <p:cNvCxnSpPr>
            <a:cxnSpLocks/>
          </p:cNvCxnSpPr>
          <p:nvPr/>
        </p:nvCxnSpPr>
        <p:spPr>
          <a:xfrm>
            <a:off x="1272988" y="3331867"/>
            <a:ext cx="1219200" cy="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Smiley Face 27">
            <a:extLst>
              <a:ext uri="{FF2B5EF4-FFF2-40B4-BE49-F238E27FC236}">
                <a16:creationId xmlns:a16="http://schemas.microsoft.com/office/drawing/2014/main" id="{3DDBC4C1-D1B6-33C1-85FE-9742DBD29059}"/>
              </a:ext>
            </a:extLst>
          </p:cNvPr>
          <p:cNvSpPr/>
          <p:nvPr/>
        </p:nvSpPr>
        <p:spPr>
          <a:xfrm>
            <a:off x="7064727" y="3207788"/>
            <a:ext cx="228600" cy="251619"/>
          </a:xfrm>
          <a:prstGeom prst="smileyFace">
            <a:avLst>
              <a:gd name="adj" fmla="val 179"/>
            </a:avLst>
          </a:prstGeom>
          <a:solidFill>
            <a:schemeClr val="tx2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291CB95-EA5A-F1C9-34F7-918F7D0832E7}"/>
                  </a:ext>
                </a:extLst>
              </p:cNvPr>
              <p:cNvSpPr txBox="1"/>
              <p:nvPr/>
            </p:nvSpPr>
            <p:spPr>
              <a:xfrm>
                <a:off x="7223788" y="3124200"/>
                <a:ext cx="5486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𝑚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291CB95-EA5A-F1C9-34F7-918F7D0832E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3788" y="3124200"/>
                <a:ext cx="548612" cy="36933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1406B246-369B-20DE-09D7-8B7D69926D7D}"/>
              </a:ext>
            </a:extLst>
          </p:cNvPr>
          <p:cNvCxnSpPr>
            <a:cxnSpLocks/>
            <a:endCxn id="28" idx="3"/>
          </p:cNvCxnSpPr>
          <p:nvPr/>
        </p:nvCxnSpPr>
        <p:spPr>
          <a:xfrm flipV="1">
            <a:off x="5452922" y="3422558"/>
            <a:ext cx="1645283" cy="1010871"/>
          </a:xfrm>
          <a:prstGeom prst="line">
            <a:avLst/>
          </a:prstGeom>
          <a:ln w="28575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3624048-212A-C81A-091F-636BA5355A43}"/>
              </a:ext>
            </a:extLst>
          </p:cNvPr>
          <p:cNvGrpSpPr/>
          <p:nvPr/>
        </p:nvGrpSpPr>
        <p:grpSpPr>
          <a:xfrm rot="6852114">
            <a:off x="5561401" y="4009233"/>
            <a:ext cx="463289" cy="433965"/>
            <a:chOff x="1880004" y="3568439"/>
            <a:chExt cx="463289" cy="433965"/>
          </a:xfrm>
        </p:grpSpPr>
        <p:sp>
          <p:nvSpPr>
            <p:cNvPr id="37" name="Chevron 50">
              <a:extLst>
                <a:ext uri="{FF2B5EF4-FFF2-40B4-BE49-F238E27FC236}">
                  <a16:creationId xmlns:a16="http://schemas.microsoft.com/office/drawing/2014/main" id="{D70C95C6-0807-3709-642D-CBA9AAA89333}"/>
                </a:ext>
              </a:extLst>
            </p:cNvPr>
            <p:cNvSpPr/>
            <p:nvPr/>
          </p:nvSpPr>
          <p:spPr>
            <a:xfrm rot="1824820" flipH="1">
              <a:off x="2032404" y="3659730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8" name="Chevron 51">
              <a:extLst>
                <a:ext uri="{FF2B5EF4-FFF2-40B4-BE49-F238E27FC236}">
                  <a16:creationId xmlns:a16="http://schemas.microsoft.com/office/drawing/2014/main" id="{EB42E5D8-7582-6DCF-555A-F1609EFB8C39}"/>
                </a:ext>
              </a:extLst>
            </p:cNvPr>
            <p:cNvSpPr/>
            <p:nvPr/>
          </p:nvSpPr>
          <p:spPr>
            <a:xfrm rot="1824820" flipH="1">
              <a:off x="2184804" y="3757035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43" name="Chevron 53">
              <a:extLst>
                <a:ext uri="{FF2B5EF4-FFF2-40B4-BE49-F238E27FC236}">
                  <a16:creationId xmlns:a16="http://schemas.microsoft.com/office/drawing/2014/main" id="{3F3141D1-885F-76D2-F04A-A2B711C07950}"/>
                </a:ext>
              </a:extLst>
            </p:cNvPr>
            <p:cNvSpPr/>
            <p:nvPr/>
          </p:nvSpPr>
          <p:spPr>
            <a:xfrm rot="1824820" flipH="1">
              <a:off x="1880004" y="3568439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61EFBAF4-856A-F23F-1293-0603015D2DF3}"/>
              </a:ext>
            </a:extLst>
          </p:cNvPr>
          <p:cNvSpPr/>
          <p:nvPr/>
        </p:nvSpPr>
        <p:spPr>
          <a:xfrm>
            <a:off x="5334000" y="3581400"/>
            <a:ext cx="76200" cy="76200"/>
          </a:xfrm>
          <a:prstGeom prst="ellipse">
            <a:avLst/>
          </a:prstGeom>
          <a:solidFill>
            <a:srgbClr val="EFAAF4"/>
          </a:solidFill>
          <a:ln w="1270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Smiley Face 44">
            <a:extLst>
              <a:ext uri="{FF2B5EF4-FFF2-40B4-BE49-F238E27FC236}">
                <a16:creationId xmlns:a16="http://schemas.microsoft.com/office/drawing/2014/main" id="{5D02765B-4847-638E-4A60-7A0EE5AD5B5F}"/>
              </a:ext>
            </a:extLst>
          </p:cNvPr>
          <p:cNvSpPr/>
          <p:nvPr/>
        </p:nvSpPr>
        <p:spPr>
          <a:xfrm>
            <a:off x="5257800" y="3211839"/>
            <a:ext cx="228600" cy="251619"/>
          </a:xfrm>
          <a:prstGeom prst="smileyFace">
            <a:avLst>
              <a:gd name="adj" fmla="val 179"/>
            </a:avLst>
          </a:prstGeom>
          <a:solidFill>
            <a:srgbClr val="EFAAF4"/>
          </a:solidFill>
          <a:ln w="19050">
            <a:solidFill>
              <a:srgbClr val="FF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4673758-CC9D-CDA1-3EBB-5D618BB9C080}"/>
                  </a:ext>
                </a:extLst>
              </p:cNvPr>
              <p:cNvSpPr txBox="1"/>
              <p:nvPr/>
            </p:nvSpPr>
            <p:spPr>
              <a:xfrm>
                <a:off x="4807317" y="3124200"/>
                <a:ext cx="510204" cy="3907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/>
                            </a:rPr>
                            <m:t>𝑤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rgbClr val="9900CC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</m:oMath>
                  </m:oMathPara>
                </a14:m>
                <a:endParaRPr lang="en-US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46" name="TextBox 45">
                <a:extLst>
                  <a:ext uri="{FF2B5EF4-FFF2-40B4-BE49-F238E27FC236}">
                    <a16:creationId xmlns:a16="http://schemas.microsoft.com/office/drawing/2014/main" id="{C4673758-CC9D-CDA1-3EBB-5D618BB9C08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7317" y="3124200"/>
                <a:ext cx="510204" cy="390748"/>
              </a:xfrm>
              <a:prstGeom prst="rect">
                <a:avLst/>
              </a:prstGeom>
              <a:blipFill>
                <a:blip r:embed="rId13"/>
                <a:stretch>
                  <a:fillRect b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E989B7F4-BE9D-CBDB-E2FA-111217459024}"/>
              </a:ext>
            </a:extLst>
          </p:cNvPr>
          <p:cNvCxnSpPr>
            <a:cxnSpLocks/>
          </p:cNvCxnSpPr>
          <p:nvPr/>
        </p:nvCxnSpPr>
        <p:spPr>
          <a:xfrm>
            <a:off x="5488989" y="3352800"/>
            <a:ext cx="1597611" cy="0"/>
          </a:xfrm>
          <a:prstGeom prst="straightConnector1">
            <a:avLst/>
          </a:prstGeom>
          <a:ln w="28575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D48CA1F3-E706-465C-74B9-ACA8B1462CD7}"/>
              </a:ext>
            </a:extLst>
          </p:cNvPr>
          <p:cNvGrpSpPr/>
          <p:nvPr/>
        </p:nvGrpSpPr>
        <p:grpSpPr>
          <a:xfrm rot="17718521">
            <a:off x="6483572" y="3437988"/>
            <a:ext cx="463289" cy="433965"/>
            <a:chOff x="1880004" y="3568439"/>
            <a:chExt cx="463289" cy="433965"/>
          </a:xfrm>
        </p:grpSpPr>
        <p:sp>
          <p:nvSpPr>
            <p:cNvPr id="49" name="Chevron 50">
              <a:extLst>
                <a:ext uri="{FF2B5EF4-FFF2-40B4-BE49-F238E27FC236}">
                  <a16:creationId xmlns:a16="http://schemas.microsoft.com/office/drawing/2014/main" id="{2324B688-8979-313D-92C1-FA62416D2420}"/>
                </a:ext>
              </a:extLst>
            </p:cNvPr>
            <p:cNvSpPr/>
            <p:nvPr/>
          </p:nvSpPr>
          <p:spPr>
            <a:xfrm rot="1824820" flipH="1">
              <a:off x="2032404" y="3659730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0" name="Chevron 51">
              <a:extLst>
                <a:ext uri="{FF2B5EF4-FFF2-40B4-BE49-F238E27FC236}">
                  <a16:creationId xmlns:a16="http://schemas.microsoft.com/office/drawing/2014/main" id="{FDE3AAED-5E23-464A-B353-FB7776A9C6F1}"/>
                </a:ext>
              </a:extLst>
            </p:cNvPr>
            <p:cNvSpPr/>
            <p:nvPr/>
          </p:nvSpPr>
          <p:spPr>
            <a:xfrm rot="1824820" flipH="1">
              <a:off x="2184804" y="3757035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51" name="Chevron 53">
              <a:extLst>
                <a:ext uri="{FF2B5EF4-FFF2-40B4-BE49-F238E27FC236}">
                  <a16:creationId xmlns:a16="http://schemas.microsoft.com/office/drawing/2014/main" id="{6AEFC372-479C-48EE-B6BA-E528F8BC4FBC}"/>
                </a:ext>
              </a:extLst>
            </p:cNvPr>
            <p:cNvSpPr/>
            <p:nvPr/>
          </p:nvSpPr>
          <p:spPr>
            <a:xfrm rot="1824820" flipH="1">
              <a:off x="1880004" y="3568439"/>
              <a:ext cx="158489" cy="245369"/>
            </a:xfrm>
            <a:prstGeom prst="chevron">
              <a:avLst/>
            </a:prstGeom>
            <a:solidFill>
              <a:srgbClr val="FF00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417F20D7-D36B-FF13-1793-CED7C6B026E0}"/>
              </a:ext>
            </a:extLst>
          </p:cNvPr>
          <p:cNvSpPr/>
          <p:nvPr/>
        </p:nvSpPr>
        <p:spPr>
          <a:xfrm flipV="1">
            <a:off x="725675" y="4000453"/>
            <a:ext cx="2397826" cy="361517"/>
          </a:xfrm>
          <a:prstGeom prst="roundRect">
            <a:avLst/>
          </a:prstGeom>
          <a:noFill/>
          <a:ln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EE1FEF0-8684-9552-90D2-DF0D12BEBD2A}"/>
                  </a:ext>
                </a:extLst>
              </p:cNvPr>
              <p:cNvSpPr txBox="1"/>
              <p:nvPr/>
            </p:nvSpPr>
            <p:spPr>
              <a:xfrm>
                <a:off x="6051872" y="6400800"/>
                <a:ext cx="39305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800" b="1" i="1" dirty="0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𝒈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1EE1FEF0-8684-9552-90D2-DF0D12BEBD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51872" y="6400800"/>
                <a:ext cx="393056" cy="369332"/>
              </a:xfrm>
              <a:prstGeom prst="rect">
                <a:avLst/>
              </a:prstGeom>
              <a:blipFill>
                <a:blip r:embed="rId1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C02E5BA-124B-320E-1FF6-0B8B1644910F}"/>
                  </a:ext>
                </a:extLst>
              </p:cNvPr>
              <p:cNvSpPr txBox="1"/>
              <p:nvPr/>
            </p:nvSpPr>
            <p:spPr>
              <a:xfrm>
                <a:off x="699561" y="5414798"/>
                <a:ext cx="2500300" cy="369332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𝒈</m:t>
                    </m:r>
                  </m:oMath>
                </a14:m>
                <a:r>
                  <a:rPr lang="en-IN" dirty="0"/>
                  <a:t> </a:t>
                </a:r>
                <a:r>
                  <a:rPr lang="en-US" dirty="0"/>
                  <a:t>is not stable matching</a:t>
                </a:r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2C02E5BA-124B-320E-1FF6-0B8B1644910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9561" y="5414798"/>
                <a:ext cx="2500300" cy="369332"/>
              </a:xfrm>
              <a:prstGeom prst="rect">
                <a:avLst/>
              </a:prstGeom>
              <a:blipFill>
                <a:blip r:embed="rId15"/>
                <a:stretch>
                  <a:fillRect t="-3125" b="-218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721628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3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32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32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 animBg="1"/>
      <p:bldP spid="13" grpId="0" animBg="1"/>
      <p:bldP spid="14" grpId="0"/>
      <p:bldP spid="15" grpId="0"/>
      <p:bldP spid="17" grpId="0" animBg="1"/>
      <p:bldP spid="18" grpId="0"/>
      <p:bldP spid="19" grpId="0" animBg="1"/>
      <p:bldP spid="20" grpId="0"/>
      <p:bldP spid="28" grpId="0" animBg="1"/>
      <p:bldP spid="30" grpId="0"/>
      <p:bldP spid="45" grpId="0" animBg="1"/>
      <p:bldP spid="46" grpId="0"/>
      <p:bldP spid="52" grpId="0" animBg="1"/>
      <p:bldP spid="5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Greedy Paradigm</a:t>
            </a:r>
            <a:endParaRPr lang="en-US" sz="3200" b="1" dirty="0">
              <a:solidFill>
                <a:srgbClr val="7030A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C814A226-6022-A246-ADD1-F03DCB79059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Minimum Spanning Tree</a:t>
            </a:r>
          </a:p>
        </p:txBody>
      </p:sp>
    </p:spTree>
    <p:extLst>
      <p:ext uri="{BB962C8B-B14F-4D97-AF65-F5344CB8AC3E}">
        <p14:creationId xmlns:p14="http://schemas.microsoft.com/office/powerpoint/2010/main" val="1403841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rippl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Motivation:</a:t>
            </a:r>
            <a:br>
              <a:rPr lang="en-US" sz="3600" b="1" dirty="0">
                <a:solidFill>
                  <a:srgbClr val="7030A0"/>
                </a:solidFill>
              </a:rPr>
            </a:br>
            <a:r>
              <a:rPr lang="en-US" sz="3200" b="1" dirty="0"/>
              <a:t>A road or telecommunication network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5029200"/>
          </a:xfrm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000" dirty="0"/>
              <a:t>Suppose there is a collection of possible links/roads that can be laid. </a:t>
            </a:r>
          </a:p>
          <a:p>
            <a:pPr marL="0" indent="0">
              <a:buNone/>
            </a:pPr>
            <a:r>
              <a:rPr lang="en-US" sz="2000" dirty="0"/>
              <a:t>But laying down each possible link/road is costly. </a:t>
            </a:r>
          </a:p>
          <a:p>
            <a:pPr marL="0" indent="0">
              <a:buNone/>
            </a:pPr>
            <a:r>
              <a:rPr lang="en-US" sz="2400" b="1" dirty="0">
                <a:solidFill>
                  <a:srgbClr val="7030A0"/>
                </a:solidFill>
              </a:rPr>
              <a:t>Aim:</a:t>
            </a:r>
            <a:r>
              <a:rPr lang="en-US" sz="2400" dirty="0"/>
              <a:t> </a:t>
            </a:r>
            <a:r>
              <a:rPr lang="en-US" sz="2000" dirty="0"/>
              <a:t>To lay down </a:t>
            </a:r>
            <a:r>
              <a:rPr lang="en-US" sz="2000" b="1" dirty="0">
                <a:solidFill>
                  <a:srgbClr val="7030A0"/>
                </a:solidFill>
              </a:rPr>
              <a:t>least number </a:t>
            </a:r>
            <a:r>
              <a:rPr lang="en-US" sz="2000" dirty="0"/>
              <a:t>of links/roads to ensure </a:t>
            </a:r>
            <a:r>
              <a:rPr lang="en-US" sz="2000" b="1" dirty="0">
                <a:solidFill>
                  <a:srgbClr val="7030A0"/>
                </a:solidFill>
              </a:rPr>
              <a:t>connectivity</a:t>
            </a:r>
            <a:r>
              <a:rPr lang="en-US" sz="2000" dirty="0"/>
              <a:t> between each pair of nodes/cities.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" idx="5"/>
            <a:endCxn id="16" idx="0"/>
          </p:cNvCxnSpPr>
          <p:nvPr/>
        </p:nvCxnSpPr>
        <p:spPr>
          <a:xfrm flipH="1">
            <a:off x="3048000" y="4092482"/>
            <a:ext cx="282482" cy="1012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9327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820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/>
                  <a:t>                                  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Formal description of the problem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Input:</a:t>
                </a:r>
                <a:r>
                  <a:rPr lang="en-US" sz="2000" dirty="0"/>
                  <a:t> an undirected graph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). 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Aim: </a:t>
                </a:r>
                <a:r>
                  <a:rPr lang="en-US" sz="2000" dirty="0"/>
                  <a:t>compute a </a:t>
                </a:r>
                <a:r>
                  <a:rPr lang="en-US" sz="2000" b="1" dirty="0" err="1"/>
                  <a:t>subgraph</a:t>
                </a:r>
                <a:r>
                  <a:rPr lang="en-US" sz="2000" dirty="0"/>
                  <a:t> 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2000" dirty="0"/>
                  <a:t>),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’ ⊆ 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such that</a:t>
                </a:r>
              </a:p>
              <a:p>
                <a:r>
                  <a:rPr lang="en-US" sz="2000" b="1" dirty="0">
                    <a:solidFill>
                      <a:srgbClr val="7030A0"/>
                    </a:solidFill>
                  </a:rPr>
                  <a:t>Connectivity</a:t>
                </a:r>
                <a:r>
                  <a:rPr lang="en-US" sz="2000" dirty="0"/>
                  <a:t> among all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𝑽</m:t>
                    </m:r>
                  </m:oMath>
                </a14:m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:r>
                  <a:rPr lang="en-US" sz="2000" dirty="0"/>
                  <a:t>is guaranteed in the </a:t>
                </a:r>
                <a:r>
                  <a:rPr lang="en-US" sz="2000" b="1" dirty="0" err="1"/>
                  <a:t>subgraph</a:t>
                </a:r>
                <a:r>
                  <a:rPr lang="en-US" sz="2000" dirty="0"/>
                  <a:t>.</a:t>
                </a:r>
              </a:p>
              <a:p>
                <a:r>
                  <a:rPr lang="en-US" sz="2000" b="1" dirty="0"/>
                  <a:t>|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2000" b="1" dirty="0"/>
                  <a:t>| </a:t>
                </a:r>
                <a:r>
                  <a:rPr lang="en-US" sz="2000" dirty="0"/>
                  <a:t>is</a:t>
                </a:r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minimum</a:t>
                </a:r>
                <a:r>
                  <a:rPr lang="en-US" sz="2000" b="1" dirty="0"/>
                  <a:t>.</a:t>
                </a:r>
                <a:r>
                  <a:rPr lang="en-US" sz="2000" dirty="0"/>
                  <a:t>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82000" cy="4525963"/>
              </a:xfrm>
              <a:blipFill>
                <a:blip r:embed="rId2"/>
                <a:stretch>
                  <a:fillRect l="-727" t="-80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5" name="Cloud Callout 4"/>
          <p:cNvSpPr/>
          <p:nvPr/>
        </p:nvSpPr>
        <p:spPr>
          <a:xfrm>
            <a:off x="2133600" y="4419600"/>
            <a:ext cx="4953000" cy="993648"/>
          </a:xfrm>
          <a:prstGeom prst="cloudCallou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How will such a </a:t>
            </a:r>
            <a:r>
              <a:rPr lang="en-US" dirty="0" err="1">
                <a:solidFill>
                  <a:schemeClr val="tx1"/>
                </a:solidFill>
              </a:rPr>
              <a:t>subgraph</a:t>
            </a:r>
            <a:r>
              <a:rPr lang="en-US" dirty="0">
                <a:solidFill>
                  <a:schemeClr val="tx1"/>
                </a:solidFill>
              </a:rPr>
              <a:t> look like 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17E5534-6630-6A1C-67AC-DE6225061EC7}"/>
              </a:ext>
            </a:extLst>
          </p:cNvPr>
          <p:cNvSpPr/>
          <p:nvPr/>
        </p:nvSpPr>
        <p:spPr>
          <a:xfrm>
            <a:off x="4038600" y="2971800"/>
            <a:ext cx="20574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C7997F-A6A3-9F66-9CB1-941CCEC5CF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24224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  <p:bldP spid="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" idx="5"/>
            <a:endCxn id="16" idx="0"/>
          </p:cNvCxnSpPr>
          <p:nvPr/>
        </p:nvCxnSpPr>
        <p:spPr>
          <a:xfrm flipH="1">
            <a:off x="3048000" y="4092482"/>
            <a:ext cx="282482" cy="1012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itle 19">
            <a:extLst>
              <a:ext uri="{FF2B5EF4-FFF2-40B4-BE49-F238E27FC236}">
                <a16:creationId xmlns:a16="http://schemas.microsoft.com/office/drawing/2014/main" id="{9539897E-E291-2846-9483-49398B08F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071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Straight Connector 50"/>
          <p:cNvCxnSpPr>
            <a:endCxn id="8" idx="1"/>
          </p:cNvCxnSpPr>
          <p:nvPr/>
        </p:nvCxnSpPr>
        <p:spPr>
          <a:xfrm>
            <a:off x="2819400" y="3003364"/>
            <a:ext cx="403318" cy="98135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 algn="ctr">
              <a:buNone/>
            </a:pPr>
            <a:r>
              <a:rPr lang="en-US" sz="2400" dirty="0"/>
              <a:t>Is this </a:t>
            </a:r>
            <a:r>
              <a:rPr lang="en-US" sz="2400" dirty="0" err="1"/>
              <a:t>subgraph</a:t>
            </a:r>
            <a:r>
              <a:rPr lang="en-US" sz="2400" dirty="0"/>
              <a:t> meeting our requirement ?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" idx="5"/>
            <a:endCxn id="16" idx="0"/>
          </p:cNvCxnSpPr>
          <p:nvPr/>
        </p:nvCxnSpPr>
        <p:spPr>
          <a:xfrm flipH="1">
            <a:off x="3048000" y="4092482"/>
            <a:ext cx="282482" cy="10129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9" name="Straight Connector 48"/>
          <p:cNvCxnSpPr/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077200" y="2362200"/>
            <a:ext cx="48551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Yes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45426" y="2373868"/>
            <a:ext cx="45557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12226" y="2373868"/>
            <a:ext cx="455574" cy="3693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No</a:t>
            </a:r>
          </a:p>
        </p:txBody>
      </p:sp>
      <p:sp>
        <p:nvSpPr>
          <p:cNvPr id="22" name="Title 21">
            <a:extLst>
              <a:ext uri="{FF2B5EF4-FFF2-40B4-BE49-F238E27FC236}">
                <a16:creationId xmlns:a16="http://schemas.microsoft.com/office/drawing/2014/main" id="{91F87C8D-25AB-AB4D-89AF-A22340F58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04179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0" grpId="0" animBg="1"/>
      <p:bldP spid="20" grpId="1" animBg="1"/>
      <p:bldP spid="52" grpId="0" animBg="1"/>
      <p:bldP spid="52" grpId="1" animBg="1"/>
      <p:bldP spid="54" grpId="0" animBg="1"/>
      <p:bldP spid="54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A tree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0" y="1600200"/>
                <a:ext cx="91440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The following definitions are </a:t>
                </a:r>
                <a:r>
                  <a:rPr lang="en-US" sz="2400" b="1" dirty="0">
                    <a:solidFill>
                      <a:srgbClr val="006C31"/>
                    </a:solidFill>
                  </a:rPr>
                  <a:t>equivalent</a:t>
                </a:r>
                <a:r>
                  <a:rPr lang="en-US" sz="2400" dirty="0"/>
                  <a:t>.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r>
                  <a:rPr lang="en-US" sz="2000" dirty="0"/>
                  <a:t>An undirected graph which is </a:t>
                </a:r>
                <a:r>
                  <a:rPr lang="en-US" sz="2000" b="1" dirty="0"/>
                  <a:t>connected</a:t>
                </a:r>
                <a:r>
                  <a:rPr lang="en-US" sz="2000" dirty="0"/>
                  <a:t> but does </a:t>
                </a:r>
                <a:r>
                  <a:rPr lang="en-US" sz="2000" b="1" dirty="0"/>
                  <a:t>not have any cycle</a:t>
                </a:r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An undirected graph where each pair of vertices has </a:t>
                </a:r>
                <a:r>
                  <a:rPr lang="en-US" sz="2000" b="1" dirty="0"/>
                  <a:t>a unique path </a:t>
                </a:r>
                <a:r>
                  <a:rPr lang="en-US" sz="2000" dirty="0"/>
                  <a:t>between them.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An undirected </a:t>
                </a:r>
                <a:r>
                  <a:rPr lang="en-US" sz="2000" b="1" dirty="0"/>
                  <a:t>connected</a:t>
                </a:r>
                <a:r>
                  <a:rPr lang="en-US" sz="2000" dirty="0"/>
                  <a:t> graph on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vertices and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/>
                  <a:t>edges</a:t>
                </a:r>
                <a:r>
                  <a:rPr lang="en-US" sz="2000" dirty="0"/>
                  <a:t>. </a:t>
                </a:r>
              </a:p>
              <a:p>
                <a:endParaRPr lang="en-US" sz="2000" dirty="0"/>
              </a:p>
              <a:p>
                <a:r>
                  <a:rPr lang="en-US" sz="2000" dirty="0"/>
                  <a:t>An undirected graph on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vertices and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b="1" dirty="0"/>
                  <a:t>edges </a:t>
                </a:r>
                <a:r>
                  <a:rPr lang="en-US" sz="2000" dirty="0"/>
                  <a:t>and </a:t>
                </a:r>
                <a:r>
                  <a:rPr lang="en-US" sz="2000" b="1" dirty="0"/>
                  <a:t> without any cycle</a:t>
                </a:r>
                <a:r>
                  <a:rPr lang="en-US" sz="2000" dirty="0"/>
                  <a:t>. </a:t>
                </a:r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0" y="1600200"/>
                <a:ext cx="9144000" cy="4525963"/>
              </a:xfrm>
              <a:blipFill rotWithShape="1">
                <a:blip r:embed="rId2"/>
                <a:stretch>
                  <a:fillRect l="-1000" t="-1078" r="-4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648200" y="2438400"/>
            <a:ext cx="31242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5867400" y="3200400"/>
            <a:ext cx="31242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5638800" y="3962400"/>
            <a:ext cx="31242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6248400" y="4648200"/>
            <a:ext cx="26670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454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2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2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33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3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5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 animBg="1"/>
      <p:bldP spid="7" grpId="0" animBg="1"/>
      <p:bldP spid="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 Spanning tree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b="1" dirty="0">
              <a:solidFill>
                <a:srgbClr val="7030A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4582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7030A0"/>
                    </a:solidFill>
                  </a:rPr>
                  <a:t>Definition: </a:t>
                </a:r>
                <a:r>
                  <a:rPr lang="en-US" sz="1800" dirty="0"/>
                  <a:t>For an undirected graph 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</m:t>
                    </m:r>
                  </m:oMath>
                </a14:m>
                <a:r>
                  <a:rPr lang="en-US" sz="1800" dirty="0"/>
                  <a:t>), </a:t>
                </a:r>
              </a:p>
              <a:p>
                <a:pPr marL="0" indent="0">
                  <a:buNone/>
                </a:pPr>
                <a:r>
                  <a:rPr lang="en-US" sz="1800" dirty="0"/>
                  <a:t>A spanning tree is a </a:t>
                </a:r>
                <a:r>
                  <a:rPr lang="en-US" sz="1800" b="1" dirty="0" err="1"/>
                  <a:t>subgraph</a:t>
                </a:r>
                <a:r>
                  <a:rPr lang="en-US" sz="1800" dirty="0"/>
                  <a:t> (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18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1800" dirty="0"/>
                  <a:t>),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’ ⊆ 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800" dirty="0"/>
                  <a:t>which is a tree.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>
                  <a:buNone/>
                </a:pPr>
                <a:endParaRPr lang="en-US" sz="1800" b="1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458200" cy="5410200"/>
              </a:xfrm>
              <a:blipFill>
                <a:blip r:embed="rId2"/>
                <a:stretch>
                  <a:fillRect l="-576" t="-56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" idx="5"/>
            <a:endCxn id="16" idx="0"/>
          </p:cNvCxnSpPr>
          <p:nvPr/>
        </p:nvCxnSpPr>
        <p:spPr>
          <a:xfrm flipH="1">
            <a:off x="3048000" y="4092482"/>
            <a:ext cx="282482" cy="10129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85010438-D6EF-4848-AAF4-BDD5BF5DBF30}"/>
              </a:ext>
            </a:extLst>
          </p:cNvPr>
          <p:cNvSpPr/>
          <p:nvPr/>
        </p:nvSpPr>
        <p:spPr>
          <a:xfrm>
            <a:off x="4800600" y="1366539"/>
            <a:ext cx="26670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917A2A4-1117-0C91-CB51-4C3E376125D2}"/>
              </a:ext>
            </a:extLst>
          </p:cNvPr>
          <p:cNvSpPr/>
          <p:nvPr/>
        </p:nvSpPr>
        <p:spPr>
          <a:xfrm>
            <a:off x="2019300" y="1409702"/>
            <a:ext cx="28575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7676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175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1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1800" dirty="0"/>
              <a:t>Assign each edge a </a:t>
            </a:r>
            <a:r>
              <a:rPr lang="en-US" sz="1800" b="1" dirty="0"/>
              <a:t>weight/cost</a:t>
            </a:r>
            <a:r>
              <a:rPr lang="en-US" sz="1800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" idx="5"/>
            <a:endCxn id="16" idx="0"/>
          </p:cNvCxnSpPr>
          <p:nvPr/>
        </p:nvCxnSpPr>
        <p:spPr>
          <a:xfrm flipH="1">
            <a:off x="3048000" y="4092482"/>
            <a:ext cx="282482" cy="1012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/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914400" y="1828800"/>
            <a:ext cx="6553200" cy="3581400"/>
            <a:chOff x="914400" y="1828800"/>
            <a:chExt cx="6553200" cy="3581400"/>
          </a:xfrm>
        </p:grpSpPr>
        <p:sp>
          <p:nvSpPr>
            <p:cNvPr id="108" name="TextBox 107"/>
            <p:cNvSpPr txBox="1"/>
            <p:nvPr/>
          </p:nvSpPr>
          <p:spPr>
            <a:xfrm>
              <a:off x="4953000" y="1828800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170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648200" y="23738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33</a:t>
              </a:r>
            </a:p>
          </p:txBody>
        </p:sp>
        <p:sp>
          <p:nvSpPr>
            <p:cNvPr id="110" name="TextBox 109"/>
            <p:cNvSpPr txBox="1"/>
            <p:nvPr/>
          </p:nvSpPr>
          <p:spPr>
            <a:xfrm>
              <a:off x="4267200" y="28310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35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762896" y="2983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31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410200" y="3200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41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286896" y="3288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81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048896" y="3745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52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0582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42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010400" y="2743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953000" y="5040868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102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484076" y="44196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400800" y="4495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30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800600" y="4267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60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352800" y="3048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70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36960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657600" y="4648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57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4153296" y="3962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371600" y="45836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133600" y="3886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80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600200" y="3429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78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943496" y="2590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63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086496" y="2438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2743200" y="3505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53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553096" y="4431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44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2248296" y="5029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29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914400" y="3352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64</a:t>
              </a:r>
            </a:p>
          </p:txBody>
        </p:sp>
      </p:grpSp>
      <p:sp>
        <p:nvSpPr>
          <p:cNvPr id="22" name="Down Ribbon 21"/>
          <p:cNvSpPr/>
          <p:nvPr/>
        </p:nvSpPr>
        <p:spPr>
          <a:xfrm>
            <a:off x="2162076" y="5627132"/>
            <a:ext cx="4819848" cy="830089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Adding more reality to the problem</a:t>
            </a:r>
            <a:endParaRPr lang="en-US" dirty="0"/>
          </a:p>
        </p:txBody>
      </p:sp>
      <p:sp>
        <p:nvSpPr>
          <p:cNvPr id="24" name="Title 23">
            <a:extLst>
              <a:ext uri="{FF2B5EF4-FFF2-40B4-BE49-F238E27FC236}">
                <a16:creationId xmlns:a16="http://schemas.microsoft.com/office/drawing/2014/main" id="{095EA125-D8ED-164A-A8A6-7098DF104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7606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2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7030A0"/>
                </a:solidFill>
              </a:rPr>
              <a:t>Problem Description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820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Input:</a:t>
                </a:r>
                <a:r>
                  <a:rPr lang="en-US" sz="2000" dirty="0"/>
                  <a:t> an undirected graph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𝑮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=(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sz="2000" dirty="0"/>
                  <a:t>with </a:t>
                </a:r>
                <a:r>
                  <a:rPr lang="en-US" sz="2000" b="1" dirty="0">
                    <a:solidFill>
                      <a:srgbClr val="C00000"/>
                    </a:solidFill>
                    <a:latin typeface="Cambria Math"/>
                    <a:ea typeface="Cambria Math"/>
                  </a:rPr>
                  <a:t>w</a:t>
                </a:r>
                <a:r>
                  <a:rPr lang="en-US" sz="2000" dirty="0">
                    <a:latin typeface="Cambria Math"/>
                    <a:ea typeface="Cambria Math"/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/>
                      </a:rPr>
                      <m:t> </m:t>
                    </m:r>
                    <m:r>
                      <a:rPr lang="en-US" sz="2000" i="1" dirty="0">
                        <a:latin typeface="Cambria Math" panose="02040503050406030204" pitchFamily="18" charset="0"/>
                        <a:ea typeface="Cambria Math"/>
                        <a:sym typeface="Wingdings" pitchFamily="2" charset="2"/>
                      </a:rPr>
                      <m:t> 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  <a:ea typeface="Cambria Math"/>
                        <a:sym typeface="Wingdings" pitchFamily="2" charset="2"/>
                      </a:rPr>
                      <m:t>ℝ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Aim: </a:t>
                </a:r>
                <a:r>
                  <a:rPr lang="en-US" sz="2000" dirty="0"/>
                  <a:t>compute a </a:t>
                </a:r>
                <a:r>
                  <a:rPr lang="en-US" sz="2000" b="1" dirty="0"/>
                  <a:t>spanning tree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𝑽</m:t>
                    </m:r>
                    <m:r>
                      <a:rPr lang="en-US" sz="2000" i="1" dirty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’</m:t>
                    </m:r>
                  </m:oMath>
                </a14:m>
                <a:r>
                  <a:rPr lang="en-US" sz="2000" dirty="0"/>
                  <a:t>),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’ ⊆ 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𝑬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000" dirty="0"/>
                  <a:t>such that </a:t>
                </a:r>
              </a:p>
              <a:p>
                <a:pPr marL="0" indent="0">
                  <a:buNone/>
                </a:pPr>
                <a:r>
                  <a:rPr lang="en-US" sz="2000" b="0" dirty="0">
                    <a:solidFill>
                      <a:schemeClr val="tx1"/>
                    </a:solidFill>
                    <a:ea typeface="Cambria Math"/>
                  </a:rPr>
                  <a:t>         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</m:t>
                    </m:r>
                    <m:nary>
                      <m:naryPr>
                        <m:chr m:val="∑"/>
                        <m:supHide m:val="on"/>
                        <m:ctrlPr>
                          <a:rPr lang="en-US" sz="20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/>
                          </a:rPr>
                        </m:ctrlPr>
                      </m:naryPr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𝒆</m:t>
                        </m:r>
                        <m:r>
                          <m:rPr>
                            <m:sty m:val="p"/>
                          </m:rPr>
                          <a:rPr lang="el-GR" sz="2000" b="1" i="1" dirty="0" smtClean="0">
                            <a:latin typeface="Cambria Math"/>
                            <a:ea typeface="Cambria Math"/>
                          </a:rPr>
                          <m:t>ϵ</m:t>
                        </m:r>
                        <m:r>
                          <m:rPr>
                            <m:sty m:val="p"/>
                          </m:rPr>
                          <a:rPr lang="en-US" sz="2000" b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  <m:r>
                          <a:rPr lang="en-US" sz="2000" b="1" dirty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’</m:t>
                        </m:r>
                      </m:sub>
                      <m:sup/>
                      <m:e>
                        <m:r>
                          <m:rPr>
                            <m:nor/>
                          </m:rPr>
                          <a:rPr lang="en-US" sz="2000" b="1" dirty="0" smtClean="0">
                            <a:solidFill>
                              <a:srgbClr val="C00000"/>
                            </a:solidFill>
                            <a:latin typeface="Cambria Math"/>
                            <a:ea typeface="Cambria Math"/>
                          </a:rPr>
                          <m:t>w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(</m:t>
                        </m:r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  <a:ea typeface="Cambria Math"/>
                          </a:rPr>
                          <m:t>𝒆</m:t>
                        </m:r>
                        <m:r>
                          <a:rPr lang="en-US" sz="2000" b="1" i="1" dirty="0" smtClean="0">
                            <a:solidFill>
                              <a:schemeClr val="tx1"/>
                            </a:solidFill>
                            <a:latin typeface="Cambria Math"/>
                            <a:ea typeface="Cambria Math"/>
                          </a:rPr>
                          <m:t>)</m:t>
                        </m:r>
                      </m:e>
                    </m:nary>
                    <m:r>
                      <a:rPr lang="en-US" sz="2000" b="1" i="0" smtClean="0">
                        <a:solidFill>
                          <a:schemeClr val="tx1"/>
                        </a:solidFill>
                        <a:latin typeface="Cambria Math"/>
                        <a:ea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is</a:t>
                </a:r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minimum</a:t>
                </a:r>
                <a:r>
                  <a:rPr lang="en-US" sz="2000" b="1" dirty="0"/>
                  <a:t>.</a:t>
                </a:r>
                <a:r>
                  <a:rPr lang="en-US" sz="2000" dirty="0"/>
                  <a:t>  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82000" cy="4525963"/>
              </a:xfrm>
              <a:blipFill>
                <a:blip r:embed="rId2"/>
                <a:stretch>
                  <a:fillRect l="-72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  <p:sp>
        <p:nvSpPr>
          <p:cNvPr id="5" name="Down Ribbon 4">
            <a:extLst>
              <a:ext uri="{FF2B5EF4-FFF2-40B4-BE49-F238E27FC236}">
                <a16:creationId xmlns:a16="http://schemas.microsoft.com/office/drawing/2014/main" id="{12895702-45A9-DA4F-A30A-D04DB06928EA}"/>
              </a:ext>
            </a:extLst>
          </p:cNvPr>
          <p:cNvSpPr/>
          <p:nvPr/>
        </p:nvSpPr>
        <p:spPr>
          <a:xfrm>
            <a:off x="2162076" y="5562600"/>
            <a:ext cx="5534124" cy="894621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0000"/>
                </a:solidFill>
              </a:rPr>
              <a:t>Exponential number </a:t>
            </a:r>
            <a:r>
              <a:rPr lang="en-US" b="1" dirty="0">
                <a:solidFill>
                  <a:schemeClr val="tx1"/>
                </a:solidFill>
              </a:rPr>
              <a:t>of spanning trees</a:t>
            </a:r>
          </a:p>
        </p:txBody>
      </p:sp>
    </p:spTree>
    <p:extLst>
      <p:ext uri="{BB962C8B-B14F-4D97-AF65-F5344CB8AC3E}">
        <p14:creationId xmlns:p14="http://schemas.microsoft.com/office/powerpoint/2010/main" val="89912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A useful </a:t>
            </a:r>
            <a:r>
              <a:rPr lang="en-US" sz="3200" b="1" dirty="0">
                <a:solidFill>
                  <a:srgbClr val="7030A0"/>
                </a:solidFill>
              </a:rPr>
              <a:t>lesson</a:t>
            </a:r>
            <a:r>
              <a:rPr lang="en-US" sz="3200" b="1" dirty="0"/>
              <a:t> for design of a </a:t>
            </a:r>
            <a:r>
              <a:rPr lang="en-US" sz="3200" b="1" dirty="0">
                <a:solidFill>
                  <a:srgbClr val="7030A0"/>
                </a:solidFill>
              </a:rPr>
              <a:t>graph algorithm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If you have a complicated algorithm for a graph problem, …</a:t>
            </a:r>
          </a:p>
          <a:p>
            <a:pPr marL="0" indent="0">
              <a:buNone/>
            </a:pPr>
            <a:endParaRPr lang="en-US" sz="2000" dirty="0"/>
          </a:p>
          <a:p>
            <a:pPr>
              <a:buFont typeface="Wingdings" pitchFamily="2" charset="2"/>
              <a:buChar char="Ø"/>
            </a:pPr>
            <a:r>
              <a:rPr lang="en-US" sz="2000" dirty="0"/>
              <a:t>search for </a:t>
            </a:r>
            <a:r>
              <a:rPr lang="en-US" sz="2000" b="1" dirty="0">
                <a:solidFill>
                  <a:srgbClr val="0070C0"/>
                </a:solidFill>
              </a:rPr>
              <a:t>some graph theoretic property </a:t>
            </a:r>
          </a:p>
          <a:p>
            <a:pPr>
              <a:buFont typeface="Wingdings" pitchFamily="2" charset="2"/>
              <a:buChar char="Ø"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to design </a:t>
            </a:r>
            <a:r>
              <a:rPr lang="en-US" sz="2000" b="1" u="sng" dirty="0"/>
              <a:t>simpler</a:t>
            </a:r>
            <a:r>
              <a:rPr lang="en-US" sz="2000" dirty="0"/>
              <a:t> and </a:t>
            </a:r>
            <a:r>
              <a:rPr lang="en-US" sz="2000" b="1" u="sng" dirty="0"/>
              <a:t>more efficient </a:t>
            </a:r>
            <a:r>
              <a:rPr lang="en-US" sz="2000" dirty="0"/>
              <a:t>algorithm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7639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Two </a:t>
            </a:r>
            <a:r>
              <a:rPr lang="en-US" sz="3200" b="1" dirty="0">
                <a:solidFill>
                  <a:srgbClr val="7030A0"/>
                </a:solidFill>
              </a:rPr>
              <a:t>graph theoretic </a:t>
            </a:r>
            <a:r>
              <a:rPr lang="en-US" sz="3200" b="1" dirty="0"/>
              <a:t>properties of </a:t>
            </a:r>
            <a:r>
              <a:rPr lang="en-US" sz="3200" b="1" dirty="0">
                <a:solidFill>
                  <a:srgbClr val="7030A0"/>
                </a:solidFill>
              </a:rPr>
              <a:t>MST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r>
              <a:rPr lang="en-US" sz="2400" b="1" dirty="0">
                <a:solidFill>
                  <a:srgbClr val="7030A0"/>
                </a:solidFill>
              </a:rPr>
              <a:t>Cut property</a:t>
            </a:r>
          </a:p>
          <a:p>
            <a:endParaRPr lang="en-US" sz="2400" dirty="0"/>
          </a:p>
          <a:p>
            <a:r>
              <a:rPr lang="en-US" sz="2400" b="1" dirty="0">
                <a:solidFill>
                  <a:srgbClr val="7030A0"/>
                </a:solidFill>
              </a:rPr>
              <a:t>Cycle property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sp>
        <p:nvSpPr>
          <p:cNvPr id="5" name="Down Ribbon 4"/>
          <p:cNvSpPr/>
          <p:nvPr/>
        </p:nvSpPr>
        <p:spPr>
          <a:xfrm>
            <a:off x="2743200" y="4416552"/>
            <a:ext cx="4953000" cy="993648"/>
          </a:xfrm>
          <a:prstGeom prst="ribbon">
            <a:avLst>
              <a:gd name="adj1" fmla="val 16667"/>
              <a:gd name="adj2" fmla="val 75000"/>
            </a:avLst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Every algorithm </a:t>
            </a:r>
            <a:r>
              <a:rPr lang="en-US" dirty="0">
                <a:solidFill>
                  <a:schemeClr val="tx1"/>
                </a:solidFill>
              </a:rPr>
              <a:t>till date is </a:t>
            </a:r>
            <a:r>
              <a:rPr lang="en-US" b="1" dirty="0">
                <a:solidFill>
                  <a:schemeClr val="tx1"/>
                </a:solidFill>
              </a:rPr>
              <a:t>based on </a:t>
            </a:r>
            <a:r>
              <a:rPr lang="en-US" dirty="0">
                <a:solidFill>
                  <a:schemeClr val="tx1"/>
                </a:solidFill>
              </a:rPr>
              <a:t>one of </a:t>
            </a:r>
            <a:r>
              <a:rPr lang="en-US" b="1" dirty="0">
                <a:solidFill>
                  <a:srgbClr val="7030A0"/>
                </a:solidFill>
              </a:rPr>
              <a:t>these properties</a:t>
            </a:r>
            <a:r>
              <a:rPr lang="en-US" dirty="0">
                <a:solidFill>
                  <a:schemeClr val="tx1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23617658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Cut Property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131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Cut Property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00200"/>
                <a:ext cx="84582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/>
                  <a:t>Definition: </a:t>
                </a:r>
                <a:r>
                  <a:rPr lang="en-US" sz="2000" dirty="0"/>
                  <a:t>For any subset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>
                    <a:latin typeface="Cambria Math"/>
                    <a:ea typeface="Cambria Math"/>
                  </a:rPr>
                  <a:t>⊆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, such that </a:t>
                </a:r>
                <a:r>
                  <a:rPr lang="en-US" sz="2000" dirty="0">
                    <a:latin typeface="Cambria Math"/>
                    <a:ea typeface="Cambria Math"/>
                  </a:rPr>
                  <a:t>∅≠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dirty="0">
                    <a:latin typeface="Cambria Math"/>
                    <a:ea typeface="Cambria Math"/>
                  </a:rPr>
                  <a:t>≠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,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cut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sz="2000" dirty="0"/>
                  <a:t>)</a:t>
                </a:r>
                <a:r>
                  <a:rPr lang="en-US" sz="2000" b="1" dirty="0"/>
                  <a:t> </a:t>
                </a:r>
                <a:r>
                  <a:rPr lang="en-US" sz="2000" dirty="0"/>
                  <a:t>= { (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𝑢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𝑣</m:t>
                    </m:r>
                  </m:oMath>
                </a14:m>
                <a:r>
                  <a:rPr lang="en-US" sz="2000" dirty="0"/>
                  <a:t>) </a:t>
                </a:r>
                <a:r>
                  <a:rPr lang="el-GR" sz="2000" dirty="0"/>
                  <a:t>ϵ</a:t>
                </a:r>
                <a:r>
                  <a:rPr lang="en-US" sz="2000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 |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𝑢</m:t>
                    </m:r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l-GR" sz="2000" dirty="0"/>
                      <m:t>ϵ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0070C0"/>
                        </a:solidFill>
                      </a:rPr>
                      <m:t> 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and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𝑣</m:t>
                    </m:r>
                    <m:r>
                      <m:rPr>
                        <m:nor/>
                      </m:rPr>
                      <a:rPr lang="en-US" sz="20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l-GR" sz="2000" dirty="0"/>
                      <m:t>ϵ</m:t>
                    </m:r>
                    <m:r>
                      <m:rPr>
                        <m:nor/>
                      </m:rPr>
                      <a:rPr lang="en-US" sz="2000" b="0" i="0" dirty="0" smtClean="0"/>
                      <m:t> </m:t>
                    </m:r>
                    <m:acc>
                      <m:accPr>
                        <m:chr m:val="̅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sz="2000" b="1" dirty="0"/>
                  <a:t>   </a:t>
                </a:r>
                <a:r>
                  <a:rPr lang="en-US" sz="2000" b="1" dirty="0">
                    <a:solidFill>
                      <a:srgbClr val="FF0000"/>
                    </a:solidFill>
                  </a:rPr>
                  <a:t>or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𝑣</m:t>
                    </m:r>
                    <m:r>
                      <a:rPr lang="en-US" sz="2000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l-GR" sz="2000" dirty="0"/>
                      <m:t>ϵ</m:t>
                    </m:r>
                    <m:r>
                      <m:rPr>
                        <m:nor/>
                      </m:rPr>
                      <a:rPr lang="en-US" sz="2000" dirty="0">
                        <a:solidFill>
                          <a:srgbClr val="0070C0"/>
                        </a:solidFill>
                      </a:rPr>
                      <m:t> 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and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0070C0"/>
                        </a:solidFill>
                        <a:latin typeface="Cambria Math"/>
                      </a:rPr>
                      <m:t>𝑢</m:t>
                    </m:r>
                    <m:r>
                      <m:rPr>
                        <m:nor/>
                      </m:rPr>
                      <a:rPr lang="en-US" sz="200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m:rPr>
                        <m:nor/>
                      </m:rPr>
                      <a:rPr lang="el-GR" sz="2000" dirty="0"/>
                      <m:t>ϵ</m:t>
                    </m:r>
                    <m:r>
                      <m:rPr>
                        <m:nor/>
                      </m:rPr>
                      <a:rPr lang="en-US" sz="2000" dirty="0"/>
                      <m:t> </m:t>
                    </m:r>
                    <m:acc>
                      <m:accPr>
                        <m:chr m:val="̅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}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Cut-property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        The </a:t>
                </a:r>
                <a:r>
                  <a:rPr lang="en-US" sz="2000" b="1" dirty="0"/>
                  <a:t>least weight edge </a:t>
                </a:r>
                <a:r>
                  <a:rPr lang="en-US" sz="2000" dirty="0"/>
                  <a:t>of a 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cut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sz="2000" dirty="0"/>
                  <a:t>) must be in </a:t>
                </a:r>
                <a:r>
                  <a:rPr lang="en-US" sz="2000" b="1" dirty="0"/>
                  <a:t>MST.</a:t>
                </a: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00200"/>
                <a:ext cx="8458200" cy="4525963"/>
              </a:xfrm>
              <a:blipFill rotWithShape="1">
                <a:blip r:embed="rId2"/>
                <a:stretch>
                  <a:fillRect l="-1154" t="-1078" b="-175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3276600" y="2895600"/>
            <a:ext cx="914400" cy="2286000"/>
            <a:chOff x="3276600" y="2895600"/>
            <a:chExt cx="914400" cy="2286000"/>
          </a:xfrm>
        </p:grpSpPr>
        <p:sp>
          <p:nvSpPr>
            <p:cNvPr id="5" name="Oval 4"/>
            <p:cNvSpPr/>
            <p:nvPr/>
          </p:nvSpPr>
          <p:spPr>
            <a:xfrm>
              <a:off x="3276600" y="3276600"/>
              <a:ext cx="914400" cy="1905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3657600" y="34290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3657600" y="38100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3657600" y="41910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657600" y="45720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3657600" y="48768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3576718" y="2895600"/>
                  <a:ext cx="3898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𝑨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6718" y="2895600"/>
                  <a:ext cx="389850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31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/>
          <p:cNvGrpSpPr/>
          <p:nvPr/>
        </p:nvGrpSpPr>
        <p:grpSpPr>
          <a:xfrm>
            <a:off x="4800600" y="2895600"/>
            <a:ext cx="914400" cy="2286000"/>
            <a:chOff x="4800600" y="2895600"/>
            <a:chExt cx="914400" cy="2286000"/>
          </a:xfrm>
        </p:grpSpPr>
        <p:sp>
          <p:nvSpPr>
            <p:cNvPr id="6" name="Oval 5"/>
            <p:cNvSpPr/>
            <p:nvPr/>
          </p:nvSpPr>
          <p:spPr>
            <a:xfrm>
              <a:off x="4800600" y="3276600"/>
              <a:ext cx="914400" cy="1905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181600" y="35052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181600" y="38862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5181600" y="42672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5181600" y="47244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5100718" y="2895600"/>
                  <a:ext cx="3898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b="1" i="1" smtClean="0">
                                <a:solidFill>
                                  <a:srgbClr val="0070C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</m:acc>
                      </m:oMath>
                    </m:oMathPara>
                  </a14:m>
                  <a:endParaRPr lang="en-US" b="1" dirty="0">
                    <a:solidFill>
                      <a:srgbClr val="0070C0"/>
                    </a:solidFill>
                  </a:endParaRPr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0718" y="2895600"/>
                  <a:ext cx="389850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197" r="-20313" b="-2459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/>
          <p:cNvGrpSpPr/>
          <p:nvPr/>
        </p:nvGrpSpPr>
        <p:grpSpPr>
          <a:xfrm>
            <a:off x="3787682" y="3505200"/>
            <a:ext cx="1416236" cy="1447800"/>
            <a:chOff x="3787682" y="3505200"/>
            <a:chExt cx="1416236" cy="1447800"/>
          </a:xfrm>
        </p:grpSpPr>
        <p:cxnSp>
          <p:nvCxnSpPr>
            <p:cNvPr id="20" name="Straight Connector 19"/>
            <p:cNvCxnSpPr>
              <a:stCxn id="8" idx="5"/>
              <a:endCxn id="13" idx="1"/>
            </p:cNvCxnSpPr>
            <p:nvPr/>
          </p:nvCxnSpPr>
          <p:spPr>
            <a:xfrm>
              <a:off x="3787682" y="3559082"/>
              <a:ext cx="1416236" cy="3494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endCxn id="13" idx="2"/>
            </p:cNvCxnSpPr>
            <p:nvPr/>
          </p:nvCxnSpPr>
          <p:spPr>
            <a:xfrm>
              <a:off x="3810000" y="3886200"/>
              <a:ext cx="1371600" cy="76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endCxn id="15" idx="2"/>
            </p:cNvCxnSpPr>
            <p:nvPr/>
          </p:nvCxnSpPr>
          <p:spPr>
            <a:xfrm flipV="1">
              <a:off x="3810000" y="4800600"/>
              <a:ext cx="1371600" cy="152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endCxn id="14" idx="3"/>
            </p:cNvCxnSpPr>
            <p:nvPr/>
          </p:nvCxnSpPr>
          <p:spPr>
            <a:xfrm flipV="1">
              <a:off x="3810000" y="4397282"/>
              <a:ext cx="1393918" cy="2509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8" idx="6"/>
              <a:endCxn id="7" idx="2"/>
            </p:cNvCxnSpPr>
            <p:nvPr/>
          </p:nvCxnSpPr>
          <p:spPr>
            <a:xfrm>
              <a:off x="3810000" y="3505200"/>
              <a:ext cx="1371600" cy="76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/>
          <p:cNvGrpSpPr/>
          <p:nvPr/>
        </p:nvGrpSpPr>
        <p:grpSpPr>
          <a:xfrm>
            <a:off x="4114800" y="2819400"/>
            <a:ext cx="1032334" cy="2514600"/>
            <a:chOff x="4114800" y="2819400"/>
            <a:chExt cx="1032334" cy="25146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TextBox 32"/>
                <p:cNvSpPr txBox="1"/>
                <p:nvPr/>
              </p:nvSpPr>
              <p:spPr>
                <a:xfrm>
                  <a:off x="4114800" y="2819400"/>
                  <a:ext cx="1032334" cy="36990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6C31"/>
                      </a:solidFill>
                    </a:rPr>
                    <a:t>cut</a:t>
                  </a:r>
                  <a:r>
                    <a:rPr lang="en-US" dirty="0"/>
                    <a:t>(</a:t>
                  </a:r>
                  <a14:m>
                    <m:oMath xmlns:m="http://schemas.openxmlformats.org/officeDocument/2006/math"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a14:m>
                  <a:r>
                    <a:rPr lang="en-US" dirty="0"/>
                    <a:t>,</a:t>
                  </a:r>
                  <a14:m>
                    <m:oMath xmlns:m="http://schemas.openxmlformats.org/officeDocument/2006/math">
                      <m:acc>
                        <m:accPr>
                          <m:chr m:val="̅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</m:acc>
                    </m:oMath>
                  </a14:m>
                  <a:r>
                    <a:rPr lang="en-US" dirty="0"/>
                    <a:t>) </a:t>
                  </a:r>
                </a:p>
              </p:txBody>
            </p:sp>
          </mc:Choice>
          <mc:Fallback xmlns="">
            <p:sp>
              <p:nvSpPr>
                <p:cNvPr id="33" name="TextBox 3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4800" y="2819400"/>
                  <a:ext cx="1032334" cy="369909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4734" t="-8333" r="-20118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Connector 34"/>
            <p:cNvCxnSpPr/>
            <p:nvPr/>
          </p:nvCxnSpPr>
          <p:spPr>
            <a:xfrm>
              <a:off x="4506959" y="3276600"/>
              <a:ext cx="0" cy="2057400"/>
            </a:xfrm>
            <a:prstGeom prst="line">
              <a:avLst/>
            </a:prstGeom>
            <a:ln w="28575">
              <a:solidFill>
                <a:srgbClr val="C00000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4114800" y="3276600"/>
            <a:ext cx="457200" cy="1648599"/>
            <a:chOff x="4114800" y="3276600"/>
            <a:chExt cx="457200" cy="1648599"/>
          </a:xfrm>
        </p:grpSpPr>
        <p:sp>
          <p:nvSpPr>
            <p:cNvPr id="41" name="TextBox 40"/>
            <p:cNvSpPr txBox="1"/>
            <p:nvPr/>
          </p:nvSpPr>
          <p:spPr>
            <a:xfrm>
              <a:off x="4191000" y="46482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23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230240" y="429500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13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154040" y="368540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37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114800" y="32766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48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191000" y="35052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67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3351106" y="4114800"/>
            <a:ext cx="2200364" cy="750332"/>
            <a:chOff x="3351106" y="4114800"/>
            <a:chExt cx="2200364" cy="750332"/>
          </a:xfrm>
        </p:grpSpPr>
        <p:sp>
          <p:nvSpPr>
            <p:cNvPr id="47" name="TextBox 46"/>
            <p:cNvSpPr txBox="1"/>
            <p:nvPr/>
          </p:nvSpPr>
          <p:spPr>
            <a:xfrm>
              <a:off x="3351106" y="44958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u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257800" y="41148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v</a:t>
              </a:r>
            </a:p>
          </p:txBody>
        </p:sp>
      </p:grpSp>
      <p:sp>
        <p:nvSpPr>
          <p:cNvPr id="50" name="Rectangle 49"/>
          <p:cNvSpPr/>
          <p:nvPr/>
        </p:nvSpPr>
        <p:spPr>
          <a:xfrm>
            <a:off x="4038599" y="1600200"/>
            <a:ext cx="2295293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Rectangle 50"/>
          <p:cNvSpPr/>
          <p:nvPr/>
        </p:nvSpPr>
        <p:spPr>
          <a:xfrm>
            <a:off x="2819400" y="1981200"/>
            <a:ext cx="1676399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Rectangle 51"/>
          <p:cNvSpPr/>
          <p:nvPr/>
        </p:nvSpPr>
        <p:spPr>
          <a:xfrm>
            <a:off x="4572000" y="1981200"/>
            <a:ext cx="23622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Down Ribbon 52"/>
              <p:cNvSpPr/>
              <p:nvPr/>
            </p:nvSpPr>
            <p:spPr>
              <a:xfrm>
                <a:off x="-1" y="2892551"/>
                <a:ext cx="3276601" cy="1222249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Pursuing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greedy strategy </a:t>
                </a:r>
                <a:r>
                  <a:rPr lang="en-US" sz="1600" dirty="0">
                    <a:solidFill>
                      <a:schemeClr val="tx1"/>
                    </a:solidFill>
                  </a:rPr>
                  <a:t>to minimize weight of MST, what can we say about the edges of </a:t>
                </a:r>
                <a:r>
                  <a:rPr lang="en-US" sz="1600" b="1" dirty="0">
                    <a:solidFill>
                      <a:srgbClr val="006C31"/>
                    </a:solidFill>
                  </a:rPr>
                  <a:t>cut</a:t>
                </a:r>
                <a:r>
                  <a:rPr lang="en-US" sz="1600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,</a:t>
                </a:r>
                <a:r>
                  <a:rPr lang="en-US" sz="1600" b="1" dirty="0"/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6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600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) ?</a:t>
                </a:r>
              </a:p>
            </p:txBody>
          </p:sp>
        </mc:Choice>
        <mc:Fallback xmlns="">
          <p:sp>
            <p:nvSpPr>
              <p:cNvPr id="53" name="Down Ribbon 5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892551"/>
                <a:ext cx="3276601" cy="1222249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6"/>
                <a:stretch>
                  <a:fillRect b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471168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3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1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2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3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3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3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1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1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0" grpId="0" uiExpand="1" animBg="1"/>
      <p:bldP spid="51" grpId="0" uiExpand="1" animBg="1"/>
      <p:bldP spid="52" grpId="0" uiExpand="1" animBg="1"/>
      <p:bldP spid="53" grpId="0" animBg="1"/>
      <p:bldP spid="53" grpId="1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Proof of </a:t>
            </a:r>
            <a:r>
              <a:rPr lang="en-US" sz="3600" b="1" dirty="0">
                <a:solidFill>
                  <a:srgbClr val="7030A0"/>
                </a:solidFill>
              </a:rPr>
              <a:t>cut-property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00200"/>
            <a:ext cx="8458200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3276600" y="2895600"/>
            <a:ext cx="914400" cy="2286000"/>
            <a:chOff x="3276600" y="2895600"/>
            <a:chExt cx="914400" cy="2286000"/>
          </a:xfrm>
        </p:grpSpPr>
        <p:sp>
          <p:nvSpPr>
            <p:cNvPr id="5" name="Oval 4"/>
            <p:cNvSpPr/>
            <p:nvPr/>
          </p:nvSpPr>
          <p:spPr>
            <a:xfrm>
              <a:off x="3276600" y="3276600"/>
              <a:ext cx="914400" cy="1905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Oval 7"/>
            <p:cNvSpPr/>
            <p:nvPr/>
          </p:nvSpPr>
          <p:spPr>
            <a:xfrm>
              <a:off x="3657600" y="34290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Oval 8"/>
            <p:cNvSpPr/>
            <p:nvPr/>
          </p:nvSpPr>
          <p:spPr>
            <a:xfrm>
              <a:off x="3657600" y="38100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3657600" y="41910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Oval 10"/>
            <p:cNvSpPr/>
            <p:nvPr/>
          </p:nvSpPr>
          <p:spPr>
            <a:xfrm>
              <a:off x="3657600" y="45720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Oval 11"/>
            <p:cNvSpPr/>
            <p:nvPr/>
          </p:nvSpPr>
          <p:spPr>
            <a:xfrm>
              <a:off x="3657600" y="48768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3576718" y="2895600"/>
                  <a:ext cx="3898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𝑨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76718" y="2895600"/>
                  <a:ext cx="389850" cy="369332"/>
                </a:xfrm>
                <a:prstGeom prst="rect">
                  <a:avLst/>
                </a:prstGeom>
                <a:blipFill rotWithShape="1">
                  <a:blip r:embed="rId2"/>
                  <a:stretch>
                    <a:fillRect t="-8197" r="-2031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Group 37"/>
          <p:cNvGrpSpPr/>
          <p:nvPr/>
        </p:nvGrpSpPr>
        <p:grpSpPr>
          <a:xfrm>
            <a:off x="4800600" y="2895600"/>
            <a:ext cx="914400" cy="2286000"/>
            <a:chOff x="4800600" y="2895600"/>
            <a:chExt cx="914400" cy="2286000"/>
          </a:xfrm>
        </p:grpSpPr>
        <p:sp>
          <p:nvSpPr>
            <p:cNvPr id="6" name="Oval 5"/>
            <p:cNvSpPr/>
            <p:nvPr/>
          </p:nvSpPr>
          <p:spPr>
            <a:xfrm>
              <a:off x="4800600" y="3276600"/>
              <a:ext cx="914400" cy="1905000"/>
            </a:xfrm>
            <a:prstGeom prst="ellipse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181600" y="35052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/>
            <p:cNvSpPr/>
            <p:nvPr/>
          </p:nvSpPr>
          <p:spPr>
            <a:xfrm>
              <a:off x="5181600" y="38862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/>
            <p:cNvSpPr/>
            <p:nvPr/>
          </p:nvSpPr>
          <p:spPr>
            <a:xfrm>
              <a:off x="5181600" y="42672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/>
            <p:cNvSpPr/>
            <p:nvPr/>
          </p:nvSpPr>
          <p:spPr>
            <a:xfrm>
              <a:off x="5181600" y="47244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/>
                <p:cNvSpPr txBox="1"/>
                <p:nvPr/>
              </p:nvSpPr>
              <p:spPr>
                <a:xfrm>
                  <a:off x="5100718" y="2895600"/>
                  <a:ext cx="38985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̅"/>
                            <m:ctrlPr>
                              <a:rPr lang="en-US" b="1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b="1" i="1">
                                <a:solidFill>
                                  <a:srgbClr val="0070C0"/>
                                </a:solidFill>
                                <a:latin typeface="Cambria Math"/>
                              </a:rPr>
                              <m:t>𝑨</m:t>
                            </m:r>
                          </m:e>
                        </m:acc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18" name="TextBox 1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100718" y="2895600"/>
                  <a:ext cx="389850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31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Group 38"/>
          <p:cNvGrpSpPr/>
          <p:nvPr/>
        </p:nvGrpSpPr>
        <p:grpSpPr>
          <a:xfrm>
            <a:off x="3787682" y="3505200"/>
            <a:ext cx="1416236" cy="1447800"/>
            <a:chOff x="3787682" y="3505200"/>
            <a:chExt cx="1416236" cy="1447800"/>
          </a:xfrm>
        </p:grpSpPr>
        <p:cxnSp>
          <p:nvCxnSpPr>
            <p:cNvPr id="20" name="Straight Connector 19"/>
            <p:cNvCxnSpPr>
              <a:stCxn id="8" idx="5"/>
              <a:endCxn id="13" idx="1"/>
            </p:cNvCxnSpPr>
            <p:nvPr/>
          </p:nvCxnSpPr>
          <p:spPr>
            <a:xfrm>
              <a:off x="3787682" y="3559082"/>
              <a:ext cx="1416236" cy="34943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/>
            <p:cNvCxnSpPr>
              <a:endCxn id="13" idx="2"/>
            </p:cNvCxnSpPr>
            <p:nvPr/>
          </p:nvCxnSpPr>
          <p:spPr>
            <a:xfrm>
              <a:off x="3810000" y="3886200"/>
              <a:ext cx="1371600" cy="76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>
              <a:endCxn id="15" idx="2"/>
            </p:cNvCxnSpPr>
            <p:nvPr/>
          </p:nvCxnSpPr>
          <p:spPr>
            <a:xfrm flipV="1">
              <a:off x="3810000" y="4800600"/>
              <a:ext cx="1371600" cy="1524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>
              <a:endCxn id="14" idx="3"/>
            </p:cNvCxnSpPr>
            <p:nvPr/>
          </p:nvCxnSpPr>
          <p:spPr>
            <a:xfrm flipV="1">
              <a:off x="3810000" y="4397282"/>
              <a:ext cx="1393918" cy="25091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>
              <a:stCxn id="8" idx="6"/>
              <a:endCxn id="7" idx="2"/>
            </p:cNvCxnSpPr>
            <p:nvPr/>
          </p:nvCxnSpPr>
          <p:spPr>
            <a:xfrm>
              <a:off x="3810000" y="3505200"/>
              <a:ext cx="1371600" cy="7620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6" name="Group 45"/>
          <p:cNvGrpSpPr/>
          <p:nvPr/>
        </p:nvGrpSpPr>
        <p:grpSpPr>
          <a:xfrm>
            <a:off x="4114800" y="3276600"/>
            <a:ext cx="457200" cy="1648599"/>
            <a:chOff x="4114800" y="3276600"/>
            <a:chExt cx="457200" cy="1648599"/>
          </a:xfrm>
        </p:grpSpPr>
        <p:sp>
          <p:nvSpPr>
            <p:cNvPr id="41" name="TextBox 40"/>
            <p:cNvSpPr txBox="1"/>
            <p:nvPr/>
          </p:nvSpPr>
          <p:spPr>
            <a:xfrm>
              <a:off x="4191000" y="46482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23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230240" y="429500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13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154040" y="3685401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37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114800" y="32766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48</a:t>
              </a: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191000" y="35052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67</a:t>
              </a:r>
            </a:p>
          </p:txBody>
        </p:sp>
      </p:grpSp>
      <p:grpSp>
        <p:nvGrpSpPr>
          <p:cNvPr id="49" name="Group 48"/>
          <p:cNvGrpSpPr/>
          <p:nvPr/>
        </p:nvGrpSpPr>
        <p:grpSpPr>
          <a:xfrm>
            <a:off x="3351106" y="4114800"/>
            <a:ext cx="2200364" cy="750332"/>
            <a:chOff x="3351106" y="4114800"/>
            <a:chExt cx="2200364" cy="750332"/>
          </a:xfrm>
        </p:grpSpPr>
        <p:sp>
          <p:nvSpPr>
            <p:cNvPr id="47" name="TextBox 46"/>
            <p:cNvSpPr txBox="1"/>
            <p:nvPr/>
          </p:nvSpPr>
          <p:spPr>
            <a:xfrm>
              <a:off x="3351106" y="44958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u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257800" y="41148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v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4091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Proof of </a:t>
            </a:r>
            <a:r>
              <a:rPr lang="en-US" sz="3600" b="1" dirty="0">
                <a:solidFill>
                  <a:srgbClr val="7030A0"/>
                </a:solidFill>
              </a:rPr>
              <a:t>cut-property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00200"/>
                <a:ext cx="84582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be the </a:t>
                </a:r>
                <a:r>
                  <a:rPr lang="en-US" sz="2000" b="1" dirty="0"/>
                  <a:t>MST</a:t>
                </a:r>
                <a:r>
                  <a:rPr lang="en-US" sz="2000" dirty="0"/>
                  <a:t>, and (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2000" dirty="0" err="1"/>
                  <a:t>,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∉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 </a:t>
                </a:r>
                <a:r>
                  <a:rPr lang="en-US" sz="2000" dirty="0"/>
                  <a:t>What happens if we </a:t>
                </a:r>
                <a:r>
                  <a:rPr lang="en-US" sz="2000" b="1" dirty="0"/>
                  <a:t>remove</a:t>
                </a:r>
                <a:r>
                  <a:rPr lang="en-US" sz="2000" dirty="0"/>
                  <a:t> (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x</a:t>
                </a:r>
                <a:r>
                  <a:rPr lang="en-US" sz="2000" dirty="0" err="1"/>
                  <a:t>,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y</a:t>
                </a:r>
                <a:r>
                  <a:rPr lang="en-US" sz="2000" dirty="0"/>
                  <a:t>) from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, and </a:t>
                </a:r>
                <a:r>
                  <a:rPr lang="en-US" sz="2000" b="1" dirty="0"/>
                  <a:t>add</a:t>
                </a:r>
                <a:r>
                  <a:rPr lang="en-US" sz="2000" dirty="0"/>
                  <a:t> (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2000" dirty="0" err="1"/>
                  <a:t>,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2000" dirty="0"/>
                  <a:t>) to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00200"/>
                <a:ext cx="8458200" cy="4525963"/>
              </a:xfrm>
              <a:blipFill rotWithShape="1">
                <a:blip r:embed="rId2"/>
                <a:stretch>
                  <a:fillRect l="-793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657600" y="4572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1816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4230240" y="4295001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13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3351106" y="4114800"/>
            <a:ext cx="2200364" cy="750332"/>
            <a:chOff x="3351106" y="4114800"/>
            <a:chExt cx="2200364" cy="750332"/>
          </a:xfrm>
        </p:grpSpPr>
        <p:sp>
          <p:nvSpPr>
            <p:cNvPr id="47" name="TextBox 46"/>
            <p:cNvSpPr txBox="1"/>
            <p:nvPr/>
          </p:nvSpPr>
          <p:spPr>
            <a:xfrm>
              <a:off x="3351106" y="44958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u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257800" y="41148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v</a:t>
              </a:r>
            </a:p>
          </p:txBody>
        </p:sp>
      </p:grpSp>
      <p:cxnSp>
        <p:nvCxnSpPr>
          <p:cNvPr id="28" name="Straight Connector 27"/>
          <p:cNvCxnSpPr>
            <a:endCxn id="14" idx="3"/>
          </p:cNvCxnSpPr>
          <p:nvPr/>
        </p:nvCxnSpPr>
        <p:spPr>
          <a:xfrm flipV="1">
            <a:off x="3810000" y="4397282"/>
            <a:ext cx="13939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/>
          <p:cNvGrpSpPr/>
          <p:nvPr/>
        </p:nvGrpSpPr>
        <p:grpSpPr>
          <a:xfrm>
            <a:off x="609600" y="1905000"/>
            <a:ext cx="7924800" cy="3048000"/>
            <a:chOff x="609600" y="1905000"/>
            <a:chExt cx="7924800" cy="3048000"/>
          </a:xfrm>
        </p:grpSpPr>
        <p:cxnSp>
          <p:nvCxnSpPr>
            <p:cNvPr id="67" name="Straight Connector 66"/>
            <p:cNvCxnSpPr>
              <a:stCxn id="50" idx="7"/>
            </p:cNvCxnSpPr>
            <p:nvPr/>
          </p:nvCxnSpPr>
          <p:spPr>
            <a:xfrm flipV="1">
              <a:off x="5387882" y="2133600"/>
              <a:ext cx="898618" cy="5557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/>
            <p:cNvGrpSpPr/>
            <p:nvPr/>
          </p:nvGrpSpPr>
          <p:grpSpPr>
            <a:xfrm>
              <a:off x="609600" y="1905000"/>
              <a:ext cx="7924800" cy="3048000"/>
              <a:chOff x="609600" y="1905000"/>
              <a:chExt cx="7924800" cy="3048000"/>
            </a:xfrm>
          </p:grpSpPr>
          <p:sp>
            <p:nvSpPr>
              <p:cNvPr id="35" name="Oval 34"/>
              <p:cNvSpPr/>
              <p:nvPr/>
            </p:nvSpPr>
            <p:spPr>
              <a:xfrm>
                <a:off x="2895600" y="4343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3200400" y="2971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5867400" y="3429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5257800" y="2667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4191000" y="2667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2286000" y="3733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3" name="Straight Connector 52"/>
              <p:cNvCxnSpPr>
                <a:stCxn id="52" idx="7"/>
                <a:endCxn id="36" idx="3"/>
              </p:cNvCxnSpPr>
              <p:nvPr/>
            </p:nvCxnSpPr>
            <p:spPr>
              <a:xfrm flipV="1">
                <a:off x="2416082" y="3101882"/>
                <a:ext cx="806636" cy="6542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>
                <a:endCxn id="51" idx="2"/>
              </p:cNvCxnSpPr>
              <p:nvPr/>
            </p:nvCxnSpPr>
            <p:spPr>
              <a:xfrm flipV="1">
                <a:off x="3352800" y="2743200"/>
                <a:ext cx="838200" cy="30480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>
                <a:stCxn id="51" idx="6"/>
                <a:endCxn id="50" idx="2"/>
              </p:cNvCxnSpPr>
              <p:nvPr/>
            </p:nvCxnSpPr>
            <p:spPr>
              <a:xfrm>
                <a:off x="4343400" y="2743200"/>
                <a:ext cx="914400" cy="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>
                <a:stCxn id="50" idx="5"/>
                <a:endCxn id="40" idx="0"/>
              </p:cNvCxnSpPr>
              <p:nvPr/>
            </p:nvCxnSpPr>
            <p:spPr>
              <a:xfrm>
                <a:off x="5387882" y="2797082"/>
                <a:ext cx="555718" cy="631918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>
                <a:stCxn id="35" idx="1"/>
                <a:endCxn id="52" idx="5"/>
              </p:cNvCxnSpPr>
              <p:nvPr/>
            </p:nvCxnSpPr>
            <p:spPr>
              <a:xfrm flipH="1" flipV="1">
                <a:off x="2416082" y="3863882"/>
                <a:ext cx="501836" cy="5018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11" idx="1"/>
                <a:endCxn id="35" idx="6"/>
              </p:cNvCxnSpPr>
              <p:nvPr/>
            </p:nvCxnSpPr>
            <p:spPr>
              <a:xfrm flipH="1" flipV="1">
                <a:off x="3048000" y="4419600"/>
                <a:ext cx="631918" cy="174718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>
                <a:stCxn id="48" idx="1"/>
                <a:endCxn id="40" idx="3"/>
              </p:cNvCxnSpPr>
              <p:nvPr/>
            </p:nvCxnSpPr>
            <p:spPr>
              <a:xfrm flipV="1">
                <a:off x="5257800" y="3559082"/>
                <a:ext cx="631918" cy="740384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>
                <a:stCxn id="40" idx="6"/>
                <a:endCxn id="64" idx="1"/>
              </p:cNvCxnSpPr>
              <p:nvPr/>
            </p:nvCxnSpPr>
            <p:spPr>
              <a:xfrm>
                <a:off x="6019800" y="3505200"/>
                <a:ext cx="936718" cy="98518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Oval 63"/>
              <p:cNvSpPr/>
              <p:nvPr/>
            </p:nvSpPr>
            <p:spPr>
              <a:xfrm>
                <a:off x="6934200" y="3581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Connector 69"/>
              <p:cNvCxnSpPr/>
              <p:nvPr/>
            </p:nvCxnSpPr>
            <p:spPr>
              <a:xfrm>
                <a:off x="6400800" y="2133600"/>
                <a:ext cx="1066800" cy="15240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Oval 70"/>
              <p:cNvSpPr/>
              <p:nvPr/>
            </p:nvSpPr>
            <p:spPr>
              <a:xfrm>
                <a:off x="6248400" y="2057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7467600" y="2209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2362200" y="23622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5" name="Straight Connector 74"/>
              <p:cNvCxnSpPr>
                <a:stCxn id="74" idx="5"/>
                <a:endCxn id="36" idx="1"/>
              </p:cNvCxnSpPr>
              <p:nvPr/>
            </p:nvCxnSpPr>
            <p:spPr>
              <a:xfrm>
                <a:off x="2492282" y="2492282"/>
                <a:ext cx="730436" cy="5018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Oval 77"/>
              <p:cNvSpPr/>
              <p:nvPr/>
            </p:nvSpPr>
            <p:spPr>
              <a:xfrm>
                <a:off x="1295400" y="21336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9" name="Straight Connector 78"/>
              <p:cNvCxnSpPr>
                <a:stCxn id="78" idx="6"/>
                <a:endCxn id="74" idx="1"/>
              </p:cNvCxnSpPr>
              <p:nvPr/>
            </p:nvCxnSpPr>
            <p:spPr>
              <a:xfrm>
                <a:off x="1447800" y="2209800"/>
                <a:ext cx="936718" cy="174718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685800" y="3810000"/>
                <a:ext cx="925559" cy="26670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>
                <a:stCxn id="52" idx="3"/>
                <a:endCxn id="88" idx="7"/>
              </p:cNvCxnSpPr>
              <p:nvPr/>
            </p:nvCxnSpPr>
            <p:spPr>
              <a:xfrm flipH="1">
                <a:off x="1730282" y="3863882"/>
                <a:ext cx="578036" cy="1970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Oval 86"/>
              <p:cNvSpPr/>
              <p:nvPr/>
            </p:nvSpPr>
            <p:spPr>
              <a:xfrm>
                <a:off x="609600" y="3733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1600200" y="40386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2" name="Straight Connector 91"/>
              <p:cNvCxnSpPr>
                <a:endCxn id="88" idx="3"/>
              </p:cNvCxnSpPr>
              <p:nvPr/>
            </p:nvCxnSpPr>
            <p:spPr>
              <a:xfrm flipV="1">
                <a:off x="990600" y="4168682"/>
                <a:ext cx="631918" cy="69645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Oval 95"/>
              <p:cNvSpPr/>
              <p:nvPr/>
            </p:nvSpPr>
            <p:spPr>
              <a:xfrm>
                <a:off x="914400" y="48006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0" name="Straight Connector 99"/>
              <p:cNvCxnSpPr>
                <a:endCxn id="64" idx="6"/>
              </p:cNvCxnSpPr>
              <p:nvPr/>
            </p:nvCxnSpPr>
            <p:spPr>
              <a:xfrm flipH="1" flipV="1">
                <a:off x="7086600" y="3657600"/>
                <a:ext cx="1219200" cy="53340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Oval 103"/>
              <p:cNvSpPr/>
              <p:nvPr/>
            </p:nvSpPr>
            <p:spPr>
              <a:xfrm>
                <a:off x="8229600" y="4114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8382000" y="1905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6" name="Straight Connector 105"/>
              <p:cNvCxnSpPr>
                <a:stCxn id="105" idx="2"/>
              </p:cNvCxnSpPr>
              <p:nvPr/>
            </p:nvCxnSpPr>
            <p:spPr>
              <a:xfrm flipH="1">
                <a:off x="7620000" y="1981200"/>
                <a:ext cx="762000" cy="2732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TextBox 110"/>
              <p:cNvSpPr txBox="1"/>
              <p:nvPr/>
            </p:nvSpPr>
            <p:spPr>
              <a:xfrm>
                <a:off x="3505200" y="4736068"/>
                <a:ext cx="536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dirty="0" smtClean="0"/>
                        <m:t>ϵ</m:t>
                      </m:r>
                      <m:r>
                        <a:rPr lang="en-US" b="0" i="1" dirty="0" smtClean="0">
                          <a:latin typeface="Cambria Math"/>
                        </a:rPr>
                        <m:t> </m:t>
                      </m:r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1" name="TextBox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5200" y="4736068"/>
                <a:ext cx="536364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136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TextBox 111"/>
              <p:cNvSpPr txBox="1"/>
              <p:nvPr/>
            </p:nvSpPr>
            <p:spPr>
              <a:xfrm>
                <a:off x="2743200" y="4495800"/>
                <a:ext cx="536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dirty="0" smtClean="0"/>
                        <m:t>ϵ</m:t>
                      </m:r>
                      <m:r>
                        <a:rPr lang="en-US" b="0" i="1" dirty="0" smtClean="0">
                          <a:latin typeface="Cambria Math"/>
                        </a:rPr>
                        <m:t> </m:t>
                      </m:r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2" name="TextBox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4495800"/>
                <a:ext cx="536364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1363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3" name="Curved Down Arrow 112"/>
          <p:cNvSpPr/>
          <p:nvPr/>
        </p:nvSpPr>
        <p:spPr>
          <a:xfrm rot="20419659">
            <a:off x="3110876" y="2943555"/>
            <a:ext cx="2326136" cy="1083313"/>
          </a:xfrm>
          <a:prstGeom prst="curvedDownArrow">
            <a:avLst>
              <a:gd name="adj1" fmla="val 13354"/>
              <a:gd name="adj2" fmla="val 32943"/>
              <a:gd name="adj3" fmla="val 2070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TextBox 113"/>
              <p:cNvSpPr txBox="1"/>
              <p:nvPr/>
            </p:nvSpPr>
            <p:spPr>
              <a:xfrm>
                <a:off x="1902036" y="3440668"/>
                <a:ext cx="536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dirty="0" smtClean="0"/>
                        <m:t>ϵ</m:t>
                      </m:r>
                      <m:r>
                        <a:rPr lang="en-US" b="0" i="1" dirty="0" smtClean="0">
                          <a:latin typeface="Cambria Math"/>
                        </a:rPr>
                        <m:t> </m:t>
                      </m:r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4" name="TextBox 1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2036" y="3440668"/>
                <a:ext cx="536364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477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TextBox 114"/>
              <p:cNvSpPr txBox="1"/>
              <p:nvPr/>
            </p:nvSpPr>
            <p:spPr>
              <a:xfrm>
                <a:off x="2587836" y="2895600"/>
                <a:ext cx="53636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dirty="0" smtClean="0"/>
                        <m:t>ϵ</m:t>
                      </m:r>
                      <m:r>
                        <a:rPr lang="en-US" b="0" i="1" dirty="0" smtClean="0">
                          <a:latin typeface="Cambria Math"/>
                        </a:rPr>
                        <m:t> </m:t>
                      </m:r>
                      <m:r>
                        <a:rPr lang="en-US" b="1" i="1">
                          <a:solidFill>
                            <a:srgbClr val="0070C0"/>
                          </a:solidFill>
                          <a:latin typeface="Cambria Math"/>
                        </a:rPr>
                        <m:t>𝑨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5" name="TextBox 1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7836" y="2895600"/>
                <a:ext cx="536364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1363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Rectangle 117"/>
              <p:cNvSpPr/>
              <p:nvPr/>
            </p:nvSpPr>
            <p:spPr>
              <a:xfrm>
                <a:off x="5029200" y="4419600"/>
                <a:ext cx="5405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dirty="0"/>
                        <m:t>ϵ</m:t>
                      </m:r>
                      <m:r>
                        <a:rPr lang="el-GR" i="1" dirty="0">
                          <a:latin typeface="Cambria Math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</m:ac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8" name="Rectangle 1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29200" y="4419600"/>
                <a:ext cx="540533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213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9" name="Rectangle 118"/>
              <p:cNvSpPr/>
              <p:nvPr/>
            </p:nvSpPr>
            <p:spPr>
              <a:xfrm>
                <a:off x="3810000" y="2373868"/>
                <a:ext cx="5405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l-GR" dirty="0"/>
                        <m:t>ϵ</m:t>
                      </m:r>
                      <m:r>
                        <a:rPr lang="el-GR" i="1" dirty="0">
                          <a:latin typeface="Cambria Math"/>
                        </a:rPr>
                        <m:t> </m:t>
                      </m:r>
                      <m:acc>
                        <m:accPr>
                          <m:chr m:val="̅"/>
                          <m:ctrlPr>
                            <a:rPr lang="en-US" b="1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b="1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𝑨</m:t>
                          </m:r>
                        </m:e>
                      </m:acc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119" name="Rectangle 1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0000" y="2373868"/>
                <a:ext cx="540533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13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0" name="TextBox 119"/>
          <p:cNvSpPr txBox="1"/>
          <p:nvPr/>
        </p:nvSpPr>
        <p:spPr>
          <a:xfrm>
            <a:off x="3505200" y="266700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&gt;13</a:t>
            </a:r>
          </a:p>
        </p:txBody>
      </p:sp>
      <p:grpSp>
        <p:nvGrpSpPr>
          <p:cNvPr id="123" name="Group 122"/>
          <p:cNvGrpSpPr/>
          <p:nvPr/>
        </p:nvGrpSpPr>
        <p:grpSpPr>
          <a:xfrm>
            <a:off x="3124200" y="2384518"/>
            <a:ext cx="1434976" cy="663482"/>
            <a:chOff x="3124200" y="2384518"/>
            <a:chExt cx="1434976" cy="663482"/>
          </a:xfrm>
        </p:grpSpPr>
        <p:sp>
          <p:nvSpPr>
            <p:cNvPr id="121" name="TextBox 120"/>
            <p:cNvSpPr txBox="1"/>
            <p:nvPr/>
          </p:nvSpPr>
          <p:spPr>
            <a:xfrm>
              <a:off x="3124200" y="2678668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x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4265506" y="2384518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y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685120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1" grpId="0"/>
      <p:bldP spid="112" grpId="0"/>
      <p:bldP spid="113" grpId="0" animBg="1"/>
      <p:bldP spid="114" grpId="0"/>
      <p:bldP spid="115" grpId="0"/>
      <p:bldP spid="118" grpId="0"/>
      <p:bldP spid="119" grpId="0"/>
      <p:bldP spid="120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Proof of </a:t>
            </a:r>
            <a:r>
              <a:rPr lang="en-US" sz="3600" b="1" dirty="0">
                <a:solidFill>
                  <a:srgbClr val="7030A0"/>
                </a:solidFill>
              </a:rPr>
              <a:t>cut-property</a:t>
            </a: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600200"/>
                <a:ext cx="84582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be the </a:t>
                </a:r>
                <a:r>
                  <a:rPr lang="en-US" sz="2000" b="1" dirty="0"/>
                  <a:t>MST</a:t>
                </a:r>
                <a:r>
                  <a:rPr lang="en-US" sz="2000" dirty="0"/>
                  <a:t>, and (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2000" dirty="0" err="1"/>
                  <a:t>,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∉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Question: </a:t>
                </a:r>
                <a:r>
                  <a:rPr lang="en-US" sz="2000" dirty="0"/>
                  <a:t>What happens if we </a:t>
                </a:r>
                <a:r>
                  <a:rPr lang="en-US" sz="2000" b="1" dirty="0"/>
                  <a:t>remove</a:t>
                </a:r>
                <a:r>
                  <a:rPr lang="en-US" sz="2000" dirty="0"/>
                  <a:t> (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x</a:t>
                </a:r>
                <a:r>
                  <a:rPr lang="en-US" sz="2000" dirty="0" err="1"/>
                  <a:t>,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y</a:t>
                </a:r>
                <a:r>
                  <a:rPr lang="en-US" sz="2000" dirty="0"/>
                  <a:t>) from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, and </a:t>
                </a:r>
                <a:r>
                  <a:rPr lang="en-US" sz="2000" b="1" dirty="0"/>
                  <a:t>add</a:t>
                </a:r>
                <a:r>
                  <a:rPr lang="en-US" sz="2000" dirty="0"/>
                  <a:t> (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2000" dirty="0" err="1"/>
                  <a:t>,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2000" dirty="0"/>
                  <a:t>) to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600200"/>
                <a:ext cx="8458200" cy="4525963"/>
              </a:xfrm>
              <a:blipFill rotWithShape="1">
                <a:blip r:embed="rId2"/>
                <a:stretch>
                  <a:fillRect l="-793" t="-674" b="-80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657600" y="4572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51816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4230240" y="4295001"/>
            <a:ext cx="34176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13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3351106" y="4114800"/>
            <a:ext cx="2200364" cy="750332"/>
            <a:chOff x="3351106" y="4114800"/>
            <a:chExt cx="2200364" cy="750332"/>
          </a:xfrm>
        </p:grpSpPr>
        <p:sp>
          <p:nvSpPr>
            <p:cNvPr id="47" name="TextBox 46"/>
            <p:cNvSpPr txBox="1"/>
            <p:nvPr/>
          </p:nvSpPr>
          <p:spPr>
            <a:xfrm>
              <a:off x="3351106" y="4495800"/>
              <a:ext cx="3064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u</a:t>
              </a: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5257800" y="4114800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v</a:t>
              </a:r>
            </a:p>
          </p:txBody>
        </p:sp>
      </p:grpSp>
      <p:cxnSp>
        <p:nvCxnSpPr>
          <p:cNvPr id="28" name="Straight Connector 27"/>
          <p:cNvCxnSpPr>
            <a:endCxn id="14" idx="3"/>
          </p:cNvCxnSpPr>
          <p:nvPr/>
        </p:nvCxnSpPr>
        <p:spPr>
          <a:xfrm flipV="1">
            <a:off x="3810000" y="4397282"/>
            <a:ext cx="1393918" cy="2509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0" name="Group 109"/>
          <p:cNvGrpSpPr/>
          <p:nvPr/>
        </p:nvGrpSpPr>
        <p:grpSpPr>
          <a:xfrm>
            <a:off x="609600" y="1905000"/>
            <a:ext cx="7924800" cy="3048000"/>
            <a:chOff x="609600" y="1905000"/>
            <a:chExt cx="7924800" cy="3048000"/>
          </a:xfrm>
        </p:grpSpPr>
        <p:cxnSp>
          <p:nvCxnSpPr>
            <p:cNvPr id="67" name="Straight Connector 66"/>
            <p:cNvCxnSpPr>
              <a:stCxn id="50" idx="7"/>
            </p:cNvCxnSpPr>
            <p:nvPr/>
          </p:nvCxnSpPr>
          <p:spPr>
            <a:xfrm flipV="1">
              <a:off x="5387882" y="2133600"/>
              <a:ext cx="898618" cy="555718"/>
            </a:xfrm>
            <a:prstGeom prst="line">
              <a:avLst/>
            </a:prstGeom>
            <a:ln w="571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9" name="Group 108"/>
            <p:cNvGrpSpPr/>
            <p:nvPr/>
          </p:nvGrpSpPr>
          <p:grpSpPr>
            <a:xfrm>
              <a:off x="609600" y="1905000"/>
              <a:ext cx="7924800" cy="3048000"/>
              <a:chOff x="609600" y="1905000"/>
              <a:chExt cx="7924800" cy="3048000"/>
            </a:xfrm>
          </p:grpSpPr>
          <p:sp>
            <p:nvSpPr>
              <p:cNvPr id="35" name="Oval 34"/>
              <p:cNvSpPr/>
              <p:nvPr/>
            </p:nvSpPr>
            <p:spPr>
              <a:xfrm>
                <a:off x="2895600" y="4343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Oval 35"/>
              <p:cNvSpPr/>
              <p:nvPr/>
            </p:nvSpPr>
            <p:spPr>
              <a:xfrm>
                <a:off x="3200400" y="2971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5867400" y="3429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0" name="Oval 49"/>
              <p:cNvSpPr/>
              <p:nvPr/>
            </p:nvSpPr>
            <p:spPr>
              <a:xfrm>
                <a:off x="5257800" y="2667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1" name="Oval 50"/>
              <p:cNvSpPr/>
              <p:nvPr/>
            </p:nvSpPr>
            <p:spPr>
              <a:xfrm>
                <a:off x="4191000" y="2667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" name="Oval 51"/>
              <p:cNvSpPr/>
              <p:nvPr/>
            </p:nvSpPr>
            <p:spPr>
              <a:xfrm>
                <a:off x="2286000" y="3733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53" name="Straight Connector 52"/>
              <p:cNvCxnSpPr>
                <a:stCxn id="52" idx="7"/>
                <a:endCxn id="36" idx="3"/>
              </p:cNvCxnSpPr>
              <p:nvPr/>
            </p:nvCxnSpPr>
            <p:spPr>
              <a:xfrm flipV="1">
                <a:off x="2416082" y="3101882"/>
                <a:ext cx="806636" cy="6542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>
                <a:endCxn id="51" idx="2"/>
              </p:cNvCxnSpPr>
              <p:nvPr/>
            </p:nvCxnSpPr>
            <p:spPr>
              <a:xfrm flipV="1">
                <a:off x="3352800" y="2743200"/>
                <a:ext cx="838200" cy="3048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>
                <a:stCxn id="51" idx="6"/>
                <a:endCxn id="50" idx="2"/>
              </p:cNvCxnSpPr>
              <p:nvPr/>
            </p:nvCxnSpPr>
            <p:spPr>
              <a:xfrm>
                <a:off x="4343400" y="2743200"/>
                <a:ext cx="914400" cy="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>
                <a:stCxn id="50" idx="5"/>
                <a:endCxn id="40" idx="0"/>
              </p:cNvCxnSpPr>
              <p:nvPr/>
            </p:nvCxnSpPr>
            <p:spPr>
              <a:xfrm>
                <a:off x="5387882" y="2797082"/>
                <a:ext cx="555718" cy="631918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>
                <a:stCxn id="35" idx="1"/>
                <a:endCxn id="52" idx="5"/>
              </p:cNvCxnSpPr>
              <p:nvPr/>
            </p:nvCxnSpPr>
            <p:spPr>
              <a:xfrm flipH="1" flipV="1">
                <a:off x="2416082" y="3863882"/>
                <a:ext cx="501836" cy="5018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>
                <a:stCxn id="11" idx="1"/>
                <a:endCxn id="35" idx="6"/>
              </p:cNvCxnSpPr>
              <p:nvPr/>
            </p:nvCxnSpPr>
            <p:spPr>
              <a:xfrm flipH="1" flipV="1">
                <a:off x="3048000" y="4419600"/>
                <a:ext cx="631918" cy="174718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>
                <a:stCxn id="48" idx="1"/>
                <a:endCxn id="40" idx="3"/>
              </p:cNvCxnSpPr>
              <p:nvPr/>
            </p:nvCxnSpPr>
            <p:spPr>
              <a:xfrm flipV="1">
                <a:off x="5257800" y="3559082"/>
                <a:ext cx="631918" cy="740384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/>
              <p:cNvCxnSpPr>
                <a:stCxn id="40" idx="6"/>
                <a:endCxn id="64" idx="1"/>
              </p:cNvCxnSpPr>
              <p:nvPr/>
            </p:nvCxnSpPr>
            <p:spPr>
              <a:xfrm>
                <a:off x="6019800" y="3505200"/>
                <a:ext cx="936718" cy="98518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4" name="Oval 63"/>
              <p:cNvSpPr/>
              <p:nvPr/>
            </p:nvSpPr>
            <p:spPr>
              <a:xfrm>
                <a:off x="6934200" y="3581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0" name="Straight Connector 69"/>
              <p:cNvCxnSpPr/>
              <p:nvPr/>
            </p:nvCxnSpPr>
            <p:spPr>
              <a:xfrm>
                <a:off x="6400800" y="2133600"/>
                <a:ext cx="1066800" cy="15240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" name="Oval 70"/>
              <p:cNvSpPr/>
              <p:nvPr/>
            </p:nvSpPr>
            <p:spPr>
              <a:xfrm>
                <a:off x="6248400" y="2057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3" name="Oval 72"/>
              <p:cNvSpPr/>
              <p:nvPr/>
            </p:nvSpPr>
            <p:spPr>
              <a:xfrm>
                <a:off x="7467600" y="2209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4" name="Oval 73"/>
              <p:cNvSpPr/>
              <p:nvPr/>
            </p:nvSpPr>
            <p:spPr>
              <a:xfrm>
                <a:off x="2362200" y="23622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5" name="Straight Connector 74"/>
              <p:cNvCxnSpPr>
                <a:stCxn id="74" idx="5"/>
                <a:endCxn id="36" idx="1"/>
              </p:cNvCxnSpPr>
              <p:nvPr/>
            </p:nvCxnSpPr>
            <p:spPr>
              <a:xfrm>
                <a:off x="2492282" y="2492282"/>
                <a:ext cx="730436" cy="5018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8" name="Oval 77"/>
              <p:cNvSpPr/>
              <p:nvPr/>
            </p:nvSpPr>
            <p:spPr>
              <a:xfrm>
                <a:off x="1295400" y="21336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9" name="Straight Connector 78"/>
              <p:cNvCxnSpPr>
                <a:stCxn id="78" idx="6"/>
                <a:endCxn id="74" idx="1"/>
              </p:cNvCxnSpPr>
              <p:nvPr/>
            </p:nvCxnSpPr>
            <p:spPr>
              <a:xfrm>
                <a:off x="1447800" y="2209800"/>
                <a:ext cx="936718" cy="174718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685800" y="3810000"/>
                <a:ext cx="925559" cy="26670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>
                <a:stCxn id="52" idx="3"/>
                <a:endCxn id="88" idx="7"/>
              </p:cNvCxnSpPr>
              <p:nvPr/>
            </p:nvCxnSpPr>
            <p:spPr>
              <a:xfrm flipH="1">
                <a:off x="1730282" y="3863882"/>
                <a:ext cx="578036" cy="1970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7" name="Oval 86"/>
              <p:cNvSpPr/>
              <p:nvPr/>
            </p:nvSpPr>
            <p:spPr>
              <a:xfrm>
                <a:off x="609600" y="3733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8" name="Oval 87"/>
              <p:cNvSpPr/>
              <p:nvPr/>
            </p:nvSpPr>
            <p:spPr>
              <a:xfrm>
                <a:off x="1600200" y="40386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2" name="Straight Connector 91"/>
              <p:cNvCxnSpPr>
                <a:endCxn id="88" idx="3"/>
              </p:cNvCxnSpPr>
              <p:nvPr/>
            </p:nvCxnSpPr>
            <p:spPr>
              <a:xfrm flipV="1">
                <a:off x="990600" y="4168682"/>
                <a:ext cx="631918" cy="69645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6" name="Oval 95"/>
              <p:cNvSpPr/>
              <p:nvPr/>
            </p:nvSpPr>
            <p:spPr>
              <a:xfrm>
                <a:off x="914400" y="48006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0" name="Straight Connector 99"/>
              <p:cNvCxnSpPr>
                <a:endCxn id="64" idx="6"/>
              </p:cNvCxnSpPr>
              <p:nvPr/>
            </p:nvCxnSpPr>
            <p:spPr>
              <a:xfrm flipH="1" flipV="1">
                <a:off x="7086600" y="3657600"/>
                <a:ext cx="1219200" cy="533400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4" name="Oval 103"/>
              <p:cNvSpPr/>
              <p:nvPr/>
            </p:nvSpPr>
            <p:spPr>
              <a:xfrm>
                <a:off x="8229600" y="41148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5" name="Oval 104"/>
              <p:cNvSpPr/>
              <p:nvPr/>
            </p:nvSpPr>
            <p:spPr>
              <a:xfrm>
                <a:off x="8382000" y="1905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6" name="Straight Connector 105"/>
              <p:cNvCxnSpPr>
                <a:stCxn id="105" idx="2"/>
              </p:cNvCxnSpPr>
              <p:nvPr/>
            </p:nvCxnSpPr>
            <p:spPr>
              <a:xfrm flipH="1">
                <a:off x="7620000" y="1981200"/>
                <a:ext cx="762000" cy="273236"/>
              </a:xfrm>
              <a:prstGeom prst="line">
                <a:avLst/>
              </a:prstGeom>
              <a:ln w="5715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0" name="TextBox 119"/>
          <p:cNvSpPr txBox="1"/>
          <p:nvPr/>
        </p:nvSpPr>
        <p:spPr>
          <a:xfrm>
            <a:off x="3505200" y="2667000"/>
            <a:ext cx="4187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&gt;13</a:t>
            </a:r>
          </a:p>
        </p:txBody>
      </p:sp>
      <p:grpSp>
        <p:nvGrpSpPr>
          <p:cNvPr id="60" name="Group 59"/>
          <p:cNvGrpSpPr/>
          <p:nvPr/>
        </p:nvGrpSpPr>
        <p:grpSpPr>
          <a:xfrm>
            <a:off x="3124200" y="2384518"/>
            <a:ext cx="1434976" cy="663482"/>
            <a:chOff x="3124200" y="2384518"/>
            <a:chExt cx="1434976" cy="663482"/>
          </a:xfrm>
        </p:grpSpPr>
        <p:sp>
          <p:nvSpPr>
            <p:cNvPr id="61" name="TextBox 60"/>
            <p:cNvSpPr txBox="1"/>
            <p:nvPr/>
          </p:nvSpPr>
          <p:spPr>
            <a:xfrm>
              <a:off x="3124200" y="2678668"/>
              <a:ext cx="2904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x</a:t>
              </a: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4265506" y="2384518"/>
              <a:ext cx="2936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y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Down Ribbon 4"/>
              <p:cNvSpPr/>
              <p:nvPr/>
            </p:nvSpPr>
            <p:spPr>
              <a:xfrm>
                <a:off x="1148579" y="5715000"/>
                <a:ext cx="6547621" cy="84124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tx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We get a spanning tree 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  <m:r>
                      <a:rPr lang="en-US" b="1" i="1" smtClean="0">
                        <a:solidFill>
                          <a:srgbClr val="0070C0"/>
                        </a:solidFill>
                        <a:latin typeface="Cambria Math"/>
                      </a:rPr>
                      <m:t>′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with weight</a:t>
                </a:r>
                <a:r>
                  <a:rPr lang="en-US" b="1" dirty="0">
                    <a:solidFill>
                      <a:schemeClr val="tx1"/>
                    </a:solidFill>
                  </a:rPr>
                  <a:t> </a:t>
                </a:r>
                <a:r>
                  <a:rPr lang="en-US" dirty="0">
                    <a:solidFill>
                      <a:schemeClr val="tx1"/>
                    </a:solidFill>
                  </a:rPr>
                  <a:t>&lt; </a:t>
                </a:r>
                <a:r>
                  <a:rPr lang="en-US" b="1" dirty="0">
                    <a:solidFill>
                      <a:schemeClr val="tx1"/>
                    </a:solidFill>
                  </a:rPr>
                  <a:t>weight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</a:t>
                </a:r>
              </a:p>
              <a:p>
                <a:pPr algn="ctr"/>
                <a:r>
                  <a:rPr lang="en-US" b="1" dirty="0">
                    <a:solidFill>
                      <a:srgbClr val="C00000"/>
                    </a:solidFill>
                  </a:rPr>
                  <a:t>A contradiction !</a:t>
                </a:r>
              </a:p>
            </p:txBody>
          </p:sp>
        </mc:Choice>
        <mc:Fallback xmlns="">
          <p:sp>
            <p:nvSpPr>
              <p:cNvPr id="5" name="Down Ribbon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8579" y="5715000"/>
                <a:ext cx="6547621" cy="84124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3"/>
                <a:stretch>
                  <a:fillRect b="-56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0059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7030A0"/>
                </a:solidFill>
              </a:rPr>
              <a:t>Cycle Property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4998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Cycle Property</a:t>
            </a:r>
            <a:br>
              <a:rPr lang="en-US" sz="3600" b="1" dirty="0">
                <a:solidFill>
                  <a:srgbClr val="7030A0"/>
                </a:solidFill>
              </a:rPr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𝑪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be any cycle in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Cycle-property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r>
                  <a:rPr lang="en-US" sz="1800" b="1" dirty="0"/>
                  <a:t>Maximum weight </a:t>
                </a:r>
                <a:r>
                  <a:rPr lang="en-US" sz="1800" dirty="0"/>
                  <a:t>edge of any cycle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𝑪</m:t>
                    </m:r>
                    <m:r>
                      <a:rPr lang="en-US" sz="18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b="1" dirty="0">
                    <a:solidFill>
                      <a:srgbClr val="C00000"/>
                    </a:solidFill>
                  </a:rPr>
                  <a:t>can not </a:t>
                </a:r>
                <a:r>
                  <a:rPr lang="en-US" sz="1800" dirty="0"/>
                  <a:t>be present in </a:t>
                </a:r>
                <a:r>
                  <a:rPr lang="en-US" sz="1800" b="1" dirty="0"/>
                  <a:t>MST</a:t>
                </a:r>
                <a:r>
                  <a:rPr lang="en-US" sz="1800" dirty="0"/>
                  <a:t>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grpSp>
        <p:nvGrpSpPr>
          <p:cNvPr id="55" name="Group 54"/>
          <p:cNvGrpSpPr/>
          <p:nvPr/>
        </p:nvGrpSpPr>
        <p:grpSpPr>
          <a:xfrm>
            <a:off x="2895600" y="990600"/>
            <a:ext cx="4009838" cy="2502932"/>
            <a:chOff x="2895600" y="990600"/>
            <a:chExt cx="4009838" cy="2502932"/>
          </a:xfrm>
        </p:grpSpPr>
        <p:grpSp>
          <p:nvGrpSpPr>
            <p:cNvPr id="100" name="Group 99"/>
            <p:cNvGrpSpPr/>
            <p:nvPr/>
          </p:nvGrpSpPr>
          <p:grpSpPr>
            <a:xfrm>
              <a:off x="2895600" y="990600"/>
              <a:ext cx="3306404" cy="2502932"/>
              <a:chOff x="2895600" y="990600"/>
              <a:chExt cx="3306404" cy="2502932"/>
            </a:xfrm>
          </p:grpSpPr>
          <p:grpSp>
            <p:nvGrpSpPr>
              <p:cNvPr id="45" name="Group 44"/>
              <p:cNvGrpSpPr/>
              <p:nvPr/>
            </p:nvGrpSpPr>
            <p:grpSpPr>
              <a:xfrm>
                <a:off x="3960706" y="3124200"/>
                <a:ext cx="1362164" cy="369332"/>
                <a:chOff x="3492376" y="4495800"/>
                <a:chExt cx="1362164" cy="369332"/>
              </a:xfrm>
            </p:grpSpPr>
            <p:sp>
              <p:nvSpPr>
                <p:cNvPr id="46" name="TextBox 45"/>
                <p:cNvSpPr txBox="1"/>
                <p:nvPr/>
              </p:nvSpPr>
              <p:spPr>
                <a:xfrm>
                  <a:off x="3492376" y="4495800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u</a:t>
                  </a: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4560870" y="4495800"/>
                  <a:ext cx="2936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v</a:t>
                  </a:r>
                </a:p>
              </p:txBody>
            </p:sp>
          </p:grpSp>
          <p:sp>
            <p:nvSpPr>
              <p:cNvPr id="95" name="TextBox 94"/>
              <p:cNvSpPr txBox="1"/>
              <p:nvPr/>
            </p:nvSpPr>
            <p:spPr>
              <a:xfrm>
                <a:off x="2895600" y="2286000"/>
                <a:ext cx="2984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a</a:t>
                </a:r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3435320" y="137160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b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4900754" y="990600"/>
                <a:ext cx="2808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c</a:t>
                </a: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5943600" y="1828800"/>
                <a:ext cx="2584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f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5867400" y="2819400"/>
                <a:ext cx="2664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r</a:t>
                </a:r>
              </a:p>
            </p:txBody>
          </p:sp>
        </p:grpSp>
        <p:sp>
          <p:nvSpPr>
            <p:cNvPr id="112" name="TextBox 111"/>
            <p:cNvSpPr txBox="1"/>
            <p:nvPr/>
          </p:nvSpPr>
          <p:spPr>
            <a:xfrm>
              <a:off x="6629400" y="2373868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s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3505200" y="1524000"/>
            <a:ext cx="2932560" cy="1648599"/>
            <a:chOff x="3505200" y="1524000"/>
            <a:chExt cx="2932560" cy="1648599"/>
          </a:xfrm>
        </p:grpSpPr>
        <p:grpSp>
          <p:nvGrpSpPr>
            <p:cNvPr id="94" name="Group 93"/>
            <p:cNvGrpSpPr/>
            <p:nvPr/>
          </p:nvGrpSpPr>
          <p:grpSpPr>
            <a:xfrm>
              <a:off x="3505200" y="1524000"/>
              <a:ext cx="2932560" cy="1648599"/>
              <a:chOff x="3505200" y="1524000"/>
              <a:chExt cx="2932560" cy="1648599"/>
            </a:xfrm>
          </p:grpSpPr>
          <p:sp>
            <p:nvSpPr>
              <p:cNvPr id="38" name="TextBox 37"/>
              <p:cNvSpPr txBox="1"/>
              <p:nvPr/>
            </p:nvSpPr>
            <p:spPr>
              <a:xfrm>
                <a:off x="4382640" y="289560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43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3733800" y="26186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24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3505200" y="19328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12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4077840" y="16280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17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5297040" y="152400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31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6096000" y="205740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36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5334000" y="27710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19</a:t>
                </a:r>
              </a:p>
            </p:txBody>
          </p:sp>
        </p:grpSp>
        <p:sp>
          <p:nvSpPr>
            <p:cNvPr id="113" name="TextBox 112"/>
            <p:cNvSpPr txBox="1"/>
            <p:nvPr/>
          </p:nvSpPr>
          <p:spPr>
            <a:xfrm>
              <a:off x="6019800" y="24384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26</a:t>
              </a: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3200400" y="1295400"/>
            <a:ext cx="3505200" cy="2426732"/>
            <a:chOff x="3200400" y="1295400"/>
            <a:chExt cx="3505200" cy="2426732"/>
          </a:xfrm>
        </p:grpSpPr>
        <p:grpSp>
          <p:nvGrpSpPr>
            <p:cNvPr id="37" name="Group 36"/>
            <p:cNvGrpSpPr/>
            <p:nvPr/>
          </p:nvGrpSpPr>
          <p:grpSpPr>
            <a:xfrm>
              <a:off x="3200400" y="1295400"/>
              <a:ext cx="3505200" cy="1905000"/>
              <a:chOff x="3200400" y="1295400"/>
              <a:chExt cx="3505200" cy="1905000"/>
            </a:xfrm>
          </p:grpSpPr>
          <p:sp>
            <p:nvSpPr>
              <p:cNvPr id="5" name="Oval 4"/>
              <p:cNvSpPr/>
              <p:nvPr/>
            </p:nvSpPr>
            <p:spPr>
              <a:xfrm>
                <a:off x="40386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6" name="Group 35"/>
              <p:cNvGrpSpPr/>
              <p:nvPr/>
            </p:nvGrpSpPr>
            <p:grpSpPr>
              <a:xfrm>
                <a:off x="3200400" y="1295400"/>
                <a:ext cx="3505200" cy="1905000"/>
                <a:chOff x="3200400" y="1295400"/>
                <a:chExt cx="3505200" cy="1905000"/>
              </a:xfrm>
            </p:grpSpPr>
            <p:cxnSp>
              <p:nvCxnSpPr>
                <p:cNvPr id="6" name="Straight Connector 5"/>
                <p:cNvCxnSpPr/>
                <p:nvPr/>
              </p:nvCxnSpPr>
              <p:spPr>
                <a:xfrm>
                  <a:off x="4191000" y="3124200"/>
                  <a:ext cx="914400" cy="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" name="Oval 6"/>
                <p:cNvSpPr/>
                <p:nvPr/>
              </p:nvSpPr>
              <p:spPr>
                <a:xfrm>
                  <a:off x="5105400" y="30480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0" name="Straight Connector 9"/>
                <p:cNvCxnSpPr>
                  <a:stCxn id="16" idx="5"/>
                  <a:endCxn id="5" idx="1"/>
                </p:cNvCxnSpPr>
                <p:nvPr/>
              </p:nvCxnSpPr>
              <p:spPr>
                <a:xfrm>
                  <a:off x="3330482" y="2492282"/>
                  <a:ext cx="730436" cy="578036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4" name="Oval 13"/>
                <p:cNvSpPr/>
                <p:nvPr/>
              </p:nvSpPr>
              <p:spPr>
                <a:xfrm>
                  <a:off x="3657600" y="16002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/>
                <p:cNvSpPr/>
                <p:nvPr/>
              </p:nvSpPr>
              <p:spPr>
                <a:xfrm>
                  <a:off x="4876800" y="12954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6" name="Oval 15"/>
                <p:cNvSpPr/>
                <p:nvPr/>
              </p:nvSpPr>
              <p:spPr>
                <a:xfrm>
                  <a:off x="3200400" y="23622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9" name="Straight Connector 18"/>
                <p:cNvCxnSpPr>
                  <a:stCxn id="16" idx="0"/>
                </p:cNvCxnSpPr>
                <p:nvPr/>
              </p:nvCxnSpPr>
              <p:spPr>
                <a:xfrm flipV="1">
                  <a:off x="3276600" y="1752600"/>
                  <a:ext cx="419100" cy="6096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" name="Straight Connector 21"/>
                <p:cNvCxnSpPr>
                  <a:stCxn id="14" idx="7"/>
                  <a:endCxn id="15" idx="2"/>
                </p:cNvCxnSpPr>
                <p:nvPr/>
              </p:nvCxnSpPr>
              <p:spPr>
                <a:xfrm flipV="1">
                  <a:off x="3787682" y="1371600"/>
                  <a:ext cx="1089118" cy="25091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Straight Connector 24"/>
                <p:cNvCxnSpPr>
                  <a:stCxn id="30" idx="1"/>
                  <a:endCxn id="15" idx="6"/>
                </p:cNvCxnSpPr>
                <p:nvPr/>
              </p:nvCxnSpPr>
              <p:spPr>
                <a:xfrm flipH="1" flipV="1">
                  <a:off x="5029200" y="1371600"/>
                  <a:ext cx="1089118" cy="40331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9" name="Oval 28"/>
                <p:cNvSpPr/>
                <p:nvPr/>
              </p:nvSpPr>
              <p:spPr>
                <a:xfrm>
                  <a:off x="5867400" y="27432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30" name="Oval 29"/>
                <p:cNvSpPr/>
                <p:nvPr/>
              </p:nvSpPr>
              <p:spPr>
                <a:xfrm>
                  <a:off x="6096000" y="17526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1" name="Straight Connector 30"/>
                <p:cNvCxnSpPr>
                  <a:stCxn id="29" idx="3"/>
                  <a:endCxn id="7" idx="6"/>
                </p:cNvCxnSpPr>
                <p:nvPr/>
              </p:nvCxnSpPr>
              <p:spPr>
                <a:xfrm flipH="1">
                  <a:off x="5257800" y="2873282"/>
                  <a:ext cx="631918" cy="25091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" name="Straight Connector 33"/>
                <p:cNvCxnSpPr>
                  <a:stCxn id="30" idx="4"/>
                  <a:endCxn id="111" idx="0"/>
                </p:cNvCxnSpPr>
                <p:nvPr/>
              </p:nvCxnSpPr>
              <p:spPr>
                <a:xfrm>
                  <a:off x="6172200" y="1905000"/>
                  <a:ext cx="457200" cy="533400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>
                  <a:stCxn id="111" idx="3"/>
                  <a:endCxn id="29" idx="6"/>
                </p:cNvCxnSpPr>
                <p:nvPr/>
              </p:nvCxnSpPr>
              <p:spPr>
                <a:xfrm flipH="1">
                  <a:off x="6019800" y="2568482"/>
                  <a:ext cx="555718" cy="250918"/>
                </a:xfrm>
                <a:prstGeom prst="line">
                  <a:avLst/>
                </a:prstGeom>
                <a:ln w="2857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111" name="Oval 110"/>
                <p:cNvSpPr/>
                <p:nvPr/>
              </p:nvSpPr>
              <p:spPr>
                <a:xfrm>
                  <a:off x="6553200" y="2438400"/>
                  <a:ext cx="152400" cy="152400"/>
                </a:xfrm>
                <a:prstGeom prst="ellipse">
                  <a:avLst/>
                </a:prstGeom>
                <a:solidFill>
                  <a:srgbClr val="FFC000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/>
                <p:cNvSpPr txBox="1"/>
                <p:nvPr/>
              </p:nvSpPr>
              <p:spPr>
                <a:xfrm>
                  <a:off x="4572000" y="3352800"/>
                  <a:ext cx="381835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𝑪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8" name="TextBox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572000" y="3352800"/>
                  <a:ext cx="381835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1904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CFCC2C8B-232B-5A41-AF42-535E8CA56F86}"/>
              </a:ext>
            </a:extLst>
          </p:cNvPr>
          <p:cNvSpPr/>
          <p:nvPr/>
        </p:nvSpPr>
        <p:spPr>
          <a:xfrm>
            <a:off x="4103670" y="4896465"/>
            <a:ext cx="2906730" cy="369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Down Ribbon 47">
                <a:extLst>
                  <a:ext uri="{FF2B5EF4-FFF2-40B4-BE49-F238E27FC236}">
                    <a16:creationId xmlns:a16="http://schemas.microsoft.com/office/drawing/2014/main" id="{85583F0E-ACAB-3E5C-636D-8F5D885AFE59}"/>
                  </a:ext>
                </a:extLst>
              </p:cNvPr>
              <p:cNvSpPr/>
              <p:nvPr/>
            </p:nvSpPr>
            <p:spPr>
              <a:xfrm>
                <a:off x="-1" y="2667000"/>
                <a:ext cx="3276601" cy="1222249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Pursuing </a:t>
                </a:r>
                <a:r>
                  <a:rPr lang="en-US" sz="1600" b="1" dirty="0">
                    <a:solidFill>
                      <a:schemeClr val="tx1"/>
                    </a:solidFill>
                  </a:rPr>
                  <a:t>greedy strategy </a:t>
                </a:r>
                <a:r>
                  <a:rPr lang="en-US" sz="1600" dirty="0">
                    <a:solidFill>
                      <a:schemeClr val="tx1"/>
                    </a:solidFill>
                  </a:rPr>
                  <a:t>to minimize weight of MST, what can we say about the edges of cycle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𝑪</m:t>
                    </m:r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?</a:t>
                </a:r>
              </a:p>
            </p:txBody>
          </p:sp>
        </mc:Choice>
        <mc:Fallback xmlns="">
          <p:sp>
            <p:nvSpPr>
              <p:cNvPr id="12" name="Down Ribbon 47">
                <a:extLst>
                  <a:ext uri="{FF2B5EF4-FFF2-40B4-BE49-F238E27FC236}">
                    <a16:creationId xmlns:a16="http://schemas.microsoft.com/office/drawing/2014/main" id="{85583F0E-ACAB-3E5C-636D-8F5D885AFE5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" y="2667000"/>
                <a:ext cx="3276601" cy="1222249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4"/>
                <a:stretch>
                  <a:fillRect b="-735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05504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25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3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25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1" grpId="0" animBg="1"/>
      <p:bldP spid="12" grpId="0" animBg="1"/>
      <p:bldP spid="12" grpId="1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Proof of </a:t>
            </a:r>
            <a:r>
              <a:rPr lang="en-US" sz="3600" b="1" dirty="0">
                <a:solidFill>
                  <a:srgbClr val="7030A0"/>
                </a:solidFill>
              </a:rPr>
              <a:t>Cycle property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be the </a:t>
                </a:r>
                <a:r>
                  <a:rPr lang="en-US" sz="2000" b="1" dirty="0"/>
                  <a:t>MST</a:t>
                </a:r>
                <a:r>
                  <a:rPr lang="en-US" sz="2000" dirty="0"/>
                  <a:t>, and (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2000" dirty="0" err="1"/>
                  <a:t>,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sz="20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ϵ</m:t>
                    </m:r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 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4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111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p:grpSp>
        <p:nvGrpSpPr>
          <p:cNvPr id="37" name="Group 36"/>
          <p:cNvGrpSpPr/>
          <p:nvPr/>
        </p:nvGrpSpPr>
        <p:grpSpPr>
          <a:xfrm>
            <a:off x="3200400" y="1295400"/>
            <a:ext cx="3505200" cy="1905000"/>
            <a:chOff x="3200400" y="1295400"/>
            <a:chExt cx="3505200" cy="1905000"/>
          </a:xfrm>
        </p:grpSpPr>
        <p:sp>
          <p:nvSpPr>
            <p:cNvPr id="5" name="Oval 4"/>
            <p:cNvSpPr/>
            <p:nvPr/>
          </p:nvSpPr>
          <p:spPr>
            <a:xfrm>
              <a:off x="4038600" y="3048000"/>
              <a:ext cx="152400" cy="152400"/>
            </a:xfrm>
            <a:prstGeom prst="ellipse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6" name="Group 35"/>
            <p:cNvGrpSpPr/>
            <p:nvPr/>
          </p:nvGrpSpPr>
          <p:grpSpPr>
            <a:xfrm>
              <a:off x="3200400" y="1295400"/>
              <a:ext cx="3505200" cy="1905000"/>
              <a:chOff x="3200400" y="1295400"/>
              <a:chExt cx="3505200" cy="1905000"/>
            </a:xfrm>
          </p:grpSpPr>
          <p:cxnSp>
            <p:nvCxnSpPr>
              <p:cNvPr id="6" name="Straight Connector 5"/>
              <p:cNvCxnSpPr/>
              <p:nvPr/>
            </p:nvCxnSpPr>
            <p:spPr>
              <a:xfrm>
                <a:off x="4191000" y="3124200"/>
                <a:ext cx="914400" cy="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" name="Oval 6"/>
              <p:cNvSpPr/>
              <p:nvPr/>
            </p:nvSpPr>
            <p:spPr>
              <a:xfrm>
                <a:off x="5105400" y="30480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" name="Straight Connector 9"/>
              <p:cNvCxnSpPr>
                <a:stCxn id="16" idx="5"/>
                <a:endCxn id="5" idx="1"/>
              </p:cNvCxnSpPr>
              <p:nvPr/>
            </p:nvCxnSpPr>
            <p:spPr>
              <a:xfrm>
                <a:off x="3330482" y="2492282"/>
                <a:ext cx="730436" cy="578036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Oval 13"/>
              <p:cNvSpPr/>
              <p:nvPr/>
            </p:nvSpPr>
            <p:spPr>
              <a:xfrm>
                <a:off x="3657600" y="16002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5" name="Oval 14"/>
              <p:cNvSpPr/>
              <p:nvPr/>
            </p:nvSpPr>
            <p:spPr>
              <a:xfrm>
                <a:off x="4876800" y="1295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Oval 15"/>
              <p:cNvSpPr/>
              <p:nvPr/>
            </p:nvSpPr>
            <p:spPr>
              <a:xfrm>
                <a:off x="3200400" y="23622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9" name="Straight Connector 18"/>
              <p:cNvCxnSpPr>
                <a:stCxn id="16" idx="0"/>
              </p:cNvCxnSpPr>
              <p:nvPr/>
            </p:nvCxnSpPr>
            <p:spPr>
              <a:xfrm flipV="1">
                <a:off x="3276600" y="1752600"/>
                <a:ext cx="419100" cy="6096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>
                <a:stCxn id="14" idx="7"/>
                <a:endCxn id="15" idx="2"/>
              </p:cNvCxnSpPr>
              <p:nvPr/>
            </p:nvCxnSpPr>
            <p:spPr>
              <a:xfrm flipV="1">
                <a:off x="3787682" y="1371600"/>
                <a:ext cx="1089118" cy="2509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/>
              <p:cNvCxnSpPr>
                <a:stCxn id="30" idx="1"/>
                <a:endCxn id="15" idx="6"/>
              </p:cNvCxnSpPr>
              <p:nvPr/>
            </p:nvCxnSpPr>
            <p:spPr>
              <a:xfrm flipH="1" flipV="1">
                <a:off x="5029200" y="1371600"/>
                <a:ext cx="1089118" cy="4033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Oval 28"/>
              <p:cNvSpPr/>
              <p:nvPr/>
            </p:nvSpPr>
            <p:spPr>
              <a:xfrm>
                <a:off x="5867400" y="27432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Oval 29"/>
              <p:cNvSpPr/>
              <p:nvPr/>
            </p:nvSpPr>
            <p:spPr>
              <a:xfrm>
                <a:off x="6096000" y="17526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1" name="Straight Connector 30"/>
              <p:cNvCxnSpPr>
                <a:stCxn id="29" idx="3"/>
                <a:endCxn id="7" idx="6"/>
              </p:cNvCxnSpPr>
              <p:nvPr/>
            </p:nvCxnSpPr>
            <p:spPr>
              <a:xfrm flipH="1">
                <a:off x="5257800" y="2873282"/>
                <a:ext cx="631918" cy="2509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30" idx="4"/>
                <a:endCxn id="111" idx="0"/>
              </p:cNvCxnSpPr>
              <p:nvPr/>
            </p:nvCxnSpPr>
            <p:spPr>
              <a:xfrm>
                <a:off x="6172200" y="1905000"/>
                <a:ext cx="457200" cy="533400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>
                <a:stCxn id="111" idx="3"/>
                <a:endCxn id="29" idx="6"/>
              </p:cNvCxnSpPr>
              <p:nvPr/>
            </p:nvCxnSpPr>
            <p:spPr>
              <a:xfrm flipH="1">
                <a:off x="6019800" y="2568482"/>
                <a:ext cx="555718" cy="250918"/>
              </a:xfrm>
              <a:prstGeom prst="line">
                <a:avLst/>
              </a:prstGeom>
              <a:ln w="285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1" name="Oval 110"/>
              <p:cNvSpPr/>
              <p:nvPr/>
            </p:nvSpPr>
            <p:spPr>
              <a:xfrm>
                <a:off x="6553200" y="2438400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5" name="Group 54"/>
          <p:cNvGrpSpPr/>
          <p:nvPr/>
        </p:nvGrpSpPr>
        <p:grpSpPr>
          <a:xfrm>
            <a:off x="2895600" y="990600"/>
            <a:ext cx="4009838" cy="2502932"/>
            <a:chOff x="2895600" y="990600"/>
            <a:chExt cx="4009838" cy="2502932"/>
          </a:xfrm>
        </p:grpSpPr>
        <p:grpSp>
          <p:nvGrpSpPr>
            <p:cNvPr id="100" name="Group 99"/>
            <p:cNvGrpSpPr/>
            <p:nvPr/>
          </p:nvGrpSpPr>
          <p:grpSpPr>
            <a:xfrm>
              <a:off x="2895600" y="990600"/>
              <a:ext cx="3306404" cy="2502932"/>
              <a:chOff x="2895600" y="990600"/>
              <a:chExt cx="3306404" cy="2502932"/>
            </a:xfrm>
          </p:grpSpPr>
          <p:grpSp>
            <p:nvGrpSpPr>
              <p:cNvPr id="45" name="Group 44"/>
              <p:cNvGrpSpPr/>
              <p:nvPr/>
            </p:nvGrpSpPr>
            <p:grpSpPr>
              <a:xfrm>
                <a:off x="3960706" y="3124200"/>
                <a:ext cx="1362164" cy="369332"/>
                <a:chOff x="3492376" y="4495800"/>
                <a:chExt cx="1362164" cy="369332"/>
              </a:xfrm>
            </p:grpSpPr>
            <p:sp>
              <p:nvSpPr>
                <p:cNvPr id="46" name="TextBox 45"/>
                <p:cNvSpPr txBox="1"/>
                <p:nvPr/>
              </p:nvSpPr>
              <p:spPr>
                <a:xfrm>
                  <a:off x="3492376" y="4495800"/>
                  <a:ext cx="30649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u</a:t>
                  </a:r>
                </a:p>
              </p:txBody>
            </p:sp>
            <p:sp>
              <p:nvSpPr>
                <p:cNvPr id="47" name="TextBox 46"/>
                <p:cNvSpPr txBox="1"/>
                <p:nvPr/>
              </p:nvSpPr>
              <p:spPr>
                <a:xfrm>
                  <a:off x="4560870" y="4495800"/>
                  <a:ext cx="293670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7030A0"/>
                      </a:solidFill>
                    </a:rPr>
                    <a:t>v</a:t>
                  </a:r>
                </a:p>
              </p:txBody>
            </p:sp>
          </p:grpSp>
          <p:sp>
            <p:nvSpPr>
              <p:cNvPr id="95" name="TextBox 94"/>
              <p:cNvSpPr txBox="1"/>
              <p:nvPr/>
            </p:nvSpPr>
            <p:spPr>
              <a:xfrm>
                <a:off x="2895600" y="2286000"/>
                <a:ext cx="2984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a</a:t>
                </a:r>
              </a:p>
            </p:txBody>
          </p:sp>
          <p:sp>
            <p:nvSpPr>
              <p:cNvPr id="96" name="TextBox 95"/>
              <p:cNvSpPr txBox="1"/>
              <p:nvPr/>
            </p:nvSpPr>
            <p:spPr>
              <a:xfrm>
                <a:off x="3435320" y="1371600"/>
                <a:ext cx="30809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b</a:t>
                </a:r>
              </a:p>
            </p:txBody>
          </p:sp>
          <p:sp>
            <p:nvSpPr>
              <p:cNvPr id="97" name="TextBox 96"/>
              <p:cNvSpPr txBox="1"/>
              <p:nvPr/>
            </p:nvSpPr>
            <p:spPr>
              <a:xfrm>
                <a:off x="4900754" y="990600"/>
                <a:ext cx="28084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c</a:t>
                </a:r>
              </a:p>
            </p:txBody>
          </p:sp>
          <p:sp>
            <p:nvSpPr>
              <p:cNvPr id="98" name="TextBox 97"/>
              <p:cNvSpPr txBox="1"/>
              <p:nvPr/>
            </p:nvSpPr>
            <p:spPr>
              <a:xfrm>
                <a:off x="5943600" y="1828800"/>
                <a:ext cx="2584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f</a:t>
                </a:r>
              </a:p>
            </p:txBody>
          </p:sp>
          <p:sp>
            <p:nvSpPr>
              <p:cNvPr id="99" name="TextBox 98"/>
              <p:cNvSpPr txBox="1"/>
              <p:nvPr/>
            </p:nvSpPr>
            <p:spPr>
              <a:xfrm>
                <a:off x="5867400" y="2819400"/>
                <a:ext cx="26642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7030A0"/>
                    </a:solidFill>
                  </a:rPr>
                  <a:t>r</a:t>
                </a:r>
              </a:p>
            </p:txBody>
          </p:sp>
        </p:grpSp>
        <p:sp>
          <p:nvSpPr>
            <p:cNvPr id="112" name="TextBox 111"/>
            <p:cNvSpPr txBox="1"/>
            <p:nvPr/>
          </p:nvSpPr>
          <p:spPr>
            <a:xfrm>
              <a:off x="6629400" y="2373868"/>
              <a:ext cx="2760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7030A0"/>
                  </a:solidFill>
                </a:rPr>
                <a:t>s</a:t>
              </a:r>
            </a:p>
          </p:txBody>
        </p:sp>
      </p:grpSp>
      <p:grpSp>
        <p:nvGrpSpPr>
          <p:cNvPr id="59" name="Group 58"/>
          <p:cNvGrpSpPr/>
          <p:nvPr/>
        </p:nvGrpSpPr>
        <p:grpSpPr>
          <a:xfrm>
            <a:off x="3505200" y="1524000"/>
            <a:ext cx="2932560" cy="1648599"/>
            <a:chOff x="3505200" y="1524000"/>
            <a:chExt cx="2932560" cy="1648599"/>
          </a:xfrm>
        </p:grpSpPr>
        <p:grpSp>
          <p:nvGrpSpPr>
            <p:cNvPr id="94" name="Group 93"/>
            <p:cNvGrpSpPr/>
            <p:nvPr/>
          </p:nvGrpSpPr>
          <p:grpSpPr>
            <a:xfrm>
              <a:off x="3505200" y="1524000"/>
              <a:ext cx="2932560" cy="1648599"/>
              <a:chOff x="3505200" y="1524000"/>
              <a:chExt cx="2932560" cy="1648599"/>
            </a:xfrm>
          </p:grpSpPr>
          <p:sp>
            <p:nvSpPr>
              <p:cNvPr id="38" name="TextBox 37"/>
              <p:cNvSpPr txBox="1"/>
              <p:nvPr/>
            </p:nvSpPr>
            <p:spPr>
              <a:xfrm>
                <a:off x="4382640" y="289560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43</a:t>
                </a:r>
              </a:p>
            </p:txBody>
          </p:sp>
          <p:sp>
            <p:nvSpPr>
              <p:cNvPr id="39" name="TextBox 38"/>
              <p:cNvSpPr txBox="1"/>
              <p:nvPr/>
            </p:nvSpPr>
            <p:spPr>
              <a:xfrm>
                <a:off x="3733800" y="26186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24</a:t>
                </a:r>
              </a:p>
            </p:txBody>
          </p:sp>
          <p:sp>
            <p:nvSpPr>
              <p:cNvPr id="40" name="TextBox 39"/>
              <p:cNvSpPr txBox="1"/>
              <p:nvPr/>
            </p:nvSpPr>
            <p:spPr>
              <a:xfrm>
                <a:off x="3505200" y="19328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12</a:t>
                </a:r>
              </a:p>
            </p:txBody>
          </p:sp>
          <p:sp>
            <p:nvSpPr>
              <p:cNvPr id="41" name="TextBox 40"/>
              <p:cNvSpPr txBox="1"/>
              <p:nvPr/>
            </p:nvSpPr>
            <p:spPr>
              <a:xfrm>
                <a:off x="4077840" y="16280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17</a:t>
                </a:r>
              </a:p>
            </p:txBody>
          </p:sp>
          <p:sp>
            <p:nvSpPr>
              <p:cNvPr id="42" name="TextBox 41"/>
              <p:cNvSpPr txBox="1"/>
              <p:nvPr/>
            </p:nvSpPr>
            <p:spPr>
              <a:xfrm>
                <a:off x="5297040" y="152400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31</a:t>
                </a:r>
              </a:p>
            </p:txBody>
          </p:sp>
          <p:sp>
            <p:nvSpPr>
              <p:cNvPr id="43" name="TextBox 42"/>
              <p:cNvSpPr txBox="1"/>
              <p:nvPr/>
            </p:nvSpPr>
            <p:spPr>
              <a:xfrm>
                <a:off x="6096000" y="2057400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36</a:t>
                </a:r>
              </a:p>
            </p:txBody>
          </p:sp>
          <p:sp>
            <p:nvSpPr>
              <p:cNvPr id="44" name="TextBox 43"/>
              <p:cNvSpPr txBox="1"/>
              <p:nvPr/>
            </p:nvSpPr>
            <p:spPr>
              <a:xfrm>
                <a:off x="5334000" y="2771001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19</a:t>
                </a:r>
              </a:p>
            </p:txBody>
          </p:sp>
        </p:grpSp>
        <p:sp>
          <p:nvSpPr>
            <p:cNvPr id="113" name="TextBox 112"/>
            <p:cNvSpPr txBox="1"/>
            <p:nvPr/>
          </p:nvSpPr>
          <p:spPr>
            <a:xfrm>
              <a:off x="6019800" y="2438400"/>
              <a:ext cx="34176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26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02" name="TextBox 101"/>
              <p:cNvSpPr txBox="1"/>
              <p:nvPr/>
            </p:nvSpPr>
            <p:spPr>
              <a:xfrm>
                <a:off x="4572000" y="3352800"/>
                <a:ext cx="38183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𝑪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2" name="TextBox 10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0" y="3352800"/>
                <a:ext cx="381835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1904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/>
          <p:cNvGrpSpPr/>
          <p:nvPr/>
        </p:nvGrpSpPr>
        <p:grpSpPr>
          <a:xfrm>
            <a:off x="381000" y="3733800"/>
            <a:ext cx="7570177" cy="2819400"/>
            <a:chOff x="381000" y="3733800"/>
            <a:chExt cx="7570177" cy="2819400"/>
          </a:xfrm>
        </p:grpSpPr>
        <p:grpSp>
          <p:nvGrpSpPr>
            <p:cNvPr id="9" name="Group 8"/>
            <p:cNvGrpSpPr/>
            <p:nvPr/>
          </p:nvGrpSpPr>
          <p:grpSpPr>
            <a:xfrm>
              <a:off x="990600" y="3733800"/>
              <a:ext cx="6960577" cy="2819400"/>
              <a:chOff x="990600" y="3733800"/>
              <a:chExt cx="6960577" cy="2819400"/>
            </a:xfrm>
          </p:grpSpPr>
          <p:grpSp>
            <p:nvGrpSpPr>
              <p:cNvPr id="115" name="Group 114"/>
              <p:cNvGrpSpPr/>
              <p:nvPr/>
            </p:nvGrpSpPr>
            <p:grpSpPr>
              <a:xfrm>
                <a:off x="990600" y="3733800"/>
                <a:ext cx="6960577" cy="2819400"/>
                <a:chOff x="990600" y="3733800"/>
                <a:chExt cx="6960577" cy="2819400"/>
              </a:xfrm>
            </p:grpSpPr>
            <p:grpSp>
              <p:nvGrpSpPr>
                <p:cNvPr id="89" name="Group 88"/>
                <p:cNvGrpSpPr/>
                <p:nvPr/>
              </p:nvGrpSpPr>
              <p:grpSpPr>
                <a:xfrm>
                  <a:off x="990600" y="3733800"/>
                  <a:ext cx="6960577" cy="2819400"/>
                  <a:chOff x="1421423" y="3733800"/>
                  <a:chExt cx="6960577" cy="2819400"/>
                </a:xfrm>
              </p:grpSpPr>
              <p:grpSp>
                <p:nvGrpSpPr>
                  <p:cNvPr id="48" name="Group 47"/>
                  <p:cNvGrpSpPr/>
                  <p:nvPr/>
                </p:nvGrpSpPr>
                <p:grpSpPr>
                  <a:xfrm>
                    <a:off x="1421423" y="3733800"/>
                    <a:ext cx="6960577" cy="2819400"/>
                    <a:chOff x="609600" y="1905000"/>
                    <a:chExt cx="7924800" cy="3048000"/>
                  </a:xfrm>
                </p:grpSpPr>
                <p:cxnSp>
                  <p:nvCxnSpPr>
                    <p:cNvPr id="49" name="Straight Connector 48"/>
                    <p:cNvCxnSpPr>
                      <a:stCxn id="54" idx="7"/>
                    </p:cNvCxnSpPr>
                    <p:nvPr/>
                  </p:nvCxnSpPr>
                  <p:spPr>
                    <a:xfrm flipV="1">
                      <a:off x="5387882" y="2133600"/>
                      <a:ext cx="898618" cy="555718"/>
                    </a:xfrm>
                    <a:prstGeom prst="line">
                      <a:avLst/>
                    </a:prstGeom>
                    <a:ln w="57150">
                      <a:solidFill>
                        <a:srgbClr val="FF0000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50" name="Group 49"/>
                    <p:cNvGrpSpPr/>
                    <p:nvPr/>
                  </p:nvGrpSpPr>
                  <p:grpSpPr>
                    <a:xfrm>
                      <a:off x="609600" y="1905000"/>
                      <a:ext cx="7924800" cy="3048000"/>
                      <a:chOff x="609600" y="1905000"/>
                      <a:chExt cx="7924800" cy="3048000"/>
                    </a:xfrm>
                  </p:grpSpPr>
                  <p:sp>
                    <p:nvSpPr>
                      <p:cNvPr id="51" name="Oval 50"/>
                      <p:cNvSpPr/>
                      <p:nvPr/>
                    </p:nvSpPr>
                    <p:spPr>
                      <a:xfrm>
                        <a:off x="2895600" y="43434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2" name="Oval 51"/>
                      <p:cNvSpPr/>
                      <p:nvPr/>
                    </p:nvSpPr>
                    <p:spPr>
                      <a:xfrm>
                        <a:off x="3200400" y="2971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3" name="Oval 52"/>
                      <p:cNvSpPr/>
                      <p:nvPr/>
                    </p:nvSpPr>
                    <p:spPr>
                      <a:xfrm>
                        <a:off x="5867400" y="34290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4" name="Oval 53"/>
                      <p:cNvSpPr/>
                      <p:nvPr/>
                    </p:nvSpPr>
                    <p:spPr>
                      <a:xfrm>
                        <a:off x="5257800" y="26670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56" name="Oval 55"/>
                      <p:cNvSpPr/>
                      <p:nvPr/>
                    </p:nvSpPr>
                    <p:spPr>
                      <a:xfrm>
                        <a:off x="2286000" y="3733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57" name="Straight Connector 56"/>
                      <p:cNvCxnSpPr>
                        <a:stCxn id="56" idx="7"/>
                        <a:endCxn id="52" idx="3"/>
                      </p:cNvCxnSpPr>
                      <p:nvPr/>
                    </p:nvCxnSpPr>
                    <p:spPr>
                      <a:xfrm flipV="1">
                        <a:off x="2416082" y="3101882"/>
                        <a:ext cx="806636" cy="6542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58" name="Straight Connector 57"/>
                      <p:cNvCxnSpPr>
                        <a:stCxn id="52" idx="6"/>
                        <a:endCxn id="85" idx="3"/>
                      </p:cNvCxnSpPr>
                      <p:nvPr/>
                    </p:nvCxnSpPr>
                    <p:spPr>
                      <a:xfrm flipV="1">
                        <a:off x="3352799" y="2776486"/>
                        <a:ext cx="800490" cy="271514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0" name="Straight Connector 59"/>
                      <p:cNvCxnSpPr>
                        <a:stCxn id="54" idx="5"/>
                        <a:endCxn id="53" idx="0"/>
                      </p:cNvCxnSpPr>
                      <p:nvPr/>
                    </p:nvCxnSpPr>
                    <p:spPr>
                      <a:xfrm>
                        <a:off x="5387882" y="2797082"/>
                        <a:ext cx="555718" cy="631918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1" name="Straight Connector 60"/>
                      <p:cNvCxnSpPr>
                        <a:stCxn id="51" idx="1"/>
                        <a:endCxn id="56" idx="5"/>
                      </p:cNvCxnSpPr>
                      <p:nvPr/>
                    </p:nvCxnSpPr>
                    <p:spPr>
                      <a:xfrm flipH="1" flipV="1">
                        <a:off x="2416082" y="3863882"/>
                        <a:ext cx="501836" cy="5018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2" name="Straight Connector 61"/>
                      <p:cNvCxnSpPr>
                        <a:endCxn id="51" idx="6"/>
                      </p:cNvCxnSpPr>
                      <p:nvPr/>
                    </p:nvCxnSpPr>
                    <p:spPr>
                      <a:xfrm flipH="1" flipV="1">
                        <a:off x="3048000" y="4419600"/>
                        <a:ext cx="631918" cy="174718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3" name="Straight Connector 62"/>
                      <p:cNvCxnSpPr>
                        <a:endCxn id="53" idx="3"/>
                      </p:cNvCxnSpPr>
                      <p:nvPr/>
                    </p:nvCxnSpPr>
                    <p:spPr>
                      <a:xfrm flipV="1">
                        <a:off x="5257800" y="3559082"/>
                        <a:ext cx="631918" cy="740384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64" name="Straight Connector 63"/>
                      <p:cNvCxnSpPr>
                        <a:stCxn id="53" idx="6"/>
                        <a:endCxn id="65" idx="1"/>
                      </p:cNvCxnSpPr>
                      <p:nvPr/>
                    </p:nvCxnSpPr>
                    <p:spPr>
                      <a:xfrm>
                        <a:off x="6019800" y="3505200"/>
                        <a:ext cx="936718" cy="98518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5" name="Oval 64"/>
                      <p:cNvSpPr/>
                      <p:nvPr/>
                    </p:nvSpPr>
                    <p:spPr>
                      <a:xfrm>
                        <a:off x="6934200" y="35814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66" name="Straight Connector 65"/>
                      <p:cNvCxnSpPr/>
                      <p:nvPr/>
                    </p:nvCxnSpPr>
                    <p:spPr>
                      <a:xfrm>
                        <a:off x="6400800" y="2133600"/>
                        <a:ext cx="1066800" cy="152400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67" name="Oval 66"/>
                      <p:cNvSpPr/>
                      <p:nvPr/>
                    </p:nvSpPr>
                    <p:spPr>
                      <a:xfrm>
                        <a:off x="6248400" y="20574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8" name="Oval 67"/>
                      <p:cNvSpPr/>
                      <p:nvPr/>
                    </p:nvSpPr>
                    <p:spPr>
                      <a:xfrm>
                        <a:off x="7467600" y="2209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69" name="Oval 68"/>
                      <p:cNvSpPr/>
                      <p:nvPr/>
                    </p:nvSpPr>
                    <p:spPr>
                      <a:xfrm>
                        <a:off x="2362200" y="23622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0" name="Straight Connector 69"/>
                      <p:cNvCxnSpPr>
                        <a:stCxn id="69" idx="5"/>
                        <a:endCxn id="52" idx="1"/>
                      </p:cNvCxnSpPr>
                      <p:nvPr/>
                    </p:nvCxnSpPr>
                    <p:spPr>
                      <a:xfrm>
                        <a:off x="2492282" y="2492282"/>
                        <a:ext cx="730436" cy="5018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1" name="Oval 70"/>
                      <p:cNvSpPr/>
                      <p:nvPr/>
                    </p:nvSpPr>
                    <p:spPr>
                      <a:xfrm>
                        <a:off x="1295400" y="21336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2" name="Straight Connector 71"/>
                      <p:cNvCxnSpPr>
                        <a:stCxn id="71" idx="6"/>
                        <a:endCxn id="69" idx="1"/>
                      </p:cNvCxnSpPr>
                      <p:nvPr/>
                    </p:nvCxnSpPr>
                    <p:spPr>
                      <a:xfrm>
                        <a:off x="1447800" y="2209800"/>
                        <a:ext cx="936718" cy="174718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3" name="Straight Connector 72"/>
                      <p:cNvCxnSpPr/>
                      <p:nvPr/>
                    </p:nvCxnSpPr>
                    <p:spPr>
                      <a:xfrm>
                        <a:off x="685800" y="3810000"/>
                        <a:ext cx="925559" cy="266700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74" name="Straight Connector 73"/>
                      <p:cNvCxnSpPr>
                        <a:stCxn id="56" idx="3"/>
                        <a:endCxn id="76" idx="7"/>
                      </p:cNvCxnSpPr>
                      <p:nvPr/>
                    </p:nvCxnSpPr>
                    <p:spPr>
                      <a:xfrm flipH="1">
                        <a:off x="1730282" y="3863882"/>
                        <a:ext cx="578036" cy="1970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5" name="Oval 74"/>
                      <p:cNvSpPr/>
                      <p:nvPr/>
                    </p:nvSpPr>
                    <p:spPr>
                      <a:xfrm>
                        <a:off x="609600" y="3733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76" name="Oval 75"/>
                      <p:cNvSpPr/>
                      <p:nvPr/>
                    </p:nvSpPr>
                    <p:spPr>
                      <a:xfrm>
                        <a:off x="1600200" y="40386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7" name="Straight Connector 76"/>
                      <p:cNvCxnSpPr>
                        <a:endCxn id="76" idx="3"/>
                      </p:cNvCxnSpPr>
                      <p:nvPr/>
                    </p:nvCxnSpPr>
                    <p:spPr>
                      <a:xfrm flipV="1">
                        <a:off x="990600" y="4168682"/>
                        <a:ext cx="631918" cy="696450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78" name="Oval 77"/>
                      <p:cNvSpPr/>
                      <p:nvPr/>
                    </p:nvSpPr>
                    <p:spPr>
                      <a:xfrm>
                        <a:off x="914400" y="48006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79" name="Straight Connector 78"/>
                      <p:cNvCxnSpPr>
                        <a:endCxn id="65" idx="6"/>
                      </p:cNvCxnSpPr>
                      <p:nvPr/>
                    </p:nvCxnSpPr>
                    <p:spPr>
                      <a:xfrm flipH="1" flipV="1">
                        <a:off x="7086600" y="3657600"/>
                        <a:ext cx="1219200" cy="533400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80" name="Oval 79"/>
                      <p:cNvSpPr/>
                      <p:nvPr/>
                    </p:nvSpPr>
                    <p:spPr>
                      <a:xfrm>
                        <a:off x="8229600" y="41148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sp>
                    <p:nvSpPr>
                      <p:cNvPr id="81" name="Oval 80"/>
                      <p:cNvSpPr/>
                      <p:nvPr/>
                    </p:nvSpPr>
                    <p:spPr>
                      <a:xfrm>
                        <a:off x="8382000" y="1905000"/>
                        <a:ext cx="152400" cy="152400"/>
                      </a:xfrm>
                      <a:prstGeom prst="ellipse">
                        <a:avLst/>
                      </a:prstGeom>
                      <a:solidFill>
                        <a:srgbClr val="FFC000"/>
                      </a:solidFill>
                    </p:spPr>
                    <p:style>
                      <a:lnRef idx="2">
                        <a:schemeClr val="accent1">
                          <a:shade val="50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en-US"/>
                      </a:p>
                    </p:txBody>
                  </p:sp>
                  <p:cxnSp>
                    <p:nvCxnSpPr>
                      <p:cNvPr id="82" name="Straight Connector 81"/>
                      <p:cNvCxnSpPr>
                        <a:stCxn id="81" idx="2"/>
                      </p:cNvCxnSpPr>
                      <p:nvPr/>
                    </p:nvCxnSpPr>
                    <p:spPr>
                      <a:xfrm flipH="1">
                        <a:off x="7620000" y="1981200"/>
                        <a:ext cx="762000" cy="273236"/>
                      </a:xfrm>
                      <a:prstGeom prst="line">
                        <a:avLst/>
                      </a:prstGeom>
                      <a:ln w="57150">
                        <a:solidFill>
                          <a:srgbClr val="FF0000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sp>
                <p:nvSpPr>
                  <p:cNvPr id="83" name="Oval 82"/>
                  <p:cNvSpPr/>
                  <p:nvPr/>
                </p:nvSpPr>
                <p:spPr>
                  <a:xfrm>
                    <a:off x="4057143" y="6172200"/>
                    <a:ext cx="133857" cy="140970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84" name="Straight Connector 83"/>
                  <p:cNvCxnSpPr/>
                  <p:nvPr/>
                </p:nvCxnSpPr>
                <p:spPr>
                  <a:xfrm>
                    <a:off x="4572000" y="4495800"/>
                    <a:ext cx="914400" cy="0"/>
                  </a:xfrm>
                  <a:prstGeom prst="line">
                    <a:avLst/>
                  </a:prstGeom>
                  <a:ln w="57150">
                    <a:solidFill>
                      <a:srgbClr val="FF0000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" name="Oval 84"/>
                  <p:cNvSpPr/>
                  <p:nvPr/>
                </p:nvSpPr>
                <p:spPr>
                  <a:xfrm>
                    <a:off x="4514343" y="4419600"/>
                    <a:ext cx="133857" cy="140970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88" name="Oval 87"/>
                  <p:cNvSpPr/>
                  <p:nvPr/>
                </p:nvSpPr>
                <p:spPr>
                  <a:xfrm>
                    <a:off x="5410200" y="5955030"/>
                    <a:ext cx="133857" cy="140970"/>
                  </a:xfrm>
                  <a:prstGeom prst="ellipse">
                    <a:avLst/>
                  </a:prstGeom>
                  <a:solidFill>
                    <a:srgbClr val="FFC000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90" name="Group 89"/>
                <p:cNvGrpSpPr/>
                <p:nvPr/>
              </p:nvGrpSpPr>
              <p:grpSpPr>
                <a:xfrm>
                  <a:off x="3971836" y="4507468"/>
                  <a:ext cx="1362164" cy="369332"/>
                  <a:chOff x="3492376" y="4495800"/>
                  <a:chExt cx="1362164" cy="369332"/>
                </a:xfrm>
              </p:grpSpPr>
              <p:sp>
                <p:nvSpPr>
                  <p:cNvPr id="91" name="TextBox 90"/>
                  <p:cNvSpPr txBox="1"/>
                  <p:nvPr/>
                </p:nvSpPr>
                <p:spPr>
                  <a:xfrm>
                    <a:off x="3492376" y="4495800"/>
                    <a:ext cx="30649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7030A0"/>
                        </a:solidFill>
                      </a:rPr>
                      <a:t>u</a:t>
                    </a:r>
                  </a:p>
                </p:txBody>
              </p:sp>
              <p:sp>
                <p:nvSpPr>
                  <p:cNvPr id="92" name="TextBox 91"/>
                  <p:cNvSpPr txBox="1"/>
                  <p:nvPr/>
                </p:nvSpPr>
                <p:spPr>
                  <a:xfrm>
                    <a:off x="4560870" y="4495800"/>
                    <a:ext cx="293670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7030A0"/>
                        </a:solidFill>
                      </a:rPr>
                      <a:t>v</a:t>
                    </a:r>
                  </a:p>
                </p:txBody>
              </p:sp>
            </p:grpSp>
          </p:grpSp>
          <p:sp>
            <p:nvSpPr>
              <p:cNvPr id="8" name="TextBox 7"/>
              <p:cNvSpPr txBox="1"/>
              <p:nvPr/>
            </p:nvSpPr>
            <p:spPr>
              <a:xfrm>
                <a:off x="4592037" y="4277036"/>
                <a:ext cx="34176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/>
                  <a:t>43</a:t>
                </a: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381000" y="4953000"/>
                  <a:ext cx="38183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𝑻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1000" y="4953000"/>
                  <a:ext cx="381836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t="-8333" r="-20968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A5B76AF-B27E-88C0-B966-C4B794065861}"/>
              </a:ext>
            </a:extLst>
          </p:cNvPr>
          <p:cNvCxnSpPr/>
          <p:nvPr/>
        </p:nvCxnSpPr>
        <p:spPr>
          <a:xfrm flipV="1">
            <a:off x="3778553" y="1360855"/>
            <a:ext cx="1089118" cy="2509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Down Ribbon 47">
                <a:extLst>
                  <a:ext uri="{FF2B5EF4-FFF2-40B4-BE49-F238E27FC236}">
                    <a16:creationId xmlns:a16="http://schemas.microsoft.com/office/drawing/2014/main" id="{9E2E8022-D9F6-6B8C-1FDB-BCB13E7261D2}"/>
                  </a:ext>
                </a:extLst>
              </p:cNvPr>
              <p:cNvSpPr/>
              <p:nvPr/>
            </p:nvSpPr>
            <p:spPr>
              <a:xfrm>
                <a:off x="-361825" y="1895238"/>
                <a:ext cx="3682537" cy="1246186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We might like to replace (</a:t>
                </a:r>
                <a:r>
                  <a:rPr lang="en-US" sz="16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,</a:t>
                </a:r>
                <a:r>
                  <a:rPr lang="en-US" sz="16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1600" dirty="0">
                    <a:solidFill>
                      <a:schemeClr val="tx1"/>
                    </a:solidFill>
                  </a:rPr>
                  <a:t>) by some edge of cycle 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𝑪</m:t>
                    </m:r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? But how to find such an edge ?</a:t>
                </a:r>
              </a:p>
            </p:txBody>
          </p:sp>
        </mc:Choice>
        <mc:Fallback xmlns="">
          <p:sp>
            <p:nvSpPr>
              <p:cNvPr id="17" name="Down Ribbon 47">
                <a:extLst>
                  <a:ext uri="{FF2B5EF4-FFF2-40B4-BE49-F238E27FC236}">
                    <a16:creationId xmlns:a16="http://schemas.microsoft.com/office/drawing/2014/main" id="{9E2E8022-D9F6-6B8C-1FDB-BCB13E7261D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61825" y="1895238"/>
                <a:ext cx="3682537" cy="1246186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Down Ribbon 47">
                <a:extLst>
                  <a:ext uri="{FF2B5EF4-FFF2-40B4-BE49-F238E27FC236}">
                    <a16:creationId xmlns:a16="http://schemas.microsoft.com/office/drawing/2014/main" id="{9C90F588-454A-ACE3-AEF5-1665FC436B7E}"/>
                  </a:ext>
                </a:extLst>
              </p:cNvPr>
              <p:cNvSpPr/>
              <p:nvPr/>
            </p:nvSpPr>
            <p:spPr>
              <a:xfrm>
                <a:off x="-430712" y="1831247"/>
                <a:ext cx="3784522" cy="1456008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3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Some edge(s) of cycle 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𝑪</m:t>
                    </m:r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might already be present in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. 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So how to pick an edge from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𝑪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to swap it with (</a:t>
                </a:r>
                <a:r>
                  <a:rPr lang="en-US" sz="16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1600" dirty="0" err="1">
                    <a:solidFill>
                      <a:schemeClr val="tx1"/>
                    </a:solidFill>
                  </a:rPr>
                  <a:t>,</a:t>
                </a:r>
                <a:r>
                  <a:rPr lang="en-US" sz="16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1600" dirty="0">
                    <a:solidFill>
                      <a:schemeClr val="tx1"/>
                    </a:solidFill>
                  </a:rPr>
                  <a:t>) to get another spanning tree.</a:t>
                </a:r>
              </a:p>
            </p:txBody>
          </p:sp>
        </mc:Choice>
        <mc:Fallback xmlns="">
          <p:sp>
            <p:nvSpPr>
              <p:cNvPr id="18" name="Down Ribbon 47">
                <a:extLst>
                  <a:ext uri="{FF2B5EF4-FFF2-40B4-BE49-F238E27FC236}">
                    <a16:creationId xmlns:a16="http://schemas.microsoft.com/office/drawing/2014/main" id="{9C90F588-454A-ACE3-AEF5-1665FC436B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430712" y="1831247"/>
                <a:ext cx="3784522" cy="1456008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>
                <a:blip r:embed="rId6"/>
                <a:stretch>
                  <a:fillRect b="-781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Box 19">
            <a:extLst>
              <a:ext uri="{FF2B5EF4-FFF2-40B4-BE49-F238E27FC236}">
                <a16:creationId xmlns:a16="http://schemas.microsoft.com/office/drawing/2014/main" id="{2163702B-CDEF-7F87-579B-49B1C4300D1F}"/>
              </a:ext>
            </a:extLst>
          </p:cNvPr>
          <p:cNvSpPr txBox="1"/>
          <p:nvPr/>
        </p:nvSpPr>
        <p:spPr>
          <a:xfrm>
            <a:off x="6559520" y="4964668"/>
            <a:ext cx="308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b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EB5A9F-E01C-3FD1-4974-9288C39D265A}"/>
              </a:ext>
            </a:extLst>
          </p:cNvPr>
          <p:cNvSpPr txBox="1"/>
          <p:nvPr/>
        </p:nvSpPr>
        <p:spPr>
          <a:xfrm>
            <a:off x="7686168" y="5458374"/>
            <a:ext cx="2808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1981750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17" grpId="0" animBg="1"/>
      <p:bldP spid="17" grpId="1" animBg="1"/>
      <p:bldP spid="18" grpId="0" animBg="1"/>
      <p:bldP spid="18" grpId="1" animBg="1"/>
      <p:bldP spid="20" grpId="0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227244-F6F4-BB4D-B8E6-6B574D856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6C31"/>
                </a:solidFill>
              </a:rPr>
              <a:t>Homework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11F3C-12F8-9B41-97A8-7FD91445AE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Prove </a:t>
            </a:r>
            <a:r>
              <a:rPr lang="en-US" sz="2400" b="1" dirty="0">
                <a:solidFill>
                  <a:srgbClr val="7030A0"/>
                </a:solidFill>
              </a:rPr>
              <a:t>Cycle property </a:t>
            </a:r>
            <a:r>
              <a:rPr lang="en-US" sz="2400" dirty="0"/>
              <a:t>of MST.</a:t>
            </a:r>
          </a:p>
          <a:p>
            <a:endParaRPr lang="en-US" sz="24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9BA0F2-0765-7344-B583-4C9AC3082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76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70C0"/>
                </a:solidFill>
              </a:rPr>
              <a:t>Algorithm based on </a:t>
            </a:r>
            <a:r>
              <a:rPr lang="en-US" sz="4000" b="1" dirty="0">
                <a:solidFill>
                  <a:srgbClr val="7030A0"/>
                </a:solidFill>
              </a:rPr>
              <a:t>cut Property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8095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7AE982-2198-60A0-3E22-1F22E616C9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06D81D-0269-582D-7D86-F7ACE7039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How to use cut property to compute a MST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FB3835-D4CC-C069-B3F5-7922148BD0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686800" cy="4525963"/>
          </a:xfrm>
        </p:spPr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There are exponential number of cuts. </a:t>
            </a:r>
            <a:r>
              <a:rPr lang="en-US" sz="2000" dirty="0">
                <a:sym typeface="Wingdings" panose="05000000000000000000" pitchFamily="2" charset="2"/>
              </a:rPr>
              <a:t></a:t>
            </a:r>
            <a:endParaRPr lang="en-US" sz="2000" dirty="0"/>
          </a:p>
          <a:p>
            <a:pPr marL="0" indent="0">
              <a:buNone/>
            </a:pPr>
            <a:r>
              <a:rPr lang="en-US" sz="2000" dirty="0"/>
              <a:t>How to efficiently choose the cuts so that each cut gives us one edge of the MST ?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499B6-2FC8-4531-AC49-32D657476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B5BEA36-767C-DAE7-4D53-8B2284D0A16B}"/>
              </a:ext>
            </a:extLst>
          </p:cNvPr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B7C6B28-4D61-9417-EA22-59865B944676}"/>
              </a:ext>
            </a:extLst>
          </p:cNvPr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19139A0-F769-6FFD-4106-D2D6970C1F74}"/>
              </a:ext>
            </a:extLst>
          </p:cNvPr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5DE0C5F-B035-D6C5-36D5-C8EC42D1134B}"/>
              </a:ext>
            </a:extLst>
          </p:cNvPr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EC24E9A-57E5-D112-0F5D-02FB87DCC3DB}"/>
              </a:ext>
            </a:extLst>
          </p:cNvPr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3403A83-A4F2-F70C-827A-08E51668B43C}"/>
              </a:ext>
            </a:extLst>
          </p:cNvPr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2DF38C2-A967-4052-72DC-8573C132AA70}"/>
              </a:ext>
            </a:extLst>
          </p:cNvPr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5AFA1EE-47B4-28F7-8B61-60847011EFF0}"/>
              </a:ext>
            </a:extLst>
          </p:cNvPr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29CFD22-5786-F6B6-01BC-6DCC3E873712}"/>
              </a:ext>
            </a:extLst>
          </p:cNvPr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3A7264A-D1DC-37A9-3B52-7E0C210D04ED}"/>
              </a:ext>
            </a:extLst>
          </p:cNvPr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8438ACD5-CA5D-043E-BF3B-D1AAD2F53566}"/>
              </a:ext>
            </a:extLst>
          </p:cNvPr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1380D9C4-64EC-8D43-0E2B-228CACFEA1B6}"/>
              </a:ext>
            </a:extLst>
          </p:cNvPr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38BB579F-07EB-AE8E-D914-0471E4591452}"/>
              </a:ext>
            </a:extLst>
          </p:cNvPr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EB9D5BC3-C1B2-513B-0454-33B2BF199ECC}"/>
              </a:ext>
            </a:extLst>
          </p:cNvPr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4390F300-C492-6BB0-6585-DFE701AF4C01}"/>
              </a:ext>
            </a:extLst>
          </p:cNvPr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8DA9114-6F46-05D7-E727-9E0DF82CA995}"/>
              </a:ext>
            </a:extLst>
          </p:cNvPr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CE3494C-8C84-41ED-DB77-B46E38025521}"/>
              </a:ext>
            </a:extLst>
          </p:cNvPr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4146A7B-CE3B-41FB-1503-6D44598526AA}"/>
              </a:ext>
            </a:extLst>
          </p:cNvPr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468CB99C-0CE9-8DFF-FAB4-D0772AFD2EDB}"/>
              </a:ext>
            </a:extLst>
          </p:cNvPr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8A269D05-4D53-3E47-EE31-780C04A99389}"/>
              </a:ext>
            </a:extLst>
          </p:cNvPr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7721367-B1D6-D9DD-77E1-6436E361499F}"/>
              </a:ext>
            </a:extLst>
          </p:cNvPr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C110175A-4AB0-829E-8B66-E116F315C19C}"/>
              </a:ext>
            </a:extLst>
          </p:cNvPr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F016E4EA-9397-2183-A930-C265D512608E}"/>
              </a:ext>
            </a:extLst>
          </p:cNvPr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0EEAE10F-DF1E-05D7-5C16-967008C2FBDB}"/>
              </a:ext>
            </a:extLst>
          </p:cNvPr>
          <p:cNvCxnSpPr>
            <a:stCxn id="8" idx="3"/>
            <a:endCxn id="16" idx="0"/>
          </p:cNvCxnSpPr>
          <p:nvPr/>
        </p:nvCxnSpPr>
        <p:spPr>
          <a:xfrm flipH="1">
            <a:off x="3048000" y="4092482"/>
            <a:ext cx="174718" cy="1012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9CD83C2B-6A89-8E30-25C5-E58FF886FEFC}"/>
              </a:ext>
            </a:extLst>
          </p:cNvPr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FB11015-B400-9419-8666-5EB1430CC236}"/>
              </a:ext>
            </a:extLst>
          </p:cNvPr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2AED5FB-ABF6-C8DC-7B52-25D0E42B02F8}"/>
              </a:ext>
            </a:extLst>
          </p:cNvPr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>
            <a:extLst>
              <a:ext uri="{FF2B5EF4-FFF2-40B4-BE49-F238E27FC236}">
                <a16:creationId xmlns:a16="http://schemas.microsoft.com/office/drawing/2014/main" id="{8AA2C834-AC7D-2822-36B0-E88DDE6158F0}"/>
              </a:ext>
            </a:extLst>
          </p:cNvPr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43E51092-B31D-9B0B-A487-C8E8D2265A7F}"/>
              </a:ext>
            </a:extLst>
          </p:cNvPr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>
            <a:extLst>
              <a:ext uri="{FF2B5EF4-FFF2-40B4-BE49-F238E27FC236}">
                <a16:creationId xmlns:a16="http://schemas.microsoft.com/office/drawing/2014/main" id="{67366CB5-BD1C-A2B3-87CD-CEC940625291}"/>
              </a:ext>
            </a:extLst>
          </p:cNvPr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>
            <a:extLst>
              <a:ext uri="{FF2B5EF4-FFF2-40B4-BE49-F238E27FC236}">
                <a16:creationId xmlns:a16="http://schemas.microsoft.com/office/drawing/2014/main" id="{22D66C89-3077-5DCA-F9D2-1FDF78683487}"/>
              </a:ext>
            </a:extLst>
          </p:cNvPr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358FADAB-B643-016D-B16A-362222592F1B}"/>
              </a:ext>
            </a:extLst>
          </p:cNvPr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AB18BCC2-13FE-DB3C-08C6-C741AF4DCE7A}"/>
              </a:ext>
            </a:extLst>
          </p:cNvPr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>
            <a:extLst>
              <a:ext uri="{FF2B5EF4-FFF2-40B4-BE49-F238E27FC236}">
                <a16:creationId xmlns:a16="http://schemas.microsoft.com/office/drawing/2014/main" id="{32566952-CD22-4392-6E74-0CA97E4588F6}"/>
              </a:ext>
            </a:extLst>
          </p:cNvPr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>
            <a:extLst>
              <a:ext uri="{FF2B5EF4-FFF2-40B4-BE49-F238E27FC236}">
                <a16:creationId xmlns:a16="http://schemas.microsoft.com/office/drawing/2014/main" id="{BC273426-B405-4E02-8555-D1C95EE9D4F0}"/>
              </a:ext>
            </a:extLst>
          </p:cNvPr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>
            <a:extLst>
              <a:ext uri="{FF2B5EF4-FFF2-40B4-BE49-F238E27FC236}">
                <a16:creationId xmlns:a16="http://schemas.microsoft.com/office/drawing/2014/main" id="{1BBE12E1-FAE2-7F08-41BE-25E337090696}"/>
              </a:ext>
            </a:extLst>
          </p:cNvPr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>
            <a:extLst>
              <a:ext uri="{FF2B5EF4-FFF2-40B4-BE49-F238E27FC236}">
                <a16:creationId xmlns:a16="http://schemas.microsoft.com/office/drawing/2014/main" id="{47A2F113-64D4-5F23-327F-748A18D2FCEA}"/>
              </a:ext>
            </a:extLst>
          </p:cNvPr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>
            <a:extLst>
              <a:ext uri="{FF2B5EF4-FFF2-40B4-BE49-F238E27FC236}">
                <a16:creationId xmlns:a16="http://schemas.microsoft.com/office/drawing/2014/main" id="{65E05015-1478-6715-2501-74FC4ABD37AC}"/>
              </a:ext>
            </a:extLst>
          </p:cNvPr>
          <p:cNvCxnSpPr>
            <a:stCxn id="6" idx="4"/>
            <a:endCxn id="10" idx="0"/>
          </p:cNvCxnSpPr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>
            <a:extLst>
              <a:ext uri="{FF2B5EF4-FFF2-40B4-BE49-F238E27FC236}">
                <a16:creationId xmlns:a16="http://schemas.microsoft.com/office/drawing/2014/main" id="{6C297BCB-C5E2-BB5B-EB9E-943045BB3C69}"/>
              </a:ext>
            </a:extLst>
          </p:cNvPr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BA627E1-1783-C660-E366-465DE8C57EF7}"/>
              </a:ext>
            </a:extLst>
          </p:cNvPr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>
            <a:extLst>
              <a:ext uri="{FF2B5EF4-FFF2-40B4-BE49-F238E27FC236}">
                <a16:creationId xmlns:a16="http://schemas.microsoft.com/office/drawing/2014/main" id="{A77E3F65-CE9D-1668-1FCD-9268F7BCEAC5}"/>
              </a:ext>
            </a:extLst>
          </p:cNvPr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51880934-D7AC-7719-92C5-07D795EA76E0}"/>
              </a:ext>
            </a:extLst>
          </p:cNvPr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>
            <a:extLst>
              <a:ext uri="{FF2B5EF4-FFF2-40B4-BE49-F238E27FC236}">
                <a16:creationId xmlns:a16="http://schemas.microsoft.com/office/drawing/2014/main" id="{CF58F9D4-A611-1DBB-B849-E14F343968A5}"/>
              </a:ext>
            </a:extLst>
          </p:cNvPr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>
            <a:extLst>
              <a:ext uri="{FF2B5EF4-FFF2-40B4-BE49-F238E27FC236}">
                <a16:creationId xmlns:a16="http://schemas.microsoft.com/office/drawing/2014/main" id="{B2DC0883-E5F5-5CC3-AD5B-763F367C1AC9}"/>
              </a:ext>
            </a:extLst>
          </p:cNvPr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366A75D-EAF7-A755-FD39-7500FD7E24B7}"/>
              </a:ext>
            </a:extLst>
          </p:cNvPr>
          <p:cNvGrpSpPr/>
          <p:nvPr/>
        </p:nvGrpSpPr>
        <p:grpSpPr>
          <a:xfrm>
            <a:off x="914400" y="1828800"/>
            <a:ext cx="6553200" cy="3581400"/>
            <a:chOff x="914400" y="1828800"/>
            <a:chExt cx="6553200" cy="3581400"/>
          </a:xfrm>
        </p:grpSpPr>
        <p:sp>
          <p:nvSpPr>
            <p:cNvPr id="108" name="TextBox 107">
              <a:extLst>
                <a:ext uri="{FF2B5EF4-FFF2-40B4-BE49-F238E27FC236}">
                  <a16:creationId xmlns:a16="http://schemas.microsoft.com/office/drawing/2014/main" id="{5B94E53E-BBF7-97B5-C303-41F923DA7EF0}"/>
                </a:ext>
              </a:extLst>
            </p:cNvPr>
            <p:cNvSpPr txBox="1"/>
            <p:nvPr/>
          </p:nvSpPr>
          <p:spPr>
            <a:xfrm>
              <a:off x="4953000" y="1828800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170</a:t>
              </a:r>
            </a:p>
          </p:txBody>
        </p:sp>
        <p:sp>
          <p:nvSpPr>
            <p:cNvPr id="109" name="TextBox 108">
              <a:extLst>
                <a:ext uri="{FF2B5EF4-FFF2-40B4-BE49-F238E27FC236}">
                  <a16:creationId xmlns:a16="http://schemas.microsoft.com/office/drawing/2014/main" id="{38AE8D70-84CA-2B24-B1A8-504AA16CA1ED}"/>
                </a:ext>
              </a:extLst>
            </p:cNvPr>
            <p:cNvSpPr txBox="1"/>
            <p:nvPr/>
          </p:nvSpPr>
          <p:spPr>
            <a:xfrm>
              <a:off x="4648200" y="23738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33</a:t>
              </a:r>
            </a:p>
          </p:txBody>
        </p:sp>
        <p:sp>
          <p:nvSpPr>
            <p:cNvPr id="110" name="TextBox 109">
              <a:extLst>
                <a:ext uri="{FF2B5EF4-FFF2-40B4-BE49-F238E27FC236}">
                  <a16:creationId xmlns:a16="http://schemas.microsoft.com/office/drawing/2014/main" id="{7DF8AB3D-FEC5-33EA-E4C2-1B89542541B9}"/>
                </a:ext>
              </a:extLst>
            </p:cNvPr>
            <p:cNvSpPr txBox="1"/>
            <p:nvPr/>
          </p:nvSpPr>
          <p:spPr>
            <a:xfrm>
              <a:off x="4229496" y="2743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35</a:t>
              </a:r>
            </a:p>
          </p:txBody>
        </p:sp>
        <p:sp>
          <p:nvSpPr>
            <p:cNvPr id="111" name="TextBox 110">
              <a:extLst>
                <a:ext uri="{FF2B5EF4-FFF2-40B4-BE49-F238E27FC236}">
                  <a16:creationId xmlns:a16="http://schemas.microsoft.com/office/drawing/2014/main" id="{E19F1502-291D-9ED5-5C6E-9F47A0A9E57B}"/>
                </a:ext>
              </a:extLst>
            </p:cNvPr>
            <p:cNvSpPr txBox="1"/>
            <p:nvPr/>
          </p:nvSpPr>
          <p:spPr>
            <a:xfrm>
              <a:off x="4762896" y="2983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31</a:t>
              </a:r>
            </a:p>
          </p:txBody>
        </p:sp>
        <p:sp>
          <p:nvSpPr>
            <p:cNvPr id="112" name="TextBox 111">
              <a:extLst>
                <a:ext uri="{FF2B5EF4-FFF2-40B4-BE49-F238E27FC236}">
                  <a16:creationId xmlns:a16="http://schemas.microsoft.com/office/drawing/2014/main" id="{B759E67E-2404-3B8E-15DD-3914D4D82608}"/>
                </a:ext>
              </a:extLst>
            </p:cNvPr>
            <p:cNvSpPr txBox="1"/>
            <p:nvPr/>
          </p:nvSpPr>
          <p:spPr>
            <a:xfrm>
              <a:off x="5410200" y="3200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41</a:t>
              </a:r>
            </a:p>
          </p:txBody>
        </p:sp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67226AC6-C79F-94E5-0AF9-E9A703307A79}"/>
                </a:ext>
              </a:extLst>
            </p:cNvPr>
            <p:cNvSpPr txBox="1"/>
            <p:nvPr/>
          </p:nvSpPr>
          <p:spPr>
            <a:xfrm>
              <a:off x="6286896" y="3288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81</a:t>
              </a:r>
            </a:p>
          </p:txBody>
        </p:sp>
        <p:sp>
          <p:nvSpPr>
            <p:cNvPr id="114" name="TextBox 113">
              <a:extLst>
                <a:ext uri="{FF2B5EF4-FFF2-40B4-BE49-F238E27FC236}">
                  <a16:creationId xmlns:a16="http://schemas.microsoft.com/office/drawing/2014/main" id="{47C94428-FEE9-ABBE-6C1C-94EB83204CF0}"/>
                </a:ext>
              </a:extLst>
            </p:cNvPr>
            <p:cNvSpPr txBox="1"/>
            <p:nvPr/>
          </p:nvSpPr>
          <p:spPr>
            <a:xfrm>
              <a:off x="7048896" y="3745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52</a:t>
              </a:r>
            </a:p>
          </p:txBody>
        </p:sp>
        <p:sp>
          <p:nvSpPr>
            <p:cNvPr id="115" name="TextBox 114">
              <a:extLst>
                <a:ext uri="{FF2B5EF4-FFF2-40B4-BE49-F238E27FC236}">
                  <a16:creationId xmlns:a16="http://schemas.microsoft.com/office/drawing/2014/main" id="{1E56562F-F289-CFBF-6464-2BB906292A70}"/>
                </a:ext>
              </a:extLst>
            </p:cNvPr>
            <p:cNvSpPr txBox="1"/>
            <p:nvPr/>
          </p:nvSpPr>
          <p:spPr>
            <a:xfrm>
              <a:off x="60582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42</a:t>
              </a:r>
            </a:p>
          </p:txBody>
        </p:sp>
        <p:sp>
          <p:nvSpPr>
            <p:cNvPr id="117" name="TextBox 116">
              <a:extLst>
                <a:ext uri="{FF2B5EF4-FFF2-40B4-BE49-F238E27FC236}">
                  <a16:creationId xmlns:a16="http://schemas.microsoft.com/office/drawing/2014/main" id="{63F595D8-6B89-1EA0-E9EC-BCAAFF67276B}"/>
                </a:ext>
              </a:extLst>
            </p:cNvPr>
            <p:cNvSpPr txBox="1"/>
            <p:nvPr/>
          </p:nvSpPr>
          <p:spPr>
            <a:xfrm>
              <a:off x="7010400" y="2743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18" name="TextBox 117">
              <a:extLst>
                <a:ext uri="{FF2B5EF4-FFF2-40B4-BE49-F238E27FC236}">
                  <a16:creationId xmlns:a16="http://schemas.microsoft.com/office/drawing/2014/main" id="{4B12C05B-0D1D-7FA9-0223-33B2859DB569}"/>
                </a:ext>
              </a:extLst>
            </p:cNvPr>
            <p:cNvSpPr txBox="1"/>
            <p:nvPr/>
          </p:nvSpPr>
          <p:spPr>
            <a:xfrm>
              <a:off x="4953000" y="5040868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102</a:t>
              </a:r>
            </a:p>
          </p:txBody>
        </p:sp>
        <p:sp>
          <p:nvSpPr>
            <p:cNvPr id="119" name="TextBox 118">
              <a:extLst>
                <a:ext uri="{FF2B5EF4-FFF2-40B4-BE49-F238E27FC236}">
                  <a16:creationId xmlns:a16="http://schemas.microsoft.com/office/drawing/2014/main" id="{80B74733-70A5-06B3-8C13-0461BB743AAB}"/>
                </a:ext>
              </a:extLst>
            </p:cNvPr>
            <p:cNvSpPr txBox="1"/>
            <p:nvPr/>
          </p:nvSpPr>
          <p:spPr>
            <a:xfrm>
              <a:off x="5484076" y="44196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A68664A1-663C-90B9-31CA-9D2F8943E5A2}"/>
                </a:ext>
              </a:extLst>
            </p:cNvPr>
            <p:cNvSpPr txBox="1"/>
            <p:nvPr/>
          </p:nvSpPr>
          <p:spPr>
            <a:xfrm>
              <a:off x="6400800" y="4495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30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EA098A84-4B3D-30F9-0468-C49DF02A8F17}"/>
                </a:ext>
              </a:extLst>
            </p:cNvPr>
            <p:cNvSpPr txBox="1"/>
            <p:nvPr/>
          </p:nvSpPr>
          <p:spPr>
            <a:xfrm>
              <a:off x="4800600" y="4267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60</a:t>
              </a:r>
            </a:p>
          </p:txBody>
        </p:sp>
        <p:sp>
          <p:nvSpPr>
            <p:cNvPr id="122" name="TextBox 121">
              <a:extLst>
                <a:ext uri="{FF2B5EF4-FFF2-40B4-BE49-F238E27FC236}">
                  <a16:creationId xmlns:a16="http://schemas.microsoft.com/office/drawing/2014/main" id="{E165E6E8-7D3F-491C-0A07-2313A277EEAE}"/>
                </a:ext>
              </a:extLst>
            </p:cNvPr>
            <p:cNvSpPr txBox="1"/>
            <p:nvPr/>
          </p:nvSpPr>
          <p:spPr>
            <a:xfrm>
              <a:off x="3352800" y="3048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70</a:t>
              </a:r>
            </a:p>
          </p:txBody>
        </p:sp>
        <p:sp>
          <p:nvSpPr>
            <p:cNvPr id="123" name="TextBox 122">
              <a:extLst>
                <a:ext uri="{FF2B5EF4-FFF2-40B4-BE49-F238E27FC236}">
                  <a16:creationId xmlns:a16="http://schemas.microsoft.com/office/drawing/2014/main" id="{D9D07C8A-342F-64E6-3A86-09CECC3BD3C3}"/>
                </a:ext>
              </a:extLst>
            </p:cNvPr>
            <p:cNvSpPr txBox="1"/>
            <p:nvPr/>
          </p:nvSpPr>
          <p:spPr>
            <a:xfrm>
              <a:off x="36960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24" name="TextBox 123">
              <a:extLst>
                <a:ext uri="{FF2B5EF4-FFF2-40B4-BE49-F238E27FC236}">
                  <a16:creationId xmlns:a16="http://schemas.microsoft.com/office/drawing/2014/main" id="{E8F0D218-4D26-6FDF-8B7A-055BF60C1897}"/>
                </a:ext>
              </a:extLst>
            </p:cNvPr>
            <p:cNvSpPr txBox="1"/>
            <p:nvPr/>
          </p:nvSpPr>
          <p:spPr>
            <a:xfrm>
              <a:off x="3657600" y="4648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57</a:t>
              </a:r>
            </a:p>
          </p:txBody>
        </p:sp>
        <p:sp>
          <p:nvSpPr>
            <p:cNvPr id="125" name="TextBox 124">
              <a:extLst>
                <a:ext uri="{FF2B5EF4-FFF2-40B4-BE49-F238E27FC236}">
                  <a16:creationId xmlns:a16="http://schemas.microsoft.com/office/drawing/2014/main" id="{3ACF209F-F9B4-4F3C-14B6-FF16739F7ABC}"/>
                </a:ext>
              </a:extLst>
            </p:cNvPr>
            <p:cNvSpPr txBox="1"/>
            <p:nvPr/>
          </p:nvSpPr>
          <p:spPr>
            <a:xfrm>
              <a:off x="4153296" y="3962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6" name="TextBox 125">
              <a:extLst>
                <a:ext uri="{FF2B5EF4-FFF2-40B4-BE49-F238E27FC236}">
                  <a16:creationId xmlns:a16="http://schemas.microsoft.com/office/drawing/2014/main" id="{48829D24-CB0A-1502-D724-05006B0FCDCC}"/>
                </a:ext>
              </a:extLst>
            </p:cNvPr>
            <p:cNvSpPr txBox="1"/>
            <p:nvPr/>
          </p:nvSpPr>
          <p:spPr>
            <a:xfrm>
              <a:off x="1371600" y="45836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7" name="TextBox 126">
              <a:extLst>
                <a:ext uri="{FF2B5EF4-FFF2-40B4-BE49-F238E27FC236}">
                  <a16:creationId xmlns:a16="http://schemas.microsoft.com/office/drawing/2014/main" id="{9FC23ED7-CE68-59C7-B148-0E2DE77A2F7C}"/>
                </a:ext>
              </a:extLst>
            </p:cNvPr>
            <p:cNvSpPr txBox="1"/>
            <p:nvPr/>
          </p:nvSpPr>
          <p:spPr>
            <a:xfrm>
              <a:off x="2133600" y="3886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80</a:t>
              </a:r>
            </a:p>
          </p:txBody>
        </p:sp>
        <p:sp>
          <p:nvSpPr>
            <p:cNvPr id="128" name="TextBox 127">
              <a:extLst>
                <a:ext uri="{FF2B5EF4-FFF2-40B4-BE49-F238E27FC236}">
                  <a16:creationId xmlns:a16="http://schemas.microsoft.com/office/drawing/2014/main" id="{E2599CF5-C86A-87B7-F5FF-8E51507A0007}"/>
                </a:ext>
              </a:extLst>
            </p:cNvPr>
            <p:cNvSpPr txBox="1"/>
            <p:nvPr/>
          </p:nvSpPr>
          <p:spPr>
            <a:xfrm>
              <a:off x="1600200" y="3429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78</a:t>
              </a:r>
            </a:p>
          </p:txBody>
        </p:sp>
        <p:sp>
          <p:nvSpPr>
            <p:cNvPr id="129" name="TextBox 128">
              <a:extLst>
                <a:ext uri="{FF2B5EF4-FFF2-40B4-BE49-F238E27FC236}">
                  <a16:creationId xmlns:a16="http://schemas.microsoft.com/office/drawing/2014/main" id="{CE30710E-AF57-41E7-7BAE-0450BBC4A9CA}"/>
                </a:ext>
              </a:extLst>
            </p:cNvPr>
            <p:cNvSpPr txBox="1"/>
            <p:nvPr/>
          </p:nvSpPr>
          <p:spPr>
            <a:xfrm>
              <a:off x="1943496" y="2590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63</a:t>
              </a:r>
            </a:p>
          </p:txBody>
        </p:sp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CF7CEDB3-2399-C75D-F9CB-0A86DAB3C351}"/>
                </a:ext>
              </a:extLst>
            </p:cNvPr>
            <p:cNvSpPr txBox="1"/>
            <p:nvPr/>
          </p:nvSpPr>
          <p:spPr>
            <a:xfrm>
              <a:off x="3086496" y="2438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24</a:t>
              </a:r>
            </a:p>
          </p:txBody>
        </p:sp>
        <p:sp>
          <p:nvSpPr>
            <p:cNvPr id="131" name="TextBox 130">
              <a:extLst>
                <a:ext uri="{FF2B5EF4-FFF2-40B4-BE49-F238E27FC236}">
                  <a16:creationId xmlns:a16="http://schemas.microsoft.com/office/drawing/2014/main" id="{60E69C1C-1911-AB0C-6501-EB920D91294C}"/>
                </a:ext>
              </a:extLst>
            </p:cNvPr>
            <p:cNvSpPr txBox="1"/>
            <p:nvPr/>
          </p:nvSpPr>
          <p:spPr>
            <a:xfrm>
              <a:off x="2743200" y="3505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53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3308296E-3C0D-73B6-1A7F-123F3ABCA178}"/>
                </a:ext>
              </a:extLst>
            </p:cNvPr>
            <p:cNvSpPr txBox="1"/>
            <p:nvPr/>
          </p:nvSpPr>
          <p:spPr>
            <a:xfrm>
              <a:off x="2553096" y="4431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44</a:t>
              </a:r>
            </a:p>
          </p:txBody>
        </p:sp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46C82630-51F9-E2F1-DDF8-F20560B2DCF5}"/>
                </a:ext>
              </a:extLst>
            </p:cNvPr>
            <p:cNvSpPr txBox="1"/>
            <p:nvPr/>
          </p:nvSpPr>
          <p:spPr>
            <a:xfrm>
              <a:off x="2248296" y="5029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29</a:t>
              </a:r>
            </a:p>
          </p:txBody>
        </p:sp>
        <p:sp>
          <p:nvSpPr>
            <p:cNvPr id="134" name="TextBox 133">
              <a:extLst>
                <a:ext uri="{FF2B5EF4-FFF2-40B4-BE49-F238E27FC236}">
                  <a16:creationId xmlns:a16="http://schemas.microsoft.com/office/drawing/2014/main" id="{E0FEC1E4-6178-C6DF-7729-293ADF2F25CF}"/>
                </a:ext>
              </a:extLst>
            </p:cNvPr>
            <p:cNvSpPr txBox="1"/>
            <p:nvPr/>
          </p:nvSpPr>
          <p:spPr>
            <a:xfrm>
              <a:off x="914400" y="3352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64</a:t>
              </a:r>
            </a:p>
          </p:txBody>
        </p:sp>
      </p:grpSp>
      <p:sp>
        <p:nvSpPr>
          <p:cNvPr id="76" name="TextBox 75">
            <a:extLst>
              <a:ext uri="{FF2B5EF4-FFF2-40B4-BE49-F238E27FC236}">
                <a16:creationId xmlns:a16="http://schemas.microsoft.com/office/drawing/2014/main" id="{CF1F86F3-BCEE-222F-FDF3-40138093BD4D}"/>
              </a:ext>
            </a:extLst>
          </p:cNvPr>
          <p:cNvSpPr txBox="1"/>
          <p:nvPr/>
        </p:nvSpPr>
        <p:spPr>
          <a:xfrm>
            <a:off x="4724400" y="3669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42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8B88F776-6903-3DE6-DB2E-72873C45CC78}"/>
              </a:ext>
            </a:extLst>
          </p:cNvPr>
          <p:cNvSpPr txBox="1"/>
          <p:nvPr/>
        </p:nvSpPr>
        <p:spPr>
          <a:xfrm>
            <a:off x="3124200" y="4431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43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67FDC64-95EE-1D41-90A5-5E724E2F88D7}"/>
              </a:ext>
            </a:extLst>
          </p:cNvPr>
          <p:cNvSpPr txBox="1"/>
          <p:nvPr/>
        </p:nvSpPr>
        <p:spPr>
          <a:xfrm>
            <a:off x="4191000" y="3505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u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A034DCE6-AA81-5542-E8D4-8659B9BA2C39}"/>
              </a:ext>
            </a:extLst>
          </p:cNvPr>
          <p:cNvSpPr/>
          <p:nvPr/>
        </p:nvSpPr>
        <p:spPr>
          <a:xfrm>
            <a:off x="3886200" y="3276600"/>
            <a:ext cx="1047552" cy="531680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01C6EA0-D36C-45D0-2EA5-7DF3905A2A3B}"/>
              </a:ext>
            </a:extLst>
          </p:cNvPr>
          <p:cNvSpPr txBox="1"/>
          <p:nvPr/>
        </p:nvSpPr>
        <p:spPr>
          <a:xfrm>
            <a:off x="5181600" y="245006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v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D780F3EC-BCC8-53B3-A587-33A70916B13D}"/>
              </a:ext>
            </a:extLst>
          </p:cNvPr>
          <p:cNvSpPr txBox="1"/>
          <p:nvPr/>
        </p:nvSpPr>
        <p:spPr>
          <a:xfrm>
            <a:off x="5867400" y="26024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70</a:t>
            </a:r>
          </a:p>
        </p:txBody>
      </p:sp>
      <p:cxnSp>
        <p:nvCxnSpPr>
          <p:cNvPr id="83" name="Straight Connector 82">
            <a:extLst>
              <a:ext uri="{FF2B5EF4-FFF2-40B4-BE49-F238E27FC236}">
                <a16:creationId xmlns:a16="http://schemas.microsoft.com/office/drawing/2014/main" id="{2E68C473-C862-EC59-BB5F-D6C66DE05BEB}"/>
              </a:ext>
            </a:extLst>
          </p:cNvPr>
          <p:cNvCxnSpPr>
            <a:cxnSpLocks/>
          </p:cNvCxnSpPr>
          <p:nvPr/>
        </p:nvCxnSpPr>
        <p:spPr>
          <a:xfrm>
            <a:off x="2133600" y="1459468"/>
            <a:ext cx="663482" cy="4255532"/>
          </a:xfrm>
          <a:prstGeom prst="line">
            <a:avLst/>
          </a:prstGeom>
          <a:ln w="5715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>
            <a:extLst>
              <a:ext uri="{FF2B5EF4-FFF2-40B4-BE49-F238E27FC236}">
                <a16:creationId xmlns:a16="http://schemas.microsoft.com/office/drawing/2014/main" id="{86AC759C-9FB0-7975-19FA-56E35D592D41}"/>
              </a:ext>
            </a:extLst>
          </p:cNvPr>
          <p:cNvCxnSpPr>
            <a:cxnSpLocks/>
          </p:cNvCxnSpPr>
          <p:nvPr/>
        </p:nvCxnSpPr>
        <p:spPr>
          <a:xfrm flipH="1">
            <a:off x="4153296" y="1676400"/>
            <a:ext cx="1965022" cy="4191000"/>
          </a:xfrm>
          <a:prstGeom prst="line">
            <a:avLst/>
          </a:prstGeom>
          <a:ln w="5715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>
            <a:extLst>
              <a:ext uri="{FF2B5EF4-FFF2-40B4-BE49-F238E27FC236}">
                <a16:creationId xmlns:a16="http://schemas.microsoft.com/office/drawing/2014/main" id="{F1ACE2A4-0AA8-9017-32F2-1896F57C4F2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3569732"/>
            <a:ext cx="7543800" cy="926068"/>
          </a:xfrm>
          <a:prstGeom prst="line">
            <a:avLst/>
          </a:prstGeom>
          <a:ln w="57150">
            <a:solidFill>
              <a:srgbClr val="00B0F0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>
            <a:extLst>
              <a:ext uri="{FF2B5EF4-FFF2-40B4-BE49-F238E27FC236}">
                <a16:creationId xmlns:a16="http://schemas.microsoft.com/office/drawing/2014/main" id="{161051DF-BB8E-2C86-847B-6C83DC80810E}"/>
              </a:ext>
            </a:extLst>
          </p:cNvPr>
          <p:cNvSpPr/>
          <p:nvPr/>
        </p:nvSpPr>
        <p:spPr>
          <a:xfrm>
            <a:off x="4097044" y="5682734"/>
            <a:ext cx="4894556" cy="36933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68082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4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4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56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8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9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0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1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2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3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4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5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build="p"/>
      <p:bldP spid="22" grpId="0"/>
      <p:bldP spid="24" grpId="0" animBg="1"/>
      <p:bldP spid="80" grpId="0"/>
      <p:bldP spid="25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How to use cut property to compute a MST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" idx="3"/>
            <a:endCxn id="16" idx="0"/>
          </p:cNvCxnSpPr>
          <p:nvPr/>
        </p:nvCxnSpPr>
        <p:spPr>
          <a:xfrm flipH="1">
            <a:off x="3048000" y="4092482"/>
            <a:ext cx="174718" cy="1012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6" idx="4"/>
            <a:endCxn id="10" idx="0"/>
          </p:cNvCxnSpPr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914400" y="1828800"/>
            <a:ext cx="6553200" cy="3581400"/>
            <a:chOff x="914400" y="1828800"/>
            <a:chExt cx="6553200" cy="3581400"/>
          </a:xfrm>
        </p:grpSpPr>
        <p:sp>
          <p:nvSpPr>
            <p:cNvPr id="108" name="TextBox 107"/>
            <p:cNvSpPr txBox="1"/>
            <p:nvPr/>
          </p:nvSpPr>
          <p:spPr>
            <a:xfrm>
              <a:off x="4953000" y="1828800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170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648200" y="23738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33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762896" y="2983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31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410200" y="3200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41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286896" y="3288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81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048896" y="3745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52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0582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42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010400" y="2743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953000" y="5040868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102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484076" y="44196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400800" y="4495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30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800600" y="4267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60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352800" y="3048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70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36960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657600" y="4648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57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4153296" y="3962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371600" y="45836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133600" y="3886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80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600200" y="3429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78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943496" y="2590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63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086496" y="2438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24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2743200" y="3505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53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553096" y="4431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44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2248296" y="5029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29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914400" y="3352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64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4724400" y="3669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24200" y="4431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1000" y="3505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u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81600" y="245006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v</a:t>
            </a:r>
          </a:p>
        </p:txBody>
      </p:sp>
      <p:sp>
        <p:nvSpPr>
          <p:cNvPr id="25" name="Oval 24"/>
          <p:cNvSpPr/>
          <p:nvPr/>
        </p:nvSpPr>
        <p:spPr>
          <a:xfrm rot="19244852">
            <a:off x="3877600" y="2873823"/>
            <a:ext cx="2062418" cy="663325"/>
          </a:xfrm>
          <a:prstGeom prst="ellipse">
            <a:avLst/>
          </a:pr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/>
          <p:cNvSpPr txBox="1"/>
          <p:nvPr/>
        </p:nvSpPr>
        <p:spPr>
          <a:xfrm>
            <a:off x="5867400" y="26024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70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29496" y="274320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800" y="213360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w</a:t>
            </a:r>
          </a:p>
        </p:txBody>
      </p:sp>
    </p:spTree>
    <p:extLst>
      <p:ext uri="{BB962C8B-B14F-4D97-AF65-F5344CB8AC3E}">
        <p14:creationId xmlns:p14="http://schemas.microsoft.com/office/powerpoint/2010/main" val="952288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8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How to use cut property to compute a MST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" idx="3"/>
            <a:endCxn id="16" idx="0"/>
          </p:cNvCxnSpPr>
          <p:nvPr/>
        </p:nvCxnSpPr>
        <p:spPr>
          <a:xfrm flipH="1">
            <a:off x="3048000" y="4092482"/>
            <a:ext cx="174718" cy="1012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6" idx="4"/>
            <a:endCxn id="10" idx="0"/>
          </p:cNvCxnSpPr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914400" y="1828800"/>
            <a:ext cx="6553200" cy="3581400"/>
            <a:chOff x="914400" y="1828800"/>
            <a:chExt cx="6553200" cy="3581400"/>
          </a:xfrm>
        </p:grpSpPr>
        <p:sp>
          <p:nvSpPr>
            <p:cNvPr id="108" name="TextBox 107"/>
            <p:cNvSpPr txBox="1"/>
            <p:nvPr/>
          </p:nvSpPr>
          <p:spPr>
            <a:xfrm>
              <a:off x="4953000" y="1828800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170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648200" y="23738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33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762896" y="2983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31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410200" y="3200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41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286896" y="3288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81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048896" y="3745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52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0582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42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010400" y="2743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953000" y="5040868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102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484076" y="44196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400800" y="4495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30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800600" y="4267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60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352800" y="3048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70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36960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657600" y="4648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57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4153296" y="3962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371600" y="45836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133600" y="3886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80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600200" y="3429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78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943496" y="2590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63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086496" y="2438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24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2743200" y="3505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53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553096" y="4431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44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2248296" y="5029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29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914400" y="3352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64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4724400" y="3669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24200" y="4431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1000" y="3505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u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81600" y="245006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v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67400" y="26024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70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29496" y="274320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800" y="213360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w</a:t>
            </a:r>
          </a:p>
        </p:txBody>
      </p:sp>
      <p:sp>
        <p:nvSpPr>
          <p:cNvPr id="27" name="Freeform 26"/>
          <p:cNvSpPr/>
          <p:nvPr/>
        </p:nvSpPr>
        <p:spPr>
          <a:xfrm>
            <a:off x="3737539" y="2162420"/>
            <a:ext cx="1726740" cy="1810344"/>
          </a:xfrm>
          <a:custGeom>
            <a:avLst/>
            <a:gdLst>
              <a:gd name="connsiteX0" fmla="*/ 243446 w 1726740"/>
              <a:gd name="connsiteY0" fmla="*/ 917 h 1810344"/>
              <a:gd name="connsiteX1" fmla="*/ 65027 w 1726740"/>
              <a:gd name="connsiteY1" fmla="*/ 112429 h 1810344"/>
              <a:gd name="connsiteX2" fmla="*/ 20422 w 1726740"/>
              <a:gd name="connsiteY2" fmla="*/ 781502 h 1810344"/>
              <a:gd name="connsiteX3" fmla="*/ 377261 w 1726740"/>
              <a:gd name="connsiteY3" fmla="*/ 1695902 h 1810344"/>
              <a:gd name="connsiteX4" fmla="*/ 901368 w 1726740"/>
              <a:gd name="connsiteY4" fmla="*/ 1751658 h 1810344"/>
              <a:gd name="connsiteX5" fmla="*/ 1291661 w 1726740"/>
              <a:gd name="connsiteY5" fmla="*/ 1283307 h 1810344"/>
              <a:gd name="connsiteX6" fmla="*/ 1715407 w 1726740"/>
              <a:gd name="connsiteY6" fmla="*/ 424663 h 1810344"/>
              <a:gd name="connsiteX7" fmla="*/ 1570441 w 1726740"/>
              <a:gd name="connsiteY7" fmla="*/ 201639 h 1810344"/>
              <a:gd name="connsiteX8" fmla="*/ 1202451 w 1726740"/>
              <a:gd name="connsiteY8" fmla="*/ 112429 h 1810344"/>
              <a:gd name="connsiteX9" fmla="*/ 243446 w 1726740"/>
              <a:gd name="connsiteY9" fmla="*/ 917 h 18103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26740" h="1810344">
                <a:moveTo>
                  <a:pt x="243446" y="917"/>
                </a:moveTo>
                <a:cubicBezTo>
                  <a:pt x="53875" y="917"/>
                  <a:pt x="102198" y="-17668"/>
                  <a:pt x="65027" y="112429"/>
                </a:cubicBezTo>
                <a:cubicBezTo>
                  <a:pt x="27856" y="242526"/>
                  <a:pt x="-31617" y="517590"/>
                  <a:pt x="20422" y="781502"/>
                </a:cubicBezTo>
                <a:cubicBezTo>
                  <a:pt x="72461" y="1045414"/>
                  <a:pt x="230437" y="1534209"/>
                  <a:pt x="377261" y="1695902"/>
                </a:cubicBezTo>
                <a:cubicBezTo>
                  <a:pt x="524085" y="1857595"/>
                  <a:pt x="748968" y="1820424"/>
                  <a:pt x="901368" y="1751658"/>
                </a:cubicBezTo>
                <a:cubicBezTo>
                  <a:pt x="1053768" y="1682892"/>
                  <a:pt x="1155988" y="1504473"/>
                  <a:pt x="1291661" y="1283307"/>
                </a:cubicBezTo>
                <a:cubicBezTo>
                  <a:pt x="1427334" y="1062141"/>
                  <a:pt x="1668944" y="604941"/>
                  <a:pt x="1715407" y="424663"/>
                </a:cubicBezTo>
                <a:cubicBezTo>
                  <a:pt x="1761870" y="244385"/>
                  <a:pt x="1655934" y="253678"/>
                  <a:pt x="1570441" y="201639"/>
                </a:cubicBezTo>
                <a:cubicBezTo>
                  <a:pt x="1484948" y="149600"/>
                  <a:pt x="1429192" y="145883"/>
                  <a:pt x="1202451" y="112429"/>
                </a:cubicBezTo>
                <a:cubicBezTo>
                  <a:pt x="975710" y="78975"/>
                  <a:pt x="433017" y="917"/>
                  <a:pt x="243446" y="917"/>
                </a:cubicBezTo>
                <a:close/>
              </a:path>
            </a:pathLst>
          </a:custGeom>
          <a:noFill/>
          <a:ln w="57150"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2819400" y="28956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x</a:t>
            </a:r>
          </a:p>
        </p:txBody>
      </p:sp>
    </p:spTree>
    <p:extLst>
      <p:ext uri="{BB962C8B-B14F-4D97-AF65-F5344CB8AC3E}">
        <p14:creationId xmlns:p14="http://schemas.microsoft.com/office/powerpoint/2010/main" val="426755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86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How to use cut property to compute a MST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" idx="3"/>
            <a:endCxn id="16" idx="0"/>
          </p:cNvCxnSpPr>
          <p:nvPr/>
        </p:nvCxnSpPr>
        <p:spPr>
          <a:xfrm flipH="1">
            <a:off x="3048000" y="4092482"/>
            <a:ext cx="174718" cy="1012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6" idx="4"/>
            <a:endCxn id="10" idx="0"/>
          </p:cNvCxnSpPr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914400" y="1828800"/>
            <a:ext cx="6553200" cy="3581400"/>
            <a:chOff x="914400" y="1828800"/>
            <a:chExt cx="6553200" cy="3581400"/>
          </a:xfrm>
        </p:grpSpPr>
        <p:sp>
          <p:nvSpPr>
            <p:cNvPr id="108" name="TextBox 107"/>
            <p:cNvSpPr txBox="1"/>
            <p:nvPr/>
          </p:nvSpPr>
          <p:spPr>
            <a:xfrm>
              <a:off x="4953000" y="1828800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170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648200" y="23738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33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762896" y="2983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31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410200" y="3200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41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286896" y="3288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81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048896" y="3745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52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0582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42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010400" y="2743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953000" y="5040868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102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484076" y="44196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400800" y="4495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30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800600" y="4267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60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352800" y="3048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70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36960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657600" y="4648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57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4153296" y="3962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371600" y="45836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133600" y="3886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80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600200" y="3429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78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943496" y="2590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63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086496" y="2438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24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2743200" y="3505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53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553096" y="4431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44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2248296" y="5029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29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914400" y="3352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64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4724400" y="3669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24200" y="4431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1000" y="3505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u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81600" y="245006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v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67400" y="26024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70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29496" y="274320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800" y="213360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w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19400" y="28956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x</a:t>
            </a:r>
          </a:p>
        </p:txBody>
      </p:sp>
      <p:sp>
        <p:nvSpPr>
          <p:cNvPr id="24" name="Freeform 23"/>
          <p:cNvSpPr/>
          <p:nvPr/>
        </p:nvSpPr>
        <p:spPr>
          <a:xfrm>
            <a:off x="2430507" y="2170276"/>
            <a:ext cx="3067673" cy="1709112"/>
          </a:xfrm>
          <a:custGeom>
            <a:avLst/>
            <a:gdLst>
              <a:gd name="connsiteX0" fmla="*/ 89669 w 3067673"/>
              <a:gd name="connsiteY0" fmla="*/ 550622 h 1709112"/>
              <a:gd name="connsiteX1" fmla="*/ 459 w 3067673"/>
              <a:gd name="connsiteY1" fmla="*/ 840553 h 1709112"/>
              <a:gd name="connsiteX2" fmla="*/ 78517 w 3067673"/>
              <a:gd name="connsiteY2" fmla="*/ 1052426 h 1709112"/>
              <a:gd name="connsiteX3" fmla="*/ 479961 w 3067673"/>
              <a:gd name="connsiteY3" fmla="*/ 1197392 h 1709112"/>
              <a:gd name="connsiteX4" fmla="*/ 1929620 w 3067673"/>
              <a:gd name="connsiteY4" fmla="*/ 1676895 h 1709112"/>
              <a:gd name="connsiteX5" fmla="*/ 2230703 w 3067673"/>
              <a:gd name="connsiteY5" fmla="*/ 1598836 h 1709112"/>
              <a:gd name="connsiteX6" fmla="*/ 2732508 w 3067673"/>
              <a:gd name="connsiteY6" fmla="*/ 1063578 h 1709112"/>
              <a:gd name="connsiteX7" fmla="*/ 3067044 w 3067673"/>
              <a:gd name="connsiteY7" fmla="*/ 394504 h 1709112"/>
              <a:gd name="connsiteX8" fmla="*/ 2765961 w 3067673"/>
              <a:gd name="connsiteY8" fmla="*/ 216085 h 1709112"/>
              <a:gd name="connsiteX9" fmla="*/ 1383210 w 3067673"/>
              <a:gd name="connsiteY9" fmla="*/ 4212 h 1709112"/>
              <a:gd name="connsiteX10" fmla="*/ 859103 w 3067673"/>
              <a:gd name="connsiteY10" fmla="*/ 104573 h 1709112"/>
              <a:gd name="connsiteX11" fmla="*/ 145425 w 3067673"/>
              <a:gd name="connsiteY11" fmla="*/ 450261 h 1709112"/>
              <a:gd name="connsiteX12" fmla="*/ 33913 w 3067673"/>
              <a:gd name="connsiteY12" fmla="*/ 740192 h 1709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067673" h="1709112">
                <a:moveTo>
                  <a:pt x="89669" y="550622"/>
                </a:moveTo>
                <a:cubicBezTo>
                  <a:pt x="45993" y="653770"/>
                  <a:pt x="2318" y="756919"/>
                  <a:pt x="459" y="840553"/>
                </a:cubicBezTo>
                <a:cubicBezTo>
                  <a:pt x="-1400" y="924187"/>
                  <a:pt x="-1400" y="992953"/>
                  <a:pt x="78517" y="1052426"/>
                </a:cubicBezTo>
                <a:cubicBezTo>
                  <a:pt x="158434" y="1111899"/>
                  <a:pt x="479961" y="1197392"/>
                  <a:pt x="479961" y="1197392"/>
                </a:cubicBezTo>
                <a:cubicBezTo>
                  <a:pt x="788478" y="1301470"/>
                  <a:pt x="1637830" y="1609988"/>
                  <a:pt x="1929620" y="1676895"/>
                </a:cubicBezTo>
                <a:cubicBezTo>
                  <a:pt x="2221410" y="1743802"/>
                  <a:pt x="2096888" y="1701055"/>
                  <a:pt x="2230703" y="1598836"/>
                </a:cubicBezTo>
                <a:cubicBezTo>
                  <a:pt x="2364518" y="1496617"/>
                  <a:pt x="2593118" y="1264300"/>
                  <a:pt x="2732508" y="1063578"/>
                </a:cubicBezTo>
                <a:cubicBezTo>
                  <a:pt x="2871898" y="862856"/>
                  <a:pt x="3061469" y="535753"/>
                  <a:pt x="3067044" y="394504"/>
                </a:cubicBezTo>
                <a:cubicBezTo>
                  <a:pt x="3072619" y="253255"/>
                  <a:pt x="3046600" y="281134"/>
                  <a:pt x="2765961" y="216085"/>
                </a:cubicBezTo>
                <a:cubicBezTo>
                  <a:pt x="2485322" y="151036"/>
                  <a:pt x="1701020" y="22797"/>
                  <a:pt x="1383210" y="4212"/>
                </a:cubicBezTo>
                <a:cubicBezTo>
                  <a:pt x="1065400" y="-14373"/>
                  <a:pt x="1065400" y="30232"/>
                  <a:pt x="859103" y="104573"/>
                </a:cubicBezTo>
                <a:cubicBezTo>
                  <a:pt x="652806" y="178914"/>
                  <a:pt x="282957" y="344324"/>
                  <a:pt x="145425" y="450261"/>
                </a:cubicBezTo>
                <a:cubicBezTo>
                  <a:pt x="7893" y="556198"/>
                  <a:pt x="20903" y="648195"/>
                  <a:pt x="33913" y="740192"/>
                </a:cubicBezTo>
              </a:path>
            </a:pathLst>
          </a:custGeom>
          <a:ln w="57150">
            <a:solidFill>
              <a:srgbClr val="00B0F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/>
          <p:cNvSpPr txBox="1"/>
          <p:nvPr/>
        </p:nvSpPr>
        <p:spPr>
          <a:xfrm>
            <a:off x="5576936" y="351686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871041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88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How to use cut property to compute a MST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" idx="3"/>
            <a:endCxn id="16" idx="0"/>
          </p:cNvCxnSpPr>
          <p:nvPr/>
        </p:nvCxnSpPr>
        <p:spPr>
          <a:xfrm flipH="1">
            <a:off x="3048000" y="4092482"/>
            <a:ext cx="174718" cy="1012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6" idx="4"/>
            <a:endCxn id="10" idx="0"/>
          </p:cNvCxnSpPr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914400" y="1828800"/>
            <a:ext cx="6553200" cy="3581400"/>
            <a:chOff x="914400" y="1828800"/>
            <a:chExt cx="6553200" cy="3581400"/>
          </a:xfrm>
        </p:grpSpPr>
        <p:sp>
          <p:nvSpPr>
            <p:cNvPr id="108" name="TextBox 107"/>
            <p:cNvSpPr txBox="1"/>
            <p:nvPr/>
          </p:nvSpPr>
          <p:spPr>
            <a:xfrm>
              <a:off x="4953000" y="1828800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170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648200" y="23738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33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762896" y="2983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31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410200" y="3200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41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286896" y="3288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81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048896" y="3745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52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0582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42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010400" y="2743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953000" y="5040868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102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484076" y="44196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400800" y="4495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30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800600" y="4267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60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352800" y="3048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70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36960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657600" y="4648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57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4153296" y="3962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371600" y="45836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133600" y="3886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80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600200" y="3429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78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943496" y="2590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63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086496" y="2438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24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2743200" y="3505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53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553096" y="4431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44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2248296" y="5029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29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914400" y="3352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64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4724400" y="3669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24200" y="4431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1000" y="3505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u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81600" y="245006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v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67400" y="26024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70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29496" y="274320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800" y="213360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w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19400" y="28956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76936" y="351686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541700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How to use cut property to compute a MST 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12954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2743200" y="2895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1143000" y="4267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200400" y="3962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038600" y="2362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21336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5181600" y="2743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5486400" y="38100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4343400" y="4724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/>
          <p:cNvSpPr/>
          <p:nvPr/>
        </p:nvSpPr>
        <p:spPr>
          <a:xfrm>
            <a:off x="6705600" y="4114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/>
          <p:cNvSpPr/>
          <p:nvPr/>
        </p:nvSpPr>
        <p:spPr>
          <a:xfrm>
            <a:off x="6096000" y="48768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/>
          <p:cNvSpPr/>
          <p:nvPr/>
        </p:nvSpPr>
        <p:spPr>
          <a:xfrm>
            <a:off x="2971800" y="51054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/>
          <p:cNvSpPr/>
          <p:nvPr/>
        </p:nvSpPr>
        <p:spPr>
          <a:xfrm>
            <a:off x="4419600" y="35052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/>
          <p:cNvSpPr/>
          <p:nvPr/>
        </p:nvSpPr>
        <p:spPr>
          <a:xfrm>
            <a:off x="6477000" y="2514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/>
          <p:cNvSpPr/>
          <p:nvPr/>
        </p:nvSpPr>
        <p:spPr>
          <a:xfrm>
            <a:off x="7391400" y="3276600"/>
            <a:ext cx="152400" cy="15240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/>
          <p:cNvCxnSpPr>
            <a:endCxn id="6" idx="2"/>
          </p:cNvCxnSpPr>
          <p:nvPr/>
        </p:nvCxnSpPr>
        <p:spPr>
          <a:xfrm>
            <a:off x="1447800" y="2819400"/>
            <a:ext cx="1295400" cy="1524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>
            <a:endCxn id="7" idx="1"/>
          </p:cNvCxnSpPr>
          <p:nvPr/>
        </p:nvCxnSpPr>
        <p:spPr>
          <a:xfrm flipH="1">
            <a:off x="1165318" y="2895600"/>
            <a:ext cx="206282" cy="1393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6" idx="4"/>
            <a:endCxn id="8" idx="1"/>
          </p:cNvCxnSpPr>
          <p:nvPr/>
        </p:nvCxnSpPr>
        <p:spPr>
          <a:xfrm>
            <a:off x="2819400" y="3048000"/>
            <a:ext cx="403318" cy="936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stCxn id="8" idx="3"/>
            <a:endCxn id="10" idx="0"/>
          </p:cNvCxnSpPr>
          <p:nvPr/>
        </p:nvCxnSpPr>
        <p:spPr>
          <a:xfrm flipH="1">
            <a:off x="2209800" y="4092482"/>
            <a:ext cx="1012918" cy="7843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>
            <a:stCxn id="9" idx="3"/>
            <a:endCxn id="8" idx="7"/>
          </p:cNvCxnSpPr>
          <p:nvPr/>
        </p:nvCxnSpPr>
        <p:spPr>
          <a:xfrm flipH="1">
            <a:off x="3330482" y="2492282"/>
            <a:ext cx="730436" cy="14924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/>
          <p:cNvCxnSpPr>
            <a:stCxn id="11" idx="1"/>
            <a:endCxn id="17" idx="0"/>
          </p:cNvCxnSpPr>
          <p:nvPr/>
        </p:nvCxnSpPr>
        <p:spPr>
          <a:xfrm flipH="1">
            <a:off x="4495800" y="2765518"/>
            <a:ext cx="708118" cy="739682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/>
          <p:cNvCxnSpPr>
            <a:stCxn id="9" idx="5"/>
            <a:endCxn id="11" idx="1"/>
          </p:cNvCxnSpPr>
          <p:nvPr/>
        </p:nvCxnSpPr>
        <p:spPr>
          <a:xfrm>
            <a:off x="4168682" y="2492282"/>
            <a:ext cx="1035236" cy="2732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>
            <a:endCxn id="13" idx="0"/>
          </p:cNvCxnSpPr>
          <p:nvPr/>
        </p:nvCxnSpPr>
        <p:spPr>
          <a:xfrm>
            <a:off x="3352800" y="4038600"/>
            <a:ext cx="1066800" cy="685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stCxn id="8" idx="3"/>
            <a:endCxn id="16" idx="0"/>
          </p:cNvCxnSpPr>
          <p:nvPr/>
        </p:nvCxnSpPr>
        <p:spPr>
          <a:xfrm flipH="1">
            <a:off x="3048000" y="4092482"/>
            <a:ext cx="174718" cy="10129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>
            <a:stCxn id="6" idx="7"/>
            <a:endCxn id="9" idx="2"/>
          </p:cNvCxnSpPr>
          <p:nvPr/>
        </p:nvCxnSpPr>
        <p:spPr>
          <a:xfrm flipV="1">
            <a:off x="2873282" y="2438400"/>
            <a:ext cx="1165318" cy="4795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/>
          <p:cNvCxnSpPr>
            <a:stCxn id="11" idx="6"/>
            <a:endCxn id="18" idx="2"/>
          </p:cNvCxnSpPr>
          <p:nvPr/>
        </p:nvCxnSpPr>
        <p:spPr>
          <a:xfrm flipV="1">
            <a:off x="5334000" y="2590800"/>
            <a:ext cx="1143000" cy="2286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/>
          <p:cNvCxnSpPr>
            <a:stCxn id="18" idx="5"/>
            <a:endCxn id="19" idx="1"/>
          </p:cNvCxnSpPr>
          <p:nvPr/>
        </p:nvCxnSpPr>
        <p:spPr>
          <a:xfrm>
            <a:off x="6607082" y="2644682"/>
            <a:ext cx="806636" cy="6542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Connector 55"/>
          <p:cNvCxnSpPr>
            <a:stCxn id="11" idx="5"/>
            <a:endCxn id="12" idx="0"/>
          </p:cNvCxnSpPr>
          <p:nvPr/>
        </p:nvCxnSpPr>
        <p:spPr>
          <a:xfrm>
            <a:off x="5311682" y="2873282"/>
            <a:ext cx="250918" cy="9367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/>
          <p:cNvCxnSpPr>
            <a:stCxn id="19" idx="2"/>
            <a:endCxn id="12" idx="6"/>
          </p:cNvCxnSpPr>
          <p:nvPr/>
        </p:nvCxnSpPr>
        <p:spPr>
          <a:xfrm flipH="1">
            <a:off x="5638800" y="3352800"/>
            <a:ext cx="1752600" cy="533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14" idx="2"/>
            <a:endCxn id="12" idx="4"/>
          </p:cNvCxnSpPr>
          <p:nvPr/>
        </p:nvCxnSpPr>
        <p:spPr>
          <a:xfrm flipH="1" flipV="1">
            <a:off x="5562600" y="3962400"/>
            <a:ext cx="1143000" cy="2286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Connector 65"/>
          <p:cNvCxnSpPr>
            <a:stCxn id="15" idx="0"/>
            <a:endCxn id="12" idx="4"/>
          </p:cNvCxnSpPr>
          <p:nvPr/>
        </p:nvCxnSpPr>
        <p:spPr>
          <a:xfrm flipH="1" flipV="1">
            <a:off x="5562600" y="3962400"/>
            <a:ext cx="609600" cy="9144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13" idx="0"/>
            <a:endCxn id="17" idx="5"/>
          </p:cNvCxnSpPr>
          <p:nvPr/>
        </p:nvCxnSpPr>
        <p:spPr>
          <a:xfrm flipV="1">
            <a:off x="4419600" y="3635282"/>
            <a:ext cx="130082" cy="10891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>
            <a:stCxn id="17" idx="5"/>
            <a:endCxn id="12" idx="2"/>
          </p:cNvCxnSpPr>
          <p:nvPr/>
        </p:nvCxnSpPr>
        <p:spPr>
          <a:xfrm>
            <a:off x="4549682" y="3635282"/>
            <a:ext cx="936718" cy="2509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>
            <a:stCxn id="16" idx="6"/>
            <a:endCxn id="15" idx="3"/>
          </p:cNvCxnSpPr>
          <p:nvPr/>
        </p:nvCxnSpPr>
        <p:spPr>
          <a:xfrm flipV="1">
            <a:off x="3124200" y="5006882"/>
            <a:ext cx="2994118" cy="1747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>
            <a:stCxn id="7" idx="5"/>
            <a:endCxn id="10" idx="1"/>
          </p:cNvCxnSpPr>
          <p:nvPr/>
        </p:nvCxnSpPr>
        <p:spPr>
          <a:xfrm>
            <a:off x="1273082" y="4397282"/>
            <a:ext cx="882836" cy="501836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13" idx="2"/>
            <a:endCxn id="16" idx="7"/>
          </p:cNvCxnSpPr>
          <p:nvPr/>
        </p:nvCxnSpPr>
        <p:spPr>
          <a:xfrm flipH="1">
            <a:off x="3101882" y="4800600"/>
            <a:ext cx="1241518" cy="327118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stCxn id="6" idx="3"/>
            <a:endCxn id="7" idx="7"/>
          </p:cNvCxnSpPr>
          <p:nvPr/>
        </p:nvCxnSpPr>
        <p:spPr>
          <a:xfrm flipH="1">
            <a:off x="1273082" y="3025682"/>
            <a:ext cx="1492436" cy="12638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Straight Connector 86"/>
          <p:cNvCxnSpPr>
            <a:stCxn id="6" idx="4"/>
            <a:endCxn id="10" idx="0"/>
          </p:cNvCxnSpPr>
          <p:nvPr/>
        </p:nvCxnSpPr>
        <p:spPr>
          <a:xfrm flipH="1">
            <a:off x="2209800" y="3048000"/>
            <a:ext cx="609600" cy="182880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stCxn id="9" idx="5"/>
            <a:endCxn id="17" idx="1"/>
          </p:cNvCxnSpPr>
          <p:nvPr/>
        </p:nvCxnSpPr>
        <p:spPr>
          <a:xfrm>
            <a:off x="4168682" y="2492282"/>
            <a:ext cx="273236" cy="10352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/>
          <p:cNvCxnSpPr>
            <a:stCxn id="12" idx="3"/>
            <a:endCxn id="13" idx="7"/>
          </p:cNvCxnSpPr>
          <p:nvPr/>
        </p:nvCxnSpPr>
        <p:spPr>
          <a:xfrm flipH="1">
            <a:off x="4473482" y="3940082"/>
            <a:ext cx="1035236" cy="806636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>
            <a:stCxn id="19" idx="4"/>
            <a:endCxn id="14" idx="0"/>
          </p:cNvCxnSpPr>
          <p:nvPr/>
        </p:nvCxnSpPr>
        <p:spPr>
          <a:xfrm flipH="1">
            <a:off x="6781800" y="3429000"/>
            <a:ext cx="685800" cy="6858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15" idx="0"/>
            <a:endCxn id="14" idx="4"/>
          </p:cNvCxnSpPr>
          <p:nvPr/>
        </p:nvCxnSpPr>
        <p:spPr>
          <a:xfrm flipV="1">
            <a:off x="6172200" y="4267200"/>
            <a:ext cx="609600" cy="609600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16" idx="2"/>
            <a:endCxn id="10" idx="5"/>
          </p:cNvCxnSpPr>
          <p:nvPr/>
        </p:nvCxnSpPr>
        <p:spPr>
          <a:xfrm flipH="1" flipV="1">
            <a:off x="2263682" y="5006882"/>
            <a:ext cx="708118" cy="174718"/>
          </a:xfrm>
          <a:prstGeom prst="line">
            <a:avLst/>
          </a:prstGeom>
          <a:ln w="571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Freeform 104"/>
          <p:cNvSpPr/>
          <p:nvPr/>
        </p:nvSpPr>
        <p:spPr>
          <a:xfrm>
            <a:off x="1405054" y="2014239"/>
            <a:ext cx="5140712" cy="728961"/>
          </a:xfrm>
          <a:custGeom>
            <a:avLst/>
            <a:gdLst>
              <a:gd name="connsiteX0" fmla="*/ 0 w 5140712"/>
              <a:gd name="connsiteY0" fmla="*/ 728961 h 728961"/>
              <a:gd name="connsiteX1" fmla="*/ 1616926 w 5140712"/>
              <a:gd name="connsiteY1" fmla="*/ 48737 h 728961"/>
              <a:gd name="connsiteX2" fmla="*/ 3356517 w 5140712"/>
              <a:gd name="connsiteY2" fmla="*/ 104493 h 728961"/>
              <a:gd name="connsiteX3" fmla="*/ 5140712 w 5140712"/>
              <a:gd name="connsiteY3" fmla="*/ 505937 h 728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140712" h="728961">
                <a:moveTo>
                  <a:pt x="0" y="728961"/>
                </a:moveTo>
                <a:cubicBezTo>
                  <a:pt x="528753" y="440888"/>
                  <a:pt x="1057506" y="152815"/>
                  <a:pt x="1616926" y="48737"/>
                </a:cubicBezTo>
                <a:cubicBezTo>
                  <a:pt x="2176346" y="-55341"/>
                  <a:pt x="2769219" y="28293"/>
                  <a:pt x="3356517" y="104493"/>
                </a:cubicBezTo>
                <a:cubicBezTo>
                  <a:pt x="3943815" y="180693"/>
                  <a:pt x="4542263" y="343315"/>
                  <a:pt x="5140712" y="505937"/>
                </a:cubicBezTo>
              </a:path>
            </a:pathLst>
          </a:cu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914400" y="1828800"/>
            <a:ext cx="6553200" cy="3581400"/>
            <a:chOff x="914400" y="1828800"/>
            <a:chExt cx="6553200" cy="3581400"/>
          </a:xfrm>
        </p:grpSpPr>
        <p:sp>
          <p:nvSpPr>
            <p:cNvPr id="108" name="TextBox 107"/>
            <p:cNvSpPr txBox="1"/>
            <p:nvPr/>
          </p:nvSpPr>
          <p:spPr>
            <a:xfrm>
              <a:off x="4953000" y="1828800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170</a:t>
              </a:r>
            </a:p>
          </p:txBody>
        </p:sp>
        <p:sp>
          <p:nvSpPr>
            <p:cNvPr id="109" name="TextBox 108"/>
            <p:cNvSpPr txBox="1"/>
            <p:nvPr/>
          </p:nvSpPr>
          <p:spPr>
            <a:xfrm>
              <a:off x="4648200" y="23738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33</a:t>
              </a:r>
            </a:p>
          </p:txBody>
        </p:sp>
        <p:sp>
          <p:nvSpPr>
            <p:cNvPr id="111" name="TextBox 110"/>
            <p:cNvSpPr txBox="1"/>
            <p:nvPr/>
          </p:nvSpPr>
          <p:spPr>
            <a:xfrm>
              <a:off x="4762896" y="2983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31</a:t>
              </a:r>
            </a:p>
          </p:txBody>
        </p:sp>
        <p:sp>
          <p:nvSpPr>
            <p:cNvPr id="112" name="TextBox 111"/>
            <p:cNvSpPr txBox="1"/>
            <p:nvPr/>
          </p:nvSpPr>
          <p:spPr>
            <a:xfrm>
              <a:off x="5410200" y="3200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41</a:t>
              </a: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286896" y="3288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81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7048896" y="37454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52</a:t>
              </a: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0582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42</a:t>
              </a: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010400" y="2743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4953000" y="5040868"/>
              <a:ext cx="53572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102</a:t>
              </a:r>
            </a:p>
          </p:txBody>
        </p:sp>
        <p:sp>
          <p:nvSpPr>
            <p:cNvPr id="119" name="TextBox 118"/>
            <p:cNvSpPr txBox="1"/>
            <p:nvPr/>
          </p:nvSpPr>
          <p:spPr>
            <a:xfrm>
              <a:off x="5484076" y="44196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50</a:t>
              </a:r>
            </a:p>
          </p:txBody>
        </p:sp>
        <p:sp>
          <p:nvSpPr>
            <p:cNvPr id="120" name="TextBox 119"/>
            <p:cNvSpPr txBox="1"/>
            <p:nvPr/>
          </p:nvSpPr>
          <p:spPr>
            <a:xfrm>
              <a:off x="6400800" y="4495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30</a:t>
              </a: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4800600" y="4267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60</a:t>
              </a: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3352800" y="3048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70</a:t>
              </a: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3696096" y="4050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54</a:t>
              </a: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3657600" y="4648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57</a:t>
              </a: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4153296" y="3962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371600" y="45836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49</a:t>
              </a: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2133600" y="3886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80</a:t>
              </a:r>
            </a:p>
          </p:txBody>
        </p:sp>
        <p:sp>
          <p:nvSpPr>
            <p:cNvPr id="128" name="TextBox 127"/>
            <p:cNvSpPr txBox="1"/>
            <p:nvPr/>
          </p:nvSpPr>
          <p:spPr>
            <a:xfrm>
              <a:off x="1600200" y="34290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78</a:t>
              </a:r>
            </a:p>
          </p:txBody>
        </p:sp>
        <p:sp>
          <p:nvSpPr>
            <p:cNvPr id="129" name="TextBox 128"/>
            <p:cNvSpPr txBox="1"/>
            <p:nvPr/>
          </p:nvSpPr>
          <p:spPr>
            <a:xfrm>
              <a:off x="1943496" y="2590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63</a:t>
              </a:r>
            </a:p>
          </p:txBody>
        </p:sp>
        <p:sp>
          <p:nvSpPr>
            <p:cNvPr id="130" name="TextBox 129"/>
            <p:cNvSpPr txBox="1"/>
            <p:nvPr/>
          </p:nvSpPr>
          <p:spPr>
            <a:xfrm>
              <a:off x="3086496" y="24384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24</a:t>
              </a:r>
            </a:p>
          </p:txBody>
        </p:sp>
        <p:sp>
          <p:nvSpPr>
            <p:cNvPr id="131" name="TextBox 130"/>
            <p:cNvSpPr txBox="1"/>
            <p:nvPr/>
          </p:nvSpPr>
          <p:spPr>
            <a:xfrm>
              <a:off x="2743200" y="3505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53</a:t>
              </a:r>
            </a:p>
          </p:txBody>
        </p:sp>
        <p:sp>
          <p:nvSpPr>
            <p:cNvPr id="132" name="TextBox 131"/>
            <p:cNvSpPr txBox="1"/>
            <p:nvPr/>
          </p:nvSpPr>
          <p:spPr>
            <a:xfrm>
              <a:off x="2553096" y="4431268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44</a:t>
              </a:r>
            </a:p>
          </p:txBody>
        </p:sp>
        <p:sp>
          <p:nvSpPr>
            <p:cNvPr id="133" name="TextBox 132"/>
            <p:cNvSpPr txBox="1"/>
            <p:nvPr/>
          </p:nvSpPr>
          <p:spPr>
            <a:xfrm>
              <a:off x="2248296" y="50292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29</a:t>
              </a:r>
            </a:p>
          </p:txBody>
        </p:sp>
        <p:sp>
          <p:nvSpPr>
            <p:cNvPr id="134" name="TextBox 133"/>
            <p:cNvSpPr txBox="1"/>
            <p:nvPr/>
          </p:nvSpPr>
          <p:spPr>
            <a:xfrm>
              <a:off x="914400" y="3352800"/>
              <a:ext cx="418704" cy="3693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0070C0"/>
                  </a:solidFill>
                </a:rPr>
                <a:t>64</a:t>
              </a:r>
            </a:p>
          </p:txBody>
        </p:sp>
      </p:grpSp>
      <p:sp>
        <p:nvSpPr>
          <p:cNvPr id="76" name="TextBox 75"/>
          <p:cNvSpPr txBox="1"/>
          <p:nvPr/>
        </p:nvSpPr>
        <p:spPr>
          <a:xfrm>
            <a:off x="4724400" y="3669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42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124200" y="44312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43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91000" y="3505200"/>
            <a:ext cx="3064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u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181600" y="245006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v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867400" y="2602468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70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229496" y="2743200"/>
            <a:ext cx="418704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0070C0"/>
                </a:solidFill>
              </a:rPr>
              <a:t>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4114800" y="2133600"/>
            <a:ext cx="3561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w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819400" y="2895600"/>
            <a:ext cx="2904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x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76936" y="3516868"/>
            <a:ext cx="293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solidFill>
                  <a:srgbClr val="7030A0"/>
                </a:solidFill>
              </a:rPr>
              <a:t>y</a:t>
            </a:r>
          </a:p>
        </p:txBody>
      </p:sp>
    </p:spTree>
    <p:extLst>
      <p:ext uri="{BB962C8B-B14F-4D97-AF65-F5344CB8AC3E}">
        <p14:creationId xmlns:p14="http://schemas.microsoft.com/office/powerpoint/2010/main" val="1469098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An Algorithm based on </a:t>
            </a:r>
            <a:r>
              <a:rPr lang="en-US" sz="3600" b="1" dirty="0">
                <a:solidFill>
                  <a:srgbClr val="7030A0"/>
                </a:solidFill>
              </a:rPr>
              <a:t>cut property 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  <a:br>
              <a:rPr lang="en-US" sz="2400" b="1" dirty="0">
                <a:solidFill>
                  <a:srgbClr val="C00000"/>
                </a:solidFill>
              </a:rPr>
            </a:b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Algorithm </a:t>
                </a:r>
                <a:r>
                  <a:rPr lang="en-US" sz="2000" b="1" dirty="0"/>
                  <a:t>(</a:t>
                </a:r>
                <a:r>
                  <a:rPr lang="en-US" sz="2000" dirty="0"/>
                  <a:t>Input:</a:t>
                </a:r>
                <a:r>
                  <a:rPr lang="en-US" sz="2000" b="1" dirty="0"/>
                  <a:t> graph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=(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) with </a:t>
                </a:r>
                <a:r>
                  <a:rPr lang="en-US" sz="2000" b="1" dirty="0"/>
                  <a:t>weights</a:t>
                </a:r>
                <a:r>
                  <a:rPr lang="en-US" sz="2000" dirty="0"/>
                  <a:t> on edges)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>
                    <a:solidFill>
                      <a:srgbClr val="C00000"/>
                    </a:solidFill>
                    <a:latin typeface="Cambria Math"/>
                    <a:ea typeface="Cambria Math"/>
                  </a:rPr>
                  <a:t> ∅</a:t>
                </a:r>
                <a:r>
                  <a:rPr lang="en-US" sz="2000" dirty="0">
                    <a:latin typeface="Cambria Math"/>
                    <a:ea typeface="Cambria Math"/>
                  </a:rPr>
                  <a:t>;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2000" b="1" dirty="0">
                    <a:sym typeface="Wingdings" pitchFamily="2" charset="2"/>
                  </a:rPr>
                  <a:t> </a:t>
                </a:r>
                <a:r>
                  <a:rPr lang="en-US" sz="2000" dirty="0">
                    <a:sym typeface="Wingdings" pitchFamily="2" charset="2"/>
                  </a:rPr>
                  <a:t>{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u</a:t>
                </a:r>
                <a:r>
                  <a:rPr lang="en-US" sz="2000" dirty="0">
                    <a:sym typeface="Wingdings" pitchFamily="2" charset="2"/>
                  </a:rPr>
                  <a:t>};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While (         ??    ) do</a:t>
                </a:r>
                <a:r>
                  <a:rPr lang="en-US" sz="2000" dirty="0">
                    <a:solidFill>
                      <a:srgbClr val="C00000"/>
                    </a:solidFill>
                    <a:latin typeface="Cambria Math"/>
                    <a:ea typeface="Cambria Math"/>
                  </a:rPr>
                  <a:t> </a:t>
                </a:r>
                <a:endParaRPr lang="en-US" sz="20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/>
                  <a:t>         {</a:t>
                </a:r>
                <a:r>
                  <a:rPr lang="en-US" sz="1800" dirty="0"/>
                  <a:t>       Compute the least weight edge from </a:t>
                </a:r>
                <a:r>
                  <a:rPr lang="en-US" sz="1800" b="1" dirty="0">
                    <a:solidFill>
                      <a:srgbClr val="006C31"/>
                    </a:solidFill>
                  </a:rPr>
                  <a:t>cut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1800" dirty="0"/>
                  <a:t>,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sz="1800" dirty="0"/>
                  <a:t>);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Let this edge be (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x</a:t>
                </a:r>
                <a:r>
                  <a:rPr lang="en-US" sz="1800" dirty="0" err="1"/>
                  <a:t>,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y</a:t>
                </a:r>
                <a:r>
                  <a:rPr lang="en-US" sz="1800" dirty="0"/>
                  <a:t>), with 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x</a:t>
                </a:r>
                <a:r>
                  <a:rPr lang="en-US" sz="1800" dirty="0"/>
                  <a:t>ϵ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1800" dirty="0"/>
                  <a:t>, 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y</a:t>
                </a:r>
                <a:r>
                  <a:rPr lang="en-US" sz="1800" dirty="0"/>
                  <a:t>ϵ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18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1800" b="1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𝑨</m:t>
                        </m:r>
                      </m:e>
                    </m:acc>
                  </m:oMath>
                </a14:m>
                <a:r>
                  <a:rPr lang="en-US" sz="1800" dirty="0"/>
                  <a:t>;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70C0"/>
                    </a:solidFill>
                  </a:rPr>
                  <a:t>                 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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  <m:r>
                      <a:rPr lang="en-US" sz="2400" b="1" i="1" dirty="0" smtClean="0">
                        <a:latin typeface="Cambria Math"/>
                        <a:ea typeface="Cambria Math"/>
                        <a:sym typeface="Wingdings" pitchFamily="2" charset="2"/>
                      </a:rPr>
                      <m:t>∪ 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{(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x</a:t>
                </a:r>
                <a:r>
                  <a:rPr lang="en-US" sz="1800" dirty="0">
                    <a:sym typeface="Wingdings" pitchFamily="2" charset="2"/>
                  </a:rPr>
                  <a:t>,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 y</a:t>
                </a:r>
                <a:r>
                  <a:rPr lang="en-US" sz="1800" dirty="0">
                    <a:sym typeface="Wingdings" pitchFamily="2" charset="2"/>
                  </a:rPr>
                  <a:t>)};</a:t>
                </a:r>
                <a:endParaRPr lang="en-US" sz="1800" dirty="0">
                  <a:latin typeface="Cambria Math"/>
                  <a:ea typeface="Cambria Math"/>
                </a:endParaRPr>
              </a:p>
              <a:p>
                <a:pPr marL="0" indent="0">
                  <a:buNone/>
                </a:pPr>
                <a:r>
                  <a:rPr lang="en-US" sz="1800" dirty="0"/>
                  <a:t>                 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latin typeface="Cambria Math"/>
                        <a:ea typeface="Cambria Math"/>
                        <a:sym typeface="Wingdings" pitchFamily="2" charset="2"/>
                      </a:rPr>
                      <m:t>∪</m:t>
                    </m:r>
                  </m:oMath>
                </a14:m>
                <a:r>
                  <a:rPr lang="en-US" sz="1800" dirty="0">
                    <a:sym typeface="Wingdings" pitchFamily="2" charset="2"/>
                  </a:rPr>
                  <a:t>{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y</a:t>
                </a:r>
                <a:r>
                  <a:rPr lang="en-US" sz="1800" dirty="0">
                    <a:sym typeface="Wingdings" pitchFamily="2" charset="2"/>
                  </a:rPr>
                  <a:t>};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        </a:t>
                </a:r>
                <a:r>
                  <a:rPr lang="en-US" sz="1800" b="1" dirty="0"/>
                  <a:t>}</a:t>
                </a:r>
              </a:p>
              <a:p>
                <a:pPr marL="0" indent="0">
                  <a:buNone/>
                </a:pPr>
                <a:r>
                  <a:rPr lang="en-US" sz="1800" dirty="0"/>
                  <a:t>Return</a:t>
                </a:r>
                <a14:m>
                  <m:oMath xmlns:m="http://schemas.openxmlformats.org/officeDocument/2006/math">
                    <m:r>
                      <a:rPr lang="en-US" sz="16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1800" dirty="0"/>
                  <a:t>;</a:t>
                </a:r>
              </a:p>
              <a:p>
                <a:pPr marL="0" indent="0">
                  <a:buNone/>
                </a:pPr>
                <a:r>
                  <a:rPr lang="en-US" sz="1800" dirty="0"/>
                  <a:t>Number of iterations of the </a:t>
                </a:r>
                <a:r>
                  <a:rPr lang="en-US" sz="1800" b="1" dirty="0"/>
                  <a:t>While </a:t>
                </a:r>
                <a:r>
                  <a:rPr lang="en-US" sz="1800" dirty="0"/>
                  <a:t>loop</a:t>
                </a:r>
                <a:r>
                  <a:rPr lang="en-US" sz="1800" b="1" dirty="0"/>
                  <a:t> :  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??</a:t>
                </a:r>
                <a:endParaRPr lang="en-US" sz="1000" dirty="0"/>
              </a:p>
              <a:p>
                <a:pPr marL="0" indent="0">
                  <a:buNone/>
                </a:pPr>
                <a:r>
                  <a:rPr lang="en-US" sz="1800" dirty="0"/>
                  <a:t>Time spent in one iteration of While loop: </a:t>
                </a:r>
                <a:r>
                  <a:rPr lang="en-US" sz="1800" dirty="0">
                    <a:solidFill>
                      <a:srgbClr val="FF0000"/>
                    </a:solidFill>
                  </a:rPr>
                  <a:t>??</a:t>
                </a:r>
              </a:p>
              <a:p>
                <a:pPr>
                  <a:buFont typeface="Wingdings" pitchFamily="2" charset="2"/>
                  <a:buChar char="è"/>
                </a:pPr>
                <a:r>
                  <a:rPr lang="en-US" sz="1800" b="1" dirty="0"/>
                  <a:t>Running time</a:t>
                </a:r>
                <a:r>
                  <a:rPr lang="en-US" sz="1800" dirty="0"/>
                  <a:t> of the algorithm: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olidFill>
                      <a:srgbClr val="006C31"/>
                    </a:solidFill>
                  </a:rPr>
                  <a:t>Homework</a:t>
                </a:r>
                <a:r>
                  <a:rPr lang="en-US" sz="1800" dirty="0"/>
                  <a:t>: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      How to improve the running time to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𝐥𝐨𝐠</m:t>
                    </m:r>
                    <m:r>
                      <a:rPr lang="en-US" sz="1800" b="1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r>
                  <a:rPr lang="en-US" sz="1800" dirty="0"/>
                  <a:t> </a:t>
                </a: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 t="-1401" b="-184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533400" y="5181600"/>
            <a:ext cx="80010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372699" y="5257800"/>
                <a:ext cx="732701" cy="33855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sz="16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6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699" y="5257800"/>
                <a:ext cx="732701" cy="338554"/>
              </a:xfrm>
              <a:prstGeom prst="rect">
                <a:avLst/>
              </a:prstGeom>
              <a:blipFill rotWithShape="1">
                <a:blip r:embed="rId3"/>
                <a:stretch>
                  <a:fillRect t="-5455" r="-5785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419600" y="5562600"/>
                <a:ext cx="686406" cy="33855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1" dirty="0" smtClean="0">
                          <a:solidFill>
                            <a:srgbClr val="C00000"/>
                          </a:solidFill>
                        </a:rPr>
                        <m:t>O</m:t>
                      </m:r>
                      <m:r>
                        <m:rPr>
                          <m:nor/>
                        </m:rPr>
                        <a:rPr lang="en-US" sz="1600" dirty="0" smtClean="0"/>
                        <m:t>(</m:t>
                      </m:r>
                      <m:r>
                        <a:rPr lang="en-US" sz="16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𝒎</m:t>
                      </m:r>
                      <m:r>
                        <m:rPr>
                          <m:nor/>
                        </m:rPr>
                        <a:rPr lang="en-US" sz="1600" dirty="0"/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5562600"/>
                <a:ext cx="686406" cy="338554"/>
              </a:xfrm>
              <a:prstGeom prst="rect">
                <a:avLst/>
              </a:prstGeom>
              <a:blipFill rotWithShape="1">
                <a:blip r:embed="rId4"/>
                <a:stretch>
                  <a:fillRect t="-5455" r="-6195" b="-2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1371600" y="2785646"/>
                <a:ext cx="865237" cy="33855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𝑨</m:t>
                    </m:r>
                    <m:r>
                      <a:rPr lang="en-US" sz="1600" b="1" i="1" smtClean="0">
                        <a:solidFill>
                          <a:srgbClr val="0070C0"/>
                        </a:solidFill>
                        <a:latin typeface="Cambria Math"/>
                      </a:rPr>
                      <m:t>&lt;&gt;</m:t>
                    </m:r>
                  </m:oMath>
                </a14:m>
                <a:r>
                  <a:rPr lang="en-US" sz="16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600" b="1" i="1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endParaRPr lang="en-US" sz="1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71600" y="2785646"/>
                <a:ext cx="865237" cy="338554"/>
              </a:xfrm>
              <a:prstGeom prst="rect">
                <a:avLst/>
              </a:prstGeom>
              <a:blipFill rotWithShape="1">
                <a:blip r:embed="rId5"/>
                <a:stretch>
                  <a:fillRect t="-5357" r="-7746" b="-214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D172464-4160-574C-9BEF-59FF1A73DCDF}"/>
              </a:ext>
            </a:extLst>
          </p:cNvPr>
          <p:cNvSpPr/>
          <p:nvPr/>
        </p:nvSpPr>
        <p:spPr>
          <a:xfrm>
            <a:off x="1371600" y="3129115"/>
            <a:ext cx="4572000" cy="376063"/>
          </a:xfrm>
          <a:prstGeom prst="roundRect">
            <a:avLst/>
          </a:prstGeom>
          <a:noFill/>
          <a:ln w="57150">
            <a:solidFill>
              <a:srgbClr val="006C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36931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0" grpId="0" animBg="1"/>
      <p:bldP spid="11" grpId="0" animBg="1"/>
      <p:bldP spid="12" grpId="0" animBg="1"/>
      <p:bldP spid="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b="1" dirty="0">
                <a:solidFill>
                  <a:srgbClr val="0070C0"/>
                </a:solidFill>
              </a:rPr>
              <a:t>Algorithm based on </a:t>
            </a:r>
            <a:r>
              <a:rPr lang="en-US" sz="4000" b="1" dirty="0">
                <a:solidFill>
                  <a:srgbClr val="7030A0"/>
                </a:solidFill>
              </a:rPr>
              <a:t>cycle Property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sz="2400" dirty="0">
              <a:solidFill>
                <a:srgbClr val="C0000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382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An Algorithm based on cycle property </a:t>
            </a:r>
            <a:r>
              <a:rPr lang="en-US" sz="2400" b="1" dirty="0">
                <a:solidFill>
                  <a:srgbClr val="C00000"/>
                </a:solidFill>
              </a:rPr>
              <a:t> </a:t>
            </a:r>
            <a:br>
              <a:rPr lang="en-US" sz="2400" b="1" dirty="0">
                <a:solidFill>
                  <a:srgbClr val="C00000"/>
                </a:solidFill>
              </a:rPr>
            </a:br>
            <a:r>
              <a:rPr lang="en-US" sz="2800" b="1" dirty="0">
                <a:solidFill>
                  <a:srgbClr val="7030A0"/>
                </a:solidFill>
              </a:rPr>
              <a:t>Description</a:t>
            </a:r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400" b="1" dirty="0">
                    <a:solidFill>
                      <a:srgbClr val="7030A0"/>
                    </a:solidFill>
                  </a:rPr>
                  <a:t>Algorithm </a:t>
                </a:r>
                <a:r>
                  <a:rPr lang="en-US" sz="2000" b="1" dirty="0"/>
                  <a:t>(</a:t>
                </a:r>
                <a:r>
                  <a:rPr lang="en-US" sz="2000" dirty="0"/>
                  <a:t>Input:</a:t>
                </a:r>
                <a:r>
                  <a:rPr lang="en-US" sz="2000" b="1" dirty="0"/>
                  <a:t> graph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=(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) with </a:t>
                </a:r>
                <a:r>
                  <a:rPr lang="en-US" sz="2000" b="1" dirty="0"/>
                  <a:t>weights</a:t>
                </a:r>
                <a:r>
                  <a:rPr lang="en-US" sz="2000" dirty="0"/>
                  <a:t> on edges)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While (              ??           ) do</a:t>
                </a:r>
                <a:r>
                  <a:rPr lang="en-US" sz="2000" dirty="0">
                    <a:solidFill>
                      <a:srgbClr val="C00000"/>
                    </a:solidFill>
                    <a:latin typeface="Cambria Math"/>
                    <a:ea typeface="Cambria Math"/>
                  </a:rPr>
                  <a:t> </a:t>
                </a:r>
                <a:endParaRPr lang="en-US" sz="20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1800" b="1" dirty="0"/>
                  <a:t>         {</a:t>
                </a:r>
                <a:r>
                  <a:rPr lang="en-US" sz="1800" dirty="0"/>
                  <a:t>       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Compute any cycle </a:t>
                </a:r>
                <a14:m>
                  <m:oMath xmlns:m="http://schemas.openxmlformats.org/officeDocument/2006/math"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𝑪</m:t>
                    </m:r>
                  </m:oMath>
                </a14:m>
                <a:r>
                  <a:rPr lang="en-US" sz="1800" dirty="0"/>
                  <a:t>;</a:t>
                </a:r>
              </a:p>
              <a:p>
                <a:pPr marL="0" indent="0">
                  <a:buNone/>
                </a:pPr>
                <a:r>
                  <a:rPr lang="en-US" sz="1800" dirty="0"/>
                  <a:t>                  Let (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1800" dirty="0" err="1"/>
                  <a:t>,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1800" dirty="0"/>
                  <a:t>) be the </a:t>
                </a:r>
                <a:r>
                  <a:rPr lang="en-US" sz="1800" b="1" dirty="0"/>
                  <a:t>maximum weight</a:t>
                </a:r>
                <a:r>
                  <a:rPr lang="en-US" sz="1800" dirty="0"/>
                  <a:t> edge of the cycle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𝑪</m:t>
                    </m:r>
                  </m:oMath>
                </a14:m>
                <a:r>
                  <a:rPr lang="en-US" sz="1800" dirty="0">
                    <a:latin typeface="Cambria Math"/>
                    <a:ea typeface="Cambria Math"/>
                  </a:rPr>
                  <a:t>;</a:t>
                </a:r>
              </a:p>
              <a:p>
                <a:pPr marL="0" indent="0">
                  <a:buNone/>
                </a:pPr>
                <a:r>
                  <a:rPr lang="en-US" sz="1800" dirty="0">
                    <a:latin typeface="Cambria Math"/>
                    <a:ea typeface="Cambria Math"/>
                  </a:rPr>
                  <a:t>                  Remove </a:t>
                </a:r>
                <a:r>
                  <a:rPr lang="en-US" sz="1800" dirty="0"/>
                  <a:t>(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1800" dirty="0" err="1"/>
                  <a:t>,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1800" dirty="0"/>
                  <a:t>) </a:t>
                </a:r>
                <a:r>
                  <a:rPr lang="en-US" sz="1800" dirty="0">
                    <a:latin typeface="Cambria Math"/>
                    <a:ea typeface="Cambria Math"/>
                  </a:rPr>
                  <a:t>from 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>
                    <a:latin typeface="Cambria Math"/>
                    <a:ea typeface="Cambria Math"/>
                  </a:rPr>
                  <a:t>;</a:t>
                </a: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         </a:t>
                </a:r>
                <a:r>
                  <a:rPr lang="en-US" sz="1800" b="1" dirty="0"/>
                  <a:t>}</a:t>
                </a:r>
              </a:p>
              <a:p>
                <a:pPr marL="0" indent="0">
                  <a:buNone/>
                </a:pPr>
                <a:r>
                  <a:rPr lang="en-US" sz="1800" dirty="0"/>
                  <a:t>Return</a:t>
                </a:r>
                <a14:m>
                  <m:oMath xmlns:m="http://schemas.openxmlformats.org/officeDocument/2006/math">
                    <m:r>
                      <a:rPr lang="en-US" sz="1800" b="0" i="0" smtClean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1800" dirty="0"/>
                  <a:t>;</a:t>
                </a:r>
              </a:p>
              <a:p>
                <a:pPr marL="0" indent="0">
                  <a:buNone/>
                </a:pPr>
                <a:endParaRPr lang="en-US" sz="1800" b="1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r>
                  <a:rPr lang="en-US" sz="1800" dirty="0"/>
                  <a:t>Number of iterations of the </a:t>
                </a:r>
                <a:r>
                  <a:rPr lang="en-US" sz="1800" b="1" dirty="0"/>
                  <a:t>While </a:t>
                </a:r>
                <a:r>
                  <a:rPr lang="en-US" sz="1800" dirty="0"/>
                  <a:t>loop</a:t>
                </a:r>
                <a:r>
                  <a:rPr lang="en-US" sz="1800" b="1" dirty="0"/>
                  <a:t> :  </a:t>
                </a:r>
                <a:r>
                  <a:rPr lang="en-US" sz="1800" b="1" dirty="0">
                    <a:solidFill>
                      <a:srgbClr val="FF0000"/>
                    </a:solidFill>
                  </a:rPr>
                  <a:t>??</a:t>
                </a:r>
              </a:p>
              <a:p>
                <a:pPr marL="0" indent="0">
                  <a:buNone/>
                </a:pPr>
                <a:endParaRPr lang="en-US" sz="1000" dirty="0"/>
              </a:p>
              <a:p>
                <a:pPr marL="0" indent="0">
                  <a:buNone/>
                </a:pPr>
                <a:r>
                  <a:rPr lang="en-US" sz="1800" dirty="0"/>
                  <a:t>Time spent in one iteration of While loop: </a:t>
                </a:r>
                <a:r>
                  <a:rPr lang="en-US" sz="1800" dirty="0">
                    <a:solidFill>
                      <a:srgbClr val="FF0000"/>
                    </a:solidFill>
                  </a:rPr>
                  <a:t>??</a:t>
                </a:r>
              </a:p>
              <a:p>
                <a:pPr marL="0" indent="0">
                  <a:buNone/>
                </a:pPr>
                <a:r>
                  <a:rPr lang="en-US" sz="1800" b="1" dirty="0">
                    <a:sym typeface="Wingdings" pitchFamily="2" charset="2"/>
                  </a:rPr>
                  <a:t> </a:t>
                </a:r>
                <a:r>
                  <a:rPr lang="en-US" sz="1800" b="1" dirty="0"/>
                  <a:t>Running time</a:t>
                </a:r>
                <a:r>
                  <a:rPr lang="en-US" sz="1800" dirty="0"/>
                  <a:t> of the algorithm: 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O</a:t>
                </a:r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r>
                      <a:rPr lang="en-US" sz="1800" b="1" i="1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1800" b="1" i="1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1800" dirty="0"/>
                  <a:t>)</a:t>
                </a: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35" t="-1401" b="-44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457200" y="4495800"/>
            <a:ext cx="8001000" cy="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1295400" y="2057400"/>
                <a:ext cx="1633076" cy="369332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b="1" dirty="0"/>
                  <a:t>has any cycle</a:t>
                </a:r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5400" y="2057400"/>
                <a:ext cx="1633076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6367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4241675" y="5071646"/>
                <a:ext cx="1168525" cy="33855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b="1" i="1">
                          <a:solidFill>
                            <a:srgbClr val="0070C0"/>
                          </a:solidFill>
                          <a:latin typeface="Cambria Math"/>
                        </a:rPr>
                        <m:t>𝒎</m:t>
                      </m:r>
                      <m:r>
                        <a:rPr lang="en-US" sz="16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sz="16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sz="16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1600" b="1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41675" y="5071646"/>
                <a:ext cx="1168525" cy="33855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419600" y="5528846"/>
                <a:ext cx="628697" cy="338554"/>
              </a:xfrm>
              <a:prstGeom prst="rect">
                <a:avLst/>
              </a:prstGeom>
              <a:solidFill>
                <a:srgbClr val="FFC000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1600" b="1" dirty="0">
                          <a:solidFill>
                            <a:srgbClr val="C00000"/>
                          </a:solidFill>
                        </a:rPr>
                        <m:t>O</m:t>
                      </m:r>
                      <m:r>
                        <m:rPr>
                          <m:nor/>
                        </m:rPr>
                        <a:rPr lang="en-US" sz="1600" dirty="0"/>
                        <m:t>(</m:t>
                      </m:r>
                      <m:r>
                        <a:rPr lang="en-US" sz="1600" b="1" i="1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m:rPr>
                          <m:nor/>
                        </m:rPr>
                        <a:rPr lang="en-US" sz="1600" dirty="0"/>
                        <m:t>)</m:t>
                      </m:r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9600" y="5528846"/>
                <a:ext cx="628697" cy="338554"/>
              </a:xfrm>
              <a:prstGeom prst="rect">
                <a:avLst/>
              </a:prstGeom>
              <a:blipFill>
                <a:blip r:embed="rId5"/>
                <a:stretch>
                  <a:fillRect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262518B-CCE6-2D47-A70E-BCE2714BAAF1}"/>
              </a:ext>
            </a:extLst>
          </p:cNvPr>
          <p:cNvSpPr txBox="1"/>
          <p:nvPr/>
        </p:nvSpPr>
        <p:spPr>
          <a:xfrm>
            <a:off x="5867400" y="5498068"/>
            <a:ext cx="1838580" cy="36933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BFS/DFS Traversal</a:t>
            </a:r>
          </a:p>
        </p:txBody>
      </p:sp>
    </p:spTree>
    <p:extLst>
      <p:ext uri="{BB962C8B-B14F-4D97-AF65-F5344CB8AC3E}">
        <p14:creationId xmlns:p14="http://schemas.microsoft.com/office/powerpoint/2010/main" val="1835703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25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1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8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4" presetClass="exit" presetSubtype="1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8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9" grpId="0" animBg="1"/>
      <p:bldP spid="10" grpId="0" animBg="1"/>
      <p:bldP spid="11" grpId="0" animBg="1"/>
      <p:bldP spid="5" grpId="0" animBg="1"/>
      <p:bldP spid="5" grpId="1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9A73F2-9F80-8B42-B970-AD6425451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6C31"/>
                </a:solidFill>
              </a:rPr>
              <a:t>Homework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FB504C-5DCE-AB4A-A563-467BB885B6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400" dirty="0"/>
                  <a:t>Sort the edges in </a:t>
                </a:r>
                <a:r>
                  <a:rPr lang="en-US" sz="2400" b="1" dirty="0"/>
                  <a:t>increasing </a:t>
                </a:r>
                <a:r>
                  <a:rPr lang="en-US" sz="2400" dirty="0"/>
                  <a:t>order of weights.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</m:sSub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𝟐</m:t>
                          </m:r>
                        </m:sub>
                      </m:sSub>
                      <m:r>
                        <a:rPr lang="en-US" sz="2400" b="1" i="1" dirty="0" smtClean="0">
                          <a:latin typeface="Cambria Math" panose="02040503050406030204" pitchFamily="18" charset="0"/>
                        </a:rPr>
                        <m:t>,…</m:t>
                      </m:r>
                      <m:sSub>
                        <m:sSubPr>
                          <m:ctrlP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1" i="1" dirty="0" smtClean="0">
                              <a:latin typeface="Cambria Math" panose="02040503050406030204" pitchFamily="18" charset="0"/>
                            </a:rPr>
                            <m:t>𝒆</m:t>
                          </m:r>
                        </m:e>
                        <m:sub>
                          <m:r>
                            <a:rPr lang="en-US" sz="2400" b="1" i="1" dirty="0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𝒎</m:t>
                          </m:r>
                        </m:sub>
                      </m:sSub>
                    </m:oMath>
                  </m:oMathPara>
                </a14:m>
                <a:endParaRPr lang="en-US" sz="2800" b="1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400" b="1" i="1" smtClean="0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400" dirty="0">
                    <a:sym typeface="Wingdings" pitchFamily="2" charset="2"/>
                  </a:rPr>
                  <a:t></a:t>
                </a:r>
                <a:r>
                  <a:rPr lang="en-US" sz="2400" dirty="0">
                    <a:solidFill>
                      <a:srgbClr val="C00000"/>
                    </a:solidFill>
                    <a:latin typeface="Cambria Math"/>
                    <a:ea typeface="Cambria Math"/>
                  </a:rPr>
                  <a:t> ∅</a:t>
                </a:r>
                <a:endParaRPr lang="en-US" sz="2400" b="1" dirty="0"/>
              </a:p>
              <a:p>
                <a:pPr marL="0" indent="0">
                  <a:buNone/>
                </a:pPr>
                <a:r>
                  <a:rPr lang="en-US" sz="2400" b="1" dirty="0"/>
                  <a:t>For (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𝒊</m:t>
                    </m:r>
                    <m:r>
                      <a:rPr lang="en-US" sz="2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/>
                  <a:t>= 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1 </a:t>
                </a:r>
                <a:r>
                  <a:rPr lang="en-US" sz="2400" b="1" dirty="0"/>
                  <a:t>to </a:t>
                </a:r>
                <a14:m>
                  <m:oMath xmlns:m="http://schemas.openxmlformats.org/officeDocument/2006/math">
                    <m:r>
                      <a:rPr lang="en-US" sz="2400" b="1" i="1" dirty="0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𝒎</m:t>
                    </m:r>
                    <m:r>
                      <a:rPr lang="en-US" sz="2400" b="1" i="1" dirty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b="1" dirty="0"/>
                  <a:t>) do</a:t>
                </a:r>
                <a:r>
                  <a:rPr lang="en-US" sz="2400" dirty="0">
                    <a:solidFill>
                      <a:srgbClr val="C00000"/>
                    </a:solidFill>
                    <a:latin typeface="Cambria Math"/>
                    <a:ea typeface="Cambria Math"/>
                  </a:rPr>
                  <a:t> </a:t>
                </a:r>
                <a:endParaRPr lang="en-US" sz="24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400" b="1" dirty="0"/>
                  <a:t>         {</a:t>
                </a:r>
                <a:r>
                  <a:rPr lang="en-US" sz="2400" dirty="0"/>
                  <a:t>       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         Let (</a:t>
                </a:r>
                <a:r>
                  <a:rPr lang="en-US" sz="2400" b="1" dirty="0" err="1">
                    <a:solidFill>
                      <a:srgbClr val="7030A0"/>
                    </a:solidFill>
                  </a:rPr>
                  <a:t>u</a:t>
                </a:r>
                <a:r>
                  <a:rPr lang="en-US" sz="2400" dirty="0" err="1"/>
                  <a:t>,</a:t>
                </a:r>
                <a:r>
                  <a:rPr lang="en-US" sz="2400" b="1" dirty="0" err="1">
                    <a:solidFill>
                      <a:srgbClr val="7030A0"/>
                    </a:solidFill>
                  </a:rPr>
                  <a:t>v</a:t>
                </a:r>
                <a:r>
                  <a:rPr lang="en-US" sz="2400" dirty="0"/>
                  <a:t>) be the endpoints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endParaRPr lang="en-US" sz="2400" dirty="0"/>
              </a:p>
              <a:p>
                <a:pPr marL="0" indent="0">
                  <a:buNone/>
                </a:pPr>
                <a:r>
                  <a:rPr lang="en-US" sz="2400" dirty="0">
                    <a:latin typeface="Cambria Math"/>
                    <a:ea typeface="Cambria Math"/>
                  </a:rPr>
                  <a:t>                   if  …  add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1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1" i="1" dirty="0" smtClean="0">
                            <a:latin typeface="Cambria Math" panose="02040503050406030204" pitchFamily="18" charset="0"/>
                          </a:rPr>
                          <m:t>𝒆</m:t>
                        </m:r>
                      </m:e>
                      <m:sub>
                        <m:r>
                          <a:rPr lang="en-US" sz="2400" b="1" i="1" dirty="0" smtClean="0">
                            <a:solidFill>
                              <a:srgbClr val="0070C0"/>
                            </a:solidFill>
                            <a:latin typeface="Cambria Math" panose="02040503050406030204" pitchFamily="18" charset="0"/>
                          </a:rPr>
                          <m:t>𝒊</m:t>
                        </m:r>
                      </m:sub>
                    </m:sSub>
                  </m:oMath>
                </a14:m>
                <a:r>
                  <a:rPr lang="en-US" sz="2400" dirty="0"/>
                  <a:t> to</a:t>
                </a:r>
                <a:r>
                  <a:rPr lang="en-US" sz="24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400" b="1" dirty="0"/>
                  <a:t>;</a:t>
                </a:r>
              </a:p>
              <a:p>
                <a:pPr marL="0" indent="0">
                  <a:buNone/>
                </a:pPr>
                <a:r>
                  <a:rPr lang="en-US" sz="2400" dirty="0"/>
                  <a:t>         </a:t>
                </a:r>
                <a:r>
                  <a:rPr lang="en-US" sz="2400" b="1" dirty="0"/>
                  <a:t>}</a:t>
                </a:r>
              </a:p>
              <a:p>
                <a:pPr marL="0" indent="0">
                  <a:buNone/>
                </a:pPr>
                <a:r>
                  <a:rPr lang="en-US" sz="2400" dirty="0"/>
                  <a:t>Return</a:t>
                </a:r>
                <a14:m>
                  <m:oMath xmlns:m="http://schemas.openxmlformats.org/officeDocument/2006/math">
                    <m:r>
                      <a:rPr lang="en-US" sz="2400" b="1" i="1">
                        <a:solidFill>
                          <a:srgbClr val="0070C0"/>
                        </a:solidFill>
                        <a:latin typeface="Cambria Math"/>
                      </a:rPr>
                      <m:t>𝑻</m:t>
                    </m:r>
                  </m:oMath>
                </a14:m>
                <a:r>
                  <a:rPr lang="en-US" sz="2400" dirty="0"/>
                  <a:t>;</a:t>
                </a:r>
              </a:p>
              <a:p>
                <a:pPr marL="0" indent="0">
                  <a:buNone/>
                </a:pPr>
                <a:endParaRPr lang="en-US" sz="2400" dirty="0"/>
              </a:p>
              <a:p>
                <a:pPr marL="0" indent="0" algn="ctr">
                  <a:buNone/>
                </a:pPr>
                <a:r>
                  <a:rPr lang="en-US" sz="2400" b="1" dirty="0">
                    <a:solidFill>
                      <a:srgbClr val="006C31"/>
                    </a:solidFill>
                  </a:rPr>
                  <a:t>Fill in the blanks …</a:t>
                </a:r>
              </a:p>
              <a:p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0FB504C-5DCE-AB4A-A563-467BB885B6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229600" cy="5257800"/>
              </a:xfrm>
              <a:blipFill>
                <a:blip r:embed="rId2"/>
                <a:stretch>
                  <a:fillRect l="-1111" t="-92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6E188D-D988-D948-9F35-0E15D698B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94533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13211</TotalTime>
  <Words>1927</Words>
  <Application>Microsoft Office PowerPoint</Application>
  <PresentationFormat>On-screen Show (4:3)</PresentationFormat>
  <Paragraphs>691</Paragraphs>
  <Slides>40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5" baseType="lpstr">
      <vt:lpstr>Arial</vt:lpstr>
      <vt:lpstr>Calibri</vt:lpstr>
      <vt:lpstr>Cambria Math</vt:lpstr>
      <vt:lpstr>Wingdings</vt:lpstr>
      <vt:lpstr>Office Theme</vt:lpstr>
      <vt:lpstr>Design and Analysis of Algorithms </vt:lpstr>
      <vt:lpstr>Homework from the last Lecture</vt:lpstr>
      <vt:lpstr>Gayle Shapley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Greedy Paradigm</vt:lpstr>
      <vt:lpstr>Motivation: A road or telecommunication network</vt:lpstr>
      <vt:lpstr>PowerPoint Presentation</vt:lpstr>
      <vt:lpstr>PowerPoint Presentation</vt:lpstr>
      <vt:lpstr>PowerPoint Presentation</vt:lpstr>
      <vt:lpstr>A tree</vt:lpstr>
      <vt:lpstr>A Spanning tree </vt:lpstr>
      <vt:lpstr>PowerPoint Presentation</vt:lpstr>
      <vt:lpstr>Problem Description</vt:lpstr>
      <vt:lpstr>A useful lesson for design of a graph algorithm</vt:lpstr>
      <vt:lpstr>Two graph theoretic properties of MST</vt:lpstr>
      <vt:lpstr>Cut Property</vt:lpstr>
      <vt:lpstr>Cut Property</vt:lpstr>
      <vt:lpstr>Proof of cut-property</vt:lpstr>
      <vt:lpstr>Proof of cut-property</vt:lpstr>
      <vt:lpstr>Proof of cut-property</vt:lpstr>
      <vt:lpstr>Cycle Property</vt:lpstr>
      <vt:lpstr>Cycle Property </vt:lpstr>
      <vt:lpstr>Proof of Cycle property</vt:lpstr>
      <vt:lpstr>Homework</vt:lpstr>
      <vt:lpstr>Algorithm based on cut Property</vt:lpstr>
      <vt:lpstr>How to use cut property to compute a MST ?</vt:lpstr>
      <vt:lpstr>How to use cut property to compute a MST ?</vt:lpstr>
      <vt:lpstr>How to use cut property to compute a MST ?</vt:lpstr>
      <vt:lpstr>How to use cut property to compute a MST ?</vt:lpstr>
      <vt:lpstr>How to use cut property to compute a MST ?</vt:lpstr>
      <vt:lpstr>How to use cut property to compute a MST ?</vt:lpstr>
      <vt:lpstr>An Algorithm based on cut property   </vt:lpstr>
      <vt:lpstr>Algorithm based on cycle Property</vt:lpstr>
      <vt:lpstr>An Algorithm based on cycle property   Description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Surender Baswana</cp:lastModifiedBy>
  <cp:revision>1262</cp:revision>
  <dcterms:created xsi:type="dcterms:W3CDTF">2011-12-03T04:13:03Z</dcterms:created>
  <dcterms:modified xsi:type="dcterms:W3CDTF">2025-08-18T06:07:32Z</dcterms:modified>
</cp:coreProperties>
</file>